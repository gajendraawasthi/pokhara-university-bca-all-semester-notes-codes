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72" r:id="rId4"/>
    <p:sldId id="258" r:id="rId5"/>
    <p:sldId id="259" r:id="rId6"/>
    <p:sldId id="260" r:id="rId7"/>
    <p:sldId id="261" r:id="rId8"/>
    <p:sldId id="262" r:id="rId9"/>
    <p:sldId id="263" r:id="rId10"/>
    <p:sldId id="268" r:id="rId11"/>
    <p:sldId id="264" r:id="rId12"/>
    <p:sldId id="265" r:id="rId13"/>
    <p:sldId id="266" r:id="rId14"/>
    <p:sldId id="274" r:id="rId15"/>
    <p:sldId id="267" r:id="rId16"/>
    <p:sldId id="269" r:id="rId17"/>
    <p:sldId id="270" r:id="rId18"/>
    <p:sldId id="271" r:id="rId19"/>
    <p:sldId id="273" r:id="rId20"/>
    <p:sldId id="290" r:id="rId21"/>
    <p:sldId id="275" r:id="rId22"/>
    <p:sldId id="276" r:id="rId23"/>
    <p:sldId id="277" r:id="rId24"/>
    <p:sldId id="278" r:id="rId25"/>
    <p:sldId id="279" r:id="rId26"/>
    <p:sldId id="281" r:id="rId27"/>
    <p:sldId id="282" r:id="rId28"/>
    <p:sldId id="283" r:id="rId29"/>
    <p:sldId id="291" r:id="rId30"/>
    <p:sldId id="280" r:id="rId31"/>
    <p:sldId id="284" r:id="rId32"/>
    <p:sldId id="285" r:id="rId33"/>
    <p:sldId id="286" r:id="rId34"/>
    <p:sldId id="287" r:id="rId35"/>
    <p:sldId id="288" r:id="rId36"/>
    <p:sldId id="293" r:id="rId37"/>
    <p:sldId id="292" r:id="rId38"/>
    <p:sldId id="289" r:id="rId39"/>
    <p:sldId id="298" r:id="rId40"/>
    <p:sldId id="296" r:id="rId41"/>
    <p:sldId id="295" r:id="rId42"/>
    <p:sldId id="294" r:id="rId43"/>
    <p:sldId id="297" r:id="rId44"/>
    <p:sldId id="299" r:id="rId45"/>
    <p:sldId id="300" r:id="rId46"/>
    <p:sldId id="301" r:id="rId47"/>
  </p:sldIdLst>
  <p:sldSz cx="18288000" cy="10287000"/>
  <p:notesSz cx="18288000" cy="10287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71" autoAdjust="0"/>
    <p:restoredTop sz="95529" autoAdjust="0"/>
  </p:normalViewPr>
  <p:slideViewPr>
    <p:cSldViewPr>
      <p:cViewPr varScale="1">
        <p:scale>
          <a:sx n="61" d="100"/>
          <a:sy n="61" d="100"/>
        </p:scale>
        <p:origin x="26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14768" y="2071609"/>
            <a:ext cx="9658463" cy="2006600"/>
          </a:xfrm>
          <a:prstGeom prst="rect">
            <a:avLst/>
          </a:prstGeom>
        </p:spPr>
        <p:txBody>
          <a:bodyPr wrap="square" lIns="0" tIns="0" rIns="0" bIns="0">
            <a:spAutoFit/>
          </a:bodyPr>
          <a:lstStyle>
            <a:lvl1pPr>
              <a:defRPr sz="6000" b="0" i="0">
                <a:solidFill>
                  <a:srgbClr val="FFA511"/>
                </a:solidFill>
                <a:latin typeface="Arial"/>
                <a:cs typeface="Arial"/>
              </a:defRPr>
            </a:lvl1pPr>
          </a:lstStyle>
          <a:p>
            <a:endParaRPr/>
          </a:p>
        </p:txBody>
      </p:sp>
      <p:sp>
        <p:nvSpPr>
          <p:cNvPr id="3" name="Holder 3"/>
          <p:cNvSpPr>
            <a:spLocks noGrp="1"/>
          </p:cNvSpPr>
          <p:nvPr>
            <p:ph type="subTitle" idx="4"/>
          </p:nvPr>
        </p:nvSpPr>
        <p:spPr>
          <a:xfrm>
            <a:off x="2743200" y="5760720"/>
            <a:ext cx="12801600" cy="2571750"/>
          </a:xfrm>
          <a:prstGeom prst="rect">
            <a:avLst/>
          </a:prstGeom>
        </p:spPr>
        <p:txBody>
          <a:bodyPr wrap="square" lIns="0" tIns="0" rIns="0" bIns="0">
            <a:spAutoFit/>
          </a:bodyPr>
          <a:lstStyle>
            <a:lvl1pPr>
              <a:defRPr sz="4500" b="0"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rgbClr val="FFA51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4500" b="0" i="0">
                <a:solidFill>
                  <a:schemeClr val="bg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000" b="0" i="0">
                <a:solidFill>
                  <a:srgbClr val="FFA511"/>
                </a:solidFill>
                <a:latin typeface="Arial"/>
                <a:cs typeface="Arial"/>
              </a:defRPr>
            </a:lvl1pPr>
          </a:lstStyle>
          <a:p>
            <a:endParaRPr/>
          </a:p>
        </p:txBody>
      </p:sp>
      <p:sp>
        <p:nvSpPr>
          <p:cNvPr id="3" name="Holder 3"/>
          <p:cNvSpPr>
            <a:spLocks noGrp="1"/>
          </p:cNvSpPr>
          <p:nvPr>
            <p:ph sz="half" idx="2"/>
          </p:nvPr>
        </p:nvSpPr>
        <p:spPr>
          <a:xfrm>
            <a:off x="914400" y="2366010"/>
            <a:ext cx="7955280" cy="678942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9418320" y="2366010"/>
            <a:ext cx="7955280" cy="678942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04172F"/>
          </a:solidFill>
        </p:spPr>
        <p:txBody>
          <a:bodyPr wrap="square" lIns="0" tIns="0" rIns="0" bIns="0" rtlCol="0"/>
          <a:lstStyle/>
          <a:p>
            <a:endParaRPr/>
          </a:p>
        </p:txBody>
      </p:sp>
      <p:sp>
        <p:nvSpPr>
          <p:cNvPr id="17" name="bg object 17"/>
          <p:cNvSpPr/>
          <p:nvPr/>
        </p:nvSpPr>
        <p:spPr>
          <a:xfrm>
            <a:off x="1028910" y="2895718"/>
            <a:ext cx="4867275" cy="1019175"/>
          </a:xfrm>
          <a:custGeom>
            <a:avLst/>
            <a:gdLst/>
            <a:ahLst/>
            <a:cxnLst/>
            <a:rect l="l" t="t" r="r" b="b"/>
            <a:pathLst>
              <a:path w="4867275" h="1019175">
                <a:moveTo>
                  <a:pt x="4675413" y="1019175"/>
                </a:moveTo>
                <a:lnTo>
                  <a:pt x="191437" y="1019175"/>
                </a:lnTo>
                <a:lnTo>
                  <a:pt x="147618" y="1014089"/>
                </a:lnTo>
                <a:lnTo>
                  <a:pt x="107354" y="999610"/>
                </a:lnTo>
                <a:lnTo>
                  <a:pt x="71804" y="976902"/>
                </a:lnTo>
                <a:lnTo>
                  <a:pt x="42132" y="947131"/>
                </a:lnTo>
                <a:lnTo>
                  <a:pt x="19500" y="911463"/>
                </a:lnTo>
                <a:lnTo>
                  <a:pt x="5068" y="871064"/>
                </a:lnTo>
                <a:lnTo>
                  <a:pt x="0" y="827099"/>
                </a:lnTo>
                <a:lnTo>
                  <a:pt x="0" y="192075"/>
                </a:lnTo>
                <a:lnTo>
                  <a:pt x="5068" y="148110"/>
                </a:lnTo>
                <a:lnTo>
                  <a:pt x="19500" y="107711"/>
                </a:lnTo>
                <a:lnTo>
                  <a:pt x="42132" y="72043"/>
                </a:lnTo>
                <a:lnTo>
                  <a:pt x="71804" y="42273"/>
                </a:lnTo>
                <a:lnTo>
                  <a:pt x="107354" y="19565"/>
                </a:lnTo>
                <a:lnTo>
                  <a:pt x="147618" y="5085"/>
                </a:lnTo>
                <a:lnTo>
                  <a:pt x="191437" y="0"/>
                </a:lnTo>
                <a:lnTo>
                  <a:pt x="4675413" y="0"/>
                </a:lnTo>
                <a:lnTo>
                  <a:pt x="4719232" y="5085"/>
                </a:lnTo>
                <a:lnTo>
                  <a:pt x="4759497" y="19565"/>
                </a:lnTo>
                <a:lnTo>
                  <a:pt x="4795046" y="42273"/>
                </a:lnTo>
                <a:lnTo>
                  <a:pt x="4824718" y="72043"/>
                </a:lnTo>
                <a:lnTo>
                  <a:pt x="4847351" y="107711"/>
                </a:lnTo>
                <a:lnTo>
                  <a:pt x="4861782" y="148110"/>
                </a:lnTo>
                <a:lnTo>
                  <a:pt x="4866851" y="192075"/>
                </a:lnTo>
                <a:lnTo>
                  <a:pt x="4866851" y="827099"/>
                </a:lnTo>
                <a:lnTo>
                  <a:pt x="4861782" y="871064"/>
                </a:lnTo>
                <a:lnTo>
                  <a:pt x="4847351" y="911463"/>
                </a:lnTo>
                <a:lnTo>
                  <a:pt x="4824718" y="947131"/>
                </a:lnTo>
                <a:lnTo>
                  <a:pt x="4795046" y="976902"/>
                </a:lnTo>
                <a:lnTo>
                  <a:pt x="4759497" y="999610"/>
                </a:lnTo>
                <a:lnTo>
                  <a:pt x="4719232" y="1014089"/>
                </a:lnTo>
                <a:lnTo>
                  <a:pt x="4675413" y="1019175"/>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6000" b="0" i="0">
                <a:solidFill>
                  <a:srgbClr val="FFA51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8288000" cy="10287000"/>
          </a:xfrm>
          <a:custGeom>
            <a:avLst/>
            <a:gdLst/>
            <a:ahLst/>
            <a:cxnLst/>
            <a:rect l="l" t="t" r="r" b="b"/>
            <a:pathLst>
              <a:path w="18288000" h="10287000">
                <a:moveTo>
                  <a:pt x="18288000" y="10287000"/>
                </a:moveTo>
                <a:lnTo>
                  <a:pt x="0" y="10287000"/>
                </a:lnTo>
                <a:lnTo>
                  <a:pt x="0" y="0"/>
                </a:lnTo>
                <a:lnTo>
                  <a:pt x="18288000" y="0"/>
                </a:lnTo>
                <a:lnTo>
                  <a:pt x="18288000" y="10287000"/>
                </a:lnTo>
                <a:close/>
              </a:path>
            </a:pathLst>
          </a:custGeom>
          <a:solidFill>
            <a:srgbClr val="04172F"/>
          </a:solidFill>
        </p:spPr>
        <p:txBody>
          <a:bodyPr wrap="square" lIns="0" tIns="0" rIns="0" bIns="0" rtlCol="0"/>
          <a:lstStyle/>
          <a:p>
            <a:endParaRPr/>
          </a:p>
        </p:txBody>
      </p:sp>
      <p:sp>
        <p:nvSpPr>
          <p:cNvPr id="2" name="Holder 2"/>
          <p:cNvSpPr>
            <a:spLocks noGrp="1"/>
          </p:cNvSpPr>
          <p:nvPr>
            <p:ph type="title"/>
          </p:nvPr>
        </p:nvSpPr>
        <p:spPr>
          <a:xfrm>
            <a:off x="1052016" y="887429"/>
            <a:ext cx="16183967" cy="940435"/>
          </a:xfrm>
          <a:prstGeom prst="rect">
            <a:avLst/>
          </a:prstGeom>
        </p:spPr>
        <p:txBody>
          <a:bodyPr wrap="square" lIns="0" tIns="0" rIns="0" bIns="0">
            <a:spAutoFit/>
          </a:bodyPr>
          <a:lstStyle>
            <a:lvl1pPr>
              <a:defRPr sz="6000" b="0" i="0">
                <a:solidFill>
                  <a:srgbClr val="FFA511"/>
                </a:solidFill>
                <a:latin typeface="Arial"/>
                <a:cs typeface="Arial"/>
              </a:defRPr>
            </a:lvl1pPr>
          </a:lstStyle>
          <a:p>
            <a:endParaRPr/>
          </a:p>
        </p:txBody>
      </p:sp>
      <p:sp>
        <p:nvSpPr>
          <p:cNvPr id="3" name="Holder 3"/>
          <p:cNvSpPr>
            <a:spLocks noGrp="1"/>
          </p:cNvSpPr>
          <p:nvPr>
            <p:ph type="body" idx="1"/>
          </p:nvPr>
        </p:nvSpPr>
        <p:spPr>
          <a:xfrm>
            <a:off x="1016000" y="2417952"/>
            <a:ext cx="11146155" cy="6654165"/>
          </a:xfrm>
          <a:prstGeom prst="rect">
            <a:avLst/>
          </a:prstGeom>
        </p:spPr>
        <p:txBody>
          <a:bodyPr wrap="square" lIns="0" tIns="0" rIns="0" bIns="0">
            <a:spAutoFit/>
          </a:bodyPr>
          <a:lstStyle>
            <a:lvl1pPr>
              <a:defRPr sz="4500" b="0" i="0">
                <a:solidFill>
                  <a:schemeClr val="bg1"/>
                </a:solidFill>
                <a:latin typeface="Arial"/>
                <a:cs typeface="Arial"/>
              </a:defRPr>
            </a:lvl1pPr>
          </a:lstStyle>
          <a:p>
            <a:endParaRPr/>
          </a:p>
        </p:txBody>
      </p:sp>
      <p:sp>
        <p:nvSpPr>
          <p:cNvPr id="4" name="Holder 4"/>
          <p:cNvSpPr>
            <a:spLocks noGrp="1"/>
          </p:cNvSpPr>
          <p:nvPr>
            <p:ph type="ftr" sz="quarter" idx="5"/>
          </p:nvPr>
        </p:nvSpPr>
        <p:spPr>
          <a:xfrm>
            <a:off x="6217920" y="9566910"/>
            <a:ext cx="5852160" cy="51435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914400" y="9566910"/>
            <a:ext cx="4206240" cy="51435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12/25/2024</a:t>
            </a:fld>
            <a:endParaRPr lang="en-US"/>
          </a:p>
        </p:txBody>
      </p:sp>
      <p:sp>
        <p:nvSpPr>
          <p:cNvPr id="6" name="Holder 6"/>
          <p:cNvSpPr>
            <a:spLocks noGrp="1"/>
          </p:cNvSpPr>
          <p:nvPr>
            <p:ph type="sldNum" sz="quarter" idx="7"/>
          </p:nvPr>
        </p:nvSpPr>
        <p:spPr>
          <a:xfrm>
            <a:off x="13167361" y="9566910"/>
            <a:ext cx="4206240" cy="51435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893F-8320-4AAD-DF3B-86D563028D69}"/>
              </a:ext>
            </a:extLst>
          </p:cNvPr>
          <p:cNvSpPr>
            <a:spLocks noGrp="1"/>
          </p:cNvSpPr>
          <p:nvPr>
            <p:ph type="ctrTitle"/>
          </p:nvPr>
        </p:nvSpPr>
        <p:spPr>
          <a:xfrm>
            <a:off x="1408670" y="2476500"/>
            <a:ext cx="16916400" cy="2462213"/>
          </a:xfrm>
        </p:spPr>
        <p:txBody>
          <a:bodyPr/>
          <a:lstStyle/>
          <a:p>
            <a:r>
              <a:rPr lang="en-US" sz="5400" dirty="0">
                <a:latin typeface="Times New Roman" panose="02020603050405020304" pitchFamily="18" charset="0"/>
                <a:cs typeface="Times New Roman" panose="02020603050405020304" pitchFamily="18" charset="0"/>
              </a:rPr>
              <a:t>Unit-2</a:t>
            </a:r>
            <a:r>
              <a:rPr lang="en-US" dirty="0"/>
              <a:t>    </a:t>
            </a:r>
            <a:r>
              <a:rPr lang="en-US" sz="8000" dirty="0">
                <a:latin typeface="Times New Roman" panose="02020603050405020304" pitchFamily="18" charset="0"/>
                <a:cs typeface="Times New Roman" panose="02020603050405020304" pitchFamily="18" charset="0"/>
              </a:rPr>
              <a:t>Program/Software Development</a:t>
            </a:r>
          </a:p>
        </p:txBody>
      </p:sp>
      <p:sp>
        <p:nvSpPr>
          <p:cNvPr id="3" name="Subtitle 2">
            <a:extLst>
              <a:ext uri="{FF2B5EF4-FFF2-40B4-BE49-F238E27FC236}">
                <a16:creationId xmlns:a16="http://schemas.microsoft.com/office/drawing/2014/main" id="{493F609E-2241-1324-7B2F-9420586B1452}"/>
              </a:ext>
            </a:extLst>
          </p:cNvPr>
          <p:cNvSpPr>
            <a:spLocks noGrp="1"/>
          </p:cNvSpPr>
          <p:nvPr>
            <p:ph type="subTitle" idx="4"/>
          </p:nvPr>
        </p:nvSpPr>
        <p:spPr>
          <a:xfrm>
            <a:off x="2971800" y="4938713"/>
            <a:ext cx="12801600" cy="4093428"/>
          </a:xfrm>
        </p:spPr>
        <p:txBody>
          <a:bodyPr/>
          <a:lstStyle/>
          <a:p>
            <a:pPr algn="l"/>
            <a:endParaRPr lang="en-GB" sz="4400" b="1" dirty="0">
              <a:solidFill>
                <a:srgbClr val="00B0F0"/>
              </a:solidFill>
              <a:latin typeface="Times New Roman" panose="02020603050405020304" pitchFamily="18" charset="0"/>
              <a:cs typeface="Times New Roman" panose="02020603050405020304" pitchFamily="18" charset="0"/>
            </a:endParaRPr>
          </a:p>
          <a:p>
            <a:r>
              <a:rPr lang="en-GB" sz="4400" b="1" dirty="0">
                <a:solidFill>
                  <a:srgbClr val="00B0F0"/>
                </a:solidFill>
                <a:latin typeface="Times New Roman" panose="02020603050405020304" pitchFamily="18" charset="0"/>
                <a:cs typeface="Times New Roman" panose="02020603050405020304" pitchFamily="18" charset="0"/>
              </a:rPr>
              <a:t>                        </a:t>
            </a:r>
            <a:r>
              <a:rPr lang="en-GB" sz="4400" dirty="0">
                <a:solidFill>
                  <a:srgbClr val="92D050"/>
                </a:solidFill>
                <a:latin typeface="Times New Roman" panose="02020603050405020304" pitchFamily="18" charset="0"/>
                <a:cs typeface="Times New Roman" panose="02020603050405020304" pitchFamily="18" charset="0"/>
              </a:rPr>
              <a:t>Er. Bhisma Raj Joshi</a:t>
            </a:r>
          </a:p>
          <a:p>
            <a:r>
              <a:rPr lang="en-GB" sz="4400" b="1" dirty="0">
                <a:solidFill>
                  <a:srgbClr val="00B0F0"/>
                </a:solidFill>
                <a:latin typeface="Times New Roman" panose="02020603050405020304" pitchFamily="18" charset="0"/>
                <a:cs typeface="Times New Roman" panose="02020603050405020304" pitchFamily="18" charset="0"/>
              </a:rPr>
              <a:t>           Department of Computer Engineering</a:t>
            </a:r>
          </a:p>
          <a:p>
            <a:r>
              <a:rPr lang="en-GB" sz="4400" b="1" dirty="0">
                <a:solidFill>
                  <a:srgbClr val="FF0000"/>
                </a:solidFill>
                <a:latin typeface="Times New Roman" panose="02020603050405020304" pitchFamily="18" charset="0"/>
                <a:cs typeface="Times New Roman" panose="02020603050405020304" pitchFamily="18" charset="0"/>
              </a:rPr>
              <a:t>                                   ( NAST )</a:t>
            </a:r>
            <a:endParaRPr lang="en-IN" sz="4400" b="1" dirty="0">
              <a:solidFill>
                <a:srgbClr val="FF0000"/>
              </a:solidFill>
              <a:latin typeface="Times New Roman" panose="02020603050405020304" pitchFamily="18" charset="0"/>
              <a:cs typeface="Times New Roman" panose="02020603050405020304" pitchFamily="18" charset="0"/>
            </a:endParaRPr>
          </a:p>
          <a:p>
            <a:endParaRPr lang="en-US" dirty="0">
              <a:solidFill>
                <a:srgbClr val="00B0F0"/>
              </a:solidFill>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5870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E25D2-4814-44C0-A404-811421A7C7DC}"/>
              </a:ext>
            </a:extLst>
          </p:cNvPr>
          <p:cNvSpPr>
            <a:spLocks noGrp="1"/>
          </p:cNvSpPr>
          <p:nvPr>
            <p:ph type="title"/>
          </p:nvPr>
        </p:nvSpPr>
        <p:spPr>
          <a:xfrm>
            <a:off x="533400" y="266700"/>
            <a:ext cx="16183967" cy="940435"/>
          </a:xfrm>
        </p:spPr>
        <p:txBody>
          <a:bodyPr/>
          <a:lstStyle/>
          <a:p>
            <a:r>
              <a:rPr lang="en-US" sz="6000" dirty="0"/>
              <a:t>Objectives</a:t>
            </a:r>
            <a:endParaRPr lang="en-US" dirty="0"/>
          </a:p>
        </p:txBody>
      </p:sp>
      <p:sp>
        <p:nvSpPr>
          <p:cNvPr id="3" name="Text Placeholder 2">
            <a:extLst>
              <a:ext uri="{FF2B5EF4-FFF2-40B4-BE49-F238E27FC236}">
                <a16:creationId xmlns:a16="http://schemas.microsoft.com/office/drawing/2014/main" id="{701D03D0-2E26-D4D9-8F52-37D3D16B42E3}"/>
              </a:ext>
            </a:extLst>
          </p:cNvPr>
          <p:cNvSpPr>
            <a:spLocks noGrp="1"/>
          </p:cNvSpPr>
          <p:nvPr>
            <p:ph type="body" idx="1"/>
          </p:nvPr>
        </p:nvSpPr>
        <p:spPr>
          <a:xfrm>
            <a:off x="419100" y="1409700"/>
            <a:ext cx="17449800" cy="8710077"/>
          </a:xfrm>
        </p:spPr>
        <p:txBody>
          <a:bodyPr/>
          <a:lstStyle/>
          <a:p>
            <a:pPr marL="685800" indent="-685800">
              <a:buFontTx/>
              <a:buChar char="-"/>
            </a:pPr>
            <a:r>
              <a:rPr lang="en-US" sz="5400" dirty="0">
                <a:latin typeface="Times New Roman" panose="02020603050405020304" pitchFamily="18" charset="0"/>
                <a:cs typeface="Times New Roman" panose="02020603050405020304" pitchFamily="18" charset="0"/>
              </a:rPr>
              <a:t>Introduction to program/software development</a:t>
            </a:r>
          </a:p>
          <a:p>
            <a:pPr marL="685800" indent="-685800">
              <a:buFontTx/>
              <a:buChar char="-"/>
            </a:pPr>
            <a:r>
              <a:rPr lang="en-US" sz="5400" dirty="0">
                <a:latin typeface="Times New Roman" panose="02020603050405020304" pitchFamily="18" charset="0"/>
                <a:cs typeface="Times New Roman" panose="02020603050405020304" pitchFamily="18" charset="0"/>
              </a:rPr>
              <a:t>Program Development Life Cycle.</a:t>
            </a:r>
          </a:p>
          <a:p>
            <a:r>
              <a:rPr lang="en-US" sz="54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Problem Identification, Problem Analysis/Requirement Analysis</a:t>
            </a:r>
          </a:p>
          <a:p>
            <a:r>
              <a:rPr lang="en-US" sz="4000" dirty="0">
                <a:latin typeface="Times New Roman" panose="02020603050405020304" pitchFamily="18" charset="0"/>
                <a:cs typeface="Times New Roman" panose="02020603050405020304" pitchFamily="18" charset="0"/>
              </a:rPr>
              <a:t>       Problem Design Phase, Program Coding or system development</a:t>
            </a:r>
          </a:p>
          <a:p>
            <a:r>
              <a:rPr lang="en-US" sz="4000" dirty="0">
                <a:latin typeface="Times New Roman" panose="02020603050405020304" pitchFamily="18" charset="0"/>
                <a:cs typeface="Times New Roman" panose="02020603050405020304" pitchFamily="18" charset="0"/>
              </a:rPr>
              <a:t>       Program Testing, Debugging and Validation, Program Delivery/Implementation</a:t>
            </a:r>
          </a:p>
          <a:p>
            <a:r>
              <a:rPr lang="en-US" sz="4000" dirty="0">
                <a:latin typeface="Times New Roman" panose="02020603050405020304" pitchFamily="18" charset="0"/>
                <a:cs typeface="Times New Roman" panose="02020603050405020304" pitchFamily="18" charset="0"/>
              </a:rPr>
              <a:t>       Program Maintenance, Documentation</a:t>
            </a:r>
          </a:p>
          <a:p>
            <a:pPr marL="685800" indent="-685800">
              <a:buFontTx/>
              <a:buChar char="-"/>
            </a:pPr>
            <a:r>
              <a:rPr lang="en-US" sz="5400" dirty="0">
                <a:latin typeface="Times New Roman" panose="02020603050405020304" pitchFamily="18" charset="0"/>
                <a:cs typeface="Times New Roman" panose="02020603050405020304" pitchFamily="18" charset="0"/>
              </a:rPr>
              <a:t>Basic Programming Tools</a:t>
            </a:r>
          </a:p>
          <a:p>
            <a:r>
              <a:rPr lang="en-US" sz="4400" dirty="0">
                <a:latin typeface="Times New Roman" panose="02020603050405020304" pitchFamily="18" charset="0"/>
                <a:cs typeface="Times New Roman" panose="02020603050405020304" pitchFamily="18" charset="0"/>
              </a:rPr>
              <a:t>     Example 1. Algorithm </a:t>
            </a:r>
          </a:p>
          <a:p>
            <a:r>
              <a:rPr lang="en-US" sz="4400" dirty="0">
                <a:latin typeface="Times New Roman" panose="02020603050405020304" pitchFamily="18" charset="0"/>
                <a:cs typeface="Times New Roman" panose="02020603050405020304" pitchFamily="18" charset="0"/>
              </a:rPr>
              <a:t>                    2. Flowchart </a:t>
            </a:r>
          </a:p>
          <a:p>
            <a:r>
              <a:rPr lang="en-US" sz="4400" dirty="0">
                <a:latin typeface="Times New Roman" panose="02020603050405020304" pitchFamily="18" charset="0"/>
                <a:cs typeface="Times New Roman" panose="02020603050405020304" pitchFamily="18" charset="0"/>
              </a:rPr>
              <a:t>                    3. Decision Table and Decision Tree </a:t>
            </a:r>
          </a:p>
          <a:p>
            <a:r>
              <a:rPr lang="en-US" sz="4400" dirty="0">
                <a:latin typeface="Times New Roman" panose="02020603050405020304" pitchFamily="18" charset="0"/>
                <a:cs typeface="Times New Roman" panose="02020603050405020304" pitchFamily="18" charset="0"/>
              </a:rPr>
              <a:t>                    4. Pseudocode </a:t>
            </a:r>
            <a:endParaRPr lang="en-US" sz="8800" dirty="0">
              <a:latin typeface="Times New Roman" panose="02020603050405020304" pitchFamily="18" charset="0"/>
              <a:cs typeface="Times New Roman" panose="02020603050405020304" pitchFamily="18" charset="0"/>
            </a:endParaRPr>
          </a:p>
          <a:p>
            <a:pPr marL="685800" indent="-685800">
              <a:buFontTx/>
              <a:buChar char="-"/>
            </a:pPr>
            <a:r>
              <a:rPr lang="en-US" sz="5400" dirty="0">
                <a:latin typeface="Times New Roman" panose="02020603050405020304" pitchFamily="18" charset="0"/>
                <a:cs typeface="Times New Roman" panose="02020603050405020304" pitchFamily="18" charset="0"/>
              </a:rPr>
              <a:t>Comparison of Programming Tools adv &amp; dis-adv</a:t>
            </a:r>
          </a:p>
        </p:txBody>
      </p:sp>
    </p:spTree>
    <p:extLst>
      <p:ext uri="{BB962C8B-B14F-4D97-AF65-F5344CB8AC3E}">
        <p14:creationId xmlns:p14="http://schemas.microsoft.com/office/powerpoint/2010/main" val="260877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48DC8-C2BD-2D49-56AB-9ABFE579CF87}"/>
              </a:ext>
            </a:extLst>
          </p:cNvPr>
          <p:cNvSpPr>
            <a:spLocks noGrp="1"/>
          </p:cNvSpPr>
          <p:nvPr>
            <p:ph type="body" idx="1"/>
          </p:nvPr>
        </p:nvSpPr>
        <p:spPr>
          <a:xfrm>
            <a:off x="2667000" y="3162300"/>
            <a:ext cx="11146155" cy="3170099"/>
          </a:xfrm>
        </p:spPr>
        <p:txBody>
          <a:bodyPr/>
          <a:lstStyle/>
          <a:p>
            <a:r>
              <a:rPr lang="en-US" sz="4400" dirty="0">
                <a:solidFill>
                  <a:srgbClr val="00B0F0"/>
                </a:solidFill>
                <a:latin typeface="+mn-lt"/>
              </a:rPr>
              <a:t>                Exam Point of View</a:t>
            </a:r>
          </a:p>
          <a:p>
            <a:endParaRPr lang="en-US" sz="5400" dirty="0"/>
          </a:p>
          <a:p>
            <a:r>
              <a:rPr lang="en-US" sz="5400" dirty="0"/>
              <a:t>     2 LQ – 7 and 8 marks    = 15</a:t>
            </a:r>
          </a:p>
          <a:p>
            <a:r>
              <a:rPr lang="en-US" sz="5400" dirty="0"/>
              <a:t>     1 Short Notes                =  5</a:t>
            </a:r>
          </a:p>
        </p:txBody>
      </p:sp>
    </p:spTree>
    <p:extLst>
      <p:ext uri="{BB962C8B-B14F-4D97-AF65-F5344CB8AC3E}">
        <p14:creationId xmlns:p14="http://schemas.microsoft.com/office/powerpoint/2010/main" val="2037041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A4B2-AB0B-AB2F-940E-A4118FD2C8EE}"/>
              </a:ext>
            </a:extLst>
          </p:cNvPr>
          <p:cNvSpPr>
            <a:spLocks noGrp="1"/>
          </p:cNvSpPr>
          <p:nvPr>
            <p:ph type="title"/>
          </p:nvPr>
        </p:nvSpPr>
        <p:spPr>
          <a:xfrm>
            <a:off x="457200" y="285775"/>
            <a:ext cx="16183967" cy="940435"/>
          </a:xfrm>
        </p:spPr>
        <p:txBody>
          <a:bodyPr/>
          <a:lstStyle/>
          <a:p>
            <a:r>
              <a:rPr lang="en-US" b="1" dirty="0"/>
              <a:t># Program and Program Development</a:t>
            </a:r>
          </a:p>
        </p:txBody>
      </p:sp>
      <p:sp>
        <p:nvSpPr>
          <p:cNvPr id="3" name="Text Placeholder 2">
            <a:extLst>
              <a:ext uri="{FF2B5EF4-FFF2-40B4-BE49-F238E27FC236}">
                <a16:creationId xmlns:a16="http://schemas.microsoft.com/office/drawing/2014/main" id="{97526544-4F41-4940-A494-50C5A3D53647}"/>
              </a:ext>
            </a:extLst>
          </p:cNvPr>
          <p:cNvSpPr>
            <a:spLocks noGrp="1"/>
          </p:cNvSpPr>
          <p:nvPr>
            <p:ph type="body" idx="1"/>
          </p:nvPr>
        </p:nvSpPr>
        <p:spPr>
          <a:xfrm>
            <a:off x="457200" y="1485900"/>
            <a:ext cx="17297400" cy="8309967"/>
          </a:xfrm>
        </p:spPr>
        <p:txBody>
          <a:bodyPr/>
          <a:lstStyle/>
          <a:p>
            <a:pPr marL="685800" indent="-685800">
              <a:buFontTx/>
              <a:buChar char="-"/>
            </a:pPr>
            <a:r>
              <a:rPr lang="en-US" sz="5400" dirty="0">
                <a:latin typeface="Times New Roman" panose="02020603050405020304" pitchFamily="18" charset="0"/>
                <a:cs typeface="Times New Roman" panose="02020603050405020304" pitchFamily="18" charset="0"/>
              </a:rPr>
              <a:t>A program is a set of instructions written in a programming language that a computer can execute to perform a specific task or solve a problem. It translates human intentions into machine-readable code.</a:t>
            </a:r>
          </a:p>
          <a:p>
            <a:pPr marL="685800" indent="-685800">
              <a:buFontTx/>
              <a:buChar char="-"/>
            </a:pPr>
            <a:r>
              <a:rPr lang="en-US" sz="5400" dirty="0">
                <a:latin typeface="Times New Roman" panose="02020603050405020304" pitchFamily="18" charset="0"/>
                <a:cs typeface="Times New Roman" panose="02020603050405020304" pitchFamily="18" charset="0"/>
              </a:rPr>
              <a:t>Program development involves a systematic sequence of steps, including problem analysis, design, coding, testing, and maintenance for creating functional software.</a:t>
            </a:r>
          </a:p>
          <a:p>
            <a:pPr marL="685800" indent="-685800">
              <a:buFontTx/>
              <a:buChar char="-"/>
            </a:pPr>
            <a:r>
              <a:rPr lang="en-US" sz="5400" dirty="0">
                <a:latin typeface="Times New Roman" panose="02020603050405020304" pitchFamily="18" charset="0"/>
                <a:cs typeface="Times New Roman" panose="02020603050405020304" pitchFamily="18" charset="0"/>
              </a:rPr>
              <a:t>It includes iterative cycles of developing, testing, and refining the software to ensure it meets user requirements and is free of errors.</a:t>
            </a:r>
          </a:p>
        </p:txBody>
      </p:sp>
    </p:spTree>
    <p:extLst>
      <p:ext uri="{BB962C8B-B14F-4D97-AF65-F5344CB8AC3E}">
        <p14:creationId xmlns:p14="http://schemas.microsoft.com/office/powerpoint/2010/main" val="393506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7F453-AB46-42E4-9843-6EA57E936A03}"/>
              </a:ext>
            </a:extLst>
          </p:cNvPr>
          <p:cNvSpPr>
            <a:spLocks noGrp="1"/>
          </p:cNvSpPr>
          <p:nvPr>
            <p:ph type="title"/>
          </p:nvPr>
        </p:nvSpPr>
        <p:spPr>
          <a:xfrm>
            <a:off x="401595" y="718751"/>
            <a:ext cx="16183967" cy="1015663"/>
          </a:xfrm>
        </p:spPr>
        <p:txBody>
          <a:bodyPr/>
          <a:lstStyle/>
          <a:p>
            <a:r>
              <a:rPr lang="en-US" sz="6600" b="1" dirty="0"/>
              <a:t>Program Development Life Cycle</a:t>
            </a:r>
          </a:p>
        </p:txBody>
      </p:sp>
      <p:sp>
        <p:nvSpPr>
          <p:cNvPr id="3" name="Text Placeholder 2">
            <a:extLst>
              <a:ext uri="{FF2B5EF4-FFF2-40B4-BE49-F238E27FC236}">
                <a16:creationId xmlns:a16="http://schemas.microsoft.com/office/drawing/2014/main" id="{CD5318D5-7AB3-8AFC-0C82-A5272E0A00E1}"/>
              </a:ext>
            </a:extLst>
          </p:cNvPr>
          <p:cNvSpPr>
            <a:spLocks noGrp="1"/>
          </p:cNvSpPr>
          <p:nvPr>
            <p:ph type="body" idx="1"/>
          </p:nvPr>
        </p:nvSpPr>
        <p:spPr>
          <a:xfrm>
            <a:off x="401595" y="2095500"/>
            <a:ext cx="17886405" cy="7467600"/>
          </a:xfrm>
        </p:spPr>
        <p:txBody>
          <a:bodyPr/>
          <a:lstStyle/>
          <a:p>
            <a:pPr marL="685800" indent="-685800">
              <a:buFontTx/>
              <a:buChar char="-"/>
            </a:pPr>
            <a:r>
              <a:rPr lang="en-US" sz="5400" dirty="0">
                <a:latin typeface="Times New Roman" panose="02020603050405020304" pitchFamily="18" charset="0"/>
                <a:cs typeface="Times New Roman" panose="02020603050405020304" pitchFamily="18" charset="0"/>
              </a:rPr>
              <a:t>It is also known as Software Development Life Cycle(SDLC).</a:t>
            </a:r>
          </a:p>
          <a:p>
            <a:pPr marL="685800" indent="-685800">
              <a:buFontTx/>
              <a:buChar char="-"/>
            </a:pPr>
            <a:r>
              <a:rPr lang="en-US" sz="6000" dirty="0">
                <a:latin typeface="Times New Roman" panose="02020603050405020304" pitchFamily="18" charset="0"/>
                <a:cs typeface="Times New Roman" panose="02020603050405020304" pitchFamily="18" charset="0"/>
              </a:rPr>
              <a:t>It  is the process used by software company or industry to design, develop and test the high-quality software product.</a:t>
            </a:r>
          </a:p>
          <a:p>
            <a:pPr marL="685800" indent="-685800">
              <a:buFontTx/>
              <a:buChar char="-"/>
            </a:pPr>
            <a:r>
              <a:rPr lang="en-US" sz="6000" dirty="0">
                <a:latin typeface="Times New Roman" panose="02020603050405020304" pitchFamily="18" charset="0"/>
                <a:cs typeface="Times New Roman" panose="02020603050405020304" pitchFamily="18" charset="0"/>
              </a:rPr>
              <a:t>It is a framework that define different tasks which are performed during software development process.</a:t>
            </a:r>
          </a:p>
          <a:p>
            <a:pPr marL="685800" indent="-685800">
              <a:buFontTx/>
              <a:buChar char="-"/>
            </a:pPr>
            <a:r>
              <a:rPr lang="en-US" sz="6000" dirty="0">
                <a:latin typeface="Times New Roman" panose="02020603050405020304" pitchFamily="18" charset="0"/>
                <a:cs typeface="Times New Roman" panose="02020603050405020304" pitchFamily="18" charset="0"/>
              </a:rPr>
              <a:t>It consists of several steps which are shown in fig below.</a:t>
            </a:r>
          </a:p>
        </p:txBody>
      </p:sp>
    </p:spTree>
    <p:extLst>
      <p:ext uri="{BB962C8B-B14F-4D97-AF65-F5344CB8AC3E}">
        <p14:creationId xmlns:p14="http://schemas.microsoft.com/office/powerpoint/2010/main" val="919641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6FBB9-4198-2EA8-DCE5-5C77E531427E}"/>
              </a:ext>
            </a:extLst>
          </p:cNvPr>
          <p:cNvSpPr>
            <a:spLocks noGrp="1"/>
          </p:cNvSpPr>
          <p:nvPr>
            <p:ph type="title"/>
          </p:nvPr>
        </p:nvSpPr>
        <p:spPr>
          <a:xfrm>
            <a:off x="4495800" y="9410700"/>
            <a:ext cx="10225584" cy="750871"/>
          </a:xfrm>
        </p:spPr>
        <p:txBody>
          <a:bodyPr/>
          <a:lstStyle/>
          <a:p>
            <a:r>
              <a:rPr lang="en-US" sz="4000" dirty="0">
                <a:solidFill>
                  <a:srgbClr val="92D050"/>
                </a:solidFill>
                <a:latin typeface="Times New Roman" panose="02020603050405020304" pitchFamily="18" charset="0"/>
                <a:cs typeface="Times New Roman" panose="02020603050405020304" pitchFamily="18" charset="0"/>
              </a:rPr>
              <a:t>Fig:- Software Development Life Cycle</a:t>
            </a:r>
          </a:p>
        </p:txBody>
      </p:sp>
      <p:pic>
        <p:nvPicPr>
          <p:cNvPr id="5" name="Picture 4">
            <a:extLst>
              <a:ext uri="{FF2B5EF4-FFF2-40B4-BE49-F238E27FC236}">
                <a16:creationId xmlns:a16="http://schemas.microsoft.com/office/drawing/2014/main" id="{2E946BCF-B9F8-34B3-A171-7268EEB003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0"/>
            <a:ext cx="15023632" cy="9334500"/>
          </a:xfrm>
          <a:prstGeom prst="rect">
            <a:avLst/>
          </a:prstGeom>
        </p:spPr>
      </p:pic>
      <p:sp>
        <p:nvSpPr>
          <p:cNvPr id="6" name="TextBox 5">
            <a:extLst>
              <a:ext uri="{FF2B5EF4-FFF2-40B4-BE49-F238E27FC236}">
                <a16:creationId xmlns:a16="http://schemas.microsoft.com/office/drawing/2014/main" id="{39C72169-CC7E-1875-1AAF-3BBDD19E07D2}"/>
              </a:ext>
            </a:extLst>
          </p:cNvPr>
          <p:cNvSpPr txBox="1"/>
          <p:nvPr/>
        </p:nvSpPr>
        <p:spPr>
          <a:xfrm flipH="1">
            <a:off x="12192000" y="7886700"/>
            <a:ext cx="2209800" cy="707886"/>
          </a:xfrm>
          <a:prstGeom prst="rect">
            <a:avLst/>
          </a:prstGeom>
          <a:noFill/>
        </p:spPr>
        <p:txBody>
          <a:bodyPr wrap="square" rtlCol="0">
            <a:spAutoFit/>
          </a:bodyPr>
          <a:lstStyle/>
          <a:p>
            <a:r>
              <a:rPr lang="en-US" sz="2000" b="1" dirty="0">
                <a:solidFill>
                  <a:schemeClr val="tx1">
                    <a:lumMod val="65000"/>
                    <a:lumOff val="35000"/>
                  </a:schemeClr>
                </a:solidFill>
              </a:rPr>
              <a:t>          And</a:t>
            </a:r>
          </a:p>
          <a:p>
            <a:r>
              <a:rPr lang="en-US" sz="2000" b="1" dirty="0">
                <a:solidFill>
                  <a:schemeClr val="tx1">
                    <a:lumMod val="65000"/>
                    <a:lumOff val="35000"/>
                  </a:schemeClr>
                </a:solidFill>
              </a:rPr>
              <a:t>Documentation</a:t>
            </a:r>
          </a:p>
        </p:txBody>
      </p:sp>
      <p:sp>
        <p:nvSpPr>
          <p:cNvPr id="7" name="Rectangle 6">
            <a:extLst>
              <a:ext uri="{FF2B5EF4-FFF2-40B4-BE49-F238E27FC236}">
                <a16:creationId xmlns:a16="http://schemas.microsoft.com/office/drawing/2014/main" id="{A5F3C7E8-8E22-52BB-0FC9-6BA101014268}"/>
              </a:ext>
            </a:extLst>
          </p:cNvPr>
          <p:cNvSpPr/>
          <p:nvPr/>
        </p:nvSpPr>
        <p:spPr>
          <a:xfrm>
            <a:off x="4876800" y="7658101"/>
            <a:ext cx="2060714" cy="707886"/>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lumMod val="65000"/>
                    <a:lumOff val="35000"/>
                  </a:schemeClr>
                </a:solidFill>
              </a:rPr>
              <a:t>Problem Identification</a:t>
            </a:r>
          </a:p>
        </p:txBody>
      </p:sp>
      <p:sp>
        <p:nvSpPr>
          <p:cNvPr id="8" name="TextBox 7">
            <a:extLst>
              <a:ext uri="{FF2B5EF4-FFF2-40B4-BE49-F238E27FC236}">
                <a16:creationId xmlns:a16="http://schemas.microsoft.com/office/drawing/2014/main" id="{66E0CDC7-592F-4069-D7F8-F292A32AAB64}"/>
              </a:ext>
            </a:extLst>
          </p:cNvPr>
          <p:cNvSpPr txBox="1"/>
          <p:nvPr/>
        </p:nvSpPr>
        <p:spPr>
          <a:xfrm flipH="1">
            <a:off x="8472631" y="3009900"/>
            <a:ext cx="1735970" cy="707886"/>
          </a:xfrm>
          <a:prstGeom prst="rect">
            <a:avLst/>
          </a:prstGeom>
          <a:noFill/>
        </p:spPr>
        <p:txBody>
          <a:bodyPr wrap="square" rtlCol="0">
            <a:spAutoFit/>
          </a:bodyPr>
          <a:lstStyle/>
          <a:p>
            <a:r>
              <a:rPr lang="en-US" sz="2000" b="1" dirty="0">
                <a:solidFill>
                  <a:schemeClr val="bg2">
                    <a:lumMod val="25000"/>
                  </a:schemeClr>
                </a:solidFill>
              </a:rPr>
              <a:t>          OR</a:t>
            </a:r>
          </a:p>
          <a:p>
            <a:r>
              <a:rPr lang="en-US" sz="2000" b="1" dirty="0">
                <a:solidFill>
                  <a:schemeClr val="bg2">
                    <a:lumMod val="25000"/>
                  </a:schemeClr>
                </a:solidFill>
              </a:rPr>
              <a:t>       Coding</a:t>
            </a:r>
          </a:p>
        </p:txBody>
      </p:sp>
      <p:sp>
        <p:nvSpPr>
          <p:cNvPr id="10" name="TextBox 9">
            <a:extLst>
              <a:ext uri="{FF2B5EF4-FFF2-40B4-BE49-F238E27FC236}">
                <a16:creationId xmlns:a16="http://schemas.microsoft.com/office/drawing/2014/main" id="{39456FA7-BAF6-3F03-E836-C73D8431A4B9}"/>
              </a:ext>
            </a:extLst>
          </p:cNvPr>
          <p:cNvSpPr txBox="1"/>
          <p:nvPr/>
        </p:nvSpPr>
        <p:spPr>
          <a:xfrm flipH="1">
            <a:off x="11125200" y="3848100"/>
            <a:ext cx="1735970" cy="707886"/>
          </a:xfrm>
          <a:prstGeom prst="rect">
            <a:avLst/>
          </a:prstGeom>
          <a:noFill/>
        </p:spPr>
        <p:txBody>
          <a:bodyPr wrap="square" rtlCol="0">
            <a:spAutoFit/>
          </a:bodyPr>
          <a:lstStyle/>
          <a:p>
            <a:r>
              <a:rPr lang="en-US" sz="2000" b="1" dirty="0">
                <a:solidFill>
                  <a:schemeClr val="bg2">
                    <a:lumMod val="25000"/>
                  </a:schemeClr>
                </a:solidFill>
              </a:rPr>
              <a:t>and data</a:t>
            </a:r>
          </a:p>
          <a:p>
            <a:r>
              <a:rPr lang="en-US" sz="2000" b="1" dirty="0">
                <a:solidFill>
                  <a:schemeClr val="bg2">
                    <a:lumMod val="25000"/>
                  </a:schemeClr>
                </a:solidFill>
              </a:rPr>
              <a:t>validation</a:t>
            </a:r>
          </a:p>
        </p:txBody>
      </p:sp>
    </p:spTree>
    <p:extLst>
      <p:ext uri="{BB962C8B-B14F-4D97-AF65-F5344CB8AC3E}">
        <p14:creationId xmlns:p14="http://schemas.microsoft.com/office/powerpoint/2010/main" val="2462529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86229-D65D-EA7D-F69B-2F5EE5AF4729}"/>
              </a:ext>
            </a:extLst>
          </p:cNvPr>
          <p:cNvSpPr>
            <a:spLocks noGrp="1"/>
          </p:cNvSpPr>
          <p:nvPr>
            <p:ph type="title"/>
          </p:nvPr>
        </p:nvSpPr>
        <p:spPr>
          <a:xfrm>
            <a:off x="228600" y="266700"/>
            <a:ext cx="16183967" cy="923330"/>
          </a:xfrm>
        </p:spPr>
        <p:txBody>
          <a:bodyPr/>
          <a:lstStyle/>
          <a:p>
            <a:r>
              <a:rPr lang="en-US" dirty="0"/>
              <a:t>1. Problem Identification</a:t>
            </a:r>
          </a:p>
        </p:txBody>
      </p:sp>
      <p:sp>
        <p:nvSpPr>
          <p:cNvPr id="3" name="Text Placeholder 2">
            <a:extLst>
              <a:ext uri="{FF2B5EF4-FFF2-40B4-BE49-F238E27FC236}">
                <a16:creationId xmlns:a16="http://schemas.microsoft.com/office/drawing/2014/main" id="{98F3D46B-E5E7-6883-2E11-30786E870C7F}"/>
              </a:ext>
            </a:extLst>
          </p:cNvPr>
          <p:cNvSpPr>
            <a:spLocks noGrp="1"/>
          </p:cNvSpPr>
          <p:nvPr>
            <p:ph type="body" idx="1"/>
          </p:nvPr>
        </p:nvSpPr>
        <p:spPr>
          <a:xfrm>
            <a:off x="381000" y="1333500"/>
            <a:ext cx="17754600" cy="7925246"/>
          </a:xfrm>
        </p:spPr>
        <p:txBody>
          <a:bodyPr/>
          <a:lstStyle/>
          <a:p>
            <a:pPr marL="685800" indent="-685800">
              <a:buFontTx/>
              <a:buChar char="-"/>
            </a:pPr>
            <a:r>
              <a:rPr lang="en-US" dirty="0">
                <a:latin typeface="Times New Roman" panose="02020603050405020304" pitchFamily="18" charset="0"/>
                <a:cs typeface="Times New Roman" panose="02020603050405020304" pitchFamily="18" charset="0"/>
              </a:rPr>
              <a:t>The problem identification phase is a critical initial step in the Software Development Life Cycle (SDLC). It involves understanding the problem or opportunity that the software solution is expected to address.</a:t>
            </a:r>
          </a:p>
          <a:p>
            <a:pPr marL="685800" indent="-685800">
              <a:buFontTx/>
              <a:buChar char="-"/>
            </a:pPr>
            <a:r>
              <a:rPr lang="en-US" dirty="0">
                <a:latin typeface="Times New Roman" panose="02020603050405020304" pitchFamily="18" charset="0"/>
                <a:cs typeface="Times New Roman" panose="02020603050405020304" pitchFamily="18" charset="0"/>
              </a:rPr>
              <a:t>The key points of problem identification phase are..</a:t>
            </a:r>
          </a:p>
          <a:p>
            <a:pPr marL="685800" indent="-685800">
              <a:buFontTx/>
              <a:buChar char="-"/>
            </a:pPr>
            <a:endParaRPr lang="en-US" dirty="0">
              <a:latin typeface="Times New Roman" panose="02020603050405020304" pitchFamily="18" charset="0"/>
              <a:cs typeface="Times New Roman" panose="02020603050405020304" pitchFamily="18" charset="0"/>
            </a:endParaRPr>
          </a:p>
          <a:p>
            <a:r>
              <a:rPr lang="en-US" b="1" dirty="0" err="1">
                <a:solidFill>
                  <a:srgbClr val="00B0F0"/>
                </a:solidFill>
                <a:latin typeface="Times New Roman" panose="02020603050405020304" pitchFamily="18" charset="0"/>
                <a:cs typeface="Times New Roman" panose="02020603050405020304" pitchFamily="18" charset="0"/>
              </a:rPr>
              <a:t>i</a:t>
            </a:r>
            <a:r>
              <a:rPr lang="en-US" b="1" dirty="0">
                <a:solidFill>
                  <a:srgbClr val="00B0F0"/>
                </a:solidFill>
                <a:latin typeface="Times New Roman" panose="02020603050405020304" pitchFamily="18" charset="0"/>
                <a:cs typeface="Times New Roman" panose="02020603050405020304" pitchFamily="18" charset="0"/>
              </a:rPr>
              <a:t>) </a:t>
            </a:r>
            <a:r>
              <a:rPr lang="en-US" dirty="0">
                <a:solidFill>
                  <a:srgbClr val="00B0F0"/>
                </a:solidFill>
                <a:latin typeface="Times New Roman" panose="02020603050405020304" pitchFamily="18" charset="0"/>
                <a:cs typeface="Times New Roman" panose="02020603050405020304" pitchFamily="18" charset="0"/>
              </a:rPr>
              <a:t>Understanding the Problem: </a:t>
            </a:r>
            <a:r>
              <a:rPr lang="en-US" sz="4000" dirty="0">
                <a:latin typeface="Times New Roman" panose="02020603050405020304" pitchFamily="18" charset="0"/>
                <a:cs typeface="Times New Roman" panose="02020603050405020304" pitchFamily="18" charset="0"/>
              </a:rPr>
              <a:t>Gather detailed requirements and insights from  </a:t>
            </a:r>
          </a:p>
          <a:p>
            <a:r>
              <a:rPr lang="en-US" sz="4000" dirty="0">
                <a:latin typeface="Times New Roman" panose="02020603050405020304" pitchFamily="18" charset="0"/>
                <a:cs typeface="Times New Roman" panose="02020603050405020304" pitchFamily="18" charset="0"/>
              </a:rPr>
              <a:t>    stakeholders to clearly understand the problem that needs to be solved.</a:t>
            </a:r>
          </a:p>
          <a:p>
            <a:endParaRPr lang="en-US" sz="4000" dirty="0">
              <a:latin typeface="Times New Roman" panose="02020603050405020304" pitchFamily="18" charset="0"/>
              <a:cs typeface="Times New Roman" panose="02020603050405020304" pitchFamily="18" charset="0"/>
            </a:endParaRPr>
          </a:p>
          <a:p>
            <a:r>
              <a:rPr lang="en-US" dirty="0">
                <a:solidFill>
                  <a:srgbClr val="00B0F0"/>
                </a:solidFill>
                <a:latin typeface="Times New Roman" panose="02020603050405020304" pitchFamily="18" charset="0"/>
                <a:cs typeface="Times New Roman" panose="02020603050405020304" pitchFamily="18" charset="0"/>
              </a:rPr>
              <a:t>ii) Analyzing the Problem: </a:t>
            </a:r>
            <a:r>
              <a:rPr lang="en-US" sz="4000" dirty="0">
                <a:latin typeface="Times New Roman" panose="02020603050405020304" pitchFamily="18" charset="0"/>
                <a:cs typeface="Times New Roman" panose="02020603050405020304" pitchFamily="18" charset="0"/>
              </a:rPr>
              <a:t>It involves identifying the main issue, determining what factors contribute to it, and figuring out the requirements for solving it. Essentially, it's about gaining a clear and complete understanding of the problem before deciding on a solution.</a:t>
            </a:r>
          </a:p>
        </p:txBody>
      </p:sp>
    </p:spTree>
    <p:extLst>
      <p:ext uri="{BB962C8B-B14F-4D97-AF65-F5344CB8AC3E}">
        <p14:creationId xmlns:p14="http://schemas.microsoft.com/office/powerpoint/2010/main" val="24260395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0F23A-1DBE-4708-28C5-9313A0ED8D0B}"/>
              </a:ext>
            </a:extLst>
          </p:cNvPr>
          <p:cNvSpPr>
            <a:spLocks noGrp="1"/>
          </p:cNvSpPr>
          <p:nvPr>
            <p:ph type="title"/>
          </p:nvPr>
        </p:nvSpPr>
        <p:spPr>
          <a:xfrm>
            <a:off x="228600" y="287834"/>
            <a:ext cx="16183967" cy="940435"/>
          </a:xfrm>
        </p:spPr>
        <p:txBody>
          <a:bodyPr/>
          <a:lstStyle/>
          <a:p>
            <a:r>
              <a:rPr lang="en-US" dirty="0"/>
              <a:t>2. Requirement Gathering and Analysis </a:t>
            </a:r>
          </a:p>
        </p:txBody>
      </p:sp>
      <p:sp>
        <p:nvSpPr>
          <p:cNvPr id="3" name="Text Placeholder 2">
            <a:extLst>
              <a:ext uri="{FF2B5EF4-FFF2-40B4-BE49-F238E27FC236}">
                <a16:creationId xmlns:a16="http://schemas.microsoft.com/office/drawing/2014/main" id="{D3F76D16-1E78-2E83-C17D-097C37D95644}"/>
              </a:ext>
            </a:extLst>
          </p:cNvPr>
          <p:cNvSpPr>
            <a:spLocks noGrp="1"/>
          </p:cNvSpPr>
          <p:nvPr>
            <p:ph type="body" idx="1"/>
          </p:nvPr>
        </p:nvSpPr>
        <p:spPr>
          <a:xfrm>
            <a:off x="533400" y="1258131"/>
            <a:ext cx="17754600" cy="2077492"/>
          </a:xfrm>
        </p:spPr>
        <p:txBody>
          <a:bodyPr/>
          <a:lstStyle/>
          <a:p>
            <a:pPr marL="685800" indent="-685800">
              <a:buFontTx/>
              <a:buChar char="-"/>
            </a:pPr>
            <a:r>
              <a:rPr lang="en-US" dirty="0">
                <a:latin typeface="Times New Roman" panose="02020603050405020304" pitchFamily="18" charset="0"/>
                <a:cs typeface="Times New Roman" panose="02020603050405020304" pitchFamily="18" charset="0"/>
              </a:rPr>
              <a:t>The requirement gathering phase is all about collecting information from various sources to understand what the stakeholders need from the system.</a:t>
            </a:r>
          </a:p>
          <a:p>
            <a:pPr marL="685800" indent="-685800">
              <a:buFontTx/>
              <a:buChar char="-"/>
            </a:pPr>
            <a:r>
              <a:rPr lang="en-US" dirty="0">
                <a:latin typeface="Times New Roman" panose="02020603050405020304" pitchFamily="18" charset="0"/>
                <a:cs typeface="Times New Roman" panose="02020603050405020304" pitchFamily="18" charset="0"/>
              </a:rPr>
              <a:t>The various techniques for gathering requirements are</a:t>
            </a:r>
          </a:p>
        </p:txBody>
      </p:sp>
      <p:sp>
        <p:nvSpPr>
          <p:cNvPr id="4" name="Rectangle 1">
            <a:extLst>
              <a:ext uri="{FF2B5EF4-FFF2-40B4-BE49-F238E27FC236}">
                <a16:creationId xmlns:a16="http://schemas.microsoft.com/office/drawing/2014/main" id="{39B66805-570C-8A9F-7192-5EDD7F560824}"/>
              </a:ext>
            </a:extLst>
          </p:cNvPr>
          <p:cNvSpPr>
            <a:spLocks noChangeArrowheads="1"/>
          </p:cNvSpPr>
          <p:nvPr/>
        </p:nvSpPr>
        <p:spPr bwMode="auto">
          <a:xfrm>
            <a:off x="533400" y="3381711"/>
            <a:ext cx="17449800" cy="6863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440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rPr>
              <a:t>Interviews: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Conduct one-on-one/group interviews with stakeholders to        </a:t>
            </a:r>
          </a:p>
          <a:p>
            <a:pPr marL="0" marR="0" lvl="0" indent="0" algn="l" defTabSz="914400" rtl="0" eaLnBrk="0" fontAlgn="base" latinLnBrk="0" hangingPunct="0">
              <a:lnSpc>
                <a:spcPct val="100000"/>
              </a:lnSpc>
              <a:spcBef>
                <a:spcPct val="0"/>
              </a:spcBef>
              <a:spcAft>
                <a:spcPct val="0"/>
              </a:spcAft>
              <a:buClrTx/>
              <a:buSzTx/>
              <a:tabLst/>
            </a:pPr>
            <a:r>
              <a:rPr lang="en-US" altLang="en-US" sz="4400" dirty="0">
                <a:solidFill>
                  <a:schemeClr val="bg1"/>
                </a:solidFill>
                <a:latin typeface="Times New Roman" panose="02020603050405020304" pitchFamily="18" charset="0"/>
                <a:cs typeface="Times New Roman" panose="02020603050405020304" pitchFamily="18" charset="0"/>
              </a:rPr>
              <a:t>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gather in-depth insights.</a:t>
            </a:r>
          </a:p>
          <a:p>
            <a:pPr marL="0" marR="0" lvl="0" indent="0" algn="l" defTabSz="914400" rtl="0" eaLnBrk="0" fontAlgn="base" latinLnBrk="0" hangingPunct="0">
              <a:lnSpc>
                <a:spcPct val="100000"/>
              </a:lnSpc>
              <a:spcBef>
                <a:spcPct val="0"/>
              </a:spcBef>
              <a:spcAft>
                <a:spcPct val="0"/>
              </a:spcAft>
              <a:buClrTx/>
              <a:buSzTx/>
              <a:tabLst/>
            </a:pPr>
            <a:r>
              <a:rPr kumimoji="0" lang="en-US" altLang="en-US" sz="440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rPr>
              <a:t>Surveys: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Use structured surveys to collect information from a larger </a:t>
            </a:r>
          </a:p>
          <a:p>
            <a:pPr marL="0" marR="0" lvl="0" indent="0" algn="l" defTabSz="914400" rtl="0" eaLnBrk="0" fontAlgn="base" latinLnBrk="0" hangingPunct="0">
              <a:lnSpc>
                <a:spcPct val="100000"/>
              </a:lnSpc>
              <a:spcBef>
                <a:spcPct val="0"/>
              </a:spcBef>
              <a:spcAft>
                <a:spcPct val="0"/>
              </a:spcAft>
              <a:buClrTx/>
              <a:buSzTx/>
              <a:tabLst/>
            </a:pPr>
            <a:r>
              <a:rPr lang="en-US" altLang="en-US" sz="4400" dirty="0">
                <a:solidFill>
                  <a:schemeClr val="bg1"/>
                </a:solidFill>
                <a:latin typeface="Times New Roman" panose="02020603050405020304" pitchFamily="18" charset="0"/>
                <a:cs typeface="Times New Roman" panose="02020603050405020304" pitchFamily="18" charset="0"/>
              </a:rPr>
              <a:t>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audience.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440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rPr>
              <a:t>Workshops: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Organize collaborative workshops to discuss requirements </a:t>
            </a:r>
          </a:p>
          <a:p>
            <a:pPr marL="0" marR="0" lvl="0" indent="0" algn="l" defTabSz="914400" rtl="0" eaLnBrk="0" fontAlgn="base" latinLnBrk="0" hangingPunct="0">
              <a:lnSpc>
                <a:spcPct val="100000"/>
              </a:lnSpc>
              <a:spcBef>
                <a:spcPct val="0"/>
              </a:spcBef>
              <a:spcAft>
                <a:spcPct val="0"/>
              </a:spcAft>
              <a:buClrTx/>
              <a:buSzTx/>
              <a:tabLst/>
            </a:pPr>
            <a:r>
              <a:rPr lang="en-US" altLang="en-US" sz="4400" dirty="0">
                <a:solidFill>
                  <a:schemeClr val="bg1"/>
                </a:solidFill>
                <a:latin typeface="Times New Roman" panose="02020603050405020304" pitchFamily="18" charset="0"/>
                <a:cs typeface="Times New Roman" panose="02020603050405020304" pitchFamily="18" charset="0"/>
              </a:rPr>
              <a:t>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and brainstorm solutions.</a:t>
            </a:r>
          </a:p>
          <a:p>
            <a:pPr marL="0" marR="0" lvl="0" indent="0" algn="l" defTabSz="914400" rtl="0" eaLnBrk="0" fontAlgn="base" latinLnBrk="0" hangingPunct="0">
              <a:lnSpc>
                <a:spcPct val="100000"/>
              </a:lnSpc>
              <a:spcBef>
                <a:spcPct val="0"/>
              </a:spcBef>
              <a:spcAft>
                <a:spcPct val="0"/>
              </a:spcAft>
              <a:buClrTx/>
              <a:buSzTx/>
              <a:tabLst/>
            </a:pPr>
            <a:r>
              <a:rPr kumimoji="0" lang="en-US" altLang="en-US" sz="440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rPr>
              <a:t>Observation: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Observe users in their natural environment to understand </a:t>
            </a:r>
          </a:p>
          <a:p>
            <a:pPr marL="0" marR="0" lvl="0" indent="0" algn="l" defTabSz="914400" rtl="0" eaLnBrk="0" fontAlgn="base" latinLnBrk="0" hangingPunct="0">
              <a:lnSpc>
                <a:spcPct val="100000"/>
              </a:lnSpc>
              <a:spcBef>
                <a:spcPct val="0"/>
              </a:spcBef>
              <a:spcAft>
                <a:spcPct val="0"/>
              </a:spcAft>
              <a:buClrTx/>
              <a:buSzTx/>
              <a:tabLst/>
            </a:pPr>
            <a:r>
              <a:rPr lang="en-US" altLang="en-US" sz="4400" dirty="0">
                <a:solidFill>
                  <a:schemeClr val="bg1"/>
                </a:solidFill>
                <a:latin typeface="Times New Roman" panose="02020603050405020304" pitchFamily="18" charset="0"/>
                <a:cs typeface="Times New Roman" panose="02020603050405020304" pitchFamily="18" charset="0"/>
              </a:rPr>
              <a:t>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how they interact with current systems.</a:t>
            </a:r>
          </a:p>
          <a:p>
            <a:pPr marL="0" marR="0" lvl="0" indent="0" algn="l" defTabSz="914400" rtl="0" eaLnBrk="0" fontAlgn="base" latinLnBrk="0" hangingPunct="0">
              <a:lnSpc>
                <a:spcPct val="100000"/>
              </a:lnSpc>
              <a:spcBef>
                <a:spcPct val="0"/>
              </a:spcBef>
              <a:spcAft>
                <a:spcPct val="0"/>
              </a:spcAft>
              <a:buClrTx/>
              <a:buSzTx/>
              <a:tabLst/>
            </a:pPr>
            <a:r>
              <a:rPr kumimoji="0" lang="en-US" altLang="en-US" sz="4400" i="0" u="none" strike="noStrike" cap="none" normalizeH="0" baseline="0" dirty="0">
                <a:ln>
                  <a:noFill/>
                </a:ln>
                <a:solidFill>
                  <a:srgbClr val="92D050"/>
                </a:solidFill>
                <a:effectLst/>
                <a:latin typeface="Times New Roman" panose="02020603050405020304" pitchFamily="18" charset="0"/>
                <a:cs typeface="Times New Roman" panose="02020603050405020304" pitchFamily="18" charset="0"/>
              </a:rPr>
              <a:t>Document Analysis: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Review existing documentation, such as business </a:t>
            </a:r>
          </a:p>
          <a:p>
            <a:pPr marL="0" marR="0" lvl="0" indent="0" algn="l" defTabSz="914400" rtl="0" eaLnBrk="0" fontAlgn="base" latinLnBrk="0" hangingPunct="0">
              <a:lnSpc>
                <a:spcPct val="100000"/>
              </a:lnSpc>
              <a:spcBef>
                <a:spcPct val="0"/>
              </a:spcBef>
              <a:spcAft>
                <a:spcPct val="0"/>
              </a:spcAft>
              <a:buClrTx/>
              <a:buSzTx/>
              <a:tabLst/>
            </a:pPr>
            <a:r>
              <a:rPr lang="en-US" altLang="en-US" sz="4400" dirty="0">
                <a:solidFill>
                  <a:schemeClr val="bg1"/>
                </a:solidFill>
                <a:latin typeface="Times New Roman" panose="02020603050405020304" pitchFamily="18" charset="0"/>
                <a:cs typeface="Times New Roman" panose="02020603050405020304" pitchFamily="18" charset="0"/>
              </a:rPr>
              <a:t>                              </a:t>
            </a:r>
            <a:r>
              <a:rPr kumimoji="0" lang="en-US" altLang="en-US" sz="4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plans and user manuals, to extract relevant information.</a:t>
            </a:r>
          </a:p>
        </p:txBody>
      </p:sp>
    </p:spTree>
    <p:extLst>
      <p:ext uri="{BB962C8B-B14F-4D97-AF65-F5344CB8AC3E}">
        <p14:creationId xmlns:p14="http://schemas.microsoft.com/office/powerpoint/2010/main" val="3001591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8845D1F-5ACE-96E0-84B9-4B8D4FC79C27}"/>
              </a:ext>
            </a:extLst>
          </p:cNvPr>
          <p:cNvSpPr>
            <a:spLocks noGrp="1"/>
          </p:cNvSpPr>
          <p:nvPr>
            <p:ph type="body" idx="1"/>
          </p:nvPr>
        </p:nvSpPr>
        <p:spPr>
          <a:xfrm>
            <a:off x="457200" y="711517"/>
            <a:ext cx="17373600" cy="8863965"/>
          </a:xfrm>
        </p:spPr>
        <p:txBody>
          <a:bodyPr/>
          <a:lstStyle/>
          <a:p>
            <a:pPr marL="685800" indent="-685800">
              <a:buFontTx/>
              <a:buChar char="-"/>
            </a:pPr>
            <a:r>
              <a:rPr lang="en-US" sz="4800" dirty="0">
                <a:latin typeface="Times New Roman" panose="02020603050405020304" pitchFamily="18" charset="0"/>
                <a:cs typeface="Times New Roman" panose="02020603050405020304" pitchFamily="18" charset="0"/>
              </a:rPr>
              <a:t>Once the requirements are gathered, the next step is to analyze them to ensure they are clear, complete, and feasible.</a:t>
            </a:r>
          </a:p>
          <a:p>
            <a:pPr marL="685800" indent="-685800">
              <a:buFontTx/>
              <a:buChar char="-"/>
            </a:pPr>
            <a:r>
              <a:rPr lang="en-US" sz="4800" dirty="0">
                <a:latin typeface="Times New Roman" panose="02020603050405020304" pitchFamily="18" charset="0"/>
                <a:cs typeface="Times New Roman" panose="02020603050405020304" pitchFamily="18" charset="0"/>
              </a:rPr>
              <a:t>The feasibility study analyzed the proposed system from different aspects so that the development team or company can conclude how practical or beneficial the system will be to the organization.</a:t>
            </a:r>
          </a:p>
          <a:p>
            <a:pPr marL="685800" indent="-685800">
              <a:buFontTx/>
              <a:buChar char="-"/>
            </a:pPr>
            <a:endParaRPr lang="en-US" sz="4800" dirty="0">
              <a:latin typeface="Times New Roman" panose="02020603050405020304" pitchFamily="18" charset="0"/>
              <a:cs typeface="Times New Roman" panose="02020603050405020304" pitchFamily="18" charset="0"/>
            </a:endParaRPr>
          </a:p>
          <a:p>
            <a:pPr marL="685800" indent="-685800">
              <a:buFontTx/>
              <a:buChar char="-"/>
            </a:pPr>
            <a:r>
              <a:rPr lang="en-US" sz="4800" dirty="0">
                <a:latin typeface="Times New Roman" panose="02020603050405020304" pitchFamily="18" charset="0"/>
                <a:cs typeface="Times New Roman" panose="02020603050405020304" pitchFamily="18" charset="0"/>
              </a:rPr>
              <a:t>The different levels of feasibility study includes </a:t>
            </a:r>
          </a:p>
          <a:p>
            <a:pPr marL="685800" indent="-685800">
              <a:buFont typeface="Wingdings" panose="05000000000000000000" pitchFamily="2" charset="2"/>
              <a:buChar char="Ø"/>
            </a:pPr>
            <a:r>
              <a:rPr lang="en-US" sz="4800" dirty="0">
                <a:solidFill>
                  <a:srgbClr val="92D050"/>
                </a:solidFill>
                <a:latin typeface="Times New Roman" panose="02020603050405020304" pitchFamily="18" charset="0"/>
                <a:cs typeface="Times New Roman" panose="02020603050405020304" pitchFamily="18" charset="0"/>
              </a:rPr>
              <a:t>Economic feasibility</a:t>
            </a:r>
          </a:p>
          <a:p>
            <a:pPr marL="685800" indent="-685800">
              <a:buFont typeface="Wingdings" panose="05000000000000000000" pitchFamily="2" charset="2"/>
              <a:buChar char="Ø"/>
            </a:pPr>
            <a:r>
              <a:rPr lang="en-US" sz="4800" dirty="0">
                <a:solidFill>
                  <a:srgbClr val="92D050"/>
                </a:solidFill>
                <a:latin typeface="Times New Roman" panose="02020603050405020304" pitchFamily="18" charset="0"/>
                <a:cs typeface="Times New Roman" panose="02020603050405020304" pitchFamily="18" charset="0"/>
              </a:rPr>
              <a:t>Technical feasibility</a:t>
            </a:r>
          </a:p>
          <a:p>
            <a:pPr marL="685800" indent="-685800">
              <a:buFont typeface="Wingdings" panose="05000000000000000000" pitchFamily="2" charset="2"/>
              <a:buChar char="Ø"/>
            </a:pPr>
            <a:r>
              <a:rPr lang="en-US" sz="4800" dirty="0">
                <a:solidFill>
                  <a:srgbClr val="92D050"/>
                </a:solidFill>
                <a:latin typeface="Times New Roman" panose="02020603050405020304" pitchFamily="18" charset="0"/>
                <a:cs typeface="Times New Roman" panose="02020603050405020304" pitchFamily="18" charset="0"/>
              </a:rPr>
              <a:t>Operational feasibility</a:t>
            </a:r>
          </a:p>
          <a:p>
            <a:pPr marL="685800" indent="-685800">
              <a:buFont typeface="Wingdings" panose="05000000000000000000" pitchFamily="2" charset="2"/>
              <a:buChar char="Ø"/>
            </a:pPr>
            <a:r>
              <a:rPr lang="en-US" sz="4800" dirty="0">
                <a:solidFill>
                  <a:srgbClr val="92D050"/>
                </a:solidFill>
                <a:latin typeface="Times New Roman" panose="02020603050405020304" pitchFamily="18" charset="0"/>
                <a:cs typeface="Times New Roman" panose="02020603050405020304" pitchFamily="18" charset="0"/>
              </a:rPr>
              <a:t>Schedule feasibility</a:t>
            </a:r>
          </a:p>
          <a:p>
            <a:pPr marL="685800" indent="-685800">
              <a:buFont typeface="Wingdings" panose="05000000000000000000" pitchFamily="2" charset="2"/>
              <a:buChar char="Ø"/>
            </a:pPr>
            <a:r>
              <a:rPr lang="en-US" sz="4800" dirty="0">
                <a:solidFill>
                  <a:srgbClr val="92D050"/>
                </a:solidFill>
                <a:latin typeface="Times New Roman" panose="02020603050405020304" pitchFamily="18" charset="0"/>
                <a:cs typeface="Times New Roman" panose="02020603050405020304" pitchFamily="18" charset="0"/>
              </a:rPr>
              <a:t>Legal feasibility</a:t>
            </a:r>
          </a:p>
        </p:txBody>
      </p:sp>
    </p:spTree>
    <p:extLst>
      <p:ext uri="{BB962C8B-B14F-4D97-AF65-F5344CB8AC3E}">
        <p14:creationId xmlns:p14="http://schemas.microsoft.com/office/powerpoint/2010/main" val="3624646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086E3-D914-26A3-893D-E85CCDF63E35}"/>
              </a:ext>
            </a:extLst>
          </p:cNvPr>
          <p:cNvSpPr>
            <a:spLocks noGrp="1"/>
          </p:cNvSpPr>
          <p:nvPr>
            <p:ph type="title"/>
          </p:nvPr>
        </p:nvSpPr>
        <p:spPr>
          <a:xfrm>
            <a:off x="1295400" y="2400300"/>
            <a:ext cx="16183967" cy="4616648"/>
          </a:xfrm>
        </p:spPr>
        <p:txBody>
          <a:bodyPr/>
          <a:lstStyle/>
          <a:p>
            <a:br>
              <a:rPr lang="en-US" dirty="0">
                <a:latin typeface="Algerian" panose="04020705040A02060702" pitchFamily="82" charset="0"/>
              </a:rPr>
            </a:br>
            <a:r>
              <a:rPr lang="en-US" dirty="0">
                <a:latin typeface="Algerian" panose="04020705040A02060702" pitchFamily="82" charset="0"/>
              </a:rPr>
              <a:t>                             </a:t>
            </a:r>
            <a:r>
              <a:rPr lang="en-US" sz="4400" dirty="0">
                <a:solidFill>
                  <a:srgbClr val="92D050"/>
                </a:solidFill>
                <a:latin typeface="Algerian" panose="04020705040A02060702" pitchFamily="82" charset="0"/>
              </a:rPr>
              <a:t>assignment 1</a:t>
            </a:r>
            <a:br>
              <a:rPr lang="en-US" dirty="0">
                <a:latin typeface="Algerian" panose="04020705040A02060702" pitchFamily="82" charset="0"/>
              </a:rPr>
            </a:br>
            <a:r>
              <a:rPr lang="en-US" dirty="0">
                <a:latin typeface="Algerian" panose="04020705040A02060702" pitchFamily="82" charset="0"/>
              </a:rPr>
              <a:t>Define feasibility study, what is its importance in SDLC. Explain its various types in details.</a:t>
            </a:r>
          </a:p>
        </p:txBody>
      </p:sp>
    </p:spTree>
    <p:extLst>
      <p:ext uri="{BB962C8B-B14F-4D97-AF65-F5344CB8AC3E}">
        <p14:creationId xmlns:p14="http://schemas.microsoft.com/office/powerpoint/2010/main" val="824350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7C8D526-C313-2A37-3146-30122BBCA4DA}"/>
              </a:ext>
            </a:extLst>
          </p:cNvPr>
          <p:cNvSpPr>
            <a:spLocks noGrp="1"/>
          </p:cNvSpPr>
          <p:nvPr>
            <p:ph type="body" idx="1"/>
          </p:nvPr>
        </p:nvSpPr>
        <p:spPr>
          <a:xfrm>
            <a:off x="228600" y="342900"/>
            <a:ext cx="17830800" cy="9448740"/>
          </a:xfrm>
        </p:spPr>
        <p:txBody>
          <a:bodyPr/>
          <a:lstStyle/>
          <a:p>
            <a:r>
              <a:rPr lang="en-US" sz="6000" b="1" dirty="0">
                <a:solidFill>
                  <a:srgbClr val="FFC000"/>
                </a:solidFill>
                <a:latin typeface="Times New Roman" panose="02020603050405020304" pitchFamily="18" charset="0"/>
                <a:cs typeface="Times New Roman" panose="02020603050405020304" pitchFamily="18" charset="0"/>
              </a:rPr>
              <a:t>3) Design</a:t>
            </a:r>
          </a:p>
          <a:p>
            <a:r>
              <a:rPr lang="en-US" sz="5400" b="1" dirty="0">
                <a:solidFill>
                  <a:srgbClr val="00B0F0"/>
                </a:solidFill>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 It is concerned with the design of the wireframes to illustrate how</a:t>
            </a:r>
          </a:p>
          <a:p>
            <a:r>
              <a:rPr lang="en-US" sz="4800" dirty="0">
                <a:latin typeface="Times New Roman" panose="02020603050405020304" pitchFamily="18" charset="0"/>
                <a:cs typeface="Times New Roman" panose="02020603050405020304" pitchFamily="18" charset="0"/>
              </a:rPr>
              <a:t>       the software will look and function. It involves designing of various</a:t>
            </a:r>
          </a:p>
          <a:p>
            <a:r>
              <a:rPr lang="en-US" sz="4800" dirty="0">
                <a:latin typeface="Times New Roman" panose="02020603050405020304" pitchFamily="18" charset="0"/>
                <a:cs typeface="Times New Roman" panose="02020603050405020304" pitchFamily="18" charset="0"/>
              </a:rPr>
              <a:t>       things such as input design, processing and output design etc.</a:t>
            </a:r>
          </a:p>
          <a:p>
            <a:endParaRPr lang="en-US" sz="4800" b="1" dirty="0">
              <a:solidFill>
                <a:srgbClr val="00B0F0"/>
              </a:solidFill>
              <a:latin typeface="Times New Roman" panose="02020603050405020304" pitchFamily="18" charset="0"/>
              <a:cs typeface="Times New Roman" panose="02020603050405020304" pitchFamily="18" charset="0"/>
            </a:endParaRPr>
          </a:p>
          <a:p>
            <a:r>
              <a:rPr lang="en-US" sz="4800" b="1" dirty="0">
                <a:solidFill>
                  <a:srgbClr val="00B0F0"/>
                </a:solidFill>
                <a:latin typeface="Times New Roman" panose="02020603050405020304" pitchFamily="18" charset="0"/>
                <a:cs typeface="Times New Roman" panose="02020603050405020304" pitchFamily="18" charset="0"/>
              </a:rPr>
              <a:t>     </a:t>
            </a:r>
            <a:r>
              <a:rPr lang="en-US" sz="4800" dirty="0">
                <a:latin typeface="Times New Roman" panose="02020603050405020304" pitchFamily="18" charset="0"/>
                <a:cs typeface="Times New Roman" panose="02020603050405020304" pitchFamily="18" charset="0"/>
              </a:rPr>
              <a:t>- While designing a system the different system design tools are used.</a:t>
            </a:r>
          </a:p>
          <a:p>
            <a:r>
              <a:rPr lang="en-US" sz="4400" b="1" dirty="0">
                <a:solidFill>
                  <a:srgbClr val="00B0F0"/>
                </a:solidFill>
                <a:latin typeface="Times New Roman" panose="02020603050405020304" pitchFamily="18" charset="0"/>
                <a:cs typeface="Times New Roman" panose="02020603050405020304" pitchFamily="18" charset="0"/>
              </a:rPr>
              <a:t>         </a:t>
            </a:r>
            <a:r>
              <a:rPr lang="en-US" sz="4400" dirty="0">
                <a:latin typeface="Times New Roman" panose="02020603050405020304" pitchFamily="18" charset="0"/>
                <a:cs typeface="Times New Roman" panose="02020603050405020304" pitchFamily="18" charset="0"/>
              </a:rPr>
              <a:t>some examples includes.</a:t>
            </a:r>
          </a:p>
          <a:p>
            <a:r>
              <a:rPr lang="en-US" sz="4400" b="1" dirty="0">
                <a:solidFill>
                  <a:srgbClr val="00B050"/>
                </a:solidFill>
                <a:latin typeface="Times New Roman" panose="02020603050405020304" pitchFamily="18" charset="0"/>
                <a:cs typeface="Times New Roman" panose="02020603050405020304" pitchFamily="18" charset="0"/>
              </a:rPr>
              <a:t>a)</a:t>
            </a:r>
            <a:r>
              <a:rPr lang="en-US" sz="4400" dirty="0">
                <a:solidFill>
                  <a:srgbClr val="00B050"/>
                </a:solidFill>
                <a:latin typeface="Times New Roman" panose="02020603050405020304" pitchFamily="18" charset="0"/>
                <a:cs typeface="Times New Roman" panose="02020603050405020304" pitchFamily="18" charset="0"/>
              </a:rPr>
              <a:t>Algorithm:- </a:t>
            </a:r>
            <a:r>
              <a:rPr lang="en-US" sz="4400" dirty="0">
                <a:latin typeface="Times New Roman" panose="02020603050405020304" pitchFamily="18" charset="0"/>
                <a:cs typeface="Times New Roman" panose="02020603050405020304" pitchFamily="18" charset="0"/>
              </a:rPr>
              <a:t>It is a finite sequence of instruction for solving a problem.</a:t>
            </a:r>
          </a:p>
          <a:p>
            <a:r>
              <a:rPr lang="en-US" sz="4400" dirty="0">
                <a:solidFill>
                  <a:srgbClr val="00B050"/>
                </a:solidFill>
                <a:latin typeface="Times New Roman" panose="02020603050405020304" pitchFamily="18" charset="0"/>
                <a:cs typeface="Times New Roman" panose="02020603050405020304" pitchFamily="18" charset="0"/>
              </a:rPr>
              <a:t>b)Flowchart:- </a:t>
            </a:r>
            <a:r>
              <a:rPr lang="en-US" sz="4400" dirty="0">
                <a:latin typeface="Times New Roman" panose="02020603050405020304" pitchFamily="18" charset="0"/>
                <a:cs typeface="Times New Roman" panose="02020603050405020304" pitchFamily="18" charset="0"/>
              </a:rPr>
              <a:t>It is the pictorial representation of an algorithm.</a:t>
            </a:r>
          </a:p>
          <a:p>
            <a:r>
              <a:rPr lang="en-US" sz="4400" dirty="0">
                <a:solidFill>
                  <a:srgbClr val="00B050"/>
                </a:solidFill>
                <a:latin typeface="Times New Roman" panose="02020603050405020304" pitchFamily="18" charset="0"/>
                <a:cs typeface="Times New Roman" panose="02020603050405020304" pitchFamily="18" charset="0"/>
              </a:rPr>
              <a:t>c)ER diagram:-</a:t>
            </a:r>
            <a:r>
              <a:rPr lang="en-US" sz="4400" dirty="0">
                <a:latin typeface="Times New Roman" panose="02020603050405020304" pitchFamily="18" charset="0"/>
                <a:cs typeface="Times New Roman" panose="02020603050405020304" pitchFamily="18" charset="0"/>
              </a:rPr>
              <a:t> The entity-relationship diagram is an overall logical</a:t>
            </a:r>
          </a:p>
          <a:p>
            <a:r>
              <a:rPr lang="en-US" sz="4400" dirty="0">
                <a:latin typeface="Times New Roman" panose="02020603050405020304" pitchFamily="18" charset="0"/>
                <a:cs typeface="Times New Roman" panose="02020603050405020304" pitchFamily="18" charset="0"/>
              </a:rPr>
              <a:t>                          structure of a database that can be expressed graphically.</a:t>
            </a:r>
          </a:p>
          <a:p>
            <a:r>
              <a:rPr lang="en-US" sz="4400" dirty="0">
                <a:solidFill>
                  <a:srgbClr val="00B050"/>
                </a:solidFill>
                <a:latin typeface="Times New Roman" panose="02020603050405020304" pitchFamily="18" charset="0"/>
                <a:cs typeface="Times New Roman" panose="02020603050405020304" pitchFamily="18" charset="0"/>
              </a:rPr>
              <a:t>d) Decision Table:- </a:t>
            </a:r>
            <a:r>
              <a:rPr lang="en-US" sz="4400" dirty="0">
                <a:latin typeface="Times New Roman" panose="02020603050405020304" pitchFamily="18" charset="0"/>
                <a:cs typeface="Times New Roman" panose="02020603050405020304" pitchFamily="18" charset="0"/>
              </a:rPr>
              <a:t>A decision table is a structured way to represent conditions </a:t>
            </a:r>
          </a:p>
          <a:p>
            <a:r>
              <a:rPr lang="en-US" sz="4400" dirty="0">
                <a:latin typeface="Times New Roman" panose="02020603050405020304" pitchFamily="18" charset="0"/>
                <a:cs typeface="Times New Roman" panose="02020603050405020304" pitchFamily="18" charset="0"/>
              </a:rPr>
              <a:t>                                and corresponding actions in a tabular format.</a:t>
            </a:r>
            <a:endParaRPr lang="en-US" sz="4400"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4756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8E81D5-7CF1-3A4C-0AB9-FDFDFBEACF65}"/>
              </a:ext>
            </a:extLst>
          </p:cNvPr>
          <p:cNvSpPr>
            <a:spLocks noGrp="1"/>
          </p:cNvSpPr>
          <p:nvPr>
            <p:ph type="title"/>
          </p:nvPr>
        </p:nvSpPr>
        <p:spPr>
          <a:xfrm>
            <a:off x="152400" y="190500"/>
            <a:ext cx="16183967" cy="940435"/>
          </a:xfrm>
        </p:spPr>
        <p:txBody>
          <a:bodyPr/>
          <a:lstStyle/>
          <a:p>
            <a:r>
              <a:rPr lang="en-US" dirty="0"/>
              <a:t>4. Implementation or Coding</a:t>
            </a:r>
          </a:p>
        </p:txBody>
      </p:sp>
      <p:sp>
        <p:nvSpPr>
          <p:cNvPr id="3" name="Text Placeholder 2">
            <a:extLst>
              <a:ext uri="{FF2B5EF4-FFF2-40B4-BE49-F238E27FC236}">
                <a16:creationId xmlns:a16="http://schemas.microsoft.com/office/drawing/2014/main" id="{6A33794C-A7AF-F206-8007-5C7277DE9A92}"/>
              </a:ext>
            </a:extLst>
          </p:cNvPr>
          <p:cNvSpPr>
            <a:spLocks noGrp="1"/>
          </p:cNvSpPr>
          <p:nvPr>
            <p:ph type="body" idx="1"/>
          </p:nvPr>
        </p:nvSpPr>
        <p:spPr>
          <a:xfrm>
            <a:off x="457200" y="1257300"/>
            <a:ext cx="17678400" cy="8863965"/>
          </a:xfrm>
        </p:spPr>
        <p:txBody>
          <a:bodyPr/>
          <a:lstStyle/>
          <a:p>
            <a:pPr marL="571500" indent="-571500">
              <a:buFontTx/>
              <a:buChar char="-"/>
            </a:pPr>
            <a:r>
              <a:rPr lang="en-US" sz="4800" dirty="0">
                <a:latin typeface="Times New Roman" panose="02020603050405020304" pitchFamily="18" charset="0"/>
                <a:cs typeface="Times New Roman" panose="02020603050405020304" pitchFamily="18" charset="0"/>
              </a:rPr>
              <a:t>The system design needs to be implemented to make it a workable system so after the system design the programmers begin to develop the program by using a suitable high level programming language based on the design specifications created in the previous stage.</a:t>
            </a:r>
          </a:p>
          <a:p>
            <a:pPr marL="571500" indent="-571500">
              <a:buFontTx/>
              <a:buChar char="-"/>
            </a:pPr>
            <a:endParaRPr lang="en-US" sz="4800" dirty="0">
              <a:latin typeface="Times New Roman" panose="02020603050405020304" pitchFamily="18" charset="0"/>
              <a:cs typeface="Times New Roman" panose="02020603050405020304" pitchFamily="18" charset="0"/>
            </a:endParaRPr>
          </a:p>
          <a:p>
            <a:pPr marL="685800" indent="-685800">
              <a:buFontTx/>
              <a:buChar char="-"/>
            </a:pPr>
            <a:r>
              <a:rPr lang="en-US" sz="4800" dirty="0">
                <a:latin typeface="Times New Roman" panose="02020603050405020304" pitchFamily="18" charset="0"/>
                <a:cs typeface="Times New Roman" panose="02020603050405020304" pitchFamily="18" charset="0"/>
              </a:rPr>
              <a:t>In system development the following process are done.</a:t>
            </a:r>
          </a:p>
          <a:p>
            <a:r>
              <a:rPr lang="en-US" sz="4800" dirty="0">
                <a:latin typeface="Times New Roman" panose="02020603050405020304" pitchFamily="18" charset="0"/>
                <a:cs typeface="Times New Roman" panose="02020603050405020304" pitchFamily="18" charset="0"/>
              </a:rPr>
              <a:t>        - Convert the logical structure into program</a:t>
            </a:r>
          </a:p>
          <a:p>
            <a:r>
              <a:rPr lang="en-US" sz="4800" dirty="0">
                <a:latin typeface="Times New Roman" panose="02020603050405020304" pitchFamily="18" charset="0"/>
                <a:cs typeface="Times New Roman" panose="02020603050405020304" pitchFamily="18" charset="0"/>
              </a:rPr>
              <a:t>        - Database is created</a:t>
            </a:r>
          </a:p>
          <a:p>
            <a:r>
              <a:rPr lang="en-US" sz="4800" dirty="0">
                <a:latin typeface="Times New Roman" panose="02020603050405020304" pitchFamily="18" charset="0"/>
                <a:cs typeface="Times New Roman" panose="02020603050405020304" pitchFamily="18" charset="0"/>
              </a:rPr>
              <a:t>        - Version control and integration</a:t>
            </a:r>
          </a:p>
          <a:p>
            <a:endParaRPr lang="en-US" sz="4800" dirty="0">
              <a:latin typeface="Times New Roman" panose="02020603050405020304" pitchFamily="18" charset="0"/>
              <a:cs typeface="Times New Roman" panose="02020603050405020304" pitchFamily="18" charset="0"/>
            </a:endParaRPr>
          </a:p>
          <a:p>
            <a:pPr marL="685800" indent="-685800">
              <a:buFontTx/>
              <a:buChar char="-"/>
            </a:pPr>
            <a:r>
              <a:rPr lang="en-US" sz="4800" dirty="0">
                <a:latin typeface="Times New Roman" panose="02020603050405020304" pitchFamily="18" charset="0"/>
                <a:cs typeface="Times New Roman" panose="02020603050405020304" pitchFamily="18" charset="0"/>
              </a:rPr>
              <a:t>The coding phase is crucial because it directly converts plans into a functional product.</a:t>
            </a:r>
          </a:p>
        </p:txBody>
      </p:sp>
    </p:spTree>
    <p:extLst>
      <p:ext uri="{BB962C8B-B14F-4D97-AF65-F5344CB8AC3E}">
        <p14:creationId xmlns:p14="http://schemas.microsoft.com/office/powerpoint/2010/main" val="10886351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23C6-334E-9A09-9F88-3EB43FAE7599}"/>
              </a:ext>
            </a:extLst>
          </p:cNvPr>
          <p:cNvSpPr>
            <a:spLocks noGrp="1"/>
          </p:cNvSpPr>
          <p:nvPr>
            <p:ph type="title"/>
          </p:nvPr>
        </p:nvSpPr>
        <p:spPr>
          <a:xfrm>
            <a:off x="266700" y="266700"/>
            <a:ext cx="16183967" cy="940435"/>
          </a:xfrm>
        </p:spPr>
        <p:txBody>
          <a:bodyPr/>
          <a:lstStyle/>
          <a:p>
            <a:r>
              <a:rPr lang="en-US" dirty="0"/>
              <a:t>5. Testing and Data Validation</a:t>
            </a:r>
          </a:p>
        </p:txBody>
      </p:sp>
      <p:sp>
        <p:nvSpPr>
          <p:cNvPr id="3" name="Text Placeholder 2">
            <a:extLst>
              <a:ext uri="{FF2B5EF4-FFF2-40B4-BE49-F238E27FC236}">
                <a16:creationId xmlns:a16="http://schemas.microsoft.com/office/drawing/2014/main" id="{24E3E050-95AE-846B-DDA5-8049763BFB16}"/>
              </a:ext>
            </a:extLst>
          </p:cNvPr>
          <p:cNvSpPr>
            <a:spLocks noGrp="1"/>
          </p:cNvSpPr>
          <p:nvPr>
            <p:ph type="body" idx="1"/>
          </p:nvPr>
        </p:nvSpPr>
        <p:spPr>
          <a:xfrm>
            <a:off x="266700" y="1370290"/>
            <a:ext cx="17754600" cy="8802410"/>
          </a:xfrm>
        </p:spPr>
        <p:txBody>
          <a:bodyPr/>
          <a:lstStyle/>
          <a:p>
            <a:pPr marL="571500" indent="-571500">
              <a:buFontTx/>
              <a:buChar char="-"/>
            </a:pPr>
            <a:r>
              <a:rPr lang="en-US" sz="4400" dirty="0">
                <a:latin typeface="Times New Roman" panose="02020603050405020304" pitchFamily="18" charset="0"/>
                <a:cs typeface="Times New Roman" panose="02020603050405020304" pitchFamily="18" charset="0"/>
              </a:rPr>
              <a:t>It is an investigation conducted to provide stakeholders with information about the quality of the product or service under test.</a:t>
            </a:r>
          </a:p>
          <a:p>
            <a:endParaRPr lang="en-US" sz="4400" dirty="0">
              <a:latin typeface="Times New Roman" panose="02020603050405020304" pitchFamily="18" charset="0"/>
              <a:cs typeface="Times New Roman" panose="02020603050405020304" pitchFamily="18" charset="0"/>
            </a:endParaRPr>
          </a:p>
          <a:p>
            <a:pPr marL="571500" indent="-571500">
              <a:buFontTx/>
              <a:buChar char="-"/>
            </a:pPr>
            <a:r>
              <a:rPr lang="en-US" sz="4400" dirty="0">
                <a:latin typeface="Times New Roman" panose="02020603050405020304" pitchFamily="18" charset="0"/>
                <a:cs typeface="Times New Roman" panose="02020603050405020304" pitchFamily="18" charset="0"/>
              </a:rPr>
              <a:t>In this phase the testing and debugging task are performed. If any inconsistencies errors or problems are found then they are corrected by improving the individual units.</a:t>
            </a:r>
          </a:p>
          <a:p>
            <a:endParaRPr lang="en-US" sz="4400" dirty="0">
              <a:latin typeface="Times New Roman" panose="02020603050405020304" pitchFamily="18" charset="0"/>
              <a:cs typeface="Times New Roman" panose="02020603050405020304" pitchFamily="18" charset="0"/>
            </a:endParaRPr>
          </a:p>
          <a:p>
            <a:r>
              <a:rPr lang="en-US" sz="4400" dirty="0">
                <a:latin typeface="Times New Roman" panose="02020603050405020304" pitchFamily="18" charset="0"/>
                <a:cs typeface="Times New Roman" panose="02020603050405020304" pitchFamily="18" charset="0"/>
              </a:rPr>
              <a:t>- There are 2 types of testing</a:t>
            </a:r>
          </a:p>
          <a:p>
            <a:pPr marL="914400" indent="-914400">
              <a:buAutoNum type="alphaLcParenR"/>
            </a:pPr>
            <a:r>
              <a:rPr lang="en-US" sz="4400" dirty="0">
                <a:solidFill>
                  <a:srgbClr val="00B050"/>
                </a:solidFill>
                <a:latin typeface="Times New Roman" panose="02020603050405020304" pitchFamily="18" charset="0"/>
                <a:cs typeface="Times New Roman" panose="02020603050405020304" pitchFamily="18" charset="0"/>
              </a:rPr>
              <a:t>Black Box testing:-  </a:t>
            </a:r>
            <a:r>
              <a:rPr lang="en-US" sz="4400" dirty="0">
                <a:latin typeface="Times New Roman" panose="02020603050405020304" pitchFamily="18" charset="0"/>
                <a:cs typeface="Times New Roman" panose="02020603050405020304" pitchFamily="18" charset="0"/>
              </a:rPr>
              <a:t>Process of testing the whole project and test whether a    </a:t>
            </a:r>
          </a:p>
          <a:p>
            <a:r>
              <a:rPr lang="en-US" sz="4400" dirty="0">
                <a:latin typeface="Times New Roman" panose="02020603050405020304" pitchFamily="18" charset="0"/>
                <a:cs typeface="Times New Roman" panose="02020603050405020304" pitchFamily="18" charset="0"/>
              </a:rPr>
              <a:t>                                       whole system is functioning or not.</a:t>
            </a:r>
          </a:p>
          <a:p>
            <a:endParaRPr lang="en-US" sz="4400" dirty="0">
              <a:latin typeface="Times New Roman" panose="02020603050405020304" pitchFamily="18" charset="0"/>
              <a:cs typeface="Times New Roman" panose="02020603050405020304" pitchFamily="18" charset="0"/>
            </a:endParaRPr>
          </a:p>
          <a:p>
            <a:pPr marL="742950" indent="-742950">
              <a:buAutoNum type="alphaLcParenR" startAt="2"/>
            </a:pPr>
            <a:r>
              <a:rPr lang="en-US" sz="4400" dirty="0">
                <a:solidFill>
                  <a:srgbClr val="00B050"/>
                </a:solidFill>
                <a:latin typeface="Times New Roman" panose="02020603050405020304" pitchFamily="18" charset="0"/>
                <a:cs typeface="Times New Roman" panose="02020603050405020304" pitchFamily="18" charset="0"/>
              </a:rPr>
              <a:t>White Box Testing:- </a:t>
            </a:r>
            <a:r>
              <a:rPr lang="en-US" sz="4400" dirty="0">
                <a:latin typeface="Times New Roman" panose="02020603050405020304" pitchFamily="18" charset="0"/>
                <a:cs typeface="Times New Roman" panose="02020603050405020304" pitchFamily="18" charset="0"/>
              </a:rPr>
              <a:t>In white box testing the particular model or unit</a:t>
            </a:r>
          </a:p>
          <a:p>
            <a:r>
              <a:rPr lang="en-US" sz="4400" dirty="0">
                <a:latin typeface="Times New Roman" panose="02020603050405020304" pitchFamily="18" charset="0"/>
                <a:cs typeface="Times New Roman" panose="02020603050405020304" pitchFamily="18" charset="0"/>
              </a:rPr>
              <a:t>                                       is tested which helps to test the software internal logic.</a:t>
            </a:r>
          </a:p>
        </p:txBody>
      </p:sp>
    </p:spTree>
    <p:extLst>
      <p:ext uri="{BB962C8B-B14F-4D97-AF65-F5344CB8AC3E}">
        <p14:creationId xmlns:p14="http://schemas.microsoft.com/office/powerpoint/2010/main" val="2640921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5A708D1-649E-1305-A05D-68013268D991}"/>
              </a:ext>
            </a:extLst>
          </p:cNvPr>
          <p:cNvSpPr>
            <a:spLocks noGrp="1"/>
          </p:cNvSpPr>
          <p:nvPr>
            <p:ph type="body" idx="1"/>
          </p:nvPr>
        </p:nvSpPr>
        <p:spPr>
          <a:xfrm>
            <a:off x="495300" y="266700"/>
            <a:ext cx="17297400" cy="9325630"/>
          </a:xfrm>
        </p:spPr>
        <p:txBody>
          <a:bodyPr/>
          <a:lstStyle/>
          <a:p>
            <a:r>
              <a:rPr lang="en-US" sz="5400" dirty="0">
                <a:latin typeface="Times New Roman" panose="02020603050405020304" pitchFamily="18" charset="0"/>
                <a:cs typeface="Times New Roman" panose="02020603050405020304" pitchFamily="18" charset="0"/>
              </a:rPr>
              <a:t>Testing is also divided into two types as:-</a:t>
            </a:r>
          </a:p>
          <a:p>
            <a:pPr marL="914400" indent="-914400">
              <a:buAutoNum type="alphaLcParenR"/>
            </a:pPr>
            <a:r>
              <a:rPr lang="en-US" sz="6000" dirty="0">
                <a:solidFill>
                  <a:srgbClr val="00B0F0"/>
                </a:solidFill>
                <a:latin typeface="Times New Roman" panose="02020603050405020304" pitchFamily="18" charset="0"/>
                <a:cs typeface="Times New Roman" panose="02020603050405020304" pitchFamily="18" charset="0"/>
              </a:rPr>
              <a:t>Alpha Testing</a:t>
            </a:r>
          </a:p>
          <a:p>
            <a:pPr marL="685800" indent="-685800">
              <a:buFontTx/>
              <a:buChar char="-"/>
            </a:pPr>
            <a:r>
              <a:rPr lang="en-US" sz="5400" dirty="0">
                <a:latin typeface="Times New Roman" panose="02020603050405020304" pitchFamily="18" charset="0"/>
                <a:cs typeface="Times New Roman" panose="02020603050405020304" pitchFamily="18" charset="0"/>
              </a:rPr>
              <a:t>It is the final level of QA team’s testing to ensure that your program is ready for release outside of your organization. Its main goal is to ensure that the software is bug-free.</a:t>
            </a:r>
          </a:p>
          <a:p>
            <a:endParaRPr lang="en-US" sz="5400" dirty="0">
              <a:latin typeface="Times New Roman" panose="02020603050405020304" pitchFamily="18" charset="0"/>
              <a:cs typeface="Times New Roman" panose="02020603050405020304" pitchFamily="18" charset="0"/>
            </a:endParaRPr>
          </a:p>
          <a:p>
            <a:r>
              <a:rPr lang="en-US" sz="6000" dirty="0">
                <a:solidFill>
                  <a:srgbClr val="00B0F0"/>
                </a:solidFill>
                <a:latin typeface="Times New Roman" panose="02020603050405020304" pitchFamily="18" charset="0"/>
                <a:cs typeface="Times New Roman" panose="02020603050405020304" pitchFamily="18" charset="0"/>
              </a:rPr>
              <a:t>b) Beta Testing</a:t>
            </a:r>
          </a:p>
          <a:p>
            <a:pPr marL="685800" indent="-685800">
              <a:buFontTx/>
              <a:buChar char="-"/>
            </a:pPr>
            <a:r>
              <a:rPr lang="en-US" sz="5400" dirty="0">
                <a:latin typeface="Times New Roman" panose="02020603050405020304" pitchFamily="18" charset="0"/>
                <a:cs typeface="Times New Roman" panose="02020603050405020304" pitchFamily="18" charset="0"/>
              </a:rPr>
              <a:t>In beta testing the final product or software is distributed to a small group of genuine users and users are invited to provide comments and review on the software’s performance.</a:t>
            </a:r>
          </a:p>
        </p:txBody>
      </p:sp>
    </p:spTree>
    <p:extLst>
      <p:ext uri="{BB962C8B-B14F-4D97-AF65-F5344CB8AC3E}">
        <p14:creationId xmlns:p14="http://schemas.microsoft.com/office/powerpoint/2010/main" val="4081358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C87A20C-FDBB-9362-E65D-BB79F79DFF9A}"/>
              </a:ext>
            </a:extLst>
          </p:cNvPr>
          <p:cNvSpPr>
            <a:spLocks noGrp="1"/>
          </p:cNvSpPr>
          <p:nvPr>
            <p:ph type="body" idx="1"/>
          </p:nvPr>
        </p:nvSpPr>
        <p:spPr>
          <a:xfrm>
            <a:off x="228600" y="226769"/>
            <a:ext cx="17830800" cy="9833461"/>
          </a:xfrm>
        </p:spPr>
        <p:txBody>
          <a:bodyPr/>
          <a:lstStyle/>
          <a:p>
            <a:pPr marL="685800" indent="-685800">
              <a:buFontTx/>
              <a:buChar char="-"/>
            </a:pPr>
            <a:r>
              <a:rPr lang="en-US" dirty="0">
                <a:latin typeface="Times New Roman" panose="02020603050405020304" pitchFamily="18" charset="0"/>
                <a:cs typeface="Times New Roman" panose="02020603050405020304" pitchFamily="18" charset="0"/>
              </a:rPr>
              <a:t>Data Validation is the process of ensuring that data entered into a system is accurate, complete, and meets predefined criteria.</a:t>
            </a:r>
          </a:p>
          <a:p>
            <a:endParaRPr lang="en-US" dirty="0">
              <a:latin typeface="Times New Roman" panose="02020603050405020304" pitchFamily="18" charset="0"/>
              <a:cs typeface="Times New Roman" panose="02020603050405020304" pitchFamily="18" charset="0"/>
            </a:endParaRPr>
          </a:p>
          <a:p>
            <a:r>
              <a:rPr lang="en-US" dirty="0">
                <a:solidFill>
                  <a:srgbClr val="00B0F0"/>
                </a:solidFill>
                <a:latin typeface="Times New Roman" panose="02020603050405020304" pitchFamily="18" charset="0"/>
                <a:cs typeface="Times New Roman" panose="02020603050405020304" pitchFamily="18" charset="0"/>
              </a:rPr>
              <a:t>Types of Data Validation:</a:t>
            </a:r>
          </a:p>
          <a:p>
            <a:endParaRPr lang="en-US" dirty="0">
              <a:solidFill>
                <a:srgbClr val="00B0F0"/>
              </a:solidFill>
              <a:latin typeface="Times New Roman" panose="02020603050405020304" pitchFamily="18" charset="0"/>
              <a:cs typeface="Times New Roman" panose="02020603050405020304" pitchFamily="18" charset="0"/>
            </a:endParaRPr>
          </a:p>
          <a:p>
            <a:pPr>
              <a:buFont typeface="+mj-lt"/>
              <a:buAutoNum type="arabicPeriod"/>
            </a:pPr>
            <a:r>
              <a:rPr lang="en-US" sz="4800" dirty="0">
                <a:solidFill>
                  <a:srgbClr val="92D050"/>
                </a:solidFill>
                <a:latin typeface="Times New Roman" panose="02020603050405020304" pitchFamily="18" charset="0"/>
                <a:cs typeface="Times New Roman" panose="02020603050405020304" pitchFamily="18" charset="0"/>
              </a:rPr>
              <a:t>Format Validation: </a:t>
            </a:r>
            <a:r>
              <a:rPr lang="en-US" sz="4400" dirty="0">
                <a:latin typeface="Times New Roman" panose="02020603050405020304" pitchFamily="18" charset="0"/>
                <a:cs typeface="Times New Roman" panose="02020603050405020304" pitchFamily="18" charset="0"/>
              </a:rPr>
              <a:t>Ensures data follows a specific format (e.g., email,  </a:t>
            </a:r>
          </a:p>
          <a:p>
            <a:r>
              <a:rPr lang="en-US" sz="4400" dirty="0">
                <a:latin typeface="Times New Roman" panose="02020603050405020304" pitchFamily="18" charset="0"/>
                <a:cs typeface="Times New Roman" panose="02020603050405020304" pitchFamily="18" charset="0"/>
              </a:rPr>
              <a:t>                                                                                                      phone number).</a:t>
            </a:r>
          </a:p>
          <a:p>
            <a:r>
              <a:rPr lang="en-US" sz="4800" dirty="0">
                <a:solidFill>
                  <a:srgbClr val="92D050"/>
                </a:solidFill>
                <a:latin typeface="Times New Roman" panose="02020603050405020304" pitchFamily="18" charset="0"/>
                <a:cs typeface="Times New Roman" panose="02020603050405020304" pitchFamily="18" charset="0"/>
              </a:rPr>
              <a:t>2. Range Validation: </a:t>
            </a:r>
            <a:r>
              <a:rPr lang="en-US" sz="4400" dirty="0">
                <a:latin typeface="Times New Roman" panose="02020603050405020304" pitchFamily="18" charset="0"/>
                <a:cs typeface="Times New Roman" panose="02020603050405020304" pitchFamily="18" charset="0"/>
              </a:rPr>
              <a:t>Checks if data falls within a specified range (e.g., age    </a:t>
            </a:r>
          </a:p>
          <a:p>
            <a:r>
              <a:rPr lang="en-US" sz="4400" dirty="0">
                <a:latin typeface="Times New Roman" panose="02020603050405020304" pitchFamily="18" charset="0"/>
                <a:cs typeface="Times New Roman" panose="02020603050405020304" pitchFamily="18" charset="0"/>
              </a:rPr>
              <a:t>                                     between 1 and 100).</a:t>
            </a:r>
          </a:p>
          <a:p>
            <a:r>
              <a:rPr lang="en-US" sz="4800" dirty="0">
                <a:solidFill>
                  <a:srgbClr val="92D050"/>
                </a:solidFill>
                <a:latin typeface="Times New Roman" panose="02020603050405020304" pitchFamily="18" charset="0"/>
                <a:cs typeface="Times New Roman" panose="02020603050405020304" pitchFamily="18" charset="0"/>
              </a:rPr>
              <a:t>3. Consistency Validation: </a:t>
            </a:r>
            <a:r>
              <a:rPr lang="en-US" sz="4400" dirty="0">
                <a:latin typeface="Times New Roman" panose="02020603050405020304" pitchFamily="18" charset="0"/>
                <a:cs typeface="Times New Roman" panose="02020603050405020304" pitchFamily="18" charset="0"/>
              </a:rPr>
              <a:t>Verifies data across related fields (e.g., matching  </a:t>
            </a:r>
          </a:p>
          <a:p>
            <a:r>
              <a:rPr lang="en-US" sz="4400" dirty="0">
                <a:latin typeface="Times New Roman" panose="02020603050405020304" pitchFamily="18" charset="0"/>
                <a:cs typeface="Times New Roman" panose="02020603050405020304" pitchFamily="18" charset="0"/>
              </a:rPr>
              <a:t>                                                 password and confirm password).</a:t>
            </a:r>
          </a:p>
          <a:p>
            <a:r>
              <a:rPr lang="en-US" sz="4800" dirty="0">
                <a:solidFill>
                  <a:srgbClr val="92D050"/>
                </a:solidFill>
                <a:latin typeface="Times New Roman" panose="02020603050405020304" pitchFamily="18" charset="0"/>
                <a:cs typeface="Times New Roman" panose="02020603050405020304" pitchFamily="18" charset="0"/>
              </a:rPr>
              <a:t>4. Presence Validation: </a:t>
            </a:r>
            <a:r>
              <a:rPr lang="en-US" dirty="0">
                <a:latin typeface="Times New Roman" panose="02020603050405020304" pitchFamily="18" charset="0"/>
                <a:cs typeface="Times New Roman" panose="02020603050405020304" pitchFamily="18" charset="0"/>
              </a:rPr>
              <a:t>Ensures mandatory fields are not left blank.</a:t>
            </a:r>
          </a:p>
          <a:p>
            <a:r>
              <a:rPr lang="en-US" dirty="0">
                <a:solidFill>
                  <a:srgbClr val="92D050"/>
                </a:solidFill>
                <a:latin typeface="Times New Roman" panose="02020603050405020304" pitchFamily="18" charset="0"/>
                <a:cs typeface="Times New Roman" panose="02020603050405020304" pitchFamily="18" charset="0"/>
              </a:rPr>
              <a:t>5. Uniqueness Validation: </a:t>
            </a:r>
            <a:r>
              <a:rPr lang="en-US" dirty="0">
                <a:latin typeface="Times New Roman" panose="02020603050405020304" pitchFamily="18" charset="0"/>
                <a:cs typeface="Times New Roman" panose="02020603050405020304" pitchFamily="18" charset="0"/>
              </a:rPr>
              <a:t>Confirms that data entries are unique (e.g., unique  </a:t>
            </a:r>
          </a:p>
          <a:p>
            <a:r>
              <a:rPr lang="en-US" dirty="0">
                <a:latin typeface="Times New Roman" panose="02020603050405020304" pitchFamily="18" charset="0"/>
                <a:cs typeface="Times New Roman" panose="02020603050405020304" pitchFamily="18" charset="0"/>
              </a:rPr>
              <a:t>                                                                                                         usernames).</a:t>
            </a:r>
          </a:p>
        </p:txBody>
      </p:sp>
    </p:spTree>
    <p:extLst>
      <p:ext uri="{BB962C8B-B14F-4D97-AF65-F5344CB8AC3E}">
        <p14:creationId xmlns:p14="http://schemas.microsoft.com/office/powerpoint/2010/main" val="7397548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F1648-D279-9131-5580-5826237979DA}"/>
              </a:ext>
            </a:extLst>
          </p:cNvPr>
          <p:cNvSpPr>
            <a:spLocks noGrp="1"/>
          </p:cNvSpPr>
          <p:nvPr>
            <p:ph type="title"/>
          </p:nvPr>
        </p:nvSpPr>
        <p:spPr>
          <a:xfrm>
            <a:off x="228600" y="190500"/>
            <a:ext cx="16183967" cy="923330"/>
          </a:xfrm>
        </p:spPr>
        <p:txBody>
          <a:bodyPr/>
          <a:lstStyle/>
          <a:p>
            <a:r>
              <a:rPr lang="en-US" dirty="0"/>
              <a:t>6. Deployment</a:t>
            </a:r>
          </a:p>
        </p:txBody>
      </p:sp>
      <p:sp>
        <p:nvSpPr>
          <p:cNvPr id="3" name="Text Placeholder 2">
            <a:extLst>
              <a:ext uri="{FF2B5EF4-FFF2-40B4-BE49-F238E27FC236}">
                <a16:creationId xmlns:a16="http://schemas.microsoft.com/office/drawing/2014/main" id="{C132387C-5443-B0DE-293D-9B19A5DDBD8C}"/>
              </a:ext>
            </a:extLst>
          </p:cNvPr>
          <p:cNvSpPr>
            <a:spLocks noGrp="1"/>
          </p:cNvSpPr>
          <p:nvPr>
            <p:ph type="body" idx="1"/>
          </p:nvPr>
        </p:nvSpPr>
        <p:spPr>
          <a:xfrm>
            <a:off x="381000" y="1257300"/>
            <a:ext cx="17602200" cy="8125301"/>
          </a:xfrm>
        </p:spPr>
        <p:txBody>
          <a:bodyPr/>
          <a:lstStyle/>
          <a:p>
            <a:pPr marL="685800" indent="-685800">
              <a:buFontTx/>
              <a:buChar char="-"/>
            </a:pPr>
            <a:r>
              <a:rPr lang="en-US" sz="4400" dirty="0">
                <a:latin typeface="Times New Roman" panose="02020603050405020304" pitchFamily="18" charset="0"/>
                <a:cs typeface="Times New Roman" panose="02020603050405020304" pitchFamily="18" charset="0"/>
              </a:rPr>
              <a:t>Once the coding and testing of the software has been completed, the next phase starts to create a complete package which is called setup file to deliver or deploy the system for the client or end users.</a:t>
            </a:r>
          </a:p>
          <a:p>
            <a:pPr marL="685800" indent="-685800">
              <a:buFontTx/>
              <a:buChar char="-"/>
            </a:pPr>
            <a:endParaRPr lang="en-US" sz="4400" dirty="0">
              <a:latin typeface="Times New Roman" panose="02020603050405020304" pitchFamily="18" charset="0"/>
              <a:cs typeface="Times New Roman" panose="02020603050405020304" pitchFamily="18" charset="0"/>
            </a:endParaRPr>
          </a:p>
          <a:p>
            <a:pPr marL="685800" indent="-685800">
              <a:buFontTx/>
              <a:buChar char="-"/>
            </a:pPr>
            <a:r>
              <a:rPr lang="en-US" sz="4400" dirty="0">
                <a:latin typeface="Times New Roman" panose="02020603050405020304" pitchFamily="18" charset="0"/>
                <a:cs typeface="Times New Roman" panose="02020603050405020304" pitchFamily="18" charset="0"/>
              </a:rPr>
              <a:t>The software is installed in the client’s computer for the final implementation and evaluation of the system.</a:t>
            </a:r>
          </a:p>
          <a:p>
            <a:pPr marL="685800" indent="-685800">
              <a:buFontTx/>
              <a:buChar char="-"/>
            </a:pPr>
            <a:endParaRPr lang="en-US" sz="4400" dirty="0">
              <a:latin typeface="Times New Roman" panose="02020603050405020304" pitchFamily="18" charset="0"/>
              <a:cs typeface="Times New Roman" panose="02020603050405020304" pitchFamily="18" charset="0"/>
            </a:endParaRPr>
          </a:p>
          <a:p>
            <a:pPr marL="685800" indent="-685800">
              <a:buFontTx/>
              <a:buChar char="-"/>
            </a:pPr>
            <a:r>
              <a:rPr lang="en-US" sz="4400" dirty="0">
                <a:latin typeface="Times New Roman" panose="02020603050405020304" pitchFamily="18" charset="0"/>
                <a:cs typeface="Times New Roman" panose="02020603050405020304" pitchFamily="18" charset="0"/>
              </a:rPr>
              <a:t>The major steps involve in this phase are:</a:t>
            </a:r>
          </a:p>
          <a:p>
            <a:pPr marL="685800" indent="-6858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Installation of hardware and software</a:t>
            </a:r>
          </a:p>
          <a:p>
            <a:pPr marL="685800" indent="-6858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User training</a:t>
            </a:r>
          </a:p>
          <a:p>
            <a:pPr marL="685800" indent="-6858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Providing instruction manuals</a:t>
            </a:r>
          </a:p>
          <a:p>
            <a:pPr marL="685800" indent="-685800">
              <a:buFont typeface="Wingdings" panose="05000000000000000000" pitchFamily="2" charset="2"/>
              <a:buChar char="§"/>
            </a:pPr>
            <a:r>
              <a:rPr lang="en-US" sz="4400" dirty="0">
                <a:latin typeface="Times New Roman" panose="02020603050405020304" pitchFamily="18" charset="0"/>
                <a:cs typeface="Times New Roman" panose="02020603050405020304" pitchFamily="18" charset="0"/>
              </a:rPr>
              <a:t>Review and Feedback</a:t>
            </a:r>
          </a:p>
        </p:txBody>
      </p:sp>
    </p:spTree>
    <p:extLst>
      <p:ext uri="{BB962C8B-B14F-4D97-AF65-F5344CB8AC3E}">
        <p14:creationId xmlns:p14="http://schemas.microsoft.com/office/powerpoint/2010/main" val="30444397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D63E7-2F18-836D-25FC-A6FA4C675533}"/>
              </a:ext>
            </a:extLst>
          </p:cNvPr>
          <p:cNvSpPr>
            <a:spLocks noGrp="1"/>
          </p:cNvSpPr>
          <p:nvPr>
            <p:ph type="title"/>
          </p:nvPr>
        </p:nvSpPr>
        <p:spPr>
          <a:xfrm>
            <a:off x="401595" y="723900"/>
            <a:ext cx="16183967" cy="940435"/>
          </a:xfrm>
        </p:spPr>
        <p:txBody>
          <a:bodyPr/>
          <a:lstStyle/>
          <a:p>
            <a:r>
              <a:rPr lang="en-US" dirty="0"/>
              <a:t>7. Maintenance and Documentation</a:t>
            </a:r>
          </a:p>
        </p:txBody>
      </p:sp>
      <p:sp>
        <p:nvSpPr>
          <p:cNvPr id="3" name="Text Placeholder 2">
            <a:extLst>
              <a:ext uri="{FF2B5EF4-FFF2-40B4-BE49-F238E27FC236}">
                <a16:creationId xmlns:a16="http://schemas.microsoft.com/office/drawing/2014/main" id="{28F38AAB-D3B0-936F-B059-740520742036}"/>
              </a:ext>
            </a:extLst>
          </p:cNvPr>
          <p:cNvSpPr>
            <a:spLocks noGrp="1"/>
          </p:cNvSpPr>
          <p:nvPr>
            <p:ph type="body" idx="1"/>
          </p:nvPr>
        </p:nvSpPr>
        <p:spPr>
          <a:xfrm>
            <a:off x="381000" y="2171700"/>
            <a:ext cx="17526000" cy="6647974"/>
          </a:xfrm>
        </p:spPr>
        <p:txBody>
          <a:bodyPr/>
          <a:lstStyle/>
          <a:p>
            <a:pPr marL="571500" indent="-571500">
              <a:buFontTx/>
              <a:buChar char="-"/>
            </a:pPr>
            <a:r>
              <a:rPr lang="en-US" sz="4800" dirty="0">
                <a:latin typeface="Times New Roman" panose="02020603050405020304" pitchFamily="18" charset="0"/>
                <a:cs typeface="Times New Roman" panose="02020603050405020304" pitchFamily="18" charset="0"/>
              </a:rPr>
              <a:t>It begins after system deployment . This is the phase that conduct the periodic maintenance of hardware and software to ensure it continue to function as it was design.</a:t>
            </a:r>
          </a:p>
          <a:p>
            <a:pPr marL="571500" indent="-571500">
              <a:buFontTx/>
              <a:buChar char="-"/>
            </a:pPr>
            <a:endParaRPr lang="en-US" sz="4800" dirty="0">
              <a:latin typeface="Times New Roman" panose="02020603050405020304" pitchFamily="18" charset="0"/>
              <a:cs typeface="Times New Roman" panose="02020603050405020304" pitchFamily="18" charset="0"/>
            </a:endParaRPr>
          </a:p>
          <a:p>
            <a:pPr marL="571500" indent="-571500">
              <a:buFontTx/>
              <a:buChar char="-"/>
            </a:pPr>
            <a:r>
              <a:rPr lang="en-US" sz="4800" dirty="0">
                <a:latin typeface="Times New Roman" panose="02020603050405020304" pitchFamily="18" charset="0"/>
                <a:cs typeface="Times New Roman" panose="02020603050405020304" pitchFamily="18" charset="0"/>
              </a:rPr>
              <a:t>It involves fixing bugs, updating features, and optimizing performance based on user feedback or evolving requirements.</a:t>
            </a:r>
          </a:p>
          <a:p>
            <a:pPr marL="571500" indent="-571500">
              <a:buFontTx/>
              <a:buChar char="-"/>
            </a:pPr>
            <a:endParaRPr lang="en-US" sz="4800" dirty="0">
              <a:latin typeface="Times New Roman" panose="02020603050405020304" pitchFamily="18" charset="0"/>
              <a:cs typeface="Times New Roman" panose="02020603050405020304" pitchFamily="18" charset="0"/>
            </a:endParaRPr>
          </a:p>
          <a:p>
            <a:pPr marL="571500" indent="-571500">
              <a:buFontTx/>
              <a:buChar char="-"/>
            </a:pPr>
            <a:r>
              <a:rPr lang="en-US" sz="4800" dirty="0">
                <a:latin typeface="Times New Roman" panose="02020603050405020304" pitchFamily="18" charset="0"/>
                <a:cs typeface="Times New Roman" panose="02020603050405020304" pitchFamily="18" charset="0"/>
              </a:rPr>
              <a:t>This phase ensures the software remains reliable, secure, and aligned with business needs over time.</a:t>
            </a:r>
          </a:p>
        </p:txBody>
      </p:sp>
    </p:spTree>
    <p:extLst>
      <p:ext uri="{BB962C8B-B14F-4D97-AF65-F5344CB8AC3E}">
        <p14:creationId xmlns:p14="http://schemas.microsoft.com/office/powerpoint/2010/main" val="27478478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FC3AD07-1B12-5BE5-FD2D-C434F4297E02}"/>
              </a:ext>
            </a:extLst>
          </p:cNvPr>
          <p:cNvSpPr>
            <a:spLocks noGrp="1"/>
          </p:cNvSpPr>
          <p:nvPr>
            <p:ph type="body" idx="1"/>
          </p:nvPr>
        </p:nvSpPr>
        <p:spPr>
          <a:xfrm>
            <a:off x="381000" y="419100"/>
            <a:ext cx="17678400" cy="8863965"/>
          </a:xfrm>
        </p:spPr>
        <p:txBody>
          <a:bodyPr/>
          <a:lstStyle/>
          <a:p>
            <a:pPr marL="685800" indent="-685800">
              <a:buFontTx/>
              <a:buChar char="-"/>
            </a:pPr>
            <a:r>
              <a:rPr lang="en-US" sz="4800" dirty="0">
                <a:latin typeface="Times New Roman" panose="02020603050405020304" pitchFamily="18" charset="0"/>
                <a:cs typeface="Times New Roman" panose="02020603050405020304" pitchFamily="18" charset="0"/>
              </a:rPr>
              <a:t>The final and the last phase of the program development life cycle is the </a:t>
            </a:r>
            <a:r>
              <a:rPr lang="en-US" sz="4800" dirty="0">
                <a:solidFill>
                  <a:srgbClr val="92D050"/>
                </a:solidFill>
                <a:latin typeface="Times New Roman" panose="02020603050405020304" pitchFamily="18" charset="0"/>
                <a:cs typeface="Times New Roman" panose="02020603050405020304" pitchFamily="18" charset="0"/>
              </a:rPr>
              <a:t>documentation phase.</a:t>
            </a:r>
          </a:p>
          <a:p>
            <a:pPr marL="685800" indent="-685800">
              <a:buFontTx/>
              <a:buChar char="-"/>
            </a:pPr>
            <a:endParaRPr lang="en-US" sz="4800" dirty="0">
              <a:solidFill>
                <a:srgbClr val="92D050"/>
              </a:solidFill>
              <a:latin typeface="Times New Roman" panose="02020603050405020304" pitchFamily="18" charset="0"/>
              <a:cs typeface="Times New Roman" panose="02020603050405020304" pitchFamily="18" charset="0"/>
            </a:endParaRPr>
          </a:p>
          <a:p>
            <a:pPr marL="685800" indent="-685800">
              <a:buFontTx/>
              <a:buChar char="-"/>
            </a:pPr>
            <a:r>
              <a:rPr lang="en-US" sz="4800" dirty="0">
                <a:latin typeface="Times New Roman" panose="02020603050405020304" pitchFamily="18" charset="0"/>
                <a:cs typeface="Times New Roman" panose="02020603050405020304" pitchFamily="18" charset="0"/>
              </a:rPr>
              <a:t>In this phase a technical writer prepares a reports, project documents, contracts and agreements related with project.</a:t>
            </a:r>
          </a:p>
          <a:p>
            <a:pPr marL="685800" indent="-685800">
              <a:buFontTx/>
              <a:buChar char="-"/>
            </a:pPr>
            <a:endParaRPr lang="en-US" sz="4800" dirty="0">
              <a:latin typeface="Times New Roman" panose="02020603050405020304" pitchFamily="18" charset="0"/>
              <a:cs typeface="Times New Roman" panose="02020603050405020304" pitchFamily="18" charset="0"/>
            </a:endParaRPr>
          </a:p>
          <a:p>
            <a:pPr marL="685800" indent="-685800">
              <a:buFontTx/>
              <a:buChar char="-"/>
            </a:pPr>
            <a:r>
              <a:rPr lang="en-US" sz="4800" dirty="0">
                <a:latin typeface="Times New Roman" panose="02020603050405020304" pitchFamily="18" charset="0"/>
                <a:cs typeface="Times New Roman" panose="02020603050405020304" pitchFamily="18" charset="0"/>
              </a:rPr>
              <a:t>It includes the overall description of the system including the reports as well as instruction manuals that ensure smooth knowledge transfer, simplifies troubleshooting and supports future enhancement.</a:t>
            </a:r>
          </a:p>
          <a:p>
            <a:pPr marL="685800" indent="-685800">
              <a:buFontTx/>
              <a:buChar char="-"/>
            </a:pPr>
            <a:endParaRPr lang="en-US" sz="4800" dirty="0">
              <a:latin typeface="Times New Roman" panose="02020603050405020304" pitchFamily="18" charset="0"/>
              <a:cs typeface="Times New Roman" panose="02020603050405020304" pitchFamily="18" charset="0"/>
            </a:endParaRPr>
          </a:p>
          <a:p>
            <a:pPr marL="685800" indent="-685800">
              <a:buFontTx/>
              <a:buChar char="-"/>
            </a:pPr>
            <a:r>
              <a:rPr lang="en-US" sz="4800" dirty="0">
                <a:latin typeface="Times New Roman" panose="02020603050405020304" pitchFamily="18" charset="0"/>
                <a:cs typeface="Times New Roman" panose="02020603050405020304" pitchFamily="18" charset="0"/>
              </a:rPr>
              <a:t>This phase happens throughout the entire SDLC to keep all documents updated with any changes.</a:t>
            </a:r>
          </a:p>
        </p:txBody>
      </p:sp>
    </p:spTree>
    <p:extLst>
      <p:ext uri="{BB962C8B-B14F-4D97-AF65-F5344CB8AC3E}">
        <p14:creationId xmlns:p14="http://schemas.microsoft.com/office/powerpoint/2010/main" val="23231866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289B8-1E74-B874-2A54-D10519E53952}"/>
              </a:ext>
            </a:extLst>
          </p:cNvPr>
          <p:cNvSpPr>
            <a:spLocks noGrp="1"/>
          </p:cNvSpPr>
          <p:nvPr>
            <p:ph type="title"/>
          </p:nvPr>
        </p:nvSpPr>
        <p:spPr>
          <a:xfrm>
            <a:off x="526008" y="3009900"/>
            <a:ext cx="17533392" cy="3785652"/>
          </a:xfrm>
        </p:spPr>
        <p:txBody>
          <a:bodyPr/>
          <a:lstStyle/>
          <a:p>
            <a:r>
              <a:rPr lang="en-US" sz="4800" dirty="0">
                <a:solidFill>
                  <a:srgbClr val="00B0F0"/>
                </a:solidFill>
                <a:latin typeface="Algerian" panose="04020705040A02060702" pitchFamily="82" charset="0"/>
              </a:rPr>
              <a:t>                                       Assignment 2</a:t>
            </a:r>
            <a:br>
              <a:rPr lang="en-US" sz="6600" dirty="0">
                <a:latin typeface="Algerian" panose="04020705040A02060702" pitchFamily="82" charset="0"/>
              </a:rPr>
            </a:br>
            <a:r>
              <a:rPr lang="en-US" sz="6600" dirty="0">
                <a:latin typeface="Algerian" panose="04020705040A02060702" pitchFamily="82" charset="0"/>
              </a:rPr>
              <a:t>why testing phase is necessary in SDLC? Write down the major differences between Testing and Debugging.</a:t>
            </a:r>
          </a:p>
        </p:txBody>
      </p:sp>
    </p:spTree>
    <p:extLst>
      <p:ext uri="{BB962C8B-B14F-4D97-AF65-F5344CB8AC3E}">
        <p14:creationId xmlns:p14="http://schemas.microsoft.com/office/powerpoint/2010/main" val="622476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E17D8-F40F-E553-EA08-E14CB3926504}"/>
              </a:ext>
            </a:extLst>
          </p:cNvPr>
          <p:cNvSpPr>
            <a:spLocks noGrp="1"/>
          </p:cNvSpPr>
          <p:nvPr>
            <p:ph type="title"/>
          </p:nvPr>
        </p:nvSpPr>
        <p:spPr>
          <a:xfrm>
            <a:off x="640308" y="2696676"/>
            <a:ext cx="17007384" cy="4893647"/>
          </a:xfrm>
        </p:spPr>
        <p:txBody>
          <a:bodyPr/>
          <a:lstStyle/>
          <a:p>
            <a:r>
              <a:rPr lang="en-US" sz="5400" dirty="0">
                <a:solidFill>
                  <a:srgbClr val="92D050"/>
                </a:solidFill>
                <a:latin typeface="Algerian" panose="04020705040A02060702" pitchFamily="82" charset="0"/>
              </a:rPr>
              <a:t>                           Assignment:3</a:t>
            </a:r>
            <a:br>
              <a:rPr lang="en-US" sz="5400" dirty="0">
                <a:solidFill>
                  <a:srgbClr val="92D050"/>
                </a:solidFill>
                <a:latin typeface="Algerian" panose="04020705040A02060702" pitchFamily="82" charset="0"/>
              </a:rPr>
            </a:br>
            <a:r>
              <a:rPr lang="en-US" sz="6600" dirty="0">
                <a:latin typeface="Algerian" panose="04020705040A02060702" pitchFamily="82" charset="0"/>
              </a:rPr>
              <a:t>Which phase of SDLC is more important in what context of good program design and development? Discuss with logic.</a:t>
            </a:r>
          </a:p>
        </p:txBody>
      </p:sp>
    </p:spTree>
    <p:extLst>
      <p:ext uri="{BB962C8B-B14F-4D97-AF65-F5344CB8AC3E}">
        <p14:creationId xmlns:p14="http://schemas.microsoft.com/office/powerpoint/2010/main" val="31373634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86C30-C9A4-6D7F-160F-C032E3E7EE35}"/>
              </a:ext>
            </a:extLst>
          </p:cNvPr>
          <p:cNvSpPr>
            <a:spLocks noGrp="1"/>
          </p:cNvSpPr>
          <p:nvPr>
            <p:ph type="title"/>
          </p:nvPr>
        </p:nvSpPr>
        <p:spPr>
          <a:xfrm>
            <a:off x="381000" y="274448"/>
            <a:ext cx="16183967" cy="940435"/>
          </a:xfrm>
        </p:spPr>
        <p:txBody>
          <a:bodyPr/>
          <a:lstStyle/>
          <a:p>
            <a:r>
              <a:rPr lang="en-US" dirty="0"/>
              <a:t># Program / Software Design Tools</a:t>
            </a:r>
          </a:p>
        </p:txBody>
      </p:sp>
      <p:sp>
        <p:nvSpPr>
          <p:cNvPr id="3" name="Text Placeholder 2">
            <a:extLst>
              <a:ext uri="{FF2B5EF4-FFF2-40B4-BE49-F238E27FC236}">
                <a16:creationId xmlns:a16="http://schemas.microsoft.com/office/drawing/2014/main" id="{613C5E1F-DEC0-F8CB-41E1-330B2C371844}"/>
              </a:ext>
            </a:extLst>
          </p:cNvPr>
          <p:cNvSpPr>
            <a:spLocks noGrp="1"/>
          </p:cNvSpPr>
          <p:nvPr>
            <p:ph type="body" idx="1"/>
          </p:nvPr>
        </p:nvSpPr>
        <p:spPr>
          <a:xfrm>
            <a:off x="416011" y="1485900"/>
            <a:ext cx="17262389" cy="8494633"/>
          </a:xfrm>
        </p:spPr>
        <p:txBody>
          <a:bodyPr/>
          <a:lstStyle/>
          <a:p>
            <a:pPr marL="685800" indent="-685800">
              <a:buFontTx/>
              <a:buChar char="-"/>
            </a:pPr>
            <a:r>
              <a:rPr lang="en-US" dirty="0">
                <a:latin typeface="Times New Roman" panose="02020603050405020304" pitchFamily="18" charset="0"/>
                <a:cs typeface="Times New Roman" panose="02020603050405020304" pitchFamily="18" charset="0"/>
              </a:rPr>
              <a:t>Software Design Tools (SDT) refer to the various tools and applications used by developers and designers to plan, create, visualize, and document software systems.</a:t>
            </a:r>
          </a:p>
          <a:p>
            <a:pPr marL="685800" indent="-685800">
              <a:buFontTx/>
              <a:buChar char="-"/>
            </a:pPr>
            <a:endParaRPr lang="en-US" dirty="0">
              <a:latin typeface="Times New Roman" panose="02020603050405020304" pitchFamily="18" charset="0"/>
              <a:cs typeface="Times New Roman" panose="02020603050405020304" pitchFamily="18" charset="0"/>
            </a:endParaRPr>
          </a:p>
          <a:p>
            <a:pPr marL="685800" indent="-685800">
              <a:buFontTx/>
              <a:buChar char="-"/>
            </a:pPr>
            <a:r>
              <a:rPr lang="en-US" dirty="0">
                <a:latin typeface="Times New Roman" panose="02020603050405020304" pitchFamily="18" charset="0"/>
                <a:cs typeface="Times New Roman" panose="02020603050405020304" pitchFamily="18" charset="0"/>
              </a:rPr>
              <a:t>These tools help in translating concepts and requirements into concrete designs and models that guide the actual development process.</a:t>
            </a:r>
          </a:p>
          <a:p>
            <a:pPr marL="685800" indent="-685800">
              <a:buFontTx/>
              <a:buChar char="-"/>
            </a:pPr>
            <a:r>
              <a:rPr lang="en-US" dirty="0">
                <a:latin typeface="Times New Roman" panose="02020603050405020304" pitchFamily="18" charset="0"/>
                <a:cs typeface="Times New Roman" panose="02020603050405020304" pitchFamily="18" charset="0"/>
              </a:rPr>
              <a:t>Below are the major program design tools:</a:t>
            </a:r>
          </a:p>
          <a:p>
            <a:pPr marL="685800" indent="-685800">
              <a:buFontTx/>
              <a:buChar char="-"/>
            </a:pPr>
            <a:endParaRPr lang="en-US" dirty="0">
              <a:latin typeface="Times New Roman" panose="02020603050405020304" pitchFamily="18" charset="0"/>
              <a:cs typeface="Times New Roman" panose="02020603050405020304" pitchFamily="18" charset="0"/>
            </a:endParaRPr>
          </a:p>
          <a:p>
            <a:r>
              <a:rPr lang="en-US" sz="4800" dirty="0">
                <a:latin typeface="Times New Roman" panose="02020603050405020304" pitchFamily="18" charset="0"/>
                <a:cs typeface="Times New Roman" panose="02020603050405020304" pitchFamily="18" charset="0"/>
              </a:rPr>
              <a:t>1. Algorithm </a:t>
            </a:r>
          </a:p>
          <a:p>
            <a:r>
              <a:rPr lang="en-US" sz="4800" dirty="0">
                <a:latin typeface="Times New Roman" panose="02020603050405020304" pitchFamily="18" charset="0"/>
                <a:cs typeface="Times New Roman" panose="02020603050405020304" pitchFamily="18" charset="0"/>
              </a:rPr>
              <a:t>2. Flowchart </a:t>
            </a:r>
          </a:p>
          <a:p>
            <a:r>
              <a:rPr lang="en-US" sz="4800" dirty="0">
                <a:latin typeface="Times New Roman" panose="02020603050405020304" pitchFamily="18" charset="0"/>
                <a:cs typeface="Times New Roman" panose="02020603050405020304" pitchFamily="18" charset="0"/>
              </a:rPr>
              <a:t>3. Decision Table and Decision Tree </a:t>
            </a:r>
          </a:p>
          <a:p>
            <a:r>
              <a:rPr lang="en-US" sz="4800" dirty="0">
                <a:latin typeface="Times New Roman" panose="02020603050405020304" pitchFamily="18" charset="0"/>
                <a:cs typeface="Times New Roman" panose="02020603050405020304" pitchFamily="18" charset="0"/>
              </a:rPr>
              <a:t>4. Pseudocode </a:t>
            </a:r>
            <a:endParaRPr lang="en-US"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14914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85B49-8566-443E-C99F-0ED5DE1189C1}"/>
              </a:ext>
            </a:extLst>
          </p:cNvPr>
          <p:cNvSpPr>
            <a:spLocks noGrp="1"/>
          </p:cNvSpPr>
          <p:nvPr>
            <p:ph type="title"/>
          </p:nvPr>
        </p:nvSpPr>
        <p:spPr>
          <a:xfrm>
            <a:off x="228600" y="342900"/>
            <a:ext cx="16183967" cy="1131871"/>
          </a:xfrm>
        </p:spPr>
        <p:txBody>
          <a:bodyPr/>
          <a:lstStyle/>
          <a:p>
            <a:r>
              <a:rPr lang="en-US" sz="6000" dirty="0">
                <a:latin typeface="Times New Roman" panose="02020603050405020304" pitchFamily="18" charset="0"/>
                <a:cs typeface="Times New Roman" panose="02020603050405020304" pitchFamily="18" charset="0"/>
              </a:rPr>
              <a:t>1. Algorithm </a:t>
            </a:r>
            <a:br>
              <a:rPr lang="en-US" sz="6000" dirty="0">
                <a:latin typeface="Times New Roman" panose="02020603050405020304" pitchFamily="18" charset="0"/>
                <a:cs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id="{CE4FB0E4-A255-4243-B690-70B62E821C83}"/>
              </a:ext>
            </a:extLst>
          </p:cNvPr>
          <p:cNvSpPr>
            <a:spLocks noGrp="1"/>
          </p:cNvSpPr>
          <p:nvPr>
            <p:ph type="body" idx="1"/>
          </p:nvPr>
        </p:nvSpPr>
        <p:spPr>
          <a:xfrm>
            <a:off x="238897" y="1453147"/>
            <a:ext cx="17820503" cy="8217634"/>
          </a:xfrm>
        </p:spPr>
        <p:txBody>
          <a:bodyPr/>
          <a:lstStyle/>
          <a:p>
            <a:pPr marL="685800" indent="-685800">
              <a:buFontTx/>
              <a:buChar char="-"/>
            </a:pPr>
            <a:r>
              <a:rPr lang="en-US" sz="4800" dirty="0">
                <a:latin typeface="Times New Roman" panose="02020603050405020304" pitchFamily="18" charset="0"/>
                <a:cs typeface="Times New Roman" panose="02020603050405020304" pitchFamily="18" charset="0"/>
              </a:rPr>
              <a:t>The program design tools that contain step by step procedure or sequential steps which are written by using English language for solving specific problem.</a:t>
            </a:r>
          </a:p>
          <a:p>
            <a:pPr marL="685800" indent="-685800">
              <a:buFontTx/>
              <a:buChar char="-"/>
            </a:pPr>
            <a:r>
              <a:rPr lang="en-US" sz="4800" dirty="0">
                <a:latin typeface="Times New Roman" panose="02020603050405020304" pitchFamily="18" charset="0"/>
                <a:cs typeface="Times New Roman" panose="02020603050405020304" pitchFamily="18" charset="0"/>
              </a:rPr>
              <a:t>Algorithms are written to show how a program or a function perform its calculation and data processing.</a:t>
            </a:r>
          </a:p>
          <a:p>
            <a:endParaRPr lang="en-US" sz="4800" dirty="0">
              <a:latin typeface="Times New Roman" panose="02020603050405020304" pitchFamily="18" charset="0"/>
              <a:cs typeface="Times New Roman" panose="02020603050405020304" pitchFamily="18" charset="0"/>
            </a:endParaRPr>
          </a:p>
          <a:p>
            <a:r>
              <a:rPr lang="en-US" sz="5400" dirty="0">
                <a:solidFill>
                  <a:srgbClr val="92D050"/>
                </a:solidFill>
                <a:latin typeface="Times New Roman" panose="02020603050405020304" pitchFamily="18" charset="0"/>
                <a:cs typeface="Times New Roman" panose="02020603050405020304" pitchFamily="18" charset="0"/>
              </a:rPr>
              <a:t>Characteristics / Features of an Algorithm</a:t>
            </a:r>
          </a:p>
          <a:p>
            <a:pPr marL="685800" indent="-685800">
              <a:buFontTx/>
              <a:buChar char="-"/>
            </a:pPr>
            <a:r>
              <a:rPr lang="en-US" sz="4800" dirty="0">
                <a:latin typeface="Times New Roman" panose="02020603050405020304" pitchFamily="18" charset="0"/>
                <a:cs typeface="Times New Roman" panose="02020603050405020304" pitchFamily="18" charset="0"/>
              </a:rPr>
              <a:t>An algorithm uses finite number of logical steps.</a:t>
            </a:r>
          </a:p>
          <a:p>
            <a:pPr marL="685800" indent="-685800">
              <a:buFontTx/>
              <a:buChar char="-"/>
            </a:pPr>
            <a:r>
              <a:rPr lang="en-US" sz="4800" dirty="0">
                <a:latin typeface="Times New Roman" panose="02020603050405020304" pitchFamily="18" charset="0"/>
                <a:cs typeface="Times New Roman" panose="02020603050405020304" pitchFamily="18" charset="0"/>
              </a:rPr>
              <a:t>Each step must be defined precisely and unambiguously.</a:t>
            </a:r>
          </a:p>
          <a:p>
            <a:pPr marL="685800" indent="-685800">
              <a:buFontTx/>
              <a:buChar char="-"/>
            </a:pPr>
            <a:r>
              <a:rPr lang="en-US" sz="4800" dirty="0">
                <a:latin typeface="Times New Roman" panose="02020603050405020304" pitchFamily="18" charset="0"/>
                <a:cs typeface="Times New Roman" panose="02020603050405020304" pitchFamily="18" charset="0"/>
              </a:rPr>
              <a:t>Every steps should be executed exactly in finite time.</a:t>
            </a:r>
          </a:p>
          <a:p>
            <a:pPr marL="685800" indent="-685800">
              <a:buFontTx/>
              <a:buChar char="-"/>
            </a:pPr>
            <a:r>
              <a:rPr lang="en-US" sz="4800" dirty="0">
                <a:latin typeface="Times New Roman" panose="02020603050405020304" pitchFamily="18" charset="0"/>
                <a:cs typeface="Times New Roman" panose="02020603050405020304" pitchFamily="18" charset="0"/>
              </a:rPr>
              <a:t>It should be independent of programming language.</a:t>
            </a:r>
          </a:p>
        </p:txBody>
      </p:sp>
    </p:spTree>
    <p:extLst>
      <p:ext uri="{BB962C8B-B14F-4D97-AF65-F5344CB8AC3E}">
        <p14:creationId xmlns:p14="http://schemas.microsoft.com/office/powerpoint/2010/main" val="10975160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6273-C2CB-0DD9-ACF5-FCF106300B8D}"/>
              </a:ext>
            </a:extLst>
          </p:cNvPr>
          <p:cNvSpPr>
            <a:spLocks noGrp="1"/>
          </p:cNvSpPr>
          <p:nvPr>
            <p:ph type="title"/>
          </p:nvPr>
        </p:nvSpPr>
        <p:spPr>
          <a:xfrm>
            <a:off x="152400" y="849511"/>
            <a:ext cx="17007384" cy="2769989"/>
          </a:xfrm>
        </p:spPr>
        <p:txBody>
          <a:bodyPr/>
          <a:lstStyle/>
          <a:p>
            <a:r>
              <a:rPr lang="en-US" dirty="0"/>
              <a:t>1. Write an algorithm to add two numbers entered  </a:t>
            </a:r>
            <a:br>
              <a:rPr lang="en-US" dirty="0"/>
            </a:br>
            <a:r>
              <a:rPr lang="en-US" dirty="0"/>
              <a:t>    by users.</a:t>
            </a:r>
          </a:p>
        </p:txBody>
      </p:sp>
      <p:sp>
        <p:nvSpPr>
          <p:cNvPr id="3" name="Text Placeholder 2">
            <a:extLst>
              <a:ext uri="{FF2B5EF4-FFF2-40B4-BE49-F238E27FC236}">
                <a16:creationId xmlns:a16="http://schemas.microsoft.com/office/drawing/2014/main" id="{40C5267B-AC6E-D9CB-5205-2D1823B080E8}"/>
              </a:ext>
            </a:extLst>
          </p:cNvPr>
          <p:cNvSpPr>
            <a:spLocks noGrp="1"/>
          </p:cNvSpPr>
          <p:nvPr>
            <p:ph type="body" idx="1"/>
          </p:nvPr>
        </p:nvSpPr>
        <p:spPr>
          <a:xfrm>
            <a:off x="812800" y="3619500"/>
            <a:ext cx="16662400" cy="5678478"/>
          </a:xfrm>
        </p:spPr>
        <p:txBody>
          <a:bodyPr/>
          <a:lstStyle/>
          <a:p>
            <a:r>
              <a:rPr lang="en-US" sz="5400" dirty="0"/>
              <a:t>Step1 start</a:t>
            </a:r>
          </a:p>
          <a:p>
            <a:r>
              <a:rPr lang="en-US" sz="5400" dirty="0"/>
              <a:t>Step2 create variable num1,num2 and result</a:t>
            </a:r>
          </a:p>
          <a:p>
            <a:r>
              <a:rPr lang="en-US" sz="5400" dirty="0"/>
              <a:t>Step3 take input value from user</a:t>
            </a:r>
          </a:p>
          <a:p>
            <a:r>
              <a:rPr lang="en-US" sz="5400" dirty="0"/>
              <a:t>Step4 result=num1+num2</a:t>
            </a:r>
          </a:p>
          <a:p>
            <a:r>
              <a:rPr lang="en-US" sz="5400" dirty="0"/>
              <a:t>Step5 display the result</a:t>
            </a:r>
          </a:p>
          <a:p>
            <a:r>
              <a:rPr lang="en-US" sz="5400" dirty="0"/>
              <a:t>Step6 stop</a:t>
            </a:r>
          </a:p>
          <a:p>
            <a:endParaRPr lang="en-US" sz="4800" dirty="0"/>
          </a:p>
        </p:txBody>
      </p:sp>
    </p:spTree>
    <p:extLst>
      <p:ext uri="{BB962C8B-B14F-4D97-AF65-F5344CB8AC3E}">
        <p14:creationId xmlns:p14="http://schemas.microsoft.com/office/powerpoint/2010/main" val="22061577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C44A9-2666-5C9D-1912-2BEBF1C388D4}"/>
              </a:ext>
            </a:extLst>
          </p:cNvPr>
          <p:cNvSpPr>
            <a:spLocks noGrp="1"/>
          </p:cNvSpPr>
          <p:nvPr>
            <p:ph type="title"/>
          </p:nvPr>
        </p:nvSpPr>
        <p:spPr>
          <a:xfrm>
            <a:off x="482600" y="647700"/>
            <a:ext cx="17830800" cy="1846659"/>
          </a:xfrm>
        </p:spPr>
        <p:txBody>
          <a:bodyPr/>
          <a:lstStyle/>
          <a:p>
            <a:r>
              <a:rPr lang="en-US" dirty="0"/>
              <a:t>2. Write an algorithm to calculate the simple </a:t>
            </a:r>
            <a:br>
              <a:rPr lang="en-US" dirty="0"/>
            </a:br>
            <a:r>
              <a:rPr lang="en-US" dirty="0"/>
              <a:t>     interest.</a:t>
            </a:r>
          </a:p>
        </p:txBody>
      </p:sp>
      <p:sp>
        <p:nvSpPr>
          <p:cNvPr id="3" name="Text Placeholder 2">
            <a:extLst>
              <a:ext uri="{FF2B5EF4-FFF2-40B4-BE49-F238E27FC236}">
                <a16:creationId xmlns:a16="http://schemas.microsoft.com/office/drawing/2014/main" id="{FE2B0AF2-06CC-D437-6309-7A723CA874B1}"/>
              </a:ext>
            </a:extLst>
          </p:cNvPr>
          <p:cNvSpPr>
            <a:spLocks noGrp="1"/>
          </p:cNvSpPr>
          <p:nvPr>
            <p:ph type="body" idx="1"/>
          </p:nvPr>
        </p:nvSpPr>
        <p:spPr>
          <a:xfrm>
            <a:off x="990600" y="3162300"/>
            <a:ext cx="13487400" cy="6001643"/>
          </a:xfrm>
        </p:spPr>
        <p:txBody>
          <a:bodyPr/>
          <a:lstStyle/>
          <a:p>
            <a:r>
              <a:rPr lang="en-US" sz="5400" dirty="0"/>
              <a:t>Step1: START</a:t>
            </a:r>
          </a:p>
          <a:p>
            <a:r>
              <a:rPr lang="en-US" sz="5400" dirty="0"/>
              <a:t>Step2: create variable P,T,R and S.I</a:t>
            </a:r>
          </a:p>
          <a:p>
            <a:r>
              <a:rPr lang="en-US" sz="5400" dirty="0"/>
              <a:t>Step3: take value of P,T,R from user</a:t>
            </a:r>
          </a:p>
          <a:p>
            <a:r>
              <a:rPr lang="en-US" sz="5400" dirty="0"/>
              <a:t>Step4: S.I = PTR /100</a:t>
            </a:r>
          </a:p>
          <a:p>
            <a:r>
              <a:rPr lang="en-US" sz="5400" dirty="0"/>
              <a:t>Step5: display the S.I</a:t>
            </a:r>
          </a:p>
          <a:p>
            <a:r>
              <a:rPr lang="en-US" sz="5400" dirty="0"/>
              <a:t>Step6: STOP</a:t>
            </a:r>
          </a:p>
          <a:p>
            <a:endParaRPr lang="en-US" sz="6000" dirty="0"/>
          </a:p>
        </p:txBody>
      </p:sp>
    </p:spTree>
    <p:extLst>
      <p:ext uri="{BB962C8B-B14F-4D97-AF65-F5344CB8AC3E}">
        <p14:creationId xmlns:p14="http://schemas.microsoft.com/office/powerpoint/2010/main" val="18312705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C4A9D5F-08CF-527F-9813-1A90AAC97A52}"/>
              </a:ext>
            </a:extLst>
          </p:cNvPr>
          <p:cNvSpPr>
            <a:spLocks noGrp="1"/>
          </p:cNvSpPr>
          <p:nvPr>
            <p:ph type="body" idx="1"/>
          </p:nvPr>
        </p:nvSpPr>
        <p:spPr>
          <a:xfrm>
            <a:off x="368300" y="711517"/>
            <a:ext cx="17551400" cy="8863965"/>
          </a:xfrm>
        </p:spPr>
        <p:txBody>
          <a:bodyPr/>
          <a:lstStyle/>
          <a:p>
            <a:r>
              <a:rPr lang="en-US" sz="6600" dirty="0">
                <a:solidFill>
                  <a:srgbClr val="FFC000"/>
                </a:solidFill>
                <a:latin typeface="Arial" panose="020B0604020202020204" pitchFamily="34" charset="0"/>
                <a:cs typeface="Arial" panose="020B0604020202020204" pitchFamily="34" charset="0"/>
              </a:rPr>
              <a:t>3. Write an algorithm to find the area of circle.</a:t>
            </a:r>
          </a:p>
          <a:p>
            <a:endParaRPr lang="en-US" sz="6600" dirty="0">
              <a:solidFill>
                <a:srgbClr val="FFC000"/>
              </a:solidFill>
              <a:latin typeface="Algerian" panose="04020705040A02060702" pitchFamily="82" charset="0"/>
            </a:endParaRPr>
          </a:p>
          <a:p>
            <a:r>
              <a:rPr lang="en-US" sz="5400" dirty="0"/>
              <a:t>Step1: START</a:t>
            </a:r>
          </a:p>
          <a:p>
            <a:r>
              <a:rPr lang="en-US" sz="5400" dirty="0"/>
              <a:t>Step2: Create variable r for radius</a:t>
            </a:r>
          </a:p>
          <a:p>
            <a:r>
              <a:rPr lang="en-US" sz="5400" dirty="0"/>
              <a:t>Step3: Take input value of radius (r)</a:t>
            </a:r>
          </a:p>
          <a:p>
            <a:r>
              <a:rPr lang="en-US" sz="5400" dirty="0"/>
              <a:t>Step4: Set π = 3.14</a:t>
            </a:r>
          </a:p>
          <a:p>
            <a:r>
              <a:rPr lang="en-US" sz="5400" dirty="0"/>
              <a:t>Step5: Compute Area = π × r × r</a:t>
            </a:r>
          </a:p>
          <a:p>
            <a:r>
              <a:rPr lang="en-US" sz="5400" dirty="0"/>
              <a:t>Step6: Display Area</a:t>
            </a:r>
          </a:p>
          <a:p>
            <a:r>
              <a:rPr lang="en-US" sz="5400" dirty="0"/>
              <a:t>Step7: END</a:t>
            </a:r>
          </a:p>
        </p:txBody>
      </p:sp>
    </p:spTree>
    <p:extLst>
      <p:ext uri="{BB962C8B-B14F-4D97-AF65-F5344CB8AC3E}">
        <p14:creationId xmlns:p14="http://schemas.microsoft.com/office/powerpoint/2010/main" val="37374381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5280-411B-54A8-EDF4-64CEDA3A0623}"/>
              </a:ext>
            </a:extLst>
          </p:cNvPr>
          <p:cNvSpPr>
            <a:spLocks noGrp="1"/>
          </p:cNvSpPr>
          <p:nvPr>
            <p:ph type="title"/>
          </p:nvPr>
        </p:nvSpPr>
        <p:spPr>
          <a:xfrm>
            <a:off x="533400" y="434518"/>
            <a:ext cx="16183967" cy="9417963"/>
          </a:xfrm>
        </p:spPr>
        <p:txBody>
          <a:bodyPr/>
          <a:lstStyle/>
          <a:p>
            <a:r>
              <a:rPr lang="en-US" sz="6000" dirty="0">
                <a:solidFill>
                  <a:srgbClr val="FFC000"/>
                </a:solidFill>
                <a:latin typeface="+mj-lt"/>
              </a:rPr>
              <a:t>4. Write an algorithm to find the greatest among two number.</a:t>
            </a:r>
            <a:br>
              <a:rPr lang="en-US" sz="6000" dirty="0">
                <a:solidFill>
                  <a:srgbClr val="FFC000"/>
                </a:solidFill>
                <a:latin typeface="+mj-lt"/>
              </a:rPr>
            </a:br>
            <a:br>
              <a:rPr lang="en-US" sz="6000" dirty="0">
                <a:solidFill>
                  <a:srgbClr val="FFC000"/>
                </a:solidFill>
                <a:latin typeface="+mj-lt"/>
              </a:rPr>
            </a:br>
            <a:r>
              <a:rPr lang="en-US" sz="5400" dirty="0">
                <a:solidFill>
                  <a:schemeClr val="bg1"/>
                </a:solidFill>
                <a:latin typeface="+mj-lt"/>
              </a:rPr>
              <a:t>Step1: START</a:t>
            </a:r>
            <a:br>
              <a:rPr lang="en-US" sz="5400" dirty="0">
                <a:solidFill>
                  <a:schemeClr val="bg1"/>
                </a:solidFill>
                <a:latin typeface="+mj-lt"/>
              </a:rPr>
            </a:br>
            <a:r>
              <a:rPr lang="en-US" sz="5400" dirty="0">
                <a:solidFill>
                  <a:schemeClr val="bg1"/>
                </a:solidFill>
                <a:latin typeface="+mj-lt"/>
              </a:rPr>
              <a:t>Step2: Create variable a and b</a:t>
            </a:r>
            <a:br>
              <a:rPr lang="en-US" sz="5400" dirty="0">
                <a:solidFill>
                  <a:schemeClr val="bg1"/>
                </a:solidFill>
                <a:latin typeface="+mj-lt"/>
              </a:rPr>
            </a:br>
            <a:r>
              <a:rPr lang="en-US" sz="5400" dirty="0">
                <a:solidFill>
                  <a:schemeClr val="bg1"/>
                </a:solidFill>
                <a:latin typeface="+mj-lt"/>
              </a:rPr>
              <a:t>Step3: Read two numbers (a, b)</a:t>
            </a:r>
            <a:br>
              <a:rPr lang="en-US" sz="5400" dirty="0">
                <a:solidFill>
                  <a:schemeClr val="bg1"/>
                </a:solidFill>
                <a:latin typeface="+mj-lt"/>
              </a:rPr>
            </a:br>
            <a:r>
              <a:rPr lang="en-US" sz="5400" dirty="0">
                <a:solidFill>
                  <a:schemeClr val="bg1"/>
                </a:solidFill>
                <a:latin typeface="+mj-lt"/>
              </a:rPr>
              <a:t>Step4: IF a &gt; b THEN</a:t>
            </a:r>
            <a:br>
              <a:rPr lang="en-US" sz="5400" dirty="0">
                <a:solidFill>
                  <a:schemeClr val="bg1"/>
                </a:solidFill>
                <a:latin typeface="+mj-lt"/>
              </a:rPr>
            </a:br>
            <a:r>
              <a:rPr lang="en-US" sz="5400" dirty="0">
                <a:solidFill>
                  <a:schemeClr val="bg1"/>
                </a:solidFill>
                <a:latin typeface="+mj-lt"/>
              </a:rPr>
              <a:t>             display a is greatest</a:t>
            </a:r>
            <a:br>
              <a:rPr lang="en-US" sz="5400" dirty="0">
                <a:solidFill>
                  <a:schemeClr val="bg1"/>
                </a:solidFill>
                <a:latin typeface="+mj-lt"/>
              </a:rPr>
            </a:br>
            <a:r>
              <a:rPr lang="en-US" sz="5400" dirty="0">
                <a:solidFill>
                  <a:schemeClr val="bg1"/>
                </a:solidFill>
                <a:latin typeface="+mj-lt"/>
              </a:rPr>
              <a:t>             ELSE</a:t>
            </a:r>
            <a:br>
              <a:rPr lang="en-US" sz="5400" dirty="0">
                <a:solidFill>
                  <a:schemeClr val="bg1"/>
                </a:solidFill>
                <a:latin typeface="+mj-lt"/>
              </a:rPr>
            </a:br>
            <a:r>
              <a:rPr lang="en-US" sz="5400" dirty="0">
                <a:solidFill>
                  <a:schemeClr val="bg1"/>
                </a:solidFill>
                <a:latin typeface="+mj-lt"/>
              </a:rPr>
              <a:t>             b is greatest</a:t>
            </a:r>
            <a:br>
              <a:rPr lang="en-US" sz="5400" dirty="0">
                <a:solidFill>
                  <a:schemeClr val="bg1"/>
                </a:solidFill>
                <a:latin typeface="+mj-lt"/>
              </a:rPr>
            </a:br>
            <a:r>
              <a:rPr lang="en-US" sz="5400" dirty="0">
                <a:solidFill>
                  <a:schemeClr val="bg1"/>
                </a:solidFill>
                <a:latin typeface="+mj-lt"/>
              </a:rPr>
              <a:t>Step5: END</a:t>
            </a:r>
            <a:endParaRPr lang="en-US" dirty="0">
              <a:solidFill>
                <a:schemeClr val="bg1"/>
              </a:solidFill>
              <a:latin typeface="+mj-lt"/>
            </a:endParaRPr>
          </a:p>
        </p:txBody>
      </p:sp>
    </p:spTree>
    <p:extLst>
      <p:ext uri="{BB962C8B-B14F-4D97-AF65-F5344CB8AC3E}">
        <p14:creationId xmlns:p14="http://schemas.microsoft.com/office/powerpoint/2010/main" val="1060001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9F310-4D12-9D7F-6D6C-2693FB20827C}"/>
              </a:ext>
            </a:extLst>
          </p:cNvPr>
          <p:cNvSpPr>
            <a:spLocks noGrp="1"/>
          </p:cNvSpPr>
          <p:nvPr>
            <p:ph type="title"/>
          </p:nvPr>
        </p:nvSpPr>
        <p:spPr>
          <a:xfrm>
            <a:off x="533400" y="291553"/>
            <a:ext cx="16183967" cy="1846659"/>
          </a:xfrm>
        </p:spPr>
        <p:txBody>
          <a:bodyPr/>
          <a:lstStyle/>
          <a:p>
            <a:r>
              <a:rPr lang="en-US" dirty="0"/>
              <a:t>5. Write an algorithm to check the entered number is even or odd.</a:t>
            </a:r>
          </a:p>
        </p:txBody>
      </p:sp>
      <p:sp>
        <p:nvSpPr>
          <p:cNvPr id="3" name="Text Placeholder 2">
            <a:extLst>
              <a:ext uri="{FF2B5EF4-FFF2-40B4-BE49-F238E27FC236}">
                <a16:creationId xmlns:a16="http://schemas.microsoft.com/office/drawing/2014/main" id="{DB941273-7637-1296-3B5F-4F1117633913}"/>
              </a:ext>
            </a:extLst>
          </p:cNvPr>
          <p:cNvSpPr>
            <a:spLocks noGrp="1"/>
          </p:cNvSpPr>
          <p:nvPr>
            <p:ph type="body" idx="1"/>
          </p:nvPr>
        </p:nvSpPr>
        <p:spPr>
          <a:xfrm>
            <a:off x="558800" y="2705100"/>
            <a:ext cx="15367000" cy="6647974"/>
          </a:xfrm>
        </p:spPr>
        <p:txBody>
          <a:bodyPr/>
          <a:lstStyle/>
          <a:p>
            <a:r>
              <a:rPr lang="en-US" sz="5400" dirty="0"/>
              <a:t>Step1: START</a:t>
            </a:r>
          </a:p>
          <a:p>
            <a:r>
              <a:rPr lang="en-US" sz="5400" dirty="0"/>
              <a:t>Step2: Create variable n</a:t>
            </a:r>
          </a:p>
          <a:p>
            <a:r>
              <a:rPr lang="en-US" sz="5400" dirty="0"/>
              <a:t>Step3: Read number (n) from user</a:t>
            </a:r>
          </a:p>
          <a:p>
            <a:r>
              <a:rPr lang="en-US" sz="5400" dirty="0"/>
              <a:t>Step4: IF n % 2 == 0 THEN</a:t>
            </a:r>
          </a:p>
          <a:p>
            <a:r>
              <a:rPr lang="en-US" sz="5400" dirty="0"/>
              <a:t>           Display "Even"</a:t>
            </a:r>
          </a:p>
          <a:p>
            <a:r>
              <a:rPr lang="en-US" sz="5400" dirty="0"/>
              <a:t>           ELSE</a:t>
            </a:r>
          </a:p>
          <a:p>
            <a:r>
              <a:rPr lang="en-US" sz="5400" dirty="0"/>
              <a:t>           Display "Odd"</a:t>
            </a:r>
          </a:p>
          <a:p>
            <a:r>
              <a:rPr lang="en-US" sz="5400" dirty="0"/>
              <a:t>Step5: END</a:t>
            </a:r>
          </a:p>
        </p:txBody>
      </p:sp>
    </p:spTree>
    <p:extLst>
      <p:ext uri="{BB962C8B-B14F-4D97-AF65-F5344CB8AC3E}">
        <p14:creationId xmlns:p14="http://schemas.microsoft.com/office/powerpoint/2010/main" val="1156249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58811-9EB6-C098-512F-D4BD6D9AEF3B}"/>
              </a:ext>
            </a:extLst>
          </p:cNvPr>
          <p:cNvSpPr>
            <a:spLocks noGrp="1"/>
          </p:cNvSpPr>
          <p:nvPr>
            <p:ph type="title"/>
          </p:nvPr>
        </p:nvSpPr>
        <p:spPr>
          <a:xfrm>
            <a:off x="533400" y="855494"/>
            <a:ext cx="17221200" cy="1846659"/>
          </a:xfrm>
        </p:spPr>
        <p:txBody>
          <a:bodyPr/>
          <a:lstStyle/>
          <a:p>
            <a:r>
              <a:rPr lang="en-US" dirty="0"/>
              <a:t>6. Write an algorithm to convert Celsius to Fahrenheit.</a:t>
            </a:r>
          </a:p>
        </p:txBody>
      </p:sp>
      <p:sp>
        <p:nvSpPr>
          <p:cNvPr id="3" name="Text Placeholder 2">
            <a:extLst>
              <a:ext uri="{FF2B5EF4-FFF2-40B4-BE49-F238E27FC236}">
                <a16:creationId xmlns:a16="http://schemas.microsoft.com/office/drawing/2014/main" id="{B359DFAE-04D1-457B-5391-7591C5C58073}"/>
              </a:ext>
            </a:extLst>
          </p:cNvPr>
          <p:cNvSpPr>
            <a:spLocks noGrp="1"/>
          </p:cNvSpPr>
          <p:nvPr>
            <p:ph type="body" idx="1"/>
          </p:nvPr>
        </p:nvSpPr>
        <p:spPr>
          <a:xfrm>
            <a:off x="533400" y="3462129"/>
            <a:ext cx="17221200" cy="5816977"/>
          </a:xfrm>
        </p:spPr>
        <p:txBody>
          <a:bodyPr/>
          <a:lstStyle/>
          <a:p>
            <a:r>
              <a:rPr lang="en-US" sz="5400" dirty="0"/>
              <a:t>Step1: START</a:t>
            </a:r>
          </a:p>
          <a:p>
            <a:r>
              <a:rPr lang="en-US" sz="5400" dirty="0"/>
              <a:t>Step2: Create variable (C) to store Celsius</a:t>
            </a:r>
          </a:p>
          <a:p>
            <a:r>
              <a:rPr lang="en-US" sz="5400" dirty="0"/>
              <a:t>Step3: Read temperature in Celsius (C)</a:t>
            </a:r>
          </a:p>
          <a:p>
            <a:r>
              <a:rPr lang="en-US" sz="5400" dirty="0"/>
              <a:t>Step4: F = (C × 9/5) + 32</a:t>
            </a:r>
          </a:p>
          <a:p>
            <a:r>
              <a:rPr lang="en-US" sz="5400" dirty="0"/>
              <a:t>Step5: Display F</a:t>
            </a:r>
          </a:p>
          <a:p>
            <a:r>
              <a:rPr lang="en-US" sz="5400" dirty="0"/>
              <a:t>Step6: END</a:t>
            </a:r>
          </a:p>
          <a:p>
            <a:endParaRPr lang="en-US" sz="5400" dirty="0"/>
          </a:p>
        </p:txBody>
      </p:sp>
    </p:spTree>
    <p:extLst>
      <p:ext uri="{BB962C8B-B14F-4D97-AF65-F5344CB8AC3E}">
        <p14:creationId xmlns:p14="http://schemas.microsoft.com/office/powerpoint/2010/main" val="31806243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60D4F-DB03-7666-EB89-8A4E5E51A046}"/>
              </a:ext>
            </a:extLst>
          </p:cNvPr>
          <p:cNvSpPr>
            <a:spLocks noGrp="1"/>
          </p:cNvSpPr>
          <p:nvPr>
            <p:ph type="title"/>
          </p:nvPr>
        </p:nvSpPr>
        <p:spPr>
          <a:xfrm>
            <a:off x="228600" y="261748"/>
            <a:ext cx="16183967" cy="830997"/>
          </a:xfrm>
        </p:spPr>
        <p:txBody>
          <a:bodyPr/>
          <a:lstStyle/>
          <a:p>
            <a:r>
              <a:rPr lang="en-US" sz="5400" dirty="0">
                <a:latin typeface="Times New Roman" panose="02020603050405020304" pitchFamily="18" charset="0"/>
                <a:cs typeface="Times New Roman" panose="02020603050405020304" pitchFamily="18" charset="0"/>
              </a:rPr>
              <a:t>Advantages of Algorithm</a:t>
            </a:r>
          </a:p>
        </p:txBody>
      </p:sp>
      <p:sp>
        <p:nvSpPr>
          <p:cNvPr id="3" name="Text Placeholder 2">
            <a:extLst>
              <a:ext uri="{FF2B5EF4-FFF2-40B4-BE49-F238E27FC236}">
                <a16:creationId xmlns:a16="http://schemas.microsoft.com/office/drawing/2014/main" id="{78589D0C-BA08-A8F4-1491-943332FDD0A1}"/>
              </a:ext>
            </a:extLst>
          </p:cNvPr>
          <p:cNvSpPr>
            <a:spLocks noGrp="1"/>
          </p:cNvSpPr>
          <p:nvPr>
            <p:ph type="body" idx="1"/>
          </p:nvPr>
        </p:nvSpPr>
        <p:spPr>
          <a:xfrm>
            <a:off x="241300" y="1092745"/>
            <a:ext cx="17805400" cy="4847481"/>
          </a:xfrm>
        </p:spPr>
        <p:txBody>
          <a:bodyPr/>
          <a:lstStyle/>
          <a:p>
            <a:pPr marL="685800" indent="-685800">
              <a:buFontTx/>
              <a:buChar char="-"/>
            </a:pPr>
            <a:r>
              <a:rPr lang="en-US" dirty="0">
                <a:latin typeface="Times New Roman" panose="02020603050405020304" pitchFamily="18" charset="0"/>
                <a:cs typeface="Times New Roman" panose="02020603050405020304" pitchFamily="18" charset="0"/>
              </a:rPr>
              <a:t>Algorithms provide a step-by-step approach to solving a problem, making the solution clear, logical, and easy to follow.</a:t>
            </a:r>
          </a:p>
          <a:p>
            <a:pPr marL="685800" indent="-685800">
              <a:buFontTx/>
              <a:buChar char="-"/>
            </a:pPr>
            <a:r>
              <a:rPr lang="en-US" dirty="0">
                <a:latin typeface="Times New Roman" panose="02020603050405020304" pitchFamily="18" charset="0"/>
                <a:cs typeface="Times New Roman" panose="02020603050405020304" pitchFamily="18" charset="0"/>
              </a:rPr>
              <a:t>Algorithms are designed to optimize the use of resources such as time and memory.</a:t>
            </a:r>
          </a:p>
          <a:p>
            <a:pPr marL="685800" indent="-685800">
              <a:buFontTx/>
              <a:buChar char="-"/>
            </a:pPr>
            <a:r>
              <a:rPr lang="en-US" dirty="0">
                <a:latin typeface="Times New Roman" panose="02020603050405020304" pitchFamily="18" charset="0"/>
                <a:cs typeface="Times New Roman" panose="02020603050405020304" pitchFamily="18" charset="0"/>
              </a:rPr>
              <a:t>Once an algorithm is developed, it can be reused for similar problems, saving time and effort.</a:t>
            </a:r>
          </a:p>
          <a:p>
            <a:pPr marL="685800" indent="-685800">
              <a:buFontTx/>
              <a:buChar char="-"/>
            </a:pPr>
            <a:r>
              <a:rPr lang="en-US" dirty="0">
                <a:latin typeface="Times New Roman" panose="02020603050405020304" pitchFamily="18" charset="0"/>
                <a:cs typeface="Times New Roman" panose="02020603050405020304" pitchFamily="18" charset="0"/>
              </a:rPr>
              <a:t>Algorithms provide a clear framework for testing and debugging.</a:t>
            </a:r>
          </a:p>
        </p:txBody>
      </p:sp>
      <p:sp>
        <p:nvSpPr>
          <p:cNvPr id="4" name="Title 1">
            <a:extLst>
              <a:ext uri="{FF2B5EF4-FFF2-40B4-BE49-F238E27FC236}">
                <a16:creationId xmlns:a16="http://schemas.microsoft.com/office/drawing/2014/main" id="{FB5B4E4C-3FAA-6DC8-B64C-0B05AEAA2218}"/>
              </a:ext>
            </a:extLst>
          </p:cNvPr>
          <p:cNvSpPr txBox="1">
            <a:spLocks/>
          </p:cNvSpPr>
          <p:nvPr/>
        </p:nvSpPr>
        <p:spPr>
          <a:xfrm>
            <a:off x="266700" y="6210300"/>
            <a:ext cx="17805400" cy="3539430"/>
          </a:xfrm>
          <a:prstGeom prst="rect">
            <a:avLst/>
          </a:prstGeom>
        </p:spPr>
        <p:txBody>
          <a:bodyPr wrap="square" lIns="0" tIns="0" rIns="0" bIns="0">
            <a:spAutoFit/>
          </a:bodyPr>
          <a:lstStyle>
            <a:lvl1pPr>
              <a:defRPr sz="6000" b="0" i="0">
                <a:solidFill>
                  <a:srgbClr val="FFA511"/>
                </a:solidFill>
                <a:latin typeface="Arial"/>
                <a:ea typeface="+mj-ea"/>
                <a:cs typeface="Arial"/>
              </a:defRPr>
            </a:lvl1pPr>
          </a:lstStyle>
          <a:p>
            <a:r>
              <a:rPr lang="en-US" sz="5400" dirty="0">
                <a:latin typeface="Times New Roman" panose="02020603050405020304" pitchFamily="18" charset="0"/>
                <a:cs typeface="Times New Roman" panose="02020603050405020304" pitchFamily="18" charset="0"/>
              </a:rPr>
              <a:t>Dis-advantages of Algorithm</a:t>
            </a:r>
          </a:p>
          <a:p>
            <a:pPr marL="685800" indent="-685800">
              <a:buFontTx/>
              <a:buChar char="-"/>
            </a:pPr>
            <a:r>
              <a:rPr lang="en-US" sz="4400" dirty="0">
                <a:solidFill>
                  <a:schemeClr val="bg1"/>
                </a:solidFill>
                <a:latin typeface="Times New Roman" panose="02020603050405020304" pitchFamily="18" charset="0"/>
                <a:cs typeface="Times New Roman" panose="02020603050405020304" pitchFamily="18" charset="0"/>
              </a:rPr>
              <a:t>Designing a detailed and efficient algorithm for complex project will be time consuming.</a:t>
            </a:r>
          </a:p>
          <a:p>
            <a:pPr marL="685800" indent="-685800">
              <a:buFontTx/>
              <a:buChar char="-"/>
            </a:pPr>
            <a:r>
              <a:rPr lang="en-US" sz="4400" dirty="0">
                <a:solidFill>
                  <a:schemeClr val="bg1"/>
                </a:solidFill>
                <a:latin typeface="Times New Roman" panose="02020603050405020304" pitchFamily="18" charset="0"/>
                <a:cs typeface="Times New Roman" panose="02020603050405020304" pitchFamily="18" charset="0"/>
              </a:rPr>
              <a:t>Algorithms are designed to address specific problems with predefined inputs and conditions so limited flexibility.</a:t>
            </a:r>
          </a:p>
        </p:txBody>
      </p:sp>
    </p:spTree>
    <p:extLst>
      <p:ext uri="{BB962C8B-B14F-4D97-AF65-F5344CB8AC3E}">
        <p14:creationId xmlns:p14="http://schemas.microsoft.com/office/powerpoint/2010/main" val="670394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ABC94-9C59-334F-CD5A-F54A62D515F0}"/>
              </a:ext>
            </a:extLst>
          </p:cNvPr>
          <p:cNvSpPr>
            <a:spLocks noGrp="1"/>
          </p:cNvSpPr>
          <p:nvPr>
            <p:ph type="title"/>
          </p:nvPr>
        </p:nvSpPr>
        <p:spPr>
          <a:xfrm>
            <a:off x="304800" y="261748"/>
            <a:ext cx="16183967" cy="940435"/>
          </a:xfrm>
        </p:spPr>
        <p:txBody>
          <a:bodyPr/>
          <a:lstStyle/>
          <a:p>
            <a:r>
              <a:rPr lang="en-US" sz="6000" dirty="0"/>
              <a:t>2. Flowchart</a:t>
            </a:r>
            <a:endParaRPr lang="en-US" dirty="0"/>
          </a:p>
        </p:txBody>
      </p:sp>
      <p:sp>
        <p:nvSpPr>
          <p:cNvPr id="3" name="Text Placeholder 2">
            <a:extLst>
              <a:ext uri="{FF2B5EF4-FFF2-40B4-BE49-F238E27FC236}">
                <a16:creationId xmlns:a16="http://schemas.microsoft.com/office/drawing/2014/main" id="{CBE3B39D-0A3C-C674-2829-42275DA3E30F}"/>
              </a:ext>
            </a:extLst>
          </p:cNvPr>
          <p:cNvSpPr>
            <a:spLocks noGrp="1"/>
          </p:cNvSpPr>
          <p:nvPr>
            <p:ph type="body" idx="1"/>
          </p:nvPr>
        </p:nvSpPr>
        <p:spPr>
          <a:xfrm>
            <a:off x="533400" y="1409700"/>
            <a:ext cx="17221200" cy="8079135"/>
          </a:xfrm>
        </p:spPr>
        <p:txBody>
          <a:bodyPr/>
          <a:lstStyle/>
          <a:p>
            <a:pPr marL="685800" indent="-685800">
              <a:buFontTx/>
              <a:buChar char="-"/>
            </a:pPr>
            <a:r>
              <a:rPr lang="en-US" sz="4800" dirty="0"/>
              <a:t>The diagrammatic or pictorial representation of different steps involved in algorithm to solve specific problem is called Flow Chart.</a:t>
            </a:r>
          </a:p>
          <a:p>
            <a:pPr marL="685800" indent="-685800">
              <a:buFontTx/>
              <a:buChar char="-"/>
            </a:pPr>
            <a:endParaRPr lang="en-US" sz="4800" dirty="0"/>
          </a:p>
          <a:p>
            <a:pPr marL="685800" indent="-685800">
              <a:buFontTx/>
              <a:buChar char="-"/>
            </a:pPr>
            <a:r>
              <a:rPr lang="en-US" sz="4800" dirty="0"/>
              <a:t>It is the best method of designing the solution about program  and provide excellent guide of writing the code of the problems.</a:t>
            </a:r>
          </a:p>
          <a:p>
            <a:pPr marL="685800" indent="-685800">
              <a:buFontTx/>
              <a:buChar char="-"/>
            </a:pPr>
            <a:endParaRPr lang="en-US" sz="4800" dirty="0"/>
          </a:p>
          <a:p>
            <a:pPr marL="685800" indent="-685800">
              <a:buFontTx/>
              <a:buChar char="-"/>
            </a:pPr>
            <a:r>
              <a:rPr lang="en-US" sz="4800" dirty="0"/>
              <a:t>It uses different geometrical shapes, symbols to represent different action involves in problem solving.</a:t>
            </a:r>
          </a:p>
          <a:p>
            <a:endParaRPr lang="en-US" dirty="0"/>
          </a:p>
        </p:txBody>
      </p:sp>
    </p:spTree>
    <p:extLst>
      <p:ext uri="{BB962C8B-B14F-4D97-AF65-F5344CB8AC3E}">
        <p14:creationId xmlns:p14="http://schemas.microsoft.com/office/powerpoint/2010/main" val="22980939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FFC3D-BF9E-A6BA-7665-3F5D84E932FE}"/>
              </a:ext>
            </a:extLst>
          </p:cNvPr>
          <p:cNvSpPr>
            <a:spLocks noGrp="1"/>
          </p:cNvSpPr>
          <p:nvPr>
            <p:ph type="title"/>
          </p:nvPr>
        </p:nvSpPr>
        <p:spPr>
          <a:xfrm>
            <a:off x="457200" y="495300"/>
            <a:ext cx="16183967" cy="940435"/>
          </a:xfrm>
        </p:spPr>
        <p:txBody>
          <a:bodyPr/>
          <a:lstStyle/>
          <a:p>
            <a:r>
              <a:rPr lang="en-US" dirty="0"/>
              <a:t>The different symbols used in Flowchart are:-</a:t>
            </a:r>
          </a:p>
        </p:txBody>
      </p:sp>
      <p:pic>
        <p:nvPicPr>
          <p:cNvPr id="5" name="Picture 4">
            <a:extLst>
              <a:ext uri="{FF2B5EF4-FFF2-40B4-BE49-F238E27FC236}">
                <a16:creationId xmlns:a16="http://schemas.microsoft.com/office/drawing/2014/main" id="{52600783-8114-7E0F-CE26-A900890505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6103" y="1790700"/>
            <a:ext cx="13707969" cy="8382635"/>
          </a:xfrm>
          <a:prstGeom prst="rect">
            <a:avLst/>
          </a:prstGeom>
        </p:spPr>
      </p:pic>
      <p:sp>
        <p:nvSpPr>
          <p:cNvPr id="6" name="Text Placeholder 2">
            <a:extLst>
              <a:ext uri="{FF2B5EF4-FFF2-40B4-BE49-F238E27FC236}">
                <a16:creationId xmlns:a16="http://schemas.microsoft.com/office/drawing/2014/main" id="{3238CD6E-3912-A975-2A9F-28D272147DFC}"/>
              </a:ext>
            </a:extLst>
          </p:cNvPr>
          <p:cNvSpPr>
            <a:spLocks noGrp="1"/>
          </p:cNvSpPr>
          <p:nvPr>
            <p:ph type="body" idx="1"/>
          </p:nvPr>
        </p:nvSpPr>
        <p:spPr>
          <a:xfrm>
            <a:off x="11658600" y="7048500"/>
            <a:ext cx="4343400" cy="1107996"/>
          </a:xfrm>
          <a:solidFill>
            <a:schemeClr val="bg1">
              <a:lumMod val="95000"/>
            </a:schemeClr>
          </a:solidFill>
        </p:spPr>
        <p:txBody>
          <a:bodyPr/>
          <a:lstStyle/>
          <a:p>
            <a:r>
              <a:rPr lang="en-US" sz="3600" dirty="0">
                <a:solidFill>
                  <a:schemeClr val="tx1"/>
                </a:solidFill>
              </a:rPr>
              <a:t>  Decision </a:t>
            </a:r>
          </a:p>
          <a:p>
            <a:r>
              <a:rPr lang="en-US" sz="3600" dirty="0">
                <a:solidFill>
                  <a:schemeClr val="tx1"/>
                </a:solidFill>
              </a:rPr>
              <a:t>  making</a:t>
            </a:r>
          </a:p>
        </p:txBody>
      </p:sp>
    </p:spTree>
    <p:extLst>
      <p:ext uri="{BB962C8B-B14F-4D97-AF65-F5344CB8AC3E}">
        <p14:creationId xmlns:p14="http://schemas.microsoft.com/office/powerpoint/2010/main" val="4217570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8D90A-1DD9-73C7-6807-3FD2C146E99A}"/>
              </a:ext>
            </a:extLst>
          </p:cNvPr>
          <p:cNvSpPr>
            <a:spLocks noGrp="1"/>
          </p:cNvSpPr>
          <p:nvPr>
            <p:ph type="title"/>
          </p:nvPr>
        </p:nvSpPr>
        <p:spPr>
          <a:xfrm>
            <a:off x="533400" y="82193"/>
            <a:ext cx="16183967" cy="940435"/>
          </a:xfrm>
        </p:spPr>
        <p:txBody>
          <a:bodyPr/>
          <a:lstStyle/>
          <a:p>
            <a:r>
              <a:rPr lang="en-US" dirty="0"/>
              <a:t>1. Draw a flowchart to find sum of two numbers</a:t>
            </a:r>
          </a:p>
        </p:txBody>
      </p:sp>
      <p:pic>
        <p:nvPicPr>
          <p:cNvPr id="5" name="Picture 4">
            <a:extLst>
              <a:ext uri="{FF2B5EF4-FFF2-40B4-BE49-F238E27FC236}">
                <a16:creationId xmlns:a16="http://schemas.microsoft.com/office/drawing/2014/main" id="{9545D828-813B-B607-1D7B-4FABC71C3D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3999" y="1257300"/>
            <a:ext cx="6485707" cy="8947507"/>
          </a:xfrm>
          <a:prstGeom prst="rect">
            <a:avLst/>
          </a:prstGeom>
        </p:spPr>
      </p:pic>
    </p:spTree>
    <p:extLst>
      <p:ext uri="{BB962C8B-B14F-4D97-AF65-F5344CB8AC3E}">
        <p14:creationId xmlns:p14="http://schemas.microsoft.com/office/powerpoint/2010/main" val="39576837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24558-E210-08C0-A6FD-E2AF61E3DC2B}"/>
              </a:ext>
            </a:extLst>
          </p:cNvPr>
          <p:cNvSpPr>
            <a:spLocks noGrp="1"/>
          </p:cNvSpPr>
          <p:nvPr>
            <p:ph type="title"/>
          </p:nvPr>
        </p:nvSpPr>
        <p:spPr>
          <a:xfrm>
            <a:off x="381000" y="274448"/>
            <a:ext cx="16183967" cy="940435"/>
          </a:xfrm>
        </p:spPr>
        <p:txBody>
          <a:bodyPr/>
          <a:lstStyle/>
          <a:p>
            <a:r>
              <a:rPr lang="en-US" dirty="0"/>
              <a:t>2. Draw a flow chart to find greatest among two.</a:t>
            </a:r>
          </a:p>
        </p:txBody>
      </p:sp>
      <p:pic>
        <p:nvPicPr>
          <p:cNvPr id="5" name="Picture 4">
            <a:extLst>
              <a:ext uri="{FF2B5EF4-FFF2-40B4-BE49-F238E27FC236}">
                <a16:creationId xmlns:a16="http://schemas.microsoft.com/office/drawing/2014/main" id="{7B7317DB-1FAD-E472-AD2E-8F946143F4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5016" y="1645179"/>
            <a:ext cx="13917967" cy="8497486"/>
          </a:xfrm>
          <a:prstGeom prst="rect">
            <a:avLst/>
          </a:prstGeom>
        </p:spPr>
      </p:pic>
    </p:spTree>
    <p:extLst>
      <p:ext uri="{BB962C8B-B14F-4D97-AF65-F5344CB8AC3E}">
        <p14:creationId xmlns:p14="http://schemas.microsoft.com/office/powerpoint/2010/main" val="209063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683F-B1CF-D53F-3D85-AE7EF5797236}"/>
              </a:ext>
            </a:extLst>
          </p:cNvPr>
          <p:cNvSpPr>
            <a:spLocks noGrp="1"/>
          </p:cNvSpPr>
          <p:nvPr>
            <p:ph type="title"/>
          </p:nvPr>
        </p:nvSpPr>
        <p:spPr>
          <a:xfrm>
            <a:off x="381000" y="419100"/>
            <a:ext cx="16183967" cy="940435"/>
          </a:xfrm>
        </p:spPr>
        <p:txBody>
          <a:bodyPr/>
          <a:lstStyle/>
          <a:p>
            <a:r>
              <a:rPr lang="en-US" dirty="0"/>
              <a:t>3. Draw a flowchart to find simple interest.</a:t>
            </a:r>
          </a:p>
        </p:txBody>
      </p:sp>
      <p:pic>
        <p:nvPicPr>
          <p:cNvPr id="5" name="Picture 4">
            <a:extLst>
              <a:ext uri="{FF2B5EF4-FFF2-40B4-BE49-F238E27FC236}">
                <a16:creationId xmlns:a16="http://schemas.microsoft.com/office/drawing/2014/main" id="{D469C6E0-491D-33A6-038F-4AF1FBE0A5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76800" y="1790700"/>
            <a:ext cx="6777537" cy="8230511"/>
          </a:xfrm>
          <a:prstGeom prst="rect">
            <a:avLst/>
          </a:prstGeom>
        </p:spPr>
      </p:pic>
    </p:spTree>
    <p:extLst>
      <p:ext uri="{BB962C8B-B14F-4D97-AF65-F5344CB8AC3E}">
        <p14:creationId xmlns:p14="http://schemas.microsoft.com/office/powerpoint/2010/main" val="3925869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28EB8-A9D6-CEAD-0307-34EAF4A75B4A}"/>
              </a:ext>
            </a:extLst>
          </p:cNvPr>
          <p:cNvSpPr>
            <a:spLocks noGrp="1"/>
          </p:cNvSpPr>
          <p:nvPr>
            <p:ph type="title"/>
          </p:nvPr>
        </p:nvSpPr>
        <p:spPr>
          <a:xfrm>
            <a:off x="457200" y="291553"/>
            <a:ext cx="16183967" cy="1846659"/>
          </a:xfrm>
        </p:spPr>
        <p:txBody>
          <a:bodyPr/>
          <a:lstStyle/>
          <a:p>
            <a:r>
              <a:rPr lang="en-US" dirty="0">
                <a:latin typeface="Algerian" panose="04020705040A02060702" pitchFamily="82" charset="0"/>
              </a:rPr>
              <a:t>4. Draw a flow chart to find the entered number is even or odd.</a:t>
            </a:r>
            <a:endParaRPr lang="en-US" dirty="0"/>
          </a:p>
        </p:txBody>
      </p:sp>
    </p:spTree>
    <p:extLst>
      <p:ext uri="{BB962C8B-B14F-4D97-AF65-F5344CB8AC3E}">
        <p14:creationId xmlns:p14="http://schemas.microsoft.com/office/powerpoint/2010/main" val="42802947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C35D6-DAFE-5580-618C-02E44C33DDA7}"/>
              </a:ext>
            </a:extLst>
          </p:cNvPr>
          <p:cNvSpPr>
            <a:spLocks noGrp="1"/>
          </p:cNvSpPr>
          <p:nvPr>
            <p:ph type="title"/>
          </p:nvPr>
        </p:nvSpPr>
        <p:spPr>
          <a:xfrm>
            <a:off x="533400" y="287148"/>
            <a:ext cx="16183967" cy="940435"/>
          </a:xfrm>
        </p:spPr>
        <p:txBody>
          <a:bodyPr/>
          <a:lstStyle/>
          <a:p>
            <a:r>
              <a:rPr lang="en-US" dirty="0"/>
              <a:t>5. Draw a flowchart to find area of circle.</a:t>
            </a:r>
          </a:p>
        </p:txBody>
      </p:sp>
      <p:pic>
        <p:nvPicPr>
          <p:cNvPr id="5" name="Picture 4">
            <a:extLst>
              <a:ext uri="{FF2B5EF4-FFF2-40B4-BE49-F238E27FC236}">
                <a16:creationId xmlns:a16="http://schemas.microsoft.com/office/drawing/2014/main" id="{9E3EBBBA-70FA-DB1F-DAC7-A75576A8CD9E}"/>
              </a:ext>
            </a:extLst>
          </p:cNvPr>
          <p:cNvPicPr>
            <a:picLocks noChangeAspect="1"/>
          </p:cNvPicPr>
          <p:nvPr/>
        </p:nvPicPr>
        <p:blipFill>
          <a:blip r:embed="rId2">
            <a:extLst>
              <a:ext uri="{28A0092B-C50C-407E-A947-70E740481C1C}">
                <a14:useLocalDpi xmlns:a14="http://schemas.microsoft.com/office/drawing/2010/main" val="0"/>
              </a:ext>
            </a:extLst>
          </a:blip>
          <a:srcRect b="6197"/>
          <a:stretch/>
        </p:blipFill>
        <p:spPr>
          <a:xfrm>
            <a:off x="4648200" y="1261508"/>
            <a:ext cx="6644821" cy="8911191"/>
          </a:xfrm>
          <a:prstGeom prst="rect">
            <a:avLst/>
          </a:prstGeom>
        </p:spPr>
      </p:pic>
    </p:spTree>
    <p:extLst>
      <p:ext uri="{BB962C8B-B14F-4D97-AF65-F5344CB8AC3E}">
        <p14:creationId xmlns:p14="http://schemas.microsoft.com/office/powerpoint/2010/main" val="579087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ABFBE-C2A1-9C8E-0111-9EBD553BCF31}"/>
              </a:ext>
            </a:extLst>
          </p:cNvPr>
          <p:cNvSpPr>
            <a:spLocks noGrp="1"/>
          </p:cNvSpPr>
          <p:nvPr>
            <p:ph type="title"/>
          </p:nvPr>
        </p:nvSpPr>
        <p:spPr>
          <a:xfrm>
            <a:off x="381000" y="274448"/>
            <a:ext cx="16183967" cy="940435"/>
          </a:xfrm>
        </p:spPr>
        <p:txBody>
          <a:bodyPr/>
          <a:lstStyle/>
          <a:p>
            <a:r>
              <a:rPr lang="en-US" dirty="0">
                <a:latin typeface="Times New Roman" panose="02020603050405020304" pitchFamily="18" charset="0"/>
                <a:cs typeface="Times New Roman" panose="02020603050405020304" pitchFamily="18" charset="0"/>
              </a:rPr>
              <a:t>Advantages of flowchart</a:t>
            </a:r>
          </a:p>
        </p:txBody>
      </p:sp>
      <p:sp>
        <p:nvSpPr>
          <p:cNvPr id="3" name="Text Placeholder 2">
            <a:extLst>
              <a:ext uri="{FF2B5EF4-FFF2-40B4-BE49-F238E27FC236}">
                <a16:creationId xmlns:a16="http://schemas.microsoft.com/office/drawing/2014/main" id="{83116AF4-FCA5-619C-287C-EEE82B07534F}"/>
              </a:ext>
            </a:extLst>
          </p:cNvPr>
          <p:cNvSpPr>
            <a:spLocks noGrp="1"/>
          </p:cNvSpPr>
          <p:nvPr>
            <p:ph type="body" idx="1"/>
          </p:nvPr>
        </p:nvSpPr>
        <p:spPr>
          <a:xfrm>
            <a:off x="190500" y="1252983"/>
            <a:ext cx="17907000" cy="8602355"/>
          </a:xfrm>
        </p:spPr>
        <p:txBody>
          <a:bodyPr/>
          <a:lstStyle/>
          <a:p>
            <a:pPr marL="685800" indent="-685800">
              <a:buFontTx/>
              <a:buChar char="-"/>
            </a:pPr>
            <a:r>
              <a:rPr lang="en-US" dirty="0">
                <a:solidFill>
                  <a:srgbClr val="92D050"/>
                </a:solidFill>
                <a:latin typeface="Times New Roman" panose="02020603050405020304" pitchFamily="18" charset="0"/>
                <a:cs typeface="Times New Roman" panose="02020603050405020304" pitchFamily="18" charset="0"/>
              </a:rPr>
              <a:t>Improved Understanding:- </a:t>
            </a:r>
            <a:r>
              <a:rPr lang="en-US" dirty="0">
                <a:latin typeface="Times New Roman" panose="02020603050405020304" pitchFamily="18" charset="0"/>
                <a:cs typeface="Times New Roman" panose="02020603050405020304" pitchFamily="18" charset="0"/>
              </a:rPr>
              <a:t>Flowcharts visually represent processes, making complex workflows easy to understand for both technical and non-technical audiences.</a:t>
            </a:r>
          </a:p>
          <a:p>
            <a:pPr marL="685800" indent="-685800">
              <a:buFontTx/>
              <a:buChar char="-"/>
            </a:pPr>
            <a:r>
              <a:rPr lang="en-US" dirty="0">
                <a:solidFill>
                  <a:srgbClr val="92D050"/>
                </a:solidFill>
                <a:latin typeface="Times New Roman" panose="02020603050405020304" pitchFamily="18" charset="0"/>
                <a:cs typeface="Times New Roman" panose="02020603050405020304" pitchFamily="18" charset="0"/>
              </a:rPr>
              <a:t>Efficient Problem-Solving:- </a:t>
            </a:r>
            <a:r>
              <a:rPr lang="en-US" dirty="0">
                <a:latin typeface="Times New Roman" panose="02020603050405020304" pitchFamily="18" charset="0"/>
                <a:cs typeface="Times New Roman" panose="02020603050405020304" pitchFamily="18" charset="0"/>
              </a:rPr>
              <a:t>By breaking down a process into individual steps, flowcharts help identify errors and solve problem.</a:t>
            </a:r>
          </a:p>
          <a:p>
            <a:pPr marL="685800" indent="-685800">
              <a:buFontTx/>
              <a:buChar char="-"/>
            </a:pPr>
            <a:r>
              <a:rPr lang="en-US" dirty="0">
                <a:solidFill>
                  <a:srgbClr val="92D050"/>
                </a:solidFill>
                <a:latin typeface="Times New Roman" panose="02020603050405020304" pitchFamily="18" charset="0"/>
                <a:cs typeface="Times New Roman" panose="02020603050405020304" pitchFamily="18" charset="0"/>
              </a:rPr>
              <a:t>Easy Modification and Maintenance:- </a:t>
            </a:r>
            <a:r>
              <a:rPr lang="en-US" dirty="0">
                <a:latin typeface="Times New Roman" panose="02020603050405020304" pitchFamily="18" charset="0"/>
                <a:cs typeface="Times New Roman" panose="02020603050405020304" pitchFamily="18" charset="0"/>
              </a:rPr>
              <a:t>Flowcharts allow for easy updates and modifications when processes or requirements change.</a:t>
            </a:r>
          </a:p>
          <a:p>
            <a:r>
              <a:rPr lang="en-US" sz="5400" dirty="0">
                <a:solidFill>
                  <a:srgbClr val="FF9900"/>
                </a:solidFill>
                <a:latin typeface="Times New Roman" panose="02020603050405020304" pitchFamily="18" charset="0"/>
                <a:cs typeface="Times New Roman" panose="02020603050405020304" pitchFamily="18" charset="0"/>
              </a:rPr>
              <a:t>Disadvantages</a:t>
            </a:r>
          </a:p>
          <a:p>
            <a:pPr marL="571500" indent="-571500">
              <a:buFontTx/>
              <a:buChar char="-"/>
            </a:pPr>
            <a:r>
              <a:rPr lang="en-US" sz="4400" dirty="0">
                <a:solidFill>
                  <a:srgbClr val="92D050"/>
                </a:solidFill>
                <a:latin typeface="Times New Roman" panose="02020603050405020304" pitchFamily="18" charset="0"/>
                <a:cs typeface="Times New Roman" panose="02020603050405020304" pitchFamily="18" charset="0"/>
              </a:rPr>
              <a:t>Time-Consuming:- </a:t>
            </a:r>
            <a:r>
              <a:rPr lang="en-US" sz="4400" dirty="0">
                <a:latin typeface="Times New Roman" panose="02020603050405020304" pitchFamily="18" charset="0"/>
                <a:cs typeface="Times New Roman" panose="02020603050405020304" pitchFamily="18" charset="0"/>
              </a:rPr>
              <a:t>Designing detailed and accurate flowcharts, especially for complex systems or processes</a:t>
            </a:r>
            <a:r>
              <a:rPr lang="en-US" sz="4400" dirty="0">
                <a:solidFill>
                  <a:srgbClr val="FF9900"/>
                </a:solidFill>
                <a:latin typeface="Times New Roman" panose="02020603050405020304" pitchFamily="18" charset="0"/>
                <a:cs typeface="Times New Roman" panose="02020603050405020304" pitchFamily="18" charset="0"/>
              </a:rPr>
              <a:t>.</a:t>
            </a:r>
          </a:p>
          <a:p>
            <a:pPr marL="571500" indent="-571500">
              <a:buFontTx/>
              <a:buChar char="-"/>
            </a:pPr>
            <a:r>
              <a:rPr lang="en-US" sz="4800" dirty="0">
                <a:solidFill>
                  <a:srgbClr val="92D050"/>
                </a:solidFill>
                <a:latin typeface="Times New Roman" panose="02020603050405020304" pitchFamily="18" charset="0"/>
                <a:cs typeface="Times New Roman" panose="02020603050405020304" pitchFamily="18" charset="0"/>
              </a:rPr>
              <a:t>Difficulty in Managing Complex Processes</a:t>
            </a:r>
          </a:p>
          <a:p>
            <a:endParaRPr lang="en-US" sz="5400" dirty="0">
              <a:solidFill>
                <a:srgbClr val="FF99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9009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B90D3-B345-5669-EEEF-6E7DEB0688B9}"/>
              </a:ext>
            </a:extLst>
          </p:cNvPr>
          <p:cNvSpPr>
            <a:spLocks noGrp="1"/>
          </p:cNvSpPr>
          <p:nvPr>
            <p:ph type="title"/>
          </p:nvPr>
        </p:nvSpPr>
        <p:spPr>
          <a:xfrm>
            <a:off x="228600" y="114300"/>
            <a:ext cx="16183967" cy="738664"/>
          </a:xfrm>
        </p:spPr>
        <p:txBody>
          <a:bodyPr/>
          <a:lstStyle/>
          <a:p>
            <a:r>
              <a:rPr lang="en-US" sz="4800" dirty="0"/>
              <a:t>3. Decision Table</a:t>
            </a:r>
          </a:p>
        </p:txBody>
      </p:sp>
      <p:sp>
        <p:nvSpPr>
          <p:cNvPr id="3" name="Text Placeholder 2">
            <a:extLst>
              <a:ext uri="{FF2B5EF4-FFF2-40B4-BE49-F238E27FC236}">
                <a16:creationId xmlns:a16="http://schemas.microsoft.com/office/drawing/2014/main" id="{E0008988-ED61-9137-F422-2FC80D3A309B}"/>
              </a:ext>
            </a:extLst>
          </p:cNvPr>
          <p:cNvSpPr>
            <a:spLocks noGrp="1"/>
          </p:cNvSpPr>
          <p:nvPr>
            <p:ph type="body" idx="1"/>
          </p:nvPr>
        </p:nvSpPr>
        <p:spPr>
          <a:xfrm>
            <a:off x="193589" y="937860"/>
            <a:ext cx="17526000" cy="2708434"/>
          </a:xfrm>
        </p:spPr>
        <p:txBody>
          <a:bodyPr/>
          <a:lstStyle/>
          <a:p>
            <a:pPr marL="685800" indent="-685800">
              <a:buFontTx/>
              <a:buChar char="-"/>
            </a:pPr>
            <a:r>
              <a:rPr lang="en-US" sz="4400" dirty="0">
                <a:latin typeface="Times New Roman" panose="02020603050405020304" pitchFamily="18" charset="0"/>
                <a:cs typeface="Times New Roman" panose="02020603050405020304" pitchFamily="18" charset="0"/>
              </a:rPr>
              <a:t>It is a tabular method used to represent and analyze complex decision-making processes, particularly used in systems design.</a:t>
            </a:r>
          </a:p>
          <a:p>
            <a:pPr marL="685800" indent="-685800">
              <a:buFontTx/>
              <a:buChar char="-"/>
            </a:pPr>
            <a:r>
              <a:rPr lang="en-US" sz="4400" dirty="0">
                <a:latin typeface="Times New Roman" panose="02020603050405020304" pitchFamily="18" charset="0"/>
                <a:cs typeface="Times New Roman" panose="02020603050405020304" pitchFamily="18" charset="0"/>
              </a:rPr>
              <a:t>It provides a structured framework to list all possible conditions and corresponding actions to ensure complete coverage of all scenarios.</a:t>
            </a:r>
          </a:p>
        </p:txBody>
      </p:sp>
      <p:pic>
        <p:nvPicPr>
          <p:cNvPr id="5" name="Picture 4">
            <a:extLst>
              <a:ext uri="{FF2B5EF4-FFF2-40B4-BE49-F238E27FC236}">
                <a16:creationId xmlns:a16="http://schemas.microsoft.com/office/drawing/2014/main" id="{FC49A885-F7E7-F0B6-1B10-2EB2105E9D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4038730"/>
            <a:ext cx="8609158" cy="5936672"/>
          </a:xfrm>
          <a:prstGeom prst="rect">
            <a:avLst/>
          </a:prstGeom>
        </p:spPr>
      </p:pic>
      <p:sp>
        <p:nvSpPr>
          <p:cNvPr id="6" name="TextBox 5">
            <a:extLst>
              <a:ext uri="{FF2B5EF4-FFF2-40B4-BE49-F238E27FC236}">
                <a16:creationId xmlns:a16="http://schemas.microsoft.com/office/drawing/2014/main" id="{6B19BBFB-F397-C3CA-6EE8-783ED536DBA3}"/>
              </a:ext>
            </a:extLst>
          </p:cNvPr>
          <p:cNvSpPr txBox="1"/>
          <p:nvPr/>
        </p:nvSpPr>
        <p:spPr>
          <a:xfrm>
            <a:off x="10709189" y="4744908"/>
            <a:ext cx="7578811" cy="4524315"/>
          </a:xfrm>
          <a:prstGeom prst="rect">
            <a:avLst/>
          </a:prstGeom>
          <a:noFill/>
        </p:spPr>
        <p:txBody>
          <a:bodyPr wrap="square" rtlCol="0">
            <a:spAutoFit/>
          </a:bodyPr>
          <a:lstStyle/>
          <a:p>
            <a:r>
              <a:rPr lang="en-US" sz="4800" b="1" dirty="0">
                <a:solidFill>
                  <a:srgbClr val="92D050"/>
                </a:solidFill>
                <a:latin typeface="Times New Roman" panose="02020603050405020304" pitchFamily="18" charset="0"/>
                <a:cs typeface="Times New Roman" panose="02020603050405020304" pitchFamily="18" charset="0"/>
              </a:rPr>
              <a:t>Decision Tree</a:t>
            </a:r>
          </a:p>
          <a:p>
            <a:pPr marL="685800" indent="-685800">
              <a:buFont typeface="Arial" panose="020B0604020202020204" pitchFamily="34" charset="0"/>
              <a:buChar char="•"/>
            </a:pPr>
            <a:r>
              <a:rPr lang="en-US" sz="4800" dirty="0">
                <a:solidFill>
                  <a:schemeClr val="bg1"/>
                </a:solidFill>
              </a:rPr>
              <a:t>It is a decision support tool that uses a tree like graph or model of decisions and their possible consequences.</a:t>
            </a:r>
            <a:endParaRPr lang="en-US" sz="4400" dirty="0">
              <a:solidFill>
                <a:schemeClr val="bg1"/>
              </a:solidFill>
            </a:endParaRPr>
          </a:p>
        </p:txBody>
      </p:sp>
    </p:spTree>
    <p:extLst>
      <p:ext uri="{BB962C8B-B14F-4D97-AF65-F5344CB8AC3E}">
        <p14:creationId xmlns:p14="http://schemas.microsoft.com/office/powerpoint/2010/main" val="25541415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EEA4B30-E851-5A5A-8113-B9C778DC31B0}"/>
              </a:ext>
            </a:extLst>
          </p:cNvPr>
          <p:cNvSpPr>
            <a:spLocks noGrp="1"/>
          </p:cNvSpPr>
          <p:nvPr>
            <p:ph type="body" idx="1"/>
          </p:nvPr>
        </p:nvSpPr>
        <p:spPr>
          <a:xfrm>
            <a:off x="381000" y="190500"/>
            <a:ext cx="17754600" cy="1538883"/>
          </a:xfrm>
        </p:spPr>
        <p:txBody>
          <a:bodyPr/>
          <a:lstStyle/>
          <a:p>
            <a:r>
              <a:rPr lang="en-US" sz="3600" dirty="0">
                <a:solidFill>
                  <a:srgbClr val="92D050"/>
                </a:solidFill>
                <a:latin typeface="Times New Roman" panose="02020603050405020304" pitchFamily="18" charset="0"/>
                <a:cs typeface="Times New Roman" panose="02020603050405020304" pitchFamily="18" charset="0"/>
              </a:rPr>
              <a:t>QN1-</a:t>
            </a:r>
            <a:r>
              <a:rPr lang="en-US" sz="3600" dirty="0">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Create a decision table for the following conditions and actions. a) Old customer shopping &gt;10k ,10% discount b) Old customer shopping less &lt;10k , 5% discount. c) New customer shopping&gt; 10k, 3% discount d) New customer shopping &lt;10 k ,0%discount.</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4149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A5CDB5-D822-3940-7B60-E46779A78F79}"/>
              </a:ext>
            </a:extLst>
          </p:cNvPr>
          <p:cNvSpPr>
            <a:spLocks noGrp="1"/>
          </p:cNvSpPr>
          <p:nvPr>
            <p:ph type="body" idx="1"/>
          </p:nvPr>
        </p:nvSpPr>
        <p:spPr>
          <a:xfrm>
            <a:off x="152400" y="114300"/>
            <a:ext cx="17983200" cy="1969770"/>
          </a:xfrm>
        </p:spPr>
        <p:txBody>
          <a:bodyPr/>
          <a:lstStyle/>
          <a:p>
            <a:r>
              <a:rPr lang="en-US" sz="3200" dirty="0">
                <a:solidFill>
                  <a:srgbClr val="92D050"/>
                </a:solidFill>
                <a:latin typeface="Times New Roman" panose="02020603050405020304" pitchFamily="18" charset="0"/>
                <a:cs typeface="Times New Roman" panose="02020603050405020304" pitchFamily="18" charset="0"/>
              </a:rPr>
              <a:t>QN-2</a:t>
            </a:r>
            <a:r>
              <a:rPr lang="en-US" sz="3200" dirty="0">
                <a:latin typeface="Times New Roman" panose="02020603050405020304" pitchFamily="18" charset="0"/>
                <a:cs typeface="Times New Roman" panose="02020603050405020304" pitchFamily="18" charset="0"/>
              </a:rPr>
              <a:t> "Construct a decision </a:t>
            </a:r>
            <a:r>
              <a:rPr lang="en-US" sz="2800" dirty="0">
                <a:latin typeface="Times New Roman" panose="02020603050405020304" pitchFamily="18" charset="0"/>
                <a:cs typeface="Times New Roman" panose="02020603050405020304" pitchFamily="18" charset="0"/>
              </a:rPr>
              <a:t>table to describe the organizational salary increment based on the following conditions:</a:t>
            </a:r>
          </a:p>
          <a:p>
            <a:pPr>
              <a:buFont typeface="+mj-lt"/>
              <a:buAutoNum type="arabicPeriod"/>
            </a:pPr>
            <a:r>
              <a:rPr lang="en-US" sz="3200" dirty="0">
                <a:latin typeface="Times New Roman" panose="02020603050405020304" pitchFamily="18" charset="0"/>
                <a:cs typeface="Times New Roman" panose="02020603050405020304" pitchFamily="18" charset="0"/>
              </a:rPr>
              <a:t> Employees with a salary of 50,000 or more will receive no increment. 2. Employees with a salary between 30,000 and 50,000 will receive a 10% increment. 3. Employees with a salary of less than 30,000 will receive a 15% increment.</a:t>
            </a:r>
          </a:p>
        </p:txBody>
      </p:sp>
    </p:spTree>
    <p:extLst>
      <p:ext uri="{BB962C8B-B14F-4D97-AF65-F5344CB8AC3E}">
        <p14:creationId xmlns:p14="http://schemas.microsoft.com/office/powerpoint/2010/main" val="30014180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1286DA7-C514-1A5E-3659-2DFE8C48AD08}"/>
              </a:ext>
            </a:extLst>
          </p:cNvPr>
          <p:cNvSpPr>
            <a:spLocks noGrp="1"/>
          </p:cNvSpPr>
          <p:nvPr>
            <p:ph type="body" idx="1"/>
          </p:nvPr>
        </p:nvSpPr>
        <p:spPr>
          <a:xfrm>
            <a:off x="152400" y="190500"/>
            <a:ext cx="18211800" cy="3447098"/>
          </a:xfrm>
        </p:spPr>
        <p:txBody>
          <a:bodyPr/>
          <a:lstStyle/>
          <a:p>
            <a:r>
              <a:rPr lang="en-US" sz="3200" dirty="0">
                <a:solidFill>
                  <a:srgbClr val="92D050"/>
                </a:solidFill>
                <a:latin typeface="Times New Roman" panose="02020603050405020304" pitchFamily="18" charset="0"/>
                <a:cs typeface="Times New Roman" panose="02020603050405020304" pitchFamily="18" charset="0"/>
              </a:rPr>
              <a:t>QN-3</a:t>
            </a:r>
            <a:r>
              <a:rPr lang="en-US" sz="3200" dirty="0">
                <a:latin typeface="Times New Roman" panose="02020603050405020304" pitchFamily="18" charset="0"/>
                <a:cs typeface="Times New Roman" panose="02020603050405020304" pitchFamily="18" charset="0"/>
              </a:rPr>
              <a:t> "Create a decision table to describe the servicing of a car based on the following conditions:</a:t>
            </a:r>
          </a:p>
          <a:p>
            <a:r>
              <a:rPr lang="en-US" sz="3200" dirty="0">
                <a:latin typeface="Times New Roman" panose="02020603050405020304" pitchFamily="18" charset="0"/>
                <a:cs typeface="Times New Roman" panose="02020603050405020304" pitchFamily="18" charset="0"/>
              </a:rPr>
              <a:t>a) Is petrol low? b) Is oil low?</a:t>
            </a:r>
          </a:p>
          <a:p>
            <a:r>
              <a:rPr lang="en-US" sz="3200" dirty="0">
                <a:latin typeface="Times New Roman" panose="02020603050405020304" pitchFamily="18" charset="0"/>
                <a:cs typeface="Times New Roman" panose="02020603050405020304" pitchFamily="18" charset="0"/>
              </a:rPr>
              <a:t>The decision table should account for the four possible combinations of these conditions and specify the corresponding actions:</a:t>
            </a:r>
          </a:p>
          <a:p>
            <a:r>
              <a:rPr lang="en-US" sz="3200" dirty="0">
                <a:latin typeface="Times New Roman" panose="02020603050405020304" pitchFamily="18" charset="0"/>
                <a:cs typeface="Times New Roman" panose="02020603050405020304" pitchFamily="18" charset="0"/>
              </a:rPr>
              <a:t>a) Both petrol and oil are low → Get both petrol and oil.</a:t>
            </a:r>
          </a:p>
          <a:p>
            <a:r>
              <a:rPr lang="en-US" sz="3200" dirty="0">
                <a:latin typeface="Times New Roman" panose="02020603050405020304" pitchFamily="18" charset="0"/>
                <a:cs typeface="Times New Roman" panose="02020603050405020304" pitchFamily="18" charset="0"/>
              </a:rPr>
              <a:t>b) Only petrol is low → Get petrol only. c) Only oil is low → Get oil only.</a:t>
            </a:r>
          </a:p>
          <a:p>
            <a:r>
              <a:rPr lang="en-US" sz="3200" dirty="0">
                <a:latin typeface="Times New Roman" panose="02020603050405020304" pitchFamily="18" charset="0"/>
                <a:cs typeface="Times New Roman" panose="02020603050405020304" pitchFamily="18" charset="0"/>
              </a:rPr>
              <a:t>d) Neither is low → Do not get anything.</a:t>
            </a:r>
          </a:p>
        </p:txBody>
      </p:sp>
    </p:spTree>
    <p:extLst>
      <p:ext uri="{BB962C8B-B14F-4D97-AF65-F5344CB8AC3E}">
        <p14:creationId xmlns:p14="http://schemas.microsoft.com/office/powerpoint/2010/main" val="16357080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F6BCC8-1750-5FEE-6342-7AB3F5170AD6}"/>
              </a:ext>
            </a:extLst>
          </p:cNvPr>
          <p:cNvSpPr>
            <a:spLocks noGrp="1"/>
          </p:cNvSpPr>
          <p:nvPr>
            <p:ph type="body" idx="1"/>
          </p:nvPr>
        </p:nvSpPr>
        <p:spPr>
          <a:xfrm>
            <a:off x="304800" y="342900"/>
            <a:ext cx="17068800" cy="2954655"/>
          </a:xfrm>
        </p:spPr>
        <p:txBody>
          <a:bodyPr/>
          <a:lstStyle/>
          <a:p>
            <a:r>
              <a:rPr lang="en-US" sz="2400" dirty="0">
                <a:solidFill>
                  <a:srgbClr val="92D050"/>
                </a:solidFill>
                <a:latin typeface="Times New Roman" panose="02020603050405020304" pitchFamily="18" charset="0"/>
                <a:cs typeface="Times New Roman" panose="02020603050405020304" pitchFamily="18" charset="0"/>
              </a:rPr>
              <a:t>QN-4</a:t>
            </a:r>
            <a:r>
              <a:rPr lang="en-US" sz="2400" dirty="0">
                <a:latin typeface="Times New Roman" panose="02020603050405020304" pitchFamily="18" charset="0"/>
                <a:cs typeface="Times New Roman" panose="02020603050405020304" pitchFamily="18" charset="0"/>
              </a:rPr>
              <a:t> Create a decision table to determine the eligibility of students for a scholarship based on their academic performance and financial need. Consider the following conditions:</a:t>
            </a:r>
          </a:p>
          <a:p>
            <a:pPr marL="914400" indent="-914400">
              <a:buAutoNum type="arabicParenR"/>
            </a:pPr>
            <a:r>
              <a:rPr lang="en-US" sz="2400" dirty="0">
                <a:latin typeface="Times New Roman" panose="02020603050405020304" pitchFamily="18" charset="0"/>
                <a:cs typeface="Times New Roman" panose="02020603050405020304" pitchFamily="18" charset="0"/>
              </a:rPr>
              <a:t>GPA&gt;=3.70 and annual family income is low(&lt;$30,000) provides 100% scholarship.</a:t>
            </a:r>
          </a:p>
          <a:p>
            <a:pPr marL="914400" indent="-914400">
              <a:buAutoNum type="arabicParenR"/>
            </a:pPr>
            <a:r>
              <a:rPr lang="en-US" sz="2400" dirty="0">
                <a:latin typeface="Times New Roman" panose="02020603050405020304" pitchFamily="18" charset="0"/>
                <a:cs typeface="Times New Roman" panose="02020603050405020304" pitchFamily="18" charset="0"/>
              </a:rPr>
              <a:t>GPA&gt;=3.70 and annual family income is Moderate($30,00- $60,000) provides 75% scholarship.</a:t>
            </a:r>
          </a:p>
          <a:p>
            <a:pPr marL="914400" indent="-914400">
              <a:buAutoNum type="arabicParenR"/>
            </a:pPr>
            <a:r>
              <a:rPr lang="en-US" sz="2400" dirty="0">
                <a:latin typeface="Times New Roman" panose="02020603050405020304" pitchFamily="18" charset="0"/>
                <a:cs typeface="Times New Roman" panose="02020603050405020304" pitchFamily="18" charset="0"/>
              </a:rPr>
              <a:t>GPA&gt;=3.70 and annual family income is high (&gt;$60,000) provides 50% scholarship.</a:t>
            </a:r>
          </a:p>
          <a:p>
            <a:pPr marL="914400" indent="-914400">
              <a:buAutoNum type="arabicParenR"/>
            </a:pPr>
            <a:r>
              <a:rPr lang="en-US" sz="2400" dirty="0">
                <a:latin typeface="Times New Roman" panose="02020603050405020304" pitchFamily="18" charset="0"/>
                <a:cs typeface="Times New Roman" panose="02020603050405020304" pitchFamily="18" charset="0"/>
              </a:rPr>
              <a:t>GPA&gt;=3.50 and annual family income is low (&lt;$30,000) provides 75% scholarship.</a:t>
            </a:r>
          </a:p>
          <a:p>
            <a:pPr marL="914400" indent="-914400">
              <a:buFontTx/>
              <a:buAutoNum type="arabicParenR"/>
            </a:pPr>
            <a:r>
              <a:rPr lang="en-US" sz="2400" dirty="0">
                <a:latin typeface="Times New Roman" panose="02020603050405020304" pitchFamily="18" charset="0"/>
                <a:cs typeface="Times New Roman" panose="02020603050405020304" pitchFamily="18" charset="0"/>
              </a:rPr>
              <a:t>GPA&gt;=3.50 and annual family income is moderate ($30,00- $60,000) provides 50% scholarship.</a:t>
            </a:r>
          </a:p>
          <a:p>
            <a:pPr marL="914400" indent="-914400">
              <a:buFontTx/>
              <a:buAutoNum type="arabicParenR"/>
            </a:pPr>
            <a:r>
              <a:rPr lang="en-US" sz="2400" dirty="0">
                <a:latin typeface="Times New Roman" panose="02020603050405020304" pitchFamily="18" charset="0"/>
                <a:cs typeface="Times New Roman" panose="02020603050405020304" pitchFamily="18" charset="0"/>
              </a:rPr>
              <a:t>For other cases there is no scholarship.</a:t>
            </a:r>
          </a:p>
        </p:txBody>
      </p:sp>
    </p:spTree>
    <p:extLst>
      <p:ext uri="{BB962C8B-B14F-4D97-AF65-F5344CB8AC3E}">
        <p14:creationId xmlns:p14="http://schemas.microsoft.com/office/powerpoint/2010/main" val="28152487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7340D9-61B0-B1BD-6431-4EC868B0F223}"/>
              </a:ext>
            </a:extLst>
          </p:cNvPr>
          <p:cNvSpPr>
            <a:spLocks noGrp="1"/>
          </p:cNvSpPr>
          <p:nvPr>
            <p:ph type="body" idx="1"/>
          </p:nvPr>
        </p:nvSpPr>
        <p:spPr>
          <a:xfrm>
            <a:off x="190500" y="190500"/>
            <a:ext cx="17907000" cy="2954655"/>
          </a:xfrm>
        </p:spPr>
        <p:txBody>
          <a:bodyPr/>
          <a:lstStyle/>
          <a:p>
            <a:r>
              <a:rPr lang="en-US" sz="3200" dirty="0">
                <a:solidFill>
                  <a:srgbClr val="92D050"/>
                </a:solidFill>
                <a:latin typeface="Times New Roman" panose="02020603050405020304" pitchFamily="18" charset="0"/>
                <a:cs typeface="Times New Roman" panose="02020603050405020304" pitchFamily="18" charset="0"/>
              </a:rPr>
              <a:t>QN-5</a:t>
            </a:r>
            <a:r>
              <a:rPr lang="en-US" sz="3200" dirty="0">
                <a:latin typeface="Times New Roman" panose="02020603050405020304" pitchFamily="18" charset="0"/>
                <a:cs typeface="Times New Roman" panose="02020603050405020304" pitchFamily="18" charset="0"/>
              </a:rPr>
              <a:t> "Create a decision table to check the admission criteria for BCA program at Pokhara University based on the following conditions:</a:t>
            </a:r>
          </a:p>
          <a:p>
            <a:r>
              <a:rPr lang="en-US" sz="3200" dirty="0">
                <a:latin typeface="Times New Roman" panose="02020603050405020304" pitchFamily="18" charset="0"/>
                <a:cs typeface="Times New Roman" panose="02020603050405020304" pitchFamily="18" charset="0"/>
              </a:rPr>
              <a:t>a) The applicant must have completed +2 with minimum of 45%, admit the student</a:t>
            </a:r>
          </a:p>
          <a:p>
            <a:r>
              <a:rPr lang="en-US" sz="3200" dirty="0">
                <a:latin typeface="Times New Roman" panose="02020603050405020304" pitchFamily="18" charset="0"/>
                <a:cs typeface="Times New Roman" panose="02020603050405020304" pitchFamily="18" charset="0"/>
              </a:rPr>
              <a:t>b) Should be from science or management, admit the student</a:t>
            </a:r>
          </a:p>
          <a:p>
            <a:r>
              <a:rPr lang="en-US" sz="3200" dirty="0">
                <a:latin typeface="Times New Roman" panose="02020603050405020304" pitchFamily="18" charset="0"/>
                <a:cs typeface="Times New Roman" panose="02020603050405020304" pitchFamily="18" charset="0"/>
              </a:rPr>
              <a:t>c) Has/she should have passed grade 11 but failed in 1 subject in 12(chance exam given), admit with condition</a:t>
            </a:r>
          </a:p>
        </p:txBody>
      </p:sp>
    </p:spTree>
    <p:extLst>
      <p:ext uri="{BB962C8B-B14F-4D97-AF65-F5344CB8AC3E}">
        <p14:creationId xmlns:p14="http://schemas.microsoft.com/office/powerpoint/2010/main" val="29956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A4FB8-05E1-37F3-9288-88B8EAE60951}"/>
              </a:ext>
            </a:extLst>
          </p:cNvPr>
          <p:cNvSpPr>
            <a:spLocks noGrp="1"/>
          </p:cNvSpPr>
          <p:nvPr>
            <p:ph type="title"/>
          </p:nvPr>
        </p:nvSpPr>
        <p:spPr>
          <a:xfrm>
            <a:off x="228600" y="2095500"/>
            <a:ext cx="18592800" cy="3323987"/>
          </a:xfrm>
        </p:spPr>
        <p:txBody>
          <a:bodyPr/>
          <a:lstStyle/>
          <a:p>
            <a:r>
              <a:rPr lang="en-US" sz="7200" dirty="0">
                <a:latin typeface="Algerian" panose="04020705040A02060702" pitchFamily="82" charset="0"/>
              </a:rPr>
              <a:t>                          </a:t>
            </a:r>
            <a:r>
              <a:rPr lang="en-US" sz="5400" dirty="0">
                <a:solidFill>
                  <a:srgbClr val="92D050"/>
                </a:solidFill>
                <a:latin typeface="Algerian" panose="04020705040A02060702" pitchFamily="82" charset="0"/>
              </a:rPr>
              <a:t>assignment</a:t>
            </a:r>
            <a:br>
              <a:rPr lang="en-US" sz="7200" dirty="0">
                <a:latin typeface="Algerian" panose="04020705040A02060702" pitchFamily="82" charset="0"/>
              </a:rPr>
            </a:br>
            <a:r>
              <a:rPr lang="en-US" sz="7200" dirty="0">
                <a:latin typeface="Algerian" panose="04020705040A02060702" pitchFamily="82" charset="0"/>
              </a:rPr>
              <a:t>Write down the major advantages and disadvantages of decision table.</a:t>
            </a:r>
          </a:p>
        </p:txBody>
      </p:sp>
    </p:spTree>
    <p:extLst>
      <p:ext uri="{BB962C8B-B14F-4D97-AF65-F5344CB8AC3E}">
        <p14:creationId xmlns:p14="http://schemas.microsoft.com/office/powerpoint/2010/main" val="99765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442A-0D9A-B748-74EE-C17498DAC7A5}"/>
              </a:ext>
            </a:extLst>
          </p:cNvPr>
          <p:cNvSpPr>
            <a:spLocks noGrp="1"/>
          </p:cNvSpPr>
          <p:nvPr>
            <p:ph type="title"/>
          </p:nvPr>
        </p:nvSpPr>
        <p:spPr>
          <a:xfrm>
            <a:off x="1066800" y="2400300"/>
            <a:ext cx="16840200" cy="2400657"/>
          </a:xfrm>
        </p:spPr>
        <p:txBody>
          <a:bodyPr/>
          <a:lstStyle/>
          <a:p>
            <a:r>
              <a:rPr lang="en-US" sz="4800" dirty="0">
                <a:solidFill>
                  <a:srgbClr val="92D050"/>
                </a:solidFill>
                <a:latin typeface="Algerian" panose="04020705040A02060702" pitchFamily="82" charset="0"/>
              </a:rPr>
              <a:t>Presentation on Program Development Life Cycle </a:t>
            </a:r>
            <a:br>
              <a:rPr lang="en-US" dirty="0">
                <a:latin typeface="Algerian" panose="04020705040A02060702" pitchFamily="82" charset="0"/>
              </a:rPr>
            </a:br>
            <a:r>
              <a:rPr lang="en-US" sz="5400" dirty="0">
                <a:latin typeface="Algerian" panose="04020705040A02060702" pitchFamily="82" charset="0"/>
              </a:rPr>
              <a:t>Roll- no   1-23(Friday)</a:t>
            </a:r>
            <a:br>
              <a:rPr lang="en-US" sz="5400" dirty="0">
                <a:latin typeface="Algerian" panose="04020705040A02060702" pitchFamily="82" charset="0"/>
              </a:rPr>
            </a:br>
            <a:r>
              <a:rPr lang="en-US" sz="5400" dirty="0">
                <a:latin typeface="Algerian" panose="04020705040A02060702" pitchFamily="82" charset="0"/>
              </a:rPr>
              <a:t>Roll-no    24 above(Tuesday)</a:t>
            </a:r>
            <a:endParaRPr lang="en-US" dirty="0">
              <a:latin typeface="Algerian" panose="04020705040A02060702" pitchFamily="82" charset="0"/>
            </a:endParaRPr>
          </a:p>
        </p:txBody>
      </p:sp>
    </p:spTree>
    <p:extLst>
      <p:ext uri="{BB962C8B-B14F-4D97-AF65-F5344CB8AC3E}">
        <p14:creationId xmlns:p14="http://schemas.microsoft.com/office/powerpoint/2010/main" val="296706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90A96-D0B4-E159-B7DD-B79485CBE224}"/>
              </a:ext>
            </a:extLst>
          </p:cNvPr>
          <p:cNvSpPr>
            <a:spLocks noGrp="1"/>
          </p:cNvSpPr>
          <p:nvPr>
            <p:ph type="title"/>
          </p:nvPr>
        </p:nvSpPr>
        <p:spPr>
          <a:xfrm rot="20706293">
            <a:off x="6321055" y="4479724"/>
            <a:ext cx="6567983" cy="923330"/>
          </a:xfrm>
        </p:spPr>
        <p:txBody>
          <a:bodyPr/>
          <a:lstStyle/>
          <a:p>
            <a:r>
              <a:rPr lang="en-US" dirty="0">
                <a:latin typeface="Algerian" panose="04020705040A02060702" pitchFamily="82" charset="0"/>
              </a:rPr>
              <a:t>Thank you..</a:t>
            </a:r>
          </a:p>
        </p:txBody>
      </p:sp>
    </p:spTree>
    <p:extLst>
      <p:ext uri="{BB962C8B-B14F-4D97-AF65-F5344CB8AC3E}">
        <p14:creationId xmlns:p14="http://schemas.microsoft.com/office/powerpoint/2010/main" val="3716460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3454</TotalTime>
  <Words>2805</Words>
  <Application>Microsoft Office PowerPoint</Application>
  <PresentationFormat>Custom</PresentationFormat>
  <Paragraphs>263</Paragraphs>
  <Slides>46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Algerian</vt:lpstr>
      <vt:lpstr>Arial</vt:lpstr>
      <vt:lpstr>Times New Roman</vt:lpstr>
      <vt:lpstr>Wingdings</vt:lpstr>
      <vt:lpstr>Office Theme</vt:lpstr>
      <vt:lpstr>Unit-2    Program/Software Development</vt:lpstr>
      <vt:lpstr>Objectives</vt:lpstr>
      <vt:lpstr>PowerPoint Presentation</vt:lpstr>
      <vt:lpstr># Program and Program Development</vt:lpstr>
      <vt:lpstr>Program Development Life Cycle</vt:lpstr>
      <vt:lpstr>Fig:- Software Development Life Cycle</vt:lpstr>
      <vt:lpstr>1. Problem Identification</vt:lpstr>
      <vt:lpstr>2. Requirement Gathering and Analysis </vt:lpstr>
      <vt:lpstr>PowerPoint Presentation</vt:lpstr>
      <vt:lpstr>                              assignment 1 Define feasibility study, what is its importance in SDLC. Explain its various types in details.</vt:lpstr>
      <vt:lpstr>PowerPoint Presentation</vt:lpstr>
      <vt:lpstr>4. Implementation or Coding</vt:lpstr>
      <vt:lpstr>5. Testing and Data Validation</vt:lpstr>
      <vt:lpstr>PowerPoint Presentation</vt:lpstr>
      <vt:lpstr>PowerPoint Presentation</vt:lpstr>
      <vt:lpstr>6. Deployment</vt:lpstr>
      <vt:lpstr>7. Maintenance and Documentation</vt:lpstr>
      <vt:lpstr>PowerPoint Presentation</vt:lpstr>
      <vt:lpstr>                                       Assignment 2 why testing phase is necessary in SDLC? Write down the major differences between Testing and Debugging.</vt:lpstr>
      <vt:lpstr>                           Assignment:3 Which phase of SDLC is more important in what context of good program design and development? Discuss with logic.</vt:lpstr>
      <vt:lpstr># Program / Software Design Tools</vt:lpstr>
      <vt:lpstr>1. Algorithm  </vt:lpstr>
      <vt:lpstr>1. Write an algorithm to add two numbers entered       by users.</vt:lpstr>
      <vt:lpstr>2. Write an algorithm to calculate the simple       interest.</vt:lpstr>
      <vt:lpstr>PowerPoint Presentation</vt:lpstr>
      <vt:lpstr>4. Write an algorithm to find the greatest among two number.  Step1: START Step2: Create variable a and b Step3: Read two numbers (a, b) Step4: IF a &gt; b THEN              display a is greatest              ELSE              b is greatest Step5: END</vt:lpstr>
      <vt:lpstr>5. Write an algorithm to check the entered number is even or odd.</vt:lpstr>
      <vt:lpstr>6. Write an algorithm to convert Celsius to Fahrenheit.</vt:lpstr>
      <vt:lpstr>Advantages of Algorithm</vt:lpstr>
      <vt:lpstr>2. Flowchart</vt:lpstr>
      <vt:lpstr>The different symbols used in Flowchart are:-</vt:lpstr>
      <vt:lpstr>1. Draw a flowchart to find sum of two numbers</vt:lpstr>
      <vt:lpstr>2. Draw a flow chart to find greatest among two.</vt:lpstr>
      <vt:lpstr>3. Draw a flowchart to find simple interest.</vt:lpstr>
      <vt:lpstr>4. Draw a flow chart to find the entered number is even or odd.</vt:lpstr>
      <vt:lpstr>5. Draw a flowchart to find area of circle.</vt:lpstr>
      <vt:lpstr>Advantages of flowchart</vt:lpstr>
      <vt:lpstr>3. Decision Table</vt:lpstr>
      <vt:lpstr>PowerPoint Presentation</vt:lpstr>
      <vt:lpstr>PowerPoint Presentation</vt:lpstr>
      <vt:lpstr>PowerPoint Presentation</vt:lpstr>
      <vt:lpstr>PowerPoint Presentation</vt:lpstr>
      <vt:lpstr>PowerPoint Presentation</vt:lpstr>
      <vt:lpstr>                          assignment Write down the major advantages and disadvantages of decision table.</vt:lpstr>
      <vt:lpstr>Presentation on Program Development Life Cycle  Roll- no   1-23(Friday) Roll-no    24 above(Tuesday)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HTML Notes</dc:title>
  <dc:creator>Rahul Neha</dc:creator>
  <cp:keywords>DAE7tLMHmE8,BAEHDsZUYOI</cp:keywords>
  <cp:lastModifiedBy>ZIWIN ZOCE</cp:lastModifiedBy>
  <cp:revision>71</cp:revision>
  <dcterms:created xsi:type="dcterms:W3CDTF">2024-03-13T03:05:10Z</dcterms:created>
  <dcterms:modified xsi:type="dcterms:W3CDTF">2024-12-25T14:48:24Z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2022-03-22T00:00:00Z</vt:filetime>
  </property>
  <property fmtid="{D5CDD505-2E9C-101B-9397-08002B2CF9AE}" pid="3" name="Creator">
    <vt:lpwstr>Canva</vt:lpwstr>
  </property>
  <property fmtid="{D5CDD505-2E9C-101B-9397-08002B2CF9AE}" pid="4" name="LastSaved">
    <vt:filetime>2024-03-13T00:00:00Z</vt:filetime>
  </property>
  <property fmtid="{D5CDD505-2E9C-101B-9397-08002B2CF9AE}" pid="5" name="Producer">
    <vt:lpwstr>3-Heights(TM) PDF Security Shell 4.8.25.2 (http://www.pdf-tools.com)</vt:lpwstr>
  </property>
</Properties>
</file>