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8" r:id="rId3"/>
    <p:sldId id="259" r:id="rId4"/>
    <p:sldId id="295" r:id="rId5"/>
    <p:sldId id="260" r:id="rId6"/>
    <p:sldId id="261" r:id="rId7"/>
    <p:sldId id="296" r:id="rId8"/>
    <p:sldId id="262" r:id="rId9"/>
    <p:sldId id="263" r:id="rId10"/>
    <p:sldId id="297" r:id="rId11"/>
    <p:sldId id="298" r:id="rId12"/>
    <p:sldId id="299" r:id="rId13"/>
    <p:sldId id="300" r:id="rId14"/>
    <p:sldId id="267" r:id="rId15"/>
    <p:sldId id="268" r:id="rId16"/>
    <p:sldId id="270" r:id="rId17"/>
    <p:sldId id="303" r:id="rId18"/>
    <p:sldId id="302" r:id="rId19"/>
    <p:sldId id="304" r:id="rId20"/>
    <p:sldId id="305" r:id="rId21"/>
    <p:sldId id="306" r:id="rId22"/>
    <p:sldId id="291" r:id="rId23"/>
    <p:sldId id="313" r:id="rId24"/>
    <p:sldId id="315" r:id="rId25"/>
    <p:sldId id="316" r:id="rId26"/>
    <p:sldId id="317" r:id="rId27"/>
    <p:sldId id="320" r:id="rId28"/>
    <p:sldId id="328" r:id="rId29"/>
    <p:sldId id="326" r:id="rId30"/>
    <p:sldId id="319" r:id="rId31"/>
    <p:sldId id="322" r:id="rId32"/>
    <p:sldId id="323" r:id="rId33"/>
    <p:sldId id="327" r:id="rId34"/>
    <p:sldId id="325" r:id="rId35"/>
    <p:sldId id="3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7" d="100"/>
          <a:sy n="77" d="100"/>
        </p:scale>
        <p:origin x="-366"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688350-1EF7-4A35-A998-7F08A70A19C1}" type="datetimeFigureOut">
              <a:rPr lang="en-US" smtClean="0"/>
              <a:t>12/25/2024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A2BC3-F7E5-4F2D-AC20-93CDB2E6ED1E}" type="slidenum">
              <a:rPr lang="en-US" smtClean="0"/>
              <a:t>‹#›</a:t>
            </a:fld>
            <a:endParaRPr lang="en-US"/>
          </a:p>
        </p:txBody>
      </p:sp>
    </p:spTree>
    <p:extLst>
      <p:ext uri="{BB962C8B-B14F-4D97-AF65-F5344CB8AC3E}">
        <p14:creationId xmlns:p14="http://schemas.microsoft.com/office/powerpoint/2010/main" val="2219354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796181A-CEC0-4A68-AC7C-31F128F71776}" type="datetime1">
              <a:rPr lang="en-US" smtClean="0"/>
              <a:t>12/25/2024</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4007617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909823-F266-49ED-BE8B-A7BD25529667}" type="datetime1">
              <a:rPr lang="en-US" smtClean="0"/>
              <a:t>12/25/2024</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3217056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83E2C5-441B-4B3F-BADC-2A20FD269866}" type="datetime1">
              <a:rPr lang="en-US" smtClean="0"/>
              <a:t>12/25/2024</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1815147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4FBA57-D491-4FB8-A41A-BDCBA61BA009}" type="datetime1">
              <a:rPr lang="en-US" smtClean="0"/>
              <a:t>12/25/2024</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354252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108643F-4148-4D2C-807E-31C8EF05692E}" type="datetime1">
              <a:rPr lang="en-US" smtClean="0"/>
              <a:t>12/25/2024</a:t>
            </a:fld>
            <a:endParaRPr lang="en-US"/>
          </a:p>
        </p:txBody>
      </p:sp>
      <p:sp>
        <p:nvSpPr>
          <p:cNvPr id="8" name="Footer Placeholder 7"/>
          <p:cNvSpPr>
            <a:spLocks noGrp="1"/>
          </p:cNvSpPr>
          <p:nvPr>
            <p:ph type="ftr" sz="quarter" idx="11"/>
          </p:nvPr>
        </p:nvSpPr>
        <p:spPr/>
        <p:txBody>
          <a:bodyPr/>
          <a:lstStyle/>
          <a:p>
            <a:r>
              <a:rPr lang="en-US"/>
              <a:t>mnrmaniram12@gmail.com</a:t>
            </a:r>
          </a:p>
        </p:txBody>
      </p:sp>
      <p:sp>
        <p:nvSpPr>
          <p:cNvPr id="9" name="Slide Number Placeholder 8"/>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1713366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0B4C27-3438-494E-A12B-36A76C26AE93}" type="datetime1">
              <a:rPr lang="en-US" smtClean="0"/>
              <a:t>12/25/2024</a:t>
            </a:fld>
            <a:endParaRPr lang="en-US"/>
          </a:p>
        </p:txBody>
      </p:sp>
      <p:sp>
        <p:nvSpPr>
          <p:cNvPr id="4" name="Footer Placeholder 3"/>
          <p:cNvSpPr>
            <a:spLocks noGrp="1"/>
          </p:cNvSpPr>
          <p:nvPr>
            <p:ph type="ftr" sz="quarter" idx="11"/>
          </p:nvPr>
        </p:nvSpPr>
        <p:spPr/>
        <p:txBody>
          <a:bodyPr/>
          <a:lstStyle/>
          <a:p>
            <a:r>
              <a:rPr lang="en-US"/>
              <a:t>mnrmaniram12@gmail.com</a:t>
            </a:r>
          </a:p>
        </p:txBody>
      </p:sp>
      <p:sp>
        <p:nvSpPr>
          <p:cNvPr id="5" name="Slide Number Placeholder 4"/>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2252041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1D5CC-DD89-4FD0-B563-610DCC92667E}" type="datetime1">
              <a:rPr lang="en-US" smtClean="0"/>
              <a:t>12/25/2024</a:t>
            </a:fld>
            <a:endParaRPr lang="en-US"/>
          </a:p>
        </p:txBody>
      </p:sp>
      <p:sp>
        <p:nvSpPr>
          <p:cNvPr id="3" name="Footer Placeholder 2"/>
          <p:cNvSpPr>
            <a:spLocks noGrp="1"/>
          </p:cNvSpPr>
          <p:nvPr>
            <p:ph type="ftr" sz="quarter" idx="11"/>
          </p:nvPr>
        </p:nvSpPr>
        <p:spPr/>
        <p:txBody>
          <a:bodyPr/>
          <a:lstStyle/>
          <a:p>
            <a:r>
              <a:rPr lang="en-US"/>
              <a:t>mnrmaniram12@gmail.com</a:t>
            </a:r>
          </a:p>
        </p:txBody>
      </p:sp>
      <p:sp>
        <p:nvSpPr>
          <p:cNvPr id="4" name="Slide Number Placeholder 3"/>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516797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B6F8C2-FE89-4588-97C8-C08E5BECC00D}" type="datetime1">
              <a:rPr lang="en-US" smtClean="0"/>
              <a:t>12/25/2024</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2853578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BC9CBC9-CC79-4A2C-B355-193752A1F931}" type="datetime1">
              <a:rPr lang="en-US" smtClean="0"/>
              <a:t>12/25/2024</a:t>
            </a:fld>
            <a:endParaRPr lang="en-US"/>
          </a:p>
        </p:txBody>
      </p:sp>
      <p:sp>
        <p:nvSpPr>
          <p:cNvPr id="6" name="Footer Placeholder 5"/>
          <p:cNvSpPr>
            <a:spLocks noGrp="1"/>
          </p:cNvSpPr>
          <p:nvPr>
            <p:ph type="ftr" sz="quarter" idx="11"/>
          </p:nvPr>
        </p:nvSpPr>
        <p:spPr/>
        <p:txBody>
          <a:bodyPr/>
          <a:lstStyle/>
          <a:p>
            <a:r>
              <a:rPr lang="en-US"/>
              <a:t>mnrmaniram12@gmail.com</a:t>
            </a:r>
          </a:p>
        </p:txBody>
      </p:sp>
      <p:sp>
        <p:nvSpPr>
          <p:cNvPr id="7" name="Slide Number Placeholder 6"/>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4230847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2C6FCF-C90D-4FFF-82C3-F2B6AB6E8CCC}" type="datetime1">
              <a:rPr lang="en-US" smtClean="0"/>
              <a:t>12/25/2024</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1655790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9BF436-13AF-4A32-B64F-771872AA52BA}" type="datetime1">
              <a:rPr lang="en-US" smtClean="0"/>
              <a:t>12/25/2024</a:t>
            </a:fld>
            <a:endParaRPr lang="en-US"/>
          </a:p>
        </p:txBody>
      </p:sp>
      <p:sp>
        <p:nvSpPr>
          <p:cNvPr id="5" name="Footer Placeholder 4"/>
          <p:cNvSpPr>
            <a:spLocks noGrp="1"/>
          </p:cNvSpPr>
          <p:nvPr>
            <p:ph type="ftr" sz="quarter" idx="11"/>
          </p:nvPr>
        </p:nvSpPr>
        <p:spPr/>
        <p:txBody>
          <a:bodyPr/>
          <a:lstStyle/>
          <a:p>
            <a:r>
              <a:rPr lang="en-US"/>
              <a:t>mnrmaniram12@gmail.com</a:t>
            </a:r>
          </a:p>
        </p:txBody>
      </p:sp>
      <p:sp>
        <p:nvSpPr>
          <p:cNvPr id="6" name="Slide Number Placeholder 5"/>
          <p:cNvSpPr>
            <a:spLocks noGrp="1"/>
          </p:cNvSpPr>
          <p:nvPr>
            <p:ph type="sldNum" sz="quarter" idx="12"/>
          </p:nvPr>
        </p:nvSpPr>
        <p:spPr/>
        <p:txBody>
          <a:bodyPr/>
          <a:lstStyle/>
          <a:p>
            <a:fld id="{23494754-66A2-4D55-A3BE-A7B793766391}" type="slidenum">
              <a:rPr lang="en-US" smtClean="0"/>
              <a:t>‹#›</a:t>
            </a:fld>
            <a:endParaRPr lang="en-US"/>
          </a:p>
        </p:txBody>
      </p:sp>
    </p:spTree>
    <p:extLst>
      <p:ext uri="{BB962C8B-B14F-4D97-AF65-F5344CB8AC3E}">
        <p14:creationId xmlns:p14="http://schemas.microsoft.com/office/powerpoint/2010/main" val="1495045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1E1FB-E8AF-482E-BF1F-9312D7E220B6}" type="datetime1">
              <a:rPr lang="en-US" smtClean="0"/>
              <a:t>12/25/2024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mnrmaniram12@gmail.com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94754-66A2-4D55-A3BE-A7B793766391}" type="slidenum">
              <a:rPr lang="en-US" smtClean="0"/>
              <a:t>‹#›</a:t>
            </a:fld>
            <a:endParaRPr lang="en-US"/>
          </a:p>
        </p:txBody>
      </p:sp>
    </p:spTree>
    <p:extLst>
      <p:ext uri="{BB962C8B-B14F-4D97-AF65-F5344CB8AC3E}">
        <p14:creationId xmlns:p14="http://schemas.microsoft.com/office/powerpoint/2010/main" val="4130841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oxfordreference.com/view/10.1093/oi/authority.20110803095909815"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4800" b="1" dirty="0">
                <a:solidFill>
                  <a:srgbClr val="FF0000"/>
                </a:solidFill>
              </a:rPr>
              <a:t>Oral Presentations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17901"/>
            <a:ext cx="6202017" cy="42401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9983" y="2750361"/>
            <a:ext cx="6006199" cy="3631096"/>
          </a:xfrm>
          <a:prstGeom prst="rect">
            <a:avLst/>
          </a:prstGeom>
        </p:spPr>
      </p:pic>
      <p:sp>
        <p:nvSpPr>
          <p:cNvPr id="7" name="Slide Number Placeholder 6"/>
          <p:cNvSpPr>
            <a:spLocks noGrp="1"/>
          </p:cNvSpPr>
          <p:nvPr>
            <p:ph type="sldNum" sz="quarter" idx="12"/>
          </p:nvPr>
        </p:nvSpPr>
        <p:spPr/>
        <p:txBody>
          <a:bodyPr/>
          <a:lstStyle/>
          <a:p>
            <a:fld id="{23494754-66A2-4D55-A3BE-A7B793766391}" type="slidenum">
              <a:rPr lang="en-US" smtClean="0"/>
              <a:t>1</a:t>
            </a:fld>
            <a:endParaRPr lang="en-US"/>
          </a:p>
        </p:txBody>
      </p:sp>
    </p:spTree>
    <p:extLst>
      <p:ext uri="{BB962C8B-B14F-4D97-AF65-F5344CB8AC3E}">
        <p14:creationId xmlns:p14="http://schemas.microsoft.com/office/powerpoint/2010/main" val="3129302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95" y="450574"/>
            <a:ext cx="10515600" cy="562527"/>
          </a:xfrm>
        </p:spPr>
        <p:txBody>
          <a:bodyPr>
            <a:normAutofit fontScale="90000"/>
          </a:bodyPr>
          <a:lstStyle/>
          <a:p>
            <a:r>
              <a:rPr lang="en-US" b="1" u="sng" dirty="0">
                <a:solidFill>
                  <a:srgbClr val="FF0000"/>
                </a:solidFill>
              </a:rPr>
              <a:t>Contents</a:t>
            </a:r>
          </a:p>
        </p:txBody>
      </p:sp>
      <p:sp>
        <p:nvSpPr>
          <p:cNvPr id="3" name="Content Placeholder 2"/>
          <p:cNvSpPr>
            <a:spLocks noGrp="1"/>
          </p:cNvSpPr>
          <p:nvPr>
            <p:ph idx="1"/>
          </p:nvPr>
        </p:nvSpPr>
        <p:spPr>
          <a:xfrm>
            <a:off x="838200" y="1139688"/>
            <a:ext cx="10515600" cy="5718312"/>
          </a:xfrm>
        </p:spPr>
        <p:txBody>
          <a:bodyPr>
            <a:normAutofit/>
          </a:bodyPr>
          <a:lstStyle/>
          <a:p>
            <a:pPr marL="0" indent="0">
              <a:buNone/>
            </a:pPr>
            <a:r>
              <a:rPr lang="en-US" dirty="0" smtClean="0"/>
              <a:t>Presentations </a:t>
            </a:r>
            <a:endParaRPr lang="en-US" dirty="0"/>
          </a:p>
          <a:p>
            <a:pPr marL="0" indent="0">
              <a:buNone/>
            </a:pPr>
            <a:r>
              <a:rPr lang="en-US" dirty="0" smtClean="0"/>
              <a:t>Outlining </a:t>
            </a:r>
            <a:r>
              <a:rPr lang="en-US" dirty="0"/>
              <a:t>Oral Presentation</a:t>
            </a:r>
          </a:p>
          <a:p>
            <a:pPr marL="0" indent="0">
              <a:buNone/>
            </a:pPr>
            <a:r>
              <a:rPr lang="en-US" dirty="0" smtClean="0"/>
              <a:t>Planning </a:t>
            </a:r>
            <a:r>
              <a:rPr lang="en-US" dirty="0"/>
              <a:t>and Making Presentations</a:t>
            </a:r>
          </a:p>
          <a:p>
            <a:pPr marL="0" indent="0">
              <a:buNone/>
            </a:pPr>
            <a:r>
              <a:rPr lang="en-US" dirty="0" smtClean="0"/>
              <a:t>Signposting</a:t>
            </a:r>
            <a:endParaRPr lang="en-US" dirty="0"/>
          </a:p>
          <a:p>
            <a:pPr marL="0" indent="0">
              <a:buNone/>
            </a:pPr>
            <a:r>
              <a:rPr lang="en-US" dirty="0" smtClean="0"/>
              <a:t>Active </a:t>
            </a:r>
            <a:r>
              <a:rPr lang="en-US" dirty="0"/>
              <a:t>Listening</a:t>
            </a:r>
          </a:p>
          <a:p>
            <a:pPr marL="0" indent="0">
              <a:buNone/>
            </a:pPr>
            <a:r>
              <a:rPr lang="en-US" dirty="0" smtClean="0"/>
              <a:t>Enhancing </a:t>
            </a:r>
            <a:r>
              <a:rPr lang="en-US" dirty="0"/>
              <a:t>Oral Communication</a:t>
            </a:r>
          </a:p>
          <a:p>
            <a:pPr marL="0" indent="0">
              <a:buNone/>
            </a:pPr>
            <a:r>
              <a:rPr lang="en-US" dirty="0" smtClean="0"/>
              <a:t>Using </a:t>
            </a:r>
            <a:r>
              <a:rPr lang="en-US" dirty="0"/>
              <a:t>Visual Aids</a:t>
            </a:r>
          </a:p>
          <a:p>
            <a:pPr marL="0" indent="0">
              <a:buNone/>
            </a:pPr>
            <a:r>
              <a:rPr lang="en-US" dirty="0" smtClean="0"/>
              <a:t>Using </a:t>
            </a:r>
            <a:r>
              <a:rPr lang="en-US" dirty="0"/>
              <a:t>Nonverbal Communication</a:t>
            </a:r>
          </a:p>
          <a:p>
            <a:pPr marL="0" indent="0">
              <a:buNone/>
            </a:pPr>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2</a:t>
            </a:fld>
            <a:endParaRPr lang="en-US"/>
          </a:p>
        </p:txBody>
      </p:sp>
    </p:spTree>
    <p:extLst>
      <p:ext uri="{BB962C8B-B14F-4D97-AF65-F5344CB8AC3E}">
        <p14:creationId xmlns:p14="http://schemas.microsoft.com/office/powerpoint/2010/main" val="1412097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803445-4E97-43B4-9D7C-43D3CC720E41}"/>
              </a:ext>
            </a:extLst>
          </p:cNvPr>
          <p:cNvSpPr>
            <a:spLocks noGrp="1"/>
          </p:cNvSpPr>
          <p:nvPr>
            <p:ph type="title"/>
          </p:nvPr>
        </p:nvSpPr>
        <p:spPr>
          <a:xfrm>
            <a:off x="705678" y="0"/>
            <a:ext cx="10515600" cy="1325563"/>
          </a:xfrm>
        </p:spPr>
        <p:txBody>
          <a:bodyPr/>
          <a:lstStyle/>
          <a:p>
            <a:r>
              <a:rPr lang="en-US" b="1" dirty="0" smtClean="0">
                <a:solidFill>
                  <a:srgbClr val="FF0000"/>
                </a:solidFill>
              </a:rPr>
              <a:t>Presentations</a:t>
            </a:r>
            <a:r>
              <a:rPr lang="en-US" b="1" dirty="0">
                <a:solidFill>
                  <a:srgbClr val="FF0000"/>
                </a:solidFill>
              </a:rPr>
              <a:t/>
            </a:r>
            <a:br>
              <a:rPr lang="en-US" b="1" dirty="0">
                <a:solidFill>
                  <a:srgbClr val="FF0000"/>
                </a:solidFill>
              </a:rPr>
            </a:br>
            <a:endParaRPr lang="en-GB" b="1" dirty="0">
              <a:solidFill>
                <a:srgbClr val="FF0000"/>
              </a:solidFill>
            </a:endParaRPr>
          </a:p>
        </p:txBody>
      </p:sp>
      <p:sp>
        <p:nvSpPr>
          <p:cNvPr id="3" name="Content Placeholder 2">
            <a:extLst>
              <a:ext uri="{FF2B5EF4-FFF2-40B4-BE49-F238E27FC236}">
                <a16:creationId xmlns="" xmlns:a16="http://schemas.microsoft.com/office/drawing/2014/main" id="{57DE15B8-D33D-415C-A75D-9E447CA5A65B}"/>
              </a:ext>
            </a:extLst>
          </p:cNvPr>
          <p:cNvSpPr>
            <a:spLocks noGrp="1"/>
          </p:cNvSpPr>
          <p:nvPr>
            <p:ph idx="1"/>
          </p:nvPr>
        </p:nvSpPr>
        <p:spPr>
          <a:xfrm>
            <a:off x="838200" y="702365"/>
            <a:ext cx="10515600" cy="6321287"/>
          </a:xfrm>
        </p:spPr>
        <p:txBody>
          <a:bodyPr>
            <a:normAutofit/>
          </a:bodyPr>
          <a:lstStyle/>
          <a:p>
            <a:r>
              <a:rPr lang="en-GB" dirty="0"/>
              <a:t>A presentation is a </a:t>
            </a:r>
            <a:r>
              <a:rPr lang="en-GB" dirty="0">
                <a:solidFill>
                  <a:srgbClr val="00B0F0"/>
                </a:solidFill>
              </a:rPr>
              <a:t>talk </a:t>
            </a:r>
            <a:r>
              <a:rPr lang="en-GB" dirty="0"/>
              <a:t>or speech delivered to an </a:t>
            </a:r>
            <a:r>
              <a:rPr lang="en-GB" dirty="0">
                <a:solidFill>
                  <a:srgbClr val="00B0F0"/>
                </a:solidFill>
              </a:rPr>
              <a:t>audience</a:t>
            </a:r>
            <a:r>
              <a:rPr lang="en-GB" dirty="0"/>
              <a:t> to </a:t>
            </a:r>
            <a:r>
              <a:rPr lang="en-GB" dirty="0">
                <a:solidFill>
                  <a:srgbClr val="00B0F0"/>
                </a:solidFill>
              </a:rPr>
              <a:t>present a new product, idea or a piece of work</a:t>
            </a:r>
            <a:r>
              <a:rPr lang="en-GB" dirty="0" smtClean="0">
                <a:solidFill>
                  <a:srgbClr val="00B0F0"/>
                </a:solidFill>
              </a:rPr>
              <a:t>.</a:t>
            </a:r>
            <a:endParaRPr lang="en-GB" dirty="0"/>
          </a:p>
          <a:p>
            <a:r>
              <a:rPr lang="en-GB" dirty="0">
                <a:solidFill>
                  <a:srgbClr val="00B0F0"/>
                </a:solidFill>
              </a:rPr>
              <a:t>Purpose and audience</a:t>
            </a:r>
            <a:r>
              <a:rPr lang="en-GB" dirty="0"/>
              <a:t> determines the </a:t>
            </a:r>
            <a:r>
              <a:rPr lang="en-GB" dirty="0">
                <a:solidFill>
                  <a:srgbClr val="00B0F0"/>
                </a:solidFill>
              </a:rPr>
              <a:t>style and content</a:t>
            </a:r>
            <a:endParaRPr lang="en-GB" dirty="0">
              <a:solidFill>
                <a:srgbClr val="FF0000"/>
              </a:solidFill>
            </a:endParaRPr>
          </a:p>
          <a:p>
            <a:r>
              <a:rPr lang="en-GB" b="1" dirty="0">
                <a:solidFill>
                  <a:srgbClr val="FF0000"/>
                </a:solidFill>
              </a:rPr>
              <a:t>Informative presentation</a:t>
            </a:r>
            <a:r>
              <a:rPr lang="en-GB" dirty="0">
                <a:solidFill>
                  <a:srgbClr val="FF0000"/>
                </a:solidFill>
              </a:rPr>
              <a:t>: </a:t>
            </a:r>
            <a:r>
              <a:rPr lang="en-GB" dirty="0"/>
              <a:t>briefing someone, sharing a report, training a group</a:t>
            </a:r>
          </a:p>
          <a:p>
            <a:r>
              <a:rPr lang="en-GB" b="1" dirty="0">
                <a:solidFill>
                  <a:srgbClr val="FF0000"/>
                </a:solidFill>
              </a:rPr>
              <a:t>Persuasive presentation:</a:t>
            </a:r>
            <a:r>
              <a:rPr lang="en-GB" dirty="0"/>
              <a:t> motivating, convincing, expressing goodwill towards someone/something</a:t>
            </a:r>
          </a:p>
          <a:p>
            <a:r>
              <a:rPr lang="en-GB" dirty="0">
                <a:solidFill>
                  <a:srgbClr val="FF0000"/>
                </a:solidFill>
              </a:rPr>
              <a:t>Group </a:t>
            </a:r>
            <a:r>
              <a:rPr lang="en-GB" dirty="0" smtClean="0">
                <a:solidFill>
                  <a:srgbClr val="FF0000"/>
                </a:solidFill>
              </a:rPr>
              <a:t>presentations:</a:t>
            </a:r>
            <a:r>
              <a:rPr lang="en-GB" dirty="0" smtClean="0"/>
              <a:t> Maintaining rapport</a:t>
            </a:r>
          </a:p>
          <a:p>
            <a:r>
              <a:rPr lang="en-GB" dirty="0" smtClean="0">
                <a:solidFill>
                  <a:srgbClr val="FF0000"/>
                </a:solidFill>
              </a:rPr>
              <a:t>use </a:t>
            </a:r>
            <a:r>
              <a:rPr lang="en-GB" dirty="0">
                <a:solidFill>
                  <a:srgbClr val="FF0000"/>
                </a:solidFill>
              </a:rPr>
              <a:t>non-verbal techniques</a:t>
            </a:r>
            <a:r>
              <a:rPr lang="en-GB" dirty="0"/>
              <a:t> (eye-contact and body language)</a:t>
            </a:r>
          </a:p>
          <a:p>
            <a:r>
              <a:rPr lang="en-GB" dirty="0" smtClean="0"/>
              <a:t>Need </a:t>
            </a:r>
            <a:r>
              <a:rPr lang="en-GB" dirty="0"/>
              <a:t>to </a:t>
            </a:r>
            <a:r>
              <a:rPr lang="en-GB" dirty="0" smtClean="0">
                <a:solidFill>
                  <a:srgbClr val="00B0F0"/>
                </a:solidFill>
              </a:rPr>
              <a:t>consult</a:t>
            </a:r>
            <a:r>
              <a:rPr lang="en-GB" dirty="0" smtClean="0"/>
              <a:t> with </a:t>
            </a:r>
            <a:r>
              <a:rPr lang="en-GB" dirty="0"/>
              <a:t>the supervisors, managers and colleagues about the </a:t>
            </a:r>
            <a:r>
              <a:rPr lang="en-GB" dirty="0" smtClean="0"/>
              <a:t>content.</a:t>
            </a:r>
            <a:endParaRPr lang="en-GB" dirty="0"/>
          </a:p>
          <a:p>
            <a:pPr marL="0" indent="0">
              <a:buNone/>
            </a:pPr>
            <a:r>
              <a:rPr lang="en-GB" dirty="0"/>
              <a:t>  </a:t>
            </a:r>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3</a:t>
            </a:fld>
            <a:endParaRPr lang="en-US"/>
          </a:p>
        </p:txBody>
      </p:sp>
    </p:spTree>
    <p:extLst>
      <p:ext uri="{BB962C8B-B14F-4D97-AF65-F5344CB8AC3E}">
        <p14:creationId xmlns:p14="http://schemas.microsoft.com/office/powerpoint/2010/main" val="1585317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330" y="259108"/>
            <a:ext cx="12616070" cy="1325563"/>
          </a:xfrm>
        </p:spPr>
        <p:txBody>
          <a:bodyPr>
            <a:normAutofit/>
          </a:bodyPr>
          <a:lstStyle/>
          <a:p>
            <a:r>
              <a:rPr lang="en-US" sz="4000" b="1" dirty="0">
                <a:solidFill>
                  <a:srgbClr val="FF0000"/>
                </a:solidFill>
              </a:rPr>
              <a:t>Differences between internal and external presentations</a:t>
            </a:r>
          </a:p>
        </p:txBody>
      </p:sp>
      <p:sp>
        <p:nvSpPr>
          <p:cNvPr id="3" name="Text Placeholder 2"/>
          <p:cNvSpPr>
            <a:spLocks noGrp="1"/>
          </p:cNvSpPr>
          <p:nvPr>
            <p:ph type="body" idx="1"/>
          </p:nvPr>
        </p:nvSpPr>
        <p:spPr>
          <a:xfrm>
            <a:off x="0" y="1166191"/>
            <a:ext cx="5997575" cy="1073426"/>
          </a:xfrm>
        </p:spPr>
        <p:txBody>
          <a:bodyPr>
            <a:noAutofit/>
          </a:bodyPr>
          <a:lstStyle/>
          <a:p>
            <a:pPr algn="ctr"/>
            <a:r>
              <a:rPr lang="en-US" sz="3200" dirty="0"/>
              <a:t>		Internal				</a:t>
            </a:r>
          </a:p>
        </p:txBody>
      </p:sp>
      <p:sp>
        <p:nvSpPr>
          <p:cNvPr id="4" name="Content Placeholder 3"/>
          <p:cNvSpPr>
            <a:spLocks noGrp="1"/>
          </p:cNvSpPr>
          <p:nvPr>
            <p:ph sz="half" idx="2"/>
          </p:nvPr>
        </p:nvSpPr>
        <p:spPr>
          <a:xfrm>
            <a:off x="238540" y="1908313"/>
            <a:ext cx="5759036" cy="4949686"/>
          </a:xfrm>
        </p:spPr>
        <p:txBody>
          <a:bodyPr/>
          <a:lstStyle/>
          <a:p>
            <a:pPr marL="0" indent="0">
              <a:buNone/>
            </a:pPr>
            <a:r>
              <a:rPr lang="en-US" dirty="0"/>
              <a:t>1. Involves </a:t>
            </a:r>
            <a:r>
              <a:rPr lang="en-US" dirty="0">
                <a:solidFill>
                  <a:srgbClr val="00B0F0"/>
                </a:solidFill>
              </a:rPr>
              <a:t>audiences inside of your                   	organization</a:t>
            </a:r>
          </a:p>
          <a:p>
            <a:pPr marL="0" indent="0">
              <a:buNone/>
            </a:pPr>
            <a:r>
              <a:rPr lang="en-US" dirty="0"/>
              <a:t>2. Can be</a:t>
            </a:r>
            <a:r>
              <a:rPr lang="en-US" dirty="0">
                <a:solidFill>
                  <a:srgbClr val="00B0F0"/>
                </a:solidFill>
              </a:rPr>
              <a:t> formal and informal</a:t>
            </a:r>
            <a:r>
              <a:rPr lang="en-US" dirty="0"/>
              <a:t>	</a:t>
            </a:r>
          </a:p>
          <a:p>
            <a:pPr marL="0" indent="0">
              <a:buNone/>
            </a:pPr>
            <a:r>
              <a:rPr lang="en-US" dirty="0"/>
              <a:t>3. Audiences are </a:t>
            </a:r>
            <a:r>
              <a:rPr lang="en-US" dirty="0">
                <a:solidFill>
                  <a:srgbClr val="00B0F0"/>
                </a:solidFill>
              </a:rPr>
              <a:t>employees and the company’s management  </a:t>
            </a:r>
          </a:p>
          <a:p>
            <a:pPr marL="0" indent="0">
              <a:buNone/>
            </a:pPr>
            <a:endParaRPr lang="en-US" dirty="0"/>
          </a:p>
          <a:p>
            <a:pPr marL="0" indent="0">
              <a:buNone/>
            </a:pPr>
            <a:r>
              <a:rPr lang="en-US" dirty="0"/>
              <a:t>4. Takes place </a:t>
            </a:r>
            <a:r>
              <a:rPr lang="en-US" dirty="0" smtClean="0">
                <a:solidFill>
                  <a:srgbClr val="00B0F0"/>
                </a:solidFill>
              </a:rPr>
              <a:t>within an organization</a:t>
            </a:r>
            <a:endParaRPr lang="en-US" dirty="0">
              <a:solidFill>
                <a:srgbClr val="00B0F0"/>
              </a:solidFill>
            </a:endParaRPr>
          </a:p>
        </p:txBody>
      </p:sp>
      <p:sp>
        <p:nvSpPr>
          <p:cNvPr id="5" name="Text Placeholder 4"/>
          <p:cNvSpPr>
            <a:spLocks noGrp="1"/>
          </p:cNvSpPr>
          <p:nvPr>
            <p:ph type="body" sz="quarter" idx="3"/>
          </p:nvPr>
        </p:nvSpPr>
        <p:spPr>
          <a:xfrm>
            <a:off x="6172200" y="1166191"/>
            <a:ext cx="6019800" cy="742122"/>
          </a:xfrm>
        </p:spPr>
        <p:txBody>
          <a:bodyPr>
            <a:noAutofit/>
          </a:bodyPr>
          <a:lstStyle/>
          <a:p>
            <a:pPr algn="ctr"/>
            <a:r>
              <a:rPr lang="en-US" sz="3600" dirty="0"/>
              <a:t>External</a:t>
            </a:r>
          </a:p>
        </p:txBody>
      </p:sp>
      <p:sp>
        <p:nvSpPr>
          <p:cNvPr id="6" name="Content Placeholder 5"/>
          <p:cNvSpPr>
            <a:spLocks noGrp="1"/>
          </p:cNvSpPr>
          <p:nvPr>
            <p:ph sz="quarter" idx="4"/>
          </p:nvPr>
        </p:nvSpPr>
        <p:spPr>
          <a:xfrm>
            <a:off x="6172200" y="1908312"/>
            <a:ext cx="5741504" cy="4949687"/>
          </a:xfrm>
        </p:spPr>
        <p:txBody>
          <a:bodyPr/>
          <a:lstStyle/>
          <a:p>
            <a:pPr marL="514350" indent="-514350">
              <a:buAutoNum type="arabicPeriod"/>
            </a:pPr>
            <a:r>
              <a:rPr lang="en-US" dirty="0"/>
              <a:t>Involves </a:t>
            </a:r>
            <a:r>
              <a:rPr lang="en-US" dirty="0">
                <a:solidFill>
                  <a:srgbClr val="00B0F0"/>
                </a:solidFill>
              </a:rPr>
              <a:t>audiences outside </a:t>
            </a:r>
            <a:r>
              <a:rPr lang="en-US" dirty="0" smtClean="0">
                <a:solidFill>
                  <a:srgbClr val="00B0F0"/>
                </a:solidFill>
              </a:rPr>
              <a:t>of        </a:t>
            </a:r>
            <a:r>
              <a:rPr lang="en-US" dirty="0">
                <a:solidFill>
                  <a:srgbClr val="00B0F0"/>
                </a:solidFill>
              </a:rPr>
              <a:t>	organization</a:t>
            </a:r>
          </a:p>
          <a:p>
            <a:pPr marL="514350" indent="-514350">
              <a:buAutoNum type="arabicPeriod"/>
            </a:pPr>
            <a:r>
              <a:rPr lang="en-US" dirty="0"/>
              <a:t>Mostly </a:t>
            </a:r>
            <a:r>
              <a:rPr lang="en-US" dirty="0">
                <a:solidFill>
                  <a:srgbClr val="00B0F0"/>
                </a:solidFill>
              </a:rPr>
              <a:t>formal</a:t>
            </a:r>
          </a:p>
          <a:p>
            <a:pPr marL="514350" indent="-514350">
              <a:buAutoNum type="arabicPeriod"/>
            </a:pPr>
            <a:r>
              <a:rPr lang="en-US" dirty="0"/>
              <a:t>Audiences are </a:t>
            </a:r>
            <a:r>
              <a:rPr lang="en-US" dirty="0">
                <a:solidFill>
                  <a:srgbClr val="00B0F0"/>
                </a:solidFill>
              </a:rPr>
              <a:t>customers, shareholders, investors, general </a:t>
            </a:r>
            <a:r>
              <a:rPr lang="en-US" dirty="0" smtClean="0">
                <a:solidFill>
                  <a:srgbClr val="00B0F0"/>
                </a:solidFill>
              </a:rPr>
              <a:t>public etc</a:t>
            </a:r>
            <a:r>
              <a:rPr lang="en-US" dirty="0">
                <a:solidFill>
                  <a:srgbClr val="00B0F0"/>
                </a:solidFill>
              </a:rPr>
              <a:t>.</a:t>
            </a:r>
          </a:p>
          <a:p>
            <a:pPr marL="514350" indent="-514350">
              <a:buAutoNum type="arabicPeriod"/>
            </a:pPr>
            <a:r>
              <a:rPr lang="en-US" dirty="0"/>
              <a:t>Takes place </a:t>
            </a:r>
            <a:r>
              <a:rPr lang="en-US" dirty="0" smtClean="0"/>
              <a:t>in </a:t>
            </a:r>
            <a:r>
              <a:rPr lang="en-US" dirty="0"/>
              <a:t>locations like </a:t>
            </a:r>
            <a:r>
              <a:rPr lang="en-US" dirty="0">
                <a:solidFill>
                  <a:srgbClr val="00B0F0"/>
                </a:solidFill>
              </a:rPr>
              <a:t>hotels, conference centers etc.</a:t>
            </a:r>
          </a:p>
        </p:txBody>
      </p:sp>
      <p:sp>
        <p:nvSpPr>
          <p:cNvPr id="8" name="Slide Number Placeholder 7"/>
          <p:cNvSpPr>
            <a:spLocks noGrp="1"/>
          </p:cNvSpPr>
          <p:nvPr>
            <p:ph type="sldNum" sz="quarter" idx="12"/>
          </p:nvPr>
        </p:nvSpPr>
        <p:spPr/>
        <p:txBody>
          <a:bodyPr/>
          <a:lstStyle/>
          <a:p>
            <a:fld id="{23494754-66A2-4D55-A3BE-A7B793766391}" type="slidenum">
              <a:rPr lang="en-US" smtClean="0"/>
              <a:t>4</a:t>
            </a:fld>
            <a:endParaRPr lang="en-US"/>
          </a:p>
        </p:txBody>
      </p:sp>
    </p:spTree>
    <p:extLst>
      <p:ext uri="{BB962C8B-B14F-4D97-AF65-F5344CB8AC3E}">
        <p14:creationId xmlns:p14="http://schemas.microsoft.com/office/powerpoint/2010/main" val="6658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E5E855-4494-46E4-A371-8BD32144BD3B}"/>
              </a:ext>
            </a:extLst>
          </p:cNvPr>
          <p:cNvSpPr>
            <a:spLocks noGrp="1"/>
          </p:cNvSpPr>
          <p:nvPr>
            <p:ph type="title"/>
          </p:nvPr>
        </p:nvSpPr>
        <p:spPr>
          <a:xfrm>
            <a:off x="520148" y="397469"/>
            <a:ext cx="10515600" cy="782244"/>
          </a:xfrm>
        </p:spPr>
        <p:txBody>
          <a:bodyPr>
            <a:normAutofit/>
          </a:bodyPr>
          <a:lstStyle/>
          <a:p>
            <a:r>
              <a:rPr lang="en-GB" b="1" dirty="0">
                <a:solidFill>
                  <a:srgbClr val="0070C0"/>
                </a:solidFill>
              </a:rPr>
              <a:t>The 6 Ps of Presentation</a:t>
            </a:r>
          </a:p>
        </p:txBody>
      </p:sp>
      <p:sp>
        <p:nvSpPr>
          <p:cNvPr id="3" name="Content Placeholder 2">
            <a:extLst>
              <a:ext uri="{FF2B5EF4-FFF2-40B4-BE49-F238E27FC236}">
                <a16:creationId xmlns="" xmlns:a16="http://schemas.microsoft.com/office/drawing/2014/main" id="{9B8BF375-1351-43B9-AD02-8E1F9D61753C}"/>
              </a:ext>
            </a:extLst>
          </p:cNvPr>
          <p:cNvSpPr>
            <a:spLocks noGrp="1"/>
          </p:cNvSpPr>
          <p:nvPr>
            <p:ph idx="1"/>
          </p:nvPr>
        </p:nvSpPr>
        <p:spPr>
          <a:xfrm>
            <a:off x="119270" y="1232452"/>
            <a:ext cx="12072730" cy="5406887"/>
          </a:xfrm>
        </p:spPr>
        <p:txBody>
          <a:bodyPr>
            <a:normAutofit fontScale="70000" lnSpcReduction="20000"/>
          </a:bodyPr>
          <a:lstStyle/>
          <a:p>
            <a:pPr marL="0" indent="0">
              <a:buNone/>
            </a:pPr>
            <a:r>
              <a:rPr lang="en-GB" dirty="0"/>
              <a:t>1. </a:t>
            </a:r>
            <a:r>
              <a:rPr lang="en-GB" b="1" dirty="0">
                <a:solidFill>
                  <a:srgbClr val="0070C0"/>
                </a:solidFill>
              </a:rPr>
              <a:t>Plan well</a:t>
            </a:r>
            <a:r>
              <a:rPr lang="en-GB" dirty="0"/>
              <a:t>:	Make up your mind</a:t>
            </a:r>
          </a:p>
          <a:p>
            <a:pPr marL="0" indent="0">
              <a:buNone/>
            </a:pPr>
            <a:r>
              <a:rPr lang="en-GB" dirty="0" smtClean="0"/>
              <a:t>                                Create </a:t>
            </a:r>
            <a:r>
              <a:rPr lang="en-GB" dirty="0"/>
              <a:t>an outline</a:t>
            </a:r>
          </a:p>
          <a:p>
            <a:pPr marL="0" indent="0">
              <a:buNone/>
            </a:pPr>
            <a:r>
              <a:rPr lang="en-GB" dirty="0"/>
              <a:t>		Know the </a:t>
            </a:r>
            <a:r>
              <a:rPr lang="en-GB" dirty="0" smtClean="0"/>
              <a:t>background</a:t>
            </a:r>
            <a:endParaRPr lang="en-GB" dirty="0"/>
          </a:p>
          <a:p>
            <a:pPr marL="0" indent="0">
              <a:buNone/>
            </a:pPr>
            <a:r>
              <a:rPr lang="en-GB" dirty="0"/>
              <a:t>2. </a:t>
            </a:r>
            <a:r>
              <a:rPr lang="en-GB" b="1" dirty="0">
                <a:solidFill>
                  <a:srgbClr val="0070C0"/>
                </a:solidFill>
              </a:rPr>
              <a:t>Identify the purpose</a:t>
            </a:r>
            <a:r>
              <a:rPr lang="en-GB" dirty="0"/>
              <a:t>:	Why are you presenting?</a:t>
            </a:r>
          </a:p>
          <a:p>
            <a:pPr marL="0" indent="0">
              <a:buNone/>
            </a:pPr>
            <a:r>
              <a:rPr lang="en-GB" dirty="0"/>
              <a:t>			To inform, </a:t>
            </a:r>
            <a:r>
              <a:rPr lang="en-GB" dirty="0" smtClean="0"/>
              <a:t>instruct, persuade</a:t>
            </a:r>
            <a:r>
              <a:rPr lang="en-GB" dirty="0"/>
              <a:t>, seek feedback etc.</a:t>
            </a:r>
          </a:p>
          <a:p>
            <a:pPr marL="0" indent="0">
              <a:buNone/>
            </a:pPr>
            <a:r>
              <a:rPr lang="en-GB" dirty="0"/>
              <a:t>3. </a:t>
            </a:r>
            <a:r>
              <a:rPr lang="en-GB" b="1" dirty="0">
                <a:solidFill>
                  <a:srgbClr val="0070C0"/>
                </a:solidFill>
              </a:rPr>
              <a:t>Demonstrate your personal communication skills</a:t>
            </a:r>
            <a:r>
              <a:rPr lang="en-GB" dirty="0"/>
              <a:t>:	Maintain good rapport</a:t>
            </a:r>
          </a:p>
          <a:p>
            <a:pPr marL="0" indent="0">
              <a:buNone/>
            </a:pPr>
            <a:r>
              <a:rPr lang="en-GB" dirty="0"/>
              <a:t>						Use effective nonverbal communication skills</a:t>
            </a:r>
          </a:p>
          <a:p>
            <a:pPr marL="0" indent="0">
              <a:buNone/>
            </a:pPr>
            <a:r>
              <a:rPr lang="en-GB" dirty="0"/>
              <a:t>4. </a:t>
            </a:r>
            <a:r>
              <a:rPr lang="en-GB" b="1" dirty="0">
                <a:solidFill>
                  <a:srgbClr val="0070C0"/>
                </a:solidFill>
              </a:rPr>
              <a:t>Show personal commitment</a:t>
            </a:r>
            <a:r>
              <a:rPr lang="en-GB" dirty="0"/>
              <a:t>:	Commitment: </a:t>
            </a:r>
            <a:r>
              <a:rPr lang="en-GB" dirty="0" smtClean="0"/>
              <a:t>promise </a:t>
            </a:r>
            <a:r>
              <a:rPr lang="en-GB" dirty="0"/>
              <a:t>to do </a:t>
            </a:r>
            <a:r>
              <a:rPr lang="en-GB" dirty="0" smtClean="0"/>
              <a:t>something</a:t>
            </a:r>
          </a:p>
          <a:p>
            <a:pPr marL="0" indent="0">
              <a:buNone/>
            </a:pPr>
            <a:r>
              <a:rPr lang="en-GB" dirty="0" smtClean="0"/>
              <a:t>				Maintain it</a:t>
            </a:r>
          </a:p>
          <a:p>
            <a:pPr marL="0" indent="0">
              <a:buNone/>
            </a:pPr>
            <a:r>
              <a:rPr lang="en-GB" dirty="0"/>
              <a:t>				Too much commitment makes you biased, overzealous and creates stress</a:t>
            </a:r>
          </a:p>
          <a:p>
            <a:pPr marL="0" indent="0">
              <a:buNone/>
            </a:pPr>
            <a:r>
              <a:rPr lang="en-GB" dirty="0"/>
              <a:t>5. </a:t>
            </a:r>
            <a:r>
              <a:rPr lang="en-GB" b="1" dirty="0">
                <a:solidFill>
                  <a:srgbClr val="0070C0"/>
                </a:solidFill>
              </a:rPr>
              <a:t>Be aware of political sensitivities</a:t>
            </a:r>
            <a:r>
              <a:rPr lang="en-GB" dirty="0"/>
              <a:t>: 	Controversial issues need to be handled in a sensible and careful way</a:t>
            </a:r>
          </a:p>
          <a:p>
            <a:pPr marL="0" indent="0">
              <a:buNone/>
            </a:pPr>
            <a:r>
              <a:rPr lang="en-GB" dirty="0"/>
              <a:t>			</a:t>
            </a:r>
            <a:r>
              <a:rPr lang="en-GB" dirty="0" smtClean="0"/>
              <a:t>		Avoid unnecessary risks</a:t>
            </a:r>
            <a:endParaRPr lang="en-GB" dirty="0"/>
          </a:p>
          <a:p>
            <a:pPr marL="0" indent="0">
              <a:buNone/>
            </a:pPr>
            <a:r>
              <a:rPr lang="en-GB" dirty="0"/>
              <a:t>6. </a:t>
            </a:r>
            <a:r>
              <a:rPr lang="en-GB" b="1" dirty="0">
                <a:solidFill>
                  <a:srgbClr val="0070C0"/>
                </a:solidFill>
              </a:rPr>
              <a:t>Polish your presentation as much as possible</a:t>
            </a:r>
            <a:r>
              <a:rPr lang="en-GB" dirty="0"/>
              <a:t>:	Make simple, clear and easy to understand</a:t>
            </a:r>
          </a:p>
          <a:p>
            <a:pPr marL="0" indent="0">
              <a:buNone/>
            </a:pPr>
            <a:r>
              <a:rPr lang="en-GB" dirty="0"/>
              <a:t>						Practice , practice and practice</a:t>
            </a:r>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5</a:t>
            </a:fld>
            <a:endParaRPr lang="en-US"/>
          </a:p>
        </p:txBody>
      </p:sp>
    </p:spTree>
    <p:extLst>
      <p:ext uri="{BB962C8B-B14F-4D97-AF65-F5344CB8AC3E}">
        <p14:creationId xmlns:p14="http://schemas.microsoft.com/office/powerpoint/2010/main" val="93872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additive="base">
                                        <p:cTn id="5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additive="base">
                                        <p:cTn id="6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3" end="13"/>
                                            </p:txEl>
                                          </p:spTgt>
                                        </p:tgtEl>
                                        <p:attrNameLst>
                                          <p:attrName>style.visibility</p:attrName>
                                        </p:attrNameLst>
                                      </p:cBhvr>
                                      <p:to>
                                        <p:strVal val="visible"/>
                                      </p:to>
                                    </p:set>
                                    <p:anim calcmode="lin" valueType="num">
                                      <p:cBhvr additive="base">
                                        <p:cTn id="7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172630-3C89-48F8-B826-B221ED064A1D}"/>
              </a:ext>
            </a:extLst>
          </p:cNvPr>
          <p:cNvSpPr>
            <a:spLocks noGrp="1"/>
          </p:cNvSpPr>
          <p:nvPr>
            <p:ph type="title"/>
          </p:nvPr>
        </p:nvSpPr>
        <p:spPr/>
        <p:txBody>
          <a:bodyPr>
            <a:normAutofit/>
          </a:bodyPr>
          <a:lstStyle/>
          <a:p>
            <a:r>
              <a:rPr lang="en-US" b="1" dirty="0" smtClean="0">
                <a:solidFill>
                  <a:srgbClr val="FF0000"/>
                </a:solidFill>
              </a:rPr>
              <a:t>Outlining </a:t>
            </a:r>
            <a:r>
              <a:rPr lang="en-US" b="1" dirty="0">
                <a:solidFill>
                  <a:srgbClr val="FF0000"/>
                </a:solidFill>
              </a:rPr>
              <a:t>Oral Presentation</a:t>
            </a:r>
          </a:p>
        </p:txBody>
      </p:sp>
      <p:sp>
        <p:nvSpPr>
          <p:cNvPr id="3" name="Content Placeholder 2">
            <a:extLst>
              <a:ext uri="{FF2B5EF4-FFF2-40B4-BE49-F238E27FC236}">
                <a16:creationId xmlns="" xmlns:a16="http://schemas.microsoft.com/office/drawing/2014/main" id="{CB0F0D55-7F69-4462-91C8-A7E6861EDC2D}"/>
              </a:ext>
            </a:extLst>
          </p:cNvPr>
          <p:cNvSpPr>
            <a:spLocks noGrp="1"/>
          </p:cNvSpPr>
          <p:nvPr>
            <p:ph idx="1"/>
          </p:nvPr>
        </p:nvSpPr>
        <p:spPr>
          <a:xfrm>
            <a:off x="838199" y="1825625"/>
            <a:ext cx="10969487" cy="4351338"/>
          </a:xfrm>
        </p:spPr>
        <p:txBody>
          <a:bodyPr>
            <a:normAutofit/>
          </a:bodyPr>
          <a:lstStyle/>
          <a:p>
            <a:pPr marL="0" indent="0">
              <a:buNone/>
            </a:pPr>
            <a:r>
              <a:rPr lang="en-GB" dirty="0"/>
              <a:t>a. </a:t>
            </a:r>
            <a:r>
              <a:rPr lang="en-GB" b="1" dirty="0"/>
              <a:t>Introduction</a:t>
            </a:r>
            <a:r>
              <a:rPr lang="en-GB" dirty="0"/>
              <a:t> (present the background and purpose)</a:t>
            </a:r>
          </a:p>
          <a:p>
            <a:pPr marL="0" indent="0">
              <a:buNone/>
            </a:pPr>
            <a:r>
              <a:rPr lang="en-GB" dirty="0"/>
              <a:t>b.</a:t>
            </a:r>
            <a:r>
              <a:rPr lang="en-GB" b="1" dirty="0"/>
              <a:t> Body </a:t>
            </a:r>
            <a:r>
              <a:rPr lang="en-GB" dirty="0"/>
              <a:t>(present the main points and supporting details)</a:t>
            </a:r>
          </a:p>
          <a:p>
            <a:pPr marL="0" indent="0">
              <a:buNone/>
            </a:pPr>
            <a:r>
              <a:rPr lang="en-GB" dirty="0"/>
              <a:t>c. </a:t>
            </a:r>
            <a:r>
              <a:rPr lang="en-GB" b="1" dirty="0"/>
              <a:t>Conclusion</a:t>
            </a:r>
            <a:r>
              <a:rPr lang="en-GB" dirty="0"/>
              <a:t> (present the main idea and recommendations)</a:t>
            </a:r>
          </a:p>
          <a:p>
            <a:pPr marL="0" indent="0">
              <a:buNone/>
            </a:pPr>
            <a:r>
              <a:rPr lang="en-GB" dirty="0"/>
              <a:t>d. </a:t>
            </a:r>
            <a:r>
              <a:rPr lang="en-GB" b="1" dirty="0" smtClean="0"/>
              <a:t>Question and answer </a:t>
            </a:r>
            <a:r>
              <a:rPr lang="en-GB" b="1" dirty="0"/>
              <a:t>session </a:t>
            </a:r>
            <a:r>
              <a:rPr lang="en-GB" dirty="0"/>
              <a:t>(to answer any queries from </a:t>
            </a:r>
            <a:r>
              <a:rPr lang="en-GB" dirty="0" smtClean="0"/>
              <a:t>audiences)</a:t>
            </a:r>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6</a:t>
            </a:fld>
            <a:endParaRPr lang="en-US"/>
          </a:p>
        </p:txBody>
      </p:sp>
    </p:spTree>
    <p:extLst>
      <p:ext uri="{BB962C8B-B14F-4D97-AF65-F5344CB8AC3E}">
        <p14:creationId xmlns:p14="http://schemas.microsoft.com/office/powerpoint/2010/main" val="3059302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Introduction</a:t>
            </a:r>
          </a:p>
        </p:txBody>
      </p:sp>
      <p:sp>
        <p:nvSpPr>
          <p:cNvPr id="3" name="Content Placeholder 2"/>
          <p:cNvSpPr>
            <a:spLocks noGrp="1"/>
          </p:cNvSpPr>
          <p:nvPr>
            <p:ph idx="1"/>
          </p:nvPr>
        </p:nvSpPr>
        <p:spPr/>
        <p:txBody>
          <a:bodyPr/>
          <a:lstStyle/>
          <a:p>
            <a:r>
              <a:rPr lang="en-US" dirty="0"/>
              <a:t>Greet the audience</a:t>
            </a:r>
          </a:p>
          <a:p>
            <a:r>
              <a:rPr lang="en-US" dirty="0"/>
              <a:t>Grab the attention</a:t>
            </a:r>
          </a:p>
          <a:p>
            <a:r>
              <a:rPr lang="en-US" dirty="0"/>
              <a:t>Introduce yourself</a:t>
            </a:r>
          </a:p>
          <a:p>
            <a:r>
              <a:rPr lang="en-US" dirty="0"/>
              <a:t>Statement of objective (thesis </a:t>
            </a:r>
            <a:r>
              <a:rPr lang="en-US" dirty="0" smtClean="0"/>
              <a:t>statement)</a:t>
            </a:r>
            <a:endParaRPr lang="en-US" dirty="0"/>
          </a:p>
          <a:p>
            <a:r>
              <a:rPr lang="en-US" dirty="0"/>
              <a:t>Overview of all your main points</a:t>
            </a:r>
          </a:p>
          <a:p>
            <a:r>
              <a:rPr lang="en-US" dirty="0"/>
              <a:t>Emphasize key words or phrases that you will use later</a:t>
            </a:r>
          </a:p>
        </p:txBody>
      </p:sp>
      <p:sp>
        <p:nvSpPr>
          <p:cNvPr id="5" name="Slide Number Placeholder 4"/>
          <p:cNvSpPr>
            <a:spLocks noGrp="1"/>
          </p:cNvSpPr>
          <p:nvPr>
            <p:ph type="sldNum" sz="quarter" idx="12"/>
          </p:nvPr>
        </p:nvSpPr>
        <p:spPr/>
        <p:txBody>
          <a:bodyPr/>
          <a:lstStyle/>
          <a:p>
            <a:fld id="{23494754-66A2-4D55-A3BE-A7B793766391}" type="slidenum">
              <a:rPr lang="en-US" smtClean="0"/>
              <a:t>7</a:t>
            </a:fld>
            <a:endParaRPr lang="en-US"/>
          </a:p>
        </p:txBody>
      </p:sp>
    </p:spTree>
    <p:extLst>
      <p:ext uri="{BB962C8B-B14F-4D97-AF65-F5344CB8AC3E}">
        <p14:creationId xmlns:p14="http://schemas.microsoft.com/office/powerpoint/2010/main" val="83080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8BEC8-126A-419E-915B-AFAE117918BB}"/>
              </a:ext>
            </a:extLst>
          </p:cNvPr>
          <p:cNvSpPr>
            <a:spLocks noGrp="1"/>
          </p:cNvSpPr>
          <p:nvPr>
            <p:ph type="title"/>
          </p:nvPr>
        </p:nvSpPr>
        <p:spPr/>
        <p:txBody>
          <a:bodyPr/>
          <a:lstStyle/>
          <a:p>
            <a:r>
              <a:rPr lang="en-GB" b="1" dirty="0"/>
              <a:t>b. Body </a:t>
            </a:r>
          </a:p>
        </p:txBody>
      </p:sp>
      <p:sp>
        <p:nvSpPr>
          <p:cNvPr id="3" name="Content Placeholder 2">
            <a:extLst>
              <a:ext uri="{FF2B5EF4-FFF2-40B4-BE49-F238E27FC236}">
                <a16:creationId xmlns="" xmlns:a16="http://schemas.microsoft.com/office/drawing/2014/main" id="{D8DEFC40-81BA-4860-BBF9-1D6AA951DA90}"/>
              </a:ext>
            </a:extLst>
          </p:cNvPr>
          <p:cNvSpPr>
            <a:spLocks noGrp="1"/>
          </p:cNvSpPr>
          <p:nvPr>
            <p:ph idx="1"/>
          </p:nvPr>
        </p:nvSpPr>
        <p:spPr/>
        <p:txBody>
          <a:bodyPr>
            <a:normAutofit/>
          </a:bodyPr>
          <a:lstStyle/>
          <a:p>
            <a:r>
              <a:rPr lang="en-GB" dirty="0"/>
              <a:t>Elaborate on background of your topic (include main point, </a:t>
            </a:r>
            <a:r>
              <a:rPr lang="en-GB" dirty="0" smtClean="0"/>
              <a:t>sub-point, bullets etc</a:t>
            </a:r>
            <a:r>
              <a:rPr lang="en-GB" dirty="0"/>
              <a:t>.)</a:t>
            </a:r>
          </a:p>
          <a:p>
            <a:r>
              <a:rPr lang="en-GB" dirty="0"/>
              <a:t>If on research or technical information, state the theory, assumptions, methods or </a:t>
            </a:r>
            <a:r>
              <a:rPr lang="en-GB" dirty="0" smtClean="0"/>
              <a:t>procedures etc.</a:t>
            </a:r>
            <a:endParaRPr lang="en-GB" dirty="0"/>
          </a:p>
          <a:p>
            <a:pPr>
              <a:buFontTx/>
              <a:buChar char="-"/>
            </a:pPr>
            <a:r>
              <a:rPr lang="en-GB" dirty="0"/>
              <a:t>Use examples, graphics, pictures, tables, charts etc.</a:t>
            </a:r>
          </a:p>
          <a:p>
            <a:pPr>
              <a:buFontTx/>
              <a:buChar char="-"/>
            </a:pPr>
            <a:r>
              <a:rPr lang="en-GB" dirty="0"/>
              <a:t>Include a brief discussion (what the points mean)</a:t>
            </a:r>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8</a:t>
            </a:fld>
            <a:endParaRPr lang="en-US"/>
          </a:p>
        </p:txBody>
      </p:sp>
    </p:spTree>
    <p:extLst>
      <p:ext uri="{BB962C8B-B14F-4D97-AF65-F5344CB8AC3E}">
        <p14:creationId xmlns:p14="http://schemas.microsoft.com/office/powerpoint/2010/main" val="1381384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4222BC-B6CA-4D44-AD29-B655846A8441}"/>
              </a:ext>
            </a:extLst>
          </p:cNvPr>
          <p:cNvSpPr>
            <a:spLocks noGrp="1"/>
          </p:cNvSpPr>
          <p:nvPr>
            <p:ph type="title"/>
          </p:nvPr>
        </p:nvSpPr>
        <p:spPr/>
        <p:txBody>
          <a:bodyPr/>
          <a:lstStyle/>
          <a:p>
            <a:r>
              <a:rPr lang="en-GB" b="1" dirty="0"/>
              <a:t>c. Conclusion </a:t>
            </a:r>
          </a:p>
        </p:txBody>
      </p:sp>
      <p:sp>
        <p:nvSpPr>
          <p:cNvPr id="3" name="Content Placeholder 2">
            <a:extLst>
              <a:ext uri="{FF2B5EF4-FFF2-40B4-BE49-F238E27FC236}">
                <a16:creationId xmlns="" xmlns:a16="http://schemas.microsoft.com/office/drawing/2014/main" id="{5A3DEB22-72AB-4110-9E46-F3BFF139062F}"/>
              </a:ext>
            </a:extLst>
          </p:cNvPr>
          <p:cNvSpPr>
            <a:spLocks noGrp="1"/>
          </p:cNvSpPr>
          <p:nvPr>
            <p:ph idx="1"/>
          </p:nvPr>
        </p:nvSpPr>
        <p:spPr/>
        <p:txBody>
          <a:bodyPr>
            <a:normAutofit/>
          </a:bodyPr>
          <a:lstStyle/>
          <a:p>
            <a:r>
              <a:rPr lang="en-GB" dirty="0"/>
              <a:t>Give </a:t>
            </a:r>
            <a:r>
              <a:rPr lang="en-GB" dirty="0" smtClean="0"/>
              <a:t>conclusions and </a:t>
            </a:r>
            <a:r>
              <a:rPr lang="en-GB" dirty="0"/>
              <a:t>offer recommendations</a:t>
            </a:r>
          </a:p>
          <a:p>
            <a:r>
              <a:rPr lang="en-GB" dirty="0"/>
              <a:t>End smoothly with a statement that sums up the presentation</a:t>
            </a:r>
          </a:p>
          <a:p>
            <a:r>
              <a:rPr lang="en-GB" dirty="0"/>
              <a:t>Invite the audience </a:t>
            </a:r>
            <a:r>
              <a:rPr lang="en-GB" dirty="0" smtClean="0"/>
              <a:t>for</a:t>
            </a:r>
            <a:r>
              <a:rPr lang="en-GB" dirty="0" smtClean="0"/>
              <a:t> </a:t>
            </a:r>
            <a:r>
              <a:rPr lang="en-GB" dirty="0"/>
              <a:t>the </a:t>
            </a:r>
            <a:r>
              <a:rPr lang="en-GB" dirty="0" smtClean="0"/>
              <a:t>questions</a:t>
            </a:r>
            <a:endParaRPr lang="en-GB" b="1" dirty="0"/>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9</a:t>
            </a:fld>
            <a:endParaRPr lang="en-US"/>
          </a:p>
        </p:txBody>
      </p:sp>
    </p:spTree>
    <p:extLst>
      <p:ext uri="{BB962C8B-B14F-4D97-AF65-F5344CB8AC3E}">
        <p14:creationId xmlns:p14="http://schemas.microsoft.com/office/powerpoint/2010/main" val="2712779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 Question-and-answer session</a:t>
            </a:r>
          </a:p>
        </p:txBody>
      </p:sp>
      <p:sp>
        <p:nvSpPr>
          <p:cNvPr id="3" name="Content Placeholder 2"/>
          <p:cNvSpPr>
            <a:spLocks noGrp="1"/>
          </p:cNvSpPr>
          <p:nvPr>
            <p:ph idx="1"/>
          </p:nvPr>
        </p:nvSpPr>
        <p:spPr/>
        <p:txBody>
          <a:bodyPr/>
          <a:lstStyle/>
          <a:p>
            <a:r>
              <a:rPr lang="en-GB" dirty="0"/>
              <a:t>Invite questions</a:t>
            </a:r>
          </a:p>
          <a:p>
            <a:r>
              <a:rPr lang="en-GB" dirty="0"/>
              <a:t>Listen carefully</a:t>
            </a:r>
          </a:p>
          <a:p>
            <a:r>
              <a:rPr lang="en-GB" dirty="0"/>
              <a:t>Clarify the confusion</a:t>
            </a:r>
          </a:p>
          <a:p>
            <a:r>
              <a:rPr lang="en-GB" dirty="0"/>
              <a:t>Be honest (if you </a:t>
            </a:r>
            <a:r>
              <a:rPr lang="en-GB" dirty="0" smtClean="0"/>
              <a:t>are not clear about</a:t>
            </a:r>
            <a:r>
              <a:rPr lang="en-GB" dirty="0" smtClean="0"/>
              <a:t> </a:t>
            </a:r>
            <a:r>
              <a:rPr lang="en-GB" dirty="0"/>
              <a:t>answer)</a:t>
            </a:r>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10</a:t>
            </a:fld>
            <a:endParaRPr lang="en-US"/>
          </a:p>
        </p:txBody>
      </p:sp>
    </p:spTree>
    <p:extLst>
      <p:ext uri="{BB962C8B-B14F-4D97-AF65-F5344CB8AC3E}">
        <p14:creationId xmlns:p14="http://schemas.microsoft.com/office/powerpoint/2010/main" val="3174845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 </a:t>
            </a:r>
            <a:r>
              <a:rPr lang="en-US" b="1" dirty="0">
                <a:solidFill>
                  <a:srgbClr val="FF0000"/>
                </a:solidFill>
              </a:rPr>
              <a:t>Planning and Making Presentations</a:t>
            </a:r>
            <a:br>
              <a:rPr lang="en-US" b="1" dirty="0">
                <a:solidFill>
                  <a:srgbClr val="FF0000"/>
                </a:solidFill>
              </a:rPr>
            </a:br>
            <a:endParaRPr lang="en-US" b="1" dirty="0">
              <a:solidFill>
                <a:srgbClr val="FF0000"/>
              </a:solidFill>
            </a:endParaRPr>
          </a:p>
        </p:txBody>
      </p:sp>
      <p:sp>
        <p:nvSpPr>
          <p:cNvPr id="3" name="Content Placeholder 2"/>
          <p:cNvSpPr>
            <a:spLocks noGrp="1"/>
          </p:cNvSpPr>
          <p:nvPr>
            <p:ph idx="1"/>
          </p:nvPr>
        </p:nvSpPr>
        <p:spPr>
          <a:xfrm>
            <a:off x="838200" y="1139686"/>
            <a:ext cx="10515600" cy="5857461"/>
          </a:xfrm>
        </p:spPr>
        <p:txBody>
          <a:bodyPr>
            <a:normAutofit/>
          </a:bodyPr>
          <a:lstStyle/>
          <a:p>
            <a:r>
              <a:rPr lang="en-US" dirty="0"/>
              <a:t>E</a:t>
            </a:r>
            <a:r>
              <a:rPr lang="en-US" dirty="0" smtClean="0"/>
              <a:t>ffective </a:t>
            </a:r>
            <a:r>
              <a:rPr lang="en-US" dirty="0"/>
              <a:t>presentations require </a:t>
            </a:r>
            <a:r>
              <a:rPr lang="en-US" dirty="0">
                <a:solidFill>
                  <a:srgbClr val="00B0F0"/>
                </a:solidFill>
              </a:rPr>
              <a:t>good planning </a:t>
            </a:r>
            <a:r>
              <a:rPr lang="en-US" dirty="0"/>
              <a:t>and </a:t>
            </a:r>
            <a:r>
              <a:rPr lang="en-US" dirty="0" smtClean="0"/>
              <a:t>presentation, </a:t>
            </a:r>
            <a:r>
              <a:rPr lang="en-US" dirty="0"/>
              <a:t>particularly about how to </a:t>
            </a:r>
            <a:r>
              <a:rPr lang="en-US" dirty="0">
                <a:solidFill>
                  <a:srgbClr val="00B0F0"/>
                </a:solidFill>
              </a:rPr>
              <a:t>grab the attention </a:t>
            </a:r>
            <a:r>
              <a:rPr lang="en-US" dirty="0" smtClean="0">
                <a:solidFill>
                  <a:srgbClr val="00B0F0"/>
                </a:solidFill>
              </a:rPr>
              <a:t>of </a:t>
            </a:r>
            <a:r>
              <a:rPr lang="en-US" dirty="0" smtClean="0">
                <a:solidFill>
                  <a:srgbClr val="00B0F0"/>
                </a:solidFill>
              </a:rPr>
              <a:t>audience</a:t>
            </a:r>
            <a:r>
              <a:rPr lang="en-US" dirty="0" smtClean="0"/>
              <a:t>.</a:t>
            </a:r>
            <a:endParaRPr lang="en-US" dirty="0"/>
          </a:p>
          <a:p>
            <a:r>
              <a:rPr lang="en-US" b="1" dirty="0">
                <a:solidFill>
                  <a:srgbClr val="FF0000"/>
                </a:solidFill>
              </a:rPr>
              <a:t>Concentrate on three key points:</a:t>
            </a:r>
          </a:p>
          <a:p>
            <a:pPr marL="571500" indent="-571500">
              <a:buAutoNum type="romanLcPeriod"/>
            </a:pPr>
            <a:r>
              <a:rPr lang="en-US" b="1" dirty="0">
                <a:solidFill>
                  <a:srgbClr val="00B0F0"/>
                </a:solidFill>
              </a:rPr>
              <a:t>Presentation tools or techniques</a:t>
            </a:r>
            <a:r>
              <a:rPr lang="en-US" dirty="0">
                <a:solidFill>
                  <a:srgbClr val="00B0F0"/>
                </a:solidFill>
              </a:rPr>
              <a:t>: </a:t>
            </a:r>
            <a:r>
              <a:rPr lang="en-US" dirty="0"/>
              <a:t>postures, PowerPoint, demonstration, role-play, oral delivery, videos etc.</a:t>
            </a:r>
          </a:p>
          <a:p>
            <a:pPr marL="571500" indent="-571500">
              <a:buAutoNum type="romanLcPeriod"/>
            </a:pPr>
            <a:r>
              <a:rPr lang="en-US" b="1" dirty="0">
                <a:solidFill>
                  <a:srgbClr val="00B0F0"/>
                </a:solidFill>
              </a:rPr>
              <a:t>Writing skills</a:t>
            </a:r>
            <a:r>
              <a:rPr lang="en-US" dirty="0">
                <a:solidFill>
                  <a:srgbClr val="00B0F0"/>
                </a:solidFill>
              </a:rPr>
              <a:t>: </a:t>
            </a:r>
            <a:r>
              <a:rPr lang="en-US" dirty="0" smtClean="0"/>
              <a:t>systematic, concise</a:t>
            </a:r>
            <a:r>
              <a:rPr lang="en-US" dirty="0"/>
              <a:t>, bullets, highlight main </a:t>
            </a:r>
            <a:r>
              <a:rPr lang="en-US" dirty="0" smtClean="0"/>
              <a:t>ideas etc.</a:t>
            </a:r>
            <a:endParaRPr lang="en-US" dirty="0"/>
          </a:p>
          <a:p>
            <a:pPr marL="571500" indent="-571500">
              <a:buAutoNum type="romanLcPeriod"/>
            </a:pPr>
            <a:r>
              <a:rPr lang="en-US" b="1" dirty="0">
                <a:solidFill>
                  <a:srgbClr val="00B0F0"/>
                </a:solidFill>
              </a:rPr>
              <a:t>Way of delivery</a:t>
            </a:r>
            <a:r>
              <a:rPr lang="en-US" dirty="0">
                <a:solidFill>
                  <a:srgbClr val="00B0F0"/>
                </a:solidFill>
              </a:rPr>
              <a:t>:</a:t>
            </a:r>
            <a:r>
              <a:rPr lang="en-US" dirty="0"/>
              <a:t> concentrate on not only what to say but also how to say, body language</a:t>
            </a:r>
          </a:p>
          <a:p>
            <a:r>
              <a:rPr lang="en-US" dirty="0" smtClean="0"/>
              <a:t> </a:t>
            </a:r>
            <a:r>
              <a:rPr lang="en-US" b="1" dirty="0">
                <a:solidFill>
                  <a:srgbClr val="00B0F0"/>
                </a:solidFill>
              </a:rPr>
              <a:t>D</a:t>
            </a:r>
            <a:r>
              <a:rPr lang="en-US" b="1" dirty="0" smtClean="0">
                <a:solidFill>
                  <a:srgbClr val="00B0F0"/>
                </a:solidFill>
              </a:rPr>
              <a:t>etermine </a:t>
            </a:r>
            <a:r>
              <a:rPr lang="en-US" b="1" dirty="0">
                <a:solidFill>
                  <a:srgbClr val="00B0F0"/>
                </a:solidFill>
              </a:rPr>
              <a:t>the purpose, choose the topic, gather information, organize them, write the script, revise, rehearse and deliver.</a:t>
            </a:r>
          </a:p>
        </p:txBody>
      </p:sp>
      <p:sp>
        <p:nvSpPr>
          <p:cNvPr id="5" name="Slide Number Placeholder 4"/>
          <p:cNvSpPr>
            <a:spLocks noGrp="1"/>
          </p:cNvSpPr>
          <p:nvPr>
            <p:ph type="sldNum" sz="quarter" idx="12"/>
          </p:nvPr>
        </p:nvSpPr>
        <p:spPr/>
        <p:txBody>
          <a:bodyPr/>
          <a:lstStyle/>
          <a:p>
            <a:fld id="{23494754-66A2-4D55-A3BE-A7B793766391}" type="slidenum">
              <a:rPr lang="en-US" smtClean="0"/>
              <a:t>11</a:t>
            </a:fld>
            <a:endParaRPr lang="en-US" dirty="0"/>
          </a:p>
        </p:txBody>
      </p:sp>
    </p:spTree>
    <p:extLst>
      <p:ext uri="{BB962C8B-B14F-4D97-AF65-F5344CB8AC3E}">
        <p14:creationId xmlns:p14="http://schemas.microsoft.com/office/powerpoint/2010/main" val="3439194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74" y="365125"/>
            <a:ext cx="11555896" cy="1325563"/>
          </a:xfrm>
        </p:spPr>
        <p:txBody>
          <a:bodyPr/>
          <a:lstStyle/>
          <a:p>
            <a:r>
              <a:rPr lang="en-US" b="1" dirty="0">
                <a:solidFill>
                  <a:srgbClr val="FF0000"/>
                </a:solidFill>
              </a:rPr>
              <a:t>Consider the following steps during preparation</a:t>
            </a:r>
          </a:p>
        </p:txBody>
      </p:sp>
      <p:sp>
        <p:nvSpPr>
          <p:cNvPr id="3" name="Content Placeholder 2"/>
          <p:cNvSpPr>
            <a:spLocks noGrp="1"/>
          </p:cNvSpPr>
          <p:nvPr>
            <p:ph idx="1"/>
          </p:nvPr>
        </p:nvSpPr>
        <p:spPr>
          <a:xfrm>
            <a:off x="838200" y="1457740"/>
            <a:ext cx="10515600" cy="5400260"/>
          </a:xfrm>
        </p:spPr>
        <p:txBody>
          <a:bodyPr>
            <a:normAutofit fontScale="92500"/>
          </a:bodyPr>
          <a:lstStyle/>
          <a:p>
            <a:pPr marL="0" indent="0">
              <a:buNone/>
            </a:pPr>
            <a:r>
              <a:rPr lang="en-US" sz="3000" b="1" dirty="0">
                <a:solidFill>
                  <a:srgbClr val="0070C0"/>
                </a:solidFill>
              </a:rPr>
              <a:t>1. Plan</a:t>
            </a:r>
          </a:p>
          <a:p>
            <a:r>
              <a:rPr lang="en-US" dirty="0"/>
              <a:t>Be sure of the purpose, topic, content, time, audience, visual aids etc. </a:t>
            </a:r>
          </a:p>
          <a:p>
            <a:pPr marL="0" indent="0">
              <a:buNone/>
            </a:pPr>
            <a:r>
              <a:rPr lang="en-US" sz="3000" b="1" dirty="0">
                <a:solidFill>
                  <a:srgbClr val="0070C0"/>
                </a:solidFill>
              </a:rPr>
              <a:t>2. Prepare</a:t>
            </a:r>
          </a:p>
          <a:p>
            <a:r>
              <a:rPr lang="en-US" dirty="0"/>
              <a:t>Outline the presentation, adopt tools &amp; techniques, develop </a:t>
            </a:r>
            <a:r>
              <a:rPr lang="en-US" dirty="0" smtClean="0"/>
              <a:t>confidence, </a:t>
            </a:r>
            <a:r>
              <a:rPr lang="en-US" dirty="0"/>
              <a:t>test technologies &amp; venues, know your audience and context.</a:t>
            </a:r>
          </a:p>
          <a:p>
            <a:pPr marL="0" indent="0">
              <a:buNone/>
            </a:pPr>
            <a:r>
              <a:rPr lang="en-US" sz="3000" b="1" dirty="0">
                <a:solidFill>
                  <a:srgbClr val="0070C0"/>
                </a:solidFill>
              </a:rPr>
              <a:t>3. Practice</a:t>
            </a:r>
          </a:p>
          <a:p>
            <a:r>
              <a:rPr lang="en-US" dirty="0"/>
              <a:t>Read aloud in front of mirror/peers/family members, check time, watch some videos, be prepared</a:t>
            </a:r>
          </a:p>
          <a:p>
            <a:pPr marL="0" indent="0">
              <a:buNone/>
            </a:pPr>
            <a:r>
              <a:rPr lang="en-US" sz="3000" b="1" dirty="0">
                <a:solidFill>
                  <a:srgbClr val="0070C0"/>
                </a:solidFill>
              </a:rPr>
              <a:t>4. Present</a:t>
            </a:r>
          </a:p>
          <a:p>
            <a:r>
              <a:rPr lang="en-US" dirty="0"/>
              <a:t>Appear comfortable and confident and deliver the ideas</a:t>
            </a:r>
          </a:p>
          <a:p>
            <a:r>
              <a:rPr lang="en-US" dirty="0" smtClean="0"/>
              <a:t>Tell </a:t>
            </a:r>
            <a:r>
              <a:rPr lang="en-US" dirty="0"/>
              <a:t>them what you are going to </a:t>
            </a:r>
            <a:r>
              <a:rPr lang="en-US" dirty="0" smtClean="0"/>
              <a:t>tell, tell </a:t>
            </a:r>
            <a:r>
              <a:rPr lang="en-US" dirty="0"/>
              <a:t>again that you have told them.</a:t>
            </a:r>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12</a:t>
            </a:fld>
            <a:endParaRPr lang="en-US"/>
          </a:p>
        </p:txBody>
      </p:sp>
    </p:spTree>
    <p:extLst>
      <p:ext uri="{BB962C8B-B14F-4D97-AF65-F5344CB8AC3E}">
        <p14:creationId xmlns:p14="http://schemas.microsoft.com/office/powerpoint/2010/main" val="4203356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808383"/>
          </a:xfrm>
        </p:spPr>
        <p:txBody>
          <a:bodyPr/>
          <a:lstStyle/>
          <a:p>
            <a:r>
              <a:rPr lang="en-US" b="1" dirty="0">
                <a:solidFill>
                  <a:srgbClr val="0070C0"/>
                </a:solidFill>
              </a:rPr>
              <a:t>Tips on giving effective presentations</a:t>
            </a:r>
          </a:p>
        </p:txBody>
      </p:sp>
      <p:sp>
        <p:nvSpPr>
          <p:cNvPr id="3" name="Content Placeholder 2"/>
          <p:cNvSpPr>
            <a:spLocks noGrp="1"/>
          </p:cNvSpPr>
          <p:nvPr>
            <p:ph idx="1"/>
          </p:nvPr>
        </p:nvSpPr>
        <p:spPr>
          <a:xfrm>
            <a:off x="838200" y="808382"/>
            <a:ext cx="10515600" cy="6049617"/>
          </a:xfrm>
        </p:spPr>
        <p:txBody>
          <a:bodyPr>
            <a:normAutofit fontScale="92500" lnSpcReduction="20000"/>
          </a:bodyPr>
          <a:lstStyle/>
          <a:p>
            <a:r>
              <a:rPr lang="en-US" dirty="0"/>
              <a:t>Get there on time</a:t>
            </a:r>
          </a:p>
          <a:p>
            <a:r>
              <a:rPr lang="en-US" dirty="0"/>
              <a:t>Greet audience</a:t>
            </a:r>
          </a:p>
          <a:p>
            <a:r>
              <a:rPr lang="en-US" dirty="0"/>
              <a:t>Introduce yourself</a:t>
            </a:r>
          </a:p>
          <a:p>
            <a:r>
              <a:rPr lang="en-US" dirty="0" smtClean="0"/>
              <a:t>Highlight </a:t>
            </a:r>
            <a:r>
              <a:rPr lang="en-US" dirty="0"/>
              <a:t>the </a:t>
            </a:r>
            <a:r>
              <a:rPr lang="en-US" dirty="0">
                <a:solidFill>
                  <a:srgbClr val="00B050"/>
                </a:solidFill>
              </a:rPr>
              <a:t>title and give clues </a:t>
            </a:r>
            <a:r>
              <a:rPr lang="en-US" dirty="0"/>
              <a:t>on what you are going to </a:t>
            </a:r>
            <a:r>
              <a:rPr lang="en-US" dirty="0" smtClean="0"/>
              <a:t>deliver</a:t>
            </a:r>
            <a:endParaRPr lang="en-US" dirty="0"/>
          </a:p>
          <a:p>
            <a:r>
              <a:rPr lang="en-US" dirty="0" smtClean="0"/>
              <a:t>Speak </a:t>
            </a:r>
            <a:r>
              <a:rPr lang="en-US" dirty="0"/>
              <a:t>slowly and clearly</a:t>
            </a:r>
          </a:p>
          <a:p>
            <a:r>
              <a:rPr lang="en-US" dirty="0"/>
              <a:t>Vary your tone</a:t>
            </a:r>
          </a:p>
          <a:p>
            <a:r>
              <a:rPr lang="en-US" dirty="0"/>
              <a:t>Make eye contact</a:t>
            </a:r>
          </a:p>
          <a:p>
            <a:r>
              <a:rPr lang="en-US" dirty="0"/>
              <a:t>Pay attention to the reaction of the </a:t>
            </a:r>
            <a:r>
              <a:rPr lang="en-US" dirty="0" smtClean="0"/>
              <a:t>audience</a:t>
            </a:r>
            <a:endParaRPr lang="en-US" dirty="0"/>
          </a:p>
          <a:p>
            <a:r>
              <a:rPr lang="en-US" dirty="0"/>
              <a:t>Enjoy and show enthusiasm</a:t>
            </a:r>
          </a:p>
          <a:p>
            <a:r>
              <a:rPr lang="en-US" dirty="0"/>
              <a:t>Pause briefly between sections</a:t>
            </a:r>
          </a:p>
          <a:p>
            <a:r>
              <a:rPr lang="en-US" dirty="0"/>
              <a:t>Control your own space and the audience</a:t>
            </a:r>
          </a:p>
          <a:p>
            <a:r>
              <a:rPr lang="en-US" dirty="0"/>
              <a:t>Respond to the queries – be honest</a:t>
            </a:r>
          </a:p>
          <a:p>
            <a:r>
              <a:rPr lang="en-US" dirty="0"/>
              <a:t>Keep a </a:t>
            </a:r>
            <a:r>
              <a:rPr lang="en-US" dirty="0" smtClean="0"/>
              <a:t>glass </a:t>
            </a:r>
            <a:r>
              <a:rPr lang="en-US" dirty="0" smtClean="0"/>
              <a:t>of </a:t>
            </a:r>
            <a:r>
              <a:rPr lang="en-US" dirty="0"/>
              <a:t>water handy as well as tissue paper</a:t>
            </a:r>
          </a:p>
          <a:p>
            <a:r>
              <a:rPr lang="en-US" dirty="0"/>
              <a:t>Keep </a:t>
            </a:r>
            <a:r>
              <a:rPr lang="en-US" dirty="0" smtClean="0"/>
              <a:t>close </a:t>
            </a:r>
            <a:r>
              <a:rPr lang="en-US" dirty="0"/>
              <a:t>eye on the time</a:t>
            </a:r>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13</a:t>
            </a:fld>
            <a:endParaRPr lang="en-US"/>
          </a:p>
        </p:txBody>
      </p:sp>
    </p:spTree>
    <p:extLst>
      <p:ext uri="{BB962C8B-B14F-4D97-AF65-F5344CB8AC3E}">
        <p14:creationId xmlns:p14="http://schemas.microsoft.com/office/powerpoint/2010/main" val="415405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1317BFA-53FA-43C3-B47C-EC9CACE7D34F}"/>
              </a:ext>
            </a:extLst>
          </p:cNvPr>
          <p:cNvSpPr>
            <a:spLocks noGrp="1"/>
          </p:cNvSpPr>
          <p:nvPr>
            <p:ph type="title"/>
          </p:nvPr>
        </p:nvSpPr>
        <p:spPr/>
        <p:txBody>
          <a:bodyPr/>
          <a:lstStyle/>
          <a:p>
            <a:endParaRPr lang="en-GB"/>
          </a:p>
        </p:txBody>
      </p:sp>
      <p:pic>
        <p:nvPicPr>
          <p:cNvPr id="4" name="Content Placeholder 3" descr="world-class-business-presentations-infographic.jpg">
            <a:extLst>
              <a:ext uri="{FF2B5EF4-FFF2-40B4-BE49-F238E27FC236}">
                <a16:creationId xmlns="" xmlns:a16="http://schemas.microsoft.com/office/drawing/2014/main" id="{0649D52B-F9F9-4481-B2BC-25471A47AA20}"/>
              </a:ext>
            </a:extLst>
          </p:cNvPr>
          <p:cNvPicPr>
            <a:picLocks noGrp="1" noChangeAspect="1"/>
          </p:cNvPicPr>
          <p:nvPr>
            <p:ph idx="1"/>
          </p:nvPr>
        </p:nvPicPr>
        <p:blipFill>
          <a:blip r:embed="rId2" cstate="print"/>
          <a:stretch>
            <a:fillRect/>
          </a:stretch>
        </p:blipFill>
        <p:spPr>
          <a:xfrm>
            <a:off x="0" y="0"/>
            <a:ext cx="12192000" cy="7223125"/>
          </a:xfrm>
        </p:spPr>
      </p:pic>
      <p:sp>
        <p:nvSpPr>
          <p:cNvPr id="5" name="Slide Number Placeholder 4"/>
          <p:cNvSpPr>
            <a:spLocks noGrp="1"/>
          </p:cNvSpPr>
          <p:nvPr>
            <p:ph type="sldNum" sz="quarter" idx="12"/>
          </p:nvPr>
        </p:nvSpPr>
        <p:spPr/>
        <p:txBody>
          <a:bodyPr/>
          <a:lstStyle/>
          <a:p>
            <a:fld id="{23494754-66A2-4D55-A3BE-A7B793766391}" type="slidenum">
              <a:rPr lang="en-US" smtClean="0"/>
              <a:t>14</a:t>
            </a:fld>
            <a:endParaRPr lang="en-US"/>
          </a:p>
        </p:txBody>
      </p:sp>
    </p:spTree>
    <p:extLst>
      <p:ext uri="{BB962C8B-B14F-4D97-AF65-F5344CB8AC3E}">
        <p14:creationId xmlns:p14="http://schemas.microsoft.com/office/powerpoint/2010/main" val="1973663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F3FE61-2582-4F81-A892-B5F13D64855E}"/>
              </a:ext>
            </a:extLst>
          </p:cNvPr>
          <p:cNvSpPr>
            <a:spLocks noGrp="1"/>
          </p:cNvSpPr>
          <p:nvPr>
            <p:ph type="title"/>
          </p:nvPr>
        </p:nvSpPr>
        <p:spPr/>
        <p:txBody>
          <a:bodyPr/>
          <a:lstStyle/>
          <a:p>
            <a:endParaRPr lang="en-GB"/>
          </a:p>
        </p:txBody>
      </p:sp>
      <p:pic>
        <p:nvPicPr>
          <p:cNvPr id="4" name="Content Placeholder 3" descr="7-tips-to-ensure-your-presentation-is-not-boring-of-tips-for-presentations-powerpoint.jpg">
            <a:extLst>
              <a:ext uri="{FF2B5EF4-FFF2-40B4-BE49-F238E27FC236}">
                <a16:creationId xmlns="" xmlns:a16="http://schemas.microsoft.com/office/drawing/2014/main" id="{D721C5A3-839F-4EFF-A457-8052D5BAF635}"/>
              </a:ext>
            </a:extLst>
          </p:cNvPr>
          <p:cNvPicPr>
            <a:picLocks noGrp="1" noChangeAspect="1"/>
          </p:cNvPicPr>
          <p:nvPr>
            <p:ph idx="1"/>
          </p:nvPr>
        </p:nvPicPr>
        <p:blipFill>
          <a:blip r:embed="rId2" cstate="print"/>
          <a:stretch>
            <a:fillRect/>
          </a:stretch>
        </p:blipFill>
        <p:spPr>
          <a:xfrm>
            <a:off x="1" y="0"/>
            <a:ext cx="12192000" cy="6858000"/>
          </a:xfrm>
        </p:spPr>
      </p:pic>
      <p:sp>
        <p:nvSpPr>
          <p:cNvPr id="5" name="Slide Number Placeholder 4"/>
          <p:cNvSpPr>
            <a:spLocks noGrp="1"/>
          </p:cNvSpPr>
          <p:nvPr>
            <p:ph type="sldNum" sz="quarter" idx="12"/>
          </p:nvPr>
        </p:nvSpPr>
        <p:spPr/>
        <p:txBody>
          <a:bodyPr/>
          <a:lstStyle/>
          <a:p>
            <a:fld id="{23494754-66A2-4D55-A3BE-A7B793766391}" type="slidenum">
              <a:rPr lang="en-US" smtClean="0"/>
              <a:t>15</a:t>
            </a:fld>
            <a:endParaRPr lang="en-US"/>
          </a:p>
        </p:txBody>
      </p:sp>
    </p:spTree>
    <p:extLst>
      <p:ext uri="{BB962C8B-B14F-4D97-AF65-F5344CB8AC3E}">
        <p14:creationId xmlns:p14="http://schemas.microsoft.com/office/powerpoint/2010/main" val="942162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0F7B89-7592-485C-8EA4-FC816D305857}"/>
              </a:ext>
            </a:extLst>
          </p:cNvPr>
          <p:cNvSpPr>
            <a:spLocks noGrp="1"/>
          </p:cNvSpPr>
          <p:nvPr>
            <p:ph type="title"/>
          </p:nvPr>
        </p:nvSpPr>
        <p:spPr/>
        <p:txBody>
          <a:bodyPr/>
          <a:lstStyle/>
          <a:p>
            <a:r>
              <a:rPr lang="en-GB" b="1" dirty="0">
                <a:solidFill>
                  <a:srgbClr val="00B0F0"/>
                </a:solidFill>
              </a:rPr>
              <a:t># </a:t>
            </a:r>
            <a:r>
              <a:rPr lang="en-GB" b="1" dirty="0" smtClean="0">
                <a:solidFill>
                  <a:srgbClr val="00B0F0"/>
                </a:solidFill>
              </a:rPr>
              <a:t>SLIDES for PRESENTATION</a:t>
            </a:r>
            <a:endParaRPr lang="en-GB" b="1" dirty="0">
              <a:solidFill>
                <a:srgbClr val="00B0F0"/>
              </a:solidFill>
            </a:endParaRPr>
          </a:p>
        </p:txBody>
      </p:sp>
      <p:sp>
        <p:nvSpPr>
          <p:cNvPr id="3" name="Content Placeholder 2">
            <a:extLst>
              <a:ext uri="{FF2B5EF4-FFF2-40B4-BE49-F238E27FC236}">
                <a16:creationId xmlns="" xmlns:a16="http://schemas.microsoft.com/office/drawing/2014/main" id="{5594DC00-0FFD-4C3F-8399-15BEC318CF16}"/>
              </a:ext>
            </a:extLst>
          </p:cNvPr>
          <p:cNvSpPr>
            <a:spLocks noGrp="1"/>
          </p:cNvSpPr>
          <p:nvPr>
            <p:ph idx="1"/>
          </p:nvPr>
        </p:nvSpPr>
        <p:spPr/>
        <p:txBody>
          <a:bodyPr>
            <a:normAutofit fontScale="92500" lnSpcReduction="20000"/>
          </a:bodyPr>
          <a:lstStyle/>
          <a:p>
            <a:r>
              <a:rPr lang="en-US" dirty="0"/>
              <a:t>Keep it simple</a:t>
            </a:r>
          </a:p>
          <a:p>
            <a:r>
              <a:rPr lang="en-US" dirty="0"/>
              <a:t>Limit bullet points and texts</a:t>
            </a:r>
          </a:p>
          <a:p>
            <a:r>
              <a:rPr lang="en-US" dirty="0"/>
              <a:t>Use high quality graphics</a:t>
            </a:r>
          </a:p>
          <a:p>
            <a:r>
              <a:rPr lang="en-US" dirty="0"/>
              <a:t>Have a visual </a:t>
            </a:r>
            <a:r>
              <a:rPr lang="en-US" dirty="0" smtClean="0"/>
              <a:t>themes</a:t>
            </a:r>
            <a:r>
              <a:rPr lang="en-US" dirty="0"/>
              <a:t>.</a:t>
            </a:r>
          </a:p>
          <a:p>
            <a:r>
              <a:rPr lang="en-US" dirty="0"/>
              <a:t>Use appropriate chart</a:t>
            </a:r>
          </a:p>
          <a:p>
            <a:r>
              <a:rPr lang="en-US" dirty="0"/>
              <a:t>Use </a:t>
            </a:r>
            <a:r>
              <a:rPr lang="en-US" dirty="0" smtClean="0"/>
              <a:t>appropriate color </a:t>
            </a:r>
            <a:endParaRPr lang="en-US" dirty="0"/>
          </a:p>
          <a:p>
            <a:r>
              <a:rPr lang="en-US" dirty="0" smtClean="0"/>
              <a:t>Choose </a:t>
            </a:r>
            <a:r>
              <a:rPr lang="en-US" dirty="0"/>
              <a:t>font well</a:t>
            </a:r>
          </a:p>
          <a:p>
            <a:r>
              <a:rPr lang="en-US" dirty="0"/>
              <a:t>Use video </a:t>
            </a:r>
            <a:r>
              <a:rPr lang="en-US" dirty="0" smtClean="0"/>
              <a:t>and </a:t>
            </a:r>
            <a:r>
              <a:rPr lang="en-US" dirty="0" smtClean="0"/>
              <a:t>audio</a:t>
            </a:r>
            <a:endParaRPr lang="en-US" dirty="0"/>
          </a:p>
          <a:p>
            <a:r>
              <a:rPr lang="en-US" dirty="0" smtClean="0"/>
              <a:t>Always d</a:t>
            </a:r>
            <a:r>
              <a:rPr lang="en-US" dirty="0" smtClean="0"/>
              <a:t>on’t </a:t>
            </a:r>
            <a:r>
              <a:rPr lang="en-US" dirty="0"/>
              <a:t>stare at </a:t>
            </a:r>
            <a:r>
              <a:rPr lang="en-US" dirty="0" smtClean="0"/>
              <a:t>slides </a:t>
            </a:r>
            <a:endParaRPr lang="en-US" dirty="0"/>
          </a:p>
          <a:p>
            <a:r>
              <a:rPr lang="en-US" dirty="0"/>
              <a:t>Don’t stand between the audience and slides</a:t>
            </a:r>
          </a:p>
          <a:p>
            <a:endParaRPr lang="en-US" dirty="0"/>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16</a:t>
            </a:fld>
            <a:endParaRPr lang="en-US"/>
          </a:p>
        </p:txBody>
      </p:sp>
    </p:spTree>
    <p:extLst>
      <p:ext uri="{BB962C8B-B14F-4D97-AF65-F5344CB8AC3E}">
        <p14:creationId xmlns:p14="http://schemas.microsoft.com/office/powerpoint/2010/main" val="3614699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C0A35F-0D82-46E5-A2E9-54AA9420E00A}"/>
              </a:ext>
            </a:extLst>
          </p:cNvPr>
          <p:cNvSpPr>
            <a:spLocks noGrp="1"/>
          </p:cNvSpPr>
          <p:nvPr>
            <p:ph type="title"/>
          </p:nvPr>
        </p:nvSpPr>
        <p:spPr/>
        <p:txBody>
          <a:bodyPr/>
          <a:lstStyle/>
          <a:p>
            <a:r>
              <a:rPr lang="en-GB" b="1" dirty="0">
                <a:solidFill>
                  <a:srgbClr val="00B0F0"/>
                </a:solidFill>
              </a:rPr>
              <a:t># What not to do during presentations</a:t>
            </a:r>
          </a:p>
        </p:txBody>
      </p:sp>
      <p:sp>
        <p:nvSpPr>
          <p:cNvPr id="3" name="Content Placeholder 2">
            <a:extLst>
              <a:ext uri="{FF2B5EF4-FFF2-40B4-BE49-F238E27FC236}">
                <a16:creationId xmlns="" xmlns:a16="http://schemas.microsoft.com/office/drawing/2014/main" id="{0A31C139-1418-467A-8284-F2EA7FD0F885}"/>
              </a:ext>
            </a:extLst>
          </p:cNvPr>
          <p:cNvSpPr>
            <a:spLocks noGrp="1"/>
          </p:cNvSpPr>
          <p:nvPr>
            <p:ph idx="1"/>
          </p:nvPr>
        </p:nvSpPr>
        <p:spPr/>
        <p:txBody>
          <a:bodyPr>
            <a:normAutofit lnSpcReduction="10000"/>
          </a:bodyPr>
          <a:lstStyle/>
          <a:p>
            <a:r>
              <a:rPr lang="en-US" dirty="0"/>
              <a:t>Do not fear</a:t>
            </a:r>
          </a:p>
          <a:p>
            <a:r>
              <a:rPr lang="en-US" dirty="0"/>
              <a:t>Do not rush </a:t>
            </a:r>
          </a:p>
          <a:p>
            <a:r>
              <a:rPr lang="en-US" dirty="0"/>
              <a:t>Do not stick your hands in your pockets</a:t>
            </a:r>
          </a:p>
          <a:p>
            <a:r>
              <a:rPr lang="en-US" dirty="0"/>
              <a:t>Do not underestimate your audience</a:t>
            </a:r>
          </a:p>
          <a:p>
            <a:r>
              <a:rPr lang="en-US" dirty="0"/>
              <a:t>Do not hurt </a:t>
            </a:r>
            <a:r>
              <a:rPr lang="en-US" dirty="0" smtClean="0"/>
              <a:t>audience</a:t>
            </a:r>
            <a:r>
              <a:rPr lang="en-US" dirty="0" smtClean="0"/>
              <a:t>’s </a:t>
            </a:r>
            <a:r>
              <a:rPr lang="en-US" dirty="0"/>
              <a:t>feelings</a:t>
            </a:r>
          </a:p>
          <a:p>
            <a:r>
              <a:rPr lang="en-US" dirty="0"/>
              <a:t>Do not </a:t>
            </a:r>
            <a:r>
              <a:rPr lang="en-US" dirty="0" smtClean="0"/>
              <a:t>command</a:t>
            </a:r>
            <a:endParaRPr lang="en-US" dirty="0"/>
          </a:p>
          <a:p>
            <a:r>
              <a:rPr lang="en-US" dirty="0"/>
              <a:t>Do not repeat the same content </a:t>
            </a:r>
          </a:p>
          <a:p>
            <a:r>
              <a:rPr lang="en-US" dirty="0"/>
              <a:t>Do not  avoid appropriate non-verbal communication</a:t>
            </a:r>
          </a:p>
          <a:p>
            <a:r>
              <a:rPr lang="en-US" dirty="0"/>
              <a:t>Don’t be egotistical (thinking that you are better than anyone else)</a:t>
            </a:r>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17</a:t>
            </a:fld>
            <a:endParaRPr lang="en-US"/>
          </a:p>
        </p:txBody>
      </p:sp>
    </p:spTree>
    <p:extLst>
      <p:ext uri="{BB962C8B-B14F-4D97-AF65-F5344CB8AC3E}">
        <p14:creationId xmlns:p14="http://schemas.microsoft.com/office/powerpoint/2010/main" val="762307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083730-D1C1-4CD1-8879-F63E91727940}"/>
              </a:ext>
            </a:extLst>
          </p:cNvPr>
          <p:cNvSpPr>
            <a:spLocks noGrp="1"/>
          </p:cNvSpPr>
          <p:nvPr>
            <p:ph type="title"/>
          </p:nvPr>
        </p:nvSpPr>
        <p:spPr/>
        <p:txBody>
          <a:bodyPr/>
          <a:lstStyle/>
          <a:p>
            <a:r>
              <a:rPr lang="en-GB" b="1" dirty="0" smtClean="0">
                <a:solidFill>
                  <a:srgbClr val="FF0000"/>
                </a:solidFill>
              </a:rPr>
              <a:t>Signposting </a:t>
            </a:r>
            <a:endParaRPr lang="en-GB" b="1" dirty="0">
              <a:solidFill>
                <a:srgbClr val="FF0000"/>
              </a:solidFill>
            </a:endParaRPr>
          </a:p>
        </p:txBody>
      </p:sp>
      <p:sp>
        <p:nvSpPr>
          <p:cNvPr id="3" name="Content Placeholder 2">
            <a:extLst>
              <a:ext uri="{FF2B5EF4-FFF2-40B4-BE49-F238E27FC236}">
                <a16:creationId xmlns="" xmlns:a16="http://schemas.microsoft.com/office/drawing/2014/main" id="{C29C2B93-EA46-4489-B079-35FB228AAF2F}"/>
              </a:ext>
            </a:extLst>
          </p:cNvPr>
          <p:cNvSpPr>
            <a:spLocks noGrp="1"/>
          </p:cNvSpPr>
          <p:nvPr>
            <p:ph idx="1"/>
          </p:nvPr>
        </p:nvSpPr>
        <p:spPr/>
        <p:txBody>
          <a:bodyPr>
            <a:normAutofit fontScale="92500" lnSpcReduction="10000"/>
          </a:bodyPr>
          <a:lstStyle/>
          <a:p>
            <a:r>
              <a:rPr lang="en-GB" dirty="0"/>
              <a:t>Signposting is the </a:t>
            </a:r>
            <a:r>
              <a:rPr lang="en-GB" dirty="0">
                <a:solidFill>
                  <a:srgbClr val="00B0F0"/>
                </a:solidFill>
              </a:rPr>
              <a:t>use of linguistic devices</a:t>
            </a:r>
            <a:r>
              <a:rPr lang="en-GB" dirty="0"/>
              <a:t> (words and phrases) that </a:t>
            </a:r>
            <a:r>
              <a:rPr lang="en-GB" dirty="0">
                <a:solidFill>
                  <a:srgbClr val="00B0F0"/>
                </a:solidFill>
              </a:rPr>
              <a:t>signal the structure and </a:t>
            </a:r>
            <a:r>
              <a:rPr lang="en-GB" dirty="0" smtClean="0">
                <a:solidFill>
                  <a:srgbClr val="00B0F0"/>
                </a:solidFill>
              </a:rPr>
              <a:t>development</a:t>
            </a:r>
            <a:r>
              <a:rPr lang="en-GB" dirty="0" smtClean="0"/>
              <a:t> </a:t>
            </a:r>
            <a:r>
              <a:rPr lang="en-GB" dirty="0"/>
              <a:t>of your presentation to </a:t>
            </a:r>
            <a:r>
              <a:rPr lang="en-GB" dirty="0">
                <a:solidFill>
                  <a:srgbClr val="00B0F0"/>
                </a:solidFill>
              </a:rPr>
              <a:t>guide </a:t>
            </a:r>
            <a:r>
              <a:rPr lang="en-GB" dirty="0" smtClean="0">
                <a:solidFill>
                  <a:srgbClr val="00B0F0"/>
                </a:solidFill>
              </a:rPr>
              <a:t>listeners</a:t>
            </a:r>
            <a:r>
              <a:rPr lang="en-GB" dirty="0"/>
              <a:t>.</a:t>
            </a:r>
          </a:p>
          <a:p>
            <a:r>
              <a:rPr lang="en-GB" dirty="0"/>
              <a:t>It helps to</a:t>
            </a:r>
            <a:r>
              <a:rPr lang="en-GB" dirty="0">
                <a:solidFill>
                  <a:srgbClr val="00B0F0"/>
                </a:solidFill>
              </a:rPr>
              <a:t> indicate your listener</a:t>
            </a:r>
            <a:r>
              <a:rPr lang="en-GB" dirty="0"/>
              <a:t> what has been </a:t>
            </a:r>
            <a:r>
              <a:rPr lang="en-GB" dirty="0" smtClean="0"/>
              <a:t>delivered, </a:t>
            </a:r>
            <a:r>
              <a:rPr lang="en-GB" dirty="0"/>
              <a:t>and what is going to come next.</a:t>
            </a:r>
          </a:p>
          <a:p>
            <a:r>
              <a:rPr lang="en-GB" dirty="0"/>
              <a:t>H</a:t>
            </a:r>
            <a:r>
              <a:rPr lang="en-GB" dirty="0" smtClean="0"/>
              <a:t>elp </a:t>
            </a:r>
            <a:r>
              <a:rPr lang="en-GB" dirty="0"/>
              <a:t>to </a:t>
            </a:r>
            <a:r>
              <a:rPr lang="en-GB" dirty="0">
                <a:solidFill>
                  <a:srgbClr val="00B0F0"/>
                </a:solidFill>
              </a:rPr>
              <a:t>develop a clear structure</a:t>
            </a:r>
            <a:r>
              <a:rPr lang="en-GB" dirty="0"/>
              <a:t> not only for you as the speaker but also to the listener to follow you clearly.</a:t>
            </a:r>
          </a:p>
          <a:p>
            <a:r>
              <a:rPr lang="en-GB" dirty="0"/>
              <a:t>Words like </a:t>
            </a:r>
            <a:r>
              <a:rPr lang="en-GB" dirty="0" smtClean="0">
                <a:solidFill>
                  <a:srgbClr val="00B0F0"/>
                </a:solidFill>
              </a:rPr>
              <a:t>firstly, </a:t>
            </a:r>
            <a:r>
              <a:rPr lang="en-GB" dirty="0">
                <a:solidFill>
                  <a:srgbClr val="00B0F0"/>
                </a:solidFill>
              </a:rPr>
              <a:t>secondly, then, moreover, on the other hand, </a:t>
            </a:r>
            <a:r>
              <a:rPr lang="en-GB" dirty="0" smtClean="0">
                <a:solidFill>
                  <a:srgbClr val="00B0F0"/>
                </a:solidFill>
              </a:rPr>
              <a:t>similarly, however</a:t>
            </a:r>
            <a:r>
              <a:rPr lang="en-GB" dirty="0">
                <a:solidFill>
                  <a:srgbClr val="00B0F0"/>
                </a:solidFill>
              </a:rPr>
              <a:t>, </a:t>
            </a:r>
            <a:r>
              <a:rPr lang="en-GB" dirty="0" smtClean="0">
                <a:solidFill>
                  <a:srgbClr val="00B0F0"/>
                </a:solidFill>
              </a:rPr>
              <a:t>further, next</a:t>
            </a:r>
            <a:r>
              <a:rPr lang="en-GB" dirty="0">
                <a:solidFill>
                  <a:srgbClr val="00B0F0"/>
                </a:solidFill>
              </a:rPr>
              <a:t>, to </a:t>
            </a:r>
            <a:r>
              <a:rPr lang="en-GB" dirty="0" smtClean="0">
                <a:solidFill>
                  <a:srgbClr val="00B0F0"/>
                </a:solidFill>
              </a:rPr>
              <a:t>conclude</a:t>
            </a:r>
            <a:r>
              <a:rPr lang="en-GB" dirty="0">
                <a:solidFill>
                  <a:srgbClr val="00B0F0"/>
                </a:solidFill>
              </a:rPr>
              <a:t> </a:t>
            </a:r>
            <a:r>
              <a:rPr lang="en-GB" dirty="0" smtClean="0">
                <a:solidFill>
                  <a:srgbClr val="00B0F0"/>
                </a:solidFill>
              </a:rPr>
              <a:t>etc</a:t>
            </a:r>
            <a:r>
              <a:rPr lang="en-GB" dirty="0" smtClean="0"/>
              <a:t>.</a:t>
            </a:r>
            <a:endParaRPr lang="en-GB" dirty="0"/>
          </a:p>
          <a:p>
            <a:r>
              <a:rPr lang="en-GB" dirty="0" smtClean="0"/>
              <a:t>They </a:t>
            </a:r>
            <a:r>
              <a:rPr lang="en-GB" dirty="0"/>
              <a:t>also help to convey what you are trying to do or what you are thinking at a particular moment during your presentation. e.g.</a:t>
            </a:r>
            <a:r>
              <a:rPr lang="en-GB" dirty="0">
                <a:solidFill>
                  <a:srgbClr val="00B0F0"/>
                </a:solidFill>
              </a:rPr>
              <a:t> I think that, it suggests that, I agree with her that, to quote him etc</a:t>
            </a:r>
            <a:r>
              <a:rPr lang="en-GB" dirty="0" smtClean="0">
                <a:solidFill>
                  <a:srgbClr val="00B0F0"/>
                </a:solidFill>
              </a:rPr>
              <a:t>.</a:t>
            </a:r>
            <a:endParaRPr lang="en-GB" dirty="0">
              <a:solidFill>
                <a:srgbClr val="00B0F0"/>
              </a:solidFill>
            </a:endParaRPr>
          </a:p>
        </p:txBody>
      </p:sp>
      <p:sp>
        <p:nvSpPr>
          <p:cNvPr id="5" name="Slide Number Placeholder 4"/>
          <p:cNvSpPr>
            <a:spLocks noGrp="1"/>
          </p:cNvSpPr>
          <p:nvPr>
            <p:ph type="sldNum" sz="quarter" idx="12"/>
          </p:nvPr>
        </p:nvSpPr>
        <p:spPr/>
        <p:txBody>
          <a:bodyPr/>
          <a:lstStyle/>
          <a:p>
            <a:fld id="{23494754-66A2-4D55-A3BE-A7B793766391}" type="slidenum">
              <a:rPr lang="en-US" smtClean="0"/>
              <a:t>18</a:t>
            </a:fld>
            <a:endParaRPr lang="en-US"/>
          </a:p>
        </p:txBody>
      </p:sp>
    </p:spTree>
    <p:extLst>
      <p:ext uri="{BB962C8B-B14F-4D97-AF65-F5344CB8AC3E}">
        <p14:creationId xmlns:p14="http://schemas.microsoft.com/office/powerpoint/2010/main" val="922177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861" y="139838"/>
            <a:ext cx="10515600" cy="1325563"/>
          </a:xfrm>
        </p:spPr>
        <p:txBody>
          <a:bodyPr/>
          <a:lstStyle/>
          <a:p>
            <a:pPr marL="571500" indent="-571500">
              <a:buFont typeface="Wingdings" pitchFamily="2" charset="2"/>
              <a:buChar char="v"/>
            </a:pPr>
            <a:r>
              <a:rPr lang="en-US" b="1" dirty="0" smtClean="0">
                <a:solidFill>
                  <a:srgbClr val="FF0000"/>
                </a:solidFill>
              </a:rPr>
              <a:t>Active </a:t>
            </a:r>
            <a:r>
              <a:rPr lang="en-US" b="1" dirty="0">
                <a:solidFill>
                  <a:srgbClr val="FF0000"/>
                </a:solidFill>
              </a:rPr>
              <a:t>Listening</a:t>
            </a:r>
          </a:p>
        </p:txBody>
      </p:sp>
      <p:sp>
        <p:nvSpPr>
          <p:cNvPr id="3" name="Content Placeholder 2"/>
          <p:cNvSpPr>
            <a:spLocks noGrp="1"/>
          </p:cNvSpPr>
          <p:nvPr>
            <p:ph idx="1"/>
          </p:nvPr>
        </p:nvSpPr>
        <p:spPr>
          <a:xfrm>
            <a:off x="838200" y="1364974"/>
            <a:ext cx="10515600" cy="5356501"/>
          </a:xfrm>
        </p:spPr>
        <p:txBody>
          <a:bodyPr>
            <a:normAutofit/>
          </a:bodyPr>
          <a:lstStyle/>
          <a:p>
            <a:r>
              <a:rPr lang="en-US" dirty="0">
                <a:solidFill>
                  <a:srgbClr val="00B0F0"/>
                </a:solidFill>
              </a:rPr>
              <a:t>Effective communication is not possible</a:t>
            </a:r>
            <a:r>
              <a:rPr lang="en-US" dirty="0"/>
              <a:t> if the listener is not paying attention to the speaker</a:t>
            </a:r>
          </a:p>
          <a:p>
            <a:r>
              <a:rPr lang="en-US" dirty="0"/>
              <a:t>Listening requires you to </a:t>
            </a:r>
            <a:r>
              <a:rPr lang="en-US" dirty="0">
                <a:solidFill>
                  <a:srgbClr val="00B0F0"/>
                </a:solidFill>
              </a:rPr>
              <a:t>engage your mind, to pay attention to the sound, to concentrate on the speaker, to gather </a:t>
            </a:r>
            <a:r>
              <a:rPr lang="en-US" dirty="0" smtClean="0">
                <a:solidFill>
                  <a:srgbClr val="00B0F0"/>
                </a:solidFill>
              </a:rPr>
              <a:t>information</a:t>
            </a:r>
            <a:r>
              <a:rPr lang="en-US" dirty="0">
                <a:solidFill>
                  <a:srgbClr val="00B0F0"/>
                </a:solidFill>
              </a:rPr>
              <a:t> </a:t>
            </a:r>
            <a:r>
              <a:rPr lang="en-US" dirty="0" smtClean="0">
                <a:solidFill>
                  <a:srgbClr val="00B0F0"/>
                </a:solidFill>
              </a:rPr>
              <a:t>etc.</a:t>
            </a:r>
            <a:endParaRPr lang="en-US" dirty="0">
              <a:solidFill>
                <a:srgbClr val="00B0F0"/>
              </a:solidFill>
            </a:endParaRPr>
          </a:p>
          <a:p>
            <a:r>
              <a:rPr lang="en-US" b="1" dirty="0"/>
              <a:t>Hearing</a:t>
            </a:r>
            <a:r>
              <a:rPr lang="en-US" dirty="0"/>
              <a:t> (involuntary) whereas </a:t>
            </a:r>
            <a:r>
              <a:rPr lang="en-US" b="1" dirty="0"/>
              <a:t>listening</a:t>
            </a:r>
            <a:r>
              <a:rPr lang="en-US" dirty="0"/>
              <a:t> (requires volition/will, effort and attention)  </a:t>
            </a:r>
          </a:p>
          <a:p>
            <a:r>
              <a:rPr lang="en-US" dirty="0">
                <a:solidFill>
                  <a:srgbClr val="00B0F0"/>
                </a:solidFill>
              </a:rPr>
              <a:t>Poor listening</a:t>
            </a:r>
            <a:r>
              <a:rPr lang="en-US" dirty="0"/>
              <a:t> leads to </a:t>
            </a:r>
            <a:r>
              <a:rPr lang="en-US" dirty="0">
                <a:solidFill>
                  <a:srgbClr val="00B0F0"/>
                </a:solidFill>
              </a:rPr>
              <a:t>misunderstanding</a:t>
            </a:r>
            <a:r>
              <a:rPr lang="en-US" dirty="0"/>
              <a:t> and break in communication</a:t>
            </a:r>
          </a:p>
          <a:p>
            <a:r>
              <a:rPr lang="en-US" dirty="0"/>
              <a:t>Poor listening indicates lack of focus, hence irrelevant questions</a:t>
            </a:r>
          </a:p>
          <a:p>
            <a:r>
              <a:rPr lang="en-US" dirty="0"/>
              <a:t>Active listening </a:t>
            </a:r>
            <a:r>
              <a:rPr lang="en-US" dirty="0">
                <a:solidFill>
                  <a:srgbClr val="00B0F0"/>
                </a:solidFill>
              </a:rPr>
              <a:t>strengthens the relations</a:t>
            </a:r>
          </a:p>
          <a:p>
            <a:r>
              <a:rPr lang="en-US" dirty="0"/>
              <a:t>Researches show we </a:t>
            </a:r>
            <a:r>
              <a:rPr lang="en-US" dirty="0">
                <a:solidFill>
                  <a:srgbClr val="00B0F0"/>
                </a:solidFill>
              </a:rPr>
              <a:t>retain only 20% of what we hear</a:t>
            </a:r>
          </a:p>
        </p:txBody>
      </p:sp>
      <p:sp>
        <p:nvSpPr>
          <p:cNvPr id="5" name="Slide Number Placeholder 4"/>
          <p:cNvSpPr>
            <a:spLocks noGrp="1"/>
          </p:cNvSpPr>
          <p:nvPr>
            <p:ph type="sldNum" sz="quarter" idx="12"/>
          </p:nvPr>
        </p:nvSpPr>
        <p:spPr/>
        <p:txBody>
          <a:bodyPr/>
          <a:lstStyle/>
          <a:p>
            <a:fld id="{23494754-66A2-4D55-A3BE-A7B793766391}" type="slidenum">
              <a:rPr lang="en-US" smtClean="0"/>
              <a:t>19</a:t>
            </a:fld>
            <a:endParaRPr lang="en-US"/>
          </a:p>
        </p:txBody>
      </p:sp>
    </p:spTree>
    <p:extLst>
      <p:ext uri="{BB962C8B-B14F-4D97-AF65-F5344CB8AC3E}">
        <p14:creationId xmlns:p14="http://schemas.microsoft.com/office/powerpoint/2010/main" val="970063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122" y="-57357"/>
            <a:ext cx="10515600" cy="1325563"/>
          </a:xfrm>
        </p:spPr>
        <p:txBody>
          <a:bodyPr/>
          <a:lstStyle/>
          <a:p>
            <a:r>
              <a:rPr lang="en-US" b="1" dirty="0">
                <a:solidFill>
                  <a:srgbClr val="0070C0"/>
                </a:solidFill>
              </a:rPr>
              <a:t>Reasons for </a:t>
            </a:r>
            <a:r>
              <a:rPr lang="en-US" b="1" dirty="0" smtClean="0">
                <a:solidFill>
                  <a:srgbClr val="0070C0"/>
                </a:solidFill>
              </a:rPr>
              <a:t>Poor </a:t>
            </a:r>
            <a:r>
              <a:rPr lang="en-US" b="1" dirty="0">
                <a:solidFill>
                  <a:srgbClr val="0070C0"/>
                </a:solidFill>
              </a:rPr>
              <a:t>L</a:t>
            </a:r>
            <a:r>
              <a:rPr lang="en-US" b="1" dirty="0" smtClean="0">
                <a:solidFill>
                  <a:srgbClr val="0070C0"/>
                </a:solidFill>
              </a:rPr>
              <a:t>istening</a:t>
            </a:r>
            <a:endParaRPr lang="en-US" b="1" dirty="0">
              <a:solidFill>
                <a:srgbClr val="0070C0"/>
              </a:solidFill>
            </a:endParaRPr>
          </a:p>
        </p:txBody>
      </p:sp>
      <p:sp>
        <p:nvSpPr>
          <p:cNvPr id="3" name="Content Placeholder 2"/>
          <p:cNvSpPr>
            <a:spLocks noGrp="1"/>
          </p:cNvSpPr>
          <p:nvPr>
            <p:ph idx="1"/>
          </p:nvPr>
        </p:nvSpPr>
        <p:spPr>
          <a:xfrm>
            <a:off x="838200" y="1404730"/>
            <a:ext cx="10515600" cy="5453269"/>
          </a:xfrm>
        </p:spPr>
        <p:txBody>
          <a:bodyPr>
            <a:normAutofit fontScale="92500" lnSpcReduction="20000"/>
          </a:bodyPr>
          <a:lstStyle/>
          <a:p>
            <a:r>
              <a:rPr lang="en-US" dirty="0"/>
              <a:t>Lack of interest</a:t>
            </a:r>
          </a:p>
          <a:p>
            <a:r>
              <a:rPr lang="en-US" dirty="0"/>
              <a:t>Distractions (noise)</a:t>
            </a:r>
          </a:p>
          <a:p>
            <a:r>
              <a:rPr lang="en-US" dirty="0"/>
              <a:t>Content too easy/difficult</a:t>
            </a:r>
          </a:p>
          <a:p>
            <a:r>
              <a:rPr lang="en-US" dirty="0"/>
              <a:t>Selective hearing (adding to what we already know)</a:t>
            </a:r>
          </a:p>
          <a:p>
            <a:r>
              <a:rPr lang="en-US" dirty="0"/>
              <a:t>P</a:t>
            </a:r>
            <a:r>
              <a:rPr lang="en-US" dirty="0" smtClean="0"/>
              <a:t>resentations </a:t>
            </a:r>
            <a:r>
              <a:rPr lang="en-US" dirty="0"/>
              <a:t>are boring and </a:t>
            </a:r>
            <a:r>
              <a:rPr lang="en-US" dirty="0" smtClean="0"/>
              <a:t>dull </a:t>
            </a:r>
            <a:endParaRPr lang="en-US" dirty="0"/>
          </a:p>
          <a:p>
            <a:r>
              <a:rPr lang="en-US" dirty="0"/>
              <a:t>Pressure/stress</a:t>
            </a:r>
          </a:p>
          <a:p>
            <a:r>
              <a:rPr lang="en-US" dirty="0"/>
              <a:t>No time </a:t>
            </a:r>
          </a:p>
          <a:p>
            <a:r>
              <a:rPr lang="en-US" dirty="0"/>
              <a:t>Negative attitude</a:t>
            </a:r>
          </a:p>
          <a:p>
            <a:r>
              <a:rPr lang="en-US" dirty="0"/>
              <a:t>Prejudices</a:t>
            </a:r>
          </a:p>
          <a:p>
            <a:r>
              <a:rPr lang="en-US" dirty="0"/>
              <a:t>Low volume</a:t>
            </a:r>
          </a:p>
          <a:p>
            <a:r>
              <a:rPr lang="en-US" dirty="0"/>
              <a:t>language</a:t>
            </a:r>
          </a:p>
          <a:p>
            <a:r>
              <a:rPr lang="en-US" dirty="0" smtClean="0"/>
              <a:t>Poor </a:t>
            </a:r>
            <a:r>
              <a:rPr lang="en-US" dirty="0" smtClean="0"/>
              <a:t>vocabularies</a:t>
            </a:r>
            <a:endParaRPr lang="en-US" dirty="0"/>
          </a:p>
          <a:p>
            <a:r>
              <a:rPr lang="en-US" dirty="0"/>
              <a:t>Lack of trust</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20</a:t>
            </a:fld>
            <a:endParaRPr lang="en-US"/>
          </a:p>
        </p:txBody>
      </p:sp>
      <p:pic>
        <p:nvPicPr>
          <p:cNvPr id="7" name="Picture 6" descr="5-esl-listening-activities-to-sharpen-your-students-ears.jpg">
            <a:extLst>
              <a:ext uri="{FF2B5EF4-FFF2-40B4-BE49-F238E27FC236}">
                <a16:creationId xmlns="" xmlns:a16="http://schemas.microsoft.com/office/drawing/2014/main" id="{14AB70E8-EBF0-49D8-9F6B-E059BEDADC20}"/>
              </a:ext>
            </a:extLst>
          </p:cNvPr>
          <p:cNvPicPr>
            <a:picLocks noChangeAspect="1"/>
          </p:cNvPicPr>
          <p:nvPr/>
        </p:nvPicPr>
        <p:blipFill>
          <a:blip r:embed="rId2" cstate="print"/>
          <a:stretch>
            <a:fillRect/>
          </a:stretch>
        </p:blipFill>
        <p:spPr>
          <a:xfrm>
            <a:off x="8153400" y="793"/>
            <a:ext cx="4038600" cy="6857207"/>
          </a:xfrm>
          <a:prstGeom prst="rect">
            <a:avLst/>
          </a:prstGeom>
        </p:spPr>
      </p:pic>
    </p:spTree>
    <p:extLst>
      <p:ext uri="{BB962C8B-B14F-4D97-AF65-F5344CB8AC3E}">
        <p14:creationId xmlns:p14="http://schemas.microsoft.com/office/powerpoint/2010/main" val="1434111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8271"/>
            <a:ext cx="10515600" cy="1325563"/>
          </a:xfrm>
        </p:spPr>
        <p:txBody>
          <a:bodyPr/>
          <a:lstStyle/>
          <a:p>
            <a:r>
              <a:rPr lang="en-US" b="1" dirty="0" smtClean="0">
                <a:solidFill>
                  <a:srgbClr val="FF0000"/>
                </a:solidFill>
              </a:rPr>
              <a:t>     Ways </a:t>
            </a:r>
            <a:r>
              <a:rPr lang="en-US" b="1" dirty="0">
                <a:solidFill>
                  <a:srgbClr val="FF0000"/>
                </a:solidFill>
              </a:rPr>
              <a:t>to enhance active listening</a:t>
            </a:r>
          </a:p>
        </p:txBody>
      </p:sp>
      <p:sp>
        <p:nvSpPr>
          <p:cNvPr id="3" name="Content Placeholder 2"/>
          <p:cNvSpPr>
            <a:spLocks noGrp="1"/>
          </p:cNvSpPr>
          <p:nvPr>
            <p:ph idx="1"/>
          </p:nvPr>
        </p:nvSpPr>
        <p:spPr>
          <a:xfrm>
            <a:off x="702365" y="771136"/>
            <a:ext cx="11357113" cy="6235148"/>
          </a:xfrm>
        </p:spPr>
        <p:txBody>
          <a:bodyPr>
            <a:noAutofit/>
          </a:bodyPr>
          <a:lstStyle/>
          <a:p>
            <a:pPr marL="0" indent="0">
              <a:buNone/>
            </a:pPr>
            <a:r>
              <a:rPr lang="en-US" sz="2000" b="1" dirty="0" err="1">
                <a:solidFill>
                  <a:srgbClr val="0070C0"/>
                </a:solidFill>
              </a:rPr>
              <a:t>i</a:t>
            </a:r>
            <a:r>
              <a:rPr lang="en-US" sz="2000" b="1" dirty="0">
                <a:solidFill>
                  <a:srgbClr val="0070C0"/>
                </a:solidFill>
              </a:rPr>
              <a:t>. Suspending judgements		- </a:t>
            </a:r>
            <a:r>
              <a:rPr lang="en-US" sz="2000" dirty="0"/>
              <a:t>suspend judgement, focus on facts </a:t>
            </a:r>
          </a:p>
          <a:p>
            <a:pPr marL="0" indent="0">
              <a:buNone/>
            </a:pPr>
            <a:r>
              <a:rPr lang="en-US" sz="2000" dirty="0"/>
              <a:t>				- don’t get preoccupied with emotions and value judgements</a:t>
            </a:r>
          </a:p>
          <a:p>
            <a:pPr marL="0" indent="0">
              <a:buNone/>
            </a:pPr>
            <a:r>
              <a:rPr lang="en-US" sz="2000" dirty="0"/>
              <a:t>				- avoid prejudices/biasness about the speaker</a:t>
            </a:r>
          </a:p>
          <a:p>
            <a:pPr marL="0" indent="0">
              <a:buNone/>
            </a:pPr>
            <a:endParaRPr lang="en-US" sz="2000" b="1" dirty="0">
              <a:solidFill>
                <a:srgbClr val="0070C0"/>
              </a:solidFill>
            </a:endParaRPr>
          </a:p>
          <a:p>
            <a:pPr marL="0" indent="0">
              <a:buNone/>
            </a:pPr>
            <a:r>
              <a:rPr lang="en-US" sz="2000" b="1" dirty="0">
                <a:solidFill>
                  <a:srgbClr val="0070C0"/>
                </a:solidFill>
              </a:rPr>
              <a:t>ii. Paying full attention	- </a:t>
            </a:r>
            <a:r>
              <a:rPr lang="en-US" sz="2000" dirty="0"/>
              <a:t>identify, select and interpret information and meaning</a:t>
            </a:r>
          </a:p>
          <a:p>
            <a:pPr marL="0" indent="0">
              <a:buNone/>
            </a:pPr>
            <a:r>
              <a:rPr lang="en-US" sz="2000" dirty="0"/>
              <a:t>			- show right gesture (eye contact, nodding head etc.)</a:t>
            </a:r>
          </a:p>
          <a:p>
            <a:pPr marL="0" indent="0">
              <a:buNone/>
            </a:pPr>
            <a:endParaRPr lang="en-US" sz="2000" b="1" dirty="0">
              <a:solidFill>
                <a:srgbClr val="0070C0"/>
              </a:solidFill>
            </a:endParaRPr>
          </a:p>
          <a:p>
            <a:pPr marL="0" indent="0">
              <a:buNone/>
            </a:pPr>
            <a:r>
              <a:rPr lang="en-US" sz="2000" b="1" dirty="0">
                <a:solidFill>
                  <a:srgbClr val="0070C0"/>
                </a:solidFill>
              </a:rPr>
              <a:t>iii. Being empathetic	</a:t>
            </a:r>
            <a:r>
              <a:rPr lang="en-US" sz="2000" b="1" dirty="0" smtClean="0">
                <a:solidFill>
                  <a:srgbClr val="0070C0"/>
                </a:solidFill>
              </a:rPr>
              <a:t>- </a:t>
            </a:r>
            <a:r>
              <a:rPr lang="en-US" sz="2000" dirty="0"/>
              <a:t>putting yourself in </a:t>
            </a:r>
            <a:r>
              <a:rPr lang="en-US" sz="2000" dirty="0" smtClean="0"/>
              <a:t>speak</a:t>
            </a:r>
            <a:r>
              <a:rPr lang="en-US" sz="2000" dirty="0" smtClean="0"/>
              <a:t>er’s</a:t>
            </a:r>
            <a:r>
              <a:rPr lang="en-US" sz="2000" dirty="0" smtClean="0"/>
              <a:t>  </a:t>
            </a:r>
            <a:r>
              <a:rPr lang="en-US" sz="2000" dirty="0"/>
              <a:t>shoes</a:t>
            </a:r>
          </a:p>
          <a:p>
            <a:pPr marL="0" indent="0">
              <a:buNone/>
            </a:pPr>
            <a:r>
              <a:rPr lang="en-US" sz="2000" dirty="0"/>
              <a:t>			</a:t>
            </a:r>
            <a:r>
              <a:rPr lang="en-US" sz="2000" dirty="0" smtClean="0"/>
              <a:t>- </a:t>
            </a:r>
            <a:r>
              <a:rPr lang="en-US" sz="2000" dirty="0"/>
              <a:t>seeking common ground with the  speaker on attitude, 							</a:t>
            </a:r>
            <a:r>
              <a:rPr lang="en-US" sz="2000" dirty="0" smtClean="0"/>
              <a:t>feeling</a:t>
            </a:r>
            <a:r>
              <a:rPr lang="en-US" sz="2000" dirty="0"/>
              <a:t>	</a:t>
            </a:r>
          </a:p>
          <a:p>
            <a:pPr marL="0" indent="0">
              <a:buNone/>
            </a:pPr>
            <a:r>
              <a:rPr lang="en-US" sz="2000" dirty="0"/>
              <a:t>			</a:t>
            </a:r>
            <a:r>
              <a:rPr lang="en-US" sz="2000" dirty="0" smtClean="0"/>
              <a:t>- </a:t>
            </a:r>
            <a:r>
              <a:rPr lang="en-US" sz="2000" dirty="0"/>
              <a:t>no argument with the speaker</a:t>
            </a:r>
          </a:p>
          <a:p>
            <a:pPr marL="0" indent="0">
              <a:buNone/>
            </a:pPr>
            <a:endParaRPr lang="en-US" sz="2000" b="1" dirty="0">
              <a:solidFill>
                <a:srgbClr val="0070C0"/>
              </a:solidFill>
            </a:endParaRPr>
          </a:p>
          <a:p>
            <a:pPr marL="0" indent="0">
              <a:buNone/>
            </a:pPr>
            <a:r>
              <a:rPr lang="en-US" sz="2000" b="1" dirty="0">
                <a:solidFill>
                  <a:srgbClr val="0070C0"/>
                </a:solidFill>
              </a:rPr>
              <a:t>iv. Seeking clarification	- </a:t>
            </a:r>
            <a:r>
              <a:rPr lang="en-US" sz="2000" dirty="0"/>
              <a:t>give feedback (verbal or non-verbal)</a:t>
            </a:r>
          </a:p>
          <a:p>
            <a:pPr marL="0" indent="0">
              <a:buNone/>
            </a:pPr>
            <a:r>
              <a:rPr lang="en-US" sz="2000" dirty="0"/>
              <a:t>			- show how you are </a:t>
            </a:r>
            <a:r>
              <a:rPr lang="en-US" sz="2000" dirty="0" smtClean="0"/>
              <a:t>handling </a:t>
            </a:r>
            <a:r>
              <a:rPr lang="en-US" sz="2000" dirty="0"/>
              <a:t>the information</a:t>
            </a:r>
          </a:p>
          <a:p>
            <a:pPr marL="0" indent="0">
              <a:buNone/>
            </a:pPr>
            <a:r>
              <a:rPr lang="en-US" sz="2000" dirty="0"/>
              <a:t>			- summarize/paraphrase what you have interpreted</a:t>
            </a:r>
          </a:p>
          <a:p>
            <a:pPr marL="0" indent="0">
              <a:buNone/>
            </a:pPr>
            <a:endParaRPr lang="en-US" sz="2000" dirty="0"/>
          </a:p>
          <a:p>
            <a:pPr marL="0" indent="0">
              <a:buNone/>
            </a:pPr>
            <a:r>
              <a:rPr lang="en-US" sz="2000" dirty="0"/>
              <a:t>	</a:t>
            </a:r>
          </a:p>
          <a:p>
            <a:pPr marL="571500" indent="-571500">
              <a:buAutoNum type="romanLcPeriod"/>
            </a:pPr>
            <a:endParaRPr lang="en-US" sz="2000" dirty="0"/>
          </a:p>
        </p:txBody>
      </p:sp>
      <p:sp>
        <p:nvSpPr>
          <p:cNvPr id="5" name="Slide Number Placeholder 4"/>
          <p:cNvSpPr>
            <a:spLocks noGrp="1"/>
          </p:cNvSpPr>
          <p:nvPr>
            <p:ph type="sldNum" sz="quarter" idx="12"/>
          </p:nvPr>
        </p:nvSpPr>
        <p:spPr/>
        <p:txBody>
          <a:bodyPr/>
          <a:lstStyle/>
          <a:p>
            <a:fld id="{23494754-66A2-4D55-A3BE-A7B793766391}" type="slidenum">
              <a:rPr lang="en-US" smtClean="0"/>
              <a:t>21</a:t>
            </a:fld>
            <a:endParaRPr lang="en-US"/>
          </a:p>
        </p:txBody>
      </p:sp>
    </p:spTree>
    <p:extLst>
      <p:ext uri="{BB962C8B-B14F-4D97-AF65-F5344CB8AC3E}">
        <p14:creationId xmlns:p14="http://schemas.microsoft.com/office/powerpoint/2010/main" val="405786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 calcmode="lin" valueType="num">
                                      <p:cBhvr additive="base">
                                        <p:cTn id="4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additive="base">
                                        <p:cTn id="4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anim calcmode="lin" valueType="num">
                                      <p:cBhvr additive="base">
                                        <p:cTn id="5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DDDAB0-7C7D-4E4D-86FA-CFB8D2FFC83A}"/>
              </a:ext>
            </a:extLst>
          </p:cNvPr>
          <p:cNvSpPr>
            <a:spLocks noGrp="1"/>
          </p:cNvSpPr>
          <p:nvPr>
            <p:ph type="title"/>
          </p:nvPr>
        </p:nvSpPr>
        <p:spPr>
          <a:xfrm>
            <a:off x="533400" y="192847"/>
            <a:ext cx="10515600" cy="217971"/>
          </a:xfrm>
        </p:spPr>
        <p:txBody>
          <a:bodyPr>
            <a:normAutofit fontScale="90000"/>
          </a:bodyPr>
          <a:lstStyle/>
          <a:p>
            <a:r>
              <a:rPr lang="en-GB" b="1" dirty="0" smtClean="0">
                <a:solidFill>
                  <a:srgbClr val="FF0000"/>
                </a:solidFill>
              </a:rPr>
              <a:t>Enhancing </a:t>
            </a:r>
            <a:r>
              <a:rPr lang="en-GB" b="1" dirty="0">
                <a:solidFill>
                  <a:srgbClr val="FF0000"/>
                </a:solidFill>
              </a:rPr>
              <a:t>oral </a:t>
            </a:r>
            <a:r>
              <a:rPr lang="en-GB" b="1" dirty="0" smtClean="0">
                <a:solidFill>
                  <a:srgbClr val="FF0000"/>
                </a:solidFill>
              </a:rPr>
              <a:t>Communication</a:t>
            </a:r>
            <a:endParaRPr lang="en-GB" b="1" dirty="0">
              <a:solidFill>
                <a:srgbClr val="FF0000"/>
              </a:solidFill>
            </a:endParaRPr>
          </a:p>
        </p:txBody>
      </p:sp>
      <p:sp>
        <p:nvSpPr>
          <p:cNvPr id="3" name="Content Placeholder 2">
            <a:extLst>
              <a:ext uri="{FF2B5EF4-FFF2-40B4-BE49-F238E27FC236}">
                <a16:creationId xmlns="" xmlns:a16="http://schemas.microsoft.com/office/drawing/2014/main" id="{14B2594F-4B98-43B5-B9F8-2CB84ACC1131}"/>
              </a:ext>
            </a:extLst>
          </p:cNvPr>
          <p:cNvSpPr>
            <a:spLocks noGrp="1"/>
          </p:cNvSpPr>
          <p:nvPr>
            <p:ph idx="1"/>
          </p:nvPr>
        </p:nvSpPr>
        <p:spPr>
          <a:xfrm>
            <a:off x="993912" y="569844"/>
            <a:ext cx="10359887" cy="6288156"/>
          </a:xfrm>
        </p:spPr>
        <p:txBody>
          <a:bodyPr>
            <a:normAutofit/>
          </a:bodyPr>
          <a:lstStyle/>
          <a:p>
            <a:pPr marL="514350" indent="-514350">
              <a:buAutoNum type="alphaLcPeriod"/>
            </a:pPr>
            <a:r>
              <a:rPr lang="en-GB" b="1" dirty="0">
                <a:solidFill>
                  <a:srgbClr val="0070C0"/>
                </a:solidFill>
              </a:rPr>
              <a:t>Using visual aids</a:t>
            </a:r>
          </a:p>
          <a:p>
            <a:r>
              <a:rPr lang="en-GB" dirty="0"/>
              <a:t>The most powerful means of communication</a:t>
            </a:r>
          </a:p>
          <a:p>
            <a:r>
              <a:rPr lang="en-GB" dirty="0">
                <a:solidFill>
                  <a:srgbClr val="00B0F0"/>
                </a:solidFill>
              </a:rPr>
              <a:t>Tables </a:t>
            </a:r>
            <a:r>
              <a:rPr lang="en-GB" dirty="0" smtClean="0">
                <a:solidFill>
                  <a:srgbClr val="00B0F0"/>
                </a:solidFill>
              </a:rPr>
              <a:t>(</a:t>
            </a:r>
            <a:r>
              <a:rPr lang="en-GB" dirty="0" smtClean="0">
                <a:solidFill>
                  <a:srgbClr val="00B0F0"/>
                </a:solidFill>
              </a:rPr>
              <a:t>data</a:t>
            </a:r>
            <a:r>
              <a:rPr lang="en-GB" dirty="0" smtClean="0">
                <a:solidFill>
                  <a:srgbClr val="00B0F0"/>
                </a:solidFill>
              </a:rPr>
              <a:t>), </a:t>
            </a:r>
            <a:r>
              <a:rPr lang="en-GB" dirty="0">
                <a:solidFill>
                  <a:srgbClr val="00B0F0"/>
                </a:solidFill>
              </a:rPr>
              <a:t>bar-chart (compare), pie chart </a:t>
            </a:r>
            <a:r>
              <a:rPr lang="en-GB" dirty="0" smtClean="0">
                <a:solidFill>
                  <a:srgbClr val="00B0F0"/>
                </a:solidFill>
              </a:rPr>
              <a:t>(</a:t>
            </a:r>
            <a:r>
              <a:rPr lang="en-GB" dirty="0" smtClean="0">
                <a:solidFill>
                  <a:srgbClr val="00B0F0"/>
                </a:solidFill>
              </a:rPr>
              <a:t>slices</a:t>
            </a:r>
            <a:r>
              <a:rPr lang="en-GB" dirty="0" smtClean="0">
                <a:solidFill>
                  <a:srgbClr val="00B0F0"/>
                </a:solidFill>
              </a:rPr>
              <a:t>), </a:t>
            </a:r>
            <a:r>
              <a:rPr lang="en-GB" dirty="0">
                <a:solidFill>
                  <a:srgbClr val="00B0F0"/>
                </a:solidFill>
              </a:rPr>
              <a:t>flow chart (process) etc. </a:t>
            </a:r>
          </a:p>
          <a:p>
            <a:r>
              <a:rPr lang="en-GB" dirty="0"/>
              <a:t>They </a:t>
            </a:r>
            <a:r>
              <a:rPr lang="en-GB" dirty="0">
                <a:solidFill>
                  <a:srgbClr val="00B0F0"/>
                </a:solidFill>
              </a:rPr>
              <a:t>add interest, attract attention, engage audience, </a:t>
            </a:r>
            <a:r>
              <a:rPr lang="en-GB" dirty="0" smtClean="0">
                <a:solidFill>
                  <a:srgbClr val="00B0F0"/>
                </a:solidFill>
              </a:rPr>
              <a:t>simplify </a:t>
            </a:r>
            <a:r>
              <a:rPr lang="en-GB" dirty="0" smtClean="0">
                <a:solidFill>
                  <a:srgbClr val="00B0F0"/>
                </a:solidFill>
              </a:rPr>
              <a:t>message</a:t>
            </a:r>
            <a:endParaRPr lang="en-GB" dirty="0"/>
          </a:p>
          <a:p>
            <a:r>
              <a:rPr lang="en-GB" dirty="0"/>
              <a:t>Pay attention to the size, number, colours, timing etc.</a:t>
            </a:r>
          </a:p>
          <a:p>
            <a:pPr marL="0" indent="0">
              <a:buNone/>
            </a:pPr>
            <a:r>
              <a:rPr lang="en-GB" b="1" dirty="0">
                <a:solidFill>
                  <a:srgbClr val="0070C0"/>
                </a:solidFill>
              </a:rPr>
              <a:t>b. Using non-verbal communication</a:t>
            </a:r>
          </a:p>
          <a:p>
            <a:r>
              <a:rPr lang="en-GB" dirty="0">
                <a:solidFill>
                  <a:srgbClr val="00B0F0"/>
                </a:solidFill>
              </a:rPr>
              <a:t>Smile, movement of hands, eye-contact</a:t>
            </a:r>
            <a:r>
              <a:rPr lang="en-GB" dirty="0" smtClean="0">
                <a:solidFill>
                  <a:srgbClr val="00B0F0"/>
                </a:solidFill>
              </a:rPr>
              <a:t>, nodding head, </a:t>
            </a:r>
            <a:r>
              <a:rPr lang="en-GB" dirty="0">
                <a:solidFill>
                  <a:srgbClr val="00B0F0"/>
                </a:solidFill>
              </a:rPr>
              <a:t>tone, </a:t>
            </a:r>
            <a:r>
              <a:rPr lang="en-GB" dirty="0" smtClean="0">
                <a:solidFill>
                  <a:srgbClr val="00B0F0"/>
                </a:solidFill>
              </a:rPr>
              <a:t>etc</a:t>
            </a:r>
            <a:r>
              <a:rPr lang="en-GB" dirty="0">
                <a:solidFill>
                  <a:srgbClr val="00B0F0"/>
                </a:solidFill>
              </a:rPr>
              <a:t>. </a:t>
            </a:r>
          </a:p>
          <a:p>
            <a:r>
              <a:rPr lang="en-GB" dirty="0"/>
              <a:t>Identify and minimize nervous manners like biting nails, tapping feet, speaking too fast, </a:t>
            </a:r>
            <a:r>
              <a:rPr lang="en-GB" dirty="0" smtClean="0"/>
              <a:t>repeating content, trembling, sweating </a:t>
            </a:r>
            <a:r>
              <a:rPr lang="en-GB" dirty="0"/>
              <a:t>etc. </a:t>
            </a:r>
          </a:p>
          <a:p>
            <a:endParaRPr lang="en-GB" dirty="0"/>
          </a:p>
        </p:txBody>
      </p:sp>
      <p:sp>
        <p:nvSpPr>
          <p:cNvPr id="5" name="Slide Number Placeholder 4"/>
          <p:cNvSpPr>
            <a:spLocks noGrp="1"/>
          </p:cNvSpPr>
          <p:nvPr>
            <p:ph type="sldNum" sz="quarter" idx="12"/>
          </p:nvPr>
        </p:nvSpPr>
        <p:spPr/>
        <p:txBody>
          <a:bodyPr/>
          <a:lstStyle/>
          <a:p>
            <a:fld id="{23494754-66A2-4D55-A3BE-A7B793766391}" type="slidenum">
              <a:rPr lang="en-US" smtClean="0"/>
              <a:t>22</a:t>
            </a:fld>
            <a:endParaRPr lang="en-US"/>
          </a:p>
        </p:txBody>
      </p:sp>
    </p:spTree>
    <p:extLst>
      <p:ext uri="{BB962C8B-B14F-4D97-AF65-F5344CB8AC3E}">
        <p14:creationId xmlns:p14="http://schemas.microsoft.com/office/powerpoint/2010/main" val="104697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C8A8DB-7F99-400A-AC5F-48C9D9F3D811}"/>
              </a:ext>
            </a:extLst>
          </p:cNvPr>
          <p:cNvSpPr>
            <a:spLocks noGrp="1"/>
          </p:cNvSpPr>
          <p:nvPr>
            <p:ph type="title"/>
          </p:nvPr>
        </p:nvSpPr>
        <p:spPr/>
        <p:txBody>
          <a:bodyPr/>
          <a:lstStyle/>
          <a:p>
            <a:endParaRPr lang="en-GB" dirty="0"/>
          </a:p>
        </p:txBody>
      </p:sp>
      <p:pic>
        <p:nvPicPr>
          <p:cNvPr id="4" name="Content Placeholder 12" descr="images.png">
            <a:extLst>
              <a:ext uri="{FF2B5EF4-FFF2-40B4-BE49-F238E27FC236}">
                <a16:creationId xmlns="" xmlns:a16="http://schemas.microsoft.com/office/drawing/2014/main" id="{A9DBF226-BEC4-4A72-B57A-609734D13ECB}"/>
              </a:ext>
            </a:extLst>
          </p:cNvPr>
          <p:cNvPicPr>
            <a:picLocks noGrp="1" noChangeAspect="1"/>
          </p:cNvPicPr>
          <p:nvPr>
            <p:ph idx="1"/>
          </p:nvPr>
        </p:nvPicPr>
        <p:blipFill>
          <a:blip r:embed="rId2" cstate="print"/>
          <a:stretch>
            <a:fillRect/>
          </a:stretch>
        </p:blipFill>
        <p:spPr>
          <a:xfrm>
            <a:off x="689113" y="708513"/>
            <a:ext cx="10376451" cy="6149487"/>
          </a:xfrm>
        </p:spPr>
      </p:pic>
      <p:sp>
        <p:nvSpPr>
          <p:cNvPr id="5" name="Slide Number Placeholder 4"/>
          <p:cNvSpPr>
            <a:spLocks noGrp="1"/>
          </p:cNvSpPr>
          <p:nvPr>
            <p:ph type="sldNum" sz="quarter" idx="12"/>
          </p:nvPr>
        </p:nvSpPr>
        <p:spPr/>
        <p:txBody>
          <a:bodyPr/>
          <a:lstStyle/>
          <a:p>
            <a:fld id="{23494754-66A2-4D55-A3BE-A7B793766391}" type="slidenum">
              <a:rPr lang="en-US" smtClean="0"/>
              <a:t>23</a:t>
            </a:fld>
            <a:endParaRPr lang="en-US"/>
          </a:p>
        </p:txBody>
      </p:sp>
    </p:spTree>
    <p:extLst>
      <p:ext uri="{BB962C8B-B14F-4D97-AF65-F5344CB8AC3E}">
        <p14:creationId xmlns:p14="http://schemas.microsoft.com/office/powerpoint/2010/main" val="1209934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1069"/>
            <a:ext cx="10515600" cy="4351338"/>
          </a:xfrm>
        </p:spPr>
        <p:txBody>
          <a:bodyPr>
            <a:noAutofit/>
          </a:bodyPr>
          <a:lstStyle/>
          <a:p>
            <a:pPr>
              <a:buFont typeface="Wingdings" pitchFamily="2" charset="2"/>
              <a:buChar char="v"/>
            </a:pPr>
            <a:r>
              <a:rPr lang="en-US" sz="3600" b="1" dirty="0" smtClean="0">
                <a:solidFill>
                  <a:srgbClr val="FF0000"/>
                </a:solidFill>
              </a:rPr>
              <a:t> Effective Speaking</a:t>
            </a:r>
          </a:p>
          <a:p>
            <a:r>
              <a:rPr lang="en-US" sz="2000" dirty="0" smtClean="0"/>
              <a:t>Speaking </a:t>
            </a:r>
            <a:r>
              <a:rPr lang="en-US" sz="2000" dirty="0"/>
              <a:t>in such a way that your message is clearly heard and, </a:t>
            </a:r>
            <a:r>
              <a:rPr lang="en-US" sz="2000" dirty="0" smtClean="0"/>
              <a:t>if possible, </a:t>
            </a:r>
            <a:r>
              <a:rPr lang="en-US" sz="2000" dirty="0"/>
              <a:t>acted upon.</a:t>
            </a:r>
          </a:p>
          <a:p>
            <a:r>
              <a:rPr lang="en-US" sz="2000" b="1" dirty="0">
                <a:solidFill>
                  <a:srgbClr val="00B0F0"/>
                </a:solidFill>
              </a:rPr>
              <a:t>Speak Clearly and Slowly:</a:t>
            </a:r>
            <a:r>
              <a:rPr lang="en-US" sz="2000" dirty="0">
                <a:solidFill>
                  <a:srgbClr val="00B0F0"/>
                </a:solidFill>
              </a:rPr>
              <a:t> </a:t>
            </a:r>
            <a:r>
              <a:rPr lang="en-US" sz="2000" dirty="0"/>
              <a:t>Speak clearly and </a:t>
            </a:r>
            <a:r>
              <a:rPr lang="en-US" sz="2000" dirty="0">
                <a:solidFill>
                  <a:srgbClr val="00B0F0"/>
                </a:solidFill>
              </a:rPr>
              <a:t>avoid rushing your words </a:t>
            </a:r>
            <a:r>
              <a:rPr lang="en-US" sz="2000" dirty="0"/>
              <a:t>to ensure your audience can easily understand your message.</a:t>
            </a:r>
          </a:p>
          <a:p>
            <a:r>
              <a:rPr lang="en-US" sz="2000" b="1" dirty="0" smtClean="0">
                <a:solidFill>
                  <a:srgbClr val="00B0F0"/>
                </a:solidFill>
              </a:rPr>
              <a:t>Maintain </a:t>
            </a:r>
            <a:r>
              <a:rPr lang="en-US" sz="2000" b="1" dirty="0">
                <a:solidFill>
                  <a:srgbClr val="00B0F0"/>
                </a:solidFill>
              </a:rPr>
              <a:t>Eye Contact:</a:t>
            </a:r>
            <a:r>
              <a:rPr lang="en-US" sz="2000" dirty="0">
                <a:solidFill>
                  <a:srgbClr val="00B0F0"/>
                </a:solidFill>
              </a:rPr>
              <a:t> </a:t>
            </a:r>
            <a:r>
              <a:rPr lang="en-US" sz="2000" dirty="0"/>
              <a:t> Maintaining eye contact indicates</a:t>
            </a:r>
            <a:r>
              <a:rPr lang="en-US" sz="2000" dirty="0">
                <a:solidFill>
                  <a:srgbClr val="00B0F0"/>
                </a:solidFill>
              </a:rPr>
              <a:t> engagement and interest, fostering a stronger connection</a:t>
            </a:r>
            <a:r>
              <a:rPr lang="en-US" sz="2000" dirty="0"/>
              <a:t> with your </a:t>
            </a:r>
            <a:r>
              <a:rPr lang="en-US" sz="2000" dirty="0" smtClean="0"/>
              <a:t>audience.</a:t>
            </a:r>
            <a:endParaRPr lang="en-US" sz="2000" dirty="0"/>
          </a:p>
          <a:p>
            <a:r>
              <a:rPr lang="en-US" sz="2000" b="1" dirty="0" smtClean="0">
                <a:solidFill>
                  <a:srgbClr val="00B0F0"/>
                </a:solidFill>
              </a:rPr>
              <a:t>Use </a:t>
            </a:r>
            <a:r>
              <a:rPr lang="en-US" sz="2000" b="1" dirty="0">
                <a:solidFill>
                  <a:srgbClr val="00B0F0"/>
                </a:solidFill>
              </a:rPr>
              <a:t>Natural Gestures:</a:t>
            </a:r>
            <a:r>
              <a:rPr lang="en-US" sz="2000" dirty="0">
                <a:solidFill>
                  <a:srgbClr val="00B0F0"/>
                </a:solidFill>
              </a:rPr>
              <a:t> </a:t>
            </a:r>
            <a:r>
              <a:rPr lang="en-US" sz="2000" dirty="0"/>
              <a:t> </a:t>
            </a:r>
            <a:r>
              <a:rPr lang="en-US" sz="2000" dirty="0" smtClean="0"/>
              <a:t>Use </a:t>
            </a:r>
            <a:r>
              <a:rPr lang="en-US" sz="2000" dirty="0"/>
              <a:t>natural and purposeful gestures </a:t>
            </a:r>
            <a:r>
              <a:rPr lang="en-US" sz="2000" dirty="0">
                <a:solidFill>
                  <a:srgbClr val="00B0F0"/>
                </a:solidFill>
              </a:rPr>
              <a:t>to enhance your message's engagement,</a:t>
            </a:r>
            <a:r>
              <a:rPr lang="en-US" sz="2000" dirty="0"/>
              <a:t> but avoid excessive use.</a:t>
            </a:r>
          </a:p>
          <a:p>
            <a:r>
              <a:rPr lang="en-US" sz="2000" b="1" dirty="0" smtClean="0">
                <a:solidFill>
                  <a:srgbClr val="00B0F0"/>
                </a:solidFill>
              </a:rPr>
              <a:t>Vary </a:t>
            </a:r>
            <a:r>
              <a:rPr lang="en-US" sz="2000" b="1" dirty="0">
                <a:solidFill>
                  <a:srgbClr val="00B0F0"/>
                </a:solidFill>
              </a:rPr>
              <a:t>Your Tone and Pitch:</a:t>
            </a:r>
            <a:r>
              <a:rPr lang="en-US" sz="2000" dirty="0"/>
              <a:t> Monotone speech can be monotonous and dull. Vary your tone and pitch </a:t>
            </a:r>
            <a:r>
              <a:rPr lang="en-US" sz="2000" dirty="0">
                <a:solidFill>
                  <a:srgbClr val="00B0F0"/>
                </a:solidFill>
              </a:rPr>
              <a:t>to add interest</a:t>
            </a:r>
            <a:r>
              <a:rPr lang="en-US" sz="2000" dirty="0"/>
              <a:t> and convey different emotions.</a:t>
            </a:r>
            <a:r>
              <a:rPr lang="en-US" sz="2000" b="1" dirty="0"/>
              <a:t> </a:t>
            </a:r>
            <a:endParaRPr lang="en-US" sz="2000" dirty="0"/>
          </a:p>
          <a:p>
            <a:r>
              <a:rPr lang="en-US" sz="2000" b="1" dirty="0">
                <a:solidFill>
                  <a:srgbClr val="00B0F0"/>
                </a:solidFill>
              </a:rPr>
              <a:t>Practice Active Listening:</a:t>
            </a:r>
            <a:r>
              <a:rPr lang="en-US" sz="2000" dirty="0">
                <a:solidFill>
                  <a:srgbClr val="00B0F0"/>
                </a:solidFill>
              </a:rPr>
              <a:t> </a:t>
            </a:r>
            <a:r>
              <a:rPr lang="en-US" sz="2000" dirty="0"/>
              <a:t> Effective communication </a:t>
            </a:r>
            <a:r>
              <a:rPr lang="en-US" sz="2000" dirty="0">
                <a:solidFill>
                  <a:srgbClr val="00B0F0"/>
                </a:solidFill>
              </a:rPr>
              <a:t>requires active listening</a:t>
            </a:r>
            <a:r>
              <a:rPr lang="en-US" sz="2000" dirty="0"/>
              <a:t> before responding, fostering meaningful dialogues as a two-way exchange.</a:t>
            </a:r>
          </a:p>
          <a:p>
            <a:r>
              <a:rPr lang="en-US" sz="2000" b="1" dirty="0" smtClean="0">
                <a:solidFill>
                  <a:srgbClr val="00B0F0"/>
                </a:solidFill>
              </a:rPr>
              <a:t>Avoid </a:t>
            </a:r>
            <a:r>
              <a:rPr lang="en-US" sz="2000" b="1" dirty="0">
                <a:solidFill>
                  <a:srgbClr val="00B0F0"/>
                </a:solidFill>
              </a:rPr>
              <a:t>Empty Fillers (Um, Uh, Like, etc.):</a:t>
            </a:r>
            <a:r>
              <a:rPr lang="en-US" sz="2000" dirty="0">
                <a:solidFill>
                  <a:srgbClr val="00B0F0"/>
                </a:solidFill>
              </a:rPr>
              <a:t> </a:t>
            </a:r>
            <a:r>
              <a:rPr lang="en-US" sz="2000" dirty="0"/>
              <a:t>Fillers can </a:t>
            </a:r>
            <a:r>
              <a:rPr lang="en-US" sz="2000" dirty="0">
                <a:solidFill>
                  <a:srgbClr val="00B0F0"/>
                </a:solidFill>
              </a:rPr>
              <a:t>distract </a:t>
            </a:r>
            <a:r>
              <a:rPr lang="en-US" sz="2000" dirty="0" smtClean="0">
                <a:solidFill>
                  <a:srgbClr val="00B0F0"/>
                </a:solidFill>
              </a:rPr>
              <a:t> the audience from </a:t>
            </a:r>
            <a:r>
              <a:rPr lang="en-US" sz="2000" dirty="0">
                <a:solidFill>
                  <a:srgbClr val="00B0F0"/>
                </a:solidFill>
              </a:rPr>
              <a:t>your message and undermine your </a:t>
            </a:r>
            <a:r>
              <a:rPr lang="en-US" sz="2000" dirty="0" smtClean="0">
                <a:solidFill>
                  <a:srgbClr val="00B0F0"/>
                </a:solidFill>
              </a:rPr>
              <a:t>credibility</a:t>
            </a:r>
            <a:r>
              <a:rPr lang="en-US" sz="2000" dirty="0"/>
              <a:t> </a:t>
            </a:r>
            <a:r>
              <a:rPr lang="en-US" sz="2000" dirty="0" smtClean="0"/>
              <a:t>so, speak </a:t>
            </a:r>
            <a:r>
              <a:rPr lang="en-US" sz="2000" dirty="0"/>
              <a:t>without </a:t>
            </a:r>
            <a:r>
              <a:rPr lang="en-US" sz="2000" dirty="0" smtClean="0"/>
              <a:t>us</a:t>
            </a:r>
            <a:r>
              <a:rPr lang="en-US" sz="2000" dirty="0" smtClean="0"/>
              <a:t>ing these </a:t>
            </a:r>
            <a:r>
              <a:rPr lang="en-US" sz="2000" dirty="0"/>
              <a:t>verbal </a:t>
            </a:r>
            <a:r>
              <a:rPr lang="en-US" sz="2000" dirty="0" smtClean="0"/>
              <a:t>aids.</a:t>
            </a:r>
            <a:endParaRPr lang="en-US" sz="2000" dirty="0"/>
          </a:p>
        </p:txBody>
      </p:sp>
      <p:sp>
        <p:nvSpPr>
          <p:cNvPr id="5" name="Slide Number Placeholder 4"/>
          <p:cNvSpPr>
            <a:spLocks noGrp="1"/>
          </p:cNvSpPr>
          <p:nvPr>
            <p:ph type="sldNum" sz="quarter" idx="12"/>
          </p:nvPr>
        </p:nvSpPr>
        <p:spPr/>
        <p:txBody>
          <a:bodyPr/>
          <a:lstStyle/>
          <a:p>
            <a:fld id="{23494754-66A2-4D55-A3BE-A7B793766391}" type="slidenum">
              <a:rPr lang="en-US" smtClean="0"/>
              <a:t>24</a:t>
            </a:fld>
            <a:endParaRPr lang="en-US"/>
          </a:p>
        </p:txBody>
      </p:sp>
    </p:spTree>
    <p:extLst>
      <p:ext uri="{BB962C8B-B14F-4D97-AF65-F5344CB8AC3E}">
        <p14:creationId xmlns:p14="http://schemas.microsoft.com/office/powerpoint/2010/main" val="3595443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140"/>
            <a:ext cx="10515600" cy="4351338"/>
          </a:xfrm>
        </p:spPr>
        <p:txBody>
          <a:bodyPr>
            <a:noAutofit/>
          </a:bodyPr>
          <a:lstStyle/>
          <a:p>
            <a:pPr lvl="0"/>
            <a:r>
              <a:rPr lang="en-US" sz="2000" b="1" dirty="0" smtClean="0">
                <a:solidFill>
                  <a:srgbClr val="00B0F0"/>
                </a:solidFill>
              </a:rPr>
              <a:t>Organize </a:t>
            </a:r>
            <a:r>
              <a:rPr lang="en-US" sz="2000" b="1" dirty="0">
                <a:solidFill>
                  <a:srgbClr val="00B0F0"/>
                </a:solidFill>
              </a:rPr>
              <a:t>Your Thoughts:</a:t>
            </a:r>
            <a:r>
              <a:rPr lang="en-US" sz="2000" dirty="0">
                <a:solidFill>
                  <a:srgbClr val="00B0F0"/>
                </a:solidFill>
              </a:rPr>
              <a:t> </a:t>
            </a:r>
            <a:r>
              <a:rPr lang="en-US" sz="2000" dirty="0"/>
              <a:t> </a:t>
            </a:r>
            <a:r>
              <a:rPr lang="en-US" sz="2000" dirty="0" smtClean="0"/>
              <a:t>To present </a:t>
            </a:r>
            <a:r>
              <a:rPr lang="en-US" sz="2000" dirty="0" smtClean="0"/>
              <a:t>your </a:t>
            </a:r>
            <a:r>
              <a:rPr lang="en-US" sz="2000" dirty="0"/>
              <a:t>ideas </a:t>
            </a:r>
            <a:r>
              <a:rPr lang="en-US" sz="2000" dirty="0">
                <a:solidFill>
                  <a:srgbClr val="00B0F0"/>
                </a:solidFill>
              </a:rPr>
              <a:t>clearly and </a:t>
            </a:r>
            <a:r>
              <a:rPr lang="en-US" sz="2000" dirty="0" smtClean="0">
                <a:solidFill>
                  <a:srgbClr val="00B0F0"/>
                </a:solidFill>
              </a:rPr>
              <a:t>logically</a:t>
            </a:r>
            <a:r>
              <a:rPr lang="en-US" sz="2000" dirty="0" smtClean="0"/>
              <a:t> </a:t>
            </a:r>
            <a:r>
              <a:rPr lang="en-US" sz="2000" dirty="0" smtClean="0"/>
              <a:t> </a:t>
            </a:r>
            <a:r>
              <a:rPr lang="en-US" sz="2000" dirty="0" smtClean="0"/>
              <a:t>organize </a:t>
            </a:r>
            <a:r>
              <a:rPr lang="en-US" sz="2000" dirty="0" smtClean="0"/>
              <a:t>thoughts properly.</a:t>
            </a:r>
            <a:endParaRPr lang="en-US" sz="2000" dirty="0"/>
          </a:p>
          <a:p>
            <a:r>
              <a:rPr lang="en-US" sz="2000" b="1" dirty="0">
                <a:solidFill>
                  <a:srgbClr val="00B0F0"/>
                </a:solidFill>
              </a:rPr>
              <a:t>Tailor Your Message to Your Audience:</a:t>
            </a:r>
            <a:r>
              <a:rPr lang="en-US" sz="2000" dirty="0">
                <a:solidFill>
                  <a:srgbClr val="00B0F0"/>
                </a:solidFill>
              </a:rPr>
              <a:t> </a:t>
            </a:r>
            <a:r>
              <a:rPr lang="en-US" sz="2000" dirty="0"/>
              <a:t> </a:t>
            </a:r>
            <a:r>
              <a:rPr lang="en-US" sz="2000" dirty="0" smtClean="0"/>
              <a:t>Adapt </a:t>
            </a:r>
            <a:r>
              <a:rPr lang="en-US" sz="2000" dirty="0"/>
              <a:t>your </a:t>
            </a:r>
            <a:r>
              <a:rPr lang="en-US" sz="2000" dirty="0">
                <a:solidFill>
                  <a:srgbClr val="00B0F0"/>
                </a:solidFill>
              </a:rPr>
              <a:t>language, tone, and examples</a:t>
            </a:r>
            <a:r>
              <a:rPr lang="en-US" sz="2000" dirty="0"/>
              <a:t> to </a:t>
            </a:r>
            <a:r>
              <a:rPr lang="en-US" sz="2000" dirty="0" smtClean="0"/>
              <a:t>vibrate </a:t>
            </a:r>
            <a:r>
              <a:rPr lang="en-US" sz="2000" dirty="0"/>
              <a:t>with your audience's interests and needs for effective communication.</a:t>
            </a:r>
          </a:p>
          <a:p>
            <a:r>
              <a:rPr lang="en-US" sz="2000" b="1" dirty="0" smtClean="0">
                <a:solidFill>
                  <a:srgbClr val="00B0F0"/>
                </a:solidFill>
              </a:rPr>
              <a:t>Use </a:t>
            </a:r>
            <a:r>
              <a:rPr lang="en-US" sz="2000" b="1" dirty="0">
                <a:solidFill>
                  <a:srgbClr val="00B0F0"/>
                </a:solidFill>
              </a:rPr>
              <a:t>Pauses Effectively:</a:t>
            </a:r>
            <a:r>
              <a:rPr lang="en-US" sz="2000" dirty="0">
                <a:solidFill>
                  <a:srgbClr val="00B0F0"/>
                </a:solidFill>
              </a:rPr>
              <a:t> </a:t>
            </a:r>
            <a:r>
              <a:rPr lang="en-US" sz="2000" dirty="0"/>
              <a:t> </a:t>
            </a:r>
            <a:r>
              <a:rPr lang="en-US" sz="2000" dirty="0" smtClean="0"/>
              <a:t>Maintain pauses</a:t>
            </a:r>
            <a:r>
              <a:rPr lang="en-US" sz="2000" dirty="0" smtClean="0">
                <a:solidFill>
                  <a:srgbClr val="00B0F0"/>
                </a:solidFill>
              </a:rPr>
              <a:t> </a:t>
            </a:r>
            <a:r>
              <a:rPr lang="en-US" sz="2000" dirty="0">
                <a:solidFill>
                  <a:srgbClr val="00B0F0"/>
                </a:solidFill>
              </a:rPr>
              <a:t>to emphasize key points</a:t>
            </a:r>
            <a:r>
              <a:rPr lang="en-US" sz="2000" dirty="0"/>
              <a:t> and enable your audience to </a:t>
            </a:r>
            <a:r>
              <a:rPr lang="en-US" sz="2000" dirty="0" smtClean="0"/>
              <a:t>take</a:t>
            </a:r>
            <a:r>
              <a:rPr lang="en-US" sz="2000" dirty="0" smtClean="0"/>
              <a:t> </a:t>
            </a:r>
            <a:r>
              <a:rPr lang="en-US" sz="2000" dirty="0"/>
              <a:t>information effectively.</a:t>
            </a:r>
            <a:endParaRPr lang="en-US" sz="2000" dirty="0">
              <a:solidFill>
                <a:srgbClr val="00B0F0"/>
              </a:solidFill>
            </a:endParaRPr>
          </a:p>
          <a:p>
            <a:r>
              <a:rPr lang="en-US" sz="2000" b="1" dirty="0" smtClean="0">
                <a:solidFill>
                  <a:srgbClr val="00B0F0"/>
                </a:solidFill>
              </a:rPr>
              <a:t>Practice </a:t>
            </a:r>
            <a:r>
              <a:rPr lang="en-US" sz="2000" b="1" dirty="0">
                <a:solidFill>
                  <a:srgbClr val="00B0F0"/>
                </a:solidFill>
              </a:rPr>
              <a:t>Deep Breathing:</a:t>
            </a:r>
            <a:r>
              <a:rPr lang="en-US" sz="2000" dirty="0">
                <a:solidFill>
                  <a:srgbClr val="00B0F0"/>
                </a:solidFill>
              </a:rPr>
              <a:t> </a:t>
            </a:r>
            <a:r>
              <a:rPr lang="en-US" sz="2000" dirty="0"/>
              <a:t>Deep </a:t>
            </a:r>
            <a:r>
              <a:rPr lang="en-US" sz="2000" dirty="0" smtClean="0"/>
              <a:t>breaths </a:t>
            </a:r>
            <a:r>
              <a:rPr lang="en-US" sz="2000" dirty="0">
                <a:solidFill>
                  <a:srgbClr val="00B0F0"/>
                </a:solidFill>
              </a:rPr>
              <a:t>control nervousness </a:t>
            </a:r>
            <a:r>
              <a:rPr lang="en-US" sz="2000" dirty="0"/>
              <a:t>and project your voice more effectively. </a:t>
            </a:r>
            <a:endParaRPr lang="en-US" sz="2000" dirty="0" smtClean="0">
              <a:solidFill>
                <a:srgbClr val="00B0F0"/>
              </a:solidFill>
            </a:endParaRPr>
          </a:p>
          <a:p>
            <a:pPr lvl="0"/>
            <a:r>
              <a:rPr lang="en-US" sz="2000" b="1" dirty="0" smtClean="0">
                <a:solidFill>
                  <a:srgbClr val="00B0F0"/>
                </a:solidFill>
              </a:rPr>
              <a:t>Minimize </a:t>
            </a:r>
            <a:r>
              <a:rPr lang="en-US" sz="2000" b="1" dirty="0">
                <a:solidFill>
                  <a:srgbClr val="00B0F0"/>
                </a:solidFill>
              </a:rPr>
              <a:t>Distractions:</a:t>
            </a:r>
            <a:r>
              <a:rPr lang="en-US" sz="2000" dirty="0"/>
              <a:t> </a:t>
            </a:r>
            <a:r>
              <a:rPr lang="en-US" sz="2000" dirty="0" smtClean="0"/>
              <a:t>Reduce </a:t>
            </a:r>
            <a:r>
              <a:rPr lang="en-US" sz="2000" dirty="0"/>
              <a:t>distracting habits or movements, such as </a:t>
            </a:r>
            <a:r>
              <a:rPr lang="en-US" sz="2000" dirty="0" smtClean="0"/>
              <a:t>playing, </a:t>
            </a:r>
            <a:r>
              <a:rPr lang="en-US" sz="2000" dirty="0"/>
              <a:t>excessive hand gestures, or </a:t>
            </a:r>
            <a:r>
              <a:rPr lang="en-US" sz="2000" dirty="0" smtClean="0"/>
              <a:t>walking.</a:t>
            </a:r>
            <a:endParaRPr lang="en-US" sz="2000" dirty="0">
              <a:solidFill>
                <a:srgbClr val="00B0F0"/>
              </a:solidFill>
            </a:endParaRPr>
          </a:p>
          <a:p>
            <a:pPr lvl="0"/>
            <a:r>
              <a:rPr lang="en-US" sz="2000" b="1" dirty="0">
                <a:solidFill>
                  <a:srgbClr val="00B0F0"/>
                </a:solidFill>
              </a:rPr>
              <a:t>Be Mindful of Your Posture:</a:t>
            </a:r>
            <a:r>
              <a:rPr lang="en-US" sz="2000" dirty="0">
                <a:solidFill>
                  <a:srgbClr val="00B0F0"/>
                </a:solidFill>
              </a:rPr>
              <a:t> </a:t>
            </a:r>
            <a:r>
              <a:rPr lang="en-US" sz="2000" dirty="0"/>
              <a:t>Stand </a:t>
            </a:r>
            <a:r>
              <a:rPr lang="en-US" sz="2000" dirty="0" smtClean="0"/>
              <a:t>or sit up </a:t>
            </a:r>
            <a:r>
              <a:rPr lang="en-US" sz="2000" dirty="0"/>
              <a:t>straight to project </a:t>
            </a:r>
            <a:r>
              <a:rPr lang="en-US" sz="2000" dirty="0">
                <a:solidFill>
                  <a:srgbClr val="00B0F0"/>
                </a:solidFill>
              </a:rPr>
              <a:t>confidence and openness</a:t>
            </a:r>
            <a:r>
              <a:rPr lang="en-US" sz="2000" dirty="0" smtClean="0"/>
              <a:t>.</a:t>
            </a:r>
            <a:endParaRPr lang="en-US" sz="2000" dirty="0">
              <a:solidFill>
                <a:srgbClr val="00B0F0"/>
              </a:solidFill>
            </a:endParaRPr>
          </a:p>
          <a:p>
            <a:r>
              <a:rPr lang="en-US" sz="2000" b="1" dirty="0">
                <a:solidFill>
                  <a:srgbClr val="00B0F0"/>
                </a:solidFill>
              </a:rPr>
              <a:t>Tell Stories and Use Examples:</a:t>
            </a:r>
            <a:r>
              <a:rPr lang="en-US" sz="2000" dirty="0">
                <a:solidFill>
                  <a:srgbClr val="00B0F0"/>
                </a:solidFill>
              </a:rPr>
              <a:t> </a:t>
            </a:r>
            <a:r>
              <a:rPr lang="en-US" sz="2000" dirty="0" smtClean="0"/>
              <a:t>Use stories </a:t>
            </a:r>
            <a:r>
              <a:rPr lang="en-US" sz="2000" dirty="0"/>
              <a:t>and examples to </a:t>
            </a:r>
            <a:r>
              <a:rPr lang="en-US" sz="2000" dirty="0">
                <a:solidFill>
                  <a:srgbClr val="00B0F0"/>
                </a:solidFill>
              </a:rPr>
              <a:t>enhance the </a:t>
            </a:r>
            <a:r>
              <a:rPr lang="en-US" sz="2000" dirty="0" smtClean="0">
                <a:solidFill>
                  <a:srgbClr val="00B0F0"/>
                </a:solidFill>
              </a:rPr>
              <a:t>reliability </a:t>
            </a:r>
            <a:r>
              <a:rPr lang="en-US" sz="2000" dirty="0">
                <a:solidFill>
                  <a:srgbClr val="00B0F0"/>
                </a:solidFill>
              </a:rPr>
              <a:t>and memorability of </a:t>
            </a:r>
            <a:r>
              <a:rPr lang="en-US" sz="2000" dirty="0" smtClean="0">
                <a:solidFill>
                  <a:srgbClr val="00B0F0"/>
                </a:solidFill>
              </a:rPr>
              <a:t> </a:t>
            </a:r>
            <a:r>
              <a:rPr lang="en-US" sz="2000" dirty="0">
                <a:solidFill>
                  <a:srgbClr val="00B0F0"/>
                </a:solidFill>
              </a:rPr>
              <a:t>message,</a:t>
            </a:r>
            <a:r>
              <a:rPr lang="en-US" sz="2000" dirty="0"/>
              <a:t> effectively illustrating complex concepts and engaging your audience</a:t>
            </a:r>
            <a:r>
              <a:rPr lang="en-US" sz="2000" dirty="0" smtClean="0"/>
              <a:t>.</a:t>
            </a:r>
            <a:endParaRPr lang="en-US" sz="2000" dirty="0"/>
          </a:p>
        </p:txBody>
      </p:sp>
      <p:sp>
        <p:nvSpPr>
          <p:cNvPr id="5" name="Slide Number Placeholder 4"/>
          <p:cNvSpPr>
            <a:spLocks noGrp="1"/>
          </p:cNvSpPr>
          <p:nvPr>
            <p:ph type="sldNum" sz="quarter" idx="12"/>
          </p:nvPr>
        </p:nvSpPr>
        <p:spPr/>
        <p:txBody>
          <a:bodyPr/>
          <a:lstStyle/>
          <a:p>
            <a:fld id="{23494754-66A2-4D55-A3BE-A7B793766391}" type="slidenum">
              <a:rPr lang="en-US" smtClean="0"/>
              <a:t>25</a:t>
            </a:fld>
            <a:endParaRPr lang="en-US"/>
          </a:p>
        </p:txBody>
      </p:sp>
    </p:spTree>
    <p:extLst>
      <p:ext uri="{BB962C8B-B14F-4D97-AF65-F5344CB8AC3E}">
        <p14:creationId xmlns:p14="http://schemas.microsoft.com/office/powerpoint/2010/main" val="273279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4639"/>
            <a:ext cx="10515600" cy="4351338"/>
          </a:xfrm>
        </p:spPr>
        <p:txBody>
          <a:bodyPr>
            <a:normAutofit fontScale="77500" lnSpcReduction="20000"/>
          </a:bodyPr>
          <a:lstStyle/>
          <a:p>
            <a:r>
              <a:rPr lang="en-US" b="1" dirty="0">
                <a:solidFill>
                  <a:srgbClr val="00B0F0"/>
                </a:solidFill>
              </a:rPr>
              <a:t>Seek Feedback:</a:t>
            </a:r>
            <a:r>
              <a:rPr lang="en-US" dirty="0">
                <a:solidFill>
                  <a:srgbClr val="00B0F0"/>
                </a:solidFill>
              </a:rPr>
              <a:t> </a:t>
            </a:r>
            <a:r>
              <a:rPr lang="en-US" dirty="0"/>
              <a:t>Don't hesitate to ask for feedback from trusted friends, colleagues, or mentors. Constructive criticism can help you</a:t>
            </a:r>
            <a:r>
              <a:rPr lang="en-US" dirty="0">
                <a:solidFill>
                  <a:srgbClr val="00B0F0"/>
                </a:solidFill>
              </a:rPr>
              <a:t> identify areas for improvement.</a:t>
            </a:r>
          </a:p>
          <a:p>
            <a:r>
              <a:rPr lang="en-US" b="1" dirty="0" smtClean="0">
                <a:solidFill>
                  <a:srgbClr val="00B0F0"/>
                </a:solidFill>
              </a:rPr>
              <a:t>Practice</a:t>
            </a:r>
            <a:r>
              <a:rPr lang="en-US" b="1" dirty="0">
                <a:solidFill>
                  <a:srgbClr val="00B0F0"/>
                </a:solidFill>
              </a:rPr>
              <a:t>, Practice, Practice:</a:t>
            </a:r>
            <a:r>
              <a:rPr lang="en-US" dirty="0"/>
              <a:t>  </a:t>
            </a:r>
            <a:r>
              <a:rPr lang="en-US" dirty="0">
                <a:solidFill>
                  <a:srgbClr val="00B0F0"/>
                </a:solidFill>
              </a:rPr>
              <a:t>R</a:t>
            </a:r>
            <a:r>
              <a:rPr lang="en-US" dirty="0" smtClean="0">
                <a:solidFill>
                  <a:srgbClr val="00B0F0"/>
                </a:solidFill>
              </a:rPr>
              <a:t>ehearse </a:t>
            </a:r>
            <a:r>
              <a:rPr lang="en-US" dirty="0">
                <a:solidFill>
                  <a:srgbClr val="00B0F0"/>
                </a:solidFill>
              </a:rPr>
              <a:t>your speeches or conversations</a:t>
            </a:r>
            <a:r>
              <a:rPr lang="en-US" dirty="0"/>
              <a:t> </a:t>
            </a:r>
            <a:r>
              <a:rPr lang="en-US" dirty="0" smtClean="0"/>
              <a:t>before hand </a:t>
            </a:r>
            <a:r>
              <a:rPr lang="en-US" dirty="0"/>
              <a:t>to </a:t>
            </a:r>
            <a:r>
              <a:rPr lang="en-US" dirty="0" smtClean="0"/>
              <a:t>foster </a:t>
            </a:r>
            <a:r>
              <a:rPr lang="en-US" dirty="0"/>
              <a:t>confidence and fluency.</a:t>
            </a:r>
          </a:p>
          <a:p>
            <a:r>
              <a:rPr lang="en-US" b="1" dirty="0" smtClean="0">
                <a:solidFill>
                  <a:srgbClr val="00B0F0"/>
                </a:solidFill>
              </a:rPr>
              <a:t>Record </a:t>
            </a:r>
            <a:r>
              <a:rPr lang="en-US" b="1" dirty="0">
                <a:solidFill>
                  <a:srgbClr val="00B0F0"/>
                </a:solidFill>
              </a:rPr>
              <a:t>Yourself:</a:t>
            </a:r>
            <a:r>
              <a:rPr lang="en-US" dirty="0">
                <a:solidFill>
                  <a:srgbClr val="00B0F0"/>
                </a:solidFill>
              </a:rPr>
              <a:t> </a:t>
            </a:r>
            <a:r>
              <a:rPr lang="en-US" dirty="0"/>
              <a:t>Recording  </a:t>
            </a:r>
            <a:r>
              <a:rPr lang="en-US" dirty="0" smtClean="0"/>
              <a:t>to </a:t>
            </a:r>
            <a:r>
              <a:rPr lang="en-US" dirty="0">
                <a:solidFill>
                  <a:srgbClr val="00B0F0"/>
                </a:solidFill>
              </a:rPr>
              <a:t>identify areas </a:t>
            </a:r>
            <a:r>
              <a:rPr lang="en-US" dirty="0" smtClean="0">
                <a:solidFill>
                  <a:srgbClr val="00B0F0"/>
                </a:solidFill>
              </a:rPr>
              <a:t>and improve </a:t>
            </a:r>
            <a:r>
              <a:rPr lang="en-US" dirty="0">
                <a:solidFill>
                  <a:srgbClr val="00B0F0"/>
                </a:solidFill>
              </a:rPr>
              <a:t>tone, pacing, and gestures</a:t>
            </a:r>
            <a:r>
              <a:rPr lang="en-US" dirty="0"/>
              <a:t>.</a:t>
            </a:r>
            <a:endParaRPr lang="en-US" dirty="0">
              <a:solidFill>
                <a:srgbClr val="00B0F0"/>
              </a:solidFill>
            </a:endParaRPr>
          </a:p>
          <a:p>
            <a:r>
              <a:rPr lang="en-US" b="1" dirty="0">
                <a:solidFill>
                  <a:srgbClr val="00B0F0"/>
                </a:solidFill>
              </a:rPr>
              <a:t>Embrace Authenticity:</a:t>
            </a:r>
            <a:r>
              <a:rPr lang="en-US" dirty="0"/>
              <a:t> </a:t>
            </a:r>
            <a:r>
              <a:rPr lang="en-US" dirty="0"/>
              <a:t>T</a:t>
            </a:r>
            <a:r>
              <a:rPr lang="en-US" dirty="0" smtClean="0"/>
              <a:t>o </a:t>
            </a:r>
            <a:r>
              <a:rPr lang="en-US" dirty="0"/>
              <a:t>build trust and connection with your audience.</a:t>
            </a:r>
          </a:p>
          <a:p>
            <a:r>
              <a:rPr lang="en-US" b="1" dirty="0"/>
              <a:t> </a:t>
            </a:r>
            <a:r>
              <a:rPr lang="en-US" b="1" dirty="0" smtClean="0">
                <a:solidFill>
                  <a:srgbClr val="00B0F0"/>
                </a:solidFill>
              </a:rPr>
              <a:t>Manage </a:t>
            </a:r>
            <a:r>
              <a:rPr lang="en-US" b="1" dirty="0">
                <a:solidFill>
                  <a:srgbClr val="00B0F0"/>
                </a:solidFill>
              </a:rPr>
              <a:t>Nervousness:</a:t>
            </a:r>
            <a:r>
              <a:rPr lang="en-US" dirty="0"/>
              <a:t> Feeling nervous is natural, but </a:t>
            </a:r>
            <a:r>
              <a:rPr lang="en-US" dirty="0">
                <a:solidFill>
                  <a:srgbClr val="00B0F0"/>
                </a:solidFill>
              </a:rPr>
              <a:t>practice, preparation, and positive self-talk</a:t>
            </a:r>
            <a:r>
              <a:rPr lang="en-US" dirty="0"/>
              <a:t> </a:t>
            </a:r>
            <a:r>
              <a:rPr lang="en-US" dirty="0" smtClean="0"/>
              <a:t>to</a:t>
            </a:r>
            <a:r>
              <a:rPr lang="en-US" dirty="0" smtClean="0"/>
              <a:t> </a:t>
            </a:r>
            <a:r>
              <a:rPr lang="en-US" dirty="0"/>
              <a:t>manage nerves effectively.</a:t>
            </a:r>
          </a:p>
          <a:p>
            <a:pPr lvl="0"/>
            <a:r>
              <a:rPr lang="en-US" b="1" dirty="0">
                <a:solidFill>
                  <a:srgbClr val="00B0F0"/>
                </a:solidFill>
              </a:rPr>
              <a:t>Stay Open to Adaptation:</a:t>
            </a:r>
            <a:r>
              <a:rPr lang="en-US" dirty="0">
                <a:solidFill>
                  <a:srgbClr val="00B0F0"/>
                </a:solidFill>
              </a:rPr>
              <a:t> </a:t>
            </a:r>
            <a:r>
              <a:rPr lang="en-US" dirty="0"/>
              <a:t>Be willing to </a:t>
            </a:r>
            <a:r>
              <a:rPr lang="en-US" dirty="0">
                <a:solidFill>
                  <a:srgbClr val="00B0F0"/>
                </a:solidFill>
              </a:rPr>
              <a:t>adjust your </a:t>
            </a:r>
            <a:r>
              <a:rPr lang="en-US" dirty="0" smtClean="0">
                <a:solidFill>
                  <a:srgbClr val="00B0F0"/>
                </a:solidFill>
              </a:rPr>
              <a:t>attitude</a:t>
            </a:r>
            <a:r>
              <a:rPr lang="en-US" dirty="0" smtClean="0"/>
              <a:t> </a:t>
            </a:r>
            <a:r>
              <a:rPr lang="en-US" dirty="0"/>
              <a:t>based on the feedback and reactions of your audience. </a:t>
            </a:r>
            <a:endParaRPr lang="en-US" dirty="0">
              <a:solidFill>
                <a:srgbClr val="00B0F0"/>
              </a:solidFill>
            </a:endParaRPr>
          </a:p>
          <a:p>
            <a:r>
              <a:rPr lang="en-US" b="1" dirty="0">
                <a:solidFill>
                  <a:srgbClr val="00B0F0"/>
                </a:solidFill>
              </a:rPr>
              <a:t>Celebrate Your Progress:</a:t>
            </a:r>
            <a:r>
              <a:rPr lang="en-US" dirty="0">
                <a:solidFill>
                  <a:srgbClr val="00B0F0"/>
                </a:solidFill>
              </a:rPr>
              <a:t> </a:t>
            </a:r>
            <a:r>
              <a:rPr lang="en-US" dirty="0"/>
              <a:t>Recognize and celebrate your </a:t>
            </a:r>
            <a:r>
              <a:rPr lang="en-US" dirty="0">
                <a:solidFill>
                  <a:srgbClr val="00B0F0"/>
                </a:solidFill>
              </a:rPr>
              <a:t>progress in speaking skills</a:t>
            </a:r>
            <a:r>
              <a:rPr lang="en-US" dirty="0"/>
              <a:t>, as positive reinforcement fuels ongoing growth</a:t>
            </a:r>
            <a:r>
              <a:rPr lang="en-US" dirty="0" smtClean="0"/>
              <a:t>.</a:t>
            </a:r>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26</a:t>
            </a:fld>
            <a:endParaRPr lang="en-US"/>
          </a:p>
        </p:txBody>
      </p:sp>
    </p:spTree>
    <p:extLst>
      <p:ext uri="{BB962C8B-B14F-4D97-AF65-F5344CB8AC3E}">
        <p14:creationId xmlns:p14="http://schemas.microsoft.com/office/powerpoint/2010/main" val="3203101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4708"/>
            <a:ext cx="10515600" cy="4351338"/>
          </a:xfrm>
        </p:spPr>
        <p:txBody>
          <a:bodyPr>
            <a:noAutofit/>
          </a:bodyPr>
          <a:lstStyle/>
          <a:p>
            <a:pPr>
              <a:buFont typeface="Wingdings" pitchFamily="2" charset="2"/>
              <a:buChar char="v"/>
            </a:pPr>
            <a:r>
              <a:rPr lang="en-US" b="1" dirty="0">
                <a:solidFill>
                  <a:srgbClr val="FF0000"/>
                </a:solidFill>
              </a:rPr>
              <a:t>Group </a:t>
            </a:r>
            <a:r>
              <a:rPr lang="en-US" b="1" dirty="0" smtClean="0">
                <a:solidFill>
                  <a:srgbClr val="FF0000"/>
                </a:solidFill>
              </a:rPr>
              <a:t>Communication</a:t>
            </a:r>
            <a:endParaRPr lang="en-US" b="1" dirty="0">
              <a:solidFill>
                <a:srgbClr val="FF0000"/>
              </a:solidFill>
            </a:endParaRPr>
          </a:p>
          <a:p>
            <a:r>
              <a:rPr lang="en-US" sz="2000" dirty="0"/>
              <a:t>Group communication is the act of sending and receiving messages to </a:t>
            </a:r>
            <a:r>
              <a:rPr lang="en-US" sz="2000" dirty="0" smtClean="0"/>
              <a:t>members </a:t>
            </a:r>
            <a:r>
              <a:rPr lang="en-US" sz="2000" dirty="0"/>
              <a:t>of a group.</a:t>
            </a:r>
          </a:p>
          <a:p>
            <a:r>
              <a:rPr lang="en-US" sz="2000" dirty="0">
                <a:solidFill>
                  <a:srgbClr val="FF0000"/>
                </a:solidFill>
              </a:rPr>
              <a:t>Group communication is a mode of communication  </a:t>
            </a:r>
            <a:r>
              <a:rPr lang="en-US" sz="2000" dirty="0" smtClean="0">
                <a:solidFill>
                  <a:srgbClr val="FF0000"/>
                </a:solidFill>
              </a:rPr>
              <a:t>among people</a:t>
            </a:r>
            <a:r>
              <a:rPr lang="en-US" sz="2000" dirty="0">
                <a:solidFill>
                  <a:srgbClr val="FF0000"/>
                </a:solidFill>
              </a:rPr>
              <a:t>, in an organization, between employers and employees, and employees in </a:t>
            </a:r>
            <a:r>
              <a:rPr lang="en-US" sz="2000" dirty="0" smtClean="0">
                <a:solidFill>
                  <a:srgbClr val="FF0000"/>
                </a:solidFill>
              </a:rPr>
              <a:t>teams or </a:t>
            </a:r>
            <a:r>
              <a:rPr lang="en-US" sz="2000" dirty="0">
                <a:solidFill>
                  <a:srgbClr val="FF0000"/>
                </a:solidFill>
              </a:rPr>
              <a:t>people in general to discuss a topic or communicate a message. </a:t>
            </a:r>
          </a:p>
          <a:p>
            <a:r>
              <a:rPr lang="en-US" sz="2000" dirty="0" smtClean="0"/>
              <a:t>According </a:t>
            </a:r>
            <a:r>
              <a:rPr lang="en-US" sz="2000" dirty="0"/>
              <a:t>to </a:t>
            </a:r>
            <a:r>
              <a:rPr lang="en-US" sz="2000" dirty="0">
                <a:hlinkClick r:id="rId2"/>
              </a:rPr>
              <a:t>the Oxford Dictionary of Media and </a:t>
            </a:r>
            <a:r>
              <a:rPr lang="en-US" sz="2000" dirty="0" smtClean="0">
                <a:hlinkClick r:id="rId2"/>
              </a:rPr>
              <a:t>Communication</a:t>
            </a:r>
            <a:r>
              <a:rPr lang="en-US" sz="2000" dirty="0" smtClean="0"/>
              <a:t> </a:t>
            </a:r>
            <a:r>
              <a:rPr lang="en-US" sz="2000" dirty="0"/>
              <a:t>“</a:t>
            </a:r>
            <a:r>
              <a:rPr lang="en-US" sz="2000" i="1" dirty="0"/>
              <a:t>The process by which verbal and nonverbal messages are exchanged between a limited number of people, usually from 3 to about 20, the upper limit being determined by the extent to which each member can interact with every other member with the potential for mutual influence. Traditionally, this refers to interpersonal communication between group members in face-to-face interaction</a:t>
            </a:r>
            <a:r>
              <a:rPr lang="en-US" sz="2000" i="1" dirty="0" smtClean="0"/>
              <a:t>.</a:t>
            </a:r>
            <a:r>
              <a:rPr lang="en-US" sz="2000" dirty="0" smtClean="0"/>
              <a:t>”</a:t>
            </a:r>
          </a:p>
          <a:p>
            <a:r>
              <a:rPr lang="en-US" sz="2000" dirty="0" smtClean="0"/>
              <a:t>Group </a:t>
            </a:r>
            <a:r>
              <a:rPr lang="en-US" sz="2000" dirty="0" smtClean="0"/>
              <a:t>communication in </a:t>
            </a:r>
            <a:r>
              <a:rPr lang="en-US" sz="2000" dirty="0"/>
              <a:t>marketing perspective as communicating to a group of people or target customers </a:t>
            </a:r>
            <a:r>
              <a:rPr lang="en-US" sz="2000" dirty="0" smtClean="0"/>
              <a:t>to </a:t>
            </a:r>
            <a:r>
              <a:rPr lang="en-US" sz="2000" dirty="0"/>
              <a:t>market a product.</a:t>
            </a:r>
          </a:p>
          <a:p>
            <a:r>
              <a:rPr lang="en-US" sz="2000" dirty="0"/>
              <a:t>Small group communications can be looked at as groups of size 3 to </a:t>
            </a:r>
            <a:r>
              <a:rPr lang="en-US" sz="2000" dirty="0" smtClean="0"/>
              <a:t>20 and </a:t>
            </a:r>
            <a:r>
              <a:rPr lang="en-US" sz="2000" dirty="0"/>
              <a:t>larger groups looked can be </a:t>
            </a:r>
            <a:r>
              <a:rPr lang="en-US" sz="2000" dirty="0" smtClean="0"/>
              <a:t>100 </a:t>
            </a:r>
            <a:r>
              <a:rPr lang="en-US" sz="2000" dirty="0"/>
              <a:t>to 200 in size. </a:t>
            </a:r>
          </a:p>
        </p:txBody>
      </p:sp>
    </p:spTree>
    <p:extLst>
      <p:ext uri="{BB962C8B-B14F-4D97-AF65-F5344CB8AC3E}">
        <p14:creationId xmlns:p14="http://schemas.microsoft.com/office/powerpoint/2010/main" val="644379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7134"/>
            <a:ext cx="10515600" cy="4351338"/>
          </a:xfrm>
        </p:spPr>
        <p:txBody>
          <a:bodyPr>
            <a:normAutofit/>
          </a:bodyPr>
          <a:lstStyle/>
          <a:p>
            <a:r>
              <a:rPr lang="en-US" b="1" dirty="0">
                <a:solidFill>
                  <a:srgbClr val="00B0F0"/>
                </a:solidFill>
              </a:rPr>
              <a:t>Importance of Group Communication</a:t>
            </a:r>
          </a:p>
          <a:p>
            <a:r>
              <a:rPr lang="en-US" dirty="0"/>
              <a:t>Effective group communication is vital in </a:t>
            </a:r>
            <a:r>
              <a:rPr lang="en-US" dirty="0" smtClean="0"/>
              <a:t>business environment.</a:t>
            </a:r>
            <a:endParaRPr lang="en-US" dirty="0"/>
          </a:p>
          <a:p>
            <a:r>
              <a:rPr lang="en-US" dirty="0">
                <a:solidFill>
                  <a:srgbClr val="00B0F0"/>
                </a:solidFill>
              </a:rPr>
              <a:t>Without proper </a:t>
            </a:r>
            <a:r>
              <a:rPr lang="en-US" dirty="0" smtClean="0">
                <a:solidFill>
                  <a:srgbClr val="00B0F0"/>
                </a:solidFill>
              </a:rPr>
              <a:t>communication understanding </a:t>
            </a:r>
            <a:r>
              <a:rPr lang="en-US" dirty="0">
                <a:solidFill>
                  <a:srgbClr val="00B0F0"/>
                </a:solidFill>
              </a:rPr>
              <a:t>and feedback remain elusive, leading to message loss</a:t>
            </a:r>
            <a:r>
              <a:rPr lang="en-US" dirty="0" smtClean="0">
                <a:solidFill>
                  <a:srgbClr val="00B0F0"/>
                </a:solidFill>
              </a:rPr>
              <a:t>.</a:t>
            </a:r>
            <a:endParaRPr lang="en-US" dirty="0"/>
          </a:p>
          <a:p>
            <a:r>
              <a:rPr lang="en-US" dirty="0">
                <a:solidFill>
                  <a:srgbClr val="00B0F0"/>
                </a:solidFill>
              </a:rPr>
              <a:t>Group communication is particularly crucial in marketing endeavors, facilitating effective product selling and launches.</a:t>
            </a:r>
          </a:p>
          <a:p>
            <a:r>
              <a:rPr lang="en-US" dirty="0"/>
              <a:t>S</a:t>
            </a:r>
            <a:r>
              <a:rPr lang="en-US" dirty="0" smtClean="0"/>
              <a:t>ocial </a:t>
            </a:r>
            <a:r>
              <a:rPr lang="en-US" dirty="0"/>
              <a:t>media have revolutionized customer interaction, providing channels such as social media platforms, messaging, webinars</a:t>
            </a:r>
            <a:r>
              <a:rPr lang="en-US" dirty="0" smtClean="0"/>
              <a:t>, podcasts</a:t>
            </a:r>
            <a:r>
              <a:rPr lang="en-US" dirty="0"/>
              <a:t>, and customer service for group communication.</a:t>
            </a:r>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28</a:t>
            </a:fld>
            <a:endParaRPr lang="en-US"/>
          </a:p>
        </p:txBody>
      </p:sp>
    </p:spTree>
    <p:extLst>
      <p:ext uri="{BB962C8B-B14F-4D97-AF65-F5344CB8AC3E}">
        <p14:creationId xmlns:p14="http://schemas.microsoft.com/office/powerpoint/2010/main" val="1878968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9856"/>
            <a:ext cx="10515600" cy="4351338"/>
          </a:xfrm>
        </p:spPr>
        <p:txBody>
          <a:bodyPr>
            <a:noAutofit/>
          </a:bodyPr>
          <a:lstStyle/>
          <a:p>
            <a:r>
              <a:rPr lang="en-US" sz="2000" b="1" dirty="0">
                <a:solidFill>
                  <a:srgbClr val="FF0000"/>
                </a:solidFill>
              </a:rPr>
              <a:t>Types of Group </a:t>
            </a:r>
            <a:r>
              <a:rPr lang="en-US" sz="2000" b="1" dirty="0" smtClean="0">
                <a:solidFill>
                  <a:srgbClr val="FF0000"/>
                </a:solidFill>
              </a:rPr>
              <a:t>Communication</a:t>
            </a:r>
            <a:endParaRPr lang="en-US" sz="2000" dirty="0"/>
          </a:p>
          <a:p>
            <a:pPr marL="0" indent="0">
              <a:buNone/>
            </a:pPr>
            <a:r>
              <a:rPr lang="en-US" sz="2000" b="1" dirty="0">
                <a:solidFill>
                  <a:srgbClr val="FF0000"/>
                </a:solidFill>
              </a:rPr>
              <a:t>1. Verbal</a:t>
            </a:r>
          </a:p>
          <a:p>
            <a:r>
              <a:rPr lang="en-US" sz="2000" dirty="0"/>
              <a:t>Verbal group communication involves </a:t>
            </a:r>
            <a:r>
              <a:rPr lang="en-US" sz="2000" dirty="0">
                <a:solidFill>
                  <a:srgbClr val="00B0F0"/>
                </a:solidFill>
              </a:rPr>
              <a:t>people in a group speaking with each other discussing a topic </a:t>
            </a:r>
            <a:r>
              <a:rPr lang="en-US" sz="2000" dirty="0" smtClean="0">
                <a:solidFill>
                  <a:srgbClr val="00B0F0"/>
                </a:solidFill>
              </a:rPr>
              <a:t>and </a:t>
            </a:r>
            <a:r>
              <a:rPr lang="en-US" sz="2000" dirty="0">
                <a:solidFill>
                  <a:srgbClr val="00B0F0"/>
                </a:solidFill>
              </a:rPr>
              <a:t>reaching a conclusion </a:t>
            </a:r>
            <a:r>
              <a:rPr lang="en-US" sz="2000" dirty="0" smtClean="0">
                <a:solidFill>
                  <a:srgbClr val="00B0F0"/>
                </a:solidFill>
              </a:rPr>
              <a:t>with every participant’s views </a:t>
            </a:r>
            <a:r>
              <a:rPr lang="en-US" sz="2000" dirty="0">
                <a:solidFill>
                  <a:srgbClr val="00B0F0"/>
                </a:solidFill>
              </a:rPr>
              <a:t>and feedback</a:t>
            </a:r>
            <a:r>
              <a:rPr lang="en-US" sz="2000" dirty="0" smtClean="0">
                <a:solidFill>
                  <a:srgbClr val="00B0F0"/>
                </a:solidFill>
              </a:rPr>
              <a:t>.</a:t>
            </a:r>
          </a:p>
          <a:p>
            <a:r>
              <a:rPr lang="en-US" sz="2000" dirty="0" smtClean="0"/>
              <a:t> </a:t>
            </a:r>
            <a:r>
              <a:rPr lang="en-US" sz="2000" dirty="0"/>
              <a:t>In marketing, it can be a seminar attended by target audience</a:t>
            </a:r>
            <a:r>
              <a:rPr lang="en-US" sz="2000" dirty="0" smtClean="0"/>
              <a:t>.</a:t>
            </a:r>
          </a:p>
          <a:p>
            <a:r>
              <a:rPr lang="en-US" sz="2000" dirty="0" smtClean="0"/>
              <a:t> </a:t>
            </a:r>
            <a:r>
              <a:rPr lang="en-US" sz="2000" dirty="0"/>
              <a:t>It can </a:t>
            </a:r>
            <a:r>
              <a:rPr lang="en-US" sz="2000" dirty="0" smtClean="0"/>
              <a:t>be </a:t>
            </a:r>
            <a:r>
              <a:rPr lang="en-US" sz="2000" dirty="0"/>
              <a:t>a group discussion or a focused group study where </a:t>
            </a:r>
            <a:r>
              <a:rPr lang="en-US" sz="2000" dirty="0" smtClean="0"/>
              <a:t>a </a:t>
            </a:r>
            <a:r>
              <a:rPr lang="en-US" sz="2000" dirty="0"/>
              <a:t>product is discussed before launch.</a:t>
            </a:r>
          </a:p>
          <a:p>
            <a:pPr marL="0" indent="0">
              <a:buNone/>
            </a:pPr>
            <a:r>
              <a:rPr lang="en-US" sz="2000" b="1" dirty="0">
                <a:solidFill>
                  <a:srgbClr val="FF0000"/>
                </a:solidFill>
              </a:rPr>
              <a:t>2. </a:t>
            </a:r>
            <a:r>
              <a:rPr lang="en-US" sz="2000" b="1" dirty="0" smtClean="0">
                <a:solidFill>
                  <a:srgbClr val="FF0000"/>
                </a:solidFill>
              </a:rPr>
              <a:t>Non </a:t>
            </a:r>
            <a:r>
              <a:rPr lang="en-US" sz="2000" b="1" dirty="0">
                <a:solidFill>
                  <a:srgbClr val="FF0000"/>
                </a:solidFill>
              </a:rPr>
              <a:t>Verbal</a:t>
            </a:r>
          </a:p>
          <a:p>
            <a:r>
              <a:rPr lang="en-US" sz="2000" dirty="0">
                <a:solidFill>
                  <a:srgbClr val="00B0F0"/>
                </a:solidFill>
              </a:rPr>
              <a:t>Non verbal communication is when a group communicates using non-verbal cues but get the message clearly and executes the decision effectively</a:t>
            </a:r>
            <a:r>
              <a:rPr lang="en-US" sz="2000" dirty="0" smtClean="0">
                <a:solidFill>
                  <a:srgbClr val="00B0F0"/>
                </a:solidFill>
              </a:rPr>
              <a:t>.</a:t>
            </a:r>
          </a:p>
          <a:p>
            <a:r>
              <a:rPr lang="en-US" sz="2000" dirty="0" smtClean="0"/>
              <a:t>Imagine </a:t>
            </a:r>
            <a:r>
              <a:rPr lang="en-US" sz="2000" dirty="0"/>
              <a:t>a busy crossroad junction in a big city. Traffic controllers along with automated lights and information communicate effectively with the passengers and regulate traffic flawlessly.</a:t>
            </a:r>
          </a:p>
          <a:p>
            <a:pPr marL="0" indent="0">
              <a:buNone/>
            </a:pPr>
            <a:r>
              <a:rPr lang="en-US" sz="2000" b="1" dirty="0" smtClean="0">
                <a:solidFill>
                  <a:srgbClr val="FF0000"/>
                </a:solidFill>
              </a:rPr>
              <a:t>3. </a:t>
            </a:r>
            <a:r>
              <a:rPr lang="en-US" sz="2000" b="1" dirty="0">
                <a:solidFill>
                  <a:srgbClr val="FF0000"/>
                </a:solidFill>
              </a:rPr>
              <a:t>Technology </a:t>
            </a:r>
            <a:r>
              <a:rPr lang="en-US" sz="2000" b="1" dirty="0" smtClean="0">
                <a:solidFill>
                  <a:srgbClr val="FF0000"/>
                </a:solidFill>
              </a:rPr>
              <a:t>driven</a:t>
            </a:r>
            <a:endParaRPr lang="en-US" sz="2000" dirty="0" smtClean="0"/>
          </a:p>
          <a:p>
            <a:r>
              <a:rPr lang="en-US" sz="2000" dirty="0" smtClean="0">
                <a:solidFill>
                  <a:srgbClr val="00B0F0"/>
                </a:solidFill>
              </a:rPr>
              <a:t>People </a:t>
            </a:r>
            <a:r>
              <a:rPr lang="en-US" sz="2000" dirty="0">
                <a:solidFill>
                  <a:srgbClr val="00B0F0"/>
                </a:solidFill>
              </a:rPr>
              <a:t>communicate through social media, forums, customer service channels, webinars </a:t>
            </a:r>
            <a:r>
              <a:rPr lang="en-US" sz="2000" dirty="0" err="1" smtClean="0">
                <a:solidFill>
                  <a:srgbClr val="00B0F0"/>
                </a:solidFill>
              </a:rPr>
              <a:t>etc</a:t>
            </a:r>
            <a:endParaRPr lang="en-US" sz="2000" dirty="0" smtClean="0">
              <a:solidFill>
                <a:srgbClr val="00B0F0"/>
              </a:solidFill>
            </a:endParaRPr>
          </a:p>
          <a:p>
            <a:r>
              <a:rPr lang="en-US" sz="2000" dirty="0" smtClean="0"/>
              <a:t>Using </a:t>
            </a:r>
            <a:r>
              <a:rPr lang="en-US" sz="2000" dirty="0"/>
              <a:t>technology, a lot of people can collaborate to achieve a common objective</a:t>
            </a:r>
            <a:r>
              <a:rPr lang="en-US" sz="2000" dirty="0" smtClean="0"/>
              <a:t>.</a:t>
            </a:r>
            <a:endParaRPr lang="en-US" sz="2000" dirty="0"/>
          </a:p>
          <a:p>
            <a:endParaRPr lang="en-US" sz="2000" dirty="0"/>
          </a:p>
          <a:p>
            <a:endParaRPr lang="en-US" sz="2000" dirty="0"/>
          </a:p>
          <a:p>
            <a:endParaRPr lang="en-US" sz="2000" dirty="0"/>
          </a:p>
        </p:txBody>
      </p:sp>
      <p:sp>
        <p:nvSpPr>
          <p:cNvPr id="5" name="Slide Number Placeholder 4"/>
          <p:cNvSpPr>
            <a:spLocks noGrp="1"/>
          </p:cNvSpPr>
          <p:nvPr>
            <p:ph type="sldNum" sz="quarter" idx="12"/>
          </p:nvPr>
        </p:nvSpPr>
        <p:spPr/>
        <p:txBody>
          <a:bodyPr/>
          <a:lstStyle/>
          <a:p>
            <a:fld id="{23494754-66A2-4D55-A3BE-A7B793766391}" type="slidenum">
              <a:rPr lang="en-US" smtClean="0"/>
              <a:t>29</a:t>
            </a:fld>
            <a:endParaRPr lang="en-US"/>
          </a:p>
        </p:txBody>
      </p:sp>
    </p:spTree>
    <p:extLst>
      <p:ext uri="{BB962C8B-B14F-4D97-AF65-F5344CB8AC3E}">
        <p14:creationId xmlns:p14="http://schemas.microsoft.com/office/powerpoint/2010/main" val="3536756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1207"/>
            <a:ext cx="10515600" cy="4351338"/>
          </a:xfrm>
        </p:spPr>
        <p:txBody>
          <a:bodyPr>
            <a:noAutofit/>
          </a:bodyPr>
          <a:lstStyle/>
          <a:p>
            <a:r>
              <a:rPr lang="en-US" sz="2400" b="1" dirty="0" smtClean="0">
                <a:solidFill>
                  <a:srgbClr val="FF0000"/>
                </a:solidFill>
              </a:rPr>
              <a:t>Example </a:t>
            </a:r>
            <a:r>
              <a:rPr lang="en-US" sz="2400" b="1" dirty="0">
                <a:solidFill>
                  <a:srgbClr val="FF0000"/>
                </a:solidFill>
              </a:rPr>
              <a:t>of effective </a:t>
            </a:r>
            <a:r>
              <a:rPr lang="en-US" sz="2400" b="1" dirty="0" smtClean="0">
                <a:solidFill>
                  <a:srgbClr val="FF0000"/>
                </a:solidFill>
              </a:rPr>
              <a:t>virtual group </a:t>
            </a:r>
            <a:r>
              <a:rPr lang="en-US" sz="2400" b="1" dirty="0">
                <a:solidFill>
                  <a:srgbClr val="FF0000"/>
                </a:solidFill>
              </a:rPr>
              <a:t>communication</a:t>
            </a:r>
          </a:p>
          <a:p>
            <a:r>
              <a:rPr lang="en-US" sz="2000" dirty="0"/>
              <a:t>A </a:t>
            </a:r>
            <a:r>
              <a:rPr lang="en-US" sz="2000" dirty="0">
                <a:solidFill>
                  <a:srgbClr val="00B0F0"/>
                </a:solidFill>
              </a:rPr>
              <a:t>webinar</a:t>
            </a:r>
            <a:r>
              <a:rPr lang="en-US" sz="2000" dirty="0"/>
              <a:t> is a good example of modern day group communication. </a:t>
            </a:r>
            <a:endParaRPr lang="en-US" sz="2000" dirty="0" smtClean="0"/>
          </a:p>
          <a:p>
            <a:r>
              <a:rPr lang="en-US" sz="2000" dirty="0" smtClean="0"/>
              <a:t>In </a:t>
            </a:r>
            <a:r>
              <a:rPr lang="en-US" sz="2000" dirty="0"/>
              <a:t>a webinar </a:t>
            </a:r>
            <a:r>
              <a:rPr lang="en-US" sz="2000" dirty="0" smtClean="0">
                <a:solidFill>
                  <a:srgbClr val="00B0F0"/>
                </a:solidFill>
              </a:rPr>
              <a:t>a </a:t>
            </a:r>
            <a:r>
              <a:rPr lang="en-US" sz="2000" dirty="0">
                <a:solidFill>
                  <a:srgbClr val="00B0F0"/>
                </a:solidFill>
              </a:rPr>
              <a:t>person or a company present an </a:t>
            </a:r>
            <a:r>
              <a:rPr lang="en-US" sz="2000" dirty="0" smtClean="0">
                <a:solidFill>
                  <a:srgbClr val="00B0F0"/>
                </a:solidFill>
              </a:rPr>
              <a:t>idea/ product/ </a:t>
            </a:r>
            <a:r>
              <a:rPr lang="en-US" sz="2000" dirty="0">
                <a:solidFill>
                  <a:srgbClr val="00B0F0"/>
                </a:solidFill>
              </a:rPr>
              <a:t>service to </a:t>
            </a:r>
            <a:r>
              <a:rPr lang="en-US" sz="2000" dirty="0" smtClean="0">
                <a:solidFill>
                  <a:srgbClr val="00B0F0"/>
                </a:solidFill>
              </a:rPr>
              <a:t>interested </a:t>
            </a:r>
            <a:r>
              <a:rPr lang="en-US" sz="2000" dirty="0" smtClean="0"/>
              <a:t> </a:t>
            </a:r>
            <a:r>
              <a:rPr lang="en-US" sz="2000" dirty="0"/>
              <a:t>customers. </a:t>
            </a:r>
            <a:endParaRPr lang="en-US" sz="2000" dirty="0" smtClean="0"/>
          </a:p>
          <a:p>
            <a:r>
              <a:rPr lang="en-US" sz="2000" dirty="0"/>
              <a:t>Q</a:t>
            </a:r>
            <a:r>
              <a:rPr lang="en-US" sz="2000" dirty="0" smtClean="0"/>
              <a:t>uestions </a:t>
            </a:r>
            <a:r>
              <a:rPr lang="en-US" sz="2000" dirty="0"/>
              <a:t>are asked and interaction </a:t>
            </a:r>
            <a:r>
              <a:rPr lang="en-US" sz="2000" dirty="0" smtClean="0"/>
              <a:t>is there </a:t>
            </a:r>
            <a:r>
              <a:rPr lang="en-US" sz="2000" dirty="0" smtClean="0"/>
              <a:t>as </a:t>
            </a:r>
            <a:r>
              <a:rPr lang="en-US" sz="2000" dirty="0"/>
              <a:t>all the </a:t>
            </a:r>
            <a:r>
              <a:rPr lang="en-US" sz="2000" dirty="0" smtClean="0"/>
              <a:t>members </a:t>
            </a:r>
            <a:r>
              <a:rPr lang="en-US" sz="2000" dirty="0"/>
              <a:t>connected to a common </a:t>
            </a:r>
            <a:r>
              <a:rPr lang="en-US" sz="2000" dirty="0" smtClean="0"/>
              <a:t> </a:t>
            </a:r>
            <a:r>
              <a:rPr lang="en-US" sz="2000" dirty="0"/>
              <a:t>idea</a:t>
            </a:r>
            <a:r>
              <a:rPr lang="en-US" sz="2000" dirty="0" smtClean="0"/>
              <a:t>.</a:t>
            </a:r>
          </a:p>
          <a:p>
            <a:r>
              <a:rPr lang="en-US" sz="2000" dirty="0"/>
              <a:t>P</a:t>
            </a:r>
            <a:r>
              <a:rPr lang="en-US" sz="2000" dirty="0" smtClean="0"/>
              <a:t>eople </a:t>
            </a:r>
            <a:r>
              <a:rPr lang="en-US" sz="2000" dirty="0"/>
              <a:t>may become potential customers if the webinar </a:t>
            </a:r>
            <a:r>
              <a:rPr lang="en-US" sz="2000" dirty="0" smtClean="0"/>
              <a:t>is about </a:t>
            </a:r>
            <a:r>
              <a:rPr lang="en-US" sz="2000" dirty="0"/>
              <a:t>a product. </a:t>
            </a:r>
            <a:endParaRPr lang="en-US" sz="2000" dirty="0" smtClean="0"/>
          </a:p>
          <a:p>
            <a:r>
              <a:rPr lang="en-US" sz="2000" dirty="0" smtClean="0"/>
              <a:t>All </a:t>
            </a:r>
            <a:r>
              <a:rPr lang="en-US" sz="2000" dirty="0"/>
              <a:t>the queries and other features can be very well clarified in the webinar</a:t>
            </a:r>
            <a:r>
              <a:rPr lang="en-US" sz="2000" dirty="0" smtClean="0"/>
              <a:t>.</a:t>
            </a:r>
          </a:p>
          <a:p>
            <a:r>
              <a:rPr lang="en-US" sz="2000" dirty="0" smtClean="0"/>
              <a:t>A </a:t>
            </a:r>
            <a:r>
              <a:rPr lang="en-US" sz="2000" dirty="0"/>
              <a:t>typical seminar or webinar may have 40-50 </a:t>
            </a:r>
            <a:r>
              <a:rPr lang="en-US" sz="2000" dirty="0" smtClean="0"/>
              <a:t>members</a:t>
            </a:r>
            <a:endParaRPr lang="en-US" sz="2000" dirty="0"/>
          </a:p>
          <a:p>
            <a:r>
              <a:rPr lang="en-US" sz="2000" dirty="0"/>
              <a:t>O</a:t>
            </a:r>
            <a:r>
              <a:rPr lang="en-US" sz="2000" dirty="0" smtClean="0"/>
              <a:t>nline classes; where </a:t>
            </a:r>
            <a:r>
              <a:rPr lang="en-US" sz="2000" dirty="0"/>
              <a:t>in a </a:t>
            </a:r>
            <a:r>
              <a:rPr lang="en-US" sz="2000" dirty="0" smtClean="0"/>
              <a:t>teacher teaches </a:t>
            </a:r>
            <a:r>
              <a:rPr lang="en-US" sz="2000" dirty="0"/>
              <a:t>a group of students using technology. </a:t>
            </a:r>
            <a:endParaRPr lang="en-US" sz="2000" dirty="0" smtClean="0"/>
          </a:p>
          <a:p>
            <a:r>
              <a:rPr lang="en-US" sz="2000" dirty="0" smtClean="0"/>
              <a:t>Even </a:t>
            </a:r>
            <a:r>
              <a:rPr lang="en-US" sz="2000" dirty="0"/>
              <a:t>conventional education is based on effective group communication where a </a:t>
            </a:r>
            <a:r>
              <a:rPr lang="en-US" sz="2000" dirty="0" smtClean="0"/>
              <a:t>teacher</a:t>
            </a:r>
            <a:r>
              <a:rPr lang="en-US" sz="2000" dirty="0" smtClean="0"/>
              <a:t> </a:t>
            </a:r>
            <a:r>
              <a:rPr lang="en-US" sz="2000" dirty="0"/>
              <a:t>teaches </a:t>
            </a:r>
            <a:r>
              <a:rPr lang="en-US" sz="2000" dirty="0" smtClean="0"/>
              <a:t> </a:t>
            </a:r>
            <a:r>
              <a:rPr lang="en-US" sz="2000" dirty="0"/>
              <a:t>to a </a:t>
            </a:r>
            <a:r>
              <a:rPr lang="en-US" sz="2000" dirty="0" smtClean="0"/>
              <a:t>group.</a:t>
            </a:r>
            <a:r>
              <a:rPr lang="en-US" sz="2000" dirty="0"/>
              <a:t/>
            </a:r>
            <a:br>
              <a:rPr lang="en-US" sz="2000" dirty="0"/>
            </a:br>
            <a:endParaRPr lang="en-US" sz="2000" dirty="0"/>
          </a:p>
          <a:p>
            <a:endParaRPr lang="en-US" sz="2000" dirty="0"/>
          </a:p>
        </p:txBody>
      </p:sp>
      <p:sp>
        <p:nvSpPr>
          <p:cNvPr id="5" name="Slide Number Placeholder 4"/>
          <p:cNvSpPr>
            <a:spLocks noGrp="1"/>
          </p:cNvSpPr>
          <p:nvPr>
            <p:ph type="sldNum" sz="quarter" idx="12"/>
          </p:nvPr>
        </p:nvSpPr>
        <p:spPr/>
        <p:txBody>
          <a:bodyPr/>
          <a:lstStyle/>
          <a:p>
            <a:fld id="{23494754-66A2-4D55-A3BE-A7B793766391}" type="slidenum">
              <a:rPr lang="en-US" smtClean="0"/>
              <a:t>30</a:t>
            </a:fld>
            <a:endParaRPr lang="en-US"/>
          </a:p>
        </p:txBody>
      </p:sp>
    </p:spTree>
    <p:extLst>
      <p:ext uri="{BB962C8B-B14F-4D97-AF65-F5344CB8AC3E}">
        <p14:creationId xmlns:p14="http://schemas.microsoft.com/office/powerpoint/2010/main" val="606347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8781"/>
            <a:ext cx="10515600" cy="4351338"/>
          </a:xfrm>
        </p:spPr>
        <p:txBody>
          <a:bodyPr>
            <a:normAutofit fontScale="25000" lnSpcReduction="20000"/>
          </a:bodyPr>
          <a:lstStyle/>
          <a:p>
            <a:pPr marL="0" indent="0">
              <a:buNone/>
            </a:pPr>
            <a:r>
              <a:rPr lang="en-US" sz="11200" dirty="0">
                <a:solidFill>
                  <a:srgbClr val="FF0000"/>
                </a:solidFill>
              </a:rPr>
              <a:t>F</a:t>
            </a:r>
            <a:r>
              <a:rPr lang="en-US" sz="11200" dirty="0" smtClean="0">
                <a:solidFill>
                  <a:srgbClr val="FF0000"/>
                </a:solidFill>
              </a:rPr>
              <a:t>eatures </a:t>
            </a:r>
            <a:r>
              <a:rPr lang="en-US" sz="11200" dirty="0">
                <a:solidFill>
                  <a:srgbClr val="FF0000"/>
                </a:solidFill>
              </a:rPr>
              <a:t>of group </a:t>
            </a:r>
            <a:r>
              <a:rPr lang="en-US" sz="11200" dirty="0" smtClean="0">
                <a:solidFill>
                  <a:srgbClr val="FF0000"/>
                </a:solidFill>
              </a:rPr>
              <a:t>communication</a:t>
            </a:r>
            <a:endParaRPr lang="en-US" sz="7200" dirty="0"/>
          </a:p>
          <a:p>
            <a:r>
              <a:rPr lang="en-US" sz="8000" b="1" dirty="0">
                <a:solidFill>
                  <a:srgbClr val="00B0F0"/>
                </a:solidFill>
              </a:rPr>
              <a:t>Participants</a:t>
            </a:r>
            <a:r>
              <a:rPr lang="en-US" sz="8000" dirty="0"/>
              <a:t> — senders and receivers of the messages.</a:t>
            </a:r>
          </a:p>
          <a:p>
            <a:r>
              <a:rPr lang="en-US" sz="8000" b="1" dirty="0">
                <a:solidFill>
                  <a:srgbClr val="00B0F0"/>
                </a:solidFill>
              </a:rPr>
              <a:t>Message</a:t>
            </a:r>
            <a:r>
              <a:rPr lang="en-US" sz="8000" dirty="0">
                <a:solidFill>
                  <a:srgbClr val="00B0F0"/>
                </a:solidFill>
              </a:rPr>
              <a:t> — </a:t>
            </a:r>
            <a:r>
              <a:rPr lang="en-US" sz="8000" dirty="0"/>
              <a:t>the piece of information communicated </a:t>
            </a:r>
            <a:r>
              <a:rPr lang="en-US" sz="8000" dirty="0" smtClean="0"/>
              <a:t>across a </a:t>
            </a:r>
            <a:r>
              <a:rPr lang="en-US" sz="8000" dirty="0"/>
              <a:t>group</a:t>
            </a:r>
            <a:r>
              <a:rPr lang="en-US" sz="8000" dirty="0" smtClean="0"/>
              <a:t>.</a:t>
            </a:r>
            <a:endParaRPr lang="en-US" sz="8000" dirty="0"/>
          </a:p>
          <a:p>
            <a:r>
              <a:rPr lang="en-US" sz="8000" b="1" dirty="0">
                <a:solidFill>
                  <a:srgbClr val="00B0F0"/>
                </a:solidFill>
              </a:rPr>
              <a:t>Context</a:t>
            </a:r>
            <a:r>
              <a:rPr lang="en-US" sz="8000" dirty="0">
                <a:solidFill>
                  <a:srgbClr val="00B0F0"/>
                </a:solidFill>
              </a:rPr>
              <a:t> —</a:t>
            </a:r>
            <a:r>
              <a:rPr lang="en-US" sz="8000" dirty="0"/>
              <a:t> external circumstances and conditions in which the communication takes place that largely determine how the message is interpreted. </a:t>
            </a:r>
            <a:endParaRPr lang="en-US" sz="8000" dirty="0" smtClean="0"/>
          </a:p>
          <a:p>
            <a:r>
              <a:rPr lang="en-US" sz="8000" dirty="0" smtClean="0"/>
              <a:t>Some </a:t>
            </a:r>
            <a:r>
              <a:rPr lang="en-US" sz="8000" dirty="0"/>
              <a:t>of the factors that make up the context in group communication are:</a:t>
            </a:r>
          </a:p>
          <a:p>
            <a:pPr lvl="1"/>
            <a:r>
              <a:rPr lang="en-US" sz="8000" dirty="0"/>
              <a:t>the situation,</a:t>
            </a:r>
          </a:p>
          <a:p>
            <a:pPr lvl="1"/>
            <a:r>
              <a:rPr lang="en-US" sz="8000" dirty="0"/>
              <a:t>culture,</a:t>
            </a:r>
          </a:p>
          <a:p>
            <a:pPr lvl="1"/>
            <a:r>
              <a:rPr lang="en-US" sz="8000" dirty="0"/>
              <a:t>environment,</a:t>
            </a:r>
          </a:p>
          <a:p>
            <a:pPr lvl="1"/>
            <a:r>
              <a:rPr lang="en-US" sz="8000" dirty="0"/>
              <a:t>time,</a:t>
            </a:r>
          </a:p>
          <a:p>
            <a:pPr lvl="1"/>
            <a:r>
              <a:rPr lang="en-US" sz="8000" dirty="0" smtClean="0"/>
              <a:t>place</a:t>
            </a:r>
            <a:endParaRPr lang="en-US" sz="8000" dirty="0"/>
          </a:p>
          <a:p>
            <a:pPr lvl="1"/>
            <a:r>
              <a:rPr lang="en-US" sz="8000" dirty="0"/>
              <a:t>roles of the participants.</a:t>
            </a:r>
          </a:p>
          <a:p>
            <a:r>
              <a:rPr lang="en-US" sz="8000" b="1" dirty="0">
                <a:solidFill>
                  <a:srgbClr val="00B0F0"/>
                </a:solidFill>
              </a:rPr>
              <a:t>Channel(s)</a:t>
            </a:r>
            <a:r>
              <a:rPr lang="en-US" sz="8000" dirty="0">
                <a:solidFill>
                  <a:srgbClr val="00B0F0"/>
                </a:solidFill>
              </a:rPr>
              <a:t> — </a:t>
            </a:r>
            <a:r>
              <a:rPr lang="en-US" sz="8000" dirty="0"/>
              <a:t>the medium used to </a:t>
            </a:r>
            <a:r>
              <a:rPr lang="en-US" sz="8000" dirty="0" smtClean="0"/>
              <a:t>disseminate the information; letters, </a:t>
            </a:r>
            <a:r>
              <a:rPr lang="en-US" sz="8000" dirty="0" smtClean="0"/>
              <a:t>email</a:t>
            </a:r>
            <a:r>
              <a:rPr lang="en-US" sz="8000" dirty="0"/>
              <a:t>, phone, etc.).</a:t>
            </a:r>
          </a:p>
          <a:p>
            <a:r>
              <a:rPr lang="en-US" sz="8000" b="1" dirty="0">
                <a:solidFill>
                  <a:srgbClr val="00B0F0"/>
                </a:solidFill>
              </a:rPr>
              <a:t>Feedback</a:t>
            </a:r>
            <a:r>
              <a:rPr lang="en-US" sz="8000" dirty="0">
                <a:solidFill>
                  <a:srgbClr val="00B0F0"/>
                </a:solidFill>
              </a:rPr>
              <a:t> —</a:t>
            </a:r>
            <a:r>
              <a:rPr lang="en-US" sz="8000" dirty="0"/>
              <a:t> the response made by the receiver(s) of the message</a:t>
            </a:r>
            <a:r>
              <a:rPr lang="en-US" sz="8000" dirty="0" smtClean="0"/>
              <a:t>.</a:t>
            </a:r>
            <a:endParaRPr lang="en-US" sz="8000" dirty="0"/>
          </a:p>
        </p:txBody>
      </p:sp>
      <p:sp>
        <p:nvSpPr>
          <p:cNvPr id="5" name="Slide Number Placeholder 4"/>
          <p:cNvSpPr>
            <a:spLocks noGrp="1"/>
          </p:cNvSpPr>
          <p:nvPr>
            <p:ph type="sldNum" sz="quarter" idx="12"/>
          </p:nvPr>
        </p:nvSpPr>
        <p:spPr/>
        <p:txBody>
          <a:bodyPr/>
          <a:lstStyle/>
          <a:p>
            <a:fld id="{23494754-66A2-4D55-A3BE-A7B793766391}" type="slidenum">
              <a:rPr lang="en-US" smtClean="0"/>
              <a:t>31</a:t>
            </a:fld>
            <a:endParaRPr lang="en-US"/>
          </a:p>
        </p:txBody>
      </p:sp>
    </p:spTree>
    <p:extLst>
      <p:ext uri="{BB962C8B-B14F-4D97-AF65-F5344CB8AC3E}">
        <p14:creationId xmlns:p14="http://schemas.microsoft.com/office/powerpoint/2010/main" val="4033479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1779"/>
            <a:ext cx="10515600" cy="4351338"/>
          </a:xfrm>
        </p:spPr>
        <p:txBody>
          <a:bodyPr>
            <a:normAutofit fontScale="25000" lnSpcReduction="20000"/>
          </a:bodyPr>
          <a:lstStyle/>
          <a:p>
            <a:pPr marL="0" indent="0">
              <a:buNone/>
            </a:pPr>
            <a:r>
              <a:rPr lang="en-US" sz="11200" dirty="0">
                <a:solidFill>
                  <a:srgbClr val="FF0000"/>
                </a:solidFill>
              </a:rPr>
              <a:t>Advantages of group </a:t>
            </a:r>
            <a:r>
              <a:rPr lang="en-US" sz="11200" dirty="0" smtClean="0">
                <a:solidFill>
                  <a:srgbClr val="FF0000"/>
                </a:solidFill>
              </a:rPr>
              <a:t>communication</a:t>
            </a:r>
            <a:r>
              <a:rPr lang="en-US" sz="6400" dirty="0"/>
              <a:t> </a:t>
            </a:r>
            <a:endParaRPr lang="en-US" sz="6400" dirty="0">
              <a:solidFill>
                <a:srgbClr val="00B0F0"/>
              </a:solidFill>
            </a:endParaRPr>
          </a:p>
          <a:p>
            <a:r>
              <a:rPr lang="en-US" sz="8000" dirty="0">
                <a:solidFill>
                  <a:srgbClr val="00B0F0"/>
                </a:solidFill>
              </a:rPr>
              <a:t> </a:t>
            </a:r>
            <a:r>
              <a:rPr lang="en-US" sz="8000" b="1" dirty="0">
                <a:solidFill>
                  <a:srgbClr val="00B0F0"/>
                </a:solidFill>
              </a:rPr>
              <a:t>Better transparency and clarity among group members about goals and expectations </a:t>
            </a:r>
            <a:r>
              <a:rPr lang="en-US" sz="8000" dirty="0">
                <a:solidFill>
                  <a:srgbClr val="00B0F0"/>
                </a:solidFill>
              </a:rPr>
              <a:t>—</a:t>
            </a:r>
            <a:r>
              <a:rPr lang="en-US" sz="8000" dirty="0"/>
              <a:t> Group members that frequently communicate are more likely to </a:t>
            </a:r>
            <a:r>
              <a:rPr lang="en-US" sz="8000" dirty="0">
                <a:solidFill>
                  <a:srgbClr val="00B0F0"/>
                </a:solidFill>
              </a:rPr>
              <a:t>establish trust and transparency </a:t>
            </a:r>
            <a:r>
              <a:rPr lang="en-US" sz="8000" dirty="0"/>
              <a:t>among themselves</a:t>
            </a:r>
            <a:r>
              <a:rPr lang="en-US" sz="8000" dirty="0" smtClean="0"/>
              <a:t>.</a:t>
            </a:r>
            <a:r>
              <a:rPr lang="en-US" sz="8000" dirty="0"/>
              <a:t> </a:t>
            </a:r>
          </a:p>
          <a:p>
            <a:r>
              <a:rPr lang="en-US" sz="8000" b="1" dirty="0" smtClean="0">
                <a:solidFill>
                  <a:srgbClr val="00B0F0"/>
                </a:solidFill>
              </a:rPr>
              <a:t>Improved </a:t>
            </a:r>
            <a:r>
              <a:rPr lang="en-US" sz="8000" b="1" dirty="0">
                <a:solidFill>
                  <a:srgbClr val="00B0F0"/>
                </a:solidFill>
              </a:rPr>
              <a:t>teamwork and collaboration</a:t>
            </a:r>
            <a:r>
              <a:rPr lang="en-US" sz="8000" dirty="0">
                <a:solidFill>
                  <a:srgbClr val="00B0F0"/>
                </a:solidFill>
              </a:rPr>
              <a:t> —</a:t>
            </a:r>
            <a:r>
              <a:rPr lang="en-US" sz="8000" dirty="0"/>
              <a:t> Effective </a:t>
            </a:r>
            <a:r>
              <a:rPr lang="en-US" sz="8000" dirty="0" smtClean="0"/>
              <a:t>group communication </a:t>
            </a:r>
            <a:r>
              <a:rPr lang="en-US" sz="8000" dirty="0"/>
              <a:t>is one of the key </a:t>
            </a:r>
            <a:r>
              <a:rPr lang="en-US" sz="8000" dirty="0">
                <a:solidFill>
                  <a:srgbClr val="00B0F0"/>
                </a:solidFill>
              </a:rPr>
              <a:t>facilitators of successful </a:t>
            </a:r>
            <a:r>
              <a:rPr lang="en-US" sz="8000" dirty="0" smtClean="0">
                <a:solidFill>
                  <a:srgbClr val="00B0F0"/>
                </a:solidFill>
              </a:rPr>
              <a:t> teamwork and collaboration</a:t>
            </a:r>
            <a:r>
              <a:rPr lang="en-US" sz="8000" dirty="0">
                <a:solidFill>
                  <a:srgbClr val="00B0F0"/>
                </a:solidFill>
              </a:rPr>
              <a:t>. </a:t>
            </a:r>
          </a:p>
          <a:p>
            <a:r>
              <a:rPr lang="en-US" sz="8000" b="1" dirty="0" smtClean="0">
                <a:solidFill>
                  <a:srgbClr val="00B0F0"/>
                </a:solidFill>
              </a:rPr>
              <a:t>Increased </a:t>
            </a:r>
            <a:r>
              <a:rPr lang="en-US" sz="8000" b="1" dirty="0">
                <a:solidFill>
                  <a:srgbClr val="00B0F0"/>
                </a:solidFill>
              </a:rPr>
              <a:t>productivity</a:t>
            </a:r>
            <a:r>
              <a:rPr lang="en-US" sz="8000" dirty="0">
                <a:solidFill>
                  <a:srgbClr val="00B0F0"/>
                </a:solidFill>
              </a:rPr>
              <a:t> — </a:t>
            </a:r>
            <a:r>
              <a:rPr lang="en-US" sz="8000" dirty="0" smtClean="0"/>
              <a:t>effective </a:t>
            </a:r>
            <a:r>
              <a:rPr lang="en-US" sz="8000" dirty="0"/>
              <a:t>group communication between team members drives </a:t>
            </a:r>
            <a:r>
              <a:rPr lang="en-US" sz="8000" dirty="0">
                <a:solidFill>
                  <a:srgbClr val="00B0F0"/>
                </a:solidFill>
              </a:rPr>
              <a:t>productivity and ensures better results. </a:t>
            </a:r>
          </a:p>
          <a:p>
            <a:r>
              <a:rPr lang="en-US" sz="8000" b="1" dirty="0" smtClean="0">
                <a:solidFill>
                  <a:srgbClr val="00B0F0"/>
                </a:solidFill>
              </a:rPr>
              <a:t>More </a:t>
            </a:r>
            <a:r>
              <a:rPr lang="en-US" sz="8000" b="1" dirty="0">
                <a:solidFill>
                  <a:srgbClr val="00B0F0"/>
                </a:solidFill>
              </a:rPr>
              <a:t>effective decision-making </a:t>
            </a:r>
            <a:r>
              <a:rPr lang="en-US" sz="8000" dirty="0">
                <a:solidFill>
                  <a:srgbClr val="00B0F0"/>
                </a:solidFill>
              </a:rPr>
              <a:t>— </a:t>
            </a:r>
            <a:r>
              <a:rPr lang="en-US" sz="8000" dirty="0" smtClean="0"/>
              <a:t>Multiple </a:t>
            </a:r>
            <a:r>
              <a:rPr lang="en-US" sz="8000" dirty="0"/>
              <a:t>perspectives present in </a:t>
            </a:r>
            <a:r>
              <a:rPr lang="en-US" sz="8000" dirty="0" smtClean="0"/>
              <a:t> </a:t>
            </a:r>
            <a:r>
              <a:rPr lang="en-US" sz="8000" dirty="0"/>
              <a:t>group communication contribute to </a:t>
            </a:r>
            <a:r>
              <a:rPr lang="en-US" sz="8000" dirty="0">
                <a:solidFill>
                  <a:srgbClr val="00B0F0"/>
                </a:solidFill>
              </a:rPr>
              <a:t>better objectivity and accuracy when making </a:t>
            </a:r>
            <a:r>
              <a:rPr lang="en-US" sz="8000" dirty="0" smtClean="0">
                <a:solidFill>
                  <a:srgbClr val="00B0F0"/>
                </a:solidFill>
              </a:rPr>
              <a:t>decisions</a:t>
            </a:r>
            <a:r>
              <a:rPr lang="en-US" sz="8000" dirty="0" smtClean="0"/>
              <a:t>.</a:t>
            </a:r>
            <a:endParaRPr lang="en-US" sz="8000" dirty="0"/>
          </a:p>
          <a:p>
            <a:r>
              <a:rPr lang="en-US" sz="8000" b="1" dirty="0" smtClean="0">
                <a:solidFill>
                  <a:srgbClr val="00B0F0"/>
                </a:solidFill>
              </a:rPr>
              <a:t>Closer </a:t>
            </a:r>
            <a:r>
              <a:rPr lang="en-US" sz="8000" b="1" dirty="0">
                <a:solidFill>
                  <a:srgbClr val="00B0F0"/>
                </a:solidFill>
              </a:rPr>
              <a:t>relationships and improved trust between team members </a:t>
            </a:r>
            <a:r>
              <a:rPr lang="en-US" sz="8000" dirty="0">
                <a:solidFill>
                  <a:srgbClr val="00B0F0"/>
                </a:solidFill>
              </a:rPr>
              <a:t>— </a:t>
            </a:r>
            <a:r>
              <a:rPr lang="en-US" sz="8000" dirty="0"/>
              <a:t>communication among team members fosters</a:t>
            </a:r>
            <a:r>
              <a:rPr lang="en-US" sz="8000" dirty="0">
                <a:solidFill>
                  <a:srgbClr val="00B0F0"/>
                </a:solidFill>
              </a:rPr>
              <a:t> organizational </a:t>
            </a:r>
            <a:r>
              <a:rPr lang="en-US" sz="8000" dirty="0" smtClean="0">
                <a:solidFill>
                  <a:srgbClr val="00B0F0"/>
                </a:solidFill>
              </a:rPr>
              <a:t>relationship and trust</a:t>
            </a:r>
            <a:r>
              <a:rPr lang="en-US" sz="8000" dirty="0">
                <a:solidFill>
                  <a:srgbClr val="00B0F0"/>
                </a:solidFill>
              </a:rPr>
              <a:t>, with the quality, quantity, and adequacy of information </a:t>
            </a:r>
            <a:r>
              <a:rPr lang="en-US" sz="8000" dirty="0" smtClean="0">
                <a:solidFill>
                  <a:srgbClr val="00B0F0"/>
                </a:solidFill>
              </a:rPr>
              <a:t>.</a:t>
            </a:r>
            <a:r>
              <a:rPr lang="en-US" sz="8000" dirty="0">
                <a:solidFill>
                  <a:srgbClr val="00B0F0"/>
                </a:solidFill>
              </a:rPr>
              <a:t/>
            </a:r>
            <a:br>
              <a:rPr lang="en-US" sz="8000" dirty="0">
                <a:solidFill>
                  <a:srgbClr val="00B0F0"/>
                </a:solidFill>
              </a:rPr>
            </a:br>
            <a:endParaRPr lang="en-US" sz="8000" dirty="0">
              <a:solidFill>
                <a:srgbClr val="00B0F0"/>
              </a:solidFill>
            </a:endParaRPr>
          </a:p>
        </p:txBody>
      </p:sp>
      <p:sp>
        <p:nvSpPr>
          <p:cNvPr id="5" name="Slide Number Placeholder 4"/>
          <p:cNvSpPr>
            <a:spLocks noGrp="1"/>
          </p:cNvSpPr>
          <p:nvPr>
            <p:ph type="sldNum" sz="quarter" idx="12"/>
          </p:nvPr>
        </p:nvSpPr>
        <p:spPr/>
        <p:txBody>
          <a:bodyPr/>
          <a:lstStyle/>
          <a:p>
            <a:fld id="{23494754-66A2-4D55-A3BE-A7B793766391}" type="slidenum">
              <a:rPr lang="en-US" smtClean="0"/>
              <a:t>32</a:t>
            </a:fld>
            <a:endParaRPr lang="en-US"/>
          </a:p>
        </p:txBody>
      </p:sp>
    </p:spTree>
    <p:extLst>
      <p:ext uri="{BB962C8B-B14F-4D97-AF65-F5344CB8AC3E}">
        <p14:creationId xmlns:p14="http://schemas.microsoft.com/office/powerpoint/2010/main" val="779432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3426"/>
            <a:ext cx="10515600" cy="4351338"/>
          </a:xfrm>
        </p:spPr>
        <p:txBody>
          <a:bodyPr>
            <a:normAutofit fontScale="25000" lnSpcReduction="20000"/>
          </a:bodyPr>
          <a:lstStyle/>
          <a:p>
            <a:pPr marL="0" indent="0">
              <a:buNone/>
            </a:pPr>
            <a:r>
              <a:rPr lang="en-US" sz="9600" dirty="0">
                <a:solidFill>
                  <a:srgbClr val="FF0000"/>
                </a:solidFill>
              </a:rPr>
              <a:t>Disadvantages of group </a:t>
            </a:r>
            <a:r>
              <a:rPr lang="en-US" sz="9600" dirty="0" smtClean="0">
                <a:solidFill>
                  <a:srgbClr val="FF0000"/>
                </a:solidFill>
              </a:rPr>
              <a:t>communication</a:t>
            </a:r>
            <a:endParaRPr lang="en-US" sz="7200" dirty="0"/>
          </a:p>
          <a:p>
            <a:r>
              <a:rPr lang="en-US" sz="8000" b="1" dirty="0" smtClean="0">
                <a:solidFill>
                  <a:srgbClr val="00B0F0"/>
                </a:solidFill>
              </a:rPr>
              <a:t>Physical </a:t>
            </a:r>
            <a:r>
              <a:rPr lang="en-US" sz="8000" b="1" dirty="0">
                <a:solidFill>
                  <a:srgbClr val="00B0F0"/>
                </a:solidFill>
              </a:rPr>
              <a:t>barriers </a:t>
            </a:r>
            <a:r>
              <a:rPr lang="en-US" sz="8000" dirty="0">
                <a:solidFill>
                  <a:srgbClr val="00B0F0"/>
                </a:solidFill>
              </a:rPr>
              <a:t>— </a:t>
            </a:r>
            <a:r>
              <a:rPr lang="en-US" sz="8000" dirty="0"/>
              <a:t>When group members are</a:t>
            </a:r>
            <a:r>
              <a:rPr lang="en-US" sz="8000" dirty="0">
                <a:solidFill>
                  <a:srgbClr val="00B0F0"/>
                </a:solidFill>
              </a:rPr>
              <a:t> not in the same physical location</a:t>
            </a:r>
            <a:r>
              <a:rPr lang="en-US" sz="8000" dirty="0"/>
              <a:t>, challenges in communication arise, </a:t>
            </a:r>
            <a:r>
              <a:rPr lang="en-US" sz="8000" dirty="0" smtClean="0"/>
              <a:t>as </a:t>
            </a:r>
            <a:r>
              <a:rPr lang="en-US" sz="8000" dirty="0"/>
              <a:t>insufficient communication tools and unreliable </a:t>
            </a:r>
            <a:r>
              <a:rPr lang="en-US" sz="8000" dirty="0" smtClean="0"/>
              <a:t>internet/ </a:t>
            </a:r>
            <a:r>
              <a:rPr lang="en-US" sz="8000" dirty="0"/>
              <a:t>phone </a:t>
            </a:r>
            <a:r>
              <a:rPr lang="en-US" sz="8000" dirty="0" smtClean="0"/>
              <a:t>connections.</a:t>
            </a:r>
            <a:r>
              <a:rPr lang="en-US" sz="8000" dirty="0"/>
              <a:t> </a:t>
            </a:r>
          </a:p>
          <a:p>
            <a:r>
              <a:rPr lang="en-US" sz="8000" b="1" dirty="0">
                <a:solidFill>
                  <a:srgbClr val="00B0F0"/>
                </a:solidFill>
              </a:rPr>
              <a:t>Perceptual barriers </a:t>
            </a:r>
            <a:r>
              <a:rPr lang="en-US" sz="8000" dirty="0">
                <a:solidFill>
                  <a:srgbClr val="00B0F0"/>
                </a:solidFill>
              </a:rPr>
              <a:t>—</a:t>
            </a:r>
            <a:r>
              <a:rPr lang="en-US" sz="8000" dirty="0"/>
              <a:t> The personality types and overall outlook on life of group </a:t>
            </a:r>
            <a:r>
              <a:rPr lang="en-US" sz="8000" dirty="0" smtClean="0"/>
              <a:t>members influence </a:t>
            </a:r>
            <a:r>
              <a:rPr lang="en-US" sz="8000" dirty="0"/>
              <a:t>how </a:t>
            </a:r>
            <a:r>
              <a:rPr lang="en-US" sz="8000" dirty="0">
                <a:solidFill>
                  <a:srgbClr val="00B0F0"/>
                </a:solidFill>
              </a:rPr>
              <a:t>each individual perceives work tasks and messages </a:t>
            </a:r>
            <a:r>
              <a:rPr lang="en-US" sz="8000" dirty="0"/>
              <a:t>in group communication.</a:t>
            </a:r>
          </a:p>
          <a:p>
            <a:r>
              <a:rPr lang="en-US" sz="8000" b="1" dirty="0" smtClean="0">
                <a:solidFill>
                  <a:srgbClr val="00B0F0"/>
                </a:solidFill>
              </a:rPr>
              <a:t>Emotional </a:t>
            </a:r>
            <a:r>
              <a:rPr lang="en-US" sz="8000" b="1" dirty="0">
                <a:solidFill>
                  <a:srgbClr val="00B0F0"/>
                </a:solidFill>
              </a:rPr>
              <a:t>barriers </a:t>
            </a:r>
            <a:r>
              <a:rPr lang="en-US" sz="8000" dirty="0">
                <a:solidFill>
                  <a:srgbClr val="00B0F0"/>
                </a:solidFill>
              </a:rPr>
              <a:t>—</a:t>
            </a:r>
            <a:r>
              <a:rPr lang="en-US" sz="8000" b="1" dirty="0">
                <a:solidFill>
                  <a:srgbClr val="00B0F0"/>
                </a:solidFill>
              </a:rPr>
              <a:t> </a:t>
            </a:r>
            <a:r>
              <a:rPr lang="en-US" sz="8000" dirty="0"/>
              <a:t>The current </a:t>
            </a:r>
            <a:r>
              <a:rPr lang="en-US" sz="8000" dirty="0">
                <a:solidFill>
                  <a:srgbClr val="00B0F0"/>
                </a:solidFill>
              </a:rPr>
              <a:t>emotional state of the participants</a:t>
            </a:r>
            <a:r>
              <a:rPr lang="en-US" sz="8000" dirty="0"/>
              <a:t> in the group communication affects how they will formulate and interpret messages. </a:t>
            </a:r>
          </a:p>
          <a:p>
            <a:r>
              <a:rPr lang="en-US" sz="8000" b="1" dirty="0">
                <a:solidFill>
                  <a:srgbClr val="00B0F0"/>
                </a:solidFill>
              </a:rPr>
              <a:t>Interpersonal barriers </a:t>
            </a:r>
            <a:r>
              <a:rPr lang="en-US" sz="8000">
                <a:solidFill>
                  <a:srgbClr val="00B0F0"/>
                </a:solidFill>
              </a:rPr>
              <a:t>— </a:t>
            </a:r>
            <a:r>
              <a:rPr lang="en-US" sz="8000" smtClean="0"/>
              <a:t>individual’s  </a:t>
            </a:r>
            <a:r>
              <a:rPr lang="en-US" sz="8000" dirty="0"/>
              <a:t>self-perception; notably, </a:t>
            </a:r>
            <a:r>
              <a:rPr lang="en-US" sz="8000" dirty="0">
                <a:solidFill>
                  <a:srgbClr val="00B0F0"/>
                </a:solidFill>
              </a:rPr>
              <a:t>overly confident </a:t>
            </a:r>
            <a:r>
              <a:rPr lang="en-US" sz="8000" dirty="0" smtClean="0">
                <a:solidFill>
                  <a:srgbClr val="00B0F0"/>
                </a:solidFill>
              </a:rPr>
              <a:t>person engages </a:t>
            </a:r>
            <a:r>
              <a:rPr lang="en-US" sz="8000" dirty="0">
                <a:solidFill>
                  <a:srgbClr val="00B0F0"/>
                </a:solidFill>
              </a:rPr>
              <a:t>differently from those who are more insecure.</a:t>
            </a:r>
          </a:p>
          <a:p>
            <a:r>
              <a:rPr lang="en-US" sz="8000" b="1" dirty="0" smtClean="0">
                <a:solidFill>
                  <a:srgbClr val="00B0F0"/>
                </a:solidFill>
              </a:rPr>
              <a:t>Cultural </a:t>
            </a:r>
            <a:r>
              <a:rPr lang="en-US" sz="8000" b="1" dirty="0">
                <a:solidFill>
                  <a:srgbClr val="00B0F0"/>
                </a:solidFill>
              </a:rPr>
              <a:t>barriers </a:t>
            </a:r>
            <a:r>
              <a:rPr lang="en-US" sz="8000" dirty="0">
                <a:solidFill>
                  <a:srgbClr val="00B0F0"/>
                </a:solidFill>
              </a:rPr>
              <a:t>— </a:t>
            </a:r>
            <a:r>
              <a:rPr lang="en-US" sz="8000" dirty="0" smtClean="0">
                <a:solidFill>
                  <a:srgbClr val="00B0F0"/>
                </a:solidFill>
              </a:rPr>
              <a:t>Conventions, casts, </a:t>
            </a:r>
            <a:r>
              <a:rPr lang="en-US" sz="8000" dirty="0">
                <a:solidFill>
                  <a:srgbClr val="00B0F0"/>
                </a:solidFill>
              </a:rPr>
              <a:t>and nonverbal misinterpretations</a:t>
            </a:r>
            <a:r>
              <a:rPr lang="en-US" sz="8000" dirty="0"/>
              <a:t> are some of the most common </a:t>
            </a:r>
            <a:r>
              <a:rPr lang="en-US" sz="8000" dirty="0" smtClean="0"/>
              <a:t>obstacles.</a:t>
            </a:r>
            <a:endParaRPr lang="en-US" sz="8000" dirty="0"/>
          </a:p>
          <a:p>
            <a:r>
              <a:rPr lang="en-US" sz="8000" b="1" dirty="0">
                <a:solidFill>
                  <a:srgbClr val="00B0F0"/>
                </a:solidFill>
              </a:rPr>
              <a:t>Language barriers </a:t>
            </a:r>
            <a:r>
              <a:rPr lang="en-US" sz="8000" dirty="0">
                <a:solidFill>
                  <a:srgbClr val="00B0F0"/>
                </a:solidFill>
              </a:rPr>
              <a:t>—</a:t>
            </a:r>
            <a:r>
              <a:rPr lang="en-US" sz="8000" dirty="0"/>
              <a:t> </a:t>
            </a:r>
            <a:r>
              <a:rPr lang="en-US" sz="8000" dirty="0" smtClean="0"/>
              <a:t> </a:t>
            </a:r>
            <a:r>
              <a:rPr lang="en-US" sz="8000" dirty="0"/>
              <a:t>language barriers in group communication can occur </a:t>
            </a:r>
            <a:r>
              <a:rPr lang="en-US" sz="8000" dirty="0" smtClean="0"/>
              <a:t>when  </a:t>
            </a:r>
            <a:r>
              <a:rPr lang="en-US" sz="8000" dirty="0"/>
              <a:t>members speak </a:t>
            </a:r>
            <a:r>
              <a:rPr lang="en-US" sz="8000" dirty="0" smtClean="0">
                <a:solidFill>
                  <a:srgbClr val="00B0F0"/>
                </a:solidFill>
              </a:rPr>
              <a:t>different languages. </a:t>
            </a:r>
            <a:r>
              <a:rPr lang="en-US" sz="8000" dirty="0">
                <a:solidFill>
                  <a:srgbClr val="00B0F0"/>
                </a:solidFill>
              </a:rPr>
              <a:t>Specific technical terminology, or </a:t>
            </a:r>
            <a:r>
              <a:rPr lang="en-US" sz="8000" dirty="0" smtClean="0">
                <a:solidFill>
                  <a:srgbClr val="00B0F0"/>
                </a:solidFill>
              </a:rPr>
              <a:t> </a:t>
            </a:r>
            <a:r>
              <a:rPr lang="en-US" sz="8000" dirty="0">
                <a:solidFill>
                  <a:srgbClr val="00B0F0"/>
                </a:solidFill>
              </a:rPr>
              <a:t>jargon</a:t>
            </a:r>
            <a:r>
              <a:rPr lang="en-US" sz="8000" dirty="0"/>
              <a:t> can also cause misunderstandings</a:t>
            </a:r>
          </a:p>
          <a:p>
            <a:endParaRPr lang="en-US" sz="8000" dirty="0"/>
          </a:p>
          <a:p>
            <a:endParaRPr lang="en-US" sz="8000" dirty="0"/>
          </a:p>
          <a:p>
            <a:endParaRPr lang="en-US" dirty="0"/>
          </a:p>
        </p:txBody>
      </p:sp>
      <p:sp>
        <p:nvSpPr>
          <p:cNvPr id="5" name="Slide Number Placeholder 4"/>
          <p:cNvSpPr>
            <a:spLocks noGrp="1"/>
          </p:cNvSpPr>
          <p:nvPr>
            <p:ph type="sldNum" sz="quarter" idx="12"/>
          </p:nvPr>
        </p:nvSpPr>
        <p:spPr/>
        <p:txBody>
          <a:bodyPr/>
          <a:lstStyle/>
          <a:p>
            <a:fld id="{23494754-66A2-4D55-A3BE-A7B793766391}" type="slidenum">
              <a:rPr lang="en-US" smtClean="0"/>
              <a:t>33</a:t>
            </a:fld>
            <a:endParaRPr lang="en-US"/>
          </a:p>
        </p:txBody>
      </p:sp>
    </p:spTree>
    <p:extLst>
      <p:ext uri="{BB962C8B-B14F-4D97-AF65-F5344CB8AC3E}">
        <p14:creationId xmlns:p14="http://schemas.microsoft.com/office/powerpoint/2010/main" val="32624183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23494754-66A2-4D55-A3BE-A7B793766391}" type="slidenum">
              <a:rPr lang="en-US" smtClean="0"/>
              <a:t>34</a:t>
            </a:fld>
            <a:endParaRPr lang="en-US"/>
          </a:p>
        </p:txBody>
      </p:sp>
      <p:pic>
        <p:nvPicPr>
          <p:cNvPr id="6" name="Picture 2" descr="C:\Users\lenovo\Desktop\istockphoto-1182850660-1024x1024.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093273" y="1910078"/>
            <a:ext cx="3121152" cy="20817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lenovo\Desktop\istockphoto-481292847-1024x102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9156" y="2107183"/>
            <a:ext cx="3121025" cy="20812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lenovo\Desktop\istockphoto-498323505-1024x102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0181" y="4409067"/>
            <a:ext cx="3121152" cy="2081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380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63"/>
            <a:ext cx="12191999" cy="6902519"/>
          </a:xfrm>
        </p:spPr>
      </p:pic>
      <p:sp>
        <p:nvSpPr>
          <p:cNvPr id="5" name="Slide Number Placeholder 4"/>
          <p:cNvSpPr>
            <a:spLocks noGrp="1"/>
          </p:cNvSpPr>
          <p:nvPr>
            <p:ph type="sldNum" sz="quarter" idx="12"/>
          </p:nvPr>
        </p:nvSpPr>
        <p:spPr/>
        <p:txBody>
          <a:bodyPr/>
          <a:lstStyle/>
          <a:p>
            <a:fld id="{23494754-66A2-4D55-A3BE-A7B793766391}" type="slidenum">
              <a:rPr lang="en-US" smtClean="0"/>
              <a:t>35</a:t>
            </a:fld>
            <a:endParaRPr lang="en-US"/>
          </a:p>
        </p:txBody>
      </p:sp>
    </p:spTree>
    <p:extLst>
      <p:ext uri="{BB962C8B-B14F-4D97-AF65-F5344CB8AC3E}">
        <p14:creationId xmlns:p14="http://schemas.microsoft.com/office/powerpoint/2010/main" val="2277588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TotalTime>
  <Words>1594</Words>
  <Application>Microsoft Office PowerPoint</Application>
  <PresentationFormat>Custom</PresentationFormat>
  <Paragraphs>295</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Contents</vt:lpstr>
      <vt:lpstr>Presentations </vt:lpstr>
      <vt:lpstr>Differences between internal and external presentations</vt:lpstr>
      <vt:lpstr>The 6 Ps of Presentation</vt:lpstr>
      <vt:lpstr>Outlining Oral Presentation</vt:lpstr>
      <vt:lpstr>a. Introduction</vt:lpstr>
      <vt:lpstr>b. Body </vt:lpstr>
      <vt:lpstr>c. Conclusion </vt:lpstr>
      <vt:lpstr>d. Question-and-answer session</vt:lpstr>
      <vt:lpstr> Planning and Making Presentations </vt:lpstr>
      <vt:lpstr>Consider the following steps during preparation</vt:lpstr>
      <vt:lpstr>Tips on giving effective presentations</vt:lpstr>
      <vt:lpstr>PowerPoint Presentation</vt:lpstr>
      <vt:lpstr>PowerPoint Presentation</vt:lpstr>
      <vt:lpstr># SLIDES for PRESENTATION</vt:lpstr>
      <vt:lpstr># What not to do during presentations</vt:lpstr>
      <vt:lpstr>Signposting </vt:lpstr>
      <vt:lpstr>Active Listening</vt:lpstr>
      <vt:lpstr>Reasons for Poor Listening</vt:lpstr>
      <vt:lpstr>     Ways to enhance active listening</vt:lpstr>
      <vt:lpstr>Enhancing oral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- 8</dc:title>
  <dc:creator>MANI  PANDEY</dc:creator>
  <cp:lastModifiedBy>lenovo</cp:lastModifiedBy>
  <cp:revision>112</cp:revision>
  <dcterms:created xsi:type="dcterms:W3CDTF">2020-12-03T14:34:05Z</dcterms:created>
  <dcterms:modified xsi:type="dcterms:W3CDTF">2024-12-25T02:46:26Z</dcterms:modified>
</cp:coreProperties>
</file>