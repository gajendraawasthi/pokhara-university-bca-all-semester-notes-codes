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57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12/17/2023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851648" cy="1828800"/>
          </a:xfrm>
        </p:spPr>
        <p:txBody>
          <a:bodyPr/>
          <a:lstStyle/>
          <a:p>
            <a:pPr algn="ctr"/>
            <a:r>
              <a:rPr lang="en-US" sz="4400" dirty="0" err="1" smtClean="0"/>
              <a:t>Precis</a:t>
            </a:r>
            <a:r>
              <a:rPr lang="en-US" sz="4400" dirty="0" smtClean="0"/>
              <a:t>/Summary Writing/Note Making</a:t>
            </a:r>
            <a:endParaRPr lang="en-US" sz="4400" dirty="0"/>
          </a:p>
        </p:txBody>
      </p:sp>
      <p:sp>
        <p:nvSpPr>
          <p:cNvPr id="3" name="Subtitle 2"/>
          <p:cNvSpPr>
            <a:spLocks noGrp="1"/>
          </p:cNvSpPr>
          <p:nvPr>
            <p:ph type="subTitle" idx="1"/>
          </p:nvPr>
        </p:nvSpPr>
        <p:spPr>
          <a:xfrm>
            <a:off x="381000" y="2514600"/>
            <a:ext cx="7854696" cy="1752600"/>
          </a:xfrm>
        </p:spPr>
        <p:txBody>
          <a:bodyPr>
            <a:normAutofit fontScale="25000" lnSpcReduction="20000"/>
          </a:bodyPr>
          <a:lstStyle/>
          <a:p>
            <a:pPr algn="l"/>
            <a:r>
              <a:rPr lang="en-US" sz="11200" dirty="0" smtClean="0"/>
              <a:t>-A </a:t>
            </a:r>
            <a:r>
              <a:rPr lang="en-US" sz="11200" dirty="0" err="1" smtClean="0"/>
              <a:t>precis</a:t>
            </a:r>
            <a:r>
              <a:rPr lang="en-US" sz="11200" dirty="0" smtClean="0"/>
              <a:t> is a restatement in short form of the main ideas and points in a piece of writing.</a:t>
            </a:r>
          </a:p>
          <a:p>
            <a:pPr algn="l"/>
            <a:r>
              <a:rPr lang="en-US" sz="11200" dirty="0" smtClean="0"/>
              <a:t>-It is not a personal interpretation of a work or an expression of your opinion rather an exact replica in miniature of the work.</a:t>
            </a:r>
          </a:p>
          <a:p>
            <a:pPr algn="l"/>
            <a:r>
              <a:rPr lang="en-US" sz="11200" dirty="0" smtClean="0"/>
              <a:t>-It should contain one third of the number of words in the original passage with proper organization of ideas.</a:t>
            </a:r>
          </a:p>
          <a:p>
            <a:pPr algn="l"/>
            <a:r>
              <a:rPr lang="en-US" sz="11200" dirty="0" smtClean="0"/>
              <a:t>-It does not contain any comments, explanation or elaboration by the précis  writer</a:t>
            </a:r>
            <a:r>
              <a:rPr lang="en-US" dirty="0" smtClean="0"/>
              <a:t>.</a:t>
            </a:r>
          </a:p>
          <a:p>
            <a:pPr algn="l"/>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pPr algn="ctr"/>
            <a:r>
              <a:rPr lang="en-US" sz="4000" b="1" dirty="0" smtClean="0"/>
              <a:t>Qualities of a good </a:t>
            </a:r>
            <a:r>
              <a:rPr lang="en-US" sz="4000" b="1" dirty="0" err="1"/>
              <a:t>P</a:t>
            </a:r>
            <a:r>
              <a:rPr lang="en-US" sz="4000" b="1" dirty="0" err="1" smtClean="0"/>
              <a:t>recis</a:t>
            </a:r>
            <a:endParaRPr lang="en-US" sz="4000" b="1" dirty="0"/>
          </a:p>
        </p:txBody>
      </p:sp>
      <p:sp>
        <p:nvSpPr>
          <p:cNvPr id="3" name="Content Placeholder 2"/>
          <p:cNvSpPr>
            <a:spLocks noGrp="1"/>
          </p:cNvSpPr>
          <p:nvPr>
            <p:ph idx="1"/>
          </p:nvPr>
        </p:nvSpPr>
        <p:spPr>
          <a:xfrm>
            <a:off x="457200" y="1676400"/>
            <a:ext cx="8229600" cy="4389120"/>
          </a:xfrm>
        </p:spPr>
        <p:txBody>
          <a:bodyPr>
            <a:normAutofit fontScale="92500" lnSpcReduction="20000"/>
          </a:bodyPr>
          <a:lstStyle/>
          <a:p>
            <a:pPr marL="514350" indent="-514350">
              <a:buFont typeface="+mj-lt"/>
              <a:buAutoNum type="alphaLcParenR"/>
            </a:pPr>
            <a:r>
              <a:rPr lang="en-US" dirty="0" smtClean="0"/>
              <a:t>Completeness: a </a:t>
            </a:r>
            <a:r>
              <a:rPr lang="en-US" dirty="0" err="1" smtClean="0"/>
              <a:t>precis</a:t>
            </a:r>
            <a:r>
              <a:rPr lang="en-US" dirty="0" smtClean="0"/>
              <a:t> should cover the essential contents of the given passage without omitting any important facts or ideas.</a:t>
            </a:r>
          </a:p>
          <a:p>
            <a:pPr marL="514350" indent="-514350">
              <a:buFont typeface="+mj-lt"/>
              <a:buAutoNum type="alphaLcParenR"/>
            </a:pPr>
            <a:r>
              <a:rPr lang="en-US" dirty="0" smtClean="0"/>
              <a:t>Clarity: meaning should be expressed clearly from the original passage without any ambiguities.</a:t>
            </a:r>
          </a:p>
          <a:p>
            <a:pPr marL="514350" indent="-514350">
              <a:buFont typeface="+mj-lt"/>
              <a:buAutoNum type="alphaLcParenR"/>
            </a:pPr>
            <a:r>
              <a:rPr lang="en-US" dirty="0" smtClean="0"/>
              <a:t>Conciseness: </a:t>
            </a:r>
            <a:r>
              <a:rPr lang="en-US" dirty="0"/>
              <a:t>L</a:t>
            </a:r>
            <a:r>
              <a:rPr lang="en-US" dirty="0" smtClean="0"/>
              <a:t>ogically presenting sufficient  ideas within few words.</a:t>
            </a:r>
          </a:p>
          <a:p>
            <a:pPr marL="514350" indent="-514350">
              <a:buFont typeface="Wingdings" pitchFamily="2" charset="2"/>
              <a:buChar char="v"/>
            </a:pPr>
            <a:r>
              <a:rPr lang="en-US" sz="3500" b="1" dirty="0" smtClean="0">
                <a:solidFill>
                  <a:srgbClr val="0070C0"/>
                </a:solidFill>
              </a:rPr>
              <a:t>Importance of </a:t>
            </a:r>
            <a:r>
              <a:rPr lang="en-US" sz="3500" b="1" dirty="0" err="1">
                <a:solidFill>
                  <a:srgbClr val="0070C0"/>
                </a:solidFill>
              </a:rPr>
              <a:t>P</a:t>
            </a:r>
            <a:r>
              <a:rPr lang="en-US" sz="3500" b="1" dirty="0" err="1" smtClean="0">
                <a:solidFill>
                  <a:srgbClr val="0070C0"/>
                </a:solidFill>
              </a:rPr>
              <a:t>recis</a:t>
            </a:r>
            <a:r>
              <a:rPr lang="en-US" sz="3500" b="1" dirty="0" smtClean="0">
                <a:solidFill>
                  <a:srgbClr val="0070C0"/>
                </a:solidFill>
              </a:rPr>
              <a:t> writing:</a:t>
            </a:r>
          </a:p>
          <a:p>
            <a:pPr marL="514350" indent="-514350">
              <a:buNone/>
            </a:pPr>
            <a:r>
              <a:rPr lang="en-US" dirty="0" smtClean="0"/>
              <a:t>-To save time in reading.</a:t>
            </a:r>
          </a:p>
          <a:p>
            <a:pPr marL="514350" indent="-514350">
              <a:buNone/>
            </a:pPr>
            <a:r>
              <a:rPr lang="en-US" dirty="0" smtClean="0"/>
              <a:t>-To get the gist/crux only.</a:t>
            </a:r>
          </a:p>
          <a:p>
            <a:pPr marL="514350" indent="-514350">
              <a:buNone/>
            </a:pPr>
            <a:r>
              <a:rPr lang="en-US" dirty="0" smtClean="0"/>
              <a:t>-To help the researchers to keep the record of research work.</a:t>
            </a:r>
          </a:p>
          <a:p>
            <a:pPr marL="514350" indent="-514350">
              <a:buNone/>
            </a:pPr>
            <a:r>
              <a:rPr lang="en-US" dirty="0" smtClean="0"/>
              <a:t>-To attract attention towards reading.</a:t>
            </a:r>
          </a:p>
          <a:p>
            <a:pPr marL="514350" indent="-514350">
              <a:buFont typeface="+mj-lt"/>
              <a:buAutoNum type="alphaLcParenR"/>
            </a:pPr>
            <a:endParaRPr lang="en-US" dirty="0" smtClean="0"/>
          </a:p>
          <a:p>
            <a:pPr marL="514350" indent="-514350">
              <a:buFont typeface="+mj-lt"/>
              <a:buAutoNum type="alphaLcParenR"/>
            </a:pPr>
            <a:endParaRPr lang="en-US" dirty="0" smtClean="0"/>
          </a:p>
          <a:p>
            <a:pPr marL="514350" indent="-514350">
              <a:buFont typeface="+mj-lt"/>
              <a:buAutoNum type="alphaLcParenR"/>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smtClean="0"/>
              <a:t>Some steps for </a:t>
            </a:r>
            <a:r>
              <a:rPr lang="en-US" dirty="0" err="1"/>
              <a:t>P</a:t>
            </a:r>
            <a:r>
              <a:rPr lang="en-US" dirty="0" err="1" smtClean="0"/>
              <a:t>recis</a:t>
            </a:r>
            <a:r>
              <a:rPr lang="en-US" dirty="0" smtClean="0"/>
              <a:t> writing</a:t>
            </a:r>
            <a:endParaRPr lang="en-US" dirty="0"/>
          </a:p>
        </p:txBody>
      </p:sp>
      <p:sp>
        <p:nvSpPr>
          <p:cNvPr id="3" name="Content Placeholder 2"/>
          <p:cNvSpPr>
            <a:spLocks noGrp="1"/>
          </p:cNvSpPr>
          <p:nvPr>
            <p:ph idx="1"/>
          </p:nvPr>
        </p:nvSpPr>
        <p:spPr>
          <a:xfrm>
            <a:off x="0" y="1447800"/>
            <a:ext cx="8229600" cy="4389120"/>
          </a:xfrm>
        </p:spPr>
        <p:txBody>
          <a:bodyPr>
            <a:noAutofit/>
          </a:bodyPr>
          <a:lstStyle/>
          <a:p>
            <a:pPr marL="514350" indent="-514350">
              <a:buFont typeface="+mj-lt"/>
              <a:buAutoNum type="arabicParenR"/>
            </a:pPr>
            <a:r>
              <a:rPr lang="en-US" sz="2000" dirty="0" smtClean="0"/>
              <a:t>Read the article carefully -more than once – before starting to write. Use your pencil to mark key ideas, phrases and conclusion.</a:t>
            </a:r>
          </a:p>
          <a:p>
            <a:pPr marL="514350" indent="-514350">
              <a:buFont typeface="+mj-lt"/>
              <a:buAutoNum type="arabicParenR"/>
            </a:pPr>
            <a:r>
              <a:rPr lang="en-US" sz="2000" dirty="0" smtClean="0"/>
              <a:t>Find the main idea of each paragraph or section.</a:t>
            </a:r>
          </a:p>
          <a:p>
            <a:pPr marL="514350" indent="-514350">
              <a:buFont typeface="+mj-lt"/>
              <a:buAutoNum type="arabicParenR"/>
            </a:pPr>
            <a:r>
              <a:rPr lang="en-US" sz="2000" dirty="0" smtClean="0"/>
              <a:t>Disregard examples, detailed descriptions and discussions.</a:t>
            </a:r>
          </a:p>
          <a:p>
            <a:pPr marL="514350" indent="-514350">
              <a:buFont typeface="+mj-lt"/>
              <a:buAutoNum type="arabicParenR"/>
            </a:pPr>
            <a:r>
              <a:rPr lang="en-US" sz="2000" dirty="0" smtClean="0"/>
              <a:t>Write the précis in a logical sequence including essential ideas.</a:t>
            </a:r>
          </a:p>
          <a:p>
            <a:pPr marL="514350" indent="-514350">
              <a:buFont typeface="+mj-lt"/>
              <a:buAutoNum type="arabicParenR"/>
            </a:pPr>
            <a:r>
              <a:rPr lang="en-US" sz="2000" dirty="0" smtClean="0"/>
              <a:t>Present material in a clear and precise language.</a:t>
            </a:r>
          </a:p>
          <a:p>
            <a:pPr marL="514350" indent="-514350">
              <a:buFont typeface="+mj-lt"/>
              <a:buAutoNum type="arabicParenR"/>
            </a:pPr>
            <a:r>
              <a:rPr lang="en-US" sz="2000" dirty="0" smtClean="0"/>
              <a:t>Avoid using the same words, phrases and expressions as those in the text. Rephrase the material in simple language.</a:t>
            </a:r>
          </a:p>
          <a:p>
            <a:pPr marL="514350" indent="-514350">
              <a:buFont typeface="+mj-lt"/>
              <a:buAutoNum type="arabicParenR"/>
            </a:pPr>
            <a:r>
              <a:rPr lang="en-US" sz="2000" dirty="0" smtClean="0"/>
              <a:t>Do not add new information ,comment, abbreviations or symbols on the passage.</a:t>
            </a:r>
          </a:p>
          <a:p>
            <a:pPr marL="514350" indent="-514350">
              <a:buFont typeface="+mj-lt"/>
              <a:buAutoNum type="arabicParenR"/>
            </a:pPr>
            <a:r>
              <a:rPr lang="en-US" sz="2000" dirty="0" smtClean="0"/>
              <a:t>The length of the précis is usually 33%  of the main passage. Although this is by no means a rule.</a:t>
            </a:r>
          </a:p>
          <a:p>
            <a:pPr marL="514350" indent="-514350">
              <a:buFont typeface="+mj-lt"/>
              <a:buAutoNum type="arabicParenR"/>
            </a:pP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pPr algn="ctr"/>
            <a:r>
              <a:rPr lang="en-US" sz="4000" b="1" dirty="0" smtClean="0"/>
              <a:t>Do’s for </a:t>
            </a:r>
            <a:r>
              <a:rPr lang="en-US" sz="4000" b="1" dirty="0" err="1"/>
              <a:t>P</a:t>
            </a:r>
            <a:r>
              <a:rPr lang="en-US" sz="4000" b="1" dirty="0" err="1" smtClean="0"/>
              <a:t>recis</a:t>
            </a:r>
            <a:r>
              <a:rPr lang="en-US" sz="4000" b="1" dirty="0" smtClean="0"/>
              <a:t> </a:t>
            </a:r>
            <a:r>
              <a:rPr lang="en-US" sz="4000" b="1" dirty="0"/>
              <a:t>W</a:t>
            </a:r>
            <a:r>
              <a:rPr lang="en-US" sz="4000" b="1" dirty="0" smtClean="0"/>
              <a:t>riting</a:t>
            </a:r>
            <a:endParaRPr lang="en-US" sz="4000" b="1" dirty="0"/>
          </a:p>
        </p:txBody>
      </p:sp>
      <p:sp>
        <p:nvSpPr>
          <p:cNvPr id="3" name="Content Placeholder 2"/>
          <p:cNvSpPr>
            <a:spLocks noGrp="1"/>
          </p:cNvSpPr>
          <p:nvPr>
            <p:ph idx="1"/>
          </p:nvPr>
        </p:nvSpPr>
        <p:spPr/>
        <p:txBody>
          <a:bodyPr/>
          <a:lstStyle/>
          <a:p>
            <a:pPr marL="514350" indent="-514350">
              <a:buFont typeface="+mj-lt"/>
              <a:buAutoNum type="arabicParenR"/>
            </a:pPr>
            <a:r>
              <a:rPr lang="en-US" dirty="0" smtClean="0"/>
              <a:t>Use your own language as far as possible.</a:t>
            </a:r>
          </a:p>
          <a:p>
            <a:pPr marL="514350" indent="-514350">
              <a:buFont typeface="+mj-lt"/>
              <a:buAutoNum type="arabicParenR"/>
            </a:pPr>
            <a:r>
              <a:rPr lang="en-US" dirty="0" smtClean="0"/>
              <a:t>Keep the same sequence of events, ideas, arguments etc, which you find in the original passage.</a:t>
            </a:r>
          </a:p>
          <a:p>
            <a:pPr marL="514350" indent="-514350">
              <a:buFont typeface="+mj-lt"/>
              <a:buAutoNum type="arabicParenR"/>
            </a:pPr>
            <a:r>
              <a:rPr lang="en-US" dirty="0" smtClean="0"/>
              <a:t>Drop out figures of speech, examples and illustrations.</a:t>
            </a:r>
          </a:p>
          <a:p>
            <a:pPr marL="514350" indent="-514350">
              <a:buFont typeface="+mj-lt"/>
              <a:buAutoNum type="arabicParenR"/>
            </a:pPr>
            <a:r>
              <a:rPr lang="en-US" dirty="0" smtClean="0"/>
              <a:t>Give maximum information within the required limit.</a:t>
            </a:r>
          </a:p>
          <a:p>
            <a:pPr marL="514350" indent="-514350">
              <a:buFont typeface="+mj-lt"/>
              <a:buAutoNum type="arabicParenR"/>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smtClean="0"/>
              <a:t>Don'ts for </a:t>
            </a:r>
            <a:r>
              <a:rPr lang="en-US" sz="4000" b="1" dirty="0" err="1"/>
              <a:t>P</a:t>
            </a:r>
            <a:r>
              <a:rPr lang="en-US" sz="4000" b="1" dirty="0" err="1" smtClean="0"/>
              <a:t>recis</a:t>
            </a:r>
            <a:r>
              <a:rPr lang="en-US" sz="4000" b="1" dirty="0" smtClean="0"/>
              <a:t> </a:t>
            </a:r>
            <a:r>
              <a:rPr lang="en-US" sz="4000" b="1" dirty="0"/>
              <a:t>W</a:t>
            </a:r>
            <a:r>
              <a:rPr lang="en-US" sz="4000" b="1" dirty="0" smtClean="0"/>
              <a:t>riting</a:t>
            </a:r>
            <a:endParaRPr lang="en-US" sz="4000" b="1" dirty="0"/>
          </a:p>
        </p:txBody>
      </p:sp>
      <p:sp>
        <p:nvSpPr>
          <p:cNvPr id="3" name="Content Placeholder 2"/>
          <p:cNvSpPr>
            <a:spLocks noGrp="1"/>
          </p:cNvSpPr>
          <p:nvPr>
            <p:ph idx="1"/>
          </p:nvPr>
        </p:nvSpPr>
        <p:spPr/>
        <p:txBody>
          <a:bodyPr/>
          <a:lstStyle/>
          <a:p>
            <a:pPr marL="514350" indent="-514350">
              <a:buFont typeface="+mj-lt"/>
              <a:buAutoNum type="arabicParenR"/>
            </a:pPr>
            <a:r>
              <a:rPr lang="en-US" dirty="0" smtClean="0"/>
              <a:t>Avoid copying from the original.</a:t>
            </a:r>
          </a:p>
          <a:p>
            <a:pPr marL="514350" indent="-514350">
              <a:buFont typeface="+mj-lt"/>
              <a:buAutoNum type="arabicParenR"/>
            </a:pPr>
            <a:r>
              <a:rPr lang="en-US" dirty="0" smtClean="0"/>
              <a:t>Do not give any title unless specifically required.</a:t>
            </a:r>
          </a:p>
          <a:p>
            <a:pPr marL="514350" indent="-514350">
              <a:buFont typeface="+mj-lt"/>
              <a:buAutoNum type="arabicParenR"/>
            </a:pPr>
            <a:r>
              <a:rPr lang="en-US" dirty="0" smtClean="0"/>
              <a:t>Do not divide your précis into paragraphs unless the original passage is very long.</a:t>
            </a:r>
          </a:p>
          <a:p>
            <a:pPr marL="514350" indent="-514350">
              <a:buFont typeface="+mj-lt"/>
              <a:buAutoNum type="arabicParenR"/>
            </a:pPr>
            <a:r>
              <a:rPr lang="en-US" dirty="0" smtClean="0"/>
              <a:t>Do not change any facts.</a:t>
            </a:r>
          </a:p>
          <a:p>
            <a:pPr marL="514350" indent="-514350">
              <a:buFont typeface="+mj-lt"/>
              <a:buAutoNum type="arabicParenR"/>
            </a:pPr>
            <a:r>
              <a:rPr lang="en-US" dirty="0" smtClean="0"/>
              <a:t>Do not make any comments.</a:t>
            </a:r>
          </a:p>
          <a:p>
            <a:pPr marL="514350" indent="-514350">
              <a:buFont typeface="+mj-lt"/>
              <a:buAutoNum type="arabicParenR"/>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algn="ctr"/>
            <a:r>
              <a:rPr lang="en-US" sz="3200" b="1" dirty="0" smtClean="0"/>
              <a:t>An Example of </a:t>
            </a:r>
            <a:r>
              <a:rPr lang="en-US" sz="3200" b="1" dirty="0" err="1"/>
              <a:t>P</a:t>
            </a:r>
            <a:r>
              <a:rPr lang="en-US" sz="3200" b="1" dirty="0" err="1" smtClean="0"/>
              <a:t>recis</a:t>
            </a:r>
            <a:r>
              <a:rPr lang="en-US" sz="3200" b="1" dirty="0" smtClean="0"/>
              <a:t> </a:t>
            </a:r>
            <a:r>
              <a:rPr lang="en-US" sz="3200" b="1" dirty="0"/>
              <a:t>W</a:t>
            </a:r>
            <a:r>
              <a:rPr lang="en-US" sz="3200" b="1" dirty="0" smtClean="0"/>
              <a:t>riting</a:t>
            </a:r>
            <a:endParaRPr lang="en-US" sz="3200" b="1" dirty="0"/>
          </a:p>
        </p:txBody>
      </p:sp>
      <p:sp>
        <p:nvSpPr>
          <p:cNvPr id="3" name="Content Placeholder 2"/>
          <p:cNvSpPr>
            <a:spLocks noGrp="1"/>
          </p:cNvSpPr>
          <p:nvPr>
            <p:ph idx="1"/>
          </p:nvPr>
        </p:nvSpPr>
        <p:spPr>
          <a:xfrm>
            <a:off x="0" y="1143000"/>
            <a:ext cx="8229600" cy="4389120"/>
          </a:xfrm>
        </p:spPr>
        <p:txBody>
          <a:bodyPr>
            <a:noAutofit/>
          </a:bodyPr>
          <a:lstStyle/>
          <a:p>
            <a:pPr>
              <a:buNone/>
            </a:pPr>
            <a:r>
              <a:rPr lang="en-US" sz="1800" dirty="0" smtClean="0"/>
              <a:t>The liberty of the individual is not gift of civilization. It was unlimited before there was any civilization, though then it is true, it had for the most part no value, since the individual was scarcely in a position to defend it. The development of civilization imposes restrictions on it, and justice demands that no one shall escape those restrictions. What makes itself felt in a human community as a desire for freedom may be their revolt against some existing injustice and so may prove favorable o a further development of civilization; it may remain compatible with civilization. But it may also spring from the remains of their original personality, which is still untamed by civilization. The urge for freedom therefore is directed against particular forms and  demands  of civilization or against civilization altogether. It does not seem as though any influence could induce a man to change his nature into a termite’s. no doubt he will always defend his claim to individual liberty against the will of the group. A good part of the struggles of mankind centers round the single task of finding an expedient accommodation – one, that is, that will bring happiness – between this claim of the individual and the cultural claims of the group; and one of the problems that touches the fate of humanity is whether such an accommodation can be reached by means of some particular form of civilization or whether this conflict is irreconcilable.   (253 words)</a:t>
            </a:r>
            <a:endParaRPr lang="en-US" sz="1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normAutofit fontScale="90000"/>
          </a:bodyPr>
          <a:lstStyle/>
          <a:p>
            <a:r>
              <a:rPr lang="en-US" sz="4000" b="1" dirty="0" smtClean="0"/>
              <a:t>Key words, phrases, clauses and sentences</a:t>
            </a:r>
            <a:endParaRPr lang="en-US" sz="4000" b="1" dirty="0"/>
          </a:p>
        </p:txBody>
      </p:sp>
      <p:sp>
        <p:nvSpPr>
          <p:cNvPr id="3" name="Content Placeholder 2"/>
          <p:cNvSpPr>
            <a:spLocks noGrp="1"/>
          </p:cNvSpPr>
          <p:nvPr>
            <p:ph idx="1"/>
          </p:nvPr>
        </p:nvSpPr>
        <p:spPr>
          <a:xfrm>
            <a:off x="381000" y="1600200"/>
            <a:ext cx="8229600" cy="4389120"/>
          </a:xfrm>
        </p:spPr>
        <p:txBody>
          <a:bodyPr>
            <a:normAutofit fontScale="92500" lnSpcReduction="20000"/>
          </a:bodyPr>
          <a:lstStyle/>
          <a:p>
            <a:r>
              <a:rPr lang="en-US" dirty="0" smtClean="0"/>
              <a:t>‘The liberty of the individual is no gift of civilization’.</a:t>
            </a:r>
          </a:p>
          <a:p>
            <a:r>
              <a:rPr lang="en-US" dirty="0" smtClean="0"/>
              <a:t>‘The development of civilization imposes restrictions on it’.</a:t>
            </a:r>
          </a:p>
          <a:p>
            <a:r>
              <a:rPr lang="en-US" dirty="0" smtClean="0"/>
              <a:t>‘… a desire for freedom may be their  revolt against some existing injustice …favorable to a further development of civilization…’</a:t>
            </a:r>
          </a:p>
          <a:p>
            <a:r>
              <a:rPr lang="en-US" dirty="0" smtClean="0"/>
              <a:t>‘….. Also spring from the remains of their original personality …….still untamed by civilization’.</a:t>
            </a:r>
          </a:p>
          <a:p>
            <a:r>
              <a:rPr lang="en-US" dirty="0" smtClean="0"/>
              <a:t>‘ struggles of mankind center round the simple task of finding an expedient accommodation between this claim of the individual and the cultural claims of the group…’</a:t>
            </a:r>
          </a:p>
          <a:p>
            <a:r>
              <a:rPr lang="en-US" dirty="0" smtClean="0"/>
              <a:t>‘ one of the problems that touches the fate of mankind is whether such an accommodation can be reached by means of some particular form of civilization………’</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229600" cy="1143000"/>
          </a:xfrm>
        </p:spPr>
        <p:txBody>
          <a:bodyPr/>
          <a:lstStyle/>
          <a:p>
            <a:pPr algn="ctr"/>
            <a:r>
              <a:rPr lang="en-US" sz="4000" b="1" dirty="0" smtClean="0"/>
              <a:t>Main points/ Note</a:t>
            </a:r>
            <a:endParaRPr lang="en-US" sz="4000" b="1" dirty="0"/>
          </a:p>
        </p:txBody>
      </p:sp>
      <p:sp>
        <p:nvSpPr>
          <p:cNvPr id="3" name="Content Placeholder 2"/>
          <p:cNvSpPr>
            <a:spLocks noGrp="1"/>
          </p:cNvSpPr>
          <p:nvPr>
            <p:ph idx="1"/>
          </p:nvPr>
        </p:nvSpPr>
        <p:spPr>
          <a:xfrm>
            <a:off x="381000" y="1600200"/>
            <a:ext cx="8229600" cy="4389120"/>
          </a:xfrm>
        </p:spPr>
        <p:txBody>
          <a:bodyPr>
            <a:normAutofit fontScale="85000" lnSpcReduction="10000"/>
          </a:bodyPr>
          <a:lstStyle/>
          <a:p>
            <a:pPr marL="514350" indent="-514350">
              <a:buNone/>
            </a:pPr>
            <a:r>
              <a:rPr lang="en-US" dirty="0" smtClean="0"/>
              <a:t>1)Individual liberty is no gift of civilization.</a:t>
            </a:r>
          </a:p>
          <a:p>
            <a:pPr marL="514350" indent="-514350">
              <a:buNone/>
            </a:pPr>
            <a:r>
              <a:rPr lang="en-US" dirty="0" smtClean="0"/>
              <a:t>2)Development of civilization restricts it.</a:t>
            </a:r>
          </a:p>
          <a:p>
            <a:pPr marL="514350" indent="-514350">
              <a:buNone/>
            </a:pPr>
            <a:r>
              <a:rPr lang="en-US" dirty="0" smtClean="0"/>
              <a:t>3)Urge for freedom may spring from two sources:</a:t>
            </a:r>
          </a:p>
          <a:p>
            <a:pPr marL="514350" indent="-514350">
              <a:buFont typeface="+mj-lt"/>
              <a:buAutoNum type="alphaLcParenR"/>
            </a:pPr>
            <a:r>
              <a:rPr lang="en-US" dirty="0" smtClean="0"/>
              <a:t>Revolt against existing injustice, leading to further growth of civilization.</a:t>
            </a:r>
          </a:p>
          <a:p>
            <a:pPr marL="514350" indent="-514350">
              <a:buFont typeface="+mj-lt"/>
              <a:buAutoNum type="alphaLcParenR"/>
            </a:pPr>
            <a:r>
              <a:rPr lang="en-US" dirty="0" smtClean="0"/>
              <a:t>Remains of man’s original personality, causing hostility to civilization.</a:t>
            </a:r>
          </a:p>
          <a:p>
            <a:pPr marL="514350" indent="-514350">
              <a:buNone/>
            </a:pPr>
            <a:r>
              <a:rPr lang="en-US" dirty="0" smtClean="0"/>
              <a:t>4) Man will never give up his claim to individual liberty.</a:t>
            </a:r>
          </a:p>
          <a:p>
            <a:pPr marL="514350" indent="-514350">
              <a:buNone/>
            </a:pPr>
            <a:r>
              <a:rPr lang="en-US" dirty="0" smtClean="0"/>
              <a:t>5)Mankind’s struggles center round the task of finding a solution to the conflict between individual liberty and the cultural claims of the group.</a:t>
            </a:r>
          </a:p>
          <a:p>
            <a:pPr marL="514350" indent="-514350">
              <a:buNone/>
            </a:pPr>
            <a:r>
              <a:rPr lang="en-US" dirty="0" smtClean="0"/>
              <a:t>6) Can any particular form of civilization bring about this solution? </a:t>
            </a:r>
          </a:p>
          <a:p>
            <a:pPr marL="514350" indent="-514350">
              <a:buNone/>
            </a:pPr>
            <a:endParaRPr lang="en-US" dirty="0" smtClean="0"/>
          </a:p>
          <a:p>
            <a:pPr marL="514350" indent="-514350">
              <a:buFont typeface="+mj-lt"/>
              <a:buAutoNum type="alphaLcParenR"/>
            </a:pPr>
            <a:endParaRPr lang="en-US" dirty="0" smtClean="0"/>
          </a:p>
          <a:p>
            <a:pPr marL="514350" indent="-514350">
              <a:buFont typeface="+mj-lt"/>
              <a:buAutoNum type="arabicParenR"/>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lstStyle/>
          <a:p>
            <a:pPr algn="ctr"/>
            <a:r>
              <a:rPr lang="en-US" b="1" dirty="0" err="1" smtClean="0"/>
              <a:t>P</a:t>
            </a:r>
            <a:r>
              <a:rPr lang="en-US" b="1" smtClean="0"/>
              <a:t>recis</a:t>
            </a:r>
            <a:endParaRPr lang="en-US" b="1" dirty="0"/>
          </a:p>
        </p:txBody>
      </p:sp>
      <p:sp>
        <p:nvSpPr>
          <p:cNvPr id="3" name="Content Placeholder 2"/>
          <p:cNvSpPr>
            <a:spLocks noGrp="1"/>
          </p:cNvSpPr>
          <p:nvPr>
            <p:ph idx="1"/>
          </p:nvPr>
        </p:nvSpPr>
        <p:spPr>
          <a:xfrm>
            <a:off x="381000" y="1752600"/>
            <a:ext cx="8229600" cy="4389120"/>
          </a:xfrm>
        </p:spPr>
        <p:txBody>
          <a:bodyPr/>
          <a:lstStyle/>
          <a:p>
            <a:pPr>
              <a:buNone/>
            </a:pPr>
            <a:r>
              <a:rPr lang="en-US" dirty="0" smtClean="0"/>
              <a:t>Civilization has restricted the individual liberty of man which he originally enjoyed. His urge for freedom may be manifestation of revolt against prevailing injustice, leading to the growth of civilization, or a trait of his original personality, causing hostility to it. Since man’s nature is unchangeable, struggle between his claim to individual liberty and the will of the people will continue. One of the problems that affects mankind’s fate is whether any form of civilization can find a happy solution to this conflict.        (84 words)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0"/>
            <a:ext cx="8229600" cy="4389120"/>
          </a:xfrm>
        </p:spPr>
        <p:txBody>
          <a:bodyPr>
            <a:noAutofit/>
          </a:bodyPr>
          <a:lstStyle/>
          <a:p>
            <a:pPr>
              <a:buNone/>
            </a:pPr>
            <a:r>
              <a:rPr lang="en-US" sz="1800" dirty="0" smtClean="0"/>
              <a:t>What happens when one person sends a message and another receive it? First consider the nature of language- the words in which most messages are expressed. All words are symbols. A symbol is a standardized sign seen or heard, which stands for an object, event or idea as agreed upon by senders and recipients of messages. It need not resemble what it stands for. Thus it differs from a pictorial representation or imitation, such as a portrait, a street plan, or an organization chart.</a:t>
            </a:r>
          </a:p>
          <a:p>
            <a:pPr>
              <a:buNone/>
            </a:pPr>
            <a:r>
              <a:rPr lang="en-US" sz="1800" dirty="0" smtClean="0"/>
              <a:t>A set of symbols agreed upon by two or more people is called a code. By far the most important codes are those which form language. In any civilized language there is a primary code of spoken words formed from speech sounds. There is also a secondary code of letters (the alphabet) which can be combined to stand for the speech sounds of  the primary code , as the letters- t, r, e, e- stand for the sound of ‘tree’. Neither letters nor sounds have any resemblance to what they denote- a tree.</a:t>
            </a:r>
          </a:p>
          <a:p>
            <a:pPr>
              <a:buNone/>
            </a:pPr>
            <a:r>
              <a:rPr lang="en-US" sz="1800" dirty="0" smtClean="0"/>
              <a:t>Whenever language is used, a sender must encode his message, and a recipient must decode it. For language communication to be effective, senders and receivers must agree on all the details of the language code. If you go to France in ignorance of the French code  and meet people ignorant of the English code, you have to resort to gesture and attempts at direct representation of what you want to say. How inadequate this can be is shown by the story of an English tourist, who is suffering from hunger in a French street, moved his hands and jaw to convey his wish to find a restaurant, he was obligingly conducted to a dentist’s waiting room.</a:t>
            </a:r>
            <a:endParaRPr lang="en-US" sz="1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Main points of </a:t>
            </a:r>
            <a:r>
              <a:rPr lang="en-US" smtClean="0"/>
              <a:t>the passage/ Note</a:t>
            </a:r>
            <a:endParaRPr lang="en-US" dirty="0"/>
          </a:p>
        </p:txBody>
      </p:sp>
      <p:sp>
        <p:nvSpPr>
          <p:cNvPr id="3" name="Content Placeholder 2"/>
          <p:cNvSpPr>
            <a:spLocks noGrp="1"/>
          </p:cNvSpPr>
          <p:nvPr>
            <p:ph idx="1"/>
          </p:nvPr>
        </p:nvSpPr>
        <p:spPr/>
        <p:txBody>
          <a:bodyPr>
            <a:normAutofit fontScale="92500"/>
          </a:bodyPr>
          <a:lstStyle/>
          <a:p>
            <a:pPr marL="514350" indent="-514350">
              <a:buFont typeface="+mj-lt"/>
              <a:buAutoNum type="alphaLcParenR"/>
            </a:pPr>
            <a:r>
              <a:rPr lang="en-US" dirty="0" smtClean="0"/>
              <a:t>Words which are used for sending message are symbols.</a:t>
            </a:r>
          </a:p>
          <a:p>
            <a:pPr marL="514350" indent="-514350">
              <a:buFont typeface="+mj-lt"/>
              <a:buAutoNum type="alphaLcParenR"/>
            </a:pPr>
            <a:r>
              <a:rPr lang="en-US" dirty="0" smtClean="0"/>
              <a:t>A symbol is a sign which stands for something other than itself. It need not resemble what it stands for.</a:t>
            </a:r>
          </a:p>
          <a:p>
            <a:pPr marL="514350" indent="-514350">
              <a:buFont typeface="+mj-lt"/>
              <a:buAutoNum type="alphaLcParenR"/>
            </a:pPr>
            <a:r>
              <a:rPr lang="en-US" dirty="0" smtClean="0"/>
              <a:t>A code is a set of symbols understood by two or more people.</a:t>
            </a:r>
          </a:p>
          <a:p>
            <a:pPr marL="514350" indent="-514350">
              <a:buFont typeface="+mj-lt"/>
              <a:buAutoNum type="alphaLcParenR"/>
            </a:pPr>
            <a:r>
              <a:rPr lang="en-US" dirty="0" smtClean="0"/>
              <a:t>Language are most important codes.</a:t>
            </a:r>
          </a:p>
          <a:p>
            <a:pPr marL="514350" indent="-514350">
              <a:buFont typeface="+mj-lt"/>
              <a:buAutoNum type="alphaLcParenR"/>
            </a:pPr>
            <a:r>
              <a:rPr lang="en-US" dirty="0" smtClean="0"/>
              <a:t>Each civilized language has primary and secondary codes.</a:t>
            </a:r>
          </a:p>
          <a:p>
            <a:pPr marL="514350" indent="-514350">
              <a:buFont typeface="+mj-lt"/>
              <a:buAutoNum type="alphaLcParenR"/>
            </a:pPr>
            <a:r>
              <a:rPr lang="en-US" dirty="0" smtClean="0"/>
              <a:t>Agreement on the details of a code is necessary for effective communication.</a:t>
            </a:r>
          </a:p>
          <a:p>
            <a:pPr marL="514350" indent="-514350">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pPr algn="ctr"/>
            <a:r>
              <a:rPr lang="en-US" dirty="0" err="1" smtClean="0"/>
              <a:t>Precis</a:t>
            </a:r>
            <a:r>
              <a:rPr lang="en-US" dirty="0" smtClean="0"/>
              <a:t> of the passage</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Words which we use for expressing a message are symbols. A symbol by agreement among its users stands for something other than itself. There is however , no similarity between it and the thing it denotes. A set of symbols understood by two or more people is a code. Language is the most important code. Each language used by the civilized world has two codes; the primary, consisting of sound symbols and the secondary, consisting of letters. For effective communication agreement among the users regarding details of the language code used is essential. Absence of such an agreement leads to misunderstanding and confusion.</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415</TotalTime>
  <Words>1518</Words>
  <Application>Microsoft Office PowerPoint</Application>
  <PresentationFormat>On-screen Show (4:3)</PresentationFormat>
  <Paragraphs>68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Flow</vt:lpstr>
      <vt:lpstr>Precis/Summary Writing/Note Making</vt:lpstr>
      <vt:lpstr>Qualities of a good Precis</vt:lpstr>
      <vt:lpstr>Some steps for Precis writing</vt:lpstr>
      <vt:lpstr>Do’s for Precis Writing</vt:lpstr>
      <vt:lpstr>Don'ts for Precis Writing</vt:lpstr>
      <vt:lpstr>An Example of Precis Writing</vt:lpstr>
      <vt:lpstr>Key words, phrases, clauses and sentences</vt:lpstr>
      <vt:lpstr>Main points/ Note</vt:lpstr>
      <vt:lpstr>Precis</vt:lpstr>
      <vt:lpstr>PowerPoint Presentation</vt:lpstr>
      <vt:lpstr>Main points of the passage/ Note</vt:lpstr>
      <vt:lpstr>Precis of the passage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Precis/summary writing</dc:title>
  <dc:creator>JOSHI SHANKAR</dc:creator>
  <cp:lastModifiedBy>lenovo</cp:lastModifiedBy>
  <cp:revision>50</cp:revision>
  <dcterms:created xsi:type="dcterms:W3CDTF">2006-08-16T00:00:00Z</dcterms:created>
  <dcterms:modified xsi:type="dcterms:W3CDTF">2023-12-17T07:44:44Z</dcterms:modified>
</cp:coreProperties>
</file>