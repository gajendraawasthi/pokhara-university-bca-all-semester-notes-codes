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0" r:id="rId3"/>
    <p:sldId id="258" r:id="rId4"/>
    <p:sldId id="261" r:id="rId5"/>
    <p:sldId id="259" r:id="rId6"/>
    <p:sldId id="262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44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2/3/2025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2/3/2025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4389120"/>
          </a:xfrm>
        </p:spPr>
        <p:txBody>
          <a:bodyPr>
            <a:normAutofit fontScale="25000" lnSpcReduction="20000"/>
          </a:bodyPr>
          <a:lstStyle/>
          <a:p>
            <a:pPr marL="0" lvl="0" indent="0">
              <a:buNone/>
            </a:pPr>
            <a:r>
              <a:rPr lang="en-US" sz="11200" b="1" dirty="0" smtClean="0">
                <a:solidFill>
                  <a:srgbClr val="FF0000"/>
                </a:solidFill>
              </a:rPr>
              <a:t>          The Structure of an Essay</a:t>
            </a:r>
          </a:p>
          <a:p>
            <a:pPr marL="0" lvl="0" indent="0">
              <a:buNone/>
            </a:pPr>
            <a:r>
              <a:rPr lang="en-US" sz="11200" dirty="0" smtClean="0">
                <a:solidFill>
                  <a:srgbClr val="FF0000"/>
                </a:solidFill>
              </a:rPr>
              <a:t>      1)  </a:t>
            </a:r>
            <a:r>
              <a:rPr lang="en-US" sz="11200" b="1" dirty="0" smtClean="0">
                <a:solidFill>
                  <a:srgbClr val="FF0000"/>
                </a:solidFill>
              </a:rPr>
              <a:t>The introductory Paragraph</a:t>
            </a:r>
          </a:p>
          <a:p>
            <a:pPr lvl="0">
              <a:lnSpc>
                <a:spcPct val="120000"/>
              </a:lnSpc>
            </a:pPr>
            <a:r>
              <a:rPr lang="en-US" sz="8000" dirty="0"/>
              <a:t>S</a:t>
            </a:r>
            <a:r>
              <a:rPr lang="en-US" sz="8000" dirty="0" smtClean="0"/>
              <a:t>erves </a:t>
            </a:r>
            <a:r>
              <a:rPr lang="en-US" sz="8000" dirty="0"/>
              <a:t>as a </a:t>
            </a:r>
            <a:r>
              <a:rPr lang="en-US" sz="8000" dirty="0">
                <a:solidFill>
                  <a:srgbClr val="00B0F0"/>
                </a:solidFill>
              </a:rPr>
              <a:t>roadmap</a:t>
            </a:r>
            <a:r>
              <a:rPr lang="en-US" sz="8000" dirty="0"/>
              <a:t> for the essay and establishes its </a:t>
            </a:r>
            <a:r>
              <a:rPr lang="en-US" sz="8000" dirty="0">
                <a:solidFill>
                  <a:srgbClr val="00B0F0"/>
                </a:solidFill>
              </a:rPr>
              <a:t>central argument.</a:t>
            </a:r>
          </a:p>
          <a:p>
            <a:pPr lvl="0">
              <a:lnSpc>
                <a:spcPct val="120000"/>
              </a:lnSpc>
            </a:pPr>
            <a:r>
              <a:rPr lang="en-US" sz="8000" dirty="0"/>
              <a:t>It </a:t>
            </a:r>
            <a:r>
              <a:rPr lang="en-US" sz="8000" dirty="0" smtClean="0"/>
              <a:t>guides </a:t>
            </a:r>
            <a:r>
              <a:rPr lang="en-US" sz="8000" dirty="0"/>
              <a:t>readers </a:t>
            </a:r>
            <a:r>
              <a:rPr lang="en-US" sz="8000" dirty="0">
                <a:solidFill>
                  <a:srgbClr val="00B0F0"/>
                </a:solidFill>
              </a:rPr>
              <a:t>from general views</a:t>
            </a:r>
            <a:r>
              <a:rPr lang="en-US" sz="8000" dirty="0"/>
              <a:t> on the topic to the </a:t>
            </a:r>
            <a:r>
              <a:rPr lang="en-US" sz="8000" dirty="0">
                <a:solidFill>
                  <a:srgbClr val="00B0F0"/>
                </a:solidFill>
              </a:rPr>
              <a:t>specific theme </a:t>
            </a:r>
            <a:r>
              <a:rPr lang="en-US" sz="8000" dirty="0"/>
              <a:t>of the essay.</a:t>
            </a:r>
          </a:p>
          <a:p>
            <a:pPr lvl="0">
              <a:lnSpc>
                <a:spcPct val="120000"/>
              </a:lnSpc>
            </a:pPr>
            <a:r>
              <a:rPr lang="en-US" sz="8000" dirty="0"/>
              <a:t>The introductory paragraph comprises two main parts: </a:t>
            </a:r>
            <a:r>
              <a:rPr lang="en-US" sz="8000" dirty="0">
                <a:solidFill>
                  <a:srgbClr val="00B0F0"/>
                </a:solidFill>
              </a:rPr>
              <a:t>general statements and the thesis statement.</a:t>
            </a:r>
          </a:p>
          <a:p>
            <a:pPr lvl="0">
              <a:lnSpc>
                <a:spcPct val="120000"/>
              </a:lnSpc>
            </a:pPr>
            <a:r>
              <a:rPr lang="en-US" sz="8000" dirty="0"/>
              <a:t>Progressing from general to specific, the introduction </a:t>
            </a:r>
            <a:r>
              <a:rPr lang="en-US" sz="8000" dirty="0" smtClean="0"/>
              <a:t>concludes </a:t>
            </a:r>
            <a:r>
              <a:rPr lang="en-US" sz="8000" dirty="0"/>
              <a:t>in a clear</a:t>
            </a:r>
            <a:r>
              <a:rPr lang="en-US" sz="8000" dirty="0">
                <a:solidFill>
                  <a:srgbClr val="00B0F0"/>
                </a:solidFill>
              </a:rPr>
              <a:t> thesis statement that defines the paper's main idea.</a:t>
            </a:r>
          </a:p>
          <a:p>
            <a:pPr lvl="0">
              <a:lnSpc>
                <a:spcPct val="120000"/>
              </a:lnSpc>
            </a:pPr>
            <a:r>
              <a:rPr lang="en-US" sz="8000" dirty="0"/>
              <a:t>A strong </a:t>
            </a:r>
            <a:r>
              <a:rPr lang="en-US" sz="8000" dirty="0">
                <a:solidFill>
                  <a:srgbClr val="00B0F0"/>
                </a:solidFill>
              </a:rPr>
              <a:t>thesis statement </a:t>
            </a:r>
            <a:r>
              <a:rPr lang="en-US" sz="8000" dirty="0" smtClean="0">
                <a:solidFill>
                  <a:srgbClr val="00B0F0"/>
                </a:solidFill>
              </a:rPr>
              <a:t>concisely speaks the central </a:t>
            </a:r>
            <a:r>
              <a:rPr lang="en-US" sz="8000" dirty="0">
                <a:solidFill>
                  <a:srgbClr val="00B0F0"/>
                </a:solidFill>
              </a:rPr>
              <a:t>argument of the essay</a:t>
            </a:r>
            <a:r>
              <a:rPr lang="en-US" sz="8000" dirty="0" smtClean="0">
                <a:solidFill>
                  <a:srgbClr val="00B0F0"/>
                </a:solidFill>
              </a:rPr>
              <a:t>.</a:t>
            </a:r>
            <a:endParaRPr lang="en-US" sz="8000" dirty="0"/>
          </a:p>
          <a:p>
            <a:pPr lvl="0">
              <a:lnSpc>
                <a:spcPct val="120000"/>
              </a:lnSpc>
            </a:pPr>
            <a:r>
              <a:rPr lang="en-US" sz="8000" dirty="0"/>
              <a:t>The thesis statement </a:t>
            </a:r>
            <a:r>
              <a:rPr lang="en-US" sz="8000" dirty="0" smtClean="0"/>
              <a:t>holds supporting ideas for </a:t>
            </a:r>
            <a:r>
              <a:rPr lang="en-US" sz="8000" dirty="0"/>
              <a:t>the body </a:t>
            </a:r>
            <a:r>
              <a:rPr lang="en-US" sz="8000" dirty="0" smtClean="0"/>
              <a:t>paragraphs</a:t>
            </a:r>
          </a:p>
          <a:p>
            <a:pPr lvl="0">
              <a:lnSpc>
                <a:spcPct val="120000"/>
              </a:lnSpc>
            </a:pPr>
            <a:r>
              <a:rPr lang="en-US" sz="8000" dirty="0" smtClean="0">
                <a:solidFill>
                  <a:srgbClr val="00B0F0"/>
                </a:solidFill>
              </a:rPr>
              <a:t>Consistency</a:t>
            </a:r>
            <a:r>
              <a:rPr lang="en-US" sz="8000" dirty="0" smtClean="0"/>
              <a:t> </a:t>
            </a:r>
            <a:r>
              <a:rPr lang="en-US" sz="8000" dirty="0"/>
              <a:t>in the order of ideas is crucial.</a:t>
            </a:r>
          </a:p>
          <a:p>
            <a:pPr lvl="0">
              <a:lnSpc>
                <a:spcPct val="120000"/>
              </a:lnSpc>
            </a:pPr>
            <a:r>
              <a:rPr lang="en-US" sz="8000" dirty="0">
                <a:solidFill>
                  <a:srgbClr val="00B0F0"/>
                </a:solidFill>
              </a:rPr>
              <a:t>C</a:t>
            </a:r>
            <a:r>
              <a:rPr lang="en-US" sz="8000" dirty="0" smtClean="0">
                <a:solidFill>
                  <a:srgbClr val="00B0F0"/>
                </a:solidFill>
              </a:rPr>
              <a:t>oherence </a:t>
            </a:r>
            <a:r>
              <a:rPr lang="en-US" sz="8000" dirty="0">
                <a:solidFill>
                  <a:srgbClr val="00B0F0"/>
                </a:solidFill>
              </a:rPr>
              <a:t>between the thesis statement and body paragraphs.</a:t>
            </a:r>
          </a:p>
          <a:p>
            <a:pPr lvl="0">
              <a:lnSpc>
                <a:spcPct val="120000"/>
              </a:lnSpc>
            </a:pPr>
            <a:endParaRPr lang="en-US" sz="8000" dirty="0" smtClean="0"/>
          </a:p>
        </p:txBody>
      </p:sp>
    </p:spTree>
    <p:extLst>
      <p:ext uri="{BB962C8B-B14F-4D97-AF65-F5344CB8AC3E}">
        <p14:creationId xmlns:p14="http://schemas.microsoft.com/office/powerpoint/2010/main" val="18319281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229600" cy="4389120"/>
          </a:xfrm>
        </p:spPr>
        <p:txBody>
          <a:bodyPr>
            <a:normAutofit fontScale="25000" lnSpcReduction="20000"/>
          </a:bodyPr>
          <a:lstStyle/>
          <a:p>
            <a:pPr marL="0" lvl="0" indent="0">
              <a:buNone/>
            </a:pPr>
            <a:endParaRPr lang="en-US" sz="3200" b="1" dirty="0">
              <a:solidFill>
                <a:srgbClr val="00B0F0"/>
              </a:solidFill>
            </a:endParaRPr>
          </a:p>
          <a:p>
            <a:pPr>
              <a:lnSpc>
                <a:spcPct val="120000"/>
              </a:lnSpc>
            </a:pPr>
            <a:r>
              <a:rPr lang="en-US" sz="2800" b="1" dirty="0">
                <a:solidFill>
                  <a:srgbClr val="00B0F0"/>
                </a:solidFill>
              </a:rPr>
              <a:t> </a:t>
            </a:r>
            <a:r>
              <a:rPr lang="en-US" sz="8000" b="1" dirty="0" err="1">
                <a:solidFill>
                  <a:srgbClr val="00B0F0"/>
                </a:solidFill>
              </a:rPr>
              <a:t>E</a:t>
            </a:r>
            <a:r>
              <a:rPr lang="en-US" sz="8000" b="1" dirty="0" err="1" smtClean="0">
                <a:solidFill>
                  <a:srgbClr val="00B0F0"/>
                </a:solidFill>
              </a:rPr>
              <a:t>.g</a:t>
            </a:r>
            <a:r>
              <a:rPr lang="en-US" sz="8000" b="1" dirty="0" smtClean="0">
                <a:solidFill>
                  <a:srgbClr val="00B0F0"/>
                </a:solidFill>
              </a:rPr>
              <a:t>: </a:t>
            </a:r>
            <a:r>
              <a:rPr lang="en-US" sz="8000" b="1" i="1" dirty="0" smtClean="0">
                <a:solidFill>
                  <a:srgbClr val="FFC000"/>
                </a:solidFill>
              </a:rPr>
              <a:t>As </a:t>
            </a:r>
            <a:r>
              <a:rPr lang="en-US" sz="8000" b="1" i="1" dirty="0">
                <a:solidFill>
                  <a:srgbClr val="FFC000"/>
                </a:solidFill>
              </a:rPr>
              <a:t>more and more people integrate the internet into their work and private lives,</a:t>
            </a:r>
            <a:r>
              <a:rPr lang="en-US" sz="8000" b="1" i="1" dirty="0">
                <a:solidFill>
                  <a:srgbClr val="00B0F0"/>
                </a:solidFill>
              </a:rPr>
              <a:t> we will see a dramatic increase in both written and </a:t>
            </a:r>
            <a:r>
              <a:rPr lang="en-US" sz="8000" b="1" i="1" dirty="0" smtClean="0">
                <a:solidFill>
                  <a:srgbClr val="00B0F0"/>
                </a:solidFill>
              </a:rPr>
              <a:t>oral</a:t>
            </a:r>
            <a:r>
              <a:rPr lang="en-US" sz="8000" b="1" i="1" dirty="0" smtClean="0">
                <a:solidFill>
                  <a:srgbClr val="00B0F0"/>
                </a:solidFill>
              </a:rPr>
              <a:t> </a:t>
            </a:r>
            <a:r>
              <a:rPr lang="en-US" sz="8000" b="1" i="1" dirty="0">
                <a:solidFill>
                  <a:srgbClr val="00B0F0"/>
                </a:solidFill>
              </a:rPr>
              <a:t>communication skills.</a:t>
            </a:r>
            <a:endParaRPr lang="en-US" sz="8000" b="1" dirty="0">
              <a:solidFill>
                <a:srgbClr val="00B0F0"/>
              </a:solidFill>
            </a:endParaRPr>
          </a:p>
          <a:p>
            <a:pPr>
              <a:lnSpc>
                <a:spcPct val="120000"/>
              </a:lnSpc>
            </a:pPr>
            <a:r>
              <a:rPr lang="en-US" sz="8000" dirty="0" smtClean="0"/>
              <a:t>The </a:t>
            </a:r>
            <a:r>
              <a:rPr lang="en-US" sz="8000" dirty="0"/>
              <a:t>thesis statement above has</a:t>
            </a:r>
            <a:r>
              <a:rPr lang="en-US" sz="8000" dirty="0">
                <a:solidFill>
                  <a:srgbClr val="00B0F0"/>
                </a:solidFill>
              </a:rPr>
              <a:t> TWO clear supporting ideas</a:t>
            </a:r>
            <a:r>
              <a:rPr lang="en-US" sz="8000" dirty="0"/>
              <a:t> (topics) which will be explained in the body paragraphs. </a:t>
            </a:r>
            <a:endParaRPr lang="en-US" sz="8000" dirty="0" smtClean="0"/>
          </a:p>
          <a:p>
            <a:pPr>
              <a:lnSpc>
                <a:spcPct val="120000"/>
              </a:lnSpc>
            </a:pPr>
            <a:r>
              <a:rPr lang="en-US" sz="8000" dirty="0" smtClean="0"/>
              <a:t>According </a:t>
            </a:r>
            <a:r>
              <a:rPr lang="en-US" sz="8000" dirty="0"/>
              <a:t>to the order of the ideas in the thesis statement the first body paragraph must include the idea </a:t>
            </a:r>
            <a:r>
              <a:rPr lang="en-US" sz="8000" dirty="0">
                <a:solidFill>
                  <a:srgbClr val="00B0F0"/>
                </a:solidFill>
              </a:rPr>
              <a:t>“increase in written communication skills”. </a:t>
            </a:r>
            <a:endParaRPr lang="en-US" sz="8000" dirty="0" smtClean="0">
              <a:solidFill>
                <a:srgbClr val="00B0F0"/>
              </a:solidFill>
            </a:endParaRPr>
          </a:p>
          <a:p>
            <a:pPr>
              <a:lnSpc>
                <a:spcPct val="120000"/>
              </a:lnSpc>
            </a:pPr>
            <a:r>
              <a:rPr lang="en-US" sz="8000" dirty="0" smtClean="0"/>
              <a:t>The </a:t>
            </a:r>
            <a:r>
              <a:rPr lang="en-US" sz="8000" dirty="0"/>
              <a:t>second body paragraph must support the idea</a:t>
            </a:r>
            <a:r>
              <a:rPr lang="en-US" sz="8000" dirty="0">
                <a:solidFill>
                  <a:srgbClr val="00B0F0"/>
                </a:solidFill>
              </a:rPr>
              <a:t> “increase in </a:t>
            </a:r>
            <a:r>
              <a:rPr lang="en-US" sz="8000" dirty="0" smtClean="0">
                <a:solidFill>
                  <a:srgbClr val="00B0F0"/>
                </a:solidFill>
              </a:rPr>
              <a:t>or</a:t>
            </a:r>
            <a:r>
              <a:rPr lang="en-US" sz="8000" dirty="0" smtClean="0">
                <a:solidFill>
                  <a:srgbClr val="00B0F0"/>
                </a:solidFill>
              </a:rPr>
              <a:t>al </a:t>
            </a:r>
            <a:r>
              <a:rPr lang="en-US" sz="8000" dirty="0">
                <a:solidFill>
                  <a:srgbClr val="00B0F0"/>
                </a:solidFill>
              </a:rPr>
              <a:t>communication skills</a:t>
            </a:r>
            <a:r>
              <a:rPr lang="en-US" sz="8000" dirty="0" smtClean="0">
                <a:solidFill>
                  <a:srgbClr val="00B0F0"/>
                </a:solidFill>
              </a:rPr>
              <a:t>”.</a:t>
            </a:r>
          </a:p>
          <a:p>
            <a:pPr>
              <a:lnSpc>
                <a:spcPct val="120000"/>
              </a:lnSpc>
            </a:pPr>
            <a:endParaRPr lang="en-US" sz="8000" dirty="0" smtClean="0">
              <a:solidFill>
                <a:srgbClr val="FF0000"/>
              </a:solidFill>
            </a:endParaRPr>
          </a:p>
          <a:p>
            <a:pPr>
              <a:lnSpc>
                <a:spcPct val="120000"/>
              </a:lnSpc>
            </a:pPr>
            <a:r>
              <a:rPr lang="en-US" sz="8000" dirty="0" smtClean="0">
                <a:solidFill>
                  <a:srgbClr val="FF0000"/>
                </a:solidFill>
              </a:rPr>
              <a:t>Thus</a:t>
            </a:r>
            <a:r>
              <a:rPr lang="en-US" sz="8000" dirty="0">
                <a:solidFill>
                  <a:srgbClr val="FF0000"/>
                </a:solidFill>
              </a:rPr>
              <a:t>, a good introductory paragraph:</a:t>
            </a:r>
          </a:p>
          <a:p>
            <a:pPr lvl="0">
              <a:lnSpc>
                <a:spcPct val="120000"/>
              </a:lnSpc>
            </a:pPr>
            <a:r>
              <a:rPr lang="en-US" sz="8000" dirty="0"/>
              <a:t>Introduces the reader to the </a:t>
            </a:r>
            <a:r>
              <a:rPr lang="en-US" sz="8000" dirty="0">
                <a:solidFill>
                  <a:srgbClr val="00B0F0"/>
                </a:solidFill>
              </a:rPr>
              <a:t>general topic</a:t>
            </a:r>
            <a:r>
              <a:rPr lang="en-US" sz="8000" dirty="0"/>
              <a:t>.</a:t>
            </a:r>
          </a:p>
          <a:p>
            <a:pPr lvl="0">
              <a:lnSpc>
                <a:spcPct val="120000"/>
              </a:lnSpc>
            </a:pPr>
            <a:r>
              <a:rPr lang="en-US" sz="8000" dirty="0"/>
              <a:t>Provides brief </a:t>
            </a:r>
            <a:r>
              <a:rPr lang="en-US" sz="8000" dirty="0">
                <a:solidFill>
                  <a:srgbClr val="00B0F0"/>
                </a:solidFill>
              </a:rPr>
              <a:t>background information</a:t>
            </a:r>
            <a:r>
              <a:rPr lang="en-US" sz="8000" dirty="0"/>
              <a:t> about the meaning, context &amp; significance of the topic.</a:t>
            </a:r>
          </a:p>
          <a:p>
            <a:pPr lvl="0">
              <a:lnSpc>
                <a:spcPct val="120000"/>
              </a:lnSpc>
            </a:pPr>
            <a:r>
              <a:rPr lang="en-US" sz="8000" dirty="0"/>
              <a:t>Gives the reader an understanding of the</a:t>
            </a:r>
            <a:r>
              <a:rPr lang="en-US" sz="8000" dirty="0">
                <a:solidFill>
                  <a:srgbClr val="00B0F0"/>
                </a:solidFill>
              </a:rPr>
              <a:t> order in which the ideas in the essay will be presented.</a:t>
            </a:r>
          </a:p>
          <a:p>
            <a:pPr lvl="0">
              <a:lnSpc>
                <a:spcPct val="120000"/>
              </a:lnSpc>
            </a:pPr>
            <a:r>
              <a:rPr lang="en-US" sz="8000" dirty="0"/>
              <a:t>Clearly identifies the main points in a thesis statement</a:t>
            </a:r>
            <a:r>
              <a:rPr lang="en-US" sz="8000" dirty="0" smtClean="0"/>
              <a:t>.</a:t>
            </a:r>
            <a:r>
              <a:rPr lang="en-US" sz="8000" dirty="0"/>
              <a:t/>
            </a:r>
            <a:br>
              <a:rPr lang="en-US" sz="8000" dirty="0"/>
            </a:br>
            <a:endParaRPr lang="en-US" sz="8000" dirty="0"/>
          </a:p>
        </p:txBody>
      </p:sp>
    </p:spTree>
    <p:extLst>
      <p:ext uri="{BB962C8B-B14F-4D97-AF65-F5344CB8AC3E}">
        <p14:creationId xmlns:p14="http://schemas.microsoft.com/office/powerpoint/2010/main" val="39426337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4389120"/>
          </a:xfrm>
        </p:spPr>
        <p:txBody>
          <a:bodyPr>
            <a:normAutofit fontScale="32500" lnSpcReduction="20000"/>
          </a:bodyPr>
          <a:lstStyle/>
          <a:p>
            <a:pPr marL="0" lvl="0" indent="0">
              <a:buNone/>
            </a:pPr>
            <a:r>
              <a:rPr lang="en-US" sz="11200" b="1" dirty="0" smtClean="0">
                <a:solidFill>
                  <a:srgbClr val="FF0000"/>
                </a:solidFill>
              </a:rPr>
              <a:t>2) The </a:t>
            </a:r>
            <a:r>
              <a:rPr lang="en-US" sz="11200" b="1" dirty="0">
                <a:solidFill>
                  <a:srgbClr val="FF0000"/>
                </a:solidFill>
              </a:rPr>
              <a:t>Body Paragraphs</a:t>
            </a:r>
          </a:p>
          <a:p>
            <a:pPr lvl="0">
              <a:lnSpc>
                <a:spcPct val="120000"/>
              </a:lnSpc>
            </a:pPr>
            <a:r>
              <a:rPr lang="en-US" sz="6400" dirty="0"/>
              <a:t>Body paragraphs  </a:t>
            </a:r>
            <a:r>
              <a:rPr lang="en-US" sz="6400" dirty="0" smtClean="0"/>
              <a:t>focus on</a:t>
            </a:r>
            <a:r>
              <a:rPr lang="en-US" sz="6400" dirty="0" smtClean="0">
                <a:solidFill>
                  <a:srgbClr val="00B0F0"/>
                </a:solidFill>
              </a:rPr>
              <a:t> </a:t>
            </a:r>
            <a:r>
              <a:rPr lang="en-US" sz="6400" dirty="0">
                <a:solidFill>
                  <a:srgbClr val="00B0F0"/>
                </a:solidFill>
              </a:rPr>
              <a:t>one topic </a:t>
            </a:r>
            <a:r>
              <a:rPr lang="en-US" sz="6400" dirty="0" smtClean="0">
                <a:solidFill>
                  <a:srgbClr val="00B0F0"/>
                </a:solidFill>
              </a:rPr>
              <a:t>sentence</a:t>
            </a:r>
            <a:r>
              <a:rPr lang="en-US" sz="6400" dirty="0" smtClean="0"/>
              <a:t> that </a:t>
            </a:r>
            <a:r>
              <a:rPr lang="en-US" sz="6400" dirty="0"/>
              <a:t>supports the thesis statement.</a:t>
            </a:r>
          </a:p>
          <a:p>
            <a:pPr lvl="0">
              <a:lnSpc>
                <a:spcPct val="120000"/>
              </a:lnSpc>
            </a:pPr>
            <a:r>
              <a:rPr lang="en-US" sz="6400" dirty="0">
                <a:solidFill>
                  <a:srgbClr val="00B0F0"/>
                </a:solidFill>
              </a:rPr>
              <a:t>Each body </a:t>
            </a:r>
            <a:r>
              <a:rPr lang="en-US" sz="6400" dirty="0" smtClean="0">
                <a:solidFill>
                  <a:srgbClr val="00B0F0"/>
                </a:solidFill>
              </a:rPr>
              <a:t>paragraph </a:t>
            </a:r>
            <a:r>
              <a:rPr lang="en-US" sz="6400" dirty="0">
                <a:solidFill>
                  <a:srgbClr val="00B0F0"/>
                </a:solidFill>
              </a:rPr>
              <a:t>directly address the points outlined in the thesis statement </a:t>
            </a:r>
            <a:r>
              <a:rPr lang="en-US" sz="6400" dirty="0" smtClean="0">
                <a:solidFill>
                  <a:srgbClr val="00B0F0"/>
                </a:solidFill>
              </a:rPr>
              <a:t>in </a:t>
            </a:r>
            <a:r>
              <a:rPr lang="en-US" sz="6400" dirty="0">
                <a:solidFill>
                  <a:srgbClr val="00B0F0"/>
                </a:solidFill>
              </a:rPr>
              <a:t>given order to maintain clarity and coherence.</a:t>
            </a:r>
          </a:p>
          <a:p>
            <a:pPr lvl="0">
              <a:lnSpc>
                <a:spcPct val="120000"/>
              </a:lnSpc>
            </a:pPr>
            <a:r>
              <a:rPr lang="en-US" sz="6400" dirty="0">
                <a:solidFill>
                  <a:srgbClr val="00B0F0"/>
                </a:solidFill>
              </a:rPr>
              <a:t>Failure to </a:t>
            </a:r>
            <a:r>
              <a:rPr lang="en-US" sz="6400" dirty="0" smtClean="0">
                <a:solidFill>
                  <a:srgbClr val="00B0F0"/>
                </a:solidFill>
              </a:rPr>
              <a:t>support </a:t>
            </a:r>
            <a:r>
              <a:rPr lang="en-US" sz="6400" dirty="0">
                <a:solidFill>
                  <a:srgbClr val="00B0F0"/>
                </a:solidFill>
              </a:rPr>
              <a:t>body paragraph content with the thesis statement's points </a:t>
            </a:r>
            <a:r>
              <a:rPr lang="en-US" sz="6400" dirty="0" smtClean="0">
                <a:solidFill>
                  <a:srgbClr val="00B0F0"/>
                </a:solidFill>
              </a:rPr>
              <a:t>invalidates </a:t>
            </a:r>
            <a:r>
              <a:rPr lang="en-US" sz="6400" dirty="0">
                <a:solidFill>
                  <a:srgbClr val="00B0F0"/>
                </a:solidFill>
              </a:rPr>
              <a:t>the essay </a:t>
            </a:r>
            <a:r>
              <a:rPr lang="en-US" sz="6400" dirty="0" smtClean="0">
                <a:solidFill>
                  <a:srgbClr val="00B0F0"/>
                </a:solidFill>
              </a:rPr>
              <a:t>and confuses </a:t>
            </a:r>
            <a:r>
              <a:rPr lang="en-US" sz="6400" dirty="0">
                <a:solidFill>
                  <a:srgbClr val="00B0F0"/>
                </a:solidFill>
              </a:rPr>
              <a:t>readers.</a:t>
            </a:r>
          </a:p>
          <a:p>
            <a:pPr>
              <a:lnSpc>
                <a:spcPct val="120000"/>
              </a:lnSpc>
            </a:pPr>
            <a:r>
              <a:rPr lang="en-US" sz="6400" dirty="0"/>
              <a:t>Each paragraph should contain only </a:t>
            </a:r>
            <a:r>
              <a:rPr lang="en-US" sz="6400" dirty="0">
                <a:solidFill>
                  <a:srgbClr val="00B0F0"/>
                </a:solidFill>
              </a:rPr>
              <a:t>one main idea, as stated by the topic sentence. </a:t>
            </a:r>
            <a:endParaRPr lang="en-US" sz="6400" dirty="0" smtClean="0">
              <a:solidFill>
                <a:srgbClr val="00B0F0"/>
              </a:solidFill>
            </a:endParaRPr>
          </a:p>
          <a:p>
            <a:pPr>
              <a:lnSpc>
                <a:spcPct val="120000"/>
              </a:lnSpc>
            </a:pPr>
            <a:r>
              <a:rPr lang="en-US" sz="6400" dirty="0" smtClean="0"/>
              <a:t>Make </a:t>
            </a:r>
            <a:r>
              <a:rPr lang="en-US" sz="6400" dirty="0"/>
              <a:t>sure paragraphs follow in logical sequence </a:t>
            </a:r>
            <a:r>
              <a:rPr lang="en-US" sz="6400" i="1" dirty="0"/>
              <a:t>(as given in the Introduction) </a:t>
            </a:r>
            <a:r>
              <a:rPr lang="en-US" sz="6400" dirty="0"/>
              <a:t>so that the essay flows towards the conclusion. </a:t>
            </a:r>
            <a:endParaRPr lang="en-US" sz="6400" dirty="0" smtClean="0"/>
          </a:p>
        </p:txBody>
      </p:sp>
    </p:spTree>
    <p:extLst>
      <p:ext uri="{BB962C8B-B14F-4D97-AF65-F5344CB8AC3E}">
        <p14:creationId xmlns:p14="http://schemas.microsoft.com/office/powerpoint/2010/main" val="32848090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4389120"/>
          </a:xfrm>
        </p:spPr>
        <p:txBody>
          <a:bodyPr>
            <a:noAutofit/>
          </a:bodyPr>
          <a:lstStyle/>
          <a:p>
            <a:r>
              <a:rPr lang="en-US" sz="2000" dirty="0"/>
              <a:t>A body paragraph takes an idea:</a:t>
            </a:r>
            <a:r>
              <a:rPr lang="en-US" sz="2000" dirty="0">
                <a:solidFill>
                  <a:srgbClr val="00B0F0"/>
                </a:solidFill>
              </a:rPr>
              <a:t> “the advantages of using the internet” </a:t>
            </a:r>
            <a:r>
              <a:rPr lang="en-US" sz="2000" dirty="0"/>
              <a:t>and discusses it in detail, giving examples and evidence to support that point. </a:t>
            </a:r>
          </a:p>
          <a:p>
            <a:r>
              <a:rPr lang="en-US" sz="2000" dirty="0">
                <a:solidFill>
                  <a:srgbClr val="FF0000"/>
                </a:solidFill>
              </a:rPr>
              <a:t>The following topic sentences support the thesis statement given in the introduction:</a:t>
            </a:r>
          </a:p>
          <a:p>
            <a:r>
              <a:rPr lang="en-US" sz="2000" dirty="0" smtClean="0"/>
              <a:t>Topic </a:t>
            </a:r>
            <a:r>
              <a:rPr lang="en-US" sz="2000" dirty="0"/>
              <a:t>sentence for the first body paragraph:</a:t>
            </a:r>
          </a:p>
          <a:p>
            <a:r>
              <a:rPr lang="en-US" sz="2000" dirty="0"/>
              <a:t>e.g</a:t>
            </a:r>
            <a:r>
              <a:rPr lang="en-US" sz="2000" i="1" dirty="0"/>
              <a:t>.</a:t>
            </a:r>
            <a:r>
              <a:rPr lang="en-US" sz="2000" b="1" i="1" dirty="0">
                <a:solidFill>
                  <a:srgbClr val="00B0F0"/>
                </a:solidFill>
              </a:rPr>
              <a:t> Firstly, writing skills naturally improve with internet use, since almost all online communication is conducted through the written word</a:t>
            </a:r>
            <a:r>
              <a:rPr lang="en-US" sz="2000" b="1" i="1" dirty="0"/>
              <a:t>.</a:t>
            </a:r>
            <a:endParaRPr lang="en-US" sz="2000" b="1" dirty="0"/>
          </a:p>
          <a:p>
            <a:r>
              <a:rPr lang="en-US" sz="2000" dirty="0"/>
              <a:t>Topic sentence for the second body paragraph:</a:t>
            </a:r>
          </a:p>
          <a:p>
            <a:r>
              <a:rPr lang="en-US" sz="2000" dirty="0"/>
              <a:t>e.g. </a:t>
            </a:r>
            <a:r>
              <a:rPr lang="en-US" sz="2000" i="1" dirty="0">
                <a:solidFill>
                  <a:srgbClr val="00B0F0"/>
                </a:solidFill>
              </a:rPr>
              <a:t>Secondly, while internet users become more proficient at writing, their spoken communication skills will also improve because writing will give them practice organizing and expressing their ideas.</a:t>
            </a:r>
            <a:endParaRPr lang="en-US" sz="2000" dirty="0">
              <a:solidFill>
                <a:srgbClr val="00B0F0"/>
              </a:solidFill>
            </a:endParaRPr>
          </a:p>
          <a:p>
            <a:r>
              <a:rPr lang="en-US" sz="2000" dirty="0">
                <a:solidFill>
                  <a:srgbClr val="FF0000"/>
                </a:solidFill>
              </a:rPr>
              <a:t>Thus, a good body paragraph:</a:t>
            </a:r>
          </a:p>
          <a:p>
            <a:pPr lvl="0"/>
            <a:r>
              <a:rPr lang="en-US" sz="2000" dirty="0"/>
              <a:t>Has only one </a:t>
            </a:r>
            <a:r>
              <a:rPr lang="en-US" sz="2000" dirty="0">
                <a:solidFill>
                  <a:srgbClr val="00B0F0"/>
                </a:solidFill>
              </a:rPr>
              <a:t>main idea.</a:t>
            </a:r>
          </a:p>
          <a:p>
            <a:pPr lvl="0"/>
            <a:r>
              <a:rPr lang="en-US" sz="2000" dirty="0"/>
              <a:t>Follows the</a:t>
            </a:r>
            <a:r>
              <a:rPr lang="en-US" sz="2000" dirty="0">
                <a:solidFill>
                  <a:srgbClr val="00B0F0"/>
                </a:solidFill>
              </a:rPr>
              <a:t> order</a:t>
            </a:r>
            <a:r>
              <a:rPr lang="en-US" sz="2000" dirty="0"/>
              <a:t> given in the thesis statement.</a:t>
            </a:r>
          </a:p>
          <a:p>
            <a:pPr lvl="0"/>
            <a:r>
              <a:rPr lang="en-US" sz="2000" dirty="0"/>
              <a:t>Explains the main idea in </a:t>
            </a:r>
            <a:r>
              <a:rPr lang="en-US" sz="2000" dirty="0">
                <a:solidFill>
                  <a:srgbClr val="00B0F0"/>
                </a:solidFill>
              </a:rPr>
              <a:t>sufficient detail.</a:t>
            </a:r>
            <a:br>
              <a:rPr lang="en-US" sz="2000" dirty="0">
                <a:solidFill>
                  <a:srgbClr val="00B0F0"/>
                </a:solidFill>
              </a:rPr>
            </a:br>
            <a:endParaRPr lang="en-US" sz="2000" dirty="0">
              <a:solidFill>
                <a:srgbClr val="00B0F0"/>
              </a:solidFill>
            </a:endParaRP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423671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2000"/>
            <a:ext cx="8229600" cy="4389120"/>
          </a:xfrm>
        </p:spPr>
        <p:txBody>
          <a:bodyPr>
            <a:normAutofit fontScale="25000" lnSpcReduction="20000"/>
          </a:bodyPr>
          <a:lstStyle/>
          <a:p>
            <a:pPr marL="0" lvl="0" indent="0">
              <a:buNone/>
            </a:pPr>
            <a:r>
              <a:rPr lang="en-US" sz="11200" b="1" dirty="0" smtClean="0">
                <a:solidFill>
                  <a:srgbClr val="FF0000"/>
                </a:solidFill>
              </a:rPr>
              <a:t>        3) The Concluding </a:t>
            </a:r>
            <a:r>
              <a:rPr lang="en-US" sz="11200" b="1" dirty="0">
                <a:solidFill>
                  <a:srgbClr val="FF0000"/>
                </a:solidFill>
              </a:rPr>
              <a:t>Paragraph</a:t>
            </a:r>
          </a:p>
          <a:p>
            <a:pPr lvl="0">
              <a:lnSpc>
                <a:spcPct val="120000"/>
              </a:lnSpc>
            </a:pPr>
            <a:r>
              <a:rPr lang="en-US" sz="9600" dirty="0"/>
              <a:t>The </a:t>
            </a:r>
            <a:r>
              <a:rPr lang="en-US" sz="9600" dirty="0" smtClean="0"/>
              <a:t>concluding </a:t>
            </a:r>
            <a:r>
              <a:rPr lang="en-US" sz="9600" dirty="0"/>
              <a:t>paragraph </a:t>
            </a:r>
            <a:r>
              <a:rPr lang="en-US" sz="9600" dirty="0">
                <a:solidFill>
                  <a:srgbClr val="00B0F0"/>
                </a:solidFill>
              </a:rPr>
              <a:t> </a:t>
            </a:r>
            <a:r>
              <a:rPr lang="en-US" sz="9600" dirty="0" smtClean="0">
                <a:solidFill>
                  <a:srgbClr val="00B0F0"/>
                </a:solidFill>
              </a:rPr>
              <a:t>comprises </a:t>
            </a:r>
            <a:r>
              <a:rPr lang="en-US" sz="9600" dirty="0">
                <a:solidFill>
                  <a:srgbClr val="00B0F0"/>
                </a:solidFill>
              </a:rPr>
              <a:t>two parts</a:t>
            </a:r>
            <a:r>
              <a:rPr lang="en-US" sz="9600" dirty="0"/>
              <a:t>:</a:t>
            </a:r>
          </a:p>
          <a:p>
            <a:pPr lvl="0">
              <a:lnSpc>
                <a:spcPct val="120000"/>
              </a:lnSpc>
            </a:pPr>
            <a:r>
              <a:rPr lang="en-US" sz="9600" dirty="0">
                <a:solidFill>
                  <a:srgbClr val="00B0F0"/>
                </a:solidFill>
              </a:rPr>
              <a:t>The first part,</a:t>
            </a:r>
            <a:r>
              <a:rPr lang="en-US" sz="9600" dirty="0"/>
              <a:t> known as the concluding sentence, </a:t>
            </a:r>
            <a:r>
              <a:rPr lang="en-US" sz="9600" dirty="0">
                <a:solidFill>
                  <a:srgbClr val="00B0F0"/>
                </a:solidFill>
              </a:rPr>
              <a:t>provides specific information. </a:t>
            </a:r>
            <a:endParaRPr lang="en-US" sz="9600" dirty="0" smtClean="0">
              <a:solidFill>
                <a:srgbClr val="00B0F0"/>
              </a:solidFill>
            </a:endParaRPr>
          </a:p>
          <a:p>
            <a:pPr lvl="0">
              <a:lnSpc>
                <a:spcPct val="120000"/>
              </a:lnSpc>
            </a:pPr>
            <a:r>
              <a:rPr lang="en-US" sz="9600" dirty="0" smtClean="0"/>
              <a:t>It </a:t>
            </a:r>
            <a:r>
              <a:rPr lang="en-US" sz="9600" dirty="0"/>
              <a:t>reverses the structure of the introduction by</a:t>
            </a:r>
            <a:r>
              <a:rPr lang="en-US" sz="9600" dirty="0">
                <a:solidFill>
                  <a:srgbClr val="00B0F0"/>
                </a:solidFill>
              </a:rPr>
              <a:t> restating the thesis's proof </a:t>
            </a:r>
            <a:r>
              <a:rPr lang="en-US" sz="9600" dirty="0" smtClean="0">
                <a:solidFill>
                  <a:srgbClr val="00B0F0"/>
                </a:solidFill>
              </a:rPr>
              <a:t>or summarizing </a:t>
            </a:r>
            <a:r>
              <a:rPr lang="en-US" sz="9600" dirty="0">
                <a:solidFill>
                  <a:srgbClr val="00B0F0"/>
                </a:solidFill>
              </a:rPr>
              <a:t>the key points discussed in the body </a:t>
            </a:r>
            <a:r>
              <a:rPr lang="en-US" sz="9600" dirty="0" smtClean="0">
                <a:solidFill>
                  <a:srgbClr val="00B0F0"/>
                </a:solidFill>
              </a:rPr>
              <a:t>paragraphs</a:t>
            </a:r>
            <a:r>
              <a:rPr lang="en-US" sz="9600" dirty="0" smtClean="0"/>
              <a:t>.</a:t>
            </a:r>
            <a:endParaRPr lang="en-US" sz="9600" dirty="0">
              <a:solidFill>
                <a:srgbClr val="00B0F0"/>
              </a:solidFill>
            </a:endParaRPr>
          </a:p>
          <a:p>
            <a:pPr>
              <a:lnSpc>
                <a:spcPct val="120000"/>
              </a:lnSpc>
            </a:pPr>
            <a:r>
              <a:rPr lang="en-US" sz="9600" dirty="0">
                <a:solidFill>
                  <a:srgbClr val="00B0F0"/>
                </a:solidFill>
              </a:rPr>
              <a:t>The second part,</a:t>
            </a:r>
            <a:r>
              <a:rPr lang="en-US" sz="9600" dirty="0"/>
              <a:t> </a:t>
            </a:r>
            <a:r>
              <a:rPr lang="en-US" sz="9600" b="1" dirty="0"/>
              <a:t>final thought</a:t>
            </a:r>
            <a:r>
              <a:rPr lang="en-US" sz="9600" dirty="0"/>
              <a:t>, broadens the focus of the essay </a:t>
            </a:r>
            <a:r>
              <a:rPr lang="en-US" sz="9600" dirty="0" smtClean="0"/>
              <a:t> using strong final statement with </a:t>
            </a:r>
            <a:r>
              <a:rPr lang="en-US" sz="9600" dirty="0" smtClean="0">
                <a:solidFill>
                  <a:srgbClr val="00B0F0"/>
                </a:solidFill>
              </a:rPr>
              <a:t>relevant </a:t>
            </a:r>
            <a:r>
              <a:rPr lang="en-US" sz="9600" dirty="0">
                <a:solidFill>
                  <a:srgbClr val="00B0F0"/>
                </a:solidFill>
              </a:rPr>
              <a:t>prediction, suggestion, advice or </a:t>
            </a:r>
            <a:r>
              <a:rPr lang="en-US" sz="9600" dirty="0" smtClean="0">
                <a:solidFill>
                  <a:srgbClr val="00B0F0"/>
                </a:solidFill>
              </a:rPr>
              <a:t> warning</a:t>
            </a:r>
            <a:r>
              <a:rPr lang="en-US" sz="9600" dirty="0">
                <a:solidFill>
                  <a:srgbClr val="00B0F0"/>
                </a:solidFill>
              </a:rPr>
              <a:t>. </a:t>
            </a:r>
            <a:endParaRPr lang="en-US" sz="9600" dirty="0" smtClean="0">
              <a:solidFill>
                <a:srgbClr val="00B0F0"/>
              </a:solidFill>
            </a:endParaRPr>
          </a:p>
          <a:p>
            <a:pPr>
              <a:lnSpc>
                <a:spcPct val="120000"/>
              </a:lnSpc>
            </a:pPr>
            <a:r>
              <a:rPr lang="en-US" sz="9600" dirty="0" smtClean="0">
                <a:solidFill>
                  <a:srgbClr val="00B0F0"/>
                </a:solidFill>
              </a:rPr>
              <a:t>The </a:t>
            </a:r>
            <a:r>
              <a:rPr lang="en-US" sz="9600" dirty="0">
                <a:solidFill>
                  <a:srgbClr val="00B0F0"/>
                </a:solidFill>
              </a:rPr>
              <a:t>purpose of the conclusion is to bring the essay to a satisfying close and remind the reader of the main points. </a:t>
            </a:r>
            <a:endParaRPr lang="en-US" sz="9600" dirty="0" smtClean="0">
              <a:solidFill>
                <a:srgbClr val="00B0F0"/>
              </a:solidFill>
            </a:endParaRPr>
          </a:p>
          <a:p>
            <a:pPr>
              <a:lnSpc>
                <a:spcPct val="120000"/>
              </a:lnSpc>
            </a:pPr>
            <a:r>
              <a:rPr lang="en-US" sz="9600" dirty="0" smtClean="0"/>
              <a:t>The </a:t>
            </a:r>
            <a:r>
              <a:rPr lang="en-US" sz="9600" dirty="0"/>
              <a:t>conclusion paragraph </a:t>
            </a:r>
            <a:r>
              <a:rPr lang="en-US" sz="9600" dirty="0">
                <a:solidFill>
                  <a:srgbClr val="00B0F0"/>
                </a:solidFill>
              </a:rPr>
              <a:t>should not introduce any new points. </a:t>
            </a:r>
            <a:br>
              <a:rPr lang="en-US" sz="9600" dirty="0">
                <a:solidFill>
                  <a:srgbClr val="00B0F0"/>
                </a:solidFill>
              </a:rPr>
            </a:br>
            <a:endParaRPr lang="en-US" sz="96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57438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4389120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</a:pPr>
            <a:r>
              <a:rPr lang="en-US" sz="2800" dirty="0"/>
              <a:t> The following concluding sentence restates the thesis statement given in the introduction:</a:t>
            </a:r>
          </a:p>
          <a:p>
            <a:pPr>
              <a:lnSpc>
                <a:spcPct val="120000"/>
              </a:lnSpc>
            </a:pPr>
            <a:r>
              <a:rPr lang="en-US" sz="2800" dirty="0" smtClean="0"/>
              <a:t>E.g</a:t>
            </a:r>
            <a:r>
              <a:rPr lang="en-US" sz="2800" dirty="0"/>
              <a:t>. </a:t>
            </a:r>
            <a:r>
              <a:rPr lang="en-US" sz="2800" b="1" i="1" dirty="0">
                <a:solidFill>
                  <a:srgbClr val="00B0F0"/>
                </a:solidFill>
              </a:rPr>
              <a:t>To conclude, both written and spoken communication skills can be improved through the widespread use of the internet at home, at school and at work.</a:t>
            </a:r>
            <a:endParaRPr lang="en-US" sz="2800" b="1" dirty="0">
              <a:solidFill>
                <a:srgbClr val="00B0F0"/>
              </a:solidFill>
            </a:endParaRPr>
          </a:p>
          <a:p>
            <a:pPr>
              <a:lnSpc>
                <a:spcPct val="120000"/>
              </a:lnSpc>
            </a:pPr>
            <a:r>
              <a:rPr lang="en-US" sz="2800" dirty="0">
                <a:solidFill>
                  <a:srgbClr val="FF0000"/>
                </a:solidFill>
              </a:rPr>
              <a:t>Thus, a good concluding paragraph:</a:t>
            </a:r>
          </a:p>
          <a:p>
            <a:pPr lvl="0">
              <a:lnSpc>
                <a:spcPct val="120000"/>
              </a:lnSpc>
            </a:pPr>
            <a:r>
              <a:rPr lang="en-US" sz="2800" dirty="0"/>
              <a:t>Sums up the main points or states the thesis statement in different words.</a:t>
            </a:r>
          </a:p>
          <a:p>
            <a:pPr lvl="0">
              <a:lnSpc>
                <a:spcPct val="120000"/>
              </a:lnSpc>
            </a:pPr>
            <a:r>
              <a:rPr lang="en-US" sz="2800" dirty="0"/>
              <a:t>Comments or makes recommendations for further discussion of topic.</a:t>
            </a:r>
          </a:p>
          <a:p>
            <a:pPr lvl="0">
              <a:lnSpc>
                <a:spcPct val="120000"/>
              </a:lnSpc>
            </a:pPr>
            <a:r>
              <a:rPr lang="en-US" sz="2800" dirty="0"/>
              <a:t>Avoids adding new material.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05405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232</TotalTime>
  <Words>703</Words>
  <Application>Microsoft Office PowerPoint</Application>
  <PresentationFormat>On-screen Show (4:3)</PresentationFormat>
  <Paragraphs>50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Flow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JOSHI SHANKAR</dc:creator>
  <cp:lastModifiedBy>lenovo</cp:lastModifiedBy>
  <cp:revision>19</cp:revision>
  <dcterms:created xsi:type="dcterms:W3CDTF">2006-08-16T00:00:00Z</dcterms:created>
  <dcterms:modified xsi:type="dcterms:W3CDTF">2025-02-03T02:15:37Z</dcterms:modified>
</cp:coreProperties>
</file>