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38912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The </a:t>
            </a:r>
            <a:r>
              <a:rPr lang="en-US" sz="3600" b="1" dirty="0" smtClean="0">
                <a:solidFill>
                  <a:srgbClr val="FF0000"/>
                </a:solidFill>
              </a:rPr>
              <a:t>Writing </a:t>
            </a:r>
            <a:r>
              <a:rPr lang="en-US" sz="3600" b="1" dirty="0">
                <a:solidFill>
                  <a:srgbClr val="FF0000"/>
                </a:solidFill>
              </a:rPr>
              <a:t>P</a:t>
            </a:r>
            <a:r>
              <a:rPr lang="en-US" sz="3600" b="1" dirty="0" smtClean="0">
                <a:solidFill>
                  <a:srgbClr val="FF0000"/>
                </a:solidFill>
              </a:rPr>
              <a:t>rocess </a:t>
            </a:r>
            <a:endParaRPr lang="en-US" sz="3600" b="1" dirty="0" smtClean="0">
              <a:solidFill>
                <a:srgbClr val="FF0000"/>
              </a:solidFill>
            </a:endParaRPr>
          </a:p>
          <a:p>
            <a:pPr lvl="0"/>
            <a:r>
              <a:rPr lang="en-US" sz="2400" dirty="0" smtClean="0"/>
              <a:t>Writing process refers </a:t>
            </a:r>
            <a:r>
              <a:rPr lang="en-US" sz="2400" dirty="0"/>
              <a:t>to the </a:t>
            </a:r>
            <a:r>
              <a:rPr lang="en-US" sz="2400" dirty="0">
                <a:solidFill>
                  <a:srgbClr val="00B0F0"/>
                </a:solidFill>
              </a:rPr>
              <a:t>series of steps</a:t>
            </a:r>
            <a:r>
              <a:rPr lang="en-US" sz="2400" dirty="0"/>
              <a:t> that writers follow to </a:t>
            </a:r>
            <a:r>
              <a:rPr lang="en-US" sz="2400" dirty="0" smtClean="0"/>
              <a:t>produce  </a:t>
            </a:r>
            <a:r>
              <a:rPr lang="en-US" sz="2400" dirty="0"/>
              <a:t>a </a:t>
            </a:r>
            <a:r>
              <a:rPr lang="en-US" sz="2400" dirty="0" smtClean="0"/>
              <a:t> </a:t>
            </a:r>
            <a:r>
              <a:rPr lang="en-US" sz="2400" dirty="0"/>
              <a:t>written work, whether </a:t>
            </a:r>
            <a:r>
              <a:rPr lang="en-US" sz="2400" dirty="0" smtClean="0"/>
              <a:t> it's </a:t>
            </a:r>
            <a:r>
              <a:rPr lang="en-US" sz="2400" dirty="0"/>
              <a:t>an essay, a story, a </a:t>
            </a:r>
            <a:r>
              <a:rPr lang="en-US" sz="2400" dirty="0" smtClean="0"/>
              <a:t>report</a:t>
            </a:r>
            <a:r>
              <a:rPr lang="en-US" sz="2400" dirty="0"/>
              <a:t> </a:t>
            </a:r>
            <a:r>
              <a:rPr lang="en-US" sz="2400" dirty="0" smtClean="0"/>
              <a:t>etc.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T</a:t>
            </a:r>
            <a:r>
              <a:rPr lang="en-US" sz="2400" dirty="0" smtClean="0">
                <a:solidFill>
                  <a:srgbClr val="FF0000"/>
                </a:solidFill>
              </a:rPr>
              <a:t>he </a:t>
            </a:r>
            <a:r>
              <a:rPr lang="en-US" sz="2400" dirty="0">
                <a:solidFill>
                  <a:srgbClr val="FF0000"/>
                </a:solidFill>
              </a:rPr>
              <a:t>writing process generally consists of the following stages</a:t>
            </a:r>
            <a:r>
              <a:rPr lang="en-US" sz="2400" dirty="0" smtClean="0">
                <a:solidFill>
                  <a:srgbClr val="FF0000"/>
                </a:solidFill>
              </a:rPr>
              <a:t>:</a:t>
            </a:r>
          </a:p>
          <a:p>
            <a:pPr marL="0" lvl="0" indent="0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    1) Pre-Writing:</a:t>
            </a:r>
          </a:p>
          <a:p>
            <a:pPr lvl="1"/>
            <a:r>
              <a:rPr lang="en-US" dirty="0"/>
              <a:t>Enhances </a:t>
            </a:r>
            <a:r>
              <a:rPr lang="en-US" dirty="0">
                <a:solidFill>
                  <a:srgbClr val="00B0F0"/>
                </a:solidFill>
              </a:rPr>
              <a:t>understanding of the  topic</a:t>
            </a:r>
            <a:r>
              <a:rPr lang="en-US" dirty="0"/>
              <a:t> and </a:t>
            </a:r>
            <a:r>
              <a:rPr lang="en-US" dirty="0" smtClean="0">
                <a:solidFill>
                  <a:srgbClr val="00B0F0"/>
                </a:solidFill>
              </a:rPr>
              <a:t>gathers </a:t>
            </a:r>
            <a:r>
              <a:rPr lang="en-US" dirty="0">
                <a:solidFill>
                  <a:srgbClr val="00B0F0"/>
                </a:solidFill>
              </a:rPr>
              <a:t>relevant information.</a:t>
            </a:r>
          </a:p>
          <a:p>
            <a:pPr lvl="1"/>
            <a:r>
              <a:rPr lang="en-US" dirty="0" smtClean="0">
                <a:solidFill>
                  <a:srgbClr val="00B0F0"/>
                </a:solidFill>
              </a:rPr>
              <a:t>Gathering </a:t>
            </a:r>
            <a:r>
              <a:rPr lang="en-US" dirty="0">
                <a:solidFill>
                  <a:srgbClr val="00B0F0"/>
                </a:solidFill>
              </a:rPr>
              <a:t>and preparing necessary </a:t>
            </a:r>
            <a:r>
              <a:rPr lang="en-US" dirty="0" smtClean="0">
                <a:solidFill>
                  <a:srgbClr val="00B0F0"/>
                </a:solidFill>
              </a:rPr>
              <a:t>information </a:t>
            </a:r>
            <a:r>
              <a:rPr lang="en-US" dirty="0">
                <a:solidFill>
                  <a:srgbClr val="00B0F0"/>
                </a:solidFill>
              </a:rPr>
              <a:t>for </a:t>
            </a:r>
            <a:r>
              <a:rPr lang="en-US" dirty="0" smtClean="0">
                <a:solidFill>
                  <a:srgbClr val="00B0F0"/>
                </a:solidFill>
              </a:rPr>
              <a:t> subsequent </a:t>
            </a:r>
            <a:r>
              <a:rPr lang="en-US" dirty="0" smtClean="0">
                <a:solidFill>
                  <a:srgbClr val="00B0F0"/>
                </a:solidFill>
              </a:rPr>
              <a:t> writing </a:t>
            </a:r>
            <a:r>
              <a:rPr lang="en-US" dirty="0">
                <a:solidFill>
                  <a:srgbClr val="00B0F0"/>
                </a:solidFill>
              </a:rPr>
              <a:t>steps</a:t>
            </a:r>
            <a:r>
              <a:rPr lang="en-US" dirty="0" smtClean="0">
                <a:solidFill>
                  <a:srgbClr val="00B0F0"/>
                </a:solidFill>
              </a:rPr>
              <a:t>.</a:t>
            </a:r>
            <a:endParaRPr lang="en-US" dirty="0">
              <a:solidFill>
                <a:srgbClr val="00B0F0"/>
              </a:solidFill>
            </a:endParaRPr>
          </a:p>
          <a:p>
            <a:pPr lvl="1"/>
            <a:r>
              <a:rPr lang="en-US" dirty="0"/>
              <a:t>Increases </a:t>
            </a:r>
            <a:r>
              <a:rPr lang="en-US" dirty="0">
                <a:solidFill>
                  <a:srgbClr val="00B0F0"/>
                </a:solidFill>
              </a:rPr>
              <a:t>credibility</a:t>
            </a:r>
            <a:r>
              <a:rPr lang="en-US" dirty="0"/>
              <a:t> by relying on </a:t>
            </a:r>
            <a:r>
              <a:rPr lang="en-US" dirty="0">
                <a:solidFill>
                  <a:srgbClr val="00B0F0"/>
                </a:solidFill>
              </a:rPr>
              <a:t>authoritative sources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Enhances by </a:t>
            </a:r>
            <a:r>
              <a:rPr lang="en-US" dirty="0"/>
              <a:t>identifying </a:t>
            </a:r>
            <a:r>
              <a:rPr lang="en-US" dirty="0">
                <a:solidFill>
                  <a:srgbClr val="00B0F0"/>
                </a:solidFill>
              </a:rPr>
              <a:t>target </a:t>
            </a:r>
            <a:r>
              <a:rPr lang="en-US" dirty="0" smtClean="0">
                <a:solidFill>
                  <a:srgbClr val="00B0F0"/>
                </a:solidFill>
              </a:rPr>
              <a:t>audiences’ </a:t>
            </a:r>
            <a:r>
              <a:rPr lang="en-US" dirty="0">
                <a:solidFill>
                  <a:srgbClr val="00B0F0"/>
                </a:solidFill>
              </a:rPr>
              <a:t>preferences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60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89120"/>
          </a:xfrm>
        </p:spPr>
        <p:txBody>
          <a:bodyPr>
            <a:noAutofit/>
          </a:bodyPr>
          <a:lstStyle/>
          <a:p>
            <a:pPr lvl="0"/>
            <a:r>
              <a:rPr lang="en-US" sz="2400" dirty="0">
                <a:solidFill>
                  <a:srgbClr val="FF0000"/>
                </a:solidFill>
              </a:rPr>
              <a:t>Prewriting Strategies: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Free writing: </a:t>
            </a:r>
            <a:r>
              <a:rPr lang="en-US" dirty="0">
                <a:solidFill>
                  <a:srgbClr val="00B0F0"/>
                </a:solidFill>
              </a:rPr>
              <a:t>Writing without thinking for quality or </a:t>
            </a:r>
            <a:r>
              <a:rPr lang="en-US" dirty="0" smtClean="0">
                <a:solidFill>
                  <a:srgbClr val="00B0F0"/>
                </a:solidFill>
              </a:rPr>
              <a:t>correctness</a:t>
            </a:r>
            <a:r>
              <a:rPr lang="en-US" dirty="0" smtClean="0"/>
              <a:t>.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dirty="0"/>
              <a:t>warm-up exercise to </a:t>
            </a:r>
            <a:r>
              <a:rPr lang="en-US" sz="2400" dirty="0">
                <a:solidFill>
                  <a:srgbClr val="00B0F0"/>
                </a:solidFill>
              </a:rPr>
              <a:t>express thoughts without stopping.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Clustering (Mind Mapping): </a:t>
            </a:r>
            <a:r>
              <a:rPr lang="en-US" dirty="0">
                <a:solidFill>
                  <a:srgbClr val="00B0F0"/>
                </a:solidFill>
              </a:rPr>
              <a:t>Brainstorming method using </a:t>
            </a:r>
            <a:r>
              <a:rPr lang="en-US" dirty="0" smtClean="0">
                <a:solidFill>
                  <a:srgbClr val="00B0F0"/>
                </a:solidFill>
              </a:rPr>
              <a:t>meditation.</a:t>
            </a:r>
          </a:p>
          <a:p>
            <a:pPr lvl="1"/>
            <a:r>
              <a:rPr lang="en-US" sz="2400" dirty="0" smtClean="0">
                <a:solidFill>
                  <a:srgbClr val="00B0F0"/>
                </a:solidFill>
              </a:rPr>
              <a:t>Place </a:t>
            </a:r>
            <a:r>
              <a:rPr lang="en-US" sz="2400" dirty="0">
                <a:solidFill>
                  <a:srgbClr val="00B0F0"/>
                </a:solidFill>
              </a:rPr>
              <a:t>topic in the center  and connect related </a:t>
            </a:r>
            <a:r>
              <a:rPr lang="en-US" sz="2400" dirty="0" smtClean="0">
                <a:solidFill>
                  <a:srgbClr val="00B0F0"/>
                </a:solidFill>
              </a:rPr>
              <a:t>ideas</a:t>
            </a:r>
          </a:p>
          <a:p>
            <a:pPr lvl="1"/>
            <a:r>
              <a:rPr lang="en-US" sz="2400" dirty="0" smtClean="0">
                <a:solidFill>
                  <a:srgbClr val="00B0F0"/>
                </a:solidFill>
              </a:rPr>
              <a:t>Break </a:t>
            </a:r>
            <a:r>
              <a:rPr lang="en-US" sz="2400" dirty="0">
                <a:solidFill>
                  <a:srgbClr val="00B0F0"/>
                </a:solidFill>
              </a:rPr>
              <a:t>down </a:t>
            </a:r>
            <a:r>
              <a:rPr lang="en-US" sz="2400" dirty="0" smtClean="0">
                <a:solidFill>
                  <a:srgbClr val="00B0F0"/>
                </a:solidFill>
              </a:rPr>
              <a:t>sub-topics</a:t>
            </a:r>
            <a:r>
              <a:rPr lang="en-US" sz="2400" dirty="0" smtClean="0"/>
              <a:t> </a:t>
            </a:r>
            <a:r>
              <a:rPr lang="en-US" sz="2400" dirty="0"/>
              <a:t>for deeper exploration.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Outlining: </a:t>
            </a:r>
            <a:r>
              <a:rPr lang="en-US" dirty="0"/>
              <a:t>Neatly </a:t>
            </a:r>
            <a:r>
              <a:rPr lang="en-US" dirty="0" smtClean="0">
                <a:solidFill>
                  <a:srgbClr val="00B0F0"/>
                </a:solidFill>
              </a:rPr>
              <a:t>organize </a:t>
            </a:r>
            <a:r>
              <a:rPr lang="en-US" dirty="0">
                <a:solidFill>
                  <a:srgbClr val="00B0F0"/>
                </a:solidFill>
              </a:rPr>
              <a:t>research</a:t>
            </a:r>
            <a:r>
              <a:rPr lang="en-US" dirty="0"/>
              <a:t> and brainstorming findings.</a:t>
            </a:r>
          </a:p>
          <a:p>
            <a:pPr lvl="2"/>
            <a:r>
              <a:rPr lang="en-US" sz="2400" dirty="0">
                <a:solidFill>
                  <a:srgbClr val="00B0F0"/>
                </a:solidFill>
              </a:rPr>
              <a:t>Identifies important points </a:t>
            </a:r>
            <a:r>
              <a:rPr lang="en-US" sz="2400" dirty="0"/>
              <a:t>for  storytelling.</a:t>
            </a:r>
          </a:p>
          <a:p>
            <a:pPr lvl="2"/>
            <a:r>
              <a:rPr lang="en-US" sz="2400" dirty="0">
                <a:solidFill>
                  <a:srgbClr val="00B0F0"/>
                </a:solidFill>
              </a:rPr>
              <a:t>Simplifies drafting process by organizing ideas.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395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389120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             2) Drafting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  <a:endParaRPr lang="en-US" sz="2000" dirty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Use researched </a:t>
            </a:r>
            <a:r>
              <a:rPr lang="en-US" dirty="0">
                <a:solidFill>
                  <a:srgbClr val="00B0F0"/>
                </a:solidFill>
              </a:rPr>
              <a:t>information and outline</a:t>
            </a:r>
            <a:r>
              <a:rPr lang="en-US" dirty="0"/>
              <a:t> to create </a:t>
            </a:r>
            <a:r>
              <a:rPr lang="en-US" dirty="0" smtClean="0"/>
              <a:t>a  </a:t>
            </a:r>
            <a:r>
              <a:rPr lang="en-US" dirty="0"/>
              <a:t>draft.</a:t>
            </a:r>
            <a:endParaRPr lang="en-US" sz="1800" dirty="0"/>
          </a:p>
          <a:p>
            <a:pPr lvl="1"/>
            <a:r>
              <a:rPr lang="en-US" dirty="0" smtClean="0"/>
              <a:t>Understand it's </a:t>
            </a:r>
            <a:r>
              <a:rPr lang="en-US" dirty="0">
                <a:solidFill>
                  <a:srgbClr val="00B0F0"/>
                </a:solidFill>
              </a:rPr>
              <a:t>the first draft,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subject to revision and editing </a:t>
            </a:r>
            <a:endParaRPr lang="en-US" sz="1800" dirty="0">
              <a:solidFill>
                <a:srgbClr val="00B0F0"/>
              </a:solidFill>
            </a:endParaRPr>
          </a:p>
          <a:p>
            <a:pPr lvl="1"/>
            <a:r>
              <a:rPr lang="en-US" dirty="0"/>
              <a:t>Focus on expressing ideas into sentences </a:t>
            </a:r>
            <a:r>
              <a:rPr lang="en-US" dirty="0">
                <a:solidFill>
                  <a:srgbClr val="00B0F0"/>
                </a:solidFill>
              </a:rPr>
              <a:t>without excessive concern for spelling, grammar, or vocabulary.</a:t>
            </a:r>
            <a:endParaRPr lang="en-US" sz="1800" dirty="0">
              <a:solidFill>
                <a:srgbClr val="00B0F0"/>
              </a:solidFill>
            </a:endParaRPr>
          </a:p>
          <a:p>
            <a:pPr lvl="1"/>
            <a:r>
              <a:rPr lang="en-US" dirty="0">
                <a:solidFill>
                  <a:srgbClr val="00B0F0"/>
                </a:solidFill>
              </a:rPr>
              <a:t>Avoid perfectionism</a:t>
            </a:r>
            <a:r>
              <a:rPr lang="en-US" dirty="0"/>
              <a:t> to reduce stress and maintain quality.</a:t>
            </a:r>
            <a:endParaRPr lang="en-US" sz="1800" dirty="0"/>
          </a:p>
          <a:p>
            <a:pPr lvl="1"/>
            <a:r>
              <a:rPr lang="en-US" dirty="0"/>
              <a:t>Refer to the </a:t>
            </a:r>
            <a:r>
              <a:rPr lang="en-US" dirty="0" smtClean="0">
                <a:solidFill>
                  <a:srgbClr val="00B0F0"/>
                </a:solidFill>
              </a:rPr>
              <a:t>framework </a:t>
            </a:r>
            <a:r>
              <a:rPr lang="en-US" dirty="0"/>
              <a:t>while writing, but </a:t>
            </a:r>
            <a:r>
              <a:rPr lang="en-US" dirty="0">
                <a:solidFill>
                  <a:srgbClr val="00B0F0"/>
                </a:solidFill>
              </a:rPr>
              <a:t>don't </a:t>
            </a:r>
            <a:r>
              <a:rPr lang="en-US" dirty="0" smtClean="0">
                <a:solidFill>
                  <a:srgbClr val="00B0F0"/>
                </a:solidFill>
              </a:rPr>
              <a:t>stop </a:t>
            </a:r>
            <a:r>
              <a:rPr lang="en-US" dirty="0">
                <a:solidFill>
                  <a:srgbClr val="00B0F0"/>
                </a:solidFill>
              </a:rPr>
              <a:t>for extensive editing.</a:t>
            </a:r>
            <a:endParaRPr lang="en-US" sz="1800" dirty="0">
              <a:solidFill>
                <a:srgbClr val="00B0F0"/>
              </a:solidFill>
            </a:endParaRPr>
          </a:p>
          <a:p>
            <a:pPr lvl="1"/>
            <a:r>
              <a:rPr lang="en-US" dirty="0"/>
              <a:t>Aim for </a:t>
            </a:r>
            <a:r>
              <a:rPr lang="en-US" dirty="0" smtClean="0">
                <a:solidFill>
                  <a:srgbClr val="00B0F0"/>
                </a:solidFill>
              </a:rPr>
              <a:t>consistency </a:t>
            </a:r>
            <a:r>
              <a:rPr lang="en-US" dirty="0">
                <a:solidFill>
                  <a:srgbClr val="00B0F0"/>
                </a:solidFill>
              </a:rPr>
              <a:t>and </a:t>
            </a:r>
            <a:r>
              <a:rPr lang="en-US" dirty="0" smtClean="0">
                <a:solidFill>
                  <a:srgbClr val="00B0F0"/>
                </a:solidFill>
              </a:rPr>
              <a:t>reasonable </a:t>
            </a:r>
            <a:r>
              <a:rPr lang="en-US" dirty="0">
                <a:solidFill>
                  <a:srgbClr val="00B0F0"/>
                </a:solidFill>
              </a:rPr>
              <a:t>use of proper grammar; </a:t>
            </a:r>
            <a:r>
              <a:rPr lang="en-US" dirty="0" smtClean="0"/>
              <a:t>focusing to convey ideas.</a:t>
            </a:r>
            <a:endParaRPr lang="en-US" sz="4400" dirty="0"/>
          </a:p>
          <a:p>
            <a:pPr marL="0" lvl="0" indent="0">
              <a:buNone/>
            </a:pP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39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3891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3) Revising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lvl="0"/>
            <a:r>
              <a:rPr lang="en-US" dirty="0"/>
              <a:t>Critical phase involving </a:t>
            </a:r>
            <a:r>
              <a:rPr lang="en-US" dirty="0">
                <a:solidFill>
                  <a:srgbClr val="00B0F0"/>
                </a:solidFill>
              </a:rPr>
              <a:t>modification and rearrangement of content for improvement</a:t>
            </a:r>
            <a:r>
              <a:rPr lang="en-US" dirty="0"/>
              <a:t>.</a:t>
            </a:r>
            <a:endParaRPr lang="en-US" dirty="0">
              <a:solidFill>
                <a:srgbClr val="00B0F0"/>
              </a:solidFill>
            </a:endParaRPr>
          </a:p>
          <a:p>
            <a:pPr lvl="0"/>
            <a:r>
              <a:rPr lang="en-US" dirty="0">
                <a:solidFill>
                  <a:srgbClr val="00B0F0"/>
                </a:solidFill>
              </a:rPr>
              <a:t>Add, rewrite, or delete sentences/paragraphs</a:t>
            </a:r>
            <a:r>
              <a:rPr lang="en-US" dirty="0"/>
              <a:t> to enhance appeal to the target audience.</a:t>
            </a:r>
            <a:endParaRPr lang="en-US" dirty="0">
              <a:solidFill>
                <a:srgbClr val="00B0F0"/>
              </a:solidFill>
            </a:endParaRPr>
          </a:p>
          <a:p>
            <a:pPr lvl="0"/>
            <a:r>
              <a:rPr lang="en-US" dirty="0">
                <a:solidFill>
                  <a:srgbClr val="00B0F0"/>
                </a:solidFill>
              </a:rPr>
              <a:t>Identify areas </a:t>
            </a:r>
            <a:r>
              <a:rPr lang="en-US" dirty="0" smtClean="0">
                <a:solidFill>
                  <a:srgbClr val="00B0F0"/>
                </a:solidFill>
              </a:rPr>
              <a:t>demanding </a:t>
            </a:r>
            <a:r>
              <a:rPr lang="en-US" dirty="0">
                <a:solidFill>
                  <a:srgbClr val="00B0F0"/>
                </a:solidFill>
              </a:rPr>
              <a:t>improvement</a:t>
            </a:r>
            <a:r>
              <a:rPr lang="en-US" dirty="0"/>
              <a:t> to strengthen arguments.</a:t>
            </a:r>
            <a:endParaRPr lang="en-US" dirty="0">
              <a:solidFill>
                <a:srgbClr val="00B0F0"/>
              </a:solidFill>
            </a:endParaRPr>
          </a:p>
          <a:p>
            <a:pPr lvl="0"/>
            <a:r>
              <a:rPr lang="en-US" dirty="0">
                <a:solidFill>
                  <a:srgbClr val="00B0F0"/>
                </a:solidFill>
              </a:rPr>
              <a:t>Additional thinking or research</a:t>
            </a:r>
            <a:r>
              <a:rPr lang="en-US" dirty="0"/>
              <a:t> may be necessary to logically support points.</a:t>
            </a:r>
          </a:p>
          <a:p>
            <a:pPr lvl="0"/>
            <a:r>
              <a:rPr lang="en-US" dirty="0">
                <a:solidFill>
                  <a:srgbClr val="00B0F0"/>
                </a:solidFill>
              </a:rPr>
              <a:t>Seek input from colleagues or peers for fresh perspectives.</a:t>
            </a:r>
          </a:p>
          <a:p>
            <a:pPr lvl="0"/>
            <a:r>
              <a:rPr lang="en-US" dirty="0">
                <a:solidFill>
                  <a:srgbClr val="00B0F0"/>
                </a:solidFill>
              </a:rPr>
              <a:t>Multiple revisions </a:t>
            </a:r>
            <a:r>
              <a:rPr lang="en-US" dirty="0"/>
              <a:t>are encouraged, but allow some time between revisions for a fresh outlook.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5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78280"/>
            <a:ext cx="8229600" cy="4389120"/>
          </a:xfrm>
        </p:spPr>
        <p:txBody>
          <a:bodyPr>
            <a:normAutofit fontScale="25000" lnSpcReduction="20000"/>
          </a:bodyPr>
          <a:lstStyle/>
          <a:p>
            <a:pPr marL="0" lvl="0" indent="0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         </a:t>
            </a:r>
            <a:r>
              <a:rPr lang="en-US" sz="9600" dirty="0" smtClean="0">
                <a:solidFill>
                  <a:srgbClr val="FF0000"/>
                </a:solidFill>
              </a:rPr>
              <a:t> 4) Editing</a:t>
            </a:r>
            <a:r>
              <a:rPr lang="en-US" sz="9600" dirty="0">
                <a:solidFill>
                  <a:srgbClr val="FF0000"/>
                </a:solidFill>
              </a:rPr>
              <a:t>:</a:t>
            </a:r>
          </a:p>
          <a:p>
            <a:pPr lvl="1"/>
            <a:r>
              <a:rPr lang="en-US" sz="9600" dirty="0" smtClean="0">
                <a:solidFill>
                  <a:srgbClr val="00B0F0"/>
                </a:solidFill>
              </a:rPr>
              <a:t>Correct </a:t>
            </a:r>
            <a:r>
              <a:rPr lang="en-US" sz="9600" dirty="0">
                <a:solidFill>
                  <a:srgbClr val="00B0F0"/>
                </a:solidFill>
              </a:rPr>
              <a:t>grammar, spelling, </a:t>
            </a:r>
            <a:r>
              <a:rPr lang="en-US" sz="9600" dirty="0" smtClean="0">
                <a:solidFill>
                  <a:srgbClr val="00B0F0"/>
                </a:solidFill>
              </a:rPr>
              <a:t>punctuation marks, </a:t>
            </a:r>
            <a:r>
              <a:rPr lang="en-US" sz="9600" dirty="0">
                <a:solidFill>
                  <a:srgbClr val="00B0F0"/>
                </a:solidFill>
              </a:rPr>
              <a:t>repetition, and style issues.</a:t>
            </a:r>
          </a:p>
          <a:p>
            <a:pPr lvl="1"/>
            <a:r>
              <a:rPr lang="en-US" sz="9600" dirty="0" smtClean="0"/>
              <a:t> </a:t>
            </a:r>
            <a:r>
              <a:rPr lang="en-US" sz="9600" dirty="0">
                <a:solidFill>
                  <a:srgbClr val="00B0F0"/>
                </a:solidFill>
              </a:rPr>
              <a:t>A</a:t>
            </a:r>
            <a:r>
              <a:rPr lang="en-US" sz="9600" dirty="0" smtClean="0">
                <a:solidFill>
                  <a:srgbClr val="00B0F0"/>
                </a:solidFill>
              </a:rPr>
              <a:t>voiding </a:t>
            </a:r>
            <a:r>
              <a:rPr lang="en-US" sz="9600" dirty="0">
                <a:solidFill>
                  <a:srgbClr val="00B0F0"/>
                </a:solidFill>
              </a:rPr>
              <a:t>unnecessary edits</a:t>
            </a:r>
            <a:r>
              <a:rPr lang="en-US" sz="9600" dirty="0"/>
              <a:t> on potentially deleted or rewritten content.</a:t>
            </a:r>
          </a:p>
          <a:p>
            <a:pPr lvl="1"/>
            <a:r>
              <a:rPr lang="en-US" sz="9600" dirty="0" smtClean="0"/>
              <a:t>Ensures </a:t>
            </a:r>
            <a:r>
              <a:rPr lang="en-US" sz="9600" dirty="0"/>
              <a:t>the </a:t>
            </a:r>
            <a:r>
              <a:rPr lang="en-US" sz="9600" dirty="0">
                <a:solidFill>
                  <a:srgbClr val="00B0F0"/>
                </a:solidFill>
              </a:rPr>
              <a:t>article </a:t>
            </a:r>
            <a:r>
              <a:rPr lang="en-US" sz="9600" dirty="0" smtClean="0">
                <a:solidFill>
                  <a:srgbClr val="00B0F0"/>
                </a:solidFill>
              </a:rPr>
              <a:t>supports </a:t>
            </a:r>
            <a:r>
              <a:rPr lang="en-US" sz="9600" dirty="0">
                <a:solidFill>
                  <a:srgbClr val="00B0F0"/>
                </a:solidFill>
              </a:rPr>
              <a:t>with the promises made in the title.</a:t>
            </a:r>
          </a:p>
          <a:p>
            <a:pPr lvl="1"/>
            <a:r>
              <a:rPr lang="en-US" sz="9600" dirty="0"/>
              <a:t>Consider having someone else </a:t>
            </a:r>
            <a:r>
              <a:rPr lang="en-US" sz="9600" dirty="0" smtClean="0"/>
              <a:t>reviewed  </a:t>
            </a:r>
            <a:r>
              <a:rPr lang="en-US" sz="9600" dirty="0"/>
              <a:t>the piece  </a:t>
            </a:r>
            <a:r>
              <a:rPr lang="en-US" sz="9600" dirty="0" smtClean="0"/>
              <a:t>and catch </a:t>
            </a:r>
            <a:r>
              <a:rPr lang="en-US" sz="9600" dirty="0"/>
              <a:t>overlooked errors due to fatigue</a:t>
            </a:r>
            <a:r>
              <a:rPr lang="en-US" sz="9600" dirty="0" smtClean="0"/>
              <a:t>.</a:t>
            </a:r>
            <a:endParaRPr lang="en-US" sz="9600" dirty="0"/>
          </a:p>
          <a:p>
            <a:pPr marL="0" indent="0">
              <a:buNone/>
            </a:pPr>
            <a:r>
              <a:rPr lang="en-US" sz="9600" b="1" dirty="0" smtClean="0"/>
              <a:t>           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65496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38912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5) </a:t>
            </a:r>
            <a:r>
              <a:rPr lang="en-US" sz="2800" dirty="0">
                <a:solidFill>
                  <a:srgbClr val="FF0000"/>
                </a:solidFill>
              </a:rPr>
              <a:t>Publishing:</a:t>
            </a:r>
          </a:p>
          <a:p>
            <a:pPr lvl="0"/>
            <a:r>
              <a:rPr lang="en-US" sz="2800" dirty="0">
                <a:solidFill>
                  <a:srgbClr val="00B0F0"/>
                </a:solidFill>
              </a:rPr>
              <a:t>Share your </a:t>
            </a:r>
            <a:r>
              <a:rPr lang="en-US" sz="2800" dirty="0" smtClean="0">
                <a:solidFill>
                  <a:srgbClr val="00B0F0"/>
                </a:solidFill>
              </a:rPr>
              <a:t>document </a:t>
            </a:r>
            <a:r>
              <a:rPr lang="en-US" sz="2800" dirty="0">
                <a:solidFill>
                  <a:srgbClr val="00B0F0"/>
                </a:solidFill>
              </a:rPr>
              <a:t>with your audience.</a:t>
            </a:r>
          </a:p>
          <a:p>
            <a:pPr lvl="0"/>
            <a:r>
              <a:rPr lang="en-US" sz="2800" dirty="0" smtClean="0"/>
              <a:t>Both hardcopy and softcopy as </a:t>
            </a:r>
            <a:r>
              <a:rPr lang="en-US" sz="2800" dirty="0" smtClean="0"/>
              <a:t>per the convenient of writer and reader</a:t>
            </a:r>
          </a:p>
          <a:p>
            <a:pPr lvl="0"/>
            <a:r>
              <a:rPr lang="en-US" sz="2800" dirty="0" smtClean="0"/>
              <a:t>Add </a:t>
            </a:r>
            <a:r>
              <a:rPr lang="en-US" sz="2800" dirty="0" smtClean="0"/>
              <a:t>on </a:t>
            </a:r>
            <a:r>
              <a:rPr lang="en-US" sz="2800" dirty="0"/>
              <a:t>a website or blog.</a:t>
            </a:r>
          </a:p>
          <a:p>
            <a:pPr lvl="0"/>
            <a:r>
              <a:rPr lang="en-US" sz="2800" dirty="0">
                <a:solidFill>
                  <a:srgbClr val="00B0F0"/>
                </a:solidFill>
              </a:rPr>
              <a:t>Consider adding visuals to enhance engagement.</a:t>
            </a:r>
          </a:p>
          <a:p>
            <a:pPr lvl="0"/>
            <a:r>
              <a:rPr lang="en-US" sz="2800" dirty="0"/>
              <a:t>Explore marketing options such as </a:t>
            </a:r>
            <a:r>
              <a:rPr lang="en-US" sz="2800" dirty="0">
                <a:solidFill>
                  <a:srgbClr val="00B0F0"/>
                </a:solidFill>
              </a:rPr>
              <a:t>social media or email newsletters to promote your </a:t>
            </a:r>
            <a:r>
              <a:rPr lang="en-US" sz="2800" dirty="0" smtClean="0">
                <a:solidFill>
                  <a:srgbClr val="00B0F0"/>
                </a:solidFill>
              </a:rPr>
              <a:t>writing.</a:t>
            </a:r>
            <a:endParaRPr lang="en-US" sz="2800" dirty="0">
              <a:solidFill>
                <a:srgbClr val="00B0F0"/>
              </a:solidFill>
            </a:endParaRPr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5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 smtClean="0">
                <a:solidFill>
                  <a:srgbClr val="FF0000"/>
                </a:solidFill>
              </a:rPr>
              <a:t>         THANK YOU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234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121</TotalTime>
  <Words>425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JOSHI SHANKAR</dc:creator>
  <cp:lastModifiedBy>lenovo</cp:lastModifiedBy>
  <cp:revision>13</cp:revision>
  <dcterms:created xsi:type="dcterms:W3CDTF">2006-08-16T00:00:00Z</dcterms:created>
  <dcterms:modified xsi:type="dcterms:W3CDTF">2025-01-27T10:27:32Z</dcterms:modified>
</cp:coreProperties>
</file>