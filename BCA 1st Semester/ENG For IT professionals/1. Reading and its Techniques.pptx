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58" r:id="rId4"/>
    <p:sldId id="261" r:id="rId5"/>
    <p:sldId id="259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438912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     Reading Techniques</a:t>
            </a:r>
          </a:p>
          <a:p>
            <a:pPr marL="0" lvl="0" indent="0"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1. Intensive </a:t>
            </a:r>
            <a:r>
              <a:rPr lang="en-US" sz="2800" b="1" dirty="0">
                <a:solidFill>
                  <a:srgbClr val="FF0000"/>
                </a:solidFill>
              </a:rPr>
              <a:t>R</a:t>
            </a:r>
            <a:r>
              <a:rPr lang="en-US" sz="2800" b="1" dirty="0" smtClean="0">
                <a:solidFill>
                  <a:srgbClr val="FF0000"/>
                </a:solidFill>
              </a:rPr>
              <a:t>eading </a:t>
            </a:r>
            <a:endParaRPr lang="en-US" sz="2800" b="1" dirty="0">
              <a:solidFill>
                <a:srgbClr val="FF0000"/>
              </a:solidFill>
            </a:endParaRPr>
          </a:p>
          <a:p>
            <a:pPr lvl="0"/>
            <a:r>
              <a:rPr lang="en-US" sz="2000" b="1" dirty="0" smtClean="0"/>
              <a:t>Intensive reading involves  reading </a:t>
            </a:r>
            <a:r>
              <a:rPr lang="en-US" sz="2000" b="1" dirty="0" smtClean="0">
                <a:solidFill>
                  <a:srgbClr val="00B0F0"/>
                </a:solidFill>
              </a:rPr>
              <a:t>short texts(textbooks) </a:t>
            </a:r>
            <a:r>
              <a:rPr lang="en-US" sz="2000" b="1" dirty="0">
                <a:solidFill>
                  <a:srgbClr val="00B0F0"/>
                </a:solidFill>
              </a:rPr>
              <a:t>for gathering relevant </a:t>
            </a:r>
            <a:r>
              <a:rPr lang="en-US" sz="2000" b="1" dirty="0" smtClean="0">
                <a:solidFill>
                  <a:srgbClr val="00B0F0"/>
                </a:solidFill>
              </a:rPr>
              <a:t>facts</a:t>
            </a:r>
            <a:r>
              <a:rPr lang="en-US" sz="2000" b="1" dirty="0" smtClean="0"/>
              <a:t>.</a:t>
            </a:r>
            <a:endParaRPr lang="en-US" sz="2000" b="1" dirty="0"/>
          </a:p>
          <a:p>
            <a:pPr lvl="0"/>
            <a:r>
              <a:rPr lang="en-US" sz="2000" b="1" dirty="0" smtClean="0"/>
              <a:t>It focuses </a:t>
            </a:r>
            <a:r>
              <a:rPr lang="en-US" sz="2000" b="1" dirty="0"/>
              <a:t>on vocabulary learning, </a:t>
            </a:r>
            <a:r>
              <a:rPr lang="en-US" sz="2000" b="1" dirty="0" smtClean="0"/>
              <a:t>new </a:t>
            </a:r>
            <a:r>
              <a:rPr lang="en-US" sz="2000" b="1" dirty="0"/>
              <a:t>concepts, </a:t>
            </a:r>
            <a:r>
              <a:rPr lang="en-US" sz="2000" b="1" dirty="0" smtClean="0"/>
              <a:t>structures, pronunciation</a:t>
            </a:r>
            <a:r>
              <a:rPr lang="en-US" sz="2000" b="1" dirty="0"/>
              <a:t>, and cultural perspectives.</a:t>
            </a:r>
          </a:p>
          <a:p>
            <a:pPr lvl="0"/>
            <a:r>
              <a:rPr lang="en-US" sz="2000" b="1" dirty="0"/>
              <a:t>Reading helps </a:t>
            </a:r>
            <a:r>
              <a:rPr lang="en-US" sz="2000" b="1" dirty="0" smtClean="0"/>
              <a:t>learners gather  </a:t>
            </a:r>
            <a:r>
              <a:rPr lang="en-US" sz="2000" b="1" dirty="0" smtClean="0">
                <a:solidFill>
                  <a:srgbClr val="00B0F0"/>
                </a:solidFill>
              </a:rPr>
              <a:t>word </a:t>
            </a:r>
            <a:r>
              <a:rPr lang="en-US" sz="2000" b="1" dirty="0">
                <a:solidFill>
                  <a:srgbClr val="00B0F0"/>
                </a:solidFill>
              </a:rPr>
              <a:t>meanings in context, </a:t>
            </a:r>
            <a:r>
              <a:rPr lang="en-US" sz="2000" b="1" dirty="0" smtClean="0">
                <a:solidFill>
                  <a:srgbClr val="00B0F0"/>
                </a:solidFill>
              </a:rPr>
              <a:t>assisting </a:t>
            </a:r>
            <a:r>
              <a:rPr lang="en-US" sz="2000" b="1" dirty="0">
                <a:solidFill>
                  <a:srgbClr val="00B0F0"/>
                </a:solidFill>
              </a:rPr>
              <a:t>vocabulary </a:t>
            </a:r>
            <a:r>
              <a:rPr lang="en-US" sz="2000" b="1" dirty="0" smtClean="0">
                <a:solidFill>
                  <a:srgbClr val="00B0F0"/>
                </a:solidFill>
              </a:rPr>
              <a:t>attainment.</a:t>
            </a:r>
            <a:endParaRPr lang="en-US" sz="2000" b="1" dirty="0">
              <a:solidFill>
                <a:srgbClr val="00B0F0"/>
              </a:solidFill>
            </a:endParaRPr>
          </a:p>
          <a:p>
            <a:pPr lvl="0"/>
            <a:r>
              <a:rPr lang="en-US" sz="2000" b="1" dirty="0" smtClean="0">
                <a:solidFill>
                  <a:srgbClr val="00B0F0"/>
                </a:solidFill>
              </a:rPr>
              <a:t>It requires reading closely  for in-depth  understanding.</a:t>
            </a:r>
            <a:r>
              <a:rPr lang="en-US" sz="2000" b="1" dirty="0"/>
              <a:t>.</a:t>
            </a:r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/>
              <a:t>Learners engaged in intense reading must </a:t>
            </a:r>
            <a:r>
              <a:rPr lang="en-US" sz="2000" b="1" dirty="0">
                <a:solidFill>
                  <a:srgbClr val="00B0F0"/>
                </a:solidFill>
              </a:rPr>
              <a:t>locate words, understand </a:t>
            </a:r>
            <a:r>
              <a:rPr lang="en-US" sz="2000" b="1" dirty="0" smtClean="0">
                <a:solidFill>
                  <a:srgbClr val="00B0F0"/>
                </a:solidFill>
              </a:rPr>
              <a:t>meanings</a:t>
            </a:r>
            <a:r>
              <a:rPr lang="en-US" sz="2000" b="1" dirty="0">
                <a:solidFill>
                  <a:srgbClr val="00B0F0"/>
                </a:solidFill>
              </a:rPr>
              <a:t>, and achieve </a:t>
            </a:r>
            <a:r>
              <a:rPr lang="en-US" sz="2000" b="1" dirty="0" smtClean="0">
                <a:solidFill>
                  <a:srgbClr val="00B0F0"/>
                </a:solidFill>
              </a:rPr>
              <a:t>accurate knowledge</a:t>
            </a:r>
            <a:r>
              <a:rPr lang="en-US" sz="2000" b="1" dirty="0" smtClean="0"/>
              <a:t>. </a:t>
            </a:r>
            <a:endParaRPr lang="en-US" sz="2000" b="1" dirty="0" smtClean="0">
              <a:solidFill>
                <a:srgbClr val="00B0F0"/>
              </a:solidFill>
            </a:endParaRPr>
          </a:p>
          <a:p>
            <a:r>
              <a:rPr lang="en-US" sz="2000" b="1" dirty="0" smtClean="0">
                <a:solidFill>
                  <a:srgbClr val="00B0F0"/>
                </a:solidFill>
              </a:rPr>
              <a:t>Intensive </a:t>
            </a:r>
            <a:r>
              <a:rPr lang="en-US" sz="2000" b="1" dirty="0">
                <a:solidFill>
                  <a:srgbClr val="00B0F0"/>
                </a:solidFill>
              </a:rPr>
              <a:t>reading: </a:t>
            </a:r>
            <a:r>
              <a:rPr lang="en-US" sz="2000" b="1" dirty="0"/>
              <a:t>Analyzing short texts for deep </a:t>
            </a:r>
            <a:r>
              <a:rPr lang="en-US" sz="2000" b="1" dirty="0" smtClean="0"/>
              <a:t>understanding, </a:t>
            </a:r>
            <a:r>
              <a:rPr lang="en-US" sz="2000" b="1" dirty="0"/>
              <a:t>vocabulary, and cultural insights through close examination of word meanings in </a:t>
            </a:r>
            <a:r>
              <a:rPr lang="en-US" sz="2000" b="1" dirty="0" smtClean="0"/>
              <a:t>context.</a:t>
            </a:r>
          </a:p>
          <a:p>
            <a:r>
              <a:rPr lang="en-US" sz="2000" b="1" dirty="0" err="1" smtClean="0">
                <a:solidFill>
                  <a:srgbClr val="00B0F0"/>
                </a:solidFill>
              </a:rPr>
              <a:t>Eg</a:t>
            </a:r>
            <a:r>
              <a:rPr lang="en-US" sz="2000" b="1" dirty="0" smtClean="0">
                <a:solidFill>
                  <a:srgbClr val="00B0F0"/>
                </a:solidFill>
              </a:rPr>
              <a:t>: Academic articles, short stories, instructional manuals etc.</a:t>
            </a:r>
            <a:r>
              <a:rPr lang="en-US" sz="2000" b="1" dirty="0">
                <a:solidFill>
                  <a:srgbClr val="00B0F0"/>
                </a:solidFill>
              </a:rPr>
              <a:t/>
            </a:r>
            <a:br>
              <a:rPr lang="en-US" sz="2000" b="1" dirty="0">
                <a:solidFill>
                  <a:srgbClr val="00B0F0"/>
                </a:solidFill>
              </a:rPr>
            </a:b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64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2. Extensive </a:t>
            </a:r>
            <a:r>
              <a:rPr lang="en-US" sz="3600" b="1" dirty="0">
                <a:solidFill>
                  <a:srgbClr val="FF0000"/>
                </a:solidFill>
              </a:rPr>
              <a:t>R</a:t>
            </a:r>
            <a:r>
              <a:rPr lang="en-US" sz="3600" b="1" dirty="0" smtClean="0">
                <a:solidFill>
                  <a:srgbClr val="FF0000"/>
                </a:solidFill>
              </a:rPr>
              <a:t>eading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endParaRPr lang="en-US" sz="3600" dirty="0">
              <a:solidFill>
                <a:srgbClr val="FF0000"/>
              </a:solidFill>
            </a:endParaRPr>
          </a:p>
          <a:p>
            <a:pPr lvl="0"/>
            <a:r>
              <a:rPr lang="en-US" sz="2800" dirty="0"/>
              <a:t>Extensive reading shows </a:t>
            </a:r>
            <a:r>
              <a:rPr lang="en-US" sz="2800" dirty="0">
                <a:solidFill>
                  <a:srgbClr val="00B0F0"/>
                </a:solidFill>
              </a:rPr>
              <a:t>reading a large amount of text for global </a:t>
            </a:r>
            <a:r>
              <a:rPr lang="en-US" sz="2800" dirty="0" smtClean="0">
                <a:solidFill>
                  <a:srgbClr val="00B0F0"/>
                </a:solidFill>
              </a:rPr>
              <a:t>knowledge.</a:t>
            </a:r>
            <a:endParaRPr lang="en-US" sz="2800" dirty="0">
              <a:solidFill>
                <a:srgbClr val="00B0F0"/>
              </a:solidFill>
            </a:endParaRPr>
          </a:p>
          <a:p>
            <a:pPr lvl="0"/>
            <a:r>
              <a:rPr lang="en-US" sz="2800" dirty="0"/>
              <a:t>The aim of extensive reading is to find </a:t>
            </a:r>
            <a:r>
              <a:rPr lang="en-US" sz="2800" dirty="0">
                <a:solidFill>
                  <a:srgbClr val="00B0F0"/>
                </a:solidFill>
              </a:rPr>
              <a:t>enjoyment in reading texts</a:t>
            </a:r>
            <a:r>
              <a:rPr lang="en-US" sz="2800" dirty="0"/>
              <a:t> for educational </a:t>
            </a:r>
            <a:r>
              <a:rPr lang="en-US" sz="2800" dirty="0" smtClean="0"/>
              <a:t>purposes.</a:t>
            </a:r>
          </a:p>
          <a:p>
            <a:pPr lvl="0"/>
            <a:r>
              <a:rPr lang="en-US" sz="2800" dirty="0" smtClean="0">
                <a:solidFill>
                  <a:srgbClr val="00B0F0"/>
                </a:solidFill>
              </a:rPr>
              <a:t>Develops reading fluency with general understanding.</a:t>
            </a:r>
          </a:p>
          <a:p>
            <a:pPr lvl="0"/>
            <a:r>
              <a:rPr lang="en-US" sz="2800" dirty="0" smtClean="0"/>
              <a:t>It </a:t>
            </a:r>
            <a:r>
              <a:rPr lang="en-US" sz="2800" dirty="0"/>
              <a:t>aims to provide learners a </a:t>
            </a:r>
            <a:r>
              <a:rPr lang="en-US" sz="2800" dirty="0">
                <a:solidFill>
                  <a:srgbClr val="00B0F0"/>
                </a:solidFill>
              </a:rPr>
              <a:t>broader  understanding  by using multiple sources.</a:t>
            </a:r>
            <a:r>
              <a:rPr lang="en-US" sz="2800" dirty="0"/>
              <a:t> </a:t>
            </a:r>
            <a:endParaRPr lang="en-US" sz="2800" dirty="0" smtClean="0"/>
          </a:p>
          <a:p>
            <a:r>
              <a:rPr lang="en-US" sz="2800" dirty="0" smtClean="0">
                <a:solidFill>
                  <a:srgbClr val="00B0F0"/>
                </a:solidFill>
              </a:rPr>
              <a:t>Extensive reading: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comprehending </a:t>
            </a:r>
            <a:r>
              <a:rPr lang="en-US" sz="2800" dirty="0"/>
              <a:t>a wide range of texts for educational purposes, fostering global understanding through exposure to diverse sources</a:t>
            </a:r>
            <a:r>
              <a:rPr lang="en-US" sz="2800" dirty="0" smtClean="0"/>
              <a:t>.</a:t>
            </a:r>
          </a:p>
          <a:p>
            <a:pPr lvl="0"/>
            <a:r>
              <a:rPr lang="en-US" sz="2800" dirty="0" err="1" smtClean="0"/>
              <a:t>Eg</a:t>
            </a:r>
            <a:r>
              <a:rPr lang="en-US" sz="2800" dirty="0" smtClean="0"/>
              <a:t>: </a:t>
            </a:r>
            <a:r>
              <a:rPr lang="en-US" sz="2800" dirty="0"/>
              <a:t>novels, magazines, newspapers etc</a:t>
            </a:r>
            <a:r>
              <a:rPr lang="en-US" sz="2800" dirty="0" smtClean="0"/>
              <a:t>.</a:t>
            </a:r>
          </a:p>
          <a:p>
            <a:pPr lvl="0"/>
            <a:r>
              <a:rPr lang="en-US" sz="2800" dirty="0" smtClean="0">
                <a:solidFill>
                  <a:srgbClr val="00B0F0"/>
                </a:solidFill>
              </a:rPr>
              <a:t>Under extensive reading: Skimming and Scanning</a:t>
            </a:r>
            <a:r>
              <a:rPr lang="en-US" sz="2800" dirty="0">
                <a:solidFill>
                  <a:srgbClr val="00B0F0"/>
                </a:solidFill>
              </a:rPr>
              <a:t/>
            </a:r>
            <a:br>
              <a:rPr lang="en-US" sz="2800" dirty="0">
                <a:solidFill>
                  <a:srgbClr val="00B0F0"/>
                </a:solidFill>
              </a:rPr>
            </a:br>
            <a:endParaRPr lang="en-US" sz="2800" dirty="0">
              <a:solidFill>
                <a:srgbClr val="00B0F0"/>
              </a:solidFill>
            </a:endParaRPr>
          </a:p>
          <a:p>
            <a:endParaRPr lang="en-US" sz="2800" dirty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9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0080"/>
            <a:ext cx="8229600" cy="438912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3200" b="1" dirty="0" smtClean="0">
                <a:solidFill>
                  <a:srgbClr val="FF0000"/>
                </a:solidFill>
              </a:rPr>
              <a:t>                       </a:t>
            </a:r>
            <a:r>
              <a:rPr lang="en-US" sz="3200" b="1" dirty="0" smtClean="0">
                <a:solidFill>
                  <a:srgbClr val="FF0000"/>
                </a:solidFill>
              </a:rPr>
              <a:t>Skimming</a:t>
            </a:r>
            <a:endParaRPr lang="en-US" sz="3200" b="1" dirty="0" smtClean="0">
              <a:solidFill>
                <a:srgbClr val="FF0000"/>
              </a:solidFill>
            </a:endParaRPr>
          </a:p>
          <a:p>
            <a:pPr lvl="0"/>
            <a:r>
              <a:rPr lang="en-US" sz="2000" dirty="0" smtClean="0"/>
              <a:t>Skimming </a:t>
            </a:r>
            <a:r>
              <a:rPr lang="en-US" sz="2000" dirty="0"/>
              <a:t>is a </a:t>
            </a:r>
            <a:r>
              <a:rPr lang="en-US" sz="2000" dirty="0" smtClean="0"/>
              <a:t>reading </a:t>
            </a:r>
            <a:r>
              <a:rPr lang="en-US" sz="2000" dirty="0"/>
              <a:t>technique aimed at </a:t>
            </a:r>
            <a:r>
              <a:rPr lang="en-US" sz="2000" dirty="0">
                <a:solidFill>
                  <a:srgbClr val="00B0F0"/>
                </a:solidFill>
              </a:rPr>
              <a:t>grasping the</a:t>
            </a:r>
            <a:r>
              <a:rPr lang="en-US" sz="2000" dirty="0"/>
              <a:t> </a:t>
            </a:r>
            <a:r>
              <a:rPr lang="en-US" sz="2000" dirty="0" smtClean="0">
                <a:solidFill>
                  <a:srgbClr val="00B0F0"/>
                </a:solidFill>
              </a:rPr>
              <a:t>general overview </a:t>
            </a:r>
            <a:r>
              <a:rPr lang="en-US" sz="2000" dirty="0" smtClean="0"/>
              <a:t>of </a:t>
            </a:r>
            <a:r>
              <a:rPr lang="en-US" sz="2000" dirty="0"/>
              <a:t>an </a:t>
            </a:r>
            <a:r>
              <a:rPr lang="en-US" sz="2000" dirty="0" smtClean="0"/>
              <a:t>article</a:t>
            </a:r>
            <a:r>
              <a:rPr lang="en-US" sz="2000" dirty="0" smtClean="0">
                <a:solidFill>
                  <a:srgbClr val="00B0F0"/>
                </a:solidFill>
              </a:rPr>
              <a:t>, </a:t>
            </a:r>
            <a:r>
              <a:rPr lang="en-US" sz="2000" dirty="0">
                <a:solidFill>
                  <a:srgbClr val="00B0F0"/>
                </a:solidFill>
              </a:rPr>
              <a:t>enabling more efficient consumption of content</a:t>
            </a:r>
            <a:r>
              <a:rPr lang="en-US" sz="2000" dirty="0" smtClean="0">
                <a:solidFill>
                  <a:srgbClr val="00B0F0"/>
                </a:solidFill>
              </a:rPr>
              <a:t>.</a:t>
            </a:r>
          </a:p>
          <a:p>
            <a:pPr lvl="0"/>
            <a:r>
              <a:rPr lang="en-US" sz="2000" dirty="0" smtClean="0"/>
              <a:t>The strategy </a:t>
            </a:r>
            <a:r>
              <a:rPr lang="en-US" sz="2000" dirty="0"/>
              <a:t>aimed at </a:t>
            </a:r>
            <a:r>
              <a:rPr lang="en-US" sz="2000" dirty="0" smtClean="0"/>
              <a:t>grasp the </a:t>
            </a:r>
            <a:r>
              <a:rPr lang="en-US" sz="2000" dirty="0">
                <a:solidFill>
                  <a:srgbClr val="00B0F0"/>
                </a:solidFill>
              </a:rPr>
              <a:t>main </a:t>
            </a:r>
            <a:r>
              <a:rPr lang="en-US" sz="2000" dirty="0" smtClean="0">
                <a:solidFill>
                  <a:srgbClr val="00B0F0"/>
                </a:solidFill>
              </a:rPr>
              <a:t> ideas</a:t>
            </a:r>
            <a:r>
              <a:rPr lang="en-US" sz="2000" dirty="0" smtClean="0"/>
              <a:t> </a:t>
            </a:r>
            <a:r>
              <a:rPr lang="en-US" sz="2000" dirty="0"/>
              <a:t>of a passage quickly.</a:t>
            </a:r>
          </a:p>
          <a:p>
            <a:pPr lvl="0"/>
            <a:r>
              <a:rPr lang="en-US" sz="2000" dirty="0"/>
              <a:t>It helps in </a:t>
            </a:r>
            <a:r>
              <a:rPr lang="en-US" sz="2000" dirty="0">
                <a:solidFill>
                  <a:srgbClr val="00B0F0"/>
                </a:solidFill>
              </a:rPr>
              <a:t>understanding the general meaning, passage structure, and author's intentions.</a:t>
            </a:r>
          </a:p>
          <a:p>
            <a:pPr lvl="0"/>
            <a:r>
              <a:rPr lang="en-US" sz="2000" dirty="0" smtClean="0"/>
              <a:t>Reading </a:t>
            </a:r>
            <a:r>
              <a:rPr lang="en-US" sz="2000" dirty="0"/>
              <a:t>the initial paragraphs thoroughly to understand the topic's essence. </a:t>
            </a:r>
          </a:p>
          <a:p>
            <a:pPr lvl="0"/>
            <a:r>
              <a:rPr lang="en-US" sz="2000" dirty="0" smtClean="0">
                <a:solidFill>
                  <a:srgbClr val="00B0F0"/>
                </a:solidFill>
              </a:rPr>
              <a:t>It focuses </a:t>
            </a:r>
            <a:r>
              <a:rPr lang="en-US" sz="2000" dirty="0">
                <a:solidFill>
                  <a:srgbClr val="00B0F0"/>
                </a:solidFill>
              </a:rPr>
              <a:t>on the first sentence of each </a:t>
            </a:r>
            <a:r>
              <a:rPr lang="en-US" sz="2000" dirty="0" smtClean="0">
                <a:solidFill>
                  <a:srgbClr val="00B0F0"/>
                </a:solidFill>
              </a:rPr>
              <a:t>succeeding </a:t>
            </a:r>
            <a:r>
              <a:rPr lang="en-US" sz="2000" dirty="0">
                <a:solidFill>
                  <a:srgbClr val="00B0F0"/>
                </a:solidFill>
              </a:rPr>
              <a:t>paragraph</a:t>
            </a:r>
            <a:r>
              <a:rPr lang="en-US" sz="2000" dirty="0" smtClean="0">
                <a:solidFill>
                  <a:srgbClr val="00B0F0"/>
                </a:solidFill>
              </a:rPr>
              <a:t>.</a:t>
            </a:r>
            <a:endParaRPr lang="en-US" sz="2000" dirty="0"/>
          </a:p>
          <a:p>
            <a:pPr lvl="0"/>
            <a:r>
              <a:rPr lang="en-US" sz="2000" dirty="0"/>
              <a:t>It serves as both </a:t>
            </a:r>
            <a:r>
              <a:rPr lang="en-US" sz="2000" dirty="0" smtClean="0"/>
              <a:t>reading </a:t>
            </a:r>
            <a:r>
              <a:rPr lang="en-US" sz="2000" dirty="0"/>
              <a:t>and writing tool, aiding readers in </a:t>
            </a:r>
            <a:r>
              <a:rPr lang="en-US" sz="2000" dirty="0">
                <a:solidFill>
                  <a:srgbClr val="00B0F0"/>
                </a:solidFill>
              </a:rPr>
              <a:t>obtaining a general </a:t>
            </a:r>
            <a:r>
              <a:rPr lang="en-US" sz="2000" dirty="0" smtClean="0">
                <a:solidFill>
                  <a:srgbClr val="00B0F0"/>
                </a:solidFill>
              </a:rPr>
              <a:t>idea</a:t>
            </a:r>
            <a:r>
              <a:rPr lang="en-US" sz="2000" dirty="0" smtClean="0"/>
              <a:t> </a:t>
            </a:r>
            <a:r>
              <a:rPr lang="en-US" sz="2000" dirty="0"/>
              <a:t>by scanning the text</a:t>
            </a:r>
            <a:r>
              <a:rPr lang="en-US" sz="2000" dirty="0" smtClean="0"/>
              <a:t>.</a:t>
            </a:r>
          </a:p>
          <a:p>
            <a:r>
              <a:rPr lang="en-US" sz="2000" dirty="0">
                <a:solidFill>
                  <a:srgbClr val="00B0F0"/>
                </a:solidFill>
              </a:rPr>
              <a:t>Skimming: </a:t>
            </a:r>
            <a:r>
              <a:rPr lang="en-US" sz="2000" dirty="0"/>
              <a:t>Quickly grasping main ideas, structure, and author's intentions by scanning initial and subsequent paragraphs for efficient </a:t>
            </a:r>
            <a:r>
              <a:rPr lang="en-US" sz="2000" dirty="0" smtClean="0"/>
              <a:t>understanding.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553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6280"/>
            <a:ext cx="8229600" cy="4389120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4600" b="1" dirty="0" smtClean="0">
                <a:solidFill>
                  <a:srgbClr val="FF0000"/>
                </a:solidFill>
              </a:rPr>
              <a:t>              Scanning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endParaRPr lang="en-US" sz="2800" dirty="0">
              <a:solidFill>
                <a:srgbClr val="FF0000"/>
              </a:solidFill>
            </a:endParaRPr>
          </a:p>
          <a:p>
            <a:pPr lvl="0"/>
            <a:r>
              <a:rPr lang="en-US" sz="2900" dirty="0"/>
              <a:t>Scanning is a </a:t>
            </a:r>
            <a:r>
              <a:rPr lang="en-US" sz="2900" dirty="0">
                <a:solidFill>
                  <a:srgbClr val="00B0F0"/>
                </a:solidFill>
              </a:rPr>
              <a:t>focused technique used to locate specific pieces of information within a text competently. </a:t>
            </a:r>
          </a:p>
          <a:p>
            <a:pPr lvl="0"/>
            <a:r>
              <a:rPr lang="en-US" sz="2900" dirty="0" smtClean="0"/>
              <a:t>It is a </a:t>
            </a:r>
            <a:r>
              <a:rPr lang="en-US" sz="2900" dirty="0"/>
              <a:t>reading technique enabling readers to </a:t>
            </a:r>
            <a:r>
              <a:rPr lang="en-US" sz="2900" dirty="0">
                <a:solidFill>
                  <a:srgbClr val="00B0F0"/>
                </a:solidFill>
              </a:rPr>
              <a:t>locate specific information without reading the entire text</a:t>
            </a:r>
            <a:r>
              <a:rPr lang="en-US" sz="2900" dirty="0"/>
              <a:t>.</a:t>
            </a:r>
          </a:p>
          <a:p>
            <a:r>
              <a:rPr lang="en-US" sz="2900" dirty="0"/>
              <a:t>It involves initially looking at elements like the</a:t>
            </a:r>
            <a:r>
              <a:rPr lang="en-US" sz="2900" dirty="0">
                <a:solidFill>
                  <a:srgbClr val="00B0F0"/>
                </a:solidFill>
              </a:rPr>
              <a:t> title, table of contents, or headings to find relevant information</a:t>
            </a:r>
            <a:r>
              <a:rPr lang="en-US" sz="2900" dirty="0" smtClean="0">
                <a:solidFill>
                  <a:srgbClr val="00B0F0"/>
                </a:solidFill>
              </a:rPr>
              <a:t>.</a:t>
            </a:r>
            <a:endParaRPr lang="en-US" sz="2900" dirty="0"/>
          </a:p>
          <a:p>
            <a:r>
              <a:rPr lang="en-US" sz="2900" dirty="0"/>
              <a:t>Search for keywords one by one, navigating through the passage.</a:t>
            </a:r>
          </a:p>
          <a:p>
            <a:r>
              <a:rPr lang="en-US" sz="2900" dirty="0">
                <a:solidFill>
                  <a:srgbClr val="00B0F0"/>
                </a:solidFill>
              </a:rPr>
              <a:t>Rapidly scan through the text until you locate the desired </a:t>
            </a:r>
            <a:r>
              <a:rPr lang="en-US" sz="2900" dirty="0" smtClean="0">
                <a:solidFill>
                  <a:srgbClr val="00B0F0"/>
                </a:solidFill>
              </a:rPr>
              <a:t>keywords.</a:t>
            </a:r>
            <a:endParaRPr lang="en-US" sz="2900" dirty="0">
              <a:solidFill>
                <a:srgbClr val="00B0F0"/>
              </a:solidFill>
            </a:endParaRPr>
          </a:p>
          <a:p>
            <a:r>
              <a:rPr lang="en-US" sz="2900" dirty="0"/>
              <a:t>Carefully read the </a:t>
            </a:r>
            <a:r>
              <a:rPr lang="en-US" sz="2900" dirty="0" smtClean="0"/>
              <a:t>attached </a:t>
            </a:r>
            <a:r>
              <a:rPr lang="en-US" sz="2900" dirty="0"/>
              <a:t>material to </a:t>
            </a:r>
            <a:r>
              <a:rPr lang="en-US" sz="2900" dirty="0" smtClean="0"/>
              <a:t>learn </a:t>
            </a:r>
            <a:r>
              <a:rPr lang="en-US" sz="2900" dirty="0"/>
              <a:t>if it contains the information you seek</a:t>
            </a:r>
            <a:r>
              <a:rPr lang="en-US" sz="2900" dirty="0" smtClean="0"/>
              <a:t>.</a:t>
            </a:r>
          </a:p>
          <a:p>
            <a:r>
              <a:rPr lang="en-US" sz="2900" dirty="0" smtClean="0">
                <a:solidFill>
                  <a:srgbClr val="00B0F0"/>
                </a:solidFill>
              </a:rPr>
              <a:t>Scanning: </a:t>
            </a:r>
            <a:r>
              <a:rPr lang="en-US" sz="2900" dirty="0" smtClean="0"/>
              <a:t> </a:t>
            </a:r>
            <a:r>
              <a:rPr lang="en-US" sz="2900" dirty="0"/>
              <a:t>efficiently locates specific information within a text by searching for keywords in titles, headings, and passages, enabling targeted </a:t>
            </a:r>
            <a:r>
              <a:rPr lang="en-US" sz="2900" dirty="0" smtClean="0"/>
              <a:t>recovery </a:t>
            </a:r>
            <a:r>
              <a:rPr lang="en-US" sz="2900" dirty="0"/>
              <a:t>without </a:t>
            </a:r>
            <a:r>
              <a:rPr lang="en-US" sz="2900" dirty="0" smtClean="0"/>
              <a:t>complete </a:t>
            </a:r>
            <a:r>
              <a:rPr lang="en-US" sz="2900" dirty="0"/>
              <a:t>reading</a:t>
            </a:r>
            <a:r>
              <a:rPr lang="en-US" sz="2900" dirty="0" smtClean="0"/>
              <a:t>.</a:t>
            </a:r>
            <a:r>
              <a:rPr lang="en-US" sz="2900" dirty="0"/>
              <a:t/>
            </a:r>
            <a:br>
              <a:rPr lang="en-US" sz="2900" dirty="0"/>
            </a:b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172395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8680"/>
            <a:ext cx="8229600" cy="438912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 PREDICTING </a:t>
            </a:r>
            <a:r>
              <a:rPr lang="en-US" sz="2000" b="1" dirty="0">
                <a:solidFill>
                  <a:srgbClr val="FF0000"/>
                </a:solidFill>
              </a:rPr>
              <a:t>STRATEGIES</a:t>
            </a:r>
          </a:p>
          <a:p>
            <a:pPr lvl="0"/>
            <a:r>
              <a:rPr lang="en-US" sz="2000" dirty="0" smtClean="0"/>
              <a:t>Prediction strategy</a:t>
            </a:r>
            <a:r>
              <a:rPr lang="en-US" sz="2000" dirty="0"/>
              <a:t> </a:t>
            </a:r>
            <a:r>
              <a:rPr lang="en-US" sz="2000" dirty="0" smtClean="0"/>
              <a:t> contains </a:t>
            </a:r>
            <a:r>
              <a:rPr lang="en-US" sz="2000" dirty="0" smtClean="0">
                <a:solidFill>
                  <a:srgbClr val="00B0F0"/>
                </a:solidFill>
              </a:rPr>
              <a:t>expecting </a:t>
            </a:r>
            <a:r>
              <a:rPr lang="en-US" sz="2000" dirty="0">
                <a:solidFill>
                  <a:srgbClr val="00B0F0"/>
                </a:solidFill>
              </a:rPr>
              <a:t>what will happen next in the text.</a:t>
            </a:r>
          </a:p>
          <a:p>
            <a:pPr lvl="0"/>
            <a:r>
              <a:rPr lang="en-US" sz="2000" dirty="0" smtClean="0"/>
              <a:t>Experienced readers </a:t>
            </a:r>
            <a:r>
              <a:rPr lang="en-US" sz="2000" dirty="0"/>
              <a:t>employ various tools such as </a:t>
            </a:r>
            <a:r>
              <a:rPr lang="en-US" sz="2000" dirty="0">
                <a:solidFill>
                  <a:srgbClr val="00B0F0"/>
                </a:solidFill>
              </a:rPr>
              <a:t>diagrams, headings, text structure, and personal knowledge to </a:t>
            </a:r>
            <a:r>
              <a:rPr lang="en-US" sz="2000" dirty="0" smtClean="0">
                <a:solidFill>
                  <a:srgbClr val="00B0F0"/>
                </a:solidFill>
              </a:rPr>
              <a:t>formulate  predictions.</a:t>
            </a:r>
            <a:endParaRPr lang="en-US" sz="2000" dirty="0">
              <a:solidFill>
                <a:srgbClr val="00B0F0"/>
              </a:solidFill>
            </a:endParaRPr>
          </a:p>
          <a:p>
            <a:pPr lvl="0"/>
            <a:r>
              <a:rPr lang="en-US" sz="2000" dirty="0"/>
              <a:t>Predictions are shaped based on prior </a:t>
            </a:r>
            <a:r>
              <a:rPr lang="en-US" sz="2000" dirty="0" smtClean="0"/>
              <a:t> understanding </a:t>
            </a:r>
            <a:r>
              <a:rPr lang="en-US" sz="2000" dirty="0"/>
              <a:t>and cues provided by the text's structure and content.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  </a:t>
            </a:r>
            <a:r>
              <a:rPr lang="en-US" sz="2000" b="1" dirty="0" smtClean="0">
                <a:solidFill>
                  <a:srgbClr val="FF0000"/>
                </a:solidFill>
              </a:rPr>
              <a:t>Summarizing</a:t>
            </a:r>
            <a:endParaRPr lang="en-US" sz="2000" b="1" dirty="0">
              <a:solidFill>
                <a:srgbClr val="FF0000"/>
              </a:solidFill>
            </a:endParaRPr>
          </a:p>
          <a:p>
            <a:pPr lvl="0"/>
            <a:r>
              <a:rPr lang="en-US" sz="2000" dirty="0"/>
              <a:t>Summarizing is a reading technique </a:t>
            </a:r>
            <a:r>
              <a:rPr lang="en-US" sz="2000" dirty="0" smtClean="0"/>
              <a:t>including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00B0F0"/>
                </a:solidFill>
              </a:rPr>
              <a:t>restatement of the original text's </a:t>
            </a:r>
            <a:r>
              <a:rPr lang="en-US" sz="2000" dirty="0" smtClean="0">
                <a:solidFill>
                  <a:srgbClr val="00B0F0"/>
                </a:solidFill>
              </a:rPr>
              <a:t>main content </a:t>
            </a:r>
            <a:r>
              <a:rPr lang="en-US" sz="2000" dirty="0">
                <a:solidFill>
                  <a:srgbClr val="00B0F0"/>
                </a:solidFill>
              </a:rPr>
              <a:t>using one's own words.</a:t>
            </a:r>
          </a:p>
          <a:p>
            <a:pPr lvl="0"/>
            <a:r>
              <a:rPr lang="en-US" sz="2000" dirty="0"/>
              <a:t>Summaries are typically brief and focus on the key points of the </a:t>
            </a:r>
            <a:r>
              <a:rPr lang="en-US" sz="2000" dirty="0" smtClean="0"/>
              <a:t>text</a:t>
            </a:r>
            <a:r>
              <a:rPr lang="en-US" sz="2000" dirty="0"/>
              <a:t>.</a:t>
            </a:r>
          </a:p>
          <a:p>
            <a:pPr lvl="0"/>
            <a:r>
              <a:rPr lang="en-US" sz="2000" dirty="0">
                <a:solidFill>
                  <a:srgbClr val="00B0F0"/>
                </a:solidFill>
              </a:rPr>
              <a:t>This approach entails </a:t>
            </a:r>
            <a:r>
              <a:rPr lang="en-US" sz="2000" dirty="0" smtClean="0">
                <a:solidFill>
                  <a:srgbClr val="00B0F0"/>
                </a:solidFill>
              </a:rPr>
              <a:t>reducing </a:t>
            </a:r>
            <a:r>
              <a:rPr lang="en-US" sz="2000" dirty="0">
                <a:solidFill>
                  <a:srgbClr val="00B0F0"/>
                </a:solidFill>
              </a:rPr>
              <a:t>the content by consistently </a:t>
            </a:r>
            <a:r>
              <a:rPr lang="en-US" sz="2000" dirty="0" smtClean="0">
                <a:solidFill>
                  <a:srgbClr val="00B0F0"/>
                </a:solidFill>
              </a:rPr>
              <a:t>removing </a:t>
            </a:r>
            <a:r>
              <a:rPr lang="en-US" sz="2000" dirty="0">
                <a:solidFill>
                  <a:srgbClr val="00B0F0"/>
                </a:solidFill>
              </a:rPr>
              <a:t>irrelevant material.</a:t>
            </a:r>
          </a:p>
          <a:p>
            <a:pPr lvl="0"/>
            <a:r>
              <a:rPr lang="en-US" sz="2000" dirty="0"/>
              <a:t>Readers rely on summarization to organize and retain the essential details or concepts from a given text.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565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1200" b="1" dirty="0" smtClean="0">
                <a:solidFill>
                  <a:srgbClr val="FF0000"/>
                </a:solidFill>
              </a:rPr>
              <a:t>       </a:t>
            </a:r>
            <a:r>
              <a:rPr lang="en-US" sz="11200" b="1" dirty="0" err="1" smtClean="0">
                <a:solidFill>
                  <a:srgbClr val="FF0000"/>
                </a:solidFill>
              </a:rPr>
              <a:t>SQ3R</a:t>
            </a:r>
            <a:r>
              <a:rPr lang="en-US" sz="11200" b="1" dirty="0" smtClean="0">
                <a:solidFill>
                  <a:srgbClr val="FF0000"/>
                </a:solidFill>
              </a:rPr>
              <a:t> </a:t>
            </a:r>
            <a:r>
              <a:rPr lang="en-US" sz="11200" b="1" dirty="0">
                <a:solidFill>
                  <a:srgbClr val="FF0000"/>
                </a:solidFill>
              </a:rPr>
              <a:t>Method</a:t>
            </a:r>
          </a:p>
          <a:p>
            <a:r>
              <a:rPr lang="en-US" sz="9600" dirty="0" err="1"/>
              <a:t>SQ3R</a:t>
            </a:r>
            <a:r>
              <a:rPr lang="en-US" sz="9600" dirty="0"/>
              <a:t> is a reading method to increase </a:t>
            </a:r>
            <a:r>
              <a:rPr lang="en-US" sz="9600" dirty="0" smtClean="0"/>
              <a:t>recalling </a:t>
            </a:r>
            <a:r>
              <a:rPr lang="en-US" sz="9600" dirty="0"/>
              <a:t>and understanding, moving from smaller details to larger ideas. </a:t>
            </a:r>
          </a:p>
          <a:p>
            <a:pPr marL="0" indent="0">
              <a:buNone/>
            </a:pPr>
            <a:r>
              <a:rPr lang="en-US" sz="9600" b="1" dirty="0">
                <a:solidFill>
                  <a:srgbClr val="FF0000"/>
                </a:solidFill>
              </a:rPr>
              <a:t>S: Survey</a:t>
            </a:r>
          </a:p>
          <a:p>
            <a:r>
              <a:rPr lang="en-US" sz="9600" dirty="0">
                <a:solidFill>
                  <a:srgbClr val="00B0F0"/>
                </a:solidFill>
              </a:rPr>
              <a:t>Scan the text to get a general grasp of what it’s about. </a:t>
            </a:r>
            <a:endParaRPr lang="en-US" sz="9600" dirty="0" smtClean="0">
              <a:solidFill>
                <a:srgbClr val="00B0F0"/>
              </a:solidFill>
            </a:endParaRPr>
          </a:p>
          <a:p>
            <a:r>
              <a:rPr lang="en-US" sz="9600" dirty="0" smtClean="0">
                <a:solidFill>
                  <a:srgbClr val="00B0F0"/>
                </a:solidFill>
              </a:rPr>
              <a:t>Look </a:t>
            </a:r>
            <a:r>
              <a:rPr lang="en-US" sz="9600" dirty="0">
                <a:solidFill>
                  <a:srgbClr val="00B0F0"/>
                </a:solidFill>
              </a:rPr>
              <a:t>for  </a:t>
            </a:r>
            <a:r>
              <a:rPr lang="en-US" sz="9600" dirty="0" smtClean="0">
                <a:solidFill>
                  <a:srgbClr val="00B0F0"/>
                </a:solidFill>
              </a:rPr>
              <a:t>titles</a:t>
            </a:r>
            <a:r>
              <a:rPr lang="en-US" sz="9600" dirty="0">
                <a:solidFill>
                  <a:srgbClr val="00B0F0"/>
                </a:solidFill>
              </a:rPr>
              <a:t>, graphics, highlighted, bolded, or italicized words. </a:t>
            </a:r>
            <a:endParaRPr lang="en-US" sz="9600" dirty="0" smtClean="0">
              <a:solidFill>
                <a:srgbClr val="00B0F0"/>
              </a:solidFill>
            </a:endParaRPr>
          </a:p>
          <a:p>
            <a:r>
              <a:rPr lang="en-US" sz="9600" dirty="0" smtClean="0"/>
              <a:t>You </a:t>
            </a:r>
            <a:r>
              <a:rPr lang="en-US" sz="9600" dirty="0"/>
              <a:t>can read summaries or reviews of books as well</a:t>
            </a:r>
            <a:r>
              <a:rPr lang="en-US" sz="9600" dirty="0" smtClean="0"/>
              <a:t>.</a:t>
            </a:r>
            <a:endParaRPr lang="en-US" sz="9600" dirty="0"/>
          </a:p>
          <a:p>
            <a:pPr marL="0" indent="0">
              <a:buNone/>
            </a:pPr>
            <a:r>
              <a:rPr lang="en-US" sz="9600" b="1" dirty="0">
                <a:solidFill>
                  <a:srgbClr val="FF0000"/>
                </a:solidFill>
              </a:rPr>
              <a:t>Q: Question</a:t>
            </a:r>
          </a:p>
          <a:p>
            <a:r>
              <a:rPr lang="en-US" sz="9600" dirty="0"/>
              <a:t>Form </a:t>
            </a:r>
            <a:r>
              <a:rPr lang="en-US" sz="9600" dirty="0" smtClean="0"/>
              <a:t>questions </a:t>
            </a:r>
            <a:r>
              <a:rPr lang="en-US" sz="9600" dirty="0"/>
              <a:t>about the text and </a:t>
            </a:r>
            <a:r>
              <a:rPr lang="en-US" sz="9600" dirty="0" smtClean="0"/>
              <a:t>what </a:t>
            </a:r>
            <a:r>
              <a:rPr lang="en-US" sz="9600" dirty="0"/>
              <a:t>you might be interested in learning. </a:t>
            </a:r>
            <a:endParaRPr lang="en-US" sz="9600" dirty="0" smtClean="0"/>
          </a:p>
          <a:p>
            <a:r>
              <a:rPr lang="en-US" sz="9600" dirty="0" smtClean="0">
                <a:solidFill>
                  <a:srgbClr val="00B0F0"/>
                </a:solidFill>
              </a:rPr>
              <a:t>What </a:t>
            </a:r>
            <a:r>
              <a:rPr lang="en-US" sz="9600" dirty="0">
                <a:solidFill>
                  <a:srgbClr val="00B0F0"/>
                </a:solidFill>
              </a:rPr>
              <a:t>do you think this text talks about? </a:t>
            </a:r>
            <a:endParaRPr lang="en-US" sz="9600" dirty="0" smtClean="0">
              <a:solidFill>
                <a:srgbClr val="00B0F0"/>
              </a:solidFill>
            </a:endParaRPr>
          </a:p>
          <a:p>
            <a:r>
              <a:rPr lang="en-US" sz="9600" dirty="0" smtClean="0">
                <a:solidFill>
                  <a:srgbClr val="00B0F0"/>
                </a:solidFill>
              </a:rPr>
              <a:t>What </a:t>
            </a:r>
            <a:r>
              <a:rPr lang="en-US" sz="9600" dirty="0">
                <a:solidFill>
                  <a:srgbClr val="00B0F0"/>
                </a:solidFill>
              </a:rPr>
              <a:t>are you curious to understand? </a:t>
            </a:r>
          </a:p>
        </p:txBody>
      </p:sp>
    </p:spTree>
    <p:extLst>
      <p:ext uri="{BB962C8B-B14F-4D97-AF65-F5344CB8AC3E}">
        <p14:creationId xmlns:p14="http://schemas.microsoft.com/office/powerpoint/2010/main" val="254909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38912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R: Read, Recite, Review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Read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Read actively and take notes about important details or questions that come up.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Recite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  <a:r>
              <a:rPr lang="en-US" sz="2800" dirty="0"/>
              <a:t>Re-write in your own words what you’ve read. </a:t>
            </a:r>
          </a:p>
          <a:p>
            <a:r>
              <a:rPr lang="en-US" sz="2800" dirty="0"/>
              <a:t>How would you summarize /explain it? 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Review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r>
              <a:rPr lang="en-US" sz="2800" dirty="0"/>
              <a:t> Re-read the most important sections, paying extra attention to passages you may not have understood on the first reading.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56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192</TotalTime>
  <Words>721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 SHANKAR</dc:creator>
  <cp:lastModifiedBy>lenovo</cp:lastModifiedBy>
  <cp:revision>23</cp:revision>
  <dcterms:created xsi:type="dcterms:W3CDTF">2006-08-16T00:00:00Z</dcterms:created>
  <dcterms:modified xsi:type="dcterms:W3CDTF">2025-01-22T10:09:45Z</dcterms:modified>
</cp:coreProperties>
</file>