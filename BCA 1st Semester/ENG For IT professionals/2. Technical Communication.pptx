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74" r:id="rId5"/>
    <p:sldId id="265" r:id="rId6"/>
    <p:sldId id="266" r:id="rId7"/>
    <p:sldId id="267" r:id="rId8"/>
    <p:sldId id="283" r:id="rId9"/>
    <p:sldId id="268" r:id="rId10"/>
    <p:sldId id="27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533400" y="762000"/>
            <a:ext cx="7854696" cy="1752600"/>
          </a:xfrm>
        </p:spPr>
        <p:txBody>
          <a:bodyPr/>
          <a:lstStyle/>
          <a:p>
            <a:pPr algn="l"/>
            <a:r>
              <a:rPr lang="en-US" b="1" dirty="0" smtClean="0"/>
              <a:t>                          </a:t>
            </a:r>
            <a:endParaRPr lang="en-US" sz="3600" dirty="0"/>
          </a:p>
          <a:p>
            <a:pPr algn="ctr"/>
            <a:r>
              <a:rPr lang="en-US" sz="3600" b="1" dirty="0"/>
              <a:t>Technical </a:t>
            </a:r>
            <a:r>
              <a:rPr lang="en-US" sz="3600" b="1" dirty="0" smtClean="0"/>
              <a:t>Writing/ Communication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031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"/>
            <a:ext cx="8229600" cy="438912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12800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2800" b="1" i="1" dirty="0" smtClean="0">
                <a:solidFill>
                  <a:srgbClr val="FF0000"/>
                </a:solidFill>
              </a:rPr>
              <a:t>    Technical  </a:t>
            </a:r>
            <a:r>
              <a:rPr lang="en-US" sz="12800" b="1" i="1" dirty="0" smtClean="0">
                <a:solidFill>
                  <a:srgbClr val="FF0000"/>
                </a:solidFill>
              </a:rPr>
              <a:t>Writing</a:t>
            </a:r>
            <a:endParaRPr lang="en-US" sz="12800" b="1" i="1" dirty="0" smtClean="0">
              <a:solidFill>
                <a:srgbClr val="FF0000"/>
              </a:solidFill>
            </a:endParaRPr>
          </a:p>
          <a:p>
            <a:endParaRPr lang="en-US" sz="6400" dirty="0" smtClean="0"/>
          </a:p>
          <a:p>
            <a:r>
              <a:rPr lang="en-US" sz="9600" dirty="0"/>
              <a:t>Technical writing is a form of communication that conveys </a:t>
            </a:r>
            <a:r>
              <a:rPr lang="en-US" sz="9600" dirty="0">
                <a:solidFill>
                  <a:srgbClr val="00B0F0"/>
                </a:solidFill>
              </a:rPr>
              <a:t>technical information in a clear, concise, and structured manner. </a:t>
            </a:r>
            <a:endParaRPr lang="en-US" sz="9600" dirty="0" smtClean="0">
              <a:solidFill>
                <a:srgbClr val="00B0F0"/>
              </a:solidFill>
            </a:endParaRPr>
          </a:p>
          <a:p>
            <a:r>
              <a:rPr lang="en-US" sz="9600" dirty="0" smtClean="0"/>
              <a:t>Technical communication is </a:t>
            </a:r>
            <a:r>
              <a:rPr lang="en-US" sz="9600" dirty="0"/>
              <a:t>the process of </a:t>
            </a:r>
            <a:r>
              <a:rPr lang="en-US" sz="9600" dirty="0">
                <a:solidFill>
                  <a:srgbClr val="00B0F0"/>
                </a:solidFill>
              </a:rPr>
              <a:t>creating, designing and transmitting</a:t>
            </a:r>
            <a:r>
              <a:rPr lang="en-US" sz="9600" dirty="0"/>
              <a:t> technical information so that people can understand it </a:t>
            </a:r>
            <a:r>
              <a:rPr lang="en-US" sz="9600" dirty="0">
                <a:solidFill>
                  <a:srgbClr val="00B0F0"/>
                </a:solidFill>
              </a:rPr>
              <a:t>easily and safely, effectively and efficiently.</a:t>
            </a:r>
            <a:r>
              <a:rPr lang="en-US" sz="9600" dirty="0"/>
              <a:t>-</a:t>
            </a:r>
            <a:r>
              <a:rPr lang="en-US" sz="9600" dirty="0">
                <a:solidFill>
                  <a:srgbClr val="FFC000"/>
                </a:solidFill>
              </a:rPr>
              <a:t>Mike Markel</a:t>
            </a:r>
          </a:p>
          <a:p>
            <a:r>
              <a:rPr lang="en-US" sz="9600" dirty="0" smtClean="0"/>
              <a:t>It </a:t>
            </a:r>
            <a:r>
              <a:rPr lang="en-US" sz="9600" dirty="0"/>
              <a:t>is used in various fields such as </a:t>
            </a:r>
            <a:r>
              <a:rPr lang="en-US" sz="9600" dirty="0">
                <a:solidFill>
                  <a:srgbClr val="00B0F0"/>
                </a:solidFill>
              </a:rPr>
              <a:t>engineering, computer science, medicine, </a:t>
            </a:r>
            <a:r>
              <a:rPr lang="en-US" sz="9600" dirty="0" smtClean="0">
                <a:solidFill>
                  <a:srgbClr val="00B0F0"/>
                </a:solidFill>
              </a:rPr>
              <a:t>IT </a:t>
            </a:r>
            <a:r>
              <a:rPr lang="en-US" sz="9600" dirty="0" err="1" smtClean="0">
                <a:solidFill>
                  <a:srgbClr val="00B0F0"/>
                </a:solidFill>
              </a:rPr>
              <a:t>etc</a:t>
            </a:r>
            <a:r>
              <a:rPr lang="en-US" sz="9600" dirty="0" smtClean="0">
                <a:solidFill>
                  <a:srgbClr val="00B0F0"/>
                </a:solidFill>
              </a:rPr>
              <a:t> </a:t>
            </a:r>
            <a:r>
              <a:rPr lang="en-US" sz="9600" dirty="0" smtClean="0"/>
              <a:t>where </a:t>
            </a:r>
            <a:r>
              <a:rPr lang="en-US" sz="9600" dirty="0"/>
              <a:t>complex concepts, procedures, or instructions need to be explained to a specific audience.</a:t>
            </a:r>
          </a:p>
          <a:p>
            <a:r>
              <a:rPr lang="en-US" sz="9600" dirty="0"/>
              <a:t>The primary purpose of technical writing is </a:t>
            </a:r>
            <a:r>
              <a:rPr lang="en-US" sz="9600" dirty="0">
                <a:solidFill>
                  <a:srgbClr val="00B0F0"/>
                </a:solidFill>
              </a:rPr>
              <a:t>to inform, instruct, or </a:t>
            </a:r>
            <a:r>
              <a:rPr lang="en-US" sz="9600" dirty="0" smtClean="0">
                <a:solidFill>
                  <a:srgbClr val="00B0F0"/>
                </a:solidFill>
              </a:rPr>
              <a:t> persuade </a:t>
            </a:r>
            <a:r>
              <a:rPr lang="en-US" sz="9600" dirty="0">
                <a:solidFill>
                  <a:srgbClr val="00B0F0"/>
                </a:solidFill>
              </a:rPr>
              <a:t>readers about technical subjects. </a:t>
            </a:r>
            <a:endParaRPr lang="en-US" sz="9600" dirty="0" smtClean="0">
              <a:solidFill>
                <a:srgbClr val="00B0F0"/>
              </a:solidFill>
            </a:endParaRPr>
          </a:p>
          <a:p>
            <a:r>
              <a:rPr lang="en-US" sz="9600" dirty="0" smtClean="0"/>
              <a:t>Technical </a:t>
            </a:r>
            <a:r>
              <a:rPr lang="en-US" sz="9600" dirty="0"/>
              <a:t>documents </a:t>
            </a:r>
            <a:r>
              <a:rPr lang="en-US" sz="9600" dirty="0" smtClean="0"/>
              <a:t>include </a:t>
            </a:r>
            <a:r>
              <a:rPr lang="en-US" sz="9600" dirty="0">
                <a:solidFill>
                  <a:srgbClr val="00B0F0"/>
                </a:solidFill>
              </a:rPr>
              <a:t>manuals, user guides, </a:t>
            </a:r>
            <a:r>
              <a:rPr lang="en-US" sz="9600" dirty="0" smtClean="0">
                <a:solidFill>
                  <a:srgbClr val="00B0F0"/>
                </a:solidFill>
              </a:rPr>
              <a:t>brochures, specifications</a:t>
            </a:r>
            <a:r>
              <a:rPr lang="en-US" sz="9600" dirty="0">
                <a:solidFill>
                  <a:srgbClr val="00B0F0"/>
                </a:solidFill>
              </a:rPr>
              <a:t>, reports, proposals, white papers, </a:t>
            </a:r>
            <a:r>
              <a:rPr lang="en-US" sz="9600" dirty="0" smtClean="0">
                <a:solidFill>
                  <a:srgbClr val="00B0F0"/>
                </a:solidFill>
              </a:rPr>
              <a:t>thesis papers and </a:t>
            </a:r>
            <a:r>
              <a:rPr lang="en-US" sz="9600" dirty="0">
                <a:solidFill>
                  <a:srgbClr val="00B0F0"/>
                </a:solidFill>
              </a:rPr>
              <a:t>scientific </a:t>
            </a:r>
            <a:r>
              <a:rPr lang="en-US" sz="9600" dirty="0" smtClean="0">
                <a:solidFill>
                  <a:srgbClr val="00B0F0"/>
                </a:solidFill>
              </a:rPr>
              <a:t> articles </a:t>
            </a:r>
            <a:r>
              <a:rPr lang="en-US" sz="9600" dirty="0" err="1" smtClean="0">
                <a:solidFill>
                  <a:srgbClr val="00B0F0"/>
                </a:solidFill>
              </a:rPr>
              <a:t>etc</a:t>
            </a:r>
            <a:endParaRPr lang="en-US" sz="9600" dirty="0" smtClean="0">
              <a:solidFill>
                <a:srgbClr val="00B0F0"/>
              </a:solidFill>
            </a:endParaRPr>
          </a:p>
          <a:p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62241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38912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1200" b="1" i="1" dirty="0">
                <a:solidFill>
                  <a:srgbClr val="FF0000"/>
                </a:solidFill>
              </a:rPr>
              <a:t>Forms of Technical </a:t>
            </a:r>
            <a:r>
              <a:rPr lang="en-US" sz="11200" b="1" i="1" dirty="0" smtClean="0">
                <a:solidFill>
                  <a:srgbClr val="FF0000"/>
                </a:solidFill>
              </a:rPr>
              <a:t> </a:t>
            </a:r>
            <a:r>
              <a:rPr lang="en-US" sz="11200" b="1" i="1" dirty="0" smtClean="0">
                <a:solidFill>
                  <a:srgbClr val="FF0000"/>
                </a:solidFill>
              </a:rPr>
              <a:t>Writing </a:t>
            </a:r>
            <a:r>
              <a:rPr lang="en-US" sz="11200" b="1" i="1" dirty="0" smtClean="0">
                <a:solidFill>
                  <a:srgbClr val="FF0000"/>
                </a:solidFill>
              </a:rPr>
              <a:t>/Communication</a:t>
            </a:r>
            <a:endParaRPr lang="en-US" sz="11200" i="1" dirty="0">
              <a:solidFill>
                <a:srgbClr val="FF0000"/>
              </a:solidFill>
            </a:endParaRPr>
          </a:p>
          <a:p>
            <a:r>
              <a:rPr lang="en-US" sz="9600" dirty="0" err="1" smtClean="0"/>
              <a:t>TC</a:t>
            </a:r>
            <a:r>
              <a:rPr lang="en-US" sz="9600" dirty="0" smtClean="0"/>
              <a:t> uses </a:t>
            </a:r>
            <a:r>
              <a:rPr lang="en-US" sz="9600" dirty="0"/>
              <a:t>various </a:t>
            </a:r>
            <a:r>
              <a:rPr lang="en-US" sz="9600" dirty="0" smtClean="0"/>
              <a:t>forms </a:t>
            </a:r>
            <a:r>
              <a:rPr lang="en-US" sz="9600" dirty="0"/>
              <a:t>such as</a:t>
            </a:r>
            <a:r>
              <a:rPr lang="en-US" sz="9600" dirty="0">
                <a:solidFill>
                  <a:srgbClr val="00B0F0"/>
                </a:solidFill>
              </a:rPr>
              <a:t> email</a:t>
            </a:r>
            <a:r>
              <a:rPr lang="en-US" sz="9600" dirty="0" smtClean="0">
                <a:solidFill>
                  <a:srgbClr val="00B0F0"/>
                </a:solidFill>
              </a:rPr>
              <a:t>, </a:t>
            </a:r>
            <a:r>
              <a:rPr lang="en-US" sz="9600" dirty="0">
                <a:solidFill>
                  <a:srgbClr val="00B0F0"/>
                </a:solidFill>
              </a:rPr>
              <a:t>letters, circulars, memos, </a:t>
            </a:r>
            <a:r>
              <a:rPr lang="en-US" sz="9600" dirty="0" smtClean="0">
                <a:solidFill>
                  <a:srgbClr val="00B0F0"/>
                </a:solidFill>
              </a:rPr>
              <a:t>newsletters, instructions</a:t>
            </a:r>
            <a:r>
              <a:rPr lang="en-US" sz="9600" dirty="0">
                <a:solidFill>
                  <a:srgbClr val="00B0F0"/>
                </a:solidFill>
              </a:rPr>
              <a:t>,</a:t>
            </a:r>
            <a:r>
              <a:rPr lang="en-US" sz="9600" dirty="0" smtClean="0">
                <a:solidFill>
                  <a:srgbClr val="00B0F0"/>
                </a:solidFill>
              </a:rPr>
              <a:t> </a:t>
            </a:r>
            <a:r>
              <a:rPr lang="en-US" sz="9600" dirty="0">
                <a:solidFill>
                  <a:srgbClr val="00B0F0"/>
                </a:solidFill>
              </a:rPr>
              <a:t>manuals</a:t>
            </a:r>
            <a:r>
              <a:rPr lang="en-US" sz="9600" dirty="0"/>
              <a:t> </a:t>
            </a:r>
            <a:r>
              <a:rPr lang="en-US" sz="9600" dirty="0" smtClean="0"/>
              <a:t>etc.</a:t>
            </a:r>
            <a:endParaRPr lang="en-US" sz="9600" dirty="0"/>
          </a:p>
          <a:p>
            <a:r>
              <a:rPr lang="en-US" sz="9600" dirty="0" err="1" smtClean="0"/>
              <a:t>TC</a:t>
            </a:r>
            <a:r>
              <a:rPr lang="en-US" sz="9600" dirty="0" smtClean="0"/>
              <a:t> </a:t>
            </a:r>
            <a:r>
              <a:rPr lang="en-US" sz="9600" dirty="0"/>
              <a:t>is fundamentally</a:t>
            </a:r>
            <a:r>
              <a:rPr lang="en-US" sz="9600" dirty="0">
                <a:solidFill>
                  <a:srgbClr val="00B0F0"/>
                </a:solidFill>
              </a:rPr>
              <a:t> oral or written, </a:t>
            </a:r>
            <a:r>
              <a:rPr lang="en-US" sz="9600" dirty="0"/>
              <a:t>with electronic communication </a:t>
            </a:r>
            <a:r>
              <a:rPr lang="en-US" sz="9600" dirty="0" smtClean="0"/>
              <a:t>using </a:t>
            </a:r>
            <a:r>
              <a:rPr lang="en-US" sz="9600" dirty="0"/>
              <a:t>both forms.</a:t>
            </a:r>
          </a:p>
          <a:p>
            <a:r>
              <a:rPr lang="en-US" sz="9600" dirty="0"/>
              <a:t>Oral communication offers </a:t>
            </a:r>
            <a:r>
              <a:rPr lang="en-US" sz="9600" dirty="0">
                <a:solidFill>
                  <a:srgbClr val="00B0F0"/>
                </a:solidFill>
              </a:rPr>
              <a:t>immediacy, personal touch, flexibility, spontaneous </a:t>
            </a:r>
            <a:r>
              <a:rPr lang="en-US" sz="9600" dirty="0" smtClean="0">
                <a:solidFill>
                  <a:srgbClr val="00B0F0"/>
                </a:solidFill>
              </a:rPr>
              <a:t>feedback and </a:t>
            </a:r>
            <a:r>
              <a:rPr lang="en-US" sz="9600" dirty="0">
                <a:solidFill>
                  <a:srgbClr val="00B0F0"/>
                </a:solidFill>
              </a:rPr>
              <a:t>interactivity</a:t>
            </a:r>
            <a:r>
              <a:rPr lang="en-US" sz="9600" dirty="0"/>
              <a:t>.</a:t>
            </a:r>
          </a:p>
          <a:p>
            <a:r>
              <a:rPr lang="en-US" sz="9600" dirty="0"/>
              <a:t>Oral communication </a:t>
            </a:r>
            <a:r>
              <a:rPr lang="en-US" sz="9600" dirty="0">
                <a:solidFill>
                  <a:srgbClr val="00B0F0"/>
                </a:solidFill>
              </a:rPr>
              <a:t>lacks authenticity</a:t>
            </a:r>
            <a:r>
              <a:rPr lang="en-US" sz="9600" dirty="0"/>
              <a:t> and can result in </a:t>
            </a:r>
            <a:r>
              <a:rPr lang="en-US" sz="9600" dirty="0">
                <a:solidFill>
                  <a:srgbClr val="00B0F0"/>
                </a:solidFill>
              </a:rPr>
              <a:t>distorted messages, memory limitations, </a:t>
            </a:r>
            <a:r>
              <a:rPr lang="en-US" sz="9600" dirty="0" smtClean="0">
                <a:solidFill>
                  <a:srgbClr val="00B0F0"/>
                </a:solidFill>
              </a:rPr>
              <a:t>and no </a:t>
            </a:r>
            <a:r>
              <a:rPr lang="en-US" sz="9600" dirty="0">
                <a:solidFill>
                  <a:srgbClr val="00B0F0"/>
                </a:solidFill>
              </a:rPr>
              <a:t>record keeping</a:t>
            </a:r>
            <a:r>
              <a:rPr lang="en-US" sz="9600" dirty="0" smtClean="0">
                <a:solidFill>
                  <a:srgbClr val="00B0F0"/>
                </a:solidFill>
              </a:rPr>
              <a:t>.</a:t>
            </a:r>
            <a:r>
              <a:rPr lang="en-US" sz="9600" dirty="0">
                <a:solidFill>
                  <a:srgbClr val="00B0F0"/>
                </a:solidFill>
              </a:rPr>
              <a:t/>
            </a:r>
            <a:br>
              <a:rPr lang="en-US" sz="9600" dirty="0">
                <a:solidFill>
                  <a:srgbClr val="00B0F0"/>
                </a:solidFill>
              </a:rPr>
            </a:br>
            <a:endParaRPr lang="en-US" sz="9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427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38912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Written </a:t>
            </a:r>
            <a:r>
              <a:rPr lang="en-US" sz="2400" dirty="0"/>
              <a:t>communication is good for </a:t>
            </a:r>
            <a:r>
              <a:rPr lang="en-US" sz="2400" dirty="0">
                <a:solidFill>
                  <a:srgbClr val="00B0F0"/>
                </a:solidFill>
              </a:rPr>
              <a:t>emphasis, evidence, record, and reference.</a:t>
            </a:r>
          </a:p>
          <a:p>
            <a:r>
              <a:rPr lang="en-US" sz="2400" dirty="0"/>
              <a:t>It is more</a:t>
            </a:r>
            <a:r>
              <a:rPr lang="en-US" sz="2400" dirty="0">
                <a:solidFill>
                  <a:srgbClr val="00B0F0"/>
                </a:solidFill>
              </a:rPr>
              <a:t> organized, precise, permanent, and </a:t>
            </a:r>
            <a:r>
              <a:rPr lang="en-US" sz="2400" dirty="0" smtClean="0">
                <a:solidFill>
                  <a:srgbClr val="00B0F0"/>
                </a:solidFill>
              </a:rPr>
              <a:t>clear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/>
              <a:t>It lacks misunderstanding due to clarification and sounds formal and authoritative.</a:t>
            </a:r>
          </a:p>
          <a:p>
            <a:r>
              <a:rPr lang="en-US" sz="2400" dirty="0"/>
              <a:t>It is </a:t>
            </a:r>
            <a:r>
              <a:rPr lang="en-US" sz="2400" dirty="0">
                <a:solidFill>
                  <a:srgbClr val="00B0F0"/>
                </a:solidFill>
              </a:rPr>
              <a:t>reliable </a:t>
            </a:r>
            <a:r>
              <a:rPr lang="en-US" sz="2400" dirty="0"/>
              <a:t>for lengthy content and data.</a:t>
            </a:r>
          </a:p>
          <a:p>
            <a:r>
              <a:rPr lang="en-US" sz="2400" dirty="0"/>
              <a:t>Demerits include being</a:t>
            </a:r>
            <a:r>
              <a:rPr lang="en-US" sz="2400" dirty="0">
                <a:solidFill>
                  <a:srgbClr val="00B0F0"/>
                </a:solidFill>
              </a:rPr>
              <a:t> costly in production and delivery, requiring skilled manpower, being impersonal, and lacking spontaneous response</a:t>
            </a:r>
            <a:r>
              <a:rPr lang="en-US" sz="2400" dirty="0" smtClean="0">
                <a:solidFill>
                  <a:srgbClr val="00B0F0"/>
                </a:solidFill>
              </a:rPr>
              <a:t>.</a:t>
            </a:r>
            <a:r>
              <a:rPr lang="en-US" sz="2400" dirty="0">
                <a:solidFill>
                  <a:srgbClr val="00B0F0"/>
                </a:solidFill>
              </a:rPr>
              <a:t/>
            </a:r>
            <a:br>
              <a:rPr lang="en-US" sz="2400" dirty="0">
                <a:solidFill>
                  <a:srgbClr val="00B0F0"/>
                </a:solidFill>
              </a:rPr>
            </a:b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92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3891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       Types </a:t>
            </a:r>
            <a:r>
              <a:rPr lang="en-US" sz="2400" b="1" dirty="0">
                <a:solidFill>
                  <a:srgbClr val="FF0000"/>
                </a:solidFill>
              </a:rPr>
              <a:t>of </a:t>
            </a:r>
            <a:r>
              <a:rPr lang="en-US" sz="2400" b="1" dirty="0" smtClean="0">
                <a:solidFill>
                  <a:srgbClr val="FF0000"/>
                </a:solidFill>
              </a:rPr>
              <a:t>Technical </a:t>
            </a:r>
            <a:r>
              <a:rPr lang="en-US" sz="2400" b="1" dirty="0">
                <a:solidFill>
                  <a:srgbClr val="FF0000"/>
                </a:solidFill>
              </a:rPr>
              <a:t>W</a:t>
            </a:r>
            <a:r>
              <a:rPr lang="en-US" sz="2400" b="1" dirty="0" smtClean="0">
                <a:solidFill>
                  <a:srgbClr val="FF0000"/>
                </a:solidFill>
              </a:rPr>
              <a:t>riting/Communication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B0F0"/>
                </a:solidFill>
              </a:rPr>
              <a:t>a. Mail/Correspondence</a:t>
            </a:r>
          </a:p>
          <a:p>
            <a:pPr marL="0" indent="0">
              <a:buNone/>
            </a:pPr>
            <a:r>
              <a:rPr lang="en-US" sz="1800" dirty="0"/>
              <a:t>Business: sales letter, quotations letter,  </a:t>
            </a:r>
            <a:r>
              <a:rPr lang="en-US" sz="1800" dirty="0" smtClean="0"/>
              <a:t>circular letter</a:t>
            </a:r>
            <a:r>
              <a:rPr lang="en-US" sz="1800" dirty="0"/>
              <a:t> </a:t>
            </a:r>
            <a:r>
              <a:rPr lang="en-US" sz="1800" dirty="0" smtClean="0"/>
              <a:t>etc.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Professional: Acceptance letter; application letter, appointment </a:t>
            </a:r>
            <a:r>
              <a:rPr lang="en-US" sz="1800" dirty="0" smtClean="0"/>
              <a:t>letter etc.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>
                <a:solidFill>
                  <a:srgbClr val="00B0F0"/>
                </a:solidFill>
              </a:rPr>
              <a:t>b. Documentation/Records </a:t>
            </a:r>
            <a:r>
              <a:rPr lang="en-US" sz="1800" b="1" dirty="0" smtClean="0">
                <a:solidFill>
                  <a:srgbClr val="00B0F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800" dirty="0" smtClean="0"/>
              <a:t>Meeting </a:t>
            </a:r>
            <a:r>
              <a:rPr lang="en-US" sz="1800" dirty="0"/>
              <a:t>minutes, class notes,  </a:t>
            </a:r>
            <a:r>
              <a:rPr lang="en-US" sz="1800" dirty="0" smtClean="0"/>
              <a:t>presentation</a:t>
            </a:r>
            <a:r>
              <a:rPr lang="en-US" sz="1800" dirty="0"/>
              <a:t> </a:t>
            </a:r>
            <a:r>
              <a:rPr lang="en-US" sz="1800" dirty="0" smtClean="0"/>
              <a:t>etc.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B0F0"/>
                </a:solidFill>
              </a:rPr>
              <a:t>c. Forms/Receipts:</a:t>
            </a:r>
            <a:r>
              <a:rPr lang="en-US" sz="1800" dirty="0"/>
              <a:t> work order </a:t>
            </a:r>
            <a:r>
              <a:rPr lang="en-US" sz="1800" dirty="0" smtClean="0"/>
              <a:t>form/ Tax form/ application form etc.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d.</a:t>
            </a:r>
            <a:r>
              <a:rPr lang="en-US" sz="1800" dirty="0">
                <a:solidFill>
                  <a:srgbClr val="00B0F0"/>
                </a:solidFill>
              </a:rPr>
              <a:t> Planning: </a:t>
            </a:r>
            <a:r>
              <a:rPr lang="en-US" sz="1800" dirty="0"/>
              <a:t>meeting agenda, action </a:t>
            </a:r>
            <a:r>
              <a:rPr lang="en-US" sz="1800" dirty="0" smtClean="0"/>
              <a:t>plan etc.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e. </a:t>
            </a:r>
            <a:r>
              <a:rPr lang="en-US" sz="1800" dirty="0">
                <a:solidFill>
                  <a:srgbClr val="00B0F0"/>
                </a:solidFill>
              </a:rPr>
              <a:t>Procedure/Descriptions:</a:t>
            </a:r>
            <a:r>
              <a:rPr lang="en-US" sz="1800" dirty="0"/>
              <a:t> procedures for </a:t>
            </a:r>
            <a:r>
              <a:rPr lang="en-US" sz="1800" dirty="0" smtClean="0"/>
              <a:t> activities</a:t>
            </a:r>
            <a:r>
              <a:rPr lang="en-US" sz="1800" dirty="0"/>
              <a:t>, operation guides, </a:t>
            </a:r>
            <a:r>
              <a:rPr lang="en-US" sz="1800" dirty="0" smtClean="0"/>
              <a:t>catalogues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f.</a:t>
            </a:r>
            <a:r>
              <a:rPr lang="en-US" sz="1800" dirty="0">
                <a:solidFill>
                  <a:srgbClr val="00B0F0"/>
                </a:solidFill>
              </a:rPr>
              <a:t> Instructions/Manuals/guides: </a:t>
            </a:r>
            <a:r>
              <a:rPr lang="en-US" sz="1800" dirty="0" smtClean="0">
                <a:solidFill>
                  <a:srgbClr val="00B0F0"/>
                </a:solidFill>
              </a:rPr>
              <a:t> </a:t>
            </a:r>
            <a:r>
              <a:rPr lang="en-US" sz="1800" dirty="0" smtClean="0"/>
              <a:t>user manual, instruction steps etc.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B0F0"/>
                </a:solidFill>
              </a:rPr>
              <a:t>g</a:t>
            </a:r>
            <a:r>
              <a:rPr lang="en-US" sz="1800" dirty="0"/>
              <a:t>. </a:t>
            </a:r>
            <a:r>
              <a:rPr lang="en-US" sz="1800" dirty="0" smtClean="0">
                <a:solidFill>
                  <a:srgbClr val="00B0F0"/>
                </a:solidFill>
              </a:rPr>
              <a:t>Proposals/Agreements: </a:t>
            </a:r>
            <a:r>
              <a:rPr lang="en-US" sz="1800" dirty="0" smtClean="0"/>
              <a:t> </a:t>
            </a:r>
            <a:r>
              <a:rPr lang="en-US" sz="1800" dirty="0"/>
              <a:t>call for </a:t>
            </a:r>
            <a:r>
              <a:rPr lang="en-US" sz="1800" dirty="0" smtClean="0"/>
              <a:t> proposal </a:t>
            </a:r>
            <a:r>
              <a:rPr lang="en-US" sz="1800" dirty="0"/>
              <a:t>, Terms of Reference, </a:t>
            </a:r>
            <a:r>
              <a:rPr lang="en-US" sz="1800" dirty="0" smtClean="0"/>
              <a:t>Treaties etc.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h.</a:t>
            </a:r>
            <a:r>
              <a:rPr lang="en-US" sz="1800" dirty="0">
                <a:solidFill>
                  <a:srgbClr val="00B0F0"/>
                </a:solidFill>
              </a:rPr>
              <a:t> </a:t>
            </a:r>
            <a:r>
              <a:rPr lang="en-US" sz="1800" dirty="0" smtClean="0">
                <a:solidFill>
                  <a:srgbClr val="00B0F0"/>
                </a:solidFill>
              </a:rPr>
              <a:t>Oral/presentation/group </a:t>
            </a:r>
            <a:r>
              <a:rPr lang="en-US" sz="1800" dirty="0">
                <a:solidFill>
                  <a:srgbClr val="00B0F0"/>
                </a:solidFill>
              </a:rPr>
              <a:t>work:</a:t>
            </a:r>
            <a:r>
              <a:rPr lang="en-US" sz="1800" dirty="0"/>
              <a:t> oral reports, group discussion, </a:t>
            </a:r>
            <a:r>
              <a:rPr lang="en-US" sz="1800" dirty="0" smtClean="0"/>
              <a:t>webinar etc.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i. </a:t>
            </a:r>
            <a:r>
              <a:rPr lang="en-US" sz="1800" dirty="0">
                <a:solidFill>
                  <a:srgbClr val="00B0F0"/>
                </a:solidFill>
              </a:rPr>
              <a:t>Reports:</a:t>
            </a:r>
            <a:r>
              <a:rPr lang="en-US" sz="1800" dirty="0"/>
              <a:t> Progress Report, lab </a:t>
            </a:r>
            <a:r>
              <a:rPr lang="en-US" sz="1800" dirty="0" smtClean="0"/>
              <a:t>Report, Recommendation Report </a:t>
            </a:r>
            <a:r>
              <a:rPr lang="en-US" sz="1800" dirty="0" err="1" smtClean="0"/>
              <a:t>etc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j. </a:t>
            </a:r>
            <a:r>
              <a:rPr lang="en-US" sz="1800" dirty="0">
                <a:solidFill>
                  <a:srgbClr val="00B0F0"/>
                </a:solidFill>
              </a:rPr>
              <a:t>Evaluation :</a:t>
            </a:r>
            <a:r>
              <a:rPr lang="en-US" sz="1800" dirty="0"/>
              <a:t> Audit </a:t>
            </a:r>
            <a:r>
              <a:rPr lang="en-US" sz="1800" dirty="0" smtClean="0"/>
              <a:t>Report, </a:t>
            </a:r>
            <a:r>
              <a:rPr lang="en-US" sz="1800" dirty="0"/>
              <a:t>feasibility </a:t>
            </a:r>
            <a:r>
              <a:rPr lang="en-US" sz="1800" dirty="0" smtClean="0"/>
              <a:t>Report</a:t>
            </a:r>
            <a:r>
              <a:rPr lang="en-US" sz="1800" dirty="0"/>
              <a:t> </a:t>
            </a:r>
            <a:r>
              <a:rPr lang="en-US" sz="1800" dirty="0" err="1" smtClean="0"/>
              <a:t>etc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k. </a:t>
            </a:r>
            <a:r>
              <a:rPr lang="en-US" sz="1800" dirty="0">
                <a:solidFill>
                  <a:srgbClr val="00B0F0"/>
                </a:solidFill>
              </a:rPr>
              <a:t>Promotion/Outreach/ Information: </a:t>
            </a:r>
            <a:r>
              <a:rPr lang="en-US" sz="1800" dirty="0"/>
              <a:t>leaflet, pamphlet, banner, hoarding  </a:t>
            </a:r>
            <a:r>
              <a:rPr lang="en-US" sz="1800" dirty="0" smtClean="0"/>
              <a:t>board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l. </a:t>
            </a:r>
            <a:r>
              <a:rPr lang="en-US" sz="1800" dirty="0">
                <a:solidFill>
                  <a:srgbClr val="00B0F0"/>
                </a:solidFill>
              </a:rPr>
              <a:t>Design and Technology:</a:t>
            </a:r>
            <a:r>
              <a:rPr lang="en-US" sz="1800" dirty="0"/>
              <a:t>  </a:t>
            </a:r>
            <a:r>
              <a:rPr lang="en-US" sz="1800" dirty="0" smtClean="0"/>
              <a:t>CDs ,Websites</a:t>
            </a:r>
            <a:r>
              <a:rPr lang="en-US" sz="1800" dirty="0"/>
              <a:t>, </a:t>
            </a:r>
            <a:r>
              <a:rPr lang="en-US" sz="1800" dirty="0" smtClean="0"/>
              <a:t>programming</a:t>
            </a:r>
            <a:r>
              <a:rPr lang="en-US" sz="1800" dirty="0"/>
              <a:t> </a:t>
            </a:r>
            <a:r>
              <a:rPr lang="en-US" sz="1800" dirty="0" smtClean="0"/>
              <a:t>etc.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5164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1080"/>
            <a:ext cx="8229600" cy="438912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 smtClean="0">
                <a:solidFill>
                  <a:srgbClr val="FF0000"/>
                </a:solidFill>
              </a:rPr>
              <a:t>   Principles </a:t>
            </a:r>
            <a:r>
              <a:rPr lang="en-US" sz="9600" b="1" dirty="0">
                <a:solidFill>
                  <a:srgbClr val="FF0000"/>
                </a:solidFill>
              </a:rPr>
              <a:t>of Effective </a:t>
            </a:r>
            <a:r>
              <a:rPr lang="en-US" sz="9600" b="1" dirty="0" smtClean="0">
                <a:solidFill>
                  <a:srgbClr val="FF0000"/>
                </a:solidFill>
              </a:rPr>
              <a:t>Technical Communication</a:t>
            </a:r>
            <a:endParaRPr lang="en-US" sz="9600" dirty="0" smtClean="0"/>
          </a:p>
          <a:p>
            <a:r>
              <a:rPr lang="en-US" sz="9600" dirty="0" smtClean="0"/>
              <a:t> </a:t>
            </a:r>
            <a:r>
              <a:rPr lang="en-US" sz="9600" dirty="0"/>
              <a:t>The </a:t>
            </a:r>
            <a:r>
              <a:rPr lang="en-US" sz="9600" dirty="0" err="1"/>
              <a:t>7Cs</a:t>
            </a:r>
            <a:r>
              <a:rPr lang="en-US" sz="9600" dirty="0"/>
              <a:t> of communication apply to the various stages of the technical communication process</a:t>
            </a:r>
            <a:r>
              <a:rPr lang="en-US" sz="9600" b="1" dirty="0"/>
              <a:t>. </a:t>
            </a:r>
            <a:endParaRPr lang="en-US" sz="9600" b="1" dirty="0" smtClean="0"/>
          </a:p>
          <a:p>
            <a:r>
              <a:rPr lang="en-US" sz="9600" b="1" dirty="0" smtClean="0"/>
              <a:t>Clarity, Completeness, Conciseness, Concreteness, Consideration, Correctness, Courtesy</a:t>
            </a:r>
            <a:endParaRPr lang="en-US" sz="9600" b="1" dirty="0"/>
          </a:p>
          <a:p>
            <a:pPr marL="0" indent="0">
              <a:buNone/>
            </a:pPr>
            <a:r>
              <a:rPr lang="en-US" sz="9600" b="1" dirty="0" smtClean="0"/>
              <a:t>1) </a:t>
            </a:r>
            <a:r>
              <a:rPr lang="en-US" sz="9600" b="1" dirty="0" smtClean="0">
                <a:solidFill>
                  <a:srgbClr val="FF0000"/>
                </a:solidFill>
              </a:rPr>
              <a:t>Know </a:t>
            </a:r>
            <a:r>
              <a:rPr lang="en-US" sz="9600" b="1" dirty="0">
                <a:solidFill>
                  <a:srgbClr val="FF0000"/>
                </a:solidFill>
              </a:rPr>
              <a:t>your purpose:</a:t>
            </a:r>
            <a:r>
              <a:rPr lang="en-US" sz="9600" dirty="0">
                <a:solidFill>
                  <a:srgbClr val="FF0000"/>
                </a:solidFill>
              </a:rPr>
              <a:t> </a:t>
            </a:r>
          </a:p>
          <a:p>
            <a:r>
              <a:rPr lang="en-US" sz="9600" dirty="0">
                <a:solidFill>
                  <a:srgbClr val="00B0F0"/>
                </a:solidFill>
              </a:rPr>
              <a:t>Purpose:</a:t>
            </a:r>
            <a:r>
              <a:rPr lang="en-US" sz="9600" dirty="0"/>
              <a:t> learn technical details fast, </a:t>
            </a:r>
            <a:r>
              <a:rPr lang="en-US" sz="9600" dirty="0" smtClean="0"/>
              <a:t>explain products/services, </a:t>
            </a:r>
            <a:r>
              <a:rPr lang="en-US" sz="9600" dirty="0"/>
              <a:t>demonstrate interpersonal communication skills, and use new media for presentations/interactions.</a:t>
            </a:r>
          </a:p>
          <a:p>
            <a:r>
              <a:rPr lang="en-US" sz="9600" dirty="0"/>
              <a:t>Communication situations: </a:t>
            </a:r>
            <a:r>
              <a:rPr lang="en-US" sz="9600" dirty="0">
                <a:solidFill>
                  <a:srgbClr val="00B0F0"/>
                </a:solidFill>
              </a:rPr>
              <a:t>caution, comment, compare, inform, instruct, order, </a:t>
            </a:r>
            <a:r>
              <a:rPr lang="en-US" sz="9600" dirty="0" smtClean="0">
                <a:solidFill>
                  <a:srgbClr val="00B0F0"/>
                </a:solidFill>
              </a:rPr>
              <a:t>report</a:t>
            </a:r>
            <a:r>
              <a:rPr lang="en-US" sz="9600" dirty="0">
                <a:solidFill>
                  <a:srgbClr val="00B0F0"/>
                </a:solidFill>
              </a:rPr>
              <a:t>, reply, request, suggest, analyze, etc</a:t>
            </a:r>
            <a:r>
              <a:rPr lang="en-US" sz="9600" dirty="0" smtClean="0">
                <a:solidFill>
                  <a:srgbClr val="00B0F0"/>
                </a:solidFill>
              </a:rPr>
              <a:t>.</a:t>
            </a:r>
            <a:r>
              <a:rPr lang="en-US" sz="9600" dirty="0"/>
              <a:t/>
            </a:r>
            <a:br>
              <a:rPr lang="en-US" sz="9600" dirty="0"/>
            </a:b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290352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92480"/>
            <a:ext cx="8229600" cy="43891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00B0F0"/>
                </a:solidFill>
              </a:rPr>
              <a:t>2)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Know </a:t>
            </a:r>
            <a:r>
              <a:rPr lang="en-US" sz="2800" b="1" dirty="0">
                <a:solidFill>
                  <a:srgbClr val="FF0000"/>
                </a:solidFill>
              </a:rPr>
              <a:t>your audience: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endParaRPr lang="en-US" sz="2000" dirty="0" smtClean="0">
              <a:solidFill>
                <a:srgbClr val="FF0000"/>
              </a:solidFill>
            </a:endParaRPr>
          </a:p>
          <a:p>
            <a:r>
              <a:rPr lang="en-US" sz="2000" dirty="0" smtClean="0">
                <a:solidFill>
                  <a:srgbClr val="FF0000"/>
                </a:solidFill>
              </a:rPr>
              <a:t>A</a:t>
            </a:r>
            <a:r>
              <a:rPr lang="en-US" sz="2000" dirty="0" smtClean="0">
                <a:solidFill>
                  <a:srgbClr val="00B0F0"/>
                </a:solidFill>
              </a:rPr>
              <a:t>udience </a:t>
            </a:r>
            <a:r>
              <a:rPr lang="en-US" sz="2000" dirty="0">
                <a:solidFill>
                  <a:srgbClr val="00B0F0"/>
                </a:solidFill>
              </a:rPr>
              <a:t>is </a:t>
            </a:r>
            <a:r>
              <a:rPr lang="en-US" sz="2000" dirty="0" smtClean="0">
                <a:solidFill>
                  <a:srgbClr val="00B0F0"/>
                </a:solidFill>
              </a:rPr>
              <a:t>the king </a:t>
            </a:r>
            <a:r>
              <a:rPr lang="en-US" sz="2000" dirty="0"/>
              <a:t>in technical communication, and should be </a:t>
            </a:r>
            <a:r>
              <a:rPr lang="en-US" sz="2000" dirty="0">
                <a:solidFill>
                  <a:srgbClr val="00B0F0"/>
                </a:solidFill>
              </a:rPr>
              <a:t>treated humanely and ethically.</a:t>
            </a:r>
          </a:p>
          <a:p>
            <a:r>
              <a:rPr lang="en-US" sz="2000" dirty="0"/>
              <a:t>Analyze the audience </a:t>
            </a:r>
            <a:r>
              <a:rPr lang="en-US" sz="2000" dirty="0" smtClean="0"/>
              <a:t>while set the </a:t>
            </a:r>
            <a:r>
              <a:rPr lang="en-US" sz="2000" dirty="0"/>
              <a:t>purpose of the </a:t>
            </a:r>
            <a:r>
              <a:rPr lang="en-US" sz="2000" dirty="0" smtClean="0"/>
              <a:t>document.</a:t>
            </a:r>
            <a:endParaRPr lang="en-US" sz="2000" dirty="0"/>
          </a:p>
          <a:p>
            <a:r>
              <a:rPr lang="en-US" sz="2000" dirty="0">
                <a:solidFill>
                  <a:srgbClr val="00B0F0"/>
                </a:solidFill>
              </a:rPr>
              <a:t>Consider the audience's </a:t>
            </a:r>
            <a:r>
              <a:rPr lang="en-US" sz="2000" dirty="0" smtClean="0">
                <a:solidFill>
                  <a:srgbClr val="00B0F0"/>
                </a:solidFill>
              </a:rPr>
              <a:t>knowledge, background. requirements, </a:t>
            </a:r>
            <a:r>
              <a:rPr lang="en-US" sz="2000" dirty="0">
                <a:solidFill>
                  <a:srgbClr val="00B0F0"/>
                </a:solidFill>
              </a:rPr>
              <a:t>interests, biases, location, </a:t>
            </a:r>
            <a:r>
              <a:rPr lang="en-US" sz="2000" dirty="0" smtClean="0">
                <a:solidFill>
                  <a:srgbClr val="00B0F0"/>
                </a:solidFill>
              </a:rPr>
              <a:t>culture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r>
              <a:rPr lang="en-US" sz="2000" dirty="0" err="1" smtClean="0">
                <a:solidFill>
                  <a:srgbClr val="00B0F0"/>
                </a:solidFill>
              </a:rPr>
              <a:t>etc</a:t>
            </a:r>
            <a:endParaRPr lang="en-US" sz="2000" dirty="0">
              <a:solidFill>
                <a:srgbClr val="00B0F0"/>
              </a:solidFill>
            </a:endParaRPr>
          </a:p>
          <a:p>
            <a:r>
              <a:rPr lang="en-US" sz="2000" dirty="0"/>
              <a:t>Ask questions such as who the audience is, when they can be reached, why they should care, and how they can be persuaded</a:t>
            </a:r>
            <a:r>
              <a:rPr lang="en-US" sz="2000" dirty="0" smtClean="0"/>
              <a:t>.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 smtClean="0"/>
              <a:t>3)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Be </a:t>
            </a:r>
            <a:r>
              <a:rPr lang="en-US" sz="2800" b="1" dirty="0">
                <a:solidFill>
                  <a:srgbClr val="FF0000"/>
                </a:solidFill>
              </a:rPr>
              <a:t>simple, clear and concise in language: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00B0F0"/>
                </a:solidFill>
              </a:rPr>
              <a:t>correct grammar, spelling, and usage</a:t>
            </a:r>
            <a:r>
              <a:rPr lang="en-US" sz="2000" dirty="0" smtClean="0">
                <a:solidFill>
                  <a:srgbClr val="00B0F0"/>
                </a:solidFill>
              </a:rPr>
              <a:t>, </a:t>
            </a:r>
            <a:r>
              <a:rPr lang="en-US" sz="2000" dirty="0">
                <a:solidFill>
                  <a:srgbClr val="00B0F0"/>
                </a:solidFill>
              </a:rPr>
              <a:t>conciseness without redundancies or wordiness, active voice, and positive statements with short sentences and paragraphs.</a:t>
            </a:r>
          </a:p>
          <a:p>
            <a:r>
              <a:rPr lang="en-US" sz="2000" dirty="0"/>
              <a:t>Don't sacrifice important vocabulary in the pursuit of simplicity and clarity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9511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38912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dirty="0">
                <a:solidFill>
                  <a:srgbClr val="FF0000"/>
                </a:solidFill>
              </a:rPr>
              <a:t>4</a:t>
            </a:r>
            <a:r>
              <a:rPr lang="en-US" sz="9600" dirty="0" smtClean="0">
                <a:solidFill>
                  <a:srgbClr val="FF0000"/>
                </a:solidFill>
              </a:rPr>
              <a:t>)</a:t>
            </a:r>
            <a:r>
              <a:rPr lang="en-US" sz="9600" b="1" dirty="0" smtClean="0">
                <a:solidFill>
                  <a:srgbClr val="FF0000"/>
                </a:solidFill>
              </a:rPr>
              <a:t>Be </a:t>
            </a:r>
            <a:r>
              <a:rPr lang="en-US" sz="9600" b="1" dirty="0">
                <a:solidFill>
                  <a:srgbClr val="FF0000"/>
                </a:solidFill>
              </a:rPr>
              <a:t>specific, concrete and accurate in details:</a:t>
            </a:r>
            <a:r>
              <a:rPr lang="en-US" sz="9600" dirty="0">
                <a:solidFill>
                  <a:srgbClr val="FF0000"/>
                </a:solidFill>
              </a:rPr>
              <a:t> </a:t>
            </a:r>
            <a:endParaRPr lang="en-US" sz="9600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9600" dirty="0" smtClean="0"/>
              <a:t>Being </a:t>
            </a:r>
            <a:r>
              <a:rPr lang="en-US" sz="9600" dirty="0"/>
              <a:t>specific is </a:t>
            </a:r>
            <a:r>
              <a:rPr lang="en-US" sz="9600" dirty="0">
                <a:solidFill>
                  <a:srgbClr val="00B0F0"/>
                </a:solidFill>
              </a:rPr>
              <a:t>being particular</a:t>
            </a:r>
            <a:r>
              <a:rPr lang="en-US" sz="9600" dirty="0"/>
              <a:t> (giving detailed directions, giving </a:t>
            </a:r>
            <a:r>
              <a:rPr lang="en-US" sz="9600" dirty="0">
                <a:solidFill>
                  <a:srgbClr val="00B0F0"/>
                </a:solidFill>
              </a:rPr>
              <a:t>precise number rather than saying “some”,</a:t>
            </a:r>
            <a:r>
              <a:rPr lang="en-US" sz="9600" dirty="0"/>
              <a:t> identifying people by name, etc</a:t>
            </a:r>
            <a:r>
              <a:rPr lang="en-US" sz="9600" dirty="0" smtClean="0"/>
              <a:t>.).</a:t>
            </a:r>
          </a:p>
          <a:p>
            <a:pPr>
              <a:buFont typeface="Wingdings" pitchFamily="2" charset="2"/>
              <a:buChar char="Ø"/>
            </a:pPr>
            <a:r>
              <a:rPr lang="en-US" sz="9600" dirty="0" smtClean="0">
                <a:solidFill>
                  <a:srgbClr val="00B0F0"/>
                </a:solidFill>
              </a:rPr>
              <a:t> </a:t>
            </a:r>
            <a:r>
              <a:rPr lang="en-US" sz="9600" dirty="0">
                <a:solidFill>
                  <a:srgbClr val="00B0F0"/>
                </a:solidFill>
              </a:rPr>
              <a:t>Concrete </a:t>
            </a:r>
            <a:r>
              <a:rPr lang="en-US" sz="9600" dirty="0"/>
              <a:t>means giving </a:t>
            </a:r>
            <a:r>
              <a:rPr lang="en-US" sz="9600" dirty="0">
                <a:solidFill>
                  <a:srgbClr val="00B0F0"/>
                </a:solidFill>
              </a:rPr>
              <a:t>vivid details</a:t>
            </a:r>
            <a:r>
              <a:rPr lang="en-US" sz="9600" dirty="0"/>
              <a:t> that evoke an image of the description</a:t>
            </a:r>
            <a:r>
              <a:rPr lang="en-US" sz="9600" dirty="0" smtClean="0"/>
              <a:t>.</a:t>
            </a:r>
            <a:r>
              <a:rPr lang="en-US" sz="9600" b="1" dirty="0"/>
              <a:t> </a:t>
            </a:r>
            <a:endParaRPr lang="en-US" sz="9600" b="1" dirty="0" smtClean="0"/>
          </a:p>
          <a:p>
            <a:pPr marL="0" indent="0">
              <a:buNone/>
            </a:pPr>
            <a:endParaRPr lang="en-US" sz="9600" b="1" dirty="0" smtClean="0"/>
          </a:p>
          <a:p>
            <a:pPr marL="0" indent="0">
              <a:buNone/>
            </a:pPr>
            <a:r>
              <a:rPr lang="en-US" sz="9600" b="1" dirty="0" smtClean="0"/>
              <a:t>5</a:t>
            </a:r>
            <a:r>
              <a:rPr lang="en-US" sz="9600" b="1" dirty="0"/>
              <a:t>) </a:t>
            </a:r>
            <a:r>
              <a:rPr lang="en-US" sz="9600" b="1" dirty="0">
                <a:solidFill>
                  <a:srgbClr val="FF0000"/>
                </a:solidFill>
              </a:rPr>
              <a:t>Adopt appropriate approach, format, style, and tone: </a:t>
            </a:r>
            <a:endParaRPr lang="en-US" sz="9600" dirty="0" smtClean="0"/>
          </a:p>
          <a:p>
            <a:pPr>
              <a:buFont typeface="Wingdings" pitchFamily="2" charset="2"/>
              <a:buChar char="Ø"/>
            </a:pPr>
            <a:r>
              <a:rPr lang="en-US" sz="9600" dirty="0" smtClean="0"/>
              <a:t>Follow </a:t>
            </a:r>
            <a:r>
              <a:rPr lang="en-US" sz="9600" dirty="0"/>
              <a:t>the established </a:t>
            </a:r>
            <a:r>
              <a:rPr lang="en-US" sz="9600" dirty="0">
                <a:solidFill>
                  <a:srgbClr val="00B0F0"/>
                </a:solidFill>
              </a:rPr>
              <a:t>standards, style and tone</a:t>
            </a:r>
            <a:r>
              <a:rPr lang="en-US" sz="9600" dirty="0"/>
              <a:t>, and work in consensus. </a:t>
            </a:r>
          </a:p>
          <a:p>
            <a:pPr>
              <a:buFont typeface="Wingdings" pitchFamily="2" charset="2"/>
              <a:buChar char="Ø"/>
            </a:pPr>
            <a:r>
              <a:rPr lang="en-US" sz="9600" dirty="0" smtClean="0"/>
              <a:t>Organize </a:t>
            </a:r>
            <a:r>
              <a:rPr lang="en-US" sz="9600" dirty="0"/>
              <a:t>material </a:t>
            </a:r>
            <a:r>
              <a:rPr lang="en-US" sz="9600" dirty="0">
                <a:solidFill>
                  <a:srgbClr val="00B0F0"/>
                </a:solidFill>
              </a:rPr>
              <a:t>chronologically, spatially </a:t>
            </a:r>
            <a:r>
              <a:rPr lang="en-US" sz="9600" dirty="0" smtClean="0">
                <a:solidFill>
                  <a:srgbClr val="00B0F0"/>
                </a:solidFill>
              </a:rPr>
              <a:t>,categorically</a:t>
            </a:r>
            <a:r>
              <a:rPr lang="en-US" sz="9600" dirty="0">
                <a:solidFill>
                  <a:srgbClr val="00B0F0"/>
                </a:solidFill>
              </a:rPr>
              <a:t>, with multi-media elements, as needed.</a:t>
            </a:r>
          </a:p>
          <a:p>
            <a:pPr marL="0" indent="0">
              <a:buNone/>
            </a:pPr>
            <a:endParaRPr lang="en-US" sz="9600" dirty="0"/>
          </a:p>
          <a:p>
            <a:endParaRPr lang="en-US" sz="9600" dirty="0"/>
          </a:p>
          <a:p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670590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38912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1200" b="1" dirty="0" smtClean="0">
                <a:solidFill>
                  <a:srgbClr val="FF0000"/>
                </a:solidFill>
              </a:rPr>
              <a:t>6) Show</a:t>
            </a:r>
            <a:r>
              <a:rPr lang="en-US" sz="11200" b="1" dirty="0">
                <a:solidFill>
                  <a:srgbClr val="FF0000"/>
                </a:solidFill>
              </a:rPr>
              <a:t>, just don’t tell:</a:t>
            </a:r>
            <a:r>
              <a:rPr lang="en-US" sz="11200" b="1" dirty="0"/>
              <a:t> </a:t>
            </a:r>
            <a:r>
              <a:rPr lang="en-US" sz="8000" dirty="0">
                <a:solidFill>
                  <a:srgbClr val="00B0F0"/>
                </a:solidFill>
              </a:rPr>
              <a:t>Add visual appeal, use high tech tools, illustrations, images, tables, charts, </a:t>
            </a:r>
            <a:r>
              <a:rPr lang="en-US" sz="8000" dirty="0" smtClean="0">
                <a:solidFill>
                  <a:srgbClr val="00B0F0"/>
                </a:solidFill>
              </a:rPr>
              <a:t>graphs, figures, icons etc.</a:t>
            </a:r>
            <a:endParaRPr lang="en-US" sz="11200" b="1" dirty="0" smtClean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sz="112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1200" b="1" dirty="0" smtClean="0">
                <a:solidFill>
                  <a:srgbClr val="FF0000"/>
                </a:solidFill>
              </a:rPr>
              <a:t>7) Adhere </a:t>
            </a:r>
            <a:r>
              <a:rPr lang="en-US" sz="11200" b="1" dirty="0">
                <a:solidFill>
                  <a:srgbClr val="FF0000"/>
                </a:solidFill>
              </a:rPr>
              <a:t>to ethical and legal principles, and respect cultural sensitivities:</a:t>
            </a:r>
            <a:r>
              <a:rPr lang="en-US" sz="8000" dirty="0">
                <a:solidFill>
                  <a:srgbClr val="FF0000"/>
                </a:solidFill>
              </a:rPr>
              <a:t> </a:t>
            </a:r>
            <a:r>
              <a:rPr lang="en-US" sz="8000" dirty="0">
                <a:solidFill>
                  <a:srgbClr val="00B0F0"/>
                </a:solidFill>
              </a:rPr>
              <a:t>These related to copyright, privacy, plagiarism, political-correctness, etc.</a:t>
            </a:r>
            <a:r>
              <a:rPr lang="en-US" sz="8000" dirty="0"/>
              <a:t> </a:t>
            </a:r>
            <a:endParaRPr lang="en-US" sz="11200" b="1" dirty="0"/>
          </a:p>
          <a:p>
            <a:pPr marL="0" indent="0">
              <a:buNone/>
            </a:pPr>
            <a:endParaRPr lang="en-US" sz="112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1200" b="1" dirty="0" smtClean="0">
                <a:solidFill>
                  <a:srgbClr val="FF0000"/>
                </a:solidFill>
              </a:rPr>
              <a:t>8) Make </a:t>
            </a:r>
            <a:r>
              <a:rPr lang="en-US" sz="11200" b="1" dirty="0">
                <a:solidFill>
                  <a:srgbClr val="FF0000"/>
                </a:solidFill>
              </a:rPr>
              <a:t>your communication accessible, relevant and easy to use: </a:t>
            </a:r>
            <a:endParaRPr lang="en-US" sz="11200" b="1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11200" b="1" dirty="0">
                <a:solidFill>
                  <a:srgbClr val="00B0F0"/>
                </a:solidFill>
              </a:rPr>
              <a:t> </a:t>
            </a:r>
            <a:r>
              <a:rPr lang="en-US" sz="8000" b="1" dirty="0" smtClean="0"/>
              <a:t>make the document </a:t>
            </a:r>
            <a:r>
              <a:rPr lang="en-US" sz="8000" b="1" dirty="0" smtClean="0">
                <a:solidFill>
                  <a:srgbClr val="00B0F0"/>
                </a:solidFill>
              </a:rPr>
              <a:t>timely, easy to understand and retrieve in future</a:t>
            </a:r>
            <a:r>
              <a:rPr lang="en-US" sz="80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8000" dirty="0" smtClean="0"/>
              <a:t>start </a:t>
            </a:r>
            <a:r>
              <a:rPr lang="en-US" sz="8000" dirty="0"/>
              <a:t>by telling the audience what you are going to tell them, and once you tell them what you promised you would tell them, tell again what you just told them. </a:t>
            </a:r>
          </a:p>
          <a:p>
            <a:pPr>
              <a:buFont typeface="Wingdings" pitchFamily="2" charset="2"/>
              <a:buChar char="Ø"/>
            </a:pPr>
            <a:r>
              <a:rPr lang="en-US" sz="8000" dirty="0" smtClean="0"/>
              <a:t>Doing </a:t>
            </a:r>
            <a:r>
              <a:rPr lang="en-US" sz="8000" dirty="0"/>
              <a:t>this helps to keep a hook on the audience and to follow you through</a:t>
            </a:r>
            <a:r>
              <a:rPr lang="en-US" sz="8000" dirty="0" smtClean="0"/>
              <a:t>.</a:t>
            </a:r>
            <a:endParaRPr lang="en-US" sz="8000" dirty="0"/>
          </a:p>
          <a:p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387557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3891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FF0000"/>
                </a:solidFill>
              </a:rPr>
              <a:t>9) Collaborate</a:t>
            </a:r>
            <a:r>
              <a:rPr lang="en-US" sz="3200" b="1" dirty="0">
                <a:solidFill>
                  <a:srgbClr val="FF0000"/>
                </a:solidFill>
              </a:rPr>
              <a:t>: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00B0F0"/>
                </a:solidFill>
              </a:rPr>
              <a:t>It is necessary for feedback and </a:t>
            </a:r>
            <a:r>
              <a:rPr lang="en-US" sz="2800" dirty="0" smtClean="0">
                <a:solidFill>
                  <a:srgbClr val="00B0F0"/>
                </a:solidFill>
              </a:rPr>
              <a:t>problem-solving</a:t>
            </a:r>
            <a:r>
              <a:rPr lang="en-US" sz="2800" dirty="0" smtClean="0"/>
              <a:t> </a:t>
            </a:r>
          </a:p>
          <a:p>
            <a:r>
              <a:rPr lang="en-US" sz="2800" dirty="0" smtClean="0"/>
              <a:t>Draw </a:t>
            </a:r>
            <a:r>
              <a:rPr lang="en-US" sz="2800" dirty="0"/>
              <a:t>ideas and support from others, inform the communication process with their perspectives on authority, gender, issues, conflict, etc.</a:t>
            </a:r>
            <a:endParaRPr lang="en-US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200" b="1" dirty="0" smtClean="0">
                <a:solidFill>
                  <a:srgbClr val="FF0000"/>
                </a:solidFill>
              </a:rPr>
              <a:t>10) Be </a:t>
            </a:r>
            <a:r>
              <a:rPr lang="en-US" sz="3200" b="1" dirty="0">
                <a:solidFill>
                  <a:srgbClr val="FF0000"/>
                </a:solidFill>
              </a:rPr>
              <a:t>prepared to correct errors </a:t>
            </a:r>
            <a:r>
              <a:rPr lang="en-US" sz="3200" b="1" dirty="0" smtClean="0">
                <a:solidFill>
                  <a:srgbClr val="FF0000"/>
                </a:solidFill>
              </a:rPr>
              <a:t> promptly </a:t>
            </a:r>
            <a:r>
              <a:rPr lang="en-US" sz="3200" b="1" dirty="0">
                <a:solidFill>
                  <a:srgbClr val="FF0000"/>
                </a:solidFill>
              </a:rPr>
              <a:t>and take on challenges: </a:t>
            </a:r>
            <a:endParaRPr lang="en-US" sz="3200" b="1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Technical </a:t>
            </a:r>
            <a:r>
              <a:rPr lang="en-US" sz="2800" dirty="0"/>
              <a:t>communication is a </a:t>
            </a:r>
            <a:r>
              <a:rPr lang="en-US" sz="2800" dirty="0" smtClean="0">
                <a:solidFill>
                  <a:srgbClr val="00B0F0"/>
                </a:solidFill>
              </a:rPr>
              <a:t>awkward, </a:t>
            </a:r>
            <a:r>
              <a:rPr lang="en-US" sz="2800" dirty="0">
                <a:solidFill>
                  <a:srgbClr val="00B0F0"/>
                </a:solidFill>
              </a:rPr>
              <a:t>rigid, detailed process, with the risk to make errors. </a:t>
            </a:r>
            <a:endParaRPr lang="en-US" sz="2800" dirty="0" smtClean="0">
              <a:solidFill>
                <a:srgbClr val="00B0F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But </a:t>
            </a:r>
            <a:r>
              <a:rPr lang="en-US" sz="2800" dirty="0"/>
              <a:t>technical </a:t>
            </a:r>
            <a:r>
              <a:rPr lang="en-US" sz="2800" dirty="0" smtClean="0"/>
              <a:t>communicator </a:t>
            </a:r>
            <a:r>
              <a:rPr lang="en-US" sz="2800" dirty="0"/>
              <a:t>should be prepared to </a:t>
            </a:r>
            <a:r>
              <a:rPr lang="en-US" sz="2800" dirty="0">
                <a:solidFill>
                  <a:srgbClr val="00B0F0"/>
                </a:solidFill>
              </a:rPr>
              <a:t>face such issues without grudges, professionally.</a:t>
            </a:r>
          </a:p>
          <a:p>
            <a:pPr marL="0" indent="0">
              <a:buNone/>
            </a:pPr>
            <a:r>
              <a:rPr lang="en-US" sz="3300" b="1" dirty="0" smtClean="0">
                <a:solidFill>
                  <a:srgbClr val="FF0000"/>
                </a:solidFill>
              </a:rPr>
              <a:t>11) Be </a:t>
            </a:r>
            <a:r>
              <a:rPr lang="en-US" sz="3300" b="1" dirty="0">
                <a:solidFill>
                  <a:srgbClr val="FF0000"/>
                </a:solidFill>
              </a:rPr>
              <a:t>creative: </a:t>
            </a:r>
            <a:r>
              <a:rPr lang="en-US" sz="2800" dirty="0"/>
              <a:t>technical communicators need to be </a:t>
            </a:r>
            <a:r>
              <a:rPr lang="en-US" sz="2800" dirty="0">
                <a:solidFill>
                  <a:srgbClr val="00B0F0"/>
                </a:solidFill>
              </a:rPr>
              <a:t>creative in improving the task, solving problems, and innovating new methods that work. 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9641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861</TotalTime>
  <Words>954</Words>
  <Application>Microsoft Office PowerPoint</Application>
  <PresentationFormat>On-screen Show (4:3)</PresentationFormat>
  <Paragraphs>71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JOSHI SHANKAR</dc:creator>
  <cp:lastModifiedBy>lenovo</cp:lastModifiedBy>
  <cp:revision>80</cp:revision>
  <dcterms:created xsi:type="dcterms:W3CDTF">2006-08-16T00:00:00Z</dcterms:created>
  <dcterms:modified xsi:type="dcterms:W3CDTF">2025-01-21T12:47:23Z</dcterms:modified>
</cp:coreProperties>
</file>