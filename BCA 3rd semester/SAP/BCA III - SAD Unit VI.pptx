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handoutMasterIdLst>
    <p:handoutMasterId r:id="rId43"/>
  </p:handoutMasterIdLst>
  <p:sldIdLst>
    <p:sldId id="256" r:id="rId2"/>
    <p:sldId id="413" r:id="rId3"/>
    <p:sldId id="350" r:id="rId4"/>
    <p:sldId id="414" r:id="rId5"/>
    <p:sldId id="415" r:id="rId6"/>
    <p:sldId id="416" r:id="rId7"/>
    <p:sldId id="417" r:id="rId8"/>
    <p:sldId id="418" r:id="rId9"/>
    <p:sldId id="419" r:id="rId10"/>
    <p:sldId id="420" r:id="rId11"/>
    <p:sldId id="421" r:id="rId12"/>
    <p:sldId id="428" r:id="rId13"/>
    <p:sldId id="429" r:id="rId14"/>
    <p:sldId id="422" r:id="rId15"/>
    <p:sldId id="423" r:id="rId16"/>
    <p:sldId id="425" r:id="rId17"/>
    <p:sldId id="424" r:id="rId18"/>
    <p:sldId id="426" r:id="rId19"/>
    <p:sldId id="427" r:id="rId20"/>
    <p:sldId id="430" r:id="rId21"/>
    <p:sldId id="431" r:id="rId22"/>
    <p:sldId id="432" r:id="rId23"/>
    <p:sldId id="434" r:id="rId24"/>
    <p:sldId id="435" r:id="rId25"/>
    <p:sldId id="436" r:id="rId26"/>
    <p:sldId id="437" r:id="rId27"/>
    <p:sldId id="438" r:id="rId28"/>
    <p:sldId id="439" r:id="rId29"/>
    <p:sldId id="440" r:id="rId30"/>
    <p:sldId id="441" r:id="rId31"/>
    <p:sldId id="443" r:id="rId32"/>
    <p:sldId id="444" r:id="rId33"/>
    <p:sldId id="442" r:id="rId34"/>
    <p:sldId id="446" r:id="rId35"/>
    <p:sldId id="445" r:id="rId36"/>
    <p:sldId id="447" r:id="rId37"/>
    <p:sldId id="448" r:id="rId38"/>
    <p:sldId id="449" r:id="rId39"/>
    <p:sldId id="450" r:id="rId40"/>
    <p:sldId id="326" r:id="rId4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8F6"/>
    <a:srgbClr val="0055F8"/>
    <a:srgbClr val="8DC87A"/>
    <a:srgbClr val="1EC900"/>
    <a:srgbClr val="5FB273"/>
    <a:srgbClr val="72C71F"/>
    <a:srgbClr val="00C82D"/>
    <a:srgbClr val="00FF57"/>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266"/>
    <p:restoredTop sz="94660"/>
  </p:normalViewPr>
  <p:slideViewPr>
    <p:cSldViewPr showGuides="1">
      <p:cViewPr varScale="1">
        <p:scale>
          <a:sx n="127" d="100"/>
          <a:sy n="127" d="100"/>
        </p:scale>
        <p:origin x="1096" y="176"/>
      </p:cViewPr>
      <p:guideLst>
        <p:guide orient="horz" pos="2160"/>
        <p:guide pos="3839"/>
        <p:guide pos="1007"/>
      </p:guideLst>
    </p:cSldViewPr>
  </p:slideViewPr>
  <p:notesTextViewPr>
    <p:cViewPr>
      <p:scale>
        <a:sx n="1" d="1"/>
        <a:sy n="1" d="1"/>
      </p:scale>
      <p:origin x="0" y="0"/>
    </p:cViewPr>
  </p:notesTextViewPr>
  <p:notesViewPr>
    <p:cSldViewPr showGuides="1">
      <p:cViewPr varScale="1">
        <p:scale>
          <a:sx n="63" d="100"/>
          <a:sy n="63" d="100"/>
        </p:scale>
        <p:origin x="2838"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DB7646E-8811-423A-9C42-2CBFADA00A96}" type="datetimeFigureOut">
              <a:rPr lang="en-US" smtClean="0"/>
              <a:t>1/31/26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4360E59-1627-4404-ACC5-51C744AB0F27}" type="slidenum">
              <a:rPr lang="en-US" smtClean="0"/>
              <a:t>‹#›</a:t>
            </a:fld>
            <a:endParaRPr lang="en-US"/>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defRPr>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defRPr>
            </a:lvl1pPr>
          </a:lstStyle>
          <a:p>
            <a:fld id="{D677E230-58DD-43ED-96A1-552DDAB53532}" type="datetimeFigureOut">
              <a:rPr lang="en-US" smtClean="0"/>
              <a:pPr/>
              <a:t>1/31/26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defRPr>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defRPr>
            </a:lvl1pPr>
          </a:lstStyle>
          <a:p>
            <a:fld id="{841221E5-7225-48EB-A4EE-420E7BFCF705}" type="slidenum">
              <a:rPr lang="en-US" smtClean="0"/>
              <a:pPr/>
              <a:t>‹#›</a:t>
            </a:fld>
            <a:endParaRPr lang="en-US"/>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n-lt"/>
        <a:ea typeface="+mn-ea"/>
        <a:cs typeface="+mn-cs"/>
      </a:defRPr>
    </a:lvl1pPr>
    <a:lvl2pPr marL="457200" algn="l" defTabSz="914400" rtl="0" eaLnBrk="1" latinLnBrk="0" hangingPunct="1">
      <a:defRPr sz="1200" kern="1200">
        <a:solidFill>
          <a:schemeClr val="tx2"/>
        </a:solidFill>
        <a:latin typeface="+mn-lt"/>
        <a:ea typeface="+mn-ea"/>
        <a:cs typeface="+mn-cs"/>
      </a:defRPr>
    </a:lvl2pPr>
    <a:lvl3pPr marL="914400" algn="l" defTabSz="914400" rtl="0" eaLnBrk="1" latinLnBrk="0" hangingPunct="1">
      <a:defRPr sz="1200" kern="1200">
        <a:solidFill>
          <a:schemeClr val="tx2"/>
        </a:solidFill>
        <a:latin typeface="+mn-lt"/>
        <a:ea typeface="+mn-ea"/>
        <a:cs typeface="+mn-cs"/>
      </a:defRPr>
    </a:lvl3pPr>
    <a:lvl4pPr marL="1371600" algn="l" defTabSz="914400" rtl="0" eaLnBrk="1" latinLnBrk="0" hangingPunct="1">
      <a:defRPr sz="1200" kern="1200">
        <a:solidFill>
          <a:schemeClr val="tx2"/>
        </a:solidFill>
        <a:latin typeface="+mn-lt"/>
        <a:ea typeface="+mn-ea"/>
        <a:cs typeface="+mn-cs"/>
      </a:defRPr>
    </a:lvl4pPr>
    <a:lvl5pPr marL="1828800" algn="l" defTabSz="914400" rtl="0" eaLnBrk="1" latinLnBrk="0" hangingPunct="1">
      <a:defRPr sz="1200" kern="1200">
        <a:solidFill>
          <a:schemeClr val="tx2"/>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1" name="Rectangle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2" name="Rectangle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3" name="Straight Connector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15" name="Straight Connector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anchor="t" anchorCtr="0" compatLnSpc="1">
            <a:prstTxWarp prst="textNoShape">
              <a:avLst/>
            </a:prstTxWarp>
          </a:bodyPr>
          <a:lstStyle/>
          <a:p>
            <a:endParaRPr/>
          </a:p>
        </p:txBody>
      </p:sp>
      <p:sp>
        <p:nvSpPr>
          <p:cNvPr id="2" name="Title 1"/>
          <p:cNvSpPr>
            <a:spLocks noGrp="1"/>
          </p:cNvSpPr>
          <p:nvPr>
            <p:ph type="ctrTitle"/>
          </p:nvPr>
        </p:nvSpPr>
        <p:spPr>
          <a:xfrm>
            <a:off x="2428669" y="1600200"/>
            <a:ext cx="8329031" cy="2680127"/>
          </a:xfrm>
        </p:spPr>
        <p:txBody>
          <a:bodyPr>
            <a:noAutofit/>
          </a:bodyPr>
          <a:lstStyle>
            <a:lvl1pPr>
              <a:defRPr sz="5400"/>
            </a:lvl1pPr>
          </a:lstStyle>
          <a:p>
            <a:r>
              <a:rPr lang="en-US"/>
              <a:t>Click to edit Master title style</a:t>
            </a:r>
            <a:endParaRPr/>
          </a:p>
        </p:txBody>
      </p:sp>
      <p:sp>
        <p:nvSpPr>
          <p:cNvPr id="3" name="Subtitle 2"/>
          <p:cNvSpPr>
            <a:spLocks noGrp="1"/>
          </p:cNvSpPr>
          <p:nvPr>
            <p:ph type="subTitle" idx="1"/>
          </p:nvPr>
        </p:nvSpPr>
        <p:spPr>
          <a:xfrm>
            <a:off x="2428669" y="4344915"/>
            <a:ext cx="7516442" cy="1116085"/>
          </a:xfrm>
        </p:spPr>
        <p:txBody>
          <a:bodyPr>
            <a:normAutofit/>
          </a:bodyPr>
          <a:lstStyle>
            <a:lvl1pPr marL="0" indent="0" algn="l">
              <a:spcBef>
                <a:spcPts val="0"/>
              </a:spcBef>
              <a:buNone/>
              <a:defRPr sz="3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1/31/26</a:t>
            </a:fld>
            <a:endParaRPr lang="en-US" dirty="0"/>
          </a:p>
        </p:txBody>
      </p:sp>
      <p:sp>
        <p:nvSpPr>
          <p:cNvPr id="5" name="Footer Placeholder 4"/>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6" name="Slide Number Placeholder 5"/>
          <p:cNvSpPr>
            <a:spLocks noGrp="1"/>
          </p:cNvSpPr>
          <p:nvPr>
            <p:ph type="sldNum" sz="quarter" idx="12"/>
          </p:nvPr>
        </p:nvSpPr>
        <p:spPr>
          <a:xfrm>
            <a:off x="10666412" y="6356351"/>
            <a:ext cx="609441" cy="365125"/>
          </a:xfrm>
        </p:spPr>
        <p:txBody>
          <a:bodyPr/>
          <a:lstStyle>
            <a:lvl1pPr>
              <a:defRPr baseline="0">
                <a:solidFill>
                  <a:schemeClr val="tx2"/>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C2C6F8EA-316C-41DE-B9A4-EDCC3A85ED9A}" type="datetimeFigureOut">
              <a:rPr lang="en-US"/>
              <a:t>1/31/26</a:t>
            </a:fld>
            <a:endParaRPr dirty="0"/>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9" name="Rectangle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0" name="Rectangle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4" name="Rectangle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1" name="Rectangle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22" name="Straight Connector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p:spPr>
        <p:txBody>
          <a:bodyPr vert="horz" wrap="square" lIns="121899" tIns="60949" rIns="121899" bIns="60949" numCol="1" anchor="t" anchorCtr="0" compatLnSpc="1">
            <a:prstTxWarp prst="textNoShape">
              <a:avLst/>
            </a:prstTxWarp>
          </a:bodyPr>
          <a:lstStyle/>
          <a:p>
            <a:endParaRPr/>
          </a:p>
        </p:txBody>
      </p:sp>
      <p:cxnSp>
        <p:nvCxnSpPr>
          <p:cNvPr id="23" name="Straight Connector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7" name="Rectangle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8" name="Rectangle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9" name="Rectangle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30" name="Rectangle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31" name="Straight Connector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cxnSp>
        <p:nvCxnSpPr>
          <p:cNvPr id="33" name="Straight Connector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98613" y="1600201"/>
            <a:ext cx="8283272" cy="2654064"/>
          </a:xfrm>
        </p:spPr>
        <p:txBody>
          <a:bodyPr anchor="b">
            <a:normAutofit/>
          </a:bodyPr>
          <a:lstStyle>
            <a:lvl1pPr algn="l">
              <a:defRPr sz="5400" b="0" cap="none" baseline="0"/>
            </a:lvl1pPr>
          </a:lstStyle>
          <a:p>
            <a:r>
              <a:rPr lang="en-US"/>
              <a:t>Click to edit Master title style</a:t>
            </a:r>
            <a:endParaRPr/>
          </a:p>
        </p:txBody>
      </p:sp>
      <p:sp>
        <p:nvSpPr>
          <p:cNvPr id="3" name="Text Placeholder 2"/>
          <p:cNvSpPr>
            <a:spLocks noGrp="1"/>
          </p:cNvSpPr>
          <p:nvPr>
            <p:ph type="body" idx="1"/>
          </p:nvPr>
        </p:nvSpPr>
        <p:spPr>
          <a:xfrm>
            <a:off x="1598613" y="4259996"/>
            <a:ext cx="7264623" cy="1150203"/>
          </a:xfrm>
        </p:spPr>
        <p:txBody>
          <a:bodyPr anchor="t">
            <a:normAutofit/>
          </a:bodyPr>
          <a:lstStyle>
            <a:lvl1pPr marL="0" indent="0">
              <a:spcBef>
                <a:spcPts val="0"/>
              </a:spcBef>
              <a:buNone/>
              <a:defRPr sz="3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1/31/26</a:t>
            </a:fld>
            <a:endParaRPr lang="en-US" dirty="0"/>
          </a:p>
        </p:txBody>
      </p:sp>
      <p:sp>
        <p:nvSpPr>
          <p:cNvPr id="5" name="Footer Placeholder 4"/>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6" name="Slide Number Placeholder 5"/>
          <p:cNvSpPr>
            <a:spLocks noGrp="1"/>
          </p:cNvSpPr>
          <p:nvPr>
            <p:ph type="sldNum" sz="quarter" idx="12"/>
          </p:nvPr>
        </p:nvSpPr>
        <p:spPr>
          <a:xfrm>
            <a:off x="10666571" y="6356351"/>
            <a:ext cx="609441" cy="365125"/>
          </a:xfrm>
        </p:spPr>
        <p:txBody>
          <a:bodyPr/>
          <a:lstStyle>
            <a:lvl1pPr>
              <a:defRPr baseline="0">
                <a:solidFill>
                  <a:schemeClr val="tx2"/>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593436" y="1600200"/>
            <a:ext cx="4814586"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61651" y="1600200"/>
            <a:ext cx="4814586" cy="4572000"/>
          </a:xfrm>
        </p:spPr>
        <p:txBody>
          <a:bodyPr/>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C2C6F8EA-316C-41DE-B9A4-EDCC3A85ED9A}" type="datetimeFigureOut">
              <a:rPr lang="en-US"/>
              <a:t>1/31/26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93436" y="1499616"/>
            <a:ext cx="4818888" cy="938784"/>
          </a:xfrm>
        </p:spPr>
        <p:txBody>
          <a:bodyPr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93436" y="2514706"/>
            <a:ext cx="4814586" cy="3657493"/>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557349" y="1499616"/>
            <a:ext cx="4818888" cy="938784"/>
          </a:xfrm>
        </p:spPr>
        <p:txBody>
          <a:bodyPr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7349" y="2514600"/>
            <a:ext cx="4818888" cy="365556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C2C6F8EA-316C-41DE-B9A4-EDCC3A85ED9A}" type="datetimeFigureOut">
              <a:rPr lang="en-US"/>
              <a:t>1/31/26</a:t>
            </a:fld>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9" name="Slide Number Placeholder 8"/>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C2C6F8EA-316C-41DE-B9A4-EDCC3A85ED9A}" type="datetimeFigureOut">
              <a:rPr lang="en-US"/>
              <a:t>1/31/26</a:t>
            </a:fld>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5" name="Slide Number Placeholder 4"/>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6" name="Rectangle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cxnSp>
        <p:nvCxnSpPr>
          <p:cNvPr id="7" name="Straight Connector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Date Placeholder 1"/>
          <p:cNvSpPr>
            <a:spLocks noGrp="1"/>
          </p:cNvSpPr>
          <p:nvPr>
            <p:ph type="dt" sz="half" idx="10"/>
          </p:nvPr>
        </p:nvSpPr>
        <p:spPr/>
        <p:txBody>
          <a:bodyPr/>
          <a:lstStyle/>
          <a:p>
            <a:fld id="{C2C6F8EA-316C-41DE-B9A4-EDCC3A85ED9A}" type="datetimeFigureOut">
              <a:rPr lang="en-US"/>
              <a:t>1/31/26</a:t>
            </a:fld>
            <a:endParaRPr/>
          </a:p>
        </p:txBody>
      </p:sp>
      <p:sp>
        <p:nvSpPr>
          <p:cNvPr id="3" name="Footer Placeholder 2"/>
          <p:cNvSpPr>
            <a:spLocks noGrp="1"/>
          </p:cNvSpPr>
          <p:nvPr>
            <p:ph type="ftr" sz="quarter" idx="11"/>
          </p:nvPr>
        </p:nvSpPr>
        <p:spPr/>
        <p:txBody>
          <a:bodyPr/>
          <a:lstStyle/>
          <a:p>
            <a:r>
              <a:rPr lang="en-US" dirty="0"/>
              <a:t>Add a footer</a:t>
            </a:r>
            <a:endParaRPr dirty="0"/>
          </a:p>
        </p:txBody>
      </p:sp>
      <p:sp>
        <p:nvSpPr>
          <p:cNvPr id="4" name="Slide Number Placeholder 3"/>
          <p:cNvSpPr>
            <a:spLocks noGrp="1"/>
          </p:cNvSpPr>
          <p:nvPr>
            <p:ph type="sldNum" sz="quarter" idx="12"/>
          </p:nvPr>
        </p:nvSpPr>
        <p:spPr/>
        <p:txBody>
          <a:bodyPr/>
          <a:lstStyle>
            <a:lvl1pPr>
              <a:defRPr>
                <a:solidFill>
                  <a:schemeClr val="bg1"/>
                </a:solidFill>
              </a:defRPr>
            </a:lvl1pPr>
          </a:lstStyle>
          <a:p>
            <a:fld id="{7DC1BBB0-96F0-4077-A278-0F3FB5C104D3}" type="slidenum">
              <a:rPr/>
              <a:pPr/>
              <a:t>‹#›</a:t>
            </a:fld>
            <a:endParaRPr/>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cxnSp>
        <p:nvCxnSpPr>
          <p:cNvPr id="10" name="Straight Connector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Title 1"/>
          <p:cNvSpPr>
            <a:spLocks noGrp="1"/>
          </p:cNvSpPr>
          <p:nvPr>
            <p:ph type="title"/>
          </p:nvPr>
        </p:nvSpPr>
        <p:spPr bwMode="white">
          <a:xfrm>
            <a:off x="1074240" y="381000"/>
            <a:ext cx="3293422" cy="1371600"/>
          </a:xfrm>
        </p:spPr>
        <p:txBody>
          <a:bodyPr anchor="b">
            <a:normAutofit/>
          </a:bodyPr>
          <a:lstStyle>
            <a:lvl1pPr algn="l">
              <a:defRPr sz="2800" b="0" cap="all" baseline="0">
                <a:solidFill>
                  <a:schemeClr val="bg1"/>
                </a:solidFill>
              </a:defRPr>
            </a:lvl1pPr>
          </a:lstStyle>
          <a:p>
            <a:r>
              <a:rPr lang="en-US"/>
              <a:t>Click to edit Master title style</a:t>
            </a:r>
            <a:endParaRPr/>
          </a:p>
        </p:txBody>
      </p:sp>
      <p:sp>
        <p:nvSpPr>
          <p:cNvPr id="3" name="Content Placeholder 2"/>
          <p:cNvSpPr>
            <a:spLocks noGrp="1"/>
          </p:cNvSpPr>
          <p:nvPr>
            <p:ph idx="1"/>
          </p:nvPr>
        </p:nvSpPr>
        <p:spPr>
          <a:xfrm>
            <a:off x="5180251" y="482600"/>
            <a:ext cx="6195986" cy="56896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baseline="0"/>
            </a:lvl8pPr>
            <a:lvl9pPr>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bwMode="white">
          <a:xfrm>
            <a:off x="1074240" y="1828800"/>
            <a:ext cx="3293422" cy="4343400"/>
          </a:xfrm>
        </p:spPr>
        <p:txBody>
          <a:bodyPr>
            <a:normAutofit/>
          </a:bodyPr>
          <a:lstStyle>
            <a:lvl1pPr marL="0" indent="0">
              <a:buNone/>
              <a:defRPr sz="20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C6F8EA-316C-41DE-B9A4-EDCC3A85ED9A}" type="datetimeFigureOut">
              <a:rPr lang="en-US"/>
              <a:t>1/31/26</a:t>
            </a:fld>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7" name="Slide Number Placeholder 6"/>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9" name="Rectangle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2" name="Title 1"/>
          <p:cNvSpPr>
            <a:spLocks noGrp="1"/>
          </p:cNvSpPr>
          <p:nvPr>
            <p:ph type="title"/>
          </p:nvPr>
        </p:nvSpPr>
        <p:spPr>
          <a:xfrm>
            <a:off x="1074240" y="381000"/>
            <a:ext cx="3293422" cy="1371600"/>
          </a:xfrm>
        </p:spPr>
        <p:txBody>
          <a:bodyPr anchor="b">
            <a:normAutofit/>
          </a:bodyPr>
          <a:lstStyle>
            <a:lvl1pPr algn="l">
              <a:defRPr sz="2800" b="0" cap="all" baseline="0">
                <a:solidFill>
                  <a:schemeClr val="tx1">
                    <a:lumMod val="75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bwMode="auto">
          <a:xfrm>
            <a:off x="5180251" y="482600"/>
            <a:ext cx="6195986" cy="5689600"/>
          </a:xfrm>
          <a:ln w="19050">
            <a:solidFill>
              <a:schemeClr val="bg1"/>
            </a:solidFill>
          </a:ln>
        </p:spPr>
        <p:txBody>
          <a:bodyPr>
            <a:normAutofit/>
          </a:bodyPr>
          <a:lstStyle>
            <a:lvl1pPr marL="0" indent="0">
              <a:buNone/>
              <a:defRPr sz="2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1074240" y="1828800"/>
            <a:ext cx="3293422" cy="4343400"/>
          </a:xfrm>
        </p:spPr>
        <p:txBody>
          <a:bodyPr>
            <a:normAutofit/>
          </a:bodyPr>
          <a:lstStyle>
            <a:lvl1pPr marL="0" indent="0">
              <a:buNone/>
              <a:defRPr sz="20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baseline="0">
                <a:solidFill>
                  <a:schemeClr val="tx2"/>
                </a:solidFill>
              </a:defRPr>
            </a:lvl1pPr>
          </a:lstStyle>
          <a:p>
            <a:fld id="{C2C6F8EA-316C-41DE-B9A4-EDCC3A85ED9A}" type="datetimeFigureOut">
              <a:rPr lang="en-US" smtClean="0"/>
              <a:pPr/>
              <a:t>1/31/26</a:t>
            </a:fld>
            <a:endParaRPr lang="en-US" dirty="0"/>
          </a:p>
        </p:txBody>
      </p:sp>
      <p:sp>
        <p:nvSpPr>
          <p:cNvPr id="6" name="Footer Placeholder 5"/>
          <p:cNvSpPr>
            <a:spLocks noGrp="1"/>
          </p:cNvSpPr>
          <p:nvPr>
            <p:ph type="ftr" sz="quarter" idx="11"/>
          </p:nvPr>
        </p:nvSpPr>
        <p:spPr/>
        <p:txBody>
          <a:bodyPr/>
          <a:lstStyle>
            <a:lvl1pPr>
              <a:defRPr baseline="0">
                <a:solidFill>
                  <a:schemeClr val="tx2"/>
                </a:solidFill>
              </a:defRPr>
            </a:lvl1pPr>
          </a:lstStyle>
          <a:p>
            <a:r>
              <a:rPr lang="en-US"/>
              <a:t>Add a footer</a:t>
            </a:r>
            <a:endParaRPr lang="en-US" dirty="0"/>
          </a:p>
        </p:txBody>
      </p:sp>
      <p:sp>
        <p:nvSpPr>
          <p:cNvPr id="7" name="Slide Number Placeholder 6"/>
          <p:cNvSpPr>
            <a:spLocks noGrp="1"/>
          </p:cNvSpPr>
          <p:nvPr>
            <p:ph type="sldNum" sz="quarter" idx="12"/>
          </p:nvPr>
        </p:nvSpPr>
        <p:spPr/>
        <p:txBody>
          <a:bodyPr/>
          <a:lstStyle>
            <a:lvl1pPr>
              <a:defRPr baseline="0">
                <a:solidFill>
                  <a:schemeClr val="tx2"/>
                </a:solidFill>
              </a:defRPr>
            </a:lvl1pPr>
          </a:lstStyle>
          <a:p>
            <a:fld id="{7DC1BBB0-96F0-4077-A278-0F3FB5C104D3}" type="slidenum">
              <a:rPr lang="en-US" smtClean="0"/>
              <a:pPr/>
              <a:t>‹#›</a:t>
            </a:fld>
            <a:endParaRPr lang="en-US"/>
          </a:p>
        </p:txBody>
      </p:sp>
      <p:cxnSp>
        <p:nvCxnSpPr>
          <p:cNvPr id="10" name="Straight Connector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2C6F8EA-316C-41DE-B9A4-EDCC3A85ED9A}" type="datetimeFigureOut">
              <a:rPr lang="en-US"/>
              <a:t>1/31/26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0" name="Rectangle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1" name="Straight Connector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a:p>
        </p:txBody>
      </p:sp>
      <p:cxnSp>
        <p:nvCxnSpPr>
          <p:cNvPr id="14" name="Straight Connector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9599612" y="685800"/>
            <a:ext cx="1787526"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598613" y="685800"/>
            <a:ext cx="7848599"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C2C6F8EA-316C-41DE-B9A4-EDCC3A85ED9A}" type="datetimeFigureOut">
              <a:rPr lang="en-US"/>
              <a:t>1/31/26</a:t>
            </a:fld>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6" name="Slide Number Placeholder 5"/>
          <p:cNvSpPr>
            <a:spLocks noGrp="1"/>
          </p:cNvSpPr>
          <p:nvPr>
            <p:ph type="sldNum" sz="quarter" idx="12"/>
          </p:nvPr>
        </p:nvSpPr>
        <p:spPr/>
        <p:txBody>
          <a:bodyPr/>
          <a:lstStyle/>
          <a:p>
            <a:fld id="{7DC1BBB0-96F0-4077-A278-0F3FB5C104D3}" type="slidenum">
              <a:rPr/>
              <a:t>‹#›</a:t>
            </a:fld>
            <a:endParaRPr/>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a:p>
        </p:txBody>
      </p:sp>
      <p:sp>
        <p:nvSpPr>
          <p:cNvPr id="8" name="Rectangle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9" name="Rectangle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13" name="Rectangle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cxnSp>
        <p:nvCxnSpPr>
          <p:cNvPr id="14" name="Straight Connector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a:p>
        </p:txBody>
      </p:sp>
      <p:cxnSp>
        <p:nvCxnSpPr>
          <p:cNvPr id="16" name="Straight Connector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5180250" y="6356351"/>
            <a:ext cx="1218883" cy="365125"/>
          </a:xfrm>
          <a:prstGeom prst="rect">
            <a:avLst/>
          </a:prstGeom>
        </p:spPr>
        <p:txBody>
          <a:bodyPr vert="horz" lIns="91440" tIns="45720" rIns="91440" bIns="45720" rtlCol="0" anchor="ctr"/>
          <a:lstStyle>
            <a:lvl1pPr algn="l">
              <a:defRPr sz="1200" cap="all" baseline="0">
                <a:solidFill>
                  <a:schemeClr val="tx1"/>
                </a:solidFill>
              </a:defRPr>
            </a:lvl1pPr>
          </a:lstStyle>
          <a:p>
            <a:fld id="{C2C6F8EA-316C-41DE-B9A4-EDCC3A85ED9A}" type="datetimeFigureOut">
              <a:rPr lang="en-US" smtClean="0"/>
              <a:pPr/>
              <a:t>1/31/26</a:t>
            </a:fld>
            <a:endParaRPr lang="en-US" dirty="0"/>
          </a:p>
        </p:txBody>
      </p:sp>
      <p:sp>
        <p:nvSpPr>
          <p:cNvPr id="5" name="Footer Placeholder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defRPr>
            </a:lvl1pPr>
          </a:lstStyle>
          <a:p>
            <a:fld id="{7DC1BBB0-96F0-4077-A278-0F3FB5C104D3}" type="slidenum">
              <a:rPr lang="en-US" smtClean="0"/>
              <a:pPr/>
              <a:t>‹#›</a:t>
            </a:fld>
            <a:endParaRPr lang="en-US"/>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1">
              <a:lumMod val="75000"/>
            </a:schemeClr>
          </a:solidFill>
          <a:latin typeface="+mj-lt"/>
          <a:ea typeface="+mj-ea"/>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n-lt"/>
          <a:ea typeface="+mn-ea"/>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n-lt"/>
          <a:ea typeface="+mn-ea"/>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n-lt"/>
          <a:ea typeface="+mn-ea"/>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28669" y="908720"/>
            <a:ext cx="9282367" cy="3371607"/>
          </a:xfrm>
        </p:spPr>
        <p:txBody>
          <a:bodyPr/>
          <a:lstStyle/>
          <a:p>
            <a:r>
              <a:rPr lang="en-US" dirty="0"/>
              <a:t>System Analysis and Project Management – Project Implementation &amp; Post Implementation Activities</a:t>
            </a:r>
          </a:p>
        </p:txBody>
      </p:sp>
      <p:sp>
        <p:nvSpPr>
          <p:cNvPr id="3" name="Subtitle 2"/>
          <p:cNvSpPr>
            <a:spLocks noGrp="1"/>
          </p:cNvSpPr>
          <p:nvPr>
            <p:ph type="subTitle" idx="1"/>
          </p:nvPr>
        </p:nvSpPr>
        <p:spPr/>
        <p:txBody>
          <a:bodyPr/>
          <a:lstStyle/>
          <a:p>
            <a:r>
              <a:rPr lang="en-US" dirty="0"/>
              <a:t>Prepared By - </a:t>
            </a:r>
            <a:r>
              <a:rPr lang="en-US" dirty="0" err="1"/>
              <a:t>Vesh</a:t>
            </a:r>
            <a:r>
              <a:rPr lang="en-US" dirty="0"/>
              <a:t> Raj Joshi</a:t>
            </a: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Implementation Phase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485900" y="1772816"/>
            <a:ext cx="9890337" cy="4824535"/>
          </a:xfrm>
        </p:spPr>
        <p:txBody>
          <a:bodyPr>
            <a:normAutofit fontScale="70000" lnSpcReduction="20000"/>
          </a:bodyPr>
          <a:lstStyle/>
          <a:p>
            <a:r>
              <a:rPr lang="en-NP" b="1" dirty="0"/>
              <a:t>Concepts</a:t>
            </a:r>
          </a:p>
          <a:p>
            <a:pPr marL="358775" indent="0">
              <a:lnSpc>
                <a:spcPct val="120000"/>
              </a:lnSpc>
              <a:buNone/>
            </a:pPr>
            <a:r>
              <a:rPr lang="en-US" sz="2400" dirty="0"/>
              <a:t>As the design phase is completed, the systems analyst begins to focus on the tasks associated with building the system, ensuring that it performs as designed and developing documentation for the system. Programmers will carry out the time consuming and costly task of writing programs, while the systems analyst prepares plans for a variety of tests that will verify that the system performs as expected.</a:t>
            </a:r>
          </a:p>
          <a:p>
            <a:pPr marL="358775" indent="0">
              <a:lnSpc>
                <a:spcPct val="120000"/>
              </a:lnSpc>
              <a:buNone/>
            </a:pPr>
            <a:r>
              <a:rPr lang="en-US" sz="2400" dirty="0"/>
              <a:t>As the implementation phase begins, foremost on people’s minds is construction of the new system. Largest components of building the system is writing programs. Doing good, thorough job on the analysis and design phases is essential to a smooth and successful implementation phase.</a:t>
            </a:r>
          </a:p>
          <a:p>
            <a:pPr marL="358775" indent="0">
              <a:lnSpc>
                <a:spcPct val="120000"/>
              </a:lnSpc>
              <a:buNone/>
            </a:pPr>
            <a:r>
              <a:rPr lang="en-US" sz="2400" dirty="0"/>
              <a:t>The implementation phase consists of developing and testing the system’s software, documentation, and new operating procedures. Successful </a:t>
            </a:r>
            <a:r>
              <a:rPr lang="en-US" sz="2500" dirty="0"/>
              <a:t>system implementation includes installation of the new system, selection of the most suitable conversion approach, preparing the organization and the users to adapt to the new system, and ensuring that the system is supported after it is put into production.</a:t>
            </a:r>
          </a:p>
          <a:p>
            <a:pPr marL="358775" indent="0">
              <a:lnSpc>
                <a:spcPct val="120000"/>
              </a:lnSpc>
              <a:buNone/>
            </a:pPr>
            <a:endParaRPr lang="en-US" sz="2500" dirty="0"/>
          </a:p>
          <a:p>
            <a:pPr marL="358775" indent="0">
              <a:lnSpc>
                <a:spcPct val="120000"/>
              </a:lnSpc>
              <a:buNone/>
            </a:pPr>
            <a:endParaRPr lang="en-US" sz="2400" dirty="0"/>
          </a:p>
        </p:txBody>
      </p:sp>
    </p:spTree>
    <p:extLst>
      <p:ext uri="{BB962C8B-B14F-4D97-AF65-F5344CB8AC3E}">
        <p14:creationId xmlns:p14="http://schemas.microsoft.com/office/powerpoint/2010/main" val="258978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a:bodyPr>
          <a:lstStyle/>
          <a:p>
            <a:r>
              <a:rPr lang="en-NP" b="1" dirty="0"/>
              <a:t>Managing Programing Process</a:t>
            </a:r>
          </a:p>
          <a:p>
            <a:pPr lvl="1"/>
            <a:r>
              <a:rPr lang="en-US" dirty="0"/>
              <a:t>The programming process is quite well understood and generally flows smoothly. </a:t>
            </a:r>
          </a:p>
          <a:p>
            <a:pPr lvl="1"/>
            <a:r>
              <a:rPr lang="en-US" dirty="0"/>
              <a:t>Usually project fails, not because the programmers were unable to write the programs. Flaws in analysis, design, or project management are the leading contributors to project failure. </a:t>
            </a:r>
          </a:p>
          <a:p>
            <a:pPr lvl="1"/>
            <a:r>
              <a:rPr lang="en-US" dirty="0"/>
              <a:t>To ensure that the process of programming is conducted successfully, </a:t>
            </a:r>
          </a:p>
          <a:p>
            <a:pPr lvl="1"/>
            <a:r>
              <a:rPr lang="en-US" dirty="0"/>
              <a:t>project manager must do to manage the programming effort: </a:t>
            </a:r>
            <a:r>
              <a:rPr lang="en-US" b="1" dirty="0"/>
              <a:t>assigning programming tasks</a:t>
            </a:r>
            <a:r>
              <a:rPr lang="en-US" dirty="0"/>
              <a:t>, </a:t>
            </a:r>
            <a:r>
              <a:rPr lang="en-US" b="1" dirty="0"/>
              <a:t>coordinating the activities</a:t>
            </a:r>
            <a:r>
              <a:rPr lang="en-US" dirty="0"/>
              <a:t>, and </a:t>
            </a:r>
            <a:r>
              <a:rPr lang="en-US" b="1" dirty="0"/>
              <a:t>managing the programming schedule</a:t>
            </a:r>
            <a:r>
              <a:rPr lang="en-US" dirty="0"/>
              <a:t>.</a:t>
            </a:r>
          </a:p>
          <a:p>
            <a:pPr marL="365760" lvl="1" indent="0">
              <a:lnSpc>
                <a:spcPct val="110000"/>
              </a:lnSpc>
              <a:buNone/>
            </a:pPr>
            <a:r>
              <a:rPr lang="en-US" dirty="0"/>
              <a:t> </a:t>
            </a:r>
          </a:p>
          <a:p>
            <a:pPr marL="365760" lvl="1" indent="0">
              <a:lnSpc>
                <a:spcPct val="110000"/>
              </a:lnSpc>
              <a:buNone/>
            </a:pPr>
            <a:endParaRPr lang="en-US" dirty="0"/>
          </a:p>
        </p:txBody>
      </p:sp>
    </p:spTree>
    <p:extLst>
      <p:ext uri="{BB962C8B-B14F-4D97-AF65-F5344CB8AC3E}">
        <p14:creationId xmlns:p14="http://schemas.microsoft.com/office/powerpoint/2010/main" val="381258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fontScale="92500" lnSpcReduction="20000"/>
          </a:bodyPr>
          <a:lstStyle/>
          <a:p>
            <a:r>
              <a:rPr lang="en-NP" b="1" dirty="0"/>
              <a:t>Assigning programming tasks</a:t>
            </a:r>
          </a:p>
          <a:p>
            <a:pPr lvl="1">
              <a:lnSpc>
                <a:spcPct val="110000"/>
              </a:lnSpc>
            </a:pPr>
            <a:r>
              <a:rPr lang="en-US" dirty="0"/>
              <a:t>project manager identified the programming support required for constructing the system in terms of the numbers and skill levels of programmers.</a:t>
            </a:r>
          </a:p>
          <a:p>
            <a:pPr lvl="1">
              <a:lnSpc>
                <a:spcPct val="110000"/>
              </a:lnSpc>
            </a:pPr>
            <a:r>
              <a:rPr lang="en-US" dirty="0"/>
              <a:t>must assign program modules to the programming staff.</a:t>
            </a:r>
          </a:p>
          <a:p>
            <a:pPr lvl="1">
              <a:lnSpc>
                <a:spcPct val="110000"/>
              </a:lnSpc>
            </a:pPr>
            <a:r>
              <a:rPr lang="en-US" dirty="0"/>
              <a:t>each programming module should be as separate and distinct as possible from the other modules</a:t>
            </a:r>
          </a:p>
          <a:p>
            <a:pPr lvl="1">
              <a:lnSpc>
                <a:spcPct val="110000"/>
              </a:lnSpc>
            </a:pPr>
            <a:r>
              <a:rPr lang="en-US" dirty="0"/>
              <a:t>Module will be breakdown to single unit of task</a:t>
            </a:r>
          </a:p>
          <a:p>
            <a:pPr lvl="1">
              <a:lnSpc>
                <a:spcPct val="110000"/>
              </a:lnSpc>
            </a:pPr>
            <a:r>
              <a:rPr lang="en-US" dirty="0"/>
              <a:t>Each task will be assigned to programmers</a:t>
            </a:r>
          </a:p>
          <a:p>
            <a:pPr lvl="1">
              <a:lnSpc>
                <a:spcPct val="110000"/>
              </a:lnSpc>
            </a:pPr>
            <a:r>
              <a:rPr lang="en-US" dirty="0"/>
              <a:t>Experienced, skilled programmers will be assigned the most complex modules, while novice programmers will be given less complex ones</a:t>
            </a:r>
          </a:p>
          <a:p>
            <a:pPr lvl="1">
              <a:lnSpc>
                <a:spcPct val="110000"/>
              </a:lnSpc>
            </a:pPr>
            <a:r>
              <a:rPr lang="en-US" dirty="0"/>
              <a:t>There will be a mismatch between the available programming skills </a:t>
            </a:r>
            <a:r>
              <a:rPr lang="en-US"/>
              <a:t>and the </a:t>
            </a:r>
            <a:r>
              <a:rPr lang="en-US" dirty="0"/>
              <a:t>programming skills that are needed to complete the programming</a:t>
            </a:r>
          </a:p>
          <a:p>
            <a:pPr lvl="1">
              <a:lnSpc>
                <a:spcPct val="100000"/>
              </a:lnSpc>
            </a:pPr>
            <a:endParaRPr lang="en-US" dirty="0"/>
          </a:p>
          <a:p>
            <a:pPr lvl="1">
              <a:lnSpc>
                <a:spcPct val="100000"/>
              </a:lnSpc>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117913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lnSpcReduction="10000"/>
          </a:bodyPr>
          <a:lstStyle/>
          <a:p>
            <a:r>
              <a:rPr lang="en-NP" b="1" dirty="0"/>
              <a:t>Assigning programming tasks</a:t>
            </a:r>
          </a:p>
          <a:p>
            <a:pPr lvl="1">
              <a:lnSpc>
                <a:spcPct val="100000"/>
              </a:lnSpc>
            </a:pPr>
            <a:r>
              <a:rPr lang="en-US" dirty="0"/>
              <a:t>the project manager must take steps at this time to ensure that skill deficiencies are eliminated through additional training or through mentoring arrangements with more experienced, skilled programmers.</a:t>
            </a:r>
          </a:p>
          <a:p>
            <a:pPr lvl="1">
              <a:lnSpc>
                <a:spcPct val="100000"/>
              </a:lnSpc>
            </a:pPr>
            <a:r>
              <a:rPr lang="en-US" dirty="0"/>
              <a:t>must assign program modules to the programming staff.</a:t>
            </a:r>
          </a:p>
          <a:p>
            <a:pPr marL="365760" lvl="1" indent="0">
              <a:lnSpc>
                <a:spcPct val="100000"/>
              </a:lnSpc>
              <a:buNone/>
            </a:pPr>
            <a:r>
              <a:rPr lang="en-US" dirty="0"/>
              <a:t>Note</a:t>
            </a:r>
          </a:p>
          <a:p>
            <a:pPr lvl="1">
              <a:lnSpc>
                <a:spcPct val="100000"/>
              </a:lnSpc>
            </a:pPr>
            <a:r>
              <a:rPr lang="en-US" dirty="0"/>
              <a:t>required skills are not readily available, the project manager must incorporate additional time in the project schedule</a:t>
            </a:r>
          </a:p>
          <a:p>
            <a:pPr lvl="1">
              <a:lnSpc>
                <a:spcPct val="100000"/>
              </a:lnSpc>
            </a:pPr>
            <a:r>
              <a:rPr lang="en-US" dirty="0"/>
              <a:t>Fat team – tempting to speedup the programming task - an ironic fact of system development is that the more programmers who are involved, the longer the project will take – communication, coordination increases exponentially</a:t>
            </a: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2441987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fontScale="92500" lnSpcReduction="10000"/>
          </a:bodyPr>
          <a:lstStyle/>
          <a:p>
            <a:r>
              <a:rPr lang="en-NP" b="1" dirty="0"/>
              <a:t>Assigning programming tasks</a:t>
            </a:r>
          </a:p>
          <a:p>
            <a:pPr lvl="1">
              <a:lnSpc>
                <a:spcPct val="100000"/>
              </a:lnSpc>
            </a:pPr>
            <a:r>
              <a:rPr lang="en-US" dirty="0"/>
              <a:t>the project manager must take steps at this time to ensure that skill deficiencies are eliminated through additional training or through mentoring arrangements with more experienced, skilled programmers.</a:t>
            </a:r>
          </a:p>
          <a:p>
            <a:pPr lvl="1">
              <a:lnSpc>
                <a:spcPct val="100000"/>
              </a:lnSpc>
            </a:pPr>
            <a:r>
              <a:rPr lang="en-US" dirty="0"/>
              <a:t>must assign program modules to the programming staff.</a:t>
            </a:r>
          </a:p>
          <a:p>
            <a:pPr lvl="1">
              <a:lnSpc>
                <a:spcPct val="100000"/>
              </a:lnSpc>
            </a:pPr>
            <a:r>
              <a:rPr lang="en-US" dirty="0"/>
              <a:t>If it’s large project then break it down to small projects and develop them separately</a:t>
            </a:r>
          </a:p>
          <a:p>
            <a:pPr marL="365760" lvl="1" indent="0">
              <a:lnSpc>
                <a:spcPct val="100000"/>
              </a:lnSpc>
              <a:buNone/>
            </a:pPr>
            <a:r>
              <a:rPr lang="en-US" dirty="0"/>
              <a:t>Note</a:t>
            </a:r>
          </a:p>
          <a:p>
            <a:pPr lvl="1">
              <a:lnSpc>
                <a:spcPct val="100000"/>
              </a:lnSpc>
            </a:pPr>
            <a:r>
              <a:rPr lang="en-US" dirty="0"/>
              <a:t>required skills are not readily available, the project manager must incorporate additional time in the project schedule</a:t>
            </a:r>
          </a:p>
          <a:p>
            <a:pPr lvl="1">
              <a:lnSpc>
                <a:spcPct val="100000"/>
              </a:lnSpc>
            </a:pPr>
            <a:r>
              <a:rPr lang="en-US" dirty="0"/>
              <a:t>Fat team – tempting to speedup the programming task - an ironic fact of system development is that the more programmers who are involved, the longer the project will take – communication, coordination increases exponentially</a:t>
            </a: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386084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a:bodyPr>
          <a:lstStyle/>
          <a:p>
            <a:r>
              <a:rPr lang="en-NP" b="1" dirty="0"/>
              <a:t>Coordinating Activities</a:t>
            </a:r>
            <a:endParaRPr lang="en-US" dirty="0"/>
          </a:p>
          <a:p>
            <a:pPr lvl="1"/>
            <a:r>
              <a:rPr lang="en-US" dirty="0"/>
              <a:t>Coordination can be done through both high-­ tech and low-­ tech means. </a:t>
            </a:r>
          </a:p>
          <a:p>
            <a:pPr lvl="1"/>
            <a:r>
              <a:rPr lang="en-US" dirty="0"/>
              <a:t>The simplest approach is to have a weekly project meeting to discuss any changes to the system that have arisen during the past week ­ or just any issues that have come up. </a:t>
            </a:r>
          </a:p>
          <a:p>
            <a:pPr lvl="1"/>
            <a:r>
              <a:rPr lang="en-US" dirty="0"/>
              <a:t>Regular meetings, even if they are brief, encourage the widespread communication and discussion of issues before they become problems</a:t>
            </a:r>
            <a:r>
              <a:rPr lang="en-US" dirty="0">
                <a:solidFill>
                  <a:srgbClr val="000000"/>
                </a:solidFill>
                <a:effectLst/>
                <a:latin typeface="Helvetica" pitchFamily="2" charset="0"/>
              </a:rPr>
              <a:t>.</a:t>
            </a:r>
          </a:p>
          <a:p>
            <a:pPr lvl="1"/>
            <a:r>
              <a:rPr lang="en-US" dirty="0"/>
              <a:t>way to improve coordination is to create and follow standards that can range from formal rules for naming files to forms that must be completed when goals are reached to programming guidelines</a:t>
            </a:r>
          </a:p>
          <a:p>
            <a:pPr lvl="1"/>
            <a:endParaRPr lang="en-US" dirty="0">
              <a:solidFill>
                <a:srgbClr val="000000"/>
              </a:solidFill>
              <a:effectLst/>
              <a:latin typeface="Helvetica" pitchFamily="2" charset="0"/>
            </a:endParaRP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2824532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a:bodyPr>
          <a:lstStyle/>
          <a:p>
            <a:r>
              <a:rPr lang="en-NP" b="1" dirty="0"/>
              <a:t>Coordinating Activities</a:t>
            </a:r>
            <a:endParaRPr lang="en-US" dirty="0"/>
          </a:p>
          <a:p>
            <a:pPr lvl="1"/>
            <a:r>
              <a:rPr lang="en-US" dirty="0"/>
              <a:t>Many project teams set up three “areas” in which programmers can work: a development area, a testing area, and a production area.</a:t>
            </a:r>
          </a:p>
          <a:p>
            <a:pPr lvl="1"/>
            <a:r>
              <a:rPr lang="en-US" dirty="0"/>
              <a:t>Make working dashboard to show the task status along who is working on it. Work status board column be like to do, in progress, to be reviewed, in testing and in UAT and Done </a:t>
            </a:r>
          </a:p>
          <a:p>
            <a:pPr lvl="1"/>
            <a:r>
              <a:rPr lang="en-US" dirty="0"/>
              <a:t>Use version control system (GitHub, GitLab, Bitbucket) so that manual managing files is very big task</a:t>
            </a:r>
          </a:p>
          <a:p>
            <a:pPr lvl="1"/>
            <a:r>
              <a:rPr lang="en-US" dirty="0"/>
              <a:t>Use different servers for deployment – Development, QA, UAT, Staging and Production.</a:t>
            </a:r>
          </a:p>
          <a:p>
            <a:pPr lvl="1"/>
            <a:endParaRPr lang="en-US" dirty="0"/>
          </a:p>
          <a:p>
            <a:pPr lvl="1"/>
            <a:endParaRPr lang="en-US" dirty="0"/>
          </a:p>
          <a:p>
            <a:pPr lvl="1"/>
            <a:endParaRPr lang="en-US" dirty="0">
              <a:solidFill>
                <a:srgbClr val="000000"/>
              </a:solidFill>
              <a:effectLst/>
              <a:latin typeface="Helvetica" pitchFamily="2" charset="0"/>
            </a:endParaRP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337541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a:bodyPr>
          <a:lstStyle/>
          <a:p>
            <a:r>
              <a:rPr lang="en-NP" b="1" dirty="0"/>
              <a:t>Managing Schedule</a:t>
            </a:r>
            <a:endParaRPr lang="en-US" dirty="0"/>
          </a:p>
          <a:p>
            <a:pPr lvl="1">
              <a:lnSpc>
                <a:spcPct val="110000"/>
              </a:lnSpc>
            </a:pPr>
            <a:r>
              <a:rPr lang="en-US" dirty="0"/>
              <a:t>Time estimates that were produced during the initial planning phase and refined during the analysis and design phases must almost always be refined as the project progresses during construction, because it is virtually impossible to develop an exact assessment of the project’s schedule. </a:t>
            </a:r>
          </a:p>
          <a:p>
            <a:pPr lvl="1"/>
            <a:r>
              <a:rPr lang="en-US" dirty="0"/>
              <a:t>a well-­ done set of time estimates will usually have a 10% margin of error by the time implementation is reached</a:t>
            </a:r>
          </a:p>
          <a:p>
            <a:pPr lvl="1"/>
            <a:r>
              <a:rPr lang="en-US" dirty="0"/>
              <a:t>The issue of scope creep, becomes particularly troublesome at this stage. Scope creep occurs when new requirements are added to the project after the system design has been finalized</a:t>
            </a:r>
            <a:r>
              <a:rPr lang="en-US" dirty="0">
                <a:solidFill>
                  <a:srgbClr val="000000"/>
                </a:solidFill>
                <a:effectLst/>
                <a:latin typeface="Helvetica" pitchFamily="2" charset="0"/>
              </a:rPr>
              <a:t>.</a:t>
            </a:r>
          </a:p>
          <a:p>
            <a:pPr lvl="1"/>
            <a:endParaRPr lang="en-US" dirty="0"/>
          </a:p>
          <a:p>
            <a:pPr lvl="1"/>
            <a:endParaRPr lang="en-US" dirty="0"/>
          </a:p>
          <a:p>
            <a:pPr lvl="1"/>
            <a:endParaRPr lang="en-US" dirty="0"/>
          </a:p>
          <a:p>
            <a:pPr lvl="1"/>
            <a:endParaRPr lang="en-US" dirty="0">
              <a:solidFill>
                <a:srgbClr val="000000"/>
              </a:solidFill>
              <a:effectLst/>
              <a:latin typeface="Helvetica" pitchFamily="2" charset="0"/>
            </a:endParaRP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5810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fontScale="92500"/>
          </a:bodyPr>
          <a:lstStyle/>
          <a:p>
            <a:r>
              <a:rPr lang="en-NP" b="1" dirty="0"/>
              <a:t>Managing Schedule</a:t>
            </a:r>
            <a:endParaRPr lang="en-US" dirty="0"/>
          </a:p>
          <a:p>
            <a:pPr lvl="1">
              <a:lnSpc>
                <a:spcPct val="110000"/>
              </a:lnSpc>
            </a:pPr>
            <a:r>
              <a:rPr lang="en-US" dirty="0"/>
              <a:t>unnoticed day-­ by-­ day slippages in the schedule. One module is a day late here; another one, a day late there. Pretty soon these minor delays add up, and the project is noticeably behind schedule.</a:t>
            </a:r>
          </a:p>
          <a:p>
            <a:pPr lvl="1">
              <a:lnSpc>
                <a:spcPct val="110000"/>
              </a:lnSpc>
            </a:pPr>
            <a:r>
              <a:rPr lang="en-US" dirty="0"/>
              <a:t>the key to managing the programming effort is to watch these minor slippages carefully and update the schedule accordingly</a:t>
            </a:r>
          </a:p>
          <a:p>
            <a:pPr lvl="1">
              <a:lnSpc>
                <a:spcPct val="110000"/>
              </a:lnSpc>
            </a:pPr>
            <a:r>
              <a:rPr lang="en-US" dirty="0"/>
              <a:t>a project manager will create a risk assessment that tracks potential risks, along with an evaluation of their likelihood and potential impact. As programming progresses, the list of risks will change as some items are removed and others surface. The best project managers, however, work hard to keep risks from having an impact on the schedule and costs associated with the project.</a:t>
            </a:r>
          </a:p>
          <a:p>
            <a:pPr marL="365760" lvl="1" indent="0">
              <a:buNone/>
            </a:pPr>
            <a:endParaRPr lang="en-US" dirty="0"/>
          </a:p>
          <a:p>
            <a:pPr lvl="1"/>
            <a:endParaRPr lang="en-US" dirty="0"/>
          </a:p>
          <a:p>
            <a:pPr lvl="1"/>
            <a:endParaRPr lang="en-US" dirty="0"/>
          </a:p>
          <a:p>
            <a:pPr lvl="1"/>
            <a:endParaRPr lang="en-US" dirty="0">
              <a:solidFill>
                <a:srgbClr val="000000"/>
              </a:solidFill>
              <a:effectLst/>
              <a:latin typeface="Helvetica" pitchFamily="2" charset="0"/>
            </a:endParaRP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1749872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fontScale="85000" lnSpcReduction="10000"/>
          </a:bodyPr>
          <a:lstStyle/>
          <a:p>
            <a:r>
              <a:rPr lang="en-NP" b="1" dirty="0"/>
              <a:t>Testing</a:t>
            </a:r>
            <a:endParaRPr lang="en-US" dirty="0"/>
          </a:p>
          <a:p>
            <a:pPr lvl="1">
              <a:lnSpc>
                <a:spcPct val="110000"/>
              </a:lnSpc>
            </a:pPr>
            <a:r>
              <a:rPr lang="en-US" dirty="0"/>
              <a:t>Writing programs is a fun, creative activity. Novice programmers tend to get caught up in the development of the programs themselves and are often much less enchanted with the tasks of testing and documenting their work. </a:t>
            </a:r>
          </a:p>
          <a:p>
            <a:pPr lvl="1">
              <a:lnSpc>
                <a:spcPct val="110000"/>
              </a:lnSpc>
            </a:pPr>
            <a:r>
              <a:rPr lang="en-US" dirty="0"/>
              <a:t>Testing and documentation are not fun; consequently, they receive less attention than writing the programs</a:t>
            </a:r>
          </a:p>
          <a:p>
            <a:pPr lvl="1">
              <a:lnSpc>
                <a:spcPct val="110000"/>
              </a:lnSpc>
            </a:pPr>
            <a:r>
              <a:rPr lang="en-US" dirty="0"/>
              <a:t>Programming and testing are similar to writing and editing</a:t>
            </a:r>
          </a:p>
          <a:p>
            <a:pPr lvl="1">
              <a:lnSpc>
                <a:spcPct val="110000"/>
              </a:lnSpc>
            </a:pPr>
            <a:r>
              <a:rPr lang="en-US" dirty="0"/>
              <a:t>A program is not considered finished until it has passed its testing.</a:t>
            </a:r>
          </a:p>
          <a:p>
            <a:pPr lvl="1">
              <a:lnSpc>
                <a:spcPct val="110000"/>
              </a:lnSpc>
            </a:pPr>
            <a:r>
              <a:rPr lang="en-US" dirty="0"/>
              <a:t>Testing is frequently the primary focus of the systems analysts as the system is being constructed. The analysts must resist the temptation to rush into testing as soon as the very first program module is complete, however. Spontaneously testing different events and possibilities without spending time to develop a comprehensive test plan is dangerous, because important tests may be overlooked. </a:t>
            </a:r>
          </a:p>
          <a:p>
            <a:pPr lvl="1">
              <a:lnSpc>
                <a:spcPct val="110000"/>
              </a:lnSpc>
            </a:pPr>
            <a:endParaRPr lang="en-US" dirty="0"/>
          </a:p>
          <a:p>
            <a:pPr lvl="1"/>
            <a:endParaRPr lang="en-US" dirty="0"/>
          </a:p>
          <a:p>
            <a:pPr lvl="1"/>
            <a:endParaRPr lang="en-US" dirty="0"/>
          </a:p>
          <a:p>
            <a:pPr lvl="1"/>
            <a:endParaRPr lang="en-US" dirty="0">
              <a:solidFill>
                <a:srgbClr val="000000"/>
              </a:solidFill>
              <a:effectLst/>
              <a:latin typeface="Helvetica" pitchFamily="2" charset="0"/>
            </a:endParaRP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2306689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a:bodyPr>
          <a:lstStyle/>
          <a:p>
            <a:r>
              <a:rPr lang="en-NP" b="1" dirty="0"/>
              <a:t>Test Plan </a:t>
            </a:r>
            <a:endParaRPr lang="en-US" dirty="0"/>
          </a:p>
          <a:p>
            <a:pPr lvl="1">
              <a:lnSpc>
                <a:spcPct val="120000"/>
              </a:lnSpc>
            </a:pPr>
            <a:r>
              <a:rPr lang="en-US" dirty="0"/>
              <a:t>Testing starts with the tester developing a test plan that defines a series of tests that will be conducted. </a:t>
            </a:r>
          </a:p>
          <a:p>
            <a:pPr lvl="1">
              <a:lnSpc>
                <a:spcPct val="120000"/>
              </a:lnSpc>
            </a:pPr>
            <a:r>
              <a:rPr lang="en-US" dirty="0"/>
              <a:t>Each individual test has a specific objective, describes a set of specific test cases to examine, and defines the expected results and the actual results observed.</a:t>
            </a:r>
          </a:p>
          <a:p>
            <a:pPr lvl="1">
              <a:lnSpc>
                <a:spcPct val="120000"/>
              </a:lnSpc>
            </a:pPr>
            <a:r>
              <a:rPr lang="en-US" dirty="0"/>
              <a:t>The test objective is taken directly from the program specification or from the program source code. </a:t>
            </a:r>
          </a:p>
          <a:p>
            <a:pPr lvl="1">
              <a:lnSpc>
                <a:spcPct val="110000"/>
              </a:lnSpc>
            </a:pPr>
            <a:endParaRPr lang="en-US" dirty="0"/>
          </a:p>
          <a:p>
            <a:pPr lvl="1"/>
            <a:endParaRPr lang="en-US" dirty="0"/>
          </a:p>
          <a:p>
            <a:pPr lvl="1"/>
            <a:endParaRPr lang="en-US" dirty="0"/>
          </a:p>
          <a:p>
            <a:pPr lvl="1"/>
            <a:endParaRPr lang="en-US" dirty="0">
              <a:solidFill>
                <a:srgbClr val="000000"/>
              </a:solidFill>
              <a:effectLst/>
              <a:latin typeface="Helvetica" pitchFamily="2" charset="0"/>
            </a:endParaRP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83580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Programming Process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a:bodyPr>
          <a:lstStyle/>
          <a:p>
            <a:r>
              <a:rPr lang="en-NP" b="1" dirty="0"/>
              <a:t>Test Plan Format</a:t>
            </a:r>
            <a:endParaRPr lang="en-US" dirty="0"/>
          </a:p>
          <a:p>
            <a:pPr marL="365760" lvl="1" indent="0">
              <a:lnSpc>
                <a:spcPct val="120000"/>
              </a:lnSpc>
              <a:buNone/>
            </a:pPr>
            <a:r>
              <a:rPr lang="en-US" dirty="0"/>
              <a:t> </a:t>
            </a:r>
          </a:p>
          <a:p>
            <a:pPr lvl="1">
              <a:lnSpc>
                <a:spcPct val="110000"/>
              </a:lnSpc>
            </a:pPr>
            <a:endParaRPr lang="en-US" dirty="0"/>
          </a:p>
          <a:p>
            <a:pPr lvl="1"/>
            <a:endParaRPr lang="en-US" dirty="0"/>
          </a:p>
          <a:p>
            <a:pPr lvl="1"/>
            <a:endParaRPr lang="en-US" dirty="0"/>
          </a:p>
          <a:p>
            <a:pPr lvl="1"/>
            <a:endParaRPr lang="en-US" dirty="0">
              <a:solidFill>
                <a:srgbClr val="000000"/>
              </a:solidFill>
              <a:effectLst/>
              <a:latin typeface="Helvetica" pitchFamily="2" charset="0"/>
            </a:endParaRPr>
          </a:p>
          <a:p>
            <a:pPr marL="365760" lvl="1" indent="0">
              <a:lnSpc>
                <a:spcPct val="100000"/>
              </a:lnSpc>
              <a:buNone/>
            </a:pPr>
            <a:endParaRPr lang="en-US" dirty="0"/>
          </a:p>
          <a:p>
            <a:pPr marL="365760" lvl="1" indent="0">
              <a:lnSpc>
                <a:spcPct val="110000"/>
              </a:lnSpc>
              <a:buNone/>
            </a:pPr>
            <a:endParaRPr lang="en-US" dirty="0"/>
          </a:p>
        </p:txBody>
      </p:sp>
      <p:pic>
        <p:nvPicPr>
          <p:cNvPr id="3" name="Picture 2">
            <a:extLst>
              <a:ext uri="{FF2B5EF4-FFF2-40B4-BE49-F238E27FC236}">
                <a16:creationId xmlns:a16="http://schemas.microsoft.com/office/drawing/2014/main" id="{A2CDDB17-EABD-4BC1-8047-A66C60834F0E}"/>
              </a:ext>
            </a:extLst>
          </p:cNvPr>
          <p:cNvPicPr>
            <a:picLocks noChangeAspect="1"/>
          </p:cNvPicPr>
          <p:nvPr/>
        </p:nvPicPr>
        <p:blipFill>
          <a:blip r:embed="rId2"/>
          <a:stretch>
            <a:fillRect/>
          </a:stretch>
        </p:blipFill>
        <p:spPr>
          <a:xfrm>
            <a:off x="1773932" y="1490309"/>
            <a:ext cx="4778636" cy="5367691"/>
          </a:xfrm>
          <a:prstGeom prst="rect">
            <a:avLst/>
          </a:prstGeom>
        </p:spPr>
      </p:pic>
      <p:pic>
        <p:nvPicPr>
          <p:cNvPr id="5" name="Picture 4">
            <a:extLst>
              <a:ext uri="{FF2B5EF4-FFF2-40B4-BE49-F238E27FC236}">
                <a16:creationId xmlns:a16="http://schemas.microsoft.com/office/drawing/2014/main" id="{E0FDCF18-5BE8-F4CE-638D-752B4ECB8847}"/>
              </a:ext>
            </a:extLst>
          </p:cNvPr>
          <p:cNvPicPr>
            <a:picLocks noChangeAspect="1"/>
          </p:cNvPicPr>
          <p:nvPr/>
        </p:nvPicPr>
        <p:blipFill>
          <a:blip r:embed="rId3"/>
          <a:stretch>
            <a:fillRect/>
          </a:stretch>
        </p:blipFill>
        <p:spPr>
          <a:xfrm>
            <a:off x="6958508" y="1468898"/>
            <a:ext cx="4509108" cy="5367691"/>
          </a:xfrm>
          <a:prstGeom prst="rect">
            <a:avLst/>
          </a:prstGeom>
        </p:spPr>
      </p:pic>
    </p:spTree>
    <p:extLst>
      <p:ext uri="{BB962C8B-B14F-4D97-AF65-F5344CB8AC3E}">
        <p14:creationId xmlns:p14="http://schemas.microsoft.com/office/powerpoint/2010/main" val="3875996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Testing Strategies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a:bodyPr>
          <a:lstStyle/>
          <a:p>
            <a:r>
              <a:rPr lang="en-NP" b="1" dirty="0"/>
              <a:t>Unit Test</a:t>
            </a:r>
            <a:endParaRPr lang="en-US" dirty="0"/>
          </a:p>
          <a:p>
            <a:pPr lvl="1">
              <a:lnSpc>
                <a:spcPct val="120000"/>
              </a:lnSpc>
            </a:pPr>
            <a:r>
              <a:rPr lang="en-US" dirty="0"/>
              <a:t>Unit tests focus on one unit a program or a program module that performs a specific function that can be tested.</a:t>
            </a:r>
          </a:p>
          <a:p>
            <a:pPr lvl="1">
              <a:lnSpc>
                <a:spcPct val="100000"/>
              </a:lnSpc>
            </a:pPr>
            <a:r>
              <a:rPr lang="en-US" dirty="0"/>
              <a:t>Purpose of a unit test is to ensure that the module or program performs its function as defined in the program specification. </a:t>
            </a:r>
          </a:p>
          <a:p>
            <a:pPr lvl="1">
              <a:lnSpc>
                <a:spcPct val="100000"/>
              </a:lnSpc>
            </a:pPr>
            <a:r>
              <a:rPr lang="en-US" dirty="0"/>
              <a:t>Performed right after the program developed ;tested code to be error free and conducted by developer or system analyst.</a:t>
            </a:r>
          </a:p>
          <a:p>
            <a:pPr lvl="1"/>
            <a:r>
              <a:rPr lang="en-US" dirty="0"/>
              <a:t>tests are based strictly on the program specification and may discover errors resulting from the programmer’s misinterpretation of the specifications.</a:t>
            </a:r>
          </a:p>
          <a:p>
            <a:pPr lvl="1"/>
            <a:endParaRPr lang="en-US" dirty="0"/>
          </a:p>
          <a:p>
            <a:pPr lvl="1">
              <a:lnSpc>
                <a:spcPct val="100000"/>
              </a:lnSpc>
            </a:pPr>
            <a:endParaRPr lang="en-US" dirty="0"/>
          </a:p>
          <a:p>
            <a:pPr lvl="1">
              <a:lnSpc>
                <a:spcPct val="110000"/>
              </a:lnSpc>
            </a:pPr>
            <a:endParaRPr lang="en-US" dirty="0"/>
          </a:p>
          <a:p>
            <a:pPr lvl="1"/>
            <a:endParaRPr lang="en-US" dirty="0"/>
          </a:p>
          <a:p>
            <a:pPr lvl="1"/>
            <a:endParaRPr lang="en-US" dirty="0"/>
          </a:p>
          <a:p>
            <a:pPr lvl="1"/>
            <a:endParaRPr lang="en-US" dirty="0">
              <a:solidFill>
                <a:srgbClr val="000000"/>
              </a:solidFill>
              <a:effectLst/>
              <a:latin typeface="Helvetica" pitchFamily="2" charset="0"/>
            </a:endParaRP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3698945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Testing Strategies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772816"/>
            <a:ext cx="9838871" cy="4824535"/>
          </a:xfrm>
        </p:spPr>
        <p:txBody>
          <a:bodyPr>
            <a:normAutofit/>
          </a:bodyPr>
          <a:lstStyle/>
          <a:p>
            <a:r>
              <a:rPr lang="en-NP" b="1" dirty="0"/>
              <a:t>Unit Test</a:t>
            </a:r>
            <a:endParaRPr lang="en-US" dirty="0"/>
          </a:p>
          <a:p>
            <a:pPr lvl="1">
              <a:lnSpc>
                <a:spcPct val="100000"/>
              </a:lnSpc>
            </a:pPr>
            <a:r>
              <a:rPr lang="en-US" dirty="0"/>
              <a:t>Black Box Testing – </a:t>
            </a:r>
          </a:p>
          <a:p>
            <a:pPr lvl="2">
              <a:lnSpc>
                <a:spcPct val="100000"/>
              </a:lnSpc>
            </a:pPr>
            <a:r>
              <a:rPr lang="en-US" dirty="0"/>
              <a:t>testing is the most used</a:t>
            </a:r>
          </a:p>
          <a:p>
            <a:pPr lvl="2">
              <a:lnSpc>
                <a:spcPct val="100000"/>
              </a:lnSpc>
            </a:pPr>
            <a:r>
              <a:rPr lang="en-US" dirty="0"/>
              <a:t>Test plan is developed directly from the program specification: each item in the program specification becomes a test, and several test cases are developed for it.</a:t>
            </a:r>
          </a:p>
          <a:p>
            <a:pPr lvl="1">
              <a:lnSpc>
                <a:spcPct val="100000"/>
              </a:lnSpc>
            </a:pPr>
            <a:r>
              <a:rPr lang="en-US" dirty="0"/>
              <a:t>White box testing</a:t>
            </a:r>
          </a:p>
          <a:p>
            <a:pPr lvl="2">
              <a:lnSpc>
                <a:spcPct val="100000"/>
              </a:lnSpc>
            </a:pPr>
            <a:r>
              <a:rPr lang="en-US" dirty="0"/>
              <a:t>reserved for special circumstances </a:t>
            </a:r>
          </a:p>
          <a:p>
            <a:pPr lvl="2">
              <a:lnSpc>
                <a:spcPct val="100000"/>
              </a:lnSpc>
            </a:pPr>
            <a:r>
              <a:rPr lang="en-US" dirty="0"/>
              <a:t>tester wants to review the actual program code, usually when complexity is high.</a:t>
            </a:r>
          </a:p>
          <a:p>
            <a:pPr lvl="2"/>
            <a:endParaRPr lang="en-US" dirty="0"/>
          </a:p>
          <a:p>
            <a:pPr lvl="1"/>
            <a:endParaRPr lang="en-US" dirty="0"/>
          </a:p>
          <a:p>
            <a:pPr lvl="1">
              <a:lnSpc>
                <a:spcPct val="110000"/>
              </a:lnSpc>
            </a:pPr>
            <a:endParaRPr lang="en-US" dirty="0"/>
          </a:p>
          <a:p>
            <a:pPr lvl="1"/>
            <a:endParaRPr lang="en-US" dirty="0"/>
          </a:p>
          <a:p>
            <a:pPr lvl="1"/>
            <a:endParaRPr lang="en-US" dirty="0"/>
          </a:p>
          <a:p>
            <a:pPr lvl="1"/>
            <a:endParaRPr lang="en-US" dirty="0">
              <a:solidFill>
                <a:srgbClr val="000000"/>
              </a:solidFill>
              <a:effectLst/>
              <a:latin typeface="Helvetica" pitchFamily="2" charset="0"/>
            </a:endParaRPr>
          </a:p>
          <a:p>
            <a:pPr marL="365760" lvl="1" indent="0">
              <a:lnSpc>
                <a:spcPct val="100000"/>
              </a:lnSpc>
              <a:buNone/>
            </a:pPr>
            <a:endParaRPr lang="en-US" dirty="0"/>
          </a:p>
          <a:p>
            <a:pPr marL="365760" lvl="1" indent="0">
              <a:lnSpc>
                <a:spcPct val="110000"/>
              </a:lnSpc>
              <a:buNone/>
            </a:pPr>
            <a:endParaRPr lang="en-US" dirty="0"/>
          </a:p>
        </p:txBody>
      </p:sp>
    </p:spTree>
    <p:extLst>
      <p:ext uri="{BB962C8B-B14F-4D97-AF65-F5344CB8AC3E}">
        <p14:creationId xmlns:p14="http://schemas.microsoft.com/office/powerpoint/2010/main" val="713212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Testing Strategies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639641"/>
            <a:ext cx="9838871" cy="5040559"/>
          </a:xfrm>
        </p:spPr>
        <p:txBody>
          <a:bodyPr>
            <a:normAutofit fontScale="92500" lnSpcReduction="20000"/>
          </a:bodyPr>
          <a:lstStyle/>
          <a:p>
            <a:r>
              <a:rPr lang="en-NP" b="1" dirty="0"/>
              <a:t>Integration/Feature Test</a:t>
            </a:r>
            <a:endParaRPr lang="en-US" dirty="0"/>
          </a:p>
          <a:p>
            <a:pPr lvl="1">
              <a:lnSpc>
                <a:spcPct val="110000"/>
              </a:lnSpc>
            </a:pPr>
            <a:r>
              <a:rPr lang="en-US" dirty="0"/>
              <a:t>Integration tests assess whether a set of modules or programs that must work together do so without error. They ensure that the interfaces and linkages between different parts of the system work properly.</a:t>
            </a:r>
          </a:p>
          <a:p>
            <a:pPr lvl="1">
              <a:lnSpc>
                <a:spcPct val="120000"/>
              </a:lnSpc>
            </a:pPr>
            <a:r>
              <a:rPr lang="en-US" dirty="0"/>
              <a:t>Performed after unit test of each part or unit of code has been completed competed; so the focus now is on the flow of control among modules and on the data exchanged among them</a:t>
            </a:r>
          </a:p>
          <a:p>
            <a:pPr lvl="1">
              <a:lnSpc>
                <a:spcPct val="120000"/>
              </a:lnSpc>
            </a:pPr>
            <a:r>
              <a:rPr lang="en-US" dirty="0"/>
              <a:t>the tester develops a test plan that has a series of tests. Integration testing is often done by a set of programmers and/ or systems analysts.</a:t>
            </a:r>
          </a:p>
          <a:p>
            <a:pPr lvl="1">
              <a:lnSpc>
                <a:spcPct val="120000"/>
              </a:lnSpc>
            </a:pPr>
            <a:r>
              <a:rPr lang="en-US" dirty="0"/>
              <a:t>There are four approaches to integration testing: </a:t>
            </a:r>
            <a:r>
              <a:rPr lang="en-US" b="1" dirty="0"/>
              <a:t>user interface testing</a:t>
            </a:r>
            <a:r>
              <a:rPr lang="en-US" dirty="0"/>
              <a:t>, </a:t>
            </a:r>
            <a:r>
              <a:rPr lang="en-US" b="1" dirty="0"/>
              <a:t>use scenario testing</a:t>
            </a:r>
            <a:r>
              <a:rPr lang="en-US" dirty="0"/>
              <a:t>, </a:t>
            </a:r>
            <a:r>
              <a:rPr lang="en-US" b="1" dirty="0"/>
              <a:t>data flow testing</a:t>
            </a:r>
            <a:r>
              <a:rPr lang="en-US" dirty="0"/>
              <a:t>, and </a:t>
            </a:r>
            <a:r>
              <a:rPr lang="en-US" b="1" dirty="0"/>
              <a:t>system interface testing</a:t>
            </a:r>
            <a:r>
              <a:rPr lang="en-US" dirty="0"/>
              <a:t>. Most projects use all four approaches</a:t>
            </a:r>
          </a:p>
        </p:txBody>
      </p:sp>
    </p:spTree>
    <p:extLst>
      <p:ext uri="{BB962C8B-B14F-4D97-AF65-F5344CB8AC3E}">
        <p14:creationId xmlns:p14="http://schemas.microsoft.com/office/powerpoint/2010/main" val="1177865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Testing Strategies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639641"/>
            <a:ext cx="9838871" cy="5040559"/>
          </a:xfrm>
        </p:spPr>
        <p:txBody>
          <a:bodyPr>
            <a:normAutofit fontScale="92500" lnSpcReduction="10000"/>
          </a:bodyPr>
          <a:lstStyle/>
          <a:p>
            <a:r>
              <a:rPr lang="en-NP" b="1" dirty="0"/>
              <a:t>System Test</a:t>
            </a:r>
            <a:endParaRPr lang="en-US" dirty="0"/>
          </a:p>
          <a:p>
            <a:pPr lvl="1">
              <a:lnSpc>
                <a:spcPct val="110000"/>
              </a:lnSpc>
            </a:pPr>
            <a:r>
              <a:rPr lang="en-US" dirty="0"/>
              <a:t>Integration tests assess whether a set of modules or programs that must work together do so without error. They ensure that the interfaces and linkages between different parts of the system work properly.</a:t>
            </a:r>
          </a:p>
          <a:p>
            <a:pPr lvl="1">
              <a:lnSpc>
                <a:spcPct val="110000"/>
              </a:lnSpc>
            </a:pPr>
            <a:r>
              <a:rPr lang="en-US" dirty="0"/>
              <a:t>System tests are usually conducted by the systems analysts to ensure that all modules and programs work together without error.</a:t>
            </a:r>
          </a:p>
          <a:p>
            <a:pPr lvl="1">
              <a:lnSpc>
                <a:spcPct val="110000"/>
              </a:lnSpc>
            </a:pPr>
            <a:r>
              <a:rPr lang="en-US" dirty="0"/>
              <a:t> System testing is similar to integration testing but is much broader in scope. Whereas integration testing focuses on whether the modules work together without error, system tests examine how well the system meets business requirements and its usability, security, and performance under heavy load. It also tests the system’s documentation.</a:t>
            </a:r>
          </a:p>
        </p:txBody>
      </p:sp>
    </p:spTree>
    <p:extLst>
      <p:ext uri="{BB962C8B-B14F-4D97-AF65-F5344CB8AC3E}">
        <p14:creationId xmlns:p14="http://schemas.microsoft.com/office/powerpoint/2010/main" val="1615722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Testing Strategies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639641"/>
            <a:ext cx="9838871" cy="5040559"/>
          </a:xfrm>
        </p:spPr>
        <p:txBody>
          <a:bodyPr>
            <a:normAutofit fontScale="92500" lnSpcReduction="10000"/>
          </a:bodyPr>
          <a:lstStyle/>
          <a:p>
            <a:r>
              <a:rPr lang="en-NP" b="1" dirty="0"/>
              <a:t>System Test</a:t>
            </a:r>
            <a:endParaRPr lang="en-US" dirty="0"/>
          </a:p>
          <a:p>
            <a:pPr lvl="1">
              <a:lnSpc>
                <a:spcPct val="110000"/>
              </a:lnSpc>
            </a:pPr>
            <a:r>
              <a:rPr lang="en-US" dirty="0"/>
              <a:t>Integration tests assess whether a set of modules or programs that must work together do so without error. They ensure that the interfaces and linkages between different parts of the system work properly.</a:t>
            </a:r>
          </a:p>
          <a:p>
            <a:pPr lvl="1">
              <a:lnSpc>
                <a:spcPct val="110000"/>
              </a:lnSpc>
            </a:pPr>
            <a:r>
              <a:rPr lang="en-US" dirty="0"/>
              <a:t>System tests are usually conducted by the systems analysts to ensure that all modules and programs work together without error.</a:t>
            </a:r>
          </a:p>
          <a:p>
            <a:pPr lvl="1">
              <a:lnSpc>
                <a:spcPct val="110000"/>
              </a:lnSpc>
            </a:pPr>
            <a:r>
              <a:rPr lang="en-US" dirty="0"/>
              <a:t> System testing is similar to integration testing but is much broader in scope. Whereas integration testing focuses on whether the modules work together without error, system tests examine how well the system meets business requirements and its usability, security, and performance under heavy load. It also tests the system’s documentation.</a:t>
            </a:r>
          </a:p>
        </p:txBody>
      </p:sp>
    </p:spTree>
    <p:extLst>
      <p:ext uri="{BB962C8B-B14F-4D97-AF65-F5344CB8AC3E}">
        <p14:creationId xmlns:p14="http://schemas.microsoft.com/office/powerpoint/2010/main" val="1172498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Testing Strategies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639641"/>
            <a:ext cx="9838871" cy="5040559"/>
          </a:xfrm>
        </p:spPr>
        <p:txBody>
          <a:bodyPr>
            <a:normAutofit/>
          </a:bodyPr>
          <a:lstStyle/>
          <a:p>
            <a:r>
              <a:rPr lang="en-NP" b="1" dirty="0"/>
              <a:t>Acceptance Test</a:t>
            </a:r>
            <a:endParaRPr lang="en-US" dirty="0"/>
          </a:p>
          <a:p>
            <a:pPr lvl="1"/>
            <a:r>
              <a:rPr lang="en-US" dirty="0"/>
              <a:t>Acceptance tests are done primarily by the users with support from the project team. </a:t>
            </a:r>
          </a:p>
          <a:p>
            <a:pPr lvl="1"/>
            <a:r>
              <a:rPr lang="en-US" dirty="0"/>
              <a:t>The goal is to confirm that the system is complete, meets the business needs that prompted the system to be developed, and is acceptable to the users.</a:t>
            </a:r>
          </a:p>
          <a:p>
            <a:pPr lvl="1"/>
            <a:r>
              <a:rPr lang="en-US" dirty="0"/>
              <a:t>Acceptance testing is done in two stages: alpha testing, in which users test the system using made-­ up data, and beta testing, in which users begin to use the system with real data and carefully monitor the system for errors</a:t>
            </a:r>
          </a:p>
        </p:txBody>
      </p:sp>
    </p:spTree>
    <p:extLst>
      <p:ext uri="{BB962C8B-B14F-4D97-AF65-F5344CB8AC3E}">
        <p14:creationId xmlns:p14="http://schemas.microsoft.com/office/powerpoint/2010/main" val="2421189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639641"/>
            <a:ext cx="9838871" cy="5040559"/>
          </a:xfrm>
        </p:spPr>
        <p:txBody>
          <a:bodyPr>
            <a:normAutofit/>
          </a:bodyPr>
          <a:lstStyle/>
          <a:p>
            <a:r>
              <a:rPr lang="en-NP" b="1" dirty="0"/>
              <a:t>System Transition and Change management</a:t>
            </a:r>
            <a:endParaRPr lang="en-US" dirty="0"/>
          </a:p>
          <a:p>
            <a:pPr lvl="1"/>
            <a:r>
              <a:rPr lang="en-US" dirty="0"/>
              <a:t>Dirt road example – ruts on . </a:t>
            </a:r>
          </a:p>
          <a:p>
            <a:pPr lvl="1"/>
            <a:r>
              <a:rPr lang="en-US" dirty="0"/>
              <a:t>As people use a computer system or set of work processes, those system/work processes begin to become habits or norms; people learn them and become comfortable with them. </a:t>
            </a:r>
          </a:p>
          <a:p>
            <a:pPr lvl="1"/>
            <a:r>
              <a:rPr lang="en-US" dirty="0"/>
              <a:t>System or work processes then begin to limit people’s activities and make it difficult for them to change because they begin to see their jobs in terms of these processes rather than in terms of the final business goal of serving customers.</a:t>
            </a:r>
          </a:p>
        </p:txBody>
      </p:sp>
      <p:pic>
        <p:nvPicPr>
          <p:cNvPr id="1028" name="Picture 4" descr="Gravel Roads – HanseGrand">
            <a:extLst>
              <a:ext uri="{FF2B5EF4-FFF2-40B4-BE49-F238E27FC236}">
                <a16:creationId xmlns:a16="http://schemas.microsoft.com/office/drawing/2014/main" id="{A14F58C1-F19A-8ECE-AD94-51E8330A3D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2104" y="5057125"/>
            <a:ext cx="5544616" cy="180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035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fontScale="85000" lnSpcReduction="10000"/>
          </a:bodyPr>
          <a:lstStyle/>
          <a:p>
            <a:r>
              <a:rPr lang="en-NP" b="1" dirty="0"/>
              <a:t>System Transition and Change management</a:t>
            </a:r>
            <a:endParaRPr lang="en-US" dirty="0"/>
          </a:p>
          <a:p>
            <a:pPr lvl="1">
              <a:lnSpc>
                <a:spcPct val="110000"/>
              </a:lnSpc>
            </a:pPr>
            <a:r>
              <a:rPr lang="en-US" dirty="0"/>
              <a:t>One of the earliest models for managing organizational change was developed by Kurt Lewin. Lewin argued that change is a three-­ step process: </a:t>
            </a:r>
            <a:r>
              <a:rPr lang="en-US" b="1" dirty="0"/>
              <a:t>unfreeze</a:t>
            </a:r>
            <a:r>
              <a:rPr lang="en-US" dirty="0"/>
              <a:t>, </a:t>
            </a:r>
            <a:r>
              <a:rPr lang="en-US" b="1" dirty="0"/>
              <a:t>move</a:t>
            </a:r>
            <a:r>
              <a:rPr lang="en-US" dirty="0"/>
              <a:t>, </a:t>
            </a:r>
            <a:r>
              <a:rPr lang="en-US" b="1" dirty="0"/>
              <a:t>refreeze.</a:t>
            </a:r>
          </a:p>
          <a:p>
            <a:pPr lvl="1">
              <a:lnSpc>
                <a:spcPct val="110000"/>
              </a:lnSpc>
            </a:pPr>
            <a:r>
              <a:rPr lang="en-US" dirty="0"/>
              <a:t>Unfreeze - project team must unfreeze the existing habits and norms (the as-­ is system) so that change is </a:t>
            </a:r>
            <a:r>
              <a:rPr lang="en-US" sz="2400" dirty="0"/>
              <a:t>possible. Convey information that new system is being developed; involve them in design and analysis phase to understand the problems </a:t>
            </a:r>
            <a:r>
              <a:rPr lang="en-US" dirty="0"/>
              <a:t>with existing system.</a:t>
            </a:r>
            <a:endParaRPr lang="en-US" sz="2400" dirty="0"/>
          </a:p>
          <a:p>
            <a:pPr lvl="1">
              <a:lnSpc>
                <a:spcPct val="110000"/>
              </a:lnSpc>
            </a:pPr>
            <a:r>
              <a:rPr lang="en-US" sz="2400" dirty="0"/>
              <a:t>Move or transition – migration plan is needed. Conversion strategy needs to be selected, determining the style of the switch from the old to new system. Plans should be there to handle potential business disruption due to technical problems during conversion should be outlined as business contingency plan.</a:t>
            </a:r>
          </a:p>
          <a:p>
            <a:pPr lvl="1">
              <a:lnSpc>
                <a:spcPct val="110000"/>
              </a:lnSpc>
            </a:pPr>
            <a:r>
              <a:rPr lang="en-US" dirty="0"/>
              <a:t>Refreeze - the new system as the habitual way of performing the work processes—­ ensuring that the new system successfully becomes the standard way of performing the business functions it supports.</a:t>
            </a:r>
          </a:p>
          <a:p>
            <a:pPr lvl="1"/>
            <a:endParaRPr lang="en-US" dirty="0"/>
          </a:p>
        </p:txBody>
      </p:sp>
    </p:spTree>
    <p:extLst>
      <p:ext uri="{BB962C8B-B14F-4D97-AF65-F5344CB8AC3E}">
        <p14:creationId xmlns:p14="http://schemas.microsoft.com/office/powerpoint/2010/main" val="480914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Migration Plan</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lnSpcReduction="10000"/>
          </a:bodyPr>
          <a:lstStyle/>
          <a:p>
            <a:r>
              <a:rPr lang="en-US" b="1" dirty="0"/>
              <a:t>Migration plan</a:t>
            </a:r>
            <a:endParaRPr lang="en-US" dirty="0"/>
          </a:p>
          <a:p>
            <a:pPr lvl="1">
              <a:lnSpc>
                <a:spcPct val="110000"/>
              </a:lnSpc>
            </a:pPr>
            <a:r>
              <a:rPr lang="en-US" dirty="0"/>
              <a:t>The transition from the old business processes and computer programs to the new business processes and computer programs will be facilitated by ensuring that a number of business, technical, and people issues are addressed.</a:t>
            </a:r>
            <a:endParaRPr lang="en-US" b="1" dirty="0"/>
          </a:p>
          <a:p>
            <a:pPr lvl="1"/>
            <a:r>
              <a:rPr lang="en-US" sz="2000" dirty="0"/>
              <a:t>Th</a:t>
            </a:r>
            <a:r>
              <a:rPr lang="en-US" dirty="0"/>
              <a:t>e migration plan specifies what activities will be performed when and by whom as the transition is made from the old to the new system.</a:t>
            </a:r>
          </a:p>
          <a:p>
            <a:pPr lvl="1"/>
            <a:r>
              <a:rPr lang="en-US" sz="2000" dirty="0"/>
              <a:t>T</a:t>
            </a:r>
            <a:r>
              <a:rPr lang="en-US" dirty="0"/>
              <a:t>o ensure that business is ready to make the transition, the project team must determine the best conversion strategy to use as the new system is introduced to the organization. </a:t>
            </a:r>
          </a:p>
          <a:p>
            <a:pPr lvl="1"/>
            <a:r>
              <a:rPr lang="en-US" dirty="0"/>
              <a:t>Also, plans should be made to ensure that the business can continue its operations even in the event of technical glitches in the new system. </a:t>
            </a:r>
          </a:p>
          <a:p>
            <a:pPr lvl="1"/>
            <a:endParaRPr lang="en-US" dirty="0"/>
          </a:p>
        </p:txBody>
      </p:sp>
    </p:spTree>
    <p:extLst>
      <p:ext uri="{BB962C8B-B14F-4D97-AF65-F5344CB8AC3E}">
        <p14:creationId xmlns:p14="http://schemas.microsoft.com/office/powerpoint/2010/main" val="3279276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Migration Plan</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b="1" dirty="0"/>
              <a:t>Migration plan</a:t>
            </a:r>
            <a:endParaRPr lang="en-US" dirty="0"/>
          </a:p>
          <a:p>
            <a:pPr lvl="1"/>
            <a:endParaRPr lang="en-US" dirty="0"/>
          </a:p>
        </p:txBody>
      </p:sp>
      <p:pic>
        <p:nvPicPr>
          <p:cNvPr id="3" name="Picture 2">
            <a:extLst>
              <a:ext uri="{FF2B5EF4-FFF2-40B4-BE49-F238E27FC236}">
                <a16:creationId xmlns:a16="http://schemas.microsoft.com/office/drawing/2014/main" id="{F3271531-D1E2-B2B2-717F-029650DB0896}"/>
              </a:ext>
            </a:extLst>
          </p:cNvPr>
          <p:cNvPicPr>
            <a:picLocks noChangeAspect="1"/>
          </p:cNvPicPr>
          <p:nvPr/>
        </p:nvPicPr>
        <p:blipFill>
          <a:blip r:embed="rId2"/>
          <a:stretch>
            <a:fillRect/>
          </a:stretch>
        </p:blipFill>
        <p:spPr>
          <a:xfrm>
            <a:off x="1341884" y="1988840"/>
            <a:ext cx="10416778" cy="3528392"/>
          </a:xfrm>
          <a:prstGeom prst="rect">
            <a:avLst/>
          </a:prstGeom>
        </p:spPr>
      </p:pic>
    </p:spTree>
    <p:extLst>
      <p:ext uri="{BB962C8B-B14F-4D97-AF65-F5344CB8AC3E}">
        <p14:creationId xmlns:p14="http://schemas.microsoft.com/office/powerpoint/2010/main" val="3736045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Migration Plan</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b="1" dirty="0"/>
              <a:t>Migration strategies /Conversion Strategy</a:t>
            </a:r>
            <a:endParaRPr lang="en-US" dirty="0"/>
          </a:p>
          <a:p>
            <a:pPr lvl="1"/>
            <a:r>
              <a:rPr lang="en-US" dirty="0"/>
              <a:t>The process by which the new system is introduced into the organization is called the conversion strategy.</a:t>
            </a:r>
          </a:p>
          <a:p>
            <a:pPr lvl="1"/>
            <a:r>
              <a:rPr lang="en-US" dirty="0"/>
              <a:t>Implementing strategy must consider following</a:t>
            </a:r>
          </a:p>
          <a:p>
            <a:pPr lvl="2"/>
            <a:r>
              <a:rPr lang="en-US" dirty="0"/>
              <a:t>Conversion Style</a:t>
            </a:r>
          </a:p>
          <a:p>
            <a:pPr lvl="2"/>
            <a:r>
              <a:rPr lang="en-US" dirty="0"/>
              <a:t>Conversion Location</a:t>
            </a:r>
          </a:p>
          <a:p>
            <a:pPr lvl="2"/>
            <a:r>
              <a:rPr lang="en-US" dirty="0"/>
              <a:t>Conversion Module</a:t>
            </a:r>
          </a:p>
        </p:txBody>
      </p:sp>
      <p:pic>
        <p:nvPicPr>
          <p:cNvPr id="4" name="Picture 3">
            <a:extLst>
              <a:ext uri="{FF2B5EF4-FFF2-40B4-BE49-F238E27FC236}">
                <a16:creationId xmlns:a16="http://schemas.microsoft.com/office/drawing/2014/main" id="{6049E888-6757-A7E3-681A-FA42A65D366A}"/>
              </a:ext>
            </a:extLst>
          </p:cNvPr>
          <p:cNvPicPr>
            <a:picLocks noChangeAspect="1"/>
          </p:cNvPicPr>
          <p:nvPr/>
        </p:nvPicPr>
        <p:blipFill>
          <a:blip r:embed="rId2"/>
          <a:stretch>
            <a:fillRect/>
          </a:stretch>
        </p:blipFill>
        <p:spPr>
          <a:xfrm>
            <a:off x="7462564" y="3140968"/>
            <a:ext cx="4384293" cy="4011858"/>
          </a:xfrm>
          <a:prstGeom prst="rect">
            <a:avLst/>
          </a:prstGeom>
        </p:spPr>
      </p:pic>
    </p:spTree>
    <p:extLst>
      <p:ext uri="{BB962C8B-B14F-4D97-AF65-F5344CB8AC3E}">
        <p14:creationId xmlns:p14="http://schemas.microsoft.com/office/powerpoint/2010/main" val="4081980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Migration Plan / Conversion Style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b="1" dirty="0"/>
              <a:t>Conversion Style</a:t>
            </a:r>
          </a:p>
          <a:p>
            <a:pPr lvl="1"/>
            <a:r>
              <a:rPr lang="en-US" b="1" dirty="0"/>
              <a:t>Direct : </a:t>
            </a:r>
            <a:r>
              <a:rPr lang="en-US" dirty="0"/>
              <a:t>Abrupt switch or change is called direct conversion</a:t>
            </a:r>
          </a:p>
          <a:p>
            <a:pPr lvl="2"/>
            <a:r>
              <a:rPr lang="en-US" dirty="0"/>
              <a:t>Involve instant replacement of the old system with the new one</a:t>
            </a:r>
          </a:p>
          <a:p>
            <a:pPr lvl="2"/>
            <a:r>
              <a:rPr lang="en-US" dirty="0"/>
              <a:t>Complete shutdown to old system</a:t>
            </a:r>
          </a:p>
          <a:p>
            <a:pPr lvl="2"/>
            <a:r>
              <a:rPr lang="en-US" dirty="0"/>
              <a:t>Often coinciding with a fiscal year change or other calendar event</a:t>
            </a:r>
          </a:p>
          <a:p>
            <a:pPr lvl="2"/>
            <a:r>
              <a:rPr lang="en-US" dirty="0"/>
              <a:t>Straight forward and risky; any issues with new system may seriously disrupt the organization’s ability and all other functions.</a:t>
            </a:r>
          </a:p>
          <a:p>
            <a:pPr lvl="1"/>
            <a:r>
              <a:rPr lang="en-US" b="1" dirty="0"/>
              <a:t>Parallel: </a:t>
            </a:r>
            <a:r>
              <a:rPr lang="en-US" dirty="0"/>
              <a:t>Gradual introduction is made with parallel conversion</a:t>
            </a:r>
          </a:p>
          <a:p>
            <a:pPr lvl="2"/>
            <a:r>
              <a:rPr lang="en-US" dirty="0"/>
              <a:t>Both old an new systems are used simultaneously for the period of time</a:t>
            </a:r>
          </a:p>
          <a:p>
            <a:pPr lvl="2"/>
            <a:r>
              <a:rPr lang="en-US" dirty="0"/>
              <a:t>Reduce risks by providing organization with a fallback position if major problems are encountered with the new system</a:t>
            </a:r>
          </a:p>
          <a:p>
            <a:pPr lvl="2"/>
            <a:r>
              <a:rPr lang="en-US" dirty="0"/>
              <a:t>It add expense, however, as users are required to do their job tasks twice: once with each system that performs the same functions.</a:t>
            </a:r>
          </a:p>
        </p:txBody>
      </p:sp>
    </p:spTree>
    <p:extLst>
      <p:ext uri="{BB962C8B-B14F-4D97-AF65-F5344CB8AC3E}">
        <p14:creationId xmlns:p14="http://schemas.microsoft.com/office/powerpoint/2010/main" val="23707983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Migration Plan / Conversion Style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fontScale="85000" lnSpcReduction="20000"/>
          </a:bodyPr>
          <a:lstStyle/>
          <a:p>
            <a:r>
              <a:rPr lang="en-US" b="1" dirty="0"/>
              <a:t>Conversion Location</a:t>
            </a:r>
          </a:p>
          <a:p>
            <a:pPr marL="268288" indent="0">
              <a:lnSpc>
                <a:spcPct val="120000"/>
              </a:lnSpc>
              <a:buNone/>
            </a:pPr>
            <a:r>
              <a:rPr lang="en-US" sz="2400" dirty="0"/>
              <a:t>The new system can be introduced to different parts of the organization at different times, or it can be introduced throughout the organization at the same time.</a:t>
            </a:r>
            <a:endParaRPr lang="en-US" b="1" dirty="0"/>
          </a:p>
          <a:p>
            <a:pPr lvl="1"/>
            <a:r>
              <a:rPr lang="en-US" b="1" dirty="0"/>
              <a:t>Pilot Conversion: </a:t>
            </a:r>
            <a:r>
              <a:rPr lang="en-US" dirty="0"/>
              <a:t>selects one or more locations to be converted first as a part of a pilot test.</a:t>
            </a:r>
          </a:p>
          <a:p>
            <a:pPr lvl="2">
              <a:lnSpc>
                <a:spcPct val="120000"/>
              </a:lnSpc>
            </a:pPr>
            <a:r>
              <a:rPr lang="en-US" dirty="0"/>
              <a:t>If the conversion at the pilot location is successful, then the system is installed at the remaining location.</a:t>
            </a:r>
          </a:p>
          <a:p>
            <a:pPr lvl="2">
              <a:lnSpc>
                <a:spcPct val="120000"/>
              </a:lnSpc>
            </a:pPr>
            <a:r>
              <a:rPr lang="en-US" dirty="0"/>
              <a:t>Pilot conversion has the advantage of limiting the effect of the new system to just the pilot location.</a:t>
            </a:r>
          </a:p>
          <a:p>
            <a:pPr lvl="2">
              <a:lnSpc>
                <a:spcPct val="120000"/>
              </a:lnSpc>
            </a:pPr>
            <a:r>
              <a:rPr lang="en-US" dirty="0"/>
              <a:t>Additional level of testing is provided before the new system in introduced organization wide.</a:t>
            </a:r>
          </a:p>
          <a:p>
            <a:pPr lvl="2">
              <a:lnSpc>
                <a:spcPct val="120000"/>
              </a:lnSpc>
            </a:pPr>
            <a:r>
              <a:rPr lang="en-US" dirty="0"/>
              <a:t>This type of conversion can be done only in organizations that can tolerate different locations using different systems and business processes for a certain length of time.</a:t>
            </a:r>
          </a:p>
          <a:p>
            <a:pPr lvl="2">
              <a:lnSpc>
                <a:spcPct val="120000"/>
              </a:lnSpc>
            </a:pPr>
            <a:r>
              <a:rPr lang="en-US" dirty="0"/>
              <a:t>It also obviously requires a considerable time before the system is installed at all organizational</a:t>
            </a:r>
          </a:p>
        </p:txBody>
      </p:sp>
    </p:spTree>
    <p:extLst>
      <p:ext uri="{BB962C8B-B14F-4D97-AF65-F5344CB8AC3E}">
        <p14:creationId xmlns:p14="http://schemas.microsoft.com/office/powerpoint/2010/main" val="1216916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Migration Plan / Conversion Style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b="1" dirty="0"/>
              <a:t>Conversion Location</a:t>
            </a:r>
          </a:p>
          <a:p>
            <a:pPr lvl="1"/>
            <a:r>
              <a:rPr lang="en-US" b="1" dirty="0"/>
              <a:t>Phased Conversion: </a:t>
            </a:r>
            <a:r>
              <a:rPr lang="en-US" dirty="0"/>
              <a:t>selects one or more set of locations to be converted in multiple phases.</a:t>
            </a:r>
          </a:p>
          <a:p>
            <a:pPr lvl="2"/>
            <a:r>
              <a:rPr lang="en-US" sz="1700" dirty="0"/>
              <a:t>With phased conversion, a first set of locations is converted, then a second set, then a third set, and so on, until all locations are converted. </a:t>
            </a:r>
          </a:p>
          <a:p>
            <a:pPr lvl="2"/>
            <a:r>
              <a:rPr lang="en-US" sz="1700" dirty="0"/>
              <a:t>Sometimes there is a deliberate delay between the phases, so that any problems with the system are detected before too much of the organization is affected. </a:t>
            </a:r>
          </a:p>
          <a:p>
            <a:pPr lvl="2"/>
            <a:r>
              <a:rPr lang="en-US" sz="1700" dirty="0"/>
              <a:t>In other circumstances, the project team may begin a new phase immediately following the completion of the previous phase.</a:t>
            </a:r>
          </a:p>
        </p:txBody>
      </p:sp>
    </p:spTree>
    <p:extLst>
      <p:ext uri="{BB962C8B-B14F-4D97-AF65-F5344CB8AC3E}">
        <p14:creationId xmlns:p14="http://schemas.microsoft.com/office/powerpoint/2010/main" val="233198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Migration Plan / Conversion Style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b="1" dirty="0"/>
              <a:t>Conversion Location</a:t>
            </a:r>
          </a:p>
          <a:p>
            <a:pPr lvl="1"/>
            <a:r>
              <a:rPr lang="en-US" b="1" dirty="0"/>
              <a:t>Simultaneous Conversion: </a:t>
            </a:r>
            <a:r>
              <a:rPr lang="en-US" dirty="0"/>
              <a:t>all locations at once.</a:t>
            </a:r>
          </a:p>
          <a:p>
            <a:pPr lvl="2"/>
            <a:r>
              <a:rPr lang="en-US" sz="1700" dirty="0"/>
              <a:t>May be necessary to convert all locations at the same time, suggesting the need for simultaneous conversion. </a:t>
            </a:r>
          </a:p>
          <a:p>
            <a:pPr lvl="2"/>
            <a:r>
              <a:rPr lang="en-US" sz="1700" dirty="0"/>
              <a:t>The new system is installed at all locations at once, thus eliminating the problem of having different organizational units using different systems and processes. </a:t>
            </a:r>
          </a:p>
          <a:p>
            <a:pPr lvl="2"/>
            <a:r>
              <a:rPr lang="en-US" sz="1700" dirty="0"/>
              <a:t>The drawback of this option is that there must be sufficient staff to perform the conversion </a:t>
            </a:r>
            <a:r>
              <a:rPr lang="en-US" sz="1700"/>
              <a:t>and train the </a:t>
            </a:r>
            <a:r>
              <a:rPr lang="en-US" sz="1700" dirty="0"/>
              <a:t>users at all locations simultaneously.</a:t>
            </a:r>
          </a:p>
        </p:txBody>
      </p:sp>
    </p:spTree>
    <p:extLst>
      <p:ext uri="{BB962C8B-B14F-4D97-AF65-F5344CB8AC3E}">
        <p14:creationId xmlns:p14="http://schemas.microsoft.com/office/powerpoint/2010/main" val="3810130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Migration Plan / Conversion Style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b="1" dirty="0"/>
              <a:t>Conversion Location</a:t>
            </a:r>
          </a:p>
          <a:p>
            <a:pPr lvl="1"/>
            <a:r>
              <a:rPr lang="en-US" b="1" dirty="0"/>
              <a:t>Simultaneous Conversion: </a:t>
            </a:r>
            <a:r>
              <a:rPr lang="en-US" dirty="0"/>
              <a:t>all locations at once.</a:t>
            </a:r>
          </a:p>
          <a:p>
            <a:pPr lvl="2"/>
            <a:r>
              <a:rPr lang="en-US" sz="1700" dirty="0"/>
              <a:t>May be necessary to convert all locations at the same time, suggesting the need for simultaneous conversion. </a:t>
            </a:r>
          </a:p>
          <a:p>
            <a:pPr lvl="2"/>
            <a:r>
              <a:rPr lang="en-US" sz="1700" dirty="0"/>
              <a:t>The new system is installed at all locations at once, thus eliminating the problem of having different organizational units using different systems and processes. </a:t>
            </a:r>
          </a:p>
          <a:p>
            <a:pPr lvl="2"/>
            <a:r>
              <a:rPr lang="en-US" sz="1700" dirty="0"/>
              <a:t>The drawback of this option is that there must be sufficient staff to perform the conversion </a:t>
            </a:r>
            <a:r>
              <a:rPr lang="en-US" sz="1700"/>
              <a:t>and train the </a:t>
            </a:r>
            <a:r>
              <a:rPr lang="en-US" sz="1700" dirty="0"/>
              <a:t>users at all locations simultaneously.</a:t>
            </a:r>
          </a:p>
        </p:txBody>
      </p:sp>
    </p:spTree>
    <p:extLst>
      <p:ext uri="{BB962C8B-B14F-4D97-AF65-F5344CB8AC3E}">
        <p14:creationId xmlns:p14="http://schemas.microsoft.com/office/powerpoint/2010/main" val="2258023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fontScale="85000" lnSpcReduction="10000"/>
          </a:bodyPr>
          <a:lstStyle/>
          <a:p>
            <a:r>
              <a:rPr lang="en-US" b="1" dirty="0"/>
              <a:t>Change management</a:t>
            </a:r>
          </a:p>
          <a:p>
            <a:pPr lvl="1">
              <a:lnSpc>
                <a:spcPct val="120000"/>
              </a:lnSpc>
            </a:pPr>
            <a:r>
              <a:rPr lang="en-US" sz="2500" dirty="0"/>
              <a:t>The process of helping people adjust to the new system and its new work processes without undue stress is called change management</a:t>
            </a:r>
          </a:p>
          <a:p>
            <a:pPr lvl="1">
              <a:lnSpc>
                <a:spcPct val="120000"/>
              </a:lnSpc>
            </a:pPr>
            <a:r>
              <a:rPr lang="en-US" sz="2500" b="1" dirty="0"/>
              <a:t>Sponsor</a:t>
            </a:r>
            <a:r>
              <a:rPr lang="en-US" sz="2500" dirty="0"/>
              <a:t>: of the change—­ the person who wants the change. This person is the business sponsor who first initiated the request for the new system</a:t>
            </a:r>
          </a:p>
          <a:p>
            <a:pPr lvl="1">
              <a:lnSpc>
                <a:spcPct val="120000"/>
              </a:lnSpc>
            </a:pPr>
            <a:r>
              <a:rPr lang="en-US" sz="2100" b="1" dirty="0"/>
              <a:t>Change Agent</a:t>
            </a:r>
            <a:r>
              <a:rPr lang="en-US" sz="2100" dirty="0"/>
              <a:t>— </a:t>
            </a:r>
            <a:r>
              <a:rPr lang="en-US" sz="2500" dirty="0"/>
              <a:t>the person(s) leading the change effort. </a:t>
            </a:r>
            <a:br>
              <a:rPr lang="en-US" sz="2500" dirty="0"/>
            </a:br>
            <a:r>
              <a:rPr lang="en-US" sz="2500" dirty="0"/>
              <a:t>The change agent, charged with actually planning and implementing the change, is usually someone outside of the business unit adopting the system and therefore has no direct management authority over the potential adopters</a:t>
            </a:r>
            <a:br>
              <a:rPr lang="en-US" sz="2500" dirty="0"/>
            </a:br>
            <a:r>
              <a:rPr lang="en-US" sz="2500" dirty="0"/>
              <a:t>This person(s) is outsider with different thought process and work culture and is less credible than sponsor</a:t>
            </a:r>
          </a:p>
          <a:p>
            <a:pPr lvl="1"/>
            <a:r>
              <a:rPr lang="en-US" sz="2500" b="1" dirty="0"/>
              <a:t>Potential Adopter</a:t>
            </a:r>
            <a:r>
              <a:rPr lang="en-US" sz="2500" dirty="0"/>
              <a:t>: target of the change—­ the people who actually must change.</a:t>
            </a:r>
          </a:p>
          <a:p>
            <a:pPr lvl="1">
              <a:lnSpc>
                <a:spcPct val="120000"/>
              </a:lnSpc>
            </a:pPr>
            <a:endParaRPr lang="en-US" sz="2500" dirty="0"/>
          </a:p>
          <a:p>
            <a:pPr marL="365760" lvl="1" indent="0">
              <a:lnSpc>
                <a:spcPct val="120000"/>
              </a:lnSpc>
              <a:buNone/>
            </a:pPr>
            <a:endParaRPr lang="en-US" dirty="0"/>
          </a:p>
        </p:txBody>
      </p:sp>
    </p:spTree>
    <p:extLst>
      <p:ext uri="{BB962C8B-B14F-4D97-AF65-F5344CB8AC3E}">
        <p14:creationId xmlns:p14="http://schemas.microsoft.com/office/powerpoint/2010/main" val="792020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fontScale="85000" lnSpcReduction="20000"/>
          </a:bodyPr>
          <a:lstStyle/>
          <a:p>
            <a:r>
              <a:rPr lang="en-US" b="1" dirty="0"/>
              <a:t>People Resistance</a:t>
            </a:r>
          </a:p>
          <a:p>
            <a:pPr lvl="1">
              <a:lnSpc>
                <a:spcPct val="120000"/>
              </a:lnSpc>
            </a:pPr>
            <a:r>
              <a:rPr lang="en-US" dirty="0"/>
              <a:t>People resist change—­ even change for the better—­ for very rational reasons</a:t>
            </a:r>
          </a:p>
          <a:p>
            <a:pPr lvl="1">
              <a:lnSpc>
                <a:spcPct val="120000"/>
              </a:lnSpc>
            </a:pPr>
            <a:r>
              <a:rPr lang="en-US" dirty="0"/>
              <a:t>What is good for the organization is not necessarily good for the people who work there.</a:t>
            </a:r>
          </a:p>
          <a:p>
            <a:pPr lvl="1">
              <a:lnSpc>
                <a:spcPct val="120000"/>
              </a:lnSpc>
            </a:pPr>
            <a:r>
              <a:rPr lang="en-US" dirty="0"/>
              <a:t>Learning to use the new system and work processes—­ even if the change is minor—­ requires more effort than continuing to use the existing, well-­ understood system and work processes</a:t>
            </a:r>
          </a:p>
          <a:p>
            <a:r>
              <a:rPr lang="en-US" b="1" dirty="0"/>
              <a:t>So why do people accept change?</a:t>
            </a:r>
          </a:p>
          <a:p>
            <a:pPr lvl="1">
              <a:lnSpc>
                <a:spcPct val="120000"/>
              </a:lnSpc>
            </a:pPr>
            <a:r>
              <a:rPr lang="en-US" dirty="0"/>
              <a:t>Simply put, every change has a set of costs and benefits associated with it. If the benefits of accepting the change outweigh the costs of the change, then people change. </a:t>
            </a:r>
          </a:p>
          <a:p>
            <a:pPr lvl="1">
              <a:lnSpc>
                <a:spcPct val="120000"/>
              </a:lnSpc>
            </a:pPr>
            <a:r>
              <a:rPr lang="en-US" dirty="0"/>
              <a:t>And sometimes the benefit of change is avoidance of the pain that you would experience if you did not adopt the change (e.g., if you don’t change, you are fired, so one of the benefits of adopting the change is that you still have a job).</a:t>
            </a:r>
            <a:endParaRPr lang="en-US" sz="1400" dirty="0">
              <a:solidFill>
                <a:srgbClr val="000000"/>
              </a:solidFill>
              <a:effectLst/>
              <a:latin typeface="Helvetica" pitchFamily="2" charset="0"/>
            </a:endParaRPr>
          </a:p>
        </p:txBody>
      </p:sp>
    </p:spTree>
    <p:extLst>
      <p:ext uri="{BB962C8B-B14F-4D97-AF65-F5344CB8AC3E}">
        <p14:creationId xmlns:p14="http://schemas.microsoft.com/office/powerpoint/2010/main" val="612965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user Resistance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b="1" dirty="0"/>
              <a:t>Change Management Plan</a:t>
            </a:r>
          </a:p>
          <a:p>
            <a:pPr lvl="1">
              <a:lnSpc>
                <a:spcPct val="100000"/>
              </a:lnSpc>
            </a:pPr>
            <a:r>
              <a:rPr lang="en-US" b="1" dirty="0"/>
              <a:t>Revising management policies</a:t>
            </a:r>
            <a:br>
              <a:rPr lang="en-US" sz="2000" dirty="0"/>
            </a:br>
            <a:r>
              <a:rPr lang="en-US" sz="2000" dirty="0"/>
              <a:t>Management policies provide goals, define how work processes should be performed, and determine how organizational members are rewarded.</a:t>
            </a:r>
          </a:p>
          <a:p>
            <a:pPr lvl="2">
              <a:lnSpc>
                <a:spcPct val="100000"/>
              </a:lnSpc>
            </a:pPr>
            <a:r>
              <a:rPr lang="en-US" b="1" dirty="0"/>
              <a:t>standard operating procedures (SOPs) </a:t>
            </a:r>
            <a:r>
              <a:rPr lang="en-US" dirty="0"/>
              <a:t>that become the habitual routines for how work is performed. The SOPs are both formal and informal.</a:t>
            </a:r>
          </a:p>
          <a:p>
            <a:pPr lvl="2">
              <a:lnSpc>
                <a:spcPct val="100000"/>
              </a:lnSpc>
            </a:pPr>
            <a:r>
              <a:rPr lang="en-US" b="1" dirty="0"/>
              <a:t>Measurements and rewards</a:t>
            </a:r>
            <a:r>
              <a:rPr lang="en-US" dirty="0"/>
              <a:t>: What does it mean to “be successful” or “do good work”? and “what gets measured gets done”</a:t>
            </a:r>
          </a:p>
          <a:p>
            <a:pPr lvl="2">
              <a:lnSpc>
                <a:spcPct val="100000"/>
              </a:lnSpc>
            </a:pPr>
            <a:r>
              <a:rPr lang="en-US" b="1" dirty="0"/>
              <a:t>Resource allocation</a:t>
            </a:r>
            <a:r>
              <a:rPr lang="en-US" dirty="0"/>
              <a:t>: Managers can have a clear and immediate impact on behavior by allocating resources. They can redirect funds and staff from one project to another, create an infrastructure that supports the new system, and invest in training programs. Each of these activities has both a direct and a symbolic effect. The direct effect comes from the actual reallocation of resources. The symbolic effect shows that management is serious about its intentions.</a:t>
            </a:r>
          </a:p>
          <a:p>
            <a:pPr lvl="2"/>
            <a:endParaRPr lang="en-US" dirty="0"/>
          </a:p>
          <a:p>
            <a:pPr lvl="1"/>
            <a:endParaRPr lang="en-US" dirty="0">
              <a:solidFill>
                <a:srgbClr val="000000"/>
              </a:solidFill>
              <a:effectLst/>
              <a:latin typeface="Helvetica" pitchFamily="2" charset="0"/>
            </a:endParaRPr>
          </a:p>
          <a:p>
            <a:pPr lvl="1"/>
            <a:endParaRPr lang="en-US" b="1" dirty="0"/>
          </a:p>
        </p:txBody>
      </p:sp>
    </p:spTree>
    <p:extLst>
      <p:ext uri="{BB962C8B-B14F-4D97-AF65-F5344CB8AC3E}">
        <p14:creationId xmlns:p14="http://schemas.microsoft.com/office/powerpoint/2010/main" val="3443677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user Resistance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b="1" dirty="0"/>
              <a:t>Change Management Plan</a:t>
            </a:r>
          </a:p>
          <a:p>
            <a:pPr lvl="1"/>
            <a:r>
              <a:rPr lang="en-US" sz="2000" dirty="0"/>
              <a:t>Assessing the cost and benefit models of potential adopters</a:t>
            </a:r>
          </a:p>
          <a:p>
            <a:pPr lvl="2">
              <a:lnSpc>
                <a:spcPct val="110000"/>
              </a:lnSpc>
            </a:pPr>
            <a:r>
              <a:rPr lang="en-US" sz="1600" dirty="0"/>
              <a:t>list of costs and benefits is developed from the viewpoints of the different potential adopters expected to change, or stakeholders in the change.</a:t>
            </a:r>
          </a:p>
          <a:p>
            <a:pPr lvl="2">
              <a:lnSpc>
                <a:spcPct val="110000"/>
              </a:lnSpc>
            </a:pPr>
            <a:r>
              <a:rPr lang="en-US" sz="1600" dirty="0"/>
              <a:t>Each of these potential adopters or stakeholders may have a different set of costs and benefits associated with the change—­ costs and benefits that can differ widely from those of the organization. In some situations, unions may be key stakeholders that can make or break successful change.</a:t>
            </a:r>
          </a:p>
          <a:p>
            <a:pPr lvl="2">
              <a:lnSpc>
                <a:spcPct val="110000"/>
              </a:lnSpc>
            </a:pPr>
            <a:r>
              <a:rPr lang="en-US" sz="1600" dirty="0"/>
              <a:t>An analysis of the costs and benefits for each set of potential adopters or stakeholders will help pinpoint those who will likely support the change and those who may resist the change. The challenge at this point is to try to change the balance of the costs and benefits for those expected to resist the change so that they support it (or at least do not actively resist it)</a:t>
            </a:r>
          </a:p>
          <a:p>
            <a:pPr lvl="2"/>
            <a:r>
              <a:rPr lang="en-US" sz="1600" dirty="0"/>
              <a:t>uncover some serious problems that have the potential to block the </a:t>
            </a:r>
            <a:r>
              <a:rPr lang="en-US" sz="1600" dirty="0" err="1"/>
              <a:t>succesful</a:t>
            </a:r>
            <a:r>
              <a:rPr lang="en-US" sz="1600" dirty="0"/>
              <a:t> adoption of the system. </a:t>
            </a:r>
          </a:p>
          <a:p>
            <a:pPr lvl="2">
              <a:lnSpc>
                <a:spcPct val="110000"/>
              </a:lnSpc>
            </a:pPr>
            <a:endParaRPr lang="en-US" dirty="0">
              <a:solidFill>
                <a:srgbClr val="000000"/>
              </a:solidFill>
              <a:effectLst/>
              <a:latin typeface="Helvetica" pitchFamily="2" charset="0"/>
            </a:endParaRPr>
          </a:p>
        </p:txBody>
      </p:sp>
    </p:spTree>
    <p:extLst>
      <p:ext uri="{BB962C8B-B14F-4D97-AF65-F5344CB8AC3E}">
        <p14:creationId xmlns:p14="http://schemas.microsoft.com/office/powerpoint/2010/main" val="258402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7" y="1484785"/>
            <a:ext cx="2180782" cy="4990354"/>
          </a:xfrm>
        </p:spPr>
        <p:txBody>
          <a:bodyPr>
            <a:normAutofit/>
          </a:bodyPr>
          <a:lstStyle/>
          <a:p>
            <a:r>
              <a:rPr lang="en-US" b="1" dirty="0"/>
              <a:t>Cost and  benefits </a:t>
            </a:r>
          </a:p>
          <a:p>
            <a:pPr lvl="1"/>
            <a:endParaRPr lang="en-US" sz="1600" dirty="0"/>
          </a:p>
          <a:p>
            <a:pPr lvl="2">
              <a:lnSpc>
                <a:spcPct val="110000"/>
              </a:lnSpc>
            </a:pPr>
            <a:endParaRPr lang="en-US" dirty="0">
              <a:solidFill>
                <a:srgbClr val="000000"/>
              </a:solidFill>
              <a:effectLst/>
              <a:latin typeface="Helvetica" pitchFamily="2" charset="0"/>
            </a:endParaRPr>
          </a:p>
        </p:txBody>
      </p:sp>
      <p:pic>
        <p:nvPicPr>
          <p:cNvPr id="3" name="Picture 2">
            <a:extLst>
              <a:ext uri="{FF2B5EF4-FFF2-40B4-BE49-F238E27FC236}">
                <a16:creationId xmlns:a16="http://schemas.microsoft.com/office/drawing/2014/main" id="{349A54BD-0AC3-7783-60E5-1F88707C7816}"/>
              </a:ext>
            </a:extLst>
          </p:cNvPr>
          <p:cNvPicPr>
            <a:picLocks noChangeAspect="1"/>
          </p:cNvPicPr>
          <p:nvPr/>
        </p:nvPicPr>
        <p:blipFill>
          <a:blip r:embed="rId2"/>
          <a:stretch>
            <a:fillRect/>
          </a:stretch>
        </p:blipFill>
        <p:spPr>
          <a:xfrm>
            <a:off x="4028525" y="908720"/>
            <a:ext cx="7791115" cy="5998468"/>
          </a:xfrm>
          <a:prstGeom prst="rect">
            <a:avLst/>
          </a:prstGeom>
        </p:spPr>
      </p:pic>
    </p:spTree>
    <p:extLst>
      <p:ext uri="{BB962C8B-B14F-4D97-AF65-F5344CB8AC3E}">
        <p14:creationId xmlns:p14="http://schemas.microsoft.com/office/powerpoint/2010/main" val="3263227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user Resistance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fontScale="92500"/>
          </a:bodyPr>
          <a:lstStyle/>
          <a:p>
            <a:r>
              <a:rPr lang="en-US" b="1" dirty="0"/>
              <a:t>Change Management Plan</a:t>
            </a:r>
          </a:p>
          <a:p>
            <a:pPr lvl="1">
              <a:lnSpc>
                <a:spcPct val="100000"/>
              </a:lnSpc>
            </a:pPr>
            <a:r>
              <a:rPr lang="en-US" b="1" dirty="0"/>
              <a:t>Motivating adoption</a:t>
            </a:r>
            <a:br>
              <a:rPr lang="en-US" sz="1800" dirty="0"/>
            </a:br>
            <a:r>
              <a:rPr lang="en-US" dirty="0"/>
              <a:t>Single most important factor in motivating a change is providing clear and convincing evidence of the need for change. Simply put, everyone who is expected to adopt the change must be convinced that the benefits from the to-­ be system outweigh the costs of changing</a:t>
            </a:r>
            <a:r>
              <a:rPr lang="en-US" sz="1800" dirty="0">
                <a:solidFill>
                  <a:srgbClr val="000000"/>
                </a:solidFill>
                <a:effectLst/>
                <a:latin typeface="Helvetica" pitchFamily="2" charset="0"/>
              </a:rPr>
              <a:t>.</a:t>
            </a:r>
          </a:p>
          <a:p>
            <a:pPr lvl="1"/>
            <a:r>
              <a:rPr lang="en-US" dirty="0"/>
              <a:t>Motivating strategies</a:t>
            </a:r>
          </a:p>
          <a:p>
            <a:pPr lvl="2"/>
            <a:r>
              <a:rPr lang="en-US" sz="2400" b="1" dirty="0"/>
              <a:t>Informational </a:t>
            </a:r>
            <a:r>
              <a:rPr lang="en-US" sz="2400" dirty="0"/>
              <a:t>: informational strategy, the goal is to convince potential adopters that the change is for the better. This strategy works when the cost–benefit set of the target adopters has more benefits than costs.</a:t>
            </a:r>
          </a:p>
          <a:p>
            <a:pPr lvl="2"/>
            <a:r>
              <a:rPr lang="en-US" sz="2400" b="1" dirty="0"/>
              <a:t>Political-</a:t>
            </a:r>
            <a:r>
              <a:rPr lang="en-US" sz="2400" dirty="0"/>
              <a:t> With a political strategy, </a:t>
            </a:r>
            <a:r>
              <a:rPr lang="en-US" sz="2400" dirty="0" err="1"/>
              <a:t>organi-zational</a:t>
            </a:r>
            <a:r>
              <a:rPr lang="en-US" sz="2400" dirty="0"/>
              <a:t> power, not information, is used to motivate change. This approach is often used when the cost–benefit set of the target adopters has more costs than benefits.</a:t>
            </a:r>
          </a:p>
          <a:p>
            <a:pPr lvl="2"/>
            <a:endParaRPr lang="en-US" sz="2400" dirty="0"/>
          </a:p>
          <a:p>
            <a:pPr lvl="1"/>
            <a:endParaRPr lang="en-US" b="1" dirty="0"/>
          </a:p>
        </p:txBody>
      </p:sp>
    </p:spTree>
    <p:extLst>
      <p:ext uri="{BB962C8B-B14F-4D97-AF65-F5344CB8AC3E}">
        <p14:creationId xmlns:p14="http://schemas.microsoft.com/office/powerpoint/2010/main" val="1729505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 – Managing user Resistance</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b="1" dirty="0"/>
              <a:t>Change Management Plan</a:t>
            </a:r>
          </a:p>
          <a:p>
            <a:pPr lvl="1"/>
            <a:r>
              <a:rPr lang="en-US" sz="2200" b="1" dirty="0"/>
              <a:t>Enabling people to adopt through training </a:t>
            </a:r>
          </a:p>
          <a:p>
            <a:pPr lvl="2"/>
            <a:r>
              <a:rPr lang="en-US" sz="2200" dirty="0"/>
              <a:t>Potential adopters may want to adopt the change, but unless they are capable of adopting it, they won’t. Adoption is enabled by providing employees the skills needed to adopt the change through careful training. </a:t>
            </a:r>
          </a:p>
          <a:p>
            <a:pPr lvl="2"/>
            <a:r>
              <a:rPr lang="en-US" sz="2200" dirty="0"/>
              <a:t>Training is probably the most self-­ evident part of any change management initiative. How can an organization expect its staff members to adopt a new system if they are not trained? </a:t>
            </a:r>
          </a:p>
          <a:p>
            <a:pPr lvl="1"/>
            <a:endParaRPr lang="en-US" sz="2000" dirty="0"/>
          </a:p>
          <a:p>
            <a:pPr lvl="1"/>
            <a:endParaRPr lang="en-US" dirty="0">
              <a:solidFill>
                <a:srgbClr val="000000"/>
              </a:solidFill>
              <a:effectLst/>
              <a:latin typeface="Helvetica" pitchFamily="2" charset="0"/>
            </a:endParaRPr>
          </a:p>
          <a:p>
            <a:pPr lvl="1"/>
            <a:endParaRPr lang="en-US" b="1" dirty="0"/>
          </a:p>
        </p:txBody>
      </p:sp>
    </p:spTree>
    <p:extLst>
      <p:ext uri="{BB962C8B-B14F-4D97-AF65-F5344CB8AC3E}">
        <p14:creationId xmlns:p14="http://schemas.microsoft.com/office/powerpoint/2010/main" val="8361562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fontScale="92500" lnSpcReduction="10000"/>
          </a:bodyPr>
          <a:lstStyle/>
          <a:p>
            <a:r>
              <a:rPr lang="en-US" b="1" dirty="0"/>
              <a:t>Postimplementation activities</a:t>
            </a:r>
          </a:p>
          <a:p>
            <a:pPr lvl="1">
              <a:lnSpc>
                <a:spcPct val="110000"/>
              </a:lnSpc>
            </a:pPr>
            <a:r>
              <a:rPr lang="en-US" sz="2200" dirty="0"/>
              <a:t>The goal of postimplementation activities is to institutionalize the use of the new system—­ that is, to make it the normal, accepted, routine way of performing the business processes.</a:t>
            </a:r>
          </a:p>
          <a:p>
            <a:pPr lvl="1">
              <a:lnSpc>
                <a:spcPct val="110000"/>
              </a:lnSpc>
            </a:pPr>
            <a:r>
              <a:rPr lang="en-US" sz="2200" dirty="0"/>
              <a:t>The post-implementation activities attempt to refreeze the organization after the successful transition to the new system.</a:t>
            </a:r>
          </a:p>
          <a:p>
            <a:r>
              <a:rPr lang="en-US" sz="3200" b="1" dirty="0"/>
              <a:t>Conducting reviews and system support</a:t>
            </a:r>
          </a:p>
          <a:p>
            <a:pPr lvl="1">
              <a:lnSpc>
                <a:spcPct val="110000"/>
              </a:lnSpc>
            </a:pPr>
            <a:r>
              <a:rPr lang="en-US" sz="2200" dirty="0"/>
              <a:t>Once the project team has installed the system and performed the change management activities, the system is officially turned over to the operations group.</a:t>
            </a:r>
          </a:p>
          <a:p>
            <a:pPr lvl="1">
              <a:lnSpc>
                <a:spcPct val="110000"/>
              </a:lnSpc>
            </a:pPr>
            <a:r>
              <a:rPr lang="en-US" sz="2200" dirty="0"/>
              <a:t>Members of the operations group usually are integrally involved in the installation activities because they are the ones who must ensure that the system actually works.</a:t>
            </a:r>
          </a:p>
          <a:p>
            <a:pPr lvl="1">
              <a:lnSpc>
                <a:spcPct val="110000"/>
              </a:lnSpc>
            </a:pPr>
            <a:r>
              <a:rPr lang="en-US" sz="2200" dirty="0"/>
              <a:t>Operating group give feedback and reviews.</a:t>
            </a:r>
          </a:p>
          <a:p>
            <a:pPr lvl="1"/>
            <a:endParaRPr lang="en-US" sz="2200" dirty="0"/>
          </a:p>
          <a:p>
            <a:pPr lvl="1"/>
            <a:endParaRPr lang="en-US" sz="2800" b="1" dirty="0"/>
          </a:p>
          <a:p>
            <a:pPr lvl="1"/>
            <a:endParaRPr lang="en-US" dirty="0">
              <a:solidFill>
                <a:srgbClr val="000000"/>
              </a:solidFill>
              <a:effectLst/>
              <a:latin typeface="Helvetica" pitchFamily="2" charset="0"/>
            </a:endParaRPr>
          </a:p>
          <a:p>
            <a:pPr lvl="1"/>
            <a:endParaRPr lang="en-US" b="1" dirty="0"/>
          </a:p>
        </p:txBody>
      </p:sp>
    </p:spTree>
    <p:extLst>
      <p:ext uri="{BB962C8B-B14F-4D97-AF65-F5344CB8AC3E}">
        <p14:creationId xmlns:p14="http://schemas.microsoft.com/office/powerpoint/2010/main" val="3968440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fontScale="92500"/>
          </a:bodyPr>
          <a:lstStyle/>
          <a:p>
            <a:r>
              <a:rPr lang="en-US" sz="3200" b="1" dirty="0"/>
              <a:t>Conducting reviews and system support</a:t>
            </a:r>
          </a:p>
          <a:p>
            <a:pPr lvl="1"/>
            <a:r>
              <a:rPr lang="en-US" sz="2200" dirty="0"/>
              <a:t>Providing system support means helping the users to use the system. Usually, this means providing answers to questions and helping users understand how to perform a certain function; this type of support can be thought of as </a:t>
            </a:r>
            <a:r>
              <a:rPr lang="en-US" sz="2200" b="1" dirty="0"/>
              <a:t>on-demand</a:t>
            </a:r>
            <a:r>
              <a:rPr lang="en-US" sz="2200" dirty="0"/>
              <a:t> training.</a:t>
            </a:r>
          </a:p>
          <a:p>
            <a:pPr lvl="1"/>
            <a:r>
              <a:rPr lang="en-US" sz="2200" dirty="0"/>
              <a:t>Online support is the most common form of on-­demand training. This includes the documentation and help screens built into the system, as well as separate websites that provide answers to frequently asked questions </a:t>
            </a:r>
            <a:r>
              <a:rPr lang="en-US" sz="2200" b="1" dirty="0"/>
              <a:t>(FAQs) </a:t>
            </a:r>
            <a:r>
              <a:rPr lang="en-US" sz="2200" dirty="0"/>
              <a:t>that enable users to find answers without contacting a person. Obviously, the goal of most systems is to provide sufficiently good online support so that the user does not need to contact a person, because providing online support is much less expensive than is providing a person to answer questions.</a:t>
            </a:r>
          </a:p>
          <a:p>
            <a:pPr lvl="1"/>
            <a:r>
              <a:rPr lang="en-US" sz="2200" dirty="0"/>
              <a:t>Most organizations provide a </a:t>
            </a:r>
            <a:r>
              <a:rPr lang="en-US" sz="2200" b="1" dirty="0"/>
              <a:t>help desk </a:t>
            </a:r>
            <a:r>
              <a:rPr lang="en-US" sz="2200" dirty="0"/>
              <a:t>that provides a place for a user to talk with a person who can answer questions (usually over the phone, but sometimes in person). The help desk supports all systems, not just one specific system, so it receives calls about a wide variety of software and hardware.</a:t>
            </a:r>
          </a:p>
          <a:p>
            <a:pPr lvl="1"/>
            <a:endParaRPr lang="en-US" sz="1600" dirty="0">
              <a:solidFill>
                <a:srgbClr val="000000"/>
              </a:solidFill>
              <a:effectLst/>
              <a:latin typeface="Helvetica" pitchFamily="2" charset="0"/>
            </a:endParaRPr>
          </a:p>
          <a:p>
            <a:pPr lvl="1"/>
            <a:endParaRPr lang="en-US" sz="2200" dirty="0"/>
          </a:p>
          <a:p>
            <a:pPr lvl="1"/>
            <a:endParaRPr lang="en-US" sz="2200" dirty="0"/>
          </a:p>
          <a:p>
            <a:pPr lvl="1"/>
            <a:endParaRPr lang="en-US" sz="2800" b="1" dirty="0"/>
          </a:p>
          <a:p>
            <a:pPr lvl="1"/>
            <a:endParaRPr lang="en-US" dirty="0">
              <a:solidFill>
                <a:srgbClr val="000000"/>
              </a:solidFill>
              <a:effectLst/>
              <a:latin typeface="Helvetica" pitchFamily="2" charset="0"/>
            </a:endParaRPr>
          </a:p>
          <a:p>
            <a:pPr lvl="1"/>
            <a:endParaRPr lang="en-US" b="1" dirty="0"/>
          </a:p>
        </p:txBody>
      </p:sp>
    </p:spTree>
    <p:extLst>
      <p:ext uri="{BB962C8B-B14F-4D97-AF65-F5344CB8AC3E}">
        <p14:creationId xmlns:p14="http://schemas.microsoft.com/office/powerpoint/2010/main" val="2445175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Project Implementation &amp; Post Implementation Activities</a:t>
            </a:r>
          </a:p>
        </p:txBody>
      </p:sp>
      <p:sp>
        <p:nvSpPr>
          <p:cNvPr id="9" name="Content Placeholder 2">
            <a:extLst>
              <a:ext uri="{FF2B5EF4-FFF2-40B4-BE49-F238E27FC236}">
                <a16:creationId xmlns:a16="http://schemas.microsoft.com/office/drawing/2014/main" id="{4B812DA8-96C3-128C-9203-59A6EB8A4CB0}"/>
              </a:ext>
            </a:extLst>
          </p:cNvPr>
          <p:cNvSpPr>
            <a:spLocks noGrp="1"/>
          </p:cNvSpPr>
          <p:nvPr>
            <p:ph idx="1"/>
          </p:nvPr>
        </p:nvSpPr>
        <p:spPr>
          <a:xfrm>
            <a:off x="1537366" y="1484785"/>
            <a:ext cx="9838871" cy="5195416"/>
          </a:xfrm>
        </p:spPr>
        <p:txBody>
          <a:bodyPr>
            <a:normAutofit/>
          </a:bodyPr>
          <a:lstStyle/>
          <a:p>
            <a:r>
              <a:rPr lang="en-US" sz="3200" b="1" dirty="0"/>
              <a:t>Conducting reviews and system support</a:t>
            </a:r>
          </a:p>
          <a:p>
            <a:pPr lvl="1">
              <a:lnSpc>
                <a:spcPct val="110000"/>
              </a:lnSpc>
            </a:pPr>
            <a:r>
              <a:rPr lang="en-US" sz="2200" dirty="0"/>
              <a:t>Change requests typically come from five sources. </a:t>
            </a:r>
          </a:p>
          <a:p>
            <a:pPr lvl="2">
              <a:lnSpc>
                <a:spcPct val="110000"/>
              </a:lnSpc>
            </a:pPr>
            <a:r>
              <a:rPr lang="en-US" sz="1800" dirty="0"/>
              <a:t>Bug -The most common source is problem reports from the operations group that identify bugs in the system that must be fixed. These are usually given immediate priority because a bug can cause significant problems.</a:t>
            </a:r>
          </a:p>
          <a:p>
            <a:pPr lvl="2">
              <a:lnSpc>
                <a:spcPct val="110000"/>
              </a:lnSpc>
            </a:pPr>
            <a:r>
              <a:rPr lang="en-US" sz="1800" dirty="0"/>
              <a:t>Feature Enhancement- Feature needs to improved</a:t>
            </a:r>
          </a:p>
          <a:p>
            <a:pPr lvl="2">
              <a:lnSpc>
                <a:spcPct val="110000"/>
              </a:lnSpc>
            </a:pPr>
            <a:r>
              <a:rPr lang="en-US" sz="1800" dirty="0"/>
              <a:t>Other system development – to integrate with other system</a:t>
            </a:r>
          </a:p>
          <a:p>
            <a:pPr lvl="2">
              <a:lnSpc>
                <a:spcPct val="110000"/>
              </a:lnSpc>
            </a:pPr>
            <a:r>
              <a:rPr lang="en-US" sz="1800" dirty="0"/>
              <a:t>Underlying software or networks change – OS, Security Concerns</a:t>
            </a:r>
          </a:p>
          <a:p>
            <a:pPr lvl="2">
              <a:lnSpc>
                <a:spcPct val="110000"/>
              </a:lnSpc>
            </a:pPr>
            <a:r>
              <a:rPr lang="en-US" sz="1800" dirty="0"/>
              <a:t>Changes in the organization’s strategy – Company strategy changes</a:t>
            </a:r>
          </a:p>
          <a:p>
            <a:pPr lvl="2">
              <a:lnSpc>
                <a:spcPct val="110000"/>
              </a:lnSpc>
            </a:pPr>
            <a:endParaRPr lang="en-US" sz="1800" dirty="0"/>
          </a:p>
          <a:p>
            <a:pPr lvl="2">
              <a:lnSpc>
                <a:spcPct val="110000"/>
              </a:lnSpc>
            </a:pPr>
            <a:endParaRPr lang="en-US" sz="1800" dirty="0"/>
          </a:p>
          <a:p>
            <a:pPr lvl="2">
              <a:lnSpc>
                <a:spcPct val="110000"/>
              </a:lnSpc>
            </a:pPr>
            <a:endParaRPr lang="en-US" sz="1600" dirty="0">
              <a:solidFill>
                <a:srgbClr val="000000"/>
              </a:solidFill>
              <a:effectLst/>
              <a:latin typeface="Helvetica" pitchFamily="2" charset="0"/>
            </a:endParaRPr>
          </a:p>
          <a:p>
            <a:pPr lvl="1"/>
            <a:endParaRPr lang="en-US" sz="2200" dirty="0"/>
          </a:p>
          <a:p>
            <a:pPr lvl="1"/>
            <a:endParaRPr lang="en-US" sz="2200" dirty="0"/>
          </a:p>
          <a:p>
            <a:pPr lvl="1"/>
            <a:endParaRPr lang="en-US" sz="2800" b="1" dirty="0"/>
          </a:p>
          <a:p>
            <a:pPr lvl="1"/>
            <a:endParaRPr lang="en-US" dirty="0">
              <a:solidFill>
                <a:srgbClr val="000000"/>
              </a:solidFill>
              <a:effectLst/>
              <a:latin typeface="Helvetica" pitchFamily="2" charset="0"/>
            </a:endParaRPr>
          </a:p>
          <a:p>
            <a:pPr lvl="1"/>
            <a:endParaRPr lang="en-US" b="1" dirty="0"/>
          </a:p>
        </p:txBody>
      </p:sp>
    </p:spTree>
    <p:extLst>
      <p:ext uri="{BB962C8B-B14F-4D97-AF65-F5344CB8AC3E}">
        <p14:creationId xmlns:p14="http://schemas.microsoft.com/office/powerpoint/2010/main" val="3590847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E83F1-EDA7-0F28-B3E9-3A309E4851B2}"/>
              </a:ext>
            </a:extLst>
          </p:cNvPr>
          <p:cNvSpPr>
            <a:spLocks noGrp="1"/>
          </p:cNvSpPr>
          <p:nvPr>
            <p:ph type="title"/>
          </p:nvPr>
        </p:nvSpPr>
        <p:spPr/>
        <p:txBody>
          <a:bodyPr/>
          <a:lstStyle/>
          <a:p>
            <a:r>
              <a:rPr lang="en-NP" dirty="0"/>
              <a:t>Hmmmm..</a:t>
            </a:r>
          </a:p>
        </p:txBody>
      </p:sp>
      <p:sp>
        <p:nvSpPr>
          <p:cNvPr id="3" name="Content Placeholder 2">
            <a:extLst>
              <a:ext uri="{FF2B5EF4-FFF2-40B4-BE49-F238E27FC236}">
                <a16:creationId xmlns:a16="http://schemas.microsoft.com/office/drawing/2014/main" id="{3705E33E-EBB7-8A05-CFD0-24B8BDE1378B}"/>
              </a:ext>
            </a:extLst>
          </p:cNvPr>
          <p:cNvSpPr>
            <a:spLocks noGrp="1"/>
          </p:cNvSpPr>
          <p:nvPr>
            <p:ph sz="half" idx="1"/>
          </p:nvPr>
        </p:nvSpPr>
        <p:spPr/>
        <p:txBody>
          <a:bodyPr/>
          <a:lstStyle/>
          <a:p>
            <a:pPr marL="0" indent="0">
              <a:buNone/>
            </a:pPr>
            <a:r>
              <a:rPr lang="en-NP" dirty="0"/>
              <a:t>That’s end of </a:t>
            </a:r>
            <a:r>
              <a:rPr lang="en-NP"/>
              <a:t>Unit V</a:t>
            </a:r>
            <a:endParaRPr lang="en-NP" dirty="0"/>
          </a:p>
        </p:txBody>
      </p:sp>
      <p:sp>
        <p:nvSpPr>
          <p:cNvPr id="4" name="Content Placeholder 3">
            <a:extLst>
              <a:ext uri="{FF2B5EF4-FFF2-40B4-BE49-F238E27FC236}">
                <a16:creationId xmlns:a16="http://schemas.microsoft.com/office/drawing/2014/main" id="{4F63115A-F1F5-2643-4FEE-564AD2404B3B}"/>
              </a:ext>
            </a:extLst>
          </p:cNvPr>
          <p:cNvSpPr>
            <a:spLocks noGrp="1"/>
          </p:cNvSpPr>
          <p:nvPr>
            <p:ph sz="half" idx="2"/>
          </p:nvPr>
        </p:nvSpPr>
        <p:spPr/>
        <p:txBody>
          <a:bodyPr/>
          <a:lstStyle/>
          <a:p>
            <a:pPr marL="0" indent="0">
              <a:buNone/>
            </a:pPr>
            <a:r>
              <a:rPr lang="en-NP" dirty="0"/>
              <a:t>Thank you</a:t>
            </a:r>
          </a:p>
        </p:txBody>
      </p:sp>
    </p:spTree>
    <p:extLst>
      <p:ext uri="{BB962C8B-B14F-4D97-AF65-F5344CB8AC3E}">
        <p14:creationId xmlns:p14="http://schemas.microsoft.com/office/powerpoint/2010/main" val="1363098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Math 16x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th education presentation with Pi  (widescreen).potx" id="{DF132673-7A8C-4FB7-A35E-0123B6C0D98B}" vid="{CCAAB50D-2EF2-4925-80C2-C83131AE58AC}"/>
    </a:ext>
  </a:extLst>
</a:theme>
</file>

<file path=ppt/theme/theme2.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Math 16x9</Template>
  <TotalTime>36599</TotalTime>
  <Words>4427</Words>
  <Application>Microsoft Macintosh PowerPoint</Application>
  <PresentationFormat>Custom</PresentationFormat>
  <Paragraphs>289</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Arial</vt:lpstr>
      <vt:lpstr>Euphemia</vt:lpstr>
      <vt:lpstr>Helvetica</vt:lpstr>
      <vt:lpstr>Math 16x9</vt:lpstr>
      <vt:lpstr>System Analysis and Project Management – Project Implementation &amp; Post Implementation Activities</vt:lpstr>
      <vt:lpstr>Implementation Phase</vt:lpstr>
      <vt:lpstr>Project Implementation &amp; Post Implementation Activities</vt:lpstr>
      <vt:lpstr>Project Implementation &amp; Post Implementation Activities – Managing Programming Process</vt:lpstr>
      <vt:lpstr>Project Implementation &amp; Post Implementation Activities – Managing Programming Process</vt:lpstr>
      <vt:lpstr>Project Implementation &amp; Post Implementation Activities – Managing Programming Process</vt:lpstr>
      <vt:lpstr>Project Implementation &amp; Post Implementation Activities – Managing Programming Process</vt:lpstr>
      <vt:lpstr>Project Implementation &amp; Post Implementation Activities – Managing Programming Process</vt:lpstr>
      <vt:lpstr>Project Implementation &amp; Post Implementation Activities – Managing Programming Process</vt:lpstr>
      <vt:lpstr>Project Implementation &amp; Post Implementation Activities – Managing Programming Process</vt:lpstr>
      <vt:lpstr>Project Implementation &amp; Post Implementation Activities – Managing Programming Process</vt:lpstr>
      <vt:lpstr>Project Implementation &amp; Post Implementation Activities – Managing Programming Process</vt:lpstr>
      <vt:lpstr>Project Implementation &amp; Post Implementation Activities – Managing Programming Process</vt:lpstr>
      <vt:lpstr>Project Implementation &amp; Post Implementation Activities – Testing Strategies</vt:lpstr>
      <vt:lpstr>Project Implementation &amp; Post Implementation Activities – Testing Strategies</vt:lpstr>
      <vt:lpstr>Project Implementation &amp; Post Implementation Activities – Testing Strategies</vt:lpstr>
      <vt:lpstr>Project Implementation &amp; Post Implementation Activities – Testing Strategies</vt:lpstr>
      <vt:lpstr>Project Implementation &amp; Post Implementation Activities – Testing Strategies</vt:lpstr>
      <vt:lpstr>Project Implementation &amp; Post Implementation Activities – Testing Strategies</vt:lpstr>
      <vt:lpstr>Project Implementation &amp; Post Implementation Activities</vt:lpstr>
      <vt:lpstr>Project Implementation &amp; Post Implementation Activities</vt:lpstr>
      <vt:lpstr>Project Implementation &amp; Post Implementation Activities – Migration Plan</vt:lpstr>
      <vt:lpstr>Project Implementation &amp; Post Implementation Activities – Migration Plan</vt:lpstr>
      <vt:lpstr>Project Implementation &amp; Post Implementation Activities – Migration Plan</vt:lpstr>
      <vt:lpstr>Project Implementation &amp; Post Implementation Activities – Migration Plan / Conversion Style</vt:lpstr>
      <vt:lpstr>Project Implementation &amp; Post Implementation Activities – Migration Plan / Conversion Style</vt:lpstr>
      <vt:lpstr>Project Implementation &amp; Post Implementation Activities – Migration Plan / Conversion Style</vt:lpstr>
      <vt:lpstr>Project Implementation &amp; Post Implementation Activities – Migration Plan / Conversion Style</vt:lpstr>
      <vt:lpstr>Project Implementation &amp; Post Implementation Activities – Migration Plan / Conversion Style</vt:lpstr>
      <vt:lpstr>Project Implementation &amp; Post Implementation Activities</vt:lpstr>
      <vt:lpstr>Project Implementation &amp; Post Implementation Activities</vt:lpstr>
      <vt:lpstr>Project Implementation &amp; Post Implementation Activities – Managing user Resistance</vt:lpstr>
      <vt:lpstr>Project Implementation &amp; Post Implementation Activities – Managing user Resistance</vt:lpstr>
      <vt:lpstr>Project Implementation &amp; Post Implementation Activities – </vt:lpstr>
      <vt:lpstr>Project Implementation &amp; Post Implementation Activities – Managing user Resistance</vt:lpstr>
      <vt:lpstr>Project Implementation &amp; Post Implementation Activities – Managing user Resistance</vt:lpstr>
      <vt:lpstr>Project Implementation &amp; Post Implementation Activities</vt:lpstr>
      <vt:lpstr>Project Implementation &amp; Post Implementation Activities</vt:lpstr>
      <vt:lpstr>Project Implementation &amp; Post Implementation Activities</vt:lpstr>
      <vt:lpstr>Hmmmm..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Analysis and Project Management</dc:title>
  <dc:creator>Microsoft Office User</dc:creator>
  <cp:lastModifiedBy>Microsoft Office User</cp:lastModifiedBy>
  <cp:revision>167</cp:revision>
  <dcterms:created xsi:type="dcterms:W3CDTF">2024-11-06T00:05:42Z</dcterms:created>
  <dcterms:modified xsi:type="dcterms:W3CDTF">2026-01-31T02:51:21Z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