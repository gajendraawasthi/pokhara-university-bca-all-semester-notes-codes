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1218882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guide id="3" pos="1007">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55" roundtripDataSignature="AMtx7mi5H1+PRx2117w3StSOl3YfIZW1x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Bibhu Sth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 pos="1007"/>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02T12:31:21.190">
    <p:pos x="1030" y="2065"/>
    <p:text>Get support from important people (like the project leader) to explain why the project is useful.
Create a group of people who believe in and support the project.
Listen to problems or doubts and solve them early.
Keep everyone informed about what is happening in the project and its progress.
Involve users while designing and testing the system so they feel comfortable using it.
Plan proper training and help for users after the system is ready.</p:text>
    <p:extLst>
      <p:ext uri="{C676402C-5697-4E1C-873F-D02D1690AC5C}">
        <p15:threadingInfo timeZoneBias="0"/>
      </p:ext>
      <p:ext uri="http://customooxmlschemas.google.com/">
        <go:slidesCustomData xmlns:go="http://customooxmlschemas.google.com/" commentPostId="AAABywP_elE"/>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2-02T12:34:31.703">
    <p:pos x="1026" y="620"/>
    <p:text>Legal Feasibility
Legal feasibility checks whether a project follows all laws and rules. It helps to find out if the project can be done legally without causing problems to the organization.
Some important points of legal feasibility are:
Regulatory Compliance:
Check local laws, government rules, and industry standards. This includes licenses, permissions, environmental laws, and other legal requirements that must be followed.
Contractual Considerations:
Review existing contracts and agreements to see if they affect the project. This includes agreements with suppliers, landlords, and partners.
Intellectual Property Rights:
Make sure the project does not copy or misuse others’ ideas, trademarks, patents, or copyrights, and protect your own ideas.
Liability and Risk Assessment:
Identify possible legal risks like customer complaints, product issues, or contract disputes, and plan how to handle them.</p:text>
    <p:extLst>
      <p:ext uri="{C676402C-5697-4E1C-873F-D02D1690AC5C}">
        <p15:threadingInfo timeZoneBias="0"/>
      </p:ext>
      <p:ext uri="http://customooxmlschemas.google.com/">
        <go:slidesCustomData xmlns:go="http://customooxmlschemas.google.com/" commentPostId="AAABywP_elY"/>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2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9:notes"/>
          <p:cNvSpPr/>
          <p:nvPr>
            <p:ph idx="2" type="sldImg"/>
          </p:nvPr>
        </p:nvSpPr>
        <p:spPr>
          <a:xfrm>
            <a:off x="382588" y="685800"/>
            <a:ext cx="60927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4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4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4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4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4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4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50"/>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 name="Google Shape;25;p50"/>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50"/>
          <p:cNvSpPr/>
          <p:nvPr/>
        </p:nvSpPr>
        <p:spPr>
          <a:xfrm>
            <a:off x="121888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 name="Google Shape;27;p50"/>
          <p:cNvSpPr/>
          <p:nvPr/>
        </p:nvSpPr>
        <p:spPr>
          <a:xfrm>
            <a:off x="0" y="0"/>
            <a:ext cx="1218883" cy="68580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 name="Google Shape;28;p50"/>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9" name="Google Shape;29;p50"/>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30" name="Google Shape;30;p50"/>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 name="Google Shape;31;p50"/>
          <p:cNvCxnSpPr/>
          <p:nvPr/>
        </p:nvCxnSpPr>
        <p:spPr>
          <a:xfrm>
            <a:off x="1218884" y="0"/>
            <a:ext cx="0" cy="6858000"/>
          </a:xfrm>
          <a:prstGeom prst="straightConnector1">
            <a:avLst/>
          </a:prstGeom>
          <a:noFill/>
          <a:ln cap="flat" cmpd="sng" w="19050">
            <a:solidFill>
              <a:schemeClr val="lt1"/>
            </a:solidFill>
            <a:prstDash val="solid"/>
            <a:miter lim="800000"/>
            <a:headEnd len="sm" w="sm" type="none"/>
            <a:tailEnd len="sm" w="sm" type="none"/>
          </a:ln>
        </p:spPr>
      </p:cxnSp>
      <p:cxnSp>
        <p:nvCxnSpPr>
          <p:cNvPr id="32" name="Google Shape;32;p50"/>
          <p:cNvCxnSpPr/>
          <p:nvPr/>
        </p:nvCxnSpPr>
        <p:spPr>
          <a:xfrm>
            <a:off x="0" y="5631204"/>
            <a:ext cx="1828325" cy="0"/>
          </a:xfrm>
          <a:prstGeom prst="straightConnector1">
            <a:avLst/>
          </a:prstGeom>
          <a:noFill/>
          <a:ln cap="flat" cmpd="sng" w="19050">
            <a:solidFill>
              <a:schemeClr val="lt1"/>
            </a:solidFill>
            <a:prstDash val="solid"/>
            <a:miter lim="800000"/>
            <a:headEnd len="sm" w="sm" type="none"/>
            <a:tailEnd len="sm" w="sm" type="none"/>
          </a:ln>
        </p:spPr>
      </p:cxnSp>
      <p:sp>
        <p:nvSpPr>
          <p:cNvPr id="33" name="Google Shape;33;p50"/>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50"/>
          <p:cNvSpPr txBox="1"/>
          <p:nvPr>
            <p:ph type="ctrTitle"/>
          </p:nvPr>
        </p:nvSpPr>
        <p:spPr>
          <a:xfrm>
            <a:off x="2428669" y="1600200"/>
            <a:ext cx="8329031" cy="268012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343F49"/>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0"/>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None/>
              <a:defRPr sz="3200">
                <a:solidFill>
                  <a:schemeClr val="dk1"/>
                </a:solidFill>
              </a:defRPr>
            </a:lvl1pPr>
            <a:lvl2pPr lvl="1" algn="ctr">
              <a:lnSpc>
                <a:spcPct val="90000"/>
              </a:lnSpc>
              <a:spcBef>
                <a:spcPts val="600"/>
              </a:spcBef>
              <a:spcAft>
                <a:spcPts val="0"/>
              </a:spcAft>
              <a:buClr>
                <a:srgbClr val="92979C"/>
              </a:buClr>
              <a:buSzPts val="2400"/>
              <a:buNone/>
              <a:defRPr>
                <a:solidFill>
                  <a:srgbClr val="92979C"/>
                </a:solidFill>
              </a:defRPr>
            </a:lvl2pPr>
            <a:lvl3pPr lvl="2" algn="ctr">
              <a:lnSpc>
                <a:spcPct val="90000"/>
              </a:lnSpc>
              <a:spcBef>
                <a:spcPts val="600"/>
              </a:spcBef>
              <a:spcAft>
                <a:spcPts val="0"/>
              </a:spcAft>
              <a:buClr>
                <a:srgbClr val="92979C"/>
              </a:buClr>
              <a:buSzPts val="2000"/>
              <a:buNone/>
              <a:defRPr>
                <a:solidFill>
                  <a:srgbClr val="92979C"/>
                </a:solidFill>
              </a:defRPr>
            </a:lvl3pPr>
            <a:lvl4pPr lvl="3" algn="ctr">
              <a:lnSpc>
                <a:spcPct val="90000"/>
              </a:lnSpc>
              <a:spcBef>
                <a:spcPts val="600"/>
              </a:spcBef>
              <a:spcAft>
                <a:spcPts val="0"/>
              </a:spcAft>
              <a:buClr>
                <a:srgbClr val="92979C"/>
              </a:buClr>
              <a:buSzPts val="1800"/>
              <a:buNone/>
              <a:defRPr>
                <a:solidFill>
                  <a:srgbClr val="92979C"/>
                </a:solidFill>
              </a:defRPr>
            </a:lvl4pPr>
            <a:lvl5pPr lvl="4" algn="ctr">
              <a:lnSpc>
                <a:spcPct val="90000"/>
              </a:lnSpc>
              <a:spcBef>
                <a:spcPts val="600"/>
              </a:spcBef>
              <a:spcAft>
                <a:spcPts val="0"/>
              </a:spcAft>
              <a:buClr>
                <a:srgbClr val="92979C"/>
              </a:buClr>
              <a:buSzPts val="1800"/>
              <a:buNone/>
              <a:defRPr>
                <a:solidFill>
                  <a:srgbClr val="92979C"/>
                </a:solidFill>
              </a:defRPr>
            </a:lvl5pPr>
            <a:lvl6pPr lvl="5" algn="ctr">
              <a:lnSpc>
                <a:spcPct val="90000"/>
              </a:lnSpc>
              <a:spcBef>
                <a:spcPts val="600"/>
              </a:spcBef>
              <a:spcAft>
                <a:spcPts val="0"/>
              </a:spcAft>
              <a:buClr>
                <a:srgbClr val="92979C"/>
              </a:buClr>
              <a:buSzPts val="1800"/>
              <a:buNone/>
              <a:defRPr>
                <a:solidFill>
                  <a:srgbClr val="92979C"/>
                </a:solidFill>
              </a:defRPr>
            </a:lvl6pPr>
            <a:lvl7pPr lvl="6" algn="ctr">
              <a:lnSpc>
                <a:spcPct val="90000"/>
              </a:lnSpc>
              <a:spcBef>
                <a:spcPts val="600"/>
              </a:spcBef>
              <a:spcAft>
                <a:spcPts val="0"/>
              </a:spcAft>
              <a:buClr>
                <a:srgbClr val="92979C"/>
              </a:buClr>
              <a:buSzPts val="1800"/>
              <a:buNone/>
              <a:defRPr>
                <a:solidFill>
                  <a:srgbClr val="92979C"/>
                </a:solidFill>
              </a:defRPr>
            </a:lvl7pPr>
            <a:lvl8pPr lvl="7" algn="ctr">
              <a:lnSpc>
                <a:spcPct val="90000"/>
              </a:lnSpc>
              <a:spcBef>
                <a:spcPts val="600"/>
              </a:spcBef>
              <a:spcAft>
                <a:spcPts val="0"/>
              </a:spcAft>
              <a:buClr>
                <a:srgbClr val="92979C"/>
              </a:buClr>
              <a:buSzPts val="1800"/>
              <a:buNone/>
              <a:defRPr>
                <a:solidFill>
                  <a:srgbClr val="92979C"/>
                </a:solidFill>
              </a:defRPr>
            </a:lvl8pPr>
            <a:lvl9pPr lvl="8" algn="ctr">
              <a:lnSpc>
                <a:spcPct val="90000"/>
              </a:lnSpc>
              <a:spcBef>
                <a:spcPts val="600"/>
              </a:spcBef>
              <a:spcAft>
                <a:spcPts val="0"/>
              </a:spcAft>
              <a:buClr>
                <a:srgbClr val="92979C"/>
              </a:buClr>
              <a:buSzPts val="1800"/>
              <a:buNone/>
              <a:defRPr>
                <a:solidFill>
                  <a:srgbClr val="92979C"/>
                </a:solidFill>
              </a:defRPr>
            </a:lvl9pPr>
          </a:lstStyle>
          <a:p/>
        </p:txBody>
      </p:sp>
      <p:sp>
        <p:nvSpPr>
          <p:cNvPr id="36" name="Google Shape;36;p50"/>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0"/>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2" type="sldNum"/>
          </p:nvPr>
        </p:nvSpPr>
        <p:spPr>
          <a:xfrm>
            <a:off x="10666412"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1"/>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2" name="Google Shape;42;p51"/>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1"/>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5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2"/>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8" name="Google Shape;48;p52"/>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9" name="Google Shape;49;p52"/>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2"/>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2"/>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2" name="Shape 52"/>
        <p:cNvGrpSpPr/>
        <p:nvPr/>
      </p:nvGrpSpPr>
      <p:grpSpPr>
        <a:xfrm>
          <a:off x="0" y="0"/>
          <a:ext cx="0" cy="0"/>
          <a:chOff x="0" y="0"/>
          <a:chExt cx="0" cy="0"/>
        </a:xfrm>
      </p:grpSpPr>
      <p:sp>
        <p:nvSpPr>
          <p:cNvPr id="53" name="Google Shape;53;p53"/>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 name="Google Shape;54;p53"/>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 name="Google Shape;55;p53"/>
          <p:cNvSpPr/>
          <p:nvPr/>
        </p:nvSpPr>
        <p:spPr>
          <a:xfrm>
            <a:off x="1216152"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53"/>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7" name="Google Shape;57;p53"/>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58" name="Google Shape;58;p53"/>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53"/>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 name="Google Shape;60;p53"/>
          <p:cNvCxnSpPr/>
          <p:nvPr/>
        </p:nvCxnSpPr>
        <p:spPr>
          <a:xfrm>
            <a:off x="1216152"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61" name="Google Shape;61;p53"/>
          <p:cNvSpPr/>
          <p:nvPr/>
        </p:nvSpPr>
        <p:spPr>
          <a:xfrm>
            <a:off x="11579384"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 name="Google Shape;62;p53"/>
          <p:cNvSpPr/>
          <p:nvPr/>
        </p:nvSpPr>
        <p:spPr>
          <a:xfrm>
            <a:off x="11274663" y="0"/>
            <a:ext cx="304721"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53"/>
          <p:cNvSpPr/>
          <p:nvPr/>
        </p:nvSpPr>
        <p:spPr>
          <a:xfrm>
            <a:off x="1218883"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53"/>
          <p:cNvSpPr/>
          <p:nvPr/>
        </p:nvSpPr>
        <p:spPr>
          <a:xfrm>
            <a:off x="-2" y="0"/>
            <a:ext cx="1218883"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53"/>
          <p:cNvSpPr/>
          <p:nvPr/>
        </p:nvSpPr>
        <p:spPr>
          <a:xfrm>
            <a:off x="0" y="0"/>
            <a:ext cx="12188825" cy="6096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 name="Google Shape;66;p53"/>
          <p:cNvCxnSpPr/>
          <p:nvPr/>
        </p:nvCxnSpPr>
        <p:spPr>
          <a:xfrm>
            <a:off x="11573293"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7" name="Google Shape;67;p53"/>
          <p:cNvSpPr/>
          <p:nvPr/>
        </p:nvSpPr>
        <p:spPr>
          <a:xfrm>
            <a:off x="0" y="0"/>
            <a:ext cx="1216152" cy="609600"/>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 name="Google Shape;68;p53"/>
          <p:cNvCxnSpPr/>
          <p:nvPr/>
        </p:nvCxnSpPr>
        <p:spPr>
          <a:xfrm>
            <a:off x="1218884"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9" name="Google Shape;69;p53"/>
          <p:cNvSpPr txBox="1"/>
          <p:nvPr>
            <p:ph type="title"/>
          </p:nvPr>
        </p:nvSpPr>
        <p:spPr>
          <a:xfrm>
            <a:off x="1598613" y="1600201"/>
            <a:ext cx="8283272" cy="26540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5400"/>
              <a:buFont typeface="Arial"/>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3"/>
          <p:cNvSpPr txBox="1"/>
          <p:nvPr>
            <p:ph idx="1" type="body"/>
          </p:nvPr>
        </p:nvSpPr>
        <p:spPr>
          <a:xfrm>
            <a:off x="1598613" y="4259996"/>
            <a:ext cx="7264623" cy="115020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3200"/>
              <a:buNone/>
              <a:defRPr sz="3200">
                <a:solidFill>
                  <a:schemeClr val="dk1"/>
                </a:solidFill>
              </a:defRPr>
            </a:lvl1pPr>
            <a:lvl2pPr indent="-228600" lvl="1" marL="914400" algn="l">
              <a:lnSpc>
                <a:spcPct val="90000"/>
              </a:lnSpc>
              <a:spcBef>
                <a:spcPts val="600"/>
              </a:spcBef>
              <a:spcAft>
                <a:spcPts val="0"/>
              </a:spcAft>
              <a:buClr>
                <a:srgbClr val="92979C"/>
              </a:buClr>
              <a:buSzPts val="1800"/>
              <a:buNone/>
              <a:defRPr sz="1800">
                <a:solidFill>
                  <a:srgbClr val="92979C"/>
                </a:solidFill>
              </a:defRPr>
            </a:lvl2pPr>
            <a:lvl3pPr indent="-228600" lvl="2" marL="1371600" algn="l">
              <a:lnSpc>
                <a:spcPct val="90000"/>
              </a:lnSpc>
              <a:spcBef>
                <a:spcPts val="600"/>
              </a:spcBef>
              <a:spcAft>
                <a:spcPts val="0"/>
              </a:spcAft>
              <a:buClr>
                <a:srgbClr val="92979C"/>
              </a:buClr>
              <a:buSzPts val="1600"/>
              <a:buNone/>
              <a:defRPr sz="1600">
                <a:solidFill>
                  <a:srgbClr val="92979C"/>
                </a:solidFill>
              </a:defRPr>
            </a:lvl3pPr>
            <a:lvl4pPr indent="-228600" lvl="3" marL="1828800" algn="l">
              <a:lnSpc>
                <a:spcPct val="90000"/>
              </a:lnSpc>
              <a:spcBef>
                <a:spcPts val="600"/>
              </a:spcBef>
              <a:spcAft>
                <a:spcPts val="0"/>
              </a:spcAft>
              <a:buClr>
                <a:srgbClr val="92979C"/>
              </a:buClr>
              <a:buSzPts val="1400"/>
              <a:buNone/>
              <a:defRPr sz="1400">
                <a:solidFill>
                  <a:srgbClr val="92979C"/>
                </a:solidFill>
              </a:defRPr>
            </a:lvl4pPr>
            <a:lvl5pPr indent="-228600" lvl="4" marL="2286000" algn="l">
              <a:lnSpc>
                <a:spcPct val="90000"/>
              </a:lnSpc>
              <a:spcBef>
                <a:spcPts val="600"/>
              </a:spcBef>
              <a:spcAft>
                <a:spcPts val="0"/>
              </a:spcAft>
              <a:buClr>
                <a:srgbClr val="92979C"/>
              </a:buClr>
              <a:buSzPts val="1400"/>
              <a:buNone/>
              <a:defRPr sz="1400">
                <a:solidFill>
                  <a:srgbClr val="92979C"/>
                </a:solidFill>
              </a:defRPr>
            </a:lvl5pPr>
            <a:lvl6pPr indent="-228600" lvl="5" marL="2743200" algn="l">
              <a:lnSpc>
                <a:spcPct val="90000"/>
              </a:lnSpc>
              <a:spcBef>
                <a:spcPts val="600"/>
              </a:spcBef>
              <a:spcAft>
                <a:spcPts val="0"/>
              </a:spcAft>
              <a:buClr>
                <a:srgbClr val="92979C"/>
              </a:buClr>
              <a:buSzPts val="1400"/>
              <a:buNone/>
              <a:defRPr sz="1400">
                <a:solidFill>
                  <a:srgbClr val="92979C"/>
                </a:solidFill>
              </a:defRPr>
            </a:lvl6pPr>
            <a:lvl7pPr indent="-228600" lvl="6" marL="3200400" algn="l">
              <a:lnSpc>
                <a:spcPct val="90000"/>
              </a:lnSpc>
              <a:spcBef>
                <a:spcPts val="600"/>
              </a:spcBef>
              <a:spcAft>
                <a:spcPts val="0"/>
              </a:spcAft>
              <a:buClr>
                <a:srgbClr val="92979C"/>
              </a:buClr>
              <a:buSzPts val="1400"/>
              <a:buNone/>
              <a:defRPr sz="1400">
                <a:solidFill>
                  <a:srgbClr val="92979C"/>
                </a:solidFill>
              </a:defRPr>
            </a:lvl7pPr>
            <a:lvl8pPr indent="-228600" lvl="7" marL="3657600" algn="l">
              <a:lnSpc>
                <a:spcPct val="90000"/>
              </a:lnSpc>
              <a:spcBef>
                <a:spcPts val="600"/>
              </a:spcBef>
              <a:spcAft>
                <a:spcPts val="0"/>
              </a:spcAft>
              <a:buClr>
                <a:srgbClr val="92979C"/>
              </a:buClr>
              <a:buSzPts val="1400"/>
              <a:buNone/>
              <a:defRPr sz="1400">
                <a:solidFill>
                  <a:srgbClr val="92979C"/>
                </a:solidFill>
              </a:defRPr>
            </a:lvl8pPr>
            <a:lvl9pPr indent="-228600" lvl="8" marL="4114800" algn="l">
              <a:lnSpc>
                <a:spcPct val="90000"/>
              </a:lnSpc>
              <a:spcBef>
                <a:spcPts val="600"/>
              </a:spcBef>
              <a:spcAft>
                <a:spcPts val="0"/>
              </a:spcAft>
              <a:buClr>
                <a:srgbClr val="92979C"/>
              </a:buClr>
              <a:buSzPts val="1400"/>
              <a:buNone/>
              <a:defRPr sz="1400">
                <a:solidFill>
                  <a:srgbClr val="92979C"/>
                </a:solidFill>
              </a:defRPr>
            </a:lvl9pPr>
          </a:lstStyle>
          <a:p/>
        </p:txBody>
      </p:sp>
      <p:sp>
        <p:nvSpPr>
          <p:cNvPr id="71" name="Google Shape;71;p53"/>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3"/>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3"/>
          <p:cNvSpPr txBox="1"/>
          <p:nvPr>
            <p:ph idx="12" type="sldNum"/>
          </p:nvPr>
        </p:nvSpPr>
        <p:spPr>
          <a:xfrm>
            <a:off x="10666571"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5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4"/>
          <p:cNvSpPr txBox="1"/>
          <p:nvPr>
            <p:ph idx="1" type="body"/>
          </p:nvPr>
        </p:nvSpPr>
        <p:spPr>
          <a:xfrm>
            <a:off x="1593436"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7" name="Google Shape;77;p54"/>
          <p:cNvSpPr txBox="1"/>
          <p:nvPr>
            <p:ph idx="2" type="body"/>
          </p:nvPr>
        </p:nvSpPr>
        <p:spPr>
          <a:xfrm>
            <a:off x="1593436" y="2514706"/>
            <a:ext cx="4814586" cy="3657493"/>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78" name="Google Shape;78;p54"/>
          <p:cNvSpPr txBox="1"/>
          <p:nvPr>
            <p:ph idx="3" type="body"/>
          </p:nvPr>
        </p:nvSpPr>
        <p:spPr>
          <a:xfrm>
            <a:off x="6557349"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9" name="Google Shape;79;p54"/>
          <p:cNvSpPr txBox="1"/>
          <p:nvPr>
            <p:ph idx="4" type="body"/>
          </p:nvPr>
        </p:nvSpPr>
        <p:spPr>
          <a:xfrm>
            <a:off x="6557349" y="2514600"/>
            <a:ext cx="4818888" cy="365556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80" name="Google Shape;80;p54"/>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4"/>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5"/>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5"/>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5"/>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56"/>
          <p:cNvSpPr/>
          <p:nvPr/>
        </p:nvSpPr>
        <p:spPr>
          <a:xfrm>
            <a:off x="626239" y="0"/>
            <a:ext cx="30472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56"/>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1" name="Google Shape;91;p56"/>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92" name="Google Shape;92;p56"/>
          <p:cNvSpPr/>
          <p:nvPr/>
        </p:nvSpPr>
        <p:spPr>
          <a:xfrm>
            <a:off x="10969942" y="0"/>
            <a:ext cx="922621" cy="6858000"/>
          </a:xfrm>
          <a:prstGeom prst="rect">
            <a:avLst/>
          </a:prstGeom>
          <a:solidFill>
            <a:srgbClr val="6A8093">
              <a:alpha val="86666"/>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 name="Google Shape;93;p56"/>
          <p:cNvSpPr/>
          <p:nvPr/>
        </p:nvSpPr>
        <p:spPr>
          <a:xfrm>
            <a:off x="11892563"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56"/>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6"/>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6"/>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lt1"/>
                </a:solidFill>
                <a:latin typeface="Arial"/>
                <a:ea typeface="Arial"/>
                <a:cs typeface="Arial"/>
                <a:sym typeface="Arial"/>
              </a:defRPr>
            </a:lvl1pPr>
            <a:lvl2pPr indent="0" lvl="1" marL="0" algn="r">
              <a:spcBef>
                <a:spcPts val="0"/>
              </a:spcBef>
              <a:buNone/>
              <a:defRPr sz="1200" cap="none">
                <a:solidFill>
                  <a:schemeClr val="lt1"/>
                </a:solidFill>
                <a:latin typeface="Arial"/>
                <a:ea typeface="Arial"/>
                <a:cs typeface="Arial"/>
                <a:sym typeface="Arial"/>
              </a:defRPr>
            </a:lvl2pPr>
            <a:lvl3pPr indent="0" lvl="2" marL="0" algn="r">
              <a:spcBef>
                <a:spcPts val="0"/>
              </a:spcBef>
              <a:buNone/>
              <a:defRPr sz="1200" cap="none">
                <a:solidFill>
                  <a:schemeClr val="lt1"/>
                </a:solidFill>
                <a:latin typeface="Arial"/>
                <a:ea typeface="Arial"/>
                <a:cs typeface="Arial"/>
                <a:sym typeface="Arial"/>
              </a:defRPr>
            </a:lvl3pPr>
            <a:lvl4pPr indent="0" lvl="3" marL="0" algn="r">
              <a:spcBef>
                <a:spcPts val="0"/>
              </a:spcBef>
              <a:buNone/>
              <a:defRPr sz="1200" cap="none">
                <a:solidFill>
                  <a:schemeClr val="lt1"/>
                </a:solidFill>
                <a:latin typeface="Arial"/>
                <a:ea typeface="Arial"/>
                <a:cs typeface="Arial"/>
                <a:sym typeface="Arial"/>
              </a:defRPr>
            </a:lvl4pPr>
            <a:lvl5pPr indent="0" lvl="4" marL="0" algn="r">
              <a:spcBef>
                <a:spcPts val="0"/>
              </a:spcBef>
              <a:buNone/>
              <a:defRPr sz="1200" cap="none">
                <a:solidFill>
                  <a:schemeClr val="lt1"/>
                </a:solidFill>
                <a:latin typeface="Arial"/>
                <a:ea typeface="Arial"/>
                <a:cs typeface="Arial"/>
                <a:sym typeface="Arial"/>
              </a:defRPr>
            </a:lvl5pPr>
            <a:lvl6pPr indent="0" lvl="5" marL="0" algn="r">
              <a:spcBef>
                <a:spcPts val="0"/>
              </a:spcBef>
              <a:buNone/>
              <a:defRPr sz="1200" cap="none">
                <a:solidFill>
                  <a:schemeClr val="lt1"/>
                </a:solidFill>
                <a:latin typeface="Arial"/>
                <a:ea typeface="Arial"/>
                <a:cs typeface="Arial"/>
                <a:sym typeface="Arial"/>
              </a:defRPr>
            </a:lvl6pPr>
            <a:lvl7pPr indent="0" lvl="6" marL="0" algn="r">
              <a:spcBef>
                <a:spcPts val="0"/>
              </a:spcBef>
              <a:buNone/>
              <a:defRPr sz="1200" cap="none">
                <a:solidFill>
                  <a:schemeClr val="lt1"/>
                </a:solidFill>
                <a:latin typeface="Arial"/>
                <a:ea typeface="Arial"/>
                <a:cs typeface="Arial"/>
                <a:sym typeface="Arial"/>
              </a:defRPr>
            </a:lvl7pPr>
            <a:lvl8pPr indent="0" lvl="7" marL="0" algn="r">
              <a:spcBef>
                <a:spcPts val="0"/>
              </a:spcBef>
              <a:buNone/>
              <a:defRPr sz="1200" cap="none">
                <a:solidFill>
                  <a:schemeClr val="lt1"/>
                </a:solidFill>
                <a:latin typeface="Arial"/>
                <a:ea typeface="Arial"/>
                <a:cs typeface="Arial"/>
                <a:sym typeface="Arial"/>
              </a:defRPr>
            </a:lvl8pPr>
            <a:lvl9pPr indent="0" lvl="8" marL="0" algn="r">
              <a:spcBef>
                <a:spcPts val="0"/>
              </a:spcBef>
              <a:buNone/>
              <a:defRPr sz="1200" cap="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97" name="Shape 97"/>
        <p:cNvGrpSpPr/>
        <p:nvPr/>
      </p:nvGrpSpPr>
      <p:grpSpPr>
        <a:xfrm>
          <a:off x="0" y="0"/>
          <a:ext cx="0" cy="0"/>
          <a:chOff x="0" y="0"/>
          <a:chExt cx="0" cy="0"/>
        </a:xfrm>
      </p:grpSpPr>
      <p:sp>
        <p:nvSpPr>
          <p:cNvPr id="98" name="Google Shape;98;p57"/>
          <p:cNvSpPr/>
          <p:nvPr/>
        </p:nvSpPr>
        <p:spPr>
          <a:xfrm>
            <a:off x="621792" y="0"/>
            <a:ext cx="4147717"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57"/>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0" name="Google Shape;100;p57"/>
          <p:cNvCxnSpPr/>
          <p:nvPr/>
        </p:nvCxnSpPr>
        <p:spPr>
          <a:xfrm>
            <a:off x="621792"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01" name="Google Shape;101;p57"/>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57"/>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Arial"/>
              <a:buNone/>
              <a:defRPr b="0" sz="2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7"/>
          <p:cNvSpPr txBox="1"/>
          <p:nvPr>
            <p:ph idx="1" type="body"/>
          </p:nvPr>
        </p:nvSpPr>
        <p:spPr>
          <a:xfrm>
            <a:off x="5180251" y="482600"/>
            <a:ext cx="6195986" cy="56896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104" name="Google Shape;104;p57"/>
          <p:cNvSpPr txBox="1"/>
          <p:nvPr>
            <p:ph idx="2"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lt1"/>
              </a:buClr>
              <a:buSzPts val="2000"/>
              <a:buNone/>
              <a:defRPr sz="2000">
                <a:solidFill>
                  <a:schemeClr val="lt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05" name="Google Shape;105;p57"/>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7"/>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7"/>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8" name="Shape 108"/>
        <p:cNvGrpSpPr/>
        <p:nvPr/>
      </p:nvGrpSpPr>
      <p:grpSpPr>
        <a:xfrm>
          <a:off x="0" y="0"/>
          <a:ext cx="0" cy="0"/>
          <a:chOff x="0" y="0"/>
          <a:chExt cx="0" cy="0"/>
        </a:xfrm>
      </p:grpSpPr>
      <p:sp>
        <p:nvSpPr>
          <p:cNvPr id="109" name="Google Shape;109;p58"/>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58"/>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58"/>
          <p:cNvSpPr/>
          <p:nvPr/>
        </p:nvSpPr>
        <p:spPr>
          <a:xfrm>
            <a:off x="4875530" y="0"/>
            <a:ext cx="7017034" cy="6858000"/>
          </a:xfrm>
          <a:prstGeom prst="rect">
            <a:avLst/>
          </a:prstGeom>
          <a:solidFill>
            <a:srgbClr val="C1CBD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58"/>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2800"/>
              <a:buFont typeface="Arial"/>
              <a:buNone/>
              <a:defRPr b="0" sz="2800" cap="none">
                <a:solidFill>
                  <a:srgbClr val="343F4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113" name="Google Shape;113;p58"/>
          <p:cNvSpPr/>
          <p:nvPr>
            <p:ph idx="2" type="pic"/>
          </p:nvPr>
        </p:nvSpPr>
        <p:spPr>
          <a:xfrm>
            <a:off x="5180251" y="482600"/>
            <a:ext cx="6195986" cy="5689600"/>
          </a:xfrm>
          <a:prstGeom prst="rect">
            <a:avLst/>
          </a:prstGeom>
          <a:noFill/>
          <a:ln cap="flat" cmpd="sng" w="19050">
            <a:solidFill>
              <a:schemeClr val="lt1"/>
            </a:solidFill>
            <a:prstDash val="solid"/>
            <a:round/>
            <a:headEnd len="sm" w="sm" type="none"/>
            <a:tailEnd len="sm" w="sm" type="none"/>
          </a:ln>
        </p:spPr>
      </p:sp>
      <p:sp>
        <p:nvSpPr>
          <p:cNvPr id="114" name="Google Shape;114;p58"/>
          <p:cNvSpPr txBox="1"/>
          <p:nvPr>
            <p:ph idx="1"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2000"/>
              <a:buNone/>
              <a:defRPr sz="2000">
                <a:solidFill>
                  <a:schemeClr val="dk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15" name="Google Shape;115;p58"/>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8"/>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8"/>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18" name="Google Shape;118;p58"/>
          <p:cNvCxnSpPr/>
          <p:nvPr/>
        </p:nvCxnSpPr>
        <p:spPr>
          <a:xfrm>
            <a:off x="11879867" y="0"/>
            <a:ext cx="0" cy="6858000"/>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5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59"/>
          <p:cNvSpPr txBox="1"/>
          <p:nvPr>
            <p:ph idx="1" type="body"/>
          </p:nvPr>
        </p:nvSpPr>
        <p:spPr>
          <a:xfrm rot="5400000">
            <a:off x="4198837" y="-1005200"/>
            <a:ext cx="4572000" cy="97828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22" name="Google Shape;122;p59"/>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59"/>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9"/>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5" name="Shape 125"/>
        <p:cNvGrpSpPr/>
        <p:nvPr/>
      </p:nvGrpSpPr>
      <p:grpSpPr>
        <a:xfrm>
          <a:off x="0" y="0"/>
          <a:ext cx="0" cy="0"/>
          <a:chOff x="0" y="0"/>
          <a:chExt cx="0" cy="0"/>
        </a:xfrm>
      </p:grpSpPr>
      <p:sp>
        <p:nvSpPr>
          <p:cNvPr id="126" name="Google Shape;126;p60"/>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60"/>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60"/>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60"/>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30" name="Google Shape;130;p60"/>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31" name="Google Shape;131;p60"/>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32" name="Google Shape;132;p60"/>
          <p:cNvSpPr/>
          <p:nvPr/>
        </p:nvSpPr>
        <p:spPr>
          <a:xfrm rot="5400000">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 name="Google Shape;133;p60"/>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34" name="Google Shape;134;p60"/>
          <p:cNvSpPr txBox="1"/>
          <p:nvPr>
            <p:ph type="title"/>
          </p:nvPr>
        </p:nvSpPr>
        <p:spPr>
          <a:xfrm rot="5400000">
            <a:off x="7750175" y="2535237"/>
            <a:ext cx="5486400" cy="178752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0"/>
          <p:cNvSpPr txBox="1"/>
          <p:nvPr>
            <p:ph idx="1" type="body"/>
          </p:nvPr>
        </p:nvSpPr>
        <p:spPr>
          <a:xfrm rot="5400000">
            <a:off x="2779713" y="-495300"/>
            <a:ext cx="5486400" cy="78485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6" name="Google Shape;136;p60"/>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0"/>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60"/>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9"/>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49"/>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49"/>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49"/>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4" name="Google Shape;14;p49"/>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5" name="Google Shape;15;p49"/>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6" name="Google Shape;16;p49"/>
          <p:cNvSpPr/>
          <p:nvPr/>
        </p:nvSpPr>
        <p:spPr>
          <a:xfrm>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 name="Google Shape;17;p49"/>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8" name="Google Shape;18;p4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43F49"/>
              </a:buClr>
              <a:buSzPts val="3600"/>
              <a:buFont typeface="Arial"/>
              <a:buNone/>
              <a:defRPr b="0" i="0" sz="3600" u="none" cap="none" strike="noStrike">
                <a:solidFill>
                  <a:srgbClr val="343F4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9"/>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4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6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49"/>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49"/>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49"/>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cap="none">
                <a:solidFill>
                  <a:schemeClr val="dk1"/>
                </a:solidFill>
                <a:latin typeface="Arial"/>
                <a:ea typeface="Arial"/>
                <a:cs typeface="Arial"/>
                <a:sym typeface="Arial"/>
              </a:defRPr>
            </a:lvl1pPr>
            <a:lvl2pPr indent="0" lvl="1" marL="0" marR="0" rtl="0" algn="r">
              <a:spcBef>
                <a:spcPts val="0"/>
              </a:spcBef>
              <a:buNone/>
              <a:defRPr b="0" sz="1200" u="none" cap="none">
                <a:solidFill>
                  <a:schemeClr val="dk1"/>
                </a:solidFill>
                <a:latin typeface="Arial"/>
                <a:ea typeface="Arial"/>
                <a:cs typeface="Arial"/>
                <a:sym typeface="Arial"/>
              </a:defRPr>
            </a:lvl2pPr>
            <a:lvl3pPr indent="0" lvl="2" marL="0" marR="0" rtl="0" algn="r">
              <a:spcBef>
                <a:spcPts val="0"/>
              </a:spcBef>
              <a:buNone/>
              <a:defRPr b="0" sz="1200" u="none" cap="none">
                <a:solidFill>
                  <a:schemeClr val="dk1"/>
                </a:solidFill>
                <a:latin typeface="Arial"/>
                <a:ea typeface="Arial"/>
                <a:cs typeface="Arial"/>
                <a:sym typeface="Arial"/>
              </a:defRPr>
            </a:lvl3pPr>
            <a:lvl4pPr indent="0" lvl="3" marL="0" marR="0" rtl="0" algn="r">
              <a:spcBef>
                <a:spcPts val="0"/>
              </a:spcBef>
              <a:buNone/>
              <a:defRPr b="0" sz="1200" u="none" cap="none">
                <a:solidFill>
                  <a:schemeClr val="dk1"/>
                </a:solidFill>
                <a:latin typeface="Arial"/>
                <a:ea typeface="Arial"/>
                <a:cs typeface="Arial"/>
                <a:sym typeface="Arial"/>
              </a:defRPr>
            </a:lvl4pPr>
            <a:lvl5pPr indent="0" lvl="4" marL="0" marR="0" rtl="0" algn="r">
              <a:spcBef>
                <a:spcPts val="0"/>
              </a:spcBef>
              <a:buNone/>
              <a:defRPr b="0" sz="1200" u="none" cap="none">
                <a:solidFill>
                  <a:schemeClr val="dk1"/>
                </a:solidFill>
                <a:latin typeface="Arial"/>
                <a:ea typeface="Arial"/>
                <a:cs typeface="Arial"/>
                <a:sym typeface="Arial"/>
              </a:defRPr>
            </a:lvl5pPr>
            <a:lvl6pPr indent="0" lvl="5" marL="0" marR="0" rtl="0" algn="r">
              <a:spcBef>
                <a:spcPts val="0"/>
              </a:spcBef>
              <a:buNone/>
              <a:defRPr b="0" sz="1200" u="none" cap="none">
                <a:solidFill>
                  <a:schemeClr val="dk1"/>
                </a:solidFill>
                <a:latin typeface="Arial"/>
                <a:ea typeface="Arial"/>
                <a:cs typeface="Arial"/>
                <a:sym typeface="Arial"/>
              </a:defRPr>
            </a:lvl6pPr>
            <a:lvl7pPr indent="0" lvl="6" marL="0" marR="0" rtl="0" algn="r">
              <a:spcBef>
                <a:spcPts val="0"/>
              </a:spcBef>
              <a:buNone/>
              <a:defRPr b="0" sz="1200" u="none" cap="none">
                <a:solidFill>
                  <a:schemeClr val="dk1"/>
                </a:solidFill>
                <a:latin typeface="Arial"/>
                <a:ea typeface="Arial"/>
                <a:cs typeface="Arial"/>
                <a:sym typeface="Arial"/>
              </a:defRPr>
            </a:lvl7pPr>
            <a:lvl8pPr indent="0" lvl="7" marL="0" marR="0" rtl="0" algn="r">
              <a:spcBef>
                <a:spcPts val="0"/>
              </a:spcBef>
              <a:buNone/>
              <a:defRPr b="0" sz="1200" u="none" cap="none">
                <a:solidFill>
                  <a:schemeClr val="dk1"/>
                </a:solidFill>
                <a:latin typeface="Arial"/>
                <a:ea typeface="Arial"/>
                <a:cs typeface="Arial"/>
                <a:sym typeface="Arial"/>
              </a:defRPr>
            </a:lvl8pPr>
            <a:lvl9pPr indent="0" lvl="8" marL="0" marR="0" rtl="0" algn="r">
              <a:spcBef>
                <a:spcPts val="0"/>
              </a:spcBef>
              <a:buNone/>
              <a:defRPr b="0" sz="1200" u="none" cap="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comments" Target="../comments/comment1.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comments" Target="../comments/comment2.xml"/><Relationship Id="rId4" Type="http://schemas.openxmlformats.org/officeDocument/2006/relationships/hyperlink" Target="https://pmstudycircle.com/contract/"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2428669" y="1600200"/>
            <a:ext cx="8329031" cy="268012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43F49"/>
              </a:buClr>
              <a:buSzPts val="5400"/>
              <a:buFont typeface="Arial"/>
              <a:buNone/>
            </a:pPr>
            <a:r>
              <a:rPr lang="en-US"/>
              <a:t>System Analysis and Project Management</a:t>
            </a:r>
            <a:endParaRPr/>
          </a:p>
        </p:txBody>
      </p:sp>
      <p:sp>
        <p:nvSpPr>
          <p:cNvPr id="144" name="Google Shape;144;p1"/>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a:t>Prepared By - Vesh Raj Joshi</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50" name="Google Shape;150;p2"/>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A System is a way of thinking about organizations and their problems and set of techniques that helps in solving the problems.</a:t>
            </a:r>
            <a:endParaRPr/>
          </a:p>
          <a:p>
            <a:pPr indent="0" lvl="0" marL="203112" rtl="0" algn="l">
              <a:lnSpc>
                <a:spcPct val="100000"/>
              </a:lnSpc>
              <a:spcBef>
                <a:spcPts val="3200"/>
              </a:spcBef>
              <a:spcAft>
                <a:spcPts val="0"/>
              </a:spcAft>
              <a:buClr>
                <a:schemeClr val="dk1"/>
              </a:buClr>
              <a:buSzPts val="2400"/>
              <a:buNone/>
            </a:pPr>
            <a:r>
              <a:rPr b="1" lang="en-US" sz="2400"/>
              <a:t>The term system is derived from the Greek word “systema”, which means an organized relationship among functioning units or components.</a:t>
            </a:r>
            <a:endParaRPr b="1" sz="1800"/>
          </a:p>
          <a:p>
            <a:pPr indent="0" lvl="0" marL="203112" rtl="0" algn="l">
              <a:lnSpc>
                <a:spcPct val="100000"/>
              </a:lnSpc>
              <a:spcBef>
                <a:spcPts val="2600"/>
              </a:spcBef>
              <a:spcAft>
                <a:spcPts val="0"/>
              </a:spcAft>
              <a:buClr>
                <a:schemeClr val="dk1"/>
              </a:buClr>
              <a:buSzPts val="2800"/>
              <a:buNone/>
            </a:pPr>
            <a:r>
              <a:rPr b="1" lang="en-US"/>
              <a:t>“A system is an orderly grouping of interdependent components linked together according to a plan to achieve a specific objectives.”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56" name="Google Shape;156;p3"/>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Characteristics of a system</a:t>
            </a:r>
            <a:endParaRPr/>
          </a:p>
          <a:p>
            <a:pPr indent="-246887" lvl="1" marL="815760" rtl="0" algn="l">
              <a:lnSpc>
                <a:spcPct val="100000"/>
              </a:lnSpc>
              <a:spcBef>
                <a:spcPts val="600"/>
              </a:spcBef>
              <a:spcAft>
                <a:spcPts val="0"/>
              </a:spcAft>
              <a:buClr>
                <a:schemeClr val="dk1"/>
              </a:buClr>
              <a:buSzPts val="1400"/>
              <a:buChar char="–"/>
            </a:pPr>
            <a:r>
              <a:rPr b="1" lang="en-US" sz="1400"/>
              <a:t>Organization</a:t>
            </a:r>
            <a:endParaRPr/>
          </a:p>
          <a:p>
            <a:pPr indent="-246887" lvl="1" marL="815760" rtl="0" algn="l">
              <a:lnSpc>
                <a:spcPct val="100000"/>
              </a:lnSpc>
              <a:spcBef>
                <a:spcPts val="600"/>
              </a:spcBef>
              <a:spcAft>
                <a:spcPts val="0"/>
              </a:spcAft>
              <a:buClr>
                <a:schemeClr val="dk1"/>
              </a:buClr>
              <a:buSzPts val="1400"/>
              <a:buChar char="–"/>
            </a:pPr>
            <a:r>
              <a:rPr b="1" lang="en-US" sz="1400"/>
              <a:t>Interaction</a:t>
            </a:r>
            <a:endParaRPr/>
          </a:p>
          <a:p>
            <a:pPr indent="-246887" lvl="1" marL="815760" rtl="0" algn="l">
              <a:lnSpc>
                <a:spcPct val="100000"/>
              </a:lnSpc>
              <a:spcBef>
                <a:spcPts val="600"/>
              </a:spcBef>
              <a:spcAft>
                <a:spcPts val="0"/>
              </a:spcAft>
              <a:buClr>
                <a:schemeClr val="dk1"/>
              </a:buClr>
              <a:buSzPts val="1400"/>
              <a:buChar char="–"/>
            </a:pPr>
            <a:r>
              <a:rPr b="1" lang="en-US" sz="1400"/>
              <a:t>Interdependent</a:t>
            </a:r>
            <a:endParaRPr/>
          </a:p>
          <a:p>
            <a:pPr indent="-246887" lvl="1" marL="815760" rtl="0" algn="l">
              <a:lnSpc>
                <a:spcPct val="100000"/>
              </a:lnSpc>
              <a:spcBef>
                <a:spcPts val="600"/>
              </a:spcBef>
              <a:spcAft>
                <a:spcPts val="0"/>
              </a:spcAft>
              <a:buClr>
                <a:schemeClr val="dk1"/>
              </a:buClr>
              <a:buSzPts val="1400"/>
              <a:buChar char="–"/>
            </a:pPr>
            <a:r>
              <a:rPr b="1" lang="en-US" sz="1400"/>
              <a:t>Integration</a:t>
            </a:r>
            <a:endParaRPr/>
          </a:p>
          <a:p>
            <a:pPr indent="-246887" lvl="1" marL="815760" rtl="0" algn="l">
              <a:lnSpc>
                <a:spcPct val="100000"/>
              </a:lnSpc>
              <a:spcBef>
                <a:spcPts val="600"/>
              </a:spcBef>
              <a:spcAft>
                <a:spcPts val="0"/>
              </a:spcAft>
              <a:buClr>
                <a:schemeClr val="dk1"/>
              </a:buClr>
              <a:buSzPts val="1400"/>
              <a:buChar char="–"/>
            </a:pPr>
            <a:r>
              <a:rPr b="1" lang="en-US" sz="1400"/>
              <a:t>Central Objectives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62" name="Google Shape;162;p4"/>
          <p:cNvSpPr txBox="1"/>
          <p:nvPr>
            <p:ph idx="1" type="body"/>
          </p:nvPr>
        </p:nvSpPr>
        <p:spPr>
          <a:xfrm>
            <a:off x="1593437" y="1600200"/>
            <a:ext cx="4536506"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Organization</a:t>
            </a:r>
            <a:endParaRPr/>
          </a:p>
          <a:p>
            <a:pPr indent="0" lvl="1" marL="568872" rtl="0" algn="l">
              <a:lnSpc>
                <a:spcPct val="100000"/>
              </a:lnSpc>
              <a:spcBef>
                <a:spcPts val="600"/>
              </a:spcBef>
              <a:spcAft>
                <a:spcPts val="0"/>
              </a:spcAft>
              <a:buClr>
                <a:schemeClr val="dk1"/>
              </a:buClr>
              <a:buSzPts val="1400"/>
              <a:buNone/>
            </a:pPr>
            <a:r>
              <a:t/>
            </a:r>
            <a:endParaRPr b="1" sz="1400"/>
          </a:p>
        </p:txBody>
      </p:sp>
      <p:sp>
        <p:nvSpPr>
          <p:cNvPr id="163" name="Google Shape;163;p4"/>
          <p:cNvSpPr txBox="1"/>
          <p:nvPr/>
        </p:nvSpPr>
        <p:spPr>
          <a:xfrm>
            <a:off x="6129943" y="1772816"/>
            <a:ext cx="5076900" cy="2893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Organization implies structure and order</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It is the arrangement of components that helps to achieve objectives.</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For example - In the business system, the </a:t>
            </a:r>
            <a:r>
              <a:rPr lang="en-US" sz="1800">
                <a:solidFill>
                  <a:schemeClr val="dk1"/>
                </a:solidFill>
                <a:latin typeface="Arial"/>
                <a:ea typeface="Arial"/>
                <a:cs typeface="Arial"/>
                <a:sym typeface="Arial"/>
              </a:rPr>
              <a:t>hierachichal</a:t>
            </a:r>
            <a:r>
              <a:rPr lang="en-US" sz="1800">
                <a:solidFill>
                  <a:schemeClr val="dk1"/>
                </a:solidFill>
                <a:latin typeface="Arial"/>
                <a:ea typeface="Arial"/>
                <a:cs typeface="Arial"/>
                <a:sym typeface="Arial"/>
              </a:rPr>
              <a:t> relationship starting </a:t>
            </a:r>
            <a:r>
              <a:rPr lang="en-US" sz="1800">
                <a:solidFill>
                  <a:schemeClr val="dk1"/>
                </a:solidFill>
                <a:latin typeface="Arial"/>
                <a:ea typeface="Arial"/>
                <a:cs typeface="Arial"/>
                <a:sym typeface="Arial"/>
              </a:rPr>
              <a:t>withi</a:t>
            </a:r>
            <a:r>
              <a:rPr lang="en-US" sz="1800">
                <a:solidFill>
                  <a:schemeClr val="dk1"/>
                </a:solidFill>
                <a:latin typeface="Arial"/>
                <a:ea typeface="Arial"/>
                <a:cs typeface="Arial"/>
                <a:sym typeface="Arial"/>
              </a:rPr>
              <a:t> president on the top and leading downward to the workier represent to organization structure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64" name="Google Shape;164;p4"/>
          <p:cNvPicPr preferRelativeResize="0"/>
          <p:nvPr/>
        </p:nvPicPr>
        <p:blipFill rotWithShape="1">
          <a:blip r:embed="rId3">
            <a:alphaModFix/>
          </a:blip>
          <a:srcRect b="0" l="0" r="0" t="0"/>
          <a:stretch/>
        </p:blipFill>
        <p:spPr>
          <a:xfrm>
            <a:off x="1572007" y="2492896"/>
            <a:ext cx="4912829" cy="33843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70" name="Google Shape;170;p5"/>
          <p:cNvSpPr txBox="1"/>
          <p:nvPr>
            <p:ph idx="1" type="body"/>
          </p:nvPr>
        </p:nvSpPr>
        <p:spPr>
          <a:xfrm>
            <a:off x="1593437" y="1600200"/>
            <a:ext cx="4536506"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Interaction</a:t>
            </a:r>
            <a:endParaRPr/>
          </a:p>
          <a:p>
            <a:pPr indent="0" lvl="1" marL="568872" rtl="0" algn="l">
              <a:lnSpc>
                <a:spcPct val="100000"/>
              </a:lnSpc>
              <a:spcBef>
                <a:spcPts val="600"/>
              </a:spcBef>
              <a:spcAft>
                <a:spcPts val="0"/>
              </a:spcAft>
              <a:buClr>
                <a:schemeClr val="dk1"/>
              </a:buClr>
              <a:buSzPts val="1400"/>
              <a:buNone/>
            </a:pPr>
            <a:r>
              <a:t/>
            </a:r>
            <a:endParaRPr b="1" sz="1400"/>
          </a:p>
        </p:txBody>
      </p:sp>
      <p:sp>
        <p:nvSpPr>
          <p:cNvPr id="171" name="Google Shape;171;p5"/>
          <p:cNvSpPr txBox="1"/>
          <p:nvPr/>
        </p:nvSpPr>
        <p:spPr>
          <a:xfrm>
            <a:off x="6670475" y="1417626"/>
            <a:ext cx="45366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“Interaction refers to the manner in which each component component functions with the other components of system.”</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rPr>
              <a:t>(“Interaction refers to the manner in which each component of a system functions and communicates with other components of the system.” - bibhushrestha)</a:t>
            </a:r>
            <a:endParaRPr sz="1800">
              <a:solidFill>
                <a:schemeClr val="dk1"/>
              </a:solidFill>
            </a:endParaRPr>
          </a:p>
          <a:p>
            <a:pPr indent="0" lvl="0" marL="0" marR="0" rtl="0" algn="l">
              <a:spcBef>
                <a:spcPts val="1200"/>
              </a:spcBef>
              <a:spcAft>
                <a:spcPts val="0"/>
              </a:spcAft>
              <a:buNone/>
            </a:pPr>
            <a:r>
              <a:rPr lang="en-US" sz="1800">
                <a:solidFill>
                  <a:schemeClr val="dk1"/>
                </a:solidFill>
                <a:latin typeface="Arial"/>
                <a:ea typeface="Arial"/>
                <a:cs typeface="Arial"/>
                <a:sym typeface="Arial"/>
              </a:rPr>
              <a:t>For example – In a computer system, the central processing unit must interact with input device to solve a problem</a:t>
            </a:r>
            <a:endParaRPr/>
          </a:p>
          <a:p>
            <a:pPr indent="-285750" lvl="1" marL="742950" marR="0" rtl="0" algn="l">
              <a:spcBef>
                <a:spcPts val="12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Payroll with personnel</a:t>
            </a:r>
            <a:endParaRPr/>
          </a:p>
          <a:p>
            <a:pPr indent="-285750" lvl="1" marL="742950" marR="0" rtl="0" algn="l">
              <a:spcBef>
                <a:spcPts val="12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Teacher must interact with students in order to make them understand</a:t>
            </a:r>
            <a:endParaRPr/>
          </a:p>
          <a:p>
            <a:pPr indent="-285750" lvl="1" marL="742950" marR="0" rtl="0" algn="l">
              <a:spcBef>
                <a:spcPts val="12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Purchasing must interact with production</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72" name="Google Shape;172;p5"/>
          <p:cNvGrpSpPr/>
          <p:nvPr/>
        </p:nvGrpSpPr>
        <p:grpSpPr>
          <a:xfrm>
            <a:off x="1917948" y="2420888"/>
            <a:ext cx="4672039" cy="3076062"/>
            <a:chOff x="1493613" y="2456901"/>
            <a:chExt cx="4672039" cy="3076062"/>
          </a:xfrm>
        </p:grpSpPr>
        <p:sp>
          <p:nvSpPr>
            <p:cNvPr id="173" name="Google Shape;173;p5"/>
            <p:cNvSpPr/>
            <p:nvPr/>
          </p:nvSpPr>
          <p:spPr>
            <a:xfrm>
              <a:off x="3137588" y="2456901"/>
              <a:ext cx="936104" cy="1080101"/>
            </a:xfrm>
            <a:prstGeom prst="rect">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Arial"/>
                  <a:ea typeface="Arial"/>
                  <a:cs typeface="Arial"/>
                  <a:sym typeface="Arial"/>
                </a:rPr>
                <a:t>CPU</a:t>
              </a:r>
              <a:endParaRPr b="1" sz="1800">
                <a:solidFill>
                  <a:schemeClr val="lt1"/>
                </a:solidFill>
                <a:latin typeface="Arial"/>
                <a:ea typeface="Arial"/>
                <a:cs typeface="Arial"/>
                <a:sym typeface="Arial"/>
              </a:endParaRPr>
            </a:p>
          </p:txBody>
        </p:sp>
        <p:sp>
          <p:nvSpPr>
            <p:cNvPr id="174" name="Google Shape;174;p5"/>
            <p:cNvSpPr/>
            <p:nvPr/>
          </p:nvSpPr>
          <p:spPr>
            <a:xfrm>
              <a:off x="1493613" y="2744924"/>
              <a:ext cx="792088" cy="504056"/>
            </a:xfrm>
            <a:prstGeom prst="rect">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Input</a:t>
              </a:r>
              <a:endParaRPr/>
            </a:p>
          </p:txBody>
        </p:sp>
        <p:cxnSp>
          <p:nvCxnSpPr>
            <p:cNvPr id="175" name="Google Shape;175;p5"/>
            <p:cNvCxnSpPr>
              <a:stCxn id="174" idx="3"/>
            </p:cNvCxnSpPr>
            <p:nvPr/>
          </p:nvCxnSpPr>
          <p:spPr>
            <a:xfrm>
              <a:off x="2285701" y="2996952"/>
              <a:ext cx="852000" cy="0"/>
            </a:xfrm>
            <a:prstGeom prst="straightConnector1">
              <a:avLst/>
            </a:prstGeom>
            <a:noFill/>
            <a:ln cap="flat" cmpd="sng" w="12700">
              <a:solidFill>
                <a:schemeClr val="dk2"/>
              </a:solidFill>
              <a:prstDash val="solid"/>
              <a:miter lim="800000"/>
              <a:headEnd len="sm" w="sm" type="none"/>
              <a:tailEnd len="med" w="med" type="triangle"/>
            </a:ln>
          </p:spPr>
        </p:cxnSp>
        <p:sp>
          <p:nvSpPr>
            <p:cNvPr id="176" name="Google Shape;176;p5"/>
            <p:cNvSpPr txBox="1"/>
            <p:nvPr/>
          </p:nvSpPr>
          <p:spPr>
            <a:xfrm>
              <a:off x="2285701" y="2608215"/>
              <a:ext cx="56835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Data</a:t>
              </a:r>
              <a:endParaRPr sz="1800">
                <a:solidFill>
                  <a:schemeClr val="dk1"/>
                </a:solidFill>
                <a:latin typeface="Arial"/>
                <a:ea typeface="Arial"/>
                <a:cs typeface="Arial"/>
                <a:sym typeface="Arial"/>
              </a:endParaRPr>
            </a:p>
          </p:txBody>
        </p:sp>
        <p:cxnSp>
          <p:nvCxnSpPr>
            <p:cNvPr id="177" name="Google Shape;177;p5"/>
            <p:cNvCxnSpPr>
              <a:stCxn id="173" idx="3"/>
            </p:cNvCxnSpPr>
            <p:nvPr/>
          </p:nvCxnSpPr>
          <p:spPr>
            <a:xfrm>
              <a:off x="4073692" y="2996952"/>
              <a:ext cx="1155900" cy="0"/>
            </a:xfrm>
            <a:prstGeom prst="straightConnector1">
              <a:avLst/>
            </a:prstGeom>
            <a:noFill/>
            <a:ln cap="flat" cmpd="sng" w="9525">
              <a:solidFill>
                <a:schemeClr val="accent1"/>
              </a:solidFill>
              <a:prstDash val="solid"/>
              <a:miter lim="800000"/>
              <a:headEnd len="sm" w="sm" type="none"/>
              <a:tailEnd len="med" w="med" type="triangle"/>
            </a:ln>
          </p:spPr>
        </p:cxnSp>
        <p:sp>
          <p:nvSpPr>
            <p:cNvPr id="178" name="Google Shape;178;p5"/>
            <p:cNvSpPr txBox="1"/>
            <p:nvPr/>
          </p:nvSpPr>
          <p:spPr>
            <a:xfrm>
              <a:off x="4081405" y="2627619"/>
              <a:ext cx="11481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Information</a:t>
              </a:r>
              <a:endParaRPr/>
            </a:p>
          </p:txBody>
        </p:sp>
        <p:sp>
          <p:nvSpPr>
            <p:cNvPr id="179" name="Google Shape;179;p5"/>
            <p:cNvSpPr/>
            <p:nvPr/>
          </p:nvSpPr>
          <p:spPr>
            <a:xfrm>
              <a:off x="5237261" y="2744924"/>
              <a:ext cx="928391" cy="504056"/>
            </a:xfrm>
            <a:prstGeom prst="rect">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Output</a:t>
              </a:r>
              <a:endParaRPr/>
            </a:p>
          </p:txBody>
        </p:sp>
        <p:sp>
          <p:nvSpPr>
            <p:cNvPr id="180" name="Google Shape;180;p5"/>
            <p:cNvSpPr/>
            <p:nvPr/>
          </p:nvSpPr>
          <p:spPr>
            <a:xfrm>
              <a:off x="2952740" y="4227163"/>
              <a:ext cx="1305800" cy="1305800"/>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Interaction</a:t>
              </a:r>
              <a:endParaRPr/>
            </a:p>
          </p:txBody>
        </p:sp>
        <p:cxnSp>
          <p:nvCxnSpPr>
            <p:cNvPr id="181" name="Google Shape;181;p5"/>
            <p:cNvCxnSpPr>
              <a:stCxn id="174" idx="2"/>
              <a:endCxn id="180" idx="2"/>
            </p:cNvCxnSpPr>
            <p:nvPr/>
          </p:nvCxnSpPr>
          <p:spPr>
            <a:xfrm flipH="1" rot="-5400000">
              <a:off x="1605707" y="3532930"/>
              <a:ext cx="1631100" cy="1063200"/>
            </a:xfrm>
            <a:prstGeom prst="bentConnector2">
              <a:avLst/>
            </a:prstGeom>
            <a:noFill/>
            <a:ln cap="flat" cmpd="sng" w="9525">
              <a:solidFill>
                <a:schemeClr val="accent1"/>
              </a:solidFill>
              <a:prstDash val="solid"/>
              <a:miter lim="800000"/>
              <a:headEnd len="sm" w="sm" type="none"/>
              <a:tailEnd len="med" w="med" type="triangle"/>
            </a:ln>
          </p:spPr>
        </p:cxnSp>
        <p:cxnSp>
          <p:nvCxnSpPr>
            <p:cNvPr id="182" name="Google Shape;182;p5"/>
            <p:cNvCxnSpPr>
              <a:stCxn id="180" idx="0"/>
              <a:endCxn id="173" idx="2"/>
            </p:cNvCxnSpPr>
            <p:nvPr/>
          </p:nvCxnSpPr>
          <p:spPr>
            <a:xfrm rot="10800000">
              <a:off x="3605640" y="3536863"/>
              <a:ext cx="0" cy="690300"/>
            </a:xfrm>
            <a:prstGeom prst="straightConnector1">
              <a:avLst/>
            </a:prstGeom>
            <a:noFill/>
            <a:ln cap="flat" cmpd="sng" w="9525">
              <a:solidFill>
                <a:schemeClr val="accent1"/>
              </a:solidFill>
              <a:prstDash val="solid"/>
              <a:miter lim="800000"/>
              <a:headEnd len="sm" w="sm" type="none"/>
              <a:tailEnd len="med" w="med" type="triangle"/>
            </a:ln>
          </p:spPr>
        </p:cxnSp>
      </p:gr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88" name="Google Shape;188;p6"/>
          <p:cNvSpPr txBox="1"/>
          <p:nvPr>
            <p:ph idx="1" type="body"/>
          </p:nvPr>
        </p:nvSpPr>
        <p:spPr>
          <a:xfrm>
            <a:off x="1593437" y="1600200"/>
            <a:ext cx="4536506"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Interdependent</a:t>
            </a:r>
            <a:endParaRPr/>
          </a:p>
          <a:p>
            <a:pPr indent="0" lvl="1" marL="568872" rtl="0" algn="l">
              <a:lnSpc>
                <a:spcPct val="100000"/>
              </a:lnSpc>
              <a:spcBef>
                <a:spcPts val="600"/>
              </a:spcBef>
              <a:spcAft>
                <a:spcPts val="0"/>
              </a:spcAft>
              <a:buClr>
                <a:schemeClr val="dk1"/>
              </a:buClr>
              <a:buSzPts val="1400"/>
              <a:buNone/>
            </a:pPr>
            <a:r>
              <a:t/>
            </a:r>
            <a:endParaRPr b="1" sz="1400"/>
          </a:p>
        </p:txBody>
      </p:sp>
      <p:sp>
        <p:nvSpPr>
          <p:cNvPr id="189" name="Google Shape;189;p6"/>
          <p:cNvSpPr txBox="1"/>
          <p:nvPr/>
        </p:nvSpPr>
        <p:spPr>
          <a:xfrm>
            <a:off x="6805310" y="2085707"/>
            <a:ext cx="4536600" cy="3601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Interdependent means that part or </a:t>
            </a:r>
            <a:r>
              <a:rPr lang="en-US" sz="1800">
                <a:solidFill>
                  <a:schemeClr val="dk1"/>
                </a:solidFill>
              </a:rPr>
              <a:t>component</a:t>
            </a:r>
            <a:r>
              <a:rPr lang="en-US" sz="1800">
                <a:solidFill>
                  <a:schemeClr val="dk1"/>
                </a:solidFill>
                <a:latin typeface="Arial"/>
                <a:ea typeface="Arial"/>
                <a:cs typeface="Arial"/>
                <a:sym typeface="Arial"/>
              </a:rPr>
              <a:t>  of organization dependent on one another</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They are </a:t>
            </a:r>
            <a:r>
              <a:rPr lang="en-US" sz="1800">
                <a:solidFill>
                  <a:schemeClr val="dk1"/>
                </a:solidFill>
              </a:rPr>
              <a:t>coordinated</a:t>
            </a:r>
            <a:r>
              <a:rPr lang="en-US" sz="1800">
                <a:solidFill>
                  <a:schemeClr val="dk1"/>
                </a:solidFill>
                <a:latin typeface="Arial"/>
                <a:ea typeface="Arial"/>
                <a:cs typeface="Arial"/>
                <a:sym typeface="Arial"/>
              </a:rPr>
              <a:t> and linked together according to plan</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One sub system dependents on the input of other subsystem for proper functioning</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The output of one subsystem is required input for another subsystem</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Interdependent. . ." id="190" name="Google Shape;190;p6"/>
          <p:cNvPicPr preferRelativeResize="0"/>
          <p:nvPr/>
        </p:nvPicPr>
        <p:blipFill rotWithShape="1">
          <a:blip r:embed="rId3">
            <a:alphaModFix/>
          </a:blip>
          <a:srcRect b="0" l="0" r="0" t="0"/>
          <a:stretch/>
        </p:blipFill>
        <p:spPr>
          <a:xfrm>
            <a:off x="1989956" y="2204864"/>
            <a:ext cx="4704523" cy="35283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196" name="Google Shape;196;p7"/>
          <p:cNvSpPr txBox="1"/>
          <p:nvPr>
            <p:ph idx="1" type="body"/>
          </p:nvPr>
        </p:nvSpPr>
        <p:spPr>
          <a:xfrm>
            <a:off x="1593437" y="1600200"/>
            <a:ext cx="4536506"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Integration</a:t>
            </a:r>
            <a:endParaRPr/>
          </a:p>
          <a:p>
            <a:pPr indent="0" lvl="1" marL="568872" rtl="0" algn="l">
              <a:lnSpc>
                <a:spcPct val="100000"/>
              </a:lnSpc>
              <a:spcBef>
                <a:spcPts val="600"/>
              </a:spcBef>
              <a:spcAft>
                <a:spcPts val="0"/>
              </a:spcAft>
              <a:buClr>
                <a:schemeClr val="dk1"/>
              </a:buClr>
              <a:buSzPts val="1400"/>
              <a:buNone/>
            </a:pPr>
            <a:r>
              <a:t/>
            </a:r>
            <a:endParaRPr b="1" sz="1400"/>
          </a:p>
        </p:txBody>
      </p:sp>
      <p:sp>
        <p:nvSpPr>
          <p:cNvPr id="197" name="Google Shape;197;p7"/>
          <p:cNvSpPr txBox="1"/>
          <p:nvPr/>
        </p:nvSpPr>
        <p:spPr>
          <a:xfrm>
            <a:off x="6805310" y="2085707"/>
            <a:ext cx="4536506" cy="246221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Integration refers to the holism of systems.</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Integration is concerned with how a system components are coordinated and linked together within the system even if each part performs a unique function.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onitoring Software Integration - Bankeye" id="198" name="Google Shape;198;p7"/>
          <p:cNvPicPr preferRelativeResize="0"/>
          <p:nvPr/>
        </p:nvPicPr>
        <p:blipFill rotWithShape="1">
          <a:blip r:embed="rId3">
            <a:alphaModFix/>
          </a:blip>
          <a:srcRect b="0" l="0" r="0" t="0"/>
          <a:stretch/>
        </p:blipFill>
        <p:spPr>
          <a:xfrm>
            <a:off x="1845940" y="2205683"/>
            <a:ext cx="4852301" cy="305211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04" name="Google Shape;204;p8"/>
          <p:cNvSpPr txBox="1"/>
          <p:nvPr>
            <p:ph idx="1" type="body"/>
          </p:nvPr>
        </p:nvSpPr>
        <p:spPr>
          <a:xfrm>
            <a:off x="1593437" y="1600200"/>
            <a:ext cx="4536506"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Central Objective</a:t>
            </a:r>
            <a:endParaRPr/>
          </a:p>
          <a:p>
            <a:pPr indent="0" lvl="1" marL="568872" rtl="0" algn="l">
              <a:lnSpc>
                <a:spcPct val="100000"/>
              </a:lnSpc>
              <a:spcBef>
                <a:spcPts val="600"/>
              </a:spcBef>
              <a:spcAft>
                <a:spcPts val="0"/>
              </a:spcAft>
              <a:buClr>
                <a:schemeClr val="dk1"/>
              </a:buClr>
              <a:buSzPts val="1400"/>
              <a:buNone/>
            </a:pPr>
            <a:r>
              <a:t/>
            </a:r>
            <a:endParaRPr b="1" sz="1400"/>
          </a:p>
        </p:txBody>
      </p:sp>
      <p:sp>
        <p:nvSpPr>
          <p:cNvPr id="205" name="Google Shape;205;p8"/>
          <p:cNvSpPr txBox="1"/>
          <p:nvPr/>
        </p:nvSpPr>
        <p:spPr>
          <a:xfrm>
            <a:off x="6805310" y="2085707"/>
            <a:ext cx="4536600" cy="28938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Objective may be real or stated.</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All the components work together to achieve the particular objective.</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The important point is that user must know the central objective of a computer </a:t>
            </a:r>
            <a:r>
              <a:rPr lang="en-US" sz="1800">
                <a:solidFill>
                  <a:schemeClr val="dk1"/>
                </a:solidFill>
              </a:rPr>
              <a:t>application</a:t>
            </a:r>
            <a:r>
              <a:rPr lang="en-US" sz="1800">
                <a:solidFill>
                  <a:schemeClr val="dk1"/>
                </a:solidFill>
                <a:latin typeface="Arial"/>
                <a:ea typeface="Arial"/>
                <a:cs typeface="Arial"/>
                <a:sym typeface="Arial"/>
              </a:rPr>
              <a:t> early in the analysis for a successful design and conversion.</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Bullseye Communication: On the Mark Every Time | BOB Search" id="206" name="Google Shape;206;p8"/>
          <p:cNvPicPr preferRelativeResize="0"/>
          <p:nvPr/>
        </p:nvPicPr>
        <p:blipFill rotWithShape="1">
          <a:blip r:embed="rId3">
            <a:alphaModFix/>
          </a:blip>
          <a:srcRect b="0" l="0" r="0" t="0"/>
          <a:stretch/>
        </p:blipFill>
        <p:spPr>
          <a:xfrm>
            <a:off x="1845940" y="2400300"/>
            <a:ext cx="3810000" cy="2857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12" name="Google Shape;212;p9"/>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Elements of a system</a:t>
            </a:r>
            <a:endParaRPr/>
          </a:p>
          <a:p>
            <a:pPr indent="-246887" lvl="1" marL="815760" rtl="0" algn="l">
              <a:lnSpc>
                <a:spcPct val="100000"/>
              </a:lnSpc>
              <a:spcBef>
                <a:spcPts val="600"/>
              </a:spcBef>
              <a:spcAft>
                <a:spcPts val="0"/>
              </a:spcAft>
              <a:buClr>
                <a:schemeClr val="dk1"/>
              </a:buClr>
              <a:buSzPts val="1400"/>
              <a:buChar char="–"/>
            </a:pPr>
            <a:r>
              <a:rPr b="1" lang="en-US" sz="1400"/>
              <a:t>Input and output</a:t>
            </a:r>
            <a:endParaRPr/>
          </a:p>
          <a:p>
            <a:pPr indent="-246887" lvl="1" marL="815760" rtl="0" algn="l">
              <a:lnSpc>
                <a:spcPct val="100000"/>
              </a:lnSpc>
              <a:spcBef>
                <a:spcPts val="600"/>
              </a:spcBef>
              <a:spcAft>
                <a:spcPts val="0"/>
              </a:spcAft>
              <a:buClr>
                <a:schemeClr val="dk1"/>
              </a:buClr>
              <a:buSzPts val="1400"/>
              <a:buChar char="–"/>
            </a:pPr>
            <a:r>
              <a:rPr b="1" lang="en-US" sz="1400"/>
              <a:t>Processor</a:t>
            </a:r>
            <a:endParaRPr/>
          </a:p>
          <a:p>
            <a:pPr indent="-246887" lvl="1" marL="815760" rtl="0" algn="l">
              <a:lnSpc>
                <a:spcPct val="100000"/>
              </a:lnSpc>
              <a:spcBef>
                <a:spcPts val="600"/>
              </a:spcBef>
              <a:spcAft>
                <a:spcPts val="0"/>
              </a:spcAft>
              <a:buClr>
                <a:schemeClr val="dk1"/>
              </a:buClr>
              <a:buSzPts val="1400"/>
              <a:buChar char="–"/>
            </a:pPr>
            <a:r>
              <a:rPr b="1" lang="en-US" sz="1400"/>
              <a:t>Control</a:t>
            </a:r>
            <a:endParaRPr/>
          </a:p>
          <a:p>
            <a:pPr indent="-246887" lvl="1" marL="815760" rtl="0" algn="l">
              <a:lnSpc>
                <a:spcPct val="100000"/>
              </a:lnSpc>
              <a:spcBef>
                <a:spcPts val="600"/>
              </a:spcBef>
              <a:spcAft>
                <a:spcPts val="0"/>
              </a:spcAft>
              <a:buClr>
                <a:schemeClr val="dk1"/>
              </a:buClr>
              <a:buSzPts val="1400"/>
              <a:buChar char="–"/>
            </a:pPr>
            <a:r>
              <a:rPr b="1" lang="en-US" sz="1400"/>
              <a:t>Boundaries and interface</a:t>
            </a:r>
            <a:endParaRPr/>
          </a:p>
          <a:p>
            <a:pPr indent="-246887" lvl="1" marL="815760" rtl="0" algn="l">
              <a:lnSpc>
                <a:spcPct val="100000"/>
              </a:lnSpc>
              <a:spcBef>
                <a:spcPts val="600"/>
              </a:spcBef>
              <a:spcAft>
                <a:spcPts val="0"/>
              </a:spcAft>
              <a:buClr>
                <a:schemeClr val="dk1"/>
              </a:buClr>
              <a:buSzPts val="1400"/>
              <a:buChar char="–"/>
            </a:pPr>
            <a:r>
              <a:rPr b="1" lang="en-US" sz="1400"/>
              <a:t>Environment</a:t>
            </a:r>
            <a:endParaRPr/>
          </a:p>
          <a:p>
            <a:pPr indent="-246887" lvl="1" marL="815760" rtl="0" algn="l">
              <a:lnSpc>
                <a:spcPct val="100000"/>
              </a:lnSpc>
              <a:spcBef>
                <a:spcPts val="600"/>
              </a:spcBef>
              <a:spcAft>
                <a:spcPts val="0"/>
              </a:spcAft>
              <a:buClr>
                <a:schemeClr val="dk1"/>
              </a:buClr>
              <a:buSzPts val="1400"/>
              <a:buChar char="–"/>
            </a:pPr>
            <a:r>
              <a:rPr b="1" lang="en-US" sz="1400"/>
              <a:t>Feedback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18" name="Google Shape;218;p10"/>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Input and output</a:t>
            </a:r>
            <a:endParaRPr/>
          </a:p>
          <a:p>
            <a:pPr indent="0" lvl="1" marL="568872" rtl="0" algn="l">
              <a:lnSpc>
                <a:spcPct val="100000"/>
              </a:lnSpc>
              <a:spcBef>
                <a:spcPts val="600"/>
              </a:spcBef>
              <a:spcAft>
                <a:spcPts val="0"/>
              </a:spcAft>
              <a:buClr>
                <a:schemeClr val="dk1"/>
              </a:buClr>
              <a:buSzPts val="1800"/>
              <a:buNone/>
            </a:pPr>
            <a:r>
              <a:rPr b="1" lang="en-US" sz="1800"/>
              <a:t>Inputs and the elements (such as material, human resources, information) that refers for processing</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Output is the outcome of processing</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The main aim of the system is to produce an output with is useful for its user.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24" name="Google Shape;224;p11"/>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Processor</a:t>
            </a:r>
            <a:endParaRPr/>
          </a:p>
          <a:p>
            <a:pPr indent="0" lvl="1" marL="568872" rtl="0" algn="l">
              <a:lnSpc>
                <a:spcPct val="100000"/>
              </a:lnSpc>
              <a:spcBef>
                <a:spcPts val="600"/>
              </a:spcBef>
              <a:spcAft>
                <a:spcPts val="0"/>
              </a:spcAft>
              <a:buClr>
                <a:schemeClr val="dk1"/>
              </a:buClr>
              <a:buSzPts val="1800"/>
              <a:buNone/>
            </a:pPr>
            <a:r>
              <a:rPr b="1" lang="en-US" sz="1800"/>
              <a:t>Is the component of a system that actually transform input into output. It is the operational component of a system.</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Process may modify the input totally or partially depending on the specifications of the output. Modification must be able to regenerate input information if required.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30" name="Google Shape;230;p12"/>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Control</a:t>
            </a:r>
            <a:endParaRPr/>
          </a:p>
          <a:p>
            <a:pPr indent="0" lvl="1" marL="568872" rtl="0" algn="l">
              <a:lnSpc>
                <a:spcPct val="100000"/>
              </a:lnSpc>
              <a:spcBef>
                <a:spcPts val="600"/>
              </a:spcBef>
              <a:spcAft>
                <a:spcPts val="0"/>
              </a:spcAft>
              <a:buClr>
                <a:schemeClr val="dk1"/>
              </a:buClr>
              <a:buSzPts val="1800"/>
              <a:buNone/>
            </a:pPr>
            <a:r>
              <a:rPr b="1" lang="en-US" sz="1800"/>
              <a:t>Guides the system to perform any particular task.</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It is the decision making subsystem that control the pattern of activates governing input, processing and output.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36" name="Google Shape;236;p13"/>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Boundaries and interface</a:t>
            </a:r>
            <a:endParaRPr/>
          </a:p>
          <a:p>
            <a:pPr indent="0" lvl="1" marL="568872" rtl="0" algn="l">
              <a:lnSpc>
                <a:spcPct val="100000"/>
              </a:lnSpc>
              <a:spcBef>
                <a:spcPts val="600"/>
              </a:spcBef>
              <a:spcAft>
                <a:spcPts val="0"/>
              </a:spcAft>
              <a:buClr>
                <a:schemeClr val="dk1"/>
              </a:buClr>
              <a:buSzPts val="1800"/>
              <a:buNone/>
            </a:pPr>
            <a:r>
              <a:rPr b="1" lang="en-US" sz="1800"/>
              <a:t>Boundaries are the limits that identify its components, processes and relationship when it interface with another system.</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Each system has boundaries that determine its sphere of influence and control.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42" name="Google Shape;242;p14"/>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Environment</a:t>
            </a:r>
            <a:endParaRPr/>
          </a:p>
          <a:p>
            <a:pPr indent="0" lvl="1" marL="568872" rtl="0" algn="l">
              <a:lnSpc>
                <a:spcPct val="100000"/>
              </a:lnSpc>
              <a:spcBef>
                <a:spcPts val="600"/>
              </a:spcBef>
              <a:spcAft>
                <a:spcPts val="0"/>
              </a:spcAft>
              <a:buClr>
                <a:schemeClr val="dk1"/>
              </a:buClr>
              <a:buSzPts val="1800"/>
              <a:buNone/>
            </a:pPr>
            <a:r>
              <a:rPr b="1" lang="en-US" sz="1800"/>
              <a:t>Environment is the source of external elements that affects the system.</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It determines how a system must function.</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For example-</a:t>
            </a:r>
            <a:endParaRPr/>
          </a:p>
          <a:p>
            <a:pPr indent="0" lvl="1" marL="568872" rtl="0" algn="l">
              <a:lnSpc>
                <a:spcPct val="100000"/>
              </a:lnSpc>
              <a:spcBef>
                <a:spcPts val="600"/>
              </a:spcBef>
              <a:spcAft>
                <a:spcPts val="0"/>
              </a:spcAft>
              <a:buClr>
                <a:schemeClr val="dk1"/>
              </a:buClr>
              <a:buSzPts val="1800"/>
              <a:buNone/>
            </a:pPr>
            <a:r>
              <a:rPr b="1" lang="en-US" sz="1800"/>
              <a:t> 		Vendors and competitors of organization’s environment, may provide constraints that affect the actual performance of the business.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48" name="Google Shape;248;p15"/>
          <p:cNvSpPr txBox="1"/>
          <p:nvPr>
            <p:ph idx="1" type="body"/>
          </p:nvPr>
        </p:nvSpPr>
        <p:spPr>
          <a:xfrm>
            <a:off x="1593436" y="1600200"/>
            <a:ext cx="9613543"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2400"/>
              <a:buChar char="›"/>
            </a:pPr>
            <a:r>
              <a:rPr b="1" lang="en-US" sz="2400"/>
              <a:t>Feedback</a:t>
            </a:r>
            <a:endParaRPr/>
          </a:p>
          <a:p>
            <a:pPr indent="0" lvl="1" marL="568872" rtl="0" algn="l">
              <a:lnSpc>
                <a:spcPct val="100000"/>
              </a:lnSpc>
              <a:spcBef>
                <a:spcPts val="600"/>
              </a:spcBef>
              <a:spcAft>
                <a:spcPts val="0"/>
              </a:spcAft>
              <a:buClr>
                <a:schemeClr val="dk1"/>
              </a:buClr>
              <a:buSzPts val="1800"/>
              <a:buNone/>
            </a:pPr>
            <a:r>
              <a:rPr b="1" lang="en-US" sz="1800"/>
              <a:t>Feed</a:t>
            </a:r>
            <a:r>
              <a:rPr b="1" lang="en-US" sz="1800"/>
              <a:t>back </a:t>
            </a:r>
            <a:r>
              <a:rPr b="1" lang="en-US" sz="1800"/>
              <a:t>provides that control in a dynamic system. It indicates how well system is performing. It is helpful for modify the system according to that need.</a:t>
            </a:r>
            <a:endParaRPr/>
          </a:p>
          <a:p>
            <a:pPr indent="0" lvl="1" marL="568872" rtl="0" algn="l">
              <a:lnSpc>
                <a:spcPct val="100000"/>
              </a:lnSpc>
              <a:spcBef>
                <a:spcPts val="600"/>
              </a:spcBef>
              <a:spcAft>
                <a:spcPts val="0"/>
              </a:spcAft>
              <a:buClr>
                <a:schemeClr val="dk1"/>
              </a:buClr>
              <a:buSzPts val="1800"/>
              <a:buNone/>
            </a:pPr>
            <a:r>
              <a:t/>
            </a:r>
            <a:endParaRPr b="1" sz="1800"/>
          </a:p>
          <a:p>
            <a:pPr indent="0" lvl="1" marL="568872" rtl="0" algn="l">
              <a:lnSpc>
                <a:spcPct val="100000"/>
              </a:lnSpc>
              <a:spcBef>
                <a:spcPts val="600"/>
              </a:spcBef>
              <a:spcAft>
                <a:spcPts val="0"/>
              </a:spcAft>
              <a:buClr>
                <a:schemeClr val="dk1"/>
              </a:buClr>
              <a:buSzPts val="1800"/>
              <a:buNone/>
            </a:pPr>
            <a:r>
              <a:rPr b="1" lang="en-US" sz="1800"/>
              <a:t>It provides to system how you make your system effective than other in the basis of computer choice.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54" name="Google Shape;254;p16"/>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What is information?</a:t>
            </a:r>
            <a:br>
              <a:rPr lang="en-US" sz="1800"/>
            </a:br>
            <a:r>
              <a:rPr lang="en-US" sz="1800"/>
              <a:t>Information is data that has been transformed into output that is valuable to users or system.</a:t>
            </a:r>
            <a:endParaRPr/>
          </a:p>
          <a:p>
            <a:pPr indent="-246888" lvl="0" marL="450000" rtl="0" algn="l">
              <a:lnSpc>
                <a:spcPct val="90000"/>
              </a:lnSpc>
              <a:spcBef>
                <a:spcPts val="1400"/>
              </a:spcBef>
              <a:spcAft>
                <a:spcPts val="0"/>
              </a:spcAft>
              <a:buClr>
                <a:schemeClr val="dk1"/>
              </a:buClr>
              <a:buSzPts val="1800"/>
              <a:buChar char="›"/>
            </a:pPr>
            <a:r>
              <a:rPr b="1" lang="en-US" sz="1800"/>
              <a:t>What is information system?</a:t>
            </a:r>
            <a:br>
              <a:rPr b="1" lang="en-US" sz="1800"/>
            </a:br>
            <a:r>
              <a:rPr lang="en-US" sz="1800"/>
              <a:t>“An information system (IS) can be defined technically as a set of interrelated components that collect, process, store, and distribute information to support decision making and control in an organization.” The information system deals with data of organizations. The purpose of information system are to process input, maintain data, produce reports, handle on line transaction, generate reports and other output</a:t>
            </a:r>
            <a:endParaRPr/>
          </a:p>
          <a:p>
            <a:pPr indent="-246888" lvl="0" marL="450000" rtl="0" algn="l">
              <a:lnSpc>
                <a:spcPct val="90000"/>
              </a:lnSpc>
              <a:spcBef>
                <a:spcPts val="1400"/>
              </a:spcBef>
              <a:spcAft>
                <a:spcPts val="0"/>
              </a:spcAft>
              <a:buClr>
                <a:schemeClr val="dk1"/>
              </a:buClr>
              <a:buSzPts val="1800"/>
              <a:buChar char="›"/>
            </a:pPr>
            <a:r>
              <a:rPr b="1" lang="en-US" sz="1800"/>
              <a:t>What are information system components?</a:t>
            </a:r>
            <a:endParaRPr/>
          </a:p>
          <a:p>
            <a:pPr indent="-246888" lvl="1" marL="450000" rtl="0" algn="l">
              <a:lnSpc>
                <a:spcPct val="90000"/>
              </a:lnSpc>
              <a:spcBef>
                <a:spcPts val="600"/>
              </a:spcBef>
              <a:spcAft>
                <a:spcPts val="0"/>
              </a:spcAft>
              <a:buClr>
                <a:schemeClr val="dk1"/>
              </a:buClr>
              <a:buSzPts val="1800"/>
              <a:buChar char="–"/>
            </a:pPr>
            <a:r>
              <a:rPr lang="en-US" sz="1800"/>
              <a:t>Hardware</a:t>
            </a:r>
            <a:endParaRPr/>
          </a:p>
          <a:p>
            <a:pPr indent="-246888" lvl="1" marL="450000" rtl="0" algn="l">
              <a:lnSpc>
                <a:spcPct val="90000"/>
              </a:lnSpc>
              <a:spcBef>
                <a:spcPts val="600"/>
              </a:spcBef>
              <a:spcAft>
                <a:spcPts val="0"/>
              </a:spcAft>
              <a:buClr>
                <a:schemeClr val="dk1"/>
              </a:buClr>
              <a:buSzPts val="1800"/>
              <a:buChar char="–"/>
            </a:pPr>
            <a:r>
              <a:rPr lang="en-US" sz="1800"/>
              <a:t>Software</a:t>
            </a:r>
            <a:endParaRPr/>
          </a:p>
          <a:p>
            <a:pPr indent="-246888" lvl="1" marL="450000" rtl="0" algn="l">
              <a:lnSpc>
                <a:spcPct val="90000"/>
              </a:lnSpc>
              <a:spcBef>
                <a:spcPts val="600"/>
              </a:spcBef>
              <a:spcAft>
                <a:spcPts val="0"/>
              </a:spcAft>
              <a:buClr>
                <a:schemeClr val="dk1"/>
              </a:buClr>
              <a:buSzPts val="1800"/>
              <a:buChar char="–"/>
            </a:pPr>
            <a:r>
              <a:rPr lang="en-US" sz="1800"/>
              <a:t>Data</a:t>
            </a:r>
            <a:endParaRPr/>
          </a:p>
          <a:p>
            <a:pPr indent="-246888" lvl="1" marL="450000" rtl="0" algn="l">
              <a:lnSpc>
                <a:spcPct val="90000"/>
              </a:lnSpc>
              <a:spcBef>
                <a:spcPts val="600"/>
              </a:spcBef>
              <a:spcAft>
                <a:spcPts val="0"/>
              </a:spcAft>
              <a:buClr>
                <a:schemeClr val="dk1"/>
              </a:buClr>
              <a:buSzPts val="1800"/>
              <a:buChar char="–"/>
            </a:pPr>
            <a:r>
              <a:rPr lang="en-US" sz="1800"/>
              <a:t>Processes</a:t>
            </a:r>
            <a:endParaRPr/>
          </a:p>
          <a:p>
            <a:pPr indent="-246888" lvl="1" marL="450000" rtl="0" algn="l">
              <a:lnSpc>
                <a:spcPct val="90000"/>
              </a:lnSpc>
              <a:spcBef>
                <a:spcPts val="600"/>
              </a:spcBef>
              <a:spcAft>
                <a:spcPts val="0"/>
              </a:spcAft>
              <a:buClr>
                <a:schemeClr val="dk1"/>
              </a:buClr>
              <a:buSzPts val="1800"/>
              <a:buChar char="–"/>
            </a:pPr>
            <a:r>
              <a:rPr lang="en-US" sz="1800"/>
              <a:t>People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60" name="Google Shape;260;p17"/>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Hardware </a:t>
            </a:r>
            <a:r>
              <a:rPr lang="en-US" sz="1800"/>
              <a:t>consists of everything in the physical layer of the information system. For example hardware includes servers, workstations, networks, telecommunications equipment, fiber optic cables, mobile devices, scanners, digital capture devise and other technology based infrastructures. </a:t>
            </a:r>
            <a:endParaRPr/>
          </a:p>
          <a:p>
            <a:pPr indent="-246888" lvl="0" marL="450000" rtl="0" algn="l">
              <a:lnSpc>
                <a:spcPct val="100000"/>
              </a:lnSpc>
              <a:spcBef>
                <a:spcPts val="1400"/>
              </a:spcBef>
              <a:spcAft>
                <a:spcPts val="0"/>
              </a:spcAft>
              <a:buClr>
                <a:schemeClr val="dk1"/>
              </a:buClr>
              <a:buSzPts val="1800"/>
              <a:buChar char="›"/>
            </a:pPr>
            <a:r>
              <a:rPr b="1" lang="en-US" sz="1800"/>
              <a:t>Software </a:t>
            </a:r>
            <a:r>
              <a:rPr lang="en-US" sz="1800"/>
              <a:t>refers to the program that control the hardware and produce the desired information on the result.</a:t>
            </a:r>
            <a:endParaRPr/>
          </a:p>
          <a:p>
            <a:pPr indent="-358775" lvl="0" marL="847725" rtl="0" algn="l">
              <a:lnSpc>
                <a:spcPct val="100000"/>
              </a:lnSpc>
              <a:spcBef>
                <a:spcPts val="1400"/>
              </a:spcBef>
              <a:spcAft>
                <a:spcPts val="0"/>
              </a:spcAft>
              <a:buClr>
                <a:schemeClr val="dk1"/>
              </a:buClr>
              <a:buSzPts val="1800"/>
              <a:buFont typeface="Arial"/>
              <a:buAutoNum type="arabicPeriod"/>
            </a:pPr>
            <a:r>
              <a:rPr b="1" lang="en-US" sz="1800"/>
              <a:t>System Software </a:t>
            </a:r>
            <a:r>
              <a:rPr lang="en-US" sz="1800"/>
              <a:t>manages the hardware components, which can include a single workstation or a global network with many thousands clients.</a:t>
            </a:r>
            <a:endParaRPr/>
          </a:p>
          <a:p>
            <a:pPr indent="-358775" lvl="0" marL="847725" rtl="0" algn="l">
              <a:lnSpc>
                <a:spcPct val="100000"/>
              </a:lnSpc>
              <a:spcBef>
                <a:spcPts val="1400"/>
              </a:spcBef>
              <a:spcAft>
                <a:spcPts val="0"/>
              </a:spcAft>
              <a:buClr>
                <a:schemeClr val="dk1"/>
              </a:buClr>
              <a:buSzPts val="1800"/>
              <a:buFont typeface="Arial"/>
              <a:buAutoNum type="arabicPeriod"/>
            </a:pPr>
            <a:r>
              <a:rPr b="1" lang="en-US" sz="1800"/>
              <a:t>Application Software </a:t>
            </a:r>
            <a:r>
              <a:rPr lang="en-US" sz="1800"/>
              <a:t>consists of programs that support day to day business functions and provide users with the information they require.</a:t>
            </a:r>
            <a:endParaRPr/>
          </a:p>
          <a:p>
            <a:pPr indent="-246888" lvl="0" marL="450000" rtl="0" algn="l">
              <a:lnSpc>
                <a:spcPct val="100000"/>
              </a:lnSpc>
              <a:spcBef>
                <a:spcPts val="1400"/>
              </a:spcBef>
              <a:spcAft>
                <a:spcPts val="0"/>
              </a:spcAft>
              <a:buClr>
                <a:schemeClr val="dk1"/>
              </a:buClr>
              <a:buSzPts val="1800"/>
              <a:buChar char="›"/>
            </a:pPr>
            <a:r>
              <a:rPr b="1" lang="en-US" sz="1800"/>
              <a:t>Data </a:t>
            </a:r>
            <a:r>
              <a:rPr lang="en-US" sz="1800"/>
              <a:t>is the raw material that an information system transforms into useful information.</a:t>
            </a:r>
            <a:endParaRPr/>
          </a:p>
          <a:p>
            <a:pPr indent="-246888" lvl="0" marL="450000" rtl="0" algn="l">
              <a:lnSpc>
                <a:spcPct val="100000"/>
              </a:lnSpc>
              <a:spcBef>
                <a:spcPts val="1400"/>
              </a:spcBef>
              <a:spcAft>
                <a:spcPts val="0"/>
              </a:spcAft>
              <a:buClr>
                <a:schemeClr val="dk1"/>
              </a:buClr>
              <a:buSzPts val="1800"/>
              <a:buChar char="›"/>
            </a:pPr>
            <a:r>
              <a:rPr b="1" lang="en-US" sz="1800"/>
              <a:t>Processes</a:t>
            </a:r>
            <a:r>
              <a:rPr lang="en-US" sz="1800"/>
              <a:t> describe the tasks and business functions that users, managers and IT staff members perform to achieve specific results.</a:t>
            </a:r>
            <a:endParaRPr/>
          </a:p>
          <a:p>
            <a:pPr indent="0" lvl="1" marL="203112" rtl="0" algn="l">
              <a:lnSpc>
                <a:spcPct val="100000"/>
              </a:lnSpc>
              <a:spcBef>
                <a:spcPts val="600"/>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66" name="Google Shape;266;p18"/>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People </a:t>
            </a:r>
            <a:r>
              <a:rPr lang="en-US" sz="1800"/>
              <a:t>who have an interest in an information system are called stakeholders. </a:t>
            </a:r>
            <a:endParaRPr/>
          </a:p>
          <a:p>
            <a:pPr indent="-246888" lvl="0" marL="450000" rtl="0" algn="l">
              <a:lnSpc>
                <a:spcPct val="100000"/>
              </a:lnSpc>
              <a:spcBef>
                <a:spcPts val="1400"/>
              </a:spcBef>
              <a:spcAft>
                <a:spcPts val="0"/>
              </a:spcAft>
              <a:buClr>
                <a:schemeClr val="dk1"/>
              </a:buClr>
              <a:buSzPts val="1800"/>
              <a:buChar char="›"/>
            </a:pPr>
            <a:r>
              <a:rPr b="1" lang="en-US" sz="1800"/>
              <a:t>Types of information System</a:t>
            </a:r>
            <a:br>
              <a:rPr b="1" lang="en-US" sz="1800"/>
            </a:br>
            <a:r>
              <a:rPr lang="en-US" sz="1800"/>
              <a:t>Information systems different in their business needs. It also depending upon different levels in organization information systems differ.</a:t>
            </a:r>
            <a:endParaRPr/>
          </a:p>
          <a:p>
            <a:pPr indent="0" lvl="0" marL="203112" rtl="0" algn="l">
              <a:lnSpc>
                <a:spcPct val="100000"/>
              </a:lnSpc>
              <a:spcBef>
                <a:spcPts val="1400"/>
              </a:spcBef>
              <a:spcAft>
                <a:spcPts val="0"/>
              </a:spcAft>
              <a:buClr>
                <a:schemeClr val="dk1"/>
              </a:buClr>
              <a:buSzPts val="1800"/>
              <a:buNone/>
            </a:pPr>
            <a:r>
              <a:rPr lang="en-US" sz="1800"/>
              <a:t>  There are three major information systems:</a:t>
            </a:r>
            <a:endParaRPr/>
          </a:p>
          <a:p>
            <a:pPr indent="0" lvl="0" marL="203112" rtl="0" algn="l">
              <a:lnSpc>
                <a:spcPct val="100000"/>
              </a:lnSpc>
              <a:spcBef>
                <a:spcPts val="1400"/>
              </a:spcBef>
              <a:spcAft>
                <a:spcPts val="0"/>
              </a:spcAft>
              <a:buClr>
                <a:schemeClr val="dk1"/>
              </a:buClr>
              <a:buSzPts val="1800"/>
              <a:buNone/>
            </a:pPr>
            <a:r>
              <a:t/>
            </a:r>
            <a:endParaRPr sz="1800"/>
          </a:p>
        </p:txBody>
      </p:sp>
      <p:pic>
        <p:nvPicPr>
          <p:cNvPr descr="3 level pyramid model" id="267" name="Google Shape;267;p18"/>
          <p:cNvPicPr preferRelativeResize="0"/>
          <p:nvPr/>
        </p:nvPicPr>
        <p:blipFill rotWithShape="1">
          <a:blip r:embed="rId3">
            <a:alphaModFix/>
          </a:blip>
          <a:srcRect b="0" l="0" r="0" t="0"/>
          <a:stretch/>
        </p:blipFill>
        <p:spPr>
          <a:xfrm>
            <a:off x="2133972" y="3645024"/>
            <a:ext cx="3782577" cy="2780928"/>
          </a:xfrm>
          <a:prstGeom prst="rect">
            <a:avLst/>
          </a:prstGeom>
          <a:noFill/>
          <a:ln>
            <a:noFill/>
          </a:ln>
        </p:spPr>
      </p:pic>
      <p:pic>
        <p:nvPicPr>
          <p:cNvPr id="268" name="Google Shape;268;p18"/>
          <p:cNvPicPr preferRelativeResize="0"/>
          <p:nvPr/>
        </p:nvPicPr>
        <p:blipFill rotWithShape="1">
          <a:blip r:embed="rId4">
            <a:alphaModFix/>
          </a:blip>
          <a:srcRect b="0" l="0" r="0" t="0"/>
          <a:stretch/>
        </p:blipFill>
        <p:spPr>
          <a:xfrm>
            <a:off x="7102524" y="2996952"/>
            <a:ext cx="4317565" cy="360367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274" name="Google Shape;274;p19"/>
          <p:cNvSpPr txBox="1"/>
          <p:nvPr>
            <p:ph idx="1" type="body"/>
          </p:nvPr>
        </p:nvSpPr>
        <p:spPr>
          <a:xfrm>
            <a:off x="1593436" y="1508110"/>
            <a:ext cx="9782801" cy="45213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Types of information system</a:t>
            </a:r>
            <a:endParaRPr/>
          </a:p>
          <a:p>
            <a:pPr indent="0" lvl="0" marL="203112" rtl="0" algn="l">
              <a:lnSpc>
                <a:spcPct val="100000"/>
              </a:lnSpc>
              <a:spcBef>
                <a:spcPts val="1400"/>
              </a:spcBef>
              <a:spcAft>
                <a:spcPts val="0"/>
              </a:spcAft>
              <a:buClr>
                <a:schemeClr val="dk1"/>
              </a:buClr>
              <a:buSzPts val="1800"/>
              <a:buNone/>
            </a:pPr>
            <a:r>
              <a:t/>
            </a:r>
            <a:endParaRPr sz="1800"/>
          </a:p>
        </p:txBody>
      </p:sp>
      <p:grpSp>
        <p:nvGrpSpPr>
          <p:cNvPr id="275" name="Google Shape;275;p19"/>
          <p:cNvGrpSpPr/>
          <p:nvPr/>
        </p:nvGrpSpPr>
        <p:grpSpPr>
          <a:xfrm>
            <a:off x="2277988" y="2348880"/>
            <a:ext cx="5105284" cy="3658198"/>
            <a:chOff x="3077360" y="2175666"/>
            <a:chExt cx="5105284" cy="3658198"/>
          </a:xfrm>
        </p:grpSpPr>
        <p:sp>
          <p:nvSpPr>
            <p:cNvPr id="276" name="Google Shape;276;p19"/>
            <p:cNvSpPr/>
            <p:nvPr/>
          </p:nvSpPr>
          <p:spPr>
            <a:xfrm>
              <a:off x="5014292" y="2175666"/>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ES</a:t>
              </a:r>
              <a:endParaRPr/>
            </a:p>
          </p:txBody>
        </p:sp>
        <p:sp>
          <p:nvSpPr>
            <p:cNvPr id="277" name="Google Shape;277;p19"/>
            <p:cNvSpPr/>
            <p:nvPr/>
          </p:nvSpPr>
          <p:spPr>
            <a:xfrm>
              <a:off x="5014292" y="2939805"/>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EIS</a:t>
              </a:r>
              <a:endParaRPr/>
            </a:p>
          </p:txBody>
        </p:sp>
        <p:sp>
          <p:nvSpPr>
            <p:cNvPr id="278" name="Google Shape;278;p19"/>
            <p:cNvSpPr/>
            <p:nvPr/>
          </p:nvSpPr>
          <p:spPr>
            <a:xfrm>
              <a:off x="5018622" y="3774179"/>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DSS</a:t>
              </a:r>
              <a:endParaRPr/>
            </a:p>
          </p:txBody>
        </p:sp>
        <p:sp>
          <p:nvSpPr>
            <p:cNvPr id="279" name="Google Shape;279;p19"/>
            <p:cNvSpPr/>
            <p:nvPr/>
          </p:nvSpPr>
          <p:spPr>
            <a:xfrm>
              <a:off x="5014292" y="4562238"/>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MIS</a:t>
              </a:r>
              <a:endParaRPr/>
            </a:p>
          </p:txBody>
        </p:sp>
        <p:sp>
          <p:nvSpPr>
            <p:cNvPr id="280" name="Google Shape;280;p19"/>
            <p:cNvSpPr/>
            <p:nvPr/>
          </p:nvSpPr>
          <p:spPr>
            <a:xfrm>
              <a:off x="5014292" y="5473824"/>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TPS</a:t>
              </a:r>
              <a:endParaRPr/>
            </a:p>
          </p:txBody>
        </p:sp>
        <p:sp>
          <p:nvSpPr>
            <p:cNvPr id="281" name="Google Shape;281;p19"/>
            <p:cNvSpPr/>
            <p:nvPr/>
          </p:nvSpPr>
          <p:spPr>
            <a:xfrm>
              <a:off x="3077360" y="5473824"/>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OAS</a:t>
              </a:r>
              <a:endParaRPr/>
            </a:p>
          </p:txBody>
        </p:sp>
        <p:sp>
          <p:nvSpPr>
            <p:cNvPr id="282" name="Google Shape;282;p19"/>
            <p:cNvSpPr/>
            <p:nvPr/>
          </p:nvSpPr>
          <p:spPr>
            <a:xfrm>
              <a:off x="6958508" y="5473824"/>
              <a:ext cx="1224136" cy="360040"/>
            </a:xfrm>
            <a:prstGeom prst="roundRect">
              <a:avLst>
                <a:gd fmla="val 16667" name="adj"/>
              </a:avLst>
            </a:prstGeom>
            <a:solidFill>
              <a:schemeClr val="dk1"/>
            </a:solidFill>
            <a:ln cap="flat" cmpd="sng" w="12700">
              <a:solidFill>
                <a:srgbClr val="1D232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CCS</a:t>
              </a:r>
              <a:endParaRPr/>
            </a:p>
          </p:txBody>
        </p:sp>
        <p:cxnSp>
          <p:nvCxnSpPr>
            <p:cNvPr id="283" name="Google Shape;283;p19"/>
            <p:cNvCxnSpPr/>
            <p:nvPr/>
          </p:nvCxnSpPr>
          <p:spPr>
            <a:xfrm flipH="1">
              <a:off x="3214092" y="2355686"/>
              <a:ext cx="1800200" cy="3118138"/>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4" name="Google Shape;284;p19"/>
            <p:cNvCxnSpPr/>
            <p:nvPr/>
          </p:nvCxnSpPr>
          <p:spPr>
            <a:xfrm flipH="1">
              <a:off x="3509408" y="3119825"/>
              <a:ext cx="1474077" cy="2353999"/>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5" name="Google Shape;285;p19"/>
            <p:cNvCxnSpPr>
              <a:endCxn id="281" idx="0"/>
            </p:cNvCxnSpPr>
            <p:nvPr/>
          </p:nvCxnSpPr>
          <p:spPr>
            <a:xfrm flipH="1">
              <a:off x="3689428" y="3914724"/>
              <a:ext cx="1320600" cy="155910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6" name="Google Shape;286;p19"/>
            <p:cNvCxnSpPr/>
            <p:nvPr/>
          </p:nvCxnSpPr>
          <p:spPr>
            <a:xfrm flipH="1">
              <a:off x="3934172" y="4742258"/>
              <a:ext cx="1042465" cy="731566"/>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7" name="Google Shape;287;p19"/>
            <p:cNvCxnSpPr>
              <a:stCxn id="280" idx="1"/>
              <a:endCxn id="281" idx="3"/>
            </p:cNvCxnSpPr>
            <p:nvPr/>
          </p:nvCxnSpPr>
          <p:spPr>
            <a:xfrm rot="10800000">
              <a:off x="4301492" y="5653844"/>
              <a:ext cx="712800" cy="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8" name="Google Shape;288;p19"/>
            <p:cNvCxnSpPr/>
            <p:nvPr/>
          </p:nvCxnSpPr>
          <p:spPr>
            <a:xfrm rot="10800000">
              <a:off x="6238428" y="5653844"/>
              <a:ext cx="712796" cy="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89" name="Google Shape;289;p19"/>
            <p:cNvCxnSpPr>
              <a:stCxn id="279" idx="3"/>
            </p:cNvCxnSpPr>
            <p:nvPr/>
          </p:nvCxnSpPr>
          <p:spPr>
            <a:xfrm>
              <a:off x="6238428" y="4742258"/>
              <a:ext cx="936000" cy="73170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90" name="Google Shape;290;p19"/>
            <p:cNvCxnSpPr>
              <a:endCxn id="282" idx="0"/>
            </p:cNvCxnSpPr>
            <p:nvPr/>
          </p:nvCxnSpPr>
          <p:spPr>
            <a:xfrm>
              <a:off x="6262576" y="3948324"/>
              <a:ext cx="1308000" cy="1525500"/>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91" name="Google Shape;291;p19"/>
            <p:cNvCxnSpPr/>
            <p:nvPr/>
          </p:nvCxnSpPr>
          <p:spPr>
            <a:xfrm>
              <a:off x="6266819" y="3119825"/>
              <a:ext cx="1483777" cy="2353999"/>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92" name="Google Shape;292;p19"/>
            <p:cNvCxnSpPr/>
            <p:nvPr/>
          </p:nvCxnSpPr>
          <p:spPr>
            <a:xfrm>
              <a:off x="6266819" y="2341582"/>
              <a:ext cx="1771809" cy="3101124"/>
            </a:xfrm>
            <a:prstGeom prst="straightConnector1">
              <a:avLst/>
            </a:prstGeom>
            <a:noFill/>
            <a:ln cap="flat" cmpd="sng" w="38100">
              <a:solidFill>
                <a:schemeClr val="dk1"/>
              </a:solidFill>
              <a:prstDash val="solid"/>
              <a:miter lim="800000"/>
              <a:headEnd len="med" w="med" type="triangle"/>
              <a:tailEnd len="med" w="med" type="triangle"/>
            </a:ln>
          </p:spPr>
        </p:cxnSp>
        <p:cxnSp>
          <p:nvCxnSpPr>
            <p:cNvPr id="293" name="Google Shape;293;p19"/>
            <p:cNvCxnSpPr>
              <a:stCxn id="280" idx="0"/>
            </p:cNvCxnSpPr>
            <p:nvPr/>
          </p:nvCxnSpPr>
          <p:spPr>
            <a:xfrm rot="10800000">
              <a:off x="5626360" y="4922424"/>
              <a:ext cx="0" cy="551400"/>
            </a:xfrm>
            <a:prstGeom prst="straightConnector1">
              <a:avLst/>
            </a:prstGeom>
            <a:noFill/>
            <a:ln cap="flat" cmpd="sng" w="38100">
              <a:solidFill>
                <a:schemeClr val="dk1"/>
              </a:solidFill>
              <a:prstDash val="solid"/>
              <a:miter lim="800000"/>
              <a:headEnd len="sm" w="sm" type="none"/>
              <a:tailEnd len="med" w="med" type="triangle"/>
            </a:ln>
          </p:spPr>
        </p:cxnSp>
        <p:cxnSp>
          <p:nvCxnSpPr>
            <p:cNvPr id="294" name="Google Shape;294;p19"/>
            <p:cNvCxnSpPr/>
            <p:nvPr/>
          </p:nvCxnSpPr>
          <p:spPr>
            <a:xfrm rot="10800000">
              <a:off x="5633155" y="4134219"/>
              <a:ext cx="0" cy="428019"/>
            </a:xfrm>
            <a:prstGeom prst="straightConnector1">
              <a:avLst/>
            </a:prstGeom>
            <a:noFill/>
            <a:ln cap="flat" cmpd="sng" w="38100">
              <a:solidFill>
                <a:schemeClr val="dk1"/>
              </a:solidFill>
              <a:prstDash val="solid"/>
              <a:miter lim="800000"/>
              <a:headEnd len="sm" w="sm" type="none"/>
              <a:tailEnd len="med" w="med" type="triangle"/>
            </a:ln>
          </p:spPr>
        </p:cxnSp>
        <p:cxnSp>
          <p:nvCxnSpPr>
            <p:cNvPr id="295" name="Google Shape;295;p19"/>
            <p:cNvCxnSpPr>
              <a:stCxn id="278" idx="0"/>
            </p:cNvCxnSpPr>
            <p:nvPr/>
          </p:nvCxnSpPr>
          <p:spPr>
            <a:xfrm flipH="1" rot="10800000">
              <a:off x="5630690" y="3299879"/>
              <a:ext cx="300" cy="474300"/>
            </a:xfrm>
            <a:prstGeom prst="straightConnector1">
              <a:avLst/>
            </a:prstGeom>
            <a:noFill/>
            <a:ln cap="flat" cmpd="sng" w="38100">
              <a:solidFill>
                <a:schemeClr val="dk1"/>
              </a:solidFill>
              <a:prstDash val="solid"/>
              <a:miter lim="800000"/>
              <a:headEnd len="sm" w="sm" type="none"/>
              <a:tailEnd len="med" w="med" type="triangle"/>
            </a:ln>
          </p:spPr>
        </p:cxnSp>
        <p:cxnSp>
          <p:nvCxnSpPr>
            <p:cNvPr id="296" name="Google Shape;296;p19"/>
            <p:cNvCxnSpPr/>
            <p:nvPr/>
          </p:nvCxnSpPr>
          <p:spPr>
            <a:xfrm rot="10800000">
              <a:off x="5633155" y="2535706"/>
              <a:ext cx="0" cy="428019"/>
            </a:xfrm>
            <a:prstGeom prst="straightConnector1">
              <a:avLst/>
            </a:prstGeom>
            <a:noFill/>
            <a:ln cap="flat" cmpd="sng" w="38100">
              <a:solidFill>
                <a:schemeClr val="dk1"/>
              </a:solidFill>
              <a:prstDash val="solid"/>
              <a:miter lim="800000"/>
              <a:headEnd len="sm" w="sm" type="none"/>
              <a:tailEnd len="med" w="med" type="triangle"/>
            </a:ln>
          </p:spPr>
        </p:cxnSp>
      </p:gr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a:t>
            </a:r>
            <a:r>
              <a:rPr lang="en-US"/>
              <a:t>design</a:t>
            </a:r>
            <a:endParaRPr/>
          </a:p>
        </p:txBody>
      </p:sp>
      <p:sp>
        <p:nvSpPr>
          <p:cNvPr id="302" name="Google Shape;302;p20"/>
          <p:cNvSpPr txBox="1"/>
          <p:nvPr>
            <p:ph idx="1" type="body"/>
          </p:nvPr>
        </p:nvSpPr>
        <p:spPr>
          <a:xfrm>
            <a:off x="1593436" y="1508110"/>
            <a:ext cx="9901576" cy="517209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Transaction Processing System(TCP)</a:t>
            </a:r>
            <a:endParaRPr/>
          </a:p>
          <a:p>
            <a:pPr indent="0" lvl="0" marL="203112" rtl="0" algn="l">
              <a:lnSpc>
                <a:spcPct val="100000"/>
              </a:lnSpc>
              <a:spcBef>
                <a:spcPts val="1400"/>
              </a:spcBef>
              <a:spcAft>
                <a:spcPts val="0"/>
              </a:spcAft>
              <a:buClr>
                <a:schemeClr val="dk1"/>
              </a:buClr>
              <a:buSzPts val="1800"/>
              <a:buNone/>
            </a:pPr>
            <a:r>
              <a:rPr lang="en-US" sz="1800"/>
              <a:t>The TPS process business transaction such as order, payment, reservations, cancellation or transaction etc. Example POS(Point of Sale), School Billing System, Hotel Reservation System, OLTP(Online Transaction Processing) System.</a:t>
            </a:r>
            <a:endParaRPr/>
          </a:p>
          <a:p>
            <a:pPr indent="-246888" lvl="0" marL="450000" rtl="0" algn="l">
              <a:lnSpc>
                <a:spcPct val="100000"/>
              </a:lnSpc>
              <a:spcBef>
                <a:spcPts val="1400"/>
              </a:spcBef>
              <a:spcAft>
                <a:spcPts val="0"/>
              </a:spcAft>
              <a:buClr>
                <a:schemeClr val="dk1"/>
              </a:buClr>
              <a:buSzPts val="1800"/>
              <a:buChar char="›"/>
            </a:pPr>
            <a:r>
              <a:rPr b="1" lang="en-US" sz="1800"/>
              <a:t>Management Information System(MIS) – Stress on Efficiency – </a:t>
            </a:r>
            <a:r>
              <a:rPr lang="en-US" sz="1900"/>
              <a:t>दक्षता, </a:t>
            </a:r>
            <a:r>
              <a:rPr lang="en-US" sz="1800"/>
              <a:t>कार्यकुशलता</a:t>
            </a:r>
            <a:endParaRPr b="1" sz="1800"/>
          </a:p>
          <a:p>
            <a:pPr indent="0" lvl="0" marL="203112" rtl="0" algn="l">
              <a:lnSpc>
                <a:spcPct val="100000"/>
              </a:lnSpc>
              <a:spcBef>
                <a:spcPts val="1400"/>
              </a:spcBef>
              <a:spcAft>
                <a:spcPts val="0"/>
              </a:spcAft>
              <a:buClr>
                <a:schemeClr val="dk1"/>
              </a:buClr>
              <a:buSzPts val="1800"/>
              <a:buNone/>
            </a:pPr>
            <a:r>
              <a:rPr lang="en-US" sz="1800"/>
              <a:t>MIS uses the transactional data from the TPS to produce needed by managers to run the business. Helps to take for routing decisions. Example Report generation System, OLAP (Online Analytical Processing). Its implementation of strategy.</a:t>
            </a:r>
            <a:endParaRPr/>
          </a:p>
          <a:p>
            <a:pPr indent="-246888" lvl="0" marL="246888" rtl="0" algn="l">
              <a:lnSpc>
                <a:spcPct val="90000"/>
              </a:lnSpc>
              <a:spcBef>
                <a:spcPts val="1400"/>
              </a:spcBef>
              <a:spcAft>
                <a:spcPts val="0"/>
              </a:spcAft>
              <a:buClr>
                <a:schemeClr val="dk1"/>
              </a:buClr>
              <a:buSzPts val="1800"/>
              <a:buChar char="›"/>
            </a:pPr>
            <a:r>
              <a:rPr b="1" lang="en-US" sz="1800"/>
              <a:t>Decision Support System(DSS) – Stress on effectiveness / </a:t>
            </a:r>
            <a:r>
              <a:rPr lang="en-US" sz="1800"/>
              <a:t>प्रभावकारिता</a:t>
            </a:r>
            <a:endParaRPr b="1" sz="1800"/>
          </a:p>
          <a:p>
            <a:pPr indent="0" lvl="0" marL="203112" rtl="0" algn="l">
              <a:lnSpc>
                <a:spcPct val="100000"/>
              </a:lnSpc>
              <a:spcBef>
                <a:spcPts val="1400"/>
              </a:spcBef>
              <a:spcAft>
                <a:spcPts val="0"/>
              </a:spcAft>
              <a:buClr>
                <a:schemeClr val="dk1"/>
              </a:buClr>
              <a:buSzPts val="1800"/>
              <a:buNone/>
            </a:pPr>
            <a:r>
              <a:rPr lang="en-US" sz="1800"/>
              <a:t>DSS helps the various decision methods to identify and choose the options and make appropriate decisions. In contrast, DSS contributes to achieving business objectives by offering sophisticated analytical tools and models that assists to in making informed decisions in complex, uncertain, or unstructured situations such as strategic planning, financial forecasting, optimizing operational processes, and. Exploring various “what if” Scenario. Its formulating the strategy.</a:t>
            </a:r>
            <a:endParaRPr/>
          </a:p>
          <a:p>
            <a:pPr indent="0" lvl="0" marL="203112" rtl="0" algn="l">
              <a:lnSpc>
                <a:spcPct val="100000"/>
              </a:lnSpc>
              <a:spcBef>
                <a:spcPts val="1400"/>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308" name="Google Shape;308;p21"/>
          <p:cNvSpPr txBox="1"/>
          <p:nvPr>
            <p:ph idx="1" type="body"/>
          </p:nvPr>
        </p:nvSpPr>
        <p:spPr>
          <a:xfrm>
            <a:off x="1593436" y="1508110"/>
            <a:ext cx="10117600" cy="4873218"/>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Executive Information System(EIS)</a:t>
            </a:r>
            <a:endParaRPr/>
          </a:p>
          <a:p>
            <a:pPr indent="0" lvl="0" marL="203112" rtl="0" algn="l">
              <a:lnSpc>
                <a:spcPct val="100000"/>
              </a:lnSpc>
              <a:spcBef>
                <a:spcPts val="1400"/>
              </a:spcBef>
              <a:spcAft>
                <a:spcPts val="0"/>
              </a:spcAft>
              <a:buClr>
                <a:schemeClr val="dk1"/>
              </a:buClr>
              <a:buSzPts val="1800"/>
              <a:buNone/>
            </a:pPr>
            <a:r>
              <a:rPr lang="en-US" sz="1800"/>
              <a:t>EIS is defined as a system that helps the high-level executives to take policy decisions. This system uses high level data, analytical models and user friendly software for taking decisions. It is a structured, automated tracking system that operates continuously to keep everything managed. It provides exception and status reporting capabilities. </a:t>
            </a:r>
            <a:endParaRPr/>
          </a:p>
          <a:p>
            <a:pPr indent="0" lvl="0" marL="203112" rtl="0" algn="l">
              <a:lnSpc>
                <a:spcPct val="100000"/>
              </a:lnSpc>
              <a:spcBef>
                <a:spcPts val="1400"/>
              </a:spcBef>
              <a:spcAft>
                <a:spcPts val="0"/>
              </a:spcAft>
              <a:buClr>
                <a:schemeClr val="dk1"/>
              </a:buClr>
              <a:buSzPts val="1800"/>
              <a:buNone/>
            </a:pPr>
            <a:r>
              <a:rPr lang="en-US" sz="1800"/>
              <a:t>Consists of internal and external information system. It allows taking decisions to meet the strategic goals of the organization; and is in distributed nature.</a:t>
            </a:r>
            <a:endParaRPr/>
          </a:p>
          <a:p>
            <a:pPr indent="-246888" lvl="0" marL="450000" rtl="0" algn="l">
              <a:lnSpc>
                <a:spcPct val="100000"/>
              </a:lnSpc>
              <a:spcBef>
                <a:spcPts val="1400"/>
              </a:spcBef>
              <a:spcAft>
                <a:spcPts val="0"/>
              </a:spcAft>
              <a:buClr>
                <a:schemeClr val="dk1"/>
              </a:buClr>
              <a:buSzPts val="1800"/>
              <a:buChar char="›"/>
            </a:pPr>
            <a:r>
              <a:rPr b="1" lang="en-US" sz="1800"/>
              <a:t>Expert System(ES)</a:t>
            </a:r>
            <a:endParaRPr/>
          </a:p>
          <a:p>
            <a:pPr indent="0" lvl="0" marL="203112" rtl="0" algn="l">
              <a:lnSpc>
                <a:spcPct val="100000"/>
              </a:lnSpc>
              <a:spcBef>
                <a:spcPts val="1400"/>
              </a:spcBef>
              <a:spcAft>
                <a:spcPts val="0"/>
              </a:spcAft>
              <a:buClr>
                <a:schemeClr val="dk1"/>
              </a:buClr>
              <a:buSzPts val="1800"/>
              <a:buNone/>
            </a:pPr>
            <a:r>
              <a:rPr lang="en-US" sz="1800"/>
              <a:t>Expert System is designed to mimic the decision-making ability of a decision-maker. It organizes a set of knowledge about a particular subject. It contains facts and judgmental knowledge which gives it the ability to guess like a human. There are set of rules on which it makes decisions using ana if-else structure. The inference engine does reasoning by manipulating the knowledge base. The user interface represents questions and information to the operator and also receives answers from the operator. Knowledge Base, Knowledge acquisition and learning module, Inference Engine, User Interface, Explanation module</a:t>
            </a:r>
            <a:endParaRPr/>
          </a:p>
          <a:p>
            <a:pPr indent="0" lvl="0" marL="203112" rtl="0" algn="l">
              <a:lnSpc>
                <a:spcPct val="100000"/>
              </a:lnSpc>
              <a:spcBef>
                <a:spcPts val="1400"/>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Introduction to system analysis and design</a:t>
            </a:r>
            <a:endParaRPr/>
          </a:p>
        </p:txBody>
      </p:sp>
      <p:sp>
        <p:nvSpPr>
          <p:cNvPr id="314" name="Google Shape;314;p22"/>
          <p:cNvSpPr txBox="1"/>
          <p:nvPr>
            <p:ph idx="1" type="body"/>
          </p:nvPr>
        </p:nvSpPr>
        <p:spPr>
          <a:xfrm>
            <a:off x="1593436" y="1508110"/>
            <a:ext cx="10117600" cy="4873218"/>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Communication and Collaboration System(CCS)</a:t>
            </a:r>
            <a:endParaRPr/>
          </a:p>
          <a:p>
            <a:pPr indent="0" lvl="0" marL="203112" rtl="0" algn="l">
              <a:lnSpc>
                <a:spcPct val="100000"/>
              </a:lnSpc>
              <a:spcBef>
                <a:spcPts val="1400"/>
              </a:spcBef>
              <a:spcAft>
                <a:spcPts val="0"/>
              </a:spcAft>
              <a:buClr>
                <a:schemeClr val="dk1"/>
              </a:buClr>
              <a:buSzPts val="1800"/>
              <a:buNone/>
            </a:pPr>
            <a:r>
              <a:rPr lang="en-US" sz="1800"/>
              <a:t>They enhance the communication and collaboration between people and business in an internal and external environments. Example Teamviewer, Whatsapp, Slack, Soon, Netbeam, Security Surveillance, Viber etc.</a:t>
            </a:r>
            <a:endParaRPr/>
          </a:p>
          <a:p>
            <a:pPr indent="-246888" lvl="0" marL="450000" rtl="0" algn="l">
              <a:lnSpc>
                <a:spcPct val="100000"/>
              </a:lnSpc>
              <a:spcBef>
                <a:spcPts val="1400"/>
              </a:spcBef>
              <a:spcAft>
                <a:spcPts val="0"/>
              </a:spcAft>
              <a:buClr>
                <a:schemeClr val="dk1"/>
              </a:buClr>
              <a:buSzPts val="1800"/>
              <a:buChar char="›"/>
            </a:pPr>
            <a:r>
              <a:rPr b="1" lang="en-US" sz="1800"/>
              <a:t>Office Automation System(OAS)</a:t>
            </a:r>
            <a:endParaRPr/>
          </a:p>
          <a:p>
            <a:pPr indent="0" lvl="0" marL="203112" rtl="0" algn="l">
              <a:lnSpc>
                <a:spcPct val="100000"/>
              </a:lnSpc>
              <a:spcBef>
                <a:spcPts val="1400"/>
              </a:spcBef>
              <a:spcAft>
                <a:spcPts val="0"/>
              </a:spcAft>
              <a:buClr>
                <a:schemeClr val="dk1"/>
              </a:buClr>
              <a:buSzPts val="1800"/>
              <a:buNone/>
            </a:pPr>
            <a:r>
              <a:rPr lang="en-US" sz="1800"/>
              <a:t>They help the employee of organization to create and share documentation that supports day to day operation. Example: office packages,  Figma, Canva, Adobe Packages, Printing and copying services, Atlassian Package, Ticket System.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System Development Life Cycle(SDLC)</a:t>
            </a:r>
            <a:endParaRPr/>
          </a:p>
        </p:txBody>
      </p:sp>
      <p:sp>
        <p:nvSpPr>
          <p:cNvPr id="320" name="Google Shape;320;p23"/>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System Development life cycle concept</a:t>
            </a:r>
            <a:endParaRPr/>
          </a:p>
          <a:p>
            <a:pPr indent="-285750" lvl="0" marL="488862" rtl="0" algn="l">
              <a:lnSpc>
                <a:spcPct val="100000"/>
              </a:lnSpc>
              <a:spcBef>
                <a:spcPts val="1400"/>
              </a:spcBef>
              <a:spcAft>
                <a:spcPts val="0"/>
              </a:spcAft>
              <a:buClr>
                <a:schemeClr val="dk1"/>
              </a:buClr>
              <a:buSzPts val="1800"/>
              <a:buFont typeface="Arial"/>
              <a:buChar char="•"/>
            </a:pPr>
            <a:r>
              <a:rPr lang="en-US" sz="1800"/>
              <a:t>SDLC is a framework that describe that activities performed at each stage of a software develop project. </a:t>
            </a:r>
            <a:endParaRPr/>
          </a:p>
          <a:p>
            <a:pPr indent="-285750" lvl="0" marL="488862" rtl="0" algn="l">
              <a:lnSpc>
                <a:spcPct val="100000"/>
              </a:lnSpc>
              <a:spcBef>
                <a:spcPts val="1400"/>
              </a:spcBef>
              <a:spcAft>
                <a:spcPts val="0"/>
              </a:spcAft>
              <a:buClr>
                <a:schemeClr val="dk1"/>
              </a:buClr>
              <a:buSzPts val="1800"/>
              <a:buFont typeface="Arial"/>
              <a:buChar char="•"/>
            </a:pPr>
            <a:r>
              <a:rPr lang="en-US" sz="1800"/>
              <a:t>The business functions, each of these information systems has a particular purpose or focus and each has a life of its own – that’s why its called SDLC. </a:t>
            </a:r>
            <a:endParaRPr/>
          </a:p>
          <a:p>
            <a:pPr indent="-285750" lvl="0" marL="488862" rtl="0" algn="l">
              <a:lnSpc>
                <a:spcPct val="100000"/>
              </a:lnSpc>
              <a:spcBef>
                <a:spcPts val="1400"/>
              </a:spcBef>
              <a:spcAft>
                <a:spcPts val="0"/>
              </a:spcAft>
              <a:buClr>
                <a:schemeClr val="dk1"/>
              </a:buClr>
              <a:buSzPts val="1800"/>
              <a:buFont typeface="Arial"/>
              <a:buChar char="•"/>
            </a:pPr>
            <a:r>
              <a:rPr lang="en-US" sz="1800"/>
              <a:t>The development of new information system involves several different but related activities and phases like planning, analysis, design, implementation and maintenance support.</a:t>
            </a:r>
            <a:endParaRPr/>
          </a:p>
          <a:p>
            <a:pPr indent="0" lvl="0" marL="203112" rtl="0" algn="l">
              <a:lnSpc>
                <a:spcPct val="100000"/>
              </a:lnSpc>
              <a:spcBef>
                <a:spcPts val="1400"/>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System Development Life Cycle(SDLC)</a:t>
            </a:r>
            <a:endParaRPr/>
          </a:p>
        </p:txBody>
      </p:sp>
      <p:sp>
        <p:nvSpPr>
          <p:cNvPr id="326" name="Google Shape;326;p24"/>
          <p:cNvSpPr txBox="1"/>
          <p:nvPr>
            <p:ph idx="1" type="body"/>
          </p:nvPr>
        </p:nvSpPr>
        <p:spPr>
          <a:xfrm>
            <a:off x="1593436" y="1600200"/>
            <a:ext cx="9782801" cy="38864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Phases of SDLC</a:t>
            </a:r>
            <a:endParaRPr/>
          </a:p>
          <a:p>
            <a:pPr indent="0" lvl="1" marL="568872" rtl="0" algn="l">
              <a:lnSpc>
                <a:spcPct val="100000"/>
              </a:lnSpc>
              <a:spcBef>
                <a:spcPts val="600"/>
              </a:spcBef>
              <a:spcAft>
                <a:spcPts val="0"/>
              </a:spcAft>
              <a:buClr>
                <a:schemeClr val="dk1"/>
              </a:buClr>
              <a:buSzPts val="1400"/>
              <a:buNone/>
            </a:pPr>
            <a:r>
              <a:t/>
            </a:r>
            <a:endParaRPr b="1" sz="1400"/>
          </a:p>
          <a:p>
            <a:pPr indent="0" lvl="0" marL="203112" rtl="0" algn="l">
              <a:lnSpc>
                <a:spcPct val="100000"/>
              </a:lnSpc>
              <a:spcBef>
                <a:spcPts val="1400"/>
              </a:spcBef>
              <a:spcAft>
                <a:spcPts val="0"/>
              </a:spcAft>
              <a:buClr>
                <a:schemeClr val="dk1"/>
              </a:buClr>
              <a:buSzPts val="1800"/>
              <a:buNone/>
            </a:pPr>
            <a:r>
              <a:t/>
            </a:r>
            <a:endParaRPr sz="1800"/>
          </a:p>
        </p:txBody>
      </p:sp>
      <p:grpSp>
        <p:nvGrpSpPr>
          <p:cNvPr id="327" name="Google Shape;327;p24"/>
          <p:cNvGrpSpPr/>
          <p:nvPr/>
        </p:nvGrpSpPr>
        <p:grpSpPr>
          <a:xfrm>
            <a:off x="2133972" y="1978184"/>
            <a:ext cx="4194736" cy="4570635"/>
            <a:chOff x="2205980" y="2132856"/>
            <a:chExt cx="4194736" cy="4570635"/>
          </a:xfrm>
        </p:grpSpPr>
        <p:sp>
          <p:nvSpPr>
            <p:cNvPr id="328" name="Google Shape;328;p24"/>
            <p:cNvSpPr/>
            <p:nvPr/>
          </p:nvSpPr>
          <p:spPr>
            <a:xfrm>
              <a:off x="2205980" y="2132856"/>
              <a:ext cx="432048" cy="432048"/>
            </a:xfrm>
            <a:prstGeom prst="ellipse">
              <a:avLst/>
            </a:prstGeom>
            <a:gradFill>
              <a:gsLst>
                <a:gs pos="0">
                  <a:srgbClr val="BFD58F"/>
                </a:gs>
                <a:gs pos="50000">
                  <a:srgbClr val="B9D37D"/>
                </a:gs>
                <a:gs pos="100000">
                  <a:srgbClr val="A4C06A"/>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1</a:t>
              </a:r>
              <a:endParaRPr/>
            </a:p>
          </p:txBody>
        </p:sp>
        <p:sp>
          <p:nvSpPr>
            <p:cNvPr id="329" name="Google Shape;329;p24"/>
            <p:cNvSpPr/>
            <p:nvPr/>
          </p:nvSpPr>
          <p:spPr>
            <a:xfrm>
              <a:off x="2205980" y="2780928"/>
              <a:ext cx="432048" cy="432048"/>
            </a:xfrm>
            <a:prstGeom prst="ellipse">
              <a:avLst/>
            </a:prstGeom>
            <a:solidFill>
              <a:schemeClr val="accent2"/>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2</a:t>
              </a:r>
              <a:endParaRPr/>
            </a:p>
          </p:txBody>
        </p:sp>
        <p:sp>
          <p:nvSpPr>
            <p:cNvPr id="330" name="Google Shape;330;p24"/>
            <p:cNvSpPr/>
            <p:nvPr/>
          </p:nvSpPr>
          <p:spPr>
            <a:xfrm>
              <a:off x="2205980" y="3476239"/>
              <a:ext cx="432048" cy="432048"/>
            </a:xfrm>
            <a:prstGeom prst="ellipse">
              <a:avLst/>
            </a:prstGeom>
            <a:solidFill>
              <a:schemeClr val="accent5"/>
            </a:solidFill>
            <a:ln cap="flat" cmpd="sng" w="12700">
              <a:solidFill>
                <a:srgbClr val="4F41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3</a:t>
              </a:r>
              <a:endParaRPr/>
            </a:p>
          </p:txBody>
        </p:sp>
        <p:sp>
          <p:nvSpPr>
            <p:cNvPr id="331" name="Google Shape;331;p24"/>
            <p:cNvSpPr/>
            <p:nvPr/>
          </p:nvSpPr>
          <p:spPr>
            <a:xfrm>
              <a:off x="2205980" y="4214923"/>
              <a:ext cx="432048" cy="432048"/>
            </a:xfrm>
            <a:prstGeom prst="ellipse">
              <a:avLst/>
            </a:prstGeom>
            <a:gradFill>
              <a:gsLst>
                <a:gs pos="0">
                  <a:srgbClr val="DDCCD6"/>
                </a:gs>
                <a:gs pos="50000">
                  <a:srgbClr val="D5C1CD"/>
                </a:gs>
                <a:gs pos="100000">
                  <a:srgbClr val="D0B8C6"/>
                </a:gs>
              </a:gsLst>
              <a:lin ang="5400000" scaled="0"/>
            </a:gradFill>
            <a:ln cap="flat" cmpd="sng" w="9525">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4</a:t>
              </a:r>
              <a:endParaRPr/>
            </a:p>
          </p:txBody>
        </p:sp>
        <p:sp>
          <p:nvSpPr>
            <p:cNvPr id="332" name="Google Shape;332;p24"/>
            <p:cNvSpPr/>
            <p:nvPr/>
          </p:nvSpPr>
          <p:spPr>
            <a:xfrm>
              <a:off x="2206174" y="4928060"/>
              <a:ext cx="432048" cy="432048"/>
            </a:xfrm>
            <a:prstGeom prst="ellipse">
              <a:avLst/>
            </a:prstGeom>
            <a:solidFill>
              <a:schemeClr val="accent4"/>
            </a:solidFill>
            <a:ln cap="flat" cmpd="sng" w="12700">
              <a:solidFill>
                <a:srgbClr val="61452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5</a:t>
              </a:r>
              <a:endParaRPr/>
            </a:p>
          </p:txBody>
        </p:sp>
        <p:sp>
          <p:nvSpPr>
            <p:cNvPr id="333" name="Google Shape;333;p24"/>
            <p:cNvSpPr/>
            <p:nvPr/>
          </p:nvSpPr>
          <p:spPr>
            <a:xfrm>
              <a:off x="2205980" y="5623371"/>
              <a:ext cx="432048" cy="432048"/>
            </a:xfrm>
            <a:prstGeom prst="ellipse">
              <a:avLst/>
            </a:prstGeom>
            <a:solidFill>
              <a:schemeClr val="dk1">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6</a:t>
              </a:r>
              <a:endParaRPr/>
            </a:p>
          </p:txBody>
        </p:sp>
        <p:sp>
          <p:nvSpPr>
            <p:cNvPr id="334" name="Google Shape;334;p24"/>
            <p:cNvSpPr/>
            <p:nvPr/>
          </p:nvSpPr>
          <p:spPr>
            <a:xfrm>
              <a:off x="2205980" y="6271443"/>
              <a:ext cx="432048" cy="432048"/>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7</a:t>
              </a:r>
              <a:endParaRPr/>
            </a:p>
          </p:txBody>
        </p:sp>
        <p:cxnSp>
          <p:nvCxnSpPr>
            <p:cNvPr id="335" name="Google Shape;335;p24"/>
            <p:cNvCxnSpPr>
              <a:stCxn id="328" idx="4"/>
              <a:endCxn id="329" idx="0"/>
            </p:cNvCxnSpPr>
            <p:nvPr/>
          </p:nvCxnSpPr>
          <p:spPr>
            <a:xfrm>
              <a:off x="2422004" y="2564904"/>
              <a:ext cx="0" cy="216000"/>
            </a:xfrm>
            <a:prstGeom prst="straightConnector1">
              <a:avLst/>
            </a:prstGeom>
            <a:noFill/>
            <a:ln cap="flat" cmpd="sng" w="9525">
              <a:solidFill>
                <a:schemeClr val="accent1"/>
              </a:solidFill>
              <a:prstDash val="solid"/>
              <a:miter lim="800000"/>
              <a:headEnd len="sm" w="sm" type="none"/>
              <a:tailEnd len="sm" w="sm" type="none"/>
            </a:ln>
          </p:spPr>
        </p:cxnSp>
        <p:cxnSp>
          <p:nvCxnSpPr>
            <p:cNvPr id="336" name="Google Shape;336;p24"/>
            <p:cNvCxnSpPr>
              <a:stCxn id="329" idx="4"/>
              <a:endCxn id="330" idx="0"/>
            </p:cNvCxnSpPr>
            <p:nvPr/>
          </p:nvCxnSpPr>
          <p:spPr>
            <a:xfrm>
              <a:off x="2422004" y="3212976"/>
              <a:ext cx="0" cy="263400"/>
            </a:xfrm>
            <a:prstGeom prst="straightConnector1">
              <a:avLst/>
            </a:prstGeom>
            <a:noFill/>
            <a:ln cap="flat" cmpd="sng" w="9525">
              <a:solidFill>
                <a:schemeClr val="accent1"/>
              </a:solidFill>
              <a:prstDash val="solid"/>
              <a:miter lim="800000"/>
              <a:headEnd len="sm" w="sm" type="none"/>
              <a:tailEnd len="sm" w="sm" type="none"/>
            </a:ln>
          </p:spPr>
        </p:cxnSp>
        <p:cxnSp>
          <p:nvCxnSpPr>
            <p:cNvPr id="337" name="Google Shape;337;p24"/>
            <p:cNvCxnSpPr>
              <a:stCxn id="330" idx="4"/>
              <a:endCxn id="331" idx="0"/>
            </p:cNvCxnSpPr>
            <p:nvPr/>
          </p:nvCxnSpPr>
          <p:spPr>
            <a:xfrm>
              <a:off x="2422004" y="3908287"/>
              <a:ext cx="0" cy="306600"/>
            </a:xfrm>
            <a:prstGeom prst="straightConnector1">
              <a:avLst/>
            </a:prstGeom>
            <a:noFill/>
            <a:ln cap="flat" cmpd="sng" w="9525">
              <a:solidFill>
                <a:schemeClr val="accent1"/>
              </a:solidFill>
              <a:prstDash val="solid"/>
              <a:miter lim="800000"/>
              <a:headEnd len="sm" w="sm" type="none"/>
              <a:tailEnd len="sm" w="sm" type="none"/>
            </a:ln>
          </p:spPr>
        </p:cxnSp>
        <p:cxnSp>
          <p:nvCxnSpPr>
            <p:cNvPr id="338" name="Google Shape;338;p24"/>
            <p:cNvCxnSpPr>
              <a:stCxn id="331" idx="4"/>
              <a:endCxn id="332" idx="0"/>
            </p:cNvCxnSpPr>
            <p:nvPr/>
          </p:nvCxnSpPr>
          <p:spPr>
            <a:xfrm>
              <a:off x="2422004" y="4646971"/>
              <a:ext cx="300" cy="281100"/>
            </a:xfrm>
            <a:prstGeom prst="straightConnector1">
              <a:avLst/>
            </a:prstGeom>
            <a:noFill/>
            <a:ln cap="flat" cmpd="sng" w="9525">
              <a:solidFill>
                <a:schemeClr val="accent1"/>
              </a:solidFill>
              <a:prstDash val="solid"/>
              <a:miter lim="800000"/>
              <a:headEnd len="sm" w="sm" type="none"/>
              <a:tailEnd len="sm" w="sm" type="none"/>
            </a:ln>
          </p:spPr>
        </p:cxnSp>
        <p:cxnSp>
          <p:nvCxnSpPr>
            <p:cNvPr id="339" name="Google Shape;339;p24"/>
            <p:cNvCxnSpPr>
              <a:stCxn id="332" idx="4"/>
              <a:endCxn id="333" idx="0"/>
            </p:cNvCxnSpPr>
            <p:nvPr/>
          </p:nvCxnSpPr>
          <p:spPr>
            <a:xfrm flipH="1">
              <a:off x="2421898" y="5360108"/>
              <a:ext cx="300" cy="263400"/>
            </a:xfrm>
            <a:prstGeom prst="straightConnector1">
              <a:avLst/>
            </a:prstGeom>
            <a:noFill/>
            <a:ln cap="flat" cmpd="sng" w="9525">
              <a:solidFill>
                <a:schemeClr val="accent1"/>
              </a:solidFill>
              <a:prstDash val="solid"/>
              <a:miter lim="800000"/>
              <a:headEnd len="sm" w="sm" type="none"/>
              <a:tailEnd len="sm" w="sm" type="none"/>
            </a:ln>
          </p:spPr>
        </p:cxnSp>
        <p:cxnSp>
          <p:nvCxnSpPr>
            <p:cNvPr id="340" name="Google Shape;340;p24"/>
            <p:cNvCxnSpPr>
              <a:stCxn id="333" idx="4"/>
              <a:endCxn id="334" idx="0"/>
            </p:cNvCxnSpPr>
            <p:nvPr/>
          </p:nvCxnSpPr>
          <p:spPr>
            <a:xfrm>
              <a:off x="2422004" y="6055419"/>
              <a:ext cx="0" cy="216000"/>
            </a:xfrm>
            <a:prstGeom prst="straightConnector1">
              <a:avLst/>
            </a:prstGeom>
            <a:noFill/>
            <a:ln cap="flat" cmpd="sng" w="9525">
              <a:solidFill>
                <a:schemeClr val="accent1"/>
              </a:solidFill>
              <a:prstDash val="solid"/>
              <a:miter lim="800000"/>
              <a:headEnd len="sm" w="sm" type="none"/>
              <a:tailEnd len="sm" w="sm" type="none"/>
            </a:ln>
          </p:spPr>
        </p:cxnSp>
        <p:sp>
          <p:nvSpPr>
            <p:cNvPr id="341" name="Google Shape;341;p24"/>
            <p:cNvSpPr txBox="1"/>
            <p:nvPr/>
          </p:nvSpPr>
          <p:spPr>
            <a:xfrm>
              <a:off x="2854052" y="2195572"/>
              <a:ext cx="15841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Planning</a:t>
              </a:r>
              <a:endParaRPr/>
            </a:p>
          </p:txBody>
        </p:sp>
        <p:sp>
          <p:nvSpPr>
            <p:cNvPr id="342" name="Google Shape;342;p24"/>
            <p:cNvSpPr txBox="1"/>
            <p:nvPr/>
          </p:nvSpPr>
          <p:spPr>
            <a:xfrm>
              <a:off x="2854051" y="2843644"/>
              <a:ext cx="24482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Defining</a:t>
              </a:r>
              <a:endParaRPr/>
            </a:p>
          </p:txBody>
        </p:sp>
        <p:sp>
          <p:nvSpPr>
            <p:cNvPr id="343" name="Google Shape;343;p24"/>
            <p:cNvSpPr txBox="1"/>
            <p:nvPr/>
          </p:nvSpPr>
          <p:spPr>
            <a:xfrm>
              <a:off x="2854051" y="3538955"/>
              <a:ext cx="3528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Designing</a:t>
              </a:r>
              <a:endParaRPr/>
            </a:p>
          </p:txBody>
        </p:sp>
        <p:sp>
          <p:nvSpPr>
            <p:cNvPr id="344" name="Google Shape;344;p24"/>
            <p:cNvSpPr txBox="1"/>
            <p:nvPr/>
          </p:nvSpPr>
          <p:spPr>
            <a:xfrm>
              <a:off x="2853858" y="4277639"/>
              <a:ext cx="3528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Building</a:t>
              </a:r>
              <a:endParaRPr/>
            </a:p>
          </p:txBody>
        </p:sp>
        <p:sp>
          <p:nvSpPr>
            <p:cNvPr id="345" name="Google Shape;345;p24"/>
            <p:cNvSpPr txBox="1"/>
            <p:nvPr/>
          </p:nvSpPr>
          <p:spPr>
            <a:xfrm>
              <a:off x="2872326" y="4990776"/>
              <a:ext cx="3528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Testing</a:t>
              </a:r>
              <a:endParaRPr/>
            </a:p>
          </p:txBody>
        </p:sp>
        <p:sp>
          <p:nvSpPr>
            <p:cNvPr id="346" name="Google Shape;346;p24"/>
            <p:cNvSpPr txBox="1"/>
            <p:nvPr/>
          </p:nvSpPr>
          <p:spPr>
            <a:xfrm>
              <a:off x="2853858" y="5686087"/>
              <a:ext cx="3528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Deployment</a:t>
              </a:r>
              <a:endParaRPr/>
            </a:p>
          </p:txBody>
        </p:sp>
        <p:sp>
          <p:nvSpPr>
            <p:cNvPr id="347" name="Google Shape;347;p24"/>
            <p:cNvSpPr txBox="1"/>
            <p:nvPr/>
          </p:nvSpPr>
          <p:spPr>
            <a:xfrm>
              <a:off x="2853858" y="6334159"/>
              <a:ext cx="3528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Maintenance and Support</a:t>
              </a:r>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53" name="Google Shape;353;p25"/>
          <p:cNvSpPr txBox="1"/>
          <p:nvPr>
            <p:ph idx="2" type="body"/>
          </p:nvPr>
        </p:nvSpPr>
        <p:spPr>
          <a:xfrm>
            <a:off x="5950396" y="1748372"/>
            <a:ext cx="5425841" cy="4421089"/>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000"/>
              <a:buChar char="›"/>
            </a:pPr>
            <a:r>
              <a:rPr lang="en-US" sz="2000"/>
              <a:t>Preliminary Study</a:t>
            </a:r>
            <a:endParaRPr/>
          </a:p>
          <a:p>
            <a:pPr indent="-246888" lvl="0" marL="246888" rtl="0" algn="l">
              <a:lnSpc>
                <a:spcPct val="90000"/>
              </a:lnSpc>
              <a:spcBef>
                <a:spcPts val="1400"/>
              </a:spcBef>
              <a:spcAft>
                <a:spcPts val="0"/>
              </a:spcAft>
              <a:buClr>
                <a:schemeClr val="dk1"/>
              </a:buClr>
              <a:buSzPts val="2000"/>
              <a:buChar char="›"/>
            </a:pPr>
            <a:r>
              <a:rPr lang="en-US" sz="2000"/>
              <a:t>Requirement understanding</a:t>
            </a:r>
            <a:endParaRPr/>
          </a:p>
          <a:p>
            <a:pPr indent="-246888" lvl="0" marL="246888" rtl="0" algn="l">
              <a:lnSpc>
                <a:spcPct val="90000"/>
              </a:lnSpc>
              <a:spcBef>
                <a:spcPts val="1400"/>
              </a:spcBef>
              <a:spcAft>
                <a:spcPts val="0"/>
              </a:spcAft>
              <a:buClr>
                <a:schemeClr val="dk1"/>
              </a:buClr>
              <a:buSzPts val="2000"/>
              <a:buChar char="›"/>
            </a:pPr>
            <a:r>
              <a:rPr lang="en-US" sz="2000"/>
              <a:t>Plan project approach, expenditures, risk analysis, technical analysis, financial analysis, resource analysis and etc.</a:t>
            </a:r>
            <a:endParaRPr/>
          </a:p>
          <a:p>
            <a:pPr indent="-246888" lvl="0" marL="246888" rtl="0" algn="l">
              <a:lnSpc>
                <a:spcPct val="90000"/>
              </a:lnSpc>
              <a:spcBef>
                <a:spcPts val="1400"/>
              </a:spcBef>
              <a:spcAft>
                <a:spcPts val="0"/>
              </a:spcAft>
              <a:buClr>
                <a:schemeClr val="dk1"/>
              </a:buClr>
              <a:buSzPts val="2000"/>
              <a:buChar char="›"/>
            </a:pPr>
            <a:r>
              <a:rPr lang="en-US" sz="2000"/>
              <a:t>Eagle view of project has been done regarding – cost, risks and technical analysis</a:t>
            </a:r>
            <a:endParaRPr/>
          </a:p>
          <a:p>
            <a:pPr indent="-246888" lvl="0" marL="246888" rtl="0" algn="l">
              <a:lnSpc>
                <a:spcPct val="90000"/>
              </a:lnSpc>
              <a:spcBef>
                <a:spcPts val="1400"/>
              </a:spcBef>
              <a:spcAft>
                <a:spcPts val="0"/>
              </a:spcAft>
              <a:buClr>
                <a:schemeClr val="dk1"/>
              </a:buClr>
              <a:buSzPts val="2000"/>
              <a:buChar char="›"/>
            </a:pPr>
            <a:r>
              <a:rPr lang="en-US" sz="2000"/>
              <a:t>Business analyst collect client’s requirements and make Business Requirement Specifications(BRS)</a:t>
            </a:r>
            <a:endParaRPr/>
          </a:p>
        </p:txBody>
      </p:sp>
      <p:pic>
        <p:nvPicPr>
          <p:cNvPr descr="3d person planning stock illustration. Illustration of idea - 30336152" id="354" name="Google Shape;354;p25"/>
          <p:cNvPicPr preferRelativeResize="0"/>
          <p:nvPr>
            <p:ph idx="1" type="body"/>
          </p:nvPr>
        </p:nvPicPr>
        <p:blipFill rotWithShape="1">
          <a:blip r:embed="rId3">
            <a:alphaModFix/>
          </a:blip>
          <a:srcRect b="0" l="0" r="0" t="0"/>
          <a:stretch/>
        </p:blipFill>
        <p:spPr>
          <a:xfrm>
            <a:off x="1879717" y="1600200"/>
            <a:ext cx="3969440" cy="427707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60" name="Google Shape;360;p26"/>
          <p:cNvSpPr txBox="1"/>
          <p:nvPr>
            <p:ph idx="1" type="body"/>
          </p:nvPr>
        </p:nvSpPr>
        <p:spPr>
          <a:xfrm>
            <a:off x="5734372" y="1600200"/>
            <a:ext cx="5904656" cy="52578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US"/>
              <a:t>Defining</a:t>
            </a:r>
            <a:endParaRPr/>
          </a:p>
          <a:p>
            <a:pPr indent="-246888" lvl="1" marL="612648" rtl="0" algn="l">
              <a:lnSpc>
                <a:spcPct val="90000"/>
              </a:lnSpc>
              <a:spcBef>
                <a:spcPts val="600"/>
              </a:spcBef>
              <a:spcAft>
                <a:spcPts val="0"/>
              </a:spcAft>
              <a:buClr>
                <a:schemeClr val="dk1"/>
              </a:buClr>
              <a:buSzPts val="2400"/>
              <a:buFont typeface="Arial"/>
              <a:buChar char="•"/>
            </a:pPr>
            <a:r>
              <a:rPr lang="en-US"/>
              <a:t>Prepare SRS (Software) -  all the requirements for the target software are specified.</a:t>
            </a:r>
            <a:endParaRPr/>
          </a:p>
          <a:p>
            <a:pPr indent="-246888" lvl="1" marL="612648" rtl="0" algn="l">
              <a:lnSpc>
                <a:spcPct val="90000"/>
              </a:lnSpc>
              <a:spcBef>
                <a:spcPts val="600"/>
              </a:spcBef>
              <a:spcAft>
                <a:spcPts val="0"/>
              </a:spcAft>
              <a:buClr>
                <a:schemeClr val="dk1"/>
              </a:buClr>
              <a:buSzPts val="2400"/>
              <a:buFont typeface="Arial"/>
              <a:buChar char="•"/>
            </a:pPr>
            <a:r>
              <a:rPr lang="en-US"/>
              <a:t>These requirements get approval form customers, market analysts, and stakeholders</a:t>
            </a:r>
            <a:endParaRPr/>
          </a:p>
        </p:txBody>
      </p:sp>
      <p:pic>
        <p:nvPicPr>
          <p:cNvPr id="361" name="Google Shape;361;p26"/>
          <p:cNvPicPr preferRelativeResize="0"/>
          <p:nvPr/>
        </p:nvPicPr>
        <p:blipFill rotWithShape="1">
          <a:blip r:embed="rId3">
            <a:alphaModFix/>
          </a:blip>
          <a:srcRect b="0" l="0" r="0" t="0"/>
          <a:stretch/>
        </p:blipFill>
        <p:spPr>
          <a:xfrm>
            <a:off x="1219037" y="1612923"/>
            <a:ext cx="4320480" cy="5285184"/>
          </a:xfrm>
          <a:prstGeom prst="rect">
            <a:avLst/>
          </a:prstGeom>
          <a:noFill/>
          <a:ln>
            <a:noFill/>
          </a:ln>
        </p:spPr>
      </p:pic>
      <p:grpSp>
        <p:nvGrpSpPr>
          <p:cNvPr id="362" name="Google Shape;362;p26"/>
          <p:cNvGrpSpPr/>
          <p:nvPr/>
        </p:nvGrpSpPr>
        <p:grpSpPr>
          <a:xfrm>
            <a:off x="5903127" y="4941168"/>
            <a:ext cx="5567145" cy="864096"/>
            <a:chOff x="5618597" y="4942678"/>
            <a:chExt cx="6136206" cy="952422"/>
          </a:xfrm>
        </p:grpSpPr>
        <p:sp>
          <p:nvSpPr>
            <p:cNvPr id="363" name="Google Shape;363;p26"/>
            <p:cNvSpPr/>
            <p:nvPr/>
          </p:nvSpPr>
          <p:spPr>
            <a:xfrm>
              <a:off x="5618597" y="4951592"/>
              <a:ext cx="973999" cy="943508"/>
            </a:xfrm>
            <a:prstGeom prst="rect">
              <a:avLst/>
            </a:prstGeom>
            <a:gradFill>
              <a:gsLst>
                <a:gs pos="0">
                  <a:srgbClr val="C3A5B7"/>
                </a:gs>
                <a:gs pos="50000">
                  <a:srgbClr val="BD98AE"/>
                </a:gs>
                <a:gs pos="100000">
                  <a:srgbClr val="A88399"/>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lt1"/>
                  </a:solidFill>
                  <a:latin typeface="Arial"/>
                  <a:ea typeface="Arial"/>
                  <a:cs typeface="Arial"/>
                  <a:sym typeface="Arial"/>
                </a:rPr>
                <a:t>Defining</a:t>
              </a:r>
              <a:endParaRPr/>
            </a:p>
          </p:txBody>
        </p:sp>
        <p:sp>
          <p:nvSpPr>
            <p:cNvPr id="364" name="Google Shape;364;p26"/>
            <p:cNvSpPr/>
            <p:nvPr/>
          </p:nvSpPr>
          <p:spPr>
            <a:xfrm>
              <a:off x="6811047" y="4951592"/>
              <a:ext cx="1512168" cy="943508"/>
            </a:xfrm>
            <a:prstGeom prst="rect">
              <a:avLst/>
            </a:prstGeom>
            <a:gradFill>
              <a:gsLst>
                <a:gs pos="0">
                  <a:srgbClr val="EAAE78"/>
                </a:gs>
                <a:gs pos="50000">
                  <a:srgbClr val="EEA45E"/>
                </a:gs>
                <a:gs pos="100000">
                  <a:srgbClr val="D9904B"/>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2"/>
                  </a:solidFill>
                  <a:latin typeface="Arial"/>
                  <a:ea typeface="Arial"/>
                  <a:cs typeface="Arial"/>
                  <a:sym typeface="Arial"/>
                </a:rPr>
                <a:t>Functional Requirements</a:t>
              </a:r>
              <a:endParaRPr/>
            </a:p>
          </p:txBody>
        </p:sp>
        <p:sp>
          <p:nvSpPr>
            <p:cNvPr id="365" name="Google Shape;365;p26"/>
            <p:cNvSpPr/>
            <p:nvPr/>
          </p:nvSpPr>
          <p:spPr>
            <a:xfrm>
              <a:off x="8535612" y="4951592"/>
              <a:ext cx="1512168" cy="943508"/>
            </a:xfrm>
            <a:prstGeom prst="rect">
              <a:avLst/>
            </a:prstGeom>
            <a:gradFill>
              <a:gsLst>
                <a:gs pos="0">
                  <a:srgbClr val="F8EEC7"/>
                </a:gs>
                <a:gs pos="50000">
                  <a:srgbClr val="F6E8B8"/>
                </a:gs>
                <a:gs pos="100000">
                  <a:srgbClr val="F7E7AC"/>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Functional Requirements</a:t>
              </a:r>
              <a:endParaRPr/>
            </a:p>
          </p:txBody>
        </p:sp>
        <p:sp>
          <p:nvSpPr>
            <p:cNvPr id="366" name="Google Shape;366;p26"/>
            <p:cNvSpPr/>
            <p:nvPr/>
          </p:nvSpPr>
          <p:spPr>
            <a:xfrm>
              <a:off x="10242635" y="4942678"/>
              <a:ext cx="1512168" cy="943508"/>
            </a:xfrm>
            <a:prstGeom prst="rect">
              <a:avLst/>
            </a:prstGeom>
            <a:solidFill>
              <a:schemeClr val="accent2"/>
            </a:solidFill>
            <a:ln cap="flat" cmpd="sng" w="12700">
              <a:solidFill>
                <a:srgbClr val="4D57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2"/>
                  </a:solidFill>
                  <a:latin typeface="Arial"/>
                  <a:ea typeface="Arial"/>
                  <a:cs typeface="Arial"/>
                  <a:sym typeface="Arial"/>
                </a:rPr>
                <a:t>Requirement review &amp; Approved</a:t>
              </a:r>
              <a:endParaRPr/>
            </a:p>
          </p:txBody>
        </p:sp>
        <p:cxnSp>
          <p:nvCxnSpPr>
            <p:cNvPr id="367" name="Google Shape;367;p26"/>
            <p:cNvCxnSpPr>
              <a:stCxn id="363" idx="3"/>
              <a:endCxn id="364" idx="1"/>
            </p:cNvCxnSpPr>
            <p:nvPr/>
          </p:nvCxnSpPr>
          <p:spPr>
            <a:xfrm>
              <a:off x="6592596" y="5423346"/>
              <a:ext cx="218400" cy="0"/>
            </a:xfrm>
            <a:prstGeom prst="straightConnector1">
              <a:avLst/>
            </a:prstGeom>
            <a:noFill/>
            <a:ln cap="flat" cmpd="sng" w="25400">
              <a:solidFill>
                <a:schemeClr val="dk2"/>
              </a:solidFill>
              <a:prstDash val="solid"/>
              <a:miter lim="800000"/>
              <a:headEnd len="sm" w="sm" type="none"/>
              <a:tailEnd len="med" w="med" type="triangle"/>
            </a:ln>
          </p:spPr>
        </p:cxnSp>
        <p:cxnSp>
          <p:nvCxnSpPr>
            <p:cNvPr id="368" name="Google Shape;368;p26"/>
            <p:cNvCxnSpPr/>
            <p:nvPr/>
          </p:nvCxnSpPr>
          <p:spPr>
            <a:xfrm>
              <a:off x="8317161" y="5426794"/>
              <a:ext cx="218451" cy="0"/>
            </a:xfrm>
            <a:prstGeom prst="straightConnector1">
              <a:avLst/>
            </a:prstGeom>
            <a:noFill/>
            <a:ln cap="flat" cmpd="sng" w="25400">
              <a:solidFill>
                <a:schemeClr val="dk2"/>
              </a:solidFill>
              <a:prstDash val="solid"/>
              <a:miter lim="800000"/>
              <a:headEnd len="sm" w="sm" type="none"/>
              <a:tailEnd len="med" w="med" type="triangle"/>
            </a:ln>
          </p:spPr>
        </p:cxnSp>
        <p:cxnSp>
          <p:nvCxnSpPr>
            <p:cNvPr id="369" name="Google Shape;369;p26"/>
            <p:cNvCxnSpPr/>
            <p:nvPr/>
          </p:nvCxnSpPr>
          <p:spPr>
            <a:xfrm>
              <a:off x="10047780" y="5423346"/>
              <a:ext cx="218451" cy="0"/>
            </a:xfrm>
            <a:prstGeom prst="straightConnector1">
              <a:avLst/>
            </a:prstGeom>
            <a:noFill/>
            <a:ln cap="flat" cmpd="sng" w="25400">
              <a:solidFill>
                <a:schemeClr val="dk2"/>
              </a:solidFill>
              <a:prstDash val="solid"/>
              <a:miter lim="800000"/>
              <a:headEnd len="sm" w="sm" type="none"/>
              <a:tailEnd len="med" w="med" type="triangle"/>
            </a:ln>
          </p:spPr>
        </p:cxnSp>
      </p:gr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75" name="Google Shape;375;p27"/>
          <p:cNvSpPr txBox="1"/>
          <p:nvPr>
            <p:ph idx="1" type="body"/>
          </p:nvPr>
        </p:nvSpPr>
        <p:spPr>
          <a:xfrm>
            <a:off x="5302324" y="1545140"/>
            <a:ext cx="5904656" cy="5335858"/>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lang="en-US" sz="2400"/>
              <a:t>Design – Arrangement of elements</a:t>
            </a:r>
            <a:endParaRPr/>
          </a:p>
          <a:p>
            <a:pPr indent="-246888" lvl="1" marL="612648" rtl="0" algn="l">
              <a:lnSpc>
                <a:spcPct val="100000"/>
              </a:lnSpc>
              <a:spcBef>
                <a:spcPts val="1200"/>
              </a:spcBef>
              <a:spcAft>
                <a:spcPts val="0"/>
              </a:spcAft>
              <a:buClr>
                <a:schemeClr val="dk1"/>
              </a:buClr>
              <a:buSzPts val="1800"/>
              <a:buFont typeface="Arial"/>
              <a:buChar char="•"/>
            </a:pPr>
            <a:r>
              <a:rPr b="1" lang="en-US" sz="1800"/>
              <a:t>Architectural Design</a:t>
            </a:r>
            <a:br>
              <a:rPr lang="en-US" sz="1800"/>
            </a:br>
            <a:r>
              <a:rPr lang="en-US" sz="1800"/>
              <a:t>The high level design that explains how the different parts of the system will interact</a:t>
            </a:r>
            <a:endParaRPr sz="1800"/>
          </a:p>
          <a:p>
            <a:pPr indent="-246888" lvl="1" marL="612648" rtl="0" algn="l">
              <a:lnSpc>
                <a:spcPct val="100000"/>
              </a:lnSpc>
              <a:spcBef>
                <a:spcPts val="1200"/>
              </a:spcBef>
              <a:spcAft>
                <a:spcPts val="0"/>
              </a:spcAft>
              <a:buClr>
                <a:schemeClr val="dk1"/>
              </a:buClr>
              <a:buSzPts val="1800"/>
              <a:buFont typeface="Arial"/>
              <a:buChar char="•"/>
            </a:pPr>
            <a:r>
              <a:rPr b="1" lang="en-US" sz="1800"/>
              <a:t>Database Desing</a:t>
            </a:r>
            <a:br>
              <a:rPr lang="en-US" sz="1800"/>
            </a:br>
            <a:r>
              <a:rPr lang="en-US" sz="1800"/>
              <a:t>Designing the database structure and relationships</a:t>
            </a:r>
            <a:endParaRPr/>
          </a:p>
          <a:p>
            <a:pPr indent="-246888" lvl="1" marL="612648" rtl="0" algn="l">
              <a:lnSpc>
                <a:spcPct val="100000"/>
              </a:lnSpc>
              <a:spcBef>
                <a:spcPts val="1200"/>
              </a:spcBef>
              <a:spcAft>
                <a:spcPts val="0"/>
              </a:spcAft>
              <a:buClr>
                <a:schemeClr val="dk1"/>
              </a:buClr>
              <a:buSzPts val="1800"/>
              <a:buFont typeface="Arial"/>
              <a:buChar char="•"/>
            </a:pPr>
            <a:r>
              <a:rPr b="1" lang="en-US" sz="1800"/>
              <a:t>User Interface Design</a:t>
            </a:r>
            <a:br>
              <a:rPr lang="en-US" sz="1800"/>
            </a:br>
            <a:r>
              <a:rPr lang="en-US" sz="1800"/>
              <a:t>Creating the interface through which the user interacts with the software</a:t>
            </a:r>
            <a:endParaRPr sz="1800"/>
          </a:p>
        </p:txBody>
      </p:sp>
      <p:pic>
        <p:nvPicPr>
          <p:cNvPr id="376" name="Google Shape;376;p27"/>
          <p:cNvPicPr preferRelativeResize="0"/>
          <p:nvPr/>
        </p:nvPicPr>
        <p:blipFill rotWithShape="1">
          <a:blip r:embed="rId3">
            <a:alphaModFix/>
          </a:blip>
          <a:srcRect b="0" l="0" r="0" t="0"/>
          <a:stretch/>
        </p:blipFill>
        <p:spPr>
          <a:xfrm>
            <a:off x="1221416" y="1520202"/>
            <a:ext cx="3941650" cy="53358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82" name="Google Shape;382;p28"/>
          <p:cNvSpPr txBox="1"/>
          <p:nvPr>
            <p:ph idx="1" type="body"/>
          </p:nvPr>
        </p:nvSpPr>
        <p:spPr>
          <a:xfrm>
            <a:off x="5302324" y="1545140"/>
            <a:ext cx="5904656" cy="5335858"/>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lang="en-US" sz="2400"/>
              <a:t>Building</a:t>
            </a:r>
            <a:endParaRPr/>
          </a:p>
          <a:p>
            <a:pPr indent="-246888" lvl="1" marL="612648" rtl="0" algn="l">
              <a:lnSpc>
                <a:spcPct val="100000"/>
              </a:lnSpc>
              <a:spcBef>
                <a:spcPts val="1200"/>
              </a:spcBef>
              <a:spcAft>
                <a:spcPts val="0"/>
              </a:spcAft>
              <a:buClr>
                <a:schemeClr val="dk1"/>
              </a:buClr>
              <a:buSzPts val="1800"/>
              <a:buFont typeface="Arial"/>
              <a:buChar char="•"/>
            </a:pPr>
            <a:r>
              <a:rPr b="1" lang="en-US" sz="1800"/>
              <a:t>Coding</a:t>
            </a:r>
            <a:br>
              <a:rPr lang="en-US" sz="1800"/>
            </a:br>
            <a:r>
              <a:rPr lang="en-US" sz="1800"/>
              <a:t>Converting specification into digital format, web pages, server side script,  APIs, Database migrations</a:t>
            </a:r>
            <a:endParaRPr sz="1800"/>
          </a:p>
          <a:p>
            <a:pPr indent="-246888" lvl="1" marL="612648" rtl="0" algn="l">
              <a:lnSpc>
                <a:spcPct val="100000"/>
              </a:lnSpc>
              <a:spcBef>
                <a:spcPts val="1200"/>
              </a:spcBef>
              <a:spcAft>
                <a:spcPts val="0"/>
              </a:spcAft>
              <a:buClr>
                <a:schemeClr val="dk1"/>
              </a:buClr>
              <a:buSzPts val="1800"/>
              <a:buFont typeface="Arial"/>
              <a:buChar char="•"/>
            </a:pPr>
            <a:r>
              <a:rPr b="1" lang="en-US" sz="1800"/>
              <a:t>Integration</a:t>
            </a:r>
            <a:br>
              <a:rPr lang="en-US" sz="1800"/>
            </a:br>
            <a:r>
              <a:rPr lang="en-US" sz="1800"/>
              <a:t>Integrating multiple components or features to make things happened in an organized way</a:t>
            </a:r>
            <a:endParaRPr/>
          </a:p>
          <a:p>
            <a:pPr indent="-246888" lvl="1" marL="612648" rtl="0" algn="l">
              <a:lnSpc>
                <a:spcPct val="100000"/>
              </a:lnSpc>
              <a:spcBef>
                <a:spcPts val="1200"/>
              </a:spcBef>
              <a:spcAft>
                <a:spcPts val="0"/>
              </a:spcAft>
              <a:buClr>
                <a:schemeClr val="dk1"/>
              </a:buClr>
              <a:buSzPts val="1800"/>
              <a:buFont typeface="Arial"/>
              <a:buChar char="•"/>
            </a:pPr>
            <a:r>
              <a:rPr b="1" lang="en-US" sz="1800"/>
              <a:t>Internal Testing</a:t>
            </a:r>
            <a:br>
              <a:rPr lang="en-US" sz="1800"/>
            </a:br>
            <a:r>
              <a:rPr lang="en-US" sz="1800"/>
              <a:t>Developer level testing and QA level testing in development and QA environments(Unit testing and integration testing).</a:t>
            </a:r>
            <a:endParaRPr sz="1800"/>
          </a:p>
        </p:txBody>
      </p:sp>
      <p:pic>
        <p:nvPicPr>
          <p:cNvPr descr="What Does a Software Development Company really do?" id="383" name="Google Shape;383;p28"/>
          <p:cNvPicPr preferRelativeResize="0"/>
          <p:nvPr/>
        </p:nvPicPr>
        <p:blipFill rotWithShape="1">
          <a:blip r:embed="rId3">
            <a:alphaModFix/>
          </a:blip>
          <a:srcRect b="0" l="0" r="0" t="0"/>
          <a:stretch/>
        </p:blipFill>
        <p:spPr>
          <a:xfrm>
            <a:off x="1269875" y="2132856"/>
            <a:ext cx="4369719" cy="295232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9"/>
          <p:cNvSpPr txBox="1"/>
          <p:nvPr>
            <p:ph type="title"/>
          </p:nvPr>
        </p:nvSpPr>
        <p:spPr>
          <a:xfrm>
            <a:off x="1593436" y="177800"/>
            <a:ext cx="9782700" cy="12399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89" name="Google Shape;389;p29"/>
          <p:cNvSpPr txBox="1"/>
          <p:nvPr>
            <p:ph idx="1" type="body"/>
          </p:nvPr>
        </p:nvSpPr>
        <p:spPr>
          <a:xfrm>
            <a:off x="5302324" y="1545140"/>
            <a:ext cx="5904600" cy="53358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lang="en-US" sz="2400"/>
              <a:t>Deployment/Implementation</a:t>
            </a:r>
            <a:endParaRPr/>
          </a:p>
          <a:p>
            <a:pPr indent="-246888" lvl="1" marL="612648" rtl="0" algn="l">
              <a:lnSpc>
                <a:spcPct val="100000"/>
              </a:lnSpc>
              <a:spcBef>
                <a:spcPts val="1200"/>
              </a:spcBef>
              <a:spcAft>
                <a:spcPts val="0"/>
              </a:spcAft>
              <a:buClr>
                <a:schemeClr val="dk1"/>
              </a:buClr>
              <a:buSzPts val="1800"/>
              <a:buFont typeface="Arial"/>
              <a:buChar char="•"/>
            </a:pPr>
            <a:r>
              <a:rPr b="1" lang="en-US" sz="1800"/>
              <a:t>System Testing</a:t>
            </a:r>
            <a:br>
              <a:rPr lang="en-US" sz="1800"/>
            </a:br>
            <a:r>
              <a:rPr lang="en-US" sz="1800"/>
              <a:t>Testing the complete and integrated system as a whole in production like environment.</a:t>
            </a:r>
            <a:endParaRPr sz="1800"/>
          </a:p>
          <a:p>
            <a:pPr indent="-246888" lvl="1" marL="612648" rtl="0" algn="l">
              <a:lnSpc>
                <a:spcPct val="100000"/>
              </a:lnSpc>
              <a:spcBef>
                <a:spcPts val="1200"/>
              </a:spcBef>
              <a:spcAft>
                <a:spcPts val="0"/>
              </a:spcAft>
              <a:buClr>
                <a:schemeClr val="dk1"/>
              </a:buClr>
              <a:buSzPts val="1800"/>
              <a:buFont typeface="Arial"/>
              <a:buChar char="•"/>
            </a:pPr>
            <a:r>
              <a:rPr b="1" lang="en-US" sz="1800"/>
              <a:t>User Acceptance Testing</a:t>
            </a:r>
            <a:br>
              <a:rPr lang="en-US" sz="1800"/>
            </a:br>
            <a:r>
              <a:rPr lang="en-US" sz="1800"/>
              <a:t>Evaluates if the system meets the acceptance criteria in Users perspective</a:t>
            </a:r>
            <a:endParaRPr sz="1800"/>
          </a:p>
          <a:p>
            <a:pPr indent="-246888" lvl="1" marL="612648" rtl="0" algn="l">
              <a:lnSpc>
                <a:spcPct val="100000"/>
              </a:lnSpc>
              <a:spcBef>
                <a:spcPts val="1200"/>
              </a:spcBef>
              <a:spcAft>
                <a:spcPts val="0"/>
              </a:spcAft>
              <a:buClr>
                <a:schemeClr val="dk1"/>
              </a:buClr>
              <a:buSzPts val="1800"/>
              <a:buFont typeface="Arial"/>
              <a:buChar char="•"/>
            </a:pPr>
            <a:r>
              <a:rPr b="1" lang="en-US" sz="1800"/>
              <a:t>Performance Testing if required</a:t>
            </a:r>
            <a:br>
              <a:rPr lang="en-US" sz="1800"/>
            </a:br>
            <a:r>
              <a:rPr lang="en-US" sz="1800"/>
              <a:t>This requires special knowledge and carried out only for critical software systems. This will ensure when will your system breakdown under which circumstances.</a:t>
            </a:r>
            <a:endParaRPr sz="1800"/>
          </a:p>
        </p:txBody>
      </p:sp>
      <p:pic>
        <p:nvPicPr>
          <p:cNvPr descr="2,900+ Deployment Stock Photos, Pictures &amp; Royalty-Free Images - iStock |  Deployment icon, Military deployment, Technology deployment" id="390" name="Google Shape;390;p29"/>
          <p:cNvPicPr preferRelativeResize="0"/>
          <p:nvPr/>
        </p:nvPicPr>
        <p:blipFill rotWithShape="1">
          <a:blip r:embed="rId3">
            <a:alphaModFix/>
          </a:blip>
          <a:srcRect b="0" l="0" r="0" t="0"/>
          <a:stretch/>
        </p:blipFill>
        <p:spPr>
          <a:xfrm>
            <a:off x="1269876" y="1772816"/>
            <a:ext cx="4032448" cy="403244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396" name="Google Shape;396;p30"/>
          <p:cNvSpPr txBox="1"/>
          <p:nvPr>
            <p:ph idx="1" type="body"/>
          </p:nvPr>
        </p:nvSpPr>
        <p:spPr>
          <a:xfrm>
            <a:off x="5734372" y="1545140"/>
            <a:ext cx="5472608" cy="5335858"/>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lang="en-US" sz="2400"/>
              <a:t>Maintenance and support</a:t>
            </a:r>
            <a:endParaRPr/>
          </a:p>
          <a:p>
            <a:pPr indent="0" lvl="0" marL="0" rtl="0" algn="l">
              <a:lnSpc>
                <a:spcPct val="90000"/>
              </a:lnSpc>
              <a:spcBef>
                <a:spcPts val="1400"/>
              </a:spcBef>
              <a:spcAft>
                <a:spcPts val="0"/>
              </a:spcAft>
              <a:buClr>
                <a:schemeClr val="dk1"/>
              </a:buClr>
              <a:buSzPts val="1800"/>
              <a:buNone/>
            </a:pPr>
            <a:r>
              <a:rPr lang="en-US" sz="1800"/>
              <a:t>Once the product is deployed in the market; client may want to add on supporting feature or provide some change request in existing features.</a:t>
            </a:r>
            <a:endParaRPr/>
          </a:p>
          <a:p>
            <a:pPr indent="0" lvl="0" marL="0" rtl="0" algn="l">
              <a:lnSpc>
                <a:spcPct val="90000"/>
              </a:lnSpc>
              <a:spcBef>
                <a:spcPts val="1400"/>
              </a:spcBef>
              <a:spcAft>
                <a:spcPts val="0"/>
              </a:spcAft>
              <a:buClr>
                <a:schemeClr val="dk1"/>
              </a:buClr>
              <a:buSzPts val="1800"/>
              <a:buNone/>
            </a:pPr>
            <a:r>
              <a:rPr lang="en-US" sz="1800"/>
              <a:t>My be new bugs found while working; and technology upgrade is required.</a:t>
            </a:r>
            <a:endParaRPr/>
          </a:p>
          <a:p>
            <a:pPr indent="0" lvl="0" marL="0" rtl="0" algn="l">
              <a:lnSpc>
                <a:spcPct val="90000"/>
              </a:lnSpc>
              <a:spcBef>
                <a:spcPts val="1400"/>
              </a:spcBef>
              <a:spcAft>
                <a:spcPts val="0"/>
              </a:spcAft>
              <a:buClr>
                <a:schemeClr val="dk1"/>
              </a:buClr>
              <a:buSzPts val="1800"/>
              <a:buNone/>
            </a:pPr>
            <a:r>
              <a:rPr lang="en-US" sz="1800"/>
              <a:t>Incorporate the correction as per the feedback from the end users.</a:t>
            </a:r>
            <a:endParaRPr/>
          </a:p>
        </p:txBody>
      </p:sp>
      <p:pic>
        <p:nvPicPr>
          <p:cNvPr descr="Third Party Maintenance Services - Agrius IT" id="397" name="Google Shape;397;p30"/>
          <p:cNvPicPr preferRelativeResize="0"/>
          <p:nvPr/>
        </p:nvPicPr>
        <p:blipFill rotWithShape="1">
          <a:blip r:embed="rId3">
            <a:alphaModFix/>
          </a:blip>
          <a:srcRect b="0" l="0" r="0" t="0"/>
          <a:stretch/>
        </p:blipFill>
        <p:spPr>
          <a:xfrm>
            <a:off x="1269875" y="1844824"/>
            <a:ext cx="4464497" cy="31736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1"/>
          <p:cNvSpPr txBox="1"/>
          <p:nvPr>
            <p:ph type="title"/>
          </p:nvPr>
        </p:nvSpPr>
        <p:spPr>
          <a:xfrm>
            <a:off x="1485900" y="188640"/>
            <a:ext cx="9782801" cy="79694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System Development Life Cycle(SDLC)</a:t>
            </a:r>
            <a:endParaRPr/>
          </a:p>
        </p:txBody>
      </p:sp>
      <p:sp>
        <p:nvSpPr>
          <p:cNvPr id="403" name="Google Shape;403;p31"/>
          <p:cNvSpPr txBox="1"/>
          <p:nvPr>
            <p:ph idx="1" type="body"/>
          </p:nvPr>
        </p:nvSpPr>
        <p:spPr>
          <a:xfrm>
            <a:off x="6598468" y="1412776"/>
            <a:ext cx="4777769"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System Requests</a:t>
            </a:r>
            <a:endParaRPr/>
          </a:p>
          <a:p>
            <a:pPr indent="-285750" lvl="0" marL="488862" rtl="0" algn="l">
              <a:lnSpc>
                <a:spcPct val="100000"/>
              </a:lnSpc>
              <a:spcBef>
                <a:spcPts val="1400"/>
              </a:spcBef>
              <a:spcAft>
                <a:spcPts val="0"/>
              </a:spcAft>
              <a:buClr>
                <a:schemeClr val="dk1"/>
              </a:buClr>
              <a:buSzPts val="1800"/>
              <a:buFont typeface="Arial"/>
              <a:buChar char="•"/>
            </a:pPr>
            <a:r>
              <a:rPr lang="en-US" sz="1800"/>
              <a:t>A system request is a document or system used to initiate the systems development life cycle process.</a:t>
            </a:r>
            <a:endParaRPr/>
          </a:p>
          <a:p>
            <a:pPr indent="-285750" lvl="0" marL="488862" rtl="0" algn="l">
              <a:lnSpc>
                <a:spcPct val="100000"/>
              </a:lnSpc>
              <a:spcBef>
                <a:spcPts val="1400"/>
              </a:spcBef>
              <a:spcAft>
                <a:spcPts val="0"/>
              </a:spcAft>
              <a:buClr>
                <a:schemeClr val="dk1"/>
              </a:buClr>
              <a:buSzPts val="1800"/>
              <a:buFont typeface="Arial"/>
              <a:buChar char="•"/>
            </a:pPr>
            <a:r>
              <a:rPr lang="en-US" sz="1800"/>
              <a:t>It may be called something different in different organizations, such as a system proposal document or system initiation document.</a:t>
            </a:r>
            <a:endParaRPr/>
          </a:p>
          <a:p>
            <a:pPr indent="0" lvl="0" marL="203112" rtl="0" algn="l">
              <a:lnSpc>
                <a:spcPct val="100000"/>
              </a:lnSpc>
              <a:spcBef>
                <a:spcPts val="1400"/>
              </a:spcBef>
              <a:spcAft>
                <a:spcPts val="0"/>
              </a:spcAft>
              <a:buClr>
                <a:schemeClr val="dk1"/>
              </a:buClr>
              <a:buSzPts val="1800"/>
              <a:buNone/>
            </a:pPr>
            <a:r>
              <a:t/>
            </a:r>
            <a:endParaRPr sz="1800"/>
          </a:p>
        </p:txBody>
      </p:sp>
      <p:pic>
        <p:nvPicPr>
          <p:cNvPr descr="No alt text provided for this image" id="404" name="Google Shape;404;p31"/>
          <p:cNvPicPr preferRelativeResize="0"/>
          <p:nvPr/>
        </p:nvPicPr>
        <p:blipFill rotWithShape="1">
          <a:blip r:embed="rId3">
            <a:alphaModFix/>
          </a:blip>
          <a:srcRect b="0" l="0" r="0" t="0"/>
          <a:stretch/>
        </p:blipFill>
        <p:spPr>
          <a:xfrm>
            <a:off x="1413892" y="1129016"/>
            <a:ext cx="4968552" cy="568436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System Development Life Cycle(SDLC)</a:t>
            </a:r>
            <a:endParaRPr/>
          </a:p>
        </p:txBody>
      </p:sp>
      <p:sp>
        <p:nvSpPr>
          <p:cNvPr id="410" name="Google Shape;410;p32"/>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Autofit/>
          </a:bodyPr>
          <a:lstStyle/>
          <a:p>
            <a:pPr indent="-246888" lvl="0" marL="450000" rtl="0" algn="l">
              <a:lnSpc>
                <a:spcPct val="100000"/>
              </a:lnSpc>
              <a:spcBef>
                <a:spcPts val="0"/>
              </a:spcBef>
              <a:spcAft>
                <a:spcPts val="0"/>
              </a:spcAft>
              <a:buClr>
                <a:schemeClr val="dk1"/>
              </a:buClr>
              <a:buSzPts val="1800"/>
              <a:buChar char="›"/>
            </a:pPr>
            <a:r>
              <a:rPr b="1" lang="en-US" sz="1800"/>
              <a:t>What does a System Request include?</a:t>
            </a:r>
            <a:endParaRPr/>
          </a:p>
          <a:p>
            <a:pPr indent="-288925" lvl="0" marL="849313" rtl="0" algn="l">
              <a:lnSpc>
                <a:spcPct val="100000"/>
              </a:lnSpc>
              <a:spcBef>
                <a:spcPts val="1400"/>
              </a:spcBef>
              <a:spcAft>
                <a:spcPts val="0"/>
              </a:spcAft>
              <a:buClr>
                <a:schemeClr val="dk1"/>
              </a:buClr>
              <a:buSzPts val="1800"/>
              <a:buFont typeface="Arial"/>
              <a:buChar char="•"/>
            </a:pPr>
            <a:r>
              <a:rPr lang="en-US" sz="1800"/>
              <a:t>The project sponsor</a:t>
            </a:r>
            <a:endParaRPr/>
          </a:p>
          <a:p>
            <a:pPr indent="-288925" lvl="0" marL="849313" rtl="0" algn="l">
              <a:lnSpc>
                <a:spcPct val="100000"/>
              </a:lnSpc>
              <a:spcBef>
                <a:spcPts val="1400"/>
              </a:spcBef>
              <a:spcAft>
                <a:spcPts val="0"/>
              </a:spcAft>
              <a:buClr>
                <a:schemeClr val="dk1"/>
              </a:buClr>
              <a:buSzPts val="1800"/>
              <a:buFont typeface="Arial"/>
              <a:buChar char="•"/>
            </a:pPr>
            <a:r>
              <a:rPr lang="en-US" sz="1800"/>
              <a:t>The business need for the system (the business-related needs of the system).</a:t>
            </a:r>
            <a:endParaRPr/>
          </a:p>
          <a:p>
            <a:pPr indent="-288925" lvl="0" marL="849313" rtl="0" algn="l">
              <a:lnSpc>
                <a:spcPct val="100000"/>
              </a:lnSpc>
              <a:spcBef>
                <a:spcPts val="1400"/>
              </a:spcBef>
              <a:spcAft>
                <a:spcPts val="0"/>
              </a:spcAft>
              <a:buClr>
                <a:schemeClr val="dk1"/>
              </a:buClr>
              <a:buSzPts val="1800"/>
              <a:buFont typeface="Arial"/>
              <a:buChar char="•"/>
            </a:pPr>
            <a:r>
              <a:rPr lang="en-US" sz="1800"/>
              <a:t>The business requirements for the system (the requirements that the system must meet to be successful)</a:t>
            </a:r>
            <a:endParaRPr/>
          </a:p>
          <a:p>
            <a:pPr indent="-288925" lvl="0" marL="849313" rtl="0" algn="l">
              <a:lnSpc>
                <a:spcPct val="100000"/>
              </a:lnSpc>
              <a:spcBef>
                <a:spcPts val="1400"/>
              </a:spcBef>
              <a:spcAft>
                <a:spcPts val="0"/>
              </a:spcAft>
              <a:buClr>
                <a:schemeClr val="dk1"/>
              </a:buClr>
              <a:buSzPts val="1800"/>
              <a:buFont typeface="Arial"/>
              <a:buChar char="•"/>
            </a:pPr>
            <a:r>
              <a:rPr lang="en-US" sz="1800"/>
              <a:t>The business value of the system (how the system will pay for itself)Any special issues or constraints that may be relevant to the system</a:t>
            </a:r>
            <a:endParaRPr/>
          </a:p>
          <a:p>
            <a:pPr indent="-246888" lvl="0" marL="450000" rtl="0" algn="l">
              <a:lnSpc>
                <a:spcPct val="100000"/>
              </a:lnSpc>
              <a:spcBef>
                <a:spcPts val="1400"/>
              </a:spcBef>
              <a:spcAft>
                <a:spcPts val="0"/>
              </a:spcAft>
              <a:buClr>
                <a:schemeClr val="dk1"/>
              </a:buClr>
              <a:buSzPts val="1800"/>
              <a:buChar char="›"/>
            </a:pPr>
            <a:r>
              <a:rPr b="1" lang="en-US" sz="1800"/>
              <a:t>What to do?</a:t>
            </a:r>
            <a:endParaRPr/>
          </a:p>
          <a:p>
            <a:pPr indent="-285749" lvl="1" marL="854621" rtl="0" algn="l">
              <a:lnSpc>
                <a:spcPct val="100000"/>
              </a:lnSpc>
              <a:spcBef>
                <a:spcPts val="600"/>
              </a:spcBef>
              <a:spcAft>
                <a:spcPts val="0"/>
              </a:spcAft>
              <a:buClr>
                <a:schemeClr val="dk1"/>
              </a:buClr>
              <a:buSzPts val="1800"/>
              <a:buFont typeface="Arial"/>
              <a:buChar char="•"/>
            </a:pPr>
            <a:r>
              <a:rPr lang="en-US" sz="1800"/>
              <a:t>Create a system request at the beginning of each project to make it clear for all stakeholders the main goals and results you want to achieve.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3"/>
          <p:cNvSpPr txBox="1"/>
          <p:nvPr>
            <p:ph type="title"/>
          </p:nvPr>
        </p:nvSpPr>
        <p:spPr>
          <a:xfrm>
            <a:off x="1557908" y="260648"/>
            <a:ext cx="9782801" cy="7249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16" name="Google Shape;416;p33"/>
          <p:cNvSpPr txBox="1"/>
          <p:nvPr>
            <p:ph idx="1" type="body"/>
          </p:nvPr>
        </p:nvSpPr>
        <p:spPr>
          <a:xfrm>
            <a:off x="5734372" y="985589"/>
            <a:ext cx="5760640" cy="5895409"/>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lang="en-US" sz="2400"/>
              <a:t>Feasibility Study</a:t>
            </a:r>
            <a:endParaRPr/>
          </a:p>
          <a:p>
            <a:pPr indent="0" lvl="0" marL="0" rtl="0" algn="l">
              <a:lnSpc>
                <a:spcPct val="100000"/>
              </a:lnSpc>
              <a:spcBef>
                <a:spcPts val="1400"/>
              </a:spcBef>
              <a:spcAft>
                <a:spcPts val="0"/>
              </a:spcAft>
              <a:buClr>
                <a:schemeClr val="dk1"/>
              </a:buClr>
              <a:buSzPts val="1800"/>
              <a:buNone/>
            </a:pPr>
            <a:r>
              <a:rPr lang="en-US" sz="1800"/>
              <a:t>Feasibility analysis is a process used to determine the viability of a particular project.</a:t>
            </a:r>
            <a:endParaRPr/>
          </a:p>
          <a:p>
            <a:pPr indent="-246888" lvl="0" marL="246888" rtl="0" algn="l">
              <a:lnSpc>
                <a:spcPct val="90000"/>
              </a:lnSpc>
              <a:spcBef>
                <a:spcPts val="1400"/>
              </a:spcBef>
              <a:spcAft>
                <a:spcPts val="0"/>
              </a:spcAft>
              <a:buClr>
                <a:schemeClr val="dk1"/>
              </a:buClr>
              <a:buSzPts val="2400"/>
              <a:buChar char="›"/>
            </a:pPr>
            <a:r>
              <a:rPr lang="en-US" sz="2400"/>
              <a:t>What does feasibility analysis include?</a:t>
            </a:r>
            <a:endParaRPr sz="1600"/>
          </a:p>
          <a:p>
            <a:pPr indent="-238125" lvl="0" marL="584200" rtl="0" algn="l">
              <a:lnSpc>
                <a:spcPct val="90000"/>
              </a:lnSpc>
              <a:spcBef>
                <a:spcPts val="1400"/>
              </a:spcBef>
              <a:spcAft>
                <a:spcPts val="0"/>
              </a:spcAft>
              <a:buClr>
                <a:schemeClr val="dk1"/>
              </a:buClr>
              <a:buSzPts val="1600"/>
              <a:buFont typeface="Arial"/>
              <a:buAutoNum type="arabicPeriod"/>
            </a:pPr>
            <a:r>
              <a:rPr b="1" lang="en-US" sz="1600"/>
              <a:t>Technical feasibility</a:t>
            </a:r>
            <a:endParaRPr sz="1600"/>
          </a:p>
          <a:p>
            <a:pPr indent="-238125" lvl="0" marL="584200" rtl="0" algn="l">
              <a:lnSpc>
                <a:spcPct val="90000"/>
              </a:lnSpc>
              <a:spcBef>
                <a:spcPts val="1400"/>
              </a:spcBef>
              <a:spcAft>
                <a:spcPts val="0"/>
              </a:spcAft>
              <a:buClr>
                <a:schemeClr val="dk1"/>
              </a:buClr>
              <a:buSzPts val="1600"/>
              <a:buFont typeface="Arial"/>
              <a:buAutoNum type="arabicPeriod"/>
            </a:pPr>
            <a:r>
              <a:rPr b="1" lang="en-US" sz="1600"/>
              <a:t>Economic feasibility</a:t>
            </a:r>
            <a:endParaRPr/>
          </a:p>
          <a:p>
            <a:pPr indent="-238125" lvl="0" marL="584200" rtl="0" algn="l">
              <a:lnSpc>
                <a:spcPct val="90000"/>
              </a:lnSpc>
              <a:spcBef>
                <a:spcPts val="1400"/>
              </a:spcBef>
              <a:spcAft>
                <a:spcPts val="0"/>
              </a:spcAft>
              <a:buClr>
                <a:schemeClr val="dk1"/>
              </a:buClr>
              <a:buSzPts val="1600"/>
              <a:buFont typeface="Arial"/>
              <a:buAutoNum type="arabicPeriod"/>
            </a:pPr>
            <a:r>
              <a:rPr b="1" lang="en-US" sz="1600"/>
              <a:t>Organizational feasibility</a:t>
            </a:r>
            <a:endParaRPr sz="1600"/>
          </a:p>
          <a:p>
            <a:pPr indent="-238125" lvl="0" marL="584200" rtl="0" algn="l">
              <a:lnSpc>
                <a:spcPct val="90000"/>
              </a:lnSpc>
              <a:spcBef>
                <a:spcPts val="1400"/>
              </a:spcBef>
              <a:spcAft>
                <a:spcPts val="0"/>
              </a:spcAft>
              <a:buClr>
                <a:schemeClr val="dk1"/>
              </a:buClr>
              <a:buSzPts val="1600"/>
              <a:buFont typeface="Arial"/>
              <a:buAutoNum type="arabicPeriod"/>
            </a:pPr>
            <a:r>
              <a:rPr b="1" lang="en-US" sz="1600"/>
              <a:t>Legal Feasibility</a:t>
            </a:r>
            <a:endParaRPr/>
          </a:p>
          <a:p>
            <a:pPr indent="-246888" lvl="0" marL="246888" rtl="0" algn="l">
              <a:lnSpc>
                <a:spcPct val="90000"/>
              </a:lnSpc>
              <a:spcBef>
                <a:spcPts val="1400"/>
              </a:spcBef>
              <a:spcAft>
                <a:spcPts val="0"/>
              </a:spcAft>
              <a:buClr>
                <a:schemeClr val="dk1"/>
              </a:buClr>
              <a:buSzPts val="2400"/>
              <a:buChar char="›"/>
            </a:pPr>
            <a:r>
              <a:rPr lang="en-US" sz="2400"/>
              <a:t>Why is it important?</a:t>
            </a:r>
            <a:endParaRPr/>
          </a:p>
          <a:p>
            <a:pPr indent="0" lvl="0" marL="0" rtl="0" algn="l">
              <a:lnSpc>
                <a:spcPct val="110000"/>
              </a:lnSpc>
              <a:spcBef>
                <a:spcPts val="1400"/>
              </a:spcBef>
              <a:spcAft>
                <a:spcPts val="0"/>
              </a:spcAft>
              <a:buClr>
                <a:schemeClr val="dk1"/>
              </a:buClr>
              <a:buSzPts val="1800"/>
              <a:buNone/>
            </a:pPr>
            <a:r>
              <a:rPr lang="en-US" sz="1800"/>
              <a:t>The feasibility analysis process is important because it helps to identify potential challenges and issues before a project is fully committed to, allowing for informed decision-making about whether to move forward with the project.</a:t>
            </a:r>
            <a:endParaRPr/>
          </a:p>
          <a:p>
            <a:pPr indent="0" lvl="0" marL="0" rtl="0" algn="l">
              <a:lnSpc>
                <a:spcPct val="90000"/>
              </a:lnSpc>
              <a:spcBef>
                <a:spcPts val="1400"/>
              </a:spcBef>
              <a:spcAft>
                <a:spcPts val="0"/>
              </a:spcAft>
              <a:buClr>
                <a:schemeClr val="dk1"/>
              </a:buClr>
              <a:buSzPts val="2400"/>
              <a:buNone/>
            </a:pPr>
            <a:r>
              <a:t/>
            </a:r>
            <a:endParaRPr sz="2400"/>
          </a:p>
          <a:p>
            <a:pPr indent="0" lvl="0" marL="0" rtl="0" algn="l">
              <a:lnSpc>
                <a:spcPct val="90000"/>
              </a:lnSpc>
              <a:spcBef>
                <a:spcPts val="1400"/>
              </a:spcBef>
              <a:spcAft>
                <a:spcPts val="0"/>
              </a:spcAft>
              <a:buClr>
                <a:schemeClr val="dk1"/>
              </a:buClr>
              <a:buSzPts val="1600"/>
              <a:buNone/>
            </a:pPr>
            <a:r>
              <a:t/>
            </a:r>
            <a:endParaRPr sz="1600"/>
          </a:p>
          <a:p>
            <a:pPr indent="-94488" lvl="0" marL="246888" rtl="0" algn="l">
              <a:lnSpc>
                <a:spcPct val="90000"/>
              </a:lnSpc>
              <a:spcBef>
                <a:spcPts val="1400"/>
              </a:spcBef>
              <a:spcAft>
                <a:spcPts val="0"/>
              </a:spcAft>
              <a:buClr>
                <a:schemeClr val="dk1"/>
              </a:buClr>
              <a:buSzPts val="2400"/>
              <a:buNone/>
            </a:pPr>
            <a:r>
              <a:t/>
            </a:r>
            <a:endParaRPr sz="2400"/>
          </a:p>
        </p:txBody>
      </p:sp>
      <p:pic>
        <p:nvPicPr>
          <p:cNvPr descr="Feasibility Study Analysis - The Professional's Guide" id="417" name="Google Shape;417;p33"/>
          <p:cNvPicPr preferRelativeResize="0"/>
          <p:nvPr/>
        </p:nvPicPr>
        <p:blipFill rotWithShape="1">
          <a:blip r:embed="rId3">
            <a:alphaModFix/>
          </a:blip>
          <a:srcRect b="0" l="0" r="0" t="0"/>
          <a:stretch/>
        </p:blipFill>
        <p:spPr>
          <a:xfrm>
            <a:off x="1331211" y="1545140"/>
            <a:ext cx="4403161" cy="518019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4"/>
          <p:cNvSpPr txBox="1"/>
          <p:nvPr>
            <p:ph type="title"/>
          </p:nvPr>
        </p:nvSpPr>
        <p:spPr>
          <a:xfrm>
            <a:off x="1629916" y="348314"/>
            <a:ext cx="9782700" cy="652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23" name="Google Shape;423;p34"/>
          <p:cNvSpPr txBox="1"/>
          <p:nvPr>
            <p:ph idx="1" type="body"/>
          </p:nvPr>
        </p:nvSpPr>
        <p:spPr>
          <a:xfrm>
            <a:off x="1635295" y="3140968"/>
            <a:ext cx="9433048" cy="3672408"/>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000"/>
              <a:buChar char="›"/>
            </a:pPr>
            <a:r>
              <a:rPr b="1" lang="en-US" sz="2000"/>
              <a:t>Some considerations for technical feasibility include:</a:t>
            </a:r>
            <a:r>
              <a:rPr lang="en-US" sz="2000"/>
              <a:t> </a:t>
            </a:r>
            <a:endParaRPr/>
          </a:p>
          <a:p>
            <a:pPr indent="-238124" lvl="0" marL="493713" rtl="0" algn="l">
              <a:lnSpc>
                <a:spcPct val="90000"/>
              </a:lnSpc>
              <a:spcBef>
                <a:spcPts val="800"/>
              </a:spcBef>
              <a:spcAft>
                <a:spcPts val="0"/>
              </a:spcAft>
              <a:buClr>
                <a:schemeClr val="dk1"/>
              </a:buClr>
              <a:buSzPts val="1600"/>
              <a:buFont typeface="Arial"/>
              <a:buChar char="•"/>
            </a:pPr>
            <a:r>
              <a:rPr lang="en-US" sz="1600"/>
              <a:t>Familiarity with the business application: Does the organization have experience using the type of system being proposed?</a:t>
            </a:r>
            <a:endParaRPr/>
          </a:p>
          <a:p>
            <a:pPr indent="-238124" lvl="0" marL="493713" rtl="0" algn="l">
              <a:lnSpc>
                <a:spcPct val="90000"/>
              </a:lnSpc>
              <a:spcBef>
                <a:spcPts val="800"/>
              </a:spcBef>
              <a:spcAft>
                <a:spcPts val="0"/>
              </a:spcAft>
              <a:buClr>
                <a:schemeClr val="dk1"/>
              </a:buClr>
              <a:buSzPts val="1600"/>
              <a:buFont typeface="Arial"/>
              <a:buChar char="•"/>
            </a:pPr>
            <a:r>
              <a:rPr lang="en-US" sz="1600"/>
              <a:t>Familiarity with the technology: Does the organization have the necessary skills and tools to develop and maintain the system?</a:t>
            </a:r>
            <a:endParaRPr/>
          </a:p>
          <a:p>
            <a:pPr indent="-238124" lvl="0" marL="493713" rtl="0" algn="l">
              <a:lnSpc>
                <a:spcPct val="90000"/>
              </a:lnSpc>
              <a:spcBef>
                <a:spcPts val="800"/>
              </a:spcBef>
              <a:spcAft>
                <a:spcPts val="0"/>
              </a:spcAft>
              <a:buClr>
                <a:schemeClr val="dk1"/>
              </a:buClr>
              <a:buSzPts val="1600"/>
              <a:buFont typeface="Arial"/>
              <a:buChar char="•"/>
            </a:pPr>
            <a:r>
              <a:rPr lang="en-US" sz="1600"/>
              <a:t>Project size: Is the project realistic in terms of the time and resources required to complete it?</a:t>
            </a:r>
            <a:endParaRPr/>
          </a:p>
          <a:p>
            <a:pPr indent="-238124" lvl="0" marL="493713" rtl="0" algn="l">
              <a:lnSpc>
                <a:spcPct val="90000"/>
              </a:lnSpc>
              <a:spcBef>
                <a:spcPts val="800"/>
              </a:spcBef>
              <a:spcAft>
                <a:spcPts val="0"/>
              </a:spcAft>
              <a:buClr>
                <a:schemeClr val="dk1"/>
              </a:buClr>
              <a:buSzPts val="1600"/>
              <a:buFont typeface="Arial"/>
              <a:buChar char="•"/>
            </a:pPr>
            <a:r>
              <a:rPr lang="en-US" sz="1600"/>
              <a:t>Integration requirements: Will the system need to be integrated with other systems or processes within the organization? If so, is the organization capable of handling these integration requirements?</a:t>
            </a:r>
            <a:endParaRPr/>
          </a:p>
          <a:p>
            <a:pPr indent="-246888" lvl="0" marL="246888" rtl="0" algn="l">
              <a:lnSpc>
                <a:spcPct val="90000"/>
              </a:lnSpc>
              <a:spcBef>
                <a:spcPts val="1400"/>
              </a:spcBef>
              <a:spcAft>
                <a:spcPts val="0"/>
              </a:spcAft>
              <a:buClr>
                <a:schemeClr val="dk1"/>
              </a:buClr>
              <a:buSzPts val="2000"/>
              <a:buChar char="›"/>
            </a:pPr>
            <a:r>
              <a:rPr b="1" lang="en-US" sz="2000"/>
              <a:t>What to do? </a:t>
            </a:r>
            <a:endParaRPr/>
          </a:p>
          <a:p>
            <a:pPr indent="0" lvl="0" marL="0" rtl="0" algn="l">
              <a:lnSpc>
                <a:spcPct val="90000"/>
              </a:lnSpc>
              <a:spcBef>
                <a:spcPts val="1400"/>
              </a:spcBef>
              <a:spcAft>
                <a:spcPts val="0"/>
              </a:spcAft>
              <a:buClr>
                <a:schemeClr val="dk1"/>
              </a:buClr>
              <a:buSzPts val="1600"/>
              <a:buNone/>
            </a:pPr>
            <a:r>
              <a:rPr lang="en-US" sz="1600"/>
              <a:t>Research all using services and integration across the organization to be prepared for its limitations.</a:t>
            </a:r>
            <a:endParaRPr/>
          </a:p>
          <a:p>
            <a:pPr indent="0" lvl="0" marL="0" rtl="0" algn="l">
              <a:lnSpc>
                <a:spcPct val="90000"/>
              </a:lnSpc>
              <a:spcBef>
                <a:spcPts val="1400"/>
              </a:spcBef>
              <a:spcAft>
                <a:spcPts val="0"/>
              </a:spcAft>
              <a:buClr>
                <a:schemeClr val="dk1"/>
              </a:buClr>
              <a:buSzPts val="1600"/>
              <a:buNone/>
            </a:pPr>
            <a:r>
              <a:t/>
            </a:r>
            <a:endParaRPr sz="1600"/>
          </a:p>
          <a:p>
            <a:pPr indent="-94488" lvl="0" marL="246888" rtl="0" algn="l">
              <a:lnSpc>
                <a:spcPct val="90000"/>
              </a:lnSpc>
              <a:spcBef>
                <a:spcPts val="1400"/>
              </a:spcBef>
              <a:spcAft>
                <a:spcPts val="0"/>
              </a:spcAft>
              <a:buClr>
                <a:schemeClr val="dk1"/>
              </a:buClr>
              <a:buSzPts val="2400"/>
              <a:buNone/>
            </a:pPr>
            <a:r>
              <a:t/>
            </a:r>
            <a:endParaRPr sz="2400"/>
          </a:p>
        </p:txBody>
      </p:sp>
      <p:pic>
        <p:nvPicPr>
          <p:cNvPr descr="No alt text provided for this image" id="424" name="Google Shape;424;p34"/>
          <p:cNvPicPr preferRelativeResize="0"/>
          <p:nvPr/>
        </p:nvPicPr>
        <p:blipFill rotWithShape="1">
          <a:blip r:embed="rId3">
            <a:alphaModFix/>
          </a:blip>
          <a:srcRect b="0" l="0" r="0" t="0"/>
          <a:stretch/>
        </p:blipFill>
        <p:spPr>
          <a:xfrm>
            <a:off x="5736877" y="951052"/>
            <a:ext cx="5155670" cy="2261924"/>
          </a:xfrm>
          <a:prstGeom prst="rect">
            <a:avLst/>
          </a:prstGeom>
          <a:noFill/>
          <a:ln>
            <a:noFill/>
          </a:ln>
        </p:spPr>
      </p:pic>
      <p:sp>
        <p:nvSpPr>
          <p:cNvPr id="425" name="Google Shape;425;p34"/>
          <p:cNvSpPr txBox="1"/>
          <p:nvPr/>
        </p:nvSpPr>
        <p:spPr>
          <a:xfrm>
            <a:off x="1773932" y="1124744"/>
            <a:ext cx="3888432"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 Technical Feasibility</a:t>
            </a:r>
            <a:endParaRPr/>
          </a:p>
          <a:p>
            <a:pPr indent="0" lvl="0" marL="0" marR="0" rtl="0" algn="l">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Technical feasibility is the evaluation of whether a proposed information system can be implemented with the available technology and within the organization's technical capabilities. </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5"/>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31" name="Google Shape;431;p35"/>
          <p:cNvSpPr txBox="1"/>
          <p:nvPr>
            <p:ph idx="1" type="body"/>
          </p:nvPr>
        </p:nvSpPr>
        <p:spPr>
          <a:xfrm>
            <a:off x="1635295" y="3140968"/>
            <a:ext cx="9433048" cy="3672408"/>
          </a:xfrm>
          <a:prstGeom prst="rect">
            <a:avLst/>
          </a:prstGeom>
          <a:noFill/>
          <a:ln>
            <a:noFill/>
          </a:ln>
        </p:spPr>
        <p:txBody>
          <a:bodyPr anchorCtr="0" anchor="t" bIns="45700" lIns="91425" spcFirstLastPara="1" rIns="91425" wrap="square" tIns="45700">
            <a:normAutofit fontScale="92500" lnSpcReduction="10000"/>
          </a:bodyPr>
          <a:lstStyle/>
          <a:p>
            <a:pPr indent="-246888" lvl="0" marL="246888" rtl="0" algn="l">
              <a:lnSpc>
                <a:spcPct val="90000"/>
              </a:lnSpc>
              <a:spcBef>
                <a:spcPts val="0"/>
              </a:spcBef>
              <a:spcAft>
                <a:spcPts val="0"/>
              </a:spcAft>
              <a:buClr>
                <a:schemeClr val="dk1"/>
              </a:buClr>
              <a:buSzPct val="100000"/>
              <a:buChar char="›"/>
            </a:pPr>
            <a:r>
              <a:rPr b="1" lang="en-US" sz="2000"/>
              <a:t>Some considerations for economic feasibility include:</a:t>
            </a:r>
            <a:r>
              <a:rPr lang="en-US" sz="2000"/>
              <a:t> </a:t>
            </a:r>
            <a:endParaRPr sz="1100"/>
          </a:p>
          <a:p>
            <a:pPr indent="-246888" lvl="0" marL="246888" rtl="0" algn="l">
              <a:lnSpc>
                <a:spcPct val="110000"/>
              </a:lnSpc>
              <a:spcBef>
                <a:spcPts val="0"/>
              </a:spcBef>
              <a:spcAft>
                <a:spcPts val="0"/>
              </a:spcAft>
              <a:buClr>
                <a:schemeClr val="dk1"/>
              </a:buClr>
              <a:buSzPct val="100000"/>
              <a:buFont typeface="Arial"/>
              <a:buChar char="•"/>
            </a:pPr>
            <a:r>
              <a:rPr b="1" lang="en-US" sz="1400"/>
              <a:t>Tangible benefits</a:t>
            </a:r>
            <a:r>
              <a:rPr lang="en-US" sz="1400"/>
              <a:t> are the financial benefits that can be directly quantified and measured. These might include increased revenue, cost savings, or increased efficiency. Intangible benefits are the non-financial benefits that cannot be directly quantified, but are still important to consider. These might include increased customer satisfaction, improved employee morale, or increased market share.</a:t>
            </a:r>
            <a:endParaRPr/>
          </a:p>
          <a:p>
            <a:pPr indent="-246888" lvl="0" marL="246888" rtl="0" algn="l">
              <a:lnSpc>
                <a:spcPct val="110000"/>
              </a:lnSpc>
              <a:spcBef>
                <a:spcPts val="200"/>
              </a:spcBef>
              <a:spcAft>
                <a:spcPts val="0"/>
              </a:spcAft>
              <a:buClr>
                <a:schemeClr val="dk1"/>
              </a:buClr>
              <a:buSzPct val="100000"/>
              <a:buFont typeface="Arial"/>
              <a:buChar char="•"/>
            </a:pPr>
            <a:r>
              <a:rPr b="1" lang="en-US" sz="1400"/>
              <a:t>Total cost of ownership (TCO)</a:t>
            </a:r>
            <a:r>
              <a:rPr lang="en-US" sz="1400"/>
              <a:t> is the long-term financial cost of a project, including both the initial cost of development and the ongoing maintenance and support costs. It is important to consider TCO in economic feasibility analysis because it gives a more complete picture of the financial impact of a project.</a:t>
            </a:r>
            <a:endParaRPr/>
          </a:p>
          <a:p>
            <a:pPr indent="-246888" lvl="0" marL="246888" rtl="0" algn="l">
              <a:lnSpc>
                <a:spcPct val="110000"/>
              </a:lnSpc>
              <a:spcBef>
                <a:spcPts val="200"/>
              </a:spcBef>
              <a:spcAft>
                <a:spcPts val="0"/>
              </a:spcAft>
              <a:buClr>
                <a:schemeClr val="dk1"/>
              </a:buClr>
              <a:buSzPct val="100000"/>
              <a:buFont typeface="Arial"/>
              <a:buChar char="•"/>
            </a:pPr>
            <a:r>
              <a:rPr b="1" lang="en-US" sz="1400"/>
              <a:t>Net present value (NPV) is</a:t>
            </a:r>
            <a:r>
              <a:rPr lang="en-US" sz="1400"/>
              <a:t> another tool that can be used to determine economic feasibility. It is a financial calculation that estimates the value of a project by comparing the present value of the cash inflows (benefits) to the present value of the cash outflows (costs). A positive NPV indicates that the project is expected to generate more value than it will cost, while a negative NPV indicates the opposite.</a:t>
            </a:r>
            <a:endParaRPr/>
          </a:p>
          <a:p>
            <a:pPr indent="-246888" lvl="0" marL="246888" rtl="0" algn="l">
              <a:lnSpc>
                <a:spcPct val="90000"/>
              </a:lnSpc>
              <a:spcBef>
                <a:spcPts val="1400"/>
              </a:spcBef>
              <a:spcAft>
                <a:spcPts val="0"/>
              </a:spcAft>
              <a:buClr>
                <a:schemeClr val="dk1"/>
              </a:buClr>
              <a:buSzPct val="100000"/>
              <a:buChar char="›"/>
            </a:pPr>
            <a:r>
              <a:rPr b="1" lang="en-US" sz="2000"/>
              <a:t>What to do? </a:t>
            </a:r>
            <a:endParaRPr/>
          </a:p>
          <a:p>
            <a:pPr indent="0" lvl="0" marL="0" rtl="0" algn="l">
              <a:lnSpc>
                <a:spcPct val="90000"/>
              </a:lnSpc>
              <a:spcBef>
                <a:spcPts val="1400"/>
              </a:spcBef>
              <a:spcAft>
                <a:spcPts val="0"/>
              </a:spcAft>
              <a:buClr>
                <a:schemeClr val="dk1"/>
              </a:buClr>
              <a:buSzPct val="100000"/>
              <a:buNone/>
            </a:pPr>
            <a:r>
              <a:rPr lang="en-US" sz="1600"/>
              <a:t>Try to count current costs of using all needed services and cost of operations with current volumes and predict possible scaling of the product in near future.</a:t>
            </a:r>
            <a:endParaRPr/>
          </a:p>
          <a:p>
            <a:pPr indent="0" lvl="0" marL="0" rtl="0" algn="l">
              <a:lnSpc>
                <a:spcPct val="90000"/>
              </a:lnSpc>
              <a:spcBef>
                <a:spcPts val="1400"/>
              </a:spcBef>
              <a:spcAft>
                <a:spcPts val="0"/>
              </a:spcAft>
              <a:buClr>
                <a:schemeClr val="dk1"/>
              </a:buClr>
              <a:buSzPct val="100000"/>
              <a:buNone/>
            </a:pPr>
            <a:r>
              <a:t/>
            </a:r>
            <a:endParaRPr sz="1600"/>
          </a:p>
          <a:p>
            <a:pPr indent="-105918" lvl="0" marL="246888" rtl="0" algn="l">
              <a:lnSpc>
                <a:spcPct val="90000"/>
              </a:lnSpc>
              <a:spcBef>
                <a:spcPts val="1400"/>
              </a:spcBef>
              <a:spcAft>
                <a:spcPts val="0"/>
              </a:spcAft>
              <a:buClr>
                <a:schemeClr val="dk1"/>
              </a:buClr>
              <a:buSzPct val="100000"/>
              <a:buNone/>
            </a:pPr>
            <a:r>
              <a:t/>
            </a:r>
            <a:endParaRPr sz="2400"/>
          </a:p>
        </p:txBody>
      </p:sp>
      <p:sp>
        <p:nvSpPr>
          <p:cNvPr id="432" name="Google Shape;432;p35"/>
          <p:cNvSpPr txBox="1"/>
          <p:nvPr/>
        </p:nvSpPr>
        <p:spPr>
          <a:xfrm>
            <a:off x="1773932" y="1124744"/>
            <a:ext cx="3888432" cy="20005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2. </a:t>
            </a:r>
            <a:r>
              <a:rPr lang="en-US" sz="2700">
                <a:solidFill>
                  <a:schemeClr val="dk1"/>
                </a:solidFill>
                <a:latin typeface="Arial"/>
                <a:ea typeface="Arial"/>
                <a:cs typeface="Arial"/>
                <a:sym typeface="Arial"/>
              </a:rPr>
              <a:t>Economic Feasibility</a:t>
            </a:r>
            <a:endParaRPr/>
          </a:p>
          <a:p>
            <a:pPr indent="0" lvl="0" marL="0" marR="0" rtl="0" algn="l">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Economic feasibility is the second dimension of a typical feasibility analysis, and it answers the question of "should we build it?" In other words, is it a good idea from a financial or economic standpoint?</a:t>
            </a:r>
            <a:endParaRPr/>
          </a:p>
        </p:txBody>
      </p:sp>
      <p:pic>
        <p:nvPicPr>
          <p:cNvPr descr="No alt text provided for this image" id="433" name="Google Shape;433;p35"/>
          <p:cNvPicPr preferRelativeResize="0"/>
          <p:nvPr/>
        </p:nvPicPr>
        <p:blipFill rotWithShape="1">
          <a:blip r:embed="rId3">
            <a:alphaModFix/>
          </a:blip>
          <a:srcRect b="0" l="0" r="0" t="0"/>
          <a:stretch/>
        </p:blipFill>
        <p:spPr>
          <a:xfrm>
            <a:off x="5734372" y="1119952"/>
            <a:ext cx="5948959" cy="18866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6"/>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39" name="Google Shape;439;p36"/>
          <p:cNvSpPr txBox="1"/>
          <p:nvPr>
            <p:ph idx="1" type="body"/>
          </p:nvPr>
        </p:nvSpPr>
        <p:spPr>
          <a:xfrm>
            <a:off x="1635295" y="3279180"/>
            <a:ext cx="10015344" cy="3534196"/>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000"/>
              <a:buChar char="›"/>
            </a:pPr>
            <a:r>
              <a:rPr b="1" lang="en-US" sz="2000"/>
              <a:t>Some consideratio</a:t>
            </a:r>
            <a:r>
              <a:rPr b="1" lang="en-US" sz="2000">
                <a:extLst>
                  <a:ext uri="http://customooxmlschemas.google.com/">
                    <go:slidesCustomData xmlns:go="http://customooxmlschemas.google.com/" textRoundtripDataId="0"/>
                  </a:ext>
                </a:extLst>
              </a:rPr>
              <a:t>ns for economic feasibility include:</a:t>
            </a:r>
            <a:r>
              <a:rPr lang="en-US" sz="2000">
                <a:extLst>
                  <a:ext uri="http://customooxmlschemas.google.com/">
                    <go:slidesCustomData xmlns:go="http://customooxmlschemas.google.com/" textRoundtripDataId="1"/>
                  </a:ext>
                </a:extLst>
              </a:rPr>
              <a:t> </a:t>
            </a:r>
            <a:endParaRPr sz="1100">
              <a:extLst>
                <a:ext uri="http://customooxmlschemas.google.com/">
                  <go:slidesCustomData xmlns:go="http://customooxmlschemas.google.com/" textRoundtripDataId="2"/>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3"/>
                  </a:ext>
                </a:extLst>
              </a:rPr>
              <a:t>Leveraging stakeholders, including the project champion, to promote the project and its benefits</a:t>
            </a:r>
            <a:endParaRPr>
              <a:extLst>
                <a:ext uri="http://customooxmlschemas.google.com/">
                  <go:slidesCustomData xmlns:go="http://customooxmlschemas.google.com/" textRoundtripDataId="4"/>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5"/>
                  </a:ext>
                </a:extLst>
              </a:rPr>
              <a:t>Building a coalition of supporters</a:t>
            </a:r>
            <a:endParaRPr>
              <a:extLst>
                <a:ext uri="http://customooxmlschemas.google.com/">
                  <go:slidesCustomData xmlns:go="http://customooxmlschemas.google.com/" textRoundtripDataId="6"/>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7"/>
                  </a:ext>
                </a:extLst>
              </a:rPr>
              <a:t>Addressing any potential objections or concerns</a:t>
            </a:r>
            <a:endParaRPr>
              <a:extLst>
                <a:ext uri="http://customooxmlschemas.google.com/">
                  <go:slidesCustomData xmlns:go="http://customooxmlschemas.google.com/" textRoundtripDataId="8"/>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9"/>
                  </a:ext>
                </a:extLst>
              </a:rPr>
              <a:t>Communicating effectively with all stakeholders throughout the project, including keeping them informed of progress and addressing any issues that may arise</a:t>
            </a:r>
            <a:endParaRPr>
              <a:extLst>
                <a:ext uri="http://customooxmlschemas.google.com/">
                  <go:slidesCustomData xmlns:go="http://customooxmlschemas.google.com/" textRoundtripDataId="10"/>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11"/>
                  </a:ext>
                </a:extLst>
              </a:rPr>
              <a:t>Involving users in the design and testing of the system to increase their acceptance of the system and ensure that it meets their needs</a:t>
            </a:r>
            <a:endParaRPr>
              <a:extLst>
                <a:ext uri="http://customooxmlschemas.google.com/">
                  <go:slidesCustomData xmlns:go="http://customooxmlschemas.google.com/" textRoundtripDataId="12"/>
                </a:ext>
              </a:extLst>
            </a:endParaRPr>
          </a:p>
          <a:p>
            <a:pPr indent="-246888" lvl="1" marL="612648" rtl="0" algn="l">
              <a:lnSpc>
                <a:spcPct val="90000"/>
              </a:lnSpc>
              <a:spcBef>
                <a:spcPts val="600"/>
              </a:spcBef>
              <a:spcAft>
                <a:spcPts val="0"/>
              </a:spcAft>
              <a:buClr>
                <a:schemeClr val="dk1"/>
              </a:buClr>
              <a:buSzPts val="1700"/>
              <a:buFont typeface="Arial"/>
              <a:buChar char="•"/>
            </a:pPr>
            <a:r>
              <a:rPr lang="en-US" sz="1700">
                <a:extLst>
                  <a:ext uri="http://customooxmlschemas.google.com/">
                    <go:slidesCustomData xmlns:go="http://customooxmlschemas.google.com/" textRoundtripDataId="13"/>
                  </a:ext>
                </a:extLst>
              </a:rPr>
              <a:t>Having a plan in place for training and supporting users after the system is implemented</a:t>
            </a:r>
            <a:endParaRPr sz="1600"/>
          </a:p>
          <a:p>
            <a:pPr indent="-94488" lvl="0" marL="246888" rtl="0" algn="l">
              <a:lnSpc>
                <a:spcPct val="90000"/>
              </a:lnSpc>
              <a:spcBef>
                <a:spcPts val="1400"/>
              </a:spcBef>
              <a:spcAft>
                <a:spcPts val="0"/>
              </a:spcAft>
              <a:buClr>
                <a:schemeClr val="dk1"/>
              </a:buClr>
              <a:buSzPts val="2400"/>
              <a:buNone/>
            </a:pPr>
            <a:r>
              <a:t/>
            </a:r>
            <a:endParaRPr sz="2400"/>
          </a:p>
        </p:txBody>
      </p:sp>
      <p:sp>
        <p:nvSpPr>
          <p:cNvPr id="440" name="Google Shape;440;p36"/>
          <p:cNvSpPr txBox="1"/>
          <p:nvPr/>
        </p:nvSpPr>
        <p:spPr>
          <a:xfrm>
            <a:off x="1773932" y="1124744"/>
            <a:ext cx="3888432" cy="21544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300">
                <a:solidFill>
                  <a:schemeClr val="dk1"/>
                </a:solidFill>
                <a:latin typeface="Arial"/>
                <a:ea typeface="Arial"/>
                <a:cs typeface="Arial"/>
                <a:sym typeface="Arial"/>
              </a:rPr>
              <a:t>3. </a:t>
            </a:r>
            <a:r>
              <a:rPr lang="en-US" sz="2700">
                <a:solidFill>
                  <a:schemeClr val="dk1"/>
                </a:solidFill>
                <a:latin typeface="Arial"/>
                <a:ea typeface="Arial"/>
                <a:cs typeface="Arial"/>
                <a:sym typeface="Arial"/>
              </a:rPr>
              <a:t>Organizational Feasibility</a:t>
            </a:r>
            <a:endParaRPr/>
          </a:p>
          <a:p>
            <a:pPr indent="0" lvl="0" marL="0" marR="0" rtl="0" algn="l">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Organizational feasibility is a dimension of feasibility analysis that assesses whether or not an organization is ready for a new or improved system or process.</a:t>
            </a:r>
            <a:endParaRPr sz="2400">
              <a:solidFill>
                <a:schemeClr val="dk1"/>
              </a:solidFill>
              <a:latin typeface="Arial"/>
              <a:ea typeface="Arial"/>
              <a:cs typeface="Arial"/>
              <a:sym typeface="Arial"/>
            </a:endParaRPr>
          </a:p>
        </p:txBody>
      </p:sp>
      <p:pic>
        <p:nvPicPr>
          <p:cNvPr descr="No alt text provided for this image" id="441" name="Google Shape;441;p36"/>
          <p:cNvPicPr preferRelativeResize="0"/>
          <p:nvPr/>
        </p:nvPicPr>
        <p:blipFill rotWithShape="1">
          <a:blip r:embed="rId4">
            <a:alphaModFix/>
          </a:blip>
          <a:srcRect b="0" l="0" r="0" t="0"/>
          <a:stretch/>
        </p:blipFill>
        <p:spPr>
          <a:xfrm>
            <a:off x="5716412" y="1268760"/>
            <a:ext cx="5950249" cy="17281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7"/>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47" name="Google Shape;447;p37"/>
          <p:cNvSpPr txBox="1"/>
          <p:nvPr>
            <p:ph idx="1" type="body"/>
          </p:nvPr>
        </p:nvSpPr>
        <p:spPr>
          <a:xfrm>
            <a:off x="1635295" y="1268760"/>
            <a:ext cx="10015344" cy="5544616"/>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000"/>
              <a:buChar char="›"/>
            </a:pPr>
            <a:r>
              <a:rPr b="1" lang="en-US" sz="2000"/>
              <a:t>What does organizational feasibility involves?</a:t>
            </a:r>
            <a:r>
              <a:rPr lang="en-US" sz="2000"/>
              <a:t> </a:t>
            </a:r>
            <a:endParaRPr sz="1100"/>
          </a:p>
          <a:p>
            <a:pPr indent="-246888" lvl="1" marL="612648" rtl="0" algn="l">
              <a:lnSpc>
                <a:spcPct val="90000"/>
              </a:lnSpc>
              <a:spcBef>
                <a:spcPts val="600"/>
              </a:spcBef>
              <a:spcAft>
                <a:spcPts val="0"/>
              </a:spcAft>
              <a:buClr>
                <a:schemeClr val="dk1"/>
              </a:buClr>
              <a:buSzPts val="1700"/>
              <a:buFont typeface="Arial"/>
              <a:buChar char="•"/>
            </a:pPr>
            <a:r>
              <a:rPr lang="en-US" sz="1700"/>
              <a:t>It involves considering whether there is support for the change from both top management and users, and identifying any groups that may resist the new system</a:t>
            </a:r>
            <a:endParaRPr/>
          </a:p>
          <a:p>
            <a:pPr indent="-246888" lvl="1" marL="612648" rtl="0" algn="l">
              <a:lnSpc>
                <a:spcPct val="90000"/>
              </a:lnSpc>
              <a:spcBef>
                <a:spcPts val="600"/>
              </a:spcBef>
              <a:spcAft>
                <a:spcPts val="0"/>
              </a:spcAft>
              <a:buClr>
                <a:schemeClr val="dk1"/>
              </a:buClr>
              <a:buSzPts val="1700"/>
              <a:buFont typeface="Arial"/>
              <a:buChar char="•"/>
            </a:pPr>
            <a:r>
              <a:rPr lang="en-US" sz="1700"/>
              <a:t>It involves whether customers are ready to use it by means of knowledge base or financial basis or features wise.</a:t>
            </a:r>
            <a:endParaRPr/>
          </a:p>
          <a:p>
            <a:pPr indent="-138938" lvl="1" marL="612648" rtl="0" algn="l">
              <a:lnSpc>
                <a:spcPct val="90000"/>
              </a:lnSpc>
              <a:spcBef>
                <a:spcPts val="600"/>
              </a:spcBef>
              <a:spcAft>
                <a:spcPts val="0"/>
              </a:spcAft>
              <a:buClr>
                <a:schemeClr val="dk1"/>
              </a:buClr>
              <a:buSzPts val="1700"/>
              <a:buFont typeface="Arial"/>
              <a:buNone/>
            </a:pPr>
            <a:r>
              <a:t/>
            </a:r>
            <a:endParaRPr sz="1700"/>
          </a:p>
          <a:p>
            <a:pPr indent="-246888" lvl="0" marL="246888" rtl="0" algn="l">
              <a:lnSpc>
                <a:spcPct val="90000"/>
              </a:lnSpc>
              <a:spcBef>
                <a:spcPts val="1400"/>
              </a:spcBef>
              <a:spcAft>
                <a:spcPts val="0"/>
              </a:spcAft>
              <a:buClr>
                <a:schemeClr val="dk1"/>
              </a:buClr>
              <a:buSzPts val="2000"/>
              <a:buChar char="›"/>
            </a:pPr>
            <a:r>
              <a:rPr b="1" lang="en-US" sz="2000"/>
              <a:t>Why is it important? </a:t>
            </a:r>
            <a:endParaRPr/>
          </a:p>
          <a:p>
            <a:pPr indent="-246888" lvl="0" marL="246888" rtl="0" algn="l">
              <a:lnSpc>
                <a:spcPct val="90000"/>
              </a:lnSpc>
              <a:spcBef>
                <a:spcPts val="1400"/>
              </a:spcBef>
              <a:spcAft>
                <a:spcPts val="0"/>
              </a:spcAft>
              <a:buClr>
                <a:schemeClr val="dk1"/>
              </a:buClr>
              <a:buSzPts val="1700"/>
              <a:buFont typeface="Arial"/>
              <a:buChar char="•"/>
            </a:pPr>
            <a:r>
              <a:rPr lang="en-US" sz="1700"/>
              <a:t>By considering organizational feasibility and taking steps to address any potential issues, the chances of a successful implementation can be increased</a:t>
            </a:r>
            <a:r>
              <a:rPr lang="en-US" sz="1400"/>
              <a:t>.</a:t>
            </a:r>
            <a:endParaRPr/>
          </a:p>
          <a:p>
            <a:pPr indent="-246888" lvl="0" marL="246888" rtl="0" algn="l">
              <a:lnSpc>
                <a:spcPct val="90000"/>
              </a:lnSpc>
              <a:spcBef>
                <a:spcPts val="1400"/>
              </a:spcBef>
              <a:spcAft>
                <a:spcPts val="0"/>
              </a:spcAft>
              <a:buClr>
                <a:schemeClr val="dk1"/>
              </a:buClr>
              <a:buSzPts val="2000"/>
              <a:buChar char="›"/>
            </a:pPr>
            <a:r>
              <a:rPr b="1" lang="en-US" sz="2000"/>
              <a:t>What to do? </a:t>
            </a:r>
            <a:endParaRPr/>
          </a:p>
          <a:p>
            <a:pPr indent="-246888" lvl="0" marL="246888" rtl="0" algn="l">
              <a:lnSpc>
                <a:spcPct val="90000"/>
              </a:lnSpc>
              <a:spcBef>
                <a:spcPts val="1400"/>
              </a:spcBef>
              <a:spcAft>
                <a:spcPts val="0"/>
              </a:spcAft>
              <a:buClr>
                <a:schemeClr val="dk1"/>
              </a:buClr>
              <a:buSzPts val="1700"/>
              <a:buFont typeface="Arial"/>
              <a:buChar char="•"/>
            </a:pPr>
            <a:r>
              <a:rPr lang="en-US" sz="1700"/>
              <a:t>Gather feedback from users after implementation and be ready to create user guides, teach employees and improve UI/UX design after first usage of the system.</a:t>
            </a:r>
            <a:endParaRPr/>
          </a:p>
          <a:p>
            <a:pPr indent="0" lvl="1" marL="365760" rtl="0" algn="l">
              <a:lnSpc>
                <a:spcPct val="90000"/>
              </a:lnSpc>
              <a:spcBef>
                <a:spcPts val="600"/>
              </a:spcBef>
              <a:spcAft>
                <a:spcPts val="0"/>
              </a:spcAft>
              <a:buClr>
                <a:schemeClr val="dk1"/>
              </a:buClr>
              <a:buSzPts val="1700"/>
              <a:buNone/>
            </a:pPr>
            <a:r>
              <a:t/>
            </a:r>
            <a:endParaRPr sz="17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8"/>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Software Development Life Cycle(SDLC)</a:t>
            </a:r>
            <a:endParaRPr/>
          </a:p>
        </p:txBody>
      </p:sp>
      <p:sp>
        <p:nvSpPr>
          <p:cNvPr id="453" name="Google Shape;453;p38"/>
          <p:cNvSpPr txBox="1"/>
          <p:nvPr>
            <p:ph idx="1" type="body"/>
          </p:nvPr>
        </p:nvSpPr>
        <p:spPr>
          <a:xfrm>
            <a:off x="1629916" y="985588"/>
            <a:ext cx="10015344" cy="561176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lang="en-US" sz="3200"/>
              <a:t>4. </a:t>
            </a:r>
            <a:r>
              <a:rPr lang="en-US" sz="3600">
                <a:extLst>
                  <a:ext uri="http://customooxmlschemas.google.com/">
                    <go:slidesCustomData xmlns:go="http://customooxmlschemas.google.com/" textRoundtripDataId="14"/>
                  </a:ext>
                </a:extLst>
              </a:rPr>
              <a:t>Legal Feasibility</a:t>
            </a:r>
            <a:endParaRPr>
              <a:extLst>
                <a:ext uri="http://customooxmlschemas.google.com/">
                  <go:slidesCustomData xmlns:go="http://customooxmlschemas.google.com/" textRoundtripDataId="15"/>
                </a:ext>
              </a:extLst>
            </a:endParaRPr>
          </a:p>
          <a:p>
            <a:pPr indent="0" lvl="0" marL="0" rtl="0" algn="l">
              <a:lnSpc>
                <a:spcPct val="110000"/>
              </a:lnSpc>
              <a:spcBef>
                <a:spcPts val="1400"/>
              </a:spcBef>
              <a:spcAft>
                <a:spcPts val="0"/>
              </a:spcAft>
              <a:buClr>
                <a:schemeClr val="dk1"/>
              </a:buClr>
              <a:buSzPct val="100000"/>
              <a:buNone/>
            </a:pPr>
            <a:r>
              <a:rPr lang="en-US" sz="2000">
                <a:extLst>
                  <a:ext uri="http://customooxmlschemas.google.com/">
                    <go:slidesCustomData xmlns:go="http://customooxmlschemas.google.com/" textRoundtripDataId="16"/>
                  </a:ext>
                </a:extLst>
              </a:rPr>
              <a:t>Legal feasibility analysis evaluates the legal aspects of the proposal and how it will impact the existing operations. It scrutinizes legal dimensions to assess the viability and challenges associated with implementing the proposed venture.</a:t>
            </a:r>
            <a:endParaRPr>
              <a:extLst>
                <a:ext uri="http://customooxmlschemas.google.com/">
                  <go:slidesCustomData xmlns:go="http://customooxmlschemas.google.com/" textRoundtripDataId="17"/>
                </a:ext>
              </a:extLst>
            </a:endParaRPr>
          </a:p>
          <a:p>
            <a:pPr indent="0" lvl="0" marL="0" rtl="0" algn="l">
              <a:lnSpc>
                <a:spcPct val="90000"/>
              </a:lnSpc>
              <a:spcBef>
                <a:spcPts val="1400"/>
              </a:spcBef>
              <a:spcAft>
                <a:spcPts val="0"/>
              </a:spcAft>
              <a:buClr>
                <a:schemeClr val="dk1"/>
              </a:buClr>
              <a:buSzPct val="100000"/>
              <a:buNone/>
            </a:pPr>
            <a:r>
              <a:rPr b="1" lang="en-US" sz="2600">
                <a:extLst>
                  <a:ext uri="http://customooxmlschemas.google.com/">
                    <go:slidesCustomData xmlns:go="http://customooxmlschemas.google.com/" textRoundtripDataId="18"/>
                  </a:ext>
                </a:extLst>
              </a:rPr>
              <a:t>Some consideration of feasibility analysis are</a:t>
            </a:r>
            <a:r>
              <a:rPr lang="en-US" sz="1400">
                <a:extLst>
                  <a:ext uri="http://customooxmlschemas.google.com/">
                    <go:slidesCustomData xmlns:go="http://customooxmlschemas.google.com/" textRoundtripDataId="19"/>
                  </a:ext>
                </a:extLst>
              </a:rPr>
              <a:t>:</a:t>
            </a:r>
            <a:endParaRPr>
              <a:extLst>
                <a:ext uri="http://customooxmlschemas.google.com/">
                  <go:slidesCustomData xmlns:go="http://customooxmlschemas.google.com/" textRoundtripDataId="20"/>
                </a:ext>
              </a:extLst>
            </a:endParaRPr>
          </a:p>
          <a:p>
            <a:pPr indent="-246919" lvl="0" marL="246888" rtl="0" algn="l">
              <a:lnSpc>
                <a:spcPct val="120000"/>
              </a:lnSpc>
              <a:spcBef>
                <a:spcPts val="1400"/>
              </a:spcBef>
              <a:spcAft>
                <a:spcPts val="0"/>
              </a:spcAft>
              <a:buClr>
                <a:schemeClr val="dk1"/>
              </a:buClr>
              <a:buSzPct val="100000"/>
              <a:buFont typeface="Arial"/>
              <a:buChar char="•"/>
            </a:pPr>
            <a:r>
              <a:rPr b="1" lang="en-US" sz="2100">
                <a:extLst>
                  <a:ext uri="http://customooxmlschemas.google.com/">
                    <go:slidesCustomData xmlns:go="http://customooxmlschemas.google.com/" textRoundtripDataId="21"/>
                  </a:ext>
                </a:extLst>
              </a:rPr>
              <a:t>Regulatory Compliance: </a:t>
            </a:r>
            <a:r>
              <a:rPr lang="en-US" sz="2100">
                <a:extLst>
                  <a:ext uri="http://customooxmlschemas.google.com/">
                    <go:slidesCustomData xmlns:go="http://customooxmlschemas.google.com/" textRoundtripDataId="22"/>
                  </a:ext>
                </a:extLst>
              </a:rPr>
              <a:t>You examine local laws, regulations, and industry standards that are relevant to the proposed endeavor to ensure compliance. This involves understanding licensing requirements, permits, zoning laws, environmental regulations, and other legal obligations that may affect the endeavor or its outcome.</a:t>
            </a:r>
            <a:endParaRPr>
              <a:extLst>
                <a:ext uri="http://customooxmlschemas.google.com/">
                  <go:slidesCustomData xmlns:go="http://customooxmlschemas.google.com/" textRoundtripDataId="23"/>
                </a:ext>
              </a:extLst>
            </a:endParaRPr>
          </a:p>
          <a:p>
            <a:pPr indent="-246919" lvl="0" marL="246888" rtl="0" algn="l">
              <a:lnSpc>
                <a:spcPct val="120000"/>
              </a:lnSpc>
              <a:spcBef>
                <a:spcPts val="1400"/>
              </a:spcBef>
              <a:spcAft>
                <a:spcPts val="0"/>
              </a:spcAft>
              <a:buClr>
                <a:schemeClr val="dk1"/>
              </a:buClr>
              <a:buSzPct val="100000"/>
              <a:buFont typeface="Arial"/>
              <a:buChar char="•"/>
            </a:pPr>
            <a:r>
              <a:rPr b="1" lang="en-US" sz="2100">
                <a:extLst>
                  <a:ext uri="http://customooxmlschemas.google.com/">
                    <go:slidesCustomData xmlns:go="http://customooxmlschemas.google.com/" textRoundtripDataId="24"/>
                  </a:ext>
                </a:extLst>
              </a:rPr>
              <a:t>Contractual Considerations</a:t>
            </a:r>
            <a:r>
              <a:rPr lang="en-US" sz="2100">
                <a:extLst>
                  <a:ext uri="http://customooxmlschemas.google.com/">
                    <go:slidesCustomData xmlns:go="http://customooxmlschemas.google.com/" textRoundtripDataId="25"/>
                  </a:ext>
                </a:extLst>
              </a:rPr>
              <a:t>: You will assess existing </a:t>
            </a:r>
            <a:r>
              <a:rPr lang="en-US" sz="2100" u="sng">
                <a:solidFill>
                  <a:schemeClr val="hlink"/>
                </a:solidFill>
                <a:hlinkClick r:id="rId4"/>
                <a:extLst>
                  <a:ext uri="http://customooxmlschemas.google.com/">
                    <go:slidesCustomData xmlns:go="http://customooxmlschemas.google.com/" textRoundtripDataId="26"/>
                  </a:ext>
                </a:extLst>
              </a:rPr>
              <a:t>contracts</a:t>
            </a:r>
            <a:r>
              <a:rPr lang="en-US" sz="2100">
                <a:extLst>
                  <a:ext uri="http://customooxmlschemas.google.com/">
                    <go:slidesCustomData xmlns:go="http://customooxmlschemas.google.com/" textRoundtripDataId="27"/>
                  </a:ext>
                </a:extLst>
              </a:rPr>
              <a:t>, agreements, and potential contractual relationships to identify any legal constraints or obligations that may affect the proposed venture. This includes scrutinizing lease agreements, supplier contracts, distribution agreements, and any other relevant legal documents.</a:t>
            </a:r>
            <a:endParaRPr>
              <a:extLst>
                <a:ext uri="http://customooxmlschemas.google.com/">
                  <go:slidesCustomData xmlns:go="http://customooxmlschemas.google.com/" textRoundtripDataId="28"/>
                </a:ext>
              </a:extLst>
            </a:endParaRPr>
          </a:p>
          <a:p>
            <a:pPr indent="-246919" lvl="0" marL="246888" rtl="0" algn="l">
              <a:lnSpc>
                <a:spcPct val="120000"/>
              </a:lnSpc>
              <a:spcBef>
                <a:spcPts val="1400"/>
              </a:spcBef>
              <a:spcAft>
                <a:spcPts val="0"/>
              </a:spcAft>
              <a:buClr>
                <a:schemeClr val="dk1"/>
              </a:buClr>
              <a:buSzPct val="100000"/>
              <a:buFont typeface="Arial"/>
              <a:buChar char="•"/>
            </a:pPr>
            <a:r>
              <a:rPr b="1" lang="en-US" sz="2100">
                <a:extLst>
                  <a:ext uri="http://customooxmlschemas.google.com/">
                    <go:slidesCustomData xmlns:go="http://customooxmlschemas.google.com/" textRoundtripDataId="29"/>
                  </a:ext>
                </a:extLst>
              </a:rPr>
              <a:t>Intellectual Property Rights</a:t>
            </a:r>
            <a:r>
              <a:rPr lang="en-US" sz="2100">
                <a:extLst>
                  <a:ext uri="http://customooxmlschemas.google.com/">
                    <go:slidesCustomData xmlns:go="http://customooxmlschemas.google.com/" textRoundtripDataId="30"/>
                  </a:ext>
                </a:extLst>
              </a:rPr>
              <a:t>: You will evaluate intellectual property (IP) considerations (e.g., trademarks, patents, copyrights, and trade secrets) to safeguard proprietary assets and avoid infringement issues.</a:t>
            </a:r>
            <a:endParaRPr>
              <a:extLst>
                <a:ext uri="http://customooxmlschemas.google.com/">
                  <go:slidesCustomData xmlns:go="http://customooxmlschemas.google.com/" textRoundtripDataId="31"/>
                </a:ext>
              </a:extLst>
            </a:endParaRPr>
          </a:p>
          <a:p>
            <a:pPr indent="-246919" lvl="0" marL="246888" rtl="0" algn="l">
              <a:lnSpc>
                <a:spcPct val="120000"/>
              </a:lnSpc>
              <a:spcBef>
                <a:spcPts val="1400"/>
              </a:spcBef>
              <a:spcAft>
                <a:spcPts val="0"/>
              </a:spcAft>
              <a:buClr>
                <a:schemeClr val="dk1"/>
              </a:buClr>
              <a:buSzPct val="100000"/>
              <a:buFont typeface="Arial"/>
              <a:buChar char="•"/>
            </a:pPr>
            <a:r>
              <a:rPr b="1" lang="en-US" sz="2100">
                <a:extLst>
                  <a:ext uri="http://customooxmlschemas.google.com/">
                    <go:slidesCustomData xmlns:go="http://customooxmlschemas.google.com/" textRoundtripDataId="32"/>
                  </a:ext>
                </a:extLst>
              </a:rPr>
              <a:t>Liability and Risk Assessment</a:t>
            </a:r>
            <a:r>
              <a:rPr lang="en-US" sz="2100">
                <a:extLst>
                  <a:ext uri="http://customooxmlschemas.google.com/">
                    <go:slidesCustomData xmlns:go="http://customooxmlschemas.google.com/" textRoundtripDataId="33"/>
                  </a:ext>
                </a:extLst>
              </a:rPr>
              <a:t>: You will identify legal risks and liabilities associated with the proposal (e.g., product liability, tort claims, and contractual disputes).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9"/>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59" name="Google Shape;459;p39"/>
          <p:cNvSpPr txBox="1"/>
          <p:nvPr>
            <p:ph idx="1" type="body"/>
          </p:nvPr>
        </p:nvSpPr>
        <p:spPr>
          <a:xfrm>
            <a:off x="1594613" y="1161256"/>
            <a:ext cx="10116423" cy="5436096"/>
          </a:xfrm>
          <a:prstGeom prst="rect">
            <a:avLst/>
          </a:prstGeom>
          <a:noFill/>
          <a:ln>
            <a:noFill/>
          </a:ln>
        </p:spPr>
        <p:txBody>
          <a:bodyPr anchorCtr="0" anchor="t" bIns="45700" lIns="91425" spcFirstLastPara="1" rIns="91425" wrap="square" tIns="45700">
            <a:normAutofit fontScale="92500" lnSpcReduction="20000"/>
          </a:bodyPr>
          <a:lstStyle/>
          <a:p>
            <a:pPr indent="-246888" lvl="0" marL="246888" rtl="0" algn="l">
              <a:lnSpc>
                <a:spcPct val="120000"/>
              </a:lnSpc>
              <a:spcBef>
                <a:spcPts val="0"/>
              </a:spcBef>
              <a:spcAft>
                <a:spcPts val="0"/>
              </a:spcAft>
              <a:buClr>
                <a:schemeClr val="dk1"/>
              </a:buClr>
              <a:buSzPct val="100000"/>
              <a:buChar char="›"/>
            </a:pPr>
            <a:r>
              <a:rPr b="1" lang="en-US"/>
              <a:t>Stakeholders</a:t>
            </a:r>
            <a:br>
              <a:rPr lang="en-US" sz="5900"/>
            </a:br>
            <a:r>
              <a:rPr lang="en-US" sz="1800"/>
              <a:t>Stakeholder is any person who has an interest in an existing or proposed information system. Stakeholders can be technical or nontechnical workers. They may also include both internal and external workers. </a:t>
            </a:r>
            <a:endParaRPr/>
          </a:p>
          <a:p>
            <a:pPr indent="-246888" lvl="0" marL="883666" rtl="0" algn="l">
              <a:lnSpc>
                <a:spcPct val="90000"/>
              </a:lnSpc>
              <a:spcBef>
                <a:spcPts val="559"/>
              </a:spcBef>
              <a:spcAft>
                <a:spcPts val="0"/>
              </a:spcAft>
              <a:buClr>
                <a:schemeClr val="dk1"/>
              </a:buClr>
              <a:buSzPct val="100000"/>
              <a:buChar char="›"/>
            </a:pPr>
            <a:r>
              <a:rPr lang="en-US" sz="1800"/>
              <a:t>System owners </a:t>
            </a:r>
            <a:endParaRPr/>
          </a:p>
          <a:p>
            <a:pPr indent="-246888" lvl="0" marL="883666" rtl="0" algn="l">
              <a:lnSpc>
                <a:spcPct val="90000"/>
              </a:lnSpc>
              <a:spcBef>
                <a:spcPts val="696"/>
              </a:spcBef>
              <a:spcAft>
                <a:spcPts val="0"/>
              </a:spcAft>
              <a:buClr>
                <a:schemeClr val="dk1"/>
              </a:buClr>
              <a:buSzPct val="100000"/>
              <a:buChar char="›"/>
            </a:pPr>
            <a:r>
              <a:rPr lang="en-US" sz="1800"/>
              <a:t>System users </a:t>
            </a:r>
            <a:endParaRPr/>
          </a:p>
          <a:p>
            <a:pPr indent="-246888" lvl="0" marL="883666" rtl="0" algn="l">
              <a:lnSpc>
                <a:spcPct val="90000"/>
              </a:lnSpc>
              <a:spcBef>
                <a:spcPts val="706"/>
              </a:spcBef>
              <a:spcAft>
                <a:spcPts val="0"/>
              </a:spcAft>
              <a:buClr>
                <a:schemeClr val="dk1"/>
              </a:buClr>
              <a:buSzPct val="100000"/>
              <a:buChar char="›"/>
            </a:pPr>
            <a:r>
              <a:rPr lang="en-US" sz="1800"/>
              <a:t>System designers </a:t>
            </a:r>
            <a:endParaRPr/>
          </a:p>
          <a:p>
            <a:pPr indent="-246888" lvl="0" marL="883666" rtl="0" algn="l">
              <a:lnSpc>
                <a:spcPct val="90000"/>
              </a:lnSpc>
              <a:spcBef>
                <a:spcPts val="706"/>
              </a:spcBef>
              <a:spcAft>
                <a:spcPts val="0"/>
              </a:spcAft>
              <a:buClr>
                <a:schemeClr val="dk1"/>
              </a:buClr>
              <a:buSzPct val="100000"/>
              <a:buChar char="›"/>
            </a:pPr>
            <a:r>
              <a:rPr lang="en-US" sz="1800"/>
              <a:t>System builders(</a:t>
            </a:r>
            <a:r>
              <a:rPr b="1" lang="en-US" sz="1800"/>
              <a:t>Programmers</a:t>
            </a:r>
            <a:r>
              <a:rPr lang="en-US" sz="1800"/>
              <a:t>/Project Managers) </a:t>
            </a:r>
            <a:endParaRPr/>
          </a:p>
          <a:p>
            <a:pPr indent="-246888" lvl="0" marL="883666" rtl="0" algn="l">
              <a:lnSpc>
                <a:spcPct val="90000"/>
              </a:lnSpc>
              <a:spcBef>
                <a:spcPts val="706"/>
              </a:spcBef>
              <a:spcAft>
                <a:spcPts val="0"/>
              </a:spcAft>
              <a:buClr>
                <a:schemeClr val="dk1"/>
              </a:buClr>
              <a:buSzPct val="100000"/>
              <a:buChar char="›"/>
            </a:pPr>
            <a:r>
              <a:rPr b="1" lang="en-US" sz="1800"/>
              <a:t>Systems analysts</a:t>
            </a:r>
            <a:endParaRPr/>
          </a:p>
          <a:p>
            <a:pPr indent="-306388" lvl="0" marL="358776" rtl="0" algn="l">
              <a:lnSpc>
                <a:spcPct val="90000"/>
              </a:lnSpc>
              <a:spcBef>
                <a:spcPts val="1906"/>
              </a:spcBef>
              <a:spcAft>
                <a:spcPts val="0"/>
              </a:spcAft>
              <a:buClr>
                <a:schemeClr val="dk1"/>
              </a:buClr>
              <a:buSzPct val="100000"/>
              <a:buChar char="›"/>
            </a:pPr>
            <a:r>
              <a:rPr b="1" lang="en-US"/>
              <a:t>System Owner</a:t>
            </a:r>
            <a:endParaRPr/>
          </a:p>
          <a:p>
            <a:pPr indent="0" lvl="0" marL="349035" marR="92901" rtl="0" algn="l">
              <a:lnSpc>
                <a:spcPct val="90000"/>
              </a:lnSpc>
              <a:spcBef>
                <a:spcPts val="1200"/>
              </a:spcBef>
              <a:spcAft>
                <a:spcPts val="0"/>
              </a:spcAft>
              <a:buClr>
                <a:schemeClr val="dk1"/>
              </a:buClr>
              <a:buSzPct val="100000"/>
              <a:buNone/>
            </a:pPr>
            <a:r>
              <a:rPr lang="en-US" sz="1800"/>
              <a:t>An information system’s sponsor and executive  advocate, usually responsible for funding the project of developing,  operating, and maintaining the information system. </a:t>
            </a:r>
            <a:endParaRPr/>
          </a:p>
          <a:p>
            <a:pPr indent="-254000" lvl="0" marL="804863" rtl="0" algn="l">
              <a:lnSpc>
                <a:spcPct val="90000"/>
              </a:lnSpc>
              <a:spcBef>
                <a:spcPts val="588"/>
              </a:spcBef>
              <a:spcAft>
                <a:spcPts val="0"/>
              </a:spcAft>
              <a:buClr>
                <a:schemeClr val="dk1"/>
              </a:buClr>
              <a:buSzPct val="100000"/>
              <a:buChar char="›"/>
            </a:pPr>
            <a:r>
              <a:rPr lang="en-US" sz="1800"/>
              <a:t>They usually come from the ranks of management. </a:t>
            </a:r>
            <a:endParaRPr/>
          </a:p>
          <a:p>
            <a:pPr indent="-254000" lvl="0" marL="804863" rtl="0" algn="l">
              <a:lnSpc>
                <a:spcPct val="90000"/>
              </a:lnSpc>
              <a:spcBef>
                <a:spcPts val="526"/>
              </a:spcBef>
              <a:spcAft>
                <a:spcPts val="0"/>
              </a:spcAft>
              <a:buClr>
                <a:schemeClr val="dk1"/>
              </a:buClr>
              <a:buSzPct val="100000"/>
              <a:buChar char="›"/>
            </a:pPr>
            <a:r>
              <a:rPr lang="en-US" sz="1800"/>
              <a:t> medium (large) IS: middle (executive) managers  </a:t>
            </a:r>
            <a:endParaRPr/>
          </a:p>
          <a:p>
            <a:pPr indent="-254000" lvl="0" marL="804863" rtl="0" algn="l">
              <a:lnSpc>
                <a:spcPct val="90000"/>
              </a:lnSpc>
              <a:spcBef>
                <a:spcPts val="519"/>
              </a:spcBef>
              <a:spcAft>
                <a:spcPts val="0"/>
              </a:spcAft>
              <a:buClr>
                <a:schemeClr val="dk1"/>
              </a:buClr>
              <a:buSzPct val="100000"/>
              <a:buChar char="›"/>
            </a:pPr>
            <a:r>
              <a:rPr lang="en-US" sz="1800"/>
              <a:t>smaller IS: middle or supervisory </a:t>
            </a:r>
            <a:endParaRPr/>
          </a:p>
          <a:p>
            <a:pPr indent="0" lvl="0" marL="271462" rtl="0" algn="l">
              <a:lnSpc>
                <a:spcPct val="90000"/>
              </a:lnSpc>
              <a:spcBef>
                <a:spcPts val="669"/>
              </a:spcBef>
              <a:spcAft>
                <a:spcPts val="0"/>
              </a:spcAft>
              <a:buClr>
                <a:schemeClr val="dk1"/>
              </a:buClr>
              <a:buSzPct val="100000"/>
              <a:buNone/>
            </a:pPr>
            <a:r>
              <a:rPr b="1" lang="en-US" sz="1800"/>
              <a:t>Primary Concerns </a:t>
            </a:r>
            <a:endParaRPr/>
          </a:p>
          <a:p>
            <a:pPr indent="-105727" lvl="0" marL="358775" rtl="0" algn="l">
              <a:lnSpc>
                <a:spcPct val="90000"/>
              </a:lnSpc>
              <a:spcBef>
                <a:spcPts val="689"/>
              </a:spcBef>
              <a:spcAft>
                <a:spcPts val="0"/>
              </a:spcAft>
              <a:buClr>
                <a:schemeClr val="dk1"/>
              </a:buClr>
              <a:buSzPct val="100000"/>
              <a:buChar char="›"/>
            </a:pPr>
            <a:r>
              <a:rPr lang="en-US" sz="1800"/>
              <a:t> How much will the systems cost? </a:t>
            </a:r>
            <a:endParaRPr/>
          </a:p>
          <a:p>
            <a:pPr indent="-105727" lvl="0" marL="358775" marR="601358" rtl="0" algn="l">
              <a:lnSpc>
                <a:spcPct val="90000"/>
              </a:lnSpc>
              <a:spcBef>
                <a:spcPts val="689"/>
              </a:spcBef>
              <a:spcAft>
                <a:spcPts val="0"/>
              </a:spcAft>
              <a:buClr>
                <a:schemeClr val="dk1"/>
              </a:buClr>
              <a:buSzPct val="100000"/>
              <a:buChar char="›"/>
            </a:pPr>
            <a:r>
              <a:rPr lang="en-US" sz="1800"/>
              <a:t> How much value or what benefits will the system return to the business?</a:t>
            </a:r>
            <a:endParaRPr/>
          </a:p>
          <a:p>
            <a:pPr indent="0" lvl="0" marL="52388" rtl="0" algn="l">
              <a:lnSpc>
                <a:spcPct val="90000"/>
              </a:lnSpc>
              <a:spcBef>
                <a:spcPts val="706"/>
              </a:spcBef>
              <a:spcAft>
                <a:spcPts val="0"/>
              </a:spcAft>
              <a:buClr>
                <a:schemeClr val="dk1"/>
              </a:buClr>
              <a:buSzPct val="100000"/>
              <a:buNone/>
            </a:pPr>
            <a:r>
              <a:t/>
            </a:r>
            <a:endParaRPr b="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0"/>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65" name="Google Shape;465;p40"/>
          <p:cNvSpPr txBox="1"/>
          <p:nvPr>
            <p:ph idx="1" type="body"/>
          </p:nvPr>
        </p:nvSpPr>
        <p:spPr>
          <a:xfrm>
            <a:off x="1594613" y="1161256"/>
            <a:ext cx="10116423" cy="5436096"/>
          </a:xfrm>
          <a:prstGeom prst="rect">
            <a:avLst/>
          </a:prstGeom>
          <a:noFill/>
          <a:ln>
            <a:noFill/>
          </a:ln>
        </p:spPr>
        <p:txBody>
          <a:bodyPr anchorCtr="0" anchor="t" bIns="45700" lIns="91425" spcFirstLastPara="1" rIns="91425" wrap="square" tIns="45700">
            <a:normAutofit/>
          </a:bodyPr>
          <a:lstStyle/>
          <a:p>
            <a:pPr indent="-306388" lvl="0" marL="358776" rtl="0" algn="l">
              <a:lnSpc>
                <a:spcPct val="90000"/>
              </a:lnSpc>
              <a:spcBef>
                <a:spcPts val="0"/>
              </a:spcBef>
              <a:spcAft>
                <a:spcPts val="0"/>
              </a:spcAft>
              <a:buClr>
                <a:schemeClr val="dk1"/>
              </a:buClr>
              <a:buSzPts val="2800"/>
              <a:buChar char="›"/>
            </a:pPr>
            <a:r>
              <a:rPr b="1" lang="en-US"/>
              <a:t>System Users(End Users)</a:t>
            </a:r>
            <a:endParaRPr/>
          </a:p>
          <a:p>
            <a:pPr indent="0" lvl="0" marL="238975" marR="285344" rtl="0" algn="l">
              <a:lnSpc>
                <a:spcPct val="100000"/>
              </a:lnSpc>
              <a:spcBef>
                <a:spcPts val="599"/>
              </a:spcBef>
              <a:spcAft>
                <a:spcPts val="0"/>
              </a:spcAft>
              <a:buClr>
                <a:schemeClr val="dk1"/>
              </a:buClr>
              <a:buSzPts val="1800"/>
              <a:buNone/>
            </a:pPr>
            <a:r>
              <a:rPr lang="en-US" sz="1800"/>
              <a:t>A “System User” who will use or is affected by an IS on a regular basis capturing, validating, entering, responding to, storing, and exchanging data  and information  </a:t>
            </a:r>
            <a:endParaRPr/>
          </a:p>
          <a:p>
            <a:pPr indent="-246887" lvl="0" marL="883717" marR="1370178" rtl="0" algn="l">
              <a:lnSpc>
                <a:spcPct val="100000"/>
              </a:lnSpc>
              <a:spcBef>
                <a:spcPts val="368"/>
              </a:spcBef>
              <a:spcAft>
                <a:spcPts val="0"/>
              </a:spcAft>
              <a:buClr>
                <a:schemeClr val="dk1"/>
              </a:buClr>
              <a:buSzPts val="1800"/>
              <a:buChar char="›"/>
            </a:pPr>
            <a:r>
              <a:rPr lang="en-US" sz="1800"/>
              <a:t>Make up the vast majority of the information workers in any IS – Primary concern: get the job done using an IS! </a:t>
            </a:r>
            <a:endParaRPr/>
          </a:p>
          <a:p>
            <a:pPr indent="-246887" lvl="0" marL="883729" rtl="0" algn="l">
              <a:lnSpc>
                <a:spcPct val="100000"/>
              </a:lnSpc>
              <a:spcBef>
                <a:spcPts val="162"/>
              </a:spcBef>
              <a:spcAft>
                <a:spcPts val="0"/>
              </a:spcAft>
              <a:buClr>
                <a:schemeClr val="dk1"/>
              </a:buClr>
              <a:buSzPts val="1800"/>
              <a:buChar char="›"/>
            </a:pPr>
            <a:r>
              <a:rPr lang="en-US" sz="1800"/>
              <a:t>Internal users </a:t>
            </a:r>
            <a:endParaRPr/>
          </a:p>
          <a:p>
            <a:pPr indent="0" lvl="0" marL="1072857" marR="362839" rtl="0" algn="l">
              <a:lnSpc>
                <a:spcPct val="100000"/>
              </a:lnSpc>
              <a:spcBef>
                <a:spcPts val="526"/>
              </a:spcBef>
              <a:spcAft>
                <a:spcPts val="0"/>
              </a:spcAft>
              <a:buClr>
                <a:schemeClr val="dk1"/>
              </a:buClr>
              <a:buSzPts val="1800"/>
              <a:buNone/>
            </a:pPr>
            <a:r>
              <a:rPr lang="en-US" sz="1800"/>
              <a:t>Clerical and service workers, technical and professional staff, supervisors,  middle managers, and executive managers  </a:t>
            </a:r>
            <a:endParaRPr/>
          </a:p>
          <a:p>
            <a:pPr indent="-246887" lvl="0" marL="883729" rtl="0" algn="l">
              <a:lnSpc>
                <a:spcPct val="100000"/>
              </a:lnSpc>
              <a:spcBef>
                <a:spcPts val="572"/>
              </a:spcBef>
              <a:spcAft>
                <a:spcPts val="0"/>
              </a:spcAft>
              <a:buClr>
                <a:schemeClr val="dk1"/>
              </a:buClr>
              <a:buSzPts val="1800"/>
              <a:buChar char="›"/>
            </a:pPr>
            <a:r>
              <a:rPr lang="en-US" sz="1800"/>
              <a:t>External users </a:t>
            </a:r>
            <a:endParaRPr/>
          </a:p>
          <a:p>
            <a:pPr indent="0" lvl="0" marL="1116863" rtl="0" algn="l">
              <a:lnSpc>
                <a:spcPct val="100000"/>
              </a:lnSpc>
              <a:spcBef>
                <a:spcPts val="526"/>
              </a:spcBef>
              <a:spcAft>
                <a:spcPts val="0"/>
              </a:spcAft>
              <a:buClr>
                <a:schemeClr val="dk1"/>
              </a:buClr>
              <a:buSzPts val="1800"/>
              <a:buNone/>
            </a:pPr>
            <a:r>
              <a:rPr lang="en-US" sz="1800"/>
              <a:t>Internet consumers, suppliers, partner</a:t>
            </a:r>
            <a:endParaRPr b="1" sz="1800"/>
          </a:p>
          <a:p>
            <a:pPr indent="-306388" lvl="0" marL="358776" rtl="0" algn="l">
              <a:lnSpc>
                <a:spcPct val="90000"/>
              </a:lnSpc>
              <a:spcBef>
                <a:spcPts val="1906"/>
              </a:spcBef>
              <a:spcAft>
                <a:spcPts val="0"/>
              </a:spcAft>
              <a:buClr>
                <a:schemeClr val="dk1"/>
              </a:buClr>
              <a:buSzPts val="2800"/>
              <a:buChar char="›"/>
            </a:pPr>
            <a:r>
              <a:rPr b="1" lang="en-US"/>
              <a:t>System Designers</a:t>
            </a:r>
            <a:endParaRPr/>
          </a:p>
          <a:p>
            <a:pPr indent="-306388" lvl="0" marL="358775" rtl="0" algn="l">
              <a:lnSpc>
                <a:spcPct val="90000"/>
              </a:lnSpc>
              <a:spcBef>
                <a:spcPts val="706"/>
              </a:spcBef>
              <a:spcAft>
                <a:spcPts val="0"/>
              </a:spcAft>
              <a:buClr>
                <a:schemeClr val="dk1"/>
              </a:buClr>
              <a:buSzPts val="1800"/>
              <a:buNone/>
            </a:pPr>
            <a:r>
              <a:rPr b="1" lang="en-US" sz="1800"/>
              <a:t>	A </a:t>
            </a:r>
            <a:r>
              <a:rPr lang="en-US" sz="1800"/>
              <a:t>technical specialist who translates system users’ business requirements and constraints into technical solution. DBA, Solution architects, web designer, security expert. </a:t>
            </a:r>
            <a:endParaRPr/>
          </a:p>
          <a:p>
            <a:pPr indent="-192087" lvl="0" marL="358776" rtl="0" algn="l">
              <a:lnSpc>
                <a:spcPct val="90000"/>
              </a:lnSpc>
              <a:spcBef>
                <a:spcPts val="1906"/>
              </a:spcBef>
              <a:spcAft>
                <a:spcPts val="0"/>
              </a:spcAft>
              <a:buClr>
                <a:schemeClr val="dk1"/>
              </a:buClr>
              <a:buSzPts val="1800"/>
              <a:buNone/>
            </a:pPr>
            <a:r>
              <a:t/>
            </a:r>
            <a:endParaRPr sz="1800"/>
          </a:p>
          <a:p>
            <a:pPr indent="-128587" lvl="0" marL="358776" rtl="0" algn="l">
              <a:lnSpc>
                <a:spcPct val="90000"/>
              </a:lnSpc>
              <a:spcBef>
                <a:spcPts val="1906"/>
              </a:spcBef>
              <a:spcAft>
                <a:spcPts val="0"/>
              </a:spcAft>
              <a:buClr>
                <a:schemeClr val="dk1"/>
              </a:buClr>
              <a:buSzPts val="2800"/>
              <a:buNone/>
            </a:pPr>
            <a:r>
              <a:t/>
            </a:r>
            <a:endParaRPr b="1"/>
          </a:p>
          <a:p>
            <a:pPr indent="0" lvl="0" marL="1116863" rtl="0" algn="l">
              <a:lnSpc>
                <a:spcPct val="100000"/>
              </a:lnSpc>
              <a:spcBef>
                <a:spcPts val="526"/>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1"/>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71" name="Google Shape;471;p41"/>
          <p:cNvSpPr txBox="1"/>
          <p:nvPr>
            <p:ph idx="1" type="body"/>
          </p:nvPr>
        </p:nvSpPr>
        <p:spPr>
          <a:xfrm>
            <a:off x="1594613" y="1161256"/>
            <a:ext cx="10116423" cy="5436096"/>
          </a:xfrm>
          <a:prstGeom prst="rect">
            <a:avLst/>
          </a:prstGeom>
          <a:noFill/>
          <a:ln>
            <a:noFill/>
          </a:ln>
        </p:spPr>
        <p:txBody>
          <a:bodyPr anchorCtr="0" anchor="t" bIns="45700" lIns="91425" spcFirstLastPara="1" rIns="91425" wrap="square" tIns="45700">
            <a:normAutofit fontScale="92500" lnSpcReduction="10000"/>
          </a:bodyPr>
          <a:lstStyle/>
          <a:p>
            <a:pPr indent="-306388" lvl="0" marL="358776" rtl="0" algn="l">
              <a:lnSpc>
                <a:spcPct val="90000"/>
              </a:lnSpc>
              <a:spcBef>
                <a:spcPts val="0"/>
              </a:spcBef>
              <a:spcAft>
                <a:spcPts val="0"/>
              </a:spcAft>
              <a:buClr>
                <a:schemeClr val="dk1"/>
              </a:buClr>
              <a:buSzPct val="100000"/>
              <a:buChar char="›"/>
            </a:pPr>
            <a:r>
              <a:rPr b="1" lang="en-US"/>
              <a:t>System Builders(Programmers)</a:t>
            </a:r>
            <a:endParaRPr/>
          </a:p>
          <a:p>
            <a:pPr indent="0" lvl="0" marL="238975" marR="285344" rtl="0" algn="l">
              <a:lnSpc>
                <a:spcPct val="120000"/>
              </a:lnSpc>
              <a:spcBef>
                <a:spcPts val="599"/>
              </a:spcBef>
              <a:spcAft>
                <a:spcPts val="0"/>
              </a:spcAft>
              <a:buClr>
                <a:schemeClr val="dk1"/>
              </a:buClr>
              <a:buSzPct val="100000"/>
              <a:buNone/>
            </a:pPr>
            <a:r>
              <a:rPr lang="en-US" sz="1800"/>
              <a:t>A technical specialist who constructs information systems and components based on the design specifications generated by the system designers.</a:t>
            </a:r>
            <a:r>
              <a:rPr lang="en-US" sz="1600"/>
              <a:t> </a:t>
            </a:r>
            <a:endParaRPr/>
          </a:p>
          <a:p>
            <a:pPr indent="0" lvl="0" marL="238975" marR="285344" rtl="0" algn="l">
              <a:lnSpc>
                <a:spcPct val="120000"/>
              </a:lnSpc>
              <a:spcBef>
                <a:spcPts val="599"/>
              </a:spcBef>
              <a:spcAft>
                <a:spcPts val="0"/>
              </a:spcAft>
              <a:buClr>
                <a:schemeClr val="dk1"/>
              </a:buClr>
              <a:buSzPct val="100000"/>
              <a:buNone/>
            </a:pPr>
            <a:r>
              <a:rPr lang="en-US" sz="1800"/>
              <a:t>Programmer is an IT professionals who use programming languages to create computer software, websites, and apps. Programmers are also known as software developers, or software engineers or coders. Coders use code to communicate with computers and tell them how to perform tasks. They write code to translate designs and concepts into functional programs. </a:t>
            </a:r>
            <a:endParaRPr/>
          </a:p>
          <a:p>
            <a:pPr indent="0" lvl="0" marL="446088" rtl="0" algn="l">
              <a:lnSpc>
                <a:spcPct val="90000"/>
              </a:lnSpc>
              <a:spcBef>
                <a:spcPts val="1400"/>
              </a:spcBef>
              <a:spcAft>
                <a:spcPts val="0"/>
              </a:spcAft>
              <a:buClr>
                <a:schemeClr val="dk1"/>
              </a:buClr>
              <a:buSzPct val="100000"/>
              <a:buNone/>
            </a:pPr>
            <a:r>
              <a:rPr b="1" lang="en-US" sz="2400"/>
              <a:t>Programmers' responsibilities include</a:t>
            </a:r>
            <a:r>
              <a:rPr lang="en-US" sz="2400"/>
              <a:t>: </a:t>
            </a:r>
            <a:endParaRPr/>
          </a:p>
          <a:p>
            <a:pPr indent="-105727" lvl="0" marL="446088" rtl="0" algn="l">
              <a:lnSpc>
                <a:spcPct val="90000"/>
              </a:lnSpc>
              <a:spcBef>
                <a:spcPts val="1400"/>
              </a:spcBef>
              <a:spcAft>
                <a:spcPts val="0"/>
              </a:spcAft>
              <a:buClr>
                <a:schemeClr val="dk1"/>
              </a:buClr>
              <a:buSzPct val="100000"/>
              <a:buChar char="›"/>
            </a:pPr>
            <a:r>
              <a:rPr lang="en-US" sz="1800"/>
              <a:t>Writing programs in various computer languages to convert requirements into functional units.</a:t>
            </a:r>
            <a:endParaRPr/>
          </a:p>
          <a:p>
            <a:pPr indent="-105727" lvl="0" marL="446088" rtl="0" algn="l">
              <a:lnSpc>
                <a:spcPct val="90000"/>
              </a:lnSpc>
              <a:spcBef>
                <a:spcPts val="1400"/>
              </a:spcBef>
              <a:spcAft>
                <a:spcPts val="0"/>
              </a:spcAft>
              <a:buClr>
                <a:schemeClr val="dk1"/>
              </a:buClr>
              <a:buSzPct val="100000"/>
              <a:buChar char="›"/>
            </a:pPr>
            <a:r>
              <a:rPr lang="en-US" sz="1800"/>
              <a:t>Collaborating with customers, management, and departments to identify end-user requirements and specifications</a:t>
            </a:r>
            <a:endParaRPr/>
          </a:p>
          <a:p>
            <a:pPr indent="-105727" lvl="0" marL="446088" rtl="0" algn="l">
              <a:lnSpc>
                <a:spcPct val="90000"/>
              </a:lnSpc>
              <a:spcBef>
                <a:spcPts val="1400"/>
              </a:spcBef>
              <a:spcAft>
                <a:spcPts val="0"/>
              </a:spcAft>
              <a:buClr>
                <a:schemeClr val="dk1"/>
              </a:buClr>
              <a:buSzPct val="100000"/>
              <a:buChar char="›"/>
            </a:pPr>
            <a:r>
              <a:rPr lang="en-US" sz="1800"/>
              <a:t>Designing software architecture, Testing systems, Managing databases, Debugging code </a:t>
            </a:r>
            <a:endParaRPr/>
          </a:p>
          <a:p>
            <a:pPr indent="0" lvl="0" marL="182563" rtl="0" algn="l">
              <a:lnSpc>
                <a:spcPct val="90000"/>
              </a:lnSpc>
              <a:spcBef>
                <a:spcPts val="1400"/>
              </a:spcBef>
              <a:spcAft>
                <a:spcPts val="0"/>
              </a:spcAft>
              <a:buClr>
                <a:schemeClr val="dk1"/>
              </a:buClr>
              <a:buSzPct val="100000"/>
              <a:buNone/>
            </a:pPr>
            <a:r>
              <a:rPr lang="en-US" sz="1800"/>
              <a:t>Note: Coders often work in teams under time constraints, so they need to develop soft skills such as: Problem solving, Written and verbal communication, Time management, Teamwork, and Creativity.</a:t>
            </a:r>
            <a:endParaRPr/>
          </a:p>
          <a:p>
            <a:pPr indent="-306388" lvl="0" marL="358775" rtl="0" algn="l">
              <a:lnSpc>
                <a:spcPct val="90000"/>
              </a:lnSpc>
              <a:spcBef>
                <a:spcPts val="706"/>
              </a:spcBef>
              <a:spcAft>
                <a:spcPts val="0"/>
              </a:spcAft>
              <a:buClr>
                <a:schemeClr val="dk1"/>
              </a:buClr>
              <a:buSzPct val="100000"/>
              <a:buNone/>
            </a:pPr>
            <a:r>
              <a:t/>
            </a:r>
            <a:endParaRPr sz="1600"/>
          </a:p>
          <a:p>
            <a:pPr indent="-306388" lvl="0" marL="358775" rtl="0" algn="l">
              <a:lnSpc>
                <a:spcPct val="90000"/>
              </a:lnSpc>
              <a:spcBef>
                <a:spcPts val="706"/>
              </a:spcBef>
              <a:spcAft>
                <a:spcPts val="0"/>
              </a:spcAft>
              <a:buClr>
                <a:schemeClr val="dk1"/>
              </a:buClr>
              <a:buSzPct val="100000"/>
              <a:buNone/>
            </a:pPr>
            <a:r>
              <a:rPr lang="en-US" sz="1600"/>
              <a:t> </a:t>
            </a:r>
            <a:endParaRPr/>
          </a:p>
          <a:p>
            <a:pPr indent="-200660" lvl="0" marL="358776" rtl="0" algn="l">
              <a:lnSpc>
                <a:spcPct val="90000"/>
              </a:lnSpc>
              <a:spcBef>
                <a:spcPts val="1906"/>
              </a:spcBef>
              <a:spcAft>
                <a:spcPts val="0"/>
              </a:spcAft>
              <a:buClr>
                <a:schemeClr val="dk1"/>
              </a:buClr>
              <a:buSzPct val="100000"/>
              <a:buNone/>
            </a:pPr>
            <a:r>
              <a:t/>
            </a:r>
            <a:endParaRPr sz="1800"/>
          </a:p>
          <a:p>
            <a:pPr indent="-141923" lvl="0" marL="358776" rtl="0" algn="l">
              <a:lnSpc>
                <a:spcPct val="90000"/>
              </a:lnSpc>
              <a:spcBef>
                <a:spcPts val="1906"/>
              </a:spcBef>
              <a:spcAft>
                <a:spcPts val="0"/>
              </a:spcAft>
              <a:buClr>
                <a:schemeClr val="dk1"/>
              </a:buClr>
              <a:buSzPct val="100000"/>
              <a:buNone/>
            </a:pPr>
            <a:r>
              <a:t/>
            </a:r>
            <a:endParaRPr b="1"/>
          </a:p>
          <a:p>
            <a:pPr indent="0" lvl="0" marL="1116863" rtl="0" algn="l">
              <a:lnSpc>
                <a:spcPct val="100000"/>
              </a:lnSpc>
              <a:spcBef>
                <a:spcPts val="526"/>
              </a:spcBef>
              <a:spcAft>
                <a:spcPts val="0"/>
              </a:spcAft>
              <a:buClr>
                <a:schemeClr val="dk1"/>
              </a:buClr>
              <a:buSzPct val="1000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2"/>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77" name="Google Shape;477;p42"/>
          <p:cNvSpPr txBox="1"/>
          <p:nvPr>
            <p:ph idx="1" type="body"/>
          </p:nvPr>
        </p:nvSpPr>
        <p:spPr>
          <a:xfrm>
            <a:off x="1594613" y="1161256"/>
            <a:ext cx="10116423" cy="5436096"/>
          </a:xfrm>
          <a:prstGeom prst="rect">
            <a:avLst/>
          </a:prstGeom>
          <a:noFill/>
          <a:ln>
            <a:noFill/>
          </a:ln>
        </p:spPr>
        <p:txBody>
          <a:bodyPr anchorCtr="0" anchor="t" bIns="45700" lIns="91425" spcFirstLastPara="1" rIns="91425" wrap="square" tIns="45700">
            <a:normAutofit/>
          </a:bodyPr>
          <a:lstStyle/>
          <a:p>
            <a:pPr indent="-306388" lvl="0" marL="358776" rtl="0" algn="l">
              <a:lnSpc>
                <a:spcPct val="90000"/>
              </a:lnSpc>
              <a:spcBef>
                <a:spcPts val="0"/>
              </a:spcBef>
              <a:spcAft>
                <a:spcPts val="0"/>
              </a:spcAft>
              <a:buClr>
                <a:schemeClr val="dk1"/>
              </a:buClr>
              <a:buSzPts val="2800"/>
              <a:buChar char="›"/>
            </a:pPr>
            <a:r>
              <a:rPr b="1" lang="en-US"/>
              <a:t>System Builders Roles</a:t>
            </a:r>
            <a:endParaRPr/>
          </a:p>
          <a:p>
            <a:pPr indent="-306388" lvl="0" marL="752476" rtl="0" algn="l">
              <a:lnSpc>
                <a:spcPct val="90000"/>
              </a:lnSpc>
              <a:spcBef>
                <a:spcPts val="600"/>
              </a:spcBef>
              <a:spcAft>
                <a:spcPts val="0"/>
              </a:spcAft>
              <a:buClr>
                <a:schemeClr val="dk1"/>
              </a:buClr>
              <a:buSzPts val="1600"/>
              <a:buChar char="›"/>
            </a:pPr>
            <a:r>
              <a:rPr b="1" lang="en-US" sz="1600"/>
              <a:t>Backend Developer</a:t>
            </a:r>
            <a:endParaRPr/>
          </a:p>
          <a:p>
            <a:pPr indent="-306388" lvl="0" marL="752476" rtl="0" algn="l">
              <a:lnSpc>
                <a:spcPct val="90000"/>
              </a:lnSpc>
              <a:spcBef>
                <a:spcPts val="600"/>
              </a:spcBef>
              <a:spcAft>
                <a:spcPts val="0"/>
              </a:spcAft>
              <a:buClr>
                <a:schemeClr val="dk1"/>
              </a:buClr>
              <a:buSzPts val="1600"/>
              <a:buChar char="›"/>
            </a:pPr>
            <a:r>
              <a:rPr b="1" lang="en-US" sz="1600"/>
              <a:t>Frontend Developer(Mobile and Web)</a:t>
            </a:r>
            <a:endParaRPr/>
          </a:p>
          <a:p>
            <a:pPr indent="-306388" lvl="0" marL="752476" rtl="0" algn="l">
              <a:lnSpc>
                <a:spcPct val="90000"/>
              </a:lnSpc>
              <a:spcBef>
                <a:spcPts val="600"/>
              </a:spcBef>
              <a:spcAft>
                <a:spcPts val="0"/>
              </a:spcAft>
              <a:buClr>
                <a:schemeClr val="dk1"/>
              </a:buClr>
              <a:buSzPts val="1600"/>
              <a:buChar char="›"/>
            </a:pPr>
            <a:r>
              <a:rPr b="1" lang="en-US" sz="1600"/>
              <a:t>Web Designer</a:t>
            </a:r>
            <a:endParaRPr/>
          </a:p>
          <a:p>
            <a:pPr indent="-306388" lvl="0" marL="752476" rtl="0" algn="l">
              <a:lnSpc>
                <a:spcPct val="90000"/>
              </a:lnSpc>
              <a:spcBef>
                <a:spcPts val="600"/>
              </a:spcBef>
              <a:spcAft>
                <a:spcPts val="0"/>
              </a:spcAft>
              <a:buClr>
                <a:schemeClr val="dk1"/>
              </a:buClr>
              <a:buSzPts val="1600"/>
              <a:buChar char="›"/>
            </a:pPr>
            <a:r>
              <a:rPr b="1" lang="en-US" sz="1600"/>
              <a:t>QA</a:t>
            </a:r>
            <a:endParaRPr/>
          </a:p>
          <a:p>
            <a:pPr indent="-306388" lvl="0" marL="752476" rtl="0" algn="l">
              <a:lnSpc>
                <a:spcPct val="90000"/>
              </a:lnSpc>
              <a:spcBef>
                <a:spcPts val="600"/>
              </a:spcBef>
              <a:spcAft>
                <a:spcPts val="0"/>
              </a:spcAft>
              <a:buClr>
                <a:schemeClr val="dk1"/>
              </a:buClr>
              <a:buSzPts val="1600"/>
              <a:buChar char="›"/>
            </a:pPr>
            <a:r>
              <a:rPr b="1" lang="en-US" sz="1600"/>
              <a:t>Team lead(Mostly Backend Developer)</a:t>
            </a:r>
            <a:endParaRPr/>
          </a:p>
          <a:p>
            <a:pPr indent="-306388" lvl="0" marL="752476" rtl="0" algn="l">
              <a:lnSpc>
                <a:spcPct val="90000"/>
              </a:lnSpc>
              <a:spcBef>
                <a:spcPts val="600"/>
              </a:spcBef>
              <a:spcAft>
                <a:spcPts val="0"/>
              </a:spcAft>
              <a:buClr>
                <a:schemeClr val="dk1"/>
              </a:buClr>
              <a:buSzPts val="1600"/>
              <a:buChar char="›"/>
            </a:pPr>
            <a:r>
              <a:rPr b="1" lang="en-US" sz="1600"/>
              <a:t>Product Owner(Who knows product in best way most of the time non technical)</a:t>
            </a:r>
            <a:endParaRPr/>
          </a:p>
          <a:p>
            <a:pPr indent="-315913" lvl="0" marL="762000" rtl="0" algn="l">
              <a:lnSpc>
                <a:spcPct val="90000"/>
              </a:lnSpc>
              <a:spcBef>
                <a:spcPts val="600"/>
              </a:spcBef>
              <a:spcAft>
                <a:spcPts val="0"/>
              </a:spcAft>
              <a:buClr>
                <a:schemeClr val="dk1"/>
              </a:buClr>
              <a:buSzPts val="1600"/>
              <a:buChar char="›"/>
            </a:pPr>
            <a:r>
              <a:rPr b="1" lang="en-US" sz="1600"/>
              <a:t>Scrum Master (Who facilitate meetings and protect team members from external factors that reduces productivity)</a:t>
            </a:r>
            <a:endParaRPr/>
          </a:p>
          <a:p>
            <a:pPr indent="-306388" lvl="0" marL="752476" rtl="0" algn="l">
              <a:lnSpc>
                <a:spcPct val="90000"/>
              </a:lnSpc>
              <a:spcBef>
                <a:spcPts val="600"/>
              </a:spcBef>
              <a:spcAft>
                <a:spcPts val="0"/>
              </a:spcAft>
              <a:buClr>
                <a:schemeClr val="dk1"/>
              </a:buClr>
              <a:buSzPts val="1600"/>
              <a:buChar char="›"/>
            </a:pPr>
            <a:r>
              <a:rPr b="1" lang="en-US" sz="1600"/>
              <a:t>Graphics Designer</a:t>
            </a:r>
            <a:endParaRPr/>
          </a:p>
          <a:p>
            <a:pPr indent="-306388" lvl="0" marL="752476" rtl="0" algn="l">
              <a:lnSpc>
                <a:spcPct val="90000"/>
              </a:lnSpc>
              <a:spcBef>
                <a:spcPts val="600"/>
              </a:spcBef>
              <a:spcAft>
                <a:spcPts val="0"/>
              </a:spcAft>
              <a:buClr>
                <a:schemeClr val="dk1"/>
              </a:buClr>
              <a:buSzPts val="1600"/>
              <a:buChar char="›"/>
            </a:pPr>
            <a:r>
              <a:rPr b="1" lang="en-US" sz="1600"/>
              <a:t>DevOps</a:t>
            </a:r>
            <a:endParaRPr/>
          </a:p>
          <a:p>
            <a:pPr indent="-204788" lvl="0" marL="752476" rtl="0" algn="l">
              <a:lnSpc>
                <a:spcPct val="90000"/>
              </a:lnSpc>
              <a:spcBef>
                <a:spcPts val="600"/>
              </a:spcBef>
              <a:spcAft>
                <a:spcPts val="0"/>
              </a:spcAft>
              <a:buClr>
                <a:schemeClr val="dk1"/>
              </a:buClr>
              <a:buSzPts val="1600"/>
              <a:buNone/>
            </a:pPr>
            <a:r>
              <a:t/>
            </a:r>
            <a:endParaRPr b="1" sz="1600"/>
          </a:p>
          <a:p>
            <a:pPr indent="-204787" lvl="0" marL="358776" rtl="0" algn="l">
              <a:lnSpc>
                <a:spcPct val="90000"/>
              </a:lnSpc>
              <a:spcBef>
                <a:spcPts val="1906"/>
              </a:spcBef>
              <a:spcAft>
                <a:spcPts val="0"/>
              </a:spcAft>
              <a:buClr>
                <a:schemeClr val="dk1"/>
              </a:buClr>
              <a:buSzPts val="1600"/>
              <a:buNone/>
            </a:pPr>
            <a:r>
              <a:t/>
            </a:r>
            <a:endParaRPr sz="1600"/>
          </a:p>
          <a:p>
            <a:pPr indent="-306388" lvl="0" marL="358775" rtl="0" algn="l">
              <a:lnSpc>
                <a:spcPct val="90000"/>
              </a:lnSpc>
              <a:spcBef>
                <a:spcPts val="706"/>
              </a:spcBef>
              <a:spcAft>
                <a:spcPts val="0"/>
              </a:spcAft>
              <a:buClr>
                <a:schemeClr val="dk1"/>
              </a:buClr>
              <a:buSzPts val="1600"/>
              <a:buNone/>
            </a:pPr>
            <a:r>
              <a:rPr lang="en-US" sz="1600"/>
              <a:t> </a:t>
            </a:r>
            <a:endParaRPr/>
          </a:p>
          <a:p>
            <a:pPr indent="-192087" lvl="0" marL="358776" rtl="0" algn="l">
              <a:lnSpc>
                <a:spcPct val="90000"/>
              </a:lnSpc>
              <a:spcBef>
                <a:spcPts val="1906"/>
              </a:spcBef>
              <a:spcAft>
                <a:spcPts val="0"/>
              </a:spcAft>
              <a:buClr>
                <a:schemeClr val="dk1"/>
              </a:buClr>
              <a:buSzPts val="1800"/>
              <a:buNone/>
            </a:pPr>
            <a:r>
              <a:t/>
            </a:r>
            <a:endParaRPr sz="1800"/>
          </a:p>
          <a:p>
            <a:pPr indent="-128587" lvl="0" marL="358776" rtl="0" algn="l">
              <a:lnSpc>
                <a:spcPct val="90000"/>
              </a:lnSpc>
              <a:spcBef>
                <a:spcPts val="1906"/>
              </a:spcBef>
              <a:spcAft>
                <a:spcPts val="0"/>
              </a:spcAft>
              <a:buClr>
                <a:schemeClr val="dk1"/>
              </a:buClr>
              <a:buSzPts val="2800"/>
              <a:buNone/>
            </a:pPr>
            <a:r>
              <a:t/>
            </a:r>
            <a:endParaRPr b="1"/>
          </a:p>
          <a:p>
            <a:pPr indent="0" lvl="0" marL="1116863" rtl="0" algn="l">
              <a:lnSpc>
                <a:spcPct val="100000"/>
              </a:lnSpc>
              <a:spcBef>
                <a:spcPts val="526"/>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43"/>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83" name="Google Shape;483;p43"/>
          <p:cNvSpPr txBox="1"/>
          <p:nvPr>
            <p:ph idx="1" type="body"/>
          </p:nvPr>
        </p:nvSpPr>
        <p:spPr>
          <a:xfrm>
            <a:off x="1594613" y="1161256"/>
            <a:ext cx="10116423" cy="5436096"/>
          </a:xfrm>
          <a:prstGeom prst="rect">
            <a:avLst/>
          </a:prstGeom>
          <a:noFill/>
          <a:ln>
            <a:noFill/>
          </a:ln>
        </p:spPr>
        <p:txBody>
          <a:bodyPr anchorCtr="0" anchor="t" bIns="45700" lIns="91425" spcFirstLastPara="1" rIns="91425" wrap="square" tIns="45700">
            <a:normAutofit/>
          </a:bodyPr>
          <a:lstStyle/>
          <a:p>
            <a:pPr indent="-306388" lvl="0" marL="358776" rtl="0" algn="l">
              <a:lnSpc>
                <a:spcPct val="90000"/>
              </a:lnSpc>
              <a:spcBef>
                <a:spcPts val="0"/>
              </a:spcBef>
              <a:spcAft>
                <a:spcPts val="0"/>
              </a:spcAft>
              <a:buClr>
                <a:schemeClr val="dk1"/>
              </a:buClr>
              <a:buSzPts val="2800"/>
              <a:buChar char="›"/>
            </a:pPr>
            <a:r>
              <a:rPr b="1" lang="en-US"/>
              <a:t>System Analyst</a:t>
            </a:r>
            <a:endParaRPr/>
          </a:p>
          <a:p>
            <a:pPr indent="-306388" lvl="0" marL="358775" rtl="0" algn="l">
              <a:lnSpc>
                <a:spcPct val="100000"/>
              </a:lnSpc>
              <a:spcBef>
                <a:spcPts val="706"/>
              </a:spcBef>
              <a:spcAft>
                <a:spcPts val="0"/>
              </a:spcAft>
              <a:buClr>
                <a:schemeClr val="dk1"/>
              </a:buClr>
              <a:buSzPts val="2800"/>
              <a:buNone/>
            </a:pPr>
            <a:r>
              <a:rPr b="1" lang="en-US" sz="2800"/>
              <a:t>	</a:t>
            </a:r>
            <a:r>
              <a:rPr lang="en-US"/>
              <a:t>A </a:t>
            </a:r>
            <a:r>
              <a:rPr b="1" lang="en-US"/>
              <a:t>systems analyst</a:t>
            </a:r>
            <a:r>
              <a:rPr lang="en-US"/>
              <a:t> is an individual who engages systems analysis and design techniques in solving a business problem. Systems analysts keep up to date with the latest technology to improve productivity at all times for an organization. They closely work with the sponsors and suggest what outputs are the best for business.</a:t>
            </a:r>
            <a:endParaRPr/>
          </a:p>
          <a:p>
            <a:pPr indent="-306388" lvl="0" marL="358775" rtl="0" algn="l">
              <a:lnSpc>
                <a:spcPct val="100000"/>
              </a:lnSpc>
              <a:spcBef>
                <a:spcPts val="706"/>
              </a:spcBef>
              <a:spcAft>
                <a:spcPts val="0"/>
              </a:spcAft>
              <a:buClr>
                <a:schemeClr val="dk1"/>
              </a:buClr>
              <a:buSzPts val="1800"/>
              <a:buNone/>
            </a:pPr>
            <a:r>
              <a:t/>
            </a:r>
            <a:endParaRPr sz="1800"/>
          </a:p>
          <a:p>
            <a:pPr indent="-306388" lvl="0" marL="358775" rtl="0" algn="l">
              <a:lnSpc>
                <a:spcPct val="100000"/>
              </a:lnSpc>
              <a:spcBef>
                <a:spcPts val="706"/>
              </a:spcBef>
              <a:spcAft>
                <a:spcPts val="0"/>
              </a:spcAft>
              <a:buClr>
                <a:schemeClr val="dk1"/>
              </a:buClr>
              <a:buSzPts val="1800"/>
              <a:buNone/>
            </a:pPr>
            <a:r>
              <a:rPr lang="en-US" sz="1800"/>
              <a:t>	</a:t>
            </a:r>
            <a:r>
              <a:rPr lang="en-US"/>
              <a:t>The primary purpose of systems analysis is to improve the efficiency, effectiveness, and functionality of a system. It helps organizations optimize their processes, make informed decisions, and achieve their goals.</a:t>
            </a:r>
            <a:endParaRPr/>
          </a:p>
          <a:p>
            <a:pPr indent="-128587" lvl="0" marL="358776" rtl="0" algn="l">
              <a:lnSpc>
                <a:spcPct val="100000"/>
              </a:lnSpc>
              <a:spcBef>
                <a:spcPts val="1906"/>
              </a:spcBef>
              <a:spcAft>
                <a:spcPts val="0"/>
              </a:spcAft>
              <a:buClr>
                <a:schemeClr val="dk1"/>
              </a:buClr>
              <a:buSzPts val="2800"/>
              <a:buNone/>
            </a:pPr>
            <a:r>
              <a:t/>
            </a:r>
            <a:endParaRPr b="1"/>
          </a:p>
          <a:p>
            <a:pPr indent="0" lvl="0" marL="1116863" rtl="0" algn="l">
              <a:lnSpc>
                <a:spcPct val="100000"/>
              </a:lnSpc>
              <a:spcBef>
                <a:spcPts val="526"/>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4"/>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89" name="Google Shape;489;p44"/>
          <p:cNvSpPr txBox="1"/>
          <p:nvPr>
            <p:ph idx="1" type="body"/>
          </p:nvPr>
        </p:nvSpPr>
        <p:spPr>
          <a:xfrm>
            <a:off x="1594613" y="1161256"/>
            <a:ext cx="10116423" cy="5580112"/>
          </a:xfrm>
          <a:prstGeom prst="rect">
            <a:avLst/>
          </a:prstGeom>
          <a:noFill/>
          <a:ln>
            <a:noFill/>
          </a:ln>
        </p:spPr>
        <p:txBody>
          <a:bodyPr anchorCtr="0" anchor="t" bIns="45700" lIns="91425" spcFirstLastPara="1" rIns="91425" wrap="square" tIns="45700">
            <a:normAutofit fontScale="92500" lnSpcReduction="10000"/>
          </a:bodyPr>
          <a:lstStyle/>
          <a:p>
            <a:pPr indent="-306388" lvl="0" marL="358776" rtl="0" algn="l">
              <a:lnSpc>
                <a:spcPct val="90000"/>
              </a:lnSpc>
              <a:spcBef>
                <a:spcPts val="0"/>
              </a:spcBef>
              <a:spcAft>
                <a:spcPts val="0"/>
              </a:spcAft>
              <a:buClr>
                <a:schemeClr val="dk1"/>
              </a:buClr>
              <a:buSzPct val="100000"/>
              <a:buChar char="›"/>
            </a:pPr>
            <a:r>
              <a:rPr b="1" lang="en-US"/>
              <a:t>System Analyst Skill set</a:t>
            </a:r>
            <a:endParaRPr/>
          </a:p>
          <a:p>
            <a:pPr indent="0" lvl="0" marL="0" rtl="0" algn="l">
              <a:lnSpc>
                <a:spcPct val="110000"/>
              </a:lnSpc>
              <a:spcBef>
                <a:spcPts val="1400"/>
              </a:spcBef>
              <a:spcAft>
                <a:spcPts val="0"/>
              </a:spcAft>
              <a:buClr>
                <a:schemeClr val="dk1"/>
              </a:buClr>
              <a:buSzPct val="100000"/>
              <a:buNone/>
            </a:pPr>
            <a:r>
              <a:rPr b="1" lang="en-US" sz="1800"/>
              <a:t>Communication</a:t>
            </a:r>
            <a:endParaRPr/>
          </a:p>
          <a:p>
            <a:pPr indent="-246888" lvl="0" marL="246888" rtl="0" algn="l">
              <a:lnSpc>
                <a:spcPct val="110000"/>
              </a:lnSpc>
              <a:spcBef>
                <a:spcPts val="0"/>
              </a:spcBef>
              <a:spcAft>
                <a:spcPts val="0"/>
              </a:spcAft>
              <a:buClr>
                <a:schemeClr val="dk1"/>
              </a:buClr>
              <a:buSzPct val="100000"/>
              <a:buChar char="›"/>
            </a:pPr>
            <a:r>
              <a:rPr lang="en-US" sz="1800"/>
              <a:t>A systems analyst works with a lot of people in varying departments in an organization. They need good communication skills to delegate roles and communicate problems that they identify.</a:t>
            </a:r>
            <a:endParaRPr b="1" sz="1800"/>
          </a:p>
          <a:p>
            <a:pPr indent="0" lvl="0" marL="0" rtl="0" algn="l">
              <a:lnSpc>
                <a:spcPct val="110000"/>
              </a:lnSpc>
              <a:spcBef>
                <a:spcPts val="1400"/>
              </a:spcBef>
              <a:spcAft>
                <a:spcPts val="0"/>
              </a:spcAft>
              <a:buClr>
                <a:schemeClr val="dk1"/>
              </a:buClr>
              <a:buSzPct val="100000"/>
              <a:buNone/>
            </a:pPr>
            <a:r>
              <a:rPr b="1" lang="en-US" sz="1800"/>
              <a:t>Critical thinking</a:t>
            </a:r>
            <a:endParaRPr/>
          </a:p>
          <a:p>
            <a:pPr indent="-246888" lvl="0" marL="246888" rtl="0" algn="l">
              <a:lnSpc>
                <a:spcPct val="110000"/>
              </a:lnSpc>
              <a:spcBef>
                <a:spcPts val="0"/>
              </a:spcBef>
              <a:spcAft>
                <a:spcPts val="0"/>
              </a:spcAft>
              <a:buClr>
                <a:schemeClr val="dk1"/>
              </a:buClr>
              <a:buSzPct val="100000"/>
              <a:buChar char="›"/>
            </a:pPr>
            <a:r>
              <a:rPr lang="en-US" sz="1800"/>
              <a:t>Systems analysts go through a lot of analytical tasks. They need good critical thinking abilities in order to help them in problem analyses, system development, and implementation.</a:t>
            </a:r>
            <a:endParaRPr/>
          </a:p>
          <a:p>
            <a:pPr indent="0" lvl="0" marL="0" rtl="0" algn="l">
              <a:lnSpc>
                <a:spcPct val="110000"/>
              </a:lnSpc>
              <a:spcBef>
                <a:spcPts val="1400"/>
              </a:spcBef>
              <a:spcAft>
                <a:spcPts val="0"/>
              </a:spcAft>
              <a:buClr>
                <a:schemeClr val="dk1"/>
              </a:buClr>
              <a:buSzPct val="100000"/>
              <a:buNone/>
            </a:pPr>
            <a:r>
              <a:rPr b="1" lang="en-US" sz="1800"/>
              <a:t>Business analytics</a:t>
            </a:r>
            <a:endParaRPr/>
          </a:p>
          <a:p>
            <a:pPr indent="-246888" lvl="0" marL="246888" rtl="0" algn="l">
              <a:lnSpc>
                <a:spcPct val="110000"/>
              </a:lnSpc>
              <a:spcBef>
                <a:spcPts val="0"/>
              </a:spcBef>
              <a:spcAft>
                <a:spcPts val="0"/>
              </a:spcAft>
              <a:buClr>
                <a:schemeClr val="dk1"/>
              </a:buClr>
              <a:buSzPct val="100000"/>
              <a:buChar char="›"/>
            </a:pPr>
            <a:r>
              <a:rPr lang="en-US" sz="1800"/>
              <a:t>A systems analyst mostly uses information technology knowledge in solving business problems. The knowledge of business analysis is of huge importance to a systems analyst as it helps one attain competence in problem handling.</a:t>
            </a:r>
            <a:endParaRPr/>
          </a:p>
          <a:p>
            <a:pPr indent="0" lvl="0" marL="0" rtl="0" algn="l">
              <a:lnSpc>
                <a:spcPct val="110000"/>
              </a:lnSpc>
              <a:spcBef>
                <a:spcPts val="1400"/>
              </a:spcBef>
              <a:spcAft>
                <a:spcPts val="0"/>
              </a:spcAft>
              <a:buClr>
                <a:schemeClr val="dk1"/>
              </a:buClr>
              <a:buSzPct val="100000"/>
              <a:buNone/>
            </a:pPr>
            <a:r>
              <a:rPr b="1" lang="en-US" sz="1800"/>
              <a:t>Technical analysis</a:t>
            </a:r>
            <a:endParaRPr/>
          </a:p>
          <a:p>
            <a:pPr indent="-246888" lvl="0" marL="246888" rtl="0" algn="l">
              <a:lnSpc>
                <a:spcPct val="110000"/>
              </a:lnSpc>
              <a:spcBef>
                <a:spcPts val="0"/>
              </a:spcBef>
              <a:spcAft>
                <a:spcPts val="0"/>
              </a:spcAft>
              <a:buClr>
                <a:schemeClr val="dk1"/>
              </a:buClr>
              <a:buSzPct val="100000"/>
              <a:buChar char="›"/>
            </a:pPr>
            <a:r>
              <a:rPr lang="en-US" sz="1800"/>
              <a:t>A systems analyst ought to be good in the knowledge of certain technical areas like programming languages, information technology infrastructure, and database administration.</a:t>
            </a:r>
            <a:endParaRPr/>
          </a:p>
          <a:p>
            <a:pPr indent="0" lvl="0" marL="0" rtl="0" algn="l">
              <a:lnSpc>
                <a:spcPct val="110000"/>
              </a:lnSpc>
              <a:spcBef>
                <a:spcPts val="1400"/>
              </a:spcBef>
              <a:spcAft>
                <a:spcPts val="0"/>
              </a:spcAft>
              <a:buClr>
                <a:schemeClr val="dk1"/>
              </a:buClr>
              <a:buSzPct val="100000"/>
              <a:buNone/>
            </a:pPr>
            <a:r>
              <a:rPr b="1" lang="en-US" sz="1800"/>
              <a:t>Management</a:t>
            </a:r>
            <a:endParaRPr/>
          </a:p>
          <a:p>
            <a:pPr indent="-246888" lvl="0" marL="246888" rtl="0" algn="l">
              <a:lnSpc>
                <a:spcPct val="110000"/>
              </a:lnSpc>
              <a:spcBef>
                <a:spcPts val="0"/>
              </a:spcBef>
              <a:spcAft>
                <a:spcPts val="0"/>
              </a:spcAft>
              <a:buClr>
                <a:schemeClr val="dk1"/>
              </a:buClr>
              <a:buSzPct val="100000"/>
              <a:buChar char="›"/>
            </a:pPr>
            <a:r>
              <a:rPr lang="en-US" sz="1800"/>
              <a:t>A systems analyst works with several individuals of different departments in an organization. They need good managerial skills for effective resource, including human resource, management.</a:t>
            </a:r>
            <a:endParaRPr b="1" sz="1800"/>
          </a:p>
          <a:p>
            <a:pPr indent="0" lvl="0" marL="1116863" rtl="0" algn="l">
              <a:lnSpc>
                <a:spcPct val="100000"/>
              </a:lnSpc>
              <a:spcBef>
                <a:spcPts val="526"/>
              </a:spcBef>
              <a:spcAft>
                <a:spcPts val="0"/>
              </a:spcAft>
              <a:buClr>
                <a:schemeClr val="dk1"/>
              </a:buClr>
              <a:buSzPct val="1000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5"/>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495" name="Google Shape;495;p45"/>
          <p:cNvSpPr txBox="1"/>
          <p:nvPr>
            <p:ph idx="1" type="body"/>
          </p:nvPr>
        </p:nvSpPr>
        <p:spPr>
          <a:xfrm>
            <a:off x="1594613" y="1161256"/>
            <a:ext cx="10116423" cy="5580112"/>
          </a:xfrm>
          <a:prstGeom prst="rect">
            <a:avLst/>
          </a:prstGeom>
          <a:noFill/>
          <a:ln>
            <a:noFill/>
          </a:ln>
        </p:spPr>
        <p:txBody>
          <a:bodyPr anchorCtr="0" anchor="t" bIns="45700" lIns="91425" spcFirstLastPara="1" rIns="91425" wrap="square" tIns="45700">
            <a:normAutofit lnSpcReduction="10000"/>
          </a:bodyPr>
          <a:lstStyle/>
          <a:p>
            <a:pPr indent="-306388" lvl="0" marL="358776" rtl="0" algn="l">
              <a:lnSpc>
                <a:spcPct val="90000"/>
              </a:lnSpc>
              <a:spcBef>
                <a:spcPts val="0"/>
              </a:spcBef>
              <a:spcAft>
                <a:spcPts val="0"/>
              </a:spcAft>
              <a:buClr>
                <a:schemeClr val="dk1"/>
              </a:buClr>
              <a:buSzPts val="2800"/>
              <a:buChar char="›"/>
            </a:pPr>
            <a:r>
              <a:rPr b="1" lang="en-US"/>
              <a:t>System Analyst Roles and Responsibilities</a:t>
            </a:r>
            <a:endParaRPr/>
          </a:p>
          <a:p>
            <a:pPr indent="0" lvl="0" marL="0" rtl="0" algn="l">
              <a:lnSpc>
                <a:spcPct val="100000"/>
              </a:lnSpc>
              <a:spcBef>
                <a:spcPts val="1400"/>
              </a:spcBef>
              <a:spcAft>
                <a:spcPts val="0"/>
              </a:spcAft>
              <a:buClr>
                <a:schemeClr val="dk1"/>
              </a:buClr>
              <a:buSzPts val="2000"/>
              <a:buNone/>
            </a:pPr>
            <a:r>
              <a:rPr b="1" lang="en-US" sz="2000"/>
              <a:t>Defining user requirements</a:t>
            </a:r>
            <a:endParaRPr/>
          </a:p>
          <a:p>
            <a:pPr indent="-246888" lvl="0" marL="246888" rtl="0" algn="l">
              <a:lnSpc>
                <a:spcPct val="100000"/>
              </a:lnSpc>
              <a:spcBef>
                <a:spcPts val="1400"/>
              </a:spcBef>
              <a:spcAft>
                <a:spcPts val="0"/>
              </a:spcAft>
              <a:buClr>
                <a:schemeClr val="dk1"/>
              </a:buClr>
              <a:buSzPts val="2000"/>
              <a:buChar char="›"/>
            </a:pPr>
            <a:r>
              <a:rPr lang="en-US" sz="2000"/>
              <a:t>A systems analyst has the responsibility of observing users and their requirements from a system. This can be done through conversational interviews with the users and anticipating the new needs of users from already existing systems. This helps in identifying the requirements from new systems via examination of current systems and updating configurations for new systems.</a:t>
            </a:r>
            <a:endParaRPr/>
          </a:p>
          <a:p>
            <a:pPr indent="0" lvl="0" marL="0" rtl="0" algn="l">
              <a:lnSpc>
                <a:spcPct val="100000"/>
              </a:lnSpc>
              <a:spcBef>
                <a:spcPts val="1400"/>
              </a:spcBef>
              <a:spcAft>
                <a:spcPts val="0"/>
              </a:spcAft>
              <a:buClr>
                <a:schemeClr val="dk1"/>
              </a:buClr>
              <a:buSzPts val="2000"/>
              <a:buNone/>
            </a:pPr>
            <a:r>
              <a:rPr b="1" lang="en-US" sz="2000"/>
              <a:t>Prioritizing requirements</a:t>
            </a:r>
            <a:endParaRPr/>
          </a:p>
          <a:p>
            <a:pPr indent="-246888" lvl="0" marL="246888" rtl="0" algn="l">
              <a:lnSpc>
                <a:spcPct val="100000"/>
              </a:lnSpc>
              <a:spcBef>
                <a:spcPts val="1400"/>
              </a:spcBef>
              <a:spcAft>
                <a:spcPts val="0"/>
              </a:spcAft>
              <a:buClr>
                <a:schemeClr val="dk1"/>
              </a:buClr>
              <a:buSzPts val="2000"/>
              <a:buChar char="›"/>
            </a:pPr>
            <a:r>
              <a:rPr lang="en-US" sz="2000"/>
              <a:t>Systems analysts use social and analytical skills in prioritizing system specifications. Most enterprise systems have a lot of requirements but these are frequently constrained due to a lack of resources.</a:t>
            </a:r>
            <a:endParaRPr/>
          </a:p>
          <a:p>
            <a:pPr indent="-246888" lvl="0" marL="246888" rtl="0" algn="l">
              <a:lnSpc>
                <a:spcPct val="100000"/>
              </a:lnSpc>
              <a:spcBef>
                <a:spcPts val="1400"/>
              </a:spcBef>
              <a:spcAft>
                <a:spcPts val="0"/>
              </a:spcAft>
              <a:buClr>
                <a:schemeClr val="dk1"/>
              </a:buClr>
              <a:buSzPts val="2000"/>
              <a:buChar char="›"/>
            </a:pPr>
            <a:r>
              <a:rPr lang="en-US" sz="2000"/>
              <a:t>Different users in an organization have different needs from a system, but a systems analyst helps to prioritize the user’s needs in accordance with the available resources. This helps to ensure that maximum productivity is obtained from a working system.</a:t>
            </a:r>
            <a:endParaRPr/>
          </a:p>
          <a:p>
            <a:pPr indent="0" lvl="0" marL="1116863" rtl="0" algn="l">
              <a:lnSpc>
                <a:spcPct val="100000"/>
              </a:lnSpc>
              <a:spcBef>
                <a:spcPts val="526"/>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6"/>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501" name="Google Shape;501;p46"/>
          <p:cNvSpPr txBox="1"/>
          <p:nvPr>
            <p:ph idx="1" type="body"/>
          </p:nvPr>
        </p:nvSpPr>
        <p:spPr>
          <a:xfrm>
            <a:off x="1594613" y="1161256"/>
            <a:ext cx="10116423" cy="5580112"/>
          </a:xfrm>
          <a:prstGeom prst="rect">
            <a:avLst/>
          </a:prstGeom>
          <a:noFill/>
          <a:ln>
            <a:noFill/>
          </a:ln>
        </p:spPr>
        <p:txBody>
          <a:bodyPr anchorCtr="0" anchor="t" bIns="45700" lIns="91425" spcFirstLastPara="1" rIns="91425" wrap="square" tIns="45700">
            <a:normAutofit fontScale="92500" lnSpcReduction="10000"/>
          </a:bodyPr>
          <a:lstStyle/>
          <a:p>
            <a:pPr indent="-306388" lvl="0" marL="358776" rtl="0" algn="l">
              <a:lnSpc>
                <a:spcPct val="90000"/>
              </a:lnSpc>
              <a:spcBef>
                <a:spcPts val="0"/>
              </a:spcBef>
              <a:spcAft>
                <a:spcPts val="0"/>
              </a:spcAft>
              <a:buClr>
                <a:schemeClr val="dk1"/>
              </a:buClr>
              <a:buSzPct val="100000"/>
              <a:buChar char="›"/>
            </a:pPr>
            <a:r>
              <a:rPr b="1" lang="en-US"/>
              <a:t>System Analyst Roles and Responsibilities</a:t>
            </a:r>
            <a:endParaRPr/>
          </a:p>
          <a:p>
            <a:pPr indent="0" lvl="0" marL="0" rtl="0" algn="l">
              <a:lnSpc>
                <a:spcPct val="110000"/>
              </a:lnSpc>
              <a:spcBef>
                <a:spcPts val="1400"/>
              </a:spcBef>
              <a:spcAft>
                <a:spcPts val="0"/>
              </a:spcAft>
              <a:buClr>
                <a:schemeClr val="dk1"/>
              </a:buClr>
              <a:buSzPct val="100000"/>
              <a:buNone/>
            </a:pPr>
            <a:r>
              <a:rPr lang="en-US" sz="2000"/>
              <a:t>Problem analysis</a:t>
            </a:r>
            <a:endParaRPr/>
          </a:p>
          <a:p>
            <a:pPr indent="-246888" lvl="0" marL="246888" rtl="0" algn="l">
              <a:lnSpc>
                <a:spcPct val="110000"/>
              </a:lnSpc>
              <a:spcBef>
                <a:spcPts val="0"/>
              </a:spcBef>
              <a:spcAft>
                <a:spcPts val="0"/>
              </a:spcAft>
              <a:buClr>
                <a:schemeClr val="dk1"/>
              </a:buClr>
              <a:buSzPct val="100000"/>
              <a:buChar char="›"/>
            </a:pPr>
            <a:r>
              <a:rPr lang="en-US" sz="2000"/>
              <a:t>Systems analysts tend to observe data and facts about an operating business. They use technological techniques in identifying problems and removing unnecessary details so as to enable the fulfillment of real needs from a system.</a:t>
            </a:r>
            <a:endParaRPr/>
          </a:p>
          <a:p>
            <a:pPr indent="0" lvl="0" marL="0" rtl="0" algn="l">
              <a:lnSpc>
                <a:spcPct val="110000"/>
              </a:lnSpc>
              <a:spcBef>
                <a:spcPts val="1400"/>
              </a:spcBef>
              <a:spcAft>
                <a:spcPts val="0"/>
              </a:spcAft>
              <a:buClr>
                <a:schemeClr val="dk1"/>
              </a:buClr>
              <a:buSzPct val="100000"/>
              <a:buNone/>
            </a:pPr>
            <a:r>
              <a:rPr lang="en-US" sz="2000"/>
              <a:t>Drawing specifications</a:t>
            </a:r>
            <a:endParaRPr/>
          </a:p>
          <a:p>
            <a:pPr indent="-246888" lvl="0" marL="246888" rtl="0" algn="l">
              <a:lnSpc>
                <a:spcPct val="110000"/>
              </a:lnSpc>
              <a:spcBef>
                <a:spcPts val="0"/>
              </a:spcBef>
              <a:spcAft>
                <a:spcPts val="0"/>
              </a:spcAft>
              <a:buClr>
                <a:schemeClr val="dk1"/>
              </a:buClr>
              <a:buSzPct val="100000"/>
              <a:buChar char="›"/>
            </a:pPr>
            <a:r>
              <a:rPr lang="en-US" sz="2000"/>
              <a:t>Systems analysts also assign the relevant responsibilities of managing system requirements to the right individuals and team members. They specify programming tasks to programmers and managerial tasks to managers. They also document these system tasks in detail, using specification documents, and review the output to ensure that it matches the required specification.</a:t>
            </a:r>
            <a:endParaRPr/>
          </a:p>
          <a:p>
            <a:pPr indent="0" lvl="0" marL="0" rtl="0" algn="l">
              <a:lnSpc>
                <a:spcPct val="110000"/>
              </a:lnSpc>
              <a:spcBef>
                <a:spcPts val="1400"/>
              </a:spcBef>
              <a:spcAft>
                <a:spcPts val="0"/>
              </a:spcAft>
              <a:buClr>
                <a:schemeClr val="dk1"/>
              </a:buClr>
              <a:buSzPct val="100000"/>
              <a:buNone/>
            </a:pPr>
            <a:r>
              <a:rPr lang="en-US" sz="2000"/>
              <a:t>System design and evaluation</a:t>
            </a:r>
            <a:endParaRPr/>
          </a:p>
          <a:p>
            <a:pPr indent="-246888" lvl="0" marL="246888" rtl="0" algn="l">
              <a:lnSpc>
                <a:spcPct val="110000"/>
              </a:lnSpc>
              <a:spcBef>
                <a:spcPts val="0"/>
              </a:spcBef>
              <a:spcAft>
                <a:spcPts val="0"/>
              </a:spcAft>
              <a:buClr>
                <a:schemeClr val="dk1"/>
              </a:buClr>
              <a:buSzPct val="100000"/>
              <a:buChar char="›"/>
            </a:pPr>
            <a:r>
              <a:rPr lang="en-US" sz="2000"/>
              <a:t>Systems analysts guide the development of every system in an organization, from the specification of requirements to the designing of the system itself. They ensure that the built systems correspond to the system specifications by carrying out system evaluation. They also test the performance of the built system to ensure that it meets the required performance as specified.</a:t>
            </a:r>
            <a:endParaRPr/>
          </a:p>
          <a:p>
            <a:pPr indent="0" lvl="0" marL="1116863" rtl="0" algn="l">
              <a:lnSpc>
                <a:spcPct val="100000"/>
              </a:lnSpc>
              <a:spcBef>
                <a:spcPts val="526"/>
              </a:spcBef>
              <a:spcAft>
                <a:spcPts val="0"/>
              </a:spcAft>
              <a:buClr>
                <a:schemeClr val="dk1"/>
              </a:buClr>
              <a:buSzPct val="1000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7"/>
          <p:cNvSpPr txBox="1"/>
          <p:nvPr>
            <p:ph type="title"/>
          </p:nvPr>
        </p:nvSpPr>
        <p:spPr>
          <a:xfrm>
            <a:off x="1629916" y="332656"/>
            <a:ext cx="9782801" cy="65293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Information System Stakeholders</a:t>
            </a:r>
            <a:endParaRPr/>
          </a:p>
        </p:txBody>
      </p:sp>
      <p:sp>
        <p:nvSpPr>
          <p:cNvPr id="507" name="Google Shape;507;p47"/>
          <p:cNvSpPr txBox="1"/>
          <p:nvPr>
            <p:ph idx="1" type="body"/>
          </p:nvPr>
        </p:nvSpPr>
        <p:spPr>
          <a:xfrm>
            <a:off x="1594613" y="1161256"/>
            <a:ext cx="10116423" cy="5580112"/>
          </a:xfrm>
          <a:prstGeom prst="rect">
            <a:avLst/>
          </a:prstGeom>
          <a:noFill/>
          <a:ln>
            <a:noFill/>
          </a:ln>
        </p:spPr>
        <p:txBody>
          <a:bodyPr anchorCtr="0" anchor="t" bIns="45700" lIns="91425" spcFirstLastPara="1" rIns="91425" wrap="square" tIns="45700">
            <a:normAutofit/>
          </a:bodyPr>
          <a:lstStyle/>
          <a:p>
            <a:pPr indent="-306388" lvl="0" marL="358776" rtl="0" algn="l">
              <a:lnSpc>
                <a:spcPct val="90000"/>
              </a:lnSpc>
              <a:spcBef>
                <a:spcPts val="0"/>
              </a:spcBef>
              <a:spcAft>
                <a:spcPts val="0"/>
              </a:spcAft>
              <a:buClr>
                <a:schemeClr val="dk1"/>
              </a:buClr>
              <a:buSzPts val="2800"/>
              <a:buChar char="›"/>
            </a:pPr>
            <a:r>
              <a:rPr b="1" lang="en-US"/>
              <a:t>System Analyst Roles and Responsibilities</a:t>
            </a:r>
            <a:endParaRPr/>
          </a:p>
          <a:p>
            <a:pPr indent="0" lvl="0" marL="0" rtl="0" algn="l">
              <a:lnSpc>
                <a:spcPct val="100000"/>
              </a:lnSpc>
              <a:spcBef>
                <a:spcPts val="1400"/>
              </a:spcBef>
              <a:spcAft>
                <a:spcPts val="0"/>
              </a:spcAft>
              <a:buClr>
                <a:schemeClr val="dk1"/>
              </a:buClr>
              <a:buSzPts val="2000"/>
              <a:buNone/>
            </a:pPr>
            <a:r>
              <a:rPr b="1" lang="en-US" sz="2000"/>
              <a:t>Keeping up to date with technological advancements</a:t>
            </a:r>
            <a:endParaRPr/>
          </a:p>
          <a:p>
            <a:pPr indent="-246888" lvl="0" marL="246888" rtl="0" algn="l">
              <a:lnSpc>
                <a:spcPct val="100000"/>
              </a:lnSpc>
              <a:spcBef>
                <a:spcPts val="1400"/>
              </a:spcBef>
              <a:spcAft>
                <a:spcPts val="0"/>
              </a:spcAft>
              <a:buClr>
                <a:schemeClr val="dk1"/>
              </a:buClr>
              <a:buSzPts val="2000"/>
              <a:buChar char="›"/>
            </a:pPr>
            <a:r>
              <a:rPr lang="en-US" sz="2000"/>
              <a:t>Systems analysts are real agents of change in the use of technology in an organization. They tend to observe the overall use of technology in an organization and work to keep up with evolving technological demands by replacing outdated technologies with the latest ones.</a:t>
            </a:r>
            <a:endParaRPr/>
          </a:p>
          <a:p>
            <a:pPr indent="-246888" lvl="0" marL="246888" rtl="0" algn="l">
              <a:lnSpc>
                <a:spcPct val="100000"/>
              </a:lnSpc>
              <a:spcBef>
                <a:spcPts val="1400"/>
              </a:spcBef>
              <a:spcAft>
                <a:spcPts val="0"/>
              </a:spcAft>
              <a:buClr>
                <a:schemeClr val="dk1"/>
              </a:buClr>
              <a:buSzPts val="2000"/>
              <a:buChar char="›"/>
            </a:pPr>
            <a:r>
              <a:rPr lang="en-US" sz="2000"/>
              <a:t>They frequently encounter the challenge of having the users accept the changes and, therefore, involve the users in the development process. They do this by conducting interviews with the systems’ users and identifying possible user needs and requirements in order to integrate the latest technology for users. From time to time, systems analysts check to make sure that an organization is working with the latest technological systems, thus giving rise to high productivity and output.</a:t>
            </a:r>
            <a:endParaRPr/>
          </a:p>
          <a:p>
            <a:pPr indent="0" lvl="0" marL="1116863" rtl="0" algn="l">
              <a:lnSpc>
                <a:spcPct val="100000"/>
              </a:lnSpc>
              <a:spcBef>
                <a:spcPts val="526"/>
              </a:spcBef>
              <a:spcAft>
                <a:spcPts val="0"/>
              </a:spcAft>
              <a:buClr>
                <a:schemeClr val="dk1"/>
              </a:buClr>
              <a:buSzPts val="1800"/>
              <a:buNone/>
            </a:pPr>
            <a:r>
              <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4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US"/>
              <a:t>Hmmmm..</a:t>
            </a:r>
            <a:endParaRPr/>
          </a:p>
        </p:txBody>
      </p:sp>
      <p:sp>
        <p:nvSpPr>
          <p:cNvPr id="514" name="Google Shape;514;p48"/>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That’s end of Unit I</a:t>
            </a:r>
            <a:endParaRPr/>
          </a:p>
        </p:txBody>
      </p:sp>
      <p:sp>
        <p:nvSpPr>
          <p:cNvPr id="515" name="Google Shape;515;p48"/>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Thank 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2024-11-06T00:05:42Z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