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9" r:id="rId1"/>
  </p:sldMasterIdLst>
  <p:notesMasterIdLst>
    <p:notesMasterId r:id="rId26"/>
  </p:notesMasterIdLst>
  <p:sldIdLst>
    <p:sldId id="258" r:id="rId2"/>
    <p:sldId id="257" r:id="rId3"/>
    <p:sldId id="259" r:id="rId4"/>
    <p:sldId id="283" r:id="rId5"/>
    <p:sldId id="279" r:id="rId6"/>
    <p:sldId id="280" r:id="rId7"/>
    <p:sldId id="278" r:id="rId8"/>
    <p:sldId id="281" r:id="rId9"/>
    <p:sldId id="260" r:id="rId10"/>
    <p:sldId id="275" r:id="rId11"/>
    <p:sldId id="286" r:id="rId12"/>
    <p:sldId id="261" r:id="rId13"/>
    <p:sldId id="262" r:id="rId14"/>
    <p:sldId id="277" r:id="rId15"/>
    <p:sldId id="263" r:id="rId16"/>
    <p:sldId id="282" r:id="rId17"/>
    <p:sldId id="264" r:id="rId18"/>
    <p:sldId id="265" r:id="rId19"/>
    <p:sldId id="267" r:id="rId20"/>
    <p:sldId id="268" r:id="rId21"/>
    <p:sldId id="287" r:id="rId22"/>
    <p:sldId id="276" r:id="rId23"/>
    <p:sldId id="284" r:id="rId24"/>
    <p:sldId id="28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3D3A4A-6978-4356-8BDE-80D576C16269}">
          <p14:sldIdLst>
            <p14:sldId id="258"/>
            <p14:sldId id="257"/>
            <p14:sldId id="259"/>
            <p14:sldId id="283"/>
            <p14:sldId id="279"/>
            <p14:sldId id="280"/>
            <p14:sldId id="278"/>
            <p14:sldId id="281"/>
            <p14:sldId id="260"/>
            <p14:sldId id="275"/>
            <p14:sldId id="286"/>
            <p14:sldId id="261"/>
            <p14:sldId id="262"/>
            <p14:sldId id="277"/>
            <p14:sldId id="263"/>
            <p14:sldId id="282"/>
            <p14:sldId id="264"/>
            <p14:sldId id="265"/>
            <p14:sldId id="267"/>
            <p14:sldId id="268"/>
            <p14:sldId id="287"/>
            <p14:sldId id="276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680" autoAdjust="0"/>
  </p:normalViewPr>
  <p:slideViewPr>
    <p:cSldViewPr snapToGrid="0">
      <p:cViewPr varScale="1">
        <p:scale>
          <a:sx n="36" d="100"/>
          <a:sy n="36" d="100"/>
        </p:scale>
        <p:origin x="1566" y="54"/>
      </p:cViewPr>
      <p:guideLst/>
    </p:cSldViewPr>
  </p:slideViewPr>
  <p:notesTextViewPr>
    <p:cViewPr>
      <p:scale>
        <a:sx n="1" d="1"/>
        <a:sy n="1" d="1"/>
      </p:scale>
      <p:origin x="0" y="-19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7D02E-4A12-49E3-B1DD-7671CACE90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5D3AF-EFF0-4147-A776-29E94D4D7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7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UNIX is a </a:t>
            </a:r>
            <a:r>
              <a:rPr lang="en-US" b="1" dirty="0"/>
              <a:t>multiuser, multitasking operating system</a:t>
            </a:r>
            <a:r>
              <a:rPr lang="en-US" dirty="0"/>
              <a:t> originally developed in the late 1960s and early 1970s at </a:t>
            </a:r>
            <a:r>
              <a:rPr lang="en-US" b="1" dirty="0"/>
              <a:t>AT&amp;T’s Bell Labs</a:t>
            </a:r>
            <a:r>
              <a:rPr lang="en-US" dirty="0"/>
              <a:t> by </a:t>
            </a:r>
            <a:r>
              <a:rPr lang="en-US" b="1" dirty="0"/>
              <a:t>Ken Thompson, Dennis Ritchie, and others</a:t>
            </a:r>
            <a:r>
              <a:rPr lang="en-US" dirty="0"/>
              <a:t>. It became the foundation for many modern operating systems, including </a:t>
            </a:r>
            <a:r>
              <a:rPr lang="en-US" b="1" dirty="0"/>
              <a:t>Linux, BSD, macOS, and Android</a:t>
            </a:r>
            <a:r>
              <a:rPr lang="en-US" dirty="0"/>
              <a:t> (indirectly).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13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more, </a:t>
            </a:r>
            <a:r>
              <a:rPr lang="en-US" dirty="0" err="1"/>
              <a:t>ps</a:t>
            </a:r>
            <a:r>
              <a:rPr lang="en-US" dirty="0"/>
              <a:t>, ls, who grep bash and </a:t>
            </a:r>
            <a:r>
              <a:rPr lang="en-US" dirty="0" err="1"/>
              <a:t>othesrs</a:t>
            </a:r>
            <a:r>
              <a:rPr lang="en-US" dirty="0"/>
              <a:t> in system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98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Ubuntu</a:t>
            </a:r>
          </a:p>
          <a:p>
            <a:r>
              <a:rPr lang="en-US" dirty="0"/>
              <a:t>One of the most popular Linux distributions, based on Debian.</a:t>
            </a:r>
          </a:p>
          <a:p>
            <a:r>
              <a:rPr lang="en-US" dirty="0"/>
              <a:t>Known for user-friendliness and wide community support.</a:t>
            </a:r>
          </a:p>
          <a:p>
            <a:r>
              <a:rPr lang="en-US" dirty="0"/>
              <a:t>Comes with GNOME desktop by default.</a:t>
            </a:r>
          </a:p>
          <a:p>
            <a:r>
              <a:rPr lang="en-US" dirty="0"/>
              <a:t>Frequently used for desktops, servers, and cloud environments.</a:t>
            </a:r>
          </a:p>
          <a:p>
            <a:r>
              <a:rPr lang="en-US" dirty="0"/>
              <a:t>Ideal for beginners and general-purpose use.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CentOS</a:t>
            </a:r>
          </a:p>
          <a:p>
            <a:r>
              <a:rPr lang="en-US" dirty="0"/>
              <a:t>Community edition of Red Hat Enterprise Linux (RHEL).</a:t>
            </a:r>
          </a:p>
          <a:p>
            <a:r>
              <a:rPr lang="en-US" dirty="0"/>
              <a:t>Stable, reliable, and widely used for servers.</a:t>
            </a:r>
          </a:p>
          <a:p>
            <a:r>
              <a:rPr lang="en-US" dirty="0"/>
              <a:t>Focuses on security and enterprise-level performance.</a:t>
            </a:r>
          </a:p>
          <a:p>
            <a:r>
              <a:rPr lang="en-US" dirty="0"/>
              <a:t>Binary compatible with RHEL.</a:t>
            </a:r>
          </a:p>
          <a:p>
            <a:r>
              <a:rPr lang="en-US" dirty="0"/>
              <a:t>Popular in hosting and corporate environments.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Debian</a:t>
            </a:r>
          </a:p>
          <a:p>
            <a:r>
              <a:rPr lang="en-US" dirty="0"/>
              <a:t>One of the oldest and most stable Linux distributions.</a:t>
            </a:r>
          </a:p>
          <a:p>
            <a:r>
              <a:rPr lang="en-US" dirty="0"/>
              <a:t>Known as the base for many other distros (Ubuntu, MX Linux).</a:t>
            </a:r>
          </a:p>
          <a:p>
            <a:r>
              <a:rPr lang="en-US" dirty="0"/>
              <a:t>Offers thousands of free, precompiled packages.</a:t>
            </a:r>
          </a:p>
          <a:p>
            <a:r>
              <a:rPr lang="en-US" dirty="0"/>
              <a:t>Prioritizes free/open-source software.</a:t>
            </a:r>
          </a:p>
          <a:p>
            <a:r>
              <a:rPr lang="en-US" dirty="0"/>
              <a:t>Preferred for servers due to stability.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Linux Mint</a:t>
            </a:r>
          </a:p>
          <a:p>
            <a:r>
              <a:rPr lang="en-US" dirty="0"/>
              <a:t>Based on Ubuntu (and Debian).</a:t>
            </a:r>
          </a:p>
          <a:p>
            <a:r>
              <a:rPr lang="en-US" dirty="0"/>
              <a:t>Designed for ease of use, especially for Windows users.</a:t>
            </a:r>
          </a:p>
          <a:p>
            <a:r>
              <a:rPr lang="en-US" dirty="0"/>
              <a:t>Comes with Cinnamon, MATE, or </a:t>
            </a:r>
            <a:r>
              <a:rPr lang="en-US" dirty="0" err="1"/>
              <a:t>Xfce</a:t>
            </a:r>
            <a:r>
              <a:rPr lang="en-US" dirty="0"/>
              <a:t> desktop environments.</a:t>
            </a:r>
          </a:p>
          <a:p>
            <a:r>
              <a:rPr lang="en-US" dirty="0"/>
              <a:t>Lightweight and user-friendly.</a:t>
            </a:r>
          </a:p>
          <a:p>
            <a:r>
              <a:rPr lang="en-US" dirty="0"/>
              <a:t>Good for beginners migrating from Windows.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Arch Linux</a:t>
            </a:r>
          </a:p>
          <a:p>
            <a:r>
              <a:rPr lang="en-US" dirty="0"/>
              <a:t>Minimalistic and highly customizable distribution.</a:t>
            </a:r>
          </a:p>
          <a:p>
            <a:r>
              <a:rPr lang="en-US" dirty="0"/>
              <a:t>Uses </a:t>
            </a:r>
            <a:r>
              <a:rPr lang="en-US" b="1" dirty="0"/>
              <a:t>rolling release model</a:t>
            </a:r>
            <a:r>
              <a:rPr lang="en-US" dirty="0"/>
              <a:t> (always up-to-date).</a:t>
            </a:r>
          </a:p>
          <a:p>
            <a:r>
              <a:rPr lang="en-US" dirty="0"/>
              <a:t>Comes with no GUI by default, users build their own system.</a:t>
            </a:r>
          </a:p>
          <a:p>
            <a:r>
              <a:rPr lang="en-US" dirty="0"/>
              <a:t>Advanced users prefer it for control and flexibility.</a:t>
            </a:r>
          </a:p>
          <a:p>
            <a:r>
              <a:rPr lang="en-US" dirty="0"/>
              <a:t>Has </a:t>
            </a:r>
            <a:r>
              <a:rPr lang="en-US" b="1" dirty="0"/>
              <a:t>AUR (Arch User Repository)</a:t>
            </a:r>
            <a:r>
              <a:rPr lang="en-US" dirty="0"/>
              <a:t> with thousands of community packages.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Tails</a:t>
            </a:r>
          </a:p>
          <a:p>
            <a:r>
              <a:rPr lang="en-US" dirty="0"/>
              <a:t>Privacy-focused Linux distribution.</a:t>
            </a:r>
          </a:p>
          <a:p>
            <a:r>
              <a:rPr lang="en-US" dirty="0"/>
              <a:t>Routes all internet traffic through </a:t>
            </a:r>
            <a:r>
              <a:rPr lang="en-US" b="1" dirty="0"/>
              <a:t>Tor network</a:t>
            </a:r>
            <a:r>
              <a:rPr lang="en-US" dirty="0"/>
              <a:t>.</a:t>
            </a:r>
          </a:p>
          <a:p>
            <a:r>
              <a:rPr lang="en-US" dirty="0"/>
              <a:t>Runs as a live OS from USB/DVD (no installation required).</a:t>
            </a:r>
          </a:p>
          <a:p>
            <a:r>
              <a:rPr lang="en-US" dirty="0"/>
              <a:t>Leaves no trace on the host computer.</a:t>
            </a:r>
          </a:p>
          <a:p>
            <a:r>
              <a:rPr lang="en-US" dirty="0"/>
              <a:t>Commonly used by journalists, activists, and security researchers.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Fedora</a:t>
            </a:r>
          </a:p>
          <a:p>
            <a:r>
              <a:rPr lang="en-US" dirty="0"/>
              <a:t>Community-driven distro sponsored by Red Hat.</a:t>
            </a:r>
          </a:p>
          <a:p>
            <a:r>
              <a:rPr lang="en-US" dirty="0"/>
              <a:t>Known for being cutting-edge and innovative.</a:t>
            </a:r>
          </a:p>
          <a:p>
            <a:r>
              <a:rPr lang="en-US" dirty="0"/>
              <a:t>Frequently used by developers.</a:t>
            </a:r>
          </a:p>
          <a:p>
            <a:r>
              <a:rPr lang="en-US" dirty="0"/>
              <a:t>Serves as a testing ground for features that later go into RHEL.</a:t>
            </a:r>
          </a:p>
          <a:p>
            <a:r>
              <a:rPr lang="en-US" dirty="0"/>
              <a:t>Comes with GNOME desktop by default.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Elementary OS</a:t>
            </a:r>
          </a:p>
          <a:p>
            <a:r>
              <a:rPr lang="en-US" dirty="0"/>
              <a:t>Ubuntu-based distribution with </a:t>
            </a:r>
            <a:r>
              <a:rPr lang="en-US" b="1" dirty="0"/>
              <a:t>macOS-like interface</a:t>
            </a:r>
            <a:r>
              <a:rPr lang="en-US" dirty="0"/>
              <a:t>.</a:t>
            </a:r>
          </a:p>
          <a:p>
            <a:r>
              <a:rPr lang="en-US" dirty="0"/>
              <a:t>Focuses on simplicity and a clean user experience.</a:t>
            </a:r>
          </a:p>
          <a:p>
            <a:r>
              <a:rPr lang="en-US" dirty="0"/>
              <a:t>Lightweight and visually appealing.</a:t>
            </a:r>
          </a:p>
          <a:p>
            <a:r>
              <a:rPr lang="en-US" dirty="0"/>
              <a:t>Comes with the </a:t>
            </a:r>
            <a:r>
              <a:rPr lang="en-US" b="1" dirty="0"/>
              <a:t>Pantheon desktop environment</a:t>
            </a:r>
            <a:r>
              <a:rPr lang="en-US" dirty="0"/>
              <a:t>.</a:t>
            </a:r>
          </a:p>
          <a:p>
            <a:r>
              <a:rPr lang="en-US" dirty="0"/>
              <a:t>Popular among users who like a polished, elegant system.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Kali Linux</a:t>
            </a:r>
          </a:p>
          <a:p>
            <a:r>
              <a:rPr lang="en-US" dirty="0"/>
              <a:t>Debian-based distribution for </a:t>
            </a:r>
            <a:r>
              <a:rPr lang="en-US" b="1" dirty="0"/>
              <a:t>penetration testing and cybersecurity</a:t>
            </a:r>
            <a:r>
              <a:rPr lang="en-US" dirty="0"/>
              <a:t>.</a:t>
            </a:r>
          </a:p>
          <a:p>
            <a:r>
              <a:rPr lang="en-US" dirty="0"/>
              <a:t>Comes preloaded with hacking and forensic tools.</a:t>
            </a:r>
          </a:p>
          <a:p>
            <a:r>
              <a:rPr lang="en-US" dirty="0"/>
              <a:t>Used by security professionals, ethical hackers, and researchers.</a:t>
            </a:r>
          </a:p>
          <a:p>
            <a:r>
              <a:rPr lang="en-US" dirty="0"/>
              <a:t>Regularly updated with latest security tools.</a:t>
            </a:r>
          </a:p>
          <a:p>
            <a:r>
              <a:rPr lang="en-US" dirty="0"/>
              <a:t>Not recommended for beginners or daily use.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MX Linux</a:t>
            </a:r>
          </a:p>
          <a:p>
            <a:r>
              <a:rPr lang="en-US" dirty="0"/>
              <a:t>Debian-based, lightweight, and efficient distro.</a:t>
            </a:r>
          </a:p>
          <a:p>
            <a:r>
              <a:rPr lang="en-US" dirty="0"/>
              <a:t>Known for speed and stability with </a:t>
            </a:r>
            <a:r>
              <a:rPr lang="en-US" dirty="0" err="1"/>
              <a:t>Xfce</a:t>
            </a:r>
            <a:r>
              <a:rPr lang="en-US" dirty="0"/>
              <a:t> desktop.</a:t>
            </a:r>
          </a:p>
          <a:p>
            <a:r>
              <a:rPr lang="en-US" dirty="0"/>
              <a:t>Provides a balance between performance and usability.</a:t>
            </a:r>
          </a:p>
          <a:p>
            <a:r>
              <a:rPr lang="en-US" dirty="0"/>
              <a:t>Comes with many pre-installed tools for system management.</a:t>
            </a:r>
          </a:p>
          <a:p>
            <a:r>
              <a:rPr lang="en-US" dirty="0"/>
              <a:t>Suitable for low-resource computers.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72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Open-source and modular:</a:t>
            </a:r>
          </a:p>
          <a:p>
            <a:r>
              <a:rPr lang="en-US" dirty="0"/>
              <a:t>Kernel source is freely available and modifiable.</a:t>
            </a:r>
          </a:p>
          <a:p>
            <a:r>
              <a:rPr lang="en-US" dirty="0"/>
              <a:t>community-driven development</a:t>
            </a:r>
          </a:p>
          <a:p>
            <a:r>
              <a:rPr lang="en-US" b="1" dirty="0"/>
              <a:t>Monolithic kernel with modules</a:t>
            </a:r>
            <a:r>
              <a:rPr lang="en-US" dirty="0"/>
              <a:t> → large kernel but extendable at runtime</a:t>
            </a:r>
          </a:p>
          <a:p>
            <a:r>
              <a:rPr lang="en-US" b="1" dirty="0"/>
              <a:t>Portability</a:t>
            </a:r>
          </a:p>
          <a:p>
            <a:r>
              <a:rPr lang="en-US" dirty="0"/>
              <a:t>-Written mainly in </a:t>
            </a:r>
            <a:r>
              <a:rPr lang="en-US" b="1" dirty="0"/>
              <a:t>C</a:t>
            </a:r>
            <a:r>
              <a:rPr lang="en-US" dirty="0"/>
              <a:t>, allowing easy porting to different hardware.</a:t>
            </a:r>
          </a:p>
          <a:p>
            <a:r>
              <a:rPr lang="en-US" dirty="0"/>
              <a:t>-Runs on servers, desktops, mobiles, supercomputers</a:t>
            </a:r>
          </a:p>
          <a:p>
            <a:r>
              <a:rPr lang="en-US" b="1" dirty="0"/>
              <a:t>POSIX compliance</a:t>
            </a:r>
            <a:r>
              <a:rPr lang="en-US" dirty="0"/>
              <a:t> </a:t>
            </a:r>
          </a:p>
          <a:p>
            <a:r>
              <a:rPr lang="en-US" dirty="0"/>
              <a:t>-maintains UNIX compatibility</a:t>
            </a:r>
          </a:p>
          <a:p>
            <a:r>
              <a:rPr lang="en-US" b="1" dirty="0"/>
              <a:t>Pipe-based composition</a:t>
            </a:r>
            <a:endParaRPr lang="en-US" dirty="0"/>
          </a:p>
          <a:p>
            <a:r>
              <a:rPr lang="en-US" dirty="0"/>
              <a:t>-Output of one command can be input of another</a:t>
            </a:r>
          </a:p>
          <a:p>
            <a:r>
              <a:rPr lang="en-US" b="1" dirty="0"/>
              <a:t>Simplicity and efficiency</a:t>
            </a:r>
          </a:p>
          <a:p>
            <a:r>
              <a:rPr lang="en-US" b="1" dirty="0"/>
              <a:t>-</a:t>
            </a:r>
            <a:r>
              <a:rPr lang="en-US" dirty="0"/>
              <a:t>designed for stability and performance</a:t>
            </a:r>
          </a:p>
          <a:p>
            <a:r>
              <a:rPr lang="en-US" b="1" dirty="0"/>
              <a:t>Security</a:t>
            </a:r>
          </a:p>
          <a:p>
            <a:r>
              <a:rPr lang="en-US" b="1" dirty="0"/>
              <a:t>-</a:t>
            </a:r>
            <a:r>
              <a:rPr lang="en-US" dirty="0"/>
              <a:t>multi-user system with strict permission models</a:t>
            </a:r>
          </a:p>
          <a:p>
            <a:r>
              <a:rPr lang="en-US" b="1" dirty="0"/>
              <a:t>Multi-user and multitasking</a:t>
            </a:r>
            <a:endParaRPr lang="en-US" dirty="0"/>
          </a:p>
          <a:p>
            <a:r>
              <a:rPr lang="en-US" dirty="0"/>
              <a:t>Supports multiple users and processes simultaneously.</a:t>
            </a:r>
          </a:p>
          <a:p>
            <a:r>
              <a:rPr lang="en-US" b="1" dirty="0"/>
              <a:t>Small, single-purpose utilities</a:t>
            </a:r>
            <a:endParaRPr lang="en-US" dirty="0"/>
          </a:p>
          <a:p>
            <a:r>
              <a:rPr lang="en-US" dirty="0"/>
              <a:t>Each command performs one task well</a:t>
            </a:r>
          </a:p>
          <a:p>
            <a:r>
              <a:rPr lang="en-US" dirty="0"/>
              <a:t>Example: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grep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awk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00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“Processes in Linux can’t directly access each other’s memory, so IPC provides mechanisms for communication and synchronization. </a:t>
            </a:r>
          </a:p>
          <a:p>
            <a:r>
              <a:rPr lang="en-US" b="1" dirty="0"/>
              <a:t>Pipes and FIFOs</a:t>
            </a:r>
            <a:r>
              <a:rPr lang="en-US" dirty="0"/>
              <a:t> allow data to be passed in a stream between processes under same root/parent but in </a:t>
            </a:r>
            <a:r>
              <a:rPr lang="en-US" dirty="0" err="1"/>
              <a:t>fifo</a:t>
            </a:r>
            <a:r>
              <a:rPr lang="en-US" dirty="0"/>
              <a:t> these are named pipe that can be used by unrelated processes not just parent -child</a:t>
            </a:r>
          </a:p>
          <a:p>
            <a:r>
              <a:rPr lang="en-US" b="1" dirty="0"/>
              <a:t>Message queues</a:t>
            </a:r>
            <a:r>
              <a:rPr lang="en-US" dirty="0"/>
              <a:t> let processes send and receive structured messages (as packets) asynchronously. </a:t>
            </a:r>
          </a:p>
          <a:p>
            <a:r>
              <a:rPr lang="en-US" dirty="0"/>
              <a:t>Each </a:t>
            </a:r>
            <a:r>
              <a:rPr lang="en-US" dirty="0" err="1"/>
              <a:t>messase</a:t>
            </a:r>
            <a:r>
              <a:rPr lang="en-US" dirty="0"/>
              <a:t> is identified by key (ID), any process can communicate as long as they know the queue id</a:t>
            </a:r>
          </a:p>
          <a:p>
            <a:r>
              <a:rPr lang="en-US" dirty="0"/>
              <a:t>It has </a:t>
            </a:r>
            <a:r>
              <a:rPr lang="en-US" dirty="0" err="1"/>
              <a:t>fifo</a:t>
            </a:r>
            <a:r>
              <a:rPr lang="en-US" dirty="0"/>
              <a:t> queue structure</a:t>
            </a:r>
          </a:p>
          <a:p>
            <a:r>
              <a:rPr lang="en-US" dirty="0"/>
              <a:t>Messages as persistence such that they stay in queue until read or </a:t>
            </a:r>
            <a:r>
              <a:rPr lang="en-US" dirty="0" err="1"/>
              <a:t>deleate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Shared memory</a:t>
            </a:r>
            <a:r>
              <a:rPr lang="en-US" dirty="0"/>
              <a:t> is the fastest (because processes directly read/write to memory without kernel intervention) IPC method because processes map the same memory region,</a:t>
            </a:r>
          </a:p>
          <a:p>
            <a:r>
              <a:rPr lang="en-US" dirty="0"/>
              <a:t>but it requires synchronization with </a:t>
            </a:r>
            <a:r>
              <a:rPr lang="en-US" b="1" dirty="0"/>
              <a:t>semaphores (</a:t>
            </a:r>
            <a:r>
              <a:rPr lang="en-US" dirty="0"/>
              <a:t>is a </a:t>
            </a:r>
            <a:r>
              <a:rPr lang="en-US" b="1" dirty="0"/>
              <a:t>synchronization mechanism</a:t>
            </a:r>
            <a:r>
              <a:rPr lang="en-US" dirty="0"/>
              <a:t> used to control access to a </a:t>
            </a:r>
            <a:r>
              <a:rPr lang="en-US" b="1" dirty="0"/>
              <a:t>shared resource</a:t>
            </a:r>
            <a:r>
              <a:rPr lang="en-US" dirty="0"/>
              <a:t> by multiple processes or threads.</a:t>
            </a:r>
            <a:r>
              <a:rPr lang="en-US" b="1" dirty="0"/>
              <a:t>) </a:t>
            </a:r>
            <a:r>
              <a:rPr lang="en-US" dirty="0"/>
              <a:t>.</a:t>
            </a:r>
          </a:p>
          <a:p>
            <a:r>
              <a:rPr lang="en-US" b="1" dirty="0"/>
              <a:t>Semaphores = synchronization tools</a:t>
            </a:r>
            <a:r>
              <a:rPr lang="en-US" dirty="0"/>
              <a:t> for coordinating processes.</a:t>
            </a:r>
          </a:p>
          <a:p>
            <a:r>
              <a:rPr lang="en-US" dirty="0"/>
              <a:t>They prevent </a:t>
            </a:r>
            <a:r>
              <a:rPr lang="en-US" b="1" dirty="0"/>
              <a:t>race conditions</a:t>
            </a:r>
            <a:r>
              <a:rPr lang="en-US" dirty="0"/>
              <a:t>, ensure </a:t>
            </a:r>
            <a:r>
              <a:rPr lang="en-US" b="1" dirty="0"/>
              <a:t>mutual exclusion</a:t>
            </a:r>
            <a:r>
              <a:rPr lang="en-US" dirty="0"/>
              <a:t>, and help solve </a:t>
            </a:r>
            <a:r>
              <a:rPr lang="en-US" b="1" dirty="0"/>
              <a:t>classic synchronization problems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For distributed systems, Linux provides </a:t>
            </a:r>
          </a:p>
          <a:p>
            <a:r>
              <a:rPr lang="en-US" b="1" dirty="0"/>
              <a:t>sockets</a:t>
            </a:r>
            <a:r>
              <a:rPr lang="en-US" dirty="0"/>
              <a:t>, which work over networks or locally. Together, these methods make Linux highly versatile for everything from simple scripts to enterprise-level applications.”</a:t>
            </a:r>
          </a:p>
          <a:p>
            <a:r>
              <a:rPr lang="en-US" b="1" dirty="0"/>
              <a:t>Sockets</a:t>
            </a:r>
            <a:r>
              <a:rPr lang="en-US" dirty="0"/>
              <a:t> are endpoints for </a:t>
            </a:r>
            <a:r>
              <a:rPr lang="en-US" b="1" dirty="0"/>
              <a:t>bi-directional communication</a:t>
            </a:r>
            <a:r>
              <a:rPr lang="en-US" dirty="0"/>
              <a:t>.</a:t>
            </a:r>
          </a:p>
          <a:p>
            <a:r>
              <a:rPr lang="en-US" dirty="0"/>
              <a:t>They can be used for </a:t>
            </a:r>
            <a:r>
              <a:rPr lang="en-US" b="1" dirty="0"/>
              <a:t>local IPC</a:t>
            </a:r>
            <a:r>
              <a:rPr lang="en-US" dirty="0"/>
              <a:t> or </a:t>
            </a:r>
            <a:r>
              <a:rPr lang="en-US" b="1" dirty="0"/>
              <a:t>network communication</a:t>
            </a:r>
            <a:r>
              <a:rPr lang="en-US" dirty="0"/>
              <a:t>.</a:t>
            </a:r>
          </a:p>
          <a:p>
            <a:r>
              <a:rPr lang="en-US" dirty="0"/>
              <a:t>Most modern client-server applications (web, email, chat, games) are built on sockets.</a:t>
            </a:r>
          </a:p>
          <a:p>
            <a:endParaRPr lang="en-US" dirty="0"/>
          </a:p>
          <a:p>
            <a:endParaRPr lang="en-US" dirty="0"/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Pipes: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Unidirectional communication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between related processes (e.g., parent and child).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flows from the writing end of the pipe to the reading end.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 ls | grep txt where the output of ls is piped as input to grep.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FIFOs (Named Pipes):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 to pipes but allow communication between unrelated processes.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 as special files in the filesystem using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mkfifo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 open the FIFO like a regular file for reading or writing.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Queues: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processes to exchange messages in a structured manner.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 are placed onto a queue by one process and retrieved by another.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Offers more flexibility than pipes or FIFOs for asynchronous communication.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Memory: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fastest IPC mechanism, enabling processes to share a common region of memory.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 directly read and write to this shared memory segment.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synchronization mechanisms (like semaphores) to prevent race conditions when multiple processes access the shared memory concurrently.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Shmget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shmat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Semaphores: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for synchronization and mutual exclusion to control access to shared resources (like shared memory).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are essentially integer variables used to manage access, often with P (wait) and V (signal) operations.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Signals: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limited form of IPC used for asynchronous notifications between processes.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process sends a signal (e.g., SIGTERM, SIGKILL) to another, informing it of an event or requesting an action.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carry data directly but can trigger specific signal handlers in the receiving process.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choice of IPC mechanism depends on factors such as the relationship between processes, the amount and type of data to be exchanged, and the required level of synchronization.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02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Loadable modules add functionality without recompiling the kernel</a:t>
            </a:r>
          </a:p>
          <a:p>
            <a:r>
              <a:rPr lang="en-US" dirty="0"/>
              <a:t>Commonly used for device drivers, file systems, network services</a:t>
            </a:r>
          </a:p>
          <a:p>
            <a:r>
              <a:rPr lang="en-US" dirty="0"/>
              <a:t>Tools: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insmod</a:t>
            </a:r>
            <a:r>
              <a:rPr lang="en-US" dirty="0"/>
              <a:t> (insert module),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rmmod</a:t>
            </a:r>
            <a:r>
              <a:rPr lang="en-US" dirty="0"/>
              <a:t> (remove),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lsmod</a:t>
            </a:r>
            <a:r>
              <a:rPr lang="en-US" dirty="0"/>
              <a:t> (list)</a:t>
            </a:r>
          </a:p>
          <a:p>
            <a:endParaRPr lang="en-US" dirty="0"/>
          </a:p>
          <a:p>
            <a:r>
              <a:rPr lang="en-US" dirty="0"/>
              <a:t>Kernel modules allow </a:t>
            </a:r>
            <a:r>
              <a:rPr lang="en-US" b="1" dirty="0"/>
              <a:t>dynamic extension of kernel functionality</a:t>
            </a:r>
            <a:r>
              <a:rPr lang="en-US" dirty="0"/>
              <a:t> without rebooting.</a:t>
            </a:r>
          </a:p>
          <a:p>
            <a:r>
              <a:rPr lang="en-US" b="1" dirty="0"/>
              <a:t>Features:</a:t>
            </a:r>
            <a:endParaRPr lang="en-US" dirty="0"/>
          </a:p>
          <a:p>
            <a:r>
              <a:rPr lang="en-US" dirty="0"/>
              <a:t>Loadable at runtime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insmod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modprobe</a:t>
            </a:r>
            <a:r>
              <a:rPr lang="en-US" dirty="0"/>
              <a:t>)</a:t>
            </a:r>
          </a:p>
          <a:p>
            <a:r>
              <a:rPr lang="en-US" dirty="0"/>
              <a:t>Removable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rmmod</a:t>
            </a:r>
            <a:r>
              <a:rPr lang="en-US" dirty="0"/>
              <a:t>)</a:t>
            </a:r>
          </a:p>
          <a:p>
            <a:r>
              <a:rPr lang="en-US" dirty="0"/>
              <a:t>Reduce kernel size</a:t>
            </a:r>
          </a:p>
          <a:p>
            <a:r>
              <a:rPr lang="en-US" dirty="0"/>
              <a:t>Improve flexibility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Device drivers</a:t>
            </a:r>
          </a:p>
          <a:p>
            <a:r>
              <a:rPr lang="en-US" dirty="0"/>
              <a:t>File system drivers</a:t>
            </a:r>
          </a:p>
          <a:p>
            <a:r>
              <a:rPr lang="en-US" dirty="0"/>
              <a:t>Network drivers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Faster development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Better memory utilization (load only when needed)</a:t>
            </a:r>
          </a:p>
          <a:p>
            <a:r>
              <a:rPr lang="en-US" dirty="0"/>
              <a:t>Easy maintenance (can debug/update modules separately)</a:t>
            </a:r>
          </a:p>
          <a:p>
            <a:r>
              <a:rPr lang="en-US" dirty="0"/>
              <a:t>High flexibility for developers</a:t>
            </a:r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Functions of the Kernel</a:t>
            </a:r>
          </a:p>
          <a:p>
            <a:r>
              <a:rPr lang="en-US" b="1" dirty="0"/>
              <a:t>Process Management</a:t>
            </a:r>
            <a:endParaRPr lang="en-US" dirty="0"/>
          </a:p>
          <a:p>
            <a:pPr lvl="1"/>
            <a:r>
              <a:rPr lang="en-US" dirty="0"/>
              <a:t>Creates, schedules, and terminates processes.</a:t>
            </a:r>
          </a:p>
          <a:p>
            <a:pPr lvl="1"/>
            <a:r>
              <a:rPr lang="en-US" dirty="0"/>
              <a:t>Allocates CPU time fairly (e.g., FCFS, Round Robin, Priority scheduling).</a:t>
            </a:r>
          </a:p>
          <a:p>
            <a:r>
              <a:rPr lang="en-US" b="1" dirty="0"/>
              <a:t>Memory Management</a:t>
            </a:r>
            <a:endParaRPr lang="en-US" dirty="0"/>
          </a:p>
          <a:p>
            <a:pPr lvl="1"/>
            <a:r>
              <a:rPr lang="en-US" dirty="0"/>
              <a:t>Allocates/deallocates memory for processes.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paging, segmentation, and virtual memory</a:t>
            </a:r>
            <a:r>
              <a:rPr lang="en-US" dirty="0"/>
              <a:t>.</a:t>
            </a:r>
          </a:p>
          <a:p>
            <a:r>
              <a:rPr lang="en-US" b="1" dirty="0"/>
              <a:t>Device Management</a:t>
            </a:r>
            <a:endParaRPr lang="en-US" dirty="0"/>
          </a:p>
          <a:p>
            <a:pPr lvl="1"/>
            <a:r>
              <a:rPr lang="en-US" dirty="0"/>
              <a:t>Provides a </a:t>
            </a:r>
            <a:r>
              <a:rPr lang="en-US" b="1" dirty="0"/>
              <a:t>uniform interface</a:t>
            </a:r>
            <a:r>
              <a:rPr lang="en-US" dirty="0"/>
              <a:t> to hardware devices (printers, disks, network cards).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device drivers</a:t>
            </a:r>
            <a:r>
              <a:rPr lang="en-US" dirty="0"/>
              <a:t> to communicate with hardware.</a:t>
            </a:r>
          </a:p>
          <a:p>
            <a:r>
              <a:rPr lang="en-US" b="1" dirty="0"/>
              <a:t>File System Management</a:t>
            </a:r>
            <a:endParaRPr lang="en-US" dirty="0"/>
          </a:p>
          <a:p>
            <a:pPr lvl="1"/>
            <a:r>
              <a:rPr lang="en-US" dirty="0"/>
              <a:t>Manages files, directories, permissions, and storage.</a:t>
            </a:r>
          </a:p>
          <a:p>
            <a:r>
              <a:rPr lang="en-US" b="1" dirty="0"/>
              <a:t>System Calls / Interface</a:t>
            </a:r>
            <a:endParaRPr lang="en-US" dirty="0"/>
          </a:p>
          <a:p>
            <a:pPr lvl="1"/>
            <a:r>
              <a:rPr lang="en-US" dirty="0"/>
              <a:t>Provides an interface for user applications to request kernel services.</a:t>
            </a:r>
          </a:p>
          <a:p>
            <a:pPr lvl="1"/>
            <a:r>
              <a:rPr lang="en-US" dirty="0"/>
              <a:t>Example: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</a:t>
            </a:r>
          </a:p>
          <a:p>
            <a:r>
              <a:rPr lang="en-US" b="1" dirty="0"/>
              <a:t>Security &amp; Protection</a:t>
            </a:r>
            <a:endParaRPr lang="en-US" dirty="0"/>
          </a:p>
          <a:p>
            <a:pPr lvl="1"/>
            <a:r>
              <a:rPr lang="en-US" dirty="0"/>
              <a:t>Manages access rights and ensures processes don’t interfere with each other.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Types of Kernels</a:t>
            </a:r>
          </a:p>
          <a:p>
            <a:r>
              <a:rPr lang="en-US" b="1" dirty="0"/>
              <a:t>Monolithic Kernel</a:t>
            </a:r>
            <a:endParaRPr lang="en-US" dirty="0"/>
          </a:p>
          <a:p>
            <a:pPr lvl="1"/>
            <a:r>
              <a:rPr lang="en-US" dirty="0"/>
              <a:t>Entire OS (file system, device drivers, memory, scheduler) runs in </a:t>
            </a:r>
            <a:r>
              <a:rPr lang="en-US" b="1" dirty="0"/>
              <a:t>kernel mode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Fast, but large and harder to maintain.</a:t>
            </a:r>
          </a:p>
          <a:p>
            <a:pPr lvl="1"/>
            <a:r>
              <a:rPr lang="en-US" dirty="0"/>
              <a:t>Example: </a:t>
            </a:r>
            <a:r>
              <a:rPr lang="en-US" b="1" dirty="0"/>
              <a:t>Linux, UNIX</a:t>
            </a:r>
            <a:r>
              <a:rPr lang="en-US" dirty="0"/>
              <a:t>.</a:t>
            </a:r>
          </a:p>
          <a:p>
            <a:r>
              <a:rPr lang="en-US" b="1" dirty="0"/>
              <a:t>Microkernel</a:t>
            </a:r>
            <a:endParaRPr lang="en-US" dirty="0"/>
          </a:p>
          <a:p>
            <a:pPr lvl="1"/>
            <a:r>
              <a:rPr lang="en-US" dirty="0"/>
              <a:t>Minimal kernel, only basic services (IPC, scheduling, memory).</a:t>
            </a:r>
          </a:p>
          <a:p>
            <a:pPr lvl="1"/>
            <a:r>
              <a:rPr lang="en-US" dirty="0"/>
              <a:t>Other services (drivers, file system) run in </a:t>
            </a:r>
            <a:r>
              <a:rPr lang="en-US" b="1" dirty="0"/>
              <a:t>user space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More secure and modular, but slower (extra communication).</a:t>
            </a:r>
          </a:p>
          <a:p>
            <a:pPr lvl="1"/>
            <a:r>
              <a:rPr lang="en-US" dirty="0"/>
              <a:t>Example: </a:t>
            </a:r>
            <a:r>
              <a:rPr lang="en-US" b="1" dirty="0"/>
              <a:t>Minix, QNX</a:t>
            </a:r>
            <a:r>
              <a:rPr lang="en-US" dirty="0"/>
              <a:t>.</a:t>
            </a:r>
          </a:p>
          <a:p>
            <a:r>
              <a:rPr lang="en-US" b="1" dirty="0"/>
              <a:t>Hybrid Kernel</a:t>
            </a:r>
            <a:endParaRPr lang="en-US" dirty="0"/>
          </a:p>
          <a:p>
            <a:pPr lvl="1"/>
            <a:r>
              <a:rPr lang="en-US" dirty="0"/>
              <a:t>Mix of monolithic + microkernel features.</a:t>
            </a:r>
          </a:p>
          <a:p>
            <a:pPr lvl="1"/>
            <a:r>
              <a:rPr lang="en-US" dirty="0"/>
              <a:t>Better performance + modularity.</a:t>
            </a:r>
          </a:p>
          <a:p>
            <a:pPr lvl="1"/>
            <a:r>
              <a:rPr lang="en-US" dirty="0"/>
              <a:t>Example: </a:t>
            </a:r>
            <a:r>
              <a:rPr lang="en-US" b="1" dirty="0"/>
              <a:t>Windows NT, macOS (XNU kernel)</a:t>
            </a:r>
            <a:r>
              <a:rPr lang="en-US" dirty="0"/>
              <a:t>.</a:t>
            </a:r>
          </a:p>
          <a:p>
            <a:r>
              <a:rPr lang="en-US" b="1" dirty="0"/>
              <a:t>Nano Kernel / Exokernel</a:t>
            </a:r>
            <a:endParaRPr lang="en-US" dirty="0"/>
          </a:p>
          <a:p>
            <a:pPr lvl="1"/>
            <a:r>
              <a:rPr lang="en-US" dirty="0"/>
              <a:t>Extremely minimal; delegates almost all services to applications.</a:t>
            </a:r>
          </a:p>
          <a:p>
            <a:pPr lvl="1"/>
            <a:r>
              <a:rPr lang="en-US" dirty="0"/>
              <a:t>Example: Some research OS designs.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Kernel vs Operating System</a:t>
            </a:r>
          </a:p>
          <a:p>
            <a:r>
              <a:rPr lang="en-US" dirty="0" err="1"/>
              <a:t>FeatureKernelOperating</a:t>
            </a:r>
            <a:r>
              <a:rPr lang="en-US" dirty="0"/>
              <a:t> </a:t>
            </a:r>
            <a:r>
              <a:rPr lang="en-US" dirty="0" err="1"/>
              <a:t>System</a:t>
            </a:r>
            <a:r>
              <a:rPr lang="en-US" b="1" dirty="0" err="1"/>
              <a:t>Definition</a:t>
            </a:r>
            <a:r>
              <a:rPr lang="en-US" dirty="0" err="1"/>
              <a:t>Core</a:t>
            </a:r>
            <a:r>
              <a:rPr lang="en-US" dirty="0"/>
              <a:t> part of </a:t>
            </a:r>
            <a:r>
              <a:rPr lang="en-US" dirty="0" err="1"/>
              <a:t>OSKernel</a:t>
            </a:r>
            <a:r>
              <a:rPr lang="en-US" dirty="0"/>
              <a:t> + system programs + </a:t>
            </a:r>
            <a:r>
              <a:rPr lang="en-US" dirty="0" err="1"/>
              <a:t>utilities</a:t>
            </a:r>
            <a:r>
              <a:rPr lang="en-US" b="1" dirty="0" err="1"/>
              <a:t>Role</a:t>
            </a:r>
            <a:r>
              <a:rPr lang="en-US" dirty="0" err="1"/>
              <a:t>Manages</a:t>
            </a:r>
            <a:r>
              <a:rPr lang="en-US" dirty="0"/>
              <a:t> hardware + system </a:t>
            </a:r>
            <a:r>
              <a:rPr lang="en-US" dirty="0" err="1"/>
              <a:t>resourcesProvides</a:t>
            </a:r>
            <a:r>
              <a:rPr lang="en-US" dirty="0"/>
              <a:t> full environment for </a:t>
            </a:r>
            <a:r>
              <a:rPr lang="en-US" dirty="0" err="1"/>
              <a:t>users</a:t>
            </a:r>
            <a:r>
              <a:rPr lang="en-US" b="1" dirty="0" err="1"/>
              <a:t>Direct</a:t>
            </a:r>
            <a:r>
              <a:rPr lang="en-US" b="1" dirty="0"/>
              <a:t> </a:t>
            </a:r>
            <a:r>
              <a:rPr lang="en-US" b="1" dirty="0" err="1"/>
              <a:t>use?</a:t>
            </a:r>
            <a:r>
              <a:rPr lang="en-US" dirty="0" err="1"/>
              <a:t>No</a:t>
            </a:r>
            <a:r>
              <a:rPr lang="en-US" dirty="0"/>
              <a:t> (indirectly via system calls)Yes (user interacts with shell, GUI, etc.)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Kernel Modes</a:t>
            </a:r>
          </a:p>
          <a:p>
            <a:r>
              <a:rPr lang="en-US" b="1" dirty="0"/>
              <a:t>Kernel Mode (privileged mode)</a:t>
            </a:r>
            <a:endParaRPr lang="en-US" dirty="0"/>
          </a:p>
          <a:p>
            <a:pPr lvl="1"/>
            <a:r>
              <a:rPr lang="en-US" dirty="0"/>
              <a:t>Kernel executes here with full hardware access.</a:t>
            </a:r>
          </a:p>
          <a:p>
            <a:pPr lvl="1"/>
            <a:r>
              <a:rPr lang="en-US" dirty="0"/>
              <a:t>Can execute all instructions.</a:t>
            </a:r>
          </a:p>
          <a:p>
            <a:r>
              <a:rPr lang="en-US" b="1" dirty="0"/>
              <a:t>User Mode</a:t>
            </a:r>
            <a:endParaRPr lang="en-US" dirty="0"/>
          </a:p>
          <a:p>
            <a:pPr lvl="1"/>
            <a:r>
              <a:rPr lang="en-US" dirty="0"/>
              <a:t>Applications run here with restricted access.</a:t>
            </a:r>
          </a:p>
          <a:p>
            <a:pPr lvl="1"/>
            <a:r>
              <a:rPr lang="en-US" dirty="0"/>
              <a:t>If they need hardware access, they make </a:t>
            </a:r>
            <a:r>
              <a:rPr lang="en-US" b="1" dirty="0"/>
              <a:t>system calls</a:t>
            </a:r>
            <a:r>
              <a:rPr lang="en-US" dirty="0"/>
              <a:t> to the kernel.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Summary</a:t>
            </a:r>
            <a:r>
              <a:rPr lang="en-US" dirty="0"/>
              <a:t>:</a:t>
            </a:r>
          </a:p>
          <a:p>
            <a:r>
              <a:rPr lang="en-US" dirty="0"/>
              <a:t>The </a:t>
            </a:r>
            <a:r>
              <a:rPr lang="en-US" b="1" dirty="0"/>
              <a:t>kernel is the core of the OS</a:t>
            </a:r>
            <a:r>
              <a:rPr lang="en-US" dirty="0"/>
              <a:t> that controls hardware, processes, memory, files, and devices.</a:t>
            </a:r>
          </a:p>
          <a:p>
            <a:r>
              <a:rPr lang="en-US" dirty="0"/>
              <a:t>It operates in </a:t>
            </a:r>
            <a:r>
              <a:rPr lang="en-US" b="1" dirty="0"/>
              <a:t>kernel mode</a:t>
            </a:r>
            <a:r>
              <a:rPr lang="en-US" dirty="0"/>
              <a:t>, while apps run in </a:t>
            </a:r>
            <a:r>
              <a:rPr lang="en-US" b="1" dirty="0"/>
              <a:t>user mode</a:t>
            </a:r>
            <a:r>
              <a:rPr lang="en-US" dirty="0"/>
              <a:t>.</a:t>
            </a:r>
          </a:p>
          <a:p>
            <a:r>
              <a:rPr lang="en-US" dirty="0"/>
              <a:t>Types: </a:t>
            </a:r>
            <a:r>
              <a:rPr lang="en-US" b="1" dirty="0"/>
              <a:t>Monolithic, Microkernel, Hybrid, Nano/Exokernel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for multiple protocols (IPv4, IPv6, etc.)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Linux uses a </a:t>
            </a:r>
            <a:r>
              <a:rPr lang="en-US" b="1" dirty="0"/>
              <a:t>layered networking architecture</a:t>
            </a:r>
            <a:r>
              <a:rPr lang="en-US" dirty="0"/>
              <a:t>.</a:t>
            </a:r>
          </a:p>
          <a:p>
            <a:r>
              <a:rPr lang="en-US" b="1" dirty="0"/>
              <a:t>Layers:</a:t>
            </a:r>
            <a:endParaRPr lang="en-US" dirty="0"/>
          </a:p>
          <a:p>
            <a:r>
              <a:rPr lang="en-US" b="1" dirty="0"/>
              <a:t>User Space</a:t>
            </a:r>
            <a:endParaRPr lang="en-US" dirty="0"/>
          </a:p>
          <a:p>
            <a:pPr lvl="1"/>
            <a:r>
              <a:rPr lang="en-US" dirty="0"/>
              <a:t>Applications (browser, FTP, SSH)</a:t>
            </a:r>
          </a:p>
          <a:p>
            <a:r>
              <a:rPr lang="en-US" b="1" dirty="0"/>
              <a:t>Socket Interface</a:t>
            </a:r>
            <a:endParaRPr lang="en-US" dirty="0"/>
          </a:p>
          <a:p>
            <a:pPr lvl="1"/>
            <a:r>
              <a:rPr lang="en-US" dirty="0"/>
              <a:t>Standard API for communication</a:t>
            </a:r>
          </a:p>
          <a:p>
            <a:r>
              <a:rPr lang="en-US" b="1" dirty="0"/>
              <a:t>Protocol Stack</a:t>
            </a:r>
            <a:endParaRPr lang="en-US" dirty="0"/>
          </a:p>
          <a:p>
            <a:pPr lvl="1"/>
            <a:r>
              <a:rPr lang="en-US" dirty="0"/>
              <a:t>TCP/IP, UDP, ICMP</a:t>
            </a:r>
          </a:p>
          <a:p>
            <a:r>
              <a:rPr lang="en-US" b="1" dirty="0"/>
              <a:t>Network Device Drivers</a:t>
            </a:r>
            <a:endParaRPr lang="en-US" dirty="0"/>
          </a:p>
          <a:p>
            <a:pPr lvl="1"/>
            <a:r>
              <a:rPr lang="en-US" dirty="0"/>
              <a:t>Ethernet, Wi-Fi drivers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Support for virtual networking (bridges, VLANs, VPNs)</a:t>
            </a:r>
          </a:p>
          <a:p>
            <a:r>
              <a:rPr lang="en-US" b="1" dirty="0"/>
              <a:t>Network Hardware</a:t>
            </a:r>
            <a:endParaRPr lang="en-US" dirty="0"/>
          </a:p>
          <a:p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Full TCP/IP stack</a:t>
            </a:r>
          </a:p>
          <a:p>
            <a:r>
              <a:rPr lang="en-US" dirty="0"/>
              <a:t>packet filtering, Strong routing and firewall support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iptables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nftables</a:t>
            </a:r>
            <a:r>
              <a:rPr lang="en-US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Widely used as core OS in servers, networking devices, routers, and cloud systems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66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Hybrid kernel</a:t>
            </a:r>
            <a:r>
              <a:rPr lang="en-US" dirty="0"/>
              <a:t> → combines monolithic and microkernel advantages</a:t>
            </a:r>
          </a:p>
          <a:p>
            <a:r>
              <a:rPr lang="en-US" b="1" dirty="0"/>
              <a:t>Backward compatibility</a:t>
            </a:r>
            <a:r>
              <a:rPr lang="en-US" dirty="0"/>
              <a:t> → supports legacy applications</a:t>
            </a:r>
          </a:p>
          <a:p>
            <a:r>
              <a:rPr lang="en-US" b="1" dirty="0"/>
              <a:t>Layered structure</a:t>
            </a:r>
            <a:r>
              <a:rPr lang="en-US" dirty="0"/>
              <a:t> → modular separation of components</a:t>
            </a:r>
          </a:p>
          <a:p>
            <a:r>
              <a:rPr lang="en-US" b="1" dirty="0"/>
              <a:t>Hardware portability</a:t>
            </a:r>
            <a:r>
              <a:rPr lang="en-US" dirty="0"/>
              <a:t> → runs on multiple architectures</a:t>
            </a:r>
          </a:p>
          <a:p>
            <a:r>
              <a:rPr lang="en-US" b="1" dirty="0"/>
              <a:t>GUI integration</a:t>
            </a:r>
            <a:r>
              <a:rPr lang="en-US" dirty="0"/>
              <a:t> → user-friendly design for desktops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97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Win32 API</a:t>
            </a:r>
            <a:r>
              <a:rPr lang="en-US" dirty="0"/>
              <a:t> → core interface for applications</a:t>
            </a:r>
          </a:p>
          <a:p>
            <a:r>
              <a:rPr lang="en-US" b="1" dirty="0"/>
              <a:t>.NET Framework / WinRT</a:t>
            </a:r>
            <a:r>
              <a:rPr lang="en-US" dirty="0"/>
              <a:t> → higher-level development tools</a:t>
            </a:r>
          </a:p>
          <a:p>
            <a:r>
              <a:rPr lang="en-US" b="1" dirty="0"/>
              <a:t>WSL (Windows Subsystem for Linux)</a:t>
            </a:r>
            <a:r>
              <a:rPr lang="en-US" dirty="0"/>
              <a:t> → run Linux apps inside Windows</a:t>
            </a:r>
          </a:p>
          <a:p>
            <a:r>
              <a:rPr lang="en-US" b="1" dirty="0"/>
              <a:t>Driver Interface (WDM)</a:t>
            </a:r>
            <a:r>
              <a:rPr lang="en-US" dirty="0"/>
              <a:t> → uniform standard for hardware drivers</a:t>
            </a:r>
          </a:p>
          <a:p>
            <a:r>
              <a:rPr lang="en-US" dirty="0"/>
              <a:t>Supports many programming languages (C, C++, C#, VB, etc.)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43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Executive</a:t>
            </a:r>
            <a:r>
              <a:rPr lang="en-US" dirty="0"/>
              <a:t> → memory management, I/O, security</a:t>
            </a:r>
          </a:p>
          <a:p>
            <a:r>
              <a:rPr lang="en-US" b="1" dirty="0"/>
              <a:t>Kernel</a:t>
            </a:r>
            <a:r>
              <a:rPr lang="en-US" dirty="0"/>
              <a:t> → low-level scheduling, thread management, interrupts</a:t>
            </a:r>
          </a:p>
          <a:p>
            <a:r>
              <a:rPr lang="en-US" b="1" dirty="0"/>
              <a:t>HAL (Hardware Abstraction Layer)</a:t>
            </a:r>
            <a:r>
              <a:rPr lang="en-US" dirty="0"/>
              <a:t> → isolates OS from hardware details</a:t>
            </a:r>
          </a:p>
          <a:p>
            <a:r>
              <a:rPr lang="en-US" b="1" dirty="0"/>
              <a:t>Device Drivers</a:t>
            </a:r>
            <a:r>
              <a:rPr lang="en-US" dirty="0"/>
              <a:t> → interface to hardware</a:t>
            </a:r>
          </a:p>
          <a:p>
            <a:r>
              <a:rPr lang="en-US" b="1" dirty="0"/>
              <a:t>Subsystems</a:t>
            </a:r>
            <a:r>
              <a:rPr lang="en-US" dirty="0"/>
              <a:t> → environments for running applications (Win32, .NET, POSIX in past)</a:t>
            </a:r>
          </a:p>
          <a:p>
            <a:r>
              <a:rPr lang="en-US" b="1" dirty="0"/>
              <a:t>User Mode vs Kernel Mode</a:t>
            </a:r>
            <a:r>
              <a:rPr lang="en-US" dirty="0"/>
              <a:t> → ensures stability and security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22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User Account Control (UAC)</a:t>
            </a:r>
          </a:p>
          <a:p>
            <a:r>
              <a:rPr lang="en-US" dirty="0"/>
              <a:t>UAC is a </a:t>
            </a:r>
            <a:r>
              <a:rPr lang="en-US" b="1" dirty="0"/>
              <a:t>Windows security feature</a:t>
            </a:r>
            <a:r>
              <a:rPr lang="en-US" dirty="0"/>
              <a:t> that prevents unauthorized system changes.</a:t>
            </a:r>
          </a:p>
          <a:p>
            <a:r>
              <a:rPr lang="en-US" dirty="0"/>
              <a:t>Runs users with </a:t>
            </a:r>
            <a:r>
              <a:rPr lang="en-US" b="1" dirty="0"/>
              <a:t>standard privileges</a:t>
            </a:r>
            <a:r>
              <a:rPr lang="en-US" dirty="0"/>
              <a:t> by default</a:t>
            </a:r>
          </a:p>
          <a:p>
            <a:r>
              <a:rPr lang="en-US" dirty="0"/>
              <a:t>Prompts for </a:t>
            </a:r>
            <a:r>
              <a:rPr lang="en-US" b="1" dirty="0"/>
              <a:t>permission or admin credentials</a:t>
            </a:r>
            <a:r>
              <a:rPr lang="en-US" dirty="0"/>
              <a:t> before critical actions</a:t>
            </a:r>
          </a:p>
          <a:p>
            <a:r>
              <a:rPr lang="en-US" dirty="0"/>
              <a:t>Reduces risk of malware gaining admin access</a:t>
            </a:r>
          </a:p>
          <a:p>
            <a:r>
              <a:rPr lang="en-US" i="1" dirty="0"/>
              <a:t>Example:</a:t>
            </a:r>
            <a:r>
              <a:rPr lang="en-US" dirty="0"/>
              <a:t> Prompt appears when installing software.</a:t>
            </a:r>
          </a:p>
          <a:p>
            <a:endParaRPr lang="en-US" dirty="0"/>
          </a:p>
          <a:p>
            <a:r>
              <a:rPr lang="en-US" b="1" dirty="0"/>
              <a:t>NTFS Permissions</a:t>
            </a:r>
          </a:p>
          <a:p>
            <a:r>
              <a:rPr lang="en-US" dirty="0"/>
              <a:t>NTFS permissions control </a:t>
            </a:r>
            <a:r>
              <a:rPr lang="en-US" b="1" dirty="0"/>
              <a:t>access to files and folders</a:t>
            </a:r>
            <a:r>
              <a:rPr lang="en-US" dirty="0"/>
              <a:t> in Windows.</a:t>
            </a:r>
          </a:p>
          <a:p>
            <a:r>
              <a:rPr lang="en-US" dirty="0"/>
              <a:t>Permissions: </a:t>
            </a:r>
            <a:r>
              <a:rPr lang="en-US" b="1" dirty="0"/>
              <a:t>Read, Write, Execute, Modify, Full Control</a:t>
            </a:r>
            <a:endParaRPr lang="en-US" dirty="0"/>
          </a:p>
          <a:p>
            <a:r>
              <a:rPr lang="en-US" dirty="0"/>
              <a:t>Can be assigned to </a:t>
            </a:r>
            <a:r>
              <a:rPr lang="en-US" b="1" dirty="0"/>
              <a:t>users or groups</a:t>
            </a:r>
            <a:endParaRPr lang="en-US" dirty="0"/>
          </a:p>
          <a:p>
            <a:r>
              <a:rPr lang="en-US" dirty="0"/>
              <a:t>Supports </a:t>
            </a:r>
            <a:r>
              <a:rPr lang="en-US" b="1" dirty="0"/>
              <a:t>inheritance</a:t>
            </a:r>
            <a:r>
              <a:rPr lang="en-US" dirty="0"/>
              <a:t> and fine-grained access control</a:t>
            </a:r>
          </a:p>
          <a:p>
            <a:r>
              <a:rPr lang="en-US" i="1"/>
              <a:t>Used </a:t>
            </a:r>
            <a:r>
              <a:rPr lang="en-US" i="1" dirty="0"/>
              <a:t>to protect sensitive files on NTFS file systems.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Access Tokens</a:t>
            </a:r>
          </a:p>
          <a:p>
            <a:r>
              <a:rPr lang="en-US" dirty="0"/>
              <a:t>An access token is a </a:t>
            </a:r>
            <a:r>
              <a:rPr lang="en-US" b="1" dirty="0"/>
              <a:t>security identifier</a:t>
            </a:r>
            <a:r>
              <a:rPr lang="en-US" dirty="0"/>
              <a:t> attached to a process or user.</a:t>
            </a:r>
          </a:p>
          <a:p>
            <a:r>
              <a:rPr lang="en-US" dirty="0"/>
              <a:t>Created when a user logs in</a:t>
            </a:r>
          </a:p>
          <a:p>
            <a:r>
              <a:rPr lang="en-US" dirty="0"/>
              <a:t>Contains:</a:t>
            </a:r>
          </a:p>
          <a:p>
            <a:pPr lvl="1"/>
            <a:r>
              <a:rPr lang="en-US" dirty="0"/>
              <a:t>User SID</a:t>
            </a:r>
          </a:p>
          <a:p>
            <a:pPr lvl="1"/>
            <a:r>
              <a:rPr lang="en-US" dirty="0"/>
              <a:t>Group SIDs</a:t>
            </a:r>
          </a:p>
          <a:p>
            <a:pPr lvl="1"/>
            <a:r>
              <a:rPr lang="en-US" dirty="0"/>
              <a:t>Privileges</a:t>
            </a:r>
          </a:p>
          <a:p>
            <a:r>
              <a:rPr lang="en-US" dirty="0"/>
              <a:t>Used by Windows to </a:t>
            </a:r>
            <a:r>
              <a:rPr lang="en-US" b="1" dirty="0"/>
              <a:t>decide access rights</a:t>
            </a:r>
            <a:endParaRPr lang="en-US" dirty="0"/>
          </a:p>
          <a:p>
            <a:r>
              <a:rPr lang="en-US" i="1" dirty="0"/>
              <a:t>Windows checks the token before allowing resource access.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Active Directory</a:t>
            </a:r>
          </a:p>
          <a:p>
            <a:r>
              <a:rPr lang="en-US" dirty="0"/>
              <a:t>Active Directory (AD) is a </a:t>
            </a:r>
            <a:r>
              <a:rPr lang="en-US" b="1" dirty="0"/>
              <a:t>centralized directory service</a:t>
            </a:r>
            <a:r>
              <a:rPr lang="en-US" dirty="0"/>
              <a:t> used in Windows networks.</a:t>
            </a:r>
          </a:p>
          <a:p>
            <a:r>
              <a:rPr lang="en-US" dirty="0"/>
              <a:t>Manages </a:t>
            </a:r>
            <a:r>
              <a:rPr lang="en-US" b="1" dirty="0"/>
              <a:t>users, computers, groups</a:t>
            </a:r>
            <a:endParaRPr lang="en-US" dirty="0"/>
          </a:p>
          <a:p>
            <a:r>
              <a:rPr lang="en-US" dirty="0"/>
              <a:t>Provides </a:t>
            </a:r>
            <a:r>
              <a:rPr lang="en-US" b="1" dirty="0"/>
              <a:t>authentication and authorization</a:t>
            </a:r>
            <a:endParaRPr lang="en-US" dirty="0"/>
          </a:p>
          <a:p>
            <a:r>
              <a:rPr lang="en-US" dirty="0"/>
              <a:t>Supports </a:t>
            </a:r>
            <a:r>
              <a:rPr lang="en-US" b="1" dirty="0"/>
              <a:t>domain-based administration</a:t>
            </a:r>
            <a:endParaRPr lang="en-US" dirty="0"/>
          </a:p>
          <a:p>
            <a:r>
              <a:rPr lang="en-US" i="1" dirty="0"/>
              <a:t>Common in enterprises for centralized control.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Windows Defender</a:t>
            </a:r>
          </a:p>
          <a:p>
            <a:r>
              <a:rPr lang="en-US" dirty="0"/>
              <a:t>Windows Defender is a </a:t>
            </a:r>
            <a:r>
              <a:rPr lang="en-US" b="1" dirty="0"/>
              <a:t>built-in antivirus and security solution</a:t>
            </a:r>
            <a:r>
              <a:rPr lang="en-US" dirty="0"/>
              <a:t>.</a:t>
            </a:r>
          </a:p>
          <a:p>
            <a:r>
              <a:rPr lang="en-US" dirty="0"/>
              <a:t>Protects against malware, viruses, spyware</a:t>
            </a:r>
          </a:p>
          <a:p>
            <a:r>
              <a:rPr lang="en-US" dirty="0"/>
              <a:t>Provides </a:t>
            </a:r>
            <a:r>
              <a:rPr lang="en-US" b="1" dirty="0"/>
              <a:t>real-time protection</a:t>
            </a:r>
            <a:endParaRPr lang="en-US" dirty="0"/>
          </a:p>
          <a:p>
            <a:r>
              <a:rPr lang="en-US" dirty="0"/>
              <a:t>Integrated with Windows Security Center</a:t>
            </a:r>
          </a:p>
          <a:p>
            <a:r>
              <a:rPr lang="en-US" dirty="0"/>
              <a:t> </a:t>
            </a:r>
            <a:r>
              <a:rPr lang="en-US" i="1" dirty="0"/>
              <a:t>Enabled by default in modern Windows versions.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BitLocker Encryption</a:t>
            </a:r>
          </a:p>
          <a:p>
            <a:r>
              <a:rPr lang="en-US" dirty="0"/>
              <a:t>BitLocker is a </a:t>
            </a:r>
            <a:r>
              <a:rPr lang="en-US" b="1" dirty="0"/>
              <a:t>full-disk encryption</a:t>
            </a:r>
            <a:r>
              <a:rPr lang="en-US" dirty="0"/>
              <a:t> feature in Windows.</a:t>
            </a:r>
          </a:p>
          <a:p>
            <a:r>
              <a:rPr lang="en-US" dirty="0"/>
              <a:t>Encrypts entire drives</a:t>
            </a:r>
          </a:p>
          <a:p>
            <a:r>
              <a:rPr lang="en-US" dirty="0"/>
              <a:t>Protects data if device is lost or stolen</a:t>
            </a:r>
          </a:p>
          <a:p>
            <a:r>
              <a:rPr lang="en-US" dirty="0"/>
              <a:t>Uses </a:t>
            </a:r>
            <a:r>
              <a:rPr lang="en-US" b="1" dirty="0"/>
              <a:t>TPM (Trusted Platform Module)</a:t>
            </a:r>
            <a:endParaRPr lang="en-US" dirty="0"/>
          </a:p>
          <a:p>
            <a:r>
              <a:rPr lang="en-US" i="1" dirty="0"/>
              <a:t>Prevents unauthorized access to stored data.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Group Policy</a:t>
            </a:r>
          </a:p>
          <a:p>
            <a:r>
              <a:rPr lang="en-US" dirty="0"/>
              <a:t>Group Policy allows </a:t>
            </a:r>
            <a:r>
              <a:rPr lang="en-US" b="1" dirty="0"/>
              <a:t>centralized configuration and management</a:t>
            </a:r>
            <a:r>
              <a:rPr lang="en-US" dirty="0"/>
              <a:t> of systems.</a:t>
            </a:r>
          </a:p>
          <a:p>
            <a:r>
              <a:rPr lang="en-US" dirty="0"/>
              <a:t>Used in Active Directory environments</a:t>
            </a:r>
          </a:p>
          <a:p>
            <a:r>
              <a:rPr lang="en-US" dirty="0"/>
              <a:t>Controls:</a:t>
            </a:r>
          </a:p>
          <a:p>
            <a:pPr lvl="1"/>
            <a:r>
              <a:rPr lang="en-US" dirty="0"/>
              <a:t>Security settings</a:t>
            </a:r>
          </a:p>
          <a:p>
            <a:pPr lvl="1"/>
            <a:r>
              <a:rPr lang="en-US" dirty="0"/>
              <a:t>Software installation</a:t>
            </a:r>
          </a:p>
          <a:p>
            <a:pPr lvl="1"/>
            <a:r>
              <a:rPr lang="en-US" dirty="0"/>
              <a:t>User restrictions</a:t>
            </a:r>
          </a:p>
          <a:p>
            <a:r>
              <a:rPr lang="en-US" dirty="0"/>
              <a:t>Applied at </a:t>
            </a:r>
            <a:r>
              <a:rPr lang="en-US" b="1" dirty="0"/>
              <a:t>domain, OU, or computer level</a:t>
            </a:r>
            <a:endParaRPr lang="en-US" dirty="0"/>
          </a:p>
          <a:p>
            <a:r>
              <a:rPr lang="en-US" i="1" dirty="0"/>
              <a:t>Simplifies large-scale system administration.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5D3AF-EFF0-4147-A776-29E94D4D7E6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20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E1421-315F-4FC5-A21D-CDF7F2265BF2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13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3F80C-ACDD-44CD-B130-6269F737563C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5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F16C-6CE9-4F28-A33C-365DA65CE18B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8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50A10-5EF0-4170-9146-5551D876428B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37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B3C0-3291-496D-BAD3-E158560846BF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4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A22B-756E-4222-B76D-95AA6E698326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9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44D14-55C5-46ED-B57A-FDD92C7FCB5D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C29E-FEC7-4878-91EE-1B003B4B9D73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BA58-AC6E-4357-9C63-A30CC8797AF3}" type="datetime1">
              <a:rPr lang="en-US" smtClean="0"/>
              <a:t>2/3/2026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4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C1BE-FC07-4224-BB66-EB2D8E4C93EB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1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36E4-989B-4BCE-9553-9EADB85D1A96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086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DB0A-714D-435F-A34A-2F81CFFA5E07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79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96F0-B517-416B-897C-A12404F10971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6846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454-D434-4876-BB6F-B53F641229F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38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EE6EB-3C0B-4F4A-AF53-379B45089FC8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03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B35E-9820-4275-B46B-83DCE6E26CF0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3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3F53A-DD88-4AD6-AEB3-024016CED931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kapil@nast.com.np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B6BB80F-6A81-418C-8A9B-791D651E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1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tackscale.com/blog/popular-linux-distributions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769D-6968-92D6-8DF4-C0E64C76A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0" y="2404534"/>
            <a:ext cx="8073854" cy="1646302"/>
          </a:xfrm>
        </p:spPr>
        <p:txBody>
          <a:bodyPr/>
          <a:lstStyle/>
          <a:p>
            <a:r>
              <a:rPr lang="en-US" dirty="0"/>
              <a:t>Unit 6: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B051D-498E-88C0-1FB0-B1B7C2B8D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5 - hrs.</a:t>
            </a:r>
          </a:p>
          <a:p>
            <a:pPr algn="r"/>
            <a:r>
              <a:rPr lang="en-US" dirty="0"/>
              <a:t>Kapil Dev Pant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977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A619-E050-4D2E-E4B6-BFCADF75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7388-5A48-79E5-C624-7C2668896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sz="2000" b="1" dirty="0"/>
              <a:t>6.1 UNIX/Linux </a:t>
            </a:r>
          </a:p>
          <a:p>
            <a:pPr lvl="2"/>
            <a:r>
              <a:rPr lang="en-US" sz="1800" dirty="0"/>
              <a:t>Design principles</a:t>
            </a:r>
          </a:p>
          <a:p>
            <a:pPr lvl="2"/>
            <a:r>
              <a:rPr lang="en-US" sz="1800" dirty="0"/>
              <a:t>Inter-process communication</a:t>
            </a:r>
          </a:p>
          <a:p>
            <a:pPr lvl="2"/>
            <a:r>
              <a:rPr lang="en-US" sz="1800" dirty="0"/>
              <a:t>Kernel modules</a:t>
            </a:r>
          </a:p>
          <a:p>
            <a:pPr lvl="2"/>
            <a:r>
              <a:rPr lang="en-US" sz="1800" dirty="0"/>
              <a:t>Network structure</a:t>
            </a:r>
          </a:p>
          <a:p>
            <a:pPr marL="457200" lvl="1" indent="0">
              <a:buNone/>
            </a:pPr>
            <a:r>
              <a:rPr lang="en-US" sz="2000" b="1" dirty="0"/>
              <a:t>6.2 Windows </a:t>
            </a:r>
          </a:p>
          <a:p>
            <a:pPr lvl="2"/>
            <a:r>
              <a:rPr lang="en-US" sz="1800" dirty="0"/>
              <a:t>Design principles</a:t>
            </a:r>
          </a:p>
          <a:p>
            <a:pPr lvl="2"/>
            <a:r>
              <a:rPr lang="en-US" sz="1800" dirty="0"/>
              <a:t>Programmer interface</a:t>
            </a:r>
          </a:p>
          <a:p>
            <a:pPr lvl="2"/>
            <a:r>
              <a:rPr lang="en-US" sz="1800" dirty="0"/>
              <a:t>System components </a:t>
            </a:r>
          </a:p>
          <a:p>
            <a:pPr marL="457200" lvl="1" indent="0">
              <a:buNone/>
            </a:pPr>
            <a:r>
              <a:rPr lang="en-US" sz="2000" b="1" dirty="0"/>
              <a:t>6.3 </a:t>
            </a:r>
            <a:r>
              <a:rPr lang="en-US" sz="2000" dirty="0"/>
              <a:t>Security level in Linux/Windows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AED8-DB34-D9E5-DAF1-23379471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2BF67-A980-5BF9-D658-190DF3371440}"/>
              </a:ext>
            </a:extLst>
          </p:cNvPr>
          <p:cNvSpPr txBox="1">
            <a:spLocks/>
          </p:cNvSpPr>
          <p:nvPr/>
        </p:nvSpPr>
        <p:spPr>
          <a:xfrm>
            <a:off x="6096000" y="2160589"/>
            <a:ext cx="4313864" cy="3777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/>
              <a:t>Objectives: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operating system structure and functionality</a:t>
            </a:r>
          </a:p>
        </p:txBody>
      </p:sp>
    </p:spTree>
    <p:extLst>
      <p:ext uri="{BB962C8B-B14F-4D97-AF65-F5344CB8AC3E}">
        <p14:creationId xmlns:p14="http://schemas.microsoft.com/office/powerpoint/2010/main" val="77397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E6AF-4D01-BC21-4F70-B232CC2B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6.1 Linux / Unix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6983D-0219-C60A-A7EE-CA2D96100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is a free and open-source family of operating systems based on Unix</a:t>
            </a:r>
          </a:p>
          <a:p>
            <a:r>
              <a:rPr lang="en-US" dirty="0"/>
              <a:t>It is widely popular for its security, resilient and flexible nature. </a:t>
            </a:r>
          </a:p>
          <a:p>
            <a:r>
              <a:rPr lang="en-US" dirty="0"/>
              <a:t>In 1991, Linus Torvalds created it</a:t>
            </a:r>
          </a:p>
          <a:p>
            <a:r>
              <a:rPr lang="en-US" dirty="0"/>
              <a:t>The name Linux came from Linus + Unix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D55CB-242E-6A49-7E2C-8E7FE87C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C542C-A8FE-3DF1-6E78-6E7C53538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820" y="334327"/>
            <a:ext cx="11003280" cy="61893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363122B-DB20-260A-B474-C476A0CAB2C4}"/>
              </a:ext>
            </a:extLst>
          </p:cNvPr>
          <p:cNvSpPr txBox="1">
            <a:spLocks/>
          </p:cNvSpPr>
          <p:nvPr/>
        </p:nvSpPr>
        <p:spPr>
          <a:xfrm>
            <a:off x="768774" y="4301317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So, what is Unix ?</a:t>
            </a:r>
          </a:p>
        </p:txBody>
      </p:sp>
    </p:spTree>
    <p:extLst>
      <p:ext uri="{BB962C8B-B14F-4D97-AF65-F5344CB8AC3E}">
        <p14:creationId xmlns:p14="http://schemas.microsoft.com/office/powerpoint/2010/main" val="298956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3E8307-3AB5-14B3-CCA2-202ADE84F5A7}"/>
              </a:ext>
            </a:extLst>
          </p:cNvPr>
          <p:cNvGrpSpPr/>
          <p:nvPr/>
        </p:nvGrpSpPr>
        <p:grpSpPr>
          <a:xfrm>
            <a:off x="3239690" y="619931"/>
            <a:ext cx="4814282" cy="4814282"/>
            <a:chOff x="3239690" y="619931"/>
            <a:chExt cx="4814282" cy="481428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27CD0D-B925-6203-0101-BE3F30199301}"/>
                </a:ext>
              </a:extLst>
            </p:cNvPr>
            <p:cNvSpPr/>
            <p:nvPr/>
          </p:nvSpPr>
          <p:spPr>
            <a:xfrm>
              <a:off x="3239690" y="619931"/>
              <a:ext cx="4814282" cy="481428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037B873-7223-C6C0-62BB-654F27A018C5}"/>
                </a:ext>
              </a:extLst>
            </p:cNvPr>
            <p:cNvSpPr/>
            <p:nvPr/>
          </p:nvSpPr>
          <p:spPr>
            <a:xfrm>
              <a:off x="3953759" y="1297719"/>
              <a:ext cx="3458705" cy="345870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F60FAF-601C-856D-0B28-A2834AAC7C47}"/>
                </a:ext>
              </a:extLst>
            </p:cNvPr>
            <p:cNvSpPr/>
            <p:nvPr/>
          </p:nvSpPr>
          <p:spPr>
            <a:xfrm>
              <a:off x="4507416" y="1861165"/>
              <a:ext cx="2374250" cy="237425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1A50C8-0336-BF04-85AB-DC8C0B1640E4}"/>
                </a:ext>
              </a:extLst>
            </p:cNvPr>
            <p:cNvSpPr/>
            <p:nvPr/>
          </p:nvSpPr>
          <p:spPr>
            <a:xfrm>
              <a:off x="4939785" y="2329893"/>
              <a:ext cx="1483252" cy="148325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83FDB65-59C3-B7E5-73BB-99858817BDE6}"/>
              </a:ext>
            </a:extLst>
          </p:cNvPr>
          <p:cNvSpPr txBox="1"/>
          <p:nvPr/>
        </p:nvSpPr>
        <p:spPr>
          <a:xfrm>
            <a:off x="2085943" y="1113053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B93B3-5662-1304-761D-71C0891C6CF2}"/>
              </a:ext>
            </a:extLst>
          </p:cNvPr>
          <p:cNvSpPr txBox="1"/>
          <p:nvPr/>
        </p:nvSpPr>
        <p:spPr>
          <a:xfrm>
            <a:off x="1877297" y="3588723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A6649-E5DF-9A7E-2EA4-277DE4807BAB}"/>
              </a:ext>
            </a:extLst>
          </p:cNvPr>
          <p:cNvSpPr txBox="1"/>
          <p:nvPr/>
        </p:nvSpPr>
        <p:spPr>
          <a:xfrm>
            <a:off x="7491976" y="313920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10B0F4-04B7-0D4B-E598-C82BE60E6241}"/>
              </a:ext>
            </a:extLst>
          </p:cNvPr>
          <p:cNvSpPr txBox="1"/>
          <p:nvPr/>
        </p:nvSpPr>
        <p:spPr>
          <a:xfrm>
            <a:off x="8221460" y="4215537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3200B1-3036-77A0-F071-3366F984A398}"/>
              </a:ext>
            </a:extLst>
          </p:cNvPr>
          <p:cNvSpPr txBox="1"/>
          <p:nvPr/>
        </p:nvSpPr>
        <p:spPr>
          <a:xfrm>
            <a:off x="4527294" y="896157"/>
            <a:ext cx="2368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Application Program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063B66-A02F-F10E-630D-65CE89375CC2}"/>
              </a:ext>
            </a:extLst>
          </p:cNvPr>
          <p:cNvSpPr txBox="1"/>
          <p:nvPr/>
        </p:nvSpPr>
        <p:spPr>
          <a:xfrm>
            <a:off x="5095584" y="1325528"/>
            <a:ext cx="1143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System Call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Interface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012657-6506-23FC-D89C-C2C7CC6FC076}"/>
              </a:ext>
            </a:extLst>
          </p:cNvPr>
          <p:cNvSpPr txBox="1"/>
          <p:nvPr/>
        </p:nvSpPr>
        <p:spPr>
          <a:xfrm>
            <a:off x="5277944" y="195288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KERNEL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F91A27-F11D-3C78-48E1-CF5D24A7DA6A}"/>
              </a:ext>
            </a:extLst>
          </p:cNvPr>
          <p:cNvSpPr txBox="1"/>
          <p:nvPr/>
        </p:nvSpPr>
        <p:spPr>
          <a:xfrm>
            <a:off x="5132034" y="2816199"/>
            <a:ext cx="1117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Hardware</a:t>
            </a:r>
          </a:p>
          <a:p>
            <a:pPr algn="ctr"/>
            <a:r>
              <a:rPr lang="en-US" sz="1600" b="1" dirty="0"/>
              <a:t>Layer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8D54E0-BCF8-DDC8-0495-809056259096}"/>
              </a:ext>
            </a:extLst>
          </p:cNvPr>
          <p:cNvSpPr txBox="1"/>
          <p:nvPr/>
        </p:nvSpPr>
        <p:spPr>
          <a:xfrm>
            <a:off x="4587025" y="4800860"/>
            <a:ext cx="2368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Application Program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81D303F-8920-F9F8-1334-4A9EF21F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82247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CC50F-46BC-9AD8-8547-0DE4BDA73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 of UNIX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257BB-A7BE-B9F3-98B5-4A2EBEFC7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Multi-user system – Many users can work on the same machine at the same time.</a:t>
            </a:r>
          </a:p>
          <a:p>
            <a:r>
              <a:rPr lang="en-US" dirty="0"/>
              <a:t>Multitasking – Can run multiple processes simultaneously.</a:t>
            </a:r>
          </a:p>
          <a:p>
            <a:r>
              <a:rPr lang="en-US" dirty="0"/>
              <a:t>Portability – Written mostly in the C programming language (by Dennis Ritchie), making it portable across different hardware platforms.</a:t>
            </a:r>
          </a:p>
          <a:p>
            <a:r>
              <a:rPr lang="en-US" dirty="0"/>
              <a:t>File-oriented design – In UNIX, everything is treated as a file (hardware devices, text, processes).</a:t>
            </a:r>
          </a:p>
          <a:p>
            <a:r>
              <a:rPr lang="en-US" dirty="0"/>
              <a:t>Security – Provides user authentication and permission control.</a:t>
            </a:r>
          </a:p>
          <a:p>
            <a:r>
              <a:rPr lang="en-US" dirty="0"/>
              <a:t>Hierarchical file system – Organizes files in a tree-like structure starting from root (/).</a:t>
            </a:r>
          </a:p>
          <a:p>
            <a:r>
              <a:rPr lang="en-US" dirty="0"/>
              <a:t>Powerful command-line interface (CLI) – Uses shell commands and scripts for automation.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A7992-8C62-AA05-2E24-98E0F9EC9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15732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138C-8F20-06C2-6854-28D1D449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UNIX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C02F-55B8-C148-4D9F-5F48FEAF5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Original UNIX (AT&amp;T Bell Labs)</a:t>
            </a:r>
          </a:p>
          <a:p>
            <a:r>
              <a:rPr lang="en-US" dirty="0"/>
              <a:t>BSD (Berkeley Software Distribution)</a:t>
            </a:r>
          </a:p>
          <a:p>
            <a:r>
              <a:rPr lang="en-US" dirty="0"/>
              <a:t>Solaris (by Sun Microsystems)</a:t>
            </a:r>
          </a:p>
          <a:p>
            <a:r>
              <a:rPr lang="en-US" dirty="0"/>
              <a:t>AIX (by IBM)</a:t>
            </a:r>
          </a:p>
          <a:p>
            <a:r>
              <a:rPr lang="en-US" dirty="0"/>
              <a:t>HP-UX (by Hewlett-Packard)</a:t>
            </a:r>
          </a:p>
          <a:p>
            <a:r>
              <a:rPr lang="en-US" dirty="0"/>
              <a:t>macOS (derived from BSD, thus UNIX-certified)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21A2E-55E1-9DD8-A7F6-4C6EC8B8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128604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3FEDB-B920-48EF-F57D-F7D17ACE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Distribution (Distros)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CFEB0-E461-EDFB-E171-143582E4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r>
              <a:rPr lang="en-US" b="1" dirty="0"/>
              <a:t>Ubuntu</a:t>
            </a:r>
          </a:p>
          <a:p>
            <a:r>
              <a:rPr lang="en-US" b="1" dirty="0"/>
              <a:t>CentOS</a:t>
            </a:r>
          </a:p>
          <a:p>
            <a:r>
              <a:rPr lang="en-US" b="1" dirty="0"/>
              <a:t>Debian</a:t>
            </a:r>
          </a:p>
          <a:p>
            <a:r>
              <a:rPr lang="en-US" b="1" dirty="0"/>
              <a:t>Linux Mint</a:t>
            </a:r>
          </a:p>
          <a:p>
            <a:r>
              <a:rPr lang="en-US" b="1" dirty="0"/>
              <a:t>Arch Linux</a:t>
            </a:r>
          </a:p>
          <a:p>
            <a:r>
              <a:rPr lang="en-US" b="1" dirty="0"/>
              <a:t>Tails</a:t>
            </a:r>
          </a:p>
          <a:p>
            <a:r>
              <a:rPr lang="en-US" b="1" dirty="0"/>
              <a:t>Fedora</a:t>
            </a:r>
          </a:p>
          <a:p>
            <a:r>
              <a:rPr lang="en-US" b="1" dirty="0"/>
              <a:t>Elementary OS</a:t>
            </a:r>
          </a:p>
          <a:p>
            <a:r>
              <a:rPr lang="en-US" b="1" dirty="0"/>
              <a:t>Kali Linux</a:t>
            </a:r>
          </a:p>
          <a:p>
            <a:r>
              <a:rPr lang="en-US" b="1" dirty="0"/>
              <a:t>MX Linux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5B60F-E0FE-1F4C-80C4-04D872A8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64DA6-EE34-593F-980D-C82B00692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487" y="1320800"/>
            <a:ext cx="9437511" cy="5537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A99120C-4B7A-2102-0563-50208C2C211E}"/>
              </a:ext>
            </a:extLst>
          </p:cNvPr>
          <p:cNvSpPr txBox="1">
            <a:spLocks/>
          </p:cNvSpPr>
          <p:nvPr/>
        </p:nvSpPr>
        <p:spPr>
          <a:xfrm>
            <a:off x="8176068" y="3048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More ….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48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A81D959-2807-3973-FCC3-47865DFF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10" y="170583"/>
            <a:ext cx="8596668" cy="1320800"/>
          </a:xfrm>
        </p:spPr>
        <p:txBody>
          <a:bodyPr/>
          <a:lstStyle/>
          <a:p>
            <a:r>
              <a:rPr lang="en-US" dirty="0"/>
              <a:t>Comparison between different </a:t>
            </a:r>
            <a:r>
              <a:rPr lang="en-US" dirty="0" err="1"/>
              <a:t>destros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86B0D7-CFFF-13DF-E514-6C25199C39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884420"/>
              </p:ext>
            </p:extLst>
          </p:nvPr>
        </p:nvGraphicFramePr>
        <p:xfrm>
          <a:off x="689610" y="845820"/>
          <a:ext cx="10812780" cy="5841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556">
                  <a:extLst>
                    <a:ext uri="{9D8B030D-6E8A-4147-A177-3AD203B41FA5}">
                      <a16:colId xmlns:a16="http://schemas.microsoft.com/office/drawing/2014/main" val="3482662450"/>
                    </a:ext>
                  </a:extLst>
                </a:gridCol>
                <a:gridCol w="2162556">
                  <a:extLst>
                    <a:ext uri="{9D8B030D-6E8A-4147-A177-3AD203B41FA5}">
                      <a16:colId xmlns:a16="http://schemas.microsoft.com/office/drawing/2014/main" val="4188263190"/>
                    </a:ext>
                  </a:extLst>
                </a:gridCol>
                <a:gridCol w="2162556">
                  <a:extLst>
                    <a:ext uri="{9D8B030D-6E8A-4147-A177-3AD203B41FA5}">
                      <a16:colId xmlns:a16="http://schemas.microsoft.com/office/drawing/2014/main" val="3346559614"/>
                    </a:ext>
                  </a:extLst>
                </a:gridCol>
                <a:gridCol w="2162556">
                  <a:extLst>
                    <a:ext uri="{9D8B030D-6E8A-4147-A177-3AD203B41FA5}">
                      <a16:colId xmlns:a16="http://schemas.microsoft.com/office/drawing/2014/main" val="3523035092"/>
                    </a:ext>
                  </a:extLst>
                </a:gridCol>
                <a:gridCol w="2162556">
                  <a:extLst>
                    <a:ext uri="{9D8B030D-6E8A-4147-A177-3AD203B41FA5}">
                      <a16:colId xmlns:a16="http://schemas.microsoft.com/office/drawing/2014/main" val="3418159589"/>
                    </a:ext>
                  </a:extLst>
                </a:gridCol>
              </a:tblGrid>
              <a:tr h="262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Distro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Base System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Main Use / Focus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Difficulty Level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Target Users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250436"/>
                  </a:ext>
                </a:extLst>
              </a:tr>
              <a:tr h="527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Ubuntu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Debian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General-purpose, desktop &amp;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Beginners, students, general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044841"/>
                  </a:ext>
                </a:extLst>
              </a:tr>
              <a:tr h="446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CentOS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RHEL (Red Hat)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Server stability, enterprise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System admins, enterprises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564938"/>
                  </a:ext>
                </a:extLst>
              </a:tr>
              <a:tr h="446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Debian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Stability, servers, free 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Medium–Hard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Advanced users, server admins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026668"/>
                  </a:ext>
                </a:extLst>
              </a:tr>
              <a:tr h="527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Linux Mint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Ubuntu/Debian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Desktop use, Windows alternative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Beginners, home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171961"/>
                  </a:ext>
                </a:extLst>
              </a:tr>
              <a:tr h="446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Arch Linux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Customization, minimal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Advanced users, power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035595"/>
                  </a:ext>
                </a:extLst>
              </a:tr>
              <a:tr h="6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Tails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Debian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Privacy, anonymity (Tor-based)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Journalists, activists, security-conscious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155688"/>
                  </a:ext>
                </a:extLst>
              </a:tr>
              <a:tr h="446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Fedora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Independent (Upstream RHEL)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Cutting-edge, developer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Developers, testers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874983"/>
                  </a:ext>
                </a:extLst>
              </a:tr>
              <a:tr h="446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Elementary OS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Ubuntu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Beautiful design, ease of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Beginners, macOS-style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600541"/>
                  </a:ext>
                </a:extLst>
              </a:tr>
              <a:tr h="6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Kali Linux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Debian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Ethical hacking, penetration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Security professionals, ethical hackers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550790"/>
                  </a:ext>
                </a:extLst>
              </a:tr>
              <a:tr h="6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MX Linux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Debian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Lightweight, efficient desktop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Easy–Medium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Users with low-resource PCs, general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995187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F07024-1287-808E-3F74-FFF6F457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261136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F739-60F1-8D7E-B1D7-1C116C87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0CD9-3F06-F249-9F1E-BD5F895B2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Portability </a:t>
            </a:r>
          </a:p>
          <a:p>
            <a:r>
              <a:rPr lang="en-US" dirty="0"/>
              <a:t>Hierarchical File system</a:t>
            </a:r>
          </a:p>
          <a:p>
            <a:r>
              <a:rPr lang="en-US" dirty="0"/>
              <a:t>Open-source, modular architecture</a:t>
            </a:r>
          </a:p>
          <a:p>
            <a:r>
              <a:rPr lang="en-US" dirty="0"/>
              <a:t>Multi-Programming</a:t>
            </a:r>
          </a:p>
          <a:p>
            <a:r>
              <a:rPr lang="en-US" dirty="0"/>
              <a:t>Security and stability are core design goals</a:t>
            </a:r>
          </a:p>
          <a:p>
            <a:r>
              <a:rPr lang="en-US" dirty="0"/>
              <a:t>Monolithic kernel with loadable modules</a:t>
            </a:r>
          </a:p>
          <a:p>
            <a:r>
              <a:rPr lang="en-US" dirty="0"/>
              <a:t>Shell</a:t>
            </a:r>
          </a:p>
          <a:p>
            <a:r>
              <a:rPr lang="en-US" dirty="0"/>
              <a:t>Emphasis on simplicity and efficiency</a:t>
            </a:r>
          </a:p>
          <a:p>
            <a:r>
              <a:rPr lang="en-US" dirty="0"/>
              <a:t>Follows POSIX standards for compatibility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1A816-0DDE-8EBE-5643-4B807140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pic>
        <p:nvPicPr>
          <p:cNvPr id="4" name="Picture 3" descr="Architecture of Linux">
            <a:extLst>
              <a:ext uri="{FF2B5EF4-FFF2-40B4-BE49-F238E27FC236}">
                <a16:creationId xmlns:a16="http://schemas.microsoft.com/office/drawing/2014/main" id="{8A0D783F-1E60-BC3F-DE5D-FFCC3B21A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16638"/>
            <a:ext cx="6096000" cy="543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17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D322-5695-3A00-BEA8-9486CDB8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en-US" dirty="0"/>
              <a:t>Inter-Process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2CBB-D963-A622-3B4A-9A7F3AD57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679504" cy="3880773"/>
          </a:xfrm>
        </p:spPr>
        <p:txBody>
          <a:bodyPr>
            <a:normAutofit/>
          </a:bodyPr>
          <a:lstStyle/>
          <a:p>
            <a:r>
              <a:rPr lang="en-US" dirty="0"/>
              <a:t>Pipes/FIFOs → data streams</a:t>
            </a:r>
          </a:p>
          <a:p>
            <a:r>
              <a:rPr lang="en-US" dirty="0"/>
              <a:t>Message queues → structured, asynchronous communication</a:t>
            </a:r>
          </a:p>
          <a:p>
            <a:r>
              <a:rPr lang="en-US" dirty="0"/>
              <a:t>Shared memory → fastest IPC, allows direct access but requires synchronization</a:t>
            </a:r>
          </a:p>
          <a:p>
            <a:r>
              <a:rPr lang="en-US" dirty="0"/>
              <a:t>Semaphores → control access to shared resources</a:t>
            </a:r>
          </a:p>
          <a:p>
            <a:r>
              <a:rPr lang="en-US" dirty="0"/>
              <a:t>Sockets → enable both local and network communication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9DA4-0B0C-7629-A519-8ADA8DE8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09563" y="6041362"/>
            <a:ext cx="233214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kapil@nast.com.np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60915B-A328-4A68-8934-C94FF0C8C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" r="6895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81315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3585-2B11-7F2D-F96B-BEEB7ED3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1513"/>
            <a:ext cx="8596668" cy="1320800"/>
          </a:xfrm>
        </p:spPr>
        <p:txBody>
          <a:bodyPr/>
          <a:lstStyle/>
          <a:p>
            <a:r>
              <a:rPr lang="en-US" dirty="0"/>
              <a:t>Inter-Process Communication (IPC)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2EA0C55-1F17-5EA5-B223-B67EDCF38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5988139"/>
              </p:ext>
            </p:extLst>
          </p:nvPr>
        </p:nvGraphicFramePr>
        <p:xfrm>
          <a:off x="677863" y="1793240"/>
          <a:ext cx="10836804" cy="4653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137">
                  <a:extLst>
                    <a:ext uri="{9D8B030D-6E8A-4147-A177-3AD203B41FA5}">
                      <a16:colId xmlns:a16="http://schemas.microsoft.com/office/drawing/2014/main" val="3225286397"/>
                    </a:ext>
                  </a:extLst>
                </a:gridCol>
                <a:gridCol w="4473399">
                  <a:extLst>
                    <a:ext uri="{9D8B030D-6E8A-4147-A177-3AD203B41FA5}">
                      <a16:colId xmlns:a16="http://schemas.microsoft.com/office/drawing/2014/main" val="2944998853"/>
                    </a:ext>
                  </a:extLst>
                </a:gridCol>
                <a:gridCol w="3612268">
                  <a:extLst>
                    <a:ext uri="{9D8B030D-6E8A-4147-A177-3AD203B41FA5}">
                      <a16:colId xmlns:a16="http://schemas.microsoft.com/office/drawing/2014/main" val="1818281641"/>
                    </a:ext>
                  </a:extLst>
                </a:gridCol>
              </a:tblGrid>
              <a:tr h="457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IPC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839279"/>
                  </a:ext>
                </a:extLst>
              </a:tr>
              <a:tr h="789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Pipes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One-way communication between related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Parent–child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527315"/>
                  </a:ext>
                </a:extLst>
              </a:tr>
              <a:tr h="457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Named Pipes (FIFO)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Pipes with a name in filesystem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Unrelated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085559"/>
                  </a:ext>
                </a:extLst>
              </a:tr>
              <a:tr h="457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Message Queues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Structured message passing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Client-server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679982"/>
                  </a:ext>
                </a:extLst>
              </a:tr>
              <a:tr h="789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Shared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Common memory space shared by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High-speed data exchange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771523"/>
                  </a:ext>
                </a:extLst>
              </a:tr>
              <a:tr h="789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Semaphores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Synchronization and mutual exclusion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Prevent race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747161"/>
                  </a:ext>
                </a:extLst>
              </a:tr>
              <a:tr h="457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Signals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Software interrupts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Process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016045"/>
                  </a:ext>
                </a:extLst>
              </a:tr>
              <a:tr h="457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Sockets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Communication over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Client-server networking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311583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DCB9E-4262-7814-ED68-651C5106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120895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071E-71AD-B497-49D6-EA8AD3B82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572" y="2038607"/>
            <a:ext cx="5148237" cy="4002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332C41-6FD6-73CC-0E5E-485D2A22A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/>
              <a:t>Kernel Modules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060A3-5CB1-FD98-190D-F1C480A5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552823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kapil@nast.com.np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06566-0BE3-D2CE-1B14-45891E8E1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43151"/>
            <a:ext cx="4987373" cy="3880773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kernel</a:t>
            </a:r>
            <a:r>
              <a:rPr lang="en-US" dirty="0"/>
              <a:t> is the </a:t>
            </a:r>
            <a:r>
              <a:rPr lang="en-US" b="1" dirty="0"/>
              <a:t>core part of an operating system (OS)</a:t>
            </a:r>
            <a:r>
              <a:rPr lang="en-US" dirty="0"/>
              <a:t>.</a:t>
            </a:r>
          </a:p>
          <a:p>
            <a:r>
              <a:rPr lang="en-US" dirty="0"/>
              <a:t>Kernel modules allow dynamic extension of kernel functionality without rebooting.</a:t>
            </a:r>
          </a:p>
          <a:p>
            <a:r>
              <a:rPr lang="en-US" dirty="0"/>
              <a:t>It is the </a:t>
            </a:r>
            <a:r>
              <a:rPr lang="en-US" b="1" dirty="0"/>
              <a:t>bridge between hardware and software</a:t>
            </a:r>
            <a:r>
              <a:rPr lang="en-US" dirty="0"/>
              <a:t>, managing system resources and enabling applications to run on hardware safely and efficiently.</a:t>
            </a:r>
          </a:p>
          <a:p>
            <a:r>
              <a:rPr lang="en-US" dirty="0"/>
              <a:t>Think of the kernel as the </a:t>
            </a:r>
            <a:r>
              <a:rPr lang="en-US" b="1" dirty="0"/>
              <a:t>“brain” of the OS</a:t>
            </a:r>
            <a:r>
              <a:rPr lang="en-US" dirty="0"/>
              <a:t>, controlling everything from CPU scheduling to memory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20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DB11-255A-3C06-EFD9-26DA5019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0D65A-88C4-104D-6FC3-A5A805F2A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8780"/>
            <a:ext cx="8992446" cy="4579619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Network Stack</a:t>
            </a:r>
          </a:p>
          <a:p>
            <a:pPr lvl="1"/>
            <a:r>
              <a:rPr lang="en-US" dirty="0"/>
              <a:t>The Linux kernel implements a modular network stack with layers following the OSI or TCP/IP model.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Network Interfaces</a:t>
            </a:r>
          </a:p>
          <a:p>
            <a:pPr lvl="1"/>
            <a:r>
              <a:rPr lang="en-US" dirty="0"/>
              <a:t>Physical or virtual interfaces connect the system to a network.</a:t>
            </a: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Routing Table</a:t>
            </a:r>
          </a:p>
          <a:p>
            <a:pPr lvl="1"/>
            <a:r>
              <a:rPr lang="en-US" dirty="0"/>
              <a:t>Linux maintains a routing table to determine how packets are forwarded.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Firewall and Packet Filtering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Network Namespaces</a:t>
            </a:r>
          </a:p>
          <a:p>
            <a:pPr lvl="1"/>
            <a:r>
              <a:rPr lang="en-US" dirty="0"/>
              <a:t>Provide isolated network environments for containers or virtualized applications.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Virtual Networking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Kernel Sockets</a:t>
            </a:r>
          </a:p>
          <a:p>
            <a:pPr lvl="1"/>
            <a:r>
              <a:rPr lang="en-US" dirty="0"/>
              <a:t>Sockets provide APIs for inter-process and network communication.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BE7F1-1BF4-1F87-ACCE-004065F7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67089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2A21F-E338-6868-41BE-663C265D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45DC5-C988-3960-AD5D-8F547FD63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Games</a:t>
            </a:r>
          </a:p>
          <a:p>
            <a:r>
              <a:rPr lang="en-US" dirty="0"/>
              <a:t>Hardware Drivers</a:t>
            </a:r>
          </a:p>
          <a:p>
            <a:r>
              <a:rPr lang="en-US" dirty="0"/>
              <a:t>Software alternatives</a:t>
            </a:r>
          </a:p>
          <a:p>
            <a:r>
              <a:rPr lang="en-US" dirty="0"/>
              <a:t>Learning curve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649E3-5FEA-489C-C6AA-2B803767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961305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255C69-3561-5DC5-0CE7-3703FB3A0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738" y="1327365"/>
            <a:ext cx="4137336" cy="42032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28CA0-3819-CB1C-E492-84833A80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6.2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CA5D-F1FD-4EFB-22C5-03B21E369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152404" cy="3880773"/>
          </a:xfrm>
        </p:spPr>
        <p:txBody>
          <a:bodyPr/>
          <a:lstStyle/>
          <a:p>
            <a:r>
              <a:rPr lang="en-US" dirty="0"/>
              <a:t>Windows follows a </a:t>
            </a:r>
            <a:r>
              <a:rPr lang="en-US" b="1" dirty="0"/>
              <a:t>hybrid kernel architecture</a:t>
            </a:r>
            <a:r>
              <a:rPr lang="en-US" dirty="0"/>
              <a:t> combining monolithic and microkernel concepts.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DE9E16-E1A5-A25D-1789-8A0FC410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1239072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4A2E-97F6-86B2-C927-0AD2000D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Versions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0B4371-3984-9F26-60BF-0B477DF42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726259"/>
              </p:ext>
            </p:extLst>
          </p:nvPr>
        </p:nvGraphicFramePr>
        <p:xfrm>
          <a:off x="677690" y="1427480"/>
          <a:ext cx="8596312" cy="513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101113301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267178094"/>
                    </a:ext>
                  </a:extLst>
                </a:gridCol>
              </a:tblGrid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 Year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3082199767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1985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1.0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2036701066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1995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95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2878861778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1998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98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3695303641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2000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1893030413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ME (Millennium Edition)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2009882753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2001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XP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4184186143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Vista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3736487729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7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3255467242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8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2212363495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2013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8.1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2346829403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368367958"/>
                  </a:ext>
                </a:extLst>
              </a:tr>
              <a:tr h="394872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23908" marR="23908" marT="11954" marB="11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11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/>
                </a:tc>
                <a:extLst>
                  <a:ext uri="{0D108BD9-81ED-4DB2-BD59-A6C34878D82A}">
                    <a16:rowId xmlns:a16="http://schemas.microsoft.com/office/drawing/2014/main" val="30611242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50E8E-CBC3-0D86-E7D8-7B439F43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3538234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7029-CEBA-D085-432C-35B0CF9B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BDE1-342A-24E8-003D-12CEDD935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6249"/>
            <a:ext cx="9289626" cy="45221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Windows follows a </a:t>
            </a:r>
            <a:r>
              <a:rPr lang="en-US" b="1" dirty="0"/>
              <a:t>hybrid kernel architecture</a:t>
            </a:r>
            <a:r>
              <a:rPr lang="en-US" dirty="0"/>
              <a:t> combining monolithic and microkernel concepts.</a:t>
            </a:r>
          </a:p>
          <a:p>
            <a:pPr marL="0" indent="0">
              <a:buNone/>
            </a:pPr>
            <a:r>
              <a:rPr lang="en-US" b="1" u="sng" dirty="0"/>
              <a:t>Design Goals:</a:t>
            </a:r>
            <a:endParaRPr lang="en-US" u="sng" dirty="0"/>
          </a:p>
          <a:p>
            <a:r>
              <a:rPr lang="en-US" dirty="0"/>
              <a:t>Ease of use</a:t>
            </a:r>
          </a:p>
          <a:p>
            <a:r>
              <a:rPr lang="en-US" dirty="0"/>
              <a:t>Backward compatibility</a:t>
            </a:r>
          </a:p>
          <a:p>
            <a:r>
              <a:rPr lang="en-US" dirty="0"/>
              <a:t>High performance</a:t>
            </a:r>
          </a:p>
          <a:p>
            <a:r>
              <a:rPr lang="en-US" dirty="0"/>
              <a:t>Security and reliability</a:t>
            </a:r>
          </a:p>
          <a:p>
            <a:r>
              <a:rPr lang="en-US" dirty="0"/>
              <a:t>Scalability</a:t>
            </a:r>
          </a:p>
          <a:p>
            <a:pPr marL="0" indent="0">
              <a:buNone/>
            </a:pPr>
            <a:r>
              <a:rPr lang="en-US" b="1" u="sng" dirty="0"/>
              <a:t>Characteristics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GUI-centric</a:t>
            </a:r>
          </a:p>
          <a:p>
            <a:r>
              <a:rPr lang="en-US" dirty="0"/>
              <a:t>Strong hardware abstraction</a:t>
            </a:r>
          </a:p>
          <a:p>
            <a:r>
              <a:rPr lang="en-US" dirty="0"/>
              <a:t>Closed-source core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4AC28-C76D-2E2A-BEE2-50F601E40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1074120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72ED-3BC7-BBA6-4708-0AEFA300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69509-5EFA-9ECC-4FBA-DBC72C6E5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13F7B1DB-C4FF-06D9-F2ED-D29FDFF496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055645"/>
              </p:ext>
            </p:extLst>
          </p:nvPr>
        </p:nvGraphicFramePr>
        <p:xfrm>
          <a:off x="1081723" y="3559783"/>
          <a:ext cx="8596312" cy="2251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3613227589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655711006"/>
                    </a:ext>
                  </a:extLst>
                </a:gridCol>
              </a:tblGrid>
              <a:tr h="450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971064"/>
                  </a:ext>
                </a:extLst>
              </a:tr>
              <a:tr h="450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Win32 API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Windows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427478"/>
                  </a:ext>
                </a:extLst>
              </a:tr>
              <a:tr h="450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Framework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Managed code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398498"/>
                  </a:ext>
                </a:extLst>
              </a:tr>
              <a:tr h="450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Windows Runtime (WinRT)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Modern app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543618"/>
                  </a:ext>
                </a:extLst>
              </a:tr>
              <a:tr h="450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POSIX Subsystem (earlier versions)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Limited UNIX compatibility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5083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685FBE-6A74-04C0-5CFC-6A679488B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n-US" dirty="0"/>
              <a:t>Event-driven programming</a:t>
            </a:r>
          </a:p>
          <a:p>
            <a:r>
              <a:rPr lang="en-US" dirty="0"/>
              <a:t>Rich GUI support</a:t>
            </a:r>
          </a:p>
          <a:p>
            <a:r>
              <a:rPr lang="en-US" dirty="0"/>
              <a:t>Extensive system libraries</a:t>
            </a:r>
          </a:p>
        </p:txBody>
      </p:sp>
    </p:spTree>
    <p:extLst>
      <p:ext uri="{BB962C8B-B14F-4D97-AF65-F5344CB8AC3E}">
        <p14:creationId xmlns:p14="http://schemas.microsoft.com/office/powerpoint/2010/main" val="3100505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63731-A6AD-7901-2843-0AF73BC8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C999-6E69-BC6E-6836-D6281F4AA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7360"/>
            <a:ext cx="8786706" cy="4511039"/>
          </a:xfrm>
        </p:spPr>
        <p:txBody>
          <a:bodyPr>
            <a:normAutofit/>
          </a:bodyPr>
          <a:lstStyle/>
          <a:p>
            <a:r>
              <a:rPr lang="en-US" dirty="0"/>
              <a:t>Windows OS is structured into </a:t>
            </a:r>
            <a:r>
              <a:rPr lang="en-US" b="1" dirty="0"/>
              <a:t>user mode and kernel mode</a:t>
            </a:r>
            <a:r>
              <a:rPr lang="en-US" dirty="0"/>
              <a:t>.</a:t>
            </a:r>
          </a:p>
          <a:p>
            <a:r>
              <a:rPr lang="en-US" b="1" dirty="0"/>
              <a:t>User Mode</a:t>
            </a:r>
          </a:p>
          <a:p>
            <a:pPr lvl="1"/>
            <a:r>
              <a:rPr lang="en-US" dirty="0"/>
              <a:t>Applications</a:t>
            </a:r>
          </a:p>
          <a:p>
            <a:pPr lvl="1"/>
            <a:r>
              <a:rPr lang="en-US" dirty="0"/>
              <a:t>Environment subsystems (Win32, .NET)</a:t>
            </a:r>
          </a:p>
          <a:p>
            <a:pPr lvl="1"/>
            <a:r>
              <a:rPr lang="en-US" dirty="0"/>
              <a:t>System services</a:t>
            </a:r>
          </a:p>
          <a:p>
            <a:r>
              <a:rPr lang="en-US" b="1" dirty="0"/>
              <a:t>Kernel Mode</a:t>
            </a:r>
          </a:p>
          <a:p>
            <a:pPr lvl="1"/>
            <a:r>
              <a:rPr lang="en-US" b="1" dirty="0"/>
              <a:t>Executive</a:t>
            </a:r>
            <a:r>
              <a:rPr lang="en-US" dirty="0"/>
              <a:t> (process, memory, I/O management)</a:t>
            </a:r>
          </a:p>
          <a:p>
            <a:pPr lvl="1"/>
            <a:r>
              <a:rPr lang="en-US" b="1" dirty="0"/>
              <a:t>Kernel</a:t>
            </a:r>
            <a:r>
              <a:rPr lang="en-US" dirty="0"/>
              <a:t> (low-level scheduling, interrupt handling)</a:t>
            </a:r>
          </a:p>
          <a:p>
            <a:pPr lvl="1"/>
            <a:r>
              <a:rPr lang="en-US" b="1" dirty="0"/>
              <a:t>Device Drivers</a:t>
            </a:r>
            <a:endParaRPr lang="en-US" dirty="0"/>
          </a:p>
          <a:p>
            <a:pPr lvl="1"/>
            <a:r>
              <a:rPr lang="en-US" b="1" dirty="0"/>
              <a:t>Hardware Abstraction Layer (HAL)</a:t>
            </a:r>
            <a:endParaRPr lang="en-US" dirty="0"/>
          </a:p>
          <a:p>
            <a:pPr lvl="1"/>
            <a:r>
              <a:rPr lang="en-US" dirty="0"/>
              <a:t>Isolates hardware-specific details</a:t>
            </a:r>
          </a:p>
          <a:p>
            <a:pPr lvl="1"/>
            <a:r>
              <a:rPr lang="en-US" dirty="0"/>
              <a:t>Improves portability across platforms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8D9E1-5D68-D313-A748-BFF645FA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1351843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8B17-7B43-3594-DBEA-D76DA212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6.3 Security Level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5726E-B1D4-73A3-27C6-E27A25E7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0529"/>
            <a:ext cx="9358206" cy="45678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Linux security is </a:t>
            </a:r>
            <a:r>
              <a:rPr lang="en-US" b="1" dirty="0"/>
              <a:t>permission-based and policy-driven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u="sng" dirty="0"/>
              <a:t>Security Mechanisms:</a:t>
            </a:r>
            <a:endParaRPr lang="en-US" u="sng" dirty="0"/>
          </a:p>
          <a:p>
            <a:pPr>
              <a:buFont typeface="+mj-lt"/>
              <a:buAutoNum type="arabicPeriod"/>
            </a:pPr>
            <a:r>
              <a:rPr lang="en-US" b="1" dirty="0"/>
              <a:t>User and Group permissions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Read (r), Write (w), Execute (x)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Ownership (user/group/others)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Access Control Lists (ACLs)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SELinux</a:t>
            </a:r>
            <a:r>
              <a:rPr lang="en-US" b="1" dirty="0"/>
              <a:t> / </a:t>
            </a:r>
            <a:r>
              <a:rPr lang="en-US" b="1" dirty="0" err="1"/>
              <a:t>AppArmor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Mandatory Access Control (MAC)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Firewall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iptables, </a:t>
            </a:r>
            <a:r>
              <a:rPr lang="en-US" dirty="0" err="1"/>
              <a:t>nftables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Root privilege separation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sudo</a:t>
            </a:r>
            <a:r>
              <a:rPr lang="en-US" dirty="0"/>
              <a:t> instead of direct root login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C4836-B73B-B454-4711-832A31D7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2331323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9309-03DA-B8B0-B132-861E4F676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EEB1-4FA5-24BB-C6C2-8A9E481D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6.3 Security Level in Windows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EE21-B93F-66A1-E69E-3449D50FD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security is </a:t>
            </a:r>
            <a:r>
              <a:rPr lang="en-US" b="1" dirty="0"/>
              <a:t>object-based and policy-centric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u="sng" dirty="0"/>
              <a:t>Security Mechanisms:</a:t>
            </a:r>
            <a:endParaRPr lang="en-US" u="sng" dirty="0"/>
          </a:p>
          <a:p>
            <a:r>
              <a:rPr lang="en-US" b="1" dirty="0"/>
              <a:t>User Account Control (UAC)</a:t>
            </a:r>
            <a:endParaRPr lang="en-US" dirty="0"/>
          </a:p>
          <a:p>
            <a:r>
              <a:rPr lang="en-US" b="1" dirty="0"/>
              <a:t>NTFS permissions</a:t>
            </a:r>
            <a:endParaRPr lang="en-US" dirty="0"/>
          </a:p>
          <a:p>
            <a:r>
              <a:rPr lang="en-US" b="1" dirty="0"/>
              <a:t>Access Tokens</a:t>
            </a:r>
            <a:endParaRPr lang="en-US" dirty="0"/>
          </a:p>
          <a:p>
            <a:r>
              <a:rPr lang="en-US" b="1" dirty="0"/>
              <a:t>Active Directory</a:t>
            </a:r>
            <a:endParaRPr lang="en-US" dirty="0"/>
          </a:p>
          <a:p>
            <a:r>
              <a:rPr lang="en-US" b="1" dirty="0"/>
              <a:t>Windows Defender</a:t>
            </a:r>
            <a:endParaRPr lang="en-US" dirty="0"/>
          </a:p>
          <a:p>
            <a:r>
              <a:rPr lang="en-US" b="1" dirty="0"/>
              <a:t>BitLocker encryption</a:t>
            </a:r>
            <a:endParaRPr lang="en-US" dirty="0"/>
          </a:p>
          <a:p>
            <a:r>
              <a:rPr lang="en-US" b="1" dirty="0"/>
              <a:t>Group Policy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17B69-7E1A-2919-0DA0-01D7D37D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3872023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3E2C-1BBB-01EC-505F-D7551CEEA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Linux and Windows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319254-FFB9-890C-1C96-3BFAA519DB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837370"/>
              </p:ext>
            </p:extLst>
          </p:nvPr>
        </p:nvGraphicFramePr>
        <p:xfrm>
          <a:off x="677863" y="2160588"/>
          <a:ext cx="8596311" cy="38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15053481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74436378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657170839"/>
                    </a:ext>
                  </a:extLst>
                </a:gridCol>
              </a:tblGrid>
              <a:tr h="567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Windows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034428"/>
                  </a:ext>
                </a:extLst>
              </a:tr>
              <a:tr h="567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Kernel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Monolithic + 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Hybrid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4235802"/>
                  </a:ext>
                </a:extLst>
              </a:tr>
              <a:tr h="979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Pipes, MQ, Shared Mem, Sockets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Named pipes, mailslots, RPC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996961"/>
                  </a:ext>
                </a:extLst>
              </a:tr>
              <a:tr h="567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SELinux, DAC, MAC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ACLs, UAC, BitLocker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126785"/>
                  </a:ext>
                </a:extLst>
              </a:tr>
              <a:tr h="567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Programmer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POSIX, GNU/Linux 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Win32 API, .NET, WSL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238655"/>
                  </a:ext>
                </a:extLst>
              </a:tr>
              <a:tr h="567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Philosophy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Open-source, 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Proprietary, user-friendly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42479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A1176-9B6F-1A9E-5E42-F2FEEE71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196595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4A94-D951-9270-D260-32571027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36C2B-308A-40A4-EB26-7075FCA88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E96FE-CCC2-0F22-D50B-2DDF6A95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389535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2559-85F7-E9DB-44B6-62AA62BE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BF02A-CEBC-E405-30D4-E7613D148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7A320-0B29-AF21-EF99-00ECA93A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kapil@nast.com.np</a:t>
            </a:r>
          </a:p>
        </p:txBody>
      </p:sp>
    </p:spTree>
    <p:extLst>
      <p:ext uri="{BB962C8B-B14F-4D97-AF65-F5344CB8AC3E}">
        <p14:creationId xmlns:p14="http://schemas.microsoft.com/office/powerpoint/2010/main" val="15488560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</TotalTime>
  <Words>3541</Words>
  <Application>Microsoft Office PowerPoint</Application>
  <PresentationFormat>Widescreen</PresentationFormat>
  <Paragraphs>639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Times New Roman</vt:lpstr>
      <vt:lpstr>Trebuchet MS</vt:lpstr>
      <vt:lpstr>Wingdings 3</vt:lpstr>
      <vt:lpstr>Facet</vt:lpstr>
      <vt:lpstr>Unit 6: Case Study</vt:lpstr>
      <vt:lpstr>Content</vt:lpstr>
      <vt:lpstr>6.1 Linux / Unix</vt:lpstr>
      <vt:lpstr>PowerPoint Presentation</vt:lpstr>
      <vt:lpstr>Key Characteristics of UNIX</vt:lpstr>
      <vt:lpstr>Example UNIX System </vt:lpstr>
      <vt:lpstr>Linux Distribution (Distros)</vt:lpstr>
      <vt:lpstr>Comparison between different destros</vt:lpstr>
      <vt:lpstr>Design Principles</vt:lpstr>
      <vt:lpstr>Inter-Process Communication</vt:lpstr>
      <vt:lpstr>Inter-Process Communication (IPC)</vt:lpstr>
      <vt:lpstr>Kernel Modules</vt:lpstr>
      <vt:lpstr>Network Structure</vt:lpstr>
      <vt:lpstr>Drawbacks</vt:lpstr>
      <vt:lpstr>6.2 Windows</vt:lpstr>
      <vt:lpstr>Different Versions</vt:lpstr>
      <vt:lpstr>Design Principles</vt:lpstr>
      <vt:lpstr>Program Interface</vt:lpstr>
      <vt:lpstr>System Components</vt:lpstr>
      <vt:lpstr>6.3 Security Level in Linux</vt:lpstr>
      <vt:lpstr>6.3 Security Level in Windows </vt:lpstr>
      <vt:lpstr>Comparison between Linux and Windows</vt:lpstr>
      <vt:lpstr>Presentation Topics</vt:lpstr>
      <vt:lpstr>Important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Dev Pant</dc:creator>
  <cp:lastModifiedBy>Kapil Dev Pant</cp:lastModifiedBy>
  <cp:revision>127</cp:revision>
  <dcterms:created xsi:type="dcterms:W3CDTF">2025-09-09T09:52:50Z</dcterms:created>
  <dcterms:modified xsi:type="dcterms:W3CDTF">2026-02-03T15:29:11Z</dcterms:modified>
</cp:coreProperties>
</file>