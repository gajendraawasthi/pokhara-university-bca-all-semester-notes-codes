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56" r:id="rId2"/>
    <p:sldId id="259" r:id="rId3"/>
    <p:sldId id="261" r:id="rId4"/>
    <p:sldId id="262" r:id="rId5"/>
    <p:sldId id="263" r:id="rId6"/>
    <p:sldId id="264" r:id="rId7"/>
    <p:sldId id="265" r:id="rId8"/>
    <p:sldId id="266" r:id="rId9"/>
    <p:sldId id="267" r:id="rId10"/>
    <p:sldId id="268" r:id="rId11"/>
    <p:sldId id="269"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741" autoAdjust="0"/>
    <p:restoredTop sz="94660"/>
  </p:normalViewPr>
  <p:slideViewPr>
    <p:cSldViewPr snapToGrid="0">
      <p:cViewPr varScale="1">
        <p:scale>
          <a:sx n="46" d="100"/>
          <a:sy n="46" d="100"/>
        </p:scale>
        <p:origin x="1266" y="54"/>
      </p:cViewPr>
      <p:guideLst/>
    </p:cSldViewPr>
  </p:slideViewPr>
  <p:notesTextViewPr>
    <p:cViewPr>
      <p:scale>
        <a:sx n="1" d="1"/>
        <a:sy n="1" d="1"/>
      </p:scale>
      <p:origin x="0" y="0"/>
    </p:cViewPr>
  </p:notesTextViewPr>
  <p:notesViewPr>
    <p:cSldViewPr snapToGrid="0">
      <p:cViewPr varScale="1">
        <p:scale>
          <a:sx n="54" d="100"/>
          <a:sy n="54" d="100"/>
        </p:scale>
        <p:origin x="2898"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77F4D0-D874-4F50-8735-40A8B35EB3E7}" type="datetimeFigureOut">
              <a:rPr lang="en-US" smtClean="0"/>
              <a:t>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dirty="0"/>
              <a:t>Kapil Dev Pant | Kapil </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EAD106-AE52-45BC-A09C-C0B18CE38197}" type="slidenum">
              <a:rPr lang="en-US" smtClean="0"/>
              <a:t>‹#›</a:t>
            </a:fld>
            <a:endParaRPr lang="en-US"/>
          </a:p>
        </p:txBody>
      </p:sp>
    </p:spTree>
    <p:extLst>
      <p:ext uri="{BB962C8B-B14F-4D97-AF65-F5344CB8AC3E}">
        <p14:creationId xmlns:p14="http://schemas.microsoft.com/office/powerpoint/2010/main" val="4920891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6A9888B-1492-4420-9A86-CB638A0018A4}"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3B8D041B-584E-4935-8CC5-AD37401235CA}" type="slidenum">
              <a:rPr lang="en-US" smtClean="0"/>
              <a:t>‹#›</a:t>
            </a:fld>
            <a:endParaRPr lang="en-US"/>
          </a:p>
        </p:txBody>
      </p:sp>
    </p:spTree>
    <p:extLst>
      <p:ext uri="{BB962C8B-B14F-4D97-AF65-F5344CB8AC3E}">
        <p14:creationId xmlns:p14="http://schemas.microsoft.com/office/powerpoint/2010/main" val="6889464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A9888B-1492-4420-9A86-CB638A0018A4}"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B8D041B-584E-4935-8CC5-AD37401235CA}" type="slidenum">
              <a:rPr lang="en-US" smtClean="0"/>
              <a:t>‹#›</a:t>
            </a:fld>
            <a:endParaRPr lang="en-US"/>
          </a:p>
        </p:txBody>
      </p:sp>
    </p:spTree>
    <p:extLst>
      <p:ext uri="{BB962C8B-B14F-4D97-AF65-F5344CB8AC3E}">
        <p14:creationId xmlns:p14="http://schemas.microsoft.com/office/powerpoint/2010/main" val="24036498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A9888B-1492-4420-9A86-CB638A0018A4}"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B8D041B-584E-4935-8CC5-AD37401235CA}" type="slidenum">
              <a:rPr lang="en-US" smtClean="0"/>
              <a:t>‹#›</a:t>
            </a:fld>
            <a:endParaRPr lang="en-US"/>
          </a:p>
        </p:txBody>
      </p:sp>
    </p:spTree>
    <p:extLst>
      <p:ext uri="{BB962C8B-B14F-4D97-AF65-F5344CB8AC3E}">
        <p14:creationId xmlns:p14="http://schemas.microsoft.com/office/powerpoint/2010/main" val="21087069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6A9888B-1492-4420-9A86-CB638A0018A4}"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3B8D041B-584E-4935-8CC5-AD37401235CA}" type="slidenum">
              <a:rPr lang="en-US" smtClean="0"/>
              <a:t>‹#›</a:t>
            </a:fld>
            <a:endParaRPr lang="en-US"/>
          </a:p>
        </p:txBody>
      </p:sp>
    </p:spTree>
    <p:extLst>
      <p:ext uri="{BB962C8B-B14F-4D97-AF65-F5344CB8AC3E}">
        <p14:creationId xmlns:p14="http://schemas.microsoft.com/office/powerpoint/2010/main" val="6860367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6A9888B-1492-4420-9A86-CB638A0018A4}" type="datetimeFigureOut">
              <a:rPr lang="en-US" smtClean="0"/>
              <a:t>2/3/2026</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3B8D041B-584E-4935-8CC5-AD37401235CA}" type="slidenum">
              <a:rPr lang="en-US" smtClean="0"/>
              <a:t>‹#›</a:t>
            </a:fld>
            <a:endParaRPr lang="en-US"/>
          </a:p>
        </p:txBody>
      </p:sp>
    </p:spTree>
    <p:extLst>
      <p:ext uri="{BB962C8B-B14F-4D97-AF65-F5344CB8AC3E}">
        <p14:creationId xmlns:p14="http://schemas.microsoft.com/office/powerpoint/2010/main" val="4107258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6A9888B-1492-4420-9A86-CB638A0018A4}" type="datetimeFigureOut">
              <a:rPr lang="en-US" smtClean="0"/>
              <a:t>2/3/2026</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3B8D041B-584E-4935-8CC5-AD37401235CA}" type="slidenum">
              <a:rPr lang="en-US" smtClean="0"/>
              <a:t>‹#›</a:t>
            </a:fld>
            <a:endParaRPr lang="en-US"/>
          </a:p>
        </p:txBody>
      </p:sp>
    </p:spTree>
    <p:extLst>
      <p:ext uri="{BB962C8B-B14F-4D97-AF65-F5344CB8AC3E}">
        <p14:creationId xmlns:p14="http://schemas.microsoft.com/office/powerpoint/2010/main" val="8649309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A9888B-1492-4420-9A86-CB638A0018A4}" type="datetimeFigureOut">
              <a:rPr lang="en-US" smtClean="0"/>
              <a:t>2/3/2026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3B8D041B-584E-4935-8CC5-AD37401235CA}" type="slidenum">
              <a:rPr lang="en-US" smtClean="0"/>
              <a:t>‹#›</a:t>
            </a:fld>
            <a:endParaRPr lang="en-US"/>
          </a:p>
        </p:txBody>
      </p:sp>
    </p:spTree>
    <p:extLst>
      <p:ext uri="{BB962C8B-B14F-4D97-AF65-F5344CB8AC3E}">
        <p14:creationId xmlns:p14="http://schemas.microsoft.com/office/powerpoint/2010/main" val="35771570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6A9888B-1492-4420-9A86-CB638A0018A4}"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3B8D041B-584E-4935-8CC5-AD37401235CA}" type="slidenum">
              <a:rPr lang="en-US" smtClean="0"/>
              <a:t>‹#›</a:t>
            </a:fld>
            <a:endParaRPr lang="en-US"/>
          </a:p>
        </p:txBody>
      </p:sp>
    </p:spTree>
    <p:extLst>
      <p:ext uri="{BB962C8B-B14F-4D97-AF65-F5344CB8AC3E}">
        <p14:creationId xmlns:p14="http://schemas.microsoft.com/office/powerpoint/2010/main" val="572948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6A9888B-1492-4420-9A86-CB638A0018A4}"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B8D041B-584E-4935-8CC5-AD37401235CA}" type="slidenum">
              <a:rPr lang="en-US" smtClean="0"/>
              <a:t>‹#›</a:t>
            </a:fld>
            <a:endParaRPr lang="en-US"/>
          </a:p>
        </p:txBody>
      </p:sp>
    </p:spTree>
    <p:extLst>
      <p:ext uri="{BB962C8B-B14F-4D97-AF65-F5344CB8AC3E}">
        <p14:creationId xmlns:p14="http://schemas.microsoft.com/office/powerpoint/2010/main" val="26675077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A9888B-1492-4420-9A86-CB638A0018A4}"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B8D041B-584E-4935-8CC5-AD37401235CA}" type="slidenum">
              <a:rPr lang="en-US" smtClean="0"/>
              <a:t>‹#›</a:t>
            </a:fld>
            <a:endParaRPr lang="en-US"/>
          </a:p>
        </p:txBody>
      </p:sp>
    </p:spTree>
    <p:extLst>
      <p:ext uri="{BB962C8B-B14F-4D97-AF65-F5344CB8AC3E}">
        <p14:creationId xmlns:p14="http://schemas.microsoft.com/office/powerpoint/2010/main" val="511821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A9888B-1492-4420-9A86-CB638A0018A4}"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B8D041B-584E-4935-8CC5-AD37401235CA}"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535113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6A9888B-1492-4420-9A86-CB638A0018A4}"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B8D041B-584E-4935-8CC5-AD37401235CA}" type="slidenum">
              <a:rPr lang="en-US" smtClean="0"/>
              <a:t>‹#›</a:t>
            </a:fld>
            <a:endParaRPr lang="en-US"/>
          </a:p>
        </p:txBody>
      </p:sp>
    </p:spTree>
    <p:extLst>
      <p:ext uri="{BB962C8B-B14F-4D97-AF65-F5344CB8AC3E}">
        <p14:creationId xmlns:p14="http://schemas.microsoft.com/office/powerpoint/2010/main" val="24211476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6A9888B-1492-4420-9A86-CB638A0018A4}"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B8D041B-584E-4935-8CC5-AD37401235CA}"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98037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6A9888B-1492-4420-9A86-CB638A0018A4}"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B8D041B-584E-4935-8CC5-AD37401235CA}" type="slidenum">
              <a:rPr lang="en-US" smtClean="0"/>
              <a:t>‹#›</a:t>
            </a:fld>
            <a:endParaRPr lang="en-US"/>
          </a:p>
        </p:txBody>
      </p:sp>
    </p:spTree>
    <p:extLst>
      <p:ext uri="{BB962C8B-B14F-4D97-AF65-F5344CB8AC3E}">
        <p14:creationId xmlns:p14="http://schemas.microsoft.com/office/powerpoint/2010/main" val="29467444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A9888B-1492-4420-9A86-CB638A0018A4}"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B8D041B-584E-4935-8CC5-AD37401235CA}" type="slidenum">
              <a:rPr lang="en-US" smtClean="0"/>
              <a:t>‹#›</a:t>
            </a:fld>
            <a:endParaRPr lang="en-US"/>
          </a:p>
        </p:txBody>
      </p:sp>
    </p:spTree>
    <p:extLst>
      <p:ext uri="{BB962C8B-B14F-4D97-AF65-F5344CB8AC3E}">
        <p14:creationId xmlns:p14="http://schemas.microsoft.com/office/powerpoint/2010/main" val="12916785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A9888B-1492-4420-9A86-CB638A0018A4}"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B8D041B-584E-4935-8CC5-AD37401235CA}" type="slidenum">
              <a:rPr lang="en-US" smtClean="0"/>
              <a:t>‹#›</a:t>
            </a:fld>
            <a:endParaRPr lang="en-US"/>
          </a:p>
        </p:txBody>
      </p:sp>
    </p:spTree>
    <p:extLst>
      <p:ext uri="{BB962C8B-B14F-4D97-AF65-F5344CB8AC3E}">
        <p14:creationId xmlns:p14="http://schemas.microsoft.com/office/powerpoint/2010/main" val="23667236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66A9888B-1492-4420-9A86-CB638A0018A4}" type="datetimeFigureOut">
              <a:rPr lang="en-US" smtClean="0"/>
              <a:t>2/3/2026</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3B8D041B-584E-4935-8CC5-AD37401235CA}" type="slidenum">
              <a:rPr lang="en-US" smtClean="0"/>
              <a:t>‹#›</a:t>
            </a:fld>
            <a:endParaRPr lang="en-US"/>
          </a:p>
        </p:txBody>
      </p:sp>
    </p:spTree>
    <p:extLst>
      <p:ext uri="{BB962C8B-B14F-4D97-AF65-F5344CB8AC3E}">
        <p14:creationId xmlns:p14="http://schemas.microsoft.com/office/powerpoint/2010/main" val="8131220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B0A21-567F-45E6-789C-0114981DE8F6}"/>
              </a:ext>
            </a:extLst>
          </p:cNvPr>
          <p:cNvSpPr>
            <a:spLocks noGrp="1"/>
          </p:cNvSpPr>
          <p:nvPr>
            <p:ph type="ctrTitle"/>
          </p:nvPr>
        </p:nvSpPr>
        <p:spPr/>
        <p:txBody>
          <a:bodyPr/>
          <a:lstStyle/>
          <a:p>
            <a:r>
              <a:rPr lang="en-US" dirty="0"/>
              <a:t>Operating System</a:t>
            </a:r>
          </a:p>
        </p:txBody>
      </p:sp>
      <p:sp>
        <p:nvSpPr>
          <p:cNvPr id="3" name="Subtitle 2">
            <a:extLst>
              <a:ext uri="{FF2B5EF4-FFF2-40B4-BE49-F238E27FC236}">
                <a16:creationId xmlns:a16="http://schemas.microsoft.com/office/drawing/2014/main" id="{13EEA815-5D05-70BD-91F8-5CF3C22544AD}"/>
              </a:ext>
            </a:extLst>
          </p:cNvPr>
          <p:cNvSpPr>
            <a:spLocks noGrp="1"/>
          </p:cNvSpPr>
          <p:nvPr>
            <p:ph type="subTitle" idx="1"/>
          </p:nvPr>
        </p:nvSpPr>
        <p:spPr/>
        <p:txBody>
          <a:bodyPr/>
          <a:lstStyle/>
          <a:p>
            <a:pPr algn="r"/>
            <a:r>
              <a:rPr lang="en-US" dirty="0"/>
              <a:t>Kapil Dev Pant | Kapil@nast.edu.np</a:t>
            </a:r>
          </a:p>
        </p:txBody>
      </p:sp>
      <p:sp>
        <p:nvSpPr>
          <p:cNvPr id="4" name="Title 1">
            <a:extLst>
              <a:ext uri="{FF2B5EF4-FFF2-40B4-BE49-F238E27FC236}">
                <a16:creationId xmlns:a16="http://schemas.microsoft.com/office/drawing/2014/main" id="{4FF53063-715A-4306-74BD-CECADCBC76F0}"/>
              </a:ext>
            </a:extLst>
          </p:cNvPr>
          <p:cNvSpPr txBox="1">
            <a:spLocks/>
          </p:cNvSpPr>
          <p:nvPr/>
        </p:nvSpPr>
        <p:spPr>
          <a:xfrm>
            <a:off x="1149912" y="1221041"/>
            <a:ext cx="2878602" cy="1126283"/>
          </a:xfrm>
          <a:prstGeom prst="rect">
            <a:avLst/>
          </a:prstGeom>
        </p:spPr>
        <p:txBody>
          <a:bodyPr vert="horz" lIns="91440" tIns="45720" rIns="91440" bIns="45720" rtlCol="0" anchor="b">
            <a:normAutofit/>
          </a:bodyPr>
          <a:lstStyle>
            <a:lvl1pPr algn="l" defTabSz="4572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Syllabus</a:t>
            </a:r>
          </a:p>
        </p:txBody>
      </p:sp>
      <p:sp>
        <p:nvSpPr>
          <p:cNvPr id="5" name="Title 1">
            <a:extLst>
              <a:ext uri="{FF2B5EF4-FFF2-40B4-BE49-F238E27FC236}">
                <a16:creationId xmlns:a16="http://schemas.microsoft.com/office/drawing/2014/main" id="{6D50E802-FFC9-8E59-6AF8-5AC9AFA12724}"/>
              </a:ext>
            </a:extLst>
          </p:cNvPr>
          <p:cNvSpPr txBox="1">
            <a:spLocks/>
          </p:cNvSpPr>
          <p:nvPr/>
        </p:nvSpPr>
        <p:spPr>
          <a:xfrm>
            <a:off x="9041259" y="1221040"/>
            <a:ext cx="2878602" cy="1126283"/>
          </a:xfrm>
          <a:prstGeom prst="rect">
            <a:avLst/>
          </a:prstGeom>
        </p:spPr>
        <p:txBody>
          <a:bodyPr vert="horz" lIns="91440" tIns="45720" rIns="91440" bIns="45720" rtlCol="0" anchor="b">
            <a:normAutofit fontScale="85000" lnSpcReduction="10000"/>
          </a:bodyPr>
          <a:lstStyle>
            <a:lvl1pPr algn="l" defTabSz="4572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CMP 230</a:t>
            </a:r>
          </a:p>
        </p:txBody>
      </p:sp>
    </p:spTree>
    <p:extLst>
      <p:ext uri="{BB962C8B-B14F-4D97-AF65-F5344CB8AC3E}">
        <p14:creationId xmlns:p14="http://schemas.microsoft.com/office/powerpoint/2010/main" val="429616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43BBE-47AF-6C8A-DBFE-D74DBA8A0DA8}"/>
              </a:ext>
            </a:extLst>
          </p:cNvPr>
          <p:cNvSpPr>
            <a:spLocks noGrp="1"/>
          </p:cNvSpPr>
          <p:nvPr>
            <p:ph type="title"/>
          </p:nvPr>
        </p:nvSpPr>
        <p:spPr>
          <a:xfrm>
            <a:off x="1914526" y="624110"/>
            <a:ext cx="9590086" cy="1280890"/>
          </a:xfrm>
        </p:spPr>
        <p:txBody>
          <a:bodyPr/>
          <a:lstStyle/>
          <a:p>
            <a:r>
              <a:rPr lang="en-US" dirty="0"/>
              <a:t>Unit 1: Basics of Operating System 6 hours</a:t>
            </a:r>
          </a:p>
        </p:txBody>
      </p:sp>
      <p:sp>
        <p:nvSpPr>
          <p:cNvPr id="3" name="Content Placeholder 2">
            <a:extLst>
              <a:ext uri="{FF2B5EF4-FFF2-40B4-BE49-F238E27FC236}">
                <a16:creationId xmlns:a16="http://schemas.microsoft.com/office/drawing/2014/main" id="{7654C5AC-6841-5A4E-5410-807818BB8C1D}"/>
              </a:ext>
            </a:extLst>
          </p:cNvPr>
          <p:cNvSpPr>
            <a:spLocks noGrp="1"/>
          </p:cNvSpPr>
          <p:nvPr>
            <p:ph sz="half" idx="1"/>
          </p:nvPr>
        </p:nvSpPr>
        <p:spPr>
          <a:xfrm>
            <a:off x="1414463" y="2133600"/>
            <a:ext cx="6015037" cy="4100290"/>
          </a:xfrm>
        </p:spPr>
        <p:txBody>
          <a:bodyPr>
            <a:normAutofit fontScale="92500" lnSpcReduction="10000"/>
          </a:bodyPr>
          <a:lstStyle/>
          <a:p>
            <a:pPr marL="0" indent="0">
              <a:buNone/>
            </a:pPr>
            <a:r>
              <a:rPr lang="en-US" b="1" dirty="0"/>
              <a:t>1.1</a:t>
            </a:r>
            <a:r>
              <a:rPr lang="en-US" dirty="0"/>
              <a:t>Introduction, goals of operating system </a:t>
            </a:r>
          </a:p>
          <a:p>
            <a:pPr marL="0" indent="0">
              <a:buNone/>
            </a:pPr>
            <a:r>
              <a:rPr lang="en-US" b="1" dirty="0"/>
              <a:t>1.2</a:t>
            </a:r>
            <a:r>
              <a:rPr lang="en-US" dirty="0"/>
              <a:t> Operating-System Structures and functions</a:t>
            </a:r>
          </a:p>
          <a:p>
            <a:pPr marL="0" indent="0">
              <a:buNone/>
            </a:pPr>
            <a:r>
              <a:rPr lang="en-US" b="1" dirty="0"/>
              <a:t>1.3</a:t>
            </a:r>
            <a:r>
              <a:rPr lang="en-US" dirty="0"/>
              <a:t> Types of Operating Systems </a:t>
            </a:r>
          </a:p>
          <a:p>
            <a:pPr lvl="1"/>
            <a:r>
              <a:rPr lang="en-US" i="1" dirty="0"/>
              <a:t>Batch Processing,</a:t>
            </a:r>
          </a:p>
          <a:p>
            <a:pPr lvl="1"/>
            <a:r>
              <a:rPr lang="en-US" i="1" dirty="0"/>
              <a:t>Multiprogramming,</a:t>
            </a:r>
          </a:p>
          <a:p>
            <a:pPr lvl="1"/>
            <a:r>
              <a:rPr lang="en-US" i="1" dirty="0"/>
              <a:t>Multiprocessing,</a:t>
            </a:r>
          </a:p>
          <a:p>
            <a:pPr lvl="1"/>
            <a:r>
              <a:rPr lang="en-US" i="1" dirty="0"/>
              <a:t>Networking,</a:t>
            </a:r>
          </a:p>
          <a:p>
            <a:pPr lvl="1"/>
            <a:r>
              <a:rPr lang="en-US" i="1" dirty="0"/>
              <a:t>Real Time (RTOS),</a:t>
            </a:r>
          </a:p>
          <a:p>
            <a:pPr lvl="1"/>
            <a:r>
              <a:rPr lang="en-US" i="1" dirty="0"/>
              <a:t>Distributed,</a:t>
            </a:r>
          </a:p>
          <a:p>
            <a:pPr lvl="1"/>
            <a:r>
              <a:rPr lang="en-US" i="1" dirty="0"/>
              <a:t>Embedded system </a:t>
            </a:r>
            <a:endParaRPr lang="en-US" dirty="0"/>
          </a:p>
          <a:p>
            <a:pPr marL="0" indent="0">
              <a:buNone/>
            </a:pPr>
            <a:r>
              <a:rPr lang="en-US" b="1" dirty="0"/>
              <a:t>1.4</a:t>
            </a:r>
            <a:r>
              <a:rPr lang="en-US" dirty="0"/>
              <a:t> System Interface, System Calls</a:t>
            </a:r>
          </a:p>
          <a:p>
            <a:pPr marL="0" indent="0">
              <a:buNone/>
            </a:pPr>
            <a:r>
              <a:rPr lang="en-US" b="1" dirty="0"/>
              <a:t>1.5 </a:t>
            </a:r>
            <a:r>
              <a:rPr lang="en-US" dirty="0"/>
              <a:t>Virtual Machine</a:t>
            </a:r>
          </a:p>
          <a:p>
            <a:endParaRPr lang="en-US" dirty="0"/>
          </a:p>
        </p:txBody>
      </p:sp>
      <p:sp>
        <p:nvSpPr>
          <p:cNvPr id="4" name="Content Placeholder 3">
            <a:extLst>
              <a:ext uri="{FF2B5EF4-FFF2-40B4-BE49-F238E27FC236}">
                <a16:creationId xmlns:a16="http://schemas.microsoft.com/office/drawing/2014/main" id="{9CD0CAD8-D545-6825-4500-297163495AF6}"/>
              </a:ext>
            </a:extLst>
          </p:cNvPr>
          <p:cNvSpPr>
            <a:spLocks noGrp="1"/>
          </p:cNvSpPr>
          <p:nvPr>
            <p:ph sz="half" idx="2"/>
          </p:nvPr>
        </p:nvSpPr>
        <p:spPr/>
        <p:txBody>
          <a:bodyPr>
            <a:normAutofit fontScale="92500" lnSpcReduction="10000"/>
          </a:bodyPr>
          <a:lstStyle/>
          <a:p>
            <a:pPr lvl="0"/>
            <a:r>
              <a:rPr lang="en-US" b="1" u="sng" dirty="0"/>
              <a:t>Objectives:</a:t>
            </a:r>
          </a:p>
          <a:p>
            <a:pPr>
              <a:buFont typeface="+mj-lt"/>
              <a:buAutoNum type="arabicPeriod"/>
            </a:pPr>
            <a:r>
              <a:rPr lang="en-US" dirty="0"/>
              <a:t>Familiarize with basic concepts of Operating systems, and its structures.</a:t>
            </a:r>
          </a:p>
          <a:p>
            <a:pPr>
              <a:buFont typeface="+mj-lt"/>
              <a:buAutoNum type="arabicPeriod"/>
            </a:pPr>
            <a:r>
              <a:rPr lang="en-US" dirty="0"/>
              <a:t>Explain the features of generation and types of operating systems.</a:t>
            </a:r>
          </a:p>
        </p:txBody>
      </p:sp>
    </p:spTree>
    <p:extLst>
      <p:ext uri="{BB962C8B-B14F-4D97-AF65-F5344CB8AC3E}">
        <p14:creationId xmlns:p14="http://schemas.microsoft.com/office/powerpoint/2010/main" val="34268270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36519-9FB9-EA05-700E-09437A3F31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3F8866-A9E0-78B9-6215-0FFFA5DE0240}"/>
              </a:ext>
            </a:extLst>
          </p:cNvPr>
          <p:cNvSpPr>
            <a:spLocks noGrp="1"/>
          </p:cNvSpPr>
          <p:nvPr>
            <p:ph type="title"/>
          </p:nvPr>
        </p:nvSpPr>
        <p:spPr>
          <a:xfrm>
            <a:off x="1914526" y="624110"/>
            <a:ext cx="9590086" cy="1280890"/>
          </a:xfrm>
        </p:spPr>
        <p:txBody>
          <a:bodyPr/>
          <a:lstStyle/>
          <a:p>
            <a:r>
              <a:rPr lang="en-US" dirty="0"/>
              <a:t>Unit 2: Process, Threads and Scheduling 13 hours</a:t>
            </a:r>
          </a:p>
        </p:txBody>
      </p:sp>
      <p:sp>
        <p:nvSpPr>
          <p:cNvPr id="3" name="Content Placeholder 2">
            <a:extLst>
              <a:ext uri="{FF2B5EF4-FFF2-40B4-BE49-F238E27FC236}">
                <a16:creationId xmlns:a16="http://schemas.microsoft.com/office/drawing/2014/main" id="{79A23EF1-633B-2720-8D8B-095FBD779BBE}"/>
              </a:ext>
            </a:extLst>
          </p:cNvPr>
          <p:cNvSpPr>
            <a:spLocks noGrp="1"/>
          </p:cNvSpPr>
          <p:nvPr>
            <p:ph sz="half" idx="1"/>
          </p:nvPr>
        </p:nvSpPr>
        <p:spPr>
          <a:xfrm>
            <a:off x="1414463" y="2133600"/>
            <a:ext cx="6015037" cy="4100290"/>
          </a:xfrm>
        </p:spPr>
        <p:txBody>
          <a:bodyPr>
            <a:normAutofit fontScale="85000" lnSpcReduction="20000"/>
          </a:bodyPr>
          <a:lstStyle/>
          <a:p>
            <a:pPr marL="0" indent="0">
              <a:buNone/>
            </a:pPr>
            <a:r>
              <a:rPr lang="en-US" b="1" dirty="0"/>
              <a:t>2.1 Process </a:t>
            </a:r>
            <a:endParaRPr lang="en-US" dirty="0"/>
          </a:p>
          <a:p>
            <a:pPr marL="0" indent="0">
              <a:buNone/>
            </a:pPr>
            <a:r>
              <a:rPr lang="en-US" dirty="0"/>
              <a:t>	2.1.1 The Process Model </a:t>
            </a:r>
          </a:p>
          <a:p>
            <a:pPr marL="0" indent="0">
              <a:buNone/>
            </a:pPr>
            <a:r>
              <a:rPr lang="en-US" dirty="0"/>
              <a:t>	2.1.2 Process Creation and Process Termination </a:t>
            </a:r>
          </a:p>
          <a:p>
            <a:pPr marL="0" indent="0">
              <a:buNone/>
            </a:pPr>
            <a:r>
              <a:rPr lang="en-US" dirty="0"/>
              <a:t>	2.1.3 Process Hierarchies </a:t>
            </a:r>
          </a:p>
          <a:p>
            <a:pPr marL="0" indent="0">
              <a:buNone/>
            </a:pPr>
            <a:r>
              <a:rPr lang="en-US" dirty="0"/>
              <a:t>	2.1.4 Process States </a:t>
            </a:r>
          </a:p>
          <a:p>
            <a:pPr marL="0" indent="0">
              <a:buNone/>
            </a:pPr>
            <a:r>
              <a:rPr lang="en-US" dirty="0"/>
              <a:t>	2.1.5 Implementation of Processes </a:t>
            </a:r>
          </a:p>
          <a:p>
            <a:pPr marL="0" indent="0">
              <a:buNone/>
            </a:pPr>
            <a:r>
              <a:rPr lang="en-US" b="1" dirty="0"/>
              <a:t>2.2 Threads </a:t>
            </a:r>
            <a:endParaRPr lang="en-US" dirty="0"/>
          </a:p>
          <a:p>
            <a:pPr marL="0" indent="0">
              <a:buNone/>
            </a:pPr>
            <a:r>
              <a:rPr lang="en-US" dirty="0"/>
              <a:t>	2.2.1 Thread Usage </a:t>
            </a:r>
          </a:p>
          <a:p>
            <a:pPr marL="0" indent="0">
              <a:buNone/>
            </a:pPr>
            <a:r>
              <a:rPr lang="en-US" dirty="0"/>
              <a:t>	2.2.2 Threads Models (Many-to-one model, One-to-One Model, Many-to many model)</a:t>
            </a:r>
          </a:p>
          <a:p>
            <a:pPr marL="0" indent="0">
              <a:buNone/>
            </a:pPr>
            <a:r>
              <a:rPr lang="en-US" dirty="0"/>
              <a:t>	2.2.3 User Space and Kernel Space Threads </a:t>
            </a:r>
          </a:p>
          <a:p>
            <a:pPr marL="0" indent="0">
              <a:buNone/>
            </a:pPr>
            <a:r>
              <a:rPr lang="en-US" dirty="0"/>
              <a:t>	2.2.4 Hybrid Implementations </a:t>
            </a:r>
          </a:p>
          <a:p>
            <a:pPr marL="0" indent="0">
              <a:buNone/>
            </a:pPr>
            <a:r>
              <a:rPr lang="en-US" dirty="0"/>
              <a:t>	2.2.5 Difference between Threads and Processes</a:t>
            </a:r>
          </a:p>
          <a:p>
            <a:endParaRPr lang="en-US" dirty="0"/>
          </a:p>
        </p:txBody>
      </p:sp>
      <p:sp>
        <p:nvSpPr>
          <p:cNvPr id="4" name="Content Placeholder 3">
            <a:extLst>
              <a:ext uri="{FF2B5EF4-FFF2-40B4-BE49-F238E27FC236}">
                <a16:creationId xmlns:a16="http://schemas.microsoft.com/office/drawing/2014/main" id="{25B86220-A971-F0EF-9BE5-352F4A41F855}"/>
              </a:ext>
            </a:extLst>
          </p:cNvPr>
          <p:cNvSpPr>
            <a:spLocks noGrp="1"/>
          </p:cNvSpPr>
          <p:nvPr>
            <p:ph sz="half" idx="2"/>
          </p:nvPr>
        </p:nvSpPr>
        <p:spPr/>
        <p:txBody>
          <a:bodyPr>
            <a:normAutofit fontScale="85000" lnSpcReduction="20000"/>
          </a:bodyPr>
          <a:lstStyle/>
          <a:p>
            <a:pPr lvl="0"/>
            <a:r>
              <a:rPr lang="en-US" b="1" u="sng" dirty="0"/>
              <a:t>Objectives:</a:t>
            </a:r>
          </a:p>
          <a:p>
            <a:pPr>
              <a:buFont typeface="+mj-lt"/>
              <a:buAutoNum type="arabicPeriod"/>
            </a:pPr>
            <a:r>
              <a:rPr lang="en-US" dirty="0"/>
              <a:t>Familiarize with task, process and threads</a:t>
            </a:r>
          </a:p>
          <a:p>
            <a:pPr>
              <a:buFont typeface="+mj-lt"/>
              <a:buAutoNum type="arabicPeriod"/>
            </a:pPr>
            <a:r>
              <a:rPr lang="en-US" dirty="0"/>
              <a:t>Implement of resource allocation techniques</a:t>
            </a:r>
          </a:p>
          <a:p>
            <a:pPr>
              <a:buFont typeface="+mj-lt"/>
              <a:buAutoNum type="arabicPeriod"/>
            </a:pPr>
            <a:r>
              <a:rPr lang="en-US" dirty="0"/>
              <a:t>Describe the mutual exclusion for resource utilization</a:t>
            </a:r>
          </a:p>
        </p:txBody>
      </p:sp>
    </p:spTree>
    <p:extLst>
      <p:ext uri="{BB962C8B-B14F-4D97-AF65-F5344CB8AC3E}">
        <p14:creationId xmlns:p14="http://schemas.microsoft.com/office/powerpoint/2010/main" val="3550288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F50D2-C6FC-4FD9-76C9-EBC644D5F4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140FB2-CEDD-C084-BB97-7FD9DF325E7B}"/>
              </a:ext>
            </a:extLst>
          </p:cNvPr>
          <p:cNvSpPr>
            <a:spLocks noGrp="1"/>
          </p:cNvSpPr>
          <p:nvPr>
            <p:ph type="title"/>
          </p:nvPr>
        </p:nvSpPr>
        <p:spPr>
          <a:xfrm>
            <a:off x="1914526" y="624110"/>
            <a:ext cx="9590086" cy="1280890"/>
          </a:xfrm>
        </p:spPr>
        <p:txBody>
          <a:bodyPr/>
          <a:lstStyle/>
          <a:p>
            <a:r>
              <a:rPr lang="en-US" dirty="0"/>
              <a:t>Unit 2: Process, Threads and Scheduling 13 hours</a:t>
            </a:r>
          </a:p>
        </p:txBody>
      </p:sp>
      <p:sp>
        <p:nvSpPr>
          <p:cNvPr id="3" name="Content Placeholder 2">
            <a:extLst>
              <a:ext uri="{FF2B5EF4-FFF2-40B4-BE49-F238E27FC236}">
                <a16:creationId xmlns:a16="http://schemas.microsoft.com/office/drawing/2014/main" id="{B8091603-078B-4C37-F110-298E085CEFFC}"/>
              </a:ext>
            </a:extLst>
          </p:cNvPr>
          <p:cNvSpPr>
            <a:spLocks noGrp="1"/>
          </p:cNvSpPr>
          <p:nvPr>
            <p:ph sz="half" idx="1"/>
          </p:nvPr>
        </p:nvSpPr>
        <p:spPr>
          <a:xfrm>
            <a:off x="1414463" y="2133600"/>
            <a:ext cx="6015037" cy="4557132"/>
          </a:xfrm>
        </p:spPr>
        <p:txBody>
          <a:bodyPr>
            <a:normAutofit fontScale="85000" lnSpcReduction="20000"/>
          </a:bodyPr>
          <a:lstStyle/>
          <a:p>
            <a:pPr marL="0" indent="0">
              <a:buNone/>
            </a:pPr>
            <a:r>
              <a:rPr lang="en-US" b="1" dirty="0"/>
              <a:t>2.3 Inter-process Communication </a:t>
            </a:r>
            <a:endParaRPr lang="en-US" dirty="0"/>
          </a:p>
          <a:p>
            <a:pPr marL="0" indent="0">
              <a:buNone/>
            </a:pPr>
            <a:r>
              <a:rPr lang="en-US" dirty="0"/>
              <a:t>	2.3.1 Race Conditions </a:t>
            </a:r>
          </a:p>
          <a:p>
            <a:pPr marL="0" indent="0">
              <a:buNone/>
            </a:pPr>
            <a:r>
              <a:rPr lang="en-US" dirty="0"/>
              <a:t>	2.3.2 Critical Regions </a:t>
            </a:r>
          </a:p>
          <a:p>
            <a:pPr marL="0" indent="0">
              <a:buNone/>
            </a:pPr>
            <a:r>
              <a:rPr lang="en-US" dirty="0"/>
              <a:t>	2.3.3 Mutual Exclusion with Busy Waiting </a:t>
            </a:r>
          </a:p>
          <a:p>
            <a:pPr marL="0" indent="0">
              <a:buNone/>
            </a:pPr>
            <a:r>
              <a:rPr lang="en-US" dirty="0"/>
              <a:t>	2.3.4 Sleep and Wakeup, Semaphores, Mutexes, Monitors, Message Passing </a:t>
            </a:r>
          </a:p>
          <a:p>
            <a:pPr marL="0" indent="0">
              <a:buNone/>
            </a:pPr>
            <a:r>
              <a:rPr lang="en-US" dirty="0"/>
              <a:t>	2.3.9 Avoiding Locks: Read-Copy-Update </a:t>
            </a:r>
          </a:p>
          <a:p>
            <a:pPr marL="0" indent="0">
              <a:buNone/>
            </a:pPr>
            <a:r>
              <a:rPr lang="en-US" b="1" dirty="0"/>
              <a:t>2.4 Process Scheduling</a:t>
            </a:r>
            <a:endParaRPr lang="en-US" dirty="0"/>
          </a:p>
          <a:p>
            <a:pPr marL="0" indent="0">
              <a:buNone/>
            </a:pPr>
            <a:r>
              <a:rPr lang="en-US" dirty="0"/>
              <a:t>	2.4.1 Basic Concept</a:t>
            </a:r>
          </a:p>
          <a:p>
            <a:pPr marL="0" indent="0">
              <a:buNone/>
            </a:pPr>
            <a:r>
              <a:rPr lang="en-US" dirty="0"/>
              <a:t>	2.4.2 Type of scheduling (Preemptive scheduling, Non-preemptive scheduling, batch, Interactive, real time scheduling), </a:t>
            </a:r>
          </a:p>
          <a:p>
            <a:pPr marL="0" indent="0">
              <a:buNone/>
            </a:pPr>
            <a:r>
              <a:rPr lang="en-US" dirty="0"/>
              <a:t>	2.4.3 Scheduling Criteria or performance analysis, Scheduling Algorithm (Round-robin, First come first served, Shortest-job- first, Shortest process next, Shortest remaining Time next, real time, priority fair share, guaranteed, Lottery scheduling)</a:t>
            </a:r>
          </a:p>
        </p:txBody>
      </p:sp>
      <p:sp>
        <p:nvSpPr>
          <p:cNvPr id="4" name="Content Placeholder 3">
            <a:extLst>
              <a:ext uri="{FF2B5EF4-FFF2-40B4-BE49-F238E27FC236}">
                <a16:creationId xmlns:a16="http://schemas.microsoft.com/office/drawing/2014/main" id="{3E10740F-9F61-5507-DA85-A4304D8044FE}"/>
              </a:ext>
            </a:extLst>
          </p:cNvPr>
          <p:cNvSpPr>
            <a:spLocks noGrp="1"/>
          </p:cNvSpPr>
          <p:nvPr>
            <p:ph sz="half" idx="2"/>
          </p:nvPr>
        </p:nvSpPr>
        <p:spPr/>
        <p:txBody>
          <a:bodyPr>
            <a:normAutofit fontScale="85000" lnSpcReduction="20000"/>
          </a:bodyPr>
          <a:lstStyle/>
          <a:p>
            <a:pPr marL="0" lvl="0" indent="0">
              <a:buNone/>
            </a:pPr>
            <a:r>
              <a:rPr lang="en-US" b="1" dirty="0"/>
              <a:t>2.5  Deadlocks </a:t>
            </a:r>
          </a:p>
          <a:p>
            <a:pPr marL="0" lvl="0" indent="0">
              <a:buNone/>
            </a:pPr>
            <a:r>
              <a:rPr lang="en-US" b="1" dirty="0"/>
              <a:t>	</a:t>
            </a:r>
            <a:r>
              <a:rPr lang="en-US" dirty="0"/>
              <a:t>2.5.1	System Resources: Preemptable and Non-preemptable</a:t>
            </a:r>
          </a:p>
          <a:p>
            <a:pPr marL="0" lvl="0" indent="0">
              <a:buNone/>
            </a:pPr>
            <a:r>
              <a:rPr lang="en-US" dirty="0"/>
              <a:t>	2.5.2	 Method of handling Deadlocks, </a:t>
            </a:r>
          </a:p>
          <a:p>
            <a:pPr marL="0" lvl="0" indent="0">
              <a:buNone/>
            </a:pPr>
            <a:r>
              <a:rPr lang="en-US" dirty="0"/>
              <a:t>	2.5.3	 Deadlock prevention </a:t>
            </a:r>
          </a:p>
          <a:p>
            <a:pPr marL="0" lvl="0" indent="0">
              <a:buNone/>
            </a:pPr>
            <a:r>
              <a:rPr lang="en-US" dirty="0"/>
              <a:t>	2.5.4	 Deadlock avoidance: Banker’s Algorithm, </a:t>
            </a:r>
          </a:p>
          <a:p>
            <a:pPr marL="0" lvl="0" indent="0">
              <a:buNone/>
            </a:pPr>
            <a:r>
              <a:rPr lang="en-US" dirty="0"/>
              <a:t>	2.5.5	Protection- System Protection, Goals of Protection, Principles of Protection, Domain of Protection, Access Matrix, Implementation of Access Matrix, access Control list</a:t>
            </a:r>
          </a:p>
          <a:p>
            <a:pPr marL="0" lvl="0" indent="0">
              <a:buNone/>
            </a:pPr>
            <a:r>
              <a:rPr lang="en-US" b="1" dirty="0"/>
              <a:t>2.6	Research on Processes and Threads </a:t>
            </a:r>
            <a:endParaRPr lang="en-US" dirty="0"/>
          </a:p>
        </p:txBody>
      </p:sp>
    </p:spTree>
    <p:extLst>
      <p:ext uri="{BB962C8B-B14F-4D97-AF65-F5344CB8AC3E}">
        <p14:creationId xmlns:p14="http://schemas.microsoft.com/office/powerpoint/2010/main" val="3340223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4AAE9-1C05-7003-D00E-B87074B05E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AECFC4-B1EF-BA62-5B26-C78E7DB4FDAA}"/>
              </a:ext>
            </a:extLst>
          </p:cNvPr>
          <p:cNvSpPr>
            <a:spLocks noGrp="1"/>
          </p:cNvSpPr>
          <p:nvPr>
            <p:ph type="title"/>
          </p:nvPr>
        </p:nvSpPr>
        <p:spPr>
          <a:xfrm>
            <a:off x="1914526" y="624110"/>
            <a:ext cx="9590086" cy="1280890"/>
          </a:xfrm>
        </p:spPr>
        <p:txBody>
          <a:bodyPr/>
          <a:lstStyle/>
          <a:p>
            <a:r>
              <a:rPr lang="en-US" dirty="0"/>
              <a:t>Unit 3: Storage Management 13 hours</a:t>
            </a:r>
          </a:p>
        </p:txBody>
      </p:sp>
      <p:sp>
        <p:nvSpPr>
          <p:cNvPr id="3" name="Content Placeholder 2">
            <a:extLst>
              <a:ext uri="{FF2B5EF4-FFF2-40B4-BE49-F238E27FC236}">
                <a16:creationId xmlns:a16="http://schemas.microsoft.com/office/drawing/2014/main" id="{878E44C0-C842-0579-81D5-553BF373ABEE}"/>
              </a:ext>
            </a:extLst>
          </p:cNvPr>
          <p:cNvSpPr>
            <a:spLocks noGrp="1"/>
          </p:cNvSpPr>
          <p:nvPr>
            <p:ph sz="half" idx="1"/>
          </p:nvPr>
        </p:nvSpPr>
        <p:spPr>
          <a:xfrm>
            <a:off x="1414462" y="1504295"/>
            <a:ext cx="10090149" cy="5121093"/>
          </a:xfrm>
        </p:spPr>
        <p:txBody>
          <a:bodyPr>
            <a:noAutofit/>
          </a:bodyPr>
          <a:lstStyle/>
          <a:p>
            <a:pPr marL="0" indent="0">
              <a:buNone/>
            </a:pPr>
            <a:r>
              <a:rPr lang="en-US" sz="1150" b="1" dirty="0"/>
              <a:t>3.1 Memory Management </a:t>
            </a:r>
            <a:endParaRPr lang="en-US" sz="1150" dirty="0"/>
          </a:p>
          <a:p>
            <a:pPr marL="0" indent="0">
              <a:buNone/>
            </a:pPr>
            <a:r>
              <a:rPr lang="en-US" sz="1150" dirty="0"/>
              <a:t>	3.1.1 Logical &amp; physical Address Space</a:t>
            </a:r>
          </a:p>
          <a:p>
            <a:pPr marL="0" indent="0">
              <a:buNone/>
            </a:pPr>
            <a:r>
              <a:rPr lang="en-US" sz="1150" dirty="0"/>
              <a:t>	3.1.2 Swapping</a:t>
            </a:r>
          </a:p>
          <a:p>
            <a:pPr marL="0" indent="0">
              <a:buNone/>
            </a:pPr>
            <a:r>
              <a:rPr lang="en-US" sz="1150" dirty="0"/>
              <a:t>	3.1.3 Contiguous Allocation</a:t>
            </a:r>
          </a:p>
          <a:p>
            <a:pPr marL="0" indent="0">
              <a:buNone/>
            </a:pPr>
            <a:r>
              <a:rPr lang="en-US" sz="1150" dirty="0"/>
              <a:t>	3.1.4 Paging, Structure of Page Table</a:t>
            </a:r>
          </a:p>
          <a:p>
            <a:pPr marL="0" indent="0">
              <a:buNone/>
            </a:pPr>
            <a:r>
              <a:rPr lang="en-US" sz="1150" dirty="0"/>
              <a:t>	3.1.5 Segmentation, Segmentation with Paging</a:t>
            </a:r>
          </a:p>
          <a:p>
            <a:pPr marL="0" indent="0">
              <a:buNone/>
            </a:pPr>
            <a:r>
              <a:rPr lang="en-US" sz="1150" dirty="0"/>
              <a:t> </a:t>
            </a:r>
            <a:r>
              <a:rPr lang="en-US" sz="1150" b="1" dirty="0"/>
              <a:t>3.2 Virtual Memory </a:t>
            </a:r>
            <a:endParaRPr lang="en-US" sz="1150" dirty="0"/>
          </a:p>
          <a:p>
            <a:pPr marL="0" indent="0">
              <a:buNone/>
            </a:pPr>
            <a:r>
              <a:rPr lang="en-US" sz="1150" dirty="0"/>
              <a:t>	3.2.1 Background</a:t>
            </a:r>
          </a:p>
          <a:p>
            <a:pPr marL="0" indent="0">
              <a:buNone/>
            </a:pPr>
            <a:r>
              <a:rPr lang="en-US" sz="1150" dirty="0"/>
              <a:t>	3.2.2 Demand Paging, </a:t>
            </a:r>
          </a:p>
          <a:p>
            <a:pPr marL="0" indent="0">
              <a:buNone/>
            </a:pPr>
            <a:r>
              <a:rPr lang="en-US" sz="1150" dirty="0"/>
              <a:t>	3.2.3 Performance of Demanding Paging, </a:t>
            </a:r>
          </a:p>
          <a:p>
            <a:pPr marL="0" indent="0">
              <a:buNone/>
            </a:pPr>
            <a:r>
              <a:rPr lang="en-US" sz="1150" dirty="0"/>
              <a:t>	3.2.4 Page Replacement, Page Replacement Algorithms, Allocation of Frames, </a:t>
            </a:r>
          </a:p>
          <a:p>
            <a:pPr marL="0" indent="0">
              <a:buNone/>
            </a:pPr>
            <a:r>
              <a:rPr lang="en-US" sz="1150" dirty="0"/>
              <a:t>	3.2.5 Thrashing.</a:t>
            </a:r>
          </a:p>
          <a:p>
            <a:pPr marL="0" indent="0">
              <a:buNone/>
            </a:pPr>
            <a:r>
              <a:rPr lang="en-US" sz="1150" dirty="0"/>
              <a:t> </a:t>
            </a:r>
            <a:r>
              <a:rPr lang="en-US" sz="1150" b="1" dirty="0"/>
              <a:t>3.3. File System Interface and Implementation</a:t>
            </a:r>
            <a:endParaRPr lang="en-US" sz="1150" dirty="0"/>
          </a:p>
          <a:p>
            <a:pPr marL="0" indent="0">
              <a:buNone/>
            </a:pPr>
            <a:r>
              <a:rPr lang="en-US" sz="1150" dirty="0"/>
              <a:t>	3.3.1 File System Interface- </a:t>
            </a:r>
            <a:r>
              <a:rPr lang="en-US" sz="1150" i="1" dirty="0"/>
              <a:t>The Concept of a File, Access methods, Directory Structure, File System Mounting, File Sharing, Protection</a:t>
            </a:r>
            <a:endParaRPr lang="en-US" sz="1150" dirty="0"/>
          </a:p>
          <a:p>
            <a:pPr marL="0" indent="0">
              <a:buNone/>
            </a:pPr>
            <a:r>
              <a:rPr lang="en-US" sz="1150" dirty="0"/>
              <a:t>	3.3.2 File System Implementation- </a:t>
            </a:r>
            <a:r>
              <a:rPr lang="en-US" sz="1150" i="1" dirty="0"/>
              <a:t>File System Structure, File System Implementation, and Allocation methods, Free-space 	Management, Directory Implementation, Efficiency and Performance</a:t>
            </a:r>
            <a:endParaRPr lang="en-US" sz="1150" dirty="0"/>
          </a:p>
        </p:txBody>
      </p:sp>
      <p:sp>
        <p:nvSpPr>
          <p:cNvPr id="4" name="Content Placeholder 3">
            <a:extLst>
              <a:ext uri="{FF2B5EF4-FFF2-40B4-BE49-F238E27FC236}">
                <a16:creationId xmlns:a16="http://schemas.microsoft.com/office/drawing/2014/main" id="{CDA23BEB-3756-5917-B40E-C46FED192593}"/>
              </a:ext>
            </a:extLst>
          </p:cNvPr>
          <p:cNvSpPr>
            <a:spLocks noGrp="1"/>
          </p:cNvSpPr>
          <p:nvPr>
            <p:ph sz="half" idx="2"/>
          </p:nvPr>
        </p:nvSpPr>
        <p:spPr>
          <a:xfrm>
            <a:off x="7426712" y="1576083"/>
            <a:ext cx="4577963" cy="3777622"/>
          </a:xfrm>
        </p:spPr>
        <p:txBody>
          <a:bodyPr>
            <a:normAutofit/>
          </a:bodyPr>
          <a:lstStyle/>
          <a:p>
            <a:pPr lvl="0" algn="r"/>
            <a:r>
              <a:rPr lang="en-US" b="1" u="sng" dirty="0"/>
              <a:t>Objectives:</a:t>
            </a:r>
          </a:p>
          <a:p>
            <a:pPr algn="r">
              <a:buFont typeface="+mj-lt"/>
              <a:buAutoNum type="arabicPeriod"/>
            </a:pPr>
            <a:r>
              <a:rPr lang="en-US" dirty="0"/>
              <a:t>Explain the role and working procedure of memory</a:t>
            </a:r>
          </a:p>
          <a:p>
            <a:pPr algn="r">
              <a:buFont typeface="+mj-lt"/>
              <a:buAutoNum type="arabicPeriod"/>
            </a:pPr>
            <a:r>
              <a:rPr lang="en-US" dirty="0"/>
              <a:t>Familiarizing with virtual memory management</a:t>
            </a:r>
          </a:p>
          <a:p>
            <a:pPr algn="r">
              <a:buFont typeface="+mj-lt"/>
              <a:buAutoNum type="arabicPeriod"/>
            </a:pPr>
            <a:r>
              <a:rPr lang="en-US" dirty="0"/>
              <a:t>Implement the page replacement algorithms</a:t>
            </a:r>
          </a:p>
          <a:p>
            <a:pPr algn="r">
              <a:buFont typeface="+mj-lt"/>
              <a:buAutoNum type="arabicPeriod"/>
            </a:pPr>
            <a:r>
              <a:rPr lang="en-US" dirty="0"/>
              <a:t>Explain the mechanism file and filing </a:t>
            </a:r>
          </a:p>
          <a:p>
            <a:pPr algn="r">
              <a:buFont typeface="+mj-lt"/>
              <a:buAutoNum type="arabicPeriod"/>
            </a:pPr>
            <a:endParaRPr lang="en-US" dirty="0"/>
          </a:p>
        </p:txBody>
      </p:sp>
    </p:spTree>
    <p:extLst>
      <p:ext uri="{BB962C8B-B14F-4D97-AF65-F5344CB8AC3E}">
        <p14:creationId xmlns:p14="http://schemas.microsoft.com/office/powerpoint/2010/main" val="9652221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2ED08-5E93-584E-946F-61F4F1179B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3D2549-4046-762B-DFD7-8061A5321537}"/>
              </a:ext>
            </a:extLst>
          </p:cNvPr>
          <p:cNvSpPr>
            <a:spLocks noGrp="1"/>
          </p:cNvSpPr>
          <p:nvPr>
            <p:ph type="title"/>
          </p:nvPr>
        </p:nvSpPr>
        <p:spPr>
          <a:xfrm>
            <a:off x="1914526" y="624110"/>
            <a:ext cx="9590086" cy="1280890"/>
          </a:xfrm>
        </p:spPr>
        <p:txBody>
          <a:bodyPr/>
          <a:lstStyle/>
          <a:p>
            <a:r>
              <a:rPr lang="en-US" dirty="0"/>
              <a:t>Unit 4: Input/Output Management 7 hours</a:t>
            </a:r>
          </a:p>
        </p:txBody>
      </p:sp>
      <p:sp>
        <p:nvSpPr>
          <p:cNvPr id="3" name="Content Placeholder 2">
            <a:extLst>
              <a:ext uri="{FF2B5EF4-FFF2-40B4-BE49-F238E27FC236}">
                <a16:creationId xmlns:a16="http://schemas.microsoft.com/office/drawing/2014/main" id="{407B1F0B-EF33-8FF3-0256-67DF8A20CE05}"/>
              </a:ext>
            </a:extLst>
          </p:cNvPr>
          <p:cNvSpPr>
            <a:spLocks noGrp="1"/>
          </p:cNvSpPr>
          <p:nvPr>
            <p:ph sz="half" idx="1"/>
          </p:nvPr>
        </p:nvSpPr>
        <p:spPr>
          <a:xfrm>
            <a:off x="1414463" y="1905000"/>
            <a:ext cx="5776284" cy="4418957"/>
          </a:xfrm>
        </p:spPr>
        <p:txBody>
          <a:bodyPr>
            <a:noAutofit/>
          </a:bodyPr>
          <a:lstStyle/>
          <a:p>
            <a:pPr marL="0" indent="0">
              <a:buNone/>
            </a:pPr>
            <a:r>
              <a:rPr lang="en-US" sz="1400" b="1" dirty="0"/>
              <a:t>4.1 Principles of I/O Hardware</a:t>
            </a:r>
          </a:p>
          <a:p>
            <a:pPr marL="0" indent="0">
              <a:buNone/>
            </a:pPr>
            <a:r>
              <a:rPr lang="en-US" sz="1400" i="1" dirty="0"/>
              <a:t>	I/O Device, Device Controller, Memory Mapped I/O, Direct 	Memory Access</a:t>
            </a:r>
            <a:endParaRPr lang="en-US" sz="1400" dirty="0"/>
          </a:p>
          <a:p>
            <a:pPr marL="0" indent="0">
              <a:buNone/>
            </a:pPr>
            <a:r>
              <a:rPr lang="en-US" sz="1400" b="1" dirty="0"/>
              <a:t>4.2 Principles of I/O Software </a:t>
            </a:r>
            <a:endParaRPr lang="en-US" sz="1400" dirty="0"/>
          </a:p>
          <a:p>
            <a:pPr marL="0" indent="0">
              <a:buNone/>
            </a:pPr>
            <a:r>
              <a:rPr lang="en-US" sz="1400" i="1" dirty="0"/>
              <a:t>	Goals of I/O Software, Polled I/O verses Interrupt Driven I/O, 	Character User Interface and Graphical User Interface, 	Device Driver, Device Independent I/O Software, User-	space I/O Software</a:t>
            </a:r>
            <a:r>
              <a:rPr lang="en-US" sz="1400" dirty="0"/>
              <a:t> </a:t>
            </a:r>
          </a:p>
          <a:p>
            <a:pPr marL="0" indent="0">
              <a:buNone/>
            </a:pPr>
            <a:r>
              <a:rPr lang="en-US" sz="1400" b="1" dirty="0"/>
              <a:t>4.3 Mass Storage Structure </a:t>
            </a:r>
            <a:r>
              <a:rPr lang="en-US" sz="1400" dirty="0"/>
              <a:t> </a:t>
            </a:r>
          </a:p>
          <a:p>
            <a:pPr marL="0" indent="0">
              <a:buNone/>
            </a:pPr>
            <a:r>
              <a:rPr lang="en-US" sz="1400" dirty="0"/>
              <a:t>	Overview of Mass Storage Structure, Disk Structure, Disk 	Attachment, Disk Scheduling, Disk Management, Swap 	space Management Redundant Array of Inexpensive Disks , 	RAM Disks, Optical Disk</a:t>
            </a:r>
          </a:p>
          <a:p>
            <a:pPr marL="0" indent="0">
              <a:buNone/>
            </a:pPr>
            <a:endParaRPr lang="en-US" sz="1400" dirty="0"/>
          </a:p>
        </p:txBody>
      </p:sp>
      <p:sp>
        <p:nvSpPr>
          <p:cNvPr id="4" name="Content Placeholder 3">
            <a:extLst>
              <a:ext uri="{FF2B5EF4-FFF2-40B4-BE49-F238E27FC236}">
                <a16:creationId xmlns:a16="http://schemas.microsoft.com/office/drawing/2014/main" id="{BA0A801E-B40D-51E6-146A-382633CB94D8}"/>
              </a:ext>
            </a:extLst>
          </p:cNvPr>
          <p:cNvSpPr>
            <a:spLocks noGrp="1"/>
          </p:cNvSpPr>
          <p:nvPr>
            <p:ph sz="half" idx="2"/>
          </p:nvPr>
        </p:nvSpPr>
        <p:spPr/>
        <p:txBody>
          <a:bodyPr>
            <a:normAutofit/>
          </a:bodyPr>
          <a:lstStyle/>
          <a:p>
            <a:pPr lvl="0"/>
            <a:r>
              <a:rPr lang="en-US" b="1" u="sng" dirty="0"/>
              <a:t>Objectives:</a:t>
            </a:r>
          </a:p>
          <a:p>
            <a:pPr>
              <a:buFont typeface="+mj-lt"/>
              <a:buAutoNum type="arabicPeriod"/>
            </a:pPr>
            <a:r>
              <a:rPr lang="en-US" dirty="0"/>
              <a:t>Explain the role and working procedure of memory</a:t>
            </a:r>
          </a:p>
          <a:p>
            <a:pPr>
              <a:buFont typeface="+mj-lt"/>
              <a:buAutoNum type="arabicPeriod"/>
            </a:pPr>
            <a:r>
              <a:rPr lang="en-US" dirty="0"/>
              <a:t>Familiarizing with virtual memory management</a:t>
            </a:r>
          </a:p>
          <a:p>
            <a:pPr>
              <a:buFont typeface="+mj-lt"/>
              <a:buAutoNum type="arabicPeriod"/>
            </a:pPr>
            <a:r>
              <a:rPr lang="en-US" dirty="0"/>
              <a:t>Implement the page replacement algorithms</a:t>
            </a:r>
          </a:p>
          <a:p>
            <a:pPr>
              <a:buFont typeface="+mj-lt"/>
              <a:buAutoNum type="arabicPeriod"/>
            </a:pPr>
            <a:r>
              <a:rPr lang="en-US" dirty="0"/>
              <a:t>Explain the mechanism file and filing </a:t>
            </a:r>
          </a:p>
          <a:p>
            <a:pPr>
              <a:buFont typeface="+mj-lt"/>
              <a:buAutoNum type="arabicPeriod"/>
            </a:pPr>
            <a:endParaRPr lang="en-US" dirty="0"/>
          </a:p>
        </p:txBody>
      </p:sp>
    </p:spTree>
    <p:extLst>
      <p:ext uri="{BB962C8B-B14F-4D97-AF65-F5344CB8AC3E}">
        <p14:creationId xmlns:p14="http://schemas.microsoft.com/office/powerpoint/2010/main" val="11390713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69806-3BFB-DE09-B88F-A3C5546C9B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305B4D-3157-28D3-6FFB-94D0009F539A}"/>
              </a:ext>
            </a:extLst>
          </p:cNvPr>
          <p:cNvSpPr>
            <a:spLocks noGrp="1"/>
          </p:cNvSpPr>
          <p:nvPr>
            <p:ph type="title"/>
          </p:nvPr>
        </p:nvSpPr>
        <p:spPr>
          <a:xfrm>
            <a:off x="1652337" y="624110"/>
            <a:ext cx="10395283" cy="1280890"/>
          </a:xfrm>
        </p:spPr>
        <p:txBody>
          <a:bodyPr/>
          <a:lstStyle/>
          <a:p>
            <a:r>
              <a:rPr lang="en-US" dirty="0"/>
              <a:t>Unit 5: New Trend in Operating System 4 hours</a:t>
            </a:r>
          </a:p>
        </p:txBody>
      </p:sp>
      <p:sp>
        <p:nvSpPr>
          <p:cNvPr id="3" name="Content Placeholder 2">
            <a:extLst>
              <a:ext uri="{FF2B5EF4-FFF2-40B4-BE49-F238E27FC236}">
                <a16:creationId xmlns:a16="http://schemas.microsoft.com/office/drawing/2014/main" id="{1497BCBD-23FC-2A71-8CFF-D99776B851F1}"/>
              </a:ext>
            </a:extLst>
          </p:cNvPr>
          <p:cNvSpPr>
            <a:spLocks noGrp="1"/>
          </p:cNvSpPr>
          <p:nvPr>
            <p:ph sz="half" idx="1"/>
          </p:nvPr>
        </p:nvSpPr>
        <p:spPr>
          <a:xfrm>
            <a:off x="1526759" y="2126222"/>
            <a:ext cx="5776284" cy="4418957"/>
          </a:xfrm>
        </p:spPr>
        <p:txBody>
          <a:bodyPr>
            <a:noAutofit/>
          </a:bodyPr>
          <a:lstStyle/>
          <a:p>
            <a:pPr marL="0" indent="0">
              <a:buNone/>
            </a:pPr>
            <a:r>
              <a:rPr lang="en-US" b="1" dirty="0"/>
              <a:t>5.1</a:t>
            </a:r>
            <a:r>
              <a:rPr lang="en-US" dirty="0"/>
              <a:t> Concept, character and role of Distributed, Cloud, Mobile and Multimedia operating systems</a:t>
            </a:r>
          </a:p>
          <a:p>
            <a:pPr marL="0" indent="0">
              <a:buNone/>
            </a:pPr>
            <a:endParaRPr lang="en-US" b="1" dirty="0"/>
          </a:p>
          <a:p>
            <a:pPr marL="0" indent="0">
              <a:buNone/>
            </a:pPr>
            <a:r>
              <a:rPr lang="en-US" b="1" dirty="0"/>
              <a:t>5.2</a:t>
            </a:r>
            <a:r>
              <a:rPr lang="en-US" dirty="0"/>
              <a:t> Memory wall and bottleneck for operating system</a:t>
            </a:r>
          </a:p>
          <a:p>
            <a:pPr marL="0" indent="0">
              <a:buNone/>
            </a:pPr>
            <a:endParaRPr lang="en-US" sz="1400" dirty="0"/>
          </a:p>
        </p:txBody>
      </p:sp>
      <p:sp>
        <p:nvSpPr>
          <p:cNvPr id="4" name="Content Placeholder 3">
            <a:extLst>
              <a:ext uri="{FF2B5EF4-FFF2-40B4-BE49-F238E27FC236}">
                <a16:creationId xmlns:a16="http://schemas.microsoft.com/office/drawing/2014/main" id="{86E1F6FC-64EF-31B0-A135-74DAC05191E0}"/>
              </a:ext>
            </a:extLst>
          </p:cNvPr>
          <p:cNvSpPr>
            <a:spLocks noGrp="1"/>
          </p:cNvSpPr>
          <p:nvPr>
            <p:ph sz="half" idx="2"/>
          </p:nvPr>
        </p:nvSpPr>
        <p:spPr/>
        <p:txBody>
          <a:bodyPr>
            <a:normAutofit/>
          </a:bodyPr>
          <a:lstStyle/>
          <a:p>
            <a:pPr lvl="0"/>
            <a:r>
              <a:rPr lang="en-US" b="1" u="sng" dirty="0"/>
              <a:t>Objectives:</a:t>
            </a:r>
          </a:p>
          <a:p>
            <a:pPr>
              <a:buFont typeface="+mj-lt"/>
              <a:buAutoNum type="arabicPeriod"/>
            </a:pPr>
            <a:r>
              <a:rPr lang="en-US" dirty="0"/>
              <a:t>Familiarizing with current trends of operating systems</a:t>
            </a:r>
          </a:p>
          <a:p>
            <a:pPr marL="0" indent="0">
              <a:buNone/>
            </a:pPr>
            <a:endParaRPr lang="en-US" dirty="0"/>
          </a:p>
          <a:p>
            <a:pPr>
              <a:buFont typeface="+mj-lt"/>
              <a:buAutoNum type="arabicPeriod"/>
            </a:pPr>
            <a:endParaRPr lang="en-US" dirty="0"/>
          </a:p>
        </p:txBody>
      </p:sp>
    </p:spTree>
    <p:extLst>
      <p:ext uri="{BB962C8B-B14F-4D97-AF65-F5344CB8AC3E}">
        <p14:creationId xmlns:p14="http://schemas.microsoft.com/office/powerpoint/2010/main" val="3421575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37077-33C0-93B2-6CF9-976CA090A8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7031D4-BCE1-FAAE-431E-F973DC2916D9}"/>
              </a:ext>
            </a:extLst>
          </p:cNvPr>
          <p:cNvSpPr>
            <a:spLocks noGrp="1"/>
          </p:cNvSpPr>
          <p:nvPr>
            <p:ph type="title"/>
          </p:nvPr>
        </p:nvSpPr>
        <p:spPr>
          <a:xfrm>
            <a:off x="1652337" y="624110"/>
            <a:ext cx="10395283" cy="1280890"/>
          </a:xfrm>
        </p:spPr>
        <p:txBody>
          <a:bodyPr/>
          <a:lstStyle/>
          <a:p>
            <a:r>
              <a:rPr lang="en-US" dirty="0"/>
              <a:t>Unit 6: Case Study 5 hours</a:t>
            </a:r>
          </a:p>
        </p:txBody>
      </p:sp>
      <p:sp>
        <p:nvSpPr>
          <p:cNvPr id="3" name="Content Placeholder 2">
            <a:extLst>
              <a:ext uri="{FF2B5EF4-FFF2-40B4-BE49-F238E27FC236}">
                <a16:creationId xmlns:a16="http://schemas.microsoft.com/office/drawing/2014/main" id="{6D85C70C-550B-BCC3-DFB2-1448ED4FAFB5}"/>
              </a:ext>
            </a:extLst>
          </p:cNvPr>
          <p:cNvSpPr>
            <a:spLocks noGrp="1"/>
          </p:cNvSpPr>
          <p:nvPr>
            <p:ph sz="half" idx="1"/>
          </p:nvPr>
        </p:nvSpPr>
        <p:spPr>
          <a:xfrm>
            <a:off x="1526759" y="2126222"/>
            <a:ext cx="5776284" cy="4418957"/>
          </a:xfrm>
        </p:spPr>
        <p:txBody>
          <a:bodyPr>
            <a:noAutofit/>
          </a:bodyPr>
          <a:lstStyle/>
          <a:p>
            <a:pPr marL="457200" lvl="1" indent="0">
              <a:buNone/>
            </a:pPr>
            <a:r>
              <a:rPr lang="en-US" b="1" dirty="0"/>
              <a:t>6.1 UNIX/Linux - </a:t>
            </a:r>
            <a:r>
              <a:rPr lang="en-US" dirty="0"/>
              <a:t>Design principles, Inter-process communication, Kernel modules, Network structure</a:t>
            </a:r>
          </a:p>
          <a:p>
            <a:pPr marL="457200" lvl="1" indent="0">
              <a:buNone/>
            </a:pPr>
            <a:r>
              <a:rPr lang="en-US" b="1" dirty="0"/>
              <a:t>6.2 Windows - </a:t>
            </a:r>
            <a:r>
              <a:rPr lang="en-US" dirty="0"/>
              <a:t>Design principles, Programmer interface, System components </a:t>
            </a:r>
          </a:p>
          <a:p>
            <a:pPr marL="457200" lvl="1" indent="0">
              <a:buNone/>
            </a:pPr>
            <a:r>
              <a:rPr lang="en-US" b="1" dirty="0"/>
              <a:t>6.3 </a:t>
            </a:r>
            <a:r>
              <a:rPr lang="en-US" dirty="0"/>
              <a:t>Security level in Linux/Windows</a:t>
            </a:r>
          </a:p>
          <a:p>
            <a:pPr marL="0" indent="0">
              <a:buNone/>
            </a:pPr>
            <a:endParaRPr lang="en-US" sz="1400" dirty="0"/>
          </a:p>
        </p:txBody>
      </p:sp>
      <p:sp>
        <p:nvSpPr>
          <p:cNvPr id="4" name="Content Placeholder 3">
            <a:extLst>
              <a:ext uri="{FF2B5EF4-FFF2-40B4-BE49-F238E27FC236}">
                <a16:creationId xmlns:a16="http://schemas.microsoft.com/office/drawing/2014/main" id="{54EF8EFF-516D-B223-FC06-A7E461A2B4F5}"/>
              </a:ext>
            </a:extLst>
          </p:cNvPr>
          <p:cNvSpPr>
            <a:spLocks noGrp="1"/>
          </p:cNvSpPr>
          <p:nvPr>
            <p:ph sz="half" idx="2"/>
          </p:nvPr>
        </p:nvSpPr>
        <p:spPr/>
        <p:txBody>
          <a:bodyPr>
            <a:normAutofit/>
          </a:bodyPr>
          <a:lstStyle/>
          <a:p>
            <a:pPr lvl="0"/>
            <a:r>
              <a:rPr lang="en-US" b="1" u="sng" dirty="0"/>
              <a:t>Objectives:</a:t>
            </a:r>
          </a:p>
          <a:p>
            <a:pPr>
              <a:buFont typeface="+mj-lt"/>
              <a:buAutoNum type="arabicPeriod"/>
            </a:pPr>
            <a:r>
              <a:rPr lang="en-US" dirty="0"/>
              <a:t>Compare operating system structure and functionality</a:t>
            </a:r>
          </a:p>
          <a:p>
            <a:pPr marL="0" indent="0">
              <a:buNone/>
            </a:pPr>
            <a:endParaRPr lang="en-US" dirty="0"/>
          </a:p>
          <a:p>
            <a:pPr>
              <a:buFont typeface="+mj-lt"/>
              <a:buAutoNum type="arabicPeriod"/>
            </a:pPr>
            <a:endParaRPr lang="en-US" dirty="0"/>
          </a:p>
        </p:txBody>
      </p:sp>
    </p:spTree>
    <p:extLst>
      <p:ext uri="{BB962C8B-B14F-4D97-AF65-F5344CB8AC3E}">
        <p14:creationId xmlns:p14="http://schemas.microsoft.com/office/powerpoint/2010/main" val="15411396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E9B5B-BEE8-8385-54F1-A69C5E1574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FCDAD4-8A55-C99B-8C5B-6ADB359E984A}"/>
              </a:ext>
            </a:extLst>
          </p:cNvPr>
          <p:cNvSpPr>
            <a:spLocks noGrp="1"/>
          </p:cNvSpPr>
          <p:nvPr>
            <p:ph type="title"/>
          </p:nvPr>
        </p:nvSpPr>
        <p:spPr>
          <a:xfrm>
            <a:off x="1914526" y="624110"/>
            <a:ext cx="9590086" cy="1280890"/>
          </a:xfrm>
        </p:spPr>
        <p:txBody>
          <a:bodyPr/>
          <a:lstStyle/>
          <a:p>
            <a:r>
              <a:rPr lang="en-US" dirty="0"/>
              <a:t>Practical</a:t>
            </a:r>
          </a:p>
        </p:txBody>
      </p:sp>
      <p:sp>
        <p:nvSpPr>
          <p:cNvPr id="3" name="Content Placeholder 2">
            <a:extLst>
              <a:ext uri="{FF2B5EF4-FFF2-40B4-BE49-F238E27FC236}">
                <a16:creationId xmlns:a16="http://schemas.microsoft.com/office/drawing/2014/main" id="{9FD7B0C9-F0C4-0B09-CBAB-F8D6076FCA73}"/>
              </a:ext>
            </a:extLst>
          </p:cNvPr>
          <p:cNvSpPr>
            <a:spLocks noGrp="1"/>
          </p:cNvSpPr>
          <p:nvPr>
            <p:ph sz="half" idx="1"/>
          </p:nvPr>
        </p:nvSpPr>
        <p:spPr>
          <a:xfrm>
            <a:off x="1414463" y="2133600"/>
            <a:ext cx="10248148" cy="4100290"/>
          </a:xfrm>
        </p:spPr>
        <p:txBody>
          <a:bodyPr>
            <a:normAutofit/>
          </a:bodyPr>
          <a:lstStyle/>
          <a:p>
            <a:pPr marL="0" indent="0">
              <a:buNone/>
            </a:pPr>
            <a:r>
              <a:rPr lang="en-US" dirty="0"/>
              <a:t>Laboratory work should cover the operating system structure and functions of any two popular operating system. It also insist the students to design model of operating system with the reference of open-source guideline. Students should complete the following tasks in laboratory: </a:t>
            </a:r>
          </a:p>
          <a:p>
            <a:pPr marL="0" indent="0">
              <a:buNone/>
            </a:pPr>
            <a:r>
              <a:rPr lang="en-US" dirty="0"/>
              <a:t>1. Understanding and running all the internal command and external commands in Microsoft Disk Operating Systems.</a:t>
            </a:r>
          </a:p>
          <a:p>
            <a:pPr marL="0" indent="0">
              <a:buNone/>
            </a:pPr>
            <a:r>
              <a:rPr lang="en-US" dirty="0"/>
              <a:t>2. Installation and user, application management in Windows (current version)</a:t>
            </a:r>
          </a:p>
          <a:p>
            <a:pPr marL="0" indent="0">
              <a:buNone/>
            </a:pPr>
            <a:r>
              <a:rPr lang="en-US" dirty="0"/>
              <a:t>3. Simulation of Process Scheduling Algorithms</a:t>
            </a:r>
          </a:p>
          <a:p>
            <a:pPr marL="0" indent="0">
              <a:buNone/>
            </a:pPr>
            <a:r>
              <a:rPr lang="en-US" dirty="0"/>
              <a:t>4. Simulation of Page Replacement Algorithms</a:t>
            </a:r>
          </a:p>
          <a:p>
            <a:pPr marL="0" indent="0">
              <a:buNone/>
            </a:pPr>
            <a:r>
              <a:rPr lang="en-US" dirty="0"/>
              <a:t>4. Simulation of Disk Arm Scheduling Algorithms</a:t>
            </a:r>
          </a:p>
          <a:p>
            <a:pPr marL="0" indent="0">
              <a:buNone/>
            </a:pPr>
            <a:r>
              <a:rPr lang="en-US" dirty="0"/>
              <a:t>5. System Administration (user, disk, role, etc.) in any open-source operating system.</a:t>
            </a:r>
          </a:p>
          <a:p>
            <a:endParaRPr lang="en-US" dirty="0"/>
          </a:p>
        </p:txBody>
      </p:sp>
    </p:spTree>
    <p:extLst>
      <p:ext uri="{BB962C8B-B14F-4D97-AF65-F5344CB8AC3E}">
        <p14:creationId xmlns:p14="http://schemas.microsoft.com/office/powerpoint/2010/main" val="5811703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683E1-FE51-A9C8-8CAB-5D4D69BA9B79}"/>
              </a:ext>
            </a:extLst>
          </p:cNvPr>
          <p:cNvSpPr>
            <a:spLocks noGrp="1"/>
          </p:cNvSpPr>
          <p:nvPr>
            <p:ph type="title"/>
          </p:nvPr>
        </p:nvSpPr>
        <p:spPr>
          <a:xfrm>
            <a:off x="2015408" y="431605"/>
            <a:ext cx="8911687" cy="723427"/>
          </a:xfrm>
        </p:spPr>
        <p:txBody>
          <a:bodyPr/>
          <a:lstStyle/>
          <a:p>
            <a:r>
              <a:rPr lang="en-US" dirty="0"/>
              <a:t>Evaluation System</a:t>
            </a:r>
          </a:p>
        </p:txBody>
      </p:sp>
      <p:graphicFrame>
        <p:nvGraphicFramePr>
          <p:cNvPr id="5" name="Content Placeholder 4">
            <a:extLst>
              <a:ext uri="{FF2B5EF4-FFF2-40B4-BE49-F238E27FC236}">
                <a16:creationId xmlns:a16="http://schemas.microsoft.com/office/drawing/2014/main" id="{77D02F13-5B33-905F-0BC3-8343131AB735}"/>
              </a:ext>
            </a:extLst>
          </p:cNvPr>
          <p:cNvGraphicFramePr>
            <a:graphicFrameLocks noGrp="1"/>
          </p:cNvGraphicFramePr>
          <p:nvPr>
            <p:ph sz="half" idx="2"/>
            <p:extLst>
              <p:ext uri="{D42A27DB-BD31-4B8C-83A1-F6EECF244321}">
                <p14:modId xmlns:p14="http://schemas.microsoft.com/office/powerpoint/2010/main" val="4269052859"/>
              </p:ext>
            </p:extLst>
          </p:nvPr>
        </p:nvGraphicFramePr>
        <p:xfrm>
          <a:off x="1502061" y="1283369"/>
          <a:ext cx="10208675" cy="4820920"/>
        </p:xfrm>
        <a:graphic>
          <a:graphicData uri="http://schemas.openxmlformats.org/drawingml/2006/table">
            <a:tbl>
              <a:tblPr firstRow="1" bandRow="1">
                <a:tableStyleId>{5C22544A-7EE6-4342-B048-85BDC9FD1C3A}</a:tableStyleId>
              </a:tblPr>
              <a:tblGrid>
                <a:gridCol w="4305181">
                  <a:extLst>
                    <a:ext uri="{9D8B030D-6E8A-4147-A177-3AD203B41FA5}">
                      <a16:colId xmlns:a16="http://schemas.microsoft.com/office/drawing/2014/main" val="3579310582"/>
                    </a:ext>
                  </a:extLst>
                </a:gridCol>
                <a:gridCol w="1508656">
                  <a:extLst>
                    <a:ext uri="{9D8B030D-6E8A-4147-A177-3AD203B41FA5}">
                      <a16:colId xmlns:a16="http://schemas.microsoft.com/office/drawing/2014/main" val="1548601410"/>
                    </a:ext>
                  </a:extLst>
                </a:gridCol>
                <a:gridCol w="1010727">
                  <a:extLst>
                    <a:ext uri="{9D8B030D-6E8A-4147-A177-3AD203B41FA5}">
                      <a16:colId xmlns:a16="http://schemas.microsoft.com/office/drawing/2014/main" val="2200418059"/>
                    </a:ext>
                  </a:extLst>
                </a:gridCol>
                <a:gridCol w="2370613">
                  <a:extLst>
                    <a:ext uri="{9D8B030D-6E8A-4147-A177-3AD203B41FA5}">
                      <a16:colId xmlns:a16="http://schemas.microsoft.com/office/drawing/2014/main" val="2053190006"/>
                    </a:ext>
                  </a:extLst>
                </a:gridCol>
                <a:gridCol w="1013498">
                  <a:extLst>
                    <a:ext uri="{9D8B030D-6E8A-4147-A177-3AD203B41FA5}">
                      <a16:colId xmlns:a16="http://schemas.microsoft.com/office/drawing/2014/main" val="2915147795"/>
                    </a:ext>
                  </a:extLst>
                </a:gridCol>
              </a:tblGrid>
              <a:tr h="370840">
                <a:tc>
                  <a:txBody>
                    <a:bodyPr/>
                    <a:lstStyle/>
                    <a:p>
                      <a:r>
                        <a:rPr lang="en-US" dirty="0"/>
                        <a:t>Internal Evaluation</a:t>
                      </a:r>
                    </a:p>
                  </a:txBody>
                  <a:tcPr/>
                </a:tc>
                <a:tc>
                  <a:txBody>
                    <a:bodyPr/>
                    <a:lstStyle/>
                    <a:p>
                      <a:r>
                        <a:rPr lang="en-US" dirty="0"/>
                        <a:t>Weight</a:t>
                      </a:r>
                    </a:p>
                  </a:txBody>
                  <a:tcPr/>
                </a:tc>
                <a:tc>
                  <a:txBody>
                    <a:bodyPr/>
                    <a:lstStyle/>
                    <a:p>
                      <a:r>
                        <a:rPr lang="en-US" dirty="0"/>
                        <a:t>Marks</a:t>
                      </a:r>
                    </a:p>
                  </a:txBody>
                  <a:tcPr/>
                </a:tc>
                <a:tc>
                  <a:txBody>
                    <a:bodyPr/>
                    <a:lstStyle/>
                    <a:p>
                      <a:r>
                        <a:rPr lang="en-US" dirty="0"/>
                        <a:t>External Evaluation</a:t>
                      </a:r>
                    </a:p>
                  </a:txBody>
                  <a:tcPr/>
                </a:tc>
                <a:tc>
                  <a:txBody>
                    <a:bodyPr/>
                    <a:lstStyle/>
                    <a:p>
                      <a:r>
                        <a:rPr lang="en-US" dirty="0"/>
                        <a:t>Marks</a:t>
                      </a:r>
                    </a:p>
                  </a:txBody>
                  <a:tcPr/>
                </a:tc>
                <a:extLst>
                  <a:ext uri="{0D108BD9-81ED-4DB2-BD59-A6C34878D82A}">
                    <a16:rowId xmlns:a16="http://schemas.microsoft.com/office/drawing/2014/main" val="113137022"/>
                  </a:ext>
                </a:extLst>
              </a:tr>
              <a:tr h="370840">
                <a:tc>
                  <a:txBody>
                    <a:bodyPr/>
                    <a:lstStyle/>
                    <a:p>
                      <a:r>
                        <a:rPr lang="en-US" b="1" dirty="0"/>
                        <a:t>Theory</a:t>
                      </a:r>
                    </a:p>
                  </a:txBody>
                  <a:tcPr/>
                </a:tc>
                <a:tc>
                  <a:txBody>
                    <a:bodyPr/>
                    <a:lstStyle/>
                    <a:p>
                      <a:endParaRPr lang="en-US" dirty="0"/>
                    </a:p>
                  </a:txBody>
                  <a:tcPr/>
                </a:tc>
                <a:tc>
                  <a:txBody>
                    <a:bodyPr/>
                    <a:lstStyle/>
                    <a:p>
                      <a:r>
                        <a:rPr lang="en-US" b="1" dirty="0"/>
                        <a:t>30</a:t>
                      </a:r>
                    </a:p>
                  </a:txBody>
                  <a:tcPr/>
                </a:tc>
                <a:tc rowSpan="11">
                  <a:txBody>
                    <a:bodyPr/>
                    <a:lstStyle/>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r>
                        <a:rPr lang="en-US" b="1" dirty="0"/>
                        <a:t>Semester end examination</a:t>
                      </a:r>
                    </a:p>
                  </a:txBody>
                  <a:tcPr/>
                </a:tc>
                <a:tc rowSpan="11">
                  <a:txBody>
                    <a:bodyPr/>
                    <a:lstStyle/>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r>
                        <a:rPr lang="en-US" b="1" dirty="0"/>
                        <a:t>50</a:t>
                      </a:r>
                    </a:p>
                  </a:txBody>
                  <a:tcPr/>
                </a:tc>
                <a:extLst>
                  <a:ext uri="{0D108BD9-81ED-4DB2-BD59-A6C34878D82A}">
                    <a16:rowId xmlns:a16="http://schemas.microsoft.com/office/drawing/2014/main" val="1013586704"/>
                  </a:ext>
                </a:extLst>
              </a:tr>
              <a:tr h="370840">
                <a:tc>
                  <a:txBody>
                    <a:bodyPr/>
                    <a:lstStyle/>
                    <a:p>
                      <a:r>
                        <a:rPr lang="en-US" dirty="0"/>
                        <a:t>Attendance / class participation</a:t>
                      </a:r>
                    </a:p>
                  </a:txBody>
                  <a:tcPr/>
                </a:tc>
                <a:tc>
                  <a:txBody>
                    <a:bodyPr/>
                    <a:lstStyle/>
                    <a:p>
                      <a:r>
                        <a:rPr lang="en-US" dirty="0"/>
                        <a:t>10 %</a:t>
                      </a:r>
                    </a:p>
                  </a:txBody>
                  <a:tcPr/>
                </a:tc>
                <a:tc>
                  <a:txBody>
                    <a:bodyPr/>
                    <a:lstStyle/>
                    <a:p>
                      <a:endParaRPr lang="en-US" dirty="0"/>
                    </a:p>
                  </a:txBody>
                  <a:tcPr/>
                </a:tc>
                <a:tc vMerge="1">
                  <a:txBody>
                    <a:bodyPr/>
                    <a:lstStyle/>
                    <a:p>
                      <a:endParaRPr lang="en-US" dirty="0"/>
                    </a:p>
                  </a:txBody>
                  <a:tcPr/>
                </a:tc>
                <a:tc vMerge="1">
                  <a:txBody>
                    <a:bodyPr/>
                    <a:lstStyle/>
                    <a:p>
                      <a:endParaRPr lang="en-US"/>
                    </a:p>
                  </a:txBody>
                  <a:tcPr/>
                </a:tc>
                <a:extLst>
                  <a:ext uri="{0D108BD9-81ED-4DB2-BD59-A6C34878D82A}">
                    <a16:rowId xmlns:a16="http://schemas.microsoft.com/office/drawing/2014/main" val="1921105771"/>
                  </a:ext>
                </a:extLst>
              </a:tr>
              <a:tr h="370840">
                <a:tc>
                  <a:txBody>
                    <a:bodyPr/>
                    <a:lstStyle/>
                    <a:p>
                      <a:r>
                        <a:rPr lang="en-US" dirty="0"/>
                        <a:t>Assignments</a:t>
                      </a:r>
                    </a:p>
                  </a:txBody>
                  <a:tcPr/>
                </a:tc>
                <a:tc>
                  <a:txBody>
                    <a:bodyPr/>
                    <a:lstStyle/>
                    <a:p>
                      <a:r>
                        <a:rPr lang="en-US" dirty="0"/>
                        <a:t>20 %</a:t>
                      </a:r>
                    </a:p>
                  </a:txBody>
                  <a:tcPr/>
                </a:tc>
                <a:tc>
                  <a:txBody>
                    <a:bodyPr/>
                    <a:lstStyle/>
                    <a:p>
                      <a:endParaRPr lang="en-US"/>
                    </a:p>
                  </a:txBody>
                  <a:tcPr/>
                </a:tc>
                <a:tc vMerge="1">
                  <a:txBody>
                    <a:bodyPr/>
                    <a:lstStyle/>
                    <a:p>
                      <a:endParaRPr lang="en-US" dirty="0"/>
                    </a:p>
                  </a:txBody>
                  <a:tcPr/>
                </a:tc>
                <a:tc vMerge="1">
                  <a:txBody>
                    <a:bodyPr/>
                    <a:lstStyle/>
                    <a:p>
                      <a:endParaRPr lang="en-US"/>
                    </a:p>
                  </a:txBody>
                  <a:tcPr/>
                </a:tc>
                <a:extLst>
                  <a:ext uri="{0D108BD9-81ED-4DB2-BD59-A6C34878D82A}">
                    <a16:rowId xmlns:a16="http://schemas.microsoft.com/office/drawing/2014/main" val="987848053"/>
                  </a:ext>
                </a:extLst>
              </a:tr>
              <a:tr h="370840">
                <a:tc>
                  <a:txBody>
                    <a:bodyPr/>
                    <a:lstStyle/>
                    <a:p>
                      <a:r>
                        <a:rPr lang="en-US" dirty="0"/>
                        <a:t>Project work/ presentations</a:t>
                      </a:r>
                    </a:p>
                  </a:txBody>
                  <a:tcPr/>
                </a:tc>
                <a:tc>
                  <a:txBody>
                    <a:bodyPr/>
                    <a:lstStyle/>
                    <a:p>
                      <a:r>
                        <a:rPr lang="en-US" dirty="0"/>
                        <a:t>10 %</a:t>
                      </a:r>
                    </a:p>
                  </a:txBody>
                  <a:tcPr/>
                </a:tc>
                <a:tc>
                  <a:txBody>
                    <a:bodyPr/>
                    <a:lstStyle/>
                    <a:p>
                      <a:endParaRPr lang="en-US"/>
                    </a:p>
                  </a:txBody>
                  <a:tcPr/>
                </a:tc>
                <a:tc vMerge="1">
                  <a:txBody>
                    <a:bodyPr/>
                    <a:lstStyle/>
                    <a:p>
                      <a:endParaRPr lang="en-US" dirty="0"/>
                    </a:p>
                  </a:txBody>
                  <a:tcPr/>
                </a:tc>
                <a:tc vMerge="1">
                  <a:txBody>
                    <a:bodyPr/>
                    <a:lstStyle/>
                    <a:p>
                      <a:endParaRPr lang="en-US"/>
                    </a:p>
                  </a:txBody>
                  <a:tcPr/>
                </a:tc>
                <a:extLst>
                  <a:ext uri="{0D108BD9-81ED-4DB2-BD59-A6C34878D82A}">
                    <a16:rowId xmlns:a16="http://schemas.microsoft.com/office/drawing/2014/main" val="2897082779"/>
                  </a:ext>
                </a:extLst>
              </a:tr>
              <a:tr h="370840">
                <a:tc>
                  <a:txBody>
                    <a:bodyPr/>
                    <a:lstStyle/>
                    <a:p>
                      <a:r>
                        <a:rPr lang="en-US" dirty="0"/>
                        <a:t>Term Exam</a:t>
                      </a:r>
                    </a:p>
                  </a:txBody>
                  <a:tcPr/>
                </a:tc>
                <a:tc>
                  <a:txBody>
                    <a:bodyPr/>
                    <a:lstStyle/>
                    <a:p>
                      <a:r>
                        <a:rPr lang="en-US" dirty="0"/>
                        <a:t>60 %</a:t>
                      </a:r>
                    </a:p>
                  </a:txBody>
                  <a:tcPr/>
                </a:tc>
                <a:tc>
                  <a:txBody>
                    <a:bodyPr/>
                    <a:lstStyle/>
                    <a:p>
                      <a:endParaRPr lang="en-US"/>
                    </a:p>
                  </a:txBody>
                  <a:tcPr/>
                </a:tc>
                <a:tc vMerge="1">
                  <a:txBody>
                    <a:bodyPr/>
                    <a:lstStyle/>
                    <a:p>
                      <a:endParaRPr lang="en-US" dirty="0"/>
                    </a:p>
                  </a:txBody>
                  <a:tcPr/>
                </a:tc>
                <a:tc vMerge="1">
                  <a:txBody>
                    <a:bodyPr/>
                    <a:lstStyle/>
                    <a:p>
                      <a:endParaRPr lang="en-US" dirty="0"/>
                    </a:p>
                  </a:txBody>
                  <a:tcPr/>
                </a:tc>
                <a:extLst>
                  <a:ext uri="{0D108BD9-81ED-4DB2-BD59-A6C34878D82A}">
                    <a16:rowId xmlns:a16="http://schemas.microsoft.com/office/drawing/2014/main" val="2101105741"/>
                  </a:ext>
                </a:extLst>
              </a:tr>
              <a:tr h="370840">
                <a:tc>
                  <a:txBody>
                    <a:bodyPr/>
                    <a:lstStyle/>
                    <a:p>
                      <a:r>
                        <a:rPr lang="en-US" b="1" dirty="0"/>
                        <a:t>Practical</a:t>
                      </a:r>
                    </a:p>
                  </a:txBody>
                  <a:tcPr/>
                </a:tc>
                <a:tc>
                  <a:txBody>
                    <a:bodyPr/>
                    <a:lstStyle/>
                    <a:p>
                      <a:endParaRPr lang="en-US" dirty="0"/>
                    </a:p>
                  </a:txBody>
                  <a:tcPr/>
                </a:tc>
                <a:tc>
                  <a:txBody>
                    <a:bodyPr/>
                    <a:lstStyle/>
                    <a:p>
                      <a:r>
                        <a:rPr lang="en-US" b="1" dirty="0"/>
                        <a:t>20</a:t>
                      </a:r>
                    </a:p>
                  </a:txBody>
                  <a:tcPr/>
                </a:tc>
                <a:tc vMerge="1">
                  <a:txBody>
                    <a:bodyPr/>
                    <a:lstStyle/>
                    <a:p>
                      <a:endParaRPr lang="en-US" dirty="0"/>
                    </a:p>
                  </a:txBody>
                  <a:tcPr/>
                </a:tc>
                <a:tc vMerge="1">
                  <a:txBody>
                    <a:bodyPr/>
                    <a:lstStyle/>
                    <a:p>
                      <a:endParaRPr lang="en-US"/>
                    </a:p>
                  </a:txBody>
                  <a:tcPr/>
                </a:tc>
                <a:extLst>
                  <a:ext uri="{0D108BD9-81ED-4DB2-BD59-A6C34878D82A}">
                    <a16:rowId xmlns:a16="http://schemas.microsoft.com/office/drawing/2014/main" val="4222884051"/>
                  </a:ext>
                </a:extLst>
              </a:tr>
              <a:tr h="370840">
                <a:tc>
                  <a:txBody>
                    <a:bodyPr/>
                    <a:lstStyle/>
                    <a:p>
                      <a:r>
                        <a:rPr lang="en-US" dirty="0"/>
                        <a:t>Attendance and Lab participation</a:t>
                      </a:r>
                    </a:p>
                  </a:txBody>
                  <a:tcPr/>
                </a:tc>
                <a:tc>
                  <a:txBody>
                    <a:bodyPr/>
                    <a:lstStyle/>
                    <a:p>
                      <a:r>
                        <a:rPr lang="en-US" dirty="0"/>
                        <a:t>10 %</a:t>
                      </a:r>
                    </a:p>
                  </a:txBody>
                  <a:tcPr/>
                </a:tc>
                <a:tc>
                  <a:txBody>
                    <a:bodyPr/>
                    <a:lstStyle/>
                    <a:p>
                      <a:endParaRPr lang="en-US"/>
                    </a:p>
                  </a:txBody>
                  <a:tcPr/>
                </a:tc>
                <a:tc vMerge="1">
                  <a:txBody>
                    <a:bodyPr/>
                    <a:lstStyle/>
                    <a:p>
                      <a:endParaRPr/>
                    </a:p>
                  </a:txBody>
                  <a:tcPr/>
                </a:tc>
                <a:tc vMerge="1">
                  <a:txBody>
                    <a:bodyPr/>
                    <a:lstStyle/>
                    <a:p>
                      <a:endParaRPr/>
                    </a:p>
                  </a:txBody>
                  <a:tcPr/>
                </a:tc>
                <a:extLst>
                  <a:ext uri="{0D108BD9-81ED-4DB2-BD59-A6C34878D82A}">
                    <a16:rowId xmlns:a16="http://schemas.microsoft.com/office/drawing/2014/main" val="3213999255"/>
                  </a:ext>
                </a:extLst>
              </a:tr>
              <a:tr h="370840">
                <a:tc>
                  <a:txBody>
                    <a:bodyPr/>
                    <a:lstStyle/>
                    <a:p>
                      <a:r>
                        <a:rPr lang="en-US" dirty="0"/>
                        <a:t>Lab report</a:t>
                      </a:r>
                    </a:p>
                  </a:txBody>
                  <a:tcPr/>
                </a:tc>
                <a:tc>
                  <a:txBody>
                    <a:bodyPr/>
                    <a:lstStyle/>
                    <a:p>
                      <a:r>
                        <a:rPr lang="en-US" dirty="0"/>
                        <a:t>20 %</a:t>
                      </a:r>
                    </a:p>
                  </a:txBody>
                  <a:tcPr/>
                </a:tc>
                <a:tc>
                  <a:txBody>
                    <a:bodyPr/>
                    <a:lstStyle/>
                    <a:p>
                      <a:endParaRPr lang="en-US"/>
                    </a:p>
                  </a:txBody>
                  <a:tcPr/>
                </a:tc>
                <a:tc vMerge="1">
                  <a:txBody>
                    <a:bodyPr/>
                    <a:lstStyle/>
                    <a:p>
                      <a:endParaRPr lang="en-US" dirty="0"/>
                    </a:p>
                  </a:txBody>
                  <a:tcPr/>
                </a:tc>
                <a:tc vMerge="1">
                  <a:txBody>
                    <a:bodyPr/>
                    <a:lstStyle/>
                    <a:p>
                      <a:endParaRPr lang="en-US" dirty="0"/>
                    </a:p>
                  </a:txBody>
                  <a:tcPr/>
                </a:tc>
                <a:extLst>
                  <a:ext uri="{0D108BD9-81ED-4DB2-BD59-A6C34878D82A}">
                    <a16:rowId xmlns:a16="http://schemas.microsoft.com/office/drawing/2014/main" val="3183099066"/>
                  </a:ext>
                </a:extLst>
              </a:tr>
              <a:tr h="370840">
                <a:tc>
                  <a:txBody>
                    <a:bodyPr/>
                    <a:lstStyle/>
                    <a:p>
                      <a:r>
                        <a:rPr lang="en-US" dirty="0"/>
                        <a:t>Lab examination</a:t>
                      </a:r>
                    </a:p>
                  </a:txBody>
                  <a:tcPr/>
                </a:tc>
                <a:tc>
                  <a:txBody>
                    <a:bodyPr/>
                    <a:lstStyle/>
                    <a:p>
                      <a:r>
                        <a:rPr lang="en-US" dirty="0"/>
                        <a:t>40 %</a:t>
                      </a:r>
                    </a:p>
                  </a:txBody>
                  <a:tcPr/>
                </a:tc>
                <a:tc>
                  <a:txBody>
                    <a:bodyPr/>
                    <a:lstStyle/>
                    <a:p>
                      <a:endParaRPr lang="en-US"/>
                    </a:p>
                  </a:txBody>
                  <a:tcPr/>
                </a:tc>
                <a:tc vMerge="1">
                  <a:txBody>
                    <a:bodyPr/>
                    <a:lstStyle/>
                    <a:p>
                      <a:endParaRPr lang="en-US" dirty="0"/>
                    </a:p>
                  </a:txBody>
                  <a:tcPr/>
                </a:tc>
                <a:tc vMerge="1">
                  <a:txBody>
                    <a:bodyPr/>
                    <a:lstStyle/>
                    <a:p>
                      <a:endParaRPr lang="en-US" dirty="0"/>
                    </a:p>
                  </a:txBody>
                  <a:tcPr/>
                </a:tc>
                <a:extLst>
                  <a:ext uri="{0D108BD9-81ED-4DB2-BD59-A6C34878D82A}">
                    <a16:rowId xmlns:a16="http://schemas.microsoft.com/office/drawing/2014/main" val="4092706084"/>
                  </a:ext>
                </a:extLst>
              </a:tr>
              <a:tr h="370840">
                <a:tc>
                  <a:txBody>
                    <a:bodyPr/>
                    <a:lstStyle/>
                    <a:p>
                      <a:r>
                        <a:rPr lang="en-US" dirty="0"/>
                        <a:t>Viva examination</a:t>
                      </a:r>
                    </a:p>
                  </a:txBody>
                  <a:tcPr/>
                </a:tc>
                <a:tc>
                  <a:txBody>
                    <a:bodyPr/>
                    <a:lstStyle/>
                    <a:p>
                      <a:r>
                        <a:rPr lang="en-US" dirty="0"/>
                        <a:t>30 %</a:t>
                      </a:r>
                    </a:p>
                  </a:txBody>
                  <a:tcPr/>
                </a:tc>
                <a:tc>
                  <a:txBody>
                    <a:bodyPr/>
                    <a:lstStyle/>
                    <a:p>
                      <a:endParaRPr lang="en-US" dirty="0"/>
                    </a:p>
                  </a:txBody>
                  <a:tcPr/>
                </a:tc>
                <a:tc vMerge="1">
                  <a:txBody>
                    <a:bodyPr/>
                    <a:lstStyle/>
                    <a:p>
                      <a:endParaRPr lang="en-US" dirty="0"/>
                    </a:p>
                  </a:txBody>
                  <a:tcPr/>
                </a:tc>
                <a:tc vMerge="1">
                  <a:txBody>
                    <a:bodyPr/>
                    <a:lstStyle/>
                    <a:p>
                      <a:endParaRPr lang="en-US" dirty="0"/>
                    </a:p>
                  </a:txBody>
                  <a:tcPr/>
                </a:tc>
                <a:extLst>
                  <a:ext uri="{0D108BD9-81ED-4DB2-BD59-A6C34878D82A}">
                    <a16:rowId xmlns:a16="http://schemas.microsoft.com/office/drawing/2014/main" val="3808540233"/>
                  </a:ext>
                </a:extLst>
              </a:tr>
              <a:tr h="370840">
                <a:tc>
                  <a:txBody>
                    <a:bodyPr/>
                    <a:lstStyle/>
                    <a:p>
                      <a:r>
                        <a:rPr lang="en-US" b="1" dirty="0"/>
                        <a:t>Total Internal Marks</a:t>
                      </a:r>
                    </a:p>
                  </a:txBody>
                  <a:tcPr/>
                </a:tc>
                <a:tc>
                  <a:txBody>
                    <a:bodyPr/>
                    <a:lstStyle/>
                    <a:p>
                      <a:endParaRPr lang="en-US" dirty="0"/>
                    </a:p>
                  </a:txBody>
                  <a:tcPr/>
                </a:tc>
                <a:tc>
                  <a:txBody>
                    <a:bodyPr/>
                    <a:lstStyle/>
                    <a:p>
                      <a:r>
                        <a:rPr lang="en-US" b="1" dirty="0"/>
                        <a:t>50</a:t>
                      </a:r>
                    </a:p>
                  </a:txBody>
                  <a:tcPr/>
                </a:tc>
                <a:tc vMerge="1">
                  <a:txBody>
                    <a:bodyPr/>
                    <a:lstStyle/>
                    <a:p>
                      <a:endParaRPr lang="en-US" dirty="0"/>
                    </a:p>
                  </a:txBody>
                  <a:tcPr/>
                </a:tc>
                <a:tc vMerge="1">
                  <a:txBody>
                    <a:bodyPr/>
                    <a:lstStyle/>
                    <a:p>
                      <a:endParaRPr lang="en-US" dirty="0"/>
                    </a:p>
                  </a:txBody>
                  <a:tcPr/>
                </a:tc>
                <a:extLst>
                  <a:ext uri="{0D108BD9-81ED-4DB2-BD59-A6C34878D82A}">
                    <a16:rowId xmlns:a16="http://schemas.microsoft.com/office/drawing/2014/main" val="3510789706"/>
                  </a:ext>
                </a:extLst>
              </a:tr>
              <a:tr h="370840">
                <a:tc gridSpan="5">
                  <a:txBody>
                    <a:bodyPr/>
                    <a:lstStyle/>
                    <a:p>
                      <a:pPr algn="ctr"/>
                      <a:r>
                        <a:rPr lang="en-US" b="1" dirty="0"/>
                        <a:t>FULLMARKS = 50 + 50</a:t>
                      </a:r>
                    </a:p>
                  </a:txBody>
                  <a:tcPr/>
                </a:tc>
                <a:tc hMerge="1">
                  <a:txBody>
                    <a:bodyPr/>
                    <a:lstStyle/>
                    <a:p>
                      <a:endParaRP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649398861"/>
                  </a:ext>
                </a:extLst>
              </a:tr>
            </a:tbl>
          </a:graphicData>
        </a:graphic>
      </p:graphicFrame>
    </p:spTree>
    <p:extLst>
      <p:ext uri="{BB962C8B-B14F-4D97-AF65-F5344CB8AC3E}">
        <p14:creationId xmlns:p14="http://schemas.microsoft.com/office/powerpoint/2010/main" val="37007732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3BCB4-5FD5-1390-D377-9E0E0C9A0C60}"/>
              </a:ext>
            </a:extLst>
          </p:cNvPr>
          <p:cNvSpPr>
            <a:spLocks noGrp="1"/>
          </p:cNvSpPr>
          <p:nvPr>
            <p:ph type="title"/>
          </p:nvPr>
        </p:nvSpPr>
        <p:spPr>
          <a:xfrm>
            <a:off x="2592924" y="608068"/>
            <a:ext cx="8911687" cy="1280890"/>
          </a:xfrm>
        </p:spPr>
        <p:txBody>
          <a:bodyPr/>
          <a:lstStyle/>
          <a:p>
            <a:r>
              <a:rPr lang="en-US" dirty="0"/>
              <a:t>Reference Books</a:t>
            </a:r>
          </a:p>
        </p:txBody>
      </p:sp>
      <p:sp>
        <p:nvSpPr>
          <p:cNvPr id="3" name="Content Placeholder 2">
            <a:extLst>
              <a:ext uri="{FF2B5EF4-FFF2-40B4-BE49-F238E27FC236}">
                <a16:creationId xmlns:a16="http://schemas.microsoft.com/office/drawing/2014/main" id="{8A1A4694-3E39-6F69-A964-1C48C7DE444E}"/>
              </a:ext>
            </a:extLst>
          </p:cNvPr>
          <p:cNvSpPr>
            <a:spLocks noGrp="1"/>
          </p:cNvSpPr>
          <p:nvPr>
            <p:ph sz="half" idx="1"/>
          </p:nvPr>
        </p:nvSpPr>
        <p:spPr>
          <a:xfrm>
            <a:off x="1672683" y="2111298"/>
            <a:ext cx="9620959" cy="3777622"/>
          </a:xfrm>
        </p:spPr>
        <p:txBody>
          <a:bodyPr>
            <a:normAutofit/>
          </a:bodyPr>
          <a:lstStyle/>
          <a:p>
            <a:r>
              <a:rPr lang="en-US" b="1" dirty="0"/>
              <a:t>Books</a:t>
            </a:r>
          </a:p>
          <a:p>
            <a:pPr lvl="1"/>
            <a:r>
              <a:rPr lang="en-US" dirty="0"/>
              <a:t>Andrew S. Tanenbaum, Herbert Bos,</a:t>
            </a:r>
            <a:r>
              <a:rPr lang="en-US" i="1" dirty="0"/>
              <a:t> “Modern Operating Systems”</a:t>
            </a:r>
            <a:r>
              <a:rPr lang="en-US" dirty="0"/>
              <a:t>, Pearson, 4</a:t>
            </a:r>
            <a:r>
              <a:rPr lang="en-US" baseline="30000" dirty="0"/>
              <a:t>th</a:t>
            </a:r>
            <a:r>
              <a:rPr lang="en-US" dirty="0"/>
              <a:t> Edition, ISBN-10: 0-13-359162-X. 2011</a:t>
            </a:r>
          </a:p>
          <a:p>
            <a:r>
              <a:rPr lang="en-US" b="1" dirty="0"/>
              <a:t>References</a:t>
            </a:r>
            <a:endParaRPr lang="en-US" dirty="0"/>
          </a:p>
          <a:p>
            <a:pPr lvl="1"/>
            <a:r>
              <a:rPr lang="en-US" dirty="0"/>
              <a:t>A. Silberschatz, P.B. Galvin, G. Gagne </a:t>
            </a:r>
            <a:r>
              <a:rPr lang="en-US" i="1" dirty="0"/>
              <a:t>“Applied Operating System Concepts</a:t>
            </a:r>
            <a:r>
              <a:rPr lang="en-US" dirty="0"/>
              <a:t>”, Wiley, 8</a:t>
            </a:r>
            <a:r>
              <a:rPr lang="en-US" baseline="30000" dirty="0"/>
              <a:t>th</a:t>
            </a:r>
            <a:r>
              <a:rPr lang="en-US" dirty="0"/>
              <a:t> Ed.</a:t>
            </a:r>
          </a:p>
          <a:p>
            <a:pPr lvl="1"/>
            <a:r>
              <a:rPr lang="en-US" dirty="0"/>
              <a:t>D. M. Dhamdhere , “</a:t>
            </a:r>
            <a:r>
              <a:rPr lang="en-US" i="1" dirty="0"/>
              <a:t>System Programming and Operating System</a:t>
            </a:r>
            <a:r>
              <a:rPr lang="en-US" dirty="0"/>
              <a:t>” - Tata McGraw-Hill, 20</a:t>
            </a:r>
          </a:p>
          <a:p>
            <a:pPr lvl="1"/>
            <a:r>
              <a:rPr lang="en-US" dirty="0"/>
              <a:t>Andrew S. Tanenbaum, </a:t>
            </a:r>
            <a:r>
              <a:rPr lang="en-US" i="1" dirty="0"/>
              <a:t>“Distributed Operating System</a:t>
            </a:r>
            <a:r>
              <a:rPr lang="en-US" dirty="0"/>
              <a:t>”, Pearson</a:t>
            </a:r>
          </a:p>
          <a:p>
            <a:pPr lvl="1"/>
            <a:r>
              <a:rPr lang="en-US" dirty="0"/>
              <a:t>Naresh Chauhan, Principles of Operating Systems, Oxford University Press 2014, Oxford University Press, ISBN-13: 978-0-19-808287-3</a:t>
            </a:r>
          </a:p>
          <a:p>
            <a:endParaRPr lang="en-US" dirty="0"/>
          </a:p>
        </p:txBody>
      </p:sp>
    </p:spTree>
    <p:extLst>
      <p:ext uri="{BB962C8B-B14F-4D97-AF65-F5344CB8AC3E}">
        <p14:creationId xmlns:p14="http://schemas.microsoft.com/office/powerpoint/2010/main" val="1885177589"/>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1605</TotalTime>
  <Words>1069</Words>
  <Application>Microsoft Office PowerPoint</Application>
  <PresentationFormat>Widescreen</PresentationFormat>
  <Paragraphs>161</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Century Gothic</vt:lpstr>
      <vt:lpstr>Wingdings 3</vt:lpstr>
      <vt:lpstr>Wisp</vt:lpstr>
      <vt:lpstr>Operating System</vt:lpstr>
      <vt:lpstr>Unit 1: Basics of Operating System 6 hours</vt:lpstr>
      <vt:lpstr>Unit 2: Process, Threads and Scheduling 13 hours</vt:lpstr>
      <vt:lpstr>Unit 2: Process, Threads and Scheduling 13 hours</vt:lpstr>
      <vt:lpstr>Unit 3: Storage Management 13 hours</vt:lpstr>
      <vt:lpstr>Unit 4: Input/Output Management 7 hours</vt:lpstr>
      <vt:lpstr>Unit 5: New Trend in Operating System 4 hours</vt:lpstr>
      <vt:lpstr>Unit 6: Case Study 5 hours</vt:lpstr>
      <vt:lpstr>Practical</vt:lpstr>
      <vt:lpstr>Evaluation System</vt:lpstr>
      <vt:lpstr>Reference Books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Kapil Dev Pant</dc:creator>
  <cp:lastModifiedBy>Kapil Dev Pant</cp:lastModifiedBy>
  <cp:revision>81</cp:revision>
  <dcterms:created xsi:type="dcterms:W3CDTF">2025-09-08T06:42:33Z</dcterms:created>
  <dcterms:modified xsi:type="dcterms:W3CDTF">2026-02-03T11:32:32Z</dcterms:modified>
</cp:coreProperties>
</file>