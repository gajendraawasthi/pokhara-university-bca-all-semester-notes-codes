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Lst>
  <p:sldSz cy="6858000" cx="12192000"/>
  <p:notesSz cx="6858000" cy="9144000"/>
  <p:embeddedFontLst>
    <p:embeddedFont>
      <p:font typeface="Architects Daughter"/>
      <p:regular r:id="rId10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4" roundtripDataSignature="AMtx7mhAaswhc8X7NpbJ636dsr3xlRXE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1EB111-B6CD-4540-B144-BA16F0421430}">
  <a:tblStyle styleId="{4A1EB111-B6CD-4540-B144-BA16F0421430}" styleName="Table_0">
    <a:wholeTbl>
      <a:tcTxStyle b="off" i="off">
        <a:font>
          <a:latin typeface="Trebuchet MS"/>
          <a:ea typeface="Trebuchet MS"/>
          <a:cs typeface="Trebuchet M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AF5"/>
          </a:solidFill>
        </a:fill>
      </a:tcStyle>
    </a:wholeTbl>
    <a:band1H>
      <a:tcTxStyle/>
      <a:tcStyle>
        <a:fill>
          <a:solidFill>
            <a:srgbClr val="CFD2EB"/>
          </a:solidFill>
        </a:fill>
      </a:tcStyle>
    </a:band1H>
    <a:band2H>
      <a:tcTxStyle/>
    </a:band2H>
    <a:band1V>
      <a:tcTxStyle/>
      <a:tcStyle>
        <a:fill>
          <a:solidFill>
            <a:srgbClr val="CFD2EB"/>
          </a:solidFill>
        </a:fill>
      </a:tcStyle>
    </a:band1V>
    <a:band2V>
      <a:tcTxStyle/>
    </a:band2V>
    <a:lastCol>
      <a:tcTxStyle b="on" i="off">
        <a:font>
          <a:latin typeface="Trebuchet MS"/>
          <a:ea typeface="Trebuchet MS"/>
          <a:cs typeface="Trebuchet MS"/>
        </a:font>
        <a:schemeClr val="lt1"/>
      </a:tcTxStyle>
      <a:tcStyle>
        <a:fill>
          <a:solidFill>
            <a:schemeClr val="accent1"/>
          </a:solidFill>
        </a:fill>
      </a:tcStyle>
    </a:lastCol>
    <a:firstCol>
      <a:tcTxStyle b="on" i="off">
        <a:font>
          <a:latin typeface="Trebuchet MS"/>
          <a:ea typeface="Trebuchet MS"/>
          <a:cs typeface="Trebuchet MS"/>
        </a:font>
        <a:schemeClr val="lt1"/>
      </a:tcTxStyle>
      <a:tcStyle>
        <a:fill>
          <a:solidFill>
            <a:schemeClr val="accent1"/>
          </a:solidFill>
        </a:fill>
      </a:tcStyle>
    </a:firstCol>
    <a:lastRow>
      <a:tcTxStyle b="on" i="off">
        <a:font>
          <a:latin typeface="Trebuchet MS"/>
          <a:ea typeface="Trebuchet MS"/>
          <a:cs typeface="Trebuchet M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rebuchet MS"/>
          <a:ea typeface="Trebuchet MS"/>
          <a:cs typeface="Trebuchet M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4" Type="http://customschemas.google.com/relationships/presentationmetadata" Target="meta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ArchitectsDaughter-regular.fntdata"/><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eeksforgeeks.org/operating-systems/introduction-of-process-synchronization/" TargetMode="External"/><Relationship Id="rId3" Type="http://schemas.openxmlformats.org/officeDocument/2006/relationships/hyperlink" Target="https://www.geeksforgeeks.org/operating-systems/mutual-exclusion-in-synchronization/" TargetMode="External"/><Relationship Id="rId4" Type="http://schemas.openxmlformats.org/officeDocument/2006/relationships/hyperlink" Target="https://www.geeksforgeeks.org/computer-organization-architecture/machine-instructions/" TargetMode="External"/><Relationship Id="rId5" Type="http://schemas.openxmlformats.org/officeDocument/2006/relationships/hyperlink" Target="https://www.geeksforgeeks.org/operating-systems/introduction-of-deadlock-in-operating-system/" TargetMode="External"/><Relationship Id="rId6" Type="http://schemas.openxmlformats.org/officeDocument/2006/relationships/hyperlink" Target="https://www.geeksforgeeks.org/operating-systems/difference-between-deadlock-and-starvation-in-os/" TargetMode="External"/><Relationship Id="rId7" Type="http://schemas.openxmlformats.org/officeDocument/2006/relationships/hyperlink" Target="https://www.geeksforgeeks.org/operating-systems/race-condition-vulnerability/"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sca_esv=e2c075d3965e5d0f&amp;sxsrf=AE3TifP5POTXxjIKiu1CFq3QLIHFoWpy3A%3A1764464179483&amp;q=Resource+Allocation+Graph+%28RAG%29&amp;sa=X&amp;ved=2ahUKEwilhoyl1ZiRAxVl8DgGHTn1H88QxccNegQINhAB&amp;mstk=AUtExfDfbvQfAdwdUIx-oCzNbVBZEYjiZoWV9RpCObd7QsvR-v7jT388v6smd7n9kGTrDXSrfQkZO5nNkCvi3zps-Xrxf6fY-9tOABQprR8Ctj6woXMMRihmAqM0J145Q4axQqG3FY0aYGXIHAECKOPud19HrnzUWD33GkF2buKLxbQItd7C1qLdp68SAROeohvbJC3ieJZG3Qk3qqQXkJUiGYDEXfdL7se7fhyskQ2lXt52xrWwB6IqQFYe-JOeWQnF0swvcV1AWcX4MemDhLr2RH1u&amp;csui=3" TargetMode="External"/><Relationship Id="rId3" Type="http://schemas.openxmlformats.org/officeDocument/2006/relationships/hyperlink" Target="https://www.google.com/search?sca_esv=e2c075d3965e5d0f&amp;sxsrf=AE3TifP5POTXxjIKiu1CFq3QLIHFoWpy3A%3A1764464179483&amp;q=Process+termination&amp;sa=X&amp;ved=2ahUKEwilhoyl1ZiRAxVl8DgGHTn1H88QxccNegUIhAEQAg&amp;mstk=AUtExfDfbvQfAdwdUIx-oCzNbVBZEYjiZoWV9RpCObd7QsvR-v7jT388v6smd7n9kGTrDXSrfQkZO5nNkCvi3zps-Xrxf6fY-9tOABQprR8Ctj6woXMMRihmAqM0J145Q4axQqG3FY0aYGXIHAECKOPud19HrnzUWD33GkF2buKLxbQItd7C1qLdp68SAROeohvbJC3ieJZG3Qk3qqQXkJUiGYDEXfdL7se7fhyskQ2lXt52xrWwB6IqQFYe-JOeWQnF0swvcV1AWcX4MemDhLr2RH1u&amp;csui=3" TargetMode="External"/><Relationship Id="rId4" Type="http://schemas.openxmlformats.org/officeDocument/2006/relationships/hyperlink" Target="https://www.google.com/search?sca_esv=e2c075d3965e5d0f&amp;sxsrf=AE3TifP5POTXxjIKiu1CFq3QLIHFoWpy3A%3A1764464179483&amp;q=Resource+preemption&amp;sa=X&amp;ved=2ahUKEwilhoyl1ZiRAxVl8DgGHTn1H88QxccNegUIhwEQAg&amp;mstk=AUtExfDfbvQfAdwdUIx-oCzNbVBZEYjiZoWV9RpCObd7QsvR-v7jT388v6smd7n9kGTrDXSrfQkZO5nNkCvi3zps-Xrxf6fY-9tOABQprR8Ctj6woXMMRihmAqM0J145Q4axQqG3FY0aYGXIHAECKOPud19HrnzUWD33GkF2buKLxbQItd7C1qLdp68SAROeohvbJC3ieJZG3Qk3qqQXkJUiGYDEXfdL7se7fhyskQ2lXt52xrWwB6IqQFYe-JOeWQnF0swvcV1AWcX4MemDhLr2RH1u&amp;csui=3" TargetMode="External"/><Relationship Id="rId5" Type="http://schemas.openxmlformats.org/officeDocument/2006/relationships/hyperlink" Target="https://www.google.com/search?sca_esv=e2c075d3965e5d0f&amp;sxsrf=AE3TifP5POTXxjIKiu1CFq3QLIHFoWpy3A%3A1764464179483&amp;q=Process+rollback&amp;sa=X&amp;ved=2ahUKEwilhoyl1ZiRAxVl8DgGHTn1H88QxccNegUIiQEQAg&amp;mstk=AUtExfDfbvQfAdwdUIx-oCzNbVBZEYjiZoWV9RpCObd7QsvR-v7jT388v6smd7n9kGTrDXSrfQkZO5nNkCvi3zps-Xrxf6fY-9tOABQprR8Ctj6woXMMRihmAqM0J145Q4axQqG3FY0aYGXIHAECKOPud19HrnzUWD33GkF2buKLxbQItd7C1qLdp68SAROeohvbJC3ieJZG3Qk3qqQXkJUiGYDEXfdL7se7fhyskQ2lXt52xrWwB6IqQFYe-JOeWQnF0swvcV1AWcX4MemDhLr2RH1u&amp;csui=3" TargetMode="Externa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Core components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Process:</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program in execution, which includes its code, data, stack, and other resources.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Process Control Block (PCB):</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data structure that stores all the information about a process, such as its ID, state, CPU registers, and memory usage. </a:t>
            </a:r>
            <a:endParaRPr/>
          </a:p>
          <a:p>
            <a:pPr indent="0" lvl="0" marL="0" rtl="0" algn="l">
              <a:spcBef>
                <a:spcPts val="0"/>
              </a:spcBef>
              <a:spcAft>
                <a:spcPts val="0"/>
              </a:spcAft>
              <a:buNone/>
            </a:pPr>
            <a:r>
              <a:t/>
            </a:r>
            <a:endParaRPr/>
          </a:p>
        </p:txBody>
      </p:sp>
      <p:sp>
        <p:nvSpPr>
          <p:cNvPr id="184" name="Google Shape;1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Program:</a:t>
            </a:r>
            <a:r>
              <a:rPr lang="en-US"/>
              <a:t> exists until file deletion — persistent.</a:t>
            </a:r>
            <a:endParaRPr/>
          </a:p>
          <a:p>
            <a:pPr indent="0" lvl="0" marL="0" rtl="0" algn="l">
              <a:spcBef>
                <a:spcPts val="0"/>
              </a:spcBef>
              <a:spcAft>
                <a:spcPts val="0"/>
              </a:spcAft>
              <a:buNone/>
            </a:pPr>
            <a:r>
              <a:rPr b="1" lang="en-US"/>
              <a:t>Process:</a:t>
            </a:r>
            <a:r>
              <a:rPr lang="en-US"/>
              <a:t> ephemeral — created at runtime (via </a:t>
            </a:r>
            <a:r>
              <a:rPr lang="en-US" sz="1200">
                <a:solidFill>
                  <a:schemeClr val="dk1"/>
                </a:solidFill>
                <a:latin typeface="Calibri"/>
                <a:ea typeface="Calibri"/>
                <a:cs typeface="Calibri"/>
                <a:sym typeface="Calibri"/>
              </a:rPr>
              <a:t>exec</a:t>
            </a:r>
            <a:r>
              <a:rPr lang="en-US"/>
              <a:t>, </a:t>
            </a:r>
            <a:r>
              <a:rPr lang="en-US" sz="1200">
                <a:solidFill>
                  <a:schemeClr val="dk1"/>
                </a:solidFill>
                <a:latin typeface="Calibri"/>
                <a:ea typeface="Calibri"/>
                <a:cs typeface="Calibri"/>
                <a:sym typeface="Calibri"/>
              </a:rPr>
              <a:t>fork</a:t>
            </a:r>
            <a:r>
              <a:rPr lang="en-US"/>
              <a:t>, or process creation API), uses resources while active, and the OS reclaims resources at termination.</a:t>
            </a:r>
            <a:endParaRPr/>
          </a:p>
          <a:p>
            <a:pPr indent="0" lvl="0" marL="0" rtl="0" algn="l">
              <a:spcBef>
                <a:spcPts val="0"/>
              </a:spcBef>
              <a:spcAft>
                <a:spcPts val="0"/>
              </a:spcAft>
              <a:buNone/>
            </a:pPr>
            <a:r>
              <a:rPr b="1" lang="en-US"/>
              <a:t>Creation steps (typical):</a:t>
            </a:r>
            <a:endParaRPr/>
          </a:p>
          <a:p>
            <a:pPr indent="0" lvl="0" marL="0" rtl="0" algn="l">
              <a:spcBef>
                <a:spcPts val="0"/>
              </a:spcBef>
              <a:spcAft>
                <a:spcPts val="0"/>
              </a:spcAft>
              <a:buNone/>
            </a:pPr>
            <a:r>
              <a:rPr lang="en-US"/>
              <a:t>Kernel allocates a PCB and kernel structures.</a:t>
            </a:r>
            <a:endParaRPr/>
          </a:p>
          <a:p>
            <a:pPr indent="0" lvl="0" marL="0" rtl="0" algn="l">
              <a:spcBef>
                <a:spcPts val="0"/>
              </a:spcBef>
              <a:spcAft>
                <a:spcPts val="0"/>
              </a:spcAft>
              <a:buNone/>
            </a:pPr>
            <a:r>
              <a:rPr lang="en-US"/>
              <a:t>Kernel creates address space (pages) and loads code (or maps the executable).</a:t>
            </a:r>
            <a:endParaRPr/>
          </a:p>
          <a:p>
            <a:pPr indent="0" lvl="0" marL="0" rtl="0" algn="l">
              <a:spcBef>
                <a:spcPts val="0"/>
              </a:spcBef>
              <a:spcAft>
                <a:spcPts val="0"/>
              </a:spcAft>
              <a:buNone/>
            </a:pPr>
            <a:r>
              <a:rPr lang="en-US"/>
              <a:t>Initialize stack, heap, registers, file descriptors (inherited or new).</a:t>
            </a:r>
            <a:endParaRPr/>
          </a:p>
          <a:p>
            <a:pPr indent="0" lvl="0" marL="0" rtl="0" algn="l">
              <a:spcBef>
                <a:spcPts val="0"/>
              </a:spcBef>
              <a:spcAft>
                <a:spcPts val="0"/>
              </a:spcAft>
              <a:buNone/>
            </a:pPr>
            <a:r>
              <a:rPr lang="en-US"/>
              <a:t>Put process in the ready queue for the scheduler.</a:t>
            </a:r>
            <a:endParaRPr/>
          </a:p>
          <a:p>
            <a:pPr indent="0" lvl="0" marL="0" rtl="0" algn="l">
              <a:spcBef>
                <a:spcPts val="0"/>
              </a:spcBef>
              <a:spcAft>
                <a:spcPts val="0"/>
              </a:spcAft>
              <a:buNone/>
            </a:pPr>
            <a:r>
              <a:rPr b="1" lang="en-US"/>
              <a:t>Termination steps:</a:t>
            </a:r>
            <a:endParaRPr/>
          </a:p>
          <a:p>
            <a:pPr indent="0" lvl="0" marL="0" rtl="0" algn="l">
              <a:spcBef>
                <a:spcPts val="0"/>
              </a:spcBef>
              <a:spcAft>
                <a:spcPts val="0"/>
              </a:spcAft>
              <a:buNone/>
            </a:pPr>
            <a:r>
              <a:rPr lang="en-US"/>
              <a:t>Process executes </a:t>
            </a:r>
            <a:r>
              <a:rPr lang="en-US" sz="1200">
                <a:solidFill>
                  <a:schemeClr val="dk1"/>
                </a:solidFill>
                <a:latin typeface="Calibri"/>
                <a:ea typeface="Calibri"/>
                <a:cs typeface="Calibri"/>
                <a:sym typeface="Calibri"/>
              </a:rPr>
              <a:t>exit()</a:t>
            </a:r>
            <a:r>
              <a:rPr lang="en-US"/>
              <a:t> (or killed).</a:t>
            </a:r>
            <a:endParaRPr/>
          </a:p>
          <a:p>
            <a:pPr indent="0" lvl="0" marL="0" rtl="0" algn="l">
              <a:spcBef>
                <a:spcPts val="0"/>
              </a:spcBef>
              <a:spcAft>
                <a:spcPts val="0"/>
              </a:spcAft>
              <a:buNone/>
            </a:pPr>
            <a:r>
              <a:rPr lang="en-US"/>
              <a:t>Kernel updates PCB and frees resources (memory, file descriptors).</a:t>
            </a:r>
            <a:endParaRPr/>
          </a:p>
          <a:p>
            <a:pPr indent="0" lvl="0" marL="0" rtl="0" algn="l">
              <a:spcBef>
                <a:spcPts val="0"/>
              </a:spcBef>
              <a:spcAft>
                <a:spcPts val="0"/>
              </a:spcAft>
              <a:buNone/>
            </a:pPr>
            <a:r>
              <a:rPr lang="en-US"/>
              <a:t>Parent may </a:t>
            </a:r>
            <a:r>
              <a:rPr lang="en-US" sz="1200">
                <a:solidFill>
                  <a:schemeClr val="dk1"/>
                </a:solidFill>
                <a:latin typeface="Calibri"/>
                <a:ea typeface="Calibri"/>
                <a:cs typeface="Calibri"/>
                <a:sym typeface="Calibri"/>
              </a:rPr>
              <a:t>wait()</a:t>
            </a:r>
            <a:r>
              <a:rPr lang="en-US"/>
              <a:t> to collect exit status (prevents zombies).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Process Creation</a:t>
            </a:r>
            <a:endParaRPr/>
          </a:p>
          <a:p>
            <a:pPr indent="0" lvl="0" marL="0" rtl="0" algn="l">
              <a:spcBef>
                <a:spcPts val="0"/>
              </a:spcBef>
              <a:spcAft>
                <a:spcPts val="0"/>
              </a:spcAft>
              <a:buNone/>
            </a:pPr>
            <a:r>
              <a:rPr b="1" lang="en-US"/>
              <a:t>Definition:</a:t>
            </a:r>
            <a:endParaRPr/>
          </a:p>
          <a:p>
            <a:pPr indent="0" lvl="0" marL="0" rtl="0" algn="l">
              <a:spcBef>
                <a:spcPts val="0"/>
              </a:spcBef>
              <a:spcAft>
                <a:spcPts val="0"/>
              </a:spcAft>
              <a:buNone/>
            </a:pPr>
            <a:r>
              <a:rPr lang="en-US"/>
              <a:t>Process creation is the </a:t>
            </a:r>
            <a:r>
              <a:rPr b="1" lang="en-US"/>
              <a:t>initialization of a new process</a:t>
            </a:r>
            <a:r>
              <a:rPr lang="en-US"/>
              <a:t> by the operating system.</a:t>
            </a:r>
            <a:br>
              <a:rPr lang="en-US"/>
            </a:br>
            <a:r>
              <a:rPr lang="en-US"/>
              <a:t>It involves allocating resources, setting up memory, and linking it to the process hierarchy.</a:t>
            </a:r>
            <a:endParaRPr/>
          </a:p>
          <a:p>
            <a:pPr indent="0" lvl="0" marL="0" rtl="0" algn="l">
              <a:spcBef>
                <a:spcPts val="0"/>
              </a:spcBef>
              <a:spcAft>
                <a:spcPts val="0"/>
              </a:spcAft>
              <a:buNone/>
            </a:pPr>
            <a:r>
              <a:rPr b="1" lang="en-US"/>
              <a:t>Typical reasons for creation:</a:t>
            </a:r>
            <a:endParaRPr/>
          </a:p>
          <a:p>
            <a:pPr indent="0" lvl="0" marL="0" rtl="0" algn="l">
              <a:spcBef>
                <a:spcPts val="0"/>
              </a:spcBef>
              <a:spcAft>
                <a:spcPts val="0"/>
              </a:spcAft>
              <a:buNone/>
            </a:pPr>
            <a:r>
              <a:rPr lang="en-US"/>
              <a:t>System startup (creating background/system processes)</a:t>
            </a:r>
            <a:endParaRPr/>
          </a:p>
          <a:p>
            <a:pPr indent="0" lvl="0" marL="0" rtl="0" algn="l">
              <a:spcBef>
                <a:spcPts val="0"/>
              </a:spcBef>
              <a:spcAft>
                <a:spcPts val="0"/>
              </a:spcAft>
              <a:buNone/>
            </a:pPr>
            <a:r>
              <a:rPr lang="en-US"/>
              <a:t>User request (launching an application)</a:t>
            </a:r>
            <a:endParaRPr/>
          </a:p>
          <a:p>
            <a:pPr indent="0" lvl="0" marL="0" rtl="0" algn="l">
              <a:spcBef>
                <a:spcPts val="0"/>
              </a:spcBef>
              <a:spcAft>
                <a:spcPts val="0"/>
              </a:spcAft>
              <a:buNone/>
            </a:pPr>
            <a:r>
              <a:rPr lang="en-US"/>
              <a:t>Batch job submission</a:t>
            </a:r>
            <a:endParaRPr/>
          </a:p>
          <a:p>
            <a:pPr indent="0" lvl="0" marL="0" rtl="0" algn="l">
              <a:spcBef>
                <a:spcPts val="0"/>
              </a:spcBef>
              <a:spcAft>
                <a:spcPts val="0"/>
              </a:spcAft>
              <a:buNone/>
            </a:pPr>
            <a:r>
              <a:rPr lang="en-US"/>
              <a:t>Another process using system calls like:</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fork()</a:t>
            </a:r>
            <a:r>
              <a:rPr lang="en-US"/>
              <a:t> in UNIX/Linux</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CreateProcess()</a:t>
            </a:r>
            <a:r>
              <a:rPr lang="en-US"/>
              <a:t> in Windows</a:t>
            </a:r>
            <a:endParaRPr/>
          </a:p>
          <a:p>
            <a:pPr indent="0" lvl="0" marL="0" rtl="0" algn="l">
              <a:spcBef>
                <a:spcPts val="0"/>
              </a:spcBef>
              <a:spcAft>
                <a:spcPts val="0"/>
              </a:spcAft>
              <a:buNone/>
            </a:pPr>
            <a:r>
              <a:rPr b="1" lang="en-US"/>
              <a:t>Steps Involved:</a:t>
            </a:r>
            <a:endParaRPr/>
          </a:p>
          <a:p>
            <a:pPr indent="0" lvl="0" marL="0" rtl="0" algn="l">
              <a:spcBef>
                <a:spcPts val="0"/>
              </a:spcBef>
              <a:spcAft>
                <a:spcPts val="0"/>
              </a:spcAft>
              <a:buNone/>
            </a:pPr>
            <a:r>
              <a:rPr b="1" lang="en-US"/>
              <a:t>Assign Process ID (PID):</a:t>
            </a:r>
            <a:br>
              <a:rPr lang="en-US"/>
            </a:br>
            <a:r>
              <a:rPr lang="en-US"/>
              <a:t>OS assigns a unique identifier to the new process.</a:t>
            </a:r>
            <a:endParaRPr/>
          </a:p>
          <a:p>
            <a:pPr indent="0" lvl="0" marL="0" rtl="0" algn="l">
              <a:spcBef>
                <a:spcPts val="0"/>
              </a:spcBef>
              <a:spcAft>
                <a:spcPts val="0"/>
              </a:spcAft>
              <a:buNone/>
            </a:pPr>
            <a:r>
              <a:rPr b="1" lang="en-US"/>
              <a:t>Allocate PCB (Process Control Block):</a:t>
            </a:r>
            <a:br>
              <a:rPr lang="en-US"/>
            </a:br>
            <a:r>
              <a:rPr lang="en-US"/>
              <a:t>A PCB structure is created to store the process state, program counter, CPU registers, etc.</a:t>
            </a:r>
            <a:endParaRPr/>
          </a:p>
          <a:p>
            <a:pPr indent="0" lvl="0" marL="0" rtl="0" algn="l">
              <a:spcBef>
                <a:spcPts val="0"/>
              </a:spcBef>
              <a:spcAft>
                <a:spcPts val="0"/>
              </a:spcAft>
              <a:buNone/>
            </a:pPr>
            <a:r>
              <a:rPr b="1" lang="en-US"/>
              <a:t>Allocate Memory Space:</a:t>
            </a:r>
            <a:br>
              <a:rPr lang="en-US"/>
            </a:br>
            <a:r>
              <a:rPr lang="en-US"/>
              <a:t>OS allocates memory for:</a:t>
            </a:r>
            <a:endParaRPr/>
          </a:p>
          <a:p>
            <a:pPr indent="0" lvl="1" marL="457200" rtl="0" algn="l">
              <a:spcBef>
                <a:spcPts val="0"/>
              </a:spcBef>
              <a:spcAft>
                <a:spcPts val="0"/>
              </a:spcAft>
              <a:buNone/>
            </a:pPr>
            <a:r>
              <a:rPr lang="en-US"/>
              <a:t>Code (text segment)</a:t>
            </a:r>
            <a:endParaRPr/>
          </a:p>
          <a:p>
            <a:pPr indent="0" lvl="1" marL="457200" rtl="0" algn="l">
              <a:spcBef>
                <a:spcPts val="0"/>
              </a:spcBef>
              <a:spcAft>
                <a:spcPts val="0"/>
              </a:spcAft>
              <a:buNone/>
            </a:pPr>
            <a:r>
              <a:rPr lang="en-US"/>
              <a:t>Data (global variables)</a:t>
            </a:r>
            <a:endParaRPr/>
          </a:p>
          <a:p>
            <a:pPr indent="0" lvl="1" marL="457200" rtl="0" algn="l">
              <a:spcBef>
                <a:spcPts val="0"/>
              </a:spcBef>
              <a:spcAft>
                <a:spcPts val="0"/>
              </a:spcAft>
              <a:buNone/>
            </a:pPr>
            <a:r>
              <a:rPr lang="en-US"/>
              <a:t>Heap and Stack</a:t>
            </a:r>
            <a:endParaRPr/>
          </a:p>
          <a:p>
            <a:pPr indent="0" lvl="0" marL="0" rtl="0" algn="l">
              <a:spcBef>
                <a:spcPts val="0"/>
              </a:spcBef>
              <a:spcAft>
                <a:spcPts val="0"/>
              </a:spcAft>
              <a:buNone/>
            </a:pPr>
            <a:r>
              <a:rPr b="1" lang="en-US"/>
              <a:t>Load Program:</a:t>
            </a:r>
            <a:br>
              <a:rPr lang="en-US"/>
            </a:br>
            <a:r>
              <a:rPr lang="en-US"/>
              <a:t>The executable file is loaded into memory.</a:t>
            </a:r>
            <a:endParaRPr/>
          </a:p>
          <a:p>
            <a:pPr indent="0" lvl="0" marL="0" rtl="0" algn="l">
              <a:spcBef>
                <a:spcPts val="0"/>
              </a:spcBef>
              <a:spcAft>
                <a:spcPts val="0"/>
              </a:spcAft>
              <a:buNone/>
            </a:pPr>
            <a:r>
              <a:rPr b="1" lang="en-US"/>
              <a:t>Initialize I/O and File Descriptors:</a:t>
            </a:r>
            <a:br>
              <a:rPr lang="en-US"/>
            </a:br>
            <a:r>
              <a:rPr lang="en-US"/>
              <a:t>File handles, input/output streams, and environment variables are set.</a:t>
            </a:r>
            <a:endParaRPr/>
          </a:p>
          <a:p>
            <a:pPr indent="0" lvl="0" marL="0" rtl="0" algn="l">
              <a:spcBef>
                <a:spcPts val="0"/>
              </a:spcBef>
              <a:spcAft>
                <a:spcPts val="0"/>
              </a:spcAft>
              <a:buNone/>
            </a:pPr>
            <a:r>
              <a:rPr b="1" lang="en-US"/>
              <a:t>Set Initial Process State:</a:t>
            </a:r>
            <a:br>
              <a:rPr lang="en-US"/>
            </a:br>
            <a:r>
              <a:rPr lang="en-US"/>
              <a:t>The process is placed in the </a:t>
            </a:r>
            <a:r>
              <a:rPr b="1" lang="en-US"/>
              <a:t>Ready Queue</a:t>
            </a:r>
            <a:r>
              <a:rPr lang="en-US"/>
              <a:t>.</a:t>
            </a:r>
            <a:endParaRPr/>
          </a:p>
          <a:p>
            <a:pPr indent="0" lvl="0" marL="0" rtl="0" algn="l">
              <a:spcBef>
                <a:spcPts val="0"/>
              </a:spcBef>
              <a:spcAft>
                <a:spcPts val="0"/>
              </a:spcAft>
              <a:buNone/>
            </a:pPr>
            <a:r>
              <a:rPr b="1" lang="en-US"/>
              <a:t>Link to Parent Process:</a:t>
            </a:r>
            <a:br>
              <a:rPr lang="en-US"/>
            </a:br>
            <a:r>
              <a:rPr lang="en-US"/>
              <a:t>Parent-child relationship is established (process hierarchy).</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In UNIX,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bash (parent) → fork() → child process → exec() → loads program</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2️⃣ Process Scheduling</a:t>
            </a:r>
            <a:endParaRPr/>
          </a:p>
          <a:p>
            <a:pPr indent="0" lvl="0" marL="0" rtl="0" algn="l">
              <a:spcBef>
                <a:spcPts val="0"/>
              </a:spcBef>
              <a:spcAft>
                <a:spcPts val="0"/>
              </a:spcAft>
              <a:buNone/>
            </a:pPr>
            <a:r>
              <a:rPr b="1" lang="en-US"/>
              <a:t>Definition:</a:t>
            </a:r>
            <a:endParaRPr/>
          </a:p>
          <a:p>
            <a:pPr indent="0" lvl="0" marL="0" rtl="0" algn="l">
              <a:spcBef>
                <a:spcPts val="0"/>
              </a:spcBef>
              <a:spcAft>
                <a:spcPts val="0"/>
              </a:spcAft>
              <a:buNone/>
            </a:pPr>
            <a:r>
              <a:rPr lang="en-US"/>
              <a:t>Process scheduling determines </a:t>
            </a:r>
            <a:r>
              <a:rPr b="1" lang="en-US"/>
              <a:t>which process gets CPU time next</a:t>
            </a:r>
            <a:r>
              <a:rPr lang="en-US"/>
              <a:t> among those ready to run.</a:t>
            </a:r>
            <a:endParaRPr/>
          </a:p>
          <a:p>
            <a:pPr indent="0" lvl="0" marL="0" rtl="0" algn="l">
              <a:spcBef>
                <a:spcPts val="0"/>
              </a:spcBef>
              <a:spcAft>
                <a:spcPts val="0"/>
              </a:spcAft>
              <a:buNone/>
            </a:pPr>
            <a:r>
              <a:rPr b="1" lang="en-US"/>
              <a:t>Purpose:</a:t>
            </a:r>
            <a:endParaRPr/>
          </a:p>
          <a:p>
            <a:pPr indent="0" lvl="0" marL="0" rtl="0" algn="l">
              <a:spcBef>
                <a:spcPts val="0"/>
              </a:spcBef>
              <a:spcAft>
                <a:spcPts val="0"/>
              </a:spcAft>
              <a:buNone/>
            </a:pPr>
            <a:r>
              <a:rPr lang="en-US"/>
              <a:t>Efficient CPU utilization</a:t>
            </a:r>
            <a:endParaRPr/>
          </a:p>
          <a:p>
            <a:pPr indent="0" lvl="0" marL="0" rtl="0" algn="l">
              <a:spcBef>
                <a:spcPts val="0"/>
              </a:spcBef>
              <a:spcAft>
                <a:spcPts val="0"/>
              </a:spcAft>
              <a:buNone/>
            </a:pPr>
            <a:r>
              <a:rPr lang="en-US"/>
              <a:t>Fairness among processes</a:t>
            </a:r>
            <a:endParaRPr/>
          </a:p>
          <a:p>
            <a:pPr indent="0" lvl="0" marL="0" rtl="0" algn="l">
              <a:spcBef>
                <a:spcPts val="0"/>
              </a:spcBef>
              <a:spcAft>
                <a:spcPts val="0"/>
              </a:spcAft>
              <a:buNone/>
            </a:pPr>
            <a:r>
              <a:rPr lang="en-US"/>
              <a:t>Responsiveness for interactive tasks</a:t>
            </a:r>
            <a:endParaRPr/>
          </a:p>
          <a:p>
            <a:pPr indent="0" lvl="0" marL="0" rtl="0" algn="l">
              <a:spcBef>
                <a:spcPts val="0"/>
              </a:spcBef>
              <a:spcAft>
                <a:spcPts val="0"/>
              </a:spcAft>
              <a:buNone/>
            </a:pPr>
            <a:r>
              <a:rPr b="1" lang="en-US"/>
              <a:t>Key Components:</a:t>
            </a:r>
            <a:endParaRPr/>
          </a:p>
          <a:p>
            <a:pPr indent="0" lvl="0" marL="0" rtl="0" algn="l">
              <a:spcBef>
                <a:spcPts val="0"/>
              </a:spcBef>
              <a:spcAft>
                <a:spcPts val="0"/>
              </a:spcAft>
              <a:buNone/>
            </a:pPr>
            <a:r>
              <a:rPr b="1" lang="en-US"/>
              <a:t>Long-term scheduler (Job Scheduler):</a:t>
            </a:r>
            <a:br>
              <a:rPr lang="en-US"/>
            </a:br>
            <a:r>
              <a:rPr lang="en-US"/>
              <a:t>Decides which new processes to admit into the ready queue.</a:t>
            </a:r>
            <a:endParaRPr/>
          </a:p>
          <a:p>
            <a:pPr indent="0" lvl="0" marL="0" rtl="0" algn="l">
              <a:spcBef>
                <a:spcPts val="0"/>
              </a:spcBef>
              <a:spcAft>
                <a:spcPts val="0"/>
              </a:spcAft>
              <a:buNone/>
            </a:pPr>
            <a:r>
              <a:rPr b="1" lang="en-US"/>
              <a:t>Short-term scheduler (CPU Scheduler):</a:t>
            </a:r>
            <a:br>
              <a:rPr lang="en-US"/>
            </a:br>
            <a:r>
              <a:rPr lang="en-US"/>
              <a:t>Chooses among ready processes for CPU execution.</a:t>
            </a:r>
            <a:endParaRPr/>
          </a:p>
          <a:p>
            <a:pPr indent="0" lvl="0" marL="0" rtl="0" algn="l">
              <a:spcBef>
                <a:spcPts val="0"/>
              </a:spcBef>
              <a:spcAft>
                <a:spcPts val="0"/>
              </a:spcAft>
              <a:buNone/>
            </a:pPr>
            <a:r>
              <a:rPr b="1" lang="en-US"/>
              <a:t>Medium-term scheduler:</a:t>
            </a:r>
            <a:br>
              <a:rPr lang="en-US"/>
            </a:br>
            <a:r>
              <a:rPr lang="en-US"/>
              <a:t>Handles swapping (suspending/resuming processes) to manage memory.</a:t>
            </a:r>
            <a:endParaRPr/>
          </a:p>
          <a:p>
            <a:pPr indent="0" lvl="0" marL="0" rtl="0" algn="l">
              <a:spcBef>
                <a:spcPts val="0"/>
              </a:spcBef>
              <a:spcAft>
                <a:spcPts val="0"/>
              </a:spcAft>
              <a:buNone/>
            </a:pPr>
            <a:r>
              <a:rPr b="1" lang="en-US"/>
              <a:t>Scheduling Criteria:</a:t>
            </a:r>
            <a:endParaRPr/>
          </a:p>
          <a:p>
            <a:pPr indent="0" lvl="0" marL="0" rtl="0" algn="l">
              <a:spcBef>
                <a:spcPts val="0"/>
              </a:spcBef>
              <a:spcAft>
                <a:spcPts val="0"/>
              </a:spcAft>
              <a:buNone/>
            </a:pPr>
            <a:r>
              <a:rPr lang="en-US"/>
              <a:t>CPU utilization</a:t>
            </a:r>
            <a:endParaRPr/>
          </a:p>
          <a:p>
            <a:pPr indent="0" lvl="0" marL="0" rtl="0" algn="l">
              <a:spcBef>
                <a:spcPts val="0"/>
              </a:spcBef>
              <a:spcAft>
                <a:spcPts val="0"/>
              </a:spcAft>
              <a:buNone/>
            </a:pPr>
            <a:r>
              <a:rPr lang="en-US"/>
              <a:t>Throughput</a:t>
            </a:r>
            <a:endParaRPr/>
          </a:p>
          <a:p>
            <a:pPr indent="0" lvl="0" marL="0" rtl="0" algn="l">
              <a:spcBef>
                <a:spcPts val="0"/>
              </a:spcBef>
              <a:spcAft>
                <a:spcPts val="0"/>
              </a:spcAft>
              <a:buNone/>
            </a:pPr>
            <a:r>
              <a:rPr lang="en-US"/>
              <a:t>Turnaround time</a:t>
            </a:r>
            <a:endParaRPr/>
          </a:p>
          <a:p>
            <a:pPr indent="0" lvl="0" marL="0" rtl="0" algn="l">
              <a:spcBef>
                <a:spcPts val="0"/>
              </a:spcBef>
              <a:spcAft>
                <a:spcPts val="0"/>
              </a:spcAft>
              <a:buNone/>
            </a:pPr>
            <a:r>
              <a:rPr lang="en-US"/>
              <a:t>Waiting time</a:t>
            </a:r>
            <a:endParaRPr/>
          </a:p>
          <a:p>
            <a:pPr indent="0" lvl="0" marL="0" rtl="0" algn="l">
              <a:spcBef>
                <a:spcPts val="0"/>
              </a:spcBef>
              <a:spcAft>
                <a:spcPts val="0"/>
              </a:spcAft>
              <a:buNone/>
            </a:pPr>
            <a:r>
              <a:rPr lang="en-US"/>
              <a:t>Response time</a:t>
            </a:r>
            <a:endParaRPr/>
          </a:p>
          <a:p>
            <a:pPr indent="0" lvl="0" marL="0" rtl="0" algn="l">
              <a:spcBef>
                <a:spcPts val="0"/>
              </a:spcBef>
              <a:spcAft>
                <a:spcPts val="0"/>
              </a:spcAft>
              <a:buNone/>
            </a:pPr>
            <a:r>
              <a:rPr b="1" lang="en-US"/>
              <a:t>Scheduling Algorithms:</a:t>
            </a:r>
            <a:endParaRPr/>
          </a:p>
          <a:p>
            <a:pPr indent="0" lvl="0" marL="0" rtl="0" algn="l">
              <a:spcBef>
                <a:spcPts val="0"/>
              </a:spcBef>
              <a:spcAft>
                <a:spcPts val="0"/>
              </a:spcAft>
              <a:buNone/>
            </a:pPr>
            <a:r>
              <a:rPr lang="en-US"/>
              <a:t>FCFS (First Come First Served)</a:t>
            </a:r>
            <a:endParaRPr/>
          </a:p>
          <a:p>
            <a:pPr indent="0" lvl="0" marL="0" rtl="0" algn="l">
              <a:spcBef>
                <a:spcPts val="0"/>
              </a:spcBef>
              <a:spcAft>
                <a:spcPts val="0"/>
              </a:spcAft>
              <a:buNone/>
            </a:pPr>
            <a:r>
              <a:rPr lang="en-US"/>
              <a:t>SJF (Shortest Job First)</a:t>
            </a:r>
            <a:endParaRPr/>
          </a:p>
          <a:p>
            <a:pPr indent="0" lvl="0" marL="0" rtl="0" algn="l">
              <a:spcBef>
                <a:spcPts val="0"/>
              </a:spcBef>
              <a:spcAft>
                <a:spcPts val="0"/>
              </a:spcAft>
              <a:buNone/>
            </a:pPr>
            <a:r>
              <a:rPr lang="en-US"/>
              <a:t>Round Robin (RR)</a:t>
            </a:r>
            <a:endParaRPr/>
          </a:p>
          <a:p>
            <a:pPr indent="0" lvl="0" marL="0" rtl="0" algn="l">
              <a:spcBef>
                <a:spcPts val="0"/>
              </a:spcBef>
              <a:spcAft>
                <a:spcPts val="0"/>
              </a:spcAft>
              <a:buNone/>
            </a:pPr>
            <a:r>
              <a:rPr lang="en-US"/>
              <a:t>Priority Scheduling</a:t>
            </a:r>
            <a:endParaRPr/>
          </a:p>
          <a:p>
            <a:pPr indent="0" lvl="0" marL="0" rtl="0" algn="l">
              <a:spcBef>
                <a:spcPts val="0"/>
              </a:spcBef>
              <a:spcAft>
                <a:spcPts val="0"/>
              </a:spcAft>
              <a:buNone/>
            </a:pPr>
            <a:r>
              <a:rPr lang="en-US"/>
              <a:t>Multilevel Queue Scheduling</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3️⃣ Process Execution</a:t>
            </a:r>
            <a:endParaRPr/>
          </a:p>
          <a:p>
            <a:pPr indent="0" lvl="0" marL="0" rtl="0" algn="l">
              <a:spcBef>
                <a:spcPts val="0"/>
              </a:spcBef>
              <a:spcAft>
                <a:spcPts val="0"/>
              </a:spcAft>
              <a:buNone/>
            </a:pPr>
            <a:r>
              <a:rPr b="1" lang="en-US"/>
              <a:t>Definition:</a:t>
            </a:r>
            <a:endParaRPr/>
          </a:p>
          <a:p>
            <a:pPr indent="0" lvl="0" marL="0" rtl="0" algn="l">
              <a:spcBef>
                <a:spcPts val="0"/>
              </a:spcBef>
              <a:spcAft>
                <a:spcPts val="0"/>
              </a:spcAft>
              <a:buNone/>
            </a:pPr>
            <a:r>
              <a:rPr lang="en-US"/>
              <a:t>Process execution is when the CPU </a:t>
            </a:r>
            <a:r>
              <a:rPr b="1" lang="en-US"/>
              <a:t>fetches, decodes, and executes instructions</a:t>
            </a:r>
            <a:r>
              <a:rPr lang="en-US"/>
              <a:t> from the process.</a:t>
            </a:r>
            <a:endParaRPr/>
          </a:p>
          <a:p>
            <a:pPr indent="0" lvl="0" marL="0" rtl="0" algn="l">
              <a:spcBef>
                <a:spcPts val="0"/>
              </a:spcBef>
              <a:spcAft>
                <a:spcPts val="0"/>
              </a:spcAft>
              <a:buNone/>
            </a:pPr>
            <a:r>
              <a:rPr b="1" lang="en-US"/>
              <a:t>Details:</a:t>
            </a:r>
            <a:endParaRPr/>
          </a:p>
          <a:p>
            <a:pPr indent="0" lvl="0" marL="0" rtl="0" algn="l">
              <a:spcBef>
                <a:spcPts val="0"/>
              </a:spcBef>
              <a:spcAft>
                <a:spcPts val="0"/>
              </a:spcAft>
              <a:buNone/>
            </a:pPr>
            <a:r>
              <a:rPr lang="en-US"/>
              <a:t>The </a:t>
            </a:r>
            <a:r>
              <a:rPr b="1" lang="en-US"/>
              <a:t>CPU fetches</a:t>
            </a:r>
            <a:r>
              <a:rPr lang="en-US"/>
              <a:t> instructions from the process’s code segment.</a:t>
            </a:r>
            <a:endParaRPr/>
          </a:p>
          <a:p>
            <a:pPr indent="0" lvl="0" marL="0" rtl="0" algn="l">
              <a:spcBef>
                <a:spcPts val="0"/>
              </a:spcBef>
              <a:spcAft>
                <a:spcPts val="0"/>
              </a:spcAft>
              <a:buNone/>
            </a:pPr>
            <a:r>
              <a:rPr lang="en-US"/>
              <a:t>Each process executes in </a:t>
            </a:r>
            <a:r>
              <a:rPr b="1" lang="en-US"/>
              <a:t>User Mode</a:t>
            </a:r>
            <a:r>
              <a:rPr lang="en-US"/>
              <a:t> (restricted access).</a:t>
            </a:r>
            <a:endParaRPr/>
          </a:p>
          <a:p>
            <a:pPr indent="0" lvl="0" marL="0" rtl="0" algn="l">
              <a:spcBef>
                <a:spcPts val="0"/>
              </a:spcBef>
              <a:spcAft>
                <a:spcPts val="0"/>
              </a:spcAft>
              <a:buNone/>
            </a:pPr>
            <a:r>
              <a:rPr lang="en-US"/>
              <a:t>When the process needs an OS service, it makes a </a:t>
            </a:r>
            <a:r>
              <a:rPr b="1" lang="en-US"/>
              <a:t>System Call</a:t>
            </a:r>
            <a:r>
              <a:rPr lang="en-US"/>
              <a:t>, switching temporarily to </a:t>
            </a:r>
            <a:r>
              <a:rPr b="1" lang="en-US"/>
              <a:t>Kernel Mode</a:t>
            </a:r>
            <a:r>
              <a:rPr lang="en-US"/>
              <a:t>.</a:t>
            </a:r>
            <a:endParaRPr/>
          </a:p>
          <a:p>
            <a:pPr indent="0" lvl="0" marL="0" rtl="0" algn="l">
              <a:spcBef>
                <a:spcPts val="0"/>
              </a:spcBef>
              <a:spcAft>
                <a:spcPts val="0"/>
              </a:spcAft>
              <a:buNone/>
            </a:pPr>
            <a:r>
              <a:rPr b="1" lang="en-US"/>
              <a:t>Execution Phases:</a:t>
            </a:r>
            <a:endParaRPr/>
          </a:p>
          <a:p>
            <a:pPr indent="0" lvl="0" marL="0" rtl="0" algn="l">
              <a:spcBef>
                <a:spcPts val="0"/>
              </a:spcBef>
              <a:spcAft>
                <a:spcPts val="0"/>
              </a:spcAft>
              <a:buNone/>
            </a:pPr>
            <a:r>
              <a:rPr b="1" lang="en-US"/>
              <a:t>Ready → Running:</a:t>
            </a:r>
            <a:r>
              <a:rPr lang="en-US"/>
              <a:t> Scheduler dispatches the process.</a:t>
            </a:r>
            <a:endParaRPr/>
          </a:p>
          <a:p>
            <a:pPr indent="0" lvl="0" marL="0" rtl="0" algn="l">
              <a:spcBef>
                <a:spcPts val="0"/>
              </a:spcBef>
              <a:spcAft>
                <a:spcPts val="0"/>
              </a:spcAft>
              <a:buNone/>
            </a:pPr>
            <a:r>
              <a:rPr b="1" lang="en-US"/>
              <a:t>Running:</a:t>
            </a:r>
            <a:r>
              <a:rPr lang="en-US"/>
              <a:t> CPU executes instructions.</a:t>
            </a:r>
            <a:endParaRPr/>
          </a:p>
          <a:p>
            <a:pPr indent="0" lvl="0" marL="0" rtl="0" algn="l">
              <a:spcBef>
                <a:spcPts val="0"/>
              </a:spcBef>
              <a:spcAft>
                <a:spcPts val="0"/>
              </a:spcAft>
              <a:buNone/>
            </a:pPr>
            <a:r>
              <a:rPr b="1" lang="en-US"/>
              <a:t>Waiting (Blocked):</a:t>
            </a:r>
            <a:r>
              <a:rPr lang="en-US"/>
              <a:t> Process waits for I/O or event.</a:t>
            </a:r>
            <a:endParaRPr/>
          </a:p>
          <a:p>
            <a:pPr indent="0" lvl="0" marL="0" rtl="0" algn="l">
              <a:spcBef>
                <a:spcPts val="0"/>
              </a:spcBef>
              <a:spcAft>
                <a:spcPts val="0"/>
              </a:spcAft>
              <a:buNone/>
            </a:pPr>
            <a:r>
              <a:rPr b="1" lang="en-US"/>
              <a:t>Running → Terminated:</a:t>
            </a:r>
            <a:r>
              <a:rPr lang="en-US"/>
              <a:t> Execution completes or is killed.</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When you open a document:</a:t>
            </a:r>
            <a:endParaRPr/>
          </a:p>
          <a:p>
            <a:pPr indent="0" lvl="0" marL="0" rtl="0" algn="l">
              <a:spcBef>
                <a:spcPts val="0"/>
              </a:spcBef>
              <a:spcAft>
                <a:spcPts val="0"/>
              </a:spcAft>
              <a:buNone/>
            </a:pPr>
            <a:r>
              <a:rPr lang="en-US"/>
              <a:t>The process executes file I/O (system calls)</a:t>
            </a:r>
            <a:endParaRPr/>
          </a:p>
          <a:p>
            <a:pPr indent="0" lvl="0" marL="0" rtl="0" algn="l">
              <a:spcBef>
                <a:spcPts val="0"/>
              </a:spcBef>
              <a:spcAft>
                <a:spcPts val="0"/>
              </a:spcAft>
              <a:buNone/>
            </a:pPr>
            <a:r>
              <a:rPr lang="en-US"/>
              <a:t>Waits for I/O completion</a:t>
            </a:r>
            <a:endParaRPr/>
          </a:p>
          <a:p>
            <a:pPr indent="0" lvl="0" marL="0" rtl="0" algn="l">
              <a:spcBef>
                <a:spcPts val="0"/>
              </a:spcBef>
              <a:spcAft>
                <a:spcPts val="0"/>
              </a:spcAft>
              <a:buNone/>
            </a:pPr>
            <a:r>
              <a:rPr lang="en-US"/>
              <a:t>Resumes execution after data is ready</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4️⃣ Process Switching (Context Switching)</a:t>
            </a:r>
            <a:endParaRPr/>
          </a:p>
          <a:p>
            <a:pPr indent="0" lvl="0" marL="0" rtl="0" algn="l">
              <a:spcBef>
                <a:spcPts val="0"/>
              </a:spcBef>
              <a:spcAft>
                <a:spcPts val="0"/>
              </a:spcAft>
              <a:buNone/>
            </a:pPr>
            <a:r>
              <a:rPr b="1" lang="en-US"/>
              <a:t>Definition:</a:t>
            </a:r>
            <a:endParaRPr/>
          </a:p>
          <a:p>
            <a:pPr indent="0" lvl="0" marL="0" rtl="0" algn="l">
              <a:spcBef>
                <a:spcPts val="0"/>
              </a:spcBef>
              <a:spcAft>
                <a:spcPts val="0"/>
              </a:spcAft>
              <a:buNone/>
            </a:pPr>
            <a:r>
              <a:rPr lang="en-US"/>
              <a:t>Context switching is the </a:t>
            </a:r>
            <a:r>
              <a:rPr b="1" lang="en-US"/>
              <a:t>mechanism of saving the state of one process and loading the state of another</a:t>
            </a:r>
            <a:r>
              <a:rPr lang="en-US"/>
              <a:t> so the CPU can switch execution.</a:t>
            </a:r>
            <a:endParaRPr/>
          </a:p>
          <a:p>
            <a:pPr indent="0" lvl="0" marL="0" rtl="0" algn="l">
              <a:spcBef>
                <a:spcPts val="0"/>
              </a:spcBef>
              <a:spcAft>
                <a:spcPts val="0"/>
              </a:spcAft>
              <a:buNone/>
            </a:pPr>
            <a:r>
              <a:rPr b="1" lang="en-US"/>
              <a:t>When it occurs:</a:t>
            </a:r>
            <a:endParaRPr/>
          </a:p>
          <a:p>
            <a:pPr indent="0" lvl="0" marL="0" rtl="0" algn="l">
              <a:spcBef>
                <a:spcPts val="0"/>
              </a:spcBef>
              <a:spcAft>
                <a:spcPts val="0"/>
              </a:spcAft>
              <a:buNone/>
            </a:pPr>
            <a:r>
              <a:rPr lang="en-US"/>
              <a:t>Process yields CPU voluntarily (e.g., </a:t>
            </a:r>
            <a:r>
              <a:rPr lang="en-US" sz="1200">
                <a:solidFill>
                  <a:schemeClr val="dk1"/>
                </a:solidFill>
                <a:latin typeface="Calibri"/>
                <a:ea typeface="Calibri"/>
                <a:cs typeface="Calibri"/>
                <a:sym typeface="Calibri"/>
              </a:rPr>
              <a:t>sleep()</a:t>
            </a:r>
            <a:r>
              <a:rPr lang="en-US"/>
              <a:t> or I/O wait)</a:t>
            </a:r>
            <a:endParaRPr/>
          </a:p>
          <a:p>
            <a:pPr indent="0" lvl="0" marL="0" rtl="0" algn="l">
              <a:spcBef>
                <a:spcPts val="0"/>
              </a:spcBef>
              <a:spcAft>
                <a:spcPts val="0"/>
              </a:spcAft>
              <a:buNone/>
            </a:pPr>
            <a:r>
              <a:rPr lang="en-US"/>
              <a:t>Higher priority process arrives (preemption)</a:t>
            </a:r>
            <a:endParaRPr/>
          </a:p>
          <a:p>
            <a:pPr indent="0" lvl="0" marL="0" rtl="0" algn="l">
              <a:spcBef>
                <a:spcPts val="0"/>
              </a:spcBef>
              <a:spcAft>
                <a:spcPts val="0"/>
              </a:spcAft>
              <a:buNone/>
            </a:pPr>
            <a:r>
              <a:rPr lang="en-US"/>
              <a:t>Time slice expires (Round Robin)</a:t>
            </a:r>
            <a:endParaRPr/>
          </a:p>
          <a:p>
            <a:pPr indent="0" lvl="0" marL="0" rtl="0" algn="l">
              <a:spcBef>
                <a:spcPts val="0"/>
              </a:spcBef>
              <a:spcAft>
                <a:spcPts val="0"/>
              </a:spcAft>
              <a:buNone/>
            </a:pPr>
            <a:r>
              <a:rPr lang="en-US"/>
              <a:t>Interrupt occurs</a:t>
            </a:r>
            <a:endParaRPr/>
          </a:p>
          <a:p>
            <a:pPr indent="0" lvl="0" marL="0" rtl="0" algn="l">
              <a:spcBef>
                <a:spcPts val="0"/>
              </a:spcBef>
              <a:spcAft>
                <a:spcPts val="0"/>
              </a:spcAft>
              <a:buNone/>
            </a:pPr>
            <a:r>
              <a:rPr b="1" lang="en-US"/>
              <a:t>Steps Involved:</a:t>
            </a:r>
            <a:endParaRPr/>
          </a:p>
          <a:p>
            <a:pPr indent="0" lvl="0" marL="0" rtl="0" algn="l">
              <a:spcBef>
                <a:spcPts val="0"/>
              </a:spcBef>
              <a:spcAft>
                <a:spcPts val="0"/>
              </a:spcAft>
              <a:buNone/>
            </a:pPr>
            <a:r>
              <a:rPr b="1" lang="en-US"/>
              <a:t>Save Context of Current Process:</a:t>
            </a:r>
            <a:endParaRPr/>
          </a:p>
          <a:p>
            <a:pPr indent="0" lvl="1" marL="457200" rtl="0" algn="l">
              <a:spcBef>
                <a:spcPts val="0"/>
              </a:spcBef>
              <a:spcAft>
                <a:spcPts val="0"/>
              </a:spcAft>
              <a:buNone/>
            </a:pPr>
            <a:r>
              <a:rPr lang="en-US"/>
              <a:t>Save CPU registers, program counter, stack pointer, and state into PCB.</a:t>
            </a:r>
            <a:endParaRPr/>
          </a:p>
          <a:p>
            <a:pPr indent="0" lvl="0" marL="0" rtl="0" algn="l">
              <a:spcBef>
                <a:spcPts val="0"/>
              </a:spcBef>
              <a:spcAft>
                <a:spcPts val="0"/>
              </a:spcAft>
              <a:buNone/>
            </a:pPr>
            <a:r>
              <a:rPr b="1" lang="en-US"/>
              <a:t>Update PCB:</a:t>
            </a:r>
            <a:endParaRPr/>
          </a:p>
          <a:p>
            <a:pPr indent="0" lvl="1" marL="457200" rtl="0" algn="l">
              <a:spcBef>
                <a:spcPts val="0"/>
              </a:spcBef>
              <a:spcAft>
                <a:spcPts val="0"/>
              </a:spcAft>
              <a:buNone/>
            </a:pPr>
            <a:r>
              <a:rPr lang="en-US"/>
              <a:t>Mark process as </a:t>
            </a:r>
            <a:r>
              <a:rPr b="1" lang="en-US"/>
              <a:t>Ready</a:t>
            </a:r>
            <a:r>
              <a:rPr lang="en-US"/>
              <a:t> or </a:t>
            </a:r>
            <a:r>
              <a:rPr b="1" lang="en-US"/>
              <a:t>Waiting</a:t>
            </a:r>
            <a:r>
              <a:rPr lang="en-US"/>
              <a:t>.</a:t>
            </a:r>
            <a:endParaRPr/>
          </a:p>
          <a:p>
            <a:pPr indent="0" lvl="0" marL="0" rtl="0" algn="l">
              <a:spcBef>
                <a:spcPts val="0"/>
              </a:spcBef>
              <a:spcAft>
                <a:spcPts val="0"/>
              </a:spcAft>
              <a:buNone/>
            </a:pPr>
            <a:r>
              <a:rPr b="1" lang="en-US"/>
              <a:t>Select Next Process:</a:t>
            </a:r>
            <a:endParaRPr/>
          </a:p>
          <a:p>
            <a:pPr indent="0" lvl="1" marL="457200" rtl="0" algn="l">
              <a:spcBef>
                <a:spcPts val="0"/>
              </a:spcBef>
              <a:spcAft>
                <a:spcPts val="0"/>
              </a:spcAft>
              <a:buNone/>
            </a:pPr>
            <a:r>
              <a:rPr lang="en-US"/>
              <a:t>CPU scheduler chooses next process from ready queue.</a:t>
            </a:r>
            <a:endParaRPr/>
          </a:p>
          <a:p>
            <a:pPr indent="0" lvl="0" marL="0" rtl="0" algn="l">
              <a:spcBef>
                <a:spcPts val="0"/>
              </a:spcBef>
              <a:spcAft>
                <a:spcPts val="0"/>
              </a:spcAft>
              <a:buNone/>
            </a:pPr>
            <a:r>
              <a:rPr b="1" lang="en-US"/>
              <a:t>Load Context of Next Process:</a:t>
            </a:r>
            <a:endParaRPr/>
          </a:p>
          <a:p>
            <a:pPr indent="0" lvl="1" marL="457200" rtl="0" algn="l">
              <a:spcBef>
                <a:spcPts val="0"/>
              </a:spcBef>
              <a:spcAft>
                <a:spcPts val="0"/>
              </a:spcAft>
              <a:buNone/>
            </a:pPr>
            <a:r>
              <a:rPr lang="en-US"/>
              <a:t>Restore saved state (registers, program counter) from its PCB.</a:t>
            </a:r>
            <a:endParaRPr/>
          </a:p>
          <a:p>
            <a:pPr indent="0" lvl="0" marL="0" rtl="0" algn="l">
              <a:spcBef>
                <a:spcPts val="0"/>
              </a:spcBef>
              <a:spcAft>
                <a:spcPts val="0"/>
              </a:spcAft>
              <a:buNone/>
            </a:pPr>
            <a:r>
              <a:rPr b="1" lang="en-US"/>
              <a:t>Transfer Control:</a:t>
            </a:r>
            <a:endParaRPr/>
          </a:p>
          <a:p>
            <a:pPr indent="0" lvl="1" marL="457200" rtl="0" algn="l">
              <a:spcBef>
                <a:spcPts val="0"/>
              </a:spcBef>
              <a:spcAft>
                <a:spcPts val="0"/>
              </a:spcAft>
              <a:buNone/>
            </a:pPr>
            <a:r>
              <a:rPr lang="en-US"/>
              <a:t>CPU resumes execution of the new process.</a:t>
            </a:r>
            <a:endParaRPr/>
          </a:p>
          <a:p>
            <a:pPr indent="0" lvl="0" marL="0" rtl="0" algn="l">
              <a:spcBef>
                <a:spcPts val="0"/>
              </a:spcBef>
              <a:spcAft>
                <a:spcPts val="0"/>
              </a:spcAft>
              <a:buNone/>
            </a:pPr>
            <a:r>
              <a:rPr b="1" lang="en-US"/>
              <a:t>Key Data Structure:</a:t>
            </a:r>
            <a:endParaRPr/>
          </a:p>
          <a:p>
            <a:pPr indent="0" lvl="0" marL="0" rtl="0" algn="l">
              <a:spcBef>
                <a:spcPts val="0"/>
              </a:spcBef>
              <a:spcAft>
                <a:spcPts val="0"/>
              </a:spcAft>
              <a:buNone/>
            </a:pPr>
            <a:r>
              <a:rPr b="1" lang="en-US"/>
              <a:t>Process Control Block (PCB):</a:t>
            </a:r>
            <a:r>
              <a:rPr lang="en-US"/>
              <a:t> Holds all context information for restoration.</a:t>
            </a:r>
            <a:endParaRPr/>
          </a:p>
          <a:p>
            <a:pPr indent="0" lvl="0" marL="0" rtl="0" algn="l">
              <a:spcBef>
                <a:spcPts val="0"/>
              </a:spcBef>
              <a:spcAft>
                <a:spcPts val="0"/>
              </a:spcAft>
              <a:buNone/>
            </a:pPr>
            <a:r>
              <a:rPr b="1" lang="en-US"/>
              <a:t>Note:</a:t>
            </a:r>
            <a:endParaRPr/>
          </a:p>
          <a:p>
            <a:pPr indent="0" lvl="0" marL="0" rtl="0" algn="l">
              <a:spcBef>
                <a:spcPts val="0"/>
              </a:spcBef>
              <a:spcAft>
                <a:spcPts val="0"/>
              </a:spcAft>
              <a:buNone/>
            </a:pPr>
            <a:r>
              <a:rPr lang="en-US"/>
              <a:t>Context switching is </a:t>
            </a:r>
            <a:r>
              <a:rPr b="1" lang="en-US"/>
              <a:t>overhead</a:t>
            </a:r>
            <a:r>
              <a:rPr lang="en-US"/>
              <a:t> — no useful work is done during the switch, so OS minimizes it.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5️⃣ Process Termination</a:t>
            </a:r>
            <a:endParaRPr/>
          </a:p>
          <a:p>
            <a:pPr indent="0" lvl="0" marL="0" rtl="0" algn="l">
              <a:spcBef>
                <a:spcPts val="0"/>
              </a:spcBef>
              <a:spcAft>
                <a:spcPts val="0"/>
              </a:spcAft>
              <a:buNone/>
            </a:pPr>
            <a:r>
              <a:rPr b="1" lang="en-US"/>
              <a:t>Definition:</a:t>
            </a:r>
            <a:endParaRPr/>
          </a:p>
          <a:p>
            <a:pPr indent="0" lvl="0" marL="0" rtl="0" algn="l">
              <a:spcBef>
                <a:spcPts val="0"/>
              </a:spcBef>
              <a:spcAft>
                <a:spcPts val="0"/>
              </a:spcAft>
              <a:buNone/>
            </a:pPr>
            <a:r>
              <a:rPr lang="en-US"/>
              <a:t>Termination is the process of </a:t>
            </a:r>
            <a:r>
              <a:rPr b="1" lang="en-US"/>
              <a:t>ending execution and releasing all allocated resources.</a:t>
            </a:r>
            <a:endParaRPr/>
          </a:p>
          <a:p>
            <a:pPr indent="0" lvl="0" marL="0" rtl="0" algn="l">
              <a:spcBef>
                <a:spcPts val="0"/>
              </a:spcBef>
              <a:spcAft>
                <a:spcPts val="0"/>
              </a:spcAft>
              <a:buNone/>
            </a:pPr>
            <a:r>
              <a:rPr b="1" lang="en-US"/>
              <a:t>Reasons for termination:</a:t>
            </a:r>
            <a:endParaRPr/>
          </a:p>
          <a:p>
            <a:pPr indent="0" lvl="0" marL="0" rtl="0" algn="l">
              <a:spcBef>
                <a:spcPts val="0"/>
              </a:spcBef>
              <a:spcAft>
                <a:spcPts val="0"/>
              </a:spcAft>
              <a:buNone/>
            </a:pPr>
            <a:r>
              <a:rPr lang="en-US"/>
              <a:t>Normal completion (</a:t>
            </a:r>
            <a:r>
              <a:rPr lang="en-US" sz="1200">
                <a:solidFill>
                  <a:schemeClr val="dk1"/>
                </a:solidFill>
                <a:latin typeface="Calibri"/>
                <a:ea typeface="Calibri"/>
                <a:cs typeface="Calibri"/>
                <a:sym typeface="Calibri"/>
              </a:rPr>
              <a:t>exit()</a:t>
            </a:r>
            <a:r>
              <a:rPr lang="en-US"/>
              <a:t> or program end)</a:t>
            </a:r>
            <a:endParaRPr/>
          </a:p>
          <a:p>
            <a:pPr indent="0" lvl="0" marL="0" rtl="0" algn="l">
              <a:spcBef>
                <a:spcPts val="0"/>
              </a:spcBef>
              <a:spcAft>
                <a:spcPts val="0"/>
              </a:spcAft>
              <a:buNone/>
            </a:pPr>
            <a:r>
              <a:rPr lang="en-US"/>
              <a:t>Error or exception</a:t>
            </a:r>
            <a:endParaRPr/>
          </a:p>
          <a:p>
            <a:pPr indent="0" lvl="0" marL="0" rtl="0" algn="l">
              <a:spcBef>
                <a:spcPts val="0"/>
              </a:spcBef>
              <a:spcAft>
                <a:spcPts val="0"/>
              </a:spcAft>
              <a:buNone/>
            </a:pPr>
            <a:r>
              <a:rPr lang="en-US"/>
              <a:t>Parent process request</a:t>
            </a:r>
            <a:endParaRPr/>
          </a:p>
          <a:p>
            <a:pPr indent="0" lvl="0" marL="0" rtl="0" algn="l">
              <a:spcBef>
                <a:spcPts val="0"/>
              </a:spcBef>
              <a:spcAft>
                <a:spcPts val="0"/>
              </a:spcAft>
              <a:buNone/>
            </a:pPr>
            <a:r>
              <a:rPr lang="en-US"/>
              <a:t>Resource limit exceeded</a:t>
            </a:r>
            <a:endParaRPr/>
          </a:p>
          <a:p>
            <a:pPr indent="0" lvl="0" marL="0" rtl="0" algn="l">
              <a:spcBef>
                <a:spcPts val="0"/>
              </a:spcBef>
              <a:spcAft>
                <a:spcPts val="0"/>
              </a:spcAft>
              <a:buNone/>
            </a:pPr>
            <a:r>
              <a:rPr lang="en-US"/>
              <a:t>System shutdown or kill signal</a:t>
            </a:r>
            <a:endParaRPr/>
          </a:p>
          <a:p>
            <a:pPr indent="0" lvl="0" marL="0" rtl="0" algn="l">
              <a:spcBef>
                <a:spcPts val="0"/>
              </a:spcBef>
              <a:spcAft>
                <a:spcPts val="0"/>
              </a:spcAft>
              <a:buNone/>
            </a:pPr>
            <a:r>
              <a:rPr b="1" lang="en-US"/>
              <a:t>Steps Involved:</a:t>
            </a:r>
            <a:endParaRPr/>
          </a:p>
          <a:p>
            <a:pPr indent="0" lvl="0" marL="0" rtl="0" algn="l">
              <a:spcBef>
                <a:spcPts val="0"/>
              </a:spcBef>
              <a:spcAft>
                <a:spcPts val="0"/>
              </a:spcAft>
              <a:buNone/>
            </a:pPr>
            <a:r>
              <a:rPr b="1" lang="en-US"/>
              <a:t>Process Issues Exit Request:</a:t>
            </a:r>
            <a:endParaRPr/>
          </a:p>
          <a:p>
            <a:pPr indent="0" lvl="1" marL="457200" rtl="0" algn="l">
              <a:spcBef>
                <a:spcPts val="0"/>
              </a:spcBef>
              <a:spcAft>
                <a:spcPts val="0"/>
              </a:spcAft>
              <a:buNone/>
            </a:pPr>
            <a:r>
              <a:rPr lang="en-US"/>
              <a:t>Calls </a:t>
            </a:r>
            <a:r>
              <a:rPr lang="en-US" sz="1200">
                <a:solidFill>
                  <a:schemeClr val="dk1"/>
                </a:solidFill>
                <a:latin typeface="Calibri"/>
                <a:ea typeface="Calibri"/>
                <a:cs typeface="Calibri"/>
                <a:sym typeface="Calibri"/>
              </a:rPr>
              <a:t>exit()</a:t>
            </a:r>
            <a:r>
              <a:rPr lang="en-US"/>
              <a:t> system call (or receives kill signal).</a:t>
            </a:r>
            <a:endParaRPr/>
          </a:p>
          <a:p>
            <a:pPr indent="0" lvl="0" marL="0" rtl="0" algn="l">
              <a:spcBef>
                <a:spcPts val="0"/>
              </a:spcBef>
              <a:spcAft>
                <a:spcPts val="0"/>
              </a:spcAft>
              <a:buNone/>
            </a:pPr>
            <a:r>
              <a:rPr b="1" lang="en-US"/>
              <a:t>Kernel Actions:</a:t>
            </a:r>
            <a:endParaRPr/>
          </a:p>
          <a:p>
            <a:pPr indent="0" lvl="1" marL="457200" rtl="0" algn="l">
              <a:spcBef>
                <a:spcPts val="0"/>
              </a:spcBef>
              <a:spcAft>
                <a:spcPts val="0"/>
              </a:spcAft>
              <a:buNone/>
            </a:pPr>
            <a:r>
              <a:rPr lang="en-US"/>
              <a:t>Updates process state to </a:t>
            </a:r>
            <a:r>
              <a:rPr b="1" lang="en-US"/>
              <a:t>Terminated</a:t>
            </a:r>
            <a:r>
              <a:rPr lang="en-US"/>
              <a:t>.</a:t>
            </a:r>
            <a:endParaRPr/>
          </a:p>
          <a:p>
            <a:pPr indent="0" lvl="1" marL="457200" rtl="0" algn="l">
              <a:spcBef>
                <a:spcPts val="0"/>
              </a:spcBef>
              <a:spcAft>
                <a:spcPts val="0"/>
              </a:spcAft>
              <a:buNone/>
            </a:pPr>
            <a:r>
              <a:rPr lang="en-US"/>
              <a:t>Releases CPU and memory.</a:t>
            </a:r>
            <a:endParaRPr/>
          </a:p>
          <a:p>
            <a:pPr indent="0" lvl="1" marL="457200" rtl="0" algn="l">
              <a:spcBef>
                <a:spcPts val="0"/>
              </a:spcBef>
              <a:spcAft>
                <a:spcPts val="0"/>
              </a:spcAft>
              <a:buNone/>
            </a:pPr>
            <a:r>
              <a:rPr lang="en-US"/>
              <a:t>Closes open files, devices, and I/O buffers.</a:t>
            </a:r>
            <a:endParaRPr/>
          </a:p>
          <a:p>
            <a:pPr indent="0" lvl="0" marL="0" rtl="0" algn="l">
              <a:spcBef>
                <a:spcPts val="0"/>
              </a:spcBef>
              <a:spcAft>
                <a:spcPts val="0"/>
              </a:spcAft>
              <a:buNone/>
            </a:pPr>
            <a:r>
              <a:rPr b="1" lang="en-US"/>
              <a:t>Parent Notification:</a:t>
            </a:r>
            <a:endParaRPr/>
          </a:p>
          <a:p>
            <a:pPr indent="0" lvl="1" marL="457200" rtl="0" algn="l">
              <a:spcBef>
                <a:spcPts val="0"/>
              </a:spcBef>
              <a:spcAft>
                <a:spcPts val="0"/>
              </a:spcAft>
              <a:buNone/>
            </a:pPr>
            <a:r>
              <a:rPr lang="en-US"/>
              <a:t>Parent process is notified (via </a:t>
            </a:r>
            <a:r>
              <a:rPr lang="en-US" sz="1200">
                <a:solidFill>
                  <a:schemeClr val="dk1"/>
                </a:solidFill>
                <a:latin typeface="Calibri"/>
                <a:ea typeface="Calibri"/>
                <a:cs typeface="Calibri"/>
                <a:sym typeface="Calibri"/>
              </a:rPr>
              <a:t>wait()</a:t>
            </a:r>
            <a:r>
              <a:rPr lang="en-US"/>
              <a:t> system call in UNIX).</a:t>
            </a:r>
            <a:endParaRPr/>
          </a:p>
          <a:p>
            <a:pPr indent="0" lvl="0" marL="0" rtl="0" algn="l">
              <a:spcBef>
                <a:spcPts val="0"/>
              </a:spcBef>
              <a:spcAft>
                <a:spcPts val="0"/>
              </a:spcAft>
              <a:buNone/>
            </a:pPr>
            <a:r>
              <a:rPr b="1" lang="en-US"/>
              <a:t>PCB Deletion:</a:t>
            </a:r>
            <a:endParaRPr/>
          </a:p>
          <a:p>
            <a:pPr indent="0" lvl="1" marL="457200" rtl="0" algn="l">
              <a:spcBef>
                <a:spcPts val="0"/>
              </a:spcBef>
              <a:spcAft>
                <a:spcPts val="0"/>
              </a:spcAft>
              <a:buNone/>
            </a:pPr>
            <a:r>
              <a:rPr lang="en-US"/>
              <a:t>Kernel removes the PCB from process table.</a:t>
            </a:r>
            <a:endParaRPr/>
          </a:p>
          <a:p>
            <a:pPr indent="0" lvl="0" marL="0" rtl="0" algn="l">
              <a:spcBef>
                <a:spcPts val="0"/>
              </a:spcBef>
              <a:spcAft>
                <a:spcPts val="0"/>
              </a:spcAft>
              <a:buNone/>
            </a:pPr>
            <a:r>
              <a:rPr b="1" lang="en-US"/>
              <a:t>Aftermath:</a:t>
            </a:r>
            <a:endParaRPr/>
          </a:p>
          <a:p>
            <a:pPr indent="0" lvl="0" marL="0" rtl="0" algn="l">
              <a:spcBef>
                <a:spcPts val="0"/>
              </a:spcBef>
              <a:spcAft>
                <a:spcPts val="0"/>
              </a:spcAft>
              <a:buNone/>
            </a:pPr>
            <a:r>
              <a:rPr lang="en-US"/>
              <a:t>If parent doesn’t collect exit status → process becomes a </a:t>
            </a:r>
            <a:r>
              <a:rPr b="1" lang="en-US"/>
              <a:t>zombie</a:t>
            </a:r>
            <a:r>
              <a:rPr lang="en-US"/>
              <a:t> until </a:t>
            </a:r>
            <a:r>
              <a:rPr lang="en-US" sz="1200">
                <a:solidFill>
                  <a:schemeClr val="dk1"/>
                </a:solidFill>
                <a:latin typeface="Calibri"/>
                <a:ea typeface="Calibri"/>
                <a:cs typeface="Calibri"/>
                <a:sym typeface="Calibri"/>
              </a:rPr>
              <a:t>wait()</a:t>
            </a:r>
            <a:r>
              <a:rPr lang="en-US"/>
              <a:t> is called.</a:t>
            </a:r>
            <a:endParaRPr/>
          </a:p>
          <a:p>
            <a:pPr indent="0" lvl="0" marL="0" rtl="0" algn="l">
              <a:spcBef>
                <a:spcPts val="0"/>
              </a:spcBef>
              <a:spcAft>
                <a:spcPts val="0"/>
              </a:spcAft>
              <a:buNone/>
            </a:pPr>
            <a:r>
              <a:rPr lang="en-US"/>
              <a:t>If parent terminates first → child becomes an </a:t>
            </a:r>
            <a:r>
              <a:rPr b="1" lang="en-US"/>
              <a:t>orphan</a:t>
            </a:r>
            <a:r>
              <a:rPr lang="en-US"/>
              <a:t> and is adopted by </a:t>
            </a:r>
            <a:r>
              <a:rPr lang="en-US" sz="1200">
                <a:solidFill>
                  <a:schemeClr val="dk1"/>
                </a:solidFill>
                <a:latin typeface="Calibri"/>
                <a:ea typeface="Calibri"/>
                <a:cs typeface="Calibri"/>
                <a:sym typeface="Calibri"/>
              </a:rPr>
              <a:t>init</a:t>
            </a:r>
            <a:r>
              <a:rPr lang="en-US"/>
              <a:t> or </a:t>
            </a:r>
            <a:r>
              <a:rPr lang="en-US" sz="1200">
                <a:solidFill>
                  <a:schemeClr val="dk1"/>
                </a:solidFill>
                <a:latin typeface="Calibri"/>
                <a:ea typeface="Calibri"/>
                <a:cs typeface="Calibri"/>
                <a:sym typeface="Calibri"/>
              </a:rPr>
              <a:t>systemd</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1" name="Google Shape;1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Process ID:</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a new process is created by the user, the operating system assigns a unique ID i.e. a process-ID to that process. This ID helps the process to be distinguished from other processes existing in the system.</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operating system has a limit on the maximum number of processes it is capable of dealing with, let's say the OS can handle most N processes at a time.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Process State: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process, from its creation to completion goes through different states. Generally, a process may be present in one of the 5 states during its execution:</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Process Priority:</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Process priority is a numeric value that represents the priority of each process. The lesser the value, the greater the priority of that process. This priority is assigned at the time of the creation of the PCB and may depend on many factors like the age of that process, the resources consumed, and so on. The user can also externally assign a priority to the process.</a:t>
            </a:r>
            <a:endParaRPr/>
          </a:p>
          <a:p>
            <a:pPr indent="0" lvl="0" marL="0" rtl="0" algn="l">
              <a:spcBef>
                <a:spcPts val="0"/>
              </a:spcBef>
              <a:spcAft>
                <a:spcPts val="0"/>
              </a:spcAft>
              <a:buNone/>
            </a:pPr>
            <a:r>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4. Process Accounting Information: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This attribute gives information on the resources used by that process in its lifetime. </a:t>
            </a:r>
            <a:r>
              <a:rPr b="1" i="0" lang="en-US" sz="1200">
                <a:solidFill>
                  <a:schemeClr val="dk1"/>
                </a:solidFill>
                <a:latin typeface="Calibri"/>
                <a:ea typeface="Calibri"/>
                <a:cs typeface="Calibri"/>
                <a:sym typeface="Calibri"/>
              </a:rPr>
              <a:t>For Example:</a:t>
            </a:r>
            <a:r>
              <a:rPr b="0" i="0" lang="en-US" sz="1200">
                <a:solidFill>
                  <a:schemeClr val="dk1"/>
                </a:solidFill>
                <a:latin typeface="Calibri"/>
                <a:ea typeface="Calibri"/>
                <a:cs typeface="Calibri"/>
                <a:sym typeface="Calibri"/>
              </a:rPr>
              <a:t> CPU time connection time, etc.</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5. Program Counter:</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program counter is a pointer that points to the next instruction in the program to be executed. This attribute of PCB contains the address of the next instruction to be executed in the process.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6. CPU registers: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CPU register is a quickly accessible small-sized location available to the CPU. These registers are stored in virtual memory (RAM)`.</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6. Context Switching:</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Context switching is a process that involves switching the CPU from one process or task to another. It is the process of storing the state of a process so that it can be restored and resume execution at a later point. This allows multiple processes to share a single CPU and is an essential feature of a multitasking operating system.</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So, whenever context switching occurs in the code execution the current state of that process is stored temporarily in CPU registers. This helps in the fast execution of the process by not wasting time-saving and retrieving state information from the secondary memory(hard disk).</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8. PCB pointer:</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This field contains the address of the next PCB, which is in ready state. This helps the operating system to hierarchically maintain an easy control flow between parent processes and child processes.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9. List of open files: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As the name suggests, It contains information on all the files that are used by that process. This field is important as it helps the operating system to close all the opened files at the termination state of the process.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10. Process I/O information: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this field, the list of all the input/output devices that are required by that process during its execution is mentioned.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Role of Process Control Block in OS Managing Process Execution and Resource Allocation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State Management:</a:t>
            </a:r>
            <a:r>
              <a:rPr b="0" i="0" lang="en-US" sz="1200">
                <a:solidFill>
                  <a:schemeClr val="dk1"/>
                </a:solidFill>
                <a:latin typeface="Calibri"/>
                <a:ea typeface="Calibri"/>
                <a:cs typeface="Calibri"/>
                <a:sym typeface="Calibri"/>
              </a:rPr>
              <a:t> PCB in OS consistently tracks and updates the current state of a process (e.g., running, ready, or blocked).</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Resource Allocation:</a:t>
            </a:r>
            <a:r>
              <a:rPr b="0" i="0" lang="en-US" sz="1200">
                <a:solidFill>
                  <a:schemeClr val="dk1"/>
                </a:solidFill>
                <a:latin typeface="Calibri"/>
                <a:ea typeface="Calibri"/>
                <a:cs typeface="Calibri"/>
                <a:sym typeface="Calibri"/>
              </a:rPr>
              <a:t> Using details stored in the PCB in OS, the system efficiently assigns and monitors resources like memory and I/O devices to specific processes.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Execution Oversight:</a:t>
            </a:r>
            <a:r>
              <a:rPr b="0" i="0" lang="en-US" sz="1200">
                <a:solidFill>
                  <a:schemeClr val="dk1"/>
                </a:solidFill>
                <a:latin typeface="Calibri"/>
                <a:ea typeface="Calibri"/>
                <a:cs typeface="Calibri"/>
                <a:sym typeface="Calibri"/>
              </a:rPr>
              <a:t> PCB in OS houses the program counter and CPU registers, ensuring processes execute correctly by pointing to the next instruction and maintaining intermediate data.</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Protection and Security:</a:t>
            </a:r>
            <a:r>
              <a:rPr b="0" i="0" lang="en-US" sz="1200">
                <a:solidFill>
                  <a:schemeClr val="dk1"/>
                </a:solidFill>
                <a:latin typeface="Calibri"/>
                <a:ea typeface="Calibri"/>
                <a:cs typeface="Calibri"/>
                <a:sym typeface="Calibri"/>
              </a:rPr>
              <a:t> By tracking allocated resources and memory boundaries in the PCB in OS, it prevents processes from interfering with each other or accessing unauthorized resources.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Context Information:</a:t>
            </a:r>
            <a:r>
              <a:rPr b="0" i="0" lang="en-US" sz="1200">
                <a:solidFill>
                  <a:schemeClr val="dk1"/>
                </a:solidFill>
                <a:latin typeface="Calibri"/>
                <a:ea typeface="Calibri"/>
                <a:cs typeface="Calibri"/>
                <a:sym typeface="Calibri"/>
              </a:rPr>
              <a:t> During context switches, the PCB in OS stores the current context of a process, ensuring seamless transitions and allowing processes to resume where they left off.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9" name="Google Shape;1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New:</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process has been created but has not yet been admitted to the pool of executable processes.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Ready:</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process is in main memory and is prepared to run as soon as the CPU is available.</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Running:</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process is currently being executed by the CPU.</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Blocked (or Waiting):</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process is waiting for some event to occur, such as the completion of an I/O operation or the availability of a resource.</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Exit (or Terminated):</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process has finished its execution, either normally or due to an error.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a new process is created, it is initially in the New state.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OS moves the process to the Ready state once it is admitted to the main memory.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OS's scheduler selects a process from the ready queue to run on the CPU, moving it to the Running state.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While running, the process might have to wait for an event (like I/O) and move to the Blocked state.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If a running process's time slice is up, it may be moved back to the Ready state to wait for another turn on the CPU.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the process finishes, it is moved to the Exit state, and the OS deallocates its resources. </a:t>
            </a:r>
            <a:endParaRPr/>
          </a:p>
          <a:p>
            <a:pPr indent="0" lvl="0" marL="0" rtl="0" algn="l">
              <a:spcBef>
                <a:spcPts val="0"/>
              </a:spcBef>
              <a:spcAft>
                <a:spcPts val="0"/>
              </a:spcAft>
              <a:buNone/>
            </a:pPr>
            <a:r>
              <a:t/>
            </a:r>
            <a:endParaRPr/>
          </a:p>
        </p:txBody>
      </p:sp>
      <p:sp>
        <p:nvSpPr>
          <p:cNvPr id="216" name="Google Shape;21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Phase	Purpose	Main OS Activity	Key DataStructure</a:t>
            </a:r>
            <a:endParaRPr b="1"/>
          </a:p>
          <a:p>
            <a:pPr indent="0" lvl="0" marL="0" rtl="0" algn="l">
              <a:spcBef>
                <a:spcPts val="0"/>
              </a:spcBef>
              <a:spcAft>
                <a:spcPts val="0"/>
              </a:spcAft>
              <a:buNone/>
            </a:pPr>
            <a:r>
              <a:rPr b="1" lang="en-US"/>
              <a:t>Creation	</a:t>
            </a:r>
            <a:r>
              <a:rPr lang="en-US"/>
              <a:t>Create a new process	Allocate memory, initialize PCBPCB, Ready Queue</a:t>
            </a:r>
            <a:endParaRPr/>
          </a:p>
          <a:p>
            <a:pPr indent="0" lvl="0" marL="0" rtl="0" algn="l">
              <a:spcBef>
                <a:spcPts val="0"/>
              </a:spcBef>
              <a:spcAft>
                <a:spcPts val="0"/>
              </a:spcAft>
              <a:buNone/>
            </a:pPr>
            <a:r>
              <a:rPr b="1" lang="en-US"/>
              <a:t>Scheduling	</a:t>
            </a:r>
            <a:r>
              <a:rPr lang="en-US"/>
              <a:t>Choose next process	Use scheduling algorithms	Ready Queue</a:t>
            </a:r>
            <a:endParaRPr/>
          </a:p>
          <a:p>
            <a:pPr indent="0" lvl="0" marL="0" rtl="0" algn="l">
              <a:spcBef>
                <a:spcPts val="0"/>
              </a:spcBef>
              <a:spcAft>
                <a:spcPts val="0"/>
              </a:spcAft>
              <a:buNone/>
            </a:pPr>
            <a:r>
              <a:rPr b="1" lang="en-US"/>
              <a:t>Execution	</a:t>
            </a:r>
            <a:r>
              <a:rPr lang="en-US"/>
              <a:t>Run process on CPU	Instruction fetch-decode-execute	CPU Registers</a:t>
            </a:r>
            <a:endParaRPr/>
          </a:p>
          <a:p>
            <a:pPr indent="0" lvl="0" marL="0" rtl="0" algn="l">
              <a:spcBef>
                <a:spcPts val="0"/>
              </a:spcBef>
              <a:spcAft>
                <a:spcPts val="0"/>
              </a:spcAft>
              <a:buNone/>
            </a:pPr>
            <a:r>
              <a:rPr b="1" lang="en-US"/>
              <a:t>Switching	</a:t>
            </a:r>
            <a:r>
              <a:rPr lang="en-US"/>
              <a:t>Change active process	Save/restore context	PCB</a:t>
            </a:r>
            <a:endParaRPr/>
          </a:p>
          <a:p>
            <a:pPr indent="0" lvl="0" marL="0" rtl="0" algn="l">
              <a:spcBef>
                <a:spcPts val="0"/>
              </a:spcBef>
              <a:spcAft>
                <a:spcPts val="0"/>
              </a:spcAft>
              <a:buNone/>
            </a:pPr>
            <a:r>
              <a:rPr b="1" lang="en-US"/>
              <a:t>Termination	</a:t>
            </a:r>
            <a:r>
              <a:rPr lang="en-US"/>
              <a:t>End process, free resources	Release memory, delete PCB	Process Table</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Address space &amp; memory layout — why processes are isolated</a:t>
            </a:r>
            <a:endParaRPr/>
          </a:p>
          <a:p>
            <a:pPr indent="0" lvl="0" marL="0" rtl="0" algn="l">
              <a:spcBef>
                <a:spcPts val="0"/>
              </a:spcBef>
              <a:spcAft>
                <a:spcPts val="0"/>
              </a:spcAft>
              <a:buNone/>
            </a:pPr>
            <a:r>
              <a:rPr lang="en-US"/>
              <a:t>Each process typically has its </a:t>
            </a:r>
            <a:r>
              <a:rPr b="1" lang="en-US"/>
              <a:t>own virtual address space</a:t>
            </a:r>
            <a:r>
              <a:rPr lang="en-US"/>
              <a:t>. Virtual memory maps the process’s logical addresses to physical frames.</a:t>
            </a:r>
            <a:endParaRPr/>
          </a:p>
          <a:p>
            <a:pPr indent="0" lvl="0" marL="0" rtl="0" algn="l">
              <a:spcBef>
                <a:spcPts val="0"/>
              </a:spcBef>
              <a:spcAft>
                <a:spcPts val="0"/>
              </a:spcAft>
              <a:buNone/>
            </a:pPr>
            <a:r>
              <a:rPr lang="en-US"/>
              <a:t>Typical layout:</a:t>
            </a:r>
            <a:endParaRPr/>
          </a:p>
          <a:p>
            <a:pPr indent="0" lvl="1" marL="457200" rtl="0" algn="l">
              <a:spcBef>
                <a:spcPts val="0"/>
              </a:spcBef>
              <a:spcAft>
                <a:spcPts val="0"/>
              </a:spcAft>
              <a:buNone/>
            </a:pPr>
            <a:r>
              <a:rPr lang="en-US"/>
              <a:t>High addresses → stack (grows down)</a:t>
            </a:r>
            <a:endParaRPr/>
          </a:p>
          <a:p>
            <a:pPr indent="0" lvl="1" marL="457200" rtl="0" algn="l">
              <a:spcBef>
                <a:spcPts val="0"/>
              </a:spcBef>
              <a:spcAft>
                <a:spcPts val="0"/>
              </a:spcAft>
              <a:buNone/>
            </a:pPr>
            <a:r>
              <a:rPr lang="en-US"/>
              <a:t>Heap (grows up)</a:t>
            </a:r>
            <a:endParaRPr/>
          </a:p>
          <a:p>
            <a:pPr indent="0" lvl="1" marL="457200" rtl="0" algn="l">
              <a:spcBef>
                <a:spcPts val="0"/>
              </a:spcBef>
              <a:spcAft>
                <a:spcPts val="0"/>
              </a:spcAft>
              <a:buNone/>
            </a:pPr>
            <a:r>
              <a:rPr lang="en-US"/>
              <a:t>BSS (uninitialized globals)</a:t>
            </a:r>
            <a:endParaRPr/>
          </a:p>
          <a:p>
            <a:pPr indent="0" lvl="1" marL="457200" rtl="0" algn="l">
              <a:spcBef>
                <a:spcPts val="0"/>
              </a:spcBef>
              <a:spcAft>
                <a:spcPts val="0"/>
              </a:spcAft>
              <a:buNone/>
            </a:pPr>
            <a:r>
              <a:rPr lang="en-US"/>
              <a:t>Data (initialized globals)</a:t>
            </a:r>
            <a:endParaRPr/>
          </a:p>
          <a:p>
            <a:pPr indent="0" lvl="1" marL="457200" rtl="0" algn="l">
              <a:spcBef>
                <a:spcPts val="0"/>
              </a:spcBef>
              <a:spcAft>
                <a:spcPts val="0"/>
              </a:spcAft>
              <a:buNone/>
            </a:pPr>
            <a:r>
              <a:rPr lang="en-US"/>
              <a:t>Text (code, read-only)</a:t>
            </a:r>
            <a:endParaRPr/>
          </a:p>
          <a:p>
            <a:pPr indent="0" lvl="0" marL="0" rtl="0" algn="l">
              <a:spcBef>
                <a:spcPts val="0"/>
              </a:spcBef>
              <a:spcAft>
                <a:spcPts val="0"/>
              </a:spcAft>
              <a:buNone/>
            </a:pPr>
            <a:r>
              <a:rPr b="1" lang="en-US"/>
              <a:t>Isolation benefits:</a:t>
            </a:r>
            <a:endParaRPr/>
          </a:p>
          <a:p>
            <a:pPr indent="0" lvl="1" marL="457200" rtl="0" algn="l">
              <a:spcBef>
                <a:spcPts val="0"/>
              </a:spcBef>
              <a:spcAft>
                <a:spcPts val="0"/>
              </a:spcAft>
              <a:buNone/>
            </a:pPr>
            <a:r>
              <a:rPr lang="en-US"/>
              <a:t>Faults in one process (segfault) don’t corrupt others.</a:t>
            </a:r>
            <a:endParaRPr/>
          </a:p>
          <a:p>
            <a:pPr indent="0" lvl="1" marL="457200" rtl="0" algn="l">
              <a:spcBef>
                <a:spcPts val="0"/>
              </a:spcBef>
              <a:spcAft>
                <a:spcPts val="0"/>
              </a:spcAft>
              <a:buNone/>
            </a:pPr>
            <a:r>
              <a:rPr lang="en-US"/>
              <a:t>Security: private data isn’t exposed.</a:t>
            </a:r>
            <a:endParaRPr/>
          </a:p>
          <a:p>
            <a:pPr indent="0" lvl="1" marL="457200" rtl="0" algn="l">
              <a:spcBef>
                <a:spcPts val="0"/>
              </a:spcBef>
              <a:spcAft>
                <a:spcPts val="0"/>
              </a:spcAft>
              <a:buNone/>
            </a:pPr>
            <a:r>
              <a:rPr lang="en-US"/>
              <a:t>OS can enforce permissions per-process.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1. What is Process Isolation?</a:t>
            </a:r>
            <a:endParaRPr/>
          </a:p>
          <a:p>
            <a:pPr indent="0" lvl="0" marL="0" rtl="0" algn="l">
              <a:spcBef>
                <a:spcPts val="0"/>
              </a:spcBef>
              <a:spcAft>
                <a:spcPts val="0"/>
              </a:spcAft>
              <a:buNone/>
            </a:pPr>
            <a:r>
              <a:rPr b="1" lang="en-US"/>
              <a:t>Definition:</a:t>
            </a:r>
            <a:br>
              <a:rPr lang="en-US"/>
            </a:br>
            <a:r>
              <a:rPr lang="en-US"/>
              <a:t>Process isolation is the </a:t>
            </a:r>
            <a:r>
              <a:rPr b="1" lang="en-US"/>
              <a:t>mechanism by which the operating system prevents one process from directly accessing or modifying the memory and resources of another process.</a:t>
            </a:r>
            <a:endParaRPr/>
          </a:p>
          <a:p>
            <a:pPr indent="0" lvl="0" marL="0" rtl="0" algn="l">
              <a:spcBef>
                <a:spcPts val="0"/>
              </a:spcBef>
              <a:spcAft>
                <a:spcPts val="0"/>
              </a:spcAft>
              <a:buNone/>
            </a:pPr>
            <a:r>
              <a:rPr b="1" lang="en-US"/>
              <a:t>Purpose:</a:t>
            </a:r>
            <a:endParaRPr/>
          </a:p>
          <a:p>
            <a:pPr indent="0" lvl="0" marL="0" rtl="0" algn="l">
              <a:spcBef>
                <a:spcPts val="0"/>
              </a:spcBef>
              <a:spcAft>
                <a:spcPts val="0"/>
              </a:spcAft>
              <a:buNone/>
            </a:pPr>
            <a:r>
              <a:rPr lang="en-US"/>
              <a:t>To </a:t>
            </a:r>
            <a:r>
              <a:rPr b="1" lang="en-US"/>
              <a:t>protect</a:t>
            </a:r>
            <a:r>
              <a:rPr lang="en-US"/>
              <a:t> processes from each other (so that one process’s failure doesn’t crash others).</a:t>
            </a:r>
            <a:endParaRPr/>
          </a:p>
          <a:p>
            <a:pPr indent="0" lvl="0" marL="0" rtl="0" algn="l">
              <a:spcBef>
                <a:spcPts val="0"/>
              </a:spcBef>
              <a:spcAft>
                <a:spcPts val="0"/>
              </a:spcAft>
              <a:buNone/>
            </a:pPr>
            <a:r>
              <a:rPr lang="en-US"/>
              <a:t>To </a:t>
            </a:r>
            <a:r>
              <a:rPr b="1" lang="en-US"/>
              <a:t>secure</a:t>
            </a:r>
            <a:r>
              <a:rPr lang="en-US"/>
              <a:t> data and prevent unauthorized access.</a:t>
            </a:r>
            <a:endParaRPr/>
          </a:p>
          <a:p>
            <a:pPr indent="0" lvl="0" marL="0" rtl="0" algn="l">
              <a:spcBef>
                <a:spcPts val="0"/>
              </a:spcBef>
              <a:spcAft>
                <a:spcPts val="0"/>
              </a:spcAft>
              <a:buNone/>
            </a:pPr>
            <a:r>
              <a:rPr lang="en-US"/>
              <a:t>To </a:t>
            </a:r>
            <a:r>
              <a:rPr b="1" lang="en-US"/>
              <a:t>ensure stability</a:t>
            </a:r>
            <a:r>
              <a:rPr lang="en-US"/>
              <a:t> and </a:t>
            </a:r>
            <a:r>
              <a:rPr b="1" lang="en-US"/>
              <a:t>fault containment</a:t>
            </a:r>
            <a:r>
              <a:rPr lang="en-US"/>
              <a:t> in multitasking systems.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2. Why Isolation is Needed</a:t>
            </a:r>
            <a:endParaRPr/>
          </a:p>
          <a:p>
            <a:pPr indent="0" lvl="0" marL="0" rtl="0" algn="l">
              <a:spcBef>
                <a:spcPts val="0"/>
              </a:spcBef>
              <a:spcAft>
                <a:spcPts val="0"/>
              </a:spcAft>
              <a:buNone/>
            </a:pPr>
            <a:r>
              <a:rPr b="1" lang="en-US"/>
              <a:t>ReasonExplanationProtection</a:t>
            </a:r>
            <a:r>
              <a:rPr lang="en-US"/>
              <a:t>Prevents accidental or malicious modification of another process’s data.</a:t>
            </a:r>
            <a:r>
              <a:rPr b="1" lang="en-US"/>
              <a:t>Reliability</a:t>
            </a:r>
            <a:r>
              <a:rPr lang="en-US"/>
              <a:t>Keeps system stable — one process crash doesn’t affect others.</a:t>
            </a:r>
            <a:r>
              <a:rPr b="1" lang="en-US"/>
              <a:t>Security</a:t>
            </a:r>
            <a:r>
              <a:rPr lang="en-US"/>
              <a:t>Stops sensitive information from leaking between processes.</a:t>
            </a:r>
            <a:r>
              <a:rPr b="1" lang="en-US"/>
              <a:t>Resource Management</a:t>
            </a:r>
            <a:r>
              <a:rPr lang="en-US"/>
              <a:t>Prevents one process from monopolizing CPU, memory, or I/O.</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3. How the OS Achieves Process Isolation</a:t>
            </a:r>
            <a:endParaRPr/>
          </a:p>
          <a:p>
            <a:pPr indent="0" lvl="0" marL="0" rtl="0" algn="l">
              <a:spcBef>
                <a:spcPts val="0"/>
              </a:spcBef>
              <a:spcAft>
                <a:spcPts val="0"/>
              </a:spcAft>
              <a:buNone/>
            </a:pPr>
            <a:r>
              <a:rPr lang="en-US"/>
              <a:t>The OS uses </a:t>
            </a:r>
            <a:r>
              <a:rPr b="1" lang="en-US"/>
              <a:t>hardware and software mechanisms</a:t>
            </a:r>
            <a:r>
              <a:rPr lang="en-US"/>
              <a:t> to isolate processes.</a:t>
            </a:r>
            <a:endParaRPr/>
          </a:p>
          <a:p>
            <a:pPr indent="0" lvl="0" marL="0" rtl="0" algn="l">
              <a:spcBef>
                <a:spcPts val="0"/>
              </a:spcBef>
              <a:spcAft>
                <a:spcPts val="0"/>
              </a:spcAft>
              <a:buNone/>
            </a:pPr>
            <a:r>
              <a:rPr b="1" lang="en-US"/>
              <a:t>a) Separate Virtual Address Spaces</a:t>
            </a:r>
            <a:endParaRPr/>
          </a:p>
          <a:p>
            <a:pPr indent="0" lvl="0" marL="0" rtl="0" algn="l">
              <a:spcBef>
                <a:spcPts val="0"/>
              </a:spcBef>
              <a:spcAft>
                <a:spcPts val="0"/>
              </a:spcAft>
              <a:buNone/>
            </a:pPr>
            <a:r>
              <a:rPr lang="en-US"/>
              <a:t>Each process gets its </a:t>
            </a:r>
            <a:r>
              <a:rPr b="1" lang="en-US"/>
              <a:t>own virtual memory space</a:t>
            </a:r>
            <a:r>
              <a:rPr lang="en-US"/>
              <a:t>.</a:t>
            </a:r>
            <a:endParaRPr/>
          </a:p>
          <a:p>
            <a:pPr indent="0" lvl="0" marL="0" rtl="0" algn="l">
              <a:spcBef>
                <a:spcPts val="0"/>
              </a:spcBef>
              <a:spcAft>
                <a:spcPts val="0"/>
              </a:spcAft>
              <a:buNone/>
            </a:pPr>
            <a:r>
              <a:rPr lang="en-US"/>
              <a:t>The OS uses the </a:t>
            </a:r>
            <a:r>
              <a:rPr b="1" lang="en-US"/>
              <a:t>Memory Management Unit (MMU)</a:t>
            </a:r>
            <a:r>
              <a:rPr lang="en-US"/>
              <a:t> and </a:t>
            </a:r>
            <a:r>
              <a:rPr b="1" lang="en-US"/>
              <a:t>page tables</a:t>
            </a:r>
            <a:r>
              <a:rPr lang="en-US"/>
              <a:t> to map each process’s virtual addresses to physical memory.</a:t>
            </a:r>
            <a:endParaRPr/>
          </a:p>
          <a:p>
            <a:pPr indent="0" lvl="0" marL="0" rtl="0" algn="l">
              <a:spcBef>
                <a:spcPts val="0"/>
              </a:spcBef>
              <a:spcAft>
                <a:spcPts val="0"/>
              </a:spcAft>
              <a:buNone/>
            </a:pPr>
            <a:r>
              <a:rPr lang="en-US"/>
              <a:t>A process </a:t>
            </a:r>
            <a:r>
              <a:rPr b="1" lang="en-US"/>
              <a:t>cannot see or modify another’s memory</a:t>
            </a:r>
            <a:r>
              <a:rPr lang="en-US"/>
              <a:t>, because its address translation is private.</a:t>
            </a:r>
            <a:endParaRPr/>
          </a:p>
          <a:p>
            <a:pPr indent="0" lvl="0" marL="0" rtl="0" algn="l">
              <a:spcBef>
                <a:spcPts val="0"/>
              </a:spcBef>
              <a:spcAft>
                <a:spcPts val="0"/>
              </a:spcAft>
              <a:buNone/>
            </a:pPr>
            <a:r>
              <a:rPr lang="en-US"/>
              <a:t>🧠 </a:t>
            </a:r>
            <a:r>
              <a:rPr b="1" lang="en-US"/>
              <a:t>Example:</a:t>
            </a:r>
            <a:br>
              <a:rPr lang="en-US"/>
            </a:br>
            <a:r>
              <a:rPr lang="en-US"/>
              <a:t>Process A’s address </a:t>
            </a:r>
            <a:r>
              <a:rPr lang="en-US" sz="1200">
                <a:solidFill>
                  <a:schemeClr val="dk1"/>
                </a:solidFill>
                <a:latin typeface="Calibri"/>
                <a:ea typeface="Calibri"/>
                <a:cs typeface="Calibri"/>
                <a:sym typeface="Calibri"/>
              </a:rPr>
              <a:t>0x2000</a:t>
            </a:r>
            <a:r>
              <a:rPr lang="en-US"/>
              <a:t> might map to physical frame 100,</a:t>
            </a:r>
            <a:br>
              <a:rPr lang="en-US"/>
            </a:br>
            <a:r>
              <a:rPr lang="en-US"/>
              <a:t>while Process B’s address </a:t>
            </a:r>
            <a:r>
              <a:rPr lang="en-US" sz="1200">
                <a:solidFill>
                  <a:schemeClr val="dk1"/>
                </a:solidFill>
                <a:latin typeface="Calibri"/>
                <a:ea typeface="Calibri"/>
                <a:cs typeface="Calibri"/>
                <a:sym typeface="Calibri"/>
              </a:rPr>
              <a:t>0x2000</a:t>
            </a:r>
            <a:r>
              <a:rPr lang="en-US"/>
              <a:t> maps to frame 350 — completely different memory areas.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b) CPU Privilege Levels</a:t>
            </a:r>
            <a:endParaRPr/>
          </a:p>
          <a:p>
            <a:pPr indent="0" lvl="0" marL="0" rtl="0" algn="l">
              <a:spcBef>
                <a:spcPts val="0"/>
              </a:spcBef>
              <a:spcAft>
                <a:spcPts val="0"/>
              </a:spcAft>
              <a:buNone/>
            </a:pPr>
            <a:r>
              <a:rPr lang="en-US"/>
              <a:t>Modern CPUs support </a:t>
            </a:r>
            <a:r>
              <a:rPr b="1" lang="en-US"/>
              <a:t>user mode</a:t>
            </a:r>
            <a:r>
              <a:rPr lang="en-US"/>
              <a:t> and </a:t>
            </a:r>
            <a:r>
              <a:rPr b="1" lang="en-US"/>
              <a:t>kernel mode</a:t>
            </a:r>
            <a:r>
              <a:rPr lang="en-US"/>
              <a:t>.</a:t>
            </a:r>
            <a:endParaRPr/>
          </a:p>
          <a:p>
            <a:pPr indent="0" lvl="0" marL="0" rtl="0" algn="l">
              <a:spcBef>
                <a:spcPts val="0"/>
              </a:spcBef>
              <a:spcAft>
                <a:spcPts val="0"/>
              </a:spcAft>
              <a:buNone/>
            </a:pPr>
            <a:r>
              <a:rPr b="1" lang="en-US"/>
              <a:t>User mode:</a:t>
            </a:r>
            <a:r>
              <a:rPr lang="en-US"/>
              <a:t> Processes run with limited privileges — cannot directly access hardware or other processes’ memory.</a:t>
            </a:r>
            <a:endParaRPr/>
          </a:p>
          <a:p>
            <a:pPr indent="0" lvl="0" marL="0" rtl="0" algn="l">
              <a:spcBef>
                <a:spcPts val="0"/>
              </a:spcBef>
              <a:spcAft>
                <a:spcPts val="0"/>
              </a:spcAft>
              <a:buNone/>
            </a:pPr>
            <a:r>
              <a:rPr b="1" lang="en-US"/>
              <a:t>Kernel mode:</a:t>
            </a:r>
            <a:r>
              <a:rPr lang="en-US"/>
              <a:t> Only the OS runs here and can manage shared resources.</a:t>
            </a:r>
            <a:endParaRPr/>
          </a:p>
          <a:p>
            <a:pPr indent="0" lvl="0" marL="0" rtl="0" algn="l">
              <a:spcBef>
                <a:spcPts val="0"/>
              </a:spcBef>
              <a:spcAft>
                <a:spcPts val="0"/>
              </a:spcAft>
              <a:buNone/>
            </a:pPr>
            <a:r>
              <a:rPr lang="en-US"/>
              <a:t>Any process trying to perform restricted actions must </a:t>
            </a:r>
            <a:r>
              <a:rPr b="1" lang="en-US"/>
              <a:t>request the OS via a system call</a:t>
            </a:r>
            <a:r>
              <a:rPr lang="en-US"/>
              <a: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c) Process Control Blocks (PCBs)</a:t>
            </a:r>
            <a:endParaRPr/>
          </a:p>
          <a:p>
            <a:pPr indent="0" lvl="0" marL="0" rtl="0" algn="l">
              <a:spcBef>
                <a:spcPts val="0"/>
              </a:spcBef>
              <a:spcAft>
                <a:spcPts val="0"/>
              </a:spcAft>
              <a:buNone/>
            </a:pPr>
            <a:r>
              <a:rPr lang="en-US"/>
              <a:t>Each process has its own </a:t>
            </a:r>
            <a:r>
              <a:rPr b="1" lang="en-US"/>
              <a:t>PCB</a:t>
            </a:r>
            <a:r>
              <a:rPr lang="en-US"/>
              <a:t> in kernel memory that stores:</a:t>
            </a:r>
            <a:endParaRPr/>
          </a:p>
          <a:p>
            <a:pPr indent="0" lvl="1" marL="457200" rtl="0" algn="l">
              <a:spcBef>
                <a:spcPts val="0"/>
              </a:spcBef>
              <a:spcAft>
                <a:spcPts val="0"/>
              </a:spcAft>
              <a:buNone/>
            </a:pPr>
            <a:r>
              <a:rPr lang="en-US"/>
              <a:t>Process ID, state, register values, and memory maps.</a:t>
            </a:r>
            <a:endParaRPr/>
          </a:p>
          <a:p>
            <a:pPr indent="0" lvl="0" marL="0" rtl="0" algn="l">
              <a:spcBef>
                <a:spcPts val="0"/>
              </a:spcBef>
              <a:spcAft>
                <a:spcPts val="0"/>
              </a:spcAft>
              <a:buNone/>
            </a:pPr>
            <a:r>
              <a:rPr lang="en-US"/>
              <a:t>OS ensures </a:t>
            </a:r>
            <a:r>
              <a:rPr b="1" lang="en-US"/>
              <a:t>no direct access</a:t>
            </a:r>
            <a:r>
              <a:rPr lang="en-US"/>
              <a:t> by other processes — only the kernel can read or modify PCBs.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d) File and Resource Permissions</a:t>
            </a:r>
            <a:endParaRPr/>
          </a:p>
          <a:p>
            <a:pPr indent="0" lvl="0" marL="0" rtl="0" algn="l">
              <a:spcBef>
                <a:spcPts val="0"/>
              </a:spcBef>
              <a:spcAft>
                <a:spcPts val="0"/>
              </a:spcAft>
              <a:buNone/>
            </a:pPr>
            <a:r>
              <a:rPr lang="en-US"/>
              <a:t>OS enforces </a:t>
            </a:r>
            <a:r>
              <a:rPr b="1" lang="en-US"/>
              <a:t>access control lists (ACLs)</a:t>
            </a:r>
            <a:r>
              <a:rPr lang="en-US"/>
              <a:t> or </a:t>
            </a:r>
            <a:r>
              <a:rPr b="1" lang="en-US"/>
              <a:t>permission bits</a:t>
            </a:r>
            <a:r>
              <a:rPr lang="en-US"/>
              <a:t> on files, devices, and sockets.</a:t>
            </a:r>
            <a:endParaRPr/>
          </a:p>
          <a:p>
            <a:pPr indent="0" lvl="0" marL="0" rtl="0" algn="l">
              <a:spcBef>
                <a:spcPts val="0"/>
              </a:spcBef>
              <a:spcAft>
                <a:spcPts val="0"/>
              </a:spcAft>
              <a:buNone/>
            </a:pPr>
            <a:r>
              <a:rPr lang="en-US"/>
              <a:t>A process can only open or modify resources it is permitted to.</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e) Context Switching</a:t>
            </a:r>
            <a:endParaRPr/>
          </a:p>
          <a:p>
            <a:pPr indent="0" lvl="0" marL="0" rtl="0" algn="l">
              <a:spcBef>
                <a:spcPts val="0"/>
              </a:spcBef>
              <a:spcAft>
                <a:spcPts val="0"/>
              </a:spcAft>
              <a:buNone/>
            </a:pPr>
            <a:r>
              <a:rPr lang="en-US"/>
              <a:t>During </a:t>
            </a:r>
            <a:r>
              <a:rPr b="1" lang="en-US"/>
              <a:t>context switching</a:t>
            </a:r>
            <a:r>
              <a:rPr lang="en-US"/>
              <a:t>, the OS saves one process’s state and loads another’s.</a:t>
            </a:r>
            <a:endParaRPr/>
          </a:p>
          <a:p>
            <a:pPr indent="0" lvl="0" marL="0" rtl="0" algn="l">
              <a:spcBef>
                <a:spcPts val="0"/>
              </a:spcBef>
              <a:spcAft>
                <a:spcPts val="0"/>
              </a:spcAft>
              <a:buNone/>
            </a:pPr>
            <a:r>
              <a:rPr lang="en-US"/>
              <a:t>The new process runs with its </a:t>
            </a:r>
            <a:r>
              <a:rPr b="1" lang="en-US"/>
              <a:t>own registers, stack, and address space</a:t>
            </a:r>
            <a:r>
              <a:rPr lang="en-US"/>
              <a:t>, ensuring no mixing of data.</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4. Controlled Inter-Process Communication (IPC)</a:t>
            </a:r>
            <a:endParaRPr/>
          </a:p>
          <a:p>
            <a:pPr indent="0" lvl="0" marL="0" rtl="0" algn="l">
              <a:spcBef>
                <a:spcPts val="0"/>
              </a:spcBef>
              <a:spcAft>
                <a:spcPts val="0"/>
              </a:spcAft>
              <a:buNone/>
            </a:pPr>
            <a:r>
              <a:rPr lang="en-US"/>
              <a:t>Since isolated processes cannot directly share memory, the OS provides </a:t>
            </a:r>
            <a:r>
              <a:rPr b="1" lang="en-US"/>
              <a:t>controlled communication mechanisms</a:t>
            </a:r>
            <a:r>
              <a:rPr lang="en-US"/>
              <a:t>, ensuring security and synchronization.</a:t>
            </a:r>
            <a:endParaRPr/>
          </a:p>
          <a:p>
            <a:pPr indent="0" lvl="0" marL="0" rtl="0" algn="l">
              <a:spcBef>
                <a:spcPts val="0"/>
              </a:spcBef>
              <a:spcAft>
                <a:spcPts val="0"/>
              </a:spcAft>
              <a:buNone/>
            </a:pPr>
            <a:r>
              <a:rPr b="1" lang="en-US"/>
              <a:t>a) Message Passing</a:t>
            </a:r>
            <a:endParaRPr/>
          </a:p>
          <a:p>
            <a:pPr indent="0" lvl="0" marL="0" rtl="0" algn="l">
              <a:spcBef>
                <a:spcPts val="0"/>
              </a:spcBef>
              <a:spcAft>
                <a:spcPts val="0"/>
              </a:spcAft>
              <a:buNone/>
            </a:pPr>
            <a:r>
              <a:rPr lang="en-US"/>
              <a:t>Processes communicate by </a:t>
            </a:r>
            <a:r>
              <a:rPr b="1" lang="en-US"/>
              <a:t>sending and receiving messages</a:t>
            </a:r>
            <a:r>
              <a:rPr lang="en-US"/>
              <a:t> through the kernel.</a:t>
            </a:r>
            <a:endParaRPr/>
          </a:p>
          <a:p>
            <a:pPr indent="0" lvl="0" marL="0" rtl="0" algn="l">
              <a:spcBef>
                <a:spcPts val="0"/>
              </a:spcBef>
              <a:spcAft>
                <a:spcPts val="0"/>
              </a:spcAft>
              <a:buNone/>
            </a:pPr>
            <a:r>
              <a:rPr lang="en-US"/>
              <a:t>Mechanisms:</a:t>
            </a:r>
            <a:endParaRPr/>
          </a:p>
          <a:p>
            <a:pPr indent="0" lvl="1" marL="457200" rtl="0" algn="l">
              <a:spcBef>
                <a:spcPts val="0"/>
              </a:spcBef>
              <a:spcAft>
                <a:spcPts val="0"/>
              </a:spcAft>
              <a:buNone/>
            </a:pPr>
            <a:r>
              <a:rPr b="1" lang="en-US"/>
              <a:t>Pipes / FIFOs:</a:t>
            </a:r>
            <a:r>
              <a:rPr lang="en-US"/>
              <a:t> Unidirectional or bidirectional data channels.</a:t>
            </a:r>
            <a:endParaRPr/>
          </a:p>
          <a:p>
            <a:pPr indent="0" lvl="1" marL="457200" rtl="0" algn="l">
              <a:spcBef>
                <a:spcPts val="0"/>
              </a:spcBef>
              <a:spcAft>
                <a:spcPts val="0"/>
              </a:spcAft>
              <a:buNone/>
            </a:pPr>
            <a:r>
              <a:rPr b="1" lang="en-US"/>
              <a:t>Message Queues:</a:t>
            </a:r>
            <a:r>
              <a:rPr lang="en-US"/>
              <a:t> Structured communication via kernel-managed buffers.</a:t>
            </a:r>
            <a:endParaRPr/>
          </a:p>
          <a:p>
            <a:pPr indent="0" lvl="1" marL="457200" rtl="0" algn="l">
              <a:spcBef>
                <a:spcPts val="0"/>
              </a:spcBef>
              <a:spcAft>
                <a:spcPts val="0"/>
              </a:spcAft>
              <a:buNone/>
            </a:pPr>
            <a:r>
              <a:rPr b="1" lang="en-US"/>
              <a:t>Sockets:</a:t>
            </a:r>
            <a:r>
              <a:rPr lang="en-US"/>
              <a:t> Network-based or local interprocess communication.</a:t>
            </a:r>
            <a:endParaRPr/>
          </a:p>
          <a:p>
            <a:pPr indent="0" lvl="0" marL="0" rtl="0" algn="l">
              <a:spcBef>
                <a:spcPts val="0"/>
              </a:spcBef>
              <a:spcAft>
                <a:spcPts val="0"/>
              </a:spcAft>
              <a:buNone/>
            </a:pPr>
            <a:r>
              <a:rPr lang="en-US"/>
              <a:t>🧠 </a:t>
            </a:r>
            <a:r>
              <a:rPr i="1" lang="en-US"/>
              <a:t>Example:</a:t>
            </a:r>
            <a:br>
              <a:rPr lang="en-US"/>
            </a:br>
            <a:r>
              <a:rPr lang="en-US"/>
              <a:t>A shell pipeline like </a:t>
            </a:r>
            <a:r>
              <a:rPr lang="en-US" sz="1200">
                <a:solidFill>
                  <a:schemeClr val="dk1"/>
                </a:solidFill>
                <a:latin typeface="Calibri"/>
                <a:ea typeface="Calibri"/>
                <a:cs typeface="Calibri"/>
                <a:sym typeface="Calibri"/>
              </a:rPr>
              <a:t>ls | grep txt</a:t>
            </a:r>
            <a:r>
              <a:rPr lang="en-US"/>
              <a:t> — here </a:t>
            </a:r>
            <a:r>
              <a:rPr lang="en-US" sz="1200">
                <a:solidFill>
                  <a:schemeClr val="dk1"/>
                </a:solidFill>
                <a:latin typeface="Calibri"/>
                <a:ea typeface="Calibri"/>
                <a:cs typeface="Calibri"/>
                <a:sym typeface="Calibri"/>
              </a:rPr>
              <a:t>ls</a:t>
            </a:r>
            <a:r>
              <a:rPr lang="en-US"/>
              <a:t> and </a:t>
            </a:r>
            <a:r>
              <a:rPr lang="en-US" sz="1200">
                <a:solidFill>
                  <a:schemeClr val="dk1"/>
                </a:solidFill>
                <a:latin typeface="Calibri"/>
                <a:ea typeface="Calibri"/>
                <a:cs typeface="Calibri"/>
                <a:sym typeface="Calibri"/>
              </a:rPr>
              <a:t>grep</a:t>
            </a:r>
            <a:r>
              <a:rPr lang="en-US"/>
              <a:t> are separate processes connected by a </a:t>
            </a:r>
            <a:r>
              <a:rPr b="1" lang="en-US"/>
              <a:t>pipe</a:t>
            </a:r>
            <a:r>
              <a:rPr lang="en-US"/>
              <a: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b) Shared Memory</a:t>
            </a:r>
            <a:endParaRPr/>
          </a:p>
          <a:p>
            <a:pPr indent="0" lvl="0" marL="0" rtl="0" algn="l">
              <a:spcBef>
                <a:spcPts val="0"/>
              </a:spcBef>
              <a:spcAft>
                <a:spcPts val="0"/>
              </a:spcAft>
              <a:buNone/>
            </a:pPr>
            <a:r>
              <a:rPr lang="en-US"/>
              <a:t>OS allows two or more processes to </a:t>
            </a:r>
            <a:r>
              <a:rPr b="1" lang="en-US"/>
              <a:t>map a region of memory</a:t>
            </a:r>
            <a:r>
              <a:rPr lang="en-US"/>
              <a:t> that is shared.</a:t>
            </a:r>
            <a:endParaRPr/>
          </a:p>
          <a:p>
            <a:pPr indent="0" lvl="0" marL="0" rtl="0" algn="l">
              <a:spcBef>
                <a:spcPts val="0"/>
              </a:spcBef>
              <a:spcAft>
                <a:spcPts val="0"/>
              </a:spcAft>
              <a:buNone/>
            </a:pPr>
            <a:r>
              <a:rPr lang="en-US"/>
              <a:t>Communication is </a:t>
            </a:r>
            <a:r>
              <a:rPr b="1" lang="en-US"/>
              <a:t>fast</a:t>
            </a:r>
            <a:r>
              <a:rPr lang="en-US"/>
              <a:t> but requires </a:t>
            </a:r>
            <a:r>
              <a:rPr b="1" lang="en-US"/>
              <a:t>synchronization</a:t>
            </a:r>
            <a:r>
              <a:rPr lang="en-US"/>
              <a:t> (mutexes, semaphores) to prevent race conditions.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c) Signals</a:t>
            </a:r>
            <a:endParaRPr/>
          </a:p>
          <a:p>
            <a:pPr indent="0" lvl="0" marL="0" rtl="0" algn="l">
              <a:spcBef>
                <a:spcPts val="0"/>
              </a:spcBef>
              <a:spcAft>
                <a:spcPts val="0"/>
              </a:spcAft>
              <a:buNone/>
            </a:pPr>
            <a:r>
              <a:rPr lang="en-US"/>
              <a:t>Asynchronous notifications sent by one process to another (e.g., </a:t>
            </a:r>
            <a:r>
              <a:rPr lang="en-US" sz="1200">
                <a:solidFill>
                  <a:schemeClr val="dk1"/>
                </a:solidFill>
                <a:latin typeface="Calibri"/>
                <a:ea typeface="Calibri"/>
                <a:cs typeface="Calibri"/>
                <a:sym typeface="Calibri"/>
              </a:rPr>
              <a:t>SIGINT</a:t>
            </a:r>
            <a:r>
              <a:rPr lang="en-US"/>
              <a:t>, </a:t>
            </a:r>
            <a:r>
              <a:rPr lang="en-US" sz="1200">
                <a:solidFill>
                  <a:schemeClr val="dk1"/>
                </a:solidFill>
                <a:latin typeface="Calibri"/>
                <a:ea typeface="Calibri"/>
                <a:cs typeface="Calibri"/>
                <a:sym typeface="Calibri"/>
              </a:rPr>
              <a:t>SIGTERM</a:t>
            </a:r>
            <a:r>
              <a:rPr lang="en-US"/>
              <a:t>).</a:t>
            </a:r>
            <a:endParaRPr/>
          </a:p>
          <a:p>
            <a:pPr indent="0" lvl="0" marL="0" rtl="0" algn="l">
              <a:spcBef>
                <a:spcPts val="0"/>
              </a:spcBef>
              <a:spcAft>
                <a:spcPts val="0"/>
              </a:spcAft>
              <a:buNone/>
            </a:pPr>
            <a:r>
              <a:rPr lang="en-US"/>
              <a:t>Used for control and coordination, not bulk data transfer.</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d) Semaphores and Monitors</a:t>
            </a:r>
            <a:endParaRPr/>
          </a:p>
          <a:p>
            <a:pPr indent="0" lvl="0" marL="0" rtl="0" algn="l">
              <a:spcBef>
                <a:spcPts val="0"/>
              </a:spcBef>
              <a:spcAft>
                <a:spcPts val="0"/>
              </a:spcAft>
              <a:buNone/>
            </a:pPr>
            <a:r>
              <a:rPr lang="en-US"/>
              <a:t>Used to control </a:t>
            </a:r>
            <a:r>
              <a:rPr b="1" lang="en-US"/>
              <a:t>synchronized access</a:t>
            </a:r>
            <a:r>
              <a:rPr lang="en-US"/>
              <a:t> to shared resources.</a:t>
            </a:r>
            <a:endParaRPr/>
          </a:p>
          <a:p>
            <a:pPr indent="0" lvl="0" marL="0" rtl="0" algn="l">
              <a:spcBef>
                <a:spcPts val="0"/>
              </a:spcBef>
              <a:spcAft>
                <a:spcPts val="0"/>
              </a:spcAft>
              <a:buNone/>
            </a:pPr>
            <a:r>
              <a:rPr lang="en-US"/>
              <a:t>OS enforces locking and mutual exclusion to prevent inconsistent states.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5. Example Scenario</a:t>
            </a:r>
            <a:endParaRPr/>
          </a:p>
          <a:p>
            <a:pPr indent="0" lvl="0" marL="0" rtl="0" algn="l">
              <a:spcBef>
                <a:spcPts val="0"/>
              </a:spcBef>
              <a:spcAft>
                <a:spcPts val="0"/>
              </a:spcAft>
              <a:buNone/>
            </a:pPr>
            <a:r>
              <a:rPr lang="en-US"/>
              <a:t>Suppose you open two programs:</a:t>
            </a:r>
            <a:endParaRPr/>
          </a:p>
          <a:p>
            <a:pPr indent="0" lvl="0" marL="0" rtl="0" algn="l">
              <a:spcBef>
                <a:spcPts val="0"/>
              </a:spcBef>
              <a:spcAft>
                <a:spcPts val="0"/>
              </a:spcAft>
              <a:buNone/>
            </a:pPr>
            <a:r>
              <a:rPr b="1" lang="en-US"/>
              <a:t>MS Word</a:t>
            </a:r>
            <a:r>
              <a:rPr lang="en-US"/>
              <a:t> and </a:t>
            </a:r>
            <a:r>
              <a:rPr b="1" lang="en-US"/>
              <a:t>Calculator</a:t>
            </a:r>
            <a:br>
              <a:rPr lang="en-US"/>
            </a:br>
            <a:r>
              <a:rPr lang="en-US"/>
              <a:t>Both are separate processes with isolated address spaces.</a:t>
            </a:r>
            <a:endParaRPr/>
          </a:p>
          <a:p>
            <a:pPr indent="0" lvl="0" marL="0" rtl="0" algn="l">
              <a:spcBef>
                <a:spcPts val="0"/>
              </a:spcBef>
              <a:spcAft>
                <a:spcPts val="0"/>
              </a:spcAft>
              <a:buNone/>
            </a:pPr>
            <a:r>
              <a:rPr lang="en-US"/>
              <a:t>Word crash will </a:t>
            </a:r>
            <a:r>
              <a:rPr b="1" lang="en-US"/>
              <a:t>not</a:t>
            </a:r>
            <a:r>
              <a:rPr lang="en-US"/>
              <a:t> corrupt Calculator’s memory.</a:t>
            </a:r>
            <a:endParaRPr/>
          </a:p>
          <a:p>
            <a:pPr indent="0" lvl="0" marL="0" rtl="0" algn="l">
              <a:spcBef>
                <a:spcPts val="0"/>
              </a:spcBef>
              <a:spcAft>
                <a:spcPts val="0"/>
              </a:spcAft>
              <a:buNone/>
            </a:pPr>
            <a:r>
              <a:rPr lang="en-US"/>
              <a:t>If they need to communicate (e.g., via clipboard), it’s done through </a:t>
            </a:r>
            <a:r>
              <a:rPr b="1" lang="en-US"/>
              <a:t>controlled OS services</a:t>
            </a:r>
            <a:r>
              <a:rPr lang="en-US"/>
              <a:t> (Windows Clipboard Manager), not direct memory access.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6. Summary</a:t>
            </a:r>
            <a:endParaRPr/>
          </a:p>
          <a:p>
            <a:pPr indent="0" lvl="0" marL="0" rtl="0" algn="l">
              <a:spcBef>
                <a:spcPts val="0"/>
              </a:spcBef>
              <a:spcAft>
                <a:spcPts val="0"/>
              </a:spcAft>
              <a:buNone/>
            </a:pPr>
            <a:r>
              <a:rPr b="1" lang="en-US"/>
              <a:t>ConceptExplanationIsolation</a:t>
            </a:r>
            <a:r>
              <a:rPr lang="en-US"/>
              <a:t>Each process runs independently, with its own memory and resources.</a:t>
            </a:r>
            <a:r>
              <a:rPr b="1" lang="en-US"/>
              <a:t>Enforcement</a:t>
            </a:r>
            <a:r>
              <a:rPr lang="en-US"/>
              <a:t>Achieved via virtual memory, privilege modes, and OS-managed PCBs.</a:t>
            </a:r>
            <a:r>
              <a:rPr b="1" lang="en-US"/>
              <a:t>Controlled Communication</a:t>
            </a:r>
            <a:r>
              <a:rPr lang="en-US"/>
              <a:t>IPC mechanisms (pipes, queues, shared memory, sockets) enable safe data exchange.</a:t>
            </a:r>
            <a:r>
              <a:rPr b="1" lang="en-US"/>
              <a:t>Goal</a:t>
            </a:r>
            <a:r>
              <a:rPr lang="en-US"/>
              <a:t>Protection, stability, and secure multitasking.</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Analogy</a:t>
            </a:r>
            <a:endParaRPr/>
          </a:p>
          <a:p>
            <a:pPr indent="0" lvl="0" marL="0" rtl="0" algn="l">
              <a:spcBef>
                <a:spcPts val="0"/>
              </a:spcBef>
              <a:spcAft>
                <a:spcPts val="0"/>
              </a:spcAft>
              <a:buNone/>
            </a:pPr>
            <a:r>
              <a:rPr lang="en-US"/>
              <a:t>Think of your computer as an apartment building:</a:t>
            </a:r>
            <a:endParaRPr/>
          </a:p>
          <a:p>
            <a:pPr indent="0" lvl="0" marL="0" rtl="0" algn="l">
              <a:spcBef>
                <a:spcPts val="0"/>
              </a:spcBef>
              <a:spcAft>
                <a:spcPts val="0"/>
              </a:spcAft>
              <a:buNone/>
            </a:pPr>
            <a:r>
              <a:rPr lang="en-US"/>
              <a:t>Each </a:t>
            </a:r>
            <a:r>
              <a:rPr b="1" lang="en-US"/>
              <a:t>process</a:t>
            </a:r>
            <a:r>
              <a:rPr lang="en-US"/>
              <a:t> is a tenant with its </a:t>
            </a:r>
            <a:r>
              <a:rPr b="1" lang="en-US"/>
              <a:t>own apartment (memory space)</a:t>
            </a:r>
            <a:r>
              <a:rPr lang="en-US"/>
              <a:t>.</a:t>
            </a:r>
            <a:endParaRPr/>
          </a:p>
          <a:p>
            <a:pPr indent="0" lvl="0" marL="0" rtl="0" algn="l">
              <a:spcBef>
                <a:spcPts val="0"/>
              </a:spcBef>
              <a:spcAft>
                <a:spcPts val="0"/>
              </a:spcAft>
              <a:buNone/>
            </a:pPr>
            <a:r>
              <a:rPr lang="en-US"/>
              <a:t>Tenants can’t enter each other’s apartments (isolation).</a:t>
            </a:r>
            <a:endParaRPr/>
          </a:p>
          <a:p>
            <a:pPr indent="0" lvl="0" marL="0" rtl="0" algn="l">
              <a:spcBef>
                <a:spcPts val="0"/>
              </a:spcBef>
              <a:spcAft>
                <a:spcPts val="0"/>
              </a:spcAft>
              <a:buNone/>
            </a:pPr>
            <a:r>
              <a:rPr lang="en-US"/>
              <a:t>They can </a:t>
            </a:r>
            <a:r>
              <a:rPr b="1" lang="en-US"/>
              <a:t>talk through intercoms (IPC)</a:t>
            </a:r>
            <a:r>
              <a:rPr lang="en-US"/>
              <a:t> under building management’s (OS’s) supervision.</a:t>
            </a:r>
            <a:endParaRPr/>
          </a:p>
          <a:p>
            <a:pPr indent="0" lvl="0" marL="0" rtl="0" algn="l">
              <a:spcBef>
                <a:spcPts val="0"/>
              </a:spcBef>
              <a:spcAft>
                <a:spcPts val="0"/>
              </a:spcAft>
              <a:buNone/>
            </a:pPr>
            <a:r>
              <a:t/>
            </a:r>
            <a:endParaRPr/>
          </a:p>
        </p:txBody>
      </p:sp>
      <p:sp>
        <p:nvSpPr>
          <p:cNvPr id="227" name="Google Shape;22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Concurrency implications (when multiple processes run same program)</a:t>
            </a:r>
            <a:endParaRPr/>
          </a:p>
          <a:p>
            <a:pPr indent="0" lvl="0" marL="0" rtl="0" algn="l">
              <a:spcBef>
                <a:spcPts val="0"/>
              </a:spcBef>
              <a:spcAft>
                <a:spcPts val="0"/>
              </a:spcAft>
              <a:buNone/>
            </a:pPr>
            <a:r>
              <a:rPr lang="en-US"/>
              <a:t>Because each process has separate memory, </a:t>
            </a:r>
            <a:r>
              <a:rPr b="1" lang="en-US"/>
              <a:t>data races</a:t>
            </a:r>
            <a:r>
              <a:rPr lang="en-US"/>
              <a:t> only happen if processes explicitly share memory or synchronize via IPC. But </a:t>
            </a:r>
            <a:r>
              <a:rPr b="1" lang="en-US"/>
              <a:t>shared resources</a:t>
            </a:r>
            <a:r>
              <a:rPr lang="en-US"/>
              <a:t> (files, devices) can still cause contention.</a:t>
            </a:r>
            <a:endParaRPr/>
          </a:p>
          <a:p>
            <a:pPr indent="0" lvl="0" marL="0" rtl="0" algn="l">
              <a:spcBef>
                <a:spcPts val="0"/>
              </a:spcBef>
              <a:spcAft>
                <a:spcPts val="0"/>
              </a:spcAft>
              <a:buNone/>
            </a:pPr>
            <a:r>
              <a:rPr b="1" lang="en-US"/>
              <a:t>Inter-Process Communication (IPC)</a:t>
            </a:r>
            <a:r>
              <a:rPr lang="en-US"/>
              <a:t> mechanisms:</a:t>
            </a:r>
            <a:endParaRPr/>
          </a:p>
          <a:p>
            <a:pPr indent="0" lvl="1" marL="457200" rtl="0" algn="l">
              <a:spcBef>
                <a:spcPts val="0"/>
              </a:spcBef>
              <a:spcAft>
                <a:spcPts val="0"/>
              </a:spcAft>
              <a:buNone/>
            </a:pPr>
            <a:r>
              <a:rPr lang="en-US"/>
              <a:t>Pipes, FIFOs, sockets, message queues, shared memory, signals, semaphores.</a:t>
            </a:r>
            <a:endParaRPr/>
          </a:p>
          <a:p>
            <a:pPr indent="0" lvl="1" marL="457200" rtl="0" algn="l">
              <a:spcBef>
                <a:spcPts val="0"/>
              </a:spcBef>
              <a:spcAft>
                <a:spcPts val="0"/>
              </a:spcAft>
              <a:buNone/>
            </a:pPr>
            <a:r>
              <a:rPr lang="en-US"/>
              <a:t>Shared memory offers best performance but requires synchronization (mutexes, semaphores).</a:t>
            </a:r>
            <a:endParaRPr/>
          </a:p>
          <a:p>
            <a:pPr indent="0" lvl="0" marL="0" rtl="0" algn="l">
              <a:spcBef>
                <a:spcPts val="0"/>
              </a:spcBef>
              <a:spcAft>
                <a:spcPts val="0"/>
              </a:spcAft>
              <a:buNone/>
            </a:pPr>
            <a:r>
              <a:rPr b="1" lang="en-US"/>
              <a:t>Problems &amp; considerations:</a:t>
            </a:r>
            <a:endParaRPr/>
          </a:p>
          <a:p>
            <a:pPr indent="0" lvl="1" marL="457200" rtl="0" algn="l">
              <a:spcBef>
                <a:spcPts val="0"/>
              </a:spcBef>
              <a:spcAft>
                <a:spcPts val="0"/>
              </a:spcAft>
              <a:buNone/>
            </a:pPr>
            <a:r>
              <a:rPr i="1" lang="en-US"/>
              <a:t>Race conditions</a:t>
            </a:r>
            <a:r>
              <a:rPr lang="en-US"/>
              <a:t>: two processes update shared state without synchronization → incorrect results.</a:t>
            </a:r>
            <a:endParaRPr/>
          </a:p>
          <a:p>
            <a:pPr indent="0" lvl="1" marL="457200" rtl="0" algn="l">
              <a:spcBef>
                <a:spcPts val="0"/>
              </a:spcBef>
              <a:spcAft>
                <a:spcPts val="0"/>
              </a:spcAft>
              <a:buNone/>
            </a:pPr>
            <a:r>
              <a:rPr i="1" lang="en-US"/>
              <a:t>Deadlocks</a:t>
            </a:r>
            <a:r>
              <a:rPr lang="en-US"/>
              <a:t>: multiple processes wait on resources held by each other.</a:t>
            </a:r>
            <a:endParaRPr/>
          </a:p>
          <a:p>
            <a:pPr indent="0" lvl="1" marL="457200" rtl="0" algn="l">
              <a:spcBef>
                <a:spcPts val="0"/>
              </a:spcBef>
              <a:spcAft>
                <a:spcPts val="0"/>
              </a:spcAft>
              <a:buNone/>
            </a:pPr>
            <a:r>
              <a:rPr i="1" lang="en-US"/>
              <a:t>Starvation</a:t>
            </a:r>
            <a:r>
              <a:rPr lang="en-US"/>
              <a:t>: scheduling policies might starve a process.</a:t>
            </a:r>
            <a:endParaRPr/>
          </a:p>
          <a:p>
            <a:pPr indent="0" lvl="1" marL="457200" rtl="0" algn="l">
              <a:spcBef>
                <a:spcPts val="0"/>
              </a:spcBef>
              <a:spcAft>
                <a:spcPts val="0"/>
              </a:spcAft>
              <a:buNone/>
            </a:pPr>
            <a:r>
              <a:rPr i="1" lang="en-US"/>
              <a:t>Security</a:t>
            </a:r>
            <a:r>
              <a:rPr lang="en-US"/>
              <a:t>: ensure processes don’t expose sensitive memory via shared pages or misused IPC.</a:t>
            </a:r>
            <a:endParaRPr/>
          </a:p>
          <a:p>
            <a:pPr indent="0" lvl="0" marL="0" rtl="0" algn="l">
              <a:spcBef>
                <a:spcPts val="0"/>
              </a:spcBef>
              <a:spcAft>
                <a:spcPts val="0"/>
              </a:spcAft>
              <a:buNone/>
            </a:pPr>
            <a:r>
              <a:t/>
            </a:r>
            <a:endParaRPr/>
          </a:p>
        </p:txBody>
      </p:sp>
      <p:sp>
        <p:nvSpPr>
          <p:cNvPr id="237" name="Google Shape;23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There are four major categories of benefits to multi-threading:</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Responsiveness - One thread may provide rapid response while other threads are blocked or slowed down doing intensive calculations.</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Resource sharing - By default threads share common code, data, and other resources, which allows multiple tasks to be performed simultaneously in a single address space.</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Economy - Creating and managing threads ( and context switches between them ) is much faster than performing the same tasks for processes.</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Scalability, i.e. Utilization of multiprocessor architectures - A single threaded process can only run on one CPU, no matter how many may be available, whereas the execution of a multi-threaded application may be split amongst available processors. ( Note that single threaded processes can still benefit from multi-processor architectures when there are multiple processes contending for the CPU, i.e. when the load average is above some certain threshold. )</a:t>
            </a:r>
            <a:endParaRPr/>
          </a:p>
          <a:p>
            <a:pPr indent="0" lvl="0" marL="0" rtl="0" algn="l">
              <a:spcBef>
                <a:spcPts val="0"/>
              </a:spcBef>
              <a:spcAft>
                <a:spcPts val="0"/>
              </a:spcAft>
              <a:buNone/>
            </a:pPr>
            <a:r>
              <a:t/>
            </a:r>
            <a:endParaRPr/>
          </a:p>
        </p:txBody>
      </p:sp>
      <p:sp>
        <p:nvSpPr>
          <p:cNvPr id="252" name="Google Shape;25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Explain how multithreading enhances user experience and performance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Multithreading enhances user experience and performance by allowing a program to execute multiple parts or </a:t>
            </a:r>
            <a:r>
              <a:rPr b="0" i="1" lang="en-US" sz="1200">
                <a:solidFill>
                  <a:schemeClr val="dk1"/>
                </a:solidFill>
                <a:latin typeface="Calibri"/>
                <a:ea typeface="Calibri"/>
                <a:cs typeface="Calibri"/>
                <a:sym typeface="Calibri"/>
              </a:rPr>
              <a:t>threads</a:t>
            </a:r>
            <a:r>
              <a:rPr b="0" i="0" lang="en-US" sz="1200">
                <a:solidFill>
                  <a:schemeClr val="dk1"/>
                </a:solidFill>
                <a:latin typeface="Calibri"/>
                <a:ea typeface="Calibri"/>
                <a:cs typeface="Calibri"/>
                <a:sym typeface="Calibri"/>
              </a:rPr>
              <a:t> concurrently. This concurrency provides a range of benefits in modern computing environments.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Enhanced User Experience (UX)</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Multithreading improves the user experience primarily by maintaining application responsiveness and preventing the user interface (UI) from freezing.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Responsive User Interface:</a:t>
            </a:r>
            <a:r>
              <a:rPr b="0" i="0" lang="en-US" sz="1200">
                <a:solidFill>
                  <a:schemeClr val="dk1"/>
                </a:solidFill>
                <a:latin typeface="Calibri"/>
                <a:ea typeface="Calibri"/>
                <a:cs typeface="Calibri"/>
                <a:sym typeface="Calibri"/>
              </a:rPr>
              <a:t> A key benefit is that long-running operations (like saving a large file, complex calculations, or fetching data from a network) can be moved to a separate "background" thread. The "main" UI thread remains free to handle user inputs like button clicks, scrolling, and keyboard entry, ensuring the application feels smooth and snappy</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Faster Loading Times:</a:t>
            </a:r>
            <a:r>
              <a:rPr b="0" i="0" lang="en-US" sz="1200">
                <a:solidFill>
                  <a:schemeClr val="dk1"/>
                </a:solidFill>
                <a:latin typeface="Calibri"/>
                <a:ea typeface="Calibri"/>
                <a:cs typeface="Calibri"/>
                <a:sym typeface="Calibri"/>
              </a:rPr>
              <a:t> Applications can use multiple threads to load different assets simultaneously. For example, a web browser might use one thread to download HTML, another to download images, and another for scripts, leading to faster webpage display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Seamless Multimedia:</a:t>
            </a:r>
            <a:r>
              <a:rPr b="0" i="0" lang="en-US" sz="1200">
                <a:solidFill>
                  <a:schemeClr val="dk1"/>
                </a:solidFill>
                <a:latin typeface="Calibri"/>
                <a:ea typeface="Calibri"/>
                <a:cs typeface="Calibri"/>
                <a:sym typeface="Calibri"/>
              </a:rPr>
              <a:t> In media players or video games, one thread can handle decoding audio, another can handle video rendering, and another might manage user controls. This separation prevents a momentary lag in one task from interrupting the smooth playback of others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Perceived Performance:</a:t>
            </a:r>
            <a:r>
              <a:rPr b="0" i="0" lang="en-US" sz="1200">
                <a:solidFill>
                  <a:schemeClr val="dk1"/>
                </a:solidFill>
                <a:latin typeface="Calibri"/>
                <a:ea typeface="Calibri"/>
                <a:cs typeface="Calibri"/>
                <a:sym typeface="Calibri"/>
              </a:rPr>
              <a:t> Even if the overall task completion time is similar, the ability to interact with the application while work is being done in the background makes the program </a:t>
            </a:r>
            <a:r>
              <a:rPr b="0" i="1" lang="en-US" sz="1200">
                <a:solidFill>
                  <a:schemeClr val="dk1"/>
                </a:solidFill>
                <a:latin typeface="Calibri"/>
                <a:ea typeface="Calibri"/>
                <a:cs typeface="Calibri"/>
                <a:sym typeface="Calibri"/>
              </a:rPr>
              <a:t>feel</a:t>
            </a:r>
            <a:r>
              <a:rPr b="0" i="0" lang="en-US" sz="1200">
                <a:solidFill>
                  <a:schemeClr val="dk1"/>
                </a:solidFill>
                <a:latin typeface="Calibri"/>
                <a:ea typeface="Calibri"/>
                <a:cs typeface="Calibri"/>
                <a:sym typeface="Calibri"/>
              </a:rPr>
              <a:t> faster and more efficient to the user .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Enhanced Performance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Multithreading leverages modern hardware to achieve genuine performance improvements, particularly on systems with multiple CPU cores.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Parallel Execution:</a:t>
            </a:r>
            <a:r>
              <a:rPr b="0" i="0" lang="en-US" sz="1200">
                <a:solidFill>
                  <a:schemeClr val="dk1"/>
                </a:solidFill>
                <a:latin typeface="Calibri"/>
                <a:ea typeface="Calibri"/>
                <a:cs typeface="Calibri"/>
                <a:sym typeface="Calibri"/>
              </a:rPr>
              <a:t> With multi-core processors, the operating system can run different threads on different CPU cores simultaneously. This true parallelism speeds up tasks that can be broken into independent parts, such as complex mathematical calculations, data processing, or rendering high-resolution graphics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Improved Resource Utilization:</a:t>
            </a:r>
            <a:r>
              <a:rPr b="0" i="0" lang="en-US" sz="1200">
                <a:solidFill>
                  <a:schemeClr val="dk1"/>
                </a:solidFill>
                <a:latin typeface="Calibri"/>
                <a:ea typeface="Calibri"/>
                <a:cs typeface="Calibri"/>
                <a:sym typeface="Calibri"/>
              </a:rPr>
              <a:t> Instead of one CPU core sitting idle while waiting for data from memory or a network, other cores can be actively executing different threads, making better use of the available hardware resources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Reduced Latency:</a:t>
            </a:r>
            <a:r>
              <a:rPr b="0" i="0" lang="en-US" sz="1200">
                <a:solidFill>
                  <a:schemeClr val="dk1"/>
                </a:solidFill>
                <a:latin typeface="Calibri"/>
                <a:ea typeface="Calibri"/>
                <a:cs typeface="Calibri"/>
                <a:sym typeface="Calibri"/>
              </a:rPr>
              <a:t> By allowing critical tasks to run in parallel with less important ones, multithreading helps in reducing the time a user has to wait for a specific action to complete .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summary, multithreading is a foundational technique that makes software more efficient, faster, and more enjoyable to use by enabling concurrent operations and effective utilization of modern hardware.</a:t>
            </a:r>
            <a:endParaRPr/>
          </a:p>
          <a:p>
            <a:pPr indent="0" lvl="0" marL="0" rtl="0" algn="l">
              <a:spcBef>
                <a:spcPts val="0"/>
              </a:spcBef>
              <a:spcAft>
                <a:spcPts val="0"/>
              </a:spcAft>
              <a:buNone/>
            </a:pPr>
            <a:r>
              <a:t/>
            </a:r>
            <a:endParaRPr/>
          </a:p>
        </p:txBody>
      </p:sp>
      <p:sp>
        <p:nvSpPr>
          <p:cNvPr id="266" name="Google Shape;26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Improved Responsiveness</a:t>
            </a:r>
            <a:endParaRPr/>
          </a:p>
          <a:p>
            <a:pPr indent="0" lvl="0" marL="0" rtl="0" algn="l">
              <a:spcBef>
                <a:spcPts val="0"/>
              </a:spcBef>
              <a:spcAft>
                <a:spcPts val="0"/>
              </a:spcAft>
              <a:buNone/>
            </a:pPr>
            <a:r>
              <a:rPr lang="en-US"/>
              <a:t>In a multithreaded application, if one thread is blocked (e.g., waiting for I/O), other threads can continue executing.</a:t>
            </a:r>
            <a:endParaRPr/>
          </a:p>
          <a:p>
            <a:pPr indent="0" lvl="0" marL="0" rtl="0" algn="l">
              <a:spcBef>
                <a:spcPts val="0"/>
              </a:spcBef>
              <a:spcAft>
                <a:spcPts val="0"/>
              </a:spcAft>
              <a:buNone/>
            </a:pPr>
            <a:r>
              <a:rPr lang="en-US"/>
              <a:t>This makes applications more responsive to users.</a:t>
            </a:r>
            <a:br>
              <a:rPr lang="en-US"/>
            </a:br>
            <a:r>
              <a:rPr lang="en-US"/>
              <a:t>Example: In a web browser, one thread loads a page while another thread handles user clicks.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Resource Sharing</a:t>
            </a:r>
            <a:endParaRPr/>
          </a:p>
          <a:p>
            <a:pPr indent="0" lvl="0" marL="0" rtl="0" algn="l">
              <a:spcBef>
                <a:spcPts val="0"/>
              </a:spcBef>
              <a:spcAft>
                <a:spcPts val="0"/>
              </a:spcAft>
              <a:buNone/>
            </a:pPr>
            <a:r>
              <a:rPr lang="en-US"/>
              <a:t>Threads of the same process </a:t>
            </a:r>
            <a:r>
              <a:rPr b="1" lang="en-US"/>
              <a:t>share memory, code, data, and files</a:t>
            </a:r>
            <a:r>
              <a:rPr lang="en-US"/>
              <a:t>, reducing the need for duplication.</a:t>
            </a:r>
            <a:endParaRPr/>
          </a:p>
          <a:p>
            <a:pPr indent="0" lvl="0" marL="0" rtl="0" algn="l">
              <a:spcBef>
                <a:spcPts val="0"/>
              </a:spcBef>
              <a:spcAft>
                <a:spcPts val="0"/>
              </a:spcAft>
              <a:buNone/>
            </a:pPr>
            <a:r>
              <a:rPr lang="en-US"/>
              <a:t>This makes communication between threads </a:t>
            </a:r>
            <a:r>
              <a:rPr b="1" lang="en-US"/>
              <a:t>fast and efficient</a:t>
            </a:r>
            <a:r>
              <a:rPr lang="en-US"/>
              <a:t> compared to communication between processes.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Faster Execution / Increased Throughput</a:t>
            </a:r>
            <a:endParaRPr/>
          </a:p>
          <a:p>
            <a:pPr indent="0" lvl="0" marL="0" rtl="0" algn="l">
              <a:spcBef>
                <a:spcPts val="0"/>
              </a:spcBef>
              <a:spcAft>
                <a:spcPts val="0"/>
              </a:spcAft>
              <a:buNone/>
            </a:pPr>
            <a:r>
              <a:rPr lang="en-US"/>
              <a:t>Multiple threads running in parallel lead to better CPU utilization.</a:t>
            </a:r>
            <a:endParaRPr/>
          </a:p>
          <a:p>
            <a:pPr indent="0" lvl="0" marL="0" rtl="0" algn="l">
              <a:spcBef>
                <a:spcPts val="0"/>
              </a:spcBef>
              <a:spcAft>
                <a:spcPts val="0"/>
              </a:spcAft>
              <a:buNone/>
            </a:pPr>
            <a:r>
              <a:rPr lang="en-US"/>
              <a:t>More tasks are completed in a given time.</a:t>
            </a:r>
            <a:br>
              <a:rPr lang="en-US"/>
            </a:br>
            <a:r>
              <a:rPr lang="en-US"/>
              <a:t>Example: A web server serving 1000 clients using 1000 threads is faster than using 1000 separate processes.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4. Lower Overhead Compared to Processes</a:t>
            </a:r>
            <a:endParaRPr/>
          </a:p>
          <a:p>
            <a:pPr indent="0" lvl="0" marL="0" rtl="0" algn="l">
              <a:spcBef>
                <a:spcPts val="0"/>
              </a:spcBef>
              <a:spcAft>
                <a:spcPts val="0"/>
              </a:spcAft>
              <a:buNone/>
            </a:pPr>
            <a:r>
              <a:rPr lang="en-US"/>
              <a:t>Creating a thread requires fewer resources than creating a full process.</a:t>
            </a:r>
            <a:endParaRPr/>
          </a:p>
          <a:p>
            <a:pPr indent="0" lvl="0" marL="0" rtl="0" algn="l">
              <a:spcBef>
                <a:spcPts val="0"/>
              </a:spcBef>
              <a:spcAft>
                <a:spcPts val="0"/>
              </a:spcAft>
              <a:buNone/>
            </a:pPr>
            <a:r>
              <a:rPr lang="en-US"/>
              <a:t>Context switching between threads is </a:t>
            </a:r>
            <a:r>
              <a:rPr b="1" lang="en-US"/>
              <a:t>faster</a:t>
            </a:r>
            <a:r>
              <a:rPr lang="en-US"/>
              <a:t> than between processes because:</a:t>
            </a:r>
            <a:endParaRPr/>
          </a:p>
          <a:p>
            <a:pPr indent="0" lvl="1" marL="457200" rtl="0" algn="l">
              <a:spcBef>
                <a:spcPts val="0"/>
              </a:spcBef>
              <a:spcAft>
                <a:spcPts val="0"/>
              </a:spcAft>
              <a:buNone/>
            </a:pPr>
            <a:r>
              <a:rPr lang="en-US"/>
              <a:t>Threads share memory</a:t>
            </a:r>
            <a:endParaRPr/>
          </a:p>
          <a:p>
            <a:pPr indent="0" lvl="1" marL="457200" rtl="0" algn="l">
              <a:spcBef>
                <a:spcPts val="0"/>
              </a:spcBef>
              <a:spcAft>
                <a:spcPts val="0"/>
              </a:spcAft>
              <a:buNone/>
            </a:pPr>
            <a:r>
              <a:rPr lang="en-US"/>
              <a:t>No need to switch address space completely</a:t>
            </a:r>
            <a:br>
              <a:rPr lang="en-US"/>
            </a:br>
            <a:r>
              <a:rPr lang="en-US"/>
              <a:t>Result → Lower overhead and higher performance.</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5. Parallelism on Multi-core Systems</a:t>
            </a:r>
            <a:endParaRPr/>
          </a:p>
          <a:p>
            <a:pPr indent="0" lvl="0" marL="0" rtl="0" algn="l">
              <a:spcBef>
                <a:spcPts val="0"/>
              </a:spcBef>
              <a:spcAft>
                <a:spcPts val="0"/>
              </a:spcAft>
              <a:buNone/>
            </a:pPr>
            <a:r>
              <a:rPr lang="en-US"/>
              <a:t>Multithreading allows programs to run multiple threads </a:t>
            </a:r>
            <a:r>
              <a:rPr b="1" lang="en-US"/>
              <a:t>simultaneously</a:t>
            </a:r>
            <a:r>
              <a:rPr lang="en-US"/>
              <a:t> on different CPU cores.</a:t>
            </a:r>
            <a:endParaRPr/>
          </a:p>
          <a:p>
            <a:pPr indent="0" lvl="0" marL="0" rtl="0" algn="l">
              <a:spcBef>
                <a:spcPts val="0"/>
              </a:spcBef>
              <a:spcAft>
                <a:spcPts val="0"/>
              </a:spcAft>
              <a:buNone/>
            </a:pPr>
            <a:r>
              <a:rPr lang="en-US"/>
              <a:t>This leads to true parallel execution.</a:t>
            </a:r>
            <a:br>
              <a:rPr lang="en-US"/>
            </a:br>
            <a:r>
              <a:rPr lang="en-US"/>
              <a:t>Example: Video editing software uses multiple threads to encode videos faster.</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6. Better Utilization of CPU (Concurrency)</a:t>
            </a:r>
            <a:endParaRPr/>
          </a:p>
          <a:p>
            <a:pPr indent="0" lvl="0" marL="0" rtl="0" algn="l">
              <a:spcBef>
                <a:spcPts val="0"/>
              </a:spcBef>
              <a:spcAft>
                <a:spcPts val="0"/>
              </a:spcAft>
              <a:buNone/>
            </a:pPr>
            <a:r>
              <a:rPr lang="en-US"/>
              <a:t>Even on single-core systems, threads provide concurrency by switching between tasks quickly.</a:t>
            </a:r>
            <a:endParaRPr/>
          </a:p>
          <a:p>
            <a:pPr indent="0" lvl="0" marL="0" rtl="0" algn="l">
              <a:spcBef>
                <a:spcPts val="0"/>
              </a:spcBef>
              <a:spcAft>
                <a:spcPts val="0"/>
              </a:spcAft>
              <a:buNone/>
            </a:pPr>
            <a:r>
              <a:rPr lang="en-US"/>
              <a:t>CPU never stays idle if another thread is ready to run.</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7. Simplifies Structure of Complex Applications</a:t>
            </a:r>
            <a:endParaRPr/>
          </a:p>
          <a:p>
            <a:pPr indent="0" lvl="0" marL="0" rtl="0" algn="l">
              <a:spcBef>
                <a:spcPts val="0"/>
              </a:spcBef>
              <a:spcAft>
                <a:spcPts val="0"/>
              </a:spcAft>
              <a:buNone/>
            </a:pPr>
            <a:r>
              <a:rPr lang="en-US"/>
              <a:t>Tasks like:</a:t>
            </a:r>
            <a:endParaRPr/>
          </a:p>
          <a:p>
            <a:pPr indent="0" lvl="1" marL="457200" rtl="0" algn="l">
              <a:spcBef>
                <a:spcPts val="0"/>
              </a:spcBef>
              <a:spcAft>
                <a:spcPts val="0"/>
              </a:spcAft>
              <a:buNone/>
            </a:pPr>
            <a:r>
              <a:rPr lang="en-US"/>
              <a:t>Listening to incoming requests</a:t>
            </a:r>
            <a:endParaRPr/>
          </a:p>
          <a:p>
            <a:pPr indent="0" lvl="1" marL="457200" rtl="0" algn="l">
              <a:spcBef>
                <a:spcPts val="0"/>
              </a:spcBef>
              <a:spcAft>
                <a:spcPts val="0"/>
              </a:spcAft>
              <a:buNone/>
            </a:pPr>
            <a:r>
              <a:rPr lang="en-US"/>
              <a:t>Processing data</a:t>
            </a:r>
            <a:endParaRPr/>
          </a:p>
          <a:p>
            <a:pPr indent="0" lvl="1" marL="457200" rtl="0" algn="l">
              <a:spcBef>
                <a:spcPts val="0"/>
              </a:spcBef>
              <a:spcAft>
                <a:spcPts val="0"/>
              </a:spcAft>
              <a:buNone/>
            </a:pPr>
            <a:r>
              <a:rPr lang="en-US"/>
              <a:t>Updating UI</a:t>
            </a:r>
            <a:endParaRPr/>
          </a:p>
          <a:p>
            <a:pPr indent="0" lvl="1" marL="457200" rtl="0" algn="l">
              <a:spcBef>
                <a:spcPts val="0"/>
              </a:spcBef>
              <a:spcAft>
                <a:spcPts val="0"/>
              </a:spcAft>
              <a:buNone/>
            </a:pPr>
            <a:r>
              <a:rPr lang="en-US"/>
              <a:t>Handling background tasks</a:t>
            </a:r>
            <a:br>
              <a:rPr lang="en-US"/>
            </a:br>
            <a:r>
              <a:rPr lang="en-US"/>
              <a:t>can all be done by separate threads.</a:t>
            </a:r>
            <a:endParaRPr/>
          </a:p>
          <a:p>
            <a:pPr indent="0" lvl="0" marL="0" rtl="0" algn="l">
              <a:spcBef>
                <a:spcPts val="0"/>
              </a:spcBef>
              <a:spcAft>
                <a:spcPts val="0"/>
              </a:spcAft>
              <a:buNone/>
            </a:pPr>
            <a:r>
              <a:rPr lang="en-US"/>
              <a:t>This makes the program </a:t>
            </a:r>
            <a:r>
              <a:rPr b="1" lang="en-US"/>
              <a:t>easier to design, debug, and manage</a:t>
            </a:r>
            <a:r>
              <a:rPr lang="en-US"/>
              <a: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8. Enhanced Performance in I/O-bound Programs</a:t>
            </a:r>
            <a:endParaRPr/>
          </a:p>
          <a:p>
            <a:pPr indent="0" lvl="0" marL="0" rtl="0" algn="l">
              <a:spcBef>
                <a:spcPts val="0"/>
              </a:spcBef>
              <a:spcAft>
                <a:spcPts val="0"/>
              </a:spcAft>
              <a:buNone/>
            </a:pPr>
            <a:r>
              <a:rPr lang="en-US"/>
              <a:t>When one thread waits for disk, network, or user input, other threads can run.</a:t>
            </a:r>
            <a:endParaRPr/>
          </a:p>
          <a:p>
            <a:pPr indent="0" lvl="0" marL="0" rtl="0" algn="l">
              <a:spcBef>
                <a:spcPts val="0"/>
              </a:spcBef>
              <a:spcAft>
                <a:spcPts val="0"/>
              </a:spcAft>
              <a:buNone/>
            </a:pPr>
            <a:r>
              <a:rPr lang="en-US"/>
              <a:t>Reduces idle time and improves overall efficiency.</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9. Scalability</a:t>
            </a:r>
            <a:endParaRPr/>
          </a:p>
          <a:p>
            <a:pPr indent="0" lvl="0" marL="0" rtl="0" algn="l">
              <a:spcBef>
                <a:spcPts val="0"/>
              </a:spcBef>
              <a:spcAft>
                <a:spcPts val="0"/>
              </a:spcAft>
              <a:buNone/>
            </a:pPr>
            <a:r>
              <a:rPr lang="en-US"/>
              <a:t>Multithreaded programs can scale better with increasing workload.</a:t>
            </a:r>
            <a:endParaRPr/>
          </a:p>
          <a:p>
            <a:pPr indent="0" lvl="0" marL="0" rtl="0" algn="l">
              <a:spcBef>
                <a:spcPts val="0"/>
              </a:spcBef>
              <a:spcAft>
                <a:spcPts val="0"/>
              </a:spcAft>
              <a:buNone/>
            </a:pPr>
            <a:r>
              <a:rPr lang="en-US"/>
              <a:t>More threads can be added as hardware improves (more cores), without rewriting the entire program.</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10. Cost-Effective</a:t>
            </a:r>
            <a:endParaRPr/>
          </a:p>
          <a:p>
            <a:pPr indent="0" lvl="0" marL="0" rtl="0" algn="l">
              <a:spcBef>
                <a:spcPts val="0"/>
              </a:spcBef>
              <a:spcAft>
                <a:spcPts val="0"/>
              </a:spcAft>
              <a:buNone/>
            </a:pPr>
            <a:r>
              <a:rPr lang="en-US"/>
              <a:t>Since threads share most of their resources, the operating system:</a:t>
            </a:r>
            <a:endParaRPr/>
          </a:p>
          <a:p>
            <a:pPr indent="0" lvl="1" marL="457200" rtl="0" algn="l">
              <a:spcBef>
                <a:spcPts val="0"/>
              </a:spcBef>
              <a:spcAft>
                <a:spcPts val="0"/>
              </a:spcAft>
              <a:buNone/>
            </a:pPr>
            <a:r>
              <a:rPr lang="en-US"/>
              <a:t>Saves memory</a:t>
            </a:r>
            <a:endParaRPr/>
          </a:p>
          <a:p>
            <a:pPr indent="0" lvl="1" marL="457200" rtl="0" algn="l">
              <a:spcBef>
                <a:spcPts val="0"/>
              </a:spcBef>
              <a:spcAft>
                <a:spcPts val="0"/>
              </a:spcAft>
              <a:buNone/>
            </a:pPr>
            <a:r>
              <a:rPr lang="en-US"/>
              <a:t>Reduces CPU time</a:t>
            </a:r>
            <a:endParaRPr/>
          </a:p>
          <a:p>
            <a:pPr indent="0" lvl="1" marL="457200" rtl="0" algn="l">
              <a:spcBef>
                <a:spcPts val="0"/>
              </a:spcBef>
              <a:spcAft>
                <a:spcPts val="0"/>
              </a:spcAft>
              <a:buNone/>
            </a:pPr>
            <a:r>
              <a:rPr lang="en-US"/>
              <a:t>Minimizes context-switching cost</a:t>
            </a:r>
            <a:br>
              <a:rPr lang="en-US"/>
            </a:br>
            <a:r>
              <a:rPr lang="en-US"/>
              <a:t>Compared to using multiple processes</a:t>
            </a:r>
            <a:endParaRPr/>
          </a:p>
          <a:p>
            <a:pPr indent="0" lvl="0" marL="0" rtl="0" algn="l">
              <a:spcBef>
                <a:spcPts val="0"/>
              </a:spcBef>
              <a:spcAft>
                <a:spcPts val="0"/>
              </a:spcAft>
              <a:buNone/>
            </a:pPr>
            <a:r>
              <a:t/>
            </a:r>
            <a:endParaRPr/>
          </a:p>
        </p:txBody>
      </p:sp>
      <p:sp>
        <p:nvSpPr>
          <p:cNvPr id="273" name="Google Shape;27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User-Level Threads (ULT):</a:t>
            </a:r>
            <a:endParaRPr/>
          </a:p>
          <a:p>
            <a:pPr indent="0" lvl="0" marL="0" rtl="0" algn="l">
              <a:spcBef>
                <a:spcPts val="0"/>
              </a:spcBef>
              <a:spcAft>
                <a:spcPts val="0"/>
              </a:spcAft>
              <a:buNone/>
            </a:pPr>
            <a:r>
              <a:rPr lang="en-US"/>
              <a:t>Managed entirely </a:t>
            </a:r>
            <a:r>
              <a:rPr b="1" lang="en-US"/>
              <a:t>by user-space libraries</a:t>
            </a:r>
            <a:r>
              <a:rPr lang="en-US"/>
              <a:t> (not by the OS kernel).</a:t>
            </a:r>
            <a:endParaRPr/>
          </a:p>
          <a:p>
            <a:pPr indent="0" lvl="0" marL="0" rtl="0" algn="l">
              <a:spcBef>
                <a:spcPts val="0"/>
              </a:spcBef>
              <a:spcAft>
                <a:spcPts val="0"/>
              </a:spcAft>
              <a:buNone/>
            </a:pPr>
            <a:r>
              <a:rPr lang="en-US"/>
              <a:t>The </a:t>
            </a:r>
            <a:r>
              <a:rPr b="1" lang="en-US"/>
              <a:t>kernel is unaware</a:t>
            </a:r>
            <a:r>
              <a:rPr lang="en-US"/>
              <a:t> that multiple threads exist inside a process.</a:t>
            </a:r>
            <a:endParaRPr/>
          </a:p>
          <a:p>
            <a:pPr indent="0" lvl="0" marL="0" rtl="0" algn="l">
              <a:spcBef>
                <a:spcPts val="0"/>
              </a:spcBef>
              <a:spcAft>
                <a:spcPts val="0"/>
              </a:spcAft>
              <a:buNone/>
            </a:pPr>
            <a:r>
              <a:rPr lang="en-US"/>
              <a:t>Operations like creation, synchronization, and scheduling happen </a:t>
            </a:r>
            <a:r>
              <a:rPr b="1" lang="en-US"/>
              <a:t>without system calls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Kernel-Level Threads (KLT):</a:t>
            </a:r>
            <a:endParaRPr/>
          </a:p>
          <a:p>
            <a:pPr indent="0" lvl="0" marL="0" rtl="0" algn="l">
              <a:spcBef>
                <a:spcPts val="0"/>
              </a:spcBef>
              <a:spcAft>
                <a:spcPts val="0"/>
              </a:spcAft>
              <a:buNone/>
            </a:pPr>
            <a:r>
              <a:rPr lang="en-US"/>
              <a:t>Managed </a:t>
            </a:r>
            <a:r>
              <a:rPr b="1" lang="en-US"/>
              <a:t>directly by the operating system kernel</a:t>
            </a:r>
            <a:r>
              <a:rPr lang="en-US"/>
              <a:t>.</a:t>
            </a:r>
            <a:endParaRPr/>
          </a:p>
          <a:p>
            <a:pPr indent="0" lvl="0" marL="0" rtl="0" algn="l">
              <a:spcBef>
                <a:spcPts val="0"/>
              </a:spcBef>
              <a:spcAft>
                <a:spcPts val="0"/>
              </a:spcAft>
              <a:buNone/>
            </a:pPr>
            <a:r>
              <a:rPr lang="en-US"/>
              <a:t>The kernel </a:t>
            </a:r>
            <a:r>
              <a:rPr b="1" lang="en-US"/>
              <a:t>schedules</a:t>
            </a:r>
            <a:r>
              <a:rPr lang="en-US"/>
              <a:t> and </a:t>
            </a:r>
            <a:r>
              <a:rPr b="1" lang="en-US"/>
              <a:t>executes</a:t>
            </a:r>
            <a:r>
              <a:rPr lang="en-US"/>
              <a:t> each thread independently.</a:t>
            </a:r>
            <a:endParaRPr/>
          </a:p>
          <a:p>
            <a:pPr indent="0" lvl="0" marL="0" rtl="0" algn="l">
              <a:spcBef>
                <a:spcPts val="0"/>
              </a:spcBef>
              <a:spcAft>
                <a:spcPts val="0"/>
              </a:spcAft>
              <a:buNone/>
            </a:pPr>
            <a:r>
              <a:rPr lang="en-US"/>
              <a:t>Each KLT has its own kernel data structures (like PCB extensions).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Why Mapping Is Needed</a:t>
            </a:r>
            <a:endParaRPr/>
          </a:p>
          <a:p>
            <a:pPr indent="0" lvl="0" marL="0" rtl="0" algn="l">
              <a:spcBef>
                <a:spcPts val="0"/>
              </a:spcBef>
              <a:spcAft>
                <a:spcPts val="0"/>
              </a:spcAft>
              <a:buNone/>
            </a:pPr>
            <a:r>
              <a:rPr lang="en-US"/>
              <a:t>When a program uses threads, the OS must know </a:t>
            </a:r>
            <a:r>
              <a:rPr b="1" lang="en-US"/>
              <a:t>how these user threads correspond to actual kernel threads</a:t>
            </a:r>
            <a:r>
              <a:rPr lang="en-US"/>
              <a:t> that can run on CPUs.</a:t>
            </a:r>
            <a:br>
              <a:rPr lang="en-US"/>
            </a:br>
            <a:r>
              <a:rPr lang="en-US"/>
              <a:t>This </a:t>
            </a:r>
            <a:r>
              <a:rPr b="1" lang="en-US"/>
              <a:t>mapping</a:t>
            </a:r>
            <a:r>
              <a:rPr lang="en-US"/>
              <a:t> determines:</a:t>
            </a:r>
            <a:endParaRPr/>
          </a:p>
          <a:p>
            <a:pPr indent="0" lvl="0" marL="0" rtl="0" algn="l">
              <a:spcBef>
                <a:spcPts val="0"/>
              </a:spcBef>
              <a:spcAft>
                <a:spcPts val="0"/>
              </a:spcAft>
              <a:buNone/>
            </a:pPr>
            <a:r>
              <a:rPr lang="en-US"/>
              <a:t>How much parallelism is possible</a:t>
            </a:r>
            <a:endParaRPr/>
          </a:p>
          <a:p>
            <a:pPr indent="0" lvl="0" marL="0" rtl="0" algn="l">
              <a:spcBef>
                <a:spcPts val="0"/>
              </a:spcBef>
              <a:spcAft>
                <a:spcPts val="0"/>
              </a:spcAft>
              <a:buNone/>
            </a:pPr>
            <a:r>
              <a:rPr lang="en-US"/>
              <a:t>Who handles scheduling (library or OS)</a:t>
            </a:r>
            <a:endParaRPr/>
          </a:p>
          <a:p>
            <a:pPr indent="0" lvl="0" marL="0" rtl="0" algn="l">
              <a:spcBef>
                <a:spcPts val="0"/>
              </a:spcBef>
              <a:spcAft>
                <a:spcPts val="0"/>
              </a:spcAft>
              <a:buNone/>
            </a:pPr>
            <a:r>
              <a:rPr lang="en-US"/>
              <a:t>How blocking and synchronization work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Imagine a </a:t>
            </a:r>
            <a:r>
              <a:rPr b="1" lang="en-US"/>
              <a:t>restaurant kitchen</a:t>
            </a:r>
            <a:r>
              <a:rPr lang="en-US"/>
              <a:t>:</a:t>
            </a:r>
            <a:endParaRPr/>
          </a:p>
          <a:p>
            <a:pPr indent="0" lvl="0" marL="0" rtl="0" algn="l">
              <a:spcBef>
                <a:spcPts val="0"/>
              </a:spcBef>
              <a:spcAft>
                <a:spcPts val="0"/>
              </a:spcAft>
              <a:buNone/>
            </a:pPr>
            <a:r>
              <a:rPr b="1" lang="en-US"/>
              <a:t>Cooks (kernel threads)</a:t>
            </a:r>
            <a:r>
              <a:rPr lang="en-US"/>
              <a:t> actually cook the food (execute).</a:t>
            </a:r>
            <a:endParaRPr/>
          </a:p>
          <a:p>
            <a:pPr indent="0" lvl="0" marL="0" rtl="0" algn="l">
              <a:spcBef>
                <a:spcPts val="0"/>
              </a:spcBef>
              <a:spcAft>
                <a:spcPts val="0"/>
              </a:spcAft>
              <a:buNone/>
            </a:pPr>
            <a:r>
              <a:rPr b="1" lang="en-US"/>
              <a:t>Orders (user threads)</a:t>
            </a:r>
            <a:r>
              <a:rPr lang="en-US"/>
              <a:t> are tasks to complete.</a:t>
            </a:r>
            <a:endParaRPr/>
          </a:p>
          <a:p>
            <a:pPr indent="0" lvl="0" marL="0" rtl="0" algn="l">
              <a:spcBef>
                <a:spcPts val="0"/>
              </a:spcBef>
              <a:spcAft>
                <a:spcPts val="0"/>
              </a:spcAft>
              <a:buNone/>
            </a:pPr>
            <a:r>
              <a:rPr lang="en-US"/>
              <a:t>Depending on the model:</a:t>
            </a:r>
            <a:endParaRPr/>
          </a:p>
          <a:p>
            <a:pPr indent="0" lvl="1" marL="457200" rtl="0" algn="l">
              <a:spcBef>
                <a:spcPts val="0"/>
              </a:spcBef>
              <a:spcAft>
                <a:spcPts val="0"/>
              </a:spcAft>
              <a:buNone/>
            </a:pPr>
            <a:r>
              <a:rPr lang="en-US"/>
              <a:t>Many-to-One → One cook for all orders → slow if one order blocks.</a:t>
            </a:r>
            <a:endParaRPr/>
          </a:p>
          <a:p>
            <a:pPr indent="0" lvl="1" marL="457200" rtl="0" algn="l">
              <a:spcBef>
                <a:spcPts val="0"/>
              </a:spcBef>
              <a:spcAft>
                <a:spcPts val="0"/>
              </a:spcAft>
              <a:buNone/>
            </a:pPr>
            <a:r>
              <a:rPr lang="en-US"/>
              <a:t>One-to-One → One cook per order → fast but expensive.</a:t>
            </a:r>
            <a:endParaRPr/>
          </a:p>
          <a:p>
            <a:pPr indent="0" lvl="1" marL="457200" rtl="0" algn="l">
              <a:spcBef>
                <a:spcPts val="0"/>
              </a:spcBef>
              <a:spcAft>
                <a:spcPts val="0"/>
              </a:spcAft>
              <a:buNone/>
            </a:pPr>
            <a:r>
              <a:rPr lang="en-US"/>
              <a:t>Many-to-Many → Few cooks handle many orders efficiently → balanced system.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0" name="Google Shape;28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8" name="Google Shape;28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Pipes are a simple form of shared memory that allows two processes to communicate with each other.</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It is a half duplex method (or one way communication) used for IPC between two related processes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One process writes data to the pipe, and the other process reads data from the pipe.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It is like a scenario like filling water with a tap into a bucket. The filling process is writing into the pipe and the reading process is retrieving from the pipe.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Pipes can be either named or anonymous, depending on whether they have a unique name or not.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Named pipes are a type of pipe that has a unique name, and can be accessed by multiple processes. Named pipes can be used for communication between processes running on the same host or between processes running on different hosts over a network.</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Anonymous pipes, on the other hand, are pipes that are created for communication between a parent process and its child process. Anonymous pipes are typically used for one-way communication between processes, as they do not have a unique name and can only be accessed by the processes that created them.</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Key distinction:</a:t>
            </a:r>
            <a:endParaRPr/>
          </a:p>
          <a:p>
            <a:pPr indent="0" lvl="0" marL="0" rtl="0" algn="l">
              <a:spcBef>
                <a:spcPts val="0"/>
              </a:spcBef>
              <a:spcAft>
                <a:spcPts val="0"/>
              </a:spcAft>
              <a:buNone/>
            </a:pPr>
            <a:r>
              <a:rPr b="1" lang="en-US"/>
              <a:t>Shared Memory:</a:t>
            </a:r>
            <a:r>
              <a:rPr lang="en-US"/>
              <a:t> Fast, but requires synchronization.</a:t>
            </a:r>
            <a:endParaRPr/>
          </a:p>
          <a:p>
            <a:pPr indent="0" lvl="0" marL="0" rtl="0" algn="l">
              <a:spcBef>
                <a:spcPts val="0"/>
              </a:spcBef>
              <a:spcAft>
                <a:spcPts val="0"/>
              </a:spcAft>
              <a:buNone/>
            </a:pPr>
            <a:r>
              <a:rPr b="1" lang="en-US"/>
              <a:t>Message Passing:</a:t>
            </a:r>
            <a:r>
              <a:rPr lang="en-US"/>
              <a:t> Safer, but slower (involves system calls).</a:t>
            </a:r>
            <a:endParaRPr/>
          </a:p>
          <a:p>
            <a:pPr indent="0" lvl="0" marL="0" rtl="0" algn="l">
              <a:spcBef>
                <a:spcPts val="0"/>
              </a:spcBef>
              <a:spcAft>
                <a:spcPts val="0"/>
              </a:spcAft>
              <a:buNone/>
            </a:pPr>
            <a:r>
              <a:t/>
            </a:r>
            <a:endParaRPr/>
          </a:p>
        </p:txBody>
      </p:sp>
      <p:sp>
        <p:nvSpPr>
          <p:cNvPr id="340" name="Google Shape;34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Pipes are a simple form of shared memory that allows two processes to communicate with each other.</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It is a half duplex method (or one way communication) used for IPC between two related processes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One process writes data to the pipe, and the other process reads data from the pipe.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It is like a scenario like filling water with a tap into a bucket. The filling process is writing into the pipe and the reading process is retrieving from the pipe.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Pipes can be either named or anonymous, depending on whether they have a unique name or not.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Named pipes are a type of pipe that has a unique name, and can be accessed by multiple processes. Named pipes can be used for communication between processes running on the same host or between processes running on different hosts over a network.</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Anonymous pipes, on the other hand, are pipes that are created for communication between a parent process and its child process. Anonymous pipes are typically used for one-way communication between processes, as they do not have a unique name and can only be accessed by the processes that created them.</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Key distinction:</a:t>
            </a:r>
            <a:endParaRPr/>
          </a:p>
          <a:p>
            <a:pPr indent="0" lvl="0" marL="0" rtl="0" algn="l">
              <a:spcBef>
                <a:spcPts val="0"/>
              </a:spcBef>
              <a:spcAft>
                <a:spcPts val="0"/>
              </a:spcAft>
              <a:buNone/>
            </a:pPr>
            <a:r>
              <a:rPr b="1" lang="en-US"/>
              <a:t>Shared Memory:</a:t>
            </a:r>
            <a:r>
              <a:rPr lang="en-US"/>
              <a:t> Fast, but requires synchronization.</a:t>
            </a:r>
            <a:endParaRPr/>
          </a:p>
          <a:p>
            <a:pPr indent="0" lvl="0" marL="0" rtl="0" algn="l">
              <a:spcBef>
                <a:spcPts val="0"/>
              </a:spcBef>
              <a:spcAft>
                <a:spcPts val="0"/>
              </a:spcAft>
              <a:buNone/>
            </a:pPr>
            <a:r>
              <a:rPr b="1" lang="en-US"/>
              <a:t>Message Passing:</a:t>
            </a:r>
            <a:r>
              <a:rPr lang="en-US"/>
              <a:t> Safer, but slower (involves system calls).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48" name="Google Shape;34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🡪Mutual Exclusion – Only one process can access its critical section at a time. This prevents data corruption in shared resources by providing accurate access.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🡪Progress in Critical Section – ensures that if no process is currently inside its critical section, one of the waiting processes will eventually be allowed to enter without unnecessary delay.</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🡪Bounded Waiting – A process should not be forced to wait indefinitely. There should be a statement in the record of how many processes could enter their critical section before the waiting process gets information that it can access its critical section.</a:t>
            </a:r>
            <a:endParaRPr/>
          </a:p>
          <a:p>
            <a:pPr indent="0" lvl="0" marL="0" rtl="0" algn="l">
              <a:spcBef>
                <a:spcPts val="0"/>
              </a:spcBef>
              <a:spcAft>
                <a:spcPts val="0"/>
              </a:spcAft>
              <a:buNone/>
            </a:pPr>
            <a:r>
              <a:t/>
            </a:r>
            <a:endParaRPr/>
          </a:p>
        </p:txBody>
      </p:sp>
      <p:sp>
        <p:nvSpPr>
          <p:cNvPr id="356" name="Google Shape;35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During concurrent execution of processes, processes need to enter the critical section (or the section of the program shared across processes) at times for execution. It might happen that because of the execution of multiple processes at once, the values stored in the critical section become inconsistent. In other words, the values depend on the sequence of execution of instructions - also known as a race condition. The primary task of process synchronization is to get rid of race conditions while executing the critical section.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What is Mutual Exclusion?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Mutual Exclusion</a:t>
            </a:r>
            <a:r>
              <a:rPr b="0" i="0" lang="en-US" sz="1200">
                <a:solidFill>
                  <a:schemeClr val="dk1"/>
                </a:solidFill>
                <a:latin typeface="Calibri"/>
                <a:ea typeface="Calibri"/>
                <a:cs typeface="Calibri"/>
                <a:sym typeface="Calibri"/>
              </a:rPr>
              <a:t> is a property of </a:t>
            </a:r>
            <a:r>
              <a:rPr b="0" i="0" lang="en-US" sz="1200" u="sng">
                <a:solidFill>
                  <a:schemeClr val="dk1"/>
                </a:solidFill>
                <a:latin typeface="Calibri"/>
                <a:ea typeface="Calibri"/>
                <a:cs typeface="Calibri"/>
                <a:sym typeface="Calibri"/>
                <a:hlinkClick r:id="rId2">
                  <a:extLst>
                    <a:ext uri="{A12FA001-AC4F-418D-AE19-62706E023703}">
                      <ahyp:hlinkClr val="tx"/>
                    </a:ext>
                  </a:extLst>
                </a:hlinkClick>
              </a:rPr>
              <a:t>process synchronization</a:t>
            </a:r>
            <a:r>
              <a:rPr b="0" i="0" lang="en-US" sz="1200">
                <a:solidFill>
                  <a:schemeClr val="dk1"/>
                </a:solidFill>
                <a:latin typeface="Calibri"/>
                <a:ea typeface="Calibri"/>
                <a:cs typeface="Calibri"/>
                <a:sym typeface="Calibri"/>
              </a:rPr>
              <a:t> that states that "</a:t>
            </a:r>
            <a:r>
              <a:rPr b="1" i="0" lang="en-US" sz="1200">
                <a:solidFill>
                  <a:schemeClr val="dk1"/>
                </a:solidFill>
                <a:latin typeface="Calibri"/>
                <a:ea typeface="Calibri"/>
                <a:cs typeface="Calibri"/>
                <a:sym typeface="Calibri"/>
              </a:rPr>
              <a:t>no two processes can exist in the critical section at any given point of time</a:t>
            </a:r>
            <a:r>
              <a:rPr b="0" i="0" lang="en-US" sz="1200">
                <a:solidFill>
                  <a:schemeClr val="dk1"/>
                </a:solidFill>
                <a:latin typeface="Calibri"/>
                <a:ea typeface="Calibri"/>
                <a:cs typeface="Calibri"/>
                <a:sym typeface="Calibri"/>
              </a:rPr>
              <a:t>". The term was first coined by </a:t>
            </a:r>
            <a:r>
              <a:rPr b="1" i="0" lang="en-US" sz="1200">
                <a:solidFill>
                  <a:schemeClr val="dk1"/>
                </a:solidFill>
                <a:latin typeface="Calibri"/>
                <a:ea typeface="Calibri"/>
                <a:cs typeface="Calibri"/>
                <a:sym typeface="Calibri"/>
              </a:rPr>
              <a:t>Dijkstra</a:t>
            </a:r>
            <a:r>
              <a:rPr b="0" i="0" lang="en-US" sz="1200">
                <a:solidFill>
                  <a:schemeClr val="dk1"/>
                </a:solidFill>
                <a:latin typeface="Calibri"/>
                <a:ea typeface="Calibri"/>
                <a:cs typeface="Calibri"/>
                <a:sym typeface="Calibri"/>
              </a:rPr>
              <a:t>. Any process synchronization technique being used must satisfy the property of mutual exclusion, without which it would not be possible to get rid of a race condition.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need for mutual exclusion comes with concurrency. There are several kinds of concurrent execution: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Interrupt handlers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Interleaved, preemptively scheduled processes/threads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Multiprocessor clusters, with shared memory</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Distributed systems</a:t>
            </a:r>
            <a:endParaRPr/>
          </a:p>
          <a:p>
            <a:pPr indent="0" lvl="0" marL="0" rtl="0" algn="l">
              <a:spcBef>
                <a:spcPts val="0"/>
              </a:spcBef>
              <a:spcAft>
                <a:spcPts val="0"/>
              </a:spcAft>
              <a:buNone/>
            </a:pPr>
            <a:r>
              <a:rPr b="0" i="0" lang="en-US" sz="1200" u="sng">
                <a:solidFill>
                  <a:schemeClr val="dk1"/>
                </a:solidFill>
                <a:latin typeface="Calibri"/>
                <a:ea typeface="Calibri"/>
                <a:cs typeface="Calibri"/>
                <a:sym typeface="Calibri"/>
                <a:hlinkClick r:id="rId3">
                  <a:extLst>
                    <a:ext uri="{A12FA001-AC4F-418D-AE19-62706E023703}">
                      <ahyp:hlinkClr val="tx"/>
                    </a:ext>
                  </a:extLst>
                </a:hlinkClick>
              </a:rPr>
              <a:t>Mutual exclusion</a:t>
            </a:r>
            <a:r>
              <a:rPr b="0" i="0" lang="en-US" sz="1200">
                <a:solidFill>
                  <a:schemeClr val="dk1"/>
                </a:solidFill>
                <a:latin typeface="Calibri"/>
                <a:ea typeface="Calibri"/>
                <a:cs typeface="Calibri"/>
                <a:sym typeface="Calibri"/>
              </a:rPr>
              <a:t> methods are used in concurrent programming to avoid the simultaneous use of a common resource, such as a global variable, by pieces of computer code called critical sections.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requirement of mutual exclusion is that when process P1 is accessing a shared resource R1, another process should not be able to access resource R1 until process P1 has finished its operation with resource R1.</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Examples of such resources include files, I/O devices such as printers, and shared data structures.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Conditions Required for Mutual Exclusion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According to the following four criteria, mutual exclusion is applicable: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using shared resources, it is important to ensure mutual exclusion between various processes. There cannot be two processes running simultaneously in either of their critical sections.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It is not advisable to make assumptions about the relative speeds of the unstable processes.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For access to the critical section, a process that is outside of it must not obstruct another process.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Its critical section must be accessible by multiple processes in a finite amount of time; multiple processes should never be kept waiting in an infinite loop.</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Approaches To Implementing Mutual Exclusion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Software Method: </a:t>
            </a:r>
            <a:r>
              <a:rPr b="0" i="0" lang="en-US" sz="1200">
                <a:solidFill>
                  <a:schemeClr val="dk1"/>
                </a:solidFill>
                <a:latin typeface="Calibri"/>
                <a:ea typeface="Calibri"/>
                <a:cs typeface="Calibri"/>
                <a:sym typeface="Calibri"/>
              </a:rPr>
              <a:t>Leave the responsibility to the processes themselves. These methods are usually highly error-prone and carry high overheads.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Hardware Method: </a:t>
            </a:r>
            <a:r>
              <a:rPr b="0" i="0" lang="en-US" sz="1200">
                <a:solidFill>
                  <a:schemeClr val="dk1"/>
                </a:solidFill>
                <a:latin typeface="Calibri"/>
                <a:ea typeface="Calibri"/>
                <a:cs typeface="Calibri"/>
                <a:sym typeface="Calibri"/>
              </a:rPr>
              <a:t>Special-purpose </a:t>
            </a:r>
            <a:r>
              <a:rPr b="0" i="0" lang="en-US" sz="1200" u="sng">
                <a:solidFill>
                  <a:schemeClr val="dk1"/>
                </a:solidFill>
                <a:latin typeface="Calibri"/>
                <a:ea typeface="Calibri"/>
                <a:cs typeface="Calibri"/>
                <a:sym typeface="Calibri"/>
                <a:hlinkClick r:id="rId4">
                  <a:extLst>
                    <a:ext uri="{A12FA001-AC4F-418D-AE19-62706E023703}">
                      <ahyp:hlinkClr val="tx"/>
                    </a:ext>
                  </a:extLst>
                </a:hlinkClick>
              </a:rPr>
              <a:t>machine instructions</a:t>
            </a:r>
            <a:r>
              <a:rPr b="0" i="0" lang="en-US" sz="1200">
                <a:solidFill>
                  <a:schemeClr val="dk1"/>
                </a:solidFill>
                <a:latin typeface="Calibri"/>
                <a:ea typeface="Calibri"/>
                <a:cs typeface="Calibri"/>
                <a:sym typeface="Calibri"/>
              </a:rPr>
              <a:t> are used for accessing shared resources. This method is faster but cannot provide a complete solution. Hardware solutions cannot give guarantee the absence of </a:t>
            </a:r>
            <a:r>
              <a:rPr b="0" i="0" lang="en-US" sz="1200" u="sng">
                <a:solidFill>
                  <a:schemeClr val="dk1"/>
                </a:solidFill>
                <a:latin typeface="Calibri"/>
                <a:ea typeface="Calibri"/>
                <a:cs typeface="Calibri"/>
                <a:sym typeface="Calibri"/>
                <a:hlinkClick r:id="rId5">
                  <a:extLst>
                    <a:ext uri="{A12FA001-AC4F-418D-AE19-62706E023703}">
                      <ahyp:hlinkClr val="tx"/>
                    </a:ext>
                  </a:extLst>
                </a:hlinkClick>
              </a:rPr>
              <a:t>deadlock</a:t>
            </a:r>
            <a:r>
              <a:rPr b="0" i="0" lang="en-US" sz="1200">
                <a:solidFill>
                  <a:schemeClr val="dk1"/>
                </a:solidFill>
                <a:latin typeface="Calibri"/>
                <a:ea typeface="Calibri"/>
                <a:cs typeface="Calibri"/>
                <a:sym typeface="Calibri"/>
              </a:rPr>
              <a:t> and </a:t>
            </a:r>
            <a:r>
              <a:rPr b="0" i="0" lang="en-US" sz="1200" u="sng">
                <a:solidFill>
                  <a:schemeClr val="dk1"/>
                </a:solidFill>
                <a:latin typeface="Calibri"/>
                <a:ea typeface="Calibri"/>
                <a:cs typeface="Calibri"/>
                <a:sym typeface="Calibri"/>
                <a:hlinkClick r:id="rId6">
                  <a:extLst>
                    <a:ext uri="{A12FA001-AC4F-418D-AE19-62706E023703}">
                      <ahyp:hlinkClr val="tx"/>
                    </a:ext>
                  </a:extLst>
                </a:hlinkClick>
              </a:rPr>
              <a:t>starvation</a:t>
            </a: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Programming Language Method: </a:t>
            </a:r>
            <a:r>
              <a:rPr b="0" i="0" lang="en-US" sz="1200">
                <a:solidFill>
                  <a:schemeClr val="dk1"/>
                </a:solidFill>
                <a:latin typeface="Calibri"/>
                <a:ea typeface="Calibri"/>
                <a:cs typeface="Calibri"/>
                <a:sym typeface="Calibri"/>
              </a:rPr>
              <a:t>Provide support through the operating system or through the programming language.</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Requirements of Mutual Exclusion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At any time, only one process is allowed to enter its critical section.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solution is implemented purely in software on a machine.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process remains inside its critical section for a bounded time only.</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No assumption can be made about the relative speeds of asynchronous concurrent processes.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process cannot prevent any other process from entering into a critical section.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process must not be indefinitely postponed from entering its critical section.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order to understand mutual exclusion, let's take an example.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What is a Need of Mutual Exclusion?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An easy way to visualize the significance of mutual exclusion is to imagine a linked list of several items, with the fourth and fifth items needing to be removed. By changing the previous node's next reference to point to the succeeding node, the node that lies between the other two nodes is deleted.</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To put it simply, whenever node "i" wants to be removed, node "with - 1"'s subsequent reference is changed to point to node "ith + 1" at that time. Two distinct nodes can be removed by two threads at the same time when a shared linked list is being used by many threads. This occurs when the first thread modifies node "ith - 1" next reference, pointing towards the node "ith + 1," and the second thread modifies node "ith" next reference, pointing towards the node "ith + 2." Although both nodes have been removed, the linked list's required state has not yet been reached because node "i + 1" still exists in the list because node "ith - 1" next reference still points to it.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Now, this situation is called a </a:t>
            </a:r>
            <a:r>
              <a:rPr b="0" i="0" lang="en-US" sz="1200" u="sng">
                <a:solidFill>
                  <a:schemeClr val="dk1"/>
                </a:solidFill>
                <a:latin typeface="Calibri"/>
                <a:ea typeface="Calibri"/>
                <a:cs typeface="Calibri"/>
                <a:sym typeface="Calibri"/>
                <a:hlinkClick r:id="rId7">
                  <a:extLst>
                    <a:ext uri="{A12FA001-AC4F-418D-AE19-62706E023703}">
                      <ahyp:hlinkClr val="tx"/>
                    </a:ext>
                  </a:extLst>
                </a:hlinkClick>
              </a:rPr>
              <a:t>race condition</a:t>
            </a:r>
            <a:r>
              <a:rPr b="0" i="0" lang="en-US" sz="1200">
                <a:solidFill>
                  <a:schemeClr val="dk1"/>
                </a:solidFill>
                <a:latin typeface="Calibri"/>
                <a:ea typeface="Calibri"/>
                <a:cs typeface="Calibri"/>
                <a:sym typeface="Calibri"/>
              </a:rPr>
              <a:t>. Race conditions can be prevented by mutual exclusion so that updates at the same time cannot happen to the very bit about the list.</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Example:</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the clothes section of a supermarket, two people are shopping for clothes.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Boy, A decides upon some clothes to buy and heads to the changing room to try them out. Now, while boy A is inside the changing room, there is an 'occupied' sign on it - indicating that no one else can come in. Boy B has to use the changing room too, so she has to wait till boy A is done using the changing room.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Once boy A comes out of the changing room, the sign on it changes from 'occupied' to 'vacant' - indicating that another person can use it. Hence, boy B proceeds to use the changing room, while the sign displays 'occupied' again.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changing room is nothing but the critical section, boy A and boy B are two different processes, while the sign outside the changing room indicates the process synchronization mechanism being used.</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Conclusion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conclusion, mutual exclusion is a key concept in synchronization that ensures only one process accesses a shared resource at a time. This prevents conflicts and data corruption, making sure that processes run smoothly and correctly. By using mutual exclusion mechanisms, we can create stable and reliable systems that handle multiple processes efficiently.</a:t>
            </a:r>
            <a:endParaRPr/>
          </a:p>
          <a:p>
            <a:pPr indent="0" lvl="0" marL="0" rtl="0" algn="l">
              <a:spcBef>
                <a:spcPts val="0"/>
              </a:spcBef>
              <a:spcAft>
                <a:spcPts val="0"/>
              </a:spcAft>
              <a:buNone/>
            </a:pPr>
            <a:r>
              <a:t/>
            </a:r>
            <a:endParaRPr/>
          </a:p>
        </p:txBody>
      </p:sp>
      <p:sp>
        <p:nvSpPr>
          <p:cNvPr id="364" name="Google Shape;36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Imagine two processes, A and B, trying to increment a shared counter variable count. </a:t>
            </a:r>
            <a:endParaRPr/>
          </a:p>
          <a:p>
            <a:pPr indent="0" lvl="0" marL="0" rtl="0" algn="l">
              <a:spcBef>
                <a:spcPts val="0"/>
              </a:spcBef>
              <a:spcAft>
                <a:spcPts val="0"/>
              </a:spcAft>
              <a:buNone/>
            </a:pPr>
            <a:r>
              <a:rPr lang="en-US"/>
              <a:t>Initial state: count is 5.</a:t>
            </a:r>
            <a:endParaRPr/>
          </a:p>
          <a:p>
            <a:pPr indent="0" lvl="0" marL="0" rtl="0" algn="l">
              <a:spcBef>
                <a:spcPts val="0"/>
              </a:spcBef>
              <a:spcAft>
                <a:spcPts val="0"/>
              </a:spcAft>
              <a:buNone/>
            </a:pPr>
            <a:r>
              <a:rPr lang="en-US"/>
              <a:t>Process A reads count: Process A reads the value 5 into a temporary variable.</a:t>
            </a:r>
            <a:endParaRPr/>
          </a:p>
          <a:p>
            <a:pPr indent="0" lvl="0" marL="0" rtl="0" algn="l">
              <a:spcBef>
                <a:spcPts val="0"/>
              </a:spcBef>
              <a:spcAft>
                <a:spcPts val="0"/>
              </a:spcAft>
              <a:buNone/>
            </a:pPr>
            <a:r>
              <a:rPr lang="en-US"/>
              <a:t>Context switch: Before A can update count, the OS switches to process B.</a:t>
            </a:r>
            <a:endParaRPr/>
          </a:p>
          <a:p>
            <a:pPr indent="0" lvl="0" marL="0" rtl="0" algn="l">
              <a:spcBef>
                <a:spcPts val="0"/>
              </a:spcBef>
              <a:spcAft>
                <a:spcPts val="0"/>
              </a:spcAft>
              <a:buNone/>
            </a:pPr>
            <a:r>
              <a:rPr lang="en-US"/>
              <a:t>Process B reads count: Process B also reads the value 5 into its own temporary variable.</a:t>
            </a:r>
            <a:endParaRPr/>
          </a:p>
          <a:p>
            <a:pPr indent="0" lvl="0" marL="0" rtl="0" algn="l">
              <a:spcBef>
                <a:spcPts val="0"/>
              </a:spcBef>
              <a:spcAft>
                <a:spcPts val="0"/>
              </a:spcAft>
              <a:buNone/>
            </a:pPr>
            <a:r>
              <a:rPr lang="en-US"/>
              <a:t>Process B increments and writes: Process B increments its temporary variable to 6 and writes it back to count. Now, count is 6.</a:t>
            </a:r>
            <a:endParaRPr/>
          </a:p>
          <a:p>
            <a:pPr indent="0" lvl="0" marL="0" rtl="0" algn="l">
              <a:spcBef>
                <a:spcPts val="0"/>
              </a:spcBef>
              <a:spcAft>
                <a:spcPts val="0"/>
              </a:spcAft>
              <a:buNone/>
            </a:pPr>
            <a:r>
              <a:rPr lang="en-US"/>
              <a:t>Context switch: The OS switches back to process A.</a:t>
            </a:r>
            <a:endParaRPr/>
          </a:p>
          <a:p>
            <a:pPr indent="0" lvl="0" marL="0" rtl="0" algn="l">
              <a:spcBef>
                <a:spcPts val="0"/>
              </a:spcBef>
              <a:spcAft>
                <a:spcPts val="0"/>
              </a:spcAft>
              <a:buNone/>
            </a:pPr>
            <a:r>
              <a:rPr lang="en-US"/>
              <a:t>Process A increments and writes: Process A increments its temporary variable (which was also 5 to 6 and writes it back to count. Now, count is still 6 </a:t>
            </a:r>
            <a:endParaRPr/>
          </a:p>
          <a:p>
            <a:pPr indent="0" lvl="0" marL="0" rtl="0" algn="l">
              <a:spcBef>
                <a:spcPts val="0"/>
              </a:spcBef>
              <a:spcAft>
                <a:spcPts val="0"/>
              </a:spcAft>
              <a:buNone/>
            </a:pPr>
            <a:r>
              <a:rPr lang="en-US"/>
              <a:t>In this scenario, both processes performed an increment, but the final value of count is 6 instead of the expected 7. This is a race condition because the outcome depends on the non-deterministic timing of the process switches.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71" name="Google Shape;37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Prevention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Use synchronization primitives</a:t>
            </a:r>
            <a:r>
              <a:rPr b="0" i="0" lang="en-US" sz="1200">
                <a:solidFill>
                  <a:schemeClr val="dk1"/>
                </a:solidFill>
                <a:latin typeface="Calibri"/>
                <a:ea typeface="Calibri"/>
                <a:cs typeface="Calibri"/>
                <a:sym typeface="Calibri"/>
              </a:rPr>
              <a:t>: Implement synchronization tools like locks, semaphores, mutexes, or atomic operations to ensure exclusive access to shared resources.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Define critical sections</a:t>
            </a:r>
            <a:r>
              <a:rPr b="0" i="0" lang="en-US" sz="1200">
                <a:solidFill>
                  <a:schemeClr val="dk1"/>
                </a:solidFill>
                <a:latin typeface="Calibri"/>
                <a:ea typeface="Calibri"/>
                <a:cs typeface="Calibri"/>
                <a:sym typeface="Calibri"/>
              </a:rPr>
              <a:t>: Isolate the code segments that access shared resources into "critical sections" and protect them with synchronization mechanisms.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Ensure thread-safe operations</a:t>
            </a:r>
            <a:r>
              <a:rPr b="0" i="0" lang="en-US" sz="1200">
                <a:solidFill>
                  <a:schemeClr val="dk1"/>
                </a:solidFill>
                <a:latin typeface="Calibri"/>
                <a:ea typeface="Calibri"/>
                <a:cs typeface="Calibri"/>
                <a:sym typeface="Calibri"/>
              </a:rPr>
              <a:t>: Design code so that it can be safely executed by multiple threads concurrently. This often involves using techniques to avoid shared mutable state or using thread-safe data structures. </a:t>
            </a:r>
            <a:endParaRPr/>
          </a:p>
          <a:p>
            <a:pPr indent="0" lvl="0" marL="0" rtl="0" algn="l">
              <a:spcBef>
                <a:spcPts val="0"/>
              </a:spcBef>
              <a:spcAft>
                <a:spcPts val="0"/>
              </a:spcAft>
              <a:buNone/>
            </a:pPr>
            <a:r>
              <a:t/>
            </a:r>
            <a:endParaRPr/>
          </a:p>
        </p:txBody>
      </p:sp>
      <p:sp>
        <p:nvSpPr>
          <p:cNvPr id="379" name="Google Shape;37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None/>
            </a:pPr>
            <a:r>
              <a:rPr b="1" i="0" lang="en-US" sz="1200">
                <a:solidFill>
                  <a:schemeClr val="dk1"/>
                </a:solidFill>
                <a:latin typeface="Calibri"/>
                <a:ea typeface="Calibri"/>
                <a:cs typeface="Calibri"/>
                <a:sym typeface="Calibri"/>
              </a:rPr>
              <a:t>Anonymous shared memory:</a:t>
            </a:r>
            <a:r>
              <a:rPr b="0" i="0" lang="en-US" sz="1200">
                <a:solidFill>
                  <a:schemeClr val="dk1"/>
                </a:solidFill>
                <a:latin typeface="Calibri"/>
                <a:ea typeface="Calibri"/>
                <a:cs typeface="Calibri"/>
                <a:sym typeface="Calibri"/>
              </a:rPr>
              <a:t> Anonymous shared memory is not associated with any file or other system object. It is created by the operating system and is only accessible to the processes that created it.</a:t>
            </a:r>
            <a:endParaRPr/>
          </a:p>
          <a:p>
            <a:pPr indent="0" lvl="1" marL="457200" rtl="0" algn="l">
              <a:spcBef>
                <a:spcPts val="0"/>
              </a:spcBef>
              <a:spcAft>
                <a:spcPts val="0"/>
              </a:spcAft>
              <a:buNone/>
            </a:pPr>
            <a:r>
              <a:rPr b="1" i="0" lang="en-US" sz="1200">
                <a:solidFill>
                  <a:schemeClr val="dk1"/>
                </a:solidFill>
                <a:latin typeface="Calibri"/>
                <a:ea typeface="Calibri"/>
                <a:cs typeface="Calibri"/>
                <a:sym typeface="Calibri"/>
              </a:rPr>
              <a:t>Mapped shared memory:</a:t>
            </a:r>
            <a:r>
              <a:rPr b="0" i="0" lang="en-US" sz="1200">
                <a:solidFill>
                  <a:schemeClr val="dk1"/>
                </a:solidFill>
                <a:latin typeface="Calibri"/>
                <a:ea typeface="Calibri"/>
                <a:cs typeface="Calibri"/>
                <a:sym typeface="Calibri"/>
              </a:rPr>
              <a:t> Mapped shared memory is associated with a file or other system object. It is created by mapping a file into the address space of one or more processes.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Multiple processes can access a common shared memory. Multiple processes communicate by shared memory, where one process makes changes at a time and then others view the change. Shared memory does not use kernel.</a:t>
            </a:r>
            <a:endParaRPr/>
          </a:p>
          <a:p>
            <a:pPr indent="0" lvl="0" marL="0" rtl="0" algn="l">
              <a:spcBef>
                <a:spcPts val="0"/>
              </a:spcBef>
              <a:spcAft>
                <a:spcPts val="0"/>
              </a:spcAft>
              <a:buNone/>
            </a:pPr>
            <a:r>
              <a:t/>
            </a:r>
            <a:endParaRPr/>
          </a:p>
        </p:txBody>
      </p:sp>
      <p:sp>
        <p:nvSpPr>
          <p:cNvPr id="386" name="Google Shape;38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Message passing is a method of Inter Process Communication in OS. It involves the exchange of messages between processes, where each process sends and receives messages to coordinate its activities and exchange data with other processes.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Processes can communicate without any shared variables; therefore it can be used in a distributed environment on a network.</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message passing, each process has a unique identifier, known as a process ID, and messages are sent from one process to another using this identifier. When a process sends a message, it specifies the recipient process ID and the contents of the message, and the operating system is responsible for delivering the message to the recipient process. The recipient process can then retrieve the contents of the message and respond, if necessary.</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Message passing in shared memory has a number of advantages over other IPC mechanisms. First, it is very fast, as messages are simply copied from one process's address space to another. Second, it is very flexible, as any type of data can be shared between processes. Third, it is relatively easy to implement, as it does not require any special support from the operating system.</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However, message passing in shared memory also has some disadvantages. First, it can be difficult to ensure that messages are delivered in the correct order. Second, it can be difficult to manage the size of the message queue. Third, it can be difficult to port to other platforms, as the implementation of shared memory can vary from one operating system to another.</a:t>
            </a:r>
            <a:endParaRPr/>
          </a:p>
          <a:p>
            <a:pPr indent="0" lvl="0" marL="0" rtl="0" algn="l">
              <a:spcBef>
                <a:spcPts val="0"/>
              </a:spcBef>
              <a:spcAft>
                <a:spcPts val="0"/>
              </a:spcAft>
              <a:buNone/>
            </a:pPr>
            <a:r>
              <a:t/>
            </a:r>
            <a:endParaRPr/>
          </a:p>
        </p:txBody>
      </p:sp>
      <p:sp>
        <p:nvSpPr>
          <p:cNvPr id="394" name="Google Shape;39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Mutual exclusion: This is a mechanism that ensures that only one process can access a shared resource at a time</a:t>
            </a:r>
            <a:endParaRPr/>
          </a:p>
          <a:p>
            <a:pPr indent="0" lvl="0" marL="0" rtl="0" algn="l">
              <a:spcBef>
                <a:spcPts val="0"/>
              </a:spcBef>
              <a:spcAft>
                <a:spcPts val="0"/>
              </a:spcAft>
              <a:buNone/>
            </a:pPr>
            <a:r>
              <a:rPr lang="en-US"/>
              <a:t>Condition variables: These are variables that can be used to wait for a certain condition to be met.</a:t>
            </a:r>
            <a:endParaRPr/>
          </a:p>
          <a:p>
            <a:pPr indent="0" lvl="0" marL="0" rtl="0" algn="l">
              <a:spcBef>
                <a:spcPts val="0"/>
              </a:spcBef>
              <a:spcAft>
                <a:spcPts val="0"/>
              </a:spcAft>
              <a:buNone/>
            </a:pPr>
            <a:r>
              <a:rPr lang="en-US"/>
              <a:t>Barriers: These are synchronization points that all processes must reach before they can proceed. </a:t>
            </a:r>
            <a:endParaRPr/>
          </a:p>
          <a:p>
            <a:pPr indent="0" lvl="0" marL="0" rtl="0" algn="l">
              <a:spcBef>
                <a:spcPts val="0"/>
              </a:spcBef>
              <a:spcAft>
                <a:spcPts val="0"/>
              </a:spcAft>
              <a:buNone/>
            </a:pPr>
            <a:r>
              <a:rPr lang="en-US"/>
              <a:t>Semaphores: These are variables that can be used to count the number of times a shared resource is being used.</a:t>
            </a:r>
            <a:endParaRPr/>
          </a:p>
          <a:p>
            <a:pPr indent="0" lvl="0" marL="0" rtl="0" algn="l">
              <a:spcBef>
                <a:spcPts val="0"/>
              </a:spcBef>
              <a:spcAft>
                <a:spcPts val="0"/>
              </a:spcAft>
              <a:buNone/>
            </a:pPr>
            <a:r>
              <a:t/>
            </a:r>
            <a:endParaRPr/>
          </a:p>
        </p:txBody>
      </p:sp>
      <p:sp>
        <p:nvSpPr>
          <p:cNvPr id="412" name="Google Shape;41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algorithm delay(process p, resource z):</a:t>
            </a:r>
            <a:endParaRPr/>
          </a:p>
          <a:p>
            <a:pPr indent="0" lvl="0" marL="0" rtl="0" algn="l">
              <a:spcBef>
                <a:spcPts val="0"/>
              </a:spcBef>
              <a:spcAft>
                <a:spcPts val="0"/>
              </a:spcAft>
              <a:buNone/>
            </a:pPr>
            <a:r>
              <a:rPr lang="en-US"/>
              <a:t>    // INPUT</a:t>
            </a:r>
            <a:endParaRPr/>
          </a:p>
          <a:p>
            <a:pPr indent="0" lvl="0" marL="0" rtl="0" algn="l">
              <a:spcBef>
                <a:spcPts val="0"/>
              </a:spcBef>
              <a:spcAft>
                <a:spcPts val="0"/>
              </a:spcAft>
              <a:buNone/>
            </a:pPr>
            <a:r>
              <a:rPr lang="en-US"/>
              <a:t>    //   p = Process that needs to be delayed</a:t>
            </a:r>
            <a:endParaRPr/>
          </a:p>
          <a:p>
            <a:pPr indent="0" lvl="0" marL="0" rtl="0" algn="l">
              <a:spcBef>
                <a:spcPts val="0"/>
              </a:spcBef>
              <a:spcAft>
                <a:spcPts val="0"/>
              </a:spcAft>
              <a:buNone/>
            </a:pPr>
            <a:r>
              <a:rPr lang="en-US"/>
              <a:t>    //   z = Resource that the process is waiting for</a:t>
            </a:r>
            <a:endParaRPr/>
          </a:p>
          <a:p>
            <a:pPr indent="0" lvl="0" marL="0" rtl="0" algn="l">
              <a:spcBef>
                <a:spcPts val="0"/>
              </a:spcBef>
              <a:spcAft>
                <a:spcPts val="0"/>
              </a:spcAft>
              <a:buNone/>
            </a:pPr>
            <a:r>
              <a:rPr lang="en-US"/>
              <a:t>    // OUTPUT</a:t>
            </a:r>
            <a:endParaRPr/>
          </a:p>
          <a:p>
            <a:pPr indent="0" lvl="0" marL="0" rtl="0" algn="l">
              <a:spcBef>
                <a:spcPts val="0"/>
              </a:spcBef>
              <a:spcAft>
                <a:spcPts val="0"/>
              </a:spcAft>
              <a:buNone/>
            </a:pPr>
            <a:r>
              <a:rPr lang="en-US"/>
              <a:t>    //   Puts the process 'p' to sleep while resource 'z' is in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while z is still in use:</a:t>
            </a:r>
            <a:endParaRPr/>
          </a:p>
          <a:p>
            <a:pPr indent="0" lvl="0" marL="0" rtl="0" algn="l">
              <a:spcBef>
                <a:spcPts val="0"/>
              </a:spcBef>
              <a:spcAft>
                <a:spcPts val="0"/>
              </a:spcAft>
              <a:buNone/>
            </a:pPr>
            <a:r>
              <a:rPr lang="en-US"/>
              <a:t>        p.sleep(900)</a:t>
            </a:r>
            <a:endParaRPr/>
          </a:p>
          <a:p>
            <a:pPr indent="0" lvl="0" marL="0" rtl="0" algn="l">
              <a:spcBef>
                <a:spcPts val="0"/>
              </a:spcBef>
              <a:spcAft>
                <a:spcPts val="0"/>
              </a:spcAft>
              <a:buNone/>
            </a:pPr>
            <a:r>
              <a:t/>
            </a:r>
            <a:endParaRPr/>
          </a:p>
        </p:txBody>
      </p:sp>
      <p:sp>
        <p:nvSpPr>
          <p:cNvPr id="419" name="Google Shape;41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There are two general approaches to waiting in operating systems: </a:t>
            </a:r>
            <a:r>
              <a:rPr b="1" i="0" lang="en-US" sz="1200">
                <a:solidFill>
                  <a:schemeClr val="dk1"/>
                </a:solidFill>
                <a:latin typeface="Calibri"/>
                <a:ea typeface="Calibri"/>
                <a:cs typeface="Calibri"/>
                <a:sym typeface="Calibri"/>
              </a:rPr>
              <a:t>firstly, a process/task can continuously check for the condition to be satisfied while consuming the processor – busy waiting.</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Secondly, a process can wait without consuming the processor. </a:t>
            </a:r>
            <a:r>
              <a:rPr b="0" i="0" lang="en-US" sz="1200">
                <a:solidFill>
                  <a:schemeClr val="dk1"/>
                </a:solidFill>
                <a:latin typeface="Calibri"/>
                <a:ea typeface="Calibri"/>
                <a:cs typeface="Calibri"/>
                <a:sym typeface="Calibri"/>
              </a:rPr>
              <a:t>In such a case, the process/task is alerted or awakened when the condition is satisfied. The latter is known as sleeping, blocked waiting, or sleep waiting.</a:t>
            </a:r>
            <a:endParaRPr/>
          </a:p>
          <a:p>
            <a:pPr indent="0" lvl="0" marL="0" rtl="0" algn="l">
              <a:spcBef>
                <a:spcPts val="0"/>
              </a:spcBef>
              <a:spcAft>
                <a:spcPts val="0"/>
              </a:spcAft>
              <a:buNone/>
            </a:pPr>
            <a:r>
              <a:t/>
            </a:r>
            <a:endParaRPr/>
          </a:p>
        </p:txBody>
      </p:sp>
      <p:sp>
        <p:nvSpPr>
          <p:cNvPr id="433" name="Google Shape;43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Semaphore is a simply a variable. This variable is used to solve critical section problem and to achieve process synchronization in the multiprocessing environment.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two most common kinds of semaphores are counting semaphores and binary semaphores. Counting semaphore can take non-negative integer values and Binary semaphore can take the value 0 &amp; 1 only.</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 semaphore can only be accessed using the following operations:</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wait () </a:t>
            </a:r>
            <a:r>
              <a:rPr b="0" i="0" lang="en-US" sz="1200">
                <a:solidFill>
                  <a:schemeClr val="dk1"/>
                </a:solidFill>
                <a:latin typeface="Calibri"/>
                <a:ea typeface="Calibri"/>
                <a:cs typeface="Calibri"/>
                <a:sym typeface="Calibri"/>
              </a:rPr>
              <a:t>:- called when a process wants access to a resource</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signal ()</a:t>
            </a:r>
            <a:r>
              <a:rPr b="0" i="0" lang="en-US" sz="1200">
                <a:solidFill>
                  <a:schemeClr val="dk1"/>
                </a:solidFill>
                <a:latin typeface="Calibri"/>
                <a:ea typeface="Calibri"/>
                <a:cs typeface="Calibri"/>
                <a:sym typeface="Calibri"/>
              </a:rPr>
              <a:t>:- called when a process is done using a resource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int s = 1;</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wait (Semaphore 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while (s==0);           /* wait until s&gt;0 */ s=s-1;</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signal (Semaphore 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s=s+1;</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Here is an implementation of mutual-exclusion using binary semaphores: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do</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wait(s);</a:t>
            </a:r>
            <a:endParaRPr/>
          </a:p>
          <a:p>
            <a:pPr indent="0" lvl="0" marL="0" rtl="0" algn="l">
              <a:spcBef>
                <a:spcPts val="0"/>
              </a:spcBef>
              <a:spcAft>
                <a:spcPts val="0"/>
              </a:spcAft>
              <a:buNone/>
            </a:pPr>
            <a:r>
              <a:rPr b="0" i="1" lang="en-US" sz="1200">
                <a:solidFill>
                  <a:schemeClr val="dk1"/>
                </a:solidFill>
                <a:latin typeface="Calibri"/>
                <a:ea typeface="Calibri"/>
                <a:cs typeface="Calibri"/>
                <a:sym typeface="Calibri"/>
              </a:rPr>
              <a:t>// critical section</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signal(s);</a:t>
            </a:r>
            <a:endParaRPr/>
          </a:p>
          <a:p>
            <a:pPr indent="0" lvl="0" marL="0" rtl="0" algn="l">
              <a:spcBef>
                <a:spcPts val="0"/>
              </a:spcBef>
              <a:spcAft>
                <a:spcPts val="0"/>
              </a:spcAft>
              <a:buNone/>
            </a:pPr>
            <a:r>
              <a:rPr b="0" i="1" lang="en-US" sz="1200">
                <a:solidFill>
                  <a:schemeClr val="dk1"/>
                </a:solidFill>
                <a:latin typeface="Calibri"/>
                <a:ea typeface="Calibri"/>
                <a:cs typeface="Calibri"/>
                <a:sym typeface="Calibri"/>
              </a:rPr>
              <a:t>// remainder section</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while</a:t>
            </a:r>
            <a:r>
              <a:rPr b="0" i="0" lang="en-US" sz="1200">
                <a:solidFill>
                  <a:schemeClr val="dk1"/>
                </a:solidFill>
                <a:latin typeface="Calibri"/>
                <a:ea typeface="Calibri"/>
                <a:cs typeface="Calibri"/>
                <a:sym typeface="Calibri"/>
              </a:rPr>
              <a:t>(1);</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Now, let us see how it implements mutual exclusion. Let there be two processes P1 and P2 and a semaphore s is initialized as 1. Now if suppose P1 enters in its critical section then the value of semaphore s becomes 0. Now if P2 wants to enter its critical section then it will wait until s&gt;0, this can only happen when P1 finishes its critical section and calls signal() operation on semaphore s. This way mutual exclusion is achieved. Look at the below image for details.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Historically, </a:t>
            </a:r>
            <a:r>
              <a:rPr b="1" i="0" lang="en-US" sz="1200">
                <a:solidFill>
                  <a:schemeClr val="dk1"/>
                </a:solidFill>
                <a:latin typeface="Calibri"/>
                <a:ea typeface="Calibri"/>
                <a:cs typeface="Calibri"/>
                <a:sym typeface="Calibri"/>
              </a:rPr>
              <a:t>wait() </a:t>
            </a:r>
            <a:r>
              <a:rPr b="0" i="0" lang="en-US" sz="1200">
                <a:solidFill>
                  <a:schemeClr val="dk1"/>
                </a:solidFill>
                <a:latin typeface="Calibri"/>
                <a:ea typeface="Calibri"/>
                <a:cs typeface="Calibri"/>
                <a:sym typeface="Calibri"/>
              </a:rPr>
              <a:t>was called </a:t>
            </a:r>
            <a:r>
              <a:rPr b="1" i="0" lang="en-US" sz="1200">
                <a:solidFill>
                  <a:schemeClr val="dk1"/>
                </a:solidFill>
                <a:latin typeface="Calibri"/>
                <a:ea typeface="Calibri"/>
                <a:cs typeface="Calibri"/>
                <a:sym typeface="Calibri"/>
              </a:rPr>
              <a:t>signal() </a:t>
            </a:r>
            <a:r>
              <a:rPr b="0" i="0" lang="en-US" sz="1200">
                <a:solidFill>
                  <a:schemeClr val="dk1"/>
                </a:solidFill>
                <a:latin typeface="Calibri"/>
                <a:ea typeface="Calibri"/>
                <a:cs typeface="Calibri"/>
                <a:sym typeface="Calibri"/>
              </a:rPr>
              <a:t>was called </a:t>
            </a:r>
            <a:r>
              <a:rPr b="1" i="0" lang="en-US" sz="1200">
                <a:solidFill>
                  <a:schemeClr val="dk1"/>
                </a:solidFill>
                <a:latin typeface="Calibri"/>
                <a:ea typeface="Calibri"/>
                <a:cs typeface="Calibri"/>
                <a:sym typeface="Calibri"/>
              </a:rPr>
              <a:t>V </a:t>
            </a:r>
            <a:r>
              <a:rPr b="0" i="0" lang="en-US" sz="1200">
                <a:solidFill>
                  <a:schemeClr val="dk1"/>
                </a:solidFill>
                <a:latin typeface="Calibri"/>
                <a:ea typeface="Calibri"/>
                <a:cs typeface="Calibri"/>
                <a:sym typeface="Calibri"/>
              </a:rPr>
              <a:t>i.e</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452" name="Google Shape;45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a:t>
            </a:r>
            <a:r>
              <a:rPr b="1" lang="en-US"/>
              <a:t>Mutex (Mutual Exclusion Object)</a:t>
            </a:r>
            <a:r>
              <a:rPr lang="en-US"/>
              <a:t> is a synchronization mechanism used to ensure that </a:t>
            </a:r>
            <a:r>
              <a:rPr b="1" lang="en-US"/>
              <a:t>only one process or thread can access a shared resource</a:t>
            </a:r>
            <a:r>
              <a:rPr lang="en-US"/>
              <a:t> (like a file, variable, or critical section) </a:t>
            </a:r>
            <a:r>
              <a:rPr b="1" lang="en-US"/>
              <a:t>at a time</a:t>
            </a:r>
            <a:r>
              <a:rPr lang="en-US"/>
              <a:t>.</a:t>
            </a:r>
            <a:br>
              <a:rPr lang="en-US"/>
            </a:br>
            <a:r>
              <a:rPr lang="en-US"/>
              <a:t>It prevents </a:t>
            </a:r>
            <a:r>
              <a:rPr b="1" lang="en-US"/>
              <a:t>race conditions</a:t>
            </a:r>
            <a:r>
              <a:rPr lang="en-US"/>
              <a:t>, where multiple processes modify shared data simultaneously leading to inconsistent results.</a:t>
            </a:r>
            <a:endParaRPr/>
          </a:p>
        </p:txBody>
      </p:sp>
      <p:sp>
        <p:nvSpPr>
          <p:cNvPr id="484" name="Google Shape;48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a:t>
            </a:r>
            <a:r>
              <a:rPr b="1" lang="en-US"/>
              <a:t>Monitor</a:t>
            </a:r>
            <a:r>
              <a:rPr lang="en-US"/>
              <a:t> is a </a:t>
            </a:r>
            <a:r>
              <a:rPr b="1" lang="en-US"/>
              <a:t>high-level synchronization construct</a:t>
            </a:r>
            <a:r>
              <a:rPr lang="en-US"/>
              <a:t> that provides a </a:t>
            </a:r>
            <a:r>
              <a:rPr b="1" lang="en-US"/>
              <a:t>safe and structured way</a:t>
            </a:r>
            <a:r>
              <a:rPr lang="en-US"/>
              <a:t> for threads or processes to access shared resources </a:t>
            </a:r>
            <a:r>
              <a:rPr b="1" lang="en-US"/>
              <a:t>without interference</a:t>
            </a:r>
            <a:r>
              <a:rPr lang="en-US"/>
              <a:t>.</a:t>
            </a:r>
            <a:br>
              <a:rPr lang="en-US"/>
            </a:br>
            <a:endParaRPr/>
          </a:p>
          <a:p>
            <a:pPr indent="0" lvl="0" marL="0" rtl="0" algn="l">
              <a:spcBef>
                <a:spcPts val="0"/>
              </a:spcBef>
              <a:spcAft>
                <a:spcPts val="0"/>
              </a:spcAft>
              <a:buNone/>
            </a:pPr>
            <a:r>
              <a:rPr b="1" lang="en-US"/>
              <a:t>🔹 Example in Real Life:</a:t>
            </a:r>
            <a:endParaRPr/>
          </a:p>
          <a:p>
            <a:pPr indent="0" lvl="0" marL="0" rtl="0" algn="l">
              <a:spcBef>
                <a:spcPts val="0"/>
              </a:spcBef>
              <a:spcAft>
                <a:spcPts val="0"/>
              </a:spcAft>
              <a:buNone/>
            </a:pPr>
            <a:r>
              <a:rPr lang="en-US"/>
              <a:t>Imagine a </a:t>
            </a:r>
            <a:r>
              <a:rPr b="1" lang="en-US"/>
              <a:t>help desk counter</a:t>
            </a:r>
            <a:r>
              <a:rPr lang="en-US"/>
              <a:t>:</a:t>
            </a:r>
            <a:endParaRPr/>
          </a:p>
          <a:p>
            <a:pPr indent="0" lvl="0" marL="0" rtl="0" algn="l">
              <a:spcBef>
                <a:spcPts val="0"/>
              </a:spcBef>
              <a:spcAft>
                <a:spcPts val="0"/>
              </a:spcAft>
              <a:buNone/>
            </a:pPr>
            <a:r>
              <a:rPr lang="en-US"/>
              <a:t>Only </a:t>
            </a:r>
            <a:r>
              <a:rPr b="1" lang="en-US"/>
              <a:t>one customer</a:t>
            </a:r>
            <a:r>
              <a:rPr lang="en-US"/>
              <a:t> can interact with the staff (critical section).</a:t>
            </a:r>
            <a:endParaRPr/>
          </a:p>
          <a:p>
            <a:pPr indent="0" lvl="0" marL="0" rtl="0" algn="l">
              <a:spcBef>
                <a:spcPts val="0"/>
              </a:spcBef>
              <a:spcAft>
                <a:spcPts val="0"/>
              </a:spcAft>
              <a:buNone/>
            </a:pPr>
            <a:r>
              <a:rPr lang="en-US"/>
              <a:t>If the counter is busy, others </a:t>
            </a:r>
            <a:r>
              <a:rPr b="1" lang="en-US"/>
              <a:t>wait</a:t>
            </a:r>
            <a:r>
              <a:rPr lang="en-US"/>
              <a:t>.</a:t>
            </a:r>
            <a:endParaRPr/>
          </a:p>
          <a:p>
            <a:pPr indent="0" lvl="0" marL="0" rtl="0" algn="l">
              <a:spcBef>
                <a:spcPts val="0"/>
              </a:spcBef>
              <a:spcAft>
                <a:spcPts val="0"/>
              </a:spcAft>
              <a:buNone/>
            </a:pPr>
            <a:r>
              <a:rPr lang="en-US"/>
              <a:t>When done, the staff </a:t>
            </a:r>
            <a:r>
              <a:rPr b="1" lang="en-US"/>
              <a:t>signals</a:t>
            </a:r>
            <a:r>
              <a:rPr lang="en-US"/>
              <a:t> the next person to come in.</a:t>
            </a:r>
            <a:endParaRPr/>
          </a:p>
          <a:p>
            <a:pPr indent="0" lvl="0" marL="0" rtl="0" algn="l">
              <a:spcBef>
                <a:spcPts val="0"/>
              </a:spcBef>
              <a:spcAft>
                <a:spcPts val="0"/>
              </a:spcAft>
              <a:buNone/>
            </a:pPr>
            <a:r>
              <a:t/>
            </a:r>
            <a:endParaRPr/>
          </a:p>
        </p:txBody>
      </p:sp>
      <p:sp>
        <p:nvSpPr>
          <p:cNvPr id="499" name="Google Shape;49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Working Principle:</a:t>
            </a:r>
            <a:endParaRPr/>
          </a:p>
          <a:p>
            <a:pPr indent="0" lvl="0" marL="0" rtl="0" algn="l">
              <a:spcBef>
                <a:spcPts val="0"/>
              </a:spcBef>
              <a:spcAft>
                <a:spcPts val="0"/>
              </a:spcAft>
              <a:buNone/>
            </a:pPr>
            <a:r>
              <a:rPr b="1" lang="en-US"/>
              <a:t>Read Phase:</a:t>
            </a:r>
            <a:r>
              <a:rPr lang="en-US"/>
              <a:t> Readers access data directly (no lock).</a:t>
            </a:r>
            <a:endParaRPr/>
          </a:p>
          <a:p>
            <a:pPr indent="0" lvl="0" marL="0" rtl="0" algn="l">
              <a:spcBef>
                <a:spcPts val="0"/>
              </a:spcBef>
              <a:spcAft>
                <a:spcPts val="0"/>
              </a:spcAft>
              <a:buNone/>
            </a:pPr>
            <a:r>
              <a:rPr b="1" lang="en-US"/>
              <a:t>Update Phase:</a:t>
            </a:r>
            <a:r>
              <a:rPr lang="en-US"/>
              <a:t> Writer creates a </a:t>
            </a:r>
            <a:r>
              <a:rPr b="1" lang="en-US"/>
              <a:t>copy</a:t>
            </a:r>
            <a:r>
              <a:rPr lang="en-US"/>
              <a:t> of data, updates it, and replaces the old version.</a:t>
            </a:r>
            <a:endParaRPr/>
          </a:p>
          <a:p>
            <a:pPr indent="0" lvl="0" marL="0" rtl="0" algn="l">
              <a:spcBef>
                <a:spcPts val="0"/>
              </a:spcBef>
              <a:spcAft>
                <a:spcPts val="0"/>
              </a:spcAft>
              <a:buNone/>
            </a:pPr>
            <a:r>
              <a:rPr b="1" lang="en-US"/>
              <a:t>Grace Period:</a:t>
            </a:r>
            <a:r>
              <a:rPr lang="en-US"/>
              <a:t> Waits until all old readers' finish.</a:t>
            </a:r>
            <a:endParaRPr/>
          </a:p>
          <a:p>
            <a:pPr indent="0" lvl="0" marL="0" rtl="0" algn="l">
              <a:spcBef>
                <a:spcPts val="0"/>
              </a:spcBef>
              <a:spcAft>
                <a:spcPts val="0"/>
              </a:spcAft>
              <a:buNone/>
            </a:pPr>
            <a:r>
              <a:rPr b="1" lang="en-US"/>
              <a:t>Reclaim Phase:</a:t>
            </a:r>
            <a:r>
              <a:rPr lang="en-US"/>
              <a:t> Frees old data safely.</a:t>
            </a:r>
            <a:endParaRPr/>
          </a:p>
          <a:p>
            <a:pPr indent="0" lvl="0" marL="0" rtl="0" algn="l">
              <a:spcBef>
                <a:spcPts val="0"/>
              </a:spcBef>
              <a:spcAft>
                <a:spcPts val="0"/>
              </a:spcAft>
              <a:buNone/>
            </a:pPr>
            <a:r>
              <a:t/>
            </a:r>
            <a:endParaRPr/>
          </a:p>
        </p:txBody>
      </p:sp>
      <p:sp>
        <p:nvSpPr>
          <p:cNvPr id="519" name="Google Shape;51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Long-term (Job Scheduler) </a:t>
            </a:r>
            <a:r>
              <a:rPr lang="en-US"/>
              <a:t>Decides which processes are admitted to system (ready queue).</a:t>
            </a:r>
            <a:endParaRPr/>
          </a:p>
          <a:p>
            <a:pPr indent="0" lvl="0" marL="0" marR="0" rtl="0" algn="l">
              <a:lnSpc>
                <a:spcPct val="100000"/>
              </a:lnSpc>
              <a:spcBef>
                <a:spcPts val="0"/>
              </a:spcBef>
              <a:spcAft>
                <a:spcPts val="0"/>
              </a:spcAft>
              <a:buClr>
                <a:schemeClr val="dk1"/>
              </a:buClr>
              <a:buSzPts val="1200"/>
              <a:buFont typeface="Calibri"/>
              <a:buNone/>
            </a:pPr>
            <a:r>
              <a:rPr b="1" lang="en-US"/>
              <a:t>Short-term (CPU Scheduler) </a:t>
            </a:r>
            <a:r>
              <a:rPr lang="en-US"/>
              <a:t>Decides which ready process runs next on CPU. </a:t>
            </a:r>
            <a:endParaRPr/>
          </a:p>
          <a:p>
            <a:pPr indent="0" lvl="0" marL="0" marR="0" rtl="0" algn="l">
              <a:lnSpc>
                <a:spcPct val="100000"/>
              </a:lnSpc>
              <a:spcBef>
                <a:spcPts val="0"/>
              </a:spcBef>
              <a:spcAft>
                <a:spcPts val="0"/>
              </a:spcAft>
              <a:buClr>
                <a:schemeClr val="dk1"/>
              </a:buClr>
              <a:buSzPts val="1200"/>
              <a:buFont typeface="Calibri"/>
              <a:buNone/>
            </a:pPr>
            <a:r>
              <a:rPr b="1" lang="en-US"/>
              <a:t>Medium-term (Swapper) </a:t>
            </a:r>
            <a:r>
              <a:rPr lang="en-US"/>
              <a:t>Manages swapping of processes in and out of main memory.Occasionally</a:t>
            </a:r>
            <a:endParaRPr/>
          </a:p>
          <a:p>
            <a:pPr indent="0" lvl="0" marL="0" rtl="0" algn="l">
              <a:spcBef>
                <a:spcPts val="0"/>
              </a:spcBef>
              <a:spcAft>
                <a:spcPts val="0"/>
              </a:spcAft>
              <a:buNone/>
            </a:pPr>
            <a:r>
              <a:t/>
            </a:r>
            <a:endParaRPr/>
          </a:p>
        </p:txBody>
      </p:sp>
      <p:sp>
        <p:nvSpPr>
          <p:cNvPr id="527" name="Google Shape;527;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Basis</a:t>
            </a:r>
            <a:r>
              <a:rPr lang="en-US"/>
              <a:t> </a:t>
            </a:r>
            <a:r>
              <a:rPr b="1" lang="en-US"/>
              <a:t>Preemptive Scheduling</a:t>
            </a:r>
            <a:r>
              <a:rPr lang="en-US"/>
              <a:t> </a:t>
            </a:r>
            <a:r>
              <a:rPr b="1" lang="en-US"/>
              <a:t>Non-Preemptive Scheduling</a:t>
            </a:r>
            <a:r>
              <a:rPr lang="en-US"/>
              <a:t> </a:t>
            </a:r>
            <a:r>
              <a:rPr b="1" lang="en-US"/>
              <a:t>Definition</a:t>
            </a:r>
            <a:r>
              <a:rPr lang="en-US"/>
              <a:t> The CPU can be </a:t>
            </a:r>
            <a:r>
              <a:rPr b="1" lang="en-US"/>
              <a:t>taken away</a:t>
            </a:r>
            <a:r>
              <a:rPr lang="en-US"/>
              <a:t> from a running process before it completes its CPU burst. Once a process starts executing, it </a:t>
            </a:r>
            <a:r>
              <a:rPr b="1" lang="en-US"/>
              <a:t>cannot be interrupted</a:t>
            </a:r>
            <a:r>
              <a:rPr lang="en-US"/>
              <a:t> until it finishes or waits for I/O. </a:t>
            </a:r>
            <a:r>
              <a:rPr b="1" lang="en-US"/>
              <a:t>Control</a:t>
            </a:r>
            <a:r>
              <a:rPr lang="en-US"/>
              <a:t> The </a:t>
            </a:r>
            <a:r>
              <a:rPr b="1" lang="en-US"/>
              <a:t>operating system</a:t>
            </a:r>
            <a:r>
              <a:rPr lang="en-US"/>
              <a:t> has control over CPU allocation. The </a:t>
            </a:r>
            <a:r>
              <a:rPr b="1" lang="en-US"/>
              <a:t>process itself</a:t>
            </a:r>
            <a:r>
              <a:rPr lang="en-US"/>
              <a:t> controls CPU until it releases it. </a:t>
            </a:r>
            <a:r>
              <a:rPr b="1" lang="en-US"/>
              <a:t>Response Time</a:t>
            </a:r>
            <a:r>
              <a:rPr lang="en-US"/>
              <a:t> Usually </a:t>
            </a:r>
            <a:r>
              <a:rPr b="1" lang="en-US"/>
              <a:t>better</a:t>
            </a:r>
            <a:r>
              <a:rPr lang="en-US"/>
              <a:t>, as short or high-priority processes can get CPU faster. Usually </a:t>
            </a:r>
            <a:r>
              <a:rPr b="1" lang="en-US"/>
              <a:t>worse</a:t>
            </a:r>
            <a:r>
              <a:rPr lang="en-US"/>
              <a:t>, since long processes block others until completion. </a:t>
            </a:r>
            <a:r>
              <a:rPr b="1" lang="en-US"/>
              <a:t>CPU Utilization</a:t>
            </a:r>
            <a:r>
              <a:rPr lang="en-US"/>
              <a:t> </a:t>
            </a:r>
            <a:r>
              <a:rPr b="1" lang="en-US"/>
              <a:t>Higher</a:t>
            </a:r>
            <a:r>
              <a:rPr lang="en-US"/>
              <a:t>, because CPU can switch to another ready process when one is waiting. </a:t>
            </a:r>
            <a:r>
              <a:rPr b="1" lang="en-US"/>
              <a:t>Lower</a:t>
            </a:r>
            <a:r>
              <a:rPr lang="en-US"/>
              <a:t>, because CPU may stay idle if the current process is waiting. </a:t>
            </a:r>
            <a:r>
              <a:rPr b="1" lang="en-US"/>
              <a:t>Overhead</a:t>
            </a:r>
            <a:r>
              <a:rPr lang="en-US"/>
              <a:t> </a:t>
            </a:r>
            <a:r>
              <a:rPr b="1" lang="en-US"/>
              <a:t>High</a:t>
            </a:r>
            <a:r>
              <a:rPr lang="en-US"/>
              <a:t>, due to frequent context switching. </a:t>
            </a:r>
            <a:r>
              <a:rPr b="1" lang="en-US"/>
              <a:t>Low</a:t>
            </a:r>
            <a:r>
              <a:rPr lang="en-US"/>
              <a:t>, since context switching happens less often. </a:t>
            </a:r>
            <a:r>
              <a:rPr b="1" lang="en-US"/>
              <a:t>Starvation</a:t>
            </a:r>
            <a:r>
              <a:rPr lang="en-US"/>
              <a:t> </a:t>
            </a:r>
            <a:r>
              <a:rPr b="1" lang="en-US"/>
              <a:t>Possible</a:t>
            </a:r>
            <a:r>
              <a:rPr lang="en-US"/>
              <a:t>, if low-priority processes never get CPU time. </a:t>
            </a:r>
            <a:r>
              <a:rPr b="1" lang="en-US"/>
              <a:t>Less likely</a:t>
            </a:r>
            <a:r>
              <a:rPr lang="en-US"/>
              <a:t>, since processes run till completion. </a:t>
            </a:r>
            <a:r>
              <a:rPr b="1" lang="en-US"/>
              <a:t>Used In</a:t>
            </a:r>
            <a:r>
              <a:rPr lang="en-US"/>
              <a:t> Systems needing </a:t>
            </a:r>
            <a:r>
              <a:rPr b="1" lang="en-US"/>
              <a:t>real-time response</a:t>
            </a:r>
            <a:r>
              <a:rPr lang="en-US"/>
              <a:t> (e.g., multitasking, time-sharing). Systems where </a:t>
            </a:r>
            <a:r>
              <a:rPr b="1" lang="en-US"/>
              <a:t>predictability</a:t>
            </a:r>
            <a:r>
              <a:rPr lang="en-US"/>
              <a:t> is more important (e.g., batch processing). </a:t>
            </a:r>
            <a:r>
              <a:rPr b="1" lang="en-US"/>
              <a:t>Examples of Algorithms</a:t>
            </a:r>
            <a:r>
              <a:rPr lang="en-US"/>
              <a:t> Round Robin (RR), Shortest Remaining Time First (SRTF), Preemptive Priority. First-Come, First-Served (FCFS), Shortest Job Next (SJN), Non-Preemptive Priority. </a:t>
            </a:r>
            <a:endParaRPr/>
          </a:p>
          <a:p>
            <a:pPr indent="0" lvl="0" marL="0" rtl="0" algn="l">
              <a:spcBef>
                <a:spcPts val="0"/>
              </a:spcBef>
              <a:spcAft>
                <a:spcPts val="0"/>
              </a:spcAft>
              <a:buNone/>
            </a:pPr>
            <a:r>
              <a:t/>
            </a:r>
            <a:endParaRPr/>
          </a:p>
        </p:txBody>
      </p:sp>
      <p:sp>
        <p:nvSpPr>
          <p:cNvPr id="541" name="Google Shape;54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Fairness- giving all process equal share of cpu</a:t>
            </a:r>
            <a:endParaRPr/>
          </a:p>
          <a:p>
            <a:pPr indent="0" lvl="0" marL="0" rtl="0" algn="l">
              <a:spcBef>
                <a:spcPts val="0"/>
              </a:spcBef>
              <a:spcAft>
                <a:spcPts val="0"/>
              </a:spcAft>
              <a:buNone/>
            </a:pPr>
            <a:r>
              <a:t/>
            </a:r>
            <a:endParaRPr/>
          </a:p>
        </p:txBody>
      </p:sp>
      <p:sp>
        <p:nvSpPr>
          <p:cNvPr id="566" name="Google Shape;56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LcParenR"/>
            </a:pPr>
            <a:r>
              <a:rPr lang="en-US"/>
              <a:t>Non-Preemptive Priority Scheduling</a:t>
            </a:r>
            <a:endParaRPr/>
          </a:p>
          <a:p>
            <a:pPr indent="-228600" lvl="1" marL="685800" rtl="0" algn="l">
              <a:spcBef>
                <a:spcPts val="0"/>
              </a:spcBef>
              <a:spcAft>
                <a:spcPts val="0"/>
              </a:spcAft>
              <a:buClr>
                <a:schemeClr val="dk1"/>
              </a:buClr>
              <a:buSzPts val="1200"/>
              <a:buFont typeface="Calibri"/>
              <a:buAutoNum type="alphaLcParenR"/>
            </a:pPr>
            <a:r>
              <a:rPr lang="en-US"/>
              <a:t>CPU is assigned to the process with the highest priority.</a:t>
            </a:r>
            <a:endParaRPr/>
          </a:p>
          <a:p>
            <a:pPr indent="-228600" lvl="1" marL="685800" rtl="0" algn="l">
              <a:spcBef>
                <a:spcPts val="0"/>
              </a:spcBef>
              <a:spcAft>
                <a:spcPts val="0"/>
              </a:spcAft>
              <a:buClr>
                <a:schemeClr val="dk1"/>
              </a:buClr>
              <a:buSzPts val="1200"/>
              <a:buFont typeface="Calibri"/>
              <a:buAutoNum type="alphaLcParenR"/>
            </a:pPr>
            <a:r>
              <a:rPr lang="en-US"/>
              <a:t>Once a process starts running, it finishes before the CPU is given to another process.</a:t>
            </a:r>
            <a:endParaRPr/>
          </a:p>
          <a:p>
            <a:pPr indent="-228600" lvl="0" marL="228600" rtl="0" algn="l">
              <a:spcBef>
                <a:spcPts val="0"/>
              </a:spcBef>
              <a:spcAft>
                <a:spcPts val="0"/>
              </a:spcAft>
              <a:buClr>
                <a:schemeClr val="dk1"/>
              </a:buClr>
              <a:buSzPts val="1200"/>
              <a:buFont typeface="Calibri"/>
              <a:buAutoNum type="alphaLcParenR"/>
            </a:pPr>
            <a:r>
              <a:rPr lang="en-US"/>
              <a:t>Preemptive Priority Scheduling</a:t>
            </a:r>
            <a:endParaRPr/>
          </a:p>
          <a:p>
            <a:pPr indent="-228600" lvl="1" marL="685800" rtl="0" algn="l">
              <a:spcBef>
                <a:spcPts val="0"/>
              </a:spcBef>
              <a:spcAft>
                <a:spcPts val="0"/>
              </a:spcAft>
              <a:buClr>
                <a:schemeClr val="dk1"/>
              </a:buClr>
              <a:buSzPts val="1200"/>
              <a:buFont typeface="Calibri"/>
              <a:buAutoNum type="alphaLcParenR"/>
            </a:pPr>
            <a:r>
              <a:rPr lang="en-US"/>
              <a:t>If a new process with a higher priority arrives, it preempts (interrupts) the currently running process.</a:t>
            </a:r>
            <a:endParaRPr/>
          </a:p>
        </p:txBody>
      </p:sp>
      <p:sp>
        <p:nvSpPr>
          <p:cNvPr id="617" name="Google Shape;617;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 Simple to understand and implement</a:t>
            </a:r>
            <a:br>
              <a:rPr lang="en-US"/>
            </a:br>
            <a:r>
              <a:rPr lang="en-US"/>
              <a:t>✔ Supports both preemptive and non-preemptive</a:t>
            </a:r>
            <a:br>
              <a:rPr lang="en-US"/>
            </a:br>
            <a:r>
              <a:rPr lang="en-US"/>
              <a:t>✔ Useful when processes have different priorities (e.g., OS vs user tasks)</a:t>
            </a:r>
            <a:br>
              <a:rPr lang="en-US"/>
            </a:br>
            <a:r>
              <a:rPr lang="en-US"/>
              <a:t>✔ Good for real-time systems where some tasks must run quickly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Disadvantages</a:t>
            </a:r>
            <a:endParaRPr/>
          </a:p>
          <a:p>
            <a:pPr indent="0" lvl="0" marL="0" rtl="0" algn="l">
              <a:spcBef>
                <a:spcPts val="0"/>
              </a:spcBef>
              <a:spcAft>
                <a:spcPts val="0"/>
              </a:spcAft>
              <a:buNone/>
            </a:pPr>
            <a:r>
              <a:rPr lang="en-US"/>
              <a:t>✘ </a:t>
            </a:r>
            <a:r>
              <a:rPr b="1" lang="en-US"/>
              <a:t>Starvation</a:t>
            </a:r>
            <a:r>
              <a:rPr lang="en-US"/>
              <a:t> for low-priority processes</a:t>
            </a:r>
            <a:br>
              <a:rPr lang="en-US"/>
            </a:br>
            <a:r>
              <a:rPr lang="en-US"/>
              <a:t>✘ Priority assignment can be difficult</a:t>
            </a:r>
            <a:br>
              <a:rPr lang="en-US"/>
            </a:br>
            <a:r>
              <a:rPr lang="en-US"/>
              <a:t>✘ Preemptive version requires more overhead</a:t>
            </a:r>
            <a:br>
              <a:rPr lang="en-US"/>
            </a:br>
            <a:r>
              <a:rPr lang="en-US"/>
              <a:t>✘ Aging must be implemented to avoid starvation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Applications</a:t>
            </a:r>
            <a:endParaRPr/>
          </a:p>
          <a:p>
            <a:pPr indent="0" lvl="0" marL="0" rtl="0" algn="l">
              <a:spcBef>
                <a:spcPts val="0"/>
              </a:spcBef>
              <a:spcAft>
                <a:spcPts val="0"/>
              </a:spcAft>
              <a:buNone/>
            </a:pPr>
            <a:r>
              <a:rPr lang="en-US"/>
              <a:t>Operating systems where some tasks are more important</a:t>
            </a:r>
            <a:endParaRPr/>
          </a:p>
          <a:p>
            <a:pPr indent="0" lvl="0" marL="0" rtl="0" algn="l">
              <a:spcBef>
                <a:spcPts val="0"/>
              </a:spcBef>
              <a:spcAft>
                <a:spcPts val="0"/>
              </a:spcAft>
              <a:buNone/>
            </a:pPr>
            <a:r>
              <a:rPr lang="en-US"/>
              <a:t>Real-time systems (alarm, sensors, interrupts)</a:t>
            </a:r>
            <a:endParaRPr/>
          </a:p>
          <a:p>
            <a:pPr indent="0" lvl="0" marL="0" rtl="0" algn="l">
              <a:spcBef>
                <a:spcPts val="0"/>
              </a:spcBef>
              <a:spcAft>
                <a:spcPts val="0"/>
              </a:spcAft>
              <a:buNone/>
            </a:pPr>
            <a:r>
              <a:rPr lang="en-US"/>
              <a:t>Multimedia &amp; streaming systems</a:t>
            </a:r>
            <a:endParaRPr/>
          </a:p>
          <a:p>
            <a:pPr indent="0" lvl="0" marL="0" rtl="0" algn="l">
              <a:spcBef>
                <a:spcPts val="0"/>
              </a:spcBef>
              <a:spcAft>
                <a:spcPts val="0"/>
              </a:spcAft>
              <a:buNone/>
            </a:pPr>
            <a:r>
              <a:rPr lang="en-US"/>
              <a:t>Network packet scheduling</a:t>
            </a:r>
            <a:endParaRPr/>
          </a:p>
          <a:p>
            <a:pPr indent="0" lvl="0" marL="0" rtl="0" algn="l">
              <a:spcBef>
                <a:spcPts val="0"/>
              </a:spcBef>
              <a:spcAft>
                <a:spcPts val="0"/>
              </a:spcAft>
              <a:buNone/>
            </a:pPr>
            <a:r>
              <a:rPr lang="en-US"/>
              <a:t>Printer/job scheduling</a:t>
            </a:r>
            <a:endParaRPr/>
          </a:p>
          <a:p>
            <a:pPr indent="0" lvl="0" marL="0" rtl="0" algn="l">
              <a:spcBef>
                <a:spcPts val="0"/>
              </a:spcBef>
              <a:spcAft>
                <a:spcPts val="0"/>
              </a:spcAft>
              <a:buNone/>
            </a:pPr>
            <a:r>
              <a:t/>
            </a:r>
            <a:endParaRPr/>
          </a:p>
        </p:txBody>
      </p:sp>
      <p:sp>
        <p:nvSpPr>
          <p:cNvPr id="624" name="Google Shape;624;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Where is RR used?</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-Windows, Linux, and macOS use Round Robin variants.</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-Real-time OS (soft real-time).</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-Multitasking systems where fairness is important.</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Arial"/>
              <a:ea typeface="Arial"/>
              <a:cs typeface="Arial"/>
              <a:sym typeface="Arial"/>
            </a:endParaRPr>
          </a:p>
          <a:p>
            <a:pPr indent="0" lvl="0" marL="0" rtl="0" algn="l">
              <a:spcBef>
                <a:spcPts val="0"/>
              </a:spcBef>
              <a:spcAft>
                <a:spcPts val="0"/>
              </a:spcAft>
              <a:buNone/>
            </a:pPr>
            <a:r>
              <a:rPr b="1" lang="en-US"/>
              <a:t>Choosing Time Quantum</a:t>
            </a:r>
            <a:endParaRPr/>
          </a:p>
          <a:p>
            <a:pPr indent="0" lvl="0" marL="0" rtl="0" algn="l">
              <a:spcBef>
                <a:spcPts val="0"/>
              </a:spcBef>
              <a:spcAft>
                <a:spcPts val="0"/>
              </a:spcAft>
              <a:buNone/>
            </a:pPr>
            <a:r>
              <a:rPr b="1" lang="en-US"/>
              <a:t>-Too small TQ →</a:t>
            </a:r>
            <a:r>
              <a:rPr lang="en-US"/>
              <a:t> high overhead, slow system.</a:t>
            </a:r>
            <a:endParaRPr/>
          </a:p>
          <a:p>
            <a:pPr indent="0" lvl="0" marL="0" rtl="0" algn="l">
              <a:spcBef>
                <a:spcPts val="0"/>
              </a:spcBef>
              <a:spcAft>
                <a:spcPts val="0"/>
              </a:spcAft>
              <a:buNone/>
            </a:pPr>
            <a:r>
              <a:rPr b="1" lang="en-US"/>
              <a:t>-Too large TQ →</a:t>
            </a:r>
            <a:r>
              <a:rPr lang="en-US"/>
              <a:t> behaves like FCFS (bad for fairness).</a:t>
            </a:r>
            <a:endParaRPr/>
          </a:p>
          <a:p>
            <a:pPr indent="0" lvl="0" marL="0" rtl="0" algn="l">
              <a:spcBef>
                <a:spcPts val="0"/>
              </a:spcBef>
              <a:spcAft>
                <a:spcPts val="0"/>
              </a:spcAft>
              <a:buNone/>
            </a:pPr>
            <a:r>
              <a:rPr lang="en-US"/>
              <a:t>-A good TQ makes </a:t>
            </a:r>
            <a:r>
              <a:rPr b="1" lang="en-US"/>
              <a:t>80% of CPU bursts finish in one quantum</a:t>
            </a:r>
            <a:r>
              <a:rPr lang="en-US"/>
              <a:t>.</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Arial"/>
              <a:ea typeface="Arial"/>
              <a:cs typeface="Arial"/>
              <a:sym typeface="Arial"/>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b="1" lang="en-US"/>
              <a:t>Fairness i.e No Starvation : </a:t>
            </a:r>
            <a:r>
              <a:rPr lang="en-US"/>
              <a:t>Every process gets CPU time.</a:t>
            </a:r>
            <a:endParaRPr/>
          </a:p>
          <a:p>
            <a:pPr indent="0" lvl="0" marL="0" rtl="0" algn="l">
              <a:spcBef>
                <a:spcPts val="0"/>
              </a:spcBef>
              <a:spcAft>
                <a:spcPts val="0"/>
              </a:spcAft>
              <a:buNone/>
            </a:pPr>
            <a:r>
              <a:rPr b="1" lang="en-US"/>
              <a:t>Good for Time-Sharing Systems : </a:t>
            </a:r>
            <a:r>
              <a:rPr lang="en-US"/>
              <a:t>Used in real OS for multitasking.</a:t>
            </a:r>
            <a:endParaRPr/>
          </a:p>
          <a:p>
            <a:pPr indent="0" lvl="0" marL="0" rtl="0" algn="l">
              <a:spcBef>
                <a:spcPts val="0"/>
              </a:spcBef>
              <a:spcAft>
                <a:spcPts val="0"/>
              </a:spcAft>
              <a:buNone/>
            </a:pPr>
            <a:r>
              <a:rPr b="1" lang="en-US"/>
              <a:t>Responsive : </a:t>
            </a:r>
            <a:r>
              <a:rPr lang="en-US"/>
              <a:t>Short tasks often finish quickly.</a:t>
            </a:r>
            <a:endParaRPr/>
          </a:p>
          <a:p>
            <a:pPr indent="0" lvl="0" marL="0" rtl="0" algn="l">
              <a:spcBef>
                <a:spcPts val="0"/>
              </a:spcBef>
              <a:spcAft>
                <a:spcPts val="0"/>
              </a:spcAft>
              <a:buNone/>
            </a:pPr>
            <a:r>
              <a:rPr b="1" lang="en-US"/>
              <a:t>Simple &amp; Easy to Implement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Disadvantages</a:t>
            </a:r>
            <a:endParaRPr/>
          </a:p>
          <a:p>
            <a:pPr indent="0" lvl="0" marL="0" rtl="0" algn="l">
              <a:spcBef>
                <a:spcPts val="0"/>
              </a:spcBef>
              <a:spcAft>
                <a:spcPts val="0"/>
              </a:spcAft>
              <a:buNone/>
            </a:pPr>
            <a:r>
              <a:rPr b="1" lang="en-US"/>
              <a:t>More Context Switching: </a:t>
            </a:r>
            <a:r>
              <a:rPr lang="en-US"/>
              <a:t>Too small TQ → many switches → overhead increases.</a:t>
            </a:r>
            <a:endParaRPr/>
          </a:p>
          <a:p>
            <a:pPr indent="0" lvl="0" marL="0" rtl="0" algn="l">
              <a:spcBef>
                <a:spcPts val="0"/>
              </a:spcBef>
              <a:spcAft>
                <a:spcPts val="0"/>
              </a:spcAft>
              <a:buNone/>
            </a:pPr>
            <a:r>
              <a:rPr b="1" lang="en-US"/>
              <a:t>Not Good for CPU-bound Processes :</a:t>
            </a:r>
            <a:r>
              <a:rPr lang="en-US"/>
              <a:t>Long processes keep waiting when many processes exist.</a:t>
            </a:r>
            <a:endParaRPr/>
          </a:p>
          <a:p>
            <a:pPr indent="0" lvl="0" marL="0" rtl="0" algn="l">
              <a:spcBef>
                <a:spcPts val="0"/>
              </a:spcBef>
              <a:spcAft>
                <a:spcPts val="0"/>
              </a:spcAft>
              <a:buNone/>
            </a:pPr>
            <a:r>
              <a:rPr b="1" lang="en-US"/>
              <a:t>Average Waiting Time Can Be High: </a:t>
            </a:r>
            <a:r>
              <a:rPr lang="en-US"/>
              <a:t>Compared to SRTF or Priority scheduling</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
        <p:nvSpPr>
          <p:cNvPr id="650" name="Google Shape;650;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Assume 4 processes P1, P2, P3, P4.</a:t>
            </a:r>
            <a:endParaRPr/>
          </a:p>
          <a:p>
            <a:pPr indent="0" lvl="0" marL="0" rtl="0" algn="l">
              <a:spcBef>
                <a:spcPts val="0"/>
              </a:spcBef>
              <a:spcAft>
                <a:spcPts val="0"/>
              </a:spcAft>
              <a:buNone/>
            </a:pPr>
            <a:r>
              <a:rPr lang="en-US"/>
              <a:t>Each should get 25% CPU.</a:t>
            </a:r>
            <a:endParaRPr/>
          </a:p>
          <a:p>
            <a:pPr indent="0" lvl="0" marL="0" rtl="0" algn="l">
              <a:spcBef>
                <a:spcPts val="0"/>
              </a:spcBef>
              <a:spcAft>
                <a:spcPts val="0"/>
              </a:spcAft>
              <a:buNone/>
            </a:pPr>
            <a:r>
              <a:rPr lang="en-US"/>
              <a:t>If P3 has only received 10% so far, while others received 25%+,</a:t>
            </a:r>
            <a:br>
              <a:rPr lang="en-US"/>
            </a:br>
            <a:r>
              <a:rPr b="1" lang="en-US"/>
              <a:t>P3 will be scheduled next</a:t>
            </a:r>
            <a:r>
              <a:rPr lang="en-US"/>
              <a:t> to catch up.</a:t>
            </a:r>
            <a:endParaRPr/>
          </a:p>
          <a:p>
            <a:pPr indent="0" lvl="0" marL="0" rtl="0" algn="l">
              <a:spcBef>
                <a:spcPts val="0"/>
              </a:spcBef>
              <a:spcAft>
                <a:spcPts val="0"/>
              </a:spcAft>
              <a:buNone/>
            </a:pPr>
            <a:r>
              <a:rPr lang="en-US"/>
              <a:t>This ensures </a:t>
            </a:r>
            <a:r>
              <a:rPr b="1" lang="en-US"/>
              <a:t>fair and proportional CPU distribution</a:t>
            </a:r>
            <a:r>
              <a:rPr lang="en-US"/>
              <a:t>.</a:t>
            </a:r>
            <a:endParaRPr/>
          </a:p>
          <a:p>
            <a:pPr indent="0" lvl="0" marL="0" rtl="0" algn="l">
              <a:spcBef>
                <a:spcPts val="0"/>
              </a:spcBef>
              <a:spcAft>
                <a:spcPts val="0"/>
              </a:spcAft>
              <a:buNone/>
            </a:pPr>
            <a:r>
              <a:t/>
            </a:r>
            <a:endParaRPr/>
          </a:p>
        </p:txBody>
      </p:sp>
      <p:sp>
        <p:nvSpPr>
          <p:cNvPr id="675" name="Google Shape;675;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b="1" lang="en-US"/>
              <a:t>✔ Fairness : </a:t>
            </a:r>
            <a:r>
              <a:rPr lang="en-US"/>
              <a:t>Every process gets a guaranteed CPU share.</a:t>
            </a:r>
            <a:endParaRPr/>
          </a:p>
          <a:p>
            <a:pPr indent="0" lvl="0" marL="0" rtl="0" algn="l">
              <a:spcBef>
                <a:spcPts val="0"/>
              </a:spcBef>
              <a:spcAft>
                <a:spcPts val="0"/>
              </a:spcAft>
              <a:buNone/>
            </a:pPr>
            <a:r>
              <a:rPr b="1" lang="en-US"/>
              <a:t>✔ No starvation: </a:t>
            </a:r>
            <a:r>
              <a:rPr lang="en-US"/>
              <a:t>Even lowest-priority process gets time.</a:t>
            </a:r>
            <a:endParaRPr/>
          </a:p>
          <a:p>
            <a:pPr indent="0" lvl="0" marL="0" rtl="0" algn="l">
              <a:spcBef>
                <a:spcPts val="0"/>
              </a:spcBef>
              <a:spcAft>
                <a:spcPts val="0"/>
              </a:spcAft>
              <a:buNone/>
            </a:pPr>
            <a:r>
              <a:rPr b="1" lang="en-US"/>
              <a:t>✔ Predictable performance: </a:t>
            </a:r>
            <a:r>
              <a:rPr lang="en-US"/>
              <a:t>Useful for user-level scheduling and QoS-based systems.</a:t>
            </a:r>
            <a:endParaRPr/>
          </a:p>
          <a:p>
            <a:pPr indent="0" lvl="0" marL="0" rtl="0" algn="l">
              <a:spcBef>
                <a:spcPts val="0"/>
              </a:spcBef>
              <a:spcAft>
                <a:spcPts val="0"/>
              </a:spcAft>
              <a:buNone/>
            </a:pPr>
            <a:r>
              <a:rPr b="1" lang="en-US"/>
              <a:t>✔ Simple concept : </a:t>
            </a:r>
            <a:r>
              <a:rPr lang="en-US"/>
              <a:t>(Though implementation is a bit more complex.)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Disadvantages</a:t>
            </a:r>
            <a:endParaRPr/>
          </a:p>
          <a:p>
            <a:pPr indent="0" lvl="0" marL="0" rtl="0" algn="l">
              <a:spcBef>
                <a:spcPts val="0"/>
              </a:spcBef>
              <a:spcAft>
                <a:spcPts val="0"/>
              </a:spcAft>
              <a:buNone/>
            </a:pPr>
            <a:r>
              <a:rPr b="1" lang="en-US"/>
              <a:t>✖ Overhead : </a:t>
            </a:r>
            <a:r>
              <a:rPr lang="en-US"/>
              <a:t>The OS must track CPU time </a:t>
            </a:r>
            <a:r>
              <a:rPr b="1" lang="en-US"/>
              <a:t>expected vs actual</a:t>
            </a:r>
            <a:r>
              <a:rPr lang="en-US"/>
              <a:t> for every process.</a:t>
            </a:r>
            <a:endParaRPr/>
          </a:p>
          <a:p>
            <a:pPr indent="0" lvl="0" marL="0" rtl="0" algn="l">
              <a:spcBef>
                <a:spcPts val="0"/>
              </a:spcBef>
              <a:spcAft>
                <a:spcPts val="0"/>
              </a:spcAft>
              <a:buNone/>
            </a:pPr>
            <a:r>
              <a:rPr b="1" lang="en-US"/>
              <a:t>✖ Not optimal for interactive systems: </a:t>
            </a:r>
            <a:r>
              <a:rPr lang="en-US"/>
              <a:t>May feel slow if too many processes share equally.</a:t>
            </a:r>
            <a:endParaRPr/>
          </a:p>
          <a:p>
            <a:pPr indent="0" lvl="0" marL="0" rtl="0" algn="l">
              <a:spcBef>
                <a:spcPts val="0"/>
              </a:spcBef>
              <a:spcAft>
                <a:spcPts val="0"/>
              </a:spcAft>
              <a:buNone/>
            </a:pPr>
            <a:r>
              <a:rPr b="1" lang="en-US"/>
              <a:t>✖ Not suitable for real-time systems: </a:t>
            </a:r>
            <a:r>
              <a:rPr lang="en-US"/>
              <a:t>Does not consider deadlines or urgency.</a:t>
            </a:r>
            <a:endParaRPr/>
          </a:p>
          <a:p>
            <a:pPr indent="0" lvl="0" marL="0" rtl="0" algn="l">
              <a:spcBef>
                <a:spcPts val="0"/>
              </a:spcBef>
              <a:spcAft>
                <a:spcPts val="0"/>
              </a:spcAft>
              <a:buNone/>
            </a:pPr>
            <a:r>
              <a:t/>
            </a:r>
            <a:endParaRPr/>
          </a:p>
        </p:txBody>
      </p:sp>
      <p:sp>
        <p:nvSpPr>
          <p:cNvPr id="682" name="Google Shape;682;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Suppose you have three processes:</a:t>
            </a:r>
            <a:endParaRPr/>
          </a:p>
          <a:p>
            <a:pPr indent="0" lvl="0" marL="0" rtl="0" algn="l">
              <a:spcBef>
                <a:spcPts val="0"/>
              </a:spcBef>
              <a:spcAft>
                <a:spcPts val="0"/>
              </a:spcAft>
              <a:buNone/>
            </a:pPr>
            <a:r>
              <a:rPr lang="en-US"/>
              <a:t>ProcessTicketsP110P220P330</a:t>
            </a:r>
            <a:endParaRPr/>
          </a:p>
          <a:p>
            <a:pPr indent="0" lvl="0" marL="0" rtl="0" algn="l">
              <a:spcBef>
                <a:spcPts val="0"/>
              </a:spcBef>
              <a:spcAft>
                <a:spcPts val="0"/>
              </a:spcAft>
              <a:buNone/>
            </a:pPr>
            <a:r>
              <a:rPr lang="en-US"/>
              <a:t>Total tickets = 60</a:t>
            </a:r>
            <a:endParaRPr/>
          </a:p>
          <a:p>
            <a:pPr indent="0" lvl="0" marL="0" rtl="0" algn="l">
              <a:spcBef>
                <a:spcPts val="0"/>
              </a:spcBef>
              <a:spcAft>
                <a:spcPts val="0"/>
              </a:spcAft>
              <a:buNone/>
            </a:pPr>
            <a:r>
              <a:rPr lang="en-US"/>
              <a:t>Probability of each process getting CPU:</a:t>
            </a:r>
            <a:endParaRPr/>
          </a:p>
          <a:p>
            <a:pPr indent="0" lvl="0" marL="0" rtl="0" algn="l">
              <a:spcBef>
                <a:spcPts val="0"/>
              </a:spcBef>
              <a:spcAft>
                <a:spcPts val="0"/>
              </a:spcAft>
              <a:buNone/>
            </a:pPr>
            <a:r>
              <a:rPr lang="en-US"/>
              <a:t>P1 → 10/60 = </a:t>
            </a:r>
            <a:r>
              <a:rPr b="1" lang="en-US"/>
              <a:t>16.7%</a:t>
            </a:r>
            <a:endParaRPr/>
          </a:p>
          <a:p>
            <a:pPr indent="0" lvl="0" marL="0" rtl="0" algn="l">
              <a:spcBef>
                <a:spcPts val="0"/>
              </a:spcBef>
              <a:spcAft>
                <a:spcPts val="0"/>
              </a:spcAft>
              <a:buNone/>
            </a:pPr>
            <a:r>
              <a:rPr lang="en-US"/>
              <a:t>P2 → 20/60 = </a:t>
            </a:r>
            <a:r>
              <a:rPr b="1" lang="en-US"/>
              <a:t>33.3%</a:t>
            </a:r>
            <a:endParaRPr/>
          </a:p>
          <a:p>
            <a:pPr indent="0" lvl="0" marL="0" rtl="0" algn="l">
              <a:spcBef>
                <a:spcPts val="0"/>
              </a:spcBef>
              <a:spcAft>
                <a:spcPts val="0"/>
              </a:spcAft>
              <a:buNone/>
            </a:pPr>
            <a:r>
              <a:rPr lang="en-US"/>
              <a:t>P3 → 30/60 = </a:t>
            </a:r>
            <a:r>
              <a:rPr b="1" lang="en-US"/>
              <a:t>50%</a:t>
            </a:r>
            <a:endParaRPr/>
          </a:p>
          <a:p>
            <a:pPr indent="0" lvl="0" marL="0" rtl="0" algn="l">
              <a:spcBef>
                <a:spcPts val="0"/>
              </a:spcBef>
              <a:spcAft>
                <a:spcPts val="0"/>
              </a:spcAft>
              <a:buNone/>
            </a:pPr>
            <a:r>
              <a:rPr lang="en-US"/>
              <a:t>P3 gets CPU more frequently because it has more tickets.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Why Lottery Scheduling?</a:t>
            </a:r>
            <a:endParaRPr/>
          </a:p>
          <a:p>
            <a:pPr indent="0" lvl="0" marL="0" rtl="0" algn="l">
              <a:spcBef>
                <a:spcPts val="0"/>
              </a:spcBef>
              <a:spcAft>
                <a:spcPts val="0"/>
              </a:spcAft>
              <a:buNone/>
            </a:pPr>
            <a:r>
              <a:rPr lang="en-US"/>
              <a:t>Because it allows:</a:t>
            </a:r>
            <a:endParaRPr/>
          </a:p>
          <a:p>
            <a:pPr indent="0" lvl="0" marL="0" rtl="0" algn="l">
              <a:spcBef>
                <a:spcPts val="0"/>
              </a:spcBef>
              <a:spcAft>
                <a:spcPts val="0"/>
              </a:spcAft>
              <a:buNone/>
            </a:pPr>
            <a:r>
              <a:rPr b="1" lang="en-US"/>
              <a:t>✔ Proportional Share Scheduling</a:t>
            </a:r>
            <a:endParaRPr/>
          </a:p>
          <a:p>
            <a:pPr indent="0" lvl="0" marL="0" rtl="0" algn="l">
              <a:spcBef>
                <a:spcPts val="0"/>
              </a:spcBef>
              <a:spcAft>
                <a:spcPts val="0"/>
              </a:spcAft>
              <a:buNone/>
            </a:pPr>
            <a:r>
              <a:rPr lang="en-US"/>
              <a:t>CPU time is allocated proportional to the number of tickets.</a:t>
            </a:r>
            <a:endParaRPr/>
          </a:p>
          <a:p>
            <a:pPr indent="0" lvl="0" marL="0" rtl="0" algn="l">
              <a:spcBef>
                <a:spcPts val="0"/>
              </a:spcBef>
              <a:spcAft>
                <a:spcPts val="0"/>
              </a:spcAft>
              <a:buNone/>
            </a:pPr>
            <a:r>
              <a:rPr b="1" lang="en-US"/>
              <a:t>✔ Flexibility</a:t>
            </a:r>
            <a:endParaRPr/>
          </a:p>
          <a:p>
            <a:pPr indent="0" lvl="0" marL="0" rtl="0" algn="l">
              <a:spcBef>
                <a:spcPts val="0"/>
              </a:spcBef>
              <a:spcAft>
                <a:spcPts val="0"/>
              </a:spcAft>
              <a:buNone/>
            </a:pPr>
            <a:r>
              <a:rPr lang="en-US"/>
              <a:t>You can easily change priority by </a:t>
            </a:r>
            <a:r>
              <a:rPr b="1" lang="en-US"/>
              <a:t>adding or removing tickets</a:t>
            </a:r>
            <a:r>
              <a:rPr lang="en-US"/>
              <a:t>.</a:t>
            </a:r>
            <a:endParaRPr/>
          </a:p>
          <a:p>
            <a:pPr indent="0" lvl="0" marL="0" rtl="0" algn="l">
              <a:spcBef>
                <a:spcPts val="0"/>
              </a:spcBef>
              <a:spcAft>
                <a:spcPts val="0"/>
              </a:spcAft>
              <a:buNone/>
            </a:pPr>
            <a:r>
              <a:rPr b="1" lang="en-US"/>
              <a:t>✔ Fairness</a:t>
            </a:r>
            <a:endParaRPr/>
          </a:p>
          <a:p>
            <a:pPr indent="0" lvl="0" marL="0" rtl="0" algn="l">
              <a:spcBef>
                <a:spcPts val="0"/>
              </a:spcBef>
              <a:spcAft>
                <a:spcPts val="0"/>
              </a:spcAft>
              <a:buNone/>
            </a:pPr>
            <a:r>
              <a:rPr lang="en-US"/>
              <a:t>Over a long period, each process gets CPU time proportional to its tickets.</a:t>
            </a:r>
            <a:endParaRPr/>
          </a:p>
          <a:p>
            <a:pPr indent="0" lvl="0" marL="0" rtl="0" algn="l">
              <a:spcBef>
                <a:spcPts val="0"/>
              </a:spcBef>
              <a:spcAft>
                <a:spcPts val="0"/>
              </a:spcAft>
              <a:buNone/>
            </a:pPr>
            <a:r>
              <a:rPr b="1" lang="en-US"/>
              <a:t>✔ Simplicity</a:t>
            </a:r>
            <a:endParaRPr/>
          </a:p>
          <a:p>
            <a:pPr indent="0" lvl="0" marL="0" rtl="0" algn="l">
              <a:spcBef>
                <a:spcPts val="0"/>
              </a:spcBef>
              <a:spcAft>
                <a:spcPts val="0"/>
              </a:spcAft>
              <a:buNone/>
            </a:pPr>
            <a:r>
              <a:rPr lang="en-US"/>
              <a:t>No complex formulas like in EDF or RMS.</a:t>
            </a:r>
            <a:endParaRPr/>
          </a:p>
          <a:p>
            <a:pPr indent="0" lvl="0" marL="0" rtl="0" algn="l">
              <a:spcBef>
                <a:spcPts val="0"/>
              </a:spcBef>
              <a:spcAft>
                <a:spcPts val="0"/>
              </a:spcAft>
              <a:buNone/>
            </a:pPr>
            <a:r>
              <a:t/>
            </a:r>
            <a:endParaRPr/>
          </a:p>
        </p:txBody>
      </p:sp>
      <p:sp>
        <p:nvSpPr>
          <p:cNvPr id="689" name="Google Shape;689;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Questions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Evaluate the impact of hardware trends such as multi-core and hyperthreading on process and thread management in modern OS design.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Discuss the advantages and limitations of modern thread libraries such as POSIX Pthreads or Java Threads. How have they evolved to support multi-core systems?</a:t>
            </a:r>
            <a:endParaRPr/>
          </a:p>
          <a:p>
            <a:pPr indent="0" lvl="0" marL="0" rtl="0" algn="l">
              <a:spcBef>
                <a:spcPts val="0"/>
              </a:spcBef>
              <a:spcAft>
                <a:spcPts val="0"/>
              </a:spcAft>
              <a:buNone/>
            </a:pPr>
            <a:r>
              <a:t/>
            </a:r>
            <a:endParaRPr/>
          </a:p>
        </p:txBody>
      </p:sp>
      <p:sp>
        <p:nvSpPr>
          <p:cNvPr id="696" name="Google Shape;696;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Fungible resources: resources that have multiple instances that can be used interchangeably, like tape drives. Any one of free three can be used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Another example</a:t>
            </a:r>
            <a:br>
              <a:rPr lang="en-US"/>
            </a:br>
            <a:r>
              <a:rPr lang="en-US"/>
              <a:t>two process wants to record data from scanner</a:t>
            </a:r>
            <a:endParaRPr/>
          </a:p>
          <a:p>
            <a:pPr indent="0" lvl="0" marL="0" rtl="0" algn="l">
              <a:spcBef>
                <a:spcPts val="0"/>
              </a:spcBef>
              <a:spcAft>
                <a:spcPts val="0"/>
              </a:spcAft>
              <a:buNone/>
            </a:pPr>
            <a:r>
              <a:rPr lang="en-US"/>
              <a:t>A will first ask for cd and gets it</a:t>
            </a:r>
            <a:endParaRPr/>
          </a:p>
          <a:p>
            <a:pPr indent="0" lvl="0" marL="0" rtl="0" algn="l">
              <a:spcBef>
                <a:spcPts val="0"/>
              </a:spcBef>
              <a:spcAft>
                <a:spcPts val="0"/>
              </a:spcAft>
              <a:buNone/>
            </a:pPr>
            <a:r>
              <a:rPr lang="en-US"/>
              <a:t>B asks for scanner first and gets it</a:t>
            </a:r>
            <a:endParaRPr/>
          </a:p>
          <a:p>
            <a:pPr indent="0" lvl="0" marL="0" rtl="0" algn="l">
              <a:spcBef>
                <a:spcPts val="0"/>
              </a:spcBef>
              <a:spcAft>
                <a:spcPts val="0"/>
              </a:spcAft>
              <a:buNone/>
            </a:pPr>
            <a:r>
              <a:rPr lang="en-US"/>
              <a:t>Now A asks for scanner  but it is being used by B</a:t>
            </a:r>
            <a:endParaRPr/>
          </a:p>
          <a:p>
            <a:pPr indent="0" lvl="0" marL="0" rtl="0" algn="l">
              <a:spcBef>
                <a:spcPts val="0"/>
              </a:spcBef>
              <a:spcAft>
                <a:spcPts val="0"/>
              </a:spcAft>
              <a:buNone/>
            </a:pPr>
            <a:r>
              <a:rPr lang="en-US"/>
              <a:t>And at the same time B asks for cd , and cd is being used by A, not there exists a deadlock condition</a:t>
            </a:r>
            <a:endParaRPr/>
          </a:p>
        </p:txBody>
      </p:sp>
      <p:sp>
        <p:nvSpPr>
          <p:cNvPr id="705" name="Google Shape;705;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Preemptable’s example </a:t>
            </a:r>
            <a:br>
              <a:rPr lang="en-US"/>
            </a:br>
            <a:r>
              <a:rPr b="1" lang="en-US"/>
              <a:t>CPU</a:t>
            </a:r>
            <a:r>
              <a:rPr lang="en-US"/>
              <a:t> (can be taken away using scheduling like Round Robin)</a:t>
            </a:r>
            <a:endParaRPr/>
          </a:p>
          <a:p>
            <a:pPr indent="0" lvl="0" marL="0" rtl="0" algn="l">
              <a:spcBef>
                <a:spcPts val="0"/>
              </a:spcBef>
              <a:spcAft>
                <a:spcPts val="0"/>
              </a:spcAft>
              <a:buNone/>
            </a:pPr>
            <a:r>
              <a:rPr b="1" lang="en-US"/>
              <a:t>Main memory</a:t>
            </a:r>
            <a:r>
              <a:rPr lang="en-US"/>
              <a:t> (pages/frames removed using paging or swapping)</a:t>
            </a:r>
            <a:endParaRPr/>
          </a:p>
          <a:p>
            <a:pPr indent="0" lvl="0" marL="0" rtl="0" algn="l">
              <a:spcBef>
                <a:spcPts val="0"/>
              </a:spcBef>
              <a:spcAft>
                <a:spcPts val="0"/>
              </a:spcAft>
              <a:buNone/>
            </a:pPr>
            <a:r>
              <a:rPr b="1" lang="en-US"/>
              <a:t>Virtual memory</a:t>
            </a:r>
            <a:endParaRPr/>
          </a:p>
          <a:p>
            <a:pPr indent="0" lvl="0" marL="0" rtl="0" algn="l">
              <a:spcBef>
                <a:spcPts val="0"/>
              </a:spcBef>
              <a:spcAft>
                <a:spcPts val="0"/>
              </a:spcAft>
              <a:buNone/>
            </a:pPr>
            <a:r>
              <a:rPr b="1" lang="en-US"/>
              <a:t>Registers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Why important?</a:t>
            </a:r>
            <a:endParaRPr/>
          </a:p>
          <a:p>
            <a:pPr indent="0" lvl="0" marL="0" rtl="0" algn="l">
              <a:spcBef>
                <a:spcPts val="0"/>
              </a:spcBef>
              <a:spcAft>
                <a:spcPts val="0"/>
              </a:spcAft>
              <a:buNone/>
            </a:pPr>
            <a:r>
              <a:rPr lang="en-US"/>
              <a:t>Preemptable resources make it easier to avoid or recover from deadlocks because the OS can forcibly take them back.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Npn preeptable :</a:t>
            </a:r>
            <a:endParaRPr b="1"/>
          </a:p>
          <a:p>
            <a:pPr indent="0" lvl="0" marL="0" rtl="0" algn="l">
              <a:spcBef>
                <a:spcPts val="0"/>
              </a:spcBef>
              <a:spcAft>
                <a:spcPts val="0"/>
              </a:spcAft>
              <a:buNone/>
            </a:pPr>
            <a:r>
              <a:rPr b="1" lang="en-US"/>
              <a:t>Printer</a:t>
            </a:r>
            <a:br>
              <a:rPr lang="en-US"/>
            </a:br>
            <a:r>
              <a:rPr lang="en-US"/>
              <a:t>(If you stop halfway → corrupted output)</a:t>
            </a:r>
            <a:endParaRPr/>
          </a:p>
          <a:p>
            <a:pPr indent="0" lvl="0" marL="0" rtl="0" algn="l">
              <a:spcBef>
                <a:spcPts val="0"/>
              </a:spcBef>
              <a:spcAft>
                <a:spcPts val="0"/>
              </a:spcAft>
              <a:buNone/>
            </a:pPr>
            <a:r>
              <a:rPr b="1" lang="en-US"/>
              <a:t>Files</a:t>
            </a:r>
            <a:r>
              <a:rPr lang="en-US"/>
              <a:t> being written</a:t>
            </a:r>
            <a:endParaRPr/>
          </a:p>
          <a:p>
            <a:pPr indent="0" lvl="0" marL="0" rtl="0" algn="l">
              <a:spcBef>
                <a:spcPts val="0"/>
              </a:spcBef>
              <a:spcAft>
                <a:spcPts val="0"/>
              </a:spcAft>
              <a:buNone/>
            </a:pPr>
            <a:r>
              <a:rPr b="1" lang="en-US"/>
              <a:t>I/O devices</a:t>
            </a:r>
            <a:endParaRPr/>
          </a:p>
          <a:p>
            <a:pPr indent="0" lvl="0" marL="0" rtl="0" algn="l">
              <a:spcBef>
                <a:spcPts val="0"/>
              </a:spcBef>
              <a:spcAft>
                <a:spcPts val="0"/>
              </a:spcAft>
              <a:buNone/>
            </a:pPr>
            <a:r>
              <a:rPr b="1" lang="en-US"/>
              <a:t>Mutex locks/Semaphores</a:t>
            </a:r>
            <a:endParaRPr/>
          </a:p>
          <a:p>
            <a:pPr indent="0" lvl="0" marL="0" rtl="0" algn="l">
              <a:spcBef>
                <a:spcPts val="0"/>
              </a:spcBef>
              <a:spcAft>
                <a:spcPts val="0"/>
              </a:spcAft>
              <a:buNone/>
            </a:pPr>
            <a:r>
              <a:rPr b="1" lang="en-US"/>
              <a:t>Tape drives / CD writers</a:t>
            </a:r>
            <a:endParaRPr/>
          </a:p>
          <a:p>
            <a:pPr indent="0" lvl="0" marL="0" rtl="0" algn="l">
              <a:spcBef>
                <a:spcPts val="0"/>
              </a:spcBef>
              <a:spcAft>
                <a:spcPts val="0"/>
              </a:spcAft>
              <a:buNone/>
            </a:pPr>
            <a:r>
              <a:rPr b="1" lang="en-US"/>
              <a:t>Why important?</a:t>
            </a:r>
            <a:endParaRPr/>
          </a:p>
          <a:p>
            <a:pPr indent="0" lvl="0" marL="0" rtl="0" algn="l">
              <a:spcBef>
                <a:spcPts val="0"/>
              </a:spcBef>
              <a:spcAft>
                <a:spcPts val="0"/>
              </a:spcAft>
              <a:buNone/>
            </a:pPr>
            <a:r>
              <a:rPr lang="en-US"/>
              <a:t>Non-preemptable resources increase the chance of </a:t>
            </a:r>
            <a:r>
              <a:rPr b="1" lang="en-US"/>
              <a:t>deadlocks</a:t>
            </a:r>
            <a:r>
              <a:rPr lang="en-US"/>
              <a:t> because they must be released voluntarily.</a:t>
            </a:r>
            <a:endParaRPr/>
          </a:p>
          <a:p>
            <a:pPr indent="0" lvl="0" marL="0" rtl="0" algn="l">
              <a:spcBef>
                <a:spcPts val="0"/>
              </a:spcBef>
              <a:spcAft>
                <a:spcPts val="0"/>
              </a:spcAft>
              <a:buNone/>
            </a:pPr>
            <a:r>
              <a:t/>
            </a:r>
            <a:endParaRPr/>
          </a:p>
        </p:txBody>
      </p:sp>
      <p:sp>
        <p:nvSpPr>
          <p:cNvPr id="714" name="Google Shape;714;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these Conditions should occur </a:t>
            </a:r>
            <a:br>
              <a:rPr lang="en-US"/>
            </a:br>
            <a:r>
              <a:rPr lang="en-US"/>
              <a:t>just like making fire: heat, fuel, oxygen, chemical reaction </a:t>
            </a:r>
            <a:endParaRPr/>
          </a:p>
        </p:txBody>
      </p:sp>
      <p:sp>
        <p:nvSpPr>
          <p:cNvPr id="727" name="Google Shape;727;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Ostrich Algorithm = Ignore deadlocks because handling them costs more than the rare chance they occur.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Why? </a:t>
            </a:r>
            <a:endParaRPr/>
          </a:p>
          <a:p>
            <a:pPr indent="0" lvl="0" marL="0" rtl="0" algn="l">
              <a:spcBef>
                <a:spcPts val="0"/>
              </a:spcBef>
              <a:spcAft>
                <a:spcPts val="0"/>
              </a:spcAft>
              <a:buNone/>
            </a:pPr>
            <a:r>
              <a:rPr lang="en-US"/>
              <a:t>Deadlocks are rare, and cost of handling them &gt; cost of ignoring.</a:t>
            </a:r>
            <a:endParaRPr/>
          </a:p>
          <a:p>
            <a:pPr indent="0" lvl="0" marL="0" rtl="0" algn="l">
              <a:spcBef>
                <a:spcPts val="0"/>
              </a:spcBef>
              <a:spcAft>
                <a:spcPts val="0"/>
              </a:spcAft>
              <a:buNone/>
            </a:pPr>
            <a:r>
              <a:rPr lang="en-US"/>
              <a:t>If deadlock occurs:</a:t>
            </a:r>
            <a:endParaRPr/>
          </a:p>
          <a:p>
            <a:pPr indent="0" lvl="0" marL="0" rtl="0" algn="l">
              <a:spcBef>
                <a:spcPts val="0"/>
              </a:spcBef>
              <a:spcAft>
                <a:spcPts val="0"/>
              </a:spcAft>
              <a:buNone/>
            </a:pPr>
            <a:r>
              <a:rPr lang="en-US"/>
              <a:t>User manually kills the process</a:t>
            </a:r>
            <a:endParaRPr/>
          </a:p>
          <a:p>
            <a:pPr indent="0" lvl="0" marL="0" rtl="0" algn="l">
              <a:spcBef>
                <a:spcPts val="0"/>
              </a:spcBef>
              <a:spcAft>
                <a:spcPts val="0"/>
              </a:spcAft>
              <a:buNone/>
            </a:pPr>
            <a:r>
              <a:rPr lang="en-US"/>
              <a:t>System reboot is often the “solution”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Deadlock may freeze the system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Where is the Ostrich Approach used?</a:t>
            </a:r>
            <a:endParaRPr/>
          </a:p>
          <a:p>
            <a:pPr indent="0" lvl="0" marL="0" rtl="0" algn="l">
              <a:spcBef>
                <a:spcPts val="0"/>
              </a:spcBef>
              <a:spcAft>
                <a:spcPts val="0"/>
              </a:spcAft>
              <a:buNone/>
            </a:pPr>
            <a:r>
              <a:rPr b="1" lang="en-US"/>
              <a:t>Windows</a:t>
            </a:r>
            <a:r>
              <a:rPr lang="en-US"/>
              <a:t>, </a:t>
            </a:r>
            <a:r>
              <a:rPr b="1" lang="en-US"/>
              <a:t>Linux</a:t>
            </a:r>
            <a:r>
              <a:rPr lang="en-US"/>
              <a:t>, </a:t>
            </a:r>
            <a:r>
              <a:rPr b="1" lang="en-US"/>
              <a:t>Unix</a:t>
            </a:r>
            <a:r>
              <a:rPr lang="en-US"/>
              <a:t> systems</a:t>
            </a:r>
            <a:endParaRPr/>
          </a:p>
          <a:p>
            <a:pPr indent="0" lvl="0" marL="0" rtl="0" algn="l">
              <a:spcBef>
                <a:spcPts val="0"/>
              </a:spcBef>
              <a:spcAft>
                <a:spcPts val="0"/>
              </a:spcAft>
              <a:buNone/>
            </a:pPr>
            <a:r>
              <a:rPr b="1" lang="en-US"/>
              <a:t>Desktop applications</a:t>
            </a:r>
            <a:endParaRPr/>
          </a:p>
          <a:p>
            <a:pPr indent="0" lvl="0" marL="0" rtl="0" algn="l">
              <a:spcBef>
                <a:spcPts val="0"/>
              </a:spcBef>
              <a:spcAft>
                <a:spcPts val="0"/>
              </a:spcAft>
              <a:buNone/>
            </a:pPr>
            <a:r>
              <a:rPr b="1" lang="en-US"/>
              <a:t>General-purpose operating systems</a:t>
            </a:r>
            <a:endParaRPr/>
          </a:p>
          <a:p>
            <a:pPr indent="0" lvl="0" marL="0" rtl="0" algn="l">
              <a:spcBef>
                <a:spcPts val="0"/>
              </a:spcBef>
              <a:spcAft>
                <a:spcPts val="0"/>
              </a:spcAft>
              <a:buNone/>
            </a:pPr>
            <a:r>
              <a:rPr lang="en-US"/>
              <a:t>These systems usually handle errors by:</a:t>
            </a:r>
            <a:endParaRPr/>
          </a:p>
          <a:p>
            <a:pPr indent="0" lvl="0" marL="0" rtl="0" algn="l">
              <a:spcBef>
                <a:spcPts val="0"/>
              </a:spcBef>
              <a:spcAft>
                <a:spcPts val="0"/>
              </a:spcAft>
              <a:buNone/>
            </a:pPr>
            <a:r>
              <a:rPr lang="en-US"/>
              <a:t>Killing and restarting a process</a:t>
            </a:r>
            <a:endParaRPr/>
          </a:p>
          <a:p>
            <a:pPr indent="0" lvl="0" marL="0" rtl="0" algn="l">
              <a:spcBef>
                <a:spcPts val="0"/>
              </a:spcBef>
              <a:spcAft>
                <a:spcPts val="0"/>
              </a:spcAft>
              <a:buNone/>
            </a:pPr>
            <a:r>
              <a:rPr lang="en-US"/>
              <a:t>Rebooting the computer</a:t>
            </a:r>
            <a:endParaRPr/>
          </a:p>
          <a:p>
            <a:pPr indent="0" lvl="0" marL="0" rtl="0" algn="l">
              <a:spcBef>
                <a:spcPts val="0"/>
              </a:spcBef>
              <a:spcAft>
                <a:spcPts val="0"/>
              </a:spcAft>
              <a:buNone/>
            </a:pPr>
            <a:r>
              <a:rPr lang="en-US"/>
              <a:t>Relying on the user to notice and close programs</a:t>
            </a:r>
            <a:endParaRPr/>
          </a:p>
          <a:p>
            <a:pPr indent="0" lvl="0" marL="0" rtl="0" algn="l">
              <a:spcBef>
                <a:spcPts val="0"/>
              </a:spcBef>
              <a:spcAft>
                <a:spcPts val="0"/>
              </a:spcAft>
              <a:buNone/>
            </a:pPr>
            <a:r>
              <a:rPr lang="en-US"/>
              <a:t>This is acceptable because occasional deadlocks are not critical.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 No overhead of detection/prevention</a:t>
            </a:r>
            <a:br>
              <a:rPr lang="en-US"/>
            </a:br>
            <a:r>
              <a:rPr lang="en-US"/>
              <a:t>✔ System becomes simpler</a:t>
            </a:r>
            <a:br>
              <a:rPr lang="en-US"/>
            </a:br>
            <a:r>
              <a:rPr lang="en-US"/>
              <a:t>✔ Performance and concurrency remain high</a:t>
            </a:r>
            <a:br>
              <a:rPr lang="en-US"/>
            </a:br>
            <a:r>
              <a:rPr lang="en-US"/>
              <a:t>✔ Rare deadlocks = minimal real-world impact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Disadvantages</a:t>
            </a:r>
            <a:endParaRPr/>
          </a:p>
          <a:p>
            <a:pPr indent="0" lvl="0" marL="0" rtl="0" algn="l">
              <a:spcBef>
                <a:spcPts val="0"/>
              </a:spcBef>
              <a:spcAft>
                <a:spcPts val="0"/>
              </a:spcAft>
              <a:buNone/>
            </a:pPr>
            <a:r>
              <a:rPr lang="en-US"/>
              <a:t>✘ If a deadlock happens, the system does not fix it</a:t>
            </a:r>
            <a:br>
              <a:rPr lang="en-US"/>
            </a:br>
            <a:r>
              <a:rPr lang="en-US"/>
              <a:t>✘ User may have to restart the program or OS</a:t>
            </a:r>
            <a:br>
              <a:rPr lang="en-US"/>
            </a:br>
            <a:r>
              <a:rPr lang="en-US"/>
              <a:t>✘ Not suitable for critical systems (aircraft control, medical systems)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When NOT to Use Ostrich Algorithm</a:t>
            </a:r>
            <a:endParaRPr/>
          </a:p>
          <a:p>
            <a:pPr indent="0" lvl="0" marL="0" rtl="0" algn="l">
              <a:spcBef>
                <a:spcPts val="0"/>
              </a:spcBef>
              <a:spcAft>
                <a:spcPts val="0"/>
              </a:spcAft>
              <a:buNone/>
            </a:pPr>
            <a:r>
              <a:rPr lang="en-US"/>
              <a:t>Not used in systems where failure is unacceptable:</a:t>
            </a:r>
            <a:endParaRPr/>
          </a:p>
          <a:p>
            <a:pPr indent="0" lvl="0" marL="0" rtl="0" algn="l">
              <a:spcBef>
                <a:spcPts val="0"/>
              </a:spcBef>
              <a:spcAft>
                <a:spcPts val="0"/>
              </a:spcAft>
              <a:buNone/>
            </a:pPr>
            <a:r>
              <a:rPr lang="en-US"/>
              <a:t>Aircraft software</a:t>
            </a:r>
            <a:endParaRPr/>
          </a:p>
          <a:p>
            <a:pPr indent="0" lvl="0" marL="0" rtl="0" algn="l">
              <a:spcBef>
                <a:spcPts val="0"/>
              </a:spcBef>
              <a:spcAft>
                <a:spcPts val="0"/>
              </a:spcAft>
              <a:buNone/>
            </a:pPr>
            <a:r>
              <a:rPr lang="en-US"/>
              <a:t>Medical machines</a:t>
            </a:r>
            <a:endParaRPr/>
          </a:p>
          <a:p>
            <a:pPr indent="0" lvl="0" marL="0" rtl="0" algn="l">
              <a:spcBef>
                <a:spcPts val="0"/>
              </a:spcBef>
              <a:spcAft>
                <a:spcPts val="0"/>
              </a:spcAft>
              <a:buNone/>
            </a:pPr>
            <a:r>
              <a:rPr lang="en-US"/>
              <a:t>Banking systems</a:t>
            </a:r>
            <a:endParaRPr/>
          </a:p>
          <a:p>
            <a:pPr indent="0" lvl="0" marL="0" rtl="0" algn="l">
              <a:spcBef>
                <a:spcPts val="0"/>
              </a:spcBef>
              <a:spcAft>
                <a:spcPts val="0"/>
              </a:spcAft>
              <a:buNone/>
            </a:pPr>
            <a:r>
              <a:rPr lang="en-US"/>
              <a:t>Nuclear power plant systems</a:t>
            </a:r>
            <a:endParaRPr/>
          </a:p>
          <a:p>
            <a:pPr indent="0" lvl="0" marL="0" rtl="0" algn="l">
              <a:spcBef>
                <a:spcPts val="0"/>
              </a:spcBef>
              <a:spcAft>
                <a:spcPts val="0"/>
              </a:spcAft>
              <a:buNone/>
            </a:pPr>
            <a:r>
              <a:rPr lang="en-US"/>
              <a:t>Real-time systems</a:t>
            </a:r>
            <a:endParaRPr/>
          </a:p>
          <a:p>
            <a:pPr indent="0" lvl="0" marL="0" rtl="0" algn="l">
              <a:spcBef>
                <a:spcPts val="0"/>
              </a:spcBef>
              <a:spcAft>
                <a:spcPts val="0"/>
              </a:spcAft>
              <a:buNone/>
            </a:pPr>
            <a:r>
              <a:rPr lang="en-US"/>
              <a:t>These systems </a:t>
            </a:r>
            <a:r>
              <a:rPr b="1" lang="en-US"/>
              <a:t>must</a:t>
            </a:r>
            <a:r>
              <a:rPr lang="en-US"/>
              <a:t> detect and handle deadlocks.</a:t>
            </a:r>
            <a:endParaRPr/>
          </a:p>
          <a:p>
            <a:pPr indent="0" lvl="0" marL="0" rtl="0" algn="l">
              <a:spcBef>
                <a:spcPts val="0"/>
              </a:spcBef>
              <a:spcAft>
                <a:spcPts val="0"/>
              </a:spcAft>
              <a:buNone/>
            </a:pPr>
            <a:r>
              <a:t/>
            </a:r>
            <a:endParaRPr/>
          </a:p>
        </p:txBody>
      </p:sp>
      <p:sp>
        <p:nvSpPr>
          <p:cNvPr id="776" name="Google Shape;776;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1. Eliminate Mutual Exclusion</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🡪Some resources, like a printer, are inherently non-sharable, so this condition is difficult to break. Spooling can help in managing mutual exclusion but not a complete solution.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Queuing requests:</a:t>
            </a:r>
            <a:r>
              <a:rPr b="0" i="0" lang="en-US" sz="1200">
                <a:solidFill>
                  <a:schemeClr val="dk1"/>
                </a:solidFill>
                <a:latin typeface="Calibri"/>
                <a:ea typeface="Calibri"/>
                <a:cs typeface="Calibri"/>
                <a:sym typeface="Calibri"/>
              </a:rPr>
              <a:t> When multiple processes need to access a resource like a printer, their requests are placed in a temporary storage area called a spool.</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Sequential processing:</a:t>
            </a:r>
            <a:r>
              <a:rPr b="0" i="0" lang="en-US" sz="1200">
                <a:solidFill>
                  <a:schemeClr val="dk1"/>
                </a:solidFill>
                <a:latin typeface="Calibri"/>
                <a:ea typeface="Calibri"/>
                <a:cs typeface="Calibri"/>
                <a:sym typeface="Calibri"/>
              </a:rPr>
              <a:t> The spooler then sends these jobs to the device one by one, typically in a First-Come, First-Served (FCFS) order, ensuring that the device is not accessed by multiple processes simultaneously.</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Hiding the wait:</a:t>
            </a:r>
            <a:r>
              <a:rPr b="0" i="0" lang="en-US" sz="1200">
                <a:solidFill>
                  <a:schemeClr val="dk1"/>
                </a:solidFill>
                <a:latin typeface="Calibri"/>
                <a:ea typeface="Calibri"/>
                <a:cs typeface="Calibri"/>
                <a:sym typeface="Calibri"/>
              </a:rPr>
              <a:t> This allows the processes to submit their work quickly without having to wait for the physical device to become free. The waiting happens in the spool area, not at the actual resource, which makes the system appear more efficient.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🡪However, sharable resources like read-only files can be accessed by multiple processes at the same time.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🡪For non-sharable resources, prevention through this method is not possible.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2. Eliminate Hold and Wait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Hold and wait is a condition in which a process holds one resource while simultaneously waiting for another resource that is being held by a different process. The process cannot continue until it gets all the required resources.</a:t>
            </a:r>
            <a:endParaRPr/>
          </a:p>
          <a:p>
            <a:pPr indent="0" lvl="0" marL="0" rtl="0" algn="l">
              <a:spcBef>
                <a:spcPts val="0"/>
              </a:spcBef>
              <a:spcAft>
                <a:spcPts val="0"/>
              </a:spcAft>
              <a:buNone/>
            </a:pPr>
            <a:r>
              <a:t/>
            </a:r>
            <a:endParaRPr/>
          </a:p>
        </p:txBody>
      </p:sp>
      <p:sp>
        <p:nvSpPr>
          <p:cNvPr id="783" name="Google Shape;783;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0" name="Google Shape;820;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Deadlock detection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Mechanism:</a:t>
            </a: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operating system periodically checks the system's state to see if a deadlock has occurred.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Techniques:</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sng">
                <a:solidFill>
                  <a:schemeClr val="dk1"/>
                </a:solidFill>
                <a:latin typeface="Calibri"/>
                <a:ea typeface="Calibri"/>
                <a:cs typeface="Calibri"/>
                <a:sym typeface="Calibri"/>
                <a:hlinkClick r:id="rId2">
                  <a:extLst>
                    <a:ext uri="{A12FA001-AC4F-418D-AE19-62706E023703}">
                      <ahyp:hlinkClr val="tx"/>
                    </a:ext>
                  </a:extLst>
                </a:hlinkClick>
              </a:rPr>
              <a:t>Resource Allocation Graph (RAG)</a:t>
            </a:r>
            <a:r>
              <a:rPr b="1" i="0" lang="en-US" sz="1200">
                <a:solidFill>
                  <a:schemeClr val="dk1"/>
                </a:solidFill>
                <a:latin typeface="Calibri"/>
                <a:ea typeface="Calibri"/>
                <a:cs typeface="Calibri"/>
                <a:sym typeface="Calibri"/>
              </a:rPr>
              <a:t>:</a:t>
            </a:r>
            <a:r>
              <a:rPr b="0" i="0" lang="en-US" sz="1200">
                <a:solidFill>
                  <a:schemeClr val="dk1"/>
                </a:solidFill>
                <a:latin typeface="Calibri"/>
                <a:ea typeface="Calibri"/>
                <a:cs typeface="Calibri"/>
                <a:sym typeface="Calibri"/>
              </a:rPr>
              <a:t> For systems with a single instance of each resource type, a deadlock is identified if a cycle exists in the resource allocation graph.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Matrix-based algorithms:</a:t>
            </a:r>
            <a:r>
              <a:rPr b="0" i="0" lang="en-US" sz="1200">
                <a:solidFill>
                  <a:schemeClr val="dk1"/>
                </a:solidFill>
                <a:latin typeface="Calibri"/>
                <a:ea typeface="Calibri"/>
                <a:cs typeface="Calibri"/>
                <a:sym typeface="Calibri"/>
              </a:rPr>
              <a:t> For systems with multiple instances of resource types, algorithms using matrices and vectors (like Work and Finish) are used to detect deadlocks. </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Deadlock recovery</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Once a deadlock is detected, the system must resolve it. Common recovery methods include: </a:t>
            </a:r>
            <a:endParaRPr/>
          </a:p>
          <a:p>
            <a:pPr indent="0" lvl="0" marL="0" rtl="0" algn="l">
              <a:spcBef>
                <a:spcPts val="0"/>
              </a:spcBef>
              <a:spcAft>
                <a:spcPts val="0"/>
              </a:spcAft>
              <a:buNone/>
            </a:pPr>
            <a:r>
              <a:rPr b="1" i="0" lang="en-US" sz="1200" u="sng">
                <a:solidFill>
                  <a:schemeClr val="dk1"/>
                </a:solidFill>
                <a:latin typeface="Calibri"/>
                <a:ea typeface="Calibri"/>
                <a:cs typeface="Calibri"/>
                <a:sym typeface="Calibri"/>
                <a:hlinkClick r:id="rId3">
                  <a:extLst>
                    <a:ext uri="{A12FA001-AC4F-418D-AE19-62706E023703}">
                      <ahyp:hlinkClr val="tx"/>
                    </a:ext>
                  </a:extLst>
                </a:hlinkClick>
              </a:rPr>
              <a:t>Process termination</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Process termination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Abort one process at a time:</a:t>
            </a:r>
            <a:r>
              <a:rPr b="0" i="0" lang="en-US" sz="1200">
                <a:solidFill>
                  <a:schemeClr val="dk1"/>
                </a:solidFill>
                <a:latin typeface="Calibri"/>
                <a:ea typeface="Calibri"/>
                <a:cs typeface="Calibri"/>
                <a:sym typeface="Calibri"/>
              </a:rPr>
              <a:t> The system aborts processes one by one until the deadlock is broken. This can be inefficient as it requires re-checking for deadlocks after each termination.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Abort all deadlocked processes:</a:t>
            </a:r>
            <a:r>
              <a:rPr b="0" i="0" lang="en-US" sz="1200">
                <a:solidFill>
                  <a:schemeClr val="dk1"/>
                </a:solidFill>
                <a:latin typeface="Calibri"/>
                <a:ea typeface="Calibri"/>
                <a:cs typeface="Calibri"/>
                <a:sym typeface="Calibri"/>
              </a:rPr>
              <a:t> All processes involved in the deadlock are terminated, which is guaranteed to break the cycle but is costly and may result in lost work. </a:t>
            </a:r>
            <a:endParaRPr/>
          </a:p>
          <a:p>
            <a:pPr indent="0" lvl="0" marL="0" rtl="0" algn="l">
              <a:spcBef>
                <a:spcPts val="0"/>
              </a:spcBef>
              <a:spcAft>
                <a:spcPts val="0"/>
              </a:spcAft>
              <a:buNone/>
            </a:pPr>
            <a:r>
              <a:rPr b="1" i="0" lang="en-US" sz="1200" u="sng">
                <a:solidFill>
                  <a:schemeClr val="dk1"/>
                </a:solidFill>
                <a:latin typeface="Calibri"/>
                <a:ea typeface="Calibri"/>
                <a:cs typeface="Calibri"/>
                <a:sym typeface="Calibri"/>
                <a:hlinkClick r:id="rId4">
                  <a:extLst>
                    <a:ext uri="{A12FA001-AC4F-418D-AE19-62706E023703}">
                      <ahyp:hlinkClr val="tx"/>
                    </a:ext>
                  </a:extLst>
                </a:hlinkClick>
              </a:rPr>
              <a:t>Resource preemption</a:t>
            </a:r>
            <a:r>
              <a:rPr b="1" i="0" lang="en-US" sz="1200">
                <a:solidFill>
                  <a:schemeClr val="dk1"/>
                </a:solidFill>
                <a:latin typeface="Calibri"/>
                <a:ea typeface="Calibri"/>
                <a:cs typeface="Calibri"/>
                <a:sym typeface="Calibri"/>
              </a:rPr>
              <a:t>:</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system takes a resource away from one of the deadlocked processes and gives it to another process to break the circular wait. This process must be carefully managed to ensure the safety of the system. </a:t>
            </a:r>
            <a:endParaRPr/>
          </a:p>
          <a:p>
            <a:pPr indent="0" lvl="0" marL="0" rtl="0" algn="l">
              <a:spcBef>
                <a:spcPts val="0"/>
              </a:spcBef>
              <a:spcAft>
                <a:spcPts val="0"/>
              </a:spcAft>
              <a:buNone/>
            </a:pPr>
            <a:r>
              <a:rPr b="1" i="0" lang="en-US" sz="1200" u="sng">
                <a:solidFill>
                  <a:schemeClr val="dk1"/>
                </a:solidFill>
                <a:latin typeface="Calibri"/>
                <a:ea typeface="Calibri"/>
                <a:cs typeface="Calibri"/>
                <a:sym typeface="Calibri"/>
                <a:hlinkClick r:id="rId5">
                  <a:extLst>
                    <a:ext uri="{A12FA001-AC4F-418D-AE19-62706E023703}">
                      <ahyp:hlinkClr val="tx"/>
                    </a:ext>
                  </a:extLst>
                </a:hlinkClick>
              </a:rPr>
              <a:t>Process rollback</a:t>
            </a:r>
            <a:r>
              <a:rPr b="1" i="0" lang="en-US" sz="1200">
                <a:solidFill>
                  <a:schemeClr val="dk1"/>
                </a:solidFill>
                <a:latin typeface="Calibri"/>
                <a:ea typeface="Calibri"/>
                <a:cs typeface="Calibri"/>
                <a:sym typeface="Calibri"/>
              </a:rPr>
              <a:t>:</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process is rolled back to a previous, consistent state where it did not cause a deadlock. This requires a mechanism to checkpoint and restart processes from that point. </a:t>
            </a:r>
            <a:endParaRPr/>
          </a:p>
          <a:p>
            <a:pPr indent="0" lvl="0" marL="0" rtl="0" algn="l">
              <a:spcBef>
                <a:spcPts val="0"/>
              </a:spcBef>
              <a:spcAft>
                <a:spcPts val="0"/>
              </a:spcAft>
              <a:buNone/>
            </a:pPr>
            <a:r>
              <a:t/>
            </a:r>
            <a:endParaRPr/>
          </a:p>
        </p:txBody>
      </p:sp>
      <p:sp>
        <p:nvSpPr>
          <p:cNvPr id="855" name="Google Shape;855;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System protection refers to the set of </a:t>
            </a:r>
            <a:r>
              <a:rPr b="1" lang="en-US"/>
              <a:t>mechanisms, policies, and controls</a:t>
            </a:r>
            <a:r>
              <a:rPr lang="en-US"/>
              <a:t> implemented by an operating system (OS) to safeguard system resources from unauthorized, unintended, or harmful use.</a:t>
            </a:r>
            <a:br>
              <a:rPr lang="en-US"/>
            </a:br>
            <a:r>
              <a:rPr lang="en-US"/>
              <a:t>These protections ensure that programs, users, and processes operate safely without interfering with one another or damaging the system.</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1. What is System Protection?</a:t>
            </a:r>
            <a:endParaRPr/>
          </a:p>
          <a:p>
            <a:pPr indent="0" lvl="0" marL="0" rtl="0" algn="l">
              <a:spcBef>
                <a:spcPts val="0"/>
              </a:spcBef>
              <a:spcAft>
                <a:spcPts val="0"/>
              </a:spcAft>
              <a:buNone/>
            </a:pPr>
            <a:r>
              <a:rPr lang="en-US"/>
              <a:t>System protection is a fundamental OS function that:</a:t>
            </a:r>
            <a:endParaRPr/>
          </a:p>
          <a:p>
            <a:pPr indent="0" lvl="0" marL="0" rtl="0" algn="l">
              <a:spcBef>
                <a:spcPts val="0"/>
              </a:spcBef>
              <a:spcAft>
                <a:spcPts val="0"/>
              </a:spcAft>
              <a:buNone/>
            </a:pPr>
            <a:r>
              <a:rPr b="1" lang="en-US"/>
              <a:t>Controls access</a:t>
            </a:r>
            <a:r>
              <a:rPr lang="en-US"/>
              <a:t> to system resources</a:t>
            </a:r>
            <a:endParaRPr/>
          </a:p>
          <a:p>
            <a:pPr indent="0" lvl="0" marL="0" rtl="0" algn="l">
              <a:spcBef>
                <a:spcPts val="0"/>
              </a:spcBef>
              <a:spcAft>
                <a:spcPts val="0"/>
              </a:spcAft>
              <a:buNone/>
            </a:pPr>
            <a:r>
              <a:rPr lang="en-US"/>
              <a:t>Ensures that each process </a:t>
            </a:r>
            <a:r>
              <a:rPr b="1" lang="en-US"/>
              <a:t>uses only the resources it is permitted to use</a:t>
            </a:r>
            <a:endParaRPr/>
          </a:p>
          <a:p>
            <a:pPr indent="0" lvl="0" marL="0" rtl="0" algn="l">
              <a:spcBef>
                <a:spcPts val="0"/>
              </a:spcBef>
              <a:spcAft>
                <a:spcPts val="0"/>
              </a:spcAft>
              <a:buNone/>
            </a:pPr>
            <a:r>
              <a:rPr lang="en-US"/>
              <a:t>Prevents processes from </a:t>
            </a:r>
            <a:r>
              <a:rPr b="1" lang="en-US"/>
              <a:t>affecting the operation of other processes</a:t>
            </a:r>
            <a:endParaRPr/>
          </a:p>
          <a:p>
            <a:pPr indent="0" lvl="0" marL="0" rtl="0" algn="l">
              <a:spcBef>
                <a:spcPts val="0"/>
              </a:spcBef>
              <a:spcAft>
                <a:spcPts val="0"/>
              </a:spcAft>
              <a:buNone/>
            </a:pPr>
            <a:r>
              <a:rPr lang="en-US"/>
              <a:t>Ensures the </a:t>
            </a:r>
            <a:r>
              <a:rPr b="1" lang="en-US"/>
              <a:t>security and stability</a:t>
            </a:r>
            <a:r>
              <a:rPr lang="en-US"/>
              <a:t> of the operating system</a:t>
            </a:r>
            <a:endParaRPr/>
          </a:p>
          <a:p>
            <a:pPr indent="0" lvl="0" marL="0" rtl="0" algn="l">
              <a:spcBef>
                <a:spcPts val="0"/>
              </a:spcBef>
              <a:spcAft>
                <a:spcPts val="0"/>
              </a:spcAft>
              <a:buNone/>
            </a:pPr>
            <a:r>
              <a:rPr lang="en-US"/>
              <a:t>In simple terms, </a:t>
            </a:r>
            <a:r>
              <a:rPr b="1" lang="en-US"/>
              <a:t>it is the OS’s job to protect the system from misuse—intentional or accidental.</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Why is System Protection Needed?</a:t>
            </a:r>
            <a:endParaRPr/>
          </a:p>
          <a:p>
            <a:pPr indent="0" lvl="0" marL="0" rtl="0" algn="l">
              <a:spcBef>
                <a:spcPts val="0"/>
              </a:spcBef>
              <a:spcAft>
                <a:spcPts val="0"/>
              </a:spcAft>
              <a:buNone/>
            </a:pPr>
            <a:r>
              <a:rPr lang="en-US"/>
              <a:t>Operating systems support multiple users and processes running simultaneously.</a:t>
            </a:r>
            <a:br>
              <a:rPr lang="en-US"/>
            </a:br>
            <a:r>
              <a:rPr lang="en-US"/>
              <a:t>Without protection:</a:t>
            </a:r>
            <a:endParaRPr/>
          </a:p>
          <a:p>
            <a:pPr indent="0" lvl="0" marL="0" rtl="0" algn="l">
              <a:spcBef>
                <a:spcPts val="0"/>
              </a:spcBef>
              <a:spcAft>
                <a:spcPts val="0"/>
              </a:spcAft>
              <a:buNone/>
            </a:pPr>
            <a:r>
              <a:rPr lang="en-US"/>
              <a:t>A faulty process could corrupt memory.</a:t>
            </a:r>
            <a:endParaRPr/>
          </a:p>
          <a:p>
            <a:pPr indent="0" lvl="0" marL="0" rtl="0" algn="l">
              <a:spcBef>
                <a:spcPts val="0"/>
              </a:spcBef>
              <a:spcAft>
                <a:spcPts val="0"/>
              </a:spcAft>
              <a:buNone/>
            </a:pPr>
            <a:r>
              <a:rPr lang="en-US"/>
              <a:t>A malicious program could destroy files.</a:t>
            </a:r>
            <a:endParaRPr/>
          </a:p>
          <a:p>
            <a:pPr indent="0" lvl="0" marL="0" rtl="0" algn="l">
              <a:spcBef>
                <a:spcPts val="0"/>
              </a:spcBef>
              <a:spcAft>
                <a:spcPts val="0"/>
              </a:spcAft>
              <a:buNone/>
            </a:pPr>
            <a:r>
              <a:rPr lang="en-US"/>
              <a:t>Unauthorized users could steal data.</a:t>
            </a:r>
            <a:endParaRPr/>
          </a:p>
          <a:p>
            <a:pPr indent="0" lvl="0" marL="0" rtl="0" algn="l">
              <a:spcBef>
                <a:spcPts val="0"/>
              </a:spcBef>
              <a:spcAft>
                <a:spcPts val="0"/>
              </a:spcAft>
              <a:buNone/>
            </a:pPr>
            <a:r>
              <a:rPr lang="en-US"/>
              <a:t>A process could monopolize CPU or I/O resources.</a:t>
            </a:r>
            <a:endParaRPr/>
          </a:p>
          <a:p>
            <a:pPr indent="0" lvl="0" marL="0" rtl="0" algn="l">
              <a:spcBef>
                <a:spcPts val="0"/>
              </a:spcBef>
              <a:spcAft>
                <a:spcPts val="0"/>
              </a:spcAft>
              <a:buNone/>
            </a:pPr>
            <a:r>
              <a:rPr lang="en-US"/>
              <a:t>Thus, protection ensures </a:t>
            </a:r>
            <a:r>
              <a:rPr b="1" lang="en-US"/>
              <a:t>reliability, security, and controlled access</a:t>
            </a:r>
            <a:r>
              <a:rPr lang="en-US"/>
              <a: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Resources That Require Protection</a:t>
            </a:r>
            <a:endParaRPr/>
          </a:p>
          <a:p>
            <a:pPr indent="0" lvl="0" marL="0" rtl="0" algn="l">
              <a:spcBef>
                <a:spcPts val="0"/>
              </a:spcBef>
              <a:spcAft>
                <a:spcPts val="0"/>
              </a:spcAft>
              <a:buNone/>
            </a:pPr>
            <a:r>
              <a:rPr lang="en-US"/>
              <a:t>The OS must protect several types of resources:</a:t>
            </a:r>
            <a:endParaRPr/>
          </a:p>
          <a:p>
            <a:pPr indent="0" lvl="0" marL="0" rtl="0" algn="l">
              <a:spcBef>
                <a:spcPts val="0"/>
              </a:spcBef>
              <a:spcAft>
                <a:spcPts val="0"/>
              </a:spcAft>
              <a:buNone/>
            </a:pPr>
            <a:r>
              <a:rPr b="1" lang="en-US"/>
              <a:t>✔ 1. Files</a:t>
            </a:r>
            <a:endParaRPr/>
          </a:p>
          <a:p>
            <a:pPr indent="0" lvl="0" marL="0" rtl="0" algn="l">
              <a:spcBef>
                <a:spcPts val="0"/>
              </a:spcBef>
              <a:spcAft>
                <a:spcPts val="0"/>
              </a:spcAft>
              <a:buNone/>
            </a:pPr>
            <a:r>
              <a:rPr lang="en-US"/>
              <a:t>Prevent unauthorized reading, writing, modification, or deletion.</a:t>
            </a:r>
            <a:endParaRPr/>
          </a:p>
          <a:p>
            <a:pPr indent="0" lvl="0" marL="0" rtl="0" algn="l">
              <a:spcBef>
                <a:spcPts val="0"/>
              </a:spcBef>
              <a:spcAft>
                <a:spcPts val="0"/>
              </a:spcAft>
              <a:buNone/>
            </a:pPr>
            <a:r>
              <a:rPr lang="en-US"/>
              <a:t>Enforce permissions (Read, Write, Execute).</a:t>
            </a:r>
            <a:endParaRPr/>
          </a:p>
          <a:p>
            <a:pPr indent="0" lvl="0" marL="0" rtl="0" algn="l">
              <a:spcBef>
                <a:spcPts val="0"/>
              </a:spcBef>
              <a:spcAft>
                <a:spcPts val="0"/>
              </a:spcAft>
              <a:buNone/>
            </a:pPr>
            <a:r>
              <a:rPr lang="en-US"/>
              <a:t>Use file access control lists (ACLs), file modes, encryption.</a:t>
            </a:r>
            <a:endParaRPr/>
          </a:p>
          <a:p>
            <a:pPr indent="0" lvl="0" marL="0" rtl="0" algn="l">
              <a:spcBef>
                <a:spcPts val="0"/>
              </a:spcBef>
              <a:spcAft>
                <a:spcPts val="0"/>
              </a:spcAft>
              <a:buNone/>
            </a:pPr>
            <a:r>
              <a:rPr b="1" lang="en-US"/>
              <a:t>✔ 2. Memory</a:t>
            </a:r>
            <a:endParaRPr/>
          </a:p>
          <a:p>
            <a:pPr indent="0" lvl="0" marL="0" rtl="0" algn="l">
              <a:spcBef>
                <a:spcPts val="0"/>
              </a:spcBef>
              <a:spcAft>
                <a:spcPts val="0"/>
              </a:spcAft>
              <a:buNone/>
            </a:pPr>
            <a:r>
              <a:rPr lang="en-US"/>
              <a:t>Each process should have its own protected memory space.</a:t>
            </a:r>
            <a:endParaRPr/>
          </a:p>
          <a:p>
            <a:pPr indent="0" lvl="0" marL="0" rtl="0" algn="l">
              <a:spcBef>
                <a:spcPts val="0"/>
              </a:spcBef>
              <a:spcAft>
                <a:spcPts val="0"/>
              </a:spcAft>
              <a:buNone/>
            </a:pPr>
            <a:r>
              <a:rPr lang="en-US"/>
              <a:t>Prevents:</a:t>
            </a:r>
            <a:endParaRPr/>
          </a:p>
          <a:p>
            <a:pPr indent="0" lvl="1" marL="457200" rtl="0" algn="l">
              <a:spcBef>
                <a:spcPts val="0"/>
              </a:spcBef>
              <a:spcAft>
                <a:spcPts val="0"/>
              </a:spcAft>
              <a:buNone/>
            </a:pPr>
            <a:r>
              <a:rPr lang="en-US"/>
              <a:t>Accessing memory of other processes</a:t>
            </a:r>
            <a:endParaRPr/>
          </a:p>
          <a:p>
            <a:pPr indent="0" lvl="1" marL="457200" rtl="0" algn="l">
              <a:spcBef>
                <a:spcPts val="0"/>
              </a:spcBef>
              <a:spcAft>
                <a:spcPts val="0"/>
              </a:spcAft>
              <a:buNone/>
            </a:pPr>
            <a:r>
              <a:rPr lang="en-US"/>
              <a:t>Overwriting OS memory</a:t>
            </a:r>
            <a:endParaRPr/>
          </a:p>
          <a:p>
            <a:pPr indent="0" lvl="1" marL="457200" rtl="0" algn="l">
              <a:spcBef>
                <a:spcPts val="0"/>
              </a:spcBef>
              <a:spcAft>
                <a:spcPts val="0"/>
              </a:spcAft>
              <a:buNone/>
            </a:pPr>
            <a:r>
              <a:rPr lang="en-US"/>
              <a:t>Buffer overflows</a:t>
            </a:r>
            <a:endParaRPr/>
          </a:p>
          <a:p>
            <a:pPr indent="0" lvl="0" marL="0" rtl="0" algn="l">
              <a:spcBef>
                <a:spcPts val="0"/>
              </a:spcBef>
              <a:spcAft>
                <a:spcPts val="0"/>
              </a:spcAft>
              <a:buNone/>
            </a:pPr>
            <a:r>
              <a:rPr lang="en-US"/>
              <a:t>Implemented using paging, segmentation, memory bounds registers.</a:t>
            </a:r>
            <a:endParaRPr/>
          </a:p>
          <a:p>
            <a:pPr indent="0" lvl="0" marL="0" rtl="0" algn="l">
              <a:spcBef>
                <a:spcPts val="0"/>
              </a:spcBef>
              <a:spcAft>
                <a:spcPts val="0"/>
              </a:spcAft>
              <a:buNone/>
            </a:pPr>
            <a:r>
              <a:rPr b="1" lang="en-US"/>
              <a:t>✔ 3. CPU Time</a:t>
            </a:r>
            <a:endParaRPr/>
          </a:p>
          <a:p>
            <a:pPr indent="0" lvl="0" marL="0" rtl="0" algn="l">
              <a:spcBef>
                <a:spcPts val="0"/>
              </a:spcBef>
              <a:spcAft>
                <a:spcPts val="0"/>
              </a:spcAft>
              <a:buNone/>
            </a:pPr>
            <a:r>
              <a:rPr lang="en-US"/>
              <a:t>Prevent one process from monopolizing CPU.</a:t>
            </a:r>
            <a:endParaRPr/>
          </a:p>
          <a:p>
            <a:pPr indent="0" lvl="0" marL="0" rtl="0" algn="l">
              <a:spcBef>
                <a:spcPts val="0"/>
              </a:spcBef>
              <a:spcAft>
                <a:spcPts val="0"/>
              </a:spcAft>
              <a:buNone/>
            </a:pPr>
            <a:r>
              <a:rPr lang="en-US"/>
              <a:t>Scheduler ensures fair allocation.</a:t>
            </a:r>
            <a:endParaRPr/>
          </a:p>
          <a:p>
            <a:pPr indent="0" lvl="0" marL="0" rtl="0" algn="l">
              <a:spcBef>
                <a:spcPts val="0"/>
              </a:spcBef>
              <a:spcAft>
                <a:spcPts val="0"/>
              </a:spcAft>
              <a:buNone/>
            </a:pPr>
            <a:r>
              <a:rPr lang="en-US"/>
              <a:t>Protection prevents:</a:t>
            </a:r>
            <a:endParaRPr/>
          </a:p>
          <a:p>
            <a:pPr indent="0" lvl="1" marL="457200" rtl="0" algn="l">
              <a:spcBef>
                <a:spcPts val="0"/>
              </a:spcBef>
              <a:spcAft>
                <a:spcPts val="0"/>
              </a:spcAft>
              <a:buNone/>
            </a:pPr>
            <a:r>
              <a:rPr lang="en-US"/>
              <a:t>Infinite loops blocking the CPU</a:t>
            </a:r>
            <a:endParaRPr/>
          </a:p>
          <a:p>
            <a:pPr indent="0" lvl="1" marL="457200" rtl="0" algn="l">
              <a:spcBef>
                <a:spcPts val="0"/>
              </a:spcBef>
              <a:spcAft>
                <a:spcPts val="0"/>
              </a:spcAft>
              <a:buNone/>
            </a:pPr>
            <a:r>
              <a:rPr lang="en-US"/>
              <a:t>Starvation of other processes</a:t>
            </a:r>
            <a:endParaRPr/>
          </a:p>
          <a:p>
            <a:pPr indent="0" lvl="0" marL="0" rtl="0" algn="l">
              <a:spcBef>
                <a:spcPts val="0"/>
              </a:spcBef>
              <a:spcAft>
                <a:spcPts val="0"/>
              </a:spcAft>
              <a:buNone/>
            </a:pPr>
            <a:r>
              <a:rPr b="1" lang="en-US"/>
              <a:t>✔ 4. I/O Devices</a:t>
            </a:r>
            <a:endParaRPr/>
          </a:p>
          <a:p>
            <a:pPr indent="0" lvl="0" marL="0" rtl="0" algn="l">
              <a:spcBef>
                <a:spcPts val="0"/>
              </a:spcBef>
              <a:spcAft>
                <a:spcPts val="0"/>
              </a:spcAft>
              <a:buNone/>
            </a:pPr>
            <a:r>
              <a:rPr lang="en-US"/>
              <a:t>Ensures only authorized processes use devices like printers, disks, network cards.</a:t>
            </a:r>
            <a:endParaRPr/>
          </a:p>
          <a:p>
            <a:pPr indent="0" lvl="0" marL="0" rtl="0" algn="l">
              <a:spcBef>
                <a:spcPts val="0"/>
              </a:spcBef>
              <a:spcAft>
                <a:spcPts val="0"/>
              </a:spcAft>
              <a:buNone/>
            </a:pPr>
            <a:r>
              <a:rPr lang="en-US"/>
              <a:t>Device drivers + I/O permissions handle this.</a:t>
            </a:r>
            <a:endParaRPr/>
          </a:p>
          <a:p>
            <a:pPr indent="0" lvl="0" marL="0" rtl="0" algn="l">
              <a:spcBef>
                <a:spcPts val="0"/>
              </a:spcBef>
              <a:spcAft>
                <a:spcPts val="0"/>
              </a:spcAft>
              <a:buNone/>
            </a:pPr>
            <a:r>
              <a:rPr b="1" lang="en-US"/>
              <a:t>✔ 5. System Data / OS Kernel</a:t>
            </a:r>
            <a:endParaRPr/>
          </a:p>
          <a:p>
            <a:pPr indent="0" lvl="0" marL="0" rtl="0" algn="l">
              <a:spcBef>
                <a:spcPts val="0"/>
              </a:spcBef>
              <a:spcAft>
                <a:spcPts val="0"/>
              </a:spcAft>
              <a:buNone/>
            </a:pPr>
            <a:r>
              <a:rPr lang="en-US"/>
              <a:t>Kernel is the heart of the OS; corruption would crash the system.</a:t>
            </a:r>
            <a:endParaRPr/>
          </a:p>
          <a:p>
            <a:pPr indent="0" lvl="0" marL="0" rtl="0" algn="l">
              <a:spcBef>
                <a:spcPts val="0"/>
              </a:spcBef>
              <a:spcAft>
                <a:spcPts val="0"/>
              </a:spcAft>
              <a:buNone/>
            </a:pPr>
            <a:r>
              <a:rPr lang="en-US"/>
              <a:t>Kernel mode of execution protects critical instructions.</a:t>
            </a:r>
            <a:endParaRPr/>
          </a:p>
          <a:p>
            <a:pPr indent="0" lvl="0" marL="0" rtl="0" algn="l">
              <a:spcBef>
                <a:spcPts val="0"/>
              </a:spcBef>
              <a:spcAft>
                <a:spcPts val="0"/>
              </a:spcAft>
              <a:buNone/>
            </a:pPr>
            <a:r>
              <a:rPr lang="en-US"/>
              <a:t>Only OS can execute privileged operations.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4. What Does System Protection Prevent?</a:t>
            </a:r>
            <a:endParaRPr/>
          </a:p>
          <a:p>
            <a:pPr indent="0" lvl="0" marL="0" rtl="0" algn="l">
              <a:spcBef>
                <a:spcPts val="0"/>
              </a:spcBef>
              <a:spcAft>
                <a:spcPts val="0"/>
              </a:spcAft>
              <a:buNone/>
            </a:pPr>
            <a:r>
              <a:rPr lang="en-US"/>
              <a:t>System protection mechanisms prevent both </a:t>
            </a:r>
            <a:r>
              <a:rPr b="1" lang="en-US"/>
              <a:t>accidental errors</a:t>
            </a:r>
            <a:r>
              <a:rPr lang="en-US"/>
              <a:t> and </a:t>
            </a:r>
            <a:r>
              <a:rPr b="1" lang="en-US"/>
              <a:t>intentional misuse</a:t>
            </a:r>
            <a:r>
              <a:rPr lang="en-US"/>
              <a:t>:</a:t>
            </a:r>
            <a:endParaRPr/>
          </a:p>
          <a:p>
            <a:pPr indent="0" lvl="0" marL="0" rtl="0" algn="l">
              <a:spcBef>
                <a:spcPts val="0"/>
              </a:spcBef>
              <a:spcAft>
                <a:spcPts val="0"/>
              </a:spcAft>
              <a:buNone/>
            </a:pPr>
            <a:r>
              <a:rPr b="1" lang="en-US"/>
              <a:t>✔ 1. Accidental Errors</a:t>
            </a:r>
            <a:endParaRPr/>
          </a:p>
          <a:p>
            <a:pPr indent="0" lvl="0" marL="0" rtl="0" algn="l">
              <a:spcBef>
                <a:spcPts val="0"/>
              </a:spcBef>
              <a:spcAft>
                <a:spcPts val="0"/>
              </a:spcAft>
              <a:buNone/>
            </a:pPr>
            <a:r>
              <a:rPr lang="en-US"/>
              <a:t>Examples:</a:t>
            </a:r>
            <a:endParaRPr/>
          </a:p>
          <a:p>
            <a:pPr indent="0" lvl="0" marL="0" rtl="0" algn="l">
              <a:spcBef>
                <a:spcPts val="0"/>
              </a:spcBef>
              <a:spcAft>
                <a:spcPts val="0"/>
              </a:spcAft>
              <a:buNone/>
            </a:pPr>
            <a:r>
              <a:rPr lang="en-US"/>
              <a:t>A buggy program modifying memory of another program.</a:t>
            </a:r>
            <a:endParaRPr/>
          </a:p>
          <a:p>
            <a:pPr indent="0" lvl="0" marL="0" rtl="0" algn="l">
              <a:spcBef>
                <a:spcPts val="0"/>
              </a:spcBef>
              <a:spcAft>
                <a:spcPts val="0"/>
              </a:spcAft>
              <a:buNone/>
            </a:pPr>
            <a:r>
              <a:rPr lang="en-US"/>
              <a:t>A user accidentally deleting system files.</a:t>
            </a:r>
            <a:endParaRPr/>
          </a:p>
          <a:p>
            <a:pPr indent="0" lvl="0" marL="0" rtl="0" algn="l">
              <a:spcBef>
                <a:spcPts val="0"/>
              </a:spcBef>
              <a:spcAft>
                <a:spcPts val="0"/>
              </a:spcAft>
              <a:buNone/>
            </a:pPr>
            <a:r>
              <a:rPr lang="en-US"/>
              <a:t>A process stuck in an infinite loop blocking CPU.</a:t>
            </a:r>
            <a:endParaRPr/>
          </a:p>
          <a:p>
            <a:pPr indent="0" lvl="0" marL="0" rtl="0" algn="l">
              <a:spcBef>
                <a:spcPts val="0"/>
              </a:spcBef>
              <a:spcAft>
                <a:spcPts val="0"/>
              </a:spcAft>
              <a:buNone/>
            </a:pPr>
            <a:r>
              <a:rPr lang="en-US"/>
              <a:t>Protection mechanisms ensure these errors do not affect system stability.</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2. Malicious Attacks</a:t>
            </a:r>
            <a:endParaRPr/>
          </a:p>
          <a:p>
            <a:pPr indent="0" lvl="0" marL="0" rtl="0" algn="l">
              <a:spcBef>
                <a:spcPts val="0"/>
              </a:spcBef>
              <a:spcAft>
                <a:spcPts val="0"/>
              </a:spcAft>
              <a:buNone/>
            </a:pPr>
            <a:r>
              <a:rPr lang="en-US"/>
              <a:t>Examples:</a:t>
            </a:r>
            <a:endParaRPr/>
          </a:p>
          <a:p>
            <a:pPr indent="0" lvl="0" marL="0" rtl="0" algn="l">
              <a:spcBef>
                <a:spcPts val="0"/>
              </a:spcBef>
              <a:spcAft>
                <a:spcPts val="0"/>
              </a:spcAft>
              <a:buNone/>
            </a:pPr>
            <a:r>
              <a:rPr lang="en-US"/>
              <a:t>Malware attempting to read or destroy files.</a:t>
            </a:r>
            <a:endParaRPr/>
          </a:p>
          <a:p>
            <a:pPr indent="0" lvl="0" marL="0" rtl="0" algn="l">
              <a:spcBef>
                <a:spcPts val="0"/>
              </a:spcBef>
              <a:spcAft>
                <a:spcPts val="0"/>
              </a:spcAft>
              <a:buNone/>
            </a:pPr>
            <a:r>
              <a:rPr lang="en-US"/>
              <a:t>Unauthorized network access.</a:t>
            </a:r>
            <a:endParaRPr/>
          </a:p>
          <a:p>
            <a:pPr indent="0" lvl="0" marL="0" rtl="0" algn="l">
              <a:spcBef>
                <a:spcPts val="0"/>
              </a:spcBef>
              <a:spcAft>
                <a:spcPts val="0"/>
              </a:spcAft>
              <a:buNone/>
            </a:pPr>
            <a:r>
              <a:rPr lang="en-US"/>
              <a:t>Privilege escalation attacks (gaining admin/root access illegally).</a:t>
            </a:r>
            <a:endParaRPr/>
          </a:p>
          <a:p>
            <a:pPr indent="0" lvl="0" marL="0" rtl="0" algn="l">
              <a:spcBef>
                <a:spcPts val="0"/>
              </a:spcBef>
              <a:spcAft>
                <a:spcPts val="0"/>
              </a:spcAft>
              <a:buNone/>
            </a:pPr>
            <a:r>
              <a:rPr lang="en-US"/>
              <a:t>Protection stops attackers and restricts capabilities.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 3. Resource Misuse</a:t>
            </a:r>
            <a:endParaRPr/>
          </a:p>
          <a:p>
            <a:pPr indent="0" lvl="0" marL="0" rtl="0" algn="l">
              <a:spcBef>
                <a:spcPts val="0"/>
              </a:spcBef>
              <a:spcAft>
                <a:spcPts val="0"/>
              </a:spcAft>
              <a:buNone/>
            </a:pPr>
            <a:r>
              <a:rPr lang="en-US"/>
              <a:t>Examples:</a:t>
            </a:r>
            <a:endParaRPr/>
          </a:p>
          <a:p>
            <a:pPr indent="0" lvl="0" marL="0" rtl="0" algn="l">
              <a:spcBef>
                <a:spcPts val="0"/>
              </a:spcBef>
              <a:spcAft>
                <a:spcPts val="0"/>
              </a:spcAft>
              <a:buNone/>
            </a:pPr>
            <a:r>
              <a:rPr lang="en-US"/>
              <a:t>A process consuming all CPU or memory.</a:t>
            </a:r>
            <a:endParaRPr/>
          </a:p>
          <a:p>
            <a:pPr indent="0" lvl="0" marL="0" rtl="0" algn="l">
              <a:spcBef>
                <a:spcPts val="0"/>
              </a:spcBef>
              <a:spcAft>
                <a:spcPts val="0"/>
              </a:spcAft>
              <a:buNone/>
            </a:pPr>
            <a:r>
              <a:rPr lang="en-US"/>
              <a:t>A user using a shared printer without permission.</a:t>
            </a:r>
            <a:endParaRPr/>
          </a:p>
          <a:p>
            <a:pPr indent="0" lvl="0" marL="0" rtl="0" algn="l">
              <a:spcBef>
                <a:spcPts val="0"/>
              </a:spcBef>
              <a:spcAft>
                <a:spcPts val="0"/>
              </a:spcAft>
              <a:buNone/>
            </a:pPr>
            <a:r>
              <a:rPr lang="en-US"/>
              <a:t>A program flooding the OS with I/O requests.</a:t>
            </a:r>
            <a:endParaRPr/>
          </a:p>
          <a:p>
            <a:pPr indent="0" lvl="0" marL="0" rtl="0" algn="l">
              <a:spcBef>
                <a:spcPts val="0"/>
              </a:spcBef>
              <a:spcAft>
                <a:spcPts val="0"/>
              </a:spcAft>
              <a:buNone/>
            </a:pPr>
            <a:r>
              <a:rPr lang="en-US"/>
              <a:t>System protection guarantees that resources are used </a:t>
            </a:r>
            <a:r>
              <a:rPr b="1" lang="en-US"/>
              <a:t>fairly, securely, and efficiently</a:t>
            </a:r>
            <a:r>
              <a:rPr lang="en-US"/>
              <a: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5. How the OS Implements Protection</a:t>
            </a:r>
            <a:endParaRPr/>
          </a:p>
          <a:p>
            <a:pPr indent="0" lvl="0" marL="0" rtl="0" algn="l">
              <a:spcBef>
                <a:spcPts val="0"/>
              </a:spcBef>
              <a:spcAft>
                <a:spcPts val="0"/>
              </a:spcAft>
              <a:buNone/>
            </a:pPr>
            <a:r>
              <a:rPr lang="en-US"/>
              <a:t>Operating systems use a combination of mechanisms:</a:t>
            </a:r>
            <a:endParaRPr/>
          </a:p>
          <a:p>
            <a:pPr indent="0" lvl="0" marL="0" rtl="0" algn="l">
              <a:spcBef>
                <a:spcPts val="0"/>
              </a:spcBef>
              <a:spcAft>
                <a:spcPts val="0"/>
              </a:spcAft>
              <a:buNone/>
            </a:pPr>
            <a:r>
              <a:rPr b="1" lang="en-US"/>
              <a:t>✔ 1. Hardware Protection</a:t>
            </a:r>
            <a:endParaRPr/>
          </a:p>
          <a:p>
            <a:pPr indent="0" lvl="0" marL="0" rtl="0" algn="l">
              <a:spcBef>
                <a:spcPts val="0"/>
              </a:spcBef>
              <a:spcAft>
                <a:spcPts val="0"/>
              </a:spcAft>
              <a:buNone/>
            </a:pPr>
            <a:r>
              <a:rPr lang="en-US"/>
              <a:t>CPU modes: </a:t>
            </a:r>
            <a:r>
              <a:rPr b="1" lang="en-US"/>
              <a:t>User Mode</a:t>
            </a:r>
            <a:r>
              <a:rPr lang="en-US"/>
              <a:t> and </a:t>
            </a:r>
            <a:r>
              <a:rPr b="1" lang="en-US"/>
              <a:t>Kernel Mode</a:t>
            </a:r>
            <a:endParaRPr/>
          </a:p>
          <a:p>
            <a:pPr indent="0" lvl="0" marL="0" rtl="0" algn="l">
              <a:spcBef>
                <a:spcPts val="0"/>
              </a:spcBef>
              <a:spcAft>
                <a:spcPts val="0"/>
              </a:spcAft>
              <a:buNone/>
            </a:pPr>
            <a:r>
              <a:rPr lang="en-US"/>
              <a:t>Memory protection: </a:t>
            </a:r>
            <a:r>
              <a:rPr b="1" lang="en-US"/>
              <a:t>base and limit registers</a:t>
            </a:r>
            <a:r>
              <a:rPr lang="en-US"/>
              <a:t>, </a:t>
            </a:r>
            <a:r>
              <a:rPr b="1" lang="en-US"/>
              <a:t>paging</a:t>
            </a:r>
            <a:r>
              <a:rPr lang="en-US"/>
              <a:t>, </a:t>
            </a:r>
            <a:r>
              <a:rPr b="1" lang="en-US"/>
              <a:t>segmentation</a:t>
            </a:r>
            <a:endParaRPr/>
          </a:p>
          <a:p>
            <a:pPr indent="0" lvl="0" marL="0" rtl="0" algn="l">
              <a:spcBef>
                <a:spcPts val="0"/>
              </a:spcBef>
              <a:spcAft>
                <a:spcPts val="0"/>
              </a:spcAft>
              <a:buNone/>
            </a:pPr>
            <a:r>
              <a:rPr lang="en-US"/>
              <a:t>Privileged instructions reserved for OS</a:t>
            </a:r>
            <a:endParaRPr/>
          </a:p>
          <a:p>
            <a:pPr indent="0" lvl="0" marL="0" rtl="0" algn="l">
              <a:spcBef>
                <a:spcPts val="0"/>
              </a:spcBef>
              <a:spcAft>
                <a:spcPts val="0"/>
              </a:spcAft>
              <a:buNone/>
            </a:pPr>
            <a:r>
              <a:rPr b="1" lang="en-US"/>
              <a:t>✔ 2. Access Control Mechanisms</a:t>
            </a:r>
            <a:endParaRPr/>
          </a:p>
          <a:p>
            <a:pPr indent="0" lvl="0" marL="0" rtl="0" algn="l">
              <a:spcBef>
                <a:spcPts val="0"/>
              </a:spcBef>
              <a:spcAft>
                <a:spcPts val="0"/>
              </a:spcAft>
              <a:buNone/>
            </a:pPr>
            <a:r>
              <a:rPr lang="en-US"/>
              <a:t>Access control lists (ACLs)</a:t>
            </a:r>
            <a:endParaRPr/>
          </a:p>
          <a:p>
            <a:pPr indent="0" lvl="0" marL="0" rtl="0" algn="l">
              <a:spcBef>
                <a:spcPts val="0"/>
              </a:spcBef>
              <a:spcAft>
                <a:spcPts val="0"/>
              </a:spcAft>
              <a:buNone/>
            </a:pPr>
            <a:r>
              <a:rPr lang="en-US"/>
              <a:t>Access matrix model</a:t>
            </a:r>
            <a:endParaRPr/>
          </a:p>
          <a:p>
            <a:pPr indent="0" lvl="0" marL="0" rtl="0" algn="l">
              <a:spcBef>
                <a:spcPts val="0"/>
              </a:spcBef>
              <a:spcAft>
                <a:spcPts val="0"/>
              </a:spcAft>
              <a:buNone/>
            </a:pPr>
            <a:r>
              <a:rPr lang="en-US"/>
              <a:t>Role-based access control</a:t>
            </a:r>
            <a:endParaRPr/>
          </a:p>
          <a:p>
            <a:pPr indent="0" lvl="0" marL="0" rtl="0" algn="l">
              <a:spcBef>
                <a:spcPts val="0"/>
              </a:spcBef>
              <a:spcAft>
                <a:spcPts val="0"/>
              </a:spcAft>
              <a:buNone/>
            </a:pPr>
            <a:r>
              <a:rPr lang="en-US"/>
              <a:t>Permissions (Read, Write, Execute)</a:t>
            </a:r>
            <a:endParaRPr/>
          </a:p>
          <a:p>
            <a:pPr indent="0" lvl="0" marL="0" rtl="0" algn="l">
              <a:spcBef>
                <a:spcPts val="0"/>
              </a:spcBef>
              <a:spcAft>
                <a:spcPts val="0"/>
              </a:spcAft>
              <a:buNone/>
            </a:pPr>
            <a:r>
              <a:rPr b="1" lang="en-US"/>
              <a:t>✔ 3. Authentication and Authorization</a:t>
            </a:r>
            <a:endParaRPr/>
          </a:p>
          <a:p>
            <a:pPr indent="0" lvl="0" marL="0" rtl="0" algn="l">
              <a:spcBef>
                <a:spcPts val="0"/>
              </a:spcBef>
              <a:spcAft>
                <a:spcPts val="0"/>
              </a:spcAft>
              <a:buNone/>
            </a:pPr>
            <a:r>
              <a:rPr lang="en-US"/>
              <a:t>Login/passwords</a:t>
            </a:r>
            <a:endParaRPr/>
          </a:p>
          <a:p>
            <a:pPr indent="0" lvl="0" marL="0" rtl="0" algn="l">
              <a:spcBef>
                <a:spcPts val="0"/>
              </a:spcBef>
              <a:spcAft>
                <a:spcPts val="0"/>
              </a:spcAft>
              <a:buNone/>
            </a:pPr>
            <a:r>
              <a:rPr lang="en-US"/>
              <a:t>Tokens, biometrics</a:t>
            </a:r>
            <a:endParaRPr/>
          </a:p>
          <a:p>
            <a:pPr indent="0" lvl="0" marL="0" rtl="0" algn="l">
              <a:spcBef>
                <a:spcPts val="0"/>
              </a:spcBef>
              <a:spcAft>
                <a:spcPts val="0"/>
              </a:spcAft>
              <a:buNone/>
            </a:pPr>
            <a:r>
              <a:rPr lang="en-US"/>
              <a:t>User roles and privileges</a:t>
            </a:r>
            <a:endParaRPr/>
          </a:p>
          <a:p>
            <a:pPr indent="0" lvl="0" marL="0" rtl="0" algn="l">
              <a:spcBef>
                <a:spcPts val="0"/>
              </a:spcBef>
              <a:spcAft>
                <a:spcPts val="0"/>
              </a:spcAft>
              <a:buNone/>
            </a:pPr>
            <a:r>
              <a:rPr b="1" lang="en-US"/>
              <a:t>✔ 4. Process Isolation</a:t>
            </a:r>
            <a:endParaRPr/>
          </a:p>
          <a:p>
            <a:pPr indent="0" lvl="0" marL="0" rtl="0" algn="l">
              <a:spcBef>
                <a:spcPts val="0"/>
              </a:spcBef>
              <a:spcAft>
                <a:spcPts val="0"/>
              </a:spcAft>
              <a:buNone/>
            </a:pPr>
            <a:r>
              <a:rPr lang="en-US"/>
              <a:t>Each process runs in its own protected memory space.</a:t>
            </a:r>
            <a:endParaRPr/>
          </a:p>
          <a:p>
            <a:pPr indent="0" lvl="0" marL="0" rtl="0" algn="l">
              <a:spcBef>
                <a:spcPts val="0"/>
              </a:spcBef>
              <a:spcAft>
                <a:spcPts val="0"/>
              </a:spcAft>
              <a:buNone/>
            </a:pPr>
            <a:r>
              <a:rPr lang="en-US"/>
              <a:t>No direct access to other processes.</a:t>
            </a:r>
            <a:endParaRPr/>
          </a:p>
          <a:p>
            <a:pPr indent="0" lvl="0" marL="0" rtl="0" algn="l">
              <a:spcBef>
                <a:spcPts val="0"/>
              </a:spcBef>
              <a:spcAft>
                <a:spcPts val="0"/>
              </a:spcAft>
              <a:buNone/>
            </a:pPr>
            <a:r>
              <a:rPr b="1" lang="en-US"/>
              <a:t>✔ 5. File System Protection</a:t>
            </a:r>
            <a:endParaRPr/>
          </a:p>
          <a:p>
            <a:pPr indent="0" lvl="0" marL="0" rtl="0" algn="l">
              <a:spcBef>
                <a:spcPts val="0"/>
              </a:spcBef>
              <a:spcAft>
                <a:spcPts val="0"/>
              </a:spcAft>
              <a:buNone/>
            </a:pPr>
            <a:r>
              <a:rPr lang="en-US"/>
              <a:t>Permission bits, ownership</a:t>
            </a:r>
            <a:endParaRPr/>
          </a:p>
          <a:p>
            <a:pPr indent="0" lvl="0" marL="0" rtl="0" algn="l">
              <a:spcBef>
                <a:spcPts val="0"/>
              </a:spcBef>
              <a:spcAft>
                <a:spcPts val="0"/>
              </a:spcAft>
              <a:buNone/>
            </a:pPr>
            <a:r>
              <a:rPr lang="en-US"/>
              <a:t>Encryption</a:t>
            </a:r>
            <a:endParaRPr/>
          </a:p>
          <a:p>
            <a:pPr indent="0" lvl="0" marL="0" rtl="0" algn="l">
              <a:spcBef>
                <a:spcPts val="0"/>
              </a:spcBef>
              <a:spcAft>
                <a:spcPts val="0"/>
              </a:spcAft>
              <a:buNone/>
            </a:pPr>
            <a:r>
              <a:rPr lang="en-US"/>
              <a:t>Secure file access APIs</a:t>
            </a:r>
            <a:endParaRPr/>
          </a:p>
          <a:p>
            <a:pPr indent="0" lvl="0" marL="0" rtl="0" algn="l">
              <a:spcBef>
                <a:spcPts val="0"/>
              </a:spcBef>
              <a:spcAft>
                <a:spcPts val="0"/>
              </a:spcAft>
              <a:buNone/>
            </a:pPr>
            <a:br>
              <a:rPr lang="en-US"/>
            </a:br>
            <a:r>
              <a:rPr b="1" lang="en-US"/>
              <a:t>6. Goals of System Protection</a:t>
            </a:r>
            <a:endParaRPr/>
          </a:p>
          <a:p>
            <a:pPr indent="0" lvl="0" marL="0" rtl="0" algn="l">
              <a:spcBef>
                <a:spcPts val="0"/>
              </a:spcBef>
              <a:spcAft>
                <a:spcPts val="0"/>
              </a:spcAft>
              <a:buNone/>
            </a:pPr>
            <a:r>
              <a:rPr lang="en-US"/>
              <a:t>The OS protection system aims for:</a:t>
            </a:r>
            <a:endParaRPr/>
          </a:p>
          <a:p>
            <a:pPr indent="0" lvl="0" marL="0" rtl="0" algn="l">
              <a:spcBef>
                <a:spcPts val="0"/>
              </a:spcBef>
              <a:spcAft>
                <a:spcPts val="0"/>
              </a:spcAft>
              <a:buNone/>
            </a:pPr>
            <a:r>
              <a:rPr b="1" lang="en-US"/>
              <a:t>✔ Correctness</a:t>
            </a:r>
            <a:endParaRPr/>
          </a:p>
          <a:p>
            <a:pPr indent="0" lvl="0" marL="0" rtl="0" algn="l">
              <a:spcBef>
                <a:spcPts val="0"/>
              </a:spcBef>
              <a:spcAft>
                <a:spcPts val="0"/>
              </a:spcAft>
              <a:buNone/>
            </a:pPr>
            <a:r>
              <a:rPr lang="en-US"/>
              <a:t>Programs behave as intended.</a:t>
            </a:r>
            <a:endParaRPr/>
          </a:p>
          <a:p>
            <a:pPr indent="0" lvl="0" marL="0" rtl="0" algn="l">
              <a:spcBef>
                <a:spcPts val="0"/>
              </a:spcBef>
              <a:spcAft>
                <a:spcPts val="0"/>
              </a:spcAft>
              <a:buNone/>
            </a:pPr>
            <a:r>
              <a:rPr b="1" lang="en-US"/>
              <a:t>✔ Preventing Interference</a:t>
            </a:r>
            <a:endParaRPr/>
          </a:p>
          <a:p>
            <a:pPr indent="0" lvl="0" marL="0" rtl="0" algn="l">
              <a:spcBef>
                <a:spcPts val="0"/>
              </a:spcBef>
              <a:spcAft>
                <a:spcPts val="0"/>
              </a:spcAft>
              <a:buNone/>
            </a:pPr>
            <a:r>
              <a:rPr lang="en-US"/>
              <a:t>Processes do not interfere with other processes or OS.</a:t>
            </a:r>
            <a:endParaRPr/>
          </a:p>
          <a:p>
            <a:pPr indent="0" lvl="0" marL="0" rtl="0" algn="l">
              <a:spcBef>
                <a:spcPts val="0"/>
              </a:spcBef>
              <a:spcAft>
                <a:spcPts val="0"/>
              </a:spcAft>
              <a:buNone/>
            </a:pPr>
            <a:r>
              <a:rPr b="1" lang="en-US"/>
              <a:t>✔ Controlled Access</a:t>
            </a:r>
            <a:endParaRPr/>
          </a:p>
          <a:p>
            <a:pPr indent="0" lvl="0" marL="0" rtl="0" algn="l">
              <a:spcBef>
                <a:spcPts val="0"/>
              </a:spcBef>
              <a:spcAft>
                <a:spcPts val="0"/>
              </a:spcAft>
              <a:buNone/>
            </a:pPr>
            <a:r>
              <a:rPr lang="en-US"/>
              <a:t>Only allowed operations are permitted.</a:t>
            </a:r>
            <a:endParaRPr/>
          </a:p>
          <a:p>
            <a:pPr indent="0" lvl="0" marL="0" rtl="0" algn="l">
              <a:spcBef>
                <a:spcPts val="0"/>
              </a:spcBef>
              <a:spcAft>
                <a:spcPts val="0"/>
              </a:spcAft>
              <a:buNone/>
            </a:pPr>
            <a:r>
              <a:rPr b="1" lang="en-US"/>
              <a:t>✔ Reliability</a:t>
            </a:r>
            <a:endParaRPr/>
          </a:p>
          <a:p>
            <a:pPr indent="0" lvl="0" marL="0" rtl="0" algn="l">
              <a:spcBef>
                <a:spcPts val="0"/>
              </a:spcBef>
              <a:spcAft>
                <a:spcPts val="0"/>
              </a:spcAft>
              <a:buNone/>
            </a:pPr>
            <a:r>
              <a:rPr lang="en-US"/>
              <a:t>System continues functioning even if faults occur.</a:t>
            </a:r>
            <a:endParaRPr/>
          </a:p>
          <a:p>
            <a:pPr indent="0" lvl="0" marL="0" rtl="0" algn="l">
              <a:spcBef>
                <a:spcPts val="0"/>
              </a:spcBef>
              <a:spcAft>
                <a:spcPts val="0"/>
              </a:spcAft>
              <a:buNone/>
            </a:pPr>
            <a:r>
              <a:rPr b="1" lang="en-US"/>
              <a:t>✔ Security</a:t>
            </a:r>
            <a:endParaRPr/>
          </a:p>
          <a:p>
            <a:pPr indent="0" lvl="0" marL="0" rtl="0" algn="l">
              <a:spcBef>
                <a:spcPts val="0"/>
              </a:spcBef>
              <a:spcAft>
                <a:spcPts val="0"/>
              </a:spcAft>
              <a:buNone/>
            </a:pPr>
            <a:r>
              <a:rPr lang="en-US"/>
              <a:t>Protection from unauthorized access and attacks.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lang="en-US"/>
              <a:t>System protection is essential to ensure:</a:t>
            </a:r>
            <a:endParaRPr/>
          </a:p>
          <a:p>
            <a:pPr indent="0" lvl="0" marL="0" rtl="0" algn="l">
              <a:spcBef>
                <a:spcPts val="0"/>
              </a:spcBef>
              <a:spcAft>
                <a:spcPts val="0"/>
              </a:spcAft>
              <a:buNone/>
            </a:pPr>
            <a:r>
              <a:rPr b="1" lang="en-US"/>
              <a:t>Security</a:t>
            </a:r>
            <a:endParaRPr/>
          </a:p>
          <a:p>
            <a:pPr indent="0" lvl="0" marL="0" rtl="0" algn="l">
              <a:spcBef>
                <a:spcPts val="0"/>
              </a:spcBef>
              <a:spcAft>
                <a:spcPts val="0"/>
              </a:spcAft>
              <a:buNone/>
            </a:pPr>
            <a:r>
              <a:rPr b="1" lang="en-US"/>
              <a:t>Stability</a:t>
            </a:r>
            <a:endParaRPr/>
          </a:p>
          <a:p>
            <a:pPr indent="0" lvl="0" marL="0" rtl="0" algn="l">
              <a:spcBef>
                <a:spcPts val="0"/>
              </a:spcBef>
              <a:spcAft>
                <a:spcPts val="0"/>
              </a:spcAft>
              <a:buNone/>
            </a:pPr>
            <a:r>
              <a:rPr b="1" lang="en-US"/>
              <a:t>Fair resource usage</a:t>
            </a:r>
            <a:endParaRPr/>
          </a:p>
          <a:p>
            <a:pPr indent="0" lvl="0" marL="0" rtl="0" algn="l">
              <a:spcBef>
                <a:spcPts val="0"/>
              </a:spcBef>
              <a:spcAft>
                <a:spcPts val="0"/>
              </a:spcAft>
              <a:buNone/>
            </a:pPr>
            <a:r>
              <a:rPr b="1" lang="en-US"/>
              <a:t>Isolation of processes</a:t>
            </a:r>
            <a:endParaRPr/>
          </a:p>
          <a:p>
            <a:pPr indent="0" lvl="0" marL="0" rtl="0" algn="l">
              <a:spcBef>
                <a:spcPts val="0"/>
              </a:spcBef>
              <a:spcAft>
                <a:spcPts val="0"/>
              </a:spcAft>
              <a:buNone/>
            </a:pPr>
            <a:r>
              <a:rPr b="1" lang="en-US"/>
              <a:t>Protection of critical system components</a:t>
            </a:r>
            <a:endParaRPr/>
          </a:p>
          <a:p>
            <a:pPr indent="0" lvl="0" marL="0" rtl="0" algn="l">
              <a:spcBef>
                <a:spcPts val="0"/>
              </a:spcBef>
              <a:spcAft>
                <a:spcPts val="0"/>
              </a:spcAft>
              <a:buNone/>
            </a:pPr>
            <a:r>
              <a:rPr lang="en-US"/>
              <a:t>It safeguards </a:t>
            </a:r>
            <a:r>
              <a:rPr b="1" lang="en-US"/>
              <a:t>files, memory, CPU, I/O devices, and the OS kernel</a:t>
            </a:r>
            <a:r>
              <a:rPr lang="en-US"/>
              <a:t>, preventing accidental errors, malicious attacks, and misuse of system resources.</a:t>
            </a:r>
            <a:endParaRPr/>
          </a:p>
          <a:p>
            <a:pPr indent="0" lvl="0" marL="0" rtl="0" algn="l">
              <a:spcBef>
                <a:spcPts val="0"/>
              </a:spcBef>
              <a:spcAft>
                <a:spcPts val="0"/>
              </a:spcAft>
              <a:buNone/>
            </a:pPr>
            <a:r>
              <a:t/>
            </a:r>
            <a:endParaRPr/>
          </a:p>
        </p:txBody>
      </p:sp>
      <p:sp>
        <p:nvSpPr>
          <p:cNvPr id="862" name="Google Shape;862;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1. Confidentiality</a:t>
            </a:r>
            <a:endParaRPr/>
          </a:p>
          <a:p>
            <a:pPr indent="0" lvl="0" marL="0" rtl="0" algn="l">
              <a:spcBef>
                <a:spcPts val="0"/>
              </a:spcBef>
              <a:spcAft>
                <a:spcPts val="0"/>
              </a:spcAft>
              <a:buNone/>
            </a:pPr>
            <a:r>
              <a:rPr lang="en-US"/>
              <a:t>Confidentiality ensures that </a:t>
            </a:r>
            <a:r>
              <a:rPr b="1" lang="en-US"/>
              <a:t>information is not disclosed to unauthorized users</a:t>
            </a:r>
            <a:r>
              <a:rPr lang="en-US"/>
              <a:t>.</a:t>
            </a:r>
            <a:endParaRPr/>
          </a:p>
          <a:p>
            <a:pPr indent="0" lvl="0" marL="0" rtl="0" algn="l">
              <a:spcBef>
                <a:spcPts val="0"/>
              </a:spcBef>
              <a:spcAft>
                <a:spcPts val="0"/>
              </a:spcAft>
              <a:buNone/>
            </a:pPr>
            <a:r>
              <a:rPr b="1" lang="en-US"/>
              <a:t>What it means:</a:t>
            </a:r>
            <a:endParaRPr/>
          </a:p>
          <a:p>
            <a:pPr indent="0" lvl="0" marL="0" rtl="0" algn="l">
              <a:spcBef>
                <a:spcPts val="0"/>
              </a:spcBef>
              <a:spcAft>
                <a:spcPts val="0"/>
              </a:spcAft>
              <a:buNone/>
            </a:pPr>
            <a:r>
              <a:rPr lang="en-US"/>
              <a:t>Only authorized processes/users can </a:t>
            </a:r>
            <a:r>
              <a:rPr b="1" lang="en-US"/>
              <a:t>view</a:t>
            </a:r>
            <a:r>
              <a:rPr lang="en-US"/>
              <a:t> data.</a:t>
            </a:r>
            <a:endParaRPr/>
          </a:p>
          <a:p>
            <a:pPr indent="0" lvl="0" marL="0" rtl="0" algn="l">
              <a:spcBef>
                <a:spcPts val="0"/>
              </a:spcBef>
              <a:spcAft>
                <a:spcPts val="0"/>
              </a:spcAft>
              <a:buNone/>
            </a:pPr>
            <a:r>
              <a:rPr lang="en-US"/>
              <a:t>Others should not even know the data exists.</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A student should not see another student’s marks.</a:t>
            </a:r>
            <a:endParaRPr/>
          </a:p>
          <a:p>
            <a:pPr indent="0" lvl="0" marL="0" rtl="0" algn="l">
              <a:spcBef>
                <a:spcPts val="0"/>
              </a:spcBef>
              <a:spcAft>
                <a:spcPts val="0"/>
              </a:spcAft>
              <a:buNone/>
            </a:pPr>
            <a:r>
              <a:rPr lang="en-US"/>
              <a:t>Password files should not be readable by normal users.</a:t>
            </a:r>
            <a:endParaRPr/>
          </a:p>
          <a:p>
            <a:pPr indent="0" lvl="0" marL="0" rtl="0" algn="l">
              <a:spcBef>
                <a:spcPts val="0"/>
              </a:spcBef>
              <a:spcAft>
                <a:spcPts val="0"/>
              </a:spcAft>
              <a:buNone/>
            </a:pPr>
            <a:r>
              <a:rPr lang="en-US"/>
              <a:t>Banking software should hide account details from unauthorized people.</a:t>
            </a:r>
            <a:endParaRPr/>
          </a:p>
          <a:p>
            <a:pPr indent="0" lvl="0" marL="0" rtl="0" algn="l">
              <a:spcBef>
                <a:spcPts val="0"/>
              </a:spcBef>
              <a:spcAft>
                <a:spcPts val="0"/>
              </a:spcAft>
              <a:buNone/>
            </a:pPr>
            <a:r>
              <a:rPr b="1" lang="en-US"/>
              <a:t>Why important?</a:t>
            </a:r>
            <a:endParaRPr/>
          </a:p>
          <a:p>
            <a:pPr indent="0" lvl="0" marL="0" rtl="0" algn="l">
              <a:spcBef>
                <a:spcPts val="0"/>
              </a:spcBef>
              <a:spcAft>
                <a:spcPts val="0"/>
              </a:spcAft>
              <a:buNone/>
            </a:pPr>
            <a:r>
              <a:rPr lang="en-US"/>
              <a:t>Prevents </a:t>
            </a:r>
            <a:r>
              <a:rPr b="1" lang="en-US"/>
              <a:t>privacy violations</a:t>
            </a:r>
            <a:r>
              <a:rPr lang="en-US"/>
              <a:t>, </a:t>
            </a:r>
            <a:r>
              <a:rPr b="1" lang="en-US"/>
              <a:t>data leakage</a:t>
            </a:r>
            <a:r>
              <a:rPr lang="en-US"/>
              <a:t>, and </a:t>
            </a:r>
            <a:r>
              <a:rPr b="1" lang="en-US"/>
              <a:t>exposure</a:t>
            </a:r>
            <a:r>
              <a:rPr lang="en-US"/>
              <a:t> of sensitive information.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2. Integrity</a:t>
            </a:r>
            <a:endParaRPr/>
          </a:p>
          <a:p>
            <a:pPr indent="0" lvl="0" marL="0" rtl="0" algn="l">
              <a:spcBef>
                <a:spcPts val="0"/>
              </a:spcBef>
              <a:spcAft>
                <a:spcPts val="0"/>
              </a:spcAft>
              <a:buNone/>
            </a:pPr>
            <a:r>
              <a:rPr lang="en-US"/>
              <a:t>Integrity protects data from </a:t>
            </a:r>
            <a:r>
              <a:rPr b="1" lang="en-US"/>
              <a:t>unauthorized modification, damage, or deletion</a:t>
            </a:r>
            <a:r>
              <a:rPr lang="en-US"/>
              <a:t>.</a:t>
            </a:r>
            <a:endParaRPr/>
          </a:p>
          <a:p>
            <a:pPr indent="0" lvl="0" marL="0" rtl="0" algn="l">
              <a:spcBef>
                <a:spcPts val="0"/>
              </a:spcBef>
              <a:spcAft>
                <a:spcPts val="0"/>
              </a:spcAft>
              <a:buNone/>
            </a:pPr>
            <a:r>
              <a:rPr b="1" lang="en-US"/>
              <a:t>What it means:</a:t>
            </a:r>
            <a:endParaRPr/>
          </a:p>
          <a:p>
            <a:pPr indent="0" lvl="0" marL="0" rtl="0" algn="l">
              <a:spcBef>
                <a:spcPts val="0"/>
              </a:spcBef>
              <a:spcAft>
                <a:spcPts val="0"/>
              </a:spcAft>
              <a:buNone/>
            </a:pPr>
            <a:r>
              <a:rPr lang="en-US"/>
              <a:t>Data must remain </a:t>
            </a:r>
            <a:r>
              <a:rPr b="1" lang="en-US"/>
              <a:t>accurate</a:t>
            </a:r>
            <a:r>
              <a:rPr lang="en-US"/>
              <a:t> and </a:t>
            </a:r>
            <a:r>
              <a:rPr b="1" lang="en-US"/>
              <a:t>consistent</a:t>
            </a:r>
            <a:r>
              <a:rPr lang="en-US"/>
              <a:t>.</a:t>
            </a:r>
            <a:endParaRPr/>
          </a:p>
          <a:p>
            <a:pPr indent="0" lvl="0" marL="0" rtl="0" algn="l">
              <a:spcBef>
                <a:spcPts val="0"/>
              </a:spcBef>
              <a:spcAft>
                <a:spcPts val="0"/>
              </a:spcAft>
              <a:buNone/>
            </a:pPr>
            <a:r>
              <a:rPr lang="en-US"/>
              <a:t>Only authorized users can </a:t>
            </a:r>
            <a:r>
              <a:rPr b="1" lang="en-US"/>
              <a:t>modify</a:t>
            </a:r>
            <a:r>
              <a:rPr lang="en-US"/>
              <a:t> objects.</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A record in a database must not be altered by unauthorized code.</a:t>
            </a:r>
            <a:endParaRPr/>
          </a:p>
          <a:p>
            <a:pPr indent="0" lvl="0" marL="0" rtl="0" algn="l">
              <a:spcBef>
                <a:spcPts val="0"/>
              </a:spcBef>
              <a:spcAft>
                <a:spcPts val="0"/>
              </a:spcAft>
              <a:buNone/>
            </a:pPr>
            <a:r>
              <a:rPr lang="en-US"/>
              <a:t>A program cannot modify OS kernel memory.</a:t>
            </a:r>
            <a:endParaRPr/>
          </a:p>
          <a:p>
            <a:pPr indent="0" lvl="0" marL="0" rtl="0" algn="l">
              <a:spcBef>
                <a:spcPts val="0"/>
              </a:spcBef>
              <a:spcAft>
                <a:spcPts val="0"/>
              </a:spcAft>
              <a:buNone/>
            </a:pPr>
            <a:r>
              <a:rPr lang="en-US"/>
              <a:t>A virus should not change system files.</a:t>
            </a:r>
            <a:endParaRPr/>
          </a:p>
          <a:p>
            <a:pPr indent="0" lvl="0" marL="0" rtl="0" algn="l">
              <a:spcBef>
                <a:spcPts val="0"/>
              </a:spcBef>
              <a:spcAft>
                <a:spcPts val="0"/>
              </a:spcAft>
              <a:buNone/>
            </a:pPr>
            <a:r>
              <a:rPr b="1" lang="en-US"/>
              <a:t>Why important?</a:t>
            </a:r>
            <a:endParaRPr/>
          </a:p>
          <a:p>
            <a:pPr indent="0" lvl="0" marL="0" rtl="0" algn="l">
              <a:spcBef>
                <a:spcPts val="0"/>
              </a:spcBef>
              <a:spcAft>
                <a:spcPts val="0"/>
              </a:spcAft>
              <a:buNone/>
            </a:pPr>
            <a:r>
              <a:rPr lang="en-US"/>
              <a:t>Prevents </a:t>
            </a:r>
            <a:r>
              <a:rPr b="1" lang="en-US"/>
              <a:t>corruption</a:t>
            </a:r>
            <a:r>
              <a:rPr lang="en-US"/>
              <a:t>, </a:t>
            </a:r>
            <a:r>
              <a:rPr b="1" lang="en-US"/>
              <a:t>tampering</a:t>
            </a:r>
            <a:r>
              <a:rPr lang="en-US"/>
              <a:t>, and </a:t>
            </a:r>
            <a:r>
              <a:rPr b="1" lang="en-US"/>
              <a:t>malicious changes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3. Availability</a:t>
            </a:r>
            <a:endParaRPr/>
          </a:p>
          <a:p>
            <a:pPr indent="0" lvl="0" marL="0" rtl="0" algn="l">
              <a:spcBef>
                <a:spcPts val="0"/>
              </a:spcBef>
              <a:spcAft>
                <a:spcPts val="0"/>
              </a:spcAft>
              <a:buNone/>
            </a:pPr>
            <a:r>
              <a:rPr lang="en-US"/>
              <a:t>Availability ensures that </a:t>
            </a:r>
            <a:r>
              <a:rPr b="1" lang="en-US"/>
              <a:t>authorized users can access resources whenever needed</a:t>
            </a:r>
            <a:r>
              <a:rPr lang="en-US"/>
              <a:t>.</a:t>
            </a:r>
            <a:endParaRPr/>
          </a:p>
          <a:p>
            <a:pPr indent="0" lvl="0" marL="0" rtl="0" algn="l">
              <a:spcBef>
                <a:spcPts val="0"/>
              </a:spcBef>
              <a:spcAft>
                <a:spcPts val="0"/>
              </a:spcAft>
              <a:buNone/>
            </a:pPr>
            <a:r>
              <a:rPr b="1" lang="en-US"/>
              <a:t>What it means:</a:t>
            </a:r>
            <a:endParaRPr/>
          </a:p>
          <a:p>
            <a:pPr indent="0" lvl="0" marL="0" rtl="0" algn="l">
              <a:spcBef>
                <a:spcPts val="0"/>
              </a:spcBef>
              <a:spcAft>
                <a:spcPts val="0"/>
              </a:spcAft>
              <a:buNone/>
            </a:pPr>
            <a:r>
              <a:rPr lang="en-US"/>
              <a:t>System resources (CPU, memory, files, printers) must be </a:t>
            </a:r>
            <a:r>
              <a:rPr b="1" lang="en-US"/>
              <a:t>available</a:t>
            </a:r>
            <a:r>
              <a:rPr lang="en-US"/>
              <a:t> to legitimate processes.</a:t>
            </a:r>
            <a:endParaRPr/>
          </a:p>
          <a:p>
            <a:pPr indent="0" lvl="0" marL="0" rtl="0" algn="l">
              <a:spcBef>
                <a:spcPts val="0"/>
              </a:spcBef>
              <a:spcAft>
                <a:spcPts val="0"/>
              </a:spcAft>
              <a:buNone/>
            </a:pPr>
            <a:r>
              <a:rPr lang="en-US"/>
              <a:t>Protection mechanisms must not block permitted users.</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Preventing Denial-of-Service (DoS) attacks.</a:t>
            </a:r>
            <a:endParaRPr/>
          </a:p>
          <a:p>
            <a:pPr indent="0" lvl="0" marL="0" rtl="0" algn="l">
              <a:spcBef>
                <a:spcPts val="0"/>
              </a:spcBef>
              <a:spcAft>
                <a:spcPts val="0"/>
              </a:spcAft>
              <a:buNone/>
            </a:pPr>
            <a:r>
              <a:rPr lang="en-US"/>
              <a:t>Ensuring CPU scheduling gives fair access.</a:t>
            </a:r>
            <a:endParaRPr/>
          </a:p>
          <a:p>
            <a:pPr indent="0" lvl="0" marL="0" rtl="0" algn="l">
              <a:spcBef>
                <a:spcPts val="0"/>
              </a:spcBef>
              <a:spcAft>
                <a:spcPts val="0"/>
              </a:spcAft>
              <a:buNone/>
            </a:pPr>
            <a:r>
              <a:rPr lang="en-US"/>
              <a:t>Avoiding deadlocks so processes get resources on time.</a:t>
            </a:r>
            <a:endParaRPr/>
          </a:p>
          <a:p>
            <a:pPr indent="0" lvl="0" marL="0" rtl="0" algn="l">
              <a:spcBef>
                <a:spcPts val="0"/>
              </a:spcBef>
              <a:spcAft>
                <a:spcPts val="0"/>
              </a:spcAft>
              <a:buNone/>
            </a:pPr>
            <a:r>
              <a:rPr b="1" lang="en-US"/>
              <a:t>Why important?</a:t>
            </a:r>
            <a:endParaRPr/>
          </a:p>
          <a:p>
            <a:pPr indent="0" lvl="0" marL="0" rtl="0" algn="l">
              <a:spcBef>
                <a:spcPts val="0"/>
              </a:spcBef>
              <a:spcAft>
                <a:spcPts val="0"/>
              </a:spcAft>
              <a:buNone/>
            </a:pPr>
            <a:r>
              <a:rPr lang="en-US"/>
              <a:t>Prevents </a:t>
            </a:r>
            <a:r>
              <a:rPr b="1" lang="en-US"/>
              <a:t>resource starvation</a:t>
            </a:r>
            <a:r>
              <a:rPr lang="en-US"/>
              <a:t>, </a:t>
            </a:r>
            <a:r>
              <a:rPr b="1" lang="en-US"/>
              <a:t>downtime</a:t>
            </a:r>
            <a:r>
              <a:rPr lang="en-US"/>
              <a:t>, and </a:t>
            </a:r>
            <a:r>
              <a:rPr b="1" lang="en-US"/>
              <a:t>service denial</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4. Maintainability / Safety</a:t>
            </a:r>
            <a:endParaRPr/>
          </a:p>
          <a:p>
            <a:pPr indent="0" lvl="0" marL="0" rtl="0" algn="l">
              <a:spcBef>
                <a:spcPts val="0"/>
              </a:spcBef>
              <a:spcAft>
                <a:spcPts val="0"/>
              </a:spcAft>
              <a:buNone/>
            </a:pPr>
            <a:r>
              <a:rPr lang="en-US"/>
              <a:t>(Also called </a:t>
            </a:r>
            <a:r>
              <a:rPr b="1" lang="en-US"/>
              <a:t>safety</a:t>
            </a:r>
            <a:r>
              <a:rPr lang="en-US"/>
              <a:t> in some textbooks)</a:t>
            </a:r>
            <a:endParaRPr/>
          </a:p>
          <a:p>
            <a:pPr indent="0" lvl="0" marL="0" rtl="0" algn="l">
              <a:spcBef>
                <a:spcPts val="0"/>
              </a:spcBef>
              <a:spcAft>
                <a:spcPts val="0"/>
              </a:spcAft>
              <a:buNone/>
            </a:pPr>
            <a:r>
              <a:rPr lang="en-US"/>
              <a:t>Safety ensures that the system is </a:t>
            </a:r>
            <a:r>
              <a:rPr b="1" lang="en-US"/>
              <a:t>not harmed</a:t>
            </a:r>
            <a:r>
              <a:rPr lang="en-US"/>
              <a:t> by wrong or illegal operations.</a:t>
            </a:r>
            <a:endParaRPr/>
          </a:p>
          <a:p>
            <a:pPr indent="0" lvl="0" marL="0" rtl="0" algn="l">
              <a:spcBef>
                <a:spcPts val="0"/>
              </a:spcBef>
              <a:spcAft>
                <a:spcPts val="0"/>
              </a:spcAft>
              <a:buNone/>
            </a:pPr>
            <a:r>
              <a:rPr b="1" lang="en-US"/>
              <a:t>What it means:</a:t>
            </a:r>
            <a:endParaRPr/>
          </a:p>
          <a:p>
            <a:pPr indent="0" lvl="0" marL="0" rtl="0" algn="l">
              <a:spcBef>
                <a:spcPts val="0"/>
              </a:spcBef>
              <a:spcAft>
                <a:spcPts val="0"/>
              </a:spcAft>
              <a:buNone/>
            </a:pPr>
            <a:r>
              <a:rPr lang="en-US"/>
              <a:t>Protection should prevent operations that could </a:t>
            </a:r>
            <a:r>
              <a:rPr b="1" lang="en-US"/>
              <a:t>damage</a:t>
            </a:r>
            <a:r>
              <a:rPr lang="en-US"/>
              <a:t> resources.</a:t>
            </a:r>
            <a:endParaRPr/>
          </a:p>
          <a:p>
            <a:pPr indent="0" lvl="0" marL="0" rtl="0" algn="l">
              <a:spcBef>
                <a:spcPts val="0"/>
              </a:spcBef>
              <a:spcAft>
                <a:spcPts val="0"/>
              </a:spcAft>
              <a:buNone/>
            </a:pPr>
            <a:r>
              <a:rPr lang="en-US"/>
              <a:t>The system should continue working even when parts fail.</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A user should not delete a system file accidentally.</a:t>
            </a:r>
            <a:endParaRPr/>
          </a:p>
          <a:p>
            <a:pPr indent="0" lvl="0" marL="0" rtl="0" algn="l">
              <a:spcBef>
                <a:spcPts val="0"/>
              </a:spcBef>
              <a:spcAft>
                <a:spcPts val="0"/>
              </a:spcAft>
              <a:buNone/>
            </a:pPr>
            <a:r>
              <a:rPr lang="en-US"/>
              <a:t>A process should not overwrite memory belonging to another process.</a:t>
            </a:r>
            <a:endParaRPr/>
          </a:p>
          <a:p>
            <a:pPr indent="0" lvl="0" marL="0" rtl="0" algn="l">
              <a:spcBef>
                <a:spcPts val="0"/>
              </a:spcBef>
              <a:spcAft>
                <a:spcPts val="0"/>
              </a:spcAft>
              <a:buNone/>
            </a:pPr>
            <a:r>
              <a:rPr lang="en-US"/>
              <a:t>A faulty program should not crash the entire OS.</a:t>
            </a:r>
            <a:endParaRPr/>
          </a:p>
          <a:p>
            <a:pPr indent="0" lvl="0" marL="0" rtl="0" algn="l">
              <a:spcBef>
                <a:spcPts val="0"/>
              </a:spcBef>
              <a:spcAft>
                <a:spcPts val="0"/>
              </a:spcAft>
              <a:buNone/>
            </a:pPr>
            <a:r>
              <a:rPr b="1" lang="en-US"/>
              <a:t>Why important?</a:t>
            </a:r>
            <a:endParaRPr/>
          </a:p>
          <a:p>
            <a:pPr indent="0" lvl="0" marL="0" rtl="0" algn="l">
              <a:spcBef>
                <a:spcPts val="0"/>
              </a:spcBef>
              <a:spcAft>
                <a:spcPts val="0"/>
              </a:spcAft>
              <a:buNone/>
            </a:pPr>
            <a:r>
              <a:rPr lang="en-US"/>
              <a:t>Avoids </a:t>
            </a:r>
            <a:r>
              <a:rPr b="1" lang="en-US"/>
              <a:t>system crashes</a:t>
            </a:r>
            <a:r>
              <a:rPr lang="en-US"/>
              <a:t>, </a:t>
            </a:r>
            <a:r>
              <a:rPr b="1" lang="en-US"/>
              <a:t>resource damage</a:t>
            </a:r>
            <a:r>
              <a:rPr lang="en-US"/>
              <a:t>, and </a:t>
            </a:r>
            <a:r>
              <a:rPr b="1" lang="en-US"/>
              <a:t>accidental errors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5. Controlled Sharing</a:t>
            </a:r>
            <a:endParaRPr/>
          </a:p>
          <a:p>
            <a:pPr indent="0" lvl="0" marL="0" rtl="0" algn="l">
              <a:spcBef>
                <a:spcPts val="0"/>
              </a:spcBef>
              <a:spcAft>
                <a:spcPts val="0"/>
              </a:spcAft>
              <a:buNone/>
            </a:pPr>
            <a:r>
              <a:rPr lang="en-US"/>
              <a:t>Protection should allow </a:t>
            </a:r>
            <a:r>
              <a:rPr b="1" lang="en-US"/>
              <a:t>safe and controlled sharing</a:t>
            </a:r>
            <a:r>
              <a:rPr lang="en-US"/>
              <a:t> of resources among users and processes.</a:t>
            </a:r>
            <a:endParaRPr/>
          </a:p>
          <a:p>
            <a:pPr indent="0" lvl="0" marL="0" rtl="0" algn="l">
              <a:spcBef>
                <a:spcPts val="0"/>
              </a:spcBef>
              <a:spcAft>
                <a:spcPts val="0"/>
              </a:spcAft>
              <a:buNone/>
            </a:pPr>
            <a:r>
              <a:rPr b="1" lang="en-US"/>
              <a:t>What it means:</a:t>
            </a:r>
            <a:endParaRPr/>
          </a:p>
          <a:p>
            <a:pPr indent="0" lvl="0" marL="0" rtl="0" algn="l">
              <a:spcBef>
                <a:spcPts val="0"/>
              </a:spcBef>
              <a:spcAft>
                <a:spcPts val="0"/>
              </a:spcAft>
              <a:buNone/>
            </a:pPr>
            <a:r>
              <a:rPr lang="en-US"/>
              <a:t>Resources can be shared, but only in a </a:t>
            </a:r>
            <a:r>
              <a:rPr b="1" lang="en-US"/>
              <a:t>regulated</a:t>
            </a:r>
            <a:r>
              <a:rPr lang="en-US"/>
              <a:t> manner.</a:t>
            </a:r>
            <a:endParaRPr/>
          </a:p>
          <a:p>
            <a:pPr indent="0" lvl="0" marL="0" rtl="0" algn="l">
              <a:spcBef>
                <a:spcPts val="0"/>
              </a:spcBef>
              <a:spcAft>
                <a:spcPts val="0"/>
              </a:spcAft>
              <a:buNone/>
            </a:pPr>
            <a:r>
              <a:rPr lang="en-US"/>
              <a:t>OS controls </a:t>
            </a:r>
            <a:r>
              <a:rPr i="1" lang="en-US"/>
              <a:t>how</a:t>
            </a:r>
            <a:r>
              <a:rPr lang="en-US"/>
              <a:t>, </a:t>
            </a:r>
            <a:r>
              <a:rPr i="1" lang="en-US"/>
              <a:t>when</a:t>
            </a:r>
            <a:r>
              <a:rPr lang="en-US"/>
              <a:t>, and </a:t>
            </a:r>
            <a:r>
              <a:rPr i="1" lang="en-US"/>
              <a:t>who</a:t>
            </a:r>
            <a:r>
              <a:rPr lang="en-US"/>
              <a:t> can use shared objects.</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File sharing with read-only permissions.</a:t>
            </a:r>
            <a:endParaRPr/>
          </a:p>
          <a:p>
            <a:pPr indent="0" lvl="0" marL="0" rtl="0" algn="l">
              <a:spcBef>
                <a:spcPts val="0"/>
              </a:spcBef>
              <a:spcAft>
                <a:spcPts val="0"/>
              </a:spcAft>
              <a:buNone/>
            </a:pPr>
            <a:r>
              <a:rPr lang="en-US"/>
              <a:t>Two processes sharing memory using access rights.</a:t>
            </a:r>
            <a:endParaRPr/>
          </a:p>
          <a:p>
            <a:pPr indent="0" lvl="0" marL="0" rtl="0" algn="l">
              <a:spcBef>
                <a:spcPts val="0"/>
              </a:spcBef>
              <a:spcAft>
                <a:spcPts val="0"/>
              </a:spcAft>
              <a:buNone/>
            </a:pPr>
            <a:r>
              <a:rPr lang="en-US"/>
              <a:t>Controlled program execution with user-level and kernel-level modes.</a:t>
            </a:r>
            <a:endParaRPr/>
          </a:p>
          <a:p>
            <a:pPr indent="0" lvl="0" marL="0" rtl="0" algn="l">
              <a:spcBef>
                <a:spcPts val="0"/>
              </a:spcBef>
              <a:spcAft>
                <a:spcPts val="0"/>
              </a:spcAft>
              <a:buNone/>
            </a:pPr>
            <a:r>
              <a:rPr b="1" lang="en-US"/>
              <a:t>Why important?</a:t>
            </a:r>
            <a:endParaRPr/>
          </a:p>
          <a:p>
            <a:pPr indent="0" lvl="0" marL="0" rtl="0" algn="l">
              <a:spcBef>
                <a:spcPts val="0"/>
              </a:spcBef>
              <a:spcAft>
                <a:spcPts val="0"/>
              </a:spcAft>
              <a:buNone/>
            </a:pPr>
            <a:r>
              <a:rPr lang="en-US"/>
              <a:t>Prevents </a:t>
            </a:r>
            <a:r>
              <a:rPr b="1" lang="en-US"/>
              <a:t>conflicts</a:t>
            </a:r>
            <a:r>
              <a:rPr lang="en-US"/>
              <a:t>, </a:t>
            </a:r>
            <a:r>
              <a:rPr b="1" lang="en-US"/>
              <a:t>race conditions</a:t>
            </a:r>
            <a:r>
              <a:rPr lang="en-US"/>
              <a:t>, and </a:t>
            </a:r>
            <a:r>
              <a:rPr b="1" lang="en-US"/>
              <a:t>security breaches</a:t>
            </a:r>
            <a:r>
              <a:rPr lang="en-US"/>
              <a:t> in shared systems.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6. Reliability</a:t>
            </a:r>
            <a:endParaRPr/>
          </a:p>
          <a:p>
            <a:pPr indent="0" lvl="0" marL="0" rtl="0" algn="l">
              <a:spcBef>
                <a:spcPts val="0"/>
              </a:spcBef>
              <a:spcAft>
                <a:spcPts val="0"/>
              </a:spcAft>
              <a:buNone/>
            </a:pPr>
            <a:r>
              <a:rPr lang="en-US"/>
              <a:t>Some books include reliability as a goal.</a:t>
            </a:r>
            <a:endParaRPr/>
          </a:p>
          <a:p>
            <a:pPr indent="0" lvl="0" marL="0" rtl="0" algn="l">
              <a:spcBef>
                <a:spcPts val="0"/>
              </a:spcBef>
              <a:spcAft>
                <a:spcPts val="0"/>
              </a:spcAft>
              <a:buNone/>
            </a:pPr>
            <a:r>
              <a:rPr b="1" lang="en-US"/>
              <a:t>What it means:</a:t>
            </a:r>
            <a:endParaRPr/>
          </a:p>
          <a:p>
            <a:pPr indent="0" lvl="0" marL="0" rtl="0" algn="l">
              <a:spcBef>
                <a:spcPts val="0"/>
              </a:spcBef>
              <a:spcAft>
                <a:spcPts val="0"/>
              </a:spcAft>
              <a:buNone/>
            </a:pPr>
            <a:r>
              <a:rPr lang="en-US"/>
              <a:t>System should continue working correctly even under unexpected conditions.</a:t>
            </a:r>
            <a:endParaRPr/>
          </a:p>
          <a:p>
            <a:pPr indent="0" lvl="0" marL="0" rtl="0" algn="l">
              <a:spcBef>
                <a:spcPts val="0"/>
              </a:spcBef>
              <a:spcAft>
                <a:spcPts val="0"/>
              </a:spcAft>
              <a:buNone/>
            </a:pPr>
            <a:r>
              <a:rPr lang="en-US"/>
              <a:t>Protection mechanisms contribute to stability.</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Protection prevents malicious code from crashing OS.</a:t>
            </a:r>
            <a:endParaRPr/>
          </a:p>
          <a:p>
            <a:pPr indent="0" lvl="0" marL="0" rtl="0" algn="l">
              <a:spcBef>
                <a:spcPts val="0"/>
              </a:spcBef>
              <a:spcAft>
                <a:spcPts val="0"/>
              </a:spcAft>
              <a:buNone/>
            </a:pPr>
            <a:r>
              <a:rPr lang="en-US"/>
              <a:t>Ensures consistent system behavior.</a:t>
            </a:r>
            <a:endParaRPr/>
          </a:p>
          <a:p>
            <a:pPr indent="0" lvl="0" marL="0" rtl="0" algn="l">
              <a:spcBef>
                <a:spcPts val="0"/>
              </a:spcBef>
              <a:spcAft>
                <a:spcPts val="0"/>
              </a:spcAft>
              <a:buNone/>
            </a:pPr>
            <a:r>
              <a:t/>
            </a:r>
            <a:endParaRPr/>
          </a:p>
        </p:txBody>
      </p:sp>
      <p:sp>
        <p:nvSpPr>
          <p:cNvPr id="869" name="Google Shape;869;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A program that prints files should not delete files.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Principles of Protection </a:t>
            </a:r>
            <a:endParaRPr/>
          </a:p>
          <a:p>
            <a:pPr indent="0" lvl="0" marL="0" rtl="0" algn="l">
              <a:spcBef>
                <a:spcPts val="0"/>
              </a:spcBef>
              <a:spcAft>
                <a:spcPts val="0"/>
              </a:spcAft>
              <a:buNone/>
            </a:pPr>
            <a:r>
              <a:rPr lang="en-US"/>
              <a:t>Protection principles are </a:t>
            </a:r>
            <a:r>
              <a:rPr b="1" lang="en-US"/>
              <a:t>guidelines used to design a secure operating system</a:t>
            </a:r>
            <a:r>
              <a:rPr lang="en-US"/>
              <a:t>.</a:t>
            </a:r>
            <a:br>
              <a:rPr lang="en-US"/>
            </a:br>
            <a:r>
              <a:rPr lang="en-US"/>
              <a:t>They ensure that the system is safe, secure, and resistant to misuse or attack.</a:t>
            </a:r>
            <a:endParaRPr/>
          </a:p>
          <a:p>
            <a:pPr indent="0" lvl="0" marL="0" rtl="0" algn="l">
              <a:spcBef>
                <a:spcPts val="0"/>
              </a:spcBef>
              <a:spcAft>
                <a:spcPts val="0"/>
              </a:spcAft>
              <a:buNone/>
            </a:pPr>
            <a:r>
              <a:rPr lang="en-US"/>
              <a:t>Below are the most important principles: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1. Principle of Least Privilege</a:t>
            </a:r>
            <a:endParaRPr/>
          </a:p>
          <a:p>
            <a:pPr indent="0" lvl="0" marL="0" rtl="0" algn="l">
              <a:spcBef>
                <a:spcPts val="0"/>
              </a:spcBef>
              <a:spcAft>
                <a:spcPts val="0"/>
              </a:spcAft>
              <a:buNone/>
            </a:pPr>
            <a:r>
              <a:rPr lang="en-US"/>
              <a:t>A process/user should be given </a:t>
            </a:r>
            <a:r>
              <a:rPr b="1" lang="en-US"/>
              <a:t>only the minimum privileges required</a:t>
            </a:r>
            <a:r>
              <a:rPr lang="en-US"/>
              <a:t> to perform its task, nothing more.</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Reduces damage if a program goes wrong.</a:t>
            </a:r>
            <a:endParaRPr/>
          </a:p>
          <a:p>
            <a:pPr indent="0" lvl="0" marL="0" rtl="0" algn="l">
              <a:spcBef>
                <a:spcPts val="0"/>
              </a:spcBef>
              <a:spcAft>
                <a:spcPts val="0"/>
              </a:spcAft>
              <a:buNone/>
            </a:pPr>
            <a:r>
              <a:rPr lang="en-US"/>
              <a:t>Minimizes attack surface.</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A text editor should have access only to files it edits, not system files.</a:t>
            </a:r>
            <a:endParaRPr/>
          </a:p>
          <a:p>
            <a:pPr indent="0" lvl="0" marL="0" rtl="0" algn="l">
              <a:spcBef>
                <a:spcPts val="0"/>
              </a:spcBef>
              <a:spcAft>
                <a:spcPts val="0"/>
              </a:spcAft>
              <a:buNone/>
            </a:pPr>
            <a:r>
              <a:rPr lang="en-US"/>
              <a:t>A web browser should not modify kernel files.</a:t>
            </a:r>
            <a:endParaRPr/>
          </a:p>
          <a:p>
            <a:pPr indent="0" lvl="0" marL="0" rtl="0" algn="l">
              <a:spcBef>
                <a:spcPts val="0"/>
              </a:spcBef>
              <a:spcAft>
                <a:spcPts val="0"/>
              </a:spcAft>
              <a:buNone/>
            </a:pPr>
            <a:r>
              <a:rPr lang="en-US"/>
              <a:t>Bank employees can view customer data but cannot delete accounts.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Principle of Need-to-Know</a:t>
            </a:r>
            <a:endParaRPr/>
          </a:p>
          <a:p>
            <a:pPr indent="0" lvl="0" marL="0" rtl="0" algn="l">
              <a:spcBef>
                <a:spcPts val="0"/>
              </a:spcBef>
              <a:spcAft>
                <a:spcPts val="0"/>
              </a:spcAft>
              <a:buNone/>
            </a:pPr>
            <a:r>
              <a:rPr lang="en-US"/>
              <a:t>Access is granted </a:t>
            </a:r>
            <a:r>
              <a:rPr b="1" lang="en-US"/>
              <a:t>only when a process absolutely needs the information</a:t>
            </a:r>
            <a:r>
              <a:rPr lang="en-US"/>
              <a:t> to perform its task.</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Prevents unnecessary exposure of data.</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A user who needs to print a document should not get access to read other users’ files.</a:t>
            </a:r>
            <a:endParaRPr/>
          </a:p>
          <a:p>
            <a:pPr indent="0" lvl="0" marL="0" rtl="0" algn="l">
              <a:spcBef>
                <a:spcPts val="0"/>
              </a:spcBef>
              <a:spcAft>
                <a:spcPts val="0"/>
              </a:spcAft>
              <a:buNone/>
            </a:pPr>
            <a:r>
              <a:rPr lang="en-US"/>
              <a:t>A payroll program needs employee salary data but not HR department notes.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Principle of Separation of Privilege</a:t>
            </a:r>
            <a:endParaRPr/>
          </a:p>
          <a:p>
            <a:pPr indent="0" lvl="0" marL="0" rtl="0" algn="l">
              <a:spcBef>
                <a:spcPts val="0"/>
              </a:spcBef>
              <a:spcAft>
                <a:spcPts val="0"/>
              </a:spcAft>
              <a:buNone/>
            </a:pPr>
            <a:r>
              <a:rPr lang="en-US"/>
              <a:t>A system should require </a:t>
            </a:r>
            <a:r>
              <a:rPr b="1" lang="en-US"/>
              <a:t>two or more conditions</a:t>
            </a:r>
            <a:r>
              <a:rPr lang="en-US"/>
              <a:t> for granting access.</a:t>
            </a:r>
            <a:br>
              <a:rPr lang="en-US"/>
            </a:br>
            <a:r>
              <a:rPr lang="en-US"/>
              <a:t>(No single permission should be enough.)</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Makes unauthorized access much harder.</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Two-password systems (admin + root).</a:t>
            </a:r>
            <a:endParaRPr/>
          </a:p>
          <a:p>
            <a:pPr indent="0" lvl="0" marL="0" rtl="0" algn="l">
              <a:spcBef>
                <a:spcPts val="0"/>
              </a:spcBef>
              <a:spcAft>
                <a:spcPts val="0"/>
              </a:spcAft>
              <a:buNone/>
            </a:pPr>
            <a:r>
              <a:rPr lang="en-US"/>
              <a:t>ATM withdrawal requires both:</a:t>
            </a:r>
            <a:endParaRPr/>
          </a:p>
          <a:p>
            <a:pPr indent="0" lvl="1" marL="457200" rtl="0" algn="l">
              <a:spcBef>
                <a:spcPts val="0"/>
              </a:spcBef>
              <a:spcAft>
                <a:spcPts val="0"/>
              </a:spcAft>
              <a:buNone/>
            </a:pPr>
            <a:r>
              <a:rPr lang="en-US"/>
              <a:t>Your bank card</a:t>
            </a:r>
            <a:endParaRPr/>
          </a:p>
          <a:p>
            <a:pPr indent="0" lvl="1" marL="457200" rtl="0" algn="l">
              <a:spcBef>
                <a:spcPts val="0"/>
              </a:spcBef>
              <a:spcAft>
                <a:spcPts val="0"/>
              </a:spcAft>
              <a:buNone/>
            </a:pPr>
            <a:r>
              <a:rPr lang="en-US"/>
              <a:t>Your PIN</a:t>
            </a:r>
            <a:endParaRPr/>
          </a:p>
          <a:p>
            <a:pPr indent="0" lvl="0" marL="0" rtl="0" algn="l">
              <a:spcBef>
                <a:spcPts val="0"/>
              </a:spcBef>
              <a:spcAft>
                <a:spcPts val="0"/>
              </a:spcAft>
              <a:buNone/>
            </a:pPr>
            <a:r>
              <a:rPr lang="en-US"/>
              <a:t>Installing software on macOS requires:</a:t>
            </a:r>
            <a:endParaRPr/>
          </a:p>
          <a:p>
            <a:pPr indent="0" lvl="1" marL="457200" rtl="0" algn="l">
              <a:spcBef>
                <a:spcPts val="0"/>
              </a:spcBef>
              <a:spcAft>
                <a:spcPts val="0"/>
              </a:spcAft>
              <a:buNone/>
            </a:pPr>
            <a:r>
              <a:rPr lang="en-US"/>
              <a:t>Admin password</a:t>
            </a:r>
            <a:endParaRPr/>
          </a:p>
          <a:p>
            <a:pPr indent="0" lvl="1" marL="457200" rtl="0" algn="l">
              <a:spcBef>
                <a:spcPts val="0"/>
              </a:spcBef>
              <a:spcAft>
                <a:spcPts val="0"/>
              </a:spcAft>
              <a:buNone/>
            </a:pPr>
            <a:r>
              <a:rPr lang="en-US"/>
              <a:t>User confirmation</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4. Principle of Complete Mediation</a:t>
            </a:r>
            <a:endParaRPr/>
          </a:p>
          <a:p>
            <a:pPr indent="0" lvl="0" marL="0" rtl="0" algn="l">
              <a:spcBef>
                <a:spcPts val="0"/>
              </a:spcBef>
              <a:spcAft>
                <a:spcPts val="0"/>
              </a:spcAft>
              <a:buNone/>
            </a:pPr>
            <a:r>
              <a:rPr lang="en-US"/>
              <a:t>Every access to every resource must be </a:t>
            </a:r>
            <a:r>
              <a:rPr b="1" lang="en-US"/>
              <a:t>checked by the operating system</a:t>
            </a:r>
            <a:r>
              <a:rPr lang="en-US"/>
              <a:t> without exception.</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Prevents backdoor access or bypassing checks.</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File access should be checked </a:t>
            </a:r>
            <a:r>
              <a:rPr i="1" lang="en-US"/>
              <a:t>every time</a:t>
            </a:r>
            <a:r>
              <a:rPr lang="en-US"/>
              <a:t> a program reads/writes it.</a:t>
            </a:r>
            <a:endParaRPr/>
          </a:p>
          <a:p>
            <a:pPr indent="0" lvl="0" marL="0" rtl="0" algn="l">
              <a:spcBef>
                <a:spcPts val="0"/>
              </a:spcBef>
              <a:spcAft>
                <a:spcPts val="0"/>
              </a:spcAft>
              <a:buNone/>
            </a:pPr>
            <a:r>
              <a:rPr lang="en-US"/>
              <a:t>Cache should not bypass permission checks.</a:t>
            </a:r>
            <a:endParaRPr/>
          </a:p>
          <a:p>
            <a:pPr indent="0" lvl="0" marL="0" rtl="0" algn="l">
              <a:spcBef>
                <a:spcPts val="0"/>
              </a:spcBef>
              <a:spcAft>
                <a:spcPts val="0"/>
              </a:spcAft>
              <a:buNone/>
            </a:pPr>
            <a:r>
              <a:rPr lang="en-US"/>
              <a:t>Kernel verifies I/O operations on each request.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5. Principle of Fail-Safe Defaults (Default Deny)</a:t>
            </a:r>
            <a:endParaRPr/>
          </a:p>
          <a:p>
            <a:pPr indent="0" lvl="0" marL="0" rtl="0" algn="l">
              <a:spcBef>
                <a:spcPts val="0"/>
              </a:spcBef>
              <a:spcAft>
                <a:spcPts val="0"/>
              </a:spcAft>
              <a:buNone/>
            </a:pPr>
            <a:r>
              <a:rPr lang="en-US"/>
              <a:t>The default action should be </a:t>
            </a:r>
            <a:r>
              <a:rPr b="1" lang="en-US"/>
              <a:t>to deny access</a:t>
            </a:r>
            <a:r>
              <a:rPr lang="en-US"/>
              <a:t>, not allow.</a:t>
            </a:r>
            <a:br>
              <a:rPr lang="en-US"/>
            </a:br>
            <a:r>
              <a:rPr lang="en-US"/>
              <a:t>Access must be explicitly granted.</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Prevents accidental access.</a:t>
            </a:r>
            <a:endParaRPr/>
          </a:p>
          <a:p>
            <a:pPr indent="0" lvl="0" marL="0" rtl="0" algn="l">
              <a:spcBef>
                <a:spcPts val="0"/>
              </a:spcBef>
              <a:spcAft>
                <a:spcPts val="0"/>
              </a:spcAft>
              <a:buNone/>
            </a:pPr>
            <a:r>
              <a:rPr lang="en-US"/>
              <a:t>Reduces risk from misconfiguration.</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New files in Linux: permissions = "deny for others" by default.</a:t>
            </a:r>
            <a:endParaRPr/>
          </a:p>
          <a:p>
            <a:pPr indent="0" lvl="0" marL="0" rtl="0" algn="l">
              <a:spcBef>
                <a:spcPts val="0"/>
              </a:spcBef>
              <a:spcAft>
                <a:spcPts val="0"/>
              </a:spcAft>
              <a:buNone/>
            </a:pPr>
            <a:r>
              <a:rPr lang="en-US"/>
              <a:t>Firewall: blocks all ports unless opened manually.</a:t>
            </a:r>
            <a:endParaRPr/>
          </a:p>
          <a:p>
            <a:pPr indent="0" lvl="0" marL="0" rtl="0" algn="l">
              <a:spcBef>
                <a:spcPts val="0"/>
              </a:spcBef>
              <a:spcAft>
                <a:spcPts val="0"/>
              </a:spcAft>
              <a:buNone/>
            </a:pPr>
            <a:r>
              <a:rPr lang="en-US"/>
              <a:t>Bank accounts: no transaction rights until assigned.</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6. Principle of Economy of Mechanism (Simplicity)</a:t>
            </a:r>
            <a:endParaRPr/>
          </a:p>
          <a:p>
            <a:pPr indent="0" lvl="0" marL="0" rtl="0" algn="l">
              <a:spcBef>
                <a:spcPts val="0"/>
              </a:spcBef>
              <a:spcAft>
                <a:spcPts val="0"/>
              </a:spcAft>
              <a:buNone/>
            </a:pPr>
            <a:r>
              <a:rPr lang="en-US"/>
              <a:t>The protection system should be </a:t>
            </a:r>
            <a:r>
              <a:rPr b="1" lang="en-US"/>
              <a:t>small, simple, and easy to verify</a:t>
            </a:r>
            <a:r>
              <a:rPr lang="en-US"/>
              <a:t>.</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Complex systems have more bugs.</a:t>
            </a:r>
            <a:endParaRPr/>
          </a:p>
          <a:p>
            <a:pPr indent="0" lvl="0" marL="0" rtl="0" algn="l">
              <a:spcBef>
                <a:spcPts val="0"/>
              </a:spcBef>
              <a:spcAft>
                <a:spcPts val="0"/>
              </a:spcAft>
              <a:buNone/>
            </a:pPr>
            <a:r>
              <a:rPr lang="en-US"/>
              <a:t>Easier to test and maintain.</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Simple permission bits (r, w, x) in UNIX.</a:t>
            </a:r>
            <a:endParaRPr/>
          </a:p>
          <a:p>
            <a:pPr indent="0" lvl="0" marL="0" rtl="0" algn="l">
              <a:spcBef>
                <a:spcPts val="0"/>
              </a:spcBef>
              <a:spcAft>
                <a:spcPts val="0"/>
              </a:spcAft>
              <a:buNone/>
            </a:pPr>
            <a:r>
              <a:rPr lang="en-US"/>
              <a:t>Minimal code for authentication to avoid vulnerabilities.</a:t>
            </a:r>
            <a:endParaRPr/>
          </a:p>
          <a:p>
            <a:pPr indent="0" lvl="0" marL="0" rtl="0" algn="l">
              <a:spcBef>
                <a:spcPts val="0"/>
              </a:spcBef>
              <a:spcAft>
                <a:spcPts val="0"/>
              </a:spcAft>
              <a:buNone/>
            </a:pPr>
            <a:r>
              <a:rPr lang="en-US"/>
              <a:t>Avoiding unnecessary modules in OS kernels.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7. Principle of Least Common Mechanism</a:t>
            </a:r>
            <a:endParaRPr/>
          </a:p>
          <a:p>
            <a:pPr indent="0" lvl="0" marL="0" rtl="0" algn="l">
              <a:spcBef>
                <a:spcPts val="0"/>
              </a:spcBef>
              <a:spcAft>
                <a:spcPts val="0"/>
              </a:spcAft>
              <a:buNone/>
            </a:pPr>
            <a:r>
              <a:rPr lang="en-US"/>
              <a:t>Shared mechanisms should be </a:t>
            </a:r>
            <a:r>
              <a:rPr b="1" lang="en-US"/>
              <a:t>minimized</a:t>
            </a:r>
            <a:r>
              <a:rPr lang="en-US"/>
              <a:t>.</a:t>
            </a:r>
            <a:br>
              <a:rPr lang="en-US"/>
            </a:br>
            <a:r>
              <a:rPr lang="en-US"/>
              <a:t>Sharing increases the risk of interference.</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Shared code/resources create security risks.</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Avoiding shared global variables between processes.</a:t>
            </a:r>
            <a:endParaRPr/>
          </a:p>
          <a:p>
            <a:pPr indent="0" lvl="0" marL="0" rtl="0" algn="l">
              <a:spcBef>
                <a:spcPts val="0"/>
              </a:spcBef>
              <a:spcAft>
                <a:spcPts val="0"/>
              </a:spcAft>
              <a:buNone/>
            </a:pPr>
            <a:r>
              <a:rPr lang="en-US"/>
              <a:t>Each user having separate session data.</a:t>
            </a:r>
            <a:endParaRPr/>
          </a:p>
          <a:p>
            <a:pPr indent="0" lvl="0" marL="0" rtl="0" algn="l">
              <a:spcBef>
                <a:spcPts val="0"/>
              </a:spcBef>
              <a:spcAft>
                <a:spcPts val="0"/>
              </a:spcAft>
              <a:buNone/>
            </a:pPr>
            <a:r>
              <a:rPr lang="en-US"/>
              <a:t>Avoiding shared memory unless necessary.</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8. Principle of Psychological Acceptability</a:t>
            </a:r>
            <a:endParaRPr/>
          </a:p>
          <a:p>
            <a:pPr indent="0" lvl="0" marL="0" rtl="0" algn="l">
              <a:spcBef>
                <a:spcPts val="0"/>
              </a:spcBef>
              <a:spcAft>
                <a:spcPts val="0"/>
              </a:spcAft>
              <a:buNone/>
            </a:pPr>
            <a:r>
              <a:rPr lang="en-US"/>
              <a:t>Protection mechanisms should be </a:t>
            </a:r>
            <a:r>
              <a:rPr b="1" lang="en-US"/>
              <a:t>easy to understand and use</a:t>
            </a:r>
            <a:r>
              <a:rPr lang="en-US"/>
              <a:t>.</a:t>
            </a:r>
            <a:br>
              <a:rPr lang="en-US"/>
            </a:br>
            <a:r>
              <a:rPr lang="en-US"/>
              <a:t>If too complex, users will find ways to bypass them.</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Security should not reduce usability.</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Easy and clear permission settings.</a:t>
            </a:r>
            <a:endParaRPr/>
          </a:p>
          <a:p>
            <a:pPr indent="0" lvl="0" marL="0" rtl="0" algn="l">
              <a:spcBef>
                <a:spcPts val="0"/>
              </a:spcBef>
              <a:spcAft>
                <a:spcPts val="0"/>
              </a:spcAft>
              <a:buNone/>
            </a:pPr>
            <a:r>
              <a:rPr lang="en-US"/>
              <a:t>Simple login and two-factor authentication.</a:t>
            </a:r>
            <a:endParaRPr/>
          </a:p>
          <a:p>
            <a:pPr indent="0" lvl="0" marL="0" rtl="0" algn="l">
              <a:spcBef>
                <a:spcPts val="0"/>
              </a:spcBef>
              <a:spcAft>
                <a:spcPts val="0"/>
              </a:spcAft>
              <a:buNone/>
            </a:pPr>
            <a:r>
              <a:rPr lang="en-US"/>
              <a:t>Windows UAC prompts that explain actions clearly.</a:t>
            </a:r>
            <a:endParaRPr/>
          </a:p>
          <a:p>
            <a:pPr indent="0" lvl="0" marL="0" rtl="0" algn="l">
              <a:spcBef>
                <a:spcPts val="0"/>
              </a:spcBef>
              <a:spcAft>
                <a:spcPts val="0"/>
              </a:spcAft>
              <a:buNone/>
            </a:pPr>
            <a:r>
              <a:t/>
            </a:r>
            <a:endParaRPr/>
          </a:p>
        </p:txBody>
      </p:sp>
      <p:sp>
        <p:nvSpPr>
          <p:cNvPr id="876" name="Google Shape;876;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Domain of Protection</a:t>
            </a:r>
            <a:r>
              <a:rPr lang="en-US"/>
              <a:t> defines the </a:t>
            </a:r>
            <a:r>
              <a:rPr b="1" lang="en-US"/>
              <a:t>set of resources</a:t>
            </a:r>
            <a:r>
              <a:rPr lang="en-US"/>
              <a:t> (objects) and the </a:t>
            </a:r>
            <a:r>
              <a:rPr b="1" lang="en-US"/>
              <a:t>access rights</a:t>
            </a:r>
            <a:r>
              <a:rPr lang="en-US"/>
              <a:t> a process (subject) can use at any given time.</a:t>
            </a:r>
            <a:endParaRPr/>
          </a:p>
          <a:p>
            <a:pPr indent="0" lvl="0" marL="0" rtl="0" algn="l">
              <a:spcBef>
                <a:spcPts val="0"/>
              </a:spcBef>
              <a:spcAft>
                <a:spcPts val="0"/>
              </a:spcAft>
              <a:buNone/>
            </a:pPr>
            <a:r>
              <a:rPr lang="en-US"/>
              <a:t>It acts like a </a:t>
            </a:r>
            <a:r>
              <a:rPr b="1" lang="en-US"/>
              <a:t>boundary</a:t>
            </a:r>
            <a:r>
              <a:rPr lang="en-US"/>
              <a:t> that decides:</a:t>
            </a:r>
            <a:endParaRPr/>
          </a:p>
          <a:p>
            <a:pPr indent="0" lvl="0" marL="0" rtl="0" algn="l">
              <a:spcBef>
                <a:spcPts val="0"/>
              </a:spcBef>
              <a:spcAft>
                <a:spcPts val="0"/>
              </a:spcAft>
              <a:buNone/>
            </a:pPr>
            <a:r>
              <a:rPr lang="en-US"/>
              <a:t>What a process </a:t>
            </a:r>
            <a:r>
              <a:rPr i="1" lang="en-US"/>
              <a:t>can</a:t>
            </a:r>
            <a:r>
              <a:rPr lang="en-US"/>
              <a:t> access</a:t>
            </a:r>
            <a:endParaRPr/>
          </a:p>
          <a:p>
            <a:pPr indent="0" lvl="0" marL="0" rtl="0" algn="l">
              <a:spcBef>
                <a:spcPts val="0"/>
              </a:spcBef>
              <a:spcAft>
                <a:spcPts val="0"/>
              </a:spcAft>
              <a:buNone/>
            </a:pPr>
            <a:r>
              <a:rPr lang="en-US"/>
              <a:t>What a process </a:t>
            </a:r>
            <a:r>
              <a:rPr i="1" lang="en-US"/>
              <a:t>cannot</a:t>
            </a:r>
            <a:r>
              <a:rPr lang="en-US"/>
              <a:t> access</a:t>
            </a:r>
            <a:endParaRPr/>
          </a:p>
          <a:p>
            <a:pPr indent="0" lvl="0" marL="0" rtl="0" algn="l">
              <a:spcBef>
                <a:spcPts val="0"/>
              </a:spcBef>
              <a:spcAft>
                <a:spcPts val="0"/>
              </a:spcAft>
              <a:buNone/>
            </a:pPr>
            <a:r>
              <a:rPr lang="en-US"/>
              <a:t>A domain is basically a </a:t>
            </a:r>
            <a:r>
              <a:rPr b="1" lang="en-US"/>
              <a:t>protection environment</a:t>
            </a:r>
            <a:r>
              <a:rPr lang="en-US"/>
              <a:t> for a process.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1. What is a Domain?</a:t>
            </a:r>
            <a:endParaRPr/>
          </a:p>
          <a:p>
            <a:pPr indent="0" lvl="0" marL="0" rtl="0" algn="l">
              <a:spcBef>
                <a:spcPts val="0"/>
              </a:spcBef>
              <a:spcAft>
                <a:spcPts val="0"/>
              </a:spcAft>
              <a:buNone/>
            </a:pPr>
            <a:r>
              <a:rPr lang="en-US"/>
              <a:t>A </a:t>
            </a:r>
            <a:r>
              <a:rPr b="1" lang="en-US"/>
              <a:t>domain</a:t>
            </a:r>
            <a:r>
              <a:rPr lang="en-US"/>
              <a:t> is a collection of:</a:t>
            </a:r>
            <a:endParaRPr/>
          </a:p>
          <a:p>
            <a:pPr indent="0" lvl="0" marL="0" rtl="0" algn="l">
              <a:spcBef>
                <a:spcPts val="0"/>
              </a:spcBef>
              <a:spcAft>
                <a:spcPts val="0"/>
              </a:spcAft>
              <a:buNone/>
            </a:pPr>
            <a:r>
              <a:rPr b="1" lang="en-US"/>
              <a:t>Objects</a:t>
            </a:r>
            <a:r>
              <a:rPr lang="en-US"/>
              <a:t> (files, memory segments, devices, etc.)</a:t>
            </a:r>
            <a:endParaRPr/>
          </a:p>
          <a:p>
            <a:pPr indent="0" lvl="0" marL="0" rtl="0" algn="l">
              <a:spcBef>
                <a:spcPts val="0"/>
              </a:spcBef>
              <a:spcAft>
                <a:spcPts val="0"/>
              </a:spcAft>
              <a:buNone/>
            </a:pPr>
            <a:r>
              <a:rPr b="1" lang="en-US"/>
              <a:t>Access Rights</a:t>
            </a:r>
            <a:r>
              <a:rPr lang="en-US"/>
              <a:t> (read, write, execute, etc.)</a:t>
            </a:r>
            <a:endParaRPr/>
          </a:p>
          <a:p>
            <a:pPr indent="0" lvl="0" marL="0" rtl="0" algn="l">
              <a:spcBef>
                <a:spcPts val="0"/>
              </a:spcBef>
              <a:spcAft>
                <a:spcPts val="0"/>
              </a:spcAft>
              <a:buNone/>
            </a:pPr>
            <a:r>
              <a:rPr lang="en-US"/>
              <a:t>So,</a:t>
            </a:r>
            <a:endParaRPr/>
          </a:p>
          <a:p>
            <a:pPr indent="0" lvl="0" marL="0" rtl="0" algn="l">
              <a:spcBef>
                <a:spcPts val="0"/>
              </a:spcBef>
              <a:spcAft>
                <a:spcPts val="0"/>
              </a:spcAft>
              <a:buNone/>
            </a:pPr>
            <a:r>
              <a:rPr b="1" lang="en-US"/>
              <a:t>Domain = Set of Objects + Set of Rights</a:t>
            </a:r>
            <a:endParaRPr/>
          </a:p>
          <a:p>
            <a:pPr indent="0" lvl="0" marL="0" rtl="0" algn="l">
              <a:spcBef>
                <a:spcPts val="0"/>
              </a:spcBef>
              <a:spcAft>
                <a:spcPts val="0"/>
              </a:spcAft>
              <a:buNone/>
            </a:pPr>
            <a:r>
              <a:rPr lang="en-US"/>
              <a:t>A process running in a specific domain can only use the rights defined in that domain.</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Purpose of Domains</a:t>
            </a:r>
            <a:endParaRPr/>
          </a:p>
          <a:p>
            <a:pPr indent="0" lvl="0" marL="0" rtl="0" algn="l">
              <a:spcBef>
                <a:spcPts val="0"/>
              </a:spcBef>
              <a:spcAft>
                <a:spcPts val="0"/>
              </a:spcAft>
              <a:buNone/>
            </a:pPr>
            <a:r>
              <a:rPr lang="en-US"/>
              <a:t>Domains help:</a:t>
            </a:r>
            <a:endParaRPr/>
          </a:p>
          <a:p>
            <a:pPr indent="0" lvl="0" marL="0" rtl="0" algn="l">
              <a:spcBef>
                <a:spcPts val="0"/>
              </a:spcBef>
              <a:spcAft>
                <a:spcPts val="0"/>
              </a:spcAft>
              <a:buNone/>
            </a:pPr>
            <a:r>
              <a:rPr lang="en-US"/>
              <a:t>Control what each process can do</a:t>
            </a:r>
            <a:endParaRPr/>
          </a:p>
          <a:p>
            <a:pPr indent="0" lvl="0" marL="0" rtl="0" algn="l">
              <a:spcBef>
                <a:spcPts val="0"/>
              </a:spcBef>
              <a:spcAft>
                <a:spcPts val="0"/>
              </a:spcAft>
              <a:buNone/>
            </a:pPr>
            <a:r>
              <a:rPr lang="en-US"/>
              <a:t>Protect system resources</a:t>
            </a:r>
            <a:endParaRPr/>
          </a:p>
          <a:p>
            <a:pPr indent="0" lvl="0" marL="0" rtl="0" algn="l">
              <a:spcBef>
                <a:spcPts val="0"/>
              </a:spcBef>
              <a:spcAft>
                <a:spcPts val="0"/>
              </a:spcAft>
              <a:buNone/>
            </a:pPr>
            <a:r>
              <a:rPr lang="en-US"/>
              <a:t>Prevent processes from interfering with each other</a:t>
            </a:r>
            <a:endParaRPr/>
          </a:p>
          <a:p>
            <a:pPr indent="0" lvl="0" marL="0" rtl="0" algn="l">
              <a:spcBef>
                <a:spcPts val="0"/>
              </a:spcBef>
              <a:spcAft>
                <a:spcPts val="0"/>
              </a:spcAft>
              <a:buNone/>
            </a:pPr>
            <a:r>
              <a:rPr lang="en-US"/>
              <a:t>Isolate users, programs, and system components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How Domains Work</a:t>
            </a:r>
            <a:endParaRPr/>
          </a:p>
          <a:p>
            <a:pPr indent="0" lvl="0" marL="0" rtl="0" algn="l">
              <a:spcBef>
                <a:spcPts val="0"/>
              </a:spcBef>
              <a:spcAft>
                <a:spcPts val="0"/>
              </a:spcAft>
              <a:buNone/>
            </a:pPr>
            <a:r>
              <a:rPr lang="en-US"/>
              <a:t>Imagine it like this:</a:t>
            </a:r>
            <a:endParaRPr/>
          </a:p>
          <a:p>
            <a:pPr indent="0" lvl="0" marL="0" rtl="0" algn="l">
              <a:spcBef>
                <a:spcPts val="0"/>
              </a:spcBef>
              <a:spcAft>
                <a:spcPts val="0"/>
              </a:spcAft>
              <a:buNone/>
            </a:pPr>
            <a:r>
              <a:rPr lang="en-US"/>
              <a:t>When a process runs, it is placed in a </a:t>
            </a:r>
            <a:r>
              <a:rPr b="1" lang="en-US"/>
              <a:t>domain</a:t>
            </a:r>
            <a:r>
              <a:rPr lang="en-US"/>
              <a:t>.</a:t>
            </a:r>
            <a:endParaRPr/>
          </a:p>
          <a:p>
            <a:pPr indent="0" lvl="0" marL="0" rtl="0" algn="l">
              <a:spcBef>
                <a:spcPts val="0"/>
              </a:spcBef>
              <a:spcAft>
                <a:spcPts val="0"/>
              </a:spcAft>
              <a:buNone/>
            </a:pPr>
            <a:r>
              <a:rPr lang="en-US"/>
              <a:t>That domain defines what the process is allowed to do.</a:t>
            </a:r>
            <a:endParaRPr/>
          </a:p>
          <a:p>
            <a:pPr indent="0" lvl="0" marL="0" rtl="0" algn="l">
              <a:spcBef>
                <a:spcPts val="0"/>
              </a:spcBef>
              <a:spcAft>
                <a:spcPts val="0"/>
              </a:spcAft>
              <a:buNone/>
            </a:pPr>
            <a:r>
              <a:rPr lang="en-US"/>
              <a:t>OS changes domains when needed (domain switching).</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4. Domain as a Logical Boundary</a:t>
            </a:r>
            <a:endParaRPr/>
          </a:p>
          <a:p>
            <a:pPr indent="0" lvl="0" marL="0" rtl="0" algn="l">
              <a:spcBef>
                <a:spcPts val="0"/>
              </a:spcBef>
              <a:spcAft>
                <a:spcPts val="0"/>
              </a:spcAft>
              <a:buNone/>
            </a:pPr>
            <a:r>
              <a:rPr lang="en-US"/>
              <a:t>A domain acts like a </a:t>
            </a:r>
            <a:r>
              <a:rPr b="1" lang="en-US"/>
              <a:t>sandbox</a:t>
            </a:r>
            <a:r>
              <a:rPr lang="en-US"/>
              <a:t> or </a:t>
            </a:r>
            <a:r>
              <a:rPr b="1" lang="en-US"/>
              <a:t>secure environment</a:t>
            </a:r>
            <a:r>
              <a:rPr lang="en-US"/>
              <a:t>.</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When you run your browser → It has limited access rights.</a:t>
            </a:r>
            <a:endParaRPr/>
          </a:p>
          <a:p>
            <a:pPr indent="0" lvl="0" marL="0" rtl="0" algn="l">
              <a:spcBef>
                <a:spcPts val="0"/>
              </a:spcBef>
              <a:spcAft>
                <a:spcPts val="0"/>
              </a:spcAft>
              <a:buNone/>
            </a:pPr>
            <a:r>
              <a:rPr lang="en-US"/>
              <a:t>When you run a kernel process → It has full rights (privileged).</a:t>
            </a:r>
            <a:endParaRPr/>
          </a:p>
          <a:p>
            <a:pPr indent="0" lvl="0" marL="0" rtl="0" algn="l">
              <a:spcBef>
                <a:spcPts val="0"/>
              </a:spcBef>
              <a:spcAft>
                <a:spcPts val="0"/>
              </a:spcAft>
              <a:buNone/>
            </a:pPr>
            <a:r>
              <a:rPr lang="en-US"/>
              <a:t>This difference is because they operate in </a:t>
            </a:r>
            <a:r>
              <a:rPr b="1" lang="en-US"/>
              <a:t>different domains</a:t>
            </a:r>
            <a:r>
              <a:rPr lang="en-US"/>
              <a: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5. Representation of Domains</a:t>
            </a:r>
            <a:endParaRPr/>
          </a:p>
          <a:p>
            <a:pPr indent="0" lvl="0" marL="0" rtl="0" algn="l">
              <a:spcBef>
                <a:spcPts val="0"/>
              </a:spcBef>
              <a:spcAft>
                <a:spcPts val="0"/>
              </a:spcAft>
              <a:buNone/>
            </a:pPr>
            <a:r>
              <a:rPr lang="en-US"/>
              <a:t>Domains can be represented in two ways: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A. User-Based (Static) Domains</a:t>
            </a:r>
            <a:endParaRPr/>
          </a:p>
          <a:p>
            <a:pPr indent="0" lvl="0" marL="0" rtl="0" algn="l">
              <a:spcBef>
                <a:spcPts val="0"/>
              </a:spcBef>
              <a:spcAft>
                <a:spcPts val="0"/>
              </a:spcAft>
              <a:buNone/>
            </a:pPr>
            <a:r>
              <a:rPr lang="en-US"/>
              <a:t>Each </a:t>
            </a:r>
            <a:r>
              <a:rPr b="1" lang="en-US"/>
              <a:t>user</a:t>
            </a:r>
            <a:r>
              <a:rPr lang="en-US"/>
              <a:t> has a domain.</a:t>
            </a:r>
            <a:endParaRPr/>
          </a:p>
          <a:p>
            <a:pPr indent="0" lvl="0" marL="0" rtl="0" algn="l">
              <a:spcBef>
                <a:spcPts val="0"/>
              </a:spcBef>
              <a:spcAft>
                <a:spcPts val="0"/>
              </a:spcAft>
              <a:buNone/>
            </a:pPr>
            <a:r>
              <a:rPr lang="en-US"/>
              <a:t>User1 domain: rights to their own files</a:t>
            </a:r>
            <a:endParaRPr/>
          </a:p>
          <a:p>
            <a:pPr indent="0" lvl="0" marL="0" rtl="0" algn="l">
              <a:spcBef>
                <a:spcPts val="0"/>
              </a:spcBef>
              <a:spcAft>
                <a:spcPts val="0"/>
              </a:spcAft>
              <a:buNone/>
            </a:pPr>
            <a:r>
              <a:rPr lang="en-US"/>
              <a:t>User2 domain: rights to their files</a:t>
            </a:r>
            <a:endParaRPr/>
          </a:p>
          <a:p>
            <a:pPr indent="0" lvl="0" marL="0" rtl="0" algn="l">
              <a:spcBef>
                <a:spcPts val="0"/>
              </a:spcBef>
              <a:spcAft>
                <a:spcPts val="0"/>
              </a:spcAft>
              <a:buNone/>
            </a:pPr>
            <a:r>
              <a:rPr lang="en-US"/>
              <a:t>Admin domain: full rights</a:t>
            </a:r>
            <a:endParaRPr/>
          </a:p>
          <a:p>
            <a:pPr indent="0" lvl="0" marL="0" rtl="0" algn="l">
              <a:spcBef>
                <a:spcPts val="0"/>
              </a:spcBef>
              <a:spcAft>
                <a:spcPts val="0"/>
              </a:spcAft>
              <a:buNone/>
            </a:pPr>
            <a:r>
              <a:rPr lang="en-US"/>
              <a:t>These rights do not change frequently — hence </a:t>
            </a:r>
            <a:r>
              <a:rPr b="1" lang="en-US"/>
              <a:t>static</a:t>
            </a:r>
            <a:r>
              <a:rPr lang="en-US"/>
              <a: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B. Process-Based (Dynamic) Domains</a:t>
            </a:r>
            <a:endParaRPr/>
          </a:p>
          <a:p>
            <a:pPr indent="0" lvl="0" marL="0" rtl="0" algn="l">
              <a:spcBef>
                <a:spcPts val="0"/>
              </a:spcBef>
              <a:spcAft>
                <a:spcPts val="0"/>
              </a:spcAft>
              <a:buNone/>
            </a:pPr>
            <a:r>
              <a:rPr lang="en-US"/>
              <a:t>Each </a:t>
            </a:r>
            <a:r>
              <a:rPr b="1" lang="en-US"/>
              <a:t>process</a:t>
            </a:r>
            <a:r>
              <a:rPr lang="en-US"/>
              <a:t> has its own domain.</a:t>
            </a:r>
            <a:endParaRPr/>
          </a:p>
          <a:p>
            <a:pPr indent="0" lvl="0" marL="0" rtl="0" algn="l">
              <a:spcBef>
                <a:spcPts val="0"/>
              </a:spcBef>
              <a:spcAft>
                <a:spcPts val="0"/>
              </a:spcAft>
              <a:buNone/>
            </a:pPr>
            <a:r>
              <a:rPr lang="en-US"/>
              <a:t>Different processes of the same user may have different rights.</a:t>
            </a:r>
            <a:endParaRPr/>
          </a:p>
          <a:p>
            <a:pPr indent="0" lvl="0" marL="0" rtl="0" algn="l">
              <a:spcBef>
                <a:spcPts val="0"/>
              </a:spcBef>
              <a:spcAft>
                <a:spcPts val="0"/>
              </a:spcAft>
              <a:buNone/>
            </a:pPr>
            <a:r>
              <a:rPr lang="en-US"/>
              <a:t>Example:</a:t>
            </a:r>
            <a:endParaRPr/>
          </a:p>
          <a:p>
            <a:pPr indent="0" lvl="0" marL="0" rtl="0" algn="l">
              <a:spcBef>
                <a:spcPts val="0"/>
              </a:spcBef>
              <a:spcAft>
                <a:spcPts val="0"/>
              </a:spcAft>
              <a:buNone/>
            </a:pPr>
            <a:r>
              <a:rPr lang="en-US"/>
              <a:t>Your text editor process: read/write your files</a:t>
            </a:r>
            <a:endParaRPr/>
          </a:p>
          <a:p>
            <a:pPr indent="0" lvl="0" marL="0" rtl="0" algn="l">
              <a:spcBef>
                <a:spcPts val="0"/>
              </a:spcBef>
              <a:spcAft>
                <a:spcPts val="0"/>
              </a:spcAft>
              <a:buNone/>
            </a:pPr>
            <a:r>
              <a:rPr lang="en-US"/>
              <a:t>A game process: only execute rights, no file access</a:t>
            </a:r>
            <a:endParaRPr/>
          </a:p>
          <a:p>
            <a:pPr indent="0" lvl="0" marL="0" rtl="0" algn="l">
              <a:spcBef>
                <a:spcPts val="0"/>
              </a:spcBef>
              <a:spcAft>
                <a:spcPts val="0"/>
              </a:spcAft>
              <a:buNone/>
            </a:pPr>
            <a:r>
              <a:rPr lang="en-US"/>
              <a:t>A banking app process: access only its secure data</a:t>
            </a:r>
            <a:endParaRPr/>
          </a:p>
          <a:p>
            <a:pPr indent="0" lvl="0" marL="0" rtl="0" algn="l">
              <a:spcBef>
                <a:spcPts val="0"/>
              </a:spcBef>
              <a:spcAft>
                <a:spcPts val="0"/>
              </a:spcAft>
              <a:buNone/>
            </a:pPr>
            <a:r>
              <a:rPr lang="en-US"/>
              <a:t>Domains change when:</a:t>
            </a:r>
            <a:endParaRPr/>
          </a:p>
          <a:p>
            <a:pPr indent="0" lvl="0" marL="0" rtl="0" algn="l">
              <a:spcBef>
                <a:spcPts val="0"/>
              </a:spcBef>
              <a:spcAft>
                <a:spcPts val="0"/>
              </a:spcAft>
              <a:buNone/>
            </a:pPr>
            <a:r>
              <a:rPr lang="en-US"/>
              <a:t>A new program runs</a:t>
            </a:r>
            <a:endParaRPr/>
          </a:p>
          <a:p>
            <a:pPr indent="0" lvl="0" marL="0" rtl="0" algn="l">
              <a:spcBef>
                <a:spcPts val="0"/>
              </a:spcBef>
              <a:spcAft>
                <a:spcPts val="0"/>
              </a:spcAft>
              <a:buNone/>
            </a:pPr>
            <a:r>
              <a:rPr lang="en-US"/>
              <a:t>User switches mode (user mode ↔ kernel mode)</a:t>
            </a:r>
            <a:endParaRPr/>
          </a:p>
          <a:p>
            <a:pPr indent="0" lvl="0" marL="0" rtl="0" algn="l">
              <a:spcBef>
                <a:spcPts val="0"/>
              </a:spcBef>
              <a:spcAft>
                <a:spcPts val="0"/>
              </a:spcAft>
              <a:buNone/>
            </a:pPr>
            <a:r>
              <a:rPr lang="en-US"/>
              <a:t>System calls change access levels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6. Domain Switching</a:t>
            </a:r>
            <a:endParaRPr/>
          </a:p>
          <a:p>
            <a:pPr indent="0" lvl="0" marL="0" rtl="0" algn="l">
              <a:spcBef>
                <a:spcPts val="0"/>
              </a:spcBef>
              <a:spcAft>
                <a:spcPts val="0"/>
              </a:spcAft>
              <a:buNone/>
            </a:pPr>
            <a:r>
              <a:rPr lang="en-US"/>
              <a:t>A crucial concept.</a:t>
            </a:r>
            <a:endParaRPr/>
          </a:p>
          <a:p>
            <a:pPr indent="0" lvl="0" marL="0" rtl="0" algn="l">
              <a:spcBef>
                <a:spcPts val="0"/>
              </a:spcBef>
              <a:spcAft>
                <a:spcPts val="0"/>
              </a:spcAft>
              <a:buNone/>
            </a:pPr>
            <a:r>
              <a:rPr lang="en-US"/>
              <a:t>A process may need to </a:t>
            </a:r>
            <a:r>
              <a:rPr b="1" lang="en-US"/>
              <a:t>switch domains</a:t>
            </a:r>
            <a:r>
              <a:rPr lang="en-US"/>
              <a:t> during execution.</a:t>
            </a:r>
            <a:endParaRPr/>
          </a:p>
          <a:p>
            <a:pPr indent="0" lvl="0" marL="0" rtl="0" algn="l">
              <a:spcBef>
                <a:spcPts val="0"/>
              </a:spcBef>
              <a:spcAft>
                <a:spcPts val="0"/>
              </a:spcAft>
              <a:buNone/>
            </a:pPr>
            <a:r>
              <a:rPr b="1" lang="en-US"/>
              <a:t>Why?</a:t>
            </a:r>
            <a:endParaRPr/>
          </a:p>
          <a:p>
            <a:pPr indent="0" lvl="0" marL="0" rtl="0" algn="l">
              <a:spcBef>
                <a:spcPts val="0"/>
              </a:spcBef>
              <a:spcAft>
                <a:spcPts val="0"/>
              </a:spcAft>
              <a:buNone/>
            </a:pPr>
            <a:r>
              <a:rPr lang="en-US"/>
              <a:t>Because different tasks need different permissions.</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A user program reads a file → User Domain</a:t>
            </a:r>
            <a:endParaRPr/>
          </a:p>
          <a:p>
            <a:pPr indent="0" lvl="0" marL="0" rtl="0" algn="l">
              <a:spcBef>
                <a:spcPts val="0"/>
              </a:spcBef>
              <a:spcAft>
                <a:spcPts val="0"/>
              </a:spcAft>
              <a:buNone/>
            </a:pPr>
            <a:r>
              <a:rPr lang="en-US"/>
              <a:t>It makes a system call (I/O request) → OS switches to Kernel Domain</a:t>
            </a:r>
            <a:endParaRPr/>
          </a:p>
          <a:p>
            <a:pPr indent="0" lvl="0" marL="0" rtl="0" algn="l">
              <a:spcBef>
                <a:spcPts val="0"/>
              </a:spcBef>
              <a:spcAft>
                <a:spcPts val="0"/>
              </a:spcAft>
              <a:buNone/>
            </a:pPr>
            <a:r>
              <a:rPr lang="en-US"/>
              <a:t>After completing the call → Switches back to User Domain</a:t>
            </a:r>
            <a:endParaRPr/>
          </a:p>
          <a:p>
            <a:pPr indent="0" lvl="0" marL="0" rtl="0" algn="l">
              <a:spcBef>
                <a:spcPts val="0"/>
              </a:spcBef>
              <a:spcAft>
                <a:spcPts val="0"/>
              </a:spcAft>
              <a:buNone/>
            </a:pPr>
            <a:r>
              <a:rPr lang="en-US"/>
              <a:t>This ensures:</a:t>
            </a:r>
            <a:endParaRPr/>
          </a:p>
          <a:p>
            <a:pPr indent="0" lvl="0" marL="0" rtl="0" algn="l">
              <a:spcBef>
                <a:spcPts val="0"/>
              </a:spcBef>
              <a:spcAft>
                <a:spcPts val="0"/>
              </a:spcAft>
              <a:buNone/>
            </a:pPr>
            <a:r>
              <a:rPr lang="en-US"/>
              <a:t>Safety</a:t>
            </a:r>
            <a:endParaRPr/>
          </a:p>
          <a:p>
            <a:pPr indent="0" lvl="0" marL="0" rtl="0" algn="l">
              <a:spcBef>
                <a:spcPts val="0"/>
              </a:spcBef>
              <a:spcAft>
                <a:spcPts val="0"/>
              </a:spcAft>
              <a:buNone/>
            </a:pPr>
            <a:r>
              <a:rPr lang="en-US"/>
              <a:t>Privilege separation</a:t>
            </a:r>
            <a:endParaRPr/>
          </a:p>
          <a:p>
            <a:pPr indent="0" lvl="0" marL="0" rtl="0" algn="l">
              <a:spcBef>
                <a:spcPts val="0"/>
              </a:spcBef>
              <a:spcAft>
                <a:spcPts val="0"/>
              </a:spcAft>
              <a:buNone/>
            </a:pPr>
            <a:r>
              <a:rPr lang="en-US"/>
              <a:t>Controlled access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7. Domain as Rows in Access Matrix</a:t>
            </a:r>
            <a:endParaRPr/>
          </a:p>
          <a:p>
            <a:pPr indent="0" lvl="0" marL="0" rtl="0" algn="l">
              <a:spcBef>
                <a:spcPts val="0"/>
              </a:spcBef>
              <a:spcAft>
                <a:spcPts val="0"/>
              </a:spcAft>
              <a:buNone/>
            </a:pPr>
            <a:r>
              <a:rPr lang="en-US"/>
              <a:t>In the Access Matrix:</a:t>
            </a:r>
            <a:endParaRPr/>
          </a:p>
          <a:p>
            <a:pPr indent="0" lvl="0" marL="0" rtl="0" algn="l">
              <a:spcBef>
                <a:spcPts val="0"/>
              </a:spcBef>
              <a:spcAft>
                <a:spcPts val="0"/>
              </a:spcAft>
              <a:buNone/>
            </a:pPr>
            <a:r>
              <a:rPr b="1" lang="en-US"/>
              <a:t>Rows represent domains</a:t>
            </a:r>
            <a:endParaRPr/>
          </a:p>
          <a:p>
            <a:pPr indent="0" lvl="0" marL="0" rtl="0" algn="l">
              <a:spcBef>
                <a:spcPts val="0"/>
              </a:spcBef>
              <a:spcAft>
                <a:spcPts val="0"/>
              </a:spcAft>
              <a:buNone/>
            </a:pPr>
            <a:r>
              <a:rPr b="1" lang="en-US"/>
              <a:t>Columns represent objects</a:t>
            </a:r>
            <a:endParaRPr/>
          </a:p>
          <a:p>
            <a:pPr indent="0" lvl="0" marL="0" rtl="0" algn="l">
              <a:spcBef>
                <a:spcPts val="0"/>
              </a:spcBef>
              <a:spcAft>
                <a:spcPts val="0"/>
              </a:spcAft>
              <a:buNone/>
            </a:pPr>
            <a:r>
              <a:rPr b="1" lang="en-US"/>
              <a:t>Entries specify access rights</a:t>
            </a:r>
            <a:endParaRPr/>
          </a:p>
          <a:p>
            <a:pPr indent="0" lvl="0" marL="0" rtl="0" algn="l">
              <a:spcBef>
                <a:spcPts val="0"/>
              </a:spcBef>
              <a:spcAft>
                <a:spcPts val="0"/>
              </a:spcAft>
              <a:buNone/>
            </a:pPr>
            <a:r>
              <a:rPr lang="en-US"/>
              <a:t>So domain of protection is directly related to the access matrix model.</a:t>
            </a:r>
            <a:endParaRPr/>
          </a:p>
          <a:p>
            <a:pPr indent="0" lvl="0" marL="0" rtl="0" algn="l">
              <a:spcBef>
                <a:spcPts val="0"/>
              </a:spcBef>
              <a:spcAft>
                <a:spcPts val="0"/>
              </a:spcAft>
              <a:buNone/>
            </a:pPr>
            <a:r>
              <a:rPr lang="en-US"/>
              <a:t>Example:</a:t>
            </a:r>
            <a:endParaRPr/>
          </a:p>
          <a:p>
            <a:pPr indent="0" lvl="0" marL="0" rtl="0" algn="l">
              <a:spcBef>
                <a:spcPts val="0"/>
              </a:spcBef>
              <a:spcAft>
                <a:spcPts val="0"/>
              </a:spcAft>
              <a:buNone/>
            </a:pPr>
            <a:r>
              <a:rPr lang="en-US"/>
              <a:t>Domain / ObjectFileAFileBPrinter</a:t>
            </a:r>
            <a:r>
              <a:rPr b="1" lang="en-US"/>
              <a:t>D1</a:t>
            </a:r>
            <a:r>
              <a:rPr lang="en-US"/>
              <a:t>readwrite—</a:t>
            </a:r>
            <a:r>
              <a:rPr b="1" lang="en-US"/>
              <a:t>D2</a:t>
            </a:r>
            <a:r>
              <a:rPr lang="en-US"/>
              <a:t>—readprint</a:t>
            </a:r>
            <a:endParaRPr/>
          </a:p>
          <a:p>
            <a:pPr indent="0" lvl="0" marL="0" rtl="0" algn="l">
              <a:spcBef>
                <a:spcPts val="0"/>
              </a:spcBef>
              <a:spcAft>
                <a:spcPts val="0"/>
              </a:spcAft>
              <a:buNone/>
            </a:pPr>
            <a:r>
              <a:rPr lang="en-US"/>
              <a:t>If process is in </a:t>
            </a:r>
            <a:r>
              <a:rPr b="1" lang="en-US"/>
              <a:t>D1</a:t>
            </a:r>
            <a:r>
              <a:rPr lang="en-US"/>
              <a:t>, it can:</a:t>
            </a:r>
            <a:endParaRPr/>
          </a:p>
          <a:p>
            <a:pPr indent="0" lvl="0" marL="0" rtl="0" algn="l">
              <a:spcBef>
                <a:spcPts val="0"/>
              </a:spcBef>
              <a:spcAft>
                <a:spcPts val="0"/>
              </a:spcAft>
              <a:buNone/>
            </a:pPr>
            <a:r>
              <a:rPr lang="en-US"/>
              <a:t>read FileA</a:t>
            </a:r>
            <a:endParaRPr/>
          </a:p>
          <a:p>
            <a:pPr indent="0" lvl="0" marL="0" rtl="0" algn="l">
              <a:spcBef>
                <a:spcPts val="0"/>
              </a:spcBef>
              <a:spcAft>
                <a:spcPts val="0"/>
              </a:spcAft>
              <a:buNone/>
            </a:pPr>
            <a:r>
              <a:rPr lang="en-US"/>
              <a:t>write FileB</a:t>
            </a:r>
            <a:endParaRPr/>
          </a:p>
          <a:p>
            <a:pPr indent="0" lvl="0" marL="0" rtl="0" algn="l">
              <a:spcBef>
                <a:spcPts val="0"/>
              </a:spcBef>
              <a:spcAft>
                <a:spcPts val="0"/>
              </a:spcAft>
              <a:buNone/>
            </a:pPr>
            <a:r>
              <a:rPr lang="en-US"/>
              <a:t>cannot use printer</a:t>
            </a:r>
            <a:endParaRPr/>
          </a:p>
          <a:p>
            <a:pPr indent="0" lvl="0" marL="0" rtl="0" algn="l">
              <a:spcBef>
                <a:spcPts val="0"/>
              </a:spcBef>
              <a:spcAft>
                <a:spcPts val="0"/>
              </a:spcAft>
              <a:buNone/>
            </a:pPr>
            <a:r>
              <a:rPr lang="en-US"/>
              <a:t>If process is in </a:t>
            </a:r>
            <a:r>
              <a:rPr b="1" lang="en-US"/>
              <a:t>D2</a:t>
            </a:r>
            <a:r>
              <a:rPr lang="en-US"/>
              <a:t>, it can:</a:t>
            </a:r>
            <a:endParaRPr/>
          </a:p>
          <a:p>
            <a:pPr indent="0" lvl="0" marL="0" rtl="0" algn="l">
              <a:spcBef>
                <a:spcPts val="0"/>
              </a:spcBef>
              <a:spcAft>
                <a:spcPts val="0"/>
              </a:spcAft>
              <a:buNone/>
            </a:pPr>
            <a:r>
              <a:rPr lang="en-US"/>
              <a:t>read FileB</a:t>
            </a:r>
            <a:endParaRPr/>
          </a:p>
          <a:p>
            <a:pPr indent="0" lvl="0" marL="0" rtl="0" algn="l">
              <a:spcBef>
                <a:spcPts val="0"/>
              </a:spcBef>
              <a:spcAft>
                <a:spcPts val="0"/>
              </a:spcAft>
              <a:buNone/>
            </a:pPr>
            <a:r>
              <a:rPr lang="en-US"/>
              <a:t>print</a:t>
            </a:r>
            <a:endParaRPr/>
          </a:p>
          <a:p>
            <a:pPr indent="0" lvl="0" marL="0" rtl="0" algn="l">
              <a:spcBef>
                <a:spcPts val="0"/>
              </a:spcBef>
              <a:spcAft>
                <a:spcPts val="0"/>
              </a:spcAft>
              <a:buNone/>
            </a:pPr>
            <a:r>
              <a:rPr lang="en-US"/>
              <a:t>cannot touch FileA</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8. Examples of Domains (Real Life OS)</a:t>
            </a:r>
            <a:endParaRPr/>
          </a:p>
          <a:p>
            <a:pPr indent="0" lvl="0" marL="0" rtl="0" algn="l">
              <a:spcBef>
                <a:spcPts val="0"/>
              </a:spcBef>
              <a:spcAft>
                <a:spcPts val="0"/>
              </a:spcAft>
              <a:buNone/>
            </a:pPr>
            <a:r>
              <a:rPr b="1" lang="en-US"/>
              <a:t>1. User Mode vs Kernel Mode</a:t>
            </a:r>
            <a:endParaRPr/>
          </a:p>
          <a:p>
            <a:pPr indent="0" lvl="0" marL="0" rtl="0" algn="l">
              <a:spcBef>
                <a:spcPts val="0"/>
              </a:spcBef>
              <a:spcAft>
                <a:spcPts val="0"/>
              </a:spcAft>
              <a:buNone/>
            </a:pPr>
            <a:r>
              <a:rPr lang="en-US"/>
              <a:t>User Mode → limited rights</a:t>
            </a:r>
            <a:endParaRPr/>
          </a:p>
          <a:p>
            <a:pPr indent="0" lvl="0" marL="0" rtl="0" algn="l">
              <a:spcBef>
                <a:spcPts val="0"/>
              </a:spcBef>
              <a:spcAft>
                <a:spcPts val="0"/>
              </a:spcAft>
              <a:buNone/>
            </a:pPr>
            <a:r>
              <a:rPr lang="en-US"/>
              <a:t>Kernel Mode → full rights</a:t>
            </a:r>
            <a:endParaRPr/>
          </a:p>
          <a:p>
            <a:pPr indent="0" lvl="0" marL="0" rtl="0" algn="l">
              <a:spcBef>
                <a:spcPts val="0"/>
              </a:spcBef>
              <a:spcAft>
                <a:spcPts val="0"/>
              </a:spcAft>
              <a:buNone/>
            </a:pPr>
            <a:r>
              <a:rPr b="1" lang="en-US"/>
              <a:t>2. Linux File Permissions</a:t>
            </a:r>
            <a:endParaRPr/>
          </a:p>
          <a:p>
            <a:pPr indent="0" lvl="0" marL="0" rtl="0" algn="l">
              <a:spcBef>
                <a:spcPts val="0"/>
              </a:spcBef>
              <a:spcAft>
                <a:spcPts val="0"/>
              </a:spcAft>
              <a:buNone/>
            </a:pPr>
            <a:r>
              <a:rPr lang="en-US"/>
              <a:t>Owner Domain</a:t>
            </a:r>
            <a:endParaRPr/>
          </a:p>
          <a:p>
            <a:pPr indent="0" lvl="0" marL="0" rtl="0" algn="l">
              <a:spcBef>
                <a:spcPts val="0"/>
              </a:spcBef>
              <a:spcAft>
                <a:spcPts val="0"/>
              </a:spcAft>
              <a:buNone/>
            </a:pPr>
            <a:r>
              <a:rPr lang="en-US"/>
              <a:t>Group Domain</a:t>
            </a:r>
            <a:endParaRPr/>
          </a:p>
          <a:p>
            <a:pPr indent="0" lvl="0" marL="0" rtl="0" algn="l">
              <a:spcBef>
                <a:spcPts val="0"/>
              </a:spcBef>
              <a:spcAft>
                <a:spcPts val="0"/>
              </a:spcAft>
              <a:buNone/>
            </a:pPr>
            <a:r>
              <a:rPr lang="en-US"/>
              <a:t>Others Domain</a:t>
            </a:r>
            <a:endParaRPr/>
          </a:p>
          <a:p>
            <a:pPr indent="0" lvl="0" marL="0" rtl="0" algn="l">
              <a:spcBef>
                <a:spcPts val="0"/>
              </a:spcBef>
              <a:spcAft>
                <a:spcPts val="0"/>
              </a:spcAft>
              <a:buNone/>
            </a:pPr>
            <a:r>
              <a:rPr lang="en-US"/>
              <a:t>Each domain has its own rights.</a:t>
            </a:r>
            <a:endParaRPr/>
          </a:p>
          <a:p>
            <a:pPr indent="0" lvl="0" marL="0" rtl="0" algn="l">
              <a:spcBef>
                <a:spcPts val="0"/>
              </a:spcBef>
              <a:spcAft>
                <a:spcPts val="0"/>
              </a:spcAft>
              <a:buNone/>
            </a:pPr>
            <a:r>
              <a:rPr b="1" lang="en-US"/>
              <a:t>3. Java Virtual Machine (JVM) Sandbox</a:t>
            </a:r>
            <a:endParaRPr/>
          </a:p>
          <a:p>
            <a:pPr indent="0" lvl="0" marL="0" rtl="0" algn="l">
              <a:spcBef>
                <a:spcPts val="0"/>
              </a:spcBef>
              <a:spcAft>
                <a:spcPts val="0"/>
              </a:spcAft>
              <a:buNone/>
            </a:pPr>
            <a:r>
              <a:rPr lang="en-US"/>
              <a:t>Applets run in restricted domains</a:t>
            </a:r>
            <a:endParaRPr/>
          </a:p>
          <a:p>
            <a:pPr indent="0" lvl="0" marL="0" rtl="0" algn="l">
              <a:spcBef>
                <a:spcPts val="0"/>
              </a:spcBef>
              <a:spcAft>
                <a:spcPts val="0"/>
              </a:spcAft>
              <a:buNone/>
            </a:pPr>
            <a:r>
              <a:rPr lang="en-US"/>
              <a:t>Cannot access local files unless permitted</a:t>
            </a:r>
            <a:endParaRPr/>
          </a:p>
          <a:p>
            <a:pPr indent="0" lvl="0" marL="0" rtl="0" algn="l">
              <a:spcBef>
                <a:spcPts val="0"/>
              </a:spcBef>
              <a:spcAft>
                <a:spcPts val="0"/>
              </a:spcAft>
              <a:buNone/>
            </a:pPr>
            <a:r>
              <a:rPr b="1" lang="en-US"/>
              <a:t>4. Browser Sandbox</a:t>
            </a:r>
            <a:endParaRPr/>
          </a:p>
          <a:p>
            <a:pPr indent="0" lvl="0" marL="0" rtl="0" algn="l">
              <a:spcBef>
                <a:spcPts val="0"/>
              </a:spcBef>
              <a:spcAft>
                <a:spcPts val="0"/>
              </a:spcAft>
              <a:buNone/>
            </a:pPr>
            <a:r>
              <a:rPr lang="en-US"/>
              <a:t>Every browser tab runs in its own domain.</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9. Key Advantages of Domains</a:t>
            </a:r>
            <a:endParaRPr/>
          </a:p>
          <a:p>
            <a:pPr indent="0" lvl="0" marL="0" rtl="0" algn="l">
              <a:spcBef>
                <a:spcPts val="0"/>
              </a:spcBef>
              <a:spcAft>
                <a:spcPts val="0"/>
              </a:spcAft>
              <a:buNone/>
            </a:pPr>
            <a:r>
              <a:rPr lang="en-US"/>
              <a:t>Strong isolation</a:t>
            </a:r>
            <a:endParaRPr/>
          </a:p>
          <a:p>
            <a:pPr indent="0" lvl="0" marL="0" rtl="0" algn="l">
              <a:spcBef>
                <a:spcPts val="0"/>
              </a:spcBef>
              <a:spcAft>
                <a:spcPts val="0"/>
              </a:spcAft>
              <a:buNone/>
            </a:pPr>
            <a:r>
              <a:rPr lang="en-US"/>
              <a:t>Better security</a:t>
            </a:r>
            <a:endParaRPr/>
          </a:p>
          <a:p>
            <a:pPr indent="0" lvl="0" marL="0" rtl="0" algn="l">
              <a:spcBef>
                <a:spcPts val="0"/>
              </a:spcBef>
              <a:spcAft>
                <a:spcPts val="0"/>
              </a:spcAft>
              <a:buNone/>
            </a:pPr>
            <a:r>
              <a:rPr lang="en-US"/>
              <a:t>Prevent unexpected access</a:t>
            </a:r>
            <a:endParaRPr/>
          </a:p>
          <a:p>
            <a:pPr indent="0" lvl="0" marL="0" rtl="0" algn="l">
              <a:spcBef>
                <a:spcPts val="0"/>
              </a:spcBef>
              <a:spcAft>
                <a:spcPts val="0"/>
              </a:spcAft>
              <a:buNone/>
            </a:pPr>
            <a:r>
              <a:rPr lang="en-US"/>
              <a:t>Supports least privilege principle</a:t>
            </a:r>
            <a:endParaRPr/>
          </a:p>
          <a:p>
            <a:pPr indent="0" lvl="0" marL="0" rtl="0" algn="l">
              <a:spcBef>
                <a:spcPts val="0"/>
              </a:spcBef>
              <a:spcAft>
                <a:spcPts val="0"/>
              </a:spcAft>
              <a:buNone/>
            </a:pPr>
            <a:r>
              <a:rPr lang="en-US"/>
              <a:t>Easier permission management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Exam-Ready Short Notes on Domain of Protection</a:t>
            </a:r>
            <a:endParaRPr/>
          </a:p>
          <a:p>
            <a:pPr indent="0" lvl="0" marL="0" rtl="0" algn="l">
              <a:spcBef>
                <a:spcPts val="0"/>
              </a:spcBef>
              <a:spcAft>
                <a:spcPts val="0"/>
              </a:spcAft>
              <a:buNone/>
            </a:pPr>
            <a:r>
              <a:rPr b="1" lang="en-US"/>
              <a:t>Domain of Protection</a:t>
            </a:r>
            <a:r>
              <a:rPr lang="en-US"/>
              <a:t> defines the set of objects and access rights available to a process.</a:t>
            </a:r>
            <a:endParaRPr/>
          </a:p>
          <a:p>
            <a:pPr indent="0" lvl="0" marL="0" rtl="0" algn="l">
              <a:spcBef>
                <a:spcPts val="0"/>
              </a:spcBef>
              <a:spcAft>
                <a:spcPts val="0"/>
              </a:spcAft>
              <a:buNone/>
            </a:pPr>
            <a:r>
              <a:rPr lang="en-US"/>
              <a:t>It acts as a protection boundary that controls what a process can do.</a:t>
            </a:r>
            <a:endParaRPr/>
          </a:p>
          <a:p>
            <a:pPr indent="0" lvl="0" marL="0" rtl="0" algn="l">
              <a:spcBef>
                <a:spcPts val="0"/>
              </a:spcBef>
              <a:spcAft>
                <a:spcPts val="0"/>
              </a:spcAft>
              <a:buNone/>
            </a:pPr>
            <a:r>
              <a:rPr lang="en-US"/>
              <a:t>Domains may be </a:t>
            </a:r>
            <a:r>
              <a:rPr b="1" lang="en-US"/>
              <a:t>user-based (static)</a:t>
            </a:r>
            <a:r>
              <a:rPr lang="en-US"/>
              <a:t> or </a:t>
            </a:r>
            <a:r>
              <a:rPr b="1" lang="en-US"/>
              <a:t>process-based (dynamic)</a:t>
            </a:r>
            <a:r>
              <a:rPr lang="en-US"/>
              <a:t>.</a:t>
            </a:r>
            <a:endParaRPr/>
          </a:p>
          <a:p>
            <a:pPr indent="0" lvl="0" marL="0" rtl="0" algn="l">
              <a:spcBef>
                <a:spcPts val="0"/>
              </a:spcBef>
              <a:spcAft>
                <a:spcPts val="0"/>
              </a:spcAft>
              <a:buNone/>
            </a:pPr>
            <a:r>
              <a:rPr b="1" lang="en-US"/>
              <a:t>Domain switching</a:t>
            </a:r>
            <a:r>
              <a:rPr lang="en-US"/>
              <a:t> allows a process to move between different permission levels.</a:t>
            </a:r>
            <a:endParaRPr/>
          </a:p>
          <a:p>
            <a:pPr indent="0" lvl="0" marL="0" rtl="0" algn="l">
              <a:spcBef>
                <a:spcPts val="0"/>
              </a:spcBef>
              <a:spcAft>
                <a:spcPts val="0"/>
              </a:spcAft>
              <a:buNone/>
            </a:pPr>
            <a:r>
              <a:rPr lang="en-US"/>
              <a:t>In the Access Matrix, domains correspond to </a:t>
            </a:r>
            <a:r>
              <a:rPr b="1" lang="en-US"/>
              <a:t>rows</a:t>
            </a:r>
            <a:r>
              <a:rPr lang="en-US"/>
              <a:t> representing rights.</a:t>
            </a:r>
            <a:endParaRPr/>
          </a:p>
          <a:p>
            <a:pPr indent="0" lvl="0" marL="0" rtl="0" algn="l">
              <a:spcBef>
                <a:spcPts val="0"/>
              </a:spcBef>
              <a:spcAft>
                <a:spcPts val="0"/>
              </a:spcAft>
              <a:buNone/>
            </a:pPr>
            <a:r>
              <a:rPr lang="en-US"/>
              <a:t>Domains help implement least privilege and secure execution environments.</a:t>
            </a:r>
            <a:endParaRPr/>
          </a:p>
          <a:p>
            <a:pPr indent="0" lvl="0" marL="0" rtl="0" algn="l">
              <a:spcBef>
                <a:spcPts val="0"/>
              </a:spcBef>
              <a:spcAft>
                <a:spcPts val="0"/>
              </a:spcAft>
              <a:buNone/>
            </a:pPr>
            <a:r>
              <a:t/>
            </a:r>
            <a:endParaRPr/>
          </a:p>
        </p:txBody>
      </p:sp>
      <p:sp>
        <p:nvSpPr>
          <p:cNvPr id="883" name="Google Shape;883;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Access Matrix:</a:t>
            </a:r>
            <a:br>
              <a:rPr lang="en-US"/>
            </a:br>
            <a:r>
              <a:rPr lang="en-US"/>
              <a:t>It is a two-dimensional logical structure used to define the rights of subjects to objects.</a:t>
            </a:r>
            <a:br>
              <a:rPr lang="en-US"/>
            </a:br>
            <a:r>
              <a:rPr lang="en-US"/>
              <a:t>Rows represent </a:t>
            </a:r>
            <a:r>
              <a:rPr b="1" lang="en-US"/>
              <a:t>subjects</a:t>
            </a:r>
            <a:r>
              <a:rPr lang="en-US"/>
              <a:t>, columns represent </a:t>
            </a:r>
            <a:r>
              <a:rPr b="1" lang="en-US"/>
              <a:t>objects</a:t>
            </a:r>
            <a:r>
              <a:rPr lang="en-US"/>
              <a:t>, and each entry defines </a:t>
            </a:r>
            <a:r>
              <a:rPr b="1" lang="en-US"/>
              <a:t>set of operations</a:t>
            </a:r>
            <a:r>
              <a:rPr lang="en-US"/>
              <a:t> allowed on that object.</a:t>
            </a:r>
            <a:endParaRPr/>
          </a:p>
          <a:p>
            <a:pPr indent="0" lvl="0" marL="0" rtl="0" algn="l">
              <a:spcBef>
                <a:spcPts val="0"/>
              </a:spcBef>
              <a:spcAft>
                <a:spcPts val="0"/>
              </a:spcAft>
              <a:buNone/>
            </a:pPr>
            <a:r>
              <a:rPr lang="en-US"/>
              <a:t>It is a conceptual model for implementing protection using:</a:t>
            </a:r>
            <a:endParaRPr/>
          </a:p>
          <a:p>
            <a:pPr indent="0" lvl="0" marL="0" rtl="0" algn="l">
              <a:spcBef>
                <a:spcPts val="0"/>
              </a:spcBef>
              <a:spcAft>
                <a:spcPts val="0"/>
              </a:spcAft>
              <a:buNone/>
            </a:pPr>
            <a:r>
              <a:rPr lang="en-US"/>
              <a:t>Access Control Lists (ACL)</a:t>
            </a:r>
            <a:endParaRPr/>
          </a:p>
          <a:p>
            <a:pPr indent="0" lvl="0" marL="0" rtl="0" algn="l">
              <a:spcBef>
                <a:spcPts val="0"/>
              </a:spcBef>
              <a:spcAft>
                <a:spcPts val="0"/>
              </a:spcAft>
              <a:buNone/>
            </a:pPr>
            <a:r>
              <a:rPr lang="en-US"/>
              <a:t>Capability Lists (C-Lists)</a:t>
            </a:r>
            <a:endParaRPr/>
          </a:p>
          <a:p>
            <a:pPr indent="0" lvl="0" marL="0" rtl="0" algn="l">
              <a:spcBef>
                <a:spcPts val="0"/>
              </a:spcBef>
              <a:spcAft>
                <a:spcPts val="0"/>
              </a:spcAft>
              <a:buNone/>
            </a:pPr>
            <a:r>
              <a:rPr lang="en-US"/>
              <a:t>Lock-key mechanisms</a:t>
            </a:r>
            <a:endParaRPr/>
          </a:p>
          <a:p>
            <a:pPr indent="0" lvl="0" marL="0" rtl="0" algn="l">
              <a:spcBef>
                <a:spcPts val="0"/>
              </a:spcBef>
              <a:spcAft>
                <a:spcPts val="0"/>
              </a:spcAft>
              <a:buNone/>
            </a:pPr>
            <a:r>
              <a:rPr lang="en-US"/>
              <a:t>It helps achieve confidentiality, integrity, and controlled sharing in an OS.</a:t>
            </a:r>
            <a:endParaRPr/>
          </a:p>
          <a:p>
            <a:pPr indent="0" lvl="0" marL="0" rtl="0" algn="l">
              <a:spcBef>
                <a:spcPts val="0"/>
              </a:spcBef>
              <a:spcAft>
                <a:spcPts val="0"/>
              </a:spcAft>
              <a:buNone/>
            </a:pPr>
            <a:r>
              <a:t/>
            </a:r>
            <a:endParaRPr/>
          </a:p>
        </p:txBody>
      </p:sp>
      <p:sp>
        <p:nvSpPr>
          <p:cNvPr id="890" name="Google Shape;890;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access matrix is theoretical; implementing a full matrix is too large.</a:t>
            </a:r>
            <a:br>
              <a:rPr lang="en-US"/>
            </a:br>
            <a:r>
              <a:rPr lang="en-US"/>
              <a:t>So OS uses practical implementations:</a:t>
            </a:r>
            <a:endParaRPr/>
          </a:p>
          <a:p>
            <a:pPr indent="0" lvl="0" marL="0" rtl="0" algn="l">
              <a:spcBef>
                <a:spcPts val="0"/>
              </a:spcBef>
              <a:spcAft>
                <a:spcPts val="0"/>
              </a:spcAft>
              <a:buNone/>
            </a:pPr>
            <a:r>
              <a:rPr b="1" lang="en-US"/>
              <a:t>1. Global Table</a:t>
            </a:r>
            <a:endParaRPr/>
          </a:p>
          <a:p>
            <a:pPr indent="0" lvl="0" marL="0" rtl="0" algn="l">
              <a:spcBef>
                <a:spcPts val="0"/>
              </a:spcBef>
              <a:spcAft>
                <a:spcPts val="0"/>
              </a:spcAft>
              <a:buNone/>
            </a:pPr>
            <a:r>
              <a:rPr lang="en-US"/>
              <a:t>A table of tuples:</a:t>
            </a:r>
            <a:br>
              <a:rPr lang="en-US"/>
            </a:br>
            <a:r>
              <a:rPr b="1" lang="en-US"/>
              <a:t>(subject, object, rights)</a:t>
            </a:r>
            <a:br>
              <a:rPr lang="en-US"/>
            </a:br>
            <a:r>
              <a:rPr lang="en-US"/>
              <a:t>Simple but becomes large and slow.</a:t>
            </a:r>
            <a:endParaRPr/>
          </a:p>
          <a:p>
            <a:pPr indent="0" lvl="0" marL="0" rtl="0" algn="l">
              <a:spcBef>
                <a:spcPts val="0"/>
              </a:spcBef>
              <a:spcAft>
                <a:spcPts val="0"/>
              </a:spcAft>
              <a:buNone/>
            </a:pPr>
            <a:r>
              <a:rPr b="1" lang="en-US"/>
              <a:t>2. Access Control Lists (ACL)</a:t>
            </a:r>
            <a:endParaRPr/>
          </a:p>
          <a:p>
            <a:pPr indent="0" lvl="0" marL="0" rtl="0" algn="l">
              <a:spcBef>
                <a:spcPts val="0"/>
              </a:spcBef>
              <a:spcAft>
                <a:spcPts val="0"/>
              </a:spcAft>
              <a:buNone/>
            </a:pPr>
            <a:r>
              <a:rPr lang="en-US"/>
              <a:t>Stored </a:t>
            </a:r>
            <a:r>
              <a:rPr b="1" lang="en-US"/>
              <a:t>per object</a:t>
            </a:r>
            <a:r>
              <a:rPr lang="en-US"/>
              <a:t>.</a:t>
            </a:r>
            <a:br>
              <a:rPr lang="en-US"/>
            </a:br>
            <a:r>
              <a:rPr lang="en-US"/>
              <a:t>Each object has a list:</a:t>
            </a:r>
            <a:endParaRPr/>
          </a:p>
          <a:p>
            <a:pPr indent="0" lvl="0" marL="0" rtl="0" algn="l">
              <a:spcBef>
                <a:spcPts val="0"/>
              </a:spcBef>
              <a:spcAft>
                <a:spcPts val="0"/>
              </a:spcAft>
              <a:buNone/>
            </a:pPr>
            <a:r>
              <a:rPr lang="en-US"/>
              <a:t>“Who can access it, and with what rights?”</a:t>
            </a:r>
            <a:endParaRPr/>
          </a:p>
          <a:p>
            <a:pPr indent="0" lvl="0" marL="0" rtl="0" algn="l">
              <a:spcBef>
                <a:spcPts val="0"/>
              </a:spcBef>
              <a:spcAft>
                <a:spcPts val="0"/>
              </a:spcAft>
              <a:buNone/>
            </a:pPr>
            <a:r>
              <a:rPr lang="en-US"/>
              <a:t>Example (File A ACL):</a:t>
            </a:r>
            <a:endParaRPr/>
          </a:p>
          <a:p>
            <a:pPr indent="0" lvl="0" marL="0" rtl="0" algn="l">
              <a:spcBef>
                <a:spcPts val="0"/>
              </a:spcBef>
              <a:spcAft>
                <a:spcPts val="0"/>
              </a:spcAft>
              <a:buNone/>
            </a:pPr>
            <a:r>
              <a:rPr lang="en-US"/>
              <a:t>User1 → read</a:t>
            </a:r>
            <a:endParaRPr/>
          </a:p>
          <a:p>
            <a:pPr indent="0" lvl="0" marL="0" rtl="0" algn="l">
              <a:spcBef>
                <a:spcPts val="0"/>
              </a:spcBef>
              <a:spcAft>
                <a:spcPts val="0"/>
              </a:spcAft>
              <a:buNone/>
            </a:pPr>
            <a:r>
              <a:rPr lang="en-US"/>
              <a:t>User2 → write</a:t>
            </a:r>
            <a:endParaRPr/>
          </a:p>
          <a:p>
            <a:pPr indent="0" lvl="0" marL="0" rtl="0" algn="l">
              <a:spcBef>
                <a:spcPts val="0"/>
              </a:spcBef>
              <a:spcAft>
                <a:spcPts val="0"/>
              </a:spcAft>
              <a:buNone/>
            </a:pPr>
            <a:r>
              <a:rPr lang="en-US"/>
              <a:t>User3 → read, execute</a:t>
            </a:r>
            <a:endParaRPr/>
          </a:p>
          <a:p>
            <a:pPr indent="0" lvl="0" marL="0" rtl="0" algn="l">
              <a:spcBef>
                <a:spcPts val="0"/>
              </a:spcBef>
              <a:spcAft>
                <a:spcPts val="0"/>
              </a:spcAft>
              <a:buNone/>
            </a:pPr>
            <a:r>
              <a:rPr lang="en-US"/>
              <a:t>Best when there are </a:t>
            </a:r>
            <a:r>
              <a:rPr b="1" lang="en-US"/>
              <a:t>few subjects per object</a:t>
            </a:r>
            <a:r>
              <a:rPr lang="en-US"/>
              <a:t>.</a:t>
            </a:r>
            <a:endParaRPr/>
          </a:p>
          <a:p>
            <a:pPr indent="0" lvl="0" marL="0" rtl="0" algn="l">
              <a:spcBef>
                <a:spcPts val="0"/>
              </a:spcBef>
              <a:spcAft>
                <a:spcPts val="0"/>
              </a:spcAft>
              <a:buNone/>
            </a:pPr>
            <a:r>
              <a:rPr b="1" lang="en-US"/>
              <a:t>3. Capability Lists (C-List)</a:t>
            </a:r>
            <a:endParaRPr/>
          </a:p>
          <a:p>
            <a:pPr indent="0" lvl="0" marL="0" rtl="0" algn="l">
              <a:spcBef>
                <a:spcPts val="0"/>
              </a:spcBef>
              <a:spcAft>
                <a:spcPts val="0"/>
              </a:spcAft>
              <a:buNone/>
            </a:pPr>
            <a:r>
              <a:rPr lang="en-US"/>
              <a:t>Stored </a:t>
            </a:r>
            <a:r>
              <a:rPr b="1" lang="en-US"/>
              <a:t>per subject/domain</a:t>
            </a:r>
            <a:r>
              <a:rPr lang="en-US"/>
              <a:t>.</a:t>
            </a:r>
            <a:br>
              <a:rPr lang="en-US"/>
            </a:br>
            <a:r>
              <a:rPr lang="en-US"/>
              <a:t>Each subject keeps a list of objects it can access with rights.</a:t>
            </a:r>
            <a:endParaRPr/>
          </a:p>
          <a:p>
            <a:pPr indent="0" lvl="0" marL="0" rtl="0" algn="l">
              <a:spcBef>
                <a:spcPts val="0"/>
              </a:spcBef>
              <a:spcAft>
                <a:spcPts val="0"/>
              </a:spcAft>
              <a:buNone/>
            </a:pPr>
            <a:r>
              <a:rPr lang="en-US"/>
              <a:t>Example (Process P Capability List):</a:t>
            </a:r>
            <a:endParaRPr/>
          </a:p>
          <a:p>
            <a:pPr indent="0" lvl="0" marL="0" rtl="0" algn="l">
              <a:spcBef>
                <a:spcPts val="0"/>
              </a:spcBef>
              <a:spcAft>
                <a:spcPts val="0"/>
              </a:spcAft>
              <a:buNone/>
            </a:pPr>
            <a:r>
              <a:rPr lang="en-US"/>
              <a:t>File A → read</a:t>
            </a:r>
            <a:endParaRPr/>
          </a:p>
          <a:p>
            <a:pPr indent="0" lvl="0" marL="0" rtl="0" algn="l">
              <a:spcBef>
                <a:spcPts val="0"/>
              </a:spcBef>
              <a:spcAft>
                <a:spcPts val="0"/>
              </a:spcAft>
              <a:buNone/>
            </a:pPr>
            <a:r>
              <a:rPr lang="en-US"/>
              <a:t>Printer → print</a:t>
            </a:r>
            <a:endParaRPr/>
          </a:p>
          <a:p>
            <a:pPr indent="0" lvl="0" marL="0" rtl="0" algn="l">
              <a:spcBef>
                <a:spcPts val="0"/>
              </a:spcBef>
              <a:spcAft>
                <a:spcPts val="0"/>
              </a:spcAft>
              <a:buNone/>
            </a:pPr>
            <a:r>
              <a:rPr lang="en-US"/>
              <a:t>Best when </a:t>
            </a:r>
            <a:r>
              <a:rPr b="1" lang="en-US"/>
              <a:t>each subject accesses few objects</a:t>
            </a:r>
            <a:r>
              <a:rPr lang="en-US"/>
              <a:t>.</a:t>
            </a:r>
            <a:endParaRPr/>
          </a:p>
          <a:p>
            <a:pPr indent="0" lvl="0" marL="0" rtl="0" algn="l">
              <a:spcBef>
                <a:spcPts val="0"/>
              </a:spcBef>
              <a:spcAft>
                <a:spcPts val="0"/>
              </a:spcAft>
              <a:buNone/>
            </a:pPr>
            <a:r>
              <a:rPr b="1" lang="en-US"/>
              <a:t>4. Lock-Key Mechanism</a:t>
            </a:r>
            <a:endParaRPr/>
          </a:p>
          <a:p>
            <a:pPr indent="0" lvl="0" marL="0" rtl="0" algn="l">
              <a:spcBef>
                <a:spcPts val="0"/>
              </a:spcBef>
              <a:spcAft>
                <a:spcPts val="0"/>
              </a:spcAft>
              <a:buNone/>
            </a:pPr>
            <a:r>
              <a:rPr lang="en-US"/>
              <a:t>Objects have </a:t>
            </a:r>
            <a:r>
              <a:rPr b="1" lang="en-US"/>
              <a:t>locks</a:t>
            </a:r>
            <a:endParaRPr/>
          </a:p>
          <a:p>
            <a:pPr indent="0" lvl="0" marL="0" rtl="0" algn="l">
              <a:spcBef>
                <a:spcPts val="0"/>
              </a:spcBef>
              <a:spcAft>
                <a:spcPts val="0"/>
              </a:spcAft>
              <a:buNone/>
            </a:pPr>
            <a:r>
              <a:rPr lang="en-US"/>
              <a:t>Subjects have </a:t>
            </a:r>
            <a:r>
              <a:rPr b="1" lang="en-US"/>
              <a:t>keys</a:t>
            </a:r>
            <a:br>
              <a:rPr lang="en-US"/>
            </a:br>
            <a:r>
              <a:rPr lang="en-US"/>
              <a:t>If key matches lock → access granted.</a:t>
            </a:r>
            <a:endParaRPr/>
          </a:p>
          <a:p>
            <a:pPr indent="0" lvl="0" marL="0" rtl="0" algn="l">
              <a:spcBef>
                <a:spcPts val="0"/>
              </a:spcBef>
              <a:spcAft>
                <a:spcPts val="0"/>
              </a:spcAft>
              <a:buNone/>
            </a:pPr>
            <a:r>
              <a:rPr lang="en-US"/>
              <a:t>Used in secure systems and hardware-based protection.</a:t>
            </a:r>
            <a:endParaRPr/>
          </a:p>
          <a:p>
            <a:pPr indent="0" lvl="0" marL="0" rtl="0" algn="l">
              <a:spcBef>
                <a:spcPts val="0"/>
              </a:spcBef>
              <a:spcAft>
                <a:spcPts val="0"/>
              </a:spcAft>
              <a:buNone/>
            </a:pPr>
            <a:r>
              <a:t/>
            </a:r>
            <a:endParaRPr/>
          </a:p>
        </p:txBody>
      </p:sp>
      <p:sp>
        <p:nvSpPr>
          <p:cNvPr id="898" name="Google Shape;898;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There are two main different types of Access-list namely: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Standard Access-list -</a:t>
            </a:r>
            <a:r>
              <a:rPr b="0" i="0" lang="en-US" sz="1200">
                <a:solidFill>
                  <a:schemeClr val="dk1"/>
                </a:solidFill>
                <a:latin typeface="Calibri"/>
                <a:ea typeface="Calibri"/>
                <a:cs typeface="Calibri"/>
                <a:sym typeface="Calibri"/>
              </a:rPr>
              <a:t> </a:t>
            </a:r>
            <a:br>
              <a:rPr b="0" i="0" lang="en-US" sz="1200">
                <a:solidFill>
                  <a:schemeClr val="dk1"/>
                </a:solidFill>
                <a:latin typeface="Calibri"/>
                <a:ea typeface="Calibri"/>
                <a:cs typeface="Calibri"/>
                <a:sym typeface="Calibri"/>
              </a:rPr>
            </a:br>
            <a:r>
              <a:rPr b="0" i="0" lang="en-US" sz="1200">
                <a:solidFill>
                  <a:schemeClr val="dk1"/>
                </a:solidFill>
                <a:latin typeface="Calibri"/>
                <a:ea typeface="Calibri"/>
                <a:cs typeface="Calibri"/>
                <a:sym typeface="Calibri"/>
              </a:rPr>
              <a:t>These are the Access-list that are made using the source IP address only. These ACLs permit or deny the entire protocol suite. They don't distinguish between the IP traffic such as TCP, UDP, HTTPS, etc. By using numbers 1-99 or 1300-1999, the router will understand it as a standard ACL and the specified address as the source IP address. </a:t>
            </a:r>
            <a:br>
              <a:rPr b="0" i="0" lang="en-US" sz="1200">
                <a:solidFill>
                  <a:schemeClr val="dk1"/>
                </a:solidFill>
                <a:latin typeface="Calibri"/>
                <a:ea typeface="Calibri"/>
                <a:cs typeface="Calibri"/>
                <a:sym typeface="Calibri"/>
              </a:rPr>
            </a:br>
            <a:r>
              <a:rPr b="0" i="0"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Extended Access-list -</a:t>
            </a:r>
            <a:r>
              <a:rPr b="0" i="0" lang="en-US" sz="1200">
                <a:solidFill>
                  <a:schemeClr val="dk1"/>
                </a:solidFill>
                <a:latin typeface="Calibri"/>
                <a:ea typeface="Calibri"/>
                <a:cs typeface="Calibri"/>
                <a:sym typeface="Calibri"/>
              </a:rPr>
              <a:t> </a:t>
            </a:r>
            <a:br>
              <a:rPr b="0" i="0" lang="en-US" sz="1200">
                <a:solidFill>
                  <a:schemeClr val="dk1"/>
                </a:solidFill>
                <a:latin typeface="Calibri"/>
                <a:ea typeface="Calibri"/>
                <a:cs typeface="Calibri"/>
                <a:sym typeface="Calibri"/>
              </a:rPr>
            </a:br>
            <a:r>
              <a:rPr b="0" i="0" lang="en-US" sz="1200">
                <a:solidFill>
                  <a:schemeClr val="dk1"/>
                </a:solidFill>
                <a:latin typeface="Calibri"/>
                <a:ea typeface="Calibri"/>
                <a:cs typeface="Calibri"/>
                <a:sym typeface="Calibri"/>
              </a:rPr>
              <a:t>These are the ACL that uses source IP, Destination IP, source port, and Destination port. These types of ACL, we can also mention which IP traffic should be allowed or denied. These use range 100-199 and 2000-2699.</a:t>
            </a:r>
            <a:endParaRPr/>
          </a:p>
          <a:p>
            <a:pPr indent="0" lvl="0" marL="0" rtl="0" algn="l">
              <a:spcBef>
                <a:spcPts val="0"/>
              </a:spcBef>
              <a:spcAft>
                <a:spcPts val="0"/>
              </a:spcAft>
              <a:buNone/>
            </a:pPr>
            <a:r>
              <a:t/>
            </a:r>
            <a:endParaRPr/>
          </a:p>
        </p:txBody>
      </p:sp>
      <p:sp>
        <p:nvSpPr>
          <p:cNvPr id="905" name="Google Shape;905;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99"/>
          <p:cNvGrpSpPr/>
          <p:nvPr/>
        </p:nvGrpSpPr>
        <p:grpSpPr>
          <a:xfrm>
            <a:off x="0" y="-8467"/>
            <a:ext cx="12192133" cy="6866580"/>
            <a:chOff x="0" y="-8467"/>
            <a:chExt cx="12192133" cy="6866580"/>
          </a:xfrm>
        </p:grpSpPr>
        <p:sp>
          <p:nvSpPr>
            <p:cNvPr id="28" name="Google Shape;28;p99"/>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0"/>
              </a:schemeClr>
            </a:solidFill>
            <a:ln>
              <a:noFill/>
            </a:ln>
          </p:spPr>
        </p:sp>
        <p:cxnSp>
          <p:nvCxnSpPr>
            <p:cNvPr id="29" name="Google Shape;29;p99"/>
            <p:cNvCxnSpPr/>
            <p:nvPr/>
          </p:nvCxnSpPr>
          <p:spPr>
            <a:xfrm>
              <a:off x="9371012" y="0"/>
              <a:ext cx="1219200" cy="6858000"/>
            </a:xfrm>
            <a:prstGeom prst="straightConnector1">
              <a:avLst/>
            </a:prstGeom>
            <a:noFill/>
            <a:ln cap="flat" cmpd="sng" w="9525">
              <a:solidFill>
                <a:schemeClr val="accent1">
                  <a:alpha val="69800"/>
                </a:schemeClr>
              </a:solidFill>
              <a:prstDash val="solid"/>
              <a:round/>
              <a:headEnd len="sm" w="sm" type="none"/>
              <a:tailEnd len="sm" w="sm" type="none"/>
            </a:ln>
          </p:spPr>
        </p:cxnSp>
        <p:cxnSp>
          <p:nvCxnSpPr>
            <p:cNvPr id="30" name="Google Shape;30;p99"/>
            <p:cNvCxnSpPr/>
            <p:nvPr/>
          </p:nvCxnSpPr>
          <p:spPr>
            <a:xfrm flipH="1">
              <a:off x="7425125" y="3681413"/>
              <a:ext cx="4763700" cy="3176700"/>
            </a:xfrm>
            <a:prstGeom prst="straightConnector1">
              <a:avLst/>
            </a:prstGeom>
            <a:noFill/>
            <a:ln cap="flat" cmpd="sng" w="9525">
              <a:solidFill>
                <a:schemeClr val="accent1">
                  <a:alpha val="69800"/>
                </a:schemeClr>
              </a:solidFill>
              <a:prstDash val="solid"/>
              <a:round/>
              <a:headEnd len="sm" w="sm" type="none"/>
              <a:tailEnd len="sm" w="sm" type="none"/>
            </a:ln>
          </p:spPr>
        </p:cxnSp>
        <p:sp>
          <p:nvSpPr>
            <p:cNvPr id="31" name="Google Shape;31;p99"/>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90"/>
              </a:schemeClr>
            </a:solidFill>
            <a:ln>
              <a:noFill/>
            </a:ln>
          </p:spPr>
        </p:sp>
        <p:sp>
          <p:nvSpPr>
            <p:cNvPr id="32" name="Google Shape;32;p99"/>
            <p:cNvSpPr/>
            <p:nvPr/>
          </p:nvSpPr>
          <p:spPr>
            <a:xfrm>
              <a:off x="9603442" y="-8467"/>
              <a:ext cx="258617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3" name="Google Shape;33;p99"/>
            <p:cNvSpPr/>
            <p:nvPr/>
          </p:nvSpPr>
          <p:spPr>
            <a:xfrm>
              <a:off x="8932333" y="3048000"/>
              <a:ext cx="3259800" cy="3810000"/>
            </a:xfrm>
            <a:prstGeom prst="triangle">
              <a:avLst>
                <a:gd fmla="val 100000" name="adj"/>
              </a:avLst>
            </a:prstGeom>
            <a:solidFill>
              <a:srgbClr val="31479F">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99"/>
            <p:cNvSpPr/>
            <p:nvPr/>
          </p:nvSpPr>
          <p:spPr>
            <a:xfrm>
              <a:off x="9334500" y="-8467"/>
              <a:ext cx="2850868"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1479F">
                <a:alpha val="49800"/>
              </a:srgbClr>
            </a:solidFill>
            <a:ln>
              <a:noFill/>
            </a:ln>
          </p:spPr>
        </p:sp>
        <p:sp>
          <p:nvSpPr>
            <p:cNvPr id="35" name="Google Shape;35;p99"/>
            <p:cNvSpPr/>
            <p:nvPr/>
          </p:nvSpPr>
          <p:spPr>
            <a:xfrm>
              <a:off x="10898730" y="-8467"/>
              <a:ext cx="1290094" cy="6858000"/>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0"/>
              </a:schemeClr>
            </a:solidFill>
            <a:ln>
              <a:noFill/>
            </a:ln>
          </p:spPr>
        </p:sp>
        <p:sp>
          <p:nvSpPr>
            <p:cNvPr id="36" name="Google Shape;36;p99"/>
            <p:cNvSpPr/>
            <p:nvPr/>
          </p:nvSpPr>
          <p:spPr>
            <a:xfrm>
              <a:off x="10938999" y="-8467"/>
              <a:ext cx="1249825" cy="6858000"/>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11B2EB">
                <a:alpha val="80000"/>
              </a:srgbClr>
            </a:solidFill>
            <a:ln>
              <a:noFill/>
            </a:ln>
          </p:spPr>
        </p:sp>
        <p:sp>
          <p:nvSpPr>
            <p:cNvPr id="37" name="Google Shape;37;p99"/>
            <p:cNvSpPr/>
            <p:nvPr/>
          </p:nvSpPr>
          <p:spPr>
            <a:xfrm>
              <a:off x="10371666" y="3589867"/>
              <a:ext cx="1817100" cy="3268200"/>
            </a:xfrm>
            <a:prstGeom prst="triangle">
              <a:avLst>
                <a:gd fmla="val 100000" name="adj"/>
              </a:avLst>
            </a:prstGeom>
            <a:solidFill>
              <a:srgbClr val="31479F">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99"/>
          <p:cNvSpPr txBox="1"/>
          <p:nvPr>
            <p:ph type="ctrTitle"/>
          </p:nvPr>
        </p:nvSpPr>
        <p:spPr>
          <a:xfrm>
            <a:off x="1507067" y="2404534"/>
            <a:ext cx="7767000" cy="1646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9"/>
          <p:cNvSpPr txBox="1"/>
          <p:nvPr>
            <p:ph idx="1" type="subTitle"/>
          </p:nvPr>
        </p:nvSpPr>
        <p:spPr>
          <a:xfrm>
            <a:off x="1507067" y="4050833"/>
            <a:ext cx="7767000" cy="1096800"/>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99"/>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99"/>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99"/>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100"/>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00"/>
          <p:cNvSpPr txBox="1"/>
          <p:nvPr>
            <p:ph idx="1" type="body"/>
          </p:nvPr>
        </p:nvSpPr>
        <p:spPr>
          <a:xfrm>
            <a:off x="677334" y="2160589"/>
            <a:ext cx="8596800" cy="3880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100"/>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0"/>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0"/>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101"/>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01"/>
          <p:cNvSpPr txBox="1"/>
          <p:nvPr>
            <p:ph idx="1" type="body"/>
          </p:nvPr>
        </p:nvSpPr>
        <p:spPr>
          <a:xfrm>
            <a:off x="675745" y="2160983"/>
            <a:ext cx="4185600" cy="5763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2" name="Google Shape;52;p101"/>
          <p:cNvSpPr txBox="1"/>
          <p:nvPr>
            <p:ph idx="2" type="body"/>
          </p:nvPr>
        </p:nvSpPr>
        <p:spPr>
          <a:xfrm>
            <a:off x="675745" y="2737245"/>
            <a:ext cx="4185600" cy="33042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3" name="Google Shape;53;p101"/>
          <p:cNvSpPr txBox="1"/>
          <p:nvPr>
            <p:ph idx="3" type="body"/>
          </p:nvPr>
        </p:nvSpPr>
        <p:spPr>
          <a:xfrm>
            <a:off x="5088383" y="2160983"/>
            <a:ext cx="4185600" cy="5763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4" name="Google Shape;54;p101"/>
          <p:cNvSpPr txBox="1"/>
          <p:nvPr>
            <p:ph idx="4" type="body"/>
          </p:nvPr>
        </p:nvSpPr>
        <p:spPr>
          <a:xfrm>
            <a:off x="5088384" y="2737245"/>
            <a:ext cx="4185600" cy="33042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5" name="Google Shape;55;p101"/>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1"/>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01"/>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02"/>
          <p:cNvSpPr txBox="1"/>
          <p:nvPr>
            <p:ph type="title"/>
          </p:nvPr>
        </p:nvSpPr>
        <p:spPr>
          <a:xfrm>
            <a:off x="677335" y="2700867"/>
            <a:ext cx="8596800" cy="182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2"/>
          <p:cNvSpPr txBox="1"/>
          <p:nvPr>
            <p:ph idx="1" type="body"/>
          </p:nvPr>
        </p:nvSpPr>
        <p:spPr>
          <a:xfrm>
            <a:off x="677335" y="4527448"/>
            <a:ext cx="8596800"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61" name="Google Shape;61;p102"/>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02"/>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2"/>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4" name="Shape 64"/>
        <p:cNvGrpSpPr/>
        <p:nvPr/>
      </p:nvGrpSpPr>
      <p:grpSpPr>
        <a:xfrm>
          <a:off x="0" y="0"/>
          <a:ext cx="0" cy="0"/>
          <a:chOff x="0" y="0"/>
          <a:chExt cx="0" cy="0"/>
        </a:xfrm>
      </p:grpSpPr>
      <p:sp>
        <p:nvSpPr>
          <p:cNvPr id="65" name="Google Shape;65;p103"/>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3"/>
          <p:cNvSpPr txBox="1"/>
          <p:nvPr>
            <p:ph idx="1" type="body"/>
          </p:nvPr>
        </p:nvSpPr>
        <p:spPr>
          <a:xfrm>
            <a:off x="677334" y="2160589"/>
            <a:ext cx="4184100" cy="3880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03"/>
          <p:cNvSpPr txBox="1"/>
          <p:nvPr>
            <p:ph idx="2" type="body"/>
          </p:nvPr>
        </p:nvSpPr>
        <p:spPr>
          <a:xfrm>
            <a:off x="5089970" y="2160589"/>
            <a:ext cx="4184100" cy="3880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03"/>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3"/>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3"/>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04"/>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4"/>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4"/>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4"/>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05"/>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5"/>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5"/>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106"/>
          <p:cNvSpPr txBox="1"/>
          <p:nvPr>
            <p:ph type="title"/>
          </p:nvPr>
        </p:nvSpPr>
        <p:spPr>
          <a:xfrm>
            <a:off x="677334" y="1498604"/>
            <a:ext cx="3854400" cy="1278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6"/>
          <p:cNvSpPr txBox="1"/>
          <p:nvPr>
            <p:ph idx="1" type="body"/>
          </p:nvPr>
        </p:nvSpPr>
        <p:spPr>
          <a:xfrm>
            <a:off x="4760461" y="514924"/>
            <a:ext cx="4513500" cy="552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106"/>
          <p:cNvSpPr txBox="1"/>
          <p:nvPr>
            <p:ph idx="2" type="body"/>
          </p:nvPr>
        </p:nvSpPr>
        <p:spPr>
          <a:xfrm>
            <a:off x="677334" y="2777069"/>
            <a:ext cx="3854400" cy="25845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106"/>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6"/>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06"/>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107"/>
          <p:cNvSpPr txBox="1"/>
          <p:nvPr>
            <p:ph type="title"/>
          </p:nvPr>
        </p:nvSpPr>
        <p:spPr>
          <a:xfrm>
            <a:off x="677334" y="4800600"/>
            <a:ext cx="85968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07"/>
          <p:cNvSpPr/>
          <p:nvPr>
            <p:ph idx="2" type="pic"/>
          </p:nvPr>
        </p:nvSpPr>
        <p:spPr>
          <a:xfrm>
            <a:off x="677334" y="609600"/>
            <a:ext cx="8596800" cy="3845700"/>
          </a:xfrm>
          <a:prstGeom prst="rect">
            <a:avLst/>
          </a:prstGeom>
          <a:noFill/>
          <a:ln>
            <a:noFill/>
          </a:ln>
        </p:spPr>
      </p:sp>
      <p:sp>
        <p:nvSpPr>
          <p:cNvPr id="90" name="Google Shape;90;p107"/>
          <p:cNvSpPr txBox="1"/>
          <p:nvPr>
            <p:ph idx="1" type="body"/>
          </p:nvPr>
        </p:nvSpPr>
        <p:spPr>
          <a:xfrm>
            <a:off x="677334" y="5367338"/>
            <a:ext cx="8596800" cy="6741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107"/>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07"/>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07"/>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108"/>
          <p:cNvSpPr txBox="1"/>
          <p:nvPr>
            <p:ph type="title"/>
          </p:nvPr>
        </p:nvSpPr>
        <p:spPr>
          <a:xfrm>
            <a:off x="677335" y="609600"/>
            <a:ext cx="8596800" cy="3403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08"/>
          <p:cNvSpPr txBox="1"/>
          <p:nvPr>
            <p:ph idx="1" type="body"/>
          </p:nvPr>
        </p:nvSpPr>
        <p:spPr>
          <a:xfrm>
            <a:off x="677335" y="4470400"/>
            <a:ext cx="8596800" cy="15711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108"/>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08"/>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08"/>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109"/>
          <p:cNvSpPr txBox="1"/>
          <p:nvPr>
            <p:ph type="title"/>
          </p:nvPr>
        </p:nvSpPr>
        <p:spPr>
          <a:xfrm>
            <a:off x="931334" y="609600"/>
            <a:ext cx="8094000" cy="302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9"/>
          <p:cNvSpPr txBox="1"/>
          <p:nvPr>
            <p:ph idx="1" type="body"/>
          </p:nvPr>
        </p:nvSpPr>
        <p:spPr>
          <a:xfrm>
            <a:off x="1366139" y="3632200"/>
            <a:ext cx="7224600"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109"/>
          <p:cNvSpPr txBox="1"/>
          <p:nvPr>
            <p:ph idx="2" type="body"/>
          </p:nvPr>
        </p:nvSpPr>
        <p:spPr>
          <a:xfrm>
            <a:off x="677335" y="4470400"/>
            <a:ext cx="8596800" cy="15711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109"/>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09"/>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09"/>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109"/>
          <p:cNvSpPr txBox="1"/>
          <p:nvPr/>
        </p:nvSpPr>
        <p:spPr>
          <a:xfrm>
            <a:off x="541870" y="790378"/>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3A3DE"/>
                </a:solidFill>
                <a:latin typeface="Arial"/>
                <a:ea typeface="Arial"/>
                <a:cs typeface="Arial"/>
                <a:sym typeface="Arial"/>
              </a:rPr>
              <a:t>“</a:t>
            </a:r>
            <a:endParaRPr/>
          </a:p>
        </p:txBody>
      </p:sp>
      <p:sp>
        <p:nvSpPr>
          <p:cNvPr id="108" name="Google Shape;108;p109"/>
          <p:cNvSpPr txBox="1"/>
          <p:nvPr/>
        </p:nvSpPr>
        <p:spPr>
          <a:xfrm>
            <a:off x="8893011" y="2886556"/>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3A3DE"/>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110"/>
          <p:cNvSpPr txBox="1"/>
          <p:nvPr>
            <p:ph type="title"/>
          </p:nvPr>
        </p:nvSpPr>
        <p:spPr>
          <a:xfrm>
            <a:off x="677335" y="1931988"/>
            <a:ext cx="8596800" cy="2595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10"/>
          <p:cNvSpPr txBox="1"/>
          <p:nvPr>
            <p:ph idx="1" type="body"/>
          </p:nvPr>
        </p:nvSpPr>
        <p:spPr>
          <a:xfrm>
            <a:off x="677335" y="4527448"/>
            <a:ext cx="8596800" cy="15138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110"/>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10"/>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10"/>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111"/>
          <p:cNvSpPr txBox="1"/>
          <p:nvPr>
            <p:ph type="title"/>
          </p:nvPr>
        </p:nvSpPr>
        <p:spPr>
          <a:xfrm>
            <a:off x="931334" y="609600"/>
            <a:ext cx="8094000" cy="302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11"/>
          <p:cNvSpPr txBox="1"/>
          <p:nvPr>
            <p:ph idx="1" type="body"/>
          </p:nvPr>
        </p:nvSpPr>
        <p:spPr>
          <a:xfrm>
            <a:off x="677332" y="4013200"/>
            <a:ext cx="8596800" cy="514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111"/>
          <p:cNvSpPr txBox="1"/>
          <p:nvPr>
            <p:ph idx="2" type="body"/>
          </p:nvPr>
        </p:nvSpPr>
        <p:spPr>
          <a:xfrm>
            <a:off x="677335" y="4527448"/>
            <a:ext cx="8596800" cy="15138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111"/>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1"/>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11"/>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111"/>
          <p:cNvSpPr txBox="1"/>
          <p:nvPr/>
        </p:nvSpPr>
        <p:spPr>
          <a:xfrm>
            <a:off x="541870" y="790378"/>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3A3DE"/>
                </a:solidFill>
                <a:latin typeface="Arial"/>
                <a:ea typeface="Arial"/>
                <a:cs typeface="Arial"/>
                <a:sym typeface="Arial"/>
              </a:rPr>
              <a:t>“</a:t>
            </a:r>
            <a:endParaRPr/>
          </a:p>
        </p:txBody>
      </p:sp>
      <p:sp>
        <p:nvSpPr>
          <p:cNvPr id="123" name="Google Shape;123;p111"/>
          <p:cNvSpPr txBox="1"/>
          <p:nvPr/>
        </p:nvSpPr>
        <p:spPr>
          <a:xfrm>
            <a:off x="8893011" y="2886556"/>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3A3DE"/>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112"/>
          <p:cNvSpPr txBox="1"/>
          <p:nvPr>
            <p:ph type="title"/>
          </p:nvPr>
        </p:nvSpPr>
        <p:spPr>
          <a:xfrm>
            <a:off x="685799" y="609600"/>
            <a:ext cx="8588100" cy="302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12"/>
          <p:cNvSpPr txBox="1"/>
          <p:nvPr>
            <p:ph idx="1" type="body"/>
          </p:nvPr>
        </p:nvSpPr>
        <p:spPr>
          <a:xfrm>
            <a:off x="677332" y="4013200"/>
            <a:ext cx="8596800" cy="514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112"/>
          <p:cNvSpPr txBox="1"/>
          <p:nvPr>
            <p:ph idx="2" type="body"/>
          </p:nvPr>
        </p:nvSpPr>
        <p:spPr>
          <a:xfrm>
            <a:off x="677335" y="4527448"/>
            <a:ext cx="8596800" cy="15138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112"/>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12"/>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12"/>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113"/>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13"/>
          <p:cNvSpPr txBox="1"/>
          <p:nvPr>
            <p:ph idx="1" type="body"/>
          </p:nvPr>
        </p:nvSpPr>
        <p:spPr>
          <a:xfrm rot="5400000">
            <a:off x="3035202" y="-197411"/>
            <a:ext cx="3880800" cy="8596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113"/>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13"/>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13"/>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114"/>
          <p:cNvSpPr txBox="1"/>
          <p:nvPr>
            <p:ph type="title"/>
          </p:nvPr>
        </p:nvSpPr>
        <p:spPr>
          <a:xfrm rot="5400000">
            <a:off x="5994316" y="2582999"/>
            <a:ext cx="5251500" cy="1304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14"/>
          <p:cNvSpPr txBox="1"/>
          <p:nvPr>
            <p:ph idx="1" type="body"/>
          </p:nvPr>
        </p:nvSpPr>
        <p:spPr>
          <a:xfrm rot="5400000">
            <a:off x="1581635" y="-294750"/>
            <a:ext cx="5251500" cy="70602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114"/>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14"/>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14"/>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98"/>
          <p:cNvGrpSpPr/>
          <p:nvPr/>
        </p:nvGrpSpPr>
        <p:grpSpPr>
          <a:xfrm>
            <a:off x="0" y="-8467"/>
            <a:ext cx="12192133" cy="6866580"/>
            <a:chOff x="0" y="-8467"/>
            <a:chExt cx="12192133" cy="6866580"/>
          </a:xfrm>
        </p:grpSpPr>
        <p:cxnSp>
          <p:nvCxnSpPr>
            <p:cNvPr id="11" name="Google Shape;11;p98"/>
            <p:cNvCxnSpPr/>
            <p:nvPr/>
          </p:nvCxnSpPr>
          <p:spPr>
            <a:xfrm>
              <a:off x="9371012" y="0"/>
              <a:ext cx="1219200" cy="6858000"/>
            </a:xfrm>
            <a:prstGeom prst="straightConnector1">
              <a:avLst/>
            </a:prstGeom>
            <a:noFill/>
            <a:ln cap="flat" cmpd="sng" w="9525">
              <a:solidFill>
                <a:schemeClr val="accent1">
                  <a:alpha val="69800"/>
                </a:schemeClr>
              </a:solidFill>
              <a:prstDash val="solid"/>
              <a:round/>
              <a:headEnd len="sm" w="sm" type="none"/>
              <a:tailEnd len="sm" w="sm" type="none"/>
            </a:ln>
          </p:spPr>
        </p:cxnSp>
        <p:cxnSp>
          <p:nvCxnSpPr>
            <p:cNvPr id="12" name="Google Shape;12;p98"/>
            <p:cNvCxnSpPr/>
            <p:nvPr/>
          </p:nvCxnSpPr>
          <p:spPr>
            <a:xfrm flipH="1">
              <a:off x="7425125" y="3681413"/>
              <a:ext cx="4763700" cy="3176700"/>
            </a:xfrm>
            <a:prstGeom prst="straightConnector1">
              <a:avLst/>
            </a:prstGeom>
            <a:noFill/>
            <a:ln cap="flat" cmpd="sng" w="9525">
              <a:solidFill>
                <a:schemeClr val="accent1">
                  <a:alpha val="69800"/>
                </a:schemeClr>
              </a:solidFill>
              <a:prstDash val="solid"/>
              <a:round/>
              <a:headEnd len="sm" w="sm" type="none"/>
              <a:tailEnd len="sm" w="sm" type="none"/>
            </a:ln>
          </p:spPr>
        </p:cxnSp>
        <p:sp>
          <p:nvSpPr>
            <p:cNvPr id="13" name="Google Shape;13;p9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90"/>
              </a:schemeClr>
            </a:solidFill>
            <a:ln>
              <a:noFill/>
            </a:ln>
          </p:spPr>
        </p:sp>
        <p:sp>
          <p:nvSpPr>
            <p:cNvPr id="14" name="Google Shape;14;p98"/>
            <p:cNvSpPr/>
            <p:nvPr/>
          </p:nvSpPr>
          <p:spPr>
            <a:xfrm>
              <a:off x="9603442" y="-8467"/>
              <a:ext cx="258617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98"/>
            <p:cNvSpPr/>
            <p:nvPr/>
          </p:nvSpPr>
          <p:spPr>
            <a:xfrm>
              <a:off x="8932333" y="3048000"/>
              <a:ext cx="3259800" cy="3810000"/>
            </a:xfrm>
            <a:prstGeom prst="triangle">
              <a:avLst>
                <a:gd fmla="val 100000" name="adj"/>
              </a:avLst>
            </a:prstGeom>
            <a:solidFill>
              <a:srgbClr val="31479F">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98"/>
            <p:cNvSpPr/>
            <p:nvPr/>
          </p:nvSpPr>
          <p:spPr>
            <a:xfrm>
              <a:off x="9334500" y="-8467"/>
              <a:ext cx="2850868"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1479F">
                <a:alpha val="49800"/>
              </a:srgbClr>
            </a:solidFill>
            <a:ln>
              <a:noFill/>
            </a:ln>
          </p:spPr>
        </p:sp>
        <p:sp>
          <p:nvSpPr>
            <p:cNvPr id="17" name="Google Shape;17;p98"/>
            <p:cNvSpPr/>
            <p:nvPr/>
          </p:nvSpPr>
          <p:spPr>
            <a:xfrm>
              <a:off x="10898730" y="-8467"/>
              <a:ext cx="1290094" cy="6858000"/>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0"/>
              </a:schemeClr>
            </a:solidFill>
            <a:ln>
              <a:noFill/>
            </a:ln>
          </p:spPr>
        </p:sp>
        <p:sp>
          <p:nvSpPr>
            <p:cNvPr id="18" name="Google Shape;18;p98"/>
            <p:cNvSpPr/>
            <p:nvPr/>
          </p:nvSpPr>
          <p:spPr>
            <a:xfrm>
              <a:off x="10938999" y="-8467"/>
              <a:ext cx="1249825" cy="6858000"/>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11B2EB">
                <a:alpha val="80000"/>
              </a:srgbClr>
            </a:solidFill>
            <a:ln>
              <a:noFill/>
            </a:ln>
          </p:spPr>
        </p:sp>
        <p:sp>
          <p:nvSpPr>
            <p:cNvPr id="19" name="Google Shape;19;p98"/>
            <p:cNvSpPr/>
            <p:nvPr/>
          </p:nvSpPr>
          <p:spPr>
            <a:xfrm>
              <a:off x="10371666" y="3589867"/>
              <a:ext cx="1817100" cy="3268200"/>
            </a:xfrm>
            <a:prstGeom prst="triangle">
              <a:avLst>
                <a:gd fmla="val 100000" name="adj"/>
              </a:avLst>
            </a:prstGeom>
            <a:solidFill>
              <a:srgbClr val="31479F">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98"/>
            <p:cNvSpPr/>
            <p:nvPr/>
          </p:nvSpPr>
          <p:spPr>
            <a:xfrm>
              <a:off x="0" y="4013200"/>
              <a:ext cx="448800" cy="2844900"/>
            </a:xfrm>
            <a:prstGeom prst="triangle">
              <a:avLst>
                <a:gd fmla="val 0" name="adj"/>
              </a:avLst>
            </a:prstGeom>
            <a:solidFill>
              <a:schemeClr val="accent1">
                <a:alpha val="698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98"/>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algn="l">
              <a:spcBef>
                <a:spcPts val="0"/>
              </a:spcBef>
              <a:spcAft>
                <a:spcPts val="0"/>
              </a:spcAft>
              <a:buSzPts val="1400"/>
              <a:buNone/>
              <a:defRPr b="0" i="0" sz="1800" u="none" cap="none" strike="noStrike">
                <a:solidFill>
                  <a:schemeClr val="dk2"/>
                </a:solidFill>
              </a:defRPr>
            </a:lvl2pPr>
            <a:lvl3pPr lvl="2" marR="0" algn="l">
              <a:spcBef>
                <a:spcPts val="0"/>
              </a:spcBef>
              <a:spcAft>
                <a:spcPts val="0"/>
              </a:spcAft>
              <a:buSzPts val="1400"/>
              <a:buNone/>
              <a:defRPr b="0" i="0" sz="1800" u="none" cap="none" strike="noStrike">
                <a:solidFill>
                  <a:schemeClr val="dk2"/>
                </a:solidFill>
              </a:defRPr>
            </a:lvl3pPr>
            <a:lvl4pPr lvl="3" marR="0" algn="l">
              <a:spcBef>
                <a:spcPts val="0"/>
              </a:spcBef>
              <a:spcAft>
                <a:spcPts val="0"/>
              </a:spcAft>
              <a:buSzPts val="1400"/>
              <a:buNone/>
              <a:defRPr b="0" i="0" sz="1800" u="none" cap="none" strike="noStrike">
                <a:solidFill>
                  <a:schemeClr val="dk2"/>
                </a:solidFill>
              </a:defRPr>
            </a:lvl4pPr>
            <a:lvl5pPr lvl="4" marR="0" algn="l">
              <a:spcBef>
                <a:spcPts val="0"/>
              </a:spcBef>
              <a:spcAft>
                <a:spcPts val="0"/>
              </a:spcAft>
              <a:buSzPts val="1400"/>
              <a:buNone/>
              <a:defRPr b="0" i="0" sz="1800" u="none" cap="none" strike="noStrike">
                <a:solidFill>
                  <a:schemeClr val="dk2"/>
                </a:solidFill>
              </a:defRPr>
            </a:lvl5pPr>
            <a:lvl6pPr lvl="5" marR="0" algn="l">
              <a:spcBef>
                <a:spcPts val="0"/>
              </a:spcBef>
              <a:spcAft>
                <a:spcPts val="0"/>
              </a:spcAft>
              <a:buSzPts val="1400"/>
              <a:buNone/>
              <a:defRPr b="0" i="0" sz="1800" u="none" cap="none" strike="noStrike">
                <a:solidFill>
                  <a:schemeClr val="dk2"/>
                </a:solidFill>
              </a:defRPr>
            </a:lvl6pPr>
            <a:lvl7pPr lvl="6" marR="0" algn="l">
              <a:spcBef>
                <a:spcPts val="0"/>
              </a:spcBef>
              <a:spcAft>
                <a:spcPts val="0"/>
              </a:spcAft>
              <a:buSzPts val="1400"/>
              <a:buNone/>
              <a:defRPr b="0" i="0" sz="1800" u="none" cap="none" strike="noStrike">
                <a:solidFill>
                  <a:schemeClr val="dk2"/>
                </a:solidFill>
              </a:defRPr>
            </a:lvl7pPr>
            <a:lvl8pPr lvl="7" marR="0" algn="l">
              <a:spcBef>
                <a:spcPts val="0"/>
              </a:spcBef>
              <a:spcAft>
                <a:spcPts val="0"/>
              </a:spcAft>
              <a:buSzPts val="1400"/>
              <a:buNone/>
              <a:defRPr b="0" i="0" sz="1800" u="none" cap="none" strike="noStrike">
                <a:solidFill>
                  <a:schemeClr val="dk2"/>
                </a:solidFill>
              </a:defRPr>
            </a:lvl8pPr>
            <a:lvl9pPr lvl="8" marR="0" algn="l">
              <a:spcBef>
                <a:spcPts val="0"/>
              </a:spcBef>
              <a:spcAft>
                <a:spcPts val="0"/>
              </a:spcAft>
              <a:buSzPts val="1400"/>
              <a:buNone/>
              <a:defRPr b="0" i="0" sz="1800" u="none" cap="none" strike="noStrike">
                <a:solidFill>
                  <a:schemeClr val="dk2"/>
                </a:solidFill>
              </a:defRPr>
            </a:lvl9pPr>
          </a:lstStyle>
          <a:p/>
        </p:txBody>
      </p:sp>
      <p:sp>
        <p:nvSpPr>
          <p:cNvPr id="22" name="Google Shape;22;p98"/>
          <p:cNvSpPr txBox="1"/>
          <p:nvPr>
            <p:ph idx="1" type="body"/>
          </p:nvPr>
        </p:nvSpPr>
        <p:spPr>
          <a:xfrm>
            <a:off x="677334" y="2160589"/>
            <a:ext cx="8596800" cy="3880800"/>
          </a:xfrm>
          <a:prstGeom prst="rect">
            <a:avLst/>
          </a:prstGeom>
          <a:noFill/>
          <a:ln>
            <a:noFill/>
          </a:ln>
        </p:spPr>
        <p:txBody>
          <a:bodyPr anchorCtr="0" anchor="t" bIns="45700" lIns="91425" spcFirstLastPara="1" rIns="91425" wrap="square" tIns="45700">
            <a:normAutofit/>
          </a:bodyPr>
          <a:lstStyle>
            <a:lvl1pPr indent="-320040" lvl="0" marL="457200" marR="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98"/>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98"/>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98"/>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9.gif"/><Relationship Id="rId4" Type="http://schemas.openxmlformats.org/officeDocument/2006/relationships/image" Target="../media/image31.gi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35.jpg"/><Relationship Id="rId4" Type="http://schemas.openxmlformats.org/officeDocument/2006/relationships/image" Target="../media/image36.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30.jpg"/><Relationship Id="rId4" Type="http://schemas.openxmlformats.org/officeDocument/2006/relationships/image" Target="../media/image27.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38.jpg"/><Relationship Id="rId4" Type="http://schemas.openxmlformats.org/officeDocument/2006/relationships/image" Target="../media/image37.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3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200150" y="2404534"/>
            <a:ext cx="8073854" cy="164630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5400"/>
              <a:buFont typeface="Trebuchet MS"/>
              <a:buNone/>
            </a:pPr>
            <a:r>
              <a:rPr lang="en-US"/>
              <a:t>Process, Threads and Scheduling</a:t>
            </a:r>
            <a:endParaRPr/>
          </a:p>
        </p:txBody>
      </p:sp>
      <p:sp>
        <p:nvSpPr>
          <p:cNvPr id="148" name="Google Shape;148;p1"/>
          <p:cNvSpPr txBox="1"/>
          <p:nvPr>
            <p:ph idx="1" type="subTitle"/>
          </p:nvPr>
        </p:nvSpPr>
        <p:spPr>
          <a:xfrm>
            <a:off x="1507067" y="4050833"/>
            <a:ext cx="7767000" cy="10968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440"/>
              <a:buNone/>
            </a:pPr>
            <a:r>
              <a:rPr lang="en-US"/>
              <a:t>13 - hrs.</a:t>
            </a:r>
            <a:endParaRPr/>
          </a:p>
          <a:p>
            <a:pPr indent="0" lvl="0" marL="0" rtl="0" algn="r">
              <a:spcBef>
                <a:spcPts val="1000"/>
              </a:spcBef>
              <a:spcAft>
                <a:spcPts val="0"/>
              </a:spcAft>
              <a:buSzPts val="1440"/>
              <a:buNone/>
            </a:pPr>
            <a:r>
              <a:rPr lang="en-US"/>
              <a:t>Kapil Dev Pant</a:t>
            </a:r>
            <a:endParaRPr/>
          </a:p>
          <a:p>
            <a:pPr indent="0" lvl="0" marL="0" rtl="0" algn="r">
              <a:spcBef>
                <a:spcPts val="1000"/>
              </a:spcBef>
              <a:spcAft>
                <a:spcPts val="0"/>
              </a:spcAft>
              <a:buSzPts val="144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Content</a:t>
            </a:r>
            <a:endParaRPr/>
          </a:p>
        </p:txBody>
      </p:sp>
      <p:sp>
        <p:nvSpPr>
          <p:cNvPr id="154" name="Google Shape;154;p2"/>
          <p:cNvSpPr txBox="1"/>
          <p:nvPr>
            <p:ph idx="1" type="body"/>
          </p:nvPr>
        </p:nvSpPr>
        <p:spPr>
          <a:xfrm>
            <a:off x="677334" y="1863409"/>
            <a:ext cx="8596668" cy="388077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80"/>
              <a:buNone/>
            </a:pPr>
            <a:r>
              <a:rPr lang="en-US" sz="1600"/>
              <a:t>2.1 Process </a:t>
            </a:r>
            <a:endParaRPr/>
          </a:p>
          <a:p>
            <a:pPr indent="0" lvl="0" marL="0" rtl="0" algn="l">
              <a:spcBef>
                <a:spcPts val="1000"/>
              </a:spcBef>
              <a:spcAft>
                <a:spcPts val="0"/>
              </a:spcAft>
              <a:buSzPts val="1280"/>
              <a:buNone/>
            </a:pPr>
            <a:r>
              <a:rPr lang="en-US" sz="1600"/>
              <a:t>	2.1.1 The Process Model </a:t>
            </a:r>
            <a:endParaRPr/>
          </a:p>
          <a:p>
            <a:pPr indent="0" lvl="0" marL="0" rtl="0" algn="l">
              <a:spcBef>
                <a:spcPts val="1000"/>
              </a:spcBef>
              <a:spcAft>
                <a:spcPts val="0"/>
              </a:spcAft>
              <a:buSzPts val="1280"/>
              <a:buNone/>
            </a:pPr>
            <a:r>
              <a:rPr lang="en-US" sz="1600"/>
              <a:t>	2.1.2 Process Creation and Process Termination </a:t>
            </a:r>
            <a:endParaRPr/>
          </a:p>
          <a:p>
            <a:pPr indent="0" lvl="0" marL="0" rtl="0" algn="l">
              <a:spcBef>
                <a:spcPts val="1000"/>
              </a:spcBef>
              <a:spcAft>
                <a:spcPts val="0"/>
              </a:spcAft>
              <a:buSzPts val="1280"/>
              <a:buNone/>
            </a:pPr>
            <a:r>
              <a:rPr lang="en-US" sz="1600"/>
              <a:t>	2.1.3 Process Hierarchies </a:t>
            </a:r>
            <a:endParaRPr/>
          </a:p>
          <a:p>
            <a:pPr indent="0" lvl="0" marL="0" rtl="0" algn="l">
              <a:spcBef>
                <a:spcPts val="1000"/>
              </a:spcBef>
              <a:spcAft>
                <a:spcPts val="0"/>
              </a:spcAft>
              <a:buSzPts val="1280"/>
              <a:buNone/>
            </a:pPr>
            <a:r>
              <a:rPr lang="en-US" sz="1600"/>
              <a:t>	2.1.4 Process States </a:t>
            </a:r>
            <a:endParaRPr/>
          </a:p>
          <a:p>
            <a:pPr indent="0" lvl="0" marL="0" rtl="0" algn="l">
              <a:spcBef>
                <a:spcPts val="1000"/>
              </a:spcBef>
              <a:spcAft>
                <a:spcPts val="0"/>
              </a:spcAft>
              <a:buSzPts val="1280"/>
              <a:buNone/>
            </a:pPr>
            <a:r>
              <a:rPr lang="en-US" sz="1600"/>
              <a:t>	2.1.5 Implementation of Processes </a:t>
            </a:r>
            <a:endParaRPr/>
          </a:p>
          <a:p>
            <a:pPr indent="0" lvl="0" marL="0" rtl="0" algn="l">
              <a:spcBef>
                <a:spcPts val="1000"/>
              </a:spcBef>
              <a:spcAft>
                <a:spcPts val="0"/>
              </a:spcAft>
              <a:buSzPts val="1280"/>
              <a:buNone/>
            </a:pPr>
            <a:r>
              <a:rPr lang="en-US" sz="1600"/>
              <a:t>2.2 Threads </a:t>
            </a:r>
            <a:endParaRPr/>
          </a:p>
          <a:p>
            <a:pPr indent="0" lvl="0" marL="0" rtl="0" algn="l">
              <a:spcBef>
                <a:spcPts val="1000"/>
              </a:spcBef>
              <a:spcAft>
                <a:spcPts val="0"/>
              </a:spcAft>
              <a:buSzPts val="1280"/>
              <a:buNone/>
            </a:pPr>
            <a:r>
              <a:rPr lang="en-US" sz="1600"/>
              <a:t>	2.2.1 Thread Usage </a:t>
            </a:r>
            <a:endParaRPr/>
          </a:p>
          <a:p>
            <a:pPr indent="0" lvl="0" marL="0" rtl="0" algn="l">
              <a:spcBef>
                <a:spcPts val="1000"/>
              </a:spcBef>
              <a:spcAft>
                <a:spcPts val="0"/>
              </a:spcAft>
              <a:buSzPts val="1280"/>
              <a:buNone/>
            </a:pPr>
            <a:r>
              <a:rPr lang="en-US" sz="1600"/>
              <a:t>	2.2.2 Threads Models (Many-to-one model, One-to-One Model, Many-to many model)</a:t>
            </a:r>
            <a:endParaRPr/>
          </a:p>
          <a:p>
            <a:pPr indent="0" lvl="0" marL="0" rtl="0" algn="l">
              <a:spcBef>
                <a:spcPts val="1000"/>
              </a:spcBef>
              <a:spcAft>
                <a:spcPts val="0"/>
              </a:spcAft>
              <a:buSzPts val="1280"/>
              <a:buNone/>
            </a:pPr>
            <a:r>
              <a:rPr lang="en-US" sz="1600"/>
              <a:t>	2.2.3 User Space and Kernel Space Threads </a:t>
            </a:r>
            <a:endParaRPr/>
          </a:p>
          <a:p>
            <a:pPr indent="0" lvl="0" marL="0" rtl="0" algn="l">
              <a:spcBef>
                <a:spcPts val="1000"/>
              </a:spcBef>
              <a:spcAft>
                <a:spcPts val="0"/>
              </a:spcAft>
              <a:buSzPts val="1280"/>
              <a:buNone/>
            </a:pPr>
            <a:r>
              <a:rPr lang="en-US" sz="1600"/>
              <a:t>	2.2.4 Hybrid Implementations </a:t>
            </a:r>
            <a:endParaRPr/>
          </a:p>
          <a:p>
            <a:pPr indent="0" lvl="0" marL="0" rtl="0" algn="l">
              <a:spcBef>
                <a:spcPts val="1000"/>
              </a:spcBef>
              <a:spcAft>
                <a:spcPts val="0"/>
              </a:spcAft>
              <a:buSzPts val="1280"/>
              <a:buNone/>
            </a:pPr>
            <a:r>
              <a:rPr lang="en-US" sz="1600"/>
              <a:t>	2.2.5 Difference between Threads and Processes</a:t>
            </a:r>
            <a:endParaRPr/>
          </a:p>
          <a:p>
            <a:pPr indent="0" lvl="0" marL="0" rtl="0" algn="l">
              <a:spcBef>
                <a:spcPts val="1000"/>
              </a:spcBef>
              <a:spcAft>
                <a:spcPts val="0"/>
              </a:spcAft>
              <a:buSzPts val="1280"/>
              <a:buNone/>
            </a:pPr>
            <a:r>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Content</a:t>
            </a:r>
            <a:endParaRPr/>
          </a:p>
        </p:txBody>
      </p:sp>
      <p:sp>
        <p:nvSpPr>
          <p:cNvPr id="160" name="Google Shape;160;p3"/>
          <p:cNvSpPr txBox="1"/>
          <p:nvPr>
            <p:ph idx="1" type="body"/>
          </p:nvPr>
        </p:nvSpPr>
        <p:spPr>
          <a:xfrm>
            <a:off x="677334" y="1886269"/>
            <a:ext cx="8596668" cy="436213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80"/>
              <a:buNone/>
            </a:pPr>
            <a:r>
              <a:rPr lang="en-US" sz="1600"/>
              <a:t>2.3 Inter-process Communication </a:t>
            </a:r>
            <a:endParaRPr/>
          </a:p>
          <a:p>
            <a:pPr indent="0" lvl="0" marL="0" rtl="0" algn="l">
              <a:spcBef>
                <a:spcPts val="1000"/>
              </a:spcBef>
              <a:spcAft>
                <a:spcPts val="0"/>
              </a:spcAft>
              <a:buSzPts val="1280"/>
              <a:buNone/>
            </a:pPr>
            <a:r>
              <a:rPr lang="en-US" sz="1600"/>
              <a:t>	2.3.1 Race Conditions </a:t>
            </a:r>
            <a:endParaRPr/>
          </a:p>
          <a:p>
            <a:pPr indent="0" lvl="0" marL="0" rtl="0" algn="l">
              <a:spcBef>
                <a:spcPts val="1000"/>
              </a:spcBef>
              <a:spcAft>
                <a:spcPts val="0"/>
              </a:spcAft>
              <a:buSzPts val="1280"/>
              <a:buNone/>
            </a:pPr>
            <a:r>
              <a:rPr lang="en-US" sz="1600"/>
              <a:t>	2.3.2 Critical Regions </a:t>
            </a:r>
            <a:endParaRPr/>
          </a:p>
          <a:p>
            <a:pPr indent="0" lvl="0" marL="0" rtl="0" algn="l">
              <a:spcBef>
                <a:spcPts val="1000"/>
              </a:spcBef>
              <a:spcAft>
                <a:spcPts val="0"/>
              </a:spcAft>
              <a:buSzPts val="1280"/>
              <a:buNone/>
            </a:pPr>
            <a:r>
              <a:rPr lang="en-US" sz="1600"/>
              <a:t>	2.3.3 Mutual Exclusion with Busy Waiting </a:t>
            </a:r>
            <a:endParaRPr/>
          </a:p>
          <a:p>
            <a:pPr indent="0" lvl="0" marL="0" rtl="0" algn="l">
              <a:spcBef>
                <a:spcPts val="1000"/>
              </a:spcBef>
              <a:spcAft>
                <a:spcPts val="0"/>
              </a:spcAft>
              <a:buSzPts val="1280"/>
              <a:buNone/>
            </a:pPr>
            <a:r>
              <a:rPr lang="en-US" sz="1600"/>
              <a:t>	2.3.4 Sleep and Wakeup, Semaphores, Mutexes, Monitors, Message Passing </a:t>
            </a:r>
            <a:endParaRPr/>
          </a:p>
          <a:p>
            <a:pPr indent="0" lvl="0" marL="0" rtl="0" algn="l">
              <a:spcBef>
                <a:spcPts val="1000"/>
              </a:spcBef>
              <a:spcAft>
                <a:spcPts val="0"/>
              </a:spcAft>
              <a:buSzPts val="1280"/>
              <a:buNone/>
            </a:pPr>
            <a:r>
              <a:rPr lang="en-US" sz="1600"/>
              <a:t>	2.3.9 Avoiding Locks: Read-Copy-Update </a:t>
            </a:r>
            <a:endParaRPr/>
          </a:p>
          <a:p>
            <a:pPr indent="0" lvl="0" marL="0" rtl="0" algn="l">
              <a:spcBef>
                <a:spcPts val="1000"/>
              </a:spcBef>
              <a:spcAft>
                <a:spcPts val="0"/>
              </a:spcAft>
              <a:buSzPts val="1280"/>
              <a:buNone/>
            </a:pPr>
            <a:r>
              <a:rPr lang="en-US" sz="1600"/>
              <a:t>2.4 Process Scheduling</a:t>
            </a:r>
            <a:endParaRPr/>
          </a:p>
          <a:p>
            <a:pPr indent="0" lvl="0" marL="0" rtl="0" algn="l">
              <a:spcBef>
                <a:spcPts val="1000"/>
              </a:spcBef>
              <a:spcAft>
                <a:spcPts val="0"/>
              </a:spcAft>
              <a:buSzPts val="1280"/>
              <a:buNone/>
            </a:pPr>
            <a:r>
              <a:rPr lang="en-US" sz="1600"/>
              <a:t>	2.4.1 Basic Concept</a:t>
            </a:r>
            <a:endParaRPr/>
          </a:p>
          <a:p>
            <a:pPr indent="0" lvl="0" marL="0" rtl="0" algn="l">
              <a:spcBef>
                <a:spcPts val="1000"/>
              </a:spcBef>
              <a:spcAft>
                <a:spcPts val="0"/>
              </a:spcAft>
              <a:buSzPts val="1280"/>
              <a:buNone/>
            </a:pPr>
            <a:r>
              <a:rPr lang="en-US" sz="1600"/>
              <a:t>	2.4.2 Type of scheduling (Preemptive scheduling, Non-preemptive scheduling, batch, Interactive, real-time scheduling), </a:t>
            </a:r>
            <a:endParaRPr/>
          </a:p>
          <a:p>
            <a:pPr indent="0" lvl="0" marL="0" rtl="0" algn="l">
              <a:spcBef>
                <a:spcPts val="1000"/>
              </a:spcBef>
              <a:spcAft>
                <a:spcPts val="0"/>
              </a:spcAft>
              <a:buSzPts val="1280"/>
              <a:buNone/>
            </a:pPr>
            <a:r>
              <a:rPr lang="en-US" sz="1600"/>
              <a:t>	2.4.3 Scheduling Criteria or performance analysis, Scheduling Algorithm (Round-robin, First come first served, Shortest-job- first, Shortest process next, Shortest remaining Time next, real time, priority fair share, guaranteed, Lottery scheduling)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Content</a:t>
            </a:r>
            <a:endParaRPr/>
          </a:p>
        </p:txBody>
      </p:sp>
      <p:sp>
        <p:nvSpPr>
          <p:cNvPr id="166" name="Google Shape;166;p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2.5  Deadlocks </a:t>
            </a:r>
            <a:endParaRPr/>
          </a:p>
          <a:p>
            <a:pPr indent="0" lvl="0" marL="0" rtl="0" algn="l">
              <a:spcBef>
                <a:spcPts val="1000"/>
              </a:spcBef>
              <a:spcAft>
                <a:spcPts val="0"/>
              </a:spcAft>
              <a:buSzPts val="1440"/>
              <a:buNone/>
            </a:pPr>
            <a:r>
              <a:rPr lang="en-US"/>
              <a:t>	2.51 System Resources: Preemptable and Non-preemptable</a:t>
            </a:r>
            <a:endParaRPr/>
          </a:p>
          <a:p>
            <a:pPr indent="0" lvl="0" marL="0" rtl="0" algn="l">
              <a:spcBef>
                <a:spcPts val="1000"/>
              </a:spcBef>
              <a:spcAft>
                <a:spcPts val="0"/>
              </a:spcAft>
              <a:buSzPts val="1440"/>
              <a:buNone/>
            </a:pPr>
            <a:r>
              <a:rPr lang="en-US"/>
              <a:t>	2.5.2 Method of handling Deadlocks, </a:t>
            </a:r>
            <a:endParaRPr/>
          </a:p>
          <a:p>
            <a:pPr indent="0" lvl="0" marL="0" rtl="0" algn="l">
              <a:spcBef>
                <a:spcPts val="1000"/>
              </a:spcBef>
              <a:spcAft>
                <a:spcPts val="0"/>
              </a:spcAft>
              <a:buSzPts val="1440"/>
              <a:buNone/>
            </a:pPr>
            <a:r>
              <a:rPr lang="en-US"/>
              <a:t>	2.5.3 Deadlock prevention </a:t>
            </a:r>
            <a:endParaRPr/>
          </a:p>
          <a:p>
            <a:pPr indent="0" lvl="0" marL="0" rtl="0" algn="l">
              <a:spcBef>
                <a:spcPts val="1000"/>
              </a:spcBef>
              <a:spcAft>
                <a:spcPts val="0"/>
              </a:spcAft>
              <a:buSzPts val="1440"/>
              <a:buNone/>
            </a:pPr>
            <a:r>
              <a:rPr lang="en-US"/>
              <a:t>	2.5.4 Deadlock avoidance: Banker’s Algorithm, </a:t>
            </a:r>
            <a:endParaRPr/>
          </a:p>
          <a:p>
            <a:pPr indent="0" lvl="0" marL="0" rtl="0" algn="l">
              <a:spcBef>
                <a:spcPts val="1000"/>
              </a:spcBef>
              <a:spcAft>
                <a:spcPts val="0"/>
              </a:spcAft>
              <a:buSzPts val="1440"/>
              <a:buNone/>
            </a:pPr>
            <a:r>
              <a:rPr lang="en-US"/>
              <a:t>	2.5.5 Protection- System Protection, Goals of Protection, Principles of Protection, Domain of Protection, Access Matrix, Implementation of Access Matrix, access Control list</a:t>
            </a:r>
            <a:endParaRPr/>
          </a:p>
          <a:p>
            <a:pPr indent="0" lvl="0" marL="0" rtl="0" algn="l">
              <a:spcBef>
                <a:spcPts val="1000"/>
              </a:spcBef>
              <a:spcAft>
                <a:spcPts val="0"/>
              </a:spcAft>
              <a:buSzPts val="1440"/>
              <a:buNone/>
            </a:pPr>
            <a:r>
              <a:rPr lang="en-US"/>
              <a:t>2.6	Research on Processes and Threads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Process</a:t>
            </a:r>
            <a:endParaRPr/>
          </a:p>
        </p:txBody>
      </p:sp>
      <p:sp>
        <p:nvSpPr>
          <p:cNvPr id="172" name="Google Shape;172;p5"/>
          <p:cNvSpPr txBox="1"/>
          <p:nvPr>
            <p:ph idx="1" type="body"/>
          </p:nvPr>
        </p:nvSpPr>
        <p:spPr>
          <a:xfrm>
            <a:off x="677334" y="2160589"/>
            <a:ext cx="8596668" cy="4468811"/>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Char char="►"/>
            </a:pPr>
            <a:r>
              <a:rPr lang="en-US"/>
              <a:t>A process is a program in execution.</a:t>
            </a:r>
            <a:endParaRPr/>
          </a:p>
          <a:p>
            <a:pPr indent="-342900" lvl="0" marL="342900" rtl="0" algn="l">
              <a:spcBef>
                <a:spcPts val="1000"/>
              </a:spcBef>
              <a:spcAft>
                <a:spcPts val="0"/>
              </a:spcAft>
              <a:buSzPct val="79999"/>
              <a:buChar char="►"/>
            </a:pPr>
            <a:r>
              <a:rPr lang="en-US"/>
              <a:t>It is an active entity, unlike a passive program on disk.</a:t>
            </a:r>
            <a:endParaRPr/>
          </a:p>
          <a:p>
            <a:pPr indent="-342900" lvl="0" marL="342900" rtl="0" algn="l">
              <a:spcBef>
                <a:spcPts val="1000"/>
              </a:spcBef>
              <a:spcAft>
                <a:spcPts val="0"/>
              </a:spcAft>
              <a:buSzPct val="79999"/>
              <a:buChar char="►"/>
            </a:pPr>
            <a:r>
              <a:rPr lang="en-US"/>
              <a:t>A process includes:</a:t>
            </a:r>
            <a:endParaRPr/>
          </a:p>
          <a:p>
            <a:pPr indent="-285750" lvl="1" marL="742950" rtl="0" algn="l">
              <a:spcBef>
                <a:spcPts val="1000"/>
              </a:spcBef>
              <a:spcAft>
                <a:spcPts val="0"/>
              </a:spcAft>
              <a:buSzPct val="80000"/>
              <a:buChar char="►"/>
            </a:pPr>
            <a:r>
              <a:rPr lang="en-US"/>
              <a:t>Program code</a:t>
            </a:r>
            <a:endParaRPr/>
          </a:p>
          <a:p>
            <a:pPr indent="-285750" lvl="1" marL="742950" rtl="0" algn="l">
              <a:spcBef>
                <a:spcPts val="1000"/>
              </a:spcBef>
              <a:spcAft>
                <a:spcPts val="0"/>
              </a:spcAft>
              <a:buSzPct val="80000"/>
              <a:buChar char="►"/>
            </a:pPr>
            <a:r>
              <a:rPr lang="en-US"/>
              <a:t>Program counter (next instruction)</a:t>
            </a:r>
            <a:endParaRPr/>
          </a:p>
          <a:p>
            <a:pPr indent="-285750" lvl="1" marL="742950" rtl="0" algn="l">
              <a:spcBef>
                <a:spcPts val="1000"/>
              </a:spcBef>
              <a:spcAft>
                <a:spcPts val="0"/>
              </a:spcAft>
              <a:buSzPct val="80000"/>
              <a:buChar char="►"/>
            </a:pPr>
            <a:r>
              <a:rPr lang="en-US"/>
              <a:t>Stack (temporary data)Heap (dynamic memory)</a:t>
            </a:r>
            <a:endParaRPr/>
          </a:p>
          <a:p>
            <a:pPr indent="-285750" lvl="1" marL="742950" rtl="0" algn="l">
              <a:spcBef>
                <a:spcPts val="1000"/>
              </a:spcBef>
              <a:spcAft>
                <a:spcPts val="0"/>
              </a:spcAft>
              <a:buSzPct val="80000"/>
              <a:buChar char="►"/>
            </a:pPr>
            <a:r>
              <a:rPr lang="en-US"/>
              <a:t>Data section (global variables)</a:t>
            </a:r>
            <a:endParaRPr/>
          </a:p>
          <a:p>
            <a:pPr indent="0" lvl="0" marL="0" rtl="0" algn="l">
              <a:spcBef>
                <a:spcPts val="1000"/>
              </a:spcBef>
              <a:spcAft>
                <a:spcPts val="0"/>
              </a:spcAft>
              <a:buSzPct val="79999"/>
              <a:buNone/>
            </a:pPr>
            <a:r>
              <a:rPr b="1" lang="en-US"/>
              <a:t>Example: Multiple Processes Running the Same Program</a:t>
            </a:r>
            <a:endParaRPr/>
          </a:p>
          <a:p>
            <a:pPr indent="-342900" lvl="0" marL="342900" rtl="0" algn="l">
              <a:spcBef>
                <a:spcPts val="1000"/>
              </a:spcBef>
              <a:spcAft>
                <a:spcPts val="0"/>
              </a:spcAft>
              <a:buSzPct val="79999"/>
              <a:buChar char="►"/>
            </a:pPr>
            <a:r>
              <a:rPr lang="en-US"/>
              <a:t>Suppose you open </a:t>
            </a:r>
            <a:r>
              <a:rPr b="1" lang="en-US"/>
              <a:t>three instances of Microsoft Word</a:t>
            </a:r>
            <a:r>
              <a:rPr lang="en-US"/>
              <a:t> (winword.exe).</a:t>
            </a:r>
            <a:endParaRPr/>
          </a:p>
          <a:p>
            <a:pPr indent="-342900" lvl="0" marL="342900" rtl="0" algn="l">
              <a:spcBef>
                <a:spcPts val="1000"/>
              </a:spcBef>
              <a:spcAft>
                <a:spcPts val="0"/>
              </a:spcAft>
              <a:buSzPct val="79999"/>
              <a:buChar char="►"/>
            </a:pPr>
            <a:r>
              <a:rPr lang="en-US"/>
              <a:t>The </a:t>
            </a:r>
            <a:r>
              <a:rPr b="1" lang="en-US"/>
              <a:t>same program file</a:t>
            </a:r>
            <a:r>
              <a:rPr lang="en-US"/>
              <a:t> is loaded each time.</a:t>
            </a:r>
            <a:endParaRPr/>
          </a:p>
          <a:p>
            <a:pPr indent="-342900" lvl="0" marL="342900" rtl="0" algn="l">
              <a:spcBef>
                <a:spcPts val="1000"/>
              </a:spcBef>
              <a:spcAft>
                <a:spcPts val="0"/>
              </a:spcAft>
              <a:buSzPct val="79999"/>
              <a:buChar char="►"/>
            </a:pPr>
            <a:r>
              <a:rPr lang="en-US"/>
              <a:t>The </a:t>
            </a:r>
            <a:r>
              <a:rPr b="1" lang="en-US"/>
              <a:t>operating system creates three separate processes</a:t>
            </a:r>
            <a:r>
              <a:rPr lang="en-US"/>
              <a:t>, each with:</a:t>
            </a:r>
            <a:endParaRPr/>
          </a:p>
          <a:p>
            <a:pPr indent="-285750" lvl="1" marL="742950" rtl="0" algn="l">
              <a:spcBef>
                <a:spcPts val="1000"/>
              </a:spcBef>
              <a:spcAft>
                <a:spcPts val="0"/>
              </a:spcAft>
              <a:buSzPct val="80000"/>
              <a:buChar char="►"/>
            </a:pPr>
            <a:r>
              <a:rPr lang="en-US"/>
              <a:t>Its own memory space</a:t>
            </a:r>
            <a:endParaRPr/>
          </a:p>
          <a:p>
            <a:pPr indent="-285750" lvl="1" marL="742950" rtl="0" algn="l">
              <a:spcBef>
                <a:spcPts val="1000"/>
              </a:spcBef>
              <a:spcAft>
                <a:spcPts val="0"/>
              </a:spcAft>
              <a:buSzPct val="80000"/>
              <a:buChar char="►"/>
            </a:pPr>
            <a:r>
              <a:rPr lang="en-US"/>
              <a:t>Separate data and stack</a:t>
            </a:r>
            <a:endParaRPr/>
          </a:p>
          <a:p>
            <a:pPr indent="-285750" lvl="1" marL="742950" rtl="0" algn="l">
              <a:spcBef>
                <a:spcPts val="1000"/>
              </a:spcBef>
              <a:spcAft>
                <a:spcPts val="0"/>
              </a:spcAft>
              <a:buSzPct val="80000"/>
              <a:buChar char="►"/>
            </a:pPr>
            <a:r>
              <a:rPr lang="en-US"/>
              <a:t>Independent execution flow</a:t>
            </a:r>
            <a:endParaRPr/>
          </a:p>
          <a:p>
            <a:pPr indent="-216662" lvl="1" marL="742950" rtl="0" algn="l">
              <a:spcBef>
                <a:spcPts val="1000"/>
              </a:spcBef>
              <a:spcAft>
                <a:spcPts val="0"/>
              </a:spcAft>
              <a:buSzPct val="8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Process VS Program</a:t>
            </a:r>
            <a:endParaRPr/>
          </a:p>
        </p:txBody>
      </p:sp>
      <p:sp>
        <p:nvSpPr>
          <p:cNvPr id="178" name="Google Shape;178;p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graphicFrame>
        <p:nvGraphicFramePr>
          <p:cNvPr id="179" name="Google Shape;179;p6"/>
          <p:cNvGraphicFramePr/>
          <p:nvPr/>
        </p:nvGraphicFramePr>
        <p:xfrm>
          <a:off x="677334" y="1277939"/>
          <a:ext cx="3000000" cy="3000000"/>
        </p:xfrm>
        <a:graphic>
          <a:graphicData uri="http://schemas.openxmlformats.org/drawingml/2006/table">
            <a:tbl>
              <a:tblPr bandRow="1" firstRow="1">
                <a:noFill/>
                <a:tableStyleId>{4A1EB111-B6CD-4540-B144-BA16F0421430}</a:tableStyleId>
              </a:tblPr>
              <a:tblGrid>
                <a:gridCol w="3044475"/>
                <a:gridCol w="3044475"/>
                <a:gridCol w="3044475"/>
              </a:tblGrid>
              <a:tr h="310650">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Aspect</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Program</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Process</a:t>
                      </a:r>
                      <a:endParaRPr sz="1600" u="none" cap="none" strike="noStrike"/>
                    </a:p>
                  </a:txBody>
                  <a:tcPr marT="45725" marB="45725" marR="91450" marL="91450" anchor="ctr"/>
                </a:tc>
              </a:tr>
              <a:tr h="1009625">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Definition</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A </a:t>
                      </a:r>
                      <a:r>
                        <a:rPr b="1" lang="en-US" sz="1600" u="none" cap="none" strike="noStrike"/>
                        <a:t>program</a:t>
                      </a:r>
                      <a:r>
                        <a:rPr lang="en-US" sz="1600" u="none" cap="none" strike="noStrike"/>
                        <a:t> is a </a:t>
                      </a:r>
                      <a:r>
                        <a:rPr b="1" lang="en-US" sz="1600" u="none" cap="none" strike="noStrike"/>
                        <a:t>set of instructions</a:t>
                      </a:r>
                      <a:r>
                        <a:rPr lang="en-US" sz="1600" u="none" cap="none" strike="noStrike"/>
                        <a:t> written to perform a specific task.</a:t>
                      </a:r>
                      <a:endParaRPr/>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A </a:t>
                      </a:r>
                      <a:r>
                        <a:rPr b="1" lang="en-US" sz="1600" u="none" cap="none" strike="noStrike"/>
                        <a:t>process</a:t>
                      </a:r>
                      <a:r>
                        <a:rPr lang="en-US" sz="1600" u="none" cap="none" strike="noStrike"/>
                        <a:t> is a </a:t>
                      </a:r>
                      <a:r>
                        <a:rPr b="1" lang="en-US" sz="1600" u="none" cap="none" strike="noStrike"/>
                        <a:t>program in execution</a:t>
                      </a:r>
                      <a:r>
                        <a:rPr lang="en-US" sz="1600" u="none" cap="none" strike="noStrike"/>
                        <a:t>, i.e., an active entity using CPU and memory resources.</a:t>
                      </a:r>
                      <a:endParaRPr/>
                    </a:p>
                  </a:txBody>
                  <a:tcPr marT="45725" marB="45725" marR="91450" marL="91450" anchor="ctr"/>
                </a:tc>
              </a:tr>
              <a:tr h="776625">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Nature</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Passive — it exists as a file stored on disk.</a:t>
                      </a:r>
                      <a:endParaRPr/>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Active — it has a program counter, registers, stack, and allocated resources.</a:t>
                      </a:r>
                      <a:endParaRPr/>
                    </a:p>
                  </a:txBody>
                  <a:tcPr marT="45725" marB="45725" marR="91450" marL="91450" anchor="ctr"/>
                </a:tc>
              </a:tr>
              <a:tr h="776625">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Lifespan</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Exists permanently until deleted.</a:t>
                      </a:r>
                      <a:endParaRPr/>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Exists temporarily — created when executed, terminated when finished.</a:t>
                      </a:r>
                      <a:endParaRPr/>
                    </a:p>
                  </a:txBody>
                  <a:tcPr marT="45725" marB="45725" marR="91450" marL="91450" anchor="ctr"/>
                </a:tc>
              </a:tr>
              <a:tr h="543650">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Components</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Contains only code (text segment).</a:t>
                      </a:r>
                      <a:endParaRPr/>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Contains code, data, stack, and heap segments.</a:t>
                      </a:r>
                      <a:endParaRPr/>
                    </a:p>
                  </a:txBody>
                  <a:tcPr marT="45725" marB="45725" marR="91450" marL="91450" anchor="ctr"/>
                </a:tc>
              </a:tr>
              <a:tr h="776625">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State</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No state — just static instructions.</a:t>
                      </a:r>
                      <a:endParaRPr/>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Has states — New, Ready, Running, Waiting, Terminated.</a:t>
                      </a:r>
                      <a:endParaRPr/>
                    </a:p>
                  </a:txBody>
                  <a:tcPr marT="45725" marB="45725" marR="91450" marL="91450" anchor="ctr"/>
                </a:tc>
              </a:tr>
              <a:tr h="776625">
                <a:tc>
                  <a:txBody>
                    <a:bodyPr/>
                    <a:lstStyle/>
                    <a:p>
                      <a:pPr indent="0" lvl="0" marL="0" marR="0" rtl="0" algn="l">
                        <a:spcBef>
                          <a:spcPts val="0"/>
                        </a:spcBef>
                        <a:spcAft>
                          <a:spcPts val="0"/>
                        </a:spcAft>
                        <a:buClr>
                          <a:schemeClr val="dk1"/>
                        </a:buClr>
                        <a:buSzPts val="1600"/>
                        <a:buFont typeface="Trebuchet MS"/>
                        <a:buNone/>
                      </a:pPr>
                      <a:r>
                        <a:rPr b="1" lang="en-US" sz="1600" u="none" cap="none" strike="noStrike"/>
                        <a:t>Example</a:t>
                      </a:r>
                      <a:endParaRPr sz="16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600"/>
                        <a:buFont typeface="Courier New"/>
                        <a:buNone/>
                      </a:pPr>
                      <a:r>
                        <a:rPr lang="en-US" sz="1600" u="none" cap="none" strike="noStrike">
                          <a:latin typeface="Courier New"/>
                          <a:ea typeface="Courier New"/>
                          <a:cs typeface="Courier New"/>
                          <a:sym typeface="Courier New"/>
                        </a:rPr>
                        <a:t>chrome.exe</a:t>
                      </a:r>
                      <a:r>
                        <a:rPr lang="en-US" sz="1600" u="none" cap="none" strike="noStrike"/>
                        <a:t> file stored on disk.</a:t>
                      </a:r>
                      <a:endParaRPr/>
                    </a:p>
                  </a:txBody>
                  <a:tcPr marT="45725" marB="45725" marR="91450" marL="91450" anchor="ctr"/>
                </a:tc>
                <a:tc>
                  <a:txBody>
                    <a:bodyPr/>
                    <a:lstStyle/>
                    <a:p>
                      <a:pPr indent="0" lvl="0" marL="0" marR="0" rtl="0" algn="l">
                        <a:spcBef>
                          <a:spcPts val="0"/>
                        </a:spcBef>
                        <a:spcAft>
                          <a:spcPts val="0"/>
                        </a:spcAft>
                        <a:buClr>
                          <a:schemeClr val="dk1"/>
                        </a:buClr>
                        <a:buSzPts val="1600"/>
                        <a:buFont typeface="Trebuchet MS"/>
                        <a:buNone/>
                      </a:pPr>
                      <a:r>
                        <a:rPr lang="en-US" sz="1600" u="none" cap="none" strike="noStrike"/>
                        <a:t>Each running Chrome window or tab is a separate process.</a:t>
                      </a:r>
                      <a:endParaRPr/>
                    </a:p>
                  </a:txBody>
                  <a:tcPr marT="45725" marB="45725" marR="91450" marL="91450" anchor="ctr"/>
                </a:tc>
              </a:tr>
            </a:tbl>
          </a:graphicData>
        </a:graphic>
      </p:graphicFrame>
      <p:sp>
        <p:nvSpPr>
          <p:cNvPr id="180" name="Google Shape;180;p6"/>
          <p:cNvSpPr/>
          <p:nvPr/>
        </p:nvSpPr>
        <p:spPr>
          <a:xfrm>
            <a:off x="4728018" y="85627"/>
            <a:ext cx="7120860" cy="1077218"/>
          </a:xfrm>
          <a:prstGeom prst="rect">
            <a:avLst/>
          </a:prstGeom>
          <a:noFill/>
          <a:ln>
            <a:noFill/>
          </a:ln>
        </p:spPr>
        <p:txBody>
          <a:bodyPr anchorCtr="0" anchor="ctr" bIns="45700" lIns="91425" spcFirstLastPara="1" rIns="91425" wrap="square" tIns="45700">
            <a:spAutoFit/>
          </a:bodyPr>
          <a:lstStyle/>
          <a:p>
            <a:pPr indent="-101600" lvl="0" marL="0" marR="0" rtl="0" algn="l">
              <a:lnSpc>
                <a:spcPct val="100000"/>
              </a:lnSpc>
              <a:spcBef>
                <a:spcPts val="0"/>
              </a:spcBef>
              <a:spcAft>
                <a:spcPts val="0"/>
              </a:spcAft>
              <a:buClr>
                <a:srgbClr val="821908"/>
              </a:buClr>
              <a:buSzPts val="1600"/>
              <a:buFont typeface="Architects Daughter"/>
              <a:buChar char="•"/>
            </a:pPr>
            <a:r>
              <a:rPr b="1" i="0" lang="en-US" sz="1600" u="none" cap="none" strike="noStrike">
                <a:solidFill>
                  <a:srgbClr val="821908"/>
                </a:solidFill>
                <a:latin typeface="Architects Daughter"/>
                <a:ea typeface="Architects Daughter"/>
                <a:cs typeface="Architects Daughter"/>
                <a:sym typeface="Architects Daughter"/>
              </a:rPr>
              <a:t>Program: a static file on disk — source or executable — containing instructions </a:t>
            </a:r>
            <a:endParaRPr/>
          </a:p>
          <a:p>
            <a:pPr indent="0" lvl="0" marL="0" marR="0" rtl="0" algn="l">
              <a:lnSpc>
                <a:spcPct val="100000"/>
              </a:lnSpc>
              <a:spcBef>
                <a:spcPts val="0"/>
              </a:spcBef>
              <a:spcAft>
                <a:spcPts val="0"/>
              </a:spcAft>
              <a:buNone/>
            </a:pPr>
            <a:r>
              <a:rPr b="1" i="0" lang="en-US" sz="1600" u="none" cap="none" strike="noStrike">
                <a:solidFill>
                  <a:srgbClr val="821908"/>
                </a:solidFill>
                <a:latin typeface="Architects Daughter"/>
                <a:ea typeface="Architects Daughter"/>
                <a:cs typeface="Architects Daughter"/>
                <a:sym typeface="Architects Daughter"/>
              </a:rPr>
              <a:t>   and maybe static data.</a:t>
            </a:r>
            <a:endParaRPr/>
          </a:p>
          <a:p>
            <a:pPr indent="-101600" lvl="0" marL="0" marR="0" rtl="0" algn="l">
              <a:lnSpc>
                <a:spcPct val="100000"/>
              </a:lnSpc>
              <a:spcBef>
                <a:spcPts val="0"/>
              </a:spcBef>
              <a:spcAft>
                <a:spcPts val="0"/>
              </a:spcAft>
              <a:buClr>
                <a:srgbClr val="821908"/>
              </a:buClr>
              <a:buSzPts val="1600"/>
              <a:buFont typeface="Architects Daughter"/>
              <a:buChar char="•"/>
            </a:pPr>
            <a:r>
              <a:rPr b="1" i="0" lang="en-US" sz="1600" u="none" cap="none" strike="noStrike">
                <a:solidFill>
                  <a:srgbClr val="821908"/>
                </a:solidFill>
                <a:latin typeface="Architects Daughter"/>
                <a:ea typeface="Architects Daughter"/>
                <a:cs typeface="Architects Daughter"/>
                <a:sym typeface="Architects Daughter"/>
              </a:rPr>
              <a:t>Process: a dynamic, runtime instance of a program — with its own CPU state, </a:t>
            </a:r>
            <a:endParaRPr/>
          </a:p>
          <a:p>
            <a:pPr indent="0" lvl="0" marL="0" marR="0" rtl="0" algn="l">
              <a:lnSpc>
                <a:spcPct val="100000"/>
              </a:lnSpc>
              <a:spcBef>
                <a:spcPts val="0"/>
              </a:spcBef>
              <a:spcAft>
                <a:spcPts val="0"/>
              </a:spcAft>
              <a:buNone/>
            </a:pPr>
            <a:r>
              <a:rPr b="1" i="0" lang="en-US" sz="1600" u="none" cap="none" strike="noStrike">
                <a:solidFill>
                  <a:srgbClr val="821908"/>
                </a:solidFill>
                <a:latin typeface="Architects Daughter"/>
                <a:ea typeface="Architects Daughter"/>
                <a:cs typeface="Architects Daughter"/>
                <a:sym typeface="Architects Daughter"/>
              </a:rPr>
              <a:t>   memory, and OS bookkeeping — created when the program is executed.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The Process Model </a:t>
            </a:r>
            <a:endParaRPr/>
          </a:p>
        </p:txBody>
      </p:sp>
      <p:sp>
        <p:nvSpPr>
          <p:cNvPr id="187" name="Google Shape;187;p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a:p>
            <a:pPr indent="-342900" lvl="0" marL="342900" rtl="0" algn="l">
              <a:spcBef>
                <a:spcPts val="1000"/>
              </a:spcBef>
              <a:spcAft>
                <a:spcPts val="0"/>
              </a:spcAft>
              <a:buSzPts val="1440"/>
              <a:buChar char="►"/>
            </a:pPr>
            <a:r>
              <a:rPr lang="en-US"/>
              <a:t>The process model treats each process as an independent entity.</a:t>
            </a:r>
            <a:endParaRPr/>
          </a:p>
          <a:p>
            <a:pPr indent="-342900" lvl="0" marL="342900" rtl="0" algn="l">
              <a:spcBef>
                <a:spcPts val="1000"/>
              </a:spcBef>
              <a:spcAft>
                <a:spcPts val="0"/>
              </a:spcAft>
              <a:buSzPts val="1440"/>
              <a:buChar char="►"/>
            </a:pPr>
            <a:r>
              <a:rPr lang="en-US"/>
              <a:t>Each process runs in its own address space.</a:t>
            </a:r>
            <a:endParaRPr/>
          </a:p>
          <a:p>
            <a:pPr indent="-342900" lvl="0" marL="342900" rtl="0" algn="l">
              <a:spcBef>
                <a:spcPts val="1000"/>
              </a:spcBef>
              <a:spcAft>
                <a:spcPts val="0"/>
              </a:spcAft>
              <a:buSzPts val="1440"/>
              <a:buChar char="►"/>
            </a:pPr>
            <a:r>
              <a:rPr lang="en-US"/>
              <a:t>Processes communicate via:</a:t>
            </a:r>
            <a:endParaRPr/>
          </a:p>
          <a:p>
            <a:pPr indent="-285750" lvl="1" marL="742950" rtl="0" algn="l">
              <a:spcBef>
                <a:spcPts val="1000"/>
              </a:spcBef>
              <a:spcAft>
                <a:spcPts val="0"/>
              </a:spcAft>
              <a:buSzPts val="1280"/>
              <a:buChar char="►"/>
            </a:pPr>
            <a:r>
              <a:rPr lang="en-US"/>
              <a:t>Inter-Process Communication (IPC) mechanisms</a:t>
            </a:r>
            <a:endParaRPr/>
          </a:p>
          <a:p>
            <a:pPr indent="-285750" lvl="1" marL="742950" rtl="0" algn="l">
              <a:spcBef>
                <a:spcPts val="1000"/>
              </a:spcBef>
              <a:spcAft>
                <a:spcPts val="0"/>
              </a:spcAft>
              <a:buSzPts val="1280"/>
              <a:buChar char="►"/>
            </a:pPr>
            <a:r>
              <a:rPr lang="en-US"/>
              <a:t>Message passing or shared memory</a:t>
            </a:r>
            <a:endParaRPr/>
          </a:p>
          <a:p>
            <a:pPr indent="-342900" lvl="0" marL="342900" rtl="0" algn="l">
              <a:spcBef>
                <a:spcPts val="1000"/>
              </a:spcBef>
              <a:spcAft>
                <a:spcPts val="0"/>
              </a:spcAft>
              <a:buSzPts val="1440"/>
              <a:buChar char="►"/>
            </a:pPr>
            <a:r>
              <a:rPr lang="en-US"/>
              <a:t>Kernel manages all processes through the Process Control Block (PCB).</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Process Creation and Process Termination </a:t>
            </a:r>
            <a:endParaRPr/>
          </a:p>
        </p:txBody>
      </p:sp>
      <p:sp>
        <p:nvSpPr>
          <p:cNvPr id="194" name="Google Shape;194;p9"/>
          <p:cNvSpPr txBox="1"/>
          <p:nvPr>
            <p:ph idx="1" type="body"/>
          </p:nvPr>
        </p:nvSpPr>
        <p:spPr>
          <a:xfrm>
            <a:off x="677334" y="2160589"/>
            <a:ext cx="5006978" cy="4110962"/>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Char char="►"/>
            </a:pPr>
            <a:r>
              <a:rPr lang="en-US"/>
              <a:t>Processes are created by other processes using system calls like fork() or CreateProcess().</a:t>
            </a:r>
            <a:endParaRPr/>
          </a:p>
          <a:p>
            <a:pPr indent="-342900" lvl="0" marL="342900" rtl="0" algn="l">
              <a:spcBef>
                <a:spcPts val="1000"/>
              </a:spcBef>
              <a:spcAft>
                <a:spcPts val="0"/>
              </a:spcAft>
              <a:buSzPct val="79999"/>
              <a:buChar char="►"/>
            </a:pPr>
            <a:r>
              <a:rPr lang="en-US"/>
              <a:t>Parent process creates a child process for multitasking.</a:t>
            </a:r>
            <a:endParaRPr/>
          </a:p>
          <a:p>
            <a:pPr indent="-342900" lvl="0" marL="342900" rtl="0" algn="l">
              <a:spcBef>
                <a:spcPts val="1000"/>
              </a:spcBef>
              <a:spcAft>
                <a:spcPts val="0"/>
              </a:spcAft>
              <a:buSzPct val="79999"/>
              <a:buChar char="►"/>
            </a:pPr>
            <a:r>
              <a:rPr lang="en-US"/>
              <a:t>Steps in creation:</a:t>
            </a:r>
            <a:endParaRPr/>
          </a:p>
          <a:p>
            <a:pPr indent="-285750" lvl="1" marL="742950" rtl="0" algn="l">
              <a:spcBef>
                <a:spcPts val="1000"/>
              </a:spcBef>
              <a:spcAft>
                <a:spcPts val="0"/>
              </a:spcAft>
              <a:buSzPct val="80000"/>
              <a:buChar char="►"/>
            </a:pPr>
            <a:r>
              <a:rPr lang="en-US"/>
              <a:t>Allocate memory for new process</a:t>
            </a:r>
            <a:endParaRPr/>
          </a:p>
          <a:p>
            <a:pPr indent="-285750" lvl="1" marL="742950" rtl="0" algn="l">
              <a:spcBef>
                <a:spcPts val="1000"/>
              </a:spcBef>
              <a:spcAft>
                <a:spcPts val="0"/>
              </a:spcAft>
              <a:buSzPct val="80000"/>
              <a:buChar char="►"/>
            </a:pPr>
            <a:r>
              <a:rPr lang="en-US"/>
              <a:t>Load program into memory</a:t>
            </a:r>
            <a:endParaRPr/>
          </a:p>
          <a:p>
            <a:pPr indent="-285750" lvl="1" marL="742950" rtl="0" algn="l">
              <a:spcBef>
                <a:spcPts val="1000"/>
              </a:spcBef>
              <a:spcAft>
                <a:spcPts val="0"/>
              </a:spcAft>
              <a:buSzPct val="80000"/>
              <a:buChar char="►"/>
            </a:pPr>
            <a:r>
              <a:rPr lang="en-US"/>
              <a:t>Initialize PCB</a:t>
            </a:r>
            <a:endParaRPr/>
          </a:p>
          <a:p>
            <a:pPr indent="-285750" lvl="1" marL="742950" rtl="0" algn="l">
              <a:spcBef>
                <a:spcPts val="1000"/>
              </a:spcBef>
              <a:spcAft>
                <a:spcPts val="0"/>
              </a:spcAft>
              <a:buSzPct val="80000"/>
              <a:buChar char="►"/>
            </a:pPr>
            <a:r>
              <a:rPr lang="en-US"/>
              <a:t>Add to ready queue</a:t>
            </a:r>
            <a:endParaRPr/>
          </a:p>
          <a:p>
            <a:pPr indent="-342900" lvl="0" marL="342900" rtl="0" algn="l">
              <a:spcBef>
                <a:spcPts val="1000"/>
              </a:spcBef>
              <a:spcAft>
                <a:spcPts val="0"/>
              </a:spcAft>
              <a:buSzPct val="79999"/>
              <a:buChar char="►"/>
            </a:pPr>
            <a:r>
              <a:rPr lang="en-US"/>
              <a:t>Reasons for creation:</a:t>
            </a:r>
            <a:endParaRPr/>
          </a:p>
          <a:p>
            <a:pPr indent="-285750" lvl="1" marL="742950" rtl="0" algn="l">
              <a:spcBef>
                <a:spcPts val="1000"/>
              </a:spcBef>
              <a:spcAft>
                <a:spcPts val="0"/>
              </a:spcAft>
              <a:buSzPct val="80000"/>
              <a:buChar char="►"/>
            </a:pPr>
            <a:r>
              <a:rPr lang="en-US"/>
              <a:t>System initialization</a:t>
            </a:r>
            <a:endParaRPr/>
          </a:p>
          <a:p>
            <a:pPr indent="-285750" lvl="1" marL="742950" rtl="0" algn="l">
              <a:spcBef>
                <a:spcPts val="1000"/>
              </a:spcBef>
              <a:spcAft>
                <a:spcPts val="0"/>
              </a:spcAft>
              <a:buSzPct val="80000"/>
              <a:buChar char="►"/>
            </a:pPr>
            <a:r>
              <a:rPr lang="en-US"/>
              <a:t>User request</a:t>
            </a:r>
            <a:endParaRPr/>
          </a:p>
          <a:p>
            <a:pPr indent="-285750" lvl="1" marL="742950" rtl="0" algn="l">
              <a:spcBef>
                <a:spcPts val="1000"/>
              </a:spcBef>
              <a:spcAft>
                <a:spcPts val="0"/>
              </a:spcAft>
              <a:buSzPct val="80000"/>
              <a:buChar char="►"/>
            </a:pPr>
            <a:r>
              <a:rPr lang="en-US"/>
              <a:t>Batch job initiation</a:t>
            </a:r>
            <a:endParaRPr/>
          </a:p>
          <a:p>
            <a:pPr indent="-285750" lvl="1" marL="742950" rtl="0" algn="l">
              <a:spcBef>
                <a:spcPts val="1000"/>
              </a:spcBef>
              <a:spcAft>
                <a:spcPts val="0"/>
              </a:spcAft>
              <a:buSzPct val="80000"/>
              <a:buChar char="►"/>
            </a:pPr>
            <a:r>
              <a:rPr lang="en-US"/>
              <a:t>Providing services</a:t>
            </a:r>
            <a:endParaRPr/>
          </a:p>
        </p:txBody>
      </p:sp>
      <p:sp>
        <p:nvSpPr>
          <p:cNvPr id="195" name="Google Shape;195;p9"/>
          <p:cNvSpPr txBox="1"/>
          <p:nvPr/>
        </p:nvSpPr>
        <p:spPr>
          <a:xfrm>
            <a:off x="6507689" y="2131431"/>
            <a:ext cx="8596668" cy="388077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marR="0" rtl="0" algn="l">
              <a:spcBef>
                <a:spcPts val="0"/>
              </a:spcBef>
              <a:spcAft>
                <a:spcPts val="0"/>
              </a:spcAft>
              <a:buClr>
                <a:schemeClr val="accent1"/>
              </a:buClr>
              <a:buSzPct val="79999"/>
              <a:buFont typeface="Noto Sans Symbols"/>
              <a:buChar char="►"/>
            </a:pPr>
            <a:r>
              <a:rPr b="0" i="0" lang="en-US" sz="1800" u="none" cap="none" strike="noStrike">
                <a:solidFill>
                  <a:srgbClr val="3F3F3F"/>
                </a:solidFill>
                <a:latin typeface="Trebuchet MS"/>
                <a:ea typeface="Trebuchet MS"/>
                <a:cs typeface="Trebuchet MS"/>
                <a:sym typeface="Trebuchet MS"/>
              </a:rPr>
              <a:t>A process terminates when:</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It finishes execution (exit())</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Memory deficit</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Excess time in execution</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IO failure</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Protection error</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Misuse of data</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It is killed (kill() or terminateProcess())</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Parent or system shuts it down</a:t>
            </a:r>
            <a:endParaRPr/>
          </a:p>
          <a:p>
            <a:pPr indent="-342900" lvl="0" marL="342900" marR="0" rtl="0" algn="l">
              <a:spcBef>
                <a:spcPts val="1000"/>
              </a:spcBef>
              <a:spcAft>
                <a:spcPts val="0"/>
              </a:spcAft>
              <a:buClr>
                <a:schemeClr val="accent1"/>
              </a:buClr>
              <a:buSzPct val="79999"/>
              <a:buFont typeface="Noto Sans Symbols"/>
              <a:buChar char="►"/>
            </a:pPr>
            <a:r>
              <a:rPr b="0" i="0" lang="en-US" sz="1800" u="none" cap="none" strike="noStrike">
                <a:solidFill>
                  <a:srgbClr val="3F3F3F"/>
                </a:solidFill>
                <a:latin typeface="Trebuchet MS"/>
                <a:ea typeface="Trebuchet MS"/>
                <a:cs typeface="Trebuchet MS"/>
                <a:sym typeface="Trebuchet MS"/>
              </a:rPr>
              <a:t>Steps in termination:</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OS updates PCB</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Releases allocated resources</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Removes process from all queues</a:t>
            </a:r>
            <a:endParaRPr/>
          </a:p>
          <a:p>
            <a:pPr indent="-265176" lvl="0" marL="342900" marR="0" rtl="0" algn="l">
              <a:spcBef>
                <a:spcPts val="1000"/>
              </a:spcBef>
              <a:spcAft>
                <a:spcPts val="0"/>
              </a:spcAft>
              <a:buClr>
                <a:schemeClr val="accent1"/>
              </a:buClr>
              <a:buSzPct val="79999"/>
              <a:buFont typeface="Noto Sans Symbols"/>
              <a:buNone/>
            </a:pPr>
            <a:r>
              <a:t/>
            </a:r>
            <a:endParaRPr b="0" i="0" sz="1800" u="none" cap="none" strike="noStrike">
              <a:solidFill>
                <a:srgbClr val="3F3F3F"/>
              </a:solidFill>
              <a:latin typeface="Trebuchet MS"/>
              <a:ea typeface="Trebuchet MS"/>
              <a:cs typeface="Trebuchet MS"/>
              <a:sym typeface="Trebuchet MS"/>
            </a:endParaRPr>
          </a:p>
          <a:p>
            <a:pPr indent="-265176" lvl="0" marL="342900" marR="0" rtl="0" algn="l">
              <a:spcBef>
                <a:spcPts val="1000"/>
              </a:spcBef>
              <a:spcAft>
                <a:spcPts val="0"/>
              </a:spcAft>
              <a:buClr>
                <a:schemeClr val="accent1"/>
              </a:buClr>
              <a:buSzPct val="79999"/>
              <a:buFont typeface="Noto Sans Symbols"/>
              <a:buNone/>
            </a:pPr>
            <a:r>
              <a:t/>
            </a:r>
            <a:endParaRPr b="0" i="0" sz="1800" u="none" cap="none" strike="noStrike">
              <a:solidFill>
                <a:srgbClr val="3F3F3F"/>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Process Control Block (PCB)</a:t>
            </a:r>
            <a:endParaRPr/>
          </a:p>
        </p:txBody>
      </p:sp>
      <p:sp>
        <p:nvSpPr>
          <p:cNvPr id="202" name="Google Shape;202;p8"/>
          <p:cNvSpPr txBox="1"/>
          <p:nvPr>
            <p:ph idx="1" type="body"/>
          </p:nvPr>
        </p:nvSpPr>
        <p:spPr>
          <a:xfrm>
            <a:off x="677334" y="2160589"/>
            <a:ext cx="8146891"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data structure used by the OS to store process information.</a:t>
            </a:r>
            <a:endParaRPr/>
          </a:p>
          <a:p>
            <a:pPr indent="-342900" lvl="0" marL="342900" rtl="0" algn="l">
              <a:spcBef>
                <a:spcPts val="1000"/>
              </a:spcBef>
              <a:spcAft>
                <a:spcPts val="0"/>
              </a:spcAft>
              <a:buSzPts val="1440"/>
              <a:buChar char="►"/>
            </a:pPr>
            <a:r>
              <a:rPr lang="en-US"/>
              <a:t>PCB as the “identity card” of a process — stored in the kernel and updated during context switching.</a:t>
            </a:r>
            <a:endParaRPr/>
          </a:p>
          <a:p>
            <a:pPr indent="-342900" lvl="0" marL="342900" rtl="0" algn="l">
              <a:spcBef>
                <a:spcPts val="1000"/>
              </a:spcBef>
              <a:spcAft>
                <a:spcPts val="0"/>
              </a:spcAft>
              <a:buSzPts val="1440"/>
              <a:buChar char="►"/>
            </a:pPr>
            <a:r>
              <a:rPr lang="en-US"/>
              <a:t>Contains following for each process:</a:t>
            </a:r>
            <a:endParaRPr/>
          </a:p>
          <a:p>
            <a:pPr indent="-285750" lvl="1" marL="742950" rtl="0" algn="l">
              <a:spcBef>
                <a:spcPts val="1000"/>
              </a:spcBef>
              <a:spcAft>
                <a:spcPts val="0"/>
              </a:spcAft>
              <a:buSzPts val="1280"/>
              <a:buChar char="►"/>
            </a:pPr>
            <a:r>
              <a:rPr lang="en-US"/>
              <a:t>Process ID (PID)Process state</a:t>
            </a:r>
            <a:endParaRPr/>
          </a:p>
          <a:p>
            <a:pPr indent="-285750" lvl="1" marL="742950" rtl="0" algn="l">
              <a:spcBef>
                <a:spcPts val="1000"/>
              </a:spcBef>
              <a:spcAft>
                <a:spcPts val="0"/>
              </a:spcAft>
              <a:buSzPts val="1280"/>
              <a:buChar char="►"/>
            </a:pPr>
            <a:r>
              <a:rPr lang="en-US"/>
              <a:t>CPU registers</a:t>
            </a:r>
            <a:endParaRPr/>
          </a:p>
          <a:p>
            <a:pPr indent="-285750" lvl="1" marL="742950" rtl="0" algn="l">
              <a:spcBef>
                <a:spcPts val="1000"/>
              </a:spcBef>
              <a:spcAft>
                <a:spcPts val="0"/>
              </a:spcAft>
              <a:buSzPts val="1280"/>
              <a:buChar char="►"/>
            </a:pPr>
            <a:r>
              <a:rPr lang="en-US"/>
              <a:t>Program counter</a:t>
            </a:r>
            <a:endParaRPr/>
          </a:p>
          <a:p>
            <a:pPr indent="-285750" lvl="1" marL="742950" rtl="0" algn="l">
              <a:spcBef>
                <a:spcPts val="1000"/>
              </a:spcBef>
              <a:spcAft>
                <a:spcPts val="0"/>
              </a:spcAft>
              <a:buSzPts val="1280"/>
              <a:buChar char="►"/>
            </a:pPr>
            <a:r>
              <a:rPr lang="en-US"/>
              <a:t>Memory management info</a:t>
            </a:r>
            <a:endParaRPr/>
          </a:p>
          <a:p>
            <a:pPr indent="-285750" lvl="1" marL="742950" rtl="0" algn="l">
              <a:spcBef>
                <a:spcPts val="1000"/>
              </a:spcBef>
              <a:spcAft>
                <a:spcPts val="0"/>
              </a:spcAft>
              <a:buSzPts val="1280"/>
              <a:buChar char="►"/>
            </a:pPr>
            <a:r>
              <a:rPr lang="en-US"/>
              <a:t>I/O status &amp; accounting info</a:t>
            </a:r>
            <a:endParaRPr/>
          </a:p>
          <a:p>
            <a:pPr indent="-251459" lvl="0" marL="342900" rtl="0" algn="l">
              <a:spcBef>
                <a:spcPts val="1000"/>
              </a:spcBef>
              <a:spcAft>
                <a:spcPts val="0"/>
              </a:spcAft>
              <a:buSzPts val="1440"/>
              <a:buNone/>
            </a:pPr>
            <a:r>
              <a:t/>
            </a:r>
            <a:endParaRPr/>
          </a:p>
        </p:txBody>
      </p:sp>
      <p:pic>
        <p:nvPicPr>
          <p:cNvPr id="203" name="Google Shape;203;p8"/>
          <p:cNvPicPr preferRelativeResize="0"/>
          <p:nvPr/>
        </p:nvPicPr>
        <p:blipFill rotWithShape="1">
          <a:blip r:embed="rId3">
            <a:alphaModFix/>
          </a:blip>
          <a:srcRect b="0" l="0" r="0" t="0"/>
          <a:stretch/>
        </p:blipFill>
        <p:spPr>
          <a:xfrm>
            <a:off x="8824225" y="609600"/>
            <a:ext cx="3367775" cy="5501098"/>
          </a:xfrm>
          <a:prstGeom prst="rect">
            <a:avLst/>
          </a:prstGeom>
          <a:noFill/>
          <a:ln>
            <a:noFill/>
          </a:ln>
        </p:spPr>
      </p:pic>
      <p:sp>
        <p:nvSpPr>
          <p:cNvPr id="204" name="Google Shape;204;p8"/>
          <p:cNvSpPr txBox="1"/>
          <p:nvPr/>
        </p:nvSpPr>
        <p:spPr>
          <a:xfrm>
            <a:off x="4294829" y="3877095"/>
            <a:ext cx="8146891" cy="3880773"/>
          </a:xfrm>
          <a:prstGeom prst="rect">
            <a:avLst/>
          </a:prstGeom>
          <a:noFill/>
          <a:ln>
            <a:noFill/>
          </a:ln>
        </p:spPr>
        <p:txBody>
          <a:bodyPr anchorCtr="0" anchor="t" bIns="45700" lIns="91425" spcFirstLastPara="1" rIns="91425" wrap="square" tIns="45700">
            <a:normAutofit/>
          </a:bodyPr>
          <a:lstStyle/>
          <a:p>
            <a:pPr indent="-251459" lvl="0" marL="342900" marR="0" rtl="0" algn="l">
              <a:spcBef>
                <a:spcPts val="0"/>
              </a:spcBef>
              <a:spcAft>
                <a:spcPts val="0"/>
              </a:spcAft>
              <a:buClr>
                <a:schemeClr val="accent1"/>
              </a:buClr>
              <a:buSzPts val="1440"/>
              <a:buFont typeface="Noto Sans Symbols"/>
              <a:buNone/>
            </a:pPr>
            <a:r>
              <a:t/>
            </a:r>
            <a:endParaRPr b="0" i="0" sz="1800" u="none" cap="none" strike="noStrike">
              <a:solidFill>
                <a:srgbClr val="3F3F3F"/>
              </a:solidFill>
              <a:latin typeface="Trebuchet MS"/>
              <a:ea typeface="Trebuchet MS"/>
              <a:cs typeface="Trebuchet MS"/>
              <a:sym typeface="Trebuchet MS"/>
            </a:endParaRPr>
          </a:p>
        </p:txBody>
      </p:sp>
      <p:sp>
        <p:nvSpPr>
          <p:cNvPr id="205" name="Google Shape;205;p8"/>
          <p:cNvSpPr txBox="1"/>
          <p:nvPr/>
        </p:nvSpPr>
        <p:spPr>
          <a:xfrm>
            <a:off x="5200556" y="3877095"/>
            <a:ext cx="8146891" cy="388077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accent1"/>
              </a:buClr>
              <a:buSzPts val="1440"/>
              <a:buFont typeface="Noto Sans Symbols"/>
              <a:buChar char="►"/>
            </a:pPr>
            <a:r>
              <a:rPr b="1" i="0" lang="en-US" sz="1800" u="none" cap="none" strike="noStrike">
                <a:solidFill>
                  <a:srgbClr val="31479F"/>
                </a:solidFill>
                <a:latin typeface="Trebuchet MS"/>
                <a:ea typeface="Trebuchet MS"/>
                <a:cs typeface="Trebuchet MS"/>
                <a:sym typeface="Trebuchet MS"/>
              </a:rPr>
              <a:t>Role of PCB in OS</a:t>
            </a:r>
            <a:endParaRPr/>
          </a:p>
          <a:p>
            <a:pPr indent="-285750" lvl="1" marL="742950" marR="0" rtl="0" algn="l">
              <a:spcBef>
                <a:spcPts val="1000"/>
              </a:spcBef>
              <a:spcAft>
                <a:spcPts val="0"/>
              </a:spcAft>
              <a:buClr>
                <a:schemeClr val="accent1"/>
              </a:buClr>
              <a:buSzPts val="1280"/>
              <a:buFont typeface="Noto Sans Symbols"/>
              <a:buChar char="►"/>
            </a:pPr>
            <a:r>
              <a:rPr b="1" i="0" lang="en-US" sz="1600" u="none" cap="none" strike="noStrike">
                <a:solidFill>
                  <a:srgbClr val="31479F"/>
                </a:solidFill>
                <a:latin typeface="Trebuchet MS"/>
                <a:ea typeface="Trebuchet MS"/>
                <a:cs typeface="Trebuchet MS"/>
                <a:sym typeface="Trebuchet MS"/>
              </a:rPr>
              <a:t>State Management:</a:t>
            </a:r>
            <a:r>
              <a:rPr b="0" i="0" lang="en-US" sz="1600" u="none" cap="none" strike="noStrike">
                <a:solidFill>
                  <a:srgbClr val="31479F"/>
                </a:solidFill>
                <a:latin typeface="Trebuchet MS"/>
                <a:ea typeface="Trebuchet MS"/>
                <a:cs typeface="Trebuchet MS"/>
                <a:sym typeface="Trebuchet MS"/>
              </a:rPr>
              <a:t> </a:t>
            </a:r>
            <a:endParaRPr/>
          </a:p>
          <a:p>
            <a:pPr indent="-285750" lvl="1" marL="742950" marR="0" rtl="0" algn="l">
              <a:spcBef>
                <a:spcPts val="1000"/>
              </a:spcBef>
              <a:spcAft>
                <a:spcPts val="0"/>
              </a:spcAft>
              <a:buClr>
                <a:schemeClr val="accent1"/>
              </a:buClr>
              <a:buSzPts val="1280"/>
              <a:buFont typeface="Noto Sans Symbols"/>
              <a:buChar char="►"/>
            </a:pPr>
            <a:r>
              <a:rPr b="1" i="0" lang="en-US" sz="1600" u="none" cap="none" strike="noStrike">
                <a:solidFill>
                  <a:srgbClr val="31479F"/>
                </a:solidFill>
                <a:latin typeface="Trebuchet MS"/>
                <a:ea typeface="Trebuchet MS"/>
                <a:cs typeface="Trebuchet MS"/>
                <a:sym typeface="Trebuchet MS"/>
              </a:rPr>
              <a:t>Resource Allocation:</a:t>
            </a:r>
            <a:r>
              <a:rPr b="0" i="0" lang="en-US" sz="1600" u="none" cap="none" strike="noStrike">
                <a:solidFill>
                  <a:srgbClr val="31479F"/>
                </a:solidFill>
                <a:latin typeface="Trebuchet MS"/>
                <a:ea typeface="Trebuchet MS"/>
                <a:cs typeface="Trebuchet MS"/>
                <a:sym typeface="Trebuchet MS"/>
              </a:rPr>
              <a:t> </a:t>
            </a:r>
            <a:endParaRPr/>
          </a:p>
          <a:p>
            <a:pPr indent="-285750" lvl="1" marL="742950" marR="0" rtl="0" algn="l">
              <a:spcBef>
                <a:spcPts val="1000"/>
              </a:spcBef>
              <a:spcAft>
                <a:spcPts val="0"/>
              </a:spcAft>
              <a:buClr>
                <a:schemeClr val="accent1"/>
              </a:buClr>
              <a:buSzPts val="1280"/>
              <a:buFont typeface="Noto Sans Symbols"/>
              <a:buChar char="►"/>
            </a:pPr>
            <a:r>
              <a:rPr b="1" i="0" lang="en-US" sz="1600" u="none" cap="none" strike="noStrike">
                <a:solidFill>
                  <a:srgbClr val="31479F"/>
                </a:solidFill>
                <a:latin typeface="Trebuchet MS"/>
                <a:ea typeface="Trebuchet MS"/>
                <a:cs typeface="Trebuchet MS"/>
                <a:sym typeface="Trebuchet MS"/>
              </a:rPr>
              <a:t>Execution Oversight:</a:t>
            </a:r>
            <a:r>
              <a:rPr b="0" i="0" lang="en-US" sz="1600" u="none" cap="none" strike="noStrike">
                <a:solidFill>
                  <a:srgbClr val="31479F"/>
                </a:solidFill>
                <a:latin typeface="Trebuchet MS"/>
                <a:ea typeface="Trebuchet MS"/>
                <a:cs typeface="Trebuchet MS"/>
                <a:sym typeface="Trebuchet MS"/>
              </a:rPr>
              <a:t> </a:t>
            </a:r>
            <a:endParaRPr/>
          </a:p>
          <a:p>
            <a:pPr indent="-285750" lvl="1" marL="742950" marR="0" rtl="0" algn="l">
              <a:spcBef>
                <a:spcPts val="1000"/>
              </a:spcBef>
              <a:spcAft>
                <a:spcPts val="0"/>
              </a:spcAft>
              <a:buClr>
                <a:schemeClr val="accent1"/>
              </a:buClr>
              <a:buSzPts val="1280"/>
              <a:buFont typeface="Noto Sans Symbols"/>
              <a:buChar char="►"/>
            </a:pPr>
            <a:r>
              <a:rPr b="1" i="0" lang="en-US" sz="1600" u="none" cap="none" strike="noStrike">
                <a:solidFill>
                  <a:srgbClr val="31479F"/>
                </a:solidFill>
                <a:latin typeface="Trebuchet MS"/>
                <a:ea typeface="Trebuchet MS"/>
                <a:cs typeface="Trebuchet MS"/>
                <a:sym typeface="Trebuchet MS"/>
              </a:rPr>
              <a:t>Protection and Security:</a:t>
            </a:r>
            <a:r>
              <a:rPr b="0" i="0" lang="en-US" sz="1600" u="none" cap="none" strike="noStrike">
                <a:solidFill>
                  <a:srgbClr val="31479F"/>
                </a:solidFill>
                <a:latin typeface="Trebuchet MS"/>
                <a:ea typeface="Trebuchet MS"/>
                <a:cs typeface="Trebuchet MS"/>
                <a:sym typeface="Trebuchet MS"/>
              </a:rPr>
              <a:t> </a:t>
            </a:r>
            <a:endParaRPr/>
          </a:p>
          <a:p>
            <a:pPr indent="-285750" lvl="1" marL="742950" marR="0" rtl="0" algn="l">
              <a:spcBef>
                <a:spcPts val="1000"/>
              </a:spcBef>
              <a:spcAft>
                <a:spcPts val="0"/>
              </a:spcAft>
              <a:buClr>
                <a:schemeClr val="accent1"/>
              </a:buClr>
              <a:buSzPts val="1280"/>
              <a:buFont typeface="Noto Sans Symbols"/>
              <a:buChar char="►"/>
            </a:pPr>
            <a:r>
              <a:rPr b="1" i="0" lang="en-US" sz="1600" u="none" cap="none" strike="noStrike">
                <a:solidFill>
                  <a:srgbClr val="31479F"/>
                </a:solidFill>
                <a:latin typeface="Trebuchet MS"/>
                <a:ea typeface="Trebuchet MS"/>
                <a:cs typeface="Trebuchet MS"/>
                <a:sym typeface="Trebuchet MS"/>
              </a:rPr>
              <a:t>Context Information:</a:t>
            </a:r>
            <a:r>
              <a:rPr b="0" i="0" lang="en-US" sz="1600" u="none" cap="none" strike="noStrike">
                <a:solidFill>
                  <a:srgbClr val="31479F"/>
                </a:solidFill>
                <a:latin typeface="Trebuchet MS"/>
                <a:ea typeface="Trebuchet MS"/>
                <a:cs typeface="Trebuchet MS"/>
                <a:sym typeface="Trebuchet MS"/>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Process Hierarchies </a:t>
            </a:r>
            <a:endParaRPr/>
          </a:p>
        </p:txBody>
      </p:sp>
      <p:sp>
        <p:nvSpPr>
          <p:cNvPr id="211" name="Google Shape;211;p10"/>
          <p:cNvSpPr txBox="1"/>
          <p:nvPr>
            <p:ph idx="1" type="body"/>
          </p:nvPr>
        </p:nvSpPr>
        <p:spPr>
          <a:xfrm>
            <a:off x="677333" y="2160589"/>
            <a:ext cx="6156603"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Parent and child processes form a tree-like hierarchy.</a:t>
            </a:r>
            <a:endParaRPr/>
          </a:p>
          <a:p>
            <a:pPr indent="-342900" lvl="0" marL="342900" rtl="0" algn="l">
              <a:spcBef>
                <a:spcPts val="1000"/>
              </a:spcBef>
              <a:spcAft>
                <a:spcPts val="0"/>
              </a:spcAft>
              <a:buSzPts val="1440"/>
              <a:buChar char="►"/>
            </a:pPr>
            <a:r>
              <a:rPr lang="en-US"/>
              <a:t>UNIX/Linux: Child inherits environment and resources.</a:t>
            </a:r>
            <a:endParaRPr/>
          </a:p>
          <a:p>
            <a:pPr indent="-342900" lvl="0" marL="342900" rtl="0" algn="l">
              <a:spcBef>
                <a:spcPts val="1000"/>
              </a:spcBef>
              <a:spcAft>
                <a:spcPts val="0"/>
              </a:spcAft>
              <a:buSzPts val="1440"/>
              <a:buChar char="►"/>
            </a:pPr>
            <a:r>
              <a:rPr lang="en-US"/>
              <a:t>Parent can:</a:t>
            </a:r>
            <a:endParaRPr/>
          </a:p>
          <a:p>
            <a:pPr indent="-285750" lvl="1" marL="742950" rtl="0" algn="l">
              <a:spcBef>
                <a:spcPts val="1000"/>
              </a:spcBef>
              <a:spcAft>
                <a:spcPts val="0"/>
              </a:spcAft>
              <a:buSzPts val="1280"/>
              <a:buChar char="►"/>
            </a:pPr>
            <a:r>
              <a:rPr lang="en-US"/>
              <a:t>Wait for child to complete (wait() system call)</a:t>
            </a:r>
            <a:endParaRPr/>
          </a:p>
          <a:p>
            <a:pPr indent="-285750" lvl="1" marL="742950" rtl="0" algn="l">
              <a:spcBef>
                <a:spcPts val="1000"/>
              </a:spcBef>
              <a:spcAft>
                <a:spcPts val="0"/>
              </a:spcAft>
              <a:buSzPts val="1280"/>
              <a:buChar char="►"/>
            </a:pPr>
            <a:r>
              <a:rPr lang="en-US"/>
              <a:t>Create independent child</a:t>
            </a:r>
            <a:endParaRPr/>
          </a:p>
          <a:p>
            <a:pPr indent="-342900" lvl="0" marL="342900" rtl="0" algn="l">
              <a:spcBef>
                <a:spcPts val="1000"/>
              </a:spcBef>
              <a:spcAft>
                <a:spcPts val="0"/>
              </a:spcAft>
              <a:buSzPts val="1440"/>
              <a:buChar char="►"/>
            </a:pPr>
            <a:r>
              <a:rPr lang="en-US"/>
              <a:t>If parent terminates → children may become orphans.</a:t>
            </a:r>
            <a:endParaRPr/>
          </a:p>
        </p:txBody>
      </p:sp>
      <p:pic>
        <p:nvPicPr>
          <p:cNvPr descr="OS Lecture #5" id="212" name="Google Shape;212;p10"/>
          <p:cNvPicPr preferRelativeResize="0"/>
          <p:nvPr/>
        </p:nvPicPr>
        <p:blipFill rotWithShape="1">
          <a:blip r:embed="rId3">
            <a:alphaModFix/>
          </a:blip>
          <a:srcRect b="0" l="0" r="0" t="5596"/>
          <a:stretch/>
        </p:blipFill>
        <p:spPr>
          <a:xfrm>
            <a:off x="7783463" y="2160589"/>
            <a:ext cx="4408537" cy="34337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Process States </a:t>
            </a:r>
            <a:endParaRPr/>
          </a:p>
        </p:txBody>
      </p:sp>
      <p:pic>
        <p:nvPicPr>
          <p:cNvPr descr="Five State Process Model" id="219" name="Google Shape;219;p11"/>
          <p:cNvPicPr preferRelativeResize="0"/>
          <p:nvPr/>
        </p:nvPicPr>
        <p:blipFill rotWithShape="1">
          <a:blip r:embed="rId3">
            <a:alphaModFix/>
          </a:blip>
          <a:srcRect b="0" l="0" r="0" t="0"/>
          <a:stretch/>
        </p:blipFill>
        <p:spPr>
          <a:xfrm>
            <a:off x="5108530" y="1691640"/>
            <a:ext cx="7014890" cy="3983962"/>
          </a:xfrm>
          <a:prstGeom prst="rect">
            <a:avLst/>
          </a:prstGeom>
          <a:noFill/>
          <a:ln>
            <a:noFill/>
          </a:ln>
        </p:spPr>
      </p:pic>
      <p:sp>
        <p:nvSpPr>
          <p:cNvPr id="220" name="Google Shape;220;p11"/>
          <p:cNvSpPr txBox="1"/>
          <p:nvPr>
            <p:ph idx="1" type="body"/>
          </p:nvPr>
        </p:nvSpPr>
        <p:spPr>
          <a:xfrm>
            <a:off x="677334" y="179482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Process states:</a:t>
            </a:r>
            <a:endParaRPr/>
          </a:p>
          <a:p>
            <a:pPr indent="-285750" lvl="1" marL="742950" rtl="0" algn="l">
              <a:spcBef>
                <a:spcPts val="1000"/>
              </a:spcBef>
              <a:spcAft>
                <a:spcPts val="0"/>
              </a:spcAft>
              <a:buSzPts val="1280"/>
              <a:buChar char="►"/>
            </a:pPr>
            <a:r>
              <a:rPr lang="en-US"/>
              <a:t>New – being created</a:t>
            </a:r>
            <a:endParaRPr/>
          </a:p>
          <a:p>
            <a:pPr indent="-285750" lvl="1" marL="742950" rtl="0" algn="l">
              <a:spcBef>
                <a:spcPts val="1000"/>
              </a:spcBef>
              <a:spcAft>
                <a:spcPts val="0"/>
              </a:spcAft>
              <a:buSzPts val="1280"/>
              <a:buChar char="►"/>
            </a:pPr>
            <a:r>
              <a:rPr lang="en-US"/>
              <a:t>Ready – waiting for CPU</a:t>
            </a:r>
            <a:endParaRPr/>
          </a:p>
          <a:p>
            <a:pPr indent="-285750" lvl="1" marL="742950" rtl="0" algn="l">
              <a:spcBef>
                <a:spcPts val="1000"/>
              </a:spcBef>
              <a:spcAft>
                <a:spcPts val="0"/>
              </a:spcAft>
              <a:buSzPts val="1280"/>
              <a:buChar char="►"/>
            </a:pPr>
            <a:r>
              <a:rPr lang="en-US"/>
              <a:t>Running – instructions executing</a:t>
            </a:r>
            <a:endParaRPr/>
          </a:p>
          <a:p>
            <a:pPr indent="-285750" lvl="1" marL="742950" rtl="0" algn="l">
              <a:spcBef>
                <a:spcPts val="1000"/>
              </a:spcBef>
              <a:spcAft>
                <a:spcPts val="0"/>
              </a:spcAft>
              <a:buSzPts val="1280"/>
              <a:buChar char="►"/>
            </a:pPr>
            <a:r>
              <a:rPr lang="en-US"/>
              <a:t>Waiting/Blocked – waiting for I/O</a:t>
            </a:r>
            <a:endParaRPr/>
          </a:p>
          <a:p>
            <a:pPr indent="-285750" lvl="1" marL="742950" rtl="0" algn="l">
              <a:spcBef>
                <a:spcPts val="1000"/>
              </a:spcBef>
              <a:spcAft>
                <a:spcPts val="0"/>
              </a:spcAft>
              <a:buSzPts val="1280"/>
              <a:buChar char="►"/>
            </a:pPr>
            <a:r>
              <a:rPr lang="en-US"/>
              <a:t>Terminated – finished execution</a:t>
            </a:r>
            <a:endParaRPr/>
          </a:p>
          <a:p>
            <a:pPr indent="-342900" lvl="0" marL="342900" rtl="0" algn="l">
              <a:spcBef>
                <a:spcPts val="1000"/>
              </a:spcBef>
              <a:spcAft>
                <a:spcPts val="0"/>
              </a:spcAft>
              <a:buSzPts val="1440"/>
              <a:buChar char="►"/>
            </a:pPr>
            <a:r>
              <a:rPr lang="en-US"/>
              <a:t>State transitions occur due to scheduling or I/O.</a:t>
            </a:r>
            <a:endParaRPr/>
          </a:p>
        </p:txBody>
      </p:sp>
      <p:sp>
        <p:nvSpPr>
          <p:cNvPr id="221" name="Google Shape;221;p11"/>
          <p:cNvSpPr txBox="1"/>
          <p:nvPr/>
        </p:nvSpPr>
        <p:spPr>
          <a:xfrm>
            <a:off x="677334" y="4705668"/>
            <a:ext cx="8596668" cy="1320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3600"/>
              <a:buFont typeface="Trebuchet MS"/>
              <a:buNone/>
            </a:pPr>
            <a:r>
              <a:rPr b="0" i="0" lang="en-US" sz="3600" u="none" cap="none" strike="noStrike">
                <a:solidFill>
                  <a:schemeClr val="accent1"/>
                </a:solidFill>
                <a:latin typeface="Trebuchet MS"/>
                <a:ea typeface="Trebuchet MS"/>
                <a:cs typeface="Trebuchet MS"/>
                <a:sym typeface="Trebuchet MS"/>
              </a:rPr>
              <a:t>Process Operations </a:t>
            </a:r>
            <a:endParaRPr/>
          </a:p>
        </p:txBody>
      </p:sp>
      <p:pic>
        <p:nvPicPr>
          <p:cNvPr descr="Process Operations" id="222" name="Google Shape;222;p11"/>
          <p:cNvPicPr preferRelativeResize="0"/>
          <p:nvPr/>
        </p:nvPicPr>
        <p:blipFill rotWithShape="1">
          <a:blip r:embed="rId4">
            <a:alphaModFix/>
          </a:blip>
          <a:srcRect b="0" l="0" r="0" t="42911"/>
          <a:stretch/>
        </p:blipFill>
        <p:spPr>
          <a:xfrm>
            <a:off x="6328410" y="5331759"/>
            <a:ext cx="5795010" cy="1464926"/>
          </a:xfrm>
          <a:prstGeom prst="rect">
            <a:avLst/>
          </a:prstGeom>
          <a:noFill/>
          <a:ln>
            <a:noFill/>
          </a:ln>
        </p:spPr>
      </p:pic>
      <p:sp>
        <p:nvSpPr>
          <p:cNvPr id="223" name="Google Shape;223;p11"/>
          <p:cNvSpPr txBox="1"/>
          <p:nvPr/>
        </p:nvSpPr>
        <p:spPr>
          <a:xfrm>
            <a:off x="608754" y="5481611"/>
            <a:ext cx="6043506" cy="388077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accent1"/>
              </a:buClr>
              <a:buSzPts val="1440"/>
              <a:buFont typeface="Noto Sans Symbols"/>
              <a:buChar char="►"/>
            </a:pPr>
            <a:r>
              <a:rPr b="0" i="0" lang="en-US" sz="1800" u="none" cap="none" strike="noStrike">
                <a:solidFill>
                  <a:srgbClr val="3F3F3F"/>
                </a:solidFill>
                <a:latin typeface="Trebuchet MS"/>
                <a:ea typeface="Trebuchet MS"/>
                <a:cs typeface="Trebuchet MS"/>
                <a:sym typeface="Trebuchet MS"/>
              </a:rPr>
              <a:t>It refers to the various activities the OS performs to manage processes.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Implementation of Processes </a:t>
            </a:r>
            <a:endParaRPr/>
          </a:p>
        </p:txBody>
      </p:sp>
      <p:sp>
        <p:nvSpPr>
          <p:cNvPr id="230" name="Google Shape;230;p12"/>
          <p:cNvSpPr txBox="1"/>
          <p:nvPr>
            <p:ph idx="1" type="body"/>
          </p:nvPr>
        </p:nvSpPr>
        <p:spPr>
          <a:xfrm>
            <a:off x="677334" y="1744447"/>
            <a:ext cx="8009466"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the implementation of processes involves creating and managing units of execution that can run independently</a:t>
            </a:r>
            <a:endParaRPr/>
          </a:p>
          <a:p>
            <a:pPr indent="-342900" lvl="0" marL="342900" rtl="0" algn="l">
              <a:spcBef>
                <a:spcPts val="1000"/>
              </a:spcBef>
              <a:spcAft>
                <a:spcPts val="0"/>
              </a:spcAft>
              <a:buSzPts val="1440"/>
              <a:buChar char="►"/>
            </a:pPr>
            <a:r>
              <a:rPr lang="en-US"/>
              <a:t>OS maintains process data using:</a:t>
            </a:r>
            <a:endParaRPr/>
          </a:p>
          <a:p>
            <a:pPr indent="-285750" lvl="1" marL="742950" rtl="0" algn="l">
              <a:spcBef>
                <a:spcPts val="1000"/>
              </a:spcBef>
              <a:spcAft>
                <a:spcPts val="0"/>
              </a:spcAft>
              <a:buSzPts val="1280"/>
              <a:buChar char="►"/>
            </a:pPr>
            <a:r>
              <a:rPr lang="en-US"/>
              <a:t>Process Table (array of PCBs)</a:t>
            </a:r>
            <a:endParaRPr/>
          </a:p>
          <a:p>
            <a:pPr indent="-285750" lvl="1" marL="742950" rtl="0" algn="l">
              <a:spcBef>
                <a:spcPts val="1000"/>
              </a:spcBef>
              <a:spcAft>
                <a:spcPts val="0"/>
              </a:spcAft>
              <a:buSzPts val="1280"/>
              <a:buChar char="►"/>
            </a:pPr>
            <a:r>
              <a:rPr lang="en-US"/>
              <a:t>Scheduler (decides which process runs next)</a:t>
            </a:r>
            <a:endParaRPr/>
          </a:p>
          <a:p>
            <a:pPr indent="-285750" lvl="1" marL="742950" rtl="0" algn="l">
              <a:spcBef>
                <a:spcPts val="1000"/>
              </a:spcBef>
              <a:spcAft>
                <a:spcPts val="0"/>
              </a:spcAft>
              <a:buSzPts val="1280"/>
              <a:buChar char="►"/>
            </a:pPr>
            <a:r>
              <a:rPr lang="en-US"/>
              <a:t>Context Switching Mechanism</a:t>
            </a:r>
            <a:endParaRPr/>
          </a:p>
          <a:p>
            <a:pPr indent="-342900" lvl="0" marL="342900" rtl="0" algn="l">
              <a:spcBef>
                <a:spcPts val="1000"/>
              </a:spcBef>
              <a:spcAft>
                <a:spcPts val="0"/>
              </a:spcAft>
              <a:buSzPts val="1440"/>
              <a:buChar char="►"/>
            </a:pPr>
            <a:r>
              <a:rPr lang="en-US"/>
              <a:t>Context switch:</a:t>
            </a:r>
            <a:endParaRPr/>
          </a:p>
          <a:p>
            <a:pPr indent="-285750" lvl="1" marL="742950" rtl="0" algn="l">
              <a:spcBef>
                <a:spcPts val="1000"/>
              </a:spcBef>
              <a:spcAft>
                <a:spcPts val="0"/>
              </a:spcAft>
              <a:buSzPts val="1280"/>
              <a:buChar char="►"/>
            </a:pPr>
            <a:r>
              <a:rPr lang="en-US"/>
              <a:t>Save current process state</a:t>
            </a:r>
            <a:endParaRPr/>
          </a:p>
          <a:p>
            <a:pPr indent="-285750" lvl="1" marL="742950" rtl="0" algn="l">
              <a:spcBef>
                <a:spcPts val="1000"/>
              </a:spcBef>
              <a:spcAft>
                <a:spcPts val="0"/>
              </a:spcAft>
              <a:buSzPts val="1280"/>
              <a:buChar char="►"/>
            </a:pPr>
            <a:r>
              <a:rPr lang="en-US"/>
              <a:t>Load next process state</a:t>
            </a:r>
            <a:endParaRPr/>
          </a:p>
          <a:p>
            <a:pPr indent="-285750" lvl="1" marL="742950" rtl="0" algn="l">
              <a:spcBef>
                <a:spcPts val="1000"/>
              </a:spcBef>
              <a:spcAft>
                <a:spcPts val="0"/>
              </a:spcAft>
              <a:buSzPts val="1280"/>
              <a:buChar char="►"/>
            </a:pPr>
            <a:r>
              <a:rPr lang="en-US"/>
              <a:t>Update PCB accordingly</a:t>
            </a:r>
            <a:endParaRPr/>
          </a:p>
          <a:p>
            <a:pPr indent="-342900" lvl="0" marL="342900" rtl="0" algn="l">
              <a:spcBef>
                <a:spcPts val="1000"/>
              </a:spcBef>
              <a:spcAft>
                <a:spcPts val="0"/>
              </a:spcAft>
              <a:buSzPts val="1440"/>
              <a:buChar char="►"/>
            </a:pPr>
            <a:r>
              <a:rPr lang="en-US"/>
              <a:t>Implemented mostly in kernel mode</a:t>
            </a:r>
            <a:endParaRPr/>
          </a:p>
        </p:txBody>
      </p:sp>
      <p:sp>
        <p:nvSpPr>
          <p:cNvPr id="231" name="Google Shape;231;p12"/>
          <p:cNvSpPr txBox="1"/>
          <p:nvPr/>
        </p:nvSpPr>
        <p:spPr>
          <a:xfrm>
            <a:off x="6203142" y="2545160"/>
            <a:ext cx="8596668" cy="388077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accent1"/>
              </a:buClr>
              <a:buSzPts val="1440"/>
              <a:buFont typeface="Noto Sans Symbols"/>
              <a:buChar char="►"/>
            </a:pPr>
            <a:r>
              <a:rPr b="1" i="0" lang="en-US" sz="1800" u="sng" cap="none" strike="noStrike">
                <a:solidFill>
                  <a:srgbClr val="903D00"/>
                </a:solidFill>
                <a:latin typeface="Trebuchet MS"/>
                <a:ea typeface="Trebuchet MS"/>
                <a:cs typeface="Trebuchet MS"/>
                <a:sym typeface="Trebuchet MS"/>
              </a:rPr>
              <a:t>Implementation Steps: 	Example</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903D00"/>
                </a:solidFill>
                <a:latin typeface="Trebuchet MS"/>
                <a:ea typeface="Trebuchet MS"/>
                <a:cs typeface="Trebuchet MS"/>
                <a:sym typeface="Trebuchet MS"/>
              </a:rPr>
              <a:t>Process Creation: 		launching app</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903D00"/>
                </a:solidFill>
                <a:latin typeface="Trebuchet MS"/>
                <a:ea typeface="Trebuchet MS"/>
                <a:cs typeface="Trebuchet MS"/>
                <a:sym typeface="Trebuchet MS"/>
              </a:rPr>
              <a:t>Process Scheduling: 		which app gets cpu</a:t>
            </a:r>
            <a:endParaRPr b="0" i="0" sz="1600" u="none" cap="none" strike="noStrike">
              <a:solidFill>
                <a:srgbClr val="903D00"/>
              </a:solidFill>
              <a:latin typeface="Trebuchet MS"/>
              <a:ea typeface="Trebuchet MS"/>
              <a:cs typeface="Trebuchet MS"/>
              <a:sym typeface="Trebuchet MS"/>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903D00"/>
                </a:solidFill>
                <a:latin typeface="Trebuchet MS"/>
                <a:ea typeface="Trebuchet MS"/>
                <a:cs typeface="Trebuchet MS"/>
                <a:sym typeface="Trebuchet MS"/>
              </a:rPr>
              <a:t>Process Execution: 		app working</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903D00"/>
                </a:solidFill>
                <a:latin typeface="Trebuchet MS"/>
                <a:ea typeface="Trebuchet MS"/>
                <a:cs typeface="Trebuchet MS"/>
                <a:sym typeface="Trebuchet MS"/>
              </a:rPr>
              <a:t>Process Switching : 		switching between apps</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903D00"/>
                </a:solidFill>
                <a:latin typeface="Trebuchet MS"/>
                <a:ea typeface="Trebuchet MS"/>
                <a:cs typeface="Trebuchet MS"/>
                <a:sym typeface="Trebuchet MS"/>
              </a:rPr>
              <a:t>Process Termination: 		closing app</a:t>
            </a:r>
            <a:endParaRPr/>
          </a:p>
          <a:p>
            <a:pPr indent="-251459" lvl="0" marL="342900" marR="0" rtl="0" algn="l">
              <a:spcBef>
                <a:spcPts val="1000"/>
              </a:spcBef>
              <a:spcAft>
                <a:spcPts val="0"/>
              </a:spcAft>
              <a:buClr>
                <a:schemeClr val="accent1"/>
              </a:buClr>
              <a:buSzPts val="1440"/>
              <a:buFont typeface="Noto Sans Symbols"/>
              <a:buNone/>
            </a:pPr>
            <a:r>
              <a:t/>
            </a:r>
            <a:endParaRPr b="0" i="0" sz="1800" u="none" cap="none" strike="noStrike">
              <a:solidFill>
                <a:srgbClr val="903D00"/>
              </a:solidFill>
              <a:latin typeface="Trebuchet MS"/>
              <a:ea typeface="Trebuchet MS"/>
              <a:cs typeface="Trebuchet MS"/>
              <a:sym typeface="Trebuchet MS"/>
            </a:endParaRPr>
          </a:p>
        </p:txBody>
      </p:sp>
      <p:sp>
        <p:nvSpPr>
          <p:cNvPr id="232" name="Google Shape;232;p12"/>
          <p:cNvSpPr txBox="1"/>
          <p:nvPr/>
        </p:nvSpPr>
        <p:spPr>
          <a:xfrm>
            <a:off x="4011354" y="5925234"/>
            <a:ext cx="74199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0000"/>
                </a:solidFill>
                <a:latin typeface="Architects Daughter"/>
                <a:ea typeface="Architects Daughter"/>
                <a:cs typeface="Architects Daughter"/>
                <a:sym typeface="Architects Daughter"/>
              </a:rPr>
              <a:t>“Processes give isolation but require explicit mechanisms to share data; threads ease sharing but reduce fault isolation.”</a:t>
            </a:r>
            <a:endParaRPr/>
          </a:p>
        </p:txBody>
      </p:sp>
      <p:sp>
        <p:nvSpPr>
          <p:cNvPr id="233" name="Google Shape;233;p12"/>
          <p:cNvSpPr txBox="1"/>
          <p:nvPr/>
        </p:nvSpPr>
        <p:spPr>
          <a:xfrm>
            <a:off x="760672" y="6033741"/>
            <a:ext cx="74199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rebuchet MS"/>
              <a:buNone/>
            </a:pPr>
            <a:r>
              <a:rPr b="1" lang="en-US" sz="1800" u="sng">
                <a:solidFill>
                  <a:schemeClr val="dk1"/>
                </a:solidFill>
                <a:latin typeface="Trebuchet MS"/>
                <a:ea typeface="Trebuchet MS"/>
                <a:cs typeface="Trebuchet MS"/>
                <a:sym typeface="Trebuchet MS"/>
              </a:rPr>
              <a:t>Are processes isolated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Multiple processes executing the same program</a:t>
            </a:r>
            <a:endParaRPr/>
          </a:p>
        </p:txBody>
      </p:sp>
      <p:sp>
        <p:nvSpPr>
          <p:cNvPr id="240" name="Google Shape;240;p13"/>
          <p:cNvSpPr txBox="1"/>
          <p:nvPr>
            <p:ph idx="1" type="body"/>
          </p:nvPr>
        </p:nvSpPr>
        <p:spPr>
          <a:xfrm>
            <a:off x="677334" y="2160589"/>
            <a:ext cx="8596668" cy="427831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Char char="►"/>
            </a:pPr>
            <a:r>
              <a:rPr lang="en-US"/>
              <a:t>When you launch the same executable multiple times, the OS creates separate processes; each gets:</a:t>
            </a:r>
            <a:endParaRPr/>
          </a:p>
          <a:p>
            <a:pPr indent="-285750" lvl="1" marL="742950" rtl="0" algn="l">
              <a:spcBef>
                <a:spcPts val="1000"/>
              </a:spcBef>
              <a:spcAft>
                <a:spcPts val="0"/>
              </a:spcAft>
              <a:buSzPct val="80000"/>
              <a:buChar char="►"/>
            </a:pPr>
            <a:r>
              <a:rPr lang="en-US"/>
              <a:t>Its own PCB and PID.</a:t>
            </a:r>
            <a:endParaRPr/>
          </a:p>
          <a:p>
            <a:pPr indent="-285750" lvl="1" marL="742950" rtl="0" algn="l">
              <a:spcBef>
                <a:spcPts val="1000"/>
              </a:spcBef>
              <a:spcAft>
                <a:spcPts val="0"/>
              </a:spcAft>
              <a:buSzPct val="80000"/>
              <a:buChar char="►"/>
            </a:pPr>
            <a:r>
              <a:rPr lang="en-US"/>
              <a:t>Its own stack, heap, and virtual memory mappings.</a:t>
            </a:r>
            <a:endParaRPr/>
          </a:p>
          <a:p>
            <a:pPr indent="-285750" lvl="1" marL="742950" rtl="0" algn="l">
              <a:spcBef>
                <a:spcPts val="1000"/>
              </a:spcBef>
              <a:spcAft>
                <a:spcPts val="0"/>
              </a:spcAft>
              <a:buSzPct val="80000"/>
              <a:buChar char="►"/>
            </a:pPr>
            <a:r>
              <a:rPr lang="en-US"/>
              <a:t>Its own set of registers and PC.</a:t>
            </a:r>
            <a:endParaRPr/>
          </a:p>
          <a:p>
            <a:pPr indent="-342900" lvl="0" marL="342900" rtl="0" algn="l">
              <a:spcBef>
                <a:spcPts val="1000"/>
              </a:spcBef>
              <a:spcAft>
                <a:spcPts val="0"/>
              </a:spcAft>
              <a:buSzPct val="79999"/>
              <a:buChar char="►"/>
            </a:pPr>
            <a:r>
              <a:rPr lang="en-US"/>
              <a:t>Shared elements (efficiently):</a:t>
            </a:r>
            <a:endParaRPr/>
          </a:p>
          <a:p>
            <a:pPr indent="-285750" lvl="1" marL="742950" rtl="0" algn="l">
              <a:spcBef>
                <a:spcPts val="1000"/>
              </a:spcBef>
              <a:spcAft>
                <a:spcPts val="0"/>
              </a:spcAft>
              <a:buSzPct val="80000"/>
              <a:buChar char="►"/>
            </a:pPr>
            <a:r>
              <a:rPr lang="en-US"/>
              <a:t>The executable’s text (code) pages are usually mapped read-only and shared between processes to save memory.</a:t>
            </a:r>
            <a:endParaRPr/>
          </a:p>
          <a:p>
            <a:pPr indent="-285750" lvl="1" marL="742950" rtl="0" algn="l">
              <a:spcBef>
                <a:spcPts val="1000"/>
              </a:spcBef>
              <a:spcAft>
                <a:spcPts val="0"/>
              </a:spcAft>
              <a:buSzPct val="80000"/>
              <a:buChar char="►"/>
            </a:pPr>
            <a:r>
              <a:rPr lang="en-US"/>
              <a:t>Shared libraries (dynamic libs) can be mapped into multiple processes.</a:t>
            </a:r>
            <a:endParaRPr/>
          </a:p>
          <a:p>
            <a:pPr indent="-342900" lvl="0" marL="342900" rtl="0" algn="l">
              <a:spcBef>
                <a:spcPts val="1000"/>
              </a:spcBef>
              <a:spcAft>
                <a:spcPts val="0"/>
              </a:spcAft>
              <a:buSzPct val="79999"/>
              <a:buChar char="►"/>
            </a:pPr>
            <a:r>
              <a:rPr lang="en-US"/>
              <a:t>Copy-on-Write (COW):</a:t>
            </a:r>
            <a:endParaRPr/>
          </a:p>
          <a:p>
            <a:pPr indent="-285750" lvl="1" marL="742950" rtl="0" algn="l">
              <a:spcBef>
                <a:spcPts val="1000"/>
              </a:spcBef>
              <a:spcAft>
                <a:spcPts val="0"/>
              </a:spcAft>
              <a:buSzPct val="80000"/>
              <a:buChar char="►"/>
            </a:pPr>
            <a:r>
              <a:rPr lang="en-US"/>
              <a:t>On fork() the child often starts as a copy of the parent’s address space, but the kernel marks pages read-only and sets up COW. Physical pages are shared until either process writes to a page — then the kernel copies that page so each process has its own copy. This makes process creation fast and memory-efficient.</a:t>
            </a:r>
            <a:endParaRPr/>
          </a:p>
        </p:txBody>
      </p:sp>
      <p:sp>
        <p:nvSpPr>
          <p:cNvPr id="241" name="Google Shape;241;p13"/>
          <p:cNvSpPr txBox="1"/>
          <p:nvPr/>
        </p:nvSpPr>
        <p:spPr>
          <a:xfrm>
            <a:off x="2238375" y="6211669"/>
            <a:ext cx="61150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rchitects Daughter"/>
                <a:ea typeface="Architects Daughter"/>
                <a:cs typeface="Architects Daughter"/>
                <a:sym typeface="Architects Daughter"/>
              </a:rPr>
              <a:t>Copy-on-write saves memory and makes fork() cheap: only when modification happens is memory physically duplicated.</a:t>
            </a:r>
            <a:endParaRPr/>
          </a:p>
        </p:txBody>
      </p:sp>
      <p:sp>
        <p:nvSpPr>
          <p:cNvPr id="242" name="Google Shape;242;p13"/>
          <p:cNvSpPr/>
          <p:nvPr/>
        </p:nvSpPr>
        <p:spPr>
          <a:xfrm>
            <a:off x="1441893" y="5276850"/>
            <a:ext cx="7067550" cy="971550"/>
          </a:xfrm>
          <a:custGeom>
            <a:rect b="b" l="l" r="r" t="t"/>
            <a:pathLst>
              <a:path extrusionOk="0" h="971550" w="7067550">
                <a:moveTo>
                  <a:pt x="6553200" y="57150"/>
                </a:moveTo>
                <a:lnTo>
                  <a:pt x="4838700" y="38100"/>
                </a:lnTo>
                <a:cubicBezTo>
                  <a:pt x="4787515" y="37055"/>
                  <a:pt x="4737182" y="24704"/>
                  <a:pt x="4686300" y="19050"/>
                </a:cubicBezTo>
                <a:cubicBezTo>
                  <a:pt x="4622874" y="12003"/>
                  <a:pt x="4559300" y="6350"/>
                  <a:pt x="4495800" y="0"/>
                </a:cubicBezTo>
                <a:lnTo>
                  <a:pt x="3581400" y="19050"/>
                </a:lnTo>
                <a:cubicBezTo>
                  <a:pt x="3517621" y="21249"/>
                  <a:pt x="3454354" y="31301"/>
                  <a:pt x="3390900" y="38100"/>
                </a:cubicBezTo>
                <a:lnTo>
                  <a:pt x="3048000" y="76200"/>
                </a:lnTo>
                <a:cubicBezTo>
                  <a:pt x="2990850" y="82550"/>
                  <a:pt x="2933906" y="91153"/>
                  <a:pt x="2876550" y="95250"/>
                </a:cubicBezTo>
                <a:cubicBezTo>
                  <a:pt x="2285794" y="137447"/>
                  <a:pt x="2520313" y="113665"/>
                  <a:pt x="2171700" y="152400"/>
                </a:cubicBezTo>
                <a:cubicBezTo>
                  <a:pt x="1616326" y="140058"/>
                  <a:pt x="1474342" y="90194"/>
                  <a:pt x="1047750" y="171450"/>
                </a:cubicBezTo>
                <a:cubicBezTo>
                  <a:pt x="1002338" y="180100"/>
                  <a:pt x="959248" y="198338"/>
                  <a:pt x="914400" y="209550"/>
                </a:cubicBezTo>
                <a:cubicBezTo>
                  <a:pt x="882988" y="217403"/>
                  <a:pt x="850758" y="221576"/>
                  <a:pt x="819150" y="228600"/>
                </a:cubicBezTo>
                <a:cubicBezTo>
                  <a:pt x="793592" y="234280"/>
                  <a:pt x="768993" y="244956"/>
                  <a:pt x="742950" y="247650"/>
                </a:cubicBezTo>
                <a:cubicBezTo>
                  <a:pt x="584538" y="264037"/>
                  <a:pt x="266700" y="285750"/>
                  <a:pt x="266700" y="285750"/>
                </a:cubicBezTo>
                <a:cubicBezTo>
                  <a:pt x="209550" y="298450"/>
                  <a:pt x="152046" y="309651"/>
                  <a:pt x="95250" y="323850"/>
                </a:cubicBezTo>
                <a:cubicBezTo>
                  <a:pt x="75769" y="328720"/>
                  <a:pt x="52299" y="328701"/>
                  <a:pt x="38100" y="342900"/>
                </a:cubicBezTo>
                <a:cubicBezTo>
                  <a:pt x="18020" y="362980"/>
                  <a:pt x="12700" y="393700"/>
                  <a:pt x="0" y="419100"/>
                </a:cubicBezTo>
                <a:cubicBezTo>
                  <a:pt x="6350" y="488950"/>
                  <a:pt x="-6999" y="563528"/>
                  <a:pt x="19050" y="628650"/>
                </a:cubicBezTo>
                <a:cubicBezTo>
                  <a:pt x="37386" y="674490"/>
                  <a:pt x="284513" y="799588"/>
                  <a:pt x="285750" y="800100"/>
                </a:cubicBezTo>
                <a:cubicBezTo>
                  <a:pt x="410080" y="851547"/>
                  <a:pt x="532864" y="920061"/>
                  <a:pt x="666750" y="933450"/>
                </a:cubicBezTo>
                <a:cubicBezTo>
                  <a:pt x="939633" y="960738"/>
                  <a:pt x="793621" y="947605"/>
                  <a:pt x="1104900" y="971550"/>
                </a:cubicBezTo>
                <a:cubicBezTo>
                  <a:pt x="1866900" y="958850"/>
                  <a:pt x="2629860" y="973740"/>
                  <a:pt x="3390900" y="933450"/>
                </a:cubicBezTo>
                <a:cubicBezTo>
                  <a:pt x="3732271" y="915377"/>
                  <a:pt x="4768393" y="723970"/>
                  <a:pt x="5143500" y="666750"/>
                </a:cubicBezTo>
                <a:cubicBezTo>
                  <a:pt x="5360877" y="633591"/>
                  <a:pt x="5472755" y="630015"/>
                  <a:pt x="5676900" y="609600"/>
                </a:cubicBezTo>
                <a:cubicBezTo>
                  <a:pt x="5734116" y="603878"/>
                  <a:pt x="5791018" y="594960"/>
                  <a:pt x="5848350" y="590550"/>
                </a:cubicBezTo>
                <a:cubicBezTo>
                  <a:pt x="6166386" y="566086"/>
                  <a:pt x="6456594" y="562613"/>
                  <a:pt x="6781800" y="552450"/>
                </a:cubicBezTo>
                <a:cubicBezTo>
                  <a:pt x="6819900" y="546100"/>
                  <a:pt x="6858394" y="541779"/>
                  <a:pt x="6896100" y="533400"/>
                </a:cubicBezTo>
                <a:cubicBezTo>
                  <a:pt x="6915702" y="529044"/>
                  <a:pt x="6933648" y="518706"/>
                  <a:pt x="6953250" y="514350"/>
                </a:cubicBezTo>
                <a:cubicBezTo>
                  <a:pt x="6990956" y="505971"/>
                  <a:pt x="7029450" y="501650"/>
                  <a:pt x="7067550" y="495300"/>
                </a:cubicBezTo>
                <a:cubicBezTo>
                  <a:pt x="7033782" y="258921"/>
                  <a:pt x="7087961" y="447675"/>
                  <a:pt x="6972300" y="285750"/>
                </a:cubicBezTo>
                <a:cubicBezTo>
                  <a:pt x="6888650" y="168639"/>
                  <a:pt x="7035359" y="283339"/>
                  <a:pt x="6896100" y="190500"/>
                </a:cubicBezTo>
                <a:cubicBezTo>
                  <a:pt x="6883400" y="171450"/>
                  <a:pt x="6876316" y="147087"/>
                  <a:pt x="6858000" y="133350"/>
                </a:cubicBezTo>
                <a:cubicBezTo>
                  <a:pt x="6826363" y="109622"/>
                  <a:pt x="6736677" y="69682"/>
                  <a:pt x="6686550" y="57150"/>
                </a:cubicBezTo>
                <a:cubicBezTo>
                  <a:pt x="6655138" y="49297"/>
                  <a:pt x="6622908" y="45124"/>
                  <a:pt x="6591300" y="38100"/>
                </a:cubicBezTo>
                <a:cubicBezTo>
                  <a:pt x="6565742" y="32420"/>
                  <a:pt x="6541215" y="20915"/>
                  <a:pt x="6515100" y="19050"/>
                </a:cubicBezTo>
                <a:cubicBezTo>
                  <a:pt x="6451761" y="14526"/>
                  <a:pt x="6388100" y="19050"/>
                  <a:pt x="6324600" y="19050"/>
                </a:cubicBezTo>
              </a:path>
            </a:pathLst>
          </a:custGeom>
          <a:noFill/>
          <a:ln cap="rnd" cmpd="sng" w="25400">
            <a:solidFill>
              <a:schemeClr val="accent6"/>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Key takeouts</a:t>
            </a:r>
            <a:endParaRPr/>
          </a:p>
        </p:txBody>
      </p:sp>
      <p:sp>
        <p:nvSpPr>
          <p:cNvPr id="248" name="Google Shape;248;p1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Font typeface="Trebuchet MS"/>
              <a:buAutoNum type="arabicPeriod"/>
            </a:pPr>
            <a:r>
              <a:rPr lang="en-US"/>
              <a:t>Program = static code on disk; Process = program in execution with runtime state.</a:t>
            </a:r>
            <a:endParaRPr/>
          </a:p>
          <a:p>
            <a:pPr indent="-342900" lvl="0" marL="342900" rtl="0" algn="l">
              <a:spcBef>
                <a:spcPts val="1000"/>
              </a:spcBef>
              <a:spcAft>
                <a:spcPts val="0"/>
              </a:spcAft>
              <a:buSzPts val="1440"/>
              <a:buFont typeface="Trebuchet MS"/>
              <a:buAutoNum type="arabicPeriod"/>
            </a:pPr>
            <a:r>
              <a:rPr lang="en-US"/>
              <a:t>Process includes PC, registers, stack, heap, file descriptors, and a PCB in kernel.</a:t>
            </a:r>
            <a:endParaRPr/>
          </a:p>
          <a:p>
            <a:pPr indent="-342900" lvl="0" marL="342900" rtl="0" algn="l">
              <a:spcBef>
                <a:spcPts val="1000"/>
              </a:spcBef>
              <a:spcAft>
                <a:spcPts val="0"/>
              </a:spcAft>
              <a:buSzPts val="1440"/>
              <a:buFont typeface="Trebuchet MS"/>
              <a:buAutoNum type="arabicPeriod"/>
            </a:pPr>
            <a:r>
              <a:rPr lang="en-US"/>
              <a:t>Multiple processes can run the same program concurrently; code pages are often shared; data pages are private or copy-on-write.</a:t>
            </a:r>
            <a:endParaRPr/>
          </a:p>
          <a:p>
            <a:pPr indent="-342900" lvl="0" marL="342900" rtl="0" algn="l">
              <a:spcBef>
                <a:spcPts val="1000"/>
              </a:spcBef>
              <a:spcAft>
                <a:spcPts val="0"/>
              </a:spcAft>
              <a:buSzPts val="1440"/>
              <a:buFont typeface="Trebuchet MS"/>
              <a:buAutoNum type="arabicPeriod"/>
            </a:pPr>
            <a:r>
              <a:rPr lang="en-US"/>
              <a:t>fork() duplicates a process; exec() replaces a process image with a new program.</a:t>
            </a:r>
            <a:endParaRPr/>
          </a:p>
          <a:p>
            <a:pPr indent="-342900" lvl="0" marL="342900" rtl="0" algn="l">
              <a:spcBef>
                <a:spcPts val="1000"/>
              </a:spcBef>
              <a:spcAft>
                <a:spcPts val="0"/>
              </a:spcAft>
              <a:buSzPts val="1440"/>
              <a:buFont typeface="Trebuchet MS"/>
              <a:buAutoNum type="arabicPeriod"/>
            </a:pPr>
            <a:r>
              <a:rPr lang="en-US"/>
              <a:t>IPC and synchronization are needed when processes share data; careful design avoids races, deadlocks, and security issues.</a:t>
            </a:r>
            <a:endParaRPr/>
          </a:p>
          <a:p>
            <a:pPr indent="-342900" lvl="0" marL="342900" rtl="0" algn="l">
              <a:spcBef>
                <a:spcPts val="1000"/>
              </a:spcBef>
              <a:spcAft>
                <a:spcPts val="0"/>
              </a:spcAft>
              <a:buSzPts val="1440"/>
              <a:buFont typeface="Trebuchet MS"/>
              <a:buAutoNum type="arabicPeriod"/>
            </a:pPr>
            <a:r>
              <a:rPr lang="en-US"/>
              <a:t>Choose processes for isolation; threads for lightweight shared-memory concurrency.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Threads </a:t>
            </a:r>
            <a:endParaRPr/>
          </a:p>
        </p:txBody>
      </p:sp>
      <p:sp>
        <p:nvSpPr>
          <p:cNvPr id="255" name="Google Shape;255;p15"/>
          <p:cNvSpPr txBox="1"/>
          <p:nvPr>
            <p:ph idx="1" type="body"/>
          </p:nvPr>
        </p:nvSpPr>
        <p:spPr>
          <a:xfrm>
            <a:off x="677334" y="1718992"/>
            <a:ext cx="5037666" cy="4727528"/>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A thread is the smallest unit of CPU execution.</a:t>
            </a:r>
            <a:endParaRPr/>
          </a:p>
          <a:p>
            <a:pPr indent="-342900" lvl="0" marL="342900" rtl="0" algn="l">
              <a:spcBef>
                <a:spcPts val="1000"/>
              </a:spcBef>
              <a:spcAft>
                <a:spcPts val="0"/>
              </a:spcAft>
              <a:buSzPts val="1440"/>
              <a:buChar char="►"/>
            </a:pPr>
            <a:r>
              <a:rPr lang="en-US"/>
              <a:t>A thread is sometimes called a lightweight process.</a:t>
            </a:r>
            <a:endParaRPr/>
          </a:p>
          <a:p>
            <a:pPr indent="-342900" lvl="0" marL="342900" rtl="0" algn="l">
              <a:spcBef>
                <a:spcPts val="1000"/>
              </a:spcBef>
              <a:spcAft>
                <a:spcPts val="0"/>
              </a:spcAft>
              <a:buSzPts val="1440"/>
              <a:buChar char="►"/>
            </a:pPr>
            <a:r>
              <a:rPr lang="en-US"/>
              <a:t>Multiple threads can exist within the same process and share:</a:t>
            </a:r>
            <a:endParaRPr/>
          </a:p>
          <a:p>
            <a:pPr indent="-285750" lvl="1" marL="742950" rtl="0" algn="l">
              <a:spcBef>
                <a:spcPts val="1000"/>
              </a:spcBef>
              <a:spcAft>
                <a:spcPts val="0"/>
              </a:spcAft>
              <a:buSzPts val="1280"/>
              <a:buChar char="►"/>
            </a:pPr>
            <a:r>
              <a:rPr lang="en-US"/>
              <a:t>Code segment</a:t>
            </a:r>
            <a:endParaRPr/>
          </a:p>
          <a:p>
            <a:pPr indent="-285750" lvl="1" marL="742950" rtl="0" algn="l">
              <a:spcBef>
                <a:spcPts val="1000"/>
              </a:spcBef>
              <a:spcAft>
                <a:spcPts val="0"/>
              </a:spcAft>
              <a:buSzPts val="1280"/>
              <a:buChar char="►"/>
            </a:pPr>
            <a:r>
              <a:rPr lang="en-US"/>
              <a:t>Data segment</a:t>
            </a:r>
            <a:endParaRPr/>
          </a:p>
          <a:p>
            <a:pPr indent="-285750" lvl="1" marL="742950" rtl="0" algn="l">
              <a:spcBef>
                <a:spcPts val="1000"/>
              </a:spcBef>
              <a:spcAft>
                <a:spcPts val="0"/>
              </a:spcAft>
              <a:buSzPts val="1280"/>
              <a:buChar char="►"/>
            </a:pPr>
            <a:r>
              <a:rPr lang="en-US"/>
              <a:t>Files and resources</a:t>
            </a:r>
            <a:endParaRPr/>
          </a:p>
          <a:p>
            <a:pPr indent="-342900" lvl="0" marL="342900" rtl="0" algn="l">
              <a:spcBef>
                <a:spcPts val="1000"/>
              </a:spcBef>
              <a:spcAft>
                <a:spcPts val="0"/>
              </a:spcAft>
              <a:buSzPts val="1440"/>
              <a:buChar char="►"/>
            </a:pPr>
            <a:r>
              <a:rPr lang="en-US"/>
              <a:t>Each thread has its own registers, stack, and program counter.</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b="1" lang="en-US"/>
              <a:t>Benefits? </a:t>
            </a:r>
            <a:r>
              <a:rPr lang="en-US">
                <a:solidFill>
                  <a:schemeClr val="dk1"/>
                </a:solidFill>
              </a:rPr>
              <a:t>Responsiveness |Resource sharing | Economy | scalability</a:t>
            </a:r>
            <a:endParaRPr b="1"/>
          </a:p>
        </p:txBody>
      </p:sp>
      <p:pic>
        <p:nvPicPr>
          <p:cNvPr id="256" name="Google Shape;256;p15"/>
          <p:cNvPicPr preferRelativeResize="0"/>
          <p:nvPr/>
        </p:nvPicPr>
        <p:blipFill rotWithShape="1">
          <a:blip r:embed="rId3">
            <a:alphaModFix/>
          </a:blip>
          <a:srcRect b="0" l="0" r="0" t="0"/>
          <a:stretch/>
        </p:blipFill>
        <p:spPr>
          <a:xfrm>
            <a:off x="5547352" y="3022012"/>
            <a:ext cx="6644647" cy="383598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Difference between Threads and Processes</a:t>
            </a:r>
            <a:endParaRPr/>
          </a:p>
        </p:txBody>
      </p:sp>
      <p:sp>
        <p:nvSpPr>
          <p:cNvPr id="262" name="Google Shape;262;p16"/>
          <p:cNvSpPr txBox="1"/>
          <p:nvPr>
            <p:ph idx="1" type="body"/>
          </p:nvPr>
        </p:nvSpPr>
        <p:spPr>
          <a:xfrm>
            <a:off x="677334" y="2160589"/>
            <a:ext cx="9038166" cy="430879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Char char="►"/>
            </a:pPr>
            <a:r>
              <a:rPr b="1" lang="en-US"/>
              <a:t>Process</a:t>
            </a:r>
            <a:r>
              <a:rPr lang="en-US"/>
              <a:t>: heavier-weight; separate address spaces; strong isolation.</a:t>
            </a:r>
            <a:endParaRPr/>
          </a:p>
          <a:p>
            <a:pPr indent="-342900" lvl="0" marL="342900" rtl="0" algn="l">
              <a:spcBef>
                <a:spcPts val="1000"/>
              </a:spcBef>
              <a:spcAft>
                <a:spcPts val="0"/>
              </a:spcAft>
              <a:buSzPct val="79999"/>
              <a:buChar char="►"/>
            </a:pPr>
            <a:r>
              <a:rPr b="1" lang="en-US"/>
              <a:t>Thread</a:t>
            </a:r>
            <a:r>
              <a:rPr lang="en-US"/>
              <a:t>: a lightweight unit of execution that shares the process’s address space with other threads in the same process.</a:t>
            </a:r>
            <a:endParaRPr/>
          </a:p>
          <a:p>
            <a:pPr indent="-342900" lvl="0" marL="342900" rtl="0" algn="l">
              <a:spcBef>
                <a:spcPts val="1000"/>
              </a:spcBef>
              <a:spcAft>
                <a:spcPts val="0"/>
              </a:spcAft>
              <a:buSzPct val="79999"/>
              <a:buChar char="►"/>
            </a:pPr>
            <a:r>
              <a:rPr lang="en-US"/>
              <a:t>When same program but multiple executions required:</a:t>
            </a:r>
            <a:endParaRPr/>
          </a:p>
          <a:p>
            <a:pPr indent="-285750" lvl="1" marL="742950" rtl="0" algn="l">
              <a:spcBef>
                <a:spcPts val="1000"/>
              </a:spcBef>
              <a:spcAft>
                <a:spcPts val="0"/>
              </a:spcAft>
              <a:buSzPct val="80000"/>
              <a:buChar char="►"/>
            </a:pPr>
            <a:r>
              <a:rPr lang="en-US"/>
              <a:t>Use multiple processes when you need isolation (crash robustness, separate privileges).</a:t>
            </a:r>
            <a:endParaRPr/>
          </a:p>
          <a:p>
            <a:pPr indent="-285750" lvl="1" marL="742950" rtl="0" algn="l">
              <a:spcBef>
                <a:spcPts val="1000"/>
              </a:spcBef>
              <a:spcAft>
                <a:spcPts val="0"/>
              </a:spcAft>
              <a:buSzPct val="80000"/>
              <a:buChar char="►"/>
            </a:pPr>
            <a:r>
              <a:rPr lang="en-US"/>
              <a:t>Use threads within a process when you need low-overhead concurrency and fast shared-memory communication.</a:t>
            </a:r>
            <a:endParaRPr/>
          </a:p>
          <a:p>
            <a:pPr indent="-342900" lvl="0" marL="342900" rtl="0" algn="l">
              <a:spcBef>
                <a:spcPts val="1000"/>
              </a:spcBef>
              <a:spcAft>
                <a:spcPts val="0"/>
              </a:spcAft>
              <a:buSzPct val="79999"/>
              <a:buChar char="►"/>
            </a:pPr>
            <a:r>
              <a:rPr lang="en-US"/>
              <a:t>Modern browsers use a mix: a process per tab (isolation) and multiple threads inside a tab (UI, rendering).</a:t>
            </a:r>
            <a:endParaRPr/>
          </a:p>
          <a:p>
            <a:pPr indent="-342900" lvl="0" marL="342900" rtl="0" algn="l">
              <a:spcBef>
                <a:spcPts val="1000"/>
              </a:spcBef>
              <a:spcAft>
                <a:spcPts val="0"/>
              </a:spcAft>
              <a:buSzPct val="79999"/>
              <a:buChar char="►"/>
            </a:pPr>
            <a:r>
              <a:rPr lang="en-US"/>
              <a:t>Example: </a:t>
            </a:r>
            <a:r>
              <a:rPr b="1" lang="en-US"/>
              <a:t>Web browser (Chrome.exe)</a:t>
            </a:r>
            <a:endParaRPr/>
          </a:p>
          <a:p>
            <a:pPr indent="-285750" lvl="1" marL="742950" rtl="0" algn="l">
              <a:spcBef>
                <a:spcPts val="1000"/>
              </a:spcBef>
              <a:spcAft>
                <a:spcPts val="0"/>
              </a:spcAft>
              <a:buSzPct val="80000"/>
              <a:buChar char="►"/>
            </a:pPr>
            <a:r>
              <a:rPr lang="en-US"/>
              <a:t>Program: chrome.exe</a:t>
            </a:r>
            <a:endParaRPr/>
          </a:p>
          <a:p>
            <a:pPr indent="-285750" lvl="1" marL="742950" rtl="0" algn="l">
              <a:spcBef>
                <a:spcPts val="1000"/>
              </a:spcBef>
              <a:spcAft>
                <a:spcPts val="0"/>
              </a:spcAft>
              <a:buSzPct val="80000"/>
              <a:buChar char="►"/>
            </a:pPr>
            <a:r>
              <a:rPr lang="en-US"/>
              <a:t>Processes: one for each tab/site (often), renderer processes, GPU process.</a:t>
            </a:r>
            <a:endParaRPr/>
          </a:p>
          <a:p>
            <a:pPr indent="-285750" lvl="1" marL="742950" rtl="0" algn="l">
              <a:spcBef>
                <a:spcPts val="1000"/>
              </a:spcBef>
              <a:spcAft>
                <a:spcPts val="0"/>
              </a:spcAft>
              <a:buSzPct val="80000"/>
              <a:buChar char="►"/>
            </a:pPr>
            <a:r>
              <a:rPr lang="en-US"/>
              <a:t>Benefits: tab crash isolation, security sandboxing.</a:t>
            </a:r>
            <a:endParaRPr/>
          </a:p>
          <a:p>
            <a:pPr indent="-258318" lvl="0" marL="342900" rtl="0" algn="l">
              <a:spcBef>
                <a:spcPts val="1000"/>
              </a:spcBef>
              <a:spcAft>
                <a:spcPts val="0"/>
              </a:spcAft>
              <a:buSzPct val="79999"/>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Thread Usage </a:t>
            </a:r>
            <a:endParaRPr/>
          </a:p>
        </p:txBody>
      </p:sp>
      <p:sp>
        <p:nvSpPr>
          <p:cNvPr id="269" name="Google Shape;269;p17"/>
          <p:cNvSpPr txBox="1"/>
          <p:nvPr>
            <p:ph idx="1" type="body"/>
          </p:nvPr>
        </p:nvSpPr>
        <p:spPr>
          <a:xfrm>
            <a:off x="677334" y="2160589"/>
            <a:ext cx="8596668" cy="408781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Threads increase </a:t>
            </a:r>
            <a:r>
              <a:rPr b="1" lang="en-US"/>
              <a:t>responsiveness</a:t>
            </a:r>
            <a:r>
              <a:rPr lang="en-US"/>
              <a:t> — background tasks continue even if one thread blocks.</a:t>
            </a:r>
            <a:endParaRPr/>
          </a:p>
          <a:p>
            <a:pPr indent="-342900" lvl="0" marL="342900" rtl="0" algn="l">
              <a:spcBef>
                <a:spcPts val="1000"/>
              </a:spcBef>
              <a:spcAft>
                <a:spcPts val="0"/>
              </a:spcAft>
              <a:buSzPts val="1440"/>
              <a:buChar char="►"/>
            </a:pPr>
            <a:r>
              <a:rPr lang="en-US"/>
              <a:t>Improves </a:t>
            </a:r>
            <a:r>
              <a:rPr b="1" lang="en-US"/>
              <a:t>resource sharing</a:t>
            </a:r>
            <a:r>
              <a:rPr lang="en-US"/>
              <a:t> 🡪 threads in the same process share memory.</a:t>
            </a:r>
            <a:endParaRPr/>
          </a:p>
          <a:p>
            <a:pPr indent="-342900" lvl="0" marL="342900" rtl="0" algn="l">
              <a:spcBef>
                <a:spcPts val="1000"/>
              </a:spcBef>
              <a:spcAft>
                <a:spcPts val="0"/>
              </a:spcAft>
              <a:buSzPts val="1440"/>
              <a:buChar char="►"/>
            </a:pPr>
            <a:r>
              <a:rPr lang="en-US"/>
              <a:t>Enables </a:t>
            </a:r>
            <a:r>
              <a:rPr b="1" lang="en-US"/>
              <a:t>economy 🡪</a:t>
            </a:r>
            <a:r>
              <a:rPr lang="en-US"/>
              <a:t> less overhead than creating new processes.</a:t>
            </a:r>
            <a:endParaRPr/>
          </a:p>
          <a:p>
            <a:pPr indent="-342900" lvl="0" marL="342900" rtl="0" algn="l">
              <a:spcBef>
                <a:spcPts val="1000"/>
              </a:spcBef>
              <a:spcAft>
                <a:spcPts val="0"/>
              </a:spcAft>
              <a:buSzPts val="1440"/>
              <a:buChar char="►"/>
            </a:pPr>
            <a:r>
              <a:rPr lang="en-US"/>
              <a:t>Supports </a:t>
            </a:r>
            <a:r>
              <a:rPr b="1" lang="en-US"/>
              <a:t>multiprocessor utilization</a:t>
            </a:r>
            <a:r>
              <a:rPr lang="en-US"/>
              <a:t> 🡪 multiple threads can run in parallel on multiple CPUs.</a:t>
            </a:r>
            <a:endParaRPr/>
          </a:p>
          <a:p>
            <a:pPr indent="0" lvl="0" marL="0" rtl="0" algn="l">
              <a:spcBef>
                <a:spcPts val="1000"/>
              </a:spcBef>
              <a:spcAft>
                <a:spcPts val="0"/>
              </a:spcAft>
              <a:buSzPts val="1440"/>
              <a:buNone/>
            </a:pPr>
            <a:r>
              <a:rPr b="1" lang="en-US"/>
              <a:t>Examples:</a:t>
            </a:r>
            <a:endParaRPr/>
          </a:p>
          <a:p>
            <a:pPr indent="-342900" lvl="0" marL="342900" rtl="0" algn="l">
              <a:spcBef>
                <a:spcPts val="1000"/>
              </a:spcBef>
              <a:spcAft>
                <a:spcPts val="0"/>
              </a:spcAft>
              <a:buSzPts val="1440"/>
              <a:buChar char="►"/>
            </a:pPr>
            <a:r>
              <a:rPr lang="en-US"/>
              <a:t>Web servers use multiple threads to handle multiple clients.</a:t>
            </a:r>
            <a:endParaRPr/>
          </a:p>
          <a:p>
            <a:pPr indent="-342900" lvl="0" marL="342900" rtl="0" algn="l">
              <a:spcBef>
                <a:spcPts val="1000"/>
              </a:spcBef>
              <a:spcAft>
                <a:spcPts val="0"/>
              </a:spcAft>
              <a:buSzPts val="1440"/>
              <a:buChar char="►"/>
            </a:pPr>
            <a:r>
              <a:rPr lang="en-US"/>
              <a:t>Word processors: one thread for user input, another for spell checking.</a:t>
            </a:r>
            <a:endParaRPr/>
          </a:p>
          <a:p>
            <a:pPr indent="-251459" lvl="0" marL="342900" rtl="0" algn="l">
              <a:spcBef>
                <a:spcPts val="1000"/>
              </a:spcBef>
              <a:spcAft>
                <a:spcPts val="0"/>
              </a:spcAft>
              <a:buSzPts val="1440"/>
              <a:buNone/>
            </a:pPr>
            <a:r>
              <a:t/>
            </a:r>
            <a:endParaRPr/>
          </a:p>
          <a:p>
            <a:pPr indent="0" lvl="0" marL="0" rtl="0" algn="l">
              <a:spcBef>
                <a:spcPts val="1000"/>
              </a:spcBef>
              <a:spcAft>
                <a:spcPts val="0"/>
              </a:spcAft>
              <a:buSzPts val="1440"/>
              <a:buNone/>
            </a:pPr>
            <a:r>
              <a:rPr b="1" lang="en-US"/>
              <a:t>Explain how multithreading enhances user experience and performance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Benefits of Multithreading</a:t>
            </a:r>
            <a:endParaRPr/>
          </a:p>
        </p:txBody>
      </p:sp>
      <p:sp>
        <p:nvSpPr>
          <p:cNvPr id="276" name="Google Shape;276;p1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9999"/>
              <a:buNone/>
            </a:pPr>
            <a:r>
              <a:rPr lang="en-US"/>
              <a:t>Multithreading means a single process is divided into multiple threads, where each thread runs independently but shares the same memory and resources of the process.</a:t>
            </a:r>
            <a:endParaRPr/>
          </a:p>
          <a:p>
            <a:pPr indent="0" lvl="0" marL="0" rtl="0" algn="l">
              <a:spcBef>
                <a:spcPts val="1000"/>
              </a:spcBef>
              <a:spcAft>
                <a:spcPts val="0"/>
              </a:spcAft>
              <a:buSzPct val="80000"/>
              <a:buNone/>
            </a:pPr>
            <a:r>
              <a:rPr b="1" lang="en-US" sz="2400"/>
              <a:t>How ? </a:t>
            </a:r>
            <a:endParaRPr/>
          </a:p>
          <a:p>
            <a:pPr indent="-342900" lvl="1" marL="800100" rtl="0" algn="l">
              <a:spcBef>
                <a:spcPts val="1000"/>
              </a:spcBef>
              <a:spcAft>
                <a:spcPts val="0"/>
              </a:spcAft>
              <a:buSzPct val="80000"/>
              <a:buFont typeface="Trebuchet MS"/>
              <a:buAutoNum type="arabicPeriod"/>
            </a:pPr>
            <a:r>
              <a:rPr lang="en-US"/>
              <a:t>Responsiveness – UI does not freeze</a:t>
            </a:r>
            <a:endParaRPr/>
          </a:p>
          <a:p>
            <a:pPr indent="-342900" lvl="1" marL="800100" rtl="0" algn="l">
              <a:spcBef>
                <a:spcPts val="1000"/>
              </a:spcBef>
              <a:spcAft>
                <a:spcPts val="0"/>
              </a:spcAft>
              <a:buSzPct val="80000"/>
              <a:buFont typeface="Trebuchet MS"/>
              <a:buAutoNum type="arabicPeriod"/>
            </a:pPr>
            <a:r>
              <a:rPr lang="en-US"/>
              <a:t>Resource sharing – threads share memory</a:t>
            </a:r>
            <a:endParaRPr/>
          </a:p>
          <a:p>
            <a:pPr indent="-342900" lvl="1" marL="800100" rtl="0" algn="l">
              <a:spcBef>
                <a:spcPts val="1000"/>
              </a:spcBef>
              <a:spcAft>
                <a:spcPts val="0"/>
              </a:spcAft>
              <a:buSzPct val="80000"/>
              <a:buFont typeface="Trebuchet MS"/>
              <a:buAutoNum type="arabicPeriod"/>
            </a:pPr>
            <a:r>
              <a:rPr lang="en-US"/>
              <a:t>Better throughput – more tasks finished</a:t>
            </a:r>
            <a:endParaRPr/>
          </a:p>
          <a:p>
            <a:pPr indent="-342900" lvl="1" marL="800100" rtl="0" algn="l">
              <a:spcBef>
                <a:spcPts val="1000"/>
              </a:spcBef>
              <a:spcAft>
                <a:spcPts val="0"/>
              </a:spcAft>
              <a:buSzPct val="80000"/>
              <a:buFont typeface="Trebuchet MS"/>
              <a:buAutoNum type="arabicPeriod"/>
            </a:pPr>
            <a:r>
              <a:rPr lang="en-US"/>
              <a:t>Lower overhead – cheaper than processes</a:t>
            </a:r>
            <a:endParaRPr/>
          </a:p>
          <a:p>
            <a:pPr indent="-342900" lvl="1" marL="800100" rtl="0" algn="l">
              <a:spcBef>
                <a:spcPts val="1000"/>
              </a:spcBef>
              <a:spcAft>
                <a:spcPts val="0"/>
              </a:spcAft>
              <a:buSzPct val="80000"/>
              <a:buFont typeface="Trebuchet MS"/>
              <a:buAutoNum type="arabicPeriod"/>
            </a:pPr>
            <a:r>
              <a:rPr lang="en-US"/>
              <a:t>Parallelism – uses multi-core CPU fully</a:t>
            </a:r>
            <a:endParaRPr/>
          </a:p>
          <a:p>
            <a:pPr indent="-342900" lvl="1" marL="800100" rtl="0" algn="l">
              <a:spcBef>
                <a:spcPts val="1000"/>
              </a:spcBef>
              <a:spcAft>
                <a:spcPts val="0"/>
              </a:spcAft>
              <a:buSzPct val="80000"/>
              <a:buFont typeface="Trebuchet MS"/>
              <a:buAutoNum type="arabicPeriod"/>
            </a:pPr>
            <a:r>
              <a:rPr lang="en-US"/>
              <a:t>Concurrency – efficient switching</a:t>
            </a:r>
            <a:endParaRPr/>
          </a:p>
          <a:p>
            <a:pPr indent="-342900" lvl="1" marL="800100" rtl="0" algn="l">
              <a:spcBef>
                <a:spcPts val="1000"/>
              </a:spcBef>
              <a:spcAft>
                <a:spcPts val="0"/>
              </a:spcAft>
              <a:buSzPct val="80000"/>
              <a:buFont typeface="Trebuchet MS"/>
              <a:buAutoNum type="arabicPeriod"/>
            </a:pPr>
            <a:r>
              <a:rPr lang="en-US"/>
              <a:t>Faster context switching</a:t>
            </a:r>
            <a:endParaRPr/>
          </a:p>
          <a:p>
            <a:pPr indent="-342900" lvl="1" marL="800100" rtl="0" algn="l">
              <a:spcBef>
                <a:spcPts val="1000"/>
              </a:spcBef>
              <a:spcAft>
                <a:spcPts val="0"/>
              </a:spcAft>
              <a:buSzPct val="80000"/>
              <a:buFont typeface="Trebuchet MS"/>
              <a:buAutoNum type="arabicPeriod"/>
            </a:pPr>
            <a:r>
              <a:rPr lang="en-US"/>
              <a:t>Improved performance for I/O tasks</a:t>
            </a:r>
            <a:endParaRPr/>
          </a:p>
          <a:p>
            <a:pPr indent="-342900" lvl="1" marL="800100" rtl="0" algn="l">
              <a:spcBef>
                <a:spcPts val="1000"/>
              </a:spcBef>
              <a:spcAft>
                <a:spcPts val="0"/>
              </a:spcAft>
              <a:buSzPct val="80000"/>
              <a:buFont typeface="Trebuchet MS"/>
              <a:buAutoNum type="arabicPeriod"/>
            </a:pPr>
            <a:r>
              <a:rPr lang="en-US"/>
              <a:t>Scalability – handles more workload</a:t>
            </a:r>
            <a:endParaRPr/>
          </a:p>
          <a:p>
            <a:pPr indent="-258318" lvl="0" marL="342900" rtl="0" algn="l">
              <a:spcBef>
                <a:spcPts val="1000"/>
              </a:spcBef>
              <a:spcAft>
                <a:spcPts val="0"/>
              </a:spcAft>
              <a:buSzPct val="79999"/>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Threads Models</a:t>
            </a:r>
            <a:endParaRPr/>
          </a:p>
        </p:txBody>
      </p:sp>
      <p:sp>
        <p:nvSpPr>
          <p:cNvPr id="283" name="Google Shape;283;p1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Three main multithreading models:</a:t>
            </a:r>
            <a:endParaRPr/>
          </a:p>
          <a:p>
            <a:pPr indent="-342900" lvl="0" marL="342900" rtl="0" algn="l">
              <a:spcBef>
                <a:spcPts val="1000"/>
              </a:spcBef>
              <a:spcAft>
                <a:spcPts val="0"/>
              </a:spcAft>
              <a:buSzPts val="1440"/>
              <a:buChar char="►"/>
            </a:pPr>
            <a:r>
              <a:rPr lang="en-US"/>
              <a:t>Many-to-one model</a:t>
            </a:r>
            <a:endParaRPr/>
          </a:p>
          <a:p>
            <a:pPr indent="-342900" lvl="0" marL="342900" rtl="0" algn="l">
              <a:spcBef>
                <a:spcPts val="1000"/>
              </a:spcBef>
              <a:spcAft>
                <a:spcPts val="0"/>
              </a:spcAft>
              <a:buSzPts val="1440"/>
              <a:buChar char="►"/>
            </a:pPr>
            <a:r>
              <a:rPr lang="en-US"/>
              <a:t>One-to-One Model</a:t>
            </a:r>
            <a:endParaRPr/>
          </a:p>
          <a:p>
            <a:pPr indent="-342900" lvl="0" marL="342900" rtl="0" algn="l">
              <a:spcBef>
                <a:spcPts val="1000"/>
              </a:spcBef>
              <a:spcAft>
                <a:spcPts val="0"/>
              </a:spcAft>
              <a:buSzPts val="1440"/>
              <a:buChar char="►"/>
            </a:pPr>
            <a:r>
              <a:rPr lang="en-US"/>
              <a:t>Many-to many model</a:t>
            </a:r>
            <a:br>
              <a:rPr lang="en-US"/>
            </a:br>
            <a:endParaRPr/>
          </a:p>
        </p:txBody>
      </p:sp>
      <p:pic>
        <p:nvPicPr>
          <p:cNvPr descr="Three types of thread models. Popular operating systems [5], [22]-[24] adopt the one-to-one thread model as their major thread model." id="284" name="Google Shape;284;p19"/>
          <p:cNvPicPr preferRelativeResize="0"/>
          <p:nvPr/>
        </p:nvPicPr>
        <p:blipFill rotWithShape="1">
          <a:blip r:embed="rId3">
            <a:alphaModFix/>
          </a:blip>
          <a:srcRect b="0" l="0" r="0" t="0"/>
          <a:stretch/>
        </p:blipFill>
        <p:spPr>
          <a:xfrm>
            <a:off x="3535488" y="3152775"/>
            <a:ext cx="7172325" cy="3705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0"/>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Many-to-one-model</a:t>
            </a:r>
            <a:endParaRPr/>
          </a:p>
          <a:p>
            <a:pPr indent="0" lvl="0" marL="0" rtl="0" algn="l">
              <a:spcBef>
                <a:spcPts val="0"/>
              </a:spcBef>
              <a:spcAft>
                <a:spcPts val="0"/>
              </a:spcAft>
              <a:buClr>
                <a:schemeClr val="accent1"/>
              </a:buClr>
              <a:buSzPts val="3600"/>
              <a:buFont typeface="Trebuchet MS"/>
              <a:buNone/>
            </a:pPr>
            <a:r>
              <a:rPr lang="en-US"/>
              <a:t> </a:t>
            </a:r>
            <a:endParaRPr/>
          </a:p>
        </p:txBody>
      </p:sp>
      <p:sp>
        <p:nvSpPr>
          <p:cNvPr id="291" name="Google Shape;291;p20"/>
          <p:cNvSpPr txBox="1"/>
          <p:nvPr>
            <p:ph idx="1" type="body"/>
          </p:nvPr>
        </p:nvSpPr>
        <p:spPr>
          <a:xfrm>
            <a:off x="677333" y="2160589"/>
            <a:ext cx="7675555" cy="4354511"/>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Char char="►"/>
            </a:pPr>
            <a:r>
              <a:rPr lang="en-US"/>
              <a:t>Entire multithreading handled by the user thread library.</a:t>
            </a:r>
            <a:endParaRPr/>
          </a:p>
          <a:p>
            <a:pPr indent="-342900" lvl="0" marL="342900" rtl="0" algn="l">
              <a:spcBef>
                <a:spcPts val="1000"/>
              </a:spcBef>
              <a:spcAft>
                <a:spcPts val="0"/>
              </a:spcAft>
              <a:buSzPct val="79999"/>
              <a:buChar char="►"/>
            </a:pPr>
            <a:r>
              <a:rPr lang="en-US"/>
              <a:t>Many user-level threads are all mapped onto a single kernel thread. So The kernel sees only one thread (the whole process).</a:t>
            </a:r>
            <a:endParaRPr/>
          </a:p>
          <a:p>
            <a:pPr indent="-342900" lvl="0" marL="342900" rtl="0" algn="l">
              <a:spcBef>
                <a:spcPts val="1000"/>
              </a:spcBef>
              <a:spcAft>
                <a:spcPts val="0"/>
              </a:spcAft>
              <a:buSzPct val="79999"/>
              <a:buChar char="►"/>
            </a:pPr>
            <a:r>
              <a:rPr lang="en-US"/>
              <a:t>No true parallelism on multicore CPUs — only one thread runs at a time.</a:t>
            </a:r>
            <a:endParaRPr/>
          </a:p>
          <a:p>
            <a:pPr indent="-342900" lvl="0" marL="342900" rtl="0" algn="l">
              <a:spcBef>
                <a:spcPts val="1000"/>
              </a:spcBef>
              <a:spcAft>
                <a:spcPts val="0"/>
              </a:spcAft>
              <a:buSzPct val="79999"/>
              <a:buChar char="►"/>
            </a:pPr>
            <a:r>
              <a:rPr lang="en-US"/>
              <a:t>If one user thread blocks (e.g., I/O call), the whole process blocks.</a:t>
            </a:r>
            <a:endParaRPr/>
          </a:p>
          <a:p>
            <a:pPr indent="0" lvl="0" marL="0" rtl="0" algn="l">
              <a:spcBef>
                <a:spcPts val="1000"/>
              </a:spcBef>
              <a:spcAft>
                <a:spcPts val="0"/>
              </a:spcAft>
              <a:buSzPct val="79999"/>
              <a:buNone/>
            </a:pPr>
            <a:r>
              <a:rPr b="1" lang="en-US"/>
              <a:t>Advantages:</a:t>
            </a:r>
            <a:endParaRPr/>
          </a:p>
          <a:p>
            <a:pPr indent="-285750" lvl="1" marL="742950" rtl="0" algn="l">
              <a:spcBef>
                <a:spcPts val="1000"/>
              </a:spcBef>
              <a:spcAft>
                <a:spcPts val="0"/>
              </a:spcAft>
              <a:buSzPct val="80000"/>
              <a:buChar char="►"/>
            </a:pPr>
            <a:r>
              <a:rPr lang="en-US"/>
              <a:t>Very fast thread operations (creation, switch).</a:t>
            </a:r>
            <a:endParaRPr/>
          </a:p>
          <a:p>
            <a:pPr indent="-285750" lvl="1" marL="742950" rtl="0" algn="l">
              <a:spcBef>
                <a:spcPts val="1000"/>
              </a:spcBef>
              <a:spcAft>
                <a:spcPts val="0"/>
              </a:spcAft>
              <a:buSzPct val="80000"/>
              <a:buChar char="►"/>
            </a:pPr>
            <a:r>
              <a:rPr lang="en-US"/>
              <a:t>No kernel mode involvement — efficient for small, cooperative tasks.</a:t>
            </a:r>
            <a:endParaRPr/>
          </a:p>
          <a:p>
            <a:pPr indent="0" lvl="0" marL="0" rtl="0" algn="l">
              <a:spcBef>
                <a:spcPts val="1000"/>
              </a:spcBef>
              <a:spcAft>
                <a:spcPts val="0"/>
              </a:spcAft>
              <a:buSzPct val="79999"/>
              <a:buNone/>
            </a:pPr>
            <a:r>
              <a:rPr b="1" lang="en-US"/>
              <a:t>Disadvantages:</a:t>
            </a:r>
            <a:endParaRPr/>
          </a:p>
          <a:p>
            <a:pPr indent="-285750" lvl="1" marL="742950" rtl="0" algn="l">
              <a:spcBef>
                <a:spcPts val="1000"/>
              </a:spcBef>
              <a:spcAft>
                <a:spcPts val="0"/>
              </a:spcAft>
              <a:buSzPct val="80000"/>
              <a:buChar char="►"/>
            </a:pPr>
            <a:r>
              <a:rPr lang="en-US"/>
              <a:t>One thread’s blocking system call halts all.</a:t>
            </a:r>
            <a:endParaRPr/>
          </a:p>
          <a:p>
            <a:pPr indent="-285750" lvl="1" marL="742950" rtl="0" algn="l">
              <a:spcBef>
                <a:spcPts val="1000"/>
              </a:spcBef>
              <a:spcAft>
                <a:spcPts val="0"/>
              </a:spcAft>
              <a:buSzPct val="80000"/>
              <a:buChar char="►"/>
            </a:pPr>
            <a:r>
              <a:rPr lang="en-US"/>
              <a:t>Cannot utilize multiple cores.</a:t>
            </a:r>
            <a:endParaRPr/>
          </a:p>
          <a:p>
            <a:pPr indent="0" lvl="0" marL="0" rtl="0" algn="l">
              <a:spcBef>
                <a:spcPts val="1000"/>
              </a:spcBef>
              <a:spcAft>
                <a:spcPts val="0"/>
              </a:spcAft>
              <a:buSzPct val="79999"/>
              <a:buNone/>
            </a:pPr>
            <a:r>
              <a:rPr b="1" lang="en-US"/>
              <a:t>Example Systems:</a:t>
            </a:r>
            <a:endParaRPr/>
          </a:p>
          <a:p>
            <a:pPr indent="-285750" lvl="1" marL="742950" rtl="0" algn="l">
              <a:spcBef>
                <a:spcPts val="1000"/>
              </a:spcBef>
              <a:spcAft>
                <a:spcPts val="0"/>
              </a:spcAft>
              <a:buSzPct val="80000"/>
              <a:buChar char="►"/>
            </a:pPr>
            <a:r>
              <a:rPr lang="en-US"/>
              <a:t>Early Java Green Threads</a:t>
            </a:r>
            <a:endParaRPr/>
          </a:p>
          <a:p>
            <a:pPr indent="-285750" lvl="1" marL="742950" rtl="0" algn="l">
              <a:spcBef>
                <a:spcPts val="1000"/>
              </a:spcBef>
              <a:spcAft>
                <a:spcPts val="0"/>
              </a:spcAft>
              <a:buSzPct val="80000"/>
              <a:buChar char="►"/>
            </a:pPr>
            <a:r>
              <a:rPr lang="en-US"/>
              <a:t>GNU Portable Threads (historical)</a:t>
            </a:r>
            <a:endParaRPr/>
          </a:p>
          <a:p>
            <a:pPr indent="-265176" lvl="0" marL="342900" rtl="0" algn="l">
              <a:spcBef>
                <a:spcPts val="1000"/>
              </a:spcBef>
              <a:spcAft>
                <a:spcPts val="0"/>
              </a:spcAft>
              <a:buSzPct val="79999"/>
              <a:buNone/>
            </a:pPr>
            <a:r>
              <a:t/>
            </a:r>
            <a:endParaRPr/>
          </a:p>
        </p:txBody>
      </p:sp>
      <p:pic>
        <p:nvPicPr>
          <p:cNvPr id="292" name="Google Shape;292;p20"/>
          <p:cNvPicPr preferRelativeResize="0"/>
          <p:nvPr/>
        </p:nvPicPr>
        <p:blipFill rotWithShape="1">
          <a:blip r:embed="rId3">
            <a:alphaModFix/>
          </a:blip>
          <a:srcRect b="0" l="0" r="0" t="0"/>
          <a:stretch/>
        </p:blipFill>
        <p:spPr>
          <a:xfrm>
            <a:off x="7354446" y="3066521"/>
            <a:ext cx="3839111" cy="37914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One to one model</a:t>
            </a:r>
            <a:endParaRPr/>
          </a:p>
        </p:txBody>
      </p:sp>
      <p:sp>
        <p:nvSpPr>
          <p:cNvPr id="298" name="Google Shape;298;p21"/>
          <p:cNvSpPr txBox="1"/>
          <p:nvPr>
            <p:ph idx="1" type="body"/>
          </p:nvPr>
        </p:nvSpPr>
        <p:spPr>
          <a:xfrm>
            <a:off x="677334" y="2160589"/>
            <a:ext cx="8596668" cy="4354511"/>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SzPct val="79999"/>
              <a:buChar char="►"/>
            </a:pPr>
            <a:r>
              <a:rPr lang="en-US"/>
              <a:t>Each user thread is backed by its </a:t>
            </a:r>
            <a:r>
              <a:rPr b="1" lang="en-US"/>
              <a:t>own kernel thread</a:t>
            </a:r>
            <a:r>
              <a:rPr lang="en-US"/>
              <a:t>.</a:t>
            </a:r>
            <a:endParaRPr/>
          </a:p>
          <a:p>
            <a:pPr indent="-342900" lvl="0" marL="342900" rtl="0" algn="l">
              <a:spcBef>
                <a:spcPts val="1000"/>
              </a:spcBef>
              <a:spcAft>
                <a:spcPts val="0"/>
              </a:spcAft>
              <a:buSzPct val="79999"/>
              <a:buChar char="►"/>
            </a:pPr>
            <a:r>
              <a:rPr lang="en-US"/>
              <a:t>OS manages and schedules all threads individually.</a:t>
            </a:r>
            <a:endParaRPr/>
          </a:p>
          <a:p>
            <a:pPr indent="-342900" lvl="0" marL="342900" rtl="0" algn="l">
              <a:spcBef>
                <a:spcPts val="1000"/>
              </a:spcBef>
              <a:spcAft>
                <a:spcPts val="0"/>
              </a:spcAft>
              <a:buSzPct val="79999"/>
              <a:buChar char="►"/>
            </a:pPr>
            <a:r>
              <a:rPr lang="en-US"/>
              <a:t>Enables </a:t>
            </a:r>
            <a:r>
              <a:rPr b="1" lang="en-US"/>
              <a:t>true parallelism</a:t>
            </a:r>
            <a:r>
              <a:rPr lang="en-US"/>
              <a:t> on multicore systems.</a:t>
            </a:r>
            <a:endParaRPr/>
          </a:p>
          <a:p>
            <a:pPr indent="-342900" lvl="0" marL="342900" rtl="0" algn="l">
              <a:spcBef>
                <a:spcPts val="1000"/>
              </a:spcBef>
              <a:spcAft>
                <a:spcPts val="0"/>
              </a:spcAft>
              <a:buSzPct val="79999"/>
              <a:buChar char="►"/>
            </a:pPr>
            <a:r>
              <a:rPr lang="en-US"/>
              <a:t>Each thread can block or run independently.</a:t>
            </a:r>
            <a:endParaRPr/>
          </a:p>
          <a:p>
            <a:pPr indent="0" lvl="0" marL="0" rtl="0" algn="l">
              <a:spcBef>
                <a:spcPts val="1000"/>
              </a:spcBef>
              <a:spcAft>
                <a:spcPts val="0"/>
              </a:spcAft>
              <a:buSzPct val="79999"/>
              <a:buNone/>
            </a:pPr>
            <a:r>
              <a:rPr b="1" lang="en-US"/>
              <a:t>Advantages:</a:t>
            </a:r>
            <a:endParaRPr/>
          </a:p>
          <a:p>
            <a:pPr indent="-285750" lvl="1" marL="742950" rtl="0" algn="l">
              <a:spcBef>
                <a:spcPts val="1000"/>
              </a:spcBef>
              <a:spcAft>
                <a:spcPts val="0"/>
              </a:spcAft>
              <a:buSzPct val="80000"/>
              <a:buChar char="►"/>
            </a:pPr>
            <a:r>
              <a:rPr lang="en-US"/>
              <a:t>True concurrency across multiple CPUs.</a:t>
            </a:r>
            <a:endParaRPr/>
          </a:p>
          <a:p>
            <a:pPr indent="-285750" lvl="1" marL="742950" rtl="0" algn="l">
              <a:spcBef>
                <a:spcPts val="1000"/>
              </a:spcBef>
              <a:spcAft>
                <a:spcPts val="0"/>
              </a:spcAft>
              <a:buSzPct val="80000"/>
              <a:buChar char="►"/>
            </a:pPr>
            <a:r>
              <a:rPr lang="en-US"/>
              <a:t>If one thread blocks, others can continue.</a:t>
            </a:r>
            <a:endParaRPr/>
          </a:p>
          <a:p>
            <a:pPr indent="-285750" lvl="1" marL="742950" rtl="0" algn="l">
              <a:spcBef>
                <a:spcPts val="1000"/>
              </a:spcBef>
              <a:spcAft>
                <a:spcPts val="0"/>
              </a:spcAft>
              <a:buSzPct val="80000"/>
              <a:buChar char="►"/>
            </a:pPr>
            <a:r>
              <a:rPr lang="en-US"/>
              <a:t>Better fault isolation.</a:t>
            </a:r>
            <a:endParaRPr/>
          </a:p>
          <a:p>
            <a:pPr indent="0" lvl="0" marL="0" rtl="0" algn="l">
              <a:spcBef>
                <a:spcPts val="1000"/>
              </a:spcBef>
              <a:spcAft>
                <a:spcPts val="0"/>
              </a:spcAft>
              <a:buSzPct val="79999"/>
              <a:buNone/>
            </a:pPr>
            <a:r>
              <a:rPr b="1" lang="en-US"/>
              <a:t>Disadvantages:</a:t>
            </a:r>
            <a:endParaRPr/>
          </a:p>
          <a:p>
            <a:pPr indent="-285750" lvl="1" marL="742950" rtl="0" algn="l">
              <a:spcBef>
                <a:spcPts val="1000"/>
              </a:spcBef>
              <a:spcAft>
                <a:spcPts val="0"/>
              </a:spcAft>
              <a:buSzPct val="80000"/>
              <a:buChar char="►"/>
            </a:pPr>
            <a:r>
              <a:rPr b="1" lang="en-US"/>
              <a:t>Higher overhead</a:t>
            </a:r>
            <a:r>
              <a:rPr lang="en-US"/>
              <a:t> — creating many kernel threads consumes system resources.</a:t>
            </a:r>
            <a:endParaRPr/>
          </a:p>
          <a:p>
            <a:pPr indent="-285750" lvl="1" marL="742950" rtl="0" algn="l">
              <a:spcBef>
                <a:spcPts val="1000"/>
              </a:spcBef>
              <a:spcAft>
                <a:spcPts val="0"/>
              </a:spcAft>
              <a:buSzPct val="80000"/>
              <a:buChar char="►"/>
            </a:pPr>
            <a:r>
              <a:rPr lang="en-US"/>
              <a:t>Performance drops when thousands of threads exist.</a:t>
            </a:r>
            <a:endParaRPr/>
          </a:p>
          <a:p>
            <a:pPr indent="0" lvl="0" marL="0" rtl="0" algn="l">
              <a:spcBef>
                <a:spcPts val="1000"/>
              </a:spcBef>
              <a:spcAft>
                <a:spcPts val="0"/>
              </a:spcAft>
              <a:buSzPct val="79999"/>
              <a:buNone/>
            </a:pPr>
            <a:r>
              <a:rPr b="1" lang="en-US"/>
              <a:t>Example Systems:</a:t>
            </a:r>
            <a:endParaRPr/>
          </a:p>
          <a:p>
            <a:pPr indent="-285750" lvl="1" marL="742950" rtl="0" algn="l">
              <a:spcBef>
                <a:spcPts val="1000"/>
              </a:spcBef>
              <a:spcAft>
                <a:spcPts val="0"/>
              </a:spcAft>
              <a:buSzPct val="80000"/>
              <a:buChar char="►"/>
            </a:pPr>
            <a:r>
              <a:rPr lang="en-US"/>
              <a:t>Windows threads from 95 to xp</a:t>
            </a:r>
            <a:endParaRPr/>
          </a:p>
          <a:p>
            <a:pPr indent="-285750" lvl="1" marL="742950" rtl="0" algn="l">
              <a:spcBef>
                <a:spcPts val="1000"/>
              </a:spcBef>
              <a:spcAft>
                <a:spcPts val="0"/>
              </a:spcAft>
              <a:buSzPct val="80000"/>
              <a:buChar char="►"/>
            </a:pPr>
            <a:r>
              <a:rPr lang="en-US"/>
              <a:t>Linux </a:t>
            </a:r>
            <a:r>
              <a:rPr b="1" lang="en-US"/>
              <a:t>POSIX pthreads</a:t>
            </a:r>
            <a:r>
              <a:rPr lang="en-US"/>
              <a:t> (NPTL implementation)</a:t>
            </a:r>
            <a:endParaRPr/>
          </a:p>
          <a:p>
            <a:pPr indent="-285750" lvl="1" marL="742950" rtl="0" algn="l">
              <a:spcBef>
                <a:spcPts val="1000"/>
              </a:spcBef>
              <a:spcAft>
                <a:spcPts val="0"/>
              </a:spcAft>
              <a:buSzPct val="80000"/>
              <a:buChar char="►"/>
            </a:pPr>
            <a:r>
              <a:rPr lang="en-US"/>
              <a:t>Java threads (modern JVMs)</a:t>
            </a:r>
            <a:endParaRPr/>
          </a:p>
          <a:p>
            <a:pPr indent="-272034" lvl="0" marL="342900" rtl="0" algn="l">
              <a:spcBef>
                <a:spcPts val="1000"/>
              </a:spcBef>
              <a:spcAft>
                <a:spcPts val="0"/>
              </a:spcAft>
              <a:buSzPct val="79999"/>
              <a:buNone/>
            </a:pPr>
            <a:r>
              <a:t/>
            </a:r>
            <a:endParaRPr/>
          </a:p>
        </p:txBody>
      </p:sp>
      <p:pic>
        <p:nvPicPr>
          <p:cNvPr id="299" name="Google Shape;299;p21"/>
          <p:cNvPicPr preferRelativeResize="0"/>
          <p:nvPr/>
        </p:nvPicPr>
        <p:blipFill rotWithShape="1">
          <a:blip r:embed="rId3">
            <a:alphaModFix/>
          </a:blip>
          <a:srcRect b="0" l="0" r="0" t="0"/>
          <a:stretch/>
        </p:blipFill>
        <p:spPr>
          <a:xfrm>
            <a:off x="6089627" y="2160589"/>
            <a:ext cx="6102373" cy="226835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Many-to-many model</a:t>
            </a:r>
            <a:endParaRPr/>
          </a:p>
        </p:txBody>
      </p:sp>
      <p:sp>
        <p:nvSpPr>
          <p:cNvPr id="305" name="Google Shape;305;p22"/>
          <p:cNvSpPr txBox="1"/>
          <p:nvPr>
            <p:ph idx="1" type="body"/>
          </p:nvPr>
        </p:nvSpPr>
        <p:spPr>
          <a:xfrm>
            <a:off x="677334" y="1838719"/>
            <a:ext cx="8596668" cy="4722101"/>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Char char="►"/>
            </a:pPr>
            <a:r>
              <a:rPr lang="en-US"/>
              <a:t>A </a:t>
            </a:r>
            <a:r>
              <a:rPr b="1" lang="en-US"/>
              <a:t>pool of kernel threads</a:t>
            </a:r>
            <a:r>
              <a:rPr lang="en-US"/>
              <a:t> executes many user threads.</a:t>
            </a:r>
            <a:endParaRPr/>
          </a:p>
          <a:p>
            <a:pPr indent="-342900" lvl="0" marL="342900" rtl="0" algn="l">
              <a:spcBef>
                <a:spcPts val="1000"/>
              </a:spcBef>
              <a:spcAft>
                <a:spcPts val="0"/>
              </a:spcAft>
              <a:buSzPct val="79999"/>
              <a:buChar char="►"/>
            </a:pPr>
            <a:r>
              <a:rPr lang="en-US"/>
              <a:t>User-level thread library schedules ULTs onto available KLTs.</a:t>
            </a:r>
            <a:endParaRPr/>
          </a:p>
          <a:p>
            <a:pPr indent="-342900" lvl="0" marL="342900" rtl="0" algn="l">
              <a:spcBef>
                <a:spcPts val="1000"/>
              </a:spcBef>
              <a:spcAft>
                <a:spcPts val="0"/>
              </a:spcAft>
              <a:buSzPct val="79999"/>
              <a:buChar char="►"/>
            </a:pPr>
            <a:r>
              <a:rPr lang="en-US"/>
              <a:t>Combines flexibility of user threads with true parallelism of kernel threads.</a:t>
            </a:r>
            <a:endParaRPr/>
          </a:p>
          <a:p>
            <a:pPr indent="0" lvl="0" marL="0" rtl="0" algn="l">
              <a:spcBef>
                <a:spcPts val="1000"/>
              </a:spcBef>
              <a:spcAft>
                <a:spcPts val="0"/>
              </a:spcAft>
              <a:buSzPct val="79999"/>
              <a:buNone/>
            </a:pPr>
            <a:r>
              <a:rPr b="1" lang="en-US"/>
              <a:t>Advantages:</a:t>
            </a:r>
            <a:endParaRPr/>
          </a:p>
          <a:p>
            <a:pPr indent="-285750" lvl="1" marL="742950" rtl="0" algn="l">
              <a:spcBef>
                <a:spcPts val="1000"/>
              </a:spcBef>
              <a:spcAft>
                <a:spcPts val="0"/>
              </a:spcAft>
              <a:buSzPct val="80000"/>
              <a:buChar char="►"/>
            </a:pPr>
            <a:r>
              <a:rPr lang="en-US"/>
              <a:t>Efficient resource use.</a:t>
            </a:r>
            <a:endParaRPr/>
          </a:p>
          <a:p>
            <a:pPr indent="-285750" lvl="1" marL="742950" rtl="0" algn="l">
              <a:spcBef>
                <a:spcPts val="1000"/>
              </a:spcBef>
              <a:spcAft>
                <a:spcPts val="0"/>
              </a:spcAft>
              <a:buSzPct val="80000"/>
              <a:buChar char="►"/>
            </a:pPr>
            <a:r>
              <a:rPr lang="en-US"/>
              <a:t>User threads not tied 1:1 with kernel threads — reduces overhead.</a:t>
            </a:r>
            <a:endParaRPr/>
          </a:p>
          <a:p>
            <a:pPr indent="-285750" lvl="1" marL="742950" rtl="0" algn="l">
              <a:spcBef>
                <a:spcPts val="1000"/>
              </a:spcBef>
              <a:spcAft>
                <a:spcPts val="0"/>
              </a:spcAft>
              <a:buSzPct val="80000"/>
              <a:buChar char="►"/>
            </a:pPr>
            <a:r>
              <a:rPr lang="en-US"/>
              <a:t>Allows </a:t>
            </a:r>
            <a:r>
              <a:rPr b="1" lang="en-US"/>
              <a:t>concurrency</a:t>
            </a:r>
            <a:r>
              <a:rPr lang="en-US"/>
              <a:t> and </a:t>
            </a:r>
            <a:r>
              <a:rPr b="1" lang="en-US"/>
              <a:t>scalability</a:t>
            </a:r>
            <a:r>
              <a:rPr lang="en-US"/>
              <a:t>.</a:t>
            </a:r>
            <a:endParaRPr/>
          </a:p>
          <a:p>
            <a:pPr indent="-285750" lvl="1" marL="742950" rtl="0" algn="l">
              <a:spcBef>
                <a:spcPts val="1000"/>
              </a:spcBef>
              <a:spcAft>
                <a:spcPts val="0"/>
              </a:spcAft>
              <a:buSzPct val="80000"/>
              <a:buChar char="►"/>
            </a:pPr>
            <a:r>
              <a:rPr lang="en-US"/>
              <a:t>If one user thread blocks, others can still run (using other kernel threads).</a:t>
            </a:r>
            <a:endParaRPr/>
          </a:p>
          <a:p>
            <a:pPr indent="0" lvl="0" marL="0" rtl="0" algn="l">
              <a:spcBef>
                <a:spcPts val="1000"/>
              </a:spcBef>
              <a:spcAft>
                <a:spcPts val="0"/>
              </a:spcAft>
              <a:buSzPct val="79999"/>
              <a:buNone/>
            </a:pPr>
            <a:r>
              <a:rPr b="1" lang="en-US"/>
              <a:t>Disadvantages:</a:t>
            </a:r>
            <a:endParaRPr/>
          </a:p>
          <a:p>
            <a:pPr indent="-285750" lvl="1" marL="742950" rtl="0" algn="l">
              <a:spcBef>
                <a:spcPts val="1000"/>
              </a:spcBef>
              <a:spcAft>
                <a:spcPts val="0"/>
              </a:spcAft>
              <a:buSzPct val="80000"/>
              <a:buChar char="►"/>
            </a:pPr>
            <a:r>
              <a:rPr lang="en-US"/>
              <a:t>More complex to implement and manage.</a:t>
            </a:r>
            <a:endParaRPr/>
          </a:p>
          <a:p>
            <a:pPr indent="-285750" lvl="1" marL="742950" rtl="0" algn="l">
              <a:spcBef>
                <a:spcPts val="1000"/>
              </a:spcBef>
              <a:spcAft>
                <a:spcPts val="0"/>
              </a:spcAft>
              <a:buSzPct val="80000"/>
              <a:buChar char="►"/>
            </a:pPr>
            <a:r>
              <a:rPr lang="en-US"/>
              <a:t>Requires coordination between thread library and OS.</a:t>
            </a:r>
            <a:endParaRPr/>
          </a:p>
          <a:p>
            <a:pPr indent="0" lvl="0" marL="0" rtl="0" algn="l">
              <a:spcBef>
                <a:spcPts val="1000"/>
              </a:spcBef>
              <a:spcAft>
                <a:spcPts val="0"/>
              </a:spcAft>
              <a:buSzPct val="79999"/>
              <a:buNone/>
            </a:pPr>
            <a:r>
              <a:rPr b="1" lang="en-US"/>
              <a:t>Example Systems:</a:t>
            </a:r>
            <a:endParaRPr/>
          </a:p>
          <a:p>
            <a:pPr indent="-285750" lvl="1" marL="742950" rtl="0" algn="l">
              <a:spcBef>
                <a:spcPts val="1000"/>
              </a:spcBef>
              <a:spcAft>
                <a:spcPts val="0"/>
              </a:spcAft>
              <a:buSzPct val="80000"/>
              <a:buChar char="►"/>
            </a:pPr>
            <a:r>
              <a:rPr lang="en-US"/>
              <a:t>Solaris (older versions)</a:t>
            </a:r>
            <a:endParaRPr/>
          </a:p>
          <a:p>
            <a:pPr indent="-285750" lvl="1" marL="742950" rtl="0" algn="l">
              <a:spcBef>
                <a:spcPts val="1000"/>
              </a:spcBef>
              <a:spcAft>
                <a:spcPts val="0"/>
              </a:spcAft>
              <a:buSzPct val="80000"/>
              <a:buChar char="►"/>
            </a:pPr>
            <a:r>
              <a:rPr lang="en-US"/>
              <a:t>Windows Thread Pool</a:t>
            </a:r>
            <a:endParaRPr/>
          </a:p>
          <a:p>
            <a:pPr indent="-285750" lvl="1" marL="742950" rtl="0" algn="l">
              <a:spcBef>
                <a:spcPts val="1000"/>
              </a:spcBef>
              <a:spcAft>
                <a:spcPts val="0"/>
              </a:spcAft>
              <a:buSzPct val="80000"/>
              <a:buChar char="►"/>
            </a:pPr>
            <a:r>
              <a:rPr lang="en-US"/>
              <a:t>Modern JVMs and .NET frameworks</a:t>
            </a:r>
            <a:endParaRPr/>
          </a:p>
          <a:p>
            <a:pPr indent="-265176" lvl="0" marL="342900" rtl="0" algn="l">
              <a:spcBef>
                <a:spcPts val="1000"/>
              </a:spcBef>
              <a:spcAft>
                <a:spcPts val="0"/>
              </a:spcAft>
              <a:buSzPct val="79999"/>
              <a:buNone/>
            </a:pPr>
            <a:r>
              <a:t/>
            </a:r>
            <a:endParaRPr/>
          </a:p>
        </p:txBody>
      </p:sp>
      <p:pic>
        <p:nvPicPr>
          <p:cNvPr id="306" name="Google Shape;306;p22"/>
          <p:cNvPicPr preferRelativeResize="0"/>
          <p:nvPr/>
        </p:nvPicPr>
        <p:blipFill rotWithShape="1">
          <a:blip r:embed="rId3">
            <a:alphaModFix/>
          </a:blip>
          <a:srcRect b="0" l="0" r="0" t="0"/>
          <a:stretch/>
        </p:blipFill>
        <p:spPr>
          <a:xfrm>
            <a:off x="7678431" y="3022335"/>
            <a:ext cx="4467849" cy="381053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Hybrid or Two-Level Model (Variation)</a:t>
            </a:r>
            <a:endParaRPr/>
          </a:p>
        </p:txBody>
      </p:sp>
      <p:sp>
        <p:nvSpPr>
          <p:cNvPr id="312" name="Google Shape;312;p23"/>
          <p:cNvSpPr txBox="1"/>
          <p:nvPr>
            <p:ph idx="1" type="body"/>
          </p:nvPr>
        </p:nvSpPr>
        <p:spPr>
          <a:xfrm>
            <a:off x="677334" y="2160589"/>
            <a:ext cx="583697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specialized </a:t>
            </a:r>
            <a:r>
              <a:rPr b="1" lang="en-US"/>
              <a:t>Many-to-Many variant</a:t>
            </a:r>
            <a:r>
              <a:rPr lang="en-US"/>
              <a:t>.</a:t>
            </a:r>
            <a:endParaRPr/>
          </a:p>
          <a:p>
            <a:pPr indent="-342900" lvl="0" marL="342900" rtl="0" algn="l">
              <a:spcBef>
                <a:spcPts val="1000"/>
              </a:spcBef>
              <a:spcAft>
                <a:spcPts val="0"/>
              </a:spcAft>
              <a:buSzPts val="1440"/>
              <a:buChar char="►"/>
            </a:pPr>
            <a:r>
              <a:rPr lang="en-US"/>
              <a:t>Application can </a:t>
            </a:r>
            <a:r>
              <a:rPr b="1" lang="en-US"/>
              <a:t>bind certain user threads directly</a:t>
            </a:r>
            <a:r>
              <a:rPr lang="en-US"/>
              <a:t> to kernel threads (1:1 mapping), while others are multiplexed.</a:t>
            </a:r>
            <a:endParaRPr/>
          </a:p>
          <a:p>
            <a:pPr indent="-342900" lvl="0" marL="342900" rtl="0" algn="l">
              <a:spcBef>
                <a:spcPts val="1000"/>
              </a:spcBef>
              <a:spcAft>
                <a:spcPts val="0"/>
              </a:spcAft>
              <a:buSzPts val="1440"/>
              <a:buChar char="►"/>
            </a:pPr>
            <a:r>
              <a:rPr lang="en-US"/>
              <a:t>Gives fine-grained control for performance-critical threads.</a:t>
            </a:r>
            <a:endParaRPr/>
          </a:p>
          <a:p>
            <a:pPr indent="-342900" lvl="0" marL="342900" rtl="0" algn="l">
              <a:spcBef>
                <a:spcPts val="1000"/>
              </a:spcBef>
              <a:spcAft>
                <a:spcPts val="0"/>
              </a:spcAft>
              <a:buSzPts val="1440"/>
              <a:buChar char="►"/>
            </a:pPr>
            <a:r>
              <a:rPr b="1" lang="en-US"/>
              <a:t>Example:</a:t>
            </a:r>
            <a:br>
              <a:rPr lang="en-US"/>
            </a:br>
            <a:r>
              <a:rPr lang="en-US"/>
              <a:t>Solaris 9, Windows with thread pools, and modern Linux pthreads use hybrid behavior.</a:t>
            </a:r>
            <a:endParaRPr/>
          </a:p>
          <a:p>
            <a:pPr indent="-251459" lvl="0" marL="342900" rtl="0" algn="l">
              <a:spcBef>
                <a:spcPts val="1000"/>
              </a:spcBef>
              <a:spcAft>
                <a:spcPts val="0"/>
              </a:spcAft>
              <a:buSzPts val="1440"/>
              <a:buNone/>
            </a:pPr>
            <a:r>
              <a:t/>
            </a:r>
            <a:endParaRPr/>
          </a:p>
        </p:txBody>
      </p:sp>
      <p:pic>
        <p:nvPicPr>
          <p:cNvPr id="313" name="Google Shape;313;p23"/>
          <p:cNvPicPr preferRelativeResize="0"/>
          <p:nvPr/>
        </p:nvPicPr>
        <p:blipFill rotWithShape="1">
          <a:blip r:embed="rId3">
            <a:alphaModFix/>
          </a:blip>
          <a:srcRect b="0" l="0" r="0" t="0"/>
          <a:stretch/>
        </p:blipFill>
        <p:spPr>
          <a:xfrm>
            <a:off x="6514308" y="2160589"/>
            <a:ext cx="5677692" cy="378195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User Space and Kernel Space Threads </a:t>
            </a:r>
            <a:endParaRPr/>
          </a:p>
        </p:txBody>
      </p:sp>
      <p:sp>
        <p:nvSpPr>
          <p:cNvPr id="319" name="Google Shape;319;p24"/>
          <p:cNvSpPr txBox="1"/>
          <p:nvPr>
            <p:ph idx="1" type="body"/>
          </p:nvPr>
        </p:nvSpPr>
        <p:spPr>
          <a:xfrm>
            <a:off x="677334" y="2160589"/>
            <a:ext cx="5418666" cy="388077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9999"/>
              <a:buNone/>
            </a:pPr>
            <a:r>
              <a:rPr b="1" lang="en-US" u="sng"/>
              <a:t>User-Level Threads (ULT):</a:t>
            </a:r>
            <a:endParaRPr/>
          </a:p>
          <a:p>
            <a:pPr indent="-342900" lvl="0" marL="342900" rtl="0" algn="l">
              <a:spcBef>
                <a:spcPts val="1000"/>
              </a:spcBef>
              <a:spcAft>
                <a:spcPts val="0"/>
              </a:spcAft>
              <a:buSzPct val="79999"/>
              <a:buChar char="►"/>
            </a:pPr>
            <a:r>
              <a:rPr lang="en-US"/>
              <a:t>Managed entirely by user-space libraries (not by the OS kernel).</a:t>
            </a:r>
            <a:endParaRPr/>
          </a:p>
          <a:p>
            <a:pPr indent="-342900" lvl="0" marL="342900" rtl="0" algn="l">
              <a:spcBef>
                <a:spcPts val="1000"/>
              </a:spcBef>
              <a:spcAft>
                <a:spcPts val="0"/>
              </a:spcAft>
              <a:buSzPct val="79999"/>
              <a:buChar char="►"/>
            </a:pPr>
            <a:r>
              <a:rPr lang="en-US"/>
              <a:t>The kernel is unaware that multiple threads exist inside a process.</a:t>
            </a:r>
            <a:endParaRPr/>
          </a:p>
          <a:p>
            <a:pPr indent="-342900" lvl="0" marL="342900" rtl="0" algn="l">
              <a:spcBef>
                <a:spcPts val="1000"/>
              </a:spcBef>
              <a:spcAft>
                <a:spcPts val="0"/>
              </a:spcAft>
              <a:buSzPct val="79999"/>
              <a:buChar char="►"/>
            </a:pPr>
            <a:r>
              <a:rPr lang="en-US"/>
              <a:t>Operations like creation, synchronization, and scheduling happen without system calls.</a:t>
            </a:r>
            <a:endParaRPr/>
          </a:p>
          <a:p>
            <a:pPr indent="0" lvl="0" marL="0" rtl="0" algn="l">
              <a:spcBef>
                <a:spcPts val="1000"/>
              </a:spcBef>
              <a:spcAft>
                <a:spcPts val="0"/>
              </a:spcAft>
              <a:buSzPct val="79999"/>
              <a:buNone/>
            </a:pPr>
            <a:r>
              <a:rPr b="1" lang="en-US" u="sng"/>
              <a:t>Kernel-Level Threads (KLT):</a:t>
            </a:r>
            <a:endParaRPr/>
          </a:p>
          <a:p>
            <a:pPr indent="-342900" lvl="0" marL="342900" rtl="0" algn="l">
              <a:spcBef>
                <a:spcPts val="1000"/>
              </a:spcBef>
              <a:spcAft>
                <a:spcPts val="0"/>
              </a:spcAft>
              <a:buSzPct val="79999"/>
              <a:buChar char="►"/>
            </a:pPr>
            <a:r>
              <a:rPr lang="en-US"/>
              <a:t>Managed directly by the operating system kernel.</a:t>
            </a:r>
            <a:endParaRPr/>
          </a:p>
          <a:p>
            <a:pPr indent="-342900" lvl="0" marL="342900" rtl="0" algn="l">
              <a:spcBef>
                <a:spcPts val="1000"/>
              </a:spcBef>
              <a:spcAft>
                <a:spcPts val="0"/>
              </a:spcAft>
              <a:buSzPct val="79999"/>
              <a:buChar char="►"/>
            </a:pPr>
            <a:r>
              <a:rPr lang="en-US"/>
              <a:t>The kernel schedules and executes each thread independently.</a:t>
            </a:r>
            <a:endParaRPr/>
          </a:p>
          <a:p>
            <a:pPr indent="-342900" lvl="0" marL="342900" rtl="0" algn="l">
              <a:spcBef>
                <a:spcPts val="1000"/>
              </a:spcBef>
              <a:spcAft>
                <a:spcPts val="0"/>
              </a:spcAft>
              <a:buSzPct val="79999"/>
              <a:buChar char="►"/>
            </a:pPr>
            <a:r>
              <a:rPr lang="en-US"/>
              <a:t>Each KLT has its own kernel data structures (like PCB extensions).</a:t>
            </a:r>
            <a:endParaRPr/>
          </a:p>
          <a:p>
            <a:pPr indent="-258318" lvl="0" marL="342900" rtl="0" algn="l">
              <a:spcBef>
                <a:spcPts val="1000"/>
              </a:spcBef>
              <a:spcAft>
                <a:spcPts val="0"/>
              </a:spcAft>
              <a:buSzPct val="79999"/>
              <a:buNone/>
            </a:pPr>
            <a:r>
              <a:t/>
            </a:r>
            <a:endParaRPr/>
          </a:p>
        </p:txBody>
      </p:sp>
      <p:sp>
        <p:nvSpPr>
          <p:cNvPr id="320" name="Google Shape;320;p24"/>
          <p:cNvSpPr txBox="1"/>
          <p:nvPr/>
        </p:nvSpPr>
        <p:spPr>
          <a:xfrm>
            <a:off x="6550275" y="2160589"/>
            <a:ext cx="4575771" cy="38807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lang="en-US" sz="1800" u="sng">
                <a:solidFill>
                  <a:srgbClr val="3F3F3F"/>
                </a:solidFill>
                <a:latin typeface="Trebuchet MS"/>
                <a:ea typeface="Trebuchet MS"/>
                <a:cs typeface="Trebuchet MS"/>
                <a:sym typeface="Trebuchet MS"/>
              </a:rPr>
              <a:t>Why Mapping Is Needed</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When a program uses threads, the OS must know how these user threads correspond to actual kernel threads that can run on CPUs.</a:t>
            </a:r>
            <a:endParaRPr/>
          </a:p>
          <a:p>
            <a:pPr indent="0" lvl="0" marL="0" marR="0" rtl="0" algn="l">
              <a:spcBef>
                <a:spcPts val="1000"/>
              </a:spcBef>
              <a:spcAft>
                <a:spcPts val="0"/>
              </a:spcAft>
              <a:buClr>
                <a:schemeClr val="accent1"/>
              </a:buClr>
              <a:buSzPts val="1440"/>
              <a:buFont typeface="Noto Sans Symbols"/>
              <a:buNone/>
            </a:pPr>
            <a:r>
              <a:rPr lang="en-US" sz="1800">
                <a:solidFill>
                  <a:srgbClr val="3F3F3F"/>
                </a:solidFill>
                <a:latin typeface="Trebuchet MS"/>
                <a:ea typeface="Trebuchet MS"/>
                <a:cs typeface="Trebuchet MS"/>
                <a:sym typeface="Trebuchet MS"/>
              </a:rPr>
              <a:t>This </a:t>
            </a:r>
            <a:r>
              <a:rPr b="1" lang="en-US" sz="1800">
                <a:solidFill>
                  <a:srgbClr val="3F3F3F"/>
                </a:solidFill>
                <a:latin typeface="Trebuchet MS"/>
                <a:ea typeface="Trebuchet MS"/>
                <a:cs typeface="Trebuchet MS"/>
                <a:sym typeface="Trebuchet MS"/>
              </a:rPr>
              <a:t>mapping</a:t>
            </a:r>
            <a:r>
              <a:rPr lang="en-US" sz="1800">
                <a:solidFill>
                  <a:srgbClr val="3F3F3F"/>
                </a:solidFill>
                <a:latin typeface="Trebuchet MS"/>
                <a:ea typeface="Trebuchet MS"/>
                <a:cs typeface="Trebuchet MS"/>
                <a:sym typeface="Trebuchet MS"/>
              </a:rPr>
              <a:t> determines:</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How much parallelism is possible</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Who handles scheduling (library or OS)</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How blocking and synchronization work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Hybrid Implementations </a:t>
            </a:r>
            <a:endParaRPr/>
          </a:p>
        </p:txBody>
      </p:sp>
      <p:sp>
        <p:nvSpPr>
          <p:cNvPr id="326" name="Google Shape;326;p25"/>
          <p:cNvSpPr txBox="1"/>
          <p:nvPr>
            <p:ph idx="1" type="body"/>
          </p:nvPr>
        </p:nvSpPr>
        <p:spPr>
          <a:xfrm>
            <a:off x="677334" y="1930400"/>
            <a:ext cx="6226386" cy="4927599"/>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79999"/>
              <a:buNone/>
            </a:pPr>
            <a:r>
              <a:rPr lang="en-US"/>
              <a:t>It combine the best aspects of both user-level and kernel-level threads to provide a more efficient and flexible approach to multithreading.</a:t>
            </a:r>
            <a:endParaRPr/>
          </a:p>
          <a:p>
            <a:pPr indent="0" lvl="0" marL="0" rtl="0" algn="l">
              <a:spcBef>
                <a:spcPts val="1000"/>
              </a:spcBef>
              <a:spcAft>
                <a:spcPts val="0"/>
              </a:spcAft>
              <a:buSzPct val="79999"/>
              <a:buNone/>
            </a:pPr>
            <a:r>
              <a:rPr b="1" lang="en-US"/>
              <a:t>Key Features of Hybrid Models</a:t>
            </a:r>
            <a:endParaRPr/>
          </a:p>
          <a:p>
            <a:pPr indent="-285750" lvl="1" marL="742950" rtl="0" algn="l">
              <a:spcBef>
                <a:spcPts val="1000"/>
              </a:spcBef>
              <a:spcAft>
                <a:spcPts val="0"/>
              </a:spcAft>
              <a:buSzPct val="80000"/>
              <a:buChar char="►"/>
            </a:pPr>
            <a:r>
              <a:rPr lang="en-US"/>
              <a:t>Efficient Resource Utilization: </a:t>
            </a:r>
            <a:endParaRPr/>
          </a:p>
          <a:p>
            <a:pPr indent="-285750" lvl="1" marL="742950" rtl="0" algn="l">
              <a:spcBef>
                <a:spcPts val="1000"/>
              </a:spcBef>
              <a:spcAft>
                <a:spcPts val="0"/>
              </a:spcAft>
              <a:buSzPct val="80000"/>
              <a:buChar char="►"/>
            </a:pPr>
            <a:r>
              <a:rPr lang="en-US"/>
              <a:t>Non-Blocking: </a:t>
            </a:r>
            <a:endParaRPr/>
          </a:p>
          <a:p>
            <a:pPr indent="-285750" lvl="1" marL="742950" rtl="0" algn="l">
              <a:spcBef>
                <a:spcPts val="1000"/>
              </a:spcBef>
              <a:spcAft>
                <a:spcPts val="0"/>
              </a:spcAft>
              <a:buSzPct val="80000"/>
              <a:buChar char="►"/>
            </a:pPr>
            <a:r>
              <a:rPr lang="en-US"/>
              <a:t>Customizable Thread Scheduling: </a:t>
            </a:r>
            <a:endParaRPr/>
          </a:p>
          <a:p>
            <a:pPr indent="0" lvl="0" marL="0" rtl="0" algn="l">
              <a:spcBef>
                <a:spcPts val="1000"/>
              </a:spcBef>
              <a:spcAft>
                <a:spcPts val="0"/>
              </a:spcAft>
              <a:buSzPct val="79999"/>
              <a:buNone/>
            </a:pPr>
            <a:r>
              <a:rPr b="1" lang="en-US"/>
              <a:t>Common Hybrid Thread Models</a:t>
            </a:r>
            <a:endParaRPr/>
          </a:p>
          <a:p>
            <a:pPr indent="-342900" lvl="0" marL="342900" rtl="0" algn="l">
              <a:spcBef>
                <a:spcPts val="1000"/>
              </a:spcBef>
              <a:spcAft>
                <a:spcPts val="0"/>
              </a:spcAft>
              <a:buSzPct val="79999"/>
              <a:buChar char="►"/>
            </a:pPr>
            <a:r>
              <a:rPr lang="en-US"/>
              <a:t>Many-to-Many (M:N) Model:</a:t>
            </a:r>
            <a:endParaRPr/>
          </a:p>
          <a:p>
            <a:pPr indent="-285750" lvl="1" marL="742950" rtl="0" algn="l">
              <a:spcBef>
                <a:spcPts val="1000"/>
              </a:spcBef>
              <a:spcAft>
                <a:spcPts val="0"/>
              </a:spcAft>
              <a:buSzPct val="80000"/>
              <a:buChar char="►"/>
            </a:pPr>
            <a:r>
              <a:rPr lang="en-US"/>
              <a:t>Advantages: Efficient resource utilization, non-blocking behavior, and customizable scheduling.</a:t>
            </a:r>
            <a:endParaRPr/>
          </a:p>
          <a:p>
            <a:pPr indent="-285750" lvl="1" marL="742950" rtl="0" algn="l">
              <a:spcBef>
                <a:spcPts val="1000"/>
              </a:spcBef>
              <a:spcAft>
                <a:spcPts val="0"/>
              </a:spcAft>
              <a:buSzPct val="80000"/>
              <a:buChar char="►"/>
            </a:pPr>
            <a:r>
              <a:rPr lang="en-US"/>
              <a:t>Example: Windows NT and later.</a:t>
            </a:r>
            <a:endParaRPr/>
          </a:p>
          <a:p>
            <a:pPr indent="-342900" lvl="0" marL="342900" rtl="0" algn="l">
              <a:spcBef>
                <a:spcPts val="1000"/>
              </a:spcBef>
              <a:spcAft>
                <a:spcPts val="0"/>
              </a:spcAft>
              <a:buSzPct val="79999"/>
              <a:buChar char="►"/>
            </a:pPr>
            <a:r>
              <a:rPr lang="en-US"/>
              <a:t>Two-Level Model:</a:t>
            </a:r>
            <a:endParaRPr/>
          </a:p>
          <a:p>
            <a:pPr indent="-285750" lvl="1" marL="742950" rtl="0" algn="l">
              <a:spcBef>
                <a:spcPts val="1000"/>
              </a:spcBef>
              <a:spcAft>
                <a:spcPts val="0"/>
              </a:spcAft>
              <a:buSzPct val="80000"/>
              <a:buChar char="►"/>
            </a:pPr>
            <a:r>
              <a:rPr lang="en-US"/>
              <a:t>Each process has one or more user-level threads.</a:t>
            </a:r>
            <a:endParaRPr/>
          </a:p>
          <a:p>
            <a:pPr indent="-285750" lvl="1" marL="742950" rtl="0" algn="l">
              <a:spcBef>
                <a:spcPts val="1000"/>
              </a:spcBef>
              <a:spcAft>
                <a:spcPts val="0"/>
              </a:spcAft>
              <a:buSzPct val="80000"/>
              <a:buChar char="►"/>
            </a:pPr>
            <a:r>
              <a:rPr lang="en-US"/>
              <a:t>Advantages: Improved performance and scalability compared to user-level threads, while still providing flexibility.</a:t>
            </a:r>
            <a:endParaRPr/>
          </a:p>
          <a:p>
            <a:pPr indent="-285750" lvl="1" marL="742950" rtl="0" algn="l">
              <a:spcBef>
                <a:spcPts val="1000"/>
              </a:spcBef>
              <a:spcAft>
                <a:spcPts val="0"/>
              </a:spcAft>
              <a:buSzPct val="80000"/>
              <a:buChar char="►"/>
            </a:pPr>
            <a:r>
              <a:rPr lang="en-US"/>
              <a:t>Example: Solaris.</a:t>
            </a:r>
            <a:endParaRPr/>
          </a:p>
        </p:txBody>
      </p:sp>
      <p:sp>
        <p:nvSpPr>
          <p:cNvPr id="327" name="Google Shape;327;p25"/>
          <p:cNvSpPr txBox="1"/>
          <p:nvPr/>
        </p:nvSpPr>
        <p:spPr>
          <a:xfrm>
            <a:off x="7109460" y="2058038"/>
            <a:ext cx="7583208" cy="38807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lang="en-US" sz="1800">
                <a:solidFill>
                  <a:srgbClr val="3F3F3F"/>
                </a:solidFill>
                <a:latin typeface="Trebuchet MS"/>
                <a:ea typeface="Trebuchet MS"/>
                <a:cs typeface="Trebuchet MS"/>
                <a:sym typeface="Trebuchet MS"/>
              </a:rPr>
              <a:t>Hybrid Thread Model Implementation</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User-Level Threads:</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Kernel-Level Threads:</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Mapping</a:t>
            </a:r>
            <a:endParaRPr/>
          </a:p>
          <a:p>
            <a:pPr indent="0" lvl="0" marL="0" marR="0" rtl="0" algn="l">
              <a:spcBef>
                <a:spcPts val="1000"/>
              </a:spcBef>
              <a:spcAft>
                <a:spcPts val="0"/>
              </a:spcAft>
              <a:buClr>
                <a:schemeClr val="accent1"/>
              </a:buClr>
              <a:buSzPts val="1440"/>
              <a:buFont typeface="Noto Sans Symbols"/>
              <a:buNone/>
            </a:pPr>
            <a:r>
              <a:rPr b="1" lang="en-US" sz="1800">
                <a:solidFill>
                  <a:srgbClr val="3F3F3F"/>
                </a:solidFill>
                <a:latin typeface="Trebuchet MS"/>
                <a:ea typeface="Trebuchet MS"/>
                <a:cs typeface="Trebuchet MS"/>
                <a:sym typeface="Trebuchet MS"/>
              </a:rPr>
              <a:t>Advantages of Hybrid Thread Models</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Efficient Resource Utilization: </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Improved Performance: </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Enhanced Responsiveness: </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Increased Flexibility: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26"/>
          <p:cNvPicPr preferRelativeResize="0"/>
          <p:nvPr/>
        </p:nvPicPr>
        <p:blipFill rotWithShape="1">
          <a:blip r:embed="rId3">
            <a:alphaModFix/>
          </a:blip>
          <a:srcRect b="0" l="0" r="0" t="0"/>
          <a:stretch/>
        </p:blipFill>
        <p:spPr>
          <a:xfrm>
            <a:off x="6667899" y="1637812"/>
            <a:ext cx="5416864" cy="1507171"/>
          </a:xfrm>
          <a:prstGeom prst="rect">
            <a:avLst/>
          </a:prstGeom>
          <a:noFill/>
          <a:ln>
            <a:noFill/>
          </a:ln>
        </p:spPr>
      </p:pic>
      <p:sp>
        <p:nvSpPr>
          <p:cNvPr id="334" name="Google Shape;334;p2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Inter-process Communication </a:t>
            </a:r>
            <a:endParaRPr/>
          </a:p>
        </p:txBody>
      </p:sp>
      <p:sp>
        <p:nvSpPr>
          <p:cNvPr id="335" name="Google Shape;335;p26"/>
          <p:cNvSpPr txBox="1"/>
          <p:nvPr>
            <p:ph idx="1" type="body"/>
          </p:nvPr>
        </p:nvSpPr>
        <p:spPr>
          <a:xfrm>
            <a:off x="677334" y="1802449"/>
            <a:ext cx="5837766" cy="444595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IPC allows processes to exchange data and synchronize their actions.</a:t>
            </a:r>
            <a:endParaRPr/>
          </a:p>
          <a:p>
            <a:pPr indent="-342900" lvl="0" marL="342900" rtl="0" algn="l">
              <a:spcBef>
                <a:spcPts val="1000"/>
              </a:spcBef>
              <a:spcAft>
                <a:spcPts val="0"/>
              </a:spcAft>
              <a:buSzPts val="1440"/>
              <a:buChar char="►"/>
            </a:pPr>
            <a:r>
              <a:rPr lang="en-US"/>
              <a:t>Essential for multi-tasking, client-server, and distributed systems.</a:t>
            </a:r>
            <a:endParaRPr/>
          </a:p>
          <a:p>
            <a:pPr indent="0" lvl="0" marL="0" rtl="0" algn="l">
              <a:spcBef>
                <a:spcPts val="1000"/>
              </a:spcBef>
              <a:spcAft>
                <a:spcPts val="0"/>
              </a:spcAft>
              <a:buSzPts val="1440"/>
              <a:buNone/>
            </a:pPr>
            <a:r>
              <a:rPr b="1" lang="en-US" u="sng"/>
              <a:t>Objectives of IPC:</a:t>
            </a:r>
            <a:endParaRPr/>
          </a:p>
          <a:p>
            <a:pPr indent="-285750" lvl="1" marL="742950" rtl="0" algn="l">
              <a:spcBef>
                <a:spcPts val="1000"/>
              </a:spcBef>
              <a:spcAft>
                <a:spcPts val="0"/>
              </a:spcAft>
              <a:buSzPts val="1280"/>
              <a:buChar char="►"/>
            </a:pPr>
            <a:r>
              <a:rPr lang="en-US"/>
              <a:t>Data sharing between processes</a:t>
            </a:r>
            <a:endParaRPr/>
          </a:p>
          <a:p>
            <a:pPr indent="-285750" lvl="1" marL="742950" rtl="0" algn="l">
              <a:spcBef>
                <a:spcPts val="1000"/>
              </a:spcBef>
              <a:spcAft>
                <a:spcPts val="0"/>
              </a:spcAft>
              <a:buSzPts val="1280"/>
              <a:buChar char="►"/>
            </a:pPr>
            <a:r>
              <a:rPr lang="en-US"/>
              <a:t>Event notification and synchronization</a:t>
            </a:r>
            <a:endParaRPr/>
          </a:p>
          <a:p>
            <a:pPr indent="-285750" lvl="1" marL="742950" rtl="0" algn="l">
              <a:spcBef>
                <a:spcPts val="1000"/>
              </a:spcBef>
              <a:spcAft>
                <a:spcPts val="0"/>
              </a:spcAft>
              <a:buSzPts val="1280"/>
              <a:buChar char="►"/>
            </a:pPr>
            <a:r>
              <a:rPr lang="en-US"/>
              <a:t>Resource sharing</a:t>
            </a:r>
            <a:endParaRPr/>
          </a:p>
          <a:p>
            <a:pPr indent="-285750" lvl="1" marL="742950" rtl="0" algn="l">
              <a:spcBef>
                <a:spcPts val="1000"/>
              </a:spcBef>
              <a:spcAft>
                <a:spcPts val="0"/>
              </a:spcAft>
              <a:buSzPts val="1280"/>
              <a:buChar char="►"/>
            </a:pPr>
            <a:r>
              <a:rPr lang="en-US"/>
              <a:t>Modular and concurrent process design</a:t>
            </a:r>
            <a:endParaRPr/>
          </a:p>
          <a:p>
            <a:pPr indent="0" lvl="0" marL="0" rtl="0" algn="l">
              <a:spcBef>
                <a:spcPts val="1000"/>
              </a:spcBef>
              <a:spcAft>
                <a:spcPts val="0"/>
              </a:spcAft>
              <a:buSzPts val="1440"/>
              <a:buNone/>
            </a:pPr>
            <a:r>
              <a:rPr b="1" lang="en-US" u="sng"/>
              <a:t>Examples:</a:t>
            </a:r>
            <a:endParaRPr/>
          </a:p>
          <a:p>
            <a:pPr indent="-285750" lvl="1" marL="742950" rtl="0" algn="l">
              <a:spcBef>
                <a:spcPts val="1000"/>
              </a:spcBef>
              <a:spcAft>
                <a:spcPts val="0"/>
              </a:spcAft>
              <a:buSzPts val="1280"/>
              <a:buChar char="►"/>
            </a:pPr>
            <a:r>
              <a:rPr lang="en-US"/>
              <a:t>Producer-Consumer problem</a:t>
            </a:r>
            <a:endParaRPr/>
          </a:p>
          <a:p>
            <a:pPr indent="-285750" lvl="1" marL="742950" rtl="0" algn="l">
              <a:spcBef>
                <a:spcPts val="1000"/>
              </a:spcBef>
              <a:spcAft>
                <a:spcPts val="0"/>
              </a:spcAft>
              <a:buSzPts val="1280"/>
              <a:buChar char="►"/>
            </a:pPr>
            <a:r>
              <a:rPr lang="en-US"/>
              <a:t>Client-server communication via sockets or message queues</a:t>
            </a:r>
            <a:endParaRPr/>
          </a:p>
        </p:txBody>
      </p:sp>
      <p:pic>
        <p:nvPicPr>
          <p:cNvPr descr="Inter-Process Communication (IPC)" id="336" name="Google Shape;336;p26"/>
          <p:cNvPicPr preferRelativeResize="0"/>
          <p:nvPr/>
        </p:nvPicPr>
        <p:blipFill rotWithShape="1">
          <a:blip r:embed="rId4">
            <a:alphaModFix/>
          </a:blip>
          <a:srcRect b="0" l="0" r="0" t="0"/>
          <a:stretch/>
        </p:blipFill>
        <p:spPr>
          <a:xfrm>
            <a:off x="6719758" y="3713017"/>
            <a:ext cx="5472242" cy="294198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IPC Mechanisms</a:t>
            </a:r>
            <a:endParaRPr/>
          </a:p>
        </p:txBody>
      </p:sp>
      <p:sp>
        <p:nvSpPr>
          <p:cNvPr id="343" name="Google Shape;343;p27"/>
          <p:cNvSpPr txBox="1"/>
          <p:nvPr>
            <p:ph idx="1" type="body"/>
          </p:nvPr>
        </p:nvSpPr>
        <p:spPr>
          <a:xfrm>
            <a:off x="677334" y="1930400"/>
            <a:ext cx="7643706" cy="4584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IPC ensures process coordination, data consistency, and efficient CPU use.</a:t>
            </a:r>
            <a:endParaRPr/>
          </a:p>
          <a:p>
            <a:pPr indent="-342900" lvl="0" marL="342900" rtl="0" algn="l">
              <a:spcBef>
                <a:spcPts val="1000"/>
              </a:spcBef>
              <a:spcAft>
                <a:spcPts val="0"/>
              </a:spcAft>
              <a:buSzPts val="1440"/>
              <a:buChar char="►"/>
            </a:pPr>
            <a:r>
              <a:rPr lang="en-US"/>
              <a:t>Synchronization tools evolve from simple locks to advanced lock-free mechanisms like RCU.</a:t>
            </a:r>
            <a:endParaRPr/>
          </a:p>
          <a:p>
            <a:pPr indent="-342900" lvl="0" marL="342900" rtl="0" algn="l">
              <a:spcBef>
                <a:spcPts val="1000"/>
              </a:spcBef>
              <a:spcAft>
                <a:spcPts val="0"/>
              </a:spcAft>
              <a:buSzPts val="1440"/>
              <a:buChar char="►"/>
            </a:pPr>
            <a:r>
              <a:rPr lang="en-US"/>
              <a:t>Proper IPC design prevents race conditions and improves system stability.</a:t>
            </a:r>
            <a:endParaRPr/>
          </a:p>
          <a:p>
            <a:pPr indent="0" lvl="0" marL="0" rtl="0" algn="l">
              <a:spcBef>
                <a:spcPts val="1000"/>
              </a:spcBef>
              <a:spcAft>
                <a:spcPts val="0"/>
              </a:spcAft>
              <a:buSzPts val="1440"/>
              <a:buNone/>
            </a:pPr>
            <a:r>
              <a:rPr b="1" lang="en-US" u="sng"/>
              <a:t>Why IPC is needed? </a:t>
            </a:r>
            <a:endParaRPr/>
          </a:p>
          <a:p>
            <a:pPr indent="-342900" lvl="0" marL="342900" rtl="0" algn="l">
              <a:spcBef>
                <a:spcPts val="1000"/>
              </a:spcBef>
              <a:spcAft>
                <a:spcPts val="0"/>
              </a:spcAft>
              <a:buSzPts val="1440"/>
              <a:buChar char="►"/>
            </a:pPr>
            <a:r>
              <a:rPr lang="en-US"/>
              <a:t>Sharing data. </a:t>
            </a:r>
            <a:endParaRPr/>
          </a:p>
          <a:p>
            <a:pPr indent="-342900" lvl="0" marL="342900" rtl="0" algn="l">
              <a:spcBef>
                <a:spcPts val="1000"/>
              </a:spcBef>
              <a:spcAft>
                <a:spcPts val="0"/>
              </a:spcAft>
              <a:buSzPts val="1440"/>
              <a:buChar char="►"/>
            </a:pPr>
            <a:r>
              <a:rPr lang="en-US"/>
              <a:t>Coordinating activities: </a:t>
            </a:r>
            <a:endParaRPr/>
          </a:p>
          <a:p>
            <a:pPr indent="-342900" lvl="0" marL="342900" rtl="0" algn="l">
              <a:spcBef>
                <a:spcPts val="1000"/>
              </a:spcBef>
              <a:spcAft>
                <a:spcPts val="0"/>
              </a:spcAft>
              <a:buSzPts val="1440"/>
              <a:buChar char="►"/>
            </a:pPr>
            <a:r>
              <a:rPr lang="en-US"/>
              <a:t>Managing resources:</a:t>
            </a:r>
            <a:endParaRPr/>
          </a:p>
          <a:p>
            <a:pPr indent="-342900" lvl="0" marL="342900" rtl="0" algn="l">
              <a:spcBef>
                <a:spcPts val="1000"/>
              </a:spcBef>
              <a:spcAft>
                <a:spcPts val="0"/>
              </a:spcAft>
              <a:buSzPts val="1440"/>
              <a:buChar char="►"/>
            </a:pPr>
            <a:r>
              <a:rPr lang="en-US"/>
              <a:t>Achieving modularity:</a:t>
            </a:r>
            <a:endParaRPr/>
          </a:p>
          <a:p>
            <a:pPr indent="-342900" lvl="0" marL="342900" rtl="0" algn="l">
              <a:spcBef>
                <a:spcPts val="1000"/>
              </a:spcBef>
              <a:spcAft>
                <a:spcPts val="0"/>
              </a:spcAft>
              <a:buSzPts val="1440"/>
              <a:buChar char="►"/>
            </a:pPr>
            <a:r>
              <a:rPr lang="en-US"/>
              <a:t>Flexibility:</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
        <p:nvSpPr>
          <p:cNvPr id="344" name="Google Shape;344;p27"/>
          <p:cNvSpPr txBox="1"/>
          <p:nvPr/>
        </p:nvSpPr>
        <p:spPr>
          <a:xfrm>
            <a:off x="8782837" y="1930400"/>
            <a:ext cx="3803226" cy="3880773"/>
          </a:xfrm>
          <a:prstGeom prst="rect">
            <a:avLst/>
          </a:prstGeom>
          <a:noFill/>
          <a:ln>
            <a:noFill/>
          </a:ln>
        </p:spPr>
        <p:txBody>
          <a:bodyPr anchorCtr="0" anchor="t" bIns="45700" lIns="91425" spcFirstLastPara="1" rIns="91425" wrap="square" tIns="45700">
            <a:normAutofit/>
          </a:bodyPr>
          <a:lstStyle/>
          <a:p>
            <a:pPr indent="-251459" lvl="0" marL="342900" marR="0" rtl="0" algn="l">
              <a:spcBef>
                <a:spcPts val="0"/>
              </a:spcBef>
              <a:spcAft>
                <a:spcPts val="0"/>
              </a:spcAft>
              <a:buClr>
                <a:schemeClr val="accent1"/>
              </a:buClr>
              <a:buSzPts val="1440"/>
              <a:buFont typeface="Noto Sans Symbols"/>
              <a:buNone/>
            </a:pPr>
            <a:r>
              <a:t/>
            </a:r>
            <a:endParaRPr sz="1800">
              <a:solidFill>
                <a:srgbClr val="3F3F3F"/>
              </a:solidFill>
              <a:latin typeface="Trebuchet MS"/>
              <a:ea typeface="Trebuchet MS"/>
              <a:cs typeface="Trebuchet MS"/>
              <a:sym typeface="Trebuchet M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Common IPC Techniques</a:t>
            </a:r>
            <a:endParaRPr/>
          </a:p>
        </p:txBody>
      </p:sp>
      <p:sp>
        <p:nvSpPr>
          <p:cNvPr id="351" name="Google Shape;351;p28"/>
          <p:cNvSpPr txBox="1"/>
          <p:nvPr>
            <p:ph idx="1" type="body"/>
          </p:nvPr>
        </p:nvSpPr>
        <p:spPr>
          <a:xfrm>
            <a:off x="677334" y="2367627"/>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Shared Memory</a:t>
            </a:r>
            <a:endParaRPr/>
          </a:p>
          <a:p>
            <a:pPr indent="-342900" lvl="0" marL="342900" rtl="0" algn="l">
              <a:spcBef>
                <a:spcPts val="1000"/>
              </a:spcBef>
              <a:spcAft>
                <a:spcPts val="0"/>
              </a:spcAft>
              <a:buSzPts val="1440"/>
              <a:buChar char="►"/>
            </a:pPr>
            <a:r>
              <a:rPr lang="en-US"/>
              <a:t>Message Passing(Direct, Indirect)</a:t>
            </a:r>
            <a:endParaRPr/>
          </a:p>
          <a:p>
            <a:pPr indent="-342900" lvl="0" marL="342900" rtl="0" algn="l">
              <a:spcBef>
                <a:spcPts val="1000"/>
              </a:spcBef>
              <a:spcAft>
                <a:spcPts val="0"/>
              </a:spcAft>
              <a:buSzPts val="1440"/>
              <a:buChar char="►"/>
            </a:pPr>
            <a:r>
              <a:rPr lang="en-US"/>
              <a:t>Pipes (Unnamed and Named)</a:t>
            </a:r>
            <a:endParaRPr/>
          </a:p>
          <a:p>
            <a:pPr indent="-342900" lvl="0" marL="342900" rtl="0" algn="l">
              <a:spcBef>
                <a:spcPts val="1000"/>
              </a:spcBef>
              <a:spcAft>
                <a:spcPts val="0"/>
              </a:spcAft>
              <a:buSzPts val="1440"/>
              <a:buChar char="►"/>
            </a:pPr>
            <a:r>
              <a:rPr lang="en-US"/>
              <a:t>Synchronization tools (Semaphores, monitors, etc)</a:t>
            </a:r>
            <a:endParaRPr/>
          </a:p>
          <a:p>
            <a:pPr indent="-342900" lvl="0" marL="342900" rtl="0" algn="l">
              <a:spcBef>
                <a:spcPts val="1000"/>
              </a:spcBef>
              <a:spcAft>
                <a:spcPts val="0"/>
              </a:spcAft>
              <a:buSzPts val="1440"/>
              <a:buChar char="►"/>
            </a:pPr>
            <a:r>
              <a:rPr lang="en-US"/>
              <a:t>Advanced IPC techniques ( Pipes, Sockets, RPC)</a:t>
            </a:r>
            <a:endParaRPr/>
          </a:p>
          <a:p>
            <a:pPr indent="-251459" lvl="0" marL="342900" rtl="0" algn="l">
              <a:spcBef>
                <a:spcPts val="1000"/>
              </a:spcBef>
              <a:spcAft>
                <a:spcPts val="0"/>
              </a:spcAft>
              <a:buSzPts val="1440"/>
              <a:buNone/>
            </a:pPr>
            <a:r>
              <a:t/>
            </a:r>
            <a:endParaRPr/>
          </a:p>
        </p:txBody>
      </p:sp>
      <p:pic>
        <p:nvPicPr>
          <p:cNvPr descr="Inter Process Communication (IPC) in OS (Operating System)" id="352" name="Google Shape;352;p28"/>
          <p:cNvPicPr preferRelativeResize="0"/>
          <p:nvPr/>
        </p:nvPicPr>
        <p:blipFill rotWithShape="1">
          <a:blip r:embed="rId3">
            <a:alphaModFix/>
          </a:blip>
          <a:srcRect b="0" l="0" r="0" t="0"/>
          <a:stretch/>
        </p:blipFill>
        <p:spPr>
          <a:xfrm>
            <a:off x="4252876" y="585537"/>
            <a:ext cx="6404800" cy="388077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Critical Regions/ Section </a:t>
            </a:r>
            <a:endParaRPr/>
          </a:p>
        </p:txBody>
      </p:sp>
      <p:sp>
        <p:nvSpPr>
          <p:cNvPr id="359" name="Google Shape;359;p29"/>
          <p:cNvSpPr txBox="1"/>
          <p:nvPr>
            <p:ph idx="1" type="body"/>
          </p:nvPr>
        </p:nvSpPr>
        <p:spPr>
          <a:xfrm>
            <a:off x="677334" y="2160589"/>
            <a:ext cx="6226386" cy="446881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a:t>
            </a:r>
            <a:r>
              <a:rPr b="1" lang="en-US"/>
              <a:t>critical region</a:t>
            </a:r>
            <a:r>
              <a:rPr lang="en-US"/>
              <a:t> (or section) is a part of the program where a </a:t>
            </a:r>
            <a:r>
              <a:rPr b="1" lang="en-US"/>
              <a:t>shared resource is accessed</a:t>
            </a:r>
            <a:r>
              <a:rPr lang="en-US"/>
              <a:t>.</a:t>
            </a:r>
            <a:endParaRPr/>
          </a:p>
          <a:p>
            <a:pPr indent="-342900" lvl="0" marL="342900" rtl="0" algn="l">
              <a:spcBef>
                <a:spcPts val="1000"/>
              </a:spcBef>
              <a:spcAft>
                <a:spcPts val="0"/>
              </a:spcAft>
              <a:buSzPts val="1440"/>
              <a:buChar char="►"/>
            </a:pPr>
            <a:r>
              <a:rPr lang="en-US"/>
              <a:t>Only </a:t>
            </a:r>
            <a:r>
              <a:rPr b="1" lang="en-US"/>
              <a:t>one process</a:t>
            </a:r>
            <a:r>
              <a:rPr lang="en-US"/>
              <a:t> should execute in its critical region at a time.</a:t>
            </a:r>
            <a:endParaRPr/>
          </a:p>
          <a:p>
            <a:pPr indent="0" lvl="0" marL="0" rtl="0" algn="l">
              <a:spcBef>
                <a:spcPts val="1000"/>
              </a:spcBef>
              <a:spcAft>
                <a:spcPts val="0"/>
              </a:spcAft>
              <a:buSzPts val="1440"/>
              <a:buNone/>
            </a:pPr>
            <a:r>
              <a:rPr b="1" lang="en-US" u="sng"/>
              <a:t>Conditions for Correct Synchronization (Coffman’s Conditions):</a:t>
            </a:r>
            <a:endParaRPr/>
          </a:p>
          <a:p>
            <a:pPr indent="-342900" lvl="0" marL="342900" rtl="0" algn="l">
              <a:spcBef>
                <a:spcPts val="1000"/>
              </a:spcBef>
              <a:spcAft>
                <a:spcPts val="0"/>
              </a:spcAft>
              <a:buSzPts val="1440"/>
              <a:buFont typeface="Trebuchet MS"/>
              <a:buAutoNum type="arabicPeriod"/>
            </a:pPr>
            <a:r>
              <a:rPr b="1" lang="en-US"/>
              <a:t>Mutual Exclusion:</a:t>
            </a:r>
            <a:r>
              <a:rPr lang="en-US"/>
              <a:t> Only one process in the critical section.</a:t>
            </a:r>
            <a:endParaRPr/>
          </a:p>
          <a:p>
            <a:pPr indent="-342900" lvl="0" marL="342900" rtl="0" algn="l">
              <a:spcBef>
                <a:spcPts val="1000"/>
              </a:spcBef>
              <a:spcAft>
                <a:spcPts val="0"/>
              </a:spcAft>
              <a:buSzPts val="1440"/>
              <a:buFont typeface="Trebuchet MS"/>
              <a:buAutoNum type="arabicPeriod"/>
            </a:pPr>
            <a:r>
              <a:rPr b="1" lang="en-US"/>
              <a:t>Progress:</a:t>
            </a:r>
            <a:r>
              <a:rPr lang="en-US"/>
              <a:t> No unnecessary delay for entering.</a:t>
            </a:r>
            <a:endParaRPr/>
          </a:p>
          <a:p>
            <a:pPr indent="-342900" lvl="0" marL="342900" rtl="0" algn="l">
              <a:spcBef>
                <a:spcPts val="1000"/>
              </a:spcBef>
              <a:spcAft>
                <a:spcPts val="0"/>
              </a:spcAft>
              <a:buSzPts val="1440"/>
              <a:buFont typeface="Trebuchet MS"/>
              <a:buAutoNum type="arabicPeriod"/>
            </a:pPr>
            <a:r>
              <a:rPr b="1" lang="en-US"/>
              <a:t>Bounded Waiting:</a:t>
            </a:r>
            <a:r>
              <a:rPr lang="en-US"/>
              <a:t> No process waits indefinitely.</a:t>
            </a:r>
            <a:endParaRPr/>
          </a:p>
          <a:p>
            <a:pPr indent="-342900" lvl="0" marL="342900" rtl="0" algn="l">
              <a:spcBef>
                <a:spcPts val="1000"/>
              </a:spcBef>
              <a:spcAft>
                <a:spcPts val="0"/>
              </a:spcAft>
              <a:buSzPts val="1440"/>
              <a:buFont typeface="Trebuchet MS"/>
              <a:buAutoNum type="arabicPeriod"/>
            </a:pPr>
            <a:r>
              <a:rPr b="1" lang="en-US"/>
              <a:t>No Assumption of Speed:</a:t>
            </a:r>
            <a:r>
              <a:rPr lang="en-US"/>
              <a:t> Works regardless of CPU speed/cores.</a:t>
            </a:r>
            <a:endParaRPr/>
          </a:p>
          <a:p>
            <a:pPr indent="-251459" lvl="0" marL="342900" rtl="0" algn="l">
              <a:spcBef>
                <a:spcPts val="1000"/>
              </a:spcBef>
              <a:spcAft>
                <a:spcPts val="0"/>
              </a:spcAft>
              <a:buSzPts val="1440"/>
              <a:buNone/>
            </a:pPr>
            <a:r>
              <a:t/>
            </a:r>
            <a:endParaRPr/>
          </a:p>
        </p:txBody>
      </p:sp>
      <p:pic>
        <p:nvPicPr>
          <p:cNvPr id="360" name="Google Shape;360;p29"/>
          <p:cNvPicPr preferRelativeResize="0"/>
          <p:nvPr/>
        </p:nvPicPr>
        <p:blipFill rotWithShape="1">
          <a:blip r:embed="rId3">
            <a:alphaModFix/>
          </a:blip>
          <a:srcRect b="0" l="0" r="0" t="0"/>
          <a:stretch/>
        </p:blipFill>
        <p:spPr>
          <a:xfrm>
            <a:off x="7302059" y="1707702"/>
            <a:ext cx="4812566" cy="446881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Mutual Exclusion</a:t>
            </a:r>
            <a:endParaRPr/>
          </a:p>
        </p:txBody>
      </p:sp>
      <p:sp>
        <p:nvSpPr>
          <p:cNvPr id="367" name="Google Shape;367;p3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a:t>
            </a:r>
            <a:r>
              <a:rPr b="1" lang="en-US" u="sng"/>
              <a:t>no two processes can exist in the critical section at any given point of time</a:t>
            </a:r>
            <a:r>
              <a:rPr b="1" lang="en-US"/>
              <a:t>”</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1"/>
          <p:cNvSpPr txBox="1"/>
          <p:nvPr>
            <p:ph type="title"/>
          </p:nvPr>
        </p:nvSpPr>
        <p:spPr>
          <a:xfrm>
            <a:off x="699636"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Race Conditions </a:t>
            </a:r>
            <a:endParaRPr/>
          </a:p>
        </p:txBody>
      </p:sp>
      <p:sp>
        <p:nvSpPr>
          <p:cNvPr id="374" name="Google Shape;374;p31"/>
          <p:cNvSpPr txBox="1"/>
          <p:nvPr>
            <p:ph idx="1" type="body"/>
          </p:nvPr>
        </p:nvSpPr>
        <p:spPr>
          <a:xfrm>
            <a:off x="677334" y="2160589"/>
            <a:ext cx="6363546" cy="437737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A </a:t>
            </a:r>
            <a:r>
              <a:rPr b="1" lang="en-US"/>
              <a:t>race condition</a:t>
            </a:r>
            <a:r>
              <a:rPr lang="en-US"/>
              <a:t> occurs when multiple processes/threads access shared data </a:t>
            </a:r>
            <a:r>
              <a:rPr b="1" lang="en-US"/>
              <a:t>concurrently</a:t>
            </a:r>
            <a:r>
              <a:rPr lang="en-US"/>
              <a:t>, and the </a:t>
            </a:r>
            <a:r>
              <a:rPr b="1" lang="en-US"/>
              <a:t>final result depends on the order of execution (</a:t>
            </a:r>
            <a:r>
              <a:rPr lang="en-US"/>
              <a:t>Unpredictable and inconsistent outcomes</a:t>
            </a:r>
            <a:r>
              <a:rPr b="1" lang="en-US"/>
              <a:t>)</a:t>
            </a:r>
            <a:r>
              <a:rPr lang="en-US"/>
              <a:t>.</a:t>
            </a:r>
            <a:endParaRPr/>
          </a:p>
          <a:p>
            <a:pPr indent="0" lvl="0" marL="0" rtl="0" algn="l">
              <a:spcBef>
                <a:spcPts val="1000"/>
              </a:spcBef>
              <a:spcAft>
                <a:spcPts val="0"/>
              </a:spcAft>
              <a:buSzPts val="1440"/>
              <a:buNone/>
            </a:pPr>
            <a:r>
              <a:rPr b="1" lang="en-US"/>
              <a:t>Cause:</a:t>
            </a:r>
            <a:endParaRPr/>
          </a:p>
          <a:p>
            <a:pPr indent="-342900" lvl="0" marL="342900" rtl="0" algn="l">
              <a:spcBef>
                <a:spcPts val="1000"/>
              </a:spcBef>
              <a:spcAft>
                <a:spcPts val="0"/>
              </a:spcAft>
              <a:buSzPts val="1440"/>
              <a:buChar char="►"/>
            </a:pPr>
            <a:r>
              <a:rPr lang="en-US"/>
              <a:t>Lack of synchronization in accessing shared resources</a:t>
            </a:r>
            <a:endParaRPr/>
          </a:p>
          <a:p>
            <a:pPr indent="-342900" lvl="0" marL="342900" rtl="0" algn="l">
              <a:spcBef>
                <a:spcPts val="1000"/>
              </a:spcBef>
              <a:spcAft>
                <a:spcPts val="0"/>
              </a:spcAft>
              <a:buSzPts val="1440"/>
              <a:buChar char="►"/>
            </a:pPr>
            <a:r>
              <a:rPr lang="en-US"/>
              <a:t>Concurrent access to shared resources.</a:t>
            </a:r>
            <a:endParaRPr/>
          </a:p>
          <a:p>
            <a:pPr indent="-342900" lvl="0" marL="342900" rtl="0" algn="l">
              <a:spcBef>
                <a:spcPts val="1000"/>
              </a:spcBef>
              <a:spcAft>
                <a:spcPts val="0"/>
              </a:spcAft>
              <a:buSzPts val="1440"/>
              <a:buChar char="►"/>
            </a:pPr>
            <a:r>
              <a:rPr lang="en-US"/>
              <a:t>Non atomic operation</a:t>
            </a:r>
            <a:endParaRPr/>
          </a:p>
          <a:p>
            <a:pPr indent="-342900" lvl="0" marL="342900" rtl="0" algn="l">
              <a:spcBef>
                <a:spcPts val="1000"/>
              </a:spcBef>
              <a:spcAft>
                <a:spcPts val="0"/>
              </a:spcAft>
              <a:buSzPts val="1440"/>
              <a:buChar char="►"/>
            </a:pPr>
            <a:r>
              <a:rPr lang="en-US"/>
              <a:t>Improper scheduling</a:t>
            </a:r>
            <a:endParaRPr/>
          </a:p>
          <a:p>
            <a:pPr indent="0" lvl="0" marL="0" rtl="0" algn="l">
              <a:spcBef>
                <a:spcPts val="1000"/>
              </a:spcBef>
              <a:spcAft>
                <a:spcPts val="0"/>
              </a:spcAft>
              <a:buSzPts val="1440"/>
              <a:buNone/>
            </a:pPr>
            <a:r>
              <a:t/>
            </a:r>
            <a:endParaRPr/>
          </a:p>
        </p:txBody>
      </p:sp>
      <p:pic>
        <p:nvPicPr>
          <p:cNvPr id="375" name="Google Shape;375;p31"/>
          <p:cNvPicPr preferRelativeResize="0"/>
          <p:nvPr/>
        </p:nvPicPr>
        <p:blipFill rotWithShape="1">
          <a:blip r:embed="rId3">
            <a:alphaModFix/>
          </a:blip>
          <a:srcRect b="0" l="0" r="0" t="0"/>
          <a:stretch/>
        </p:blipFill>
        <p:spPr>
          <a:xfrm>
            <a:off x="6720840" y="2537460"/>
            <a:ext cx="5471160" cy="379476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Preventing Race Conditions</a:t>
            </a:r>
            <a:endParaRPr/>
          </a:p>
        </p:txBody>
      </p:sp>
      <p:sp>
        <p:nvSpPr>
          <p:cNvPr id="382" name="Google Shape;382;p3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Define </a:t>
            </a:r>
            <a:r>
              <a:rPr b="1" lang="en-US"/>
              <a:t>critical sections</a:t>
            </a:r>
            <a:r>
              <a:rPr lang="en-US"/>
              <a:t> to ensure one process accesses shared data at a time.</a:t>
            </a:r>
            <a:endParaRPr/>
          </a:p>
          <a:p>
            <a:pPr indent="-342900" lvl="0" marL="342900" rtl="0" algn="l">
              <a:spcBef>
                <a:spcPts val="1000"/>
              </a:spcBef>
              <a:spcAft>
                <a:spcPts val="0"/>
              </a:spcAft>
              <a:buSzPts val="1440"/>
              <a:buChar char="►"/>
            </a:pPr>
            <a:r>
              <a:rPr lang="en-US"/>
              <a:t>Implement </a:t>
            </a:r>
            <a:r>
              <a:rPr b="1" lang="en-US"/>
              <a:t>mutual exclusion</a:t>
            </a:r>
            <a:r>
              <a:rPr lang="en-US"/>
              <a:t> mechanisms (locks, semaphores, monitors).(Using synchronization primitives)</a:t>
            </a:r>
            <a:endParaRPr/>
          </a:p>
          <a:p>
            <a:pPr indent="-342900" lvl="0" marL="342900" rtl="0" algn="l">
              <a:spcBef>
                <a:spcPts val="1000"/>
              </a:spcBef>
              <a:spcAft>
                <a:spcPts val="0"/>
              </a:spcAft>
              <a:buSzPts val="1440"/>
              <a:buChar char="►"/>
            </a:pPr>
            <a:r>
              <a:rPr lang="en-US"/>
              <a:t>Follow proper </a:t>
            </a:r>
            <a:r>
              <a:rPr b="1" lang="en-US"/>
              <a:t>synchronization protocols</a:t>
            </a:r>
            <a:r>
              <a:rPr lang="en-US"/>
              <a:t>.</a:t>
            </a:r>
            <a:endParaRPr/>
          </a:p>
          <a:p>
            <a:pPr indent="-342900" lvl="0" marL="342900" rtl="0" algn="l">
              <a:spcBef>
                <a:spcPts val="1000"/>
              </a:spcBef>
              <a:spcAft>
                <a:spcPts val="0"/>
              </a:spcAft>
              <a:buSzPts val="1440"/>
              <a:buChar char="►"/>
            </a:pPr>
            <a:r>
              <a:rPr lang="en-US"/>
              <a:t>Ensure thread safe operations</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Shared Memory and Message passing</a:t>
            </a:r>
            <a:endParaRPr/>
          </a:p>
        </p:txBody>
      </p:sp>
      <p:sp>
        <p:nvSpPr>
          <p:cNvPr id="389" name="Google Shape;389;p33"/>
          <p:cNvSpPr txBox="1"/>
          <p:nvPr>
            <p:ph idx="1" type="body"/>
          </p:nvPr>
        </p:nvSpPr>
        <p:spPr>
          <a:xfrm>
            <a:off x="677334" y="2160589"/>
            <a:ext cx="6500706"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region of memory that is accessible to multiple processes</a:t>
            </a:r>
            <a:endParaRPr/>
          </a:p>
          <a:p>
            <a:pPr indent="-342900" lvl="0" marL="342900" rtl="0" algn="l">
              <a:spcBef>
                <a:spcPts val="1000"/>
              </a:spcBef>
              <a:spcAft>
                <a:spcPts val="0"/>
              </a:spcAft>
              <a:buSzPts val="1440"/>
              <a:buChar char="►"/>
            </a:pPr>
            <a:r>
              <a:rPr lang="en-US"/>
              <a:t>Allows communication by reading and writing data from the shared memory region</a:t>
            </a:r>
            <a:endParaRPr/>
          </a:p>
          <a:p>
            <a:pPr indent="-342900" lvl="0" marL="342900" rtl="0" algn="l">
              <a:spcBef>
                <a:spcPts val="1000"/>
              </a:spcBef>
              <a:spcAft>
                <a:spcPts val="0"/>
              </a:spcAft>
              <a:buSzPts val="1440"/>
              <a:buChar char="►"/>
            </a:pPr>
            <a:r>
              <a:rPr lang="en-US"/>
              <a:t>fast and efficient way for processes to communicate but difficult if not synchronized properly</a:t>
            </a:r>
            <a:endParaRPr/>
          </a:p>
          <a:p>
            <a:pPr indent="-342900" lvl="0" marL="342900" rtl="0" algn="l">
              <a:spcBef>
                <a:spcPts val="1000"/>
              </a:spcBef>
              <a:spcAft>
                <a:spcPts val="0"/>
              </a:spcAft>
              <a:buSzPts val="1440"/>
              <a:buChar char="►"/>
            </a:pPr>
            <a:r>
              <a:rPr b="1" lang="en-US"/>
              <a:t>Types:</a:t>
            </a:r>
            <a:endParaRPr/>
          </a:p>
          <a:p>
            <a:pPr indent="-285750" lvl="1" marL="742950" rtl="0" algn="l">
              <a:spcBef>
                <a:spcPts val="1000"/>
              </a:spcBef>
              <a:spcAft>
                <a:spcPts val="0"/>
              </a:spcAft>
              <a:buSzPts val="1280"/>
              <a:buChar char="►"/>
            </a:pPr>
            <a:r>
              <a:rPr lang="en-US"/>
              <a:t>Anonymous shared memory</a:t>
            </a:r>
            <a:endParaRPr/>
          </a:p>
          <a:p>
            <a:pPr indent="-285750" lvl="1" marL="742950" rtl="0" algn="l">
              <a:spcBef>
                <a:spcPts val="1000"/>
              </a:spcBef>
              <a:spcAft>
                <a:spcPts val="0"/>
              </a:spcAft>
              <a:buSzPts val="1280"/>
              <a:buChar char="►"/>
            </a:pPr>
            <a:r>
              <a:rPr lang="en-US"/>
              <a:t>Mapped shared memory</a:t>
            </a:r>
            <a:endParaRPr/>
          </a:p>
          <a:p>
            <a:pPr indent="-251459" lvl="0" marL="342900" rtl="0" algn="l">
              <a:spcBef>
                <a:spcPts val="1000"/>
              </a:spcBef>
              <a:spcAft>
                <a:spcPts val="0"/>
              </a:spcAft>
              <a:buSzPts val="1440"/>
              <a:buNone/>
            </a:pPr>
            <a:r>
              <a:t/>
            </a:r>
            <a:endParaRPr/>
          </a:p>
        </p:txBody>
      </p:sp>
      <p:pic>
        <p:nvPicPr>
          <p:cNvPr id="390" name="Google Shape;390;p33"/>
          <p:cNvPicPr preferRelativeResize="0"/>
          <p:nvPr/>
        </p:nvPicPr>
        <p:blipFill rotWithShape="1">
          <a:blip r:embed="rId3">
            <a:alphaModFix/>
          </a:blip>
          <a:srcRect b="0" l="0" r="0" t="0"/>
          <a:stretch/>
        </p:blipFill>
        <p:spPr>
          <a:xfrm>
            <a:off x="7462186" y="2126680"/>
            <a:ext cx="3647773" cy="391468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Message Passing</a:t>
            </a:r>
            <a:endParaRPr/>
          </a:p>
        </p:txBody>
      </p:sp>
      <p:sp>
        <p:nvSpPr>
          <p:cNvPr id="397" name="Google Shape;397;p34"/>
          <p:cNvSpPr txBox="1"/>
          <p:nvPr>
            <p:ph idx="1" type="body"/>
          </p:nvPr>
        </p:nvSpPr>
        <p:spPr>
          <a:xfrm>
            <a:off x="677334" y="1840549"/>
            <a:ext cx="5792046" cy="430879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A synchronization and communication method where processes </a:t>
            </a:r>
            <a:r>
              <a:rPr b="1" lang="en-US"/>
              <a:t>exchange messages</a:t>
            </a:r>
            <a:r>
              <a:rPr lang="en-US"/>
              <a:t> instead of sharing memory.</a:t>
            </a:r>
            <a:endParaRPr/>
          </a:p>
          <a:p>
            <a:pPr indent="-342900" lvl="0" marL="342900" rtl="0" algn="l">
              <a:spcBef>
                <a:spcPts val="1000"/>
              </a:spcBef>
              <a:spcAft>
                <a:spcPts val="0"/>
              </a:spcAft>
              <a:buSzPts val="1440"/>
              <a:buChar char="►"/>
            </a:pPr>
            <a:r>
              <a:rPr b="1" lang="en-US"/>
              <a:t>Mechanisms:</a:t>
            </a:r>
            <a:endParaRPr/>
          </a:p>
          <a:p>
            <a:pPr indent="-285750" lvl="1" marL="742950" rtl="0" algn="l">
              <a:spcBef>
                <a:spcPts val="1000"/>
              </a:spcBef>
              <a:spcAft>
                <a:spcPts val="0"/>
              </a:spcAft>
              <a:buSzPts val="1280"/>
              <a:buChar char="►"/>
            </a:pPr>
            <a:r>
              <a:rPr lang="en-US"/>
              <a:t>send(destination, message)</a:t>
            </a:r>
            <a:endParaRPr/>
          </a:p>
          <a:p>
            <a:pPr indent="-285750" lvl="1" marL="742950" rtl="0" algn="l">
              <a:spcBef>
                <a:spcPts val="1000"/>
              </a:spcBef>
              <a:spcAft>
                <a:spcPts val="0"/>
              </a:spcAft>
              <a:buSzPts val="1280"/>
              <a:buChar char="►"/>
            </a:pPr>
            <a:r>
              <a:rPr lang="en-US"/>
              <a:t>receive(source, message)</a:t>
            </a:r>
            <a:endParaRPr/>
          </a:p>
          <a:p>
            <a:pPr indent="0" lvl="0" marL="0" rtl="0" algn="l">
              <a:spcBef>
                <a:spcPts val="1000"/>
              </a:spcBef>
              <a:spcAft>
                <a:spcPts val="0"/>
              </a:spcAft>
              <a:buSzPts val="1440"/>
              <a:buNone/>
            </a:pPr>
            <a:r>
              <a:rPr b="1" lang="en-US" u="sng"/>
              <a:t>Modes</a:t>
            </a:r>
            <a:r>
              <a:rPr b="1" lang="en-US"/>
              <a:t>:</a:t>
            </a:r>
            <a:endParaRPr/>
          </a:p>
          <a:p>
            <a:pPr indent="-285750" lvl="1" marL="742950" rtl="0" algn="l">
              <a:spcBef>
                <a:spcPts val="1000"/>
              </a:spcBef>
              <a:spcAft>
                <a:spcPts val="0"/>
              </a:spcAft>
              <a:buSzPts val="1280"/>
              <a:buChar char="►"/>
            </a:pPr>
            <a:r>
              <a:rPr lang="en-US"/>
              <a:t>Direct / Indirect communication</a:t>
            </a:r>
            <a:endParaRPr/>
          </a:p>
          <a:p>
            <a:pPr indent="-285750" lvl="1" marL="742950" rtl="0" algn="l">
              <a:spcBef>
                <a:spcPts val="1000"/>
              </a:spcBef>
              <a:spcAft>
                <a:spcPts val="0"/>
              </a:spcAft>
              <a:buSzPts val="1280"/>
              <a:buChar char="►"/>
            </a:pPr>
            <a:r>
              <a:rPr lang="en-US"/>
              <a:t>Synchronous / Asynchronous</a:t>
            </a:r>
            <a:endParaRPr/>
          </a:p>
          <a:p>
            <a:pPr indent="0" lvl="0" marL="0" rtl="0" algn="l">
              <a:spcBef>
                <a:spcPts val="1000"/>
              </a:spcBef>
              <a:spcAft>
                <a:spcPts val="0"/>
              </a:spcAft>
              <a:buSzPts val="1440"/>
              <a:buNone/>
            </a:pPr>
            <a:r>
              <a:rPr b="1" lang="en-US"/>
              <a:t>Example:</a:t>
            </a:r>
            <a:endParaRPr/>
          </a:p>
          <a:p>
            <a:pPr indent="-342900" lvl="0" marL="342900" rtl="0" algn="l">
              <a:spcBef>
                <a:spcPts val="1000"/>
              </a:spcBef>
              <a:spcAft>
                <a:spcPts val="0"/>
              </a:spcAft>
              <a:buSzPts val="1440"/>
              <a:buChar char="►"/>
            </a:pPr>
            <a:r>
              <a:rPr lang="en-US"/>
              <a:t>Used in </a:t>
            </a:r>
            <a:r>
              <a:rPr b="1" lang="en-US"/>
              <a:t>client-server</a:t>
            </a:r>
            <a:r>
              <a:rPr lang="en-US"/>
              <a:t>, </a:t>
            </a:r>
            <a:r>
              <a:rPr b="1" lang="en-US"/>
              <a:t>microkernel OS (e.g., Minix)</a:t>
            </a:r>
            <a:r>
              <a:rPr lang="en-US"/>
              <a:t>, and </a:t>
            </a:r>
            <a:r>
              <a:rPr b="1" lang="en-US"/>
              <a:t>distributed systems</a:t>
            </a:r>
            <a:r>
              <a:rPr lang="en-US"/>
              <a:t>.</a:t>
            </a:r>
            <a:endParaRPr/>
          </a:p>
        </p:txBody>
      </p:sp>
      <p:pic>
        <p:nvPicPr>
          <p:cNvPr id="398" name="Google Shape;398;p34"/>
          <p:cNvPicPr preferRelativeResize="0"/>
          <p:nvPr/>
        </p:nvPicPr>
        <p:blipFill rotWithShape="1">
          <a:blip r:embed="rId3">
            <a:alphaModFix/>
          </a:blip>
          <a:srcRect b="0" l="0" r="0" t="0"/>
          <a:stretch/>
        </p:blipFill>
        <p:spPr>
          <a:xfrm>
            <a:off x="6096000" y="1794829"/>
            <a:ext cx="4003727" cy="459013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Other approaches</a:t>
            </a:r>
            <a:endParaRPr/>
          </a:p>
        </p:txBody>
      </p:sp>
      <p:sp>
        <p:nvSpPr>
          <p:cNvPr id="404" name="Google Shape;404;p3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pic>
        <p:nvPicPr>
          <p:cNvPr descr="Unix/Linux IPC Tools, Assignment Help, Homework Help, Operating System" id="405" name="Google Shape;405;p35"/>
          <p:cNvPicPr preferRelativeResize="0"/>
          <p:nvPr/>
        </p:nvPicPr>
        <p:blipFill rotWithShape="1">
          <a:blip r:embed="rId3">
            <a:alphaModFix/>
          </a:blip>
          <a:srcRect b="0" l="0" r="0" t="0"/>
          <a:stretch/>
        </p:blipFill>
        <p:spPr>
          <a:xfrm>
            <a:off x="5862410" y="1582710"/>
            <a:ext cx="3517900" cy="2349500"/>
          </a:xfrm>
          <a:prstGeom prst="rect">
            <a:avLst/>
          </a:prstGeom>
          <a:noFill/>
          <a:ln>
            <a:noFill/>
          </a:ln>
        </p:spPr>
      </p:pic>
      <p:pic>
        <p:nvPicPr>
          <p:cNvPr descr="direct communication different ways to implement ipc" id="406" name="Google Shape;406;p35"/>
          <p:cNvPicPr preferRelativeResize="0"/>
          <p:nvPr/>
        </p:nvPicPr>
        <p:blipFill rotWithShape="1">
          <a:blip r:embed="rId4">
            <a:alphaModFix/>
          </a:blip>
          <a:srcRect b="24199" l="5093" r="4074" t="3000"/>
          <a:stretch/>
        </p:blipFill>
        <p:spPr>
          <a:xfrm>
            <a:off x="6252128" y="4353478"/>
            <a:ext cx="3449131" cy="1815737"/>
          </a:xfrm>
          <a:prstGeom prst="rect">
            <a:avLst/>
          </a:prstGeom>
          <a:noFill/>
          <a:ln>
            <a:noFill/>
          </a:ln>
        </p:spPr>
      </p:pic>
      <p:pic>
        <p:nvPicPr>
          <p:cNvPr descr="Inter Process Communication (IPC) in OS (Operating System)" id="407" name="Google Shape;407;p35"/>
          <p:cNvPicPr preferRelativeResize="0"/>
          <p:nvPr/>
        </p:nvPicPr>
        <p:blipFill rotWithShape="1">
          <a:blip r:embed="rId5">
            <a:alphaModFix/>
          </a:blip>
          <a:srcRect b="0" l="0" r="0" t="0"/>
          <a:stretch/>
        </p:blipFill>
        <p:spPr>
          <a:xfrm>
            <a:off x="0" y="2575359"/>
            <a:ext cx="4711928" cy="1525616"/>
          </a:xfrm>
          <a:prstGeom prst="rect">
            <a:avLst/>
          </a:prstGeom>
          <a:noFill/>
          <a:ln>
            <a:noFill/>
          </a:ln>
        </p:spPr>
      </p:pic>
      <p:pic>
        <p:nvPicPr>
          <p:cNvPr descr="pipes different ways to implement ipc" id="408" name="Google Shape;408;p35"/>
          <p:cNvPicPr preferRelativeResize="0"/>
          <p:nvPr/>
        </p:nvPicPr>
        <p:blipFill rotWithShape="1">
          <a:blip r:embed="rId6">
            <a:alphaModFix/>
          </a:blip>
          <a:srcRect b="37273" l="20278" r="23704" t="11073"/>
          <a:stretch/>
        </p:blipFill>
        <p:spPr>
          <a:xfrm>
            <a:off x="397028" y="4722784"/>
            <a:ext cx="4535162" cy="152561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Synchronization in IPC</a:t>
            </a:r>
            <a:endParaRPr/>
          </a:p>
        </p:txBody>
      </p:sp>
      <p:sp>
        <p:nvSpPr>
          <p:cNvPr id="415" name="Google Shape;415;p3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It is the process of ensuring that multiple processes are coordinated and do not interfere with each other. </a:t>
            </a:r>
            <a:endParaRPr/>
          </a:p>
          <a:p>
            <a:pPr indent="-342900" lvl="0" marL="342900" rtl="0" algn="l">
              <a:spcBef>
                <a:spcPts val="1000"/>
              </a:spcBef>
              <a:spcAft>
                <a:spcPts val="0"/>
              </a:spcAft>
              <a:buSzPts val="1440"/>
              <a:buChar char="►"/>
            </a:pPr>
            <a:r>
              <a:rPr lang="en-US"/>
              <a:t>If they are not synchronized, they can overwrite each other's data or cause other problems.</a:t>
            </a:r>
            <a:endParaRPr/>
          </a:p>
          <a:p>
            <a:pPr indent="0" lvl="0" marL="0" rtl="0" algn="l">
              <a:spcBef>
                <a:spcPts val="1000"/>
              </a:spcBef>
              <a:spcAft>
                <a:spcPts val="0"/>
              </a:spcAft>
              <a:buSzPts val="1680"/>
              <a:buNone/>
            </a:pPr>
            <a:r>
              <a:rPr b="1" lang="en-US" sz="2100"/>
              <a:t>Mechanisms</a:t>
            </a:r>
            <a:endParaRPr/>
          </a:p>
          <a:p>
            <a:pPr indent="-342900" lvl="0" marL="342900" rtl="0" algn="l">
              <a:spcBef>
                <a:spcPts val="1000"/>
              </a:spcBef>
              <a:spcAft>
                <a:spcPts val="0"/>
              </a:spcAft>
              <a:buSzPts val="1440"/>
              <a:buChar char="►"/>
            </a:pPr>
            <a:r>
              <a:rPr lang="en-US"/>
              <a:t>Mutual exclusion: </a:t>
            </a:r>
            <a:endParaRPr/>
          </a:p>
          <a:p>
            <a:pPr indent="-342900" lvl="0" marL="342900" rtl="0" algn="l">
              <a:spcBef>
                <a:spcPts val="1000"/>
              </a:spcBef>
              <a:spcAft>
                <a:spcPts val="0"/>
              </a:spcAft>
              <a:buSzPts val="1440"/>
              <a:buChar char="►"/>
            </a:pPr>
            <a:r>
              <a:rPr lang="en-US"/>
              <a:t>Condition variables: </a:t>
            </a:r>
            <a:endParaRPr/>
          </a:p>
          <a:p>
            <a:pPr indent="-342900" lvl="0" marL="342900" rtl="0" algn="l">
              <a:spcBef>
                <a:spcPts val="1000"/>
              </a:spcBef>
              <a:spcAft>
                <a:spcPts val="0"/>
              </a:spcAft>
              <a:buSzPts val="1440"/>
              <a:buChar char="►"/>
            </a:pPr>
            <a:r>
              <a:rPr lang="en-US"/>
              <a:t>Barriers: </a:t>
            </a:r>
            <a:endParaRPr/>
          </a:p>
          <a:p>
            <a:pPr indent="-342900" lvl="0" marL="342900" rtl="0" algn="l">
              <a:spcBef>
                <a:spcPts val="1000"/>
              </a:spcBef>
              <a:spcAft>
                <a:spcPts val="0"/>
              </a:spcAft>
              <a:buSzPts val="1440"/>
              <a:buChar char="►"/>
            </a:pPr>
            <a:r>
              <a:rPr lang="en-US"/>
              <a:t>Semaphores: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Mutual Exclusion with Busy Waiting</a:t>
            </a:r>
            <a:endParaRPr/>
          </a:p>
        </p:txBody>
      </p:sp>
      <p:sp>
        <p:nvSpPr>
          <p:cNvPr id="422" name="Google Shape;422;p37"/>
          <p:cNvSpPr txBox="1"/>
          <p:nvPr>
            <p:ph idx="1" type="body"/>
          </p:nvPr>
        </p:nvSpPr>
        <p:spPr>
          <a:xfrm>
            <a:off x="677334" y="2160589"/>
            <a:ext cx="6713396" cy="437737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synchronization method where a process </a:t>
            </a:r>
            <a:r>
              <a:rPr b="1" lang="en-US"/>
              <a:t>repeatedly checks</a:t>
            </a:r>
            <a:r>
              <a:rPr lang="en-US"/>
              <a:t> if a condition is true before entering its critical section.</a:t>
            </a:r>
            <a:endParaRPr/>
          </a:p>
          <a:p>
            <a:pPr indent="0" lvl="0" marL="0" rtl="0" algn="l">
              <a:spcBef>
                <a:spcPts val="1000"/>
              </a:spcBef>
              <a:spcAft>
                <a:spcPts val="0"/>
              </a:spcAft>
              <a:buSzPts val="1440"/>
              <a:buNone/>
            </a:pPr>
            <a:r>
              <a:rPr b="1" lang="en-US" u="sng"/>
              <a:t>Techniques:</a:t>
            </a:r>
            <a:endParaRPr/>
          </a:p>
          <a:p>
            <a:pPr indent="-342900" lvl="0" marL="342900" rtl="0" algn="l">
              <a:spcBef>
                <a:spcPts val="1000"/>
              </a:spcBef>
              <a:spcAft>
                <a:spcPts val="0"/>
              </a:spcAft>
              <a:buSzPts val="1440"/>
              <a:buFont typeface="Trebuchet MS"/>
              <a:buAutoNum type="arabicPeriod"/>
            </a:pPr>
            <a:r>
              <a:rPr b="1" lang="en-US"/>
              <a:t>Disabling Interrupts:</a:t>
            </a:r>
            <a:r>
              <a:rPr lang="en-US"/>
              <a:t> Prevents context switching (used in kernel mode).</a:t>
            </a:r>
            <a:endParaRPr/>
          </a:p>
          <a:p>
            <a:pPr indent="-342900" lvl="0" marL="342900" rtl="0" algn="l">
              <a:spcBef>
                <a:spcPts val="1000"/>
              </a:spcBef>
              <a:spcAft>
                <a:spcPts val="0"/>
              </a:spcAft>
              <a:buSzPts val="1440"/>
              <a:buFont typeface="Trebuchet MS"/>
              <a:buAutoNum type="arabicPeriod"/>
            </a:pPr>
            <a:r>
              <a:rPr b="1" lang="en-US"/>
              <a:t>Lock Variables:</a:t>
            </a:r>
            <a:r>
              <a:rPr lang="en-US"/>
              <a:t> Simple flags (inefficient).</a:t>
            </a:r>
            <a:endParaRPr/>
          </a:p>
          <a:p>
            <a:pPr indent="-342900" lvl="0" marL="342900" rtl="0" algn="l">
              <a:spcBef>
                <a:spcPts val="1000"/>
              </a:spcBef>
              <a:spcAft>
                <a:spcPts val="0"/>
              </a:spcAft>
              <a:buSzPts val="1440"/>
              <a:buFont typeface="Trebuchet MS"/>
              <a:buAutoNum type="arabicPeriod"/>
            </a:pPr>
            <a:r>
              <a:rPr b="1" lang="en-US"/>
              <a:t>Test-and-Set Lock (TSL):</a:t>
            </a:r>
            <a:r>
              <a:rPr lang="en-US"/>
              <a:t> Hardware-based atomic instruction.</a:t>
            </a:r>
            <a:endParaRPr/>
          </a:p>
          <a:p>
            <a:pPr indent="-342900" lvl="0" marL="342900" rtl="0" algn="l">
              <a:spcBef>
                <a:spcPts val="1000"/>
              </a:spcBef>
              <a:spcAft>
                <a:spcPts val="0"/>
              </a:spcAft>
              <a:buSzPts val="1440"/>
              <a:buFont typeface="Trebuchet MS"/>
              <a:buAutoNum type="arabicPeriod"/>
            </a:pPr>
            <a:r>
              <a:rPr b="1" lang="en-US"/>
              <a:t>Peterson’s Algorithm:</a:t>
            </a:r>
            <a:r>
              <a:rPr lang="en-US"/>
              <a:t> Software-based solution for two processes.</a:t>
            </a:r>
            <a:endParaRPr/>
          </a:p>
          <a:p>
            <a:pPr indent="-251459" lvl="0" marL="342900" rtl="0" algn="l">
              <a:spcBef>
                <a:spcPts val="1000"/>
              </a:spcBef>
              <a:spcAft>
                <a:spcPts val="0"/>
              </a:spcAft>
              <a:buSzPts val="1440"/>
              <a:buNone/>
            </a:pPr>
            <a:r>
              <a:t/>
            </a:r>
            <a:endParaRPr/>
          </a:p>
        </p:txBody>
      </p:sp>
      <p:pic>
        <p:nvPicPr>
          <p:cNvPr id="423" name="Google Shape;423;p37"/>
          <p:cNvPicPr preferRelativeResize="0"/>
          <p:nvPr/>
        </p:nvPicPr>
        <p:blipFill rotWithShape="1">
          <a:blip r:embed="rId3">
            <a:alphaModFix/>
          </a:blip>
          <a:srcRect b="0" l="0" r="0" t="0"/>
          <a:stretch/>
        </p:blipFill>
        <p:spPr>
          <a:xfrm>
            <a:off x="7390730" y="3114153"/>
            <a:ext cx="4801270" cy="374384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Mutual Exclusion with Busy Waiting</a:t>
            </a:r>
            <a:endParaRPr/>
          </a:p>
        </p:txBody>
      </p:sp>
      <p:sp>
        <p:nvSpPr>
          <p:cNvPr id="429" name="Google Shape;429;p38"/>
          <p:cNvSpPr txBox="1"/>
          <p:nvPr>
            <p:ph idx="1" type="body"/>
          </p:nvPr>
        </p:nvSpPr>
        <p:spPr>
          <a:xfrm>
            <a:off x="677334" y="2160589"/>
            <a:ext cx="8596668" cy="4396965"/>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b="1" lang="en-US" u="sng"/>
              <a:t>Need of Busy Waiting:</a:t>
            </a:r>
            <a:endParaRPr/>
          </a:p>
          <a:p>
            <a:pPr indent="-342900" lvl="0" marL="342900" rtl="0" algn="l">
              <a:spcBef>
                <a:spcPts val="1000"/>
              </a:spcBef>
              <a:spcAft>
                <a:spcPts val="0"/>
              </a:spcAft>
              <a:buSzPts val="1440"/>
              <a:buChar char="►"/>
            </a:pPr>
            <a:r>
              <a:rPr lang="en-US"/>
              <a:t>Busy waiting is required in operating system for achieving mutual exclusion. </a:t>
            </a:r>
            <a:endParaRPr/>
          </a:p>
          <a:p>
            <a:pPr indent="-342900" lvl="0" marL="342900" rtl="0" algn="l">
              <a:spcBef>
                <a:spcPts val="1000"/>
              </a:spcBef>
              <a:spcAft>
                <a:spcPts val="0"/>
              </a:spcAft>
              <a:buSzPts val="1440"/>
              <a:buChar char="►"/>
            </a:pPr>
            <a:r>
              <a:rPr lang="en-US"/>
              <a:t>In the critical section of processes they are granted with exclusive control for accessing it’s resources without any interference from the other available processes in mutual exclusion. </a:t>
            </a:r>
            <a:endParaRPr/>
          </a:p>
          <a:p>
            <a:pPr indent="0" lvl="0" marL="0" rtl="0" algn="l">
              <a:spcBef>
                <a:spcPts val="1000"/>
              </a:spcBef>
              <a:spcAft>
                <a:spcPts val="0"/>
              </a:spcAft>
              <a:buSzPts val="1440"/>
              <a:buNone/>
            </a:pPr>
            <a:r>
              <a:rPr b="1" lang="en-US" u="sng"/>
              <a:t>Limitations of Busy Waiting:</a:t>
            </a:r>
            <a:endParaRPr/>
          </a:p>
          <a:p>
            <a:pPr indent="-342900" lvl="0" marL="342900" rtl="0" algn="l">
              <a:spcBef>
                <a:spcPts val="1000"/>
              </a:spcBef>
              <a:spcAft>
                <a:spcPts val="0"/>
              </a:spcAft>
              <a:buSzPts val="1440"/>
              <a:buChar char="►"/>
            </a:pPr>
            <a:r>
              <a:rPr lang="en-US"/>
              <a:t>Busy waiting keeps CPU busy at all the time until it’s condition gets satisfied. </a:t>
            </a:r>
            <a:endParaRPr/>
          </a:p>
          <a:p>
            <a:pPr indent="-342900" lvl="0" marL="342900" rtl="0" algn="l">
              <a:spcBef>
                <a:spcPts val="1000"/>
              </a:spcBef>
              <a:spcAft>
                <a:spcPts val="0"/>
              </a:spcAft>
              <a:buSzPts val="1440"/>
              <a:buChar char="►"/>
            </a:pPr>
            <a:r>
              <a:rPr lang="en-US"/>
              <a:t>The synchronization mechanism that makes use of busy waiting suffers from the problem of priority inversion. </a:t>
            </a:r>
            <a:endParaRPr/>
          </a:p>
          <a:p>
            <a:pPr indent="-342900" lvl="0" marL="342900" rtl="0" algn="l">
              <a:spcBef>
                <a:spcPts val="1000"/>
              </a:spcBef>
              <a:spcAft>
                <a:spcPts val="0"/>
              </a:spcAft>
              <a:buSzPts val="1440"/>
              <a:buChar char="►"/>
            </a:pPr>
            <a:r>
              <a:rPr lang="en-US"/>
              <a:t>In critical section the low priority processes gets executed. </a:t>
            </a:r>
            <a:endParaRPr/>
          </a:p>
          <a:p>
            <a:pPr indent="-342900" lvl="0" marL="342900" rtl="0" algn="l">
              <a:spcBef>
                <a:spcPts val="1000"/>
              </a:spcBef>
              <a:spcAft>
                <a:spcPts val="0"/>
              </a:spcAft>
              <a:buSzPts val="1440"/>
              <a:buChar char="►"/>
            </a:pPr>
            <a:r>
              <a:rPr lang="en-US"/>
              <a:t>The system remains idle when process is in busy waiting state. </a:t>
            </a:r>
            <a:endParaRPr/>
          </a:p>
          <a:p>
            <a:pPr indent="-342900" lvl="0" marL="342900" rtl="0" algn="l">
              <a:spcBef>
                <a:spcPts val="1000"/>
              </a:spcBef>
              <a:spcAft>
                <a:spcPts val="0"/>
              </a:spcAft>
              <a:buSzPts val="1440"/>
              <a:buChar char="►"/>
            </a:pPr>
            <a:r>
              <a:rPr lang="en-US"/>
              <a:t>Busy waiting consumes more power.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Sleep and Wakeup</a:t>
            </a:r>
            <a:endParaRPr/>
          </a:p>
        </p:txBody>
      </p:sp>
      <p:sp>
        <p:nvSpPr>
          <p:cNvPr id="436" name="Google Shape;436;p39"/>
          <p:cNvSpPr txBox="1"/>
          <p:nvPr>
            <p:ph idx="1" type="body"/>
          </p:nvPr>
        </p:nvSpPr>
        <p:spPr>
          <a:xfrm>
            <a:off x="677334" y="2160589"/>
            <a:ext cx="5197686"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a:t>
            </a:r>
            <a:r>
              <a:rPr b="1" lang="en-US"/>
              <a:t>sleep</a:t>
            </a:r>
            <a:r>
              <a:rPr lang="en-US"/>
              <a:t> system call puts a process to sleep (blocked) until another process issues a </a:t>
            </a:r>
            <a:r>
              <a:rPr b="1" lang="en-US"/>
              <a:t>wakeup</a:t>
            </a:r>
            <a:r>
              <a:rPr lang="en-US"/>
              <a:t> signal.</a:t>
            </a:r>
            <a:endParaRPr/>
          </a:p>
          <a:p>
            <a:pPr indent="-342900" lvl="0" marL="342900" rtl="0" algn="l">
              <a:spcBef>
                <a:spcPts val="1000"/>
              </a:spcBef>
              <a:spcAft>
                <a:spcPts val="0"/>
              </a:spcAft>
              <a:buSzPts val="1440"/>
              <a:buChar char="►"/>
            </a:pPr>
            <a:r>
              <a:rPr b="1" lang="en-US"/>
              <a:t>Example:</a:t>
            </a:r>
            <a:endParaRPr/>
          </a:p>
          <a:p>
            <a:pPr indent="-342900" lvl="0" marL="342900" rtl="0" algn="l">
              <a:spcBef>
                <a:spcPts val="1000"/>
              </a:spcBef>
              <a:spcAft>
                <a:spcPts val="0"/>
              </a:spcAft>
              <a:buSzPts val="1440"/>
              <a:buChar char="►"/>
            </a:pPr>
            <a:r>
              <a:rPr lang="en-US"/>
              <a:t>Used in </a:t>
            </a:r>
            <a:r>
              <a:rPr b="1" lang="en-US"/>
              <a:t>Producer-Consumer Problem</a:t>
            </a:r>
            <a:r>
              <a:rPr lang="en-US"/>
              <a:t> to avoid busy waiting.</a:t>
            </a:r>
            <a:endParaRPr/>
          </a:p>
          <a:p>
            <a:pPr indent="-285750" lvl="1" marL="742950" rtl="0" algn="l">
              <a:spcBef>
                <a:spcPts val="1000"/>
              </a:spcBef>
              <a:spcAft>
                <a:spcPts val="0"/>
              </a:spcAft>
              <a:buSzPts val="1280"/>
              <a:buChar char="►"/>
            </a:pPr>
            <a:r>
              <a:rPr lang="en-US"/>
              <a:t>Producer sleeps if buffer is full.</a:t>
            </a:r>
            <a:endParaRPr/>
          </a:p>
          <a:p>
            <a:pPr indent="-285750" lvl="1" marL="742950" rtl="0" algn="l">
              <a:spcBef>
                <a:spcPts val="1000"/>
              </a:spcBef>
              <a:spcAft>
                <a:spcPts val="0"/>
              </a:spcAft>
              <a:buSzPts val="1280"/>
              <a:buChar char="►"/>
            </a:pPr>
            <a:r>
              <a:rPr lang="en-US"/>
              <a:t>Consumer wakes producer when space is available.</a:t>
            </a:r>
            <a:endParaRPr/>
          </a:p>
          <a:p>
            <a:pPr indent="-342900" lvl="0" marL="342900" rtl="0" algn="l">
              <a:spcBef>
                <a:spcPts val="1000"/>
              </a:spcBef>
              <a:spcAft>
                <a:spcPts val="0"/>
              </a:spcAft>
              <a:buSzPts val="1440"/>
              <a:buChar char="►"/>
            </a:pPr>
            <a:r>
              <a:rPr b="1" lang="en-US"/>
              <a:t>Advantage:</a:t>
            </a:r>
            <a:endParaRPr/>
          </a:p>
          <a:p>
            <a:pPr indent="-342900" lvl="0" marL="342900" rtl="0" algn="l">
              <a:spcBef>
                <a:spcPts val="1000"/>
              </a:spcBef>
              <a:spcAft>
                <a:spcPts val="0"/>
              </a:spcAft>
              <a:buSzPts val="1440"/>
              <a:buChar char="►"/>
            </a:pPr>
            <a:r>
              <a:rPr lang="en-US"/>
              <a:t>Efficient CPU usage (no busy looping).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Producer-consumer Problem</a:t>
            </a:r>
            <a:endParaRPr/>
          </a:p>
        </p:txBody>
      </p:sp>
      <p:sp>
        <p:nvSpPr>
          <p:cNvPr id="442" name="Google Shape;442;p4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Producer is a process which is able to produce data/item.</a:t>
            </a:r>
            <a:endParaRPr/>
          </a:p>
          <a:p>
            <a:pPr indent="-342900" lvl="0" marL="342900" rtl="0" algn="l">
              <a:spcBef>
                <a:spcPts val="1000"/>
              </a:spcBef>
              <a:spcAft>
                <a:spcPts val="0"/>
              </a:spcAft>
              <a:buSzPts val="1440"/>
              <a:buChar char="►"/>
            </a:pPr>
            <a:r>
              <a:rPr lang="en-US"/>
              <a:t>Consumer is a Process that is able to consume the data/item produced by the Producer.</a:t>
            </a:r>
            <a:endParaRPr/>
          </a:p>
          <a:p>
            <a:pPr indent="-342900" lvl="0" marL="342900" rtl="0" algn="l">
              <a:spcBef>
                <a:spcPts val="1000"/>
              </a:spcBef>
              <a:spcAft>
                <a:spcPts val="0"/>
              </a:spcAft>
              <a:buSzPts val="1440"/>
              <a:buChar char="►"/>
            </a:pPr>
            <a:r>
              <a:rPr lang="en-US"/>
              <a:t>Both Producer and Consumer share a common memory buffer.</a:t>
            </a:r>
            <a:endParaRPr/>
          </a:p>
          <a:p>
            <a:pPr indent="0" lvl="0" marL="0" rtl="0" algn="l">
              <a:spcBef>
                <a:spcPts val="1000"/>
              </a:spcBef>
              <a:spcAft>
                <a:spcPts val="0"/>
              </a:spcAft>
              <a:buSzPts val="1440"/>
              <a:buNone/>
            </a:pPr>
            <a:r>
              <a:rPr b="1" lang="en-US" u="sng"/>
              <a:t>Problem arises when </a:t>
            </a:r>
            <a:endParaRPr/>
          </a:p>
          <a:p>
            <a:pPr indent="0" lvl="0" marL="0" rtl="0" algn="l">
              <a:spcBef>
                <a:spcPts val="1000"/>
              </a:spcBef>
              <a:spcAft>
                <a:spcPts val="0"/>
              </a:spcAft>
              <a:buSzPts val="1440"/>
              <a:buNone/>
            </a:pPr>
            <a:r>
              <a:rPr lang="en-US"/>
              <a:t>1. The producer wants to put a new data in the buffer, but buffer is already full. </a:t>
            </a:r>
            <a:endParaRPr/>
          </a:p>
          <a:p>
            <a:pPr indent="0" lvl="0" marL="0" rtl="0" algn="l">
              <a:spcBef>
                <a:spcPts val="1000"/>
              </a:spcBef>
              <a:spcAft>
                <a:spcPts val="0"/>
              </a:spcAft>
              <a:buSzPts val="1440"/>
              <a:buNone/>
            </a:pPr>
            <a:r>
              <a:rPr lang="en-US"/>
              <a:t>	Solution: Producer goes to sleep and to be awakened when the consumer has removed data. </a:t>
            </a:r>
            <a:endParaRPr/>
          </a:p>
          <a:p>
            <a:pPr indent="0" lvl="0" marL="0" rtl="0" algn="l">
              <a:spcBef>
                <a:spcPts val="1000"/>
              </a:spcBef>
              <a:spcAft>
                <a:spcPts val="0"/>
              </a:spcAft>
              <a:buSzPts val="1440"/>
              <a:buNone/>
            </a:pPr>
            <a:r>
              <a:rPr lang="en-US"/>
              <a:t>2. The consumer wants to remove data the buffer but buffer is already empty. </a:t>
            </a:r>
            <a:endParaRPr/>
          </a:p>
          <a:p>
            <a:pPr indent="0" lvl="0" marL="0" rtl="0" algn="l">
              <a:spcBef>
                <a:spcPts val="1000"/>
              </a:spcBef>
              <a:spcAft>
                <a:spcPts val="0"/>
              </a:spcAft>
              <a:buSzPts val="1440"/>
              <a:buNone/>
            </a:pPr>
            <a:r>
              <a:rPr lang="en-US"/>
              <a:t>	Solution: Consumer goes to sleep until the producer puts some data in buffer and wakes consumer up.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Producer consumer problem</a:t>
            </a:r>
            <a:endParaRPr/>
          </a:p>
        </p:txBody>
      </p:sp>
      <p:pic>
        <p:nvPicPr>
          <p:cNvPr id="448" name="Google Shape;448;p41"/>
          <p:cNvPicPr preferRelativeResize="0"/>
          <p:nvPr>
            <p:ph idx="1" type="body"/>
          </p:nvPr>
        </p:nvPicPr>
        <p:blipFill rotWithShape="1">
          <a:blip r:embed="rId3">
            <a:alphaModFix/>
          </a:blip>
          <a:srcRect b="0" l="0" r="0" t="0"/>
          <a:stretch/>
        </p:blipFill>
        <p:spPr>
          <a:xfrm>
            <a:off x="1776549" y="1616889"/>
            <a:ext cx="5678718" cy="497245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Semaphores</a:t>
            </a:r>
            <a:endParaRPr/>
          </a:p>
        </p:txBody>
      </p:sp>
      <p:sp>
        <p:nvSpPr>
          <p:cNvPr id="455" name="Google Shape;455;p42"/>
          <p:cNvSpPr txBox="1"/>
          <p:nvPr>
            <p:ph idx="1" type="body"/>
          </p:nvPr>
        </p:nvSpPr>
        <p:spPr>
          <a:xfrm>
            <a:off x="677333" y="1564641"/>
            <a:ext cx="5891109" cy="4927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sz="2000"/>
              <a:t>A </a:t>
            </a:r>
            <a:r>
              <a:rPr b="1" lang="en-US" sz="2000"/>
              <a:t>semaphore</a:t>
            </a:r>
            <a:r>
              <a:rPr lang="en-US" sz="2000"/>
              <a:t> is a synchronization primitive used to control access to a shared resource.</a:t>
            </a:r>
            <a:endParaRPr/>
          </a:p>
          <a:p>
            <a:pPr indent="-342900" lvl="0" marL="342900" rtl="0" algn="l">
              <a:spcBef>
                <a:spcPts val="1000"/>
              </a:spcBef>
              <a:spcAft>
                <a:spcPts val="0"/>
              </a:spcAft>
              <a:buSzPts val="1600"/>
              <a:buChar char="►"/>
            </a:pPr>
            <a:r>
              <a:rPr lang="en-US" sz="2000"/>
              <a:t>Introduced by </a:t>
            </a:r>
            <a:r>
              <a:rPr b="1" lang="en-US" sz="2000"/>
              <a:t>Edsger Dijkstra</a:t>
            </a:r>
            <a:r>
              <a:rPr lang="en-US" sz="2000"/>
              <a:t>.</a:t>
            </a:r>
            <a:endParaRPr/>
          </a:p>
          <a:p>
            <a:pPr indent="0" lvl="0" marL="0" rtl="0" algn="l">
              <a:spcBef>
                <a:spcPts val="1000"/>
              </a:spcBef>
              <a:spcAft>
                <a:spcPts val="0"/>
              </a:spcAft>
              <a:buSzPts val="1600"/>
              <a:buNone/>
            </a:pPr>
            <a:r>
              <a:rPr b="1" lang="en-US" sz="2000" u="sng"/>
              <a:t>Types:</a:t>
            </a:r>
            <a:endParaRPr/>
          </a:p>
          <a:p>
            <a:pPr indent="-285750" lvl="1" marL="742950" rtl="0" algn="l">
              <a:spcBef>
                <a:spcPts val="1000"/>
              </a:spcBef>
              <a:spcAft>
                <a:spcPts val="0"/>
              </a:spcAft>
              <a:buSzPts val="1440"/>
              <a:buChar char="►"/>
            </a:pPr>
            <a:r>
              <a:rPr b="1" lang="en-US" sz="1800"/>
              <a:t>Binary Semaphore (Mutex):</a:t>
            </a:r>
            <a:r>
              <a:rPr lang="en-US" sz="1800"/>
              <a:t> Value 0 or 1 (mutual exclusion).</a:t>
            </a:r>
            <a:endParaRPr/>
          </a:p>
          <a:p>
            <a:pPr indent="-285750" lvl="1" marL="742950" rtl="0" algn="l">
              <a:spcBef>
                <a:spcPts val="1000"/>
              </a:spcBef>
              <a:spcAft>
                <a:spcPts val="0"/>
              </a:spcAft>
              <a:buSzPts val="1440"/>
              <a:buChar char="►"/>
            </a:pPr>
            <a:r>
              <a:rPr b="1" lang="en-US" sz="1800"/>
              <a:t>Counting Semaphore:</a:t>
            </a:r>
            <a:r>
              <a:rPr lang="en-US" sz="1800"/>
              <a:t> Allows multiple instances of a resource.</a:t>
            </a:r>
            <a:endParaRPr/>
          </a:p>
          <a:p>
            <a:pPr indent="0" lvl="0" marL="0" rtl="0" algn="l">
              <a:spcBef>
                <a:spcPts val="1000"/>
              </a:spcBef>
              <a:spcAft>
                <a:spcPts val="0"/>
              </a:spcAft>
              <a:buSzPts val="1600"/>
              <a:buNone/>
            </a:pPr>
            <a:r>
              <a:rPr b="1" lang="en-US" sz="2000" u="sng"/>
              <a:t>Operations:</a:t>
            </a:r>
            <a:endParaRPr sz="2000" u="sng"/>
          </a:p>
          <a:p>
            <a:pPr indent="-342900" lvl="0" marL="342900" rtl="0" algn="l">
              <a:spcBef>
                <a:spcPts val="1000"/>
              </a:spcBef>
              <a:spcAft>
                <a:spcPts val="0"/>
              </a:spcAft>
              <a:buSzPts val="1600"/>
              <a:buChar char="►"/>
            </a:pPr>
            <a:r>
              <a:rPr lang="en-US" sz="2000"/>
              <a:t>wait(S) or P(S) → Decrement; block if S &lt; 0</a:t>
            </a:r>
            <a:endParaRPr/>
          </a:p>
          <a:p>
            <a:pPr indent="-342900" lvl="0" marL="342900" rtl="0" algn="l">
              <a:spcBef>
                <a:spcPts val="1000"/>
              </a:spcBef>
              <a:spcAft>
                <a:spcPts val="0"/>
              </a:spcAft>
              <a:buSzPts val="1600"/>
              <a:buChar char="►"/>
            </a:pPr>
            <a:r>
              <a:rPr lang="en-US" sz="2000"/>
              <a:t>signal(S) or V(S) → Increment; wake a waiting process</a:t>
            </a:r>
            <a:endParaRPr/>
          </a:p>
        </p:txBody>
      </p:sp>
      <p:grpSp>
        <p:nvGrpSpPr>
          <p:cNvPr id="456" name="Google Shape;456;p42"/>
          <p:cNvGrpSpPr/>
          <p:nvPr/>
        </p:nvGrpSpPr>
        <p:grpSpPr>
          <a:xfrm>
            <a:off x="6568442" y="2336314"/>
            <a:ext cx="6396904" cy="3384254"/>
            <a:chOff x="6568442" y="2336314"/>
            <a:chExt cx="6396904" cy="3384254"/>
          </a:xfrm>
        </p:grpSpPr>
        <p:pic>
          <p:nvPicPr>
            <p:cNvPr id="457" name="Google Shape;457;p42"/>
            <p:cNvPicPr preferRelativeResize="0"/>
            <p:nvPr/>
          </p:nvPicPr>
          <p:blipFill rotWithShape="1">
            <a:blip r:embed="rId3">
              <a:alphaModFix/>
            </a:blip>
            <a:srcRect b="0" l="0" r="0" t="0"/>
            <a:stretch/>
          </p:blipFill>
          <p:spPr>
            <a:xfrm>
              <a:off x="6568442" y="2336314"/>
              <a:ext cx="6396904" cy="3384254"/>
            </a:xfrm>
            <a:prstGeom prst="rect">
              <a:avLst/>
            </a:prstGeom>
            <a:noFill/>
            <a:ln>
              <a:noFill/>
            </a:ln>
          </p:spPr>
        </p:pic>
        <p:sp>
          <p:nvSpPr>
            <p:cNvPr id="458" name="Google Shape;458;p42"/>
            <p:cNvSpPr/>
            <p:nvPr/>
          </p:nvSpPr>
          <p:spPr>
            <a:xfrm>
              <a:off x="9036897" y="3429000"/>
              <a:ext cx="3541776" cy="2075688"/>
            </a:xfrm>
            <a:prstGeom prst="rect">
              <a:avLst/>
            </a:prstGeom>
            <a:solidFill>
              <a:schemeClr val="l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59" name="Google Shape;459;p42"/>
            <p:cNvSpPr/>
            <p:nvPr/>
          </p:nvSpPr>
          <p:spPr>
            <a:xfrm>
              <a:off x="8631936" y="3379216"/>
              <a:ext cx="3541776" cy="479552"/>
            </a:xfrm>
            <a:prstGeom prst="rect">
              <a:avLst/>
            </a:prstGeom>
            <a:solidFill>
              <a:schemeClr val="l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grpSp>
      <p:sp>
        <p:nvSpPr>
          <p:cNvPr id="460" name="Google Shape;460;p42"/>
          <p:cNvSpPr txBox="1"/>
          <p:nvPr/>
        </p:nvSpPr>
        <p:spPr>
          <a:xfrm>
            <a:off x="6031492" y="608302"/>
            <a:ext cx="64850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Semaphores means Signal bearer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descr="binary semaphores" id="465" name="Google Shape;465;p43"/>
          <p:cNvPicPr preferRelativeResize="0"/>
          <p:nvPr/>
        </p:nvPicPr>
        <p:blipFill rotWithShape="1">
          <a:blip r:embed="rId3">
            <a:alphaModFix/>
          </a:blip>
          <a:srcRect b="29818" l="0" r="4860" t="6171"/>
          <a:stretch/>
        </p:blipFill>
        <p:spPr>
          <a:xfrm>
            <a:off x="930442" y="3889129"/>
            <a:ext cx="9642205" cy="2968872"/>
          </a:xfrm>
          <a:prstGeom prst="rect">
            <a:avLst/>
          </a:prstGeom>
          <a:noFill/>
          <a:ln>
            <a:noFill/>
          </a:ln>
        </p:spPr>
      </p:pic>
      <p:sp>
        <p:nvSpPr>
          <p:cNvPr id="466" name="Google Shape;466;p4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Binary Semaphores</a:t>
            </a:r>
            <a:endParaRPr/>
          </a:p>
        </p:txBody>
      </p:sp>
      <p:sp>
        <p:nvSpPr>
          <p:cNvPr id="467" name="Google Shape;467;p43"/>
          <p:cNvSpPr txBox="1"/>
          <p:nvPr>
            <p:ph idx="1" type="body"/>
          </p:nvPr>
        </p:nvSpPr>
        <p:spPr>
          <a:xfrm>
            <a:off x="677333" y="1627190"/>
            <a:ext cx="10391720" cy="29688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In these types of Semaphores, the integer value of the semaphore can only be either 0 or 1. </a:t>
            </a:r>
            <a:endParaRPr/>
          </a:p>
          <a:p>
            <a:pPr indent="-342900" lvl="0" marL="342900" rtl="0" algn="l">
              <a:spcBef>
                <a:spcPts val="1000"/>
              </a:spcBef>
              <a:spcAft>
                <a:spcPts val="0"/>
              </a:spcAft>
              <a:buSzPts val="1440"/>
              <a:buChar char="►"/>
            </a:pPr>
            <a:r>
              <a:rPr lang="en-US"/>
              <a:t>If the value of the Semaphore is 1, it means that the process can proceed to the critical section </a:t>
            </a:r>
            <a:endParaRPr/>
          </a:p>
          <a:p>
            <a:pPr indent="-342900" lvl="0" marL="342900" rtl="0" algn="l">
              <a:spcBef>
                <a:spcPts val="1000"/>
              </a:spcBef>
              <a:spcAft>
                <a:spcPts val="0"/>
              </a:spcAft>
              <a:buSzPts val="1440"/>
              <a:buChar char="►"/>
            </a:pPr>
            <a:r>
              <a:rPr lang="en-US"/>
              <a:t>However, if the value of the binary semaphore is 0, then the process cannot continue to the critical section of the code.</a:t>
            </a:r>
            <a:endParaRPr/>
          </a:p>
          <a:p>
            <a:pPr indent="-342900" lvl="0" marL="342900" rtl="0" algn="l">
              <a:spcBef>
                <a:spcPts val="1000"/>
              </a:spcBef>
              <a:spcAft>
                <a:spcPts val="0"/>
              </a:spcAft>
              <a:buSzPts val="1440"/>
              <a:buChar char="►"/>
            </a:pPr>
            <a:r>
              <a:rPr lang="en-US"/>
              <a:t>When a process is in critical section, Semaphore value = 0, and when a process not in critical section, allow a process to access the critical section, we change the value of semaphore to 1.</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descr="counting semaphores" id="472" name="Google Shape;472;p44"/>
          <p:cNvPicPr preferRelativeResize="0"/>
          <p:nvPr/>
        </p:nvPicPr>
        <p:blipFill rotWithShape="1">
          <a:blip r:embed="rId3">
            <a:alphaModFix/>
          </a:blip>
          <a:srcRect b="25000" l="5740" r="5093" t="4600"/>
          <a:stretch/>
        </p:blipFill>
        <p:spPr>
          <a:xfrm>
            <a:off x="4716379" y="4079523"/>
            <a:ext cx="7135145" cy="2778478"/>
          </a:xfrm>
          <a:prstGeom prst="rect">
            <a:avLst/>
          </a:prstGeom>
          <a:noFill/>
          <a:ln>
            <a:noFill/>
          </a:ln>
        </p:spPr>
      </p:pic>
      <p:sp>
        <p:nvSpPr>
          <p:cNvPr id="473" name="Google Shape;473;p4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Counting Semaphores</a:t>
            </a:r>
            <a:endParaRPr/>
          </a:p>
        </p:txBody>
      </p:sp>
      <p:sp>
        <p:nvSpPr>
          <p:cNvPr id="474" name="Google Shape;474;p44"/>
          <p:cNvSpPr txBox="1"/>
          <p:nvPr>
            <p:ph idx="1" type="body"/>
          </p:nvPr>
        </p:nvSpPr>
        <p:spPr>
          <a:xfrm>
            <a:off x="677334" y="1727452"/>
            <a:ext cx="10800792" cy="320014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These semaphores can take on any integer value. </a:t>
            </a:r>
            <a:endParaRPr/>
          </a:p>
          <a:p>
            <a:pPr indent="-342900" lvl="0" marL="342900" rtl="0" algn="l">
              <a:spcBef>
                <a:spcPts val="1000"/>
              </a:spcBef>
              <a:spcAft>
                <a:spcPts val="0"/>
              </a:spcAft>
              <a:buSzPts val="1440"/>
              <a:buChar char="►"/>
            </a:pPr>
            <a:r>
              <a:rPr lang="en-US"/>
              <a:t>If Semaphore &gt; 0, processes can access the critical section or the shared resources. </a:t>
            </a:r>
            <a:endParaRPr/>
          </a:p>
          <a:p>
            <a:pPr indent="-342900" lvl="0" marL="342900" rtl="0" algn="l">
              <a:spcBef>
                <a:spcPts val="1000"/>
              </a:spcBef>
              <a:spcAft>
                <a:spcPts val="0"/>
              </a:spcAft>
              <a:buSzPts val="1440"/>
              <a:buChar char="►"/>
            </a:pPr>
            <a:r>
              <a:rPr lang="en-US"/>
              <a:t>The number of processes that can access the resources/code is the value of the semaphore. </a:t>
            </a:r>
            <a:endParaRPr/>
          </a:p>
          <a:p>
            <a:pPr indent="-342900" lvl="0" marL="342900" rtl="0" algn="l">
              <a:spcBef>
                <a:spcPts val="1000"/>
              </a:spcBef>
              <a:spcAft>
                <a:spcPts val="0"/>
              </a:spcAft>
              <a:buSzPts val="1440"/>
              <a:buChar char="►"/>
            </a:pPr>
            <a:r>
              <a:rPr lang="en-US"/>
              <a:t>However, if the value is 0, no resources are available or the critical section is already being accessed by a number of processes and cannot be accessed by more processes. </a:t>
            </a:r>
            <a:endParaRPr/>
          </a:p>
          <a:p>
            <a:pPr indent="-342900" lvl="0" marL="342900" rtl="0" algn="l">
              <a:spcBef>
                <a:spcPts val="1000"/>
              </a:spcBef>
              <a:spcAft>
                <a:spcPts val="0"/>
              </a:spcAft>
              <a:buSzPts val="1440"/>
              <a:buChar char="►"/>
            </a:pPr>
            <a:r>
              <a:rPr lang="en-US"/>
              <a:t>Counting semaphores are generally used when the number of instances of a resource is more than 1, and multiple processes can access the resource.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Advantages and disadvantages</a:t>
            </a:r>
            <a:endParaRPr/>
          </a:p>
        </p:txBody>
      </p:sp>
      <p:sp>
        <p:nvSpPr>
          <p:cNvPr id="480" name="Google Shape;480;p45"/>
          <p:cNvSpPr txBox="1"/>
          <p:nvPr>
            <p:ph idx="1" type="body"/>
          </p:nvPr>
        </p:nvSpPr>
        <p:spPr>
          <a:xfrm>
            <a:off x="677334" y="2160589"/>
            <a:ext cx="10006708" cy="440865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b="1" lang="en-US" u="sng"/>
              <a:t>Advantages of Semaphores:</a:t>
            </a:r>
            <a:endParaRPr/>
          </a:p>
          <a:p>
            <a:pPr indent="-342900" lvl="0" marL="342900" rtl="0" algn="l">
              <a:spcBef>
                <a:spcPts val="1000"/>
              </a:spcBef>
              <a:spcAft>
                <a:spcPts val="0"/>
              </a:spcAft>
              <a:buSzPts val="1440"/>
              <a:buChar char="►"/>
            </a:pPr>
            <a:r>
              <a:rPr lang="en-US"/>
              <a:t>Flexibility: Semaphores can be used for various synchronization tasks, beyond simple mutual exclusion.</a:t>
            </a:r>
            <a:endParaRPr/>
          </a:p>
          <a:p>
            <a:pPr indent="-342900" lvl="0" marL="342900" rtl="0" algn="l">
              <a:spcBef>
                <a:spcPts val="1000"/>
              </a:spcBef>
              <a:spcAft>
                <a:spcPts val="0"/>
              </a:spcAft>
              <a:buSzPts val="1440"/>
              <a:buChar char="►"/>
            </a:pPr>
            <a:r>
              <a:rPr lang="en-US"/>
              <a:t>Efficient Resource Management: Counting semaphores can efficiently control access to a fixed number of resources.</a:t>
            </a:r>
            <a:endParaRPr/>
          </a:p>
          <a:p>
            <a:pPr indent="-342900" lvl="0" marL="342900" rtl="0" algn="l">
              <a:spcBef>
                <a:spcPts val="1000"/>
              </a:spcBef>
              <a:spcAft>
                <a:spcPts val="0"/>
              </a:spcAft>
              <a:buSzPts val="1440"/>
              <a:buChar char="►"/>
            </a:pPr>
            <a:r>
              <a:rPr lang="en-US"/>
              <a:t>Scalability: Semaphores can be used in complex systems with multiple threads or processes.</a:t>
            </a:r>
            <a:endParaRPr/>
          </a:p>
          <a:p>
            <a:pPr indent="0" lvl="0" marL="0" rtl="0" algn="l">
              <a:spcBef>
                <a:spcPts val="1000"/>
              </a:spcBef>
              <a:spcAft>
                <a:spcPts val="0"/>
              </a:spcAft>
              <a:buSzPts val="1440"/>
              <a:buNone/>
            </a:pPr>
            <a:r>
              <a:rPr b="1" lang="en-US" u="sng"/>
              <a:t>Disadvantages of Semaphores:</a:t>
            </a:r>
            <a:endParaRPr/>
          </a:p>
          <a:p>
            <a:pPr indent="-342900" lvl="0" marL="342900" rtl="0" algn="l">
              <a:spcBef>
                <a:spcPts val="1000"/>
              </a:spcBef>
              <a:spcAft>
                <a:spcPts val="0"/>
              </a:spcAft>
              <a:buSzPts val="1440"/>
              <a:buChar char="►"/>
            </a:pPr>
            <a:r>
              <a:rPr lang="en-US"/>
              <a:t>Complexity: Semaphores can be more complex to use than locks, especially when dealing with multiple semaphores and complex synchronization patterns.</a:t>
            </a:r>
            <a:endParaRPr/>
          </a:p>
          <a:p>
            <a:pPr indent="-342900" lvl="0" marL="342900" rtl="0" algn="l">
              <a:spcBef>
                <a:spcPts val="1000"/>
              </a:spcBef>
              <a:spcAft>
                <a:spcPts val="0"/>
              </a:spcAft>
              <a:buSzPts val="1440"/>
              <a:buChar char="►"/>
            </a:pPr>
            <a:r>
              <a:rPr lang="en-US"/>
              <a:t>Deadlocks: Improper use of semaphores can lead to deadlocks, where two or more threads are waiting for each other to release resources.</a:t>
            </a:r>
            <a:endParaRPr/>
          </a:p>
          <a:p>
            <a:pPr indent="-342900" lvl="0" marL="342900" rtl="0" algn="l">
              <a:spcBef>
                <a:spcPts val="1000"/>
              </a:spcBef>
              <a:spcAft>
                <a:spcPts val="0"/>
              </a:spcAft>
              <a:buSzPts val="1440"/>
              <a:buChar char="►"/>
            </a:pPr>
            <a:r>
              <a:rPr lang="en-US"/>
              <a:t>Starvation: It's possible for a thread to be indefinitely delayed if other threads continuously acquire the semaphore.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Mutexes</a:t>
            </a:r>
            <a:endParaRPr/>
          </a:p>
        </p:txBody>
      </p:sp>
      <p:sp>
        <p:nvSpPr>
          <p:cNvPr id="487" name="Google Shape;487;p46"/>
          <p:cNvSpPr txBox="1"/>
          <p:nvPr>
            <p:ph idx="1" type="body"/>
          </p:nvPr>
        </p:nvSpPr>
        <p:spPr>
          <a:xfrm>
            <a:off x="677334" y="2160589"/>
            <a:ext cx="1005483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a:t>
            </a:r>
            <a:r>
              <a:rPr b="1" lang="en-US"/>
              <a:t>mutex (mutual exclusion lock)</a:t>
            </a:r>
            <a:r>
              <a:rPr lang="en-US"/>
              <a:t> is a binary lock mechanism.</a:t>
            </a:r>
            <a:endParaRPr/>
          </a:p>
          <a:p>
            <a:pPr indent="-342900" lvl="0" marL="342900" rtl="0" algn="l">
              <a:spcBef>
                <a:spcPts val="1000"/>
              </a:spcBef>
              <a:spcAft>
                <a:spcPts val="0"/>
              </a:spcAft>
              <a:buSzPts val="1440"/>
              <a:buChar char="►"/>
            </a:pPr>
            <a:r>
              <a:rPr lang="en-US"/>
              <a:t>Only the </a:t>
            </a:r>
            <a:r>
              <a:rPr b="1" lang="en-US"/>
              <a:t>owner thread</a:t>
            </a:r>
            <a:r>
              <a:rPr lang="en-US"/>
              <a:t> can release it.</a:t>
            </a:r>
            <a:endParaRPr/>
          </a:p>
          <a:p>
            <a:pPr indent="-342900" lvl="0" marL="342900" rtl="0" algn="l">
              <a:spcBef>
                <a:spcPts val="1000"/>
              </a:spcBef>
              <a:spcAft>
                <a:spcPts val="0"/>
              </a:spcAft>
              <a:buSzPts val="1440"/>
              <a:buChar char="►"/>
            </a:pPr>
            <a:r>
              <a:rPr lang="en-US"/>
              <a:t>Think of a mutex as a lock on a door:</a:t>
            </a:r>
            <a:endParaRPr/>
          </a:p>
          <a:p>
            <a:pPr indent="-285750" lvl="1" marL="742950" rtl="0" algn="l">
              <a:spcBef>
                <a:spcPts val="1000"/>
              </a:spcBef>
              <a:spcAft>
                <a:spcPts val="0"/>
              </a:spcAft>
              <a:buSzPts val="1280"/>
              <a:buChar char="►"/>
            </a:pPr>
            <a:r>
              <a:rPr lang="en-US"/>
              <a:t>When one thread enters (locks it), others must wait outside.</a:t>
            </a:r>
            <a:endParaRPr/>
          </a:p>
          <a:p>
            <a:pPr indent="-285750" lvl="1" marL="742950" rtl="0" algn="l">
              <a:spcBef>
                <a:spcPts val="1000"/>
              </a:spcBef>
              <a:spcAft>
                <a:spcPts val="0"/>
              </a:spcAft>
              <a:buSzPts val="1280"/>
              <a:buChar char="►"/>
            </a:pPr>
            <a:r>
              <a:rPr lang="en-US"/>
              <a:t>When it finishes and unlocks, another thread can enter.</a:t>
            </a:r>
            <a:endParaRPr/>
          </a:p>
          <a:p>
            <a:pPr indent="0" lvl="0" marL="0" rtl="0" algn="l">
              <a:spcBef>
                <a:spcPts val="1000"/>
              </a:spcBef>
              <a:spcAft>
                <a:spcPts val="0"/>
              </a:spcAft>
              <a:buSzPts val="1440"/>
              <a:buNone/>
            </a:pPr>
            <a:r>
              <a:rPr lang="en-US"/>
              <a:t>Imagine a printer shared by multiple users:</a:t>
            </a:r>
            <a:endParaRPr/>
          </a:p>
          <a:p>
            <a:pPr indent="-285750" lvl="1" marL="742950" rtl="0" algn="l">
              <a:spcBef>
                <a:spcPts val="1000"/>
              </a:spcBef>
              <a:spcAft>
                <a:spcPts val="0"/>
              </a:spcAft>
              <a:buSzPts val="1280"/>
              <a:buChar char="►"/>
            </a:pPr>
            <a:r>
              <a:rPr lang="en-US"/>
              <a:t>Only one user can print at a time.</a:t>
            </a:r>
            <a:endParaRPr/>
          </a:p>
          <a:p>
            <a:pPr indent="-285750" lvl="1" marL="742950" rtl="0" algn="l">
              <a:spcBef>
                <a:spcPts val="1000"/>
              </a:spcBef>
              <a:spcAft>
                <a:spcPts val="0"/>
              </a:spcAft>
              <a:buSzPts val="1280"/>
              <a:buChar char="►"/>
            </a:pPr>
            <a:r>
              <a:rPr lang="en-US"/>
              <a:t>Before printing, a user must acquire the mutex (lock).</a:t>
            </a:r>
            <a:endParaRPr/>
          </a:p>
          <a:p>
            <a:pPr indent="-285750" lvl="1" marL="742950" rtl="0" algn="l">
              <a:spcBef>
                <a:spcPts val="1000"/>
              </a:spcBef>
              <a:spcAft>
                <a:spcPts val="0"/>
              </a:spcAft>
              <a:buSzPts val="1280"/>
              <a:buChar char="►"/>
            </a:pPr>
            <a:r>
              <a:rPr lang="en-US"/>
              <a:t>After printing, the user releases the mutex (unlock) so others can print.</a:t>
            </a:r>
            <a:endParaRPr/>
          </a:p>
        </p:txBody>
      </p:sp>
      <p:sp>
        <p:nvSpPr>
          <p:cNvPr id="488" name="Google Shape;488;p46"/>
          <p:cNvSpPr txBox="1"/>
          <p:nvPr/>
        </p:nvSpPr>
        <p:spPr>
          <a:xfrm>
            <a:off x="7387389" y="3223812"/>
            <a:ext cx="443564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Purpose of Mutex:</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 To enforce mutual exclusion.</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 To prevent race conditions in concurrent systems.</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 To safely share data among threads or processes.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How Mutex works ?</a:t>
            </a:r>
            <a:endParaRPr/>
          </a:p>
        </p:txBody>
      </p:sp>
      <p:sp>
        <p:nvSpPr>
          <p:cNvPr id="494" name="Google Shape;494;p47"/>
          <p:cNvSpPr txBox="1"/>
          <p:nvPr>
            <p:ph idx="1" type="body"/>
          </p:nvPr>
        </p:nvSpPr>
        <p:spPr>
          <a:xfrm>
            <a:off x="677334" y="1602863"/>
            <a:ext cx="10704540"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AutoNum type="arabicPeriod"/>
            </a:pPr>
            <a:r>
              <a:rPr lang="en-US" sz="2000"/>
              <a:t>Lock (Acquire):</a:t>
            </a:r>
            <a:endParaRPr/>
          </a:p>
          <a:p>
            <a:pPr indent="-285750" lvl="1" marL="742950" rtl="0" algn="l">
              <a:spcBef>
                <a:spcPts val="1000"/>
              </a:spcBef>
              <a:spcAft>
                <a:spcPts val="0"/>
              </a:spcAft>
              <a:buSzPts val="1440"/>
              <a:buAutoNum type="arabicPeriod"/>
            </a:pPr>
            <a:r>
              <a:rPr lang="en-US" sz="1800"/>
              <a:t>A thread requests ownership of a mutex before entering its critical section.</a:t>
            </a:r>
            <a:endParaRPr/>
          </a:p>
          <a:p>
            <a:pPr indent="-285750" lvl="1" marL="742950" rtl="0" algn="l">
              <a:spcBef>
                <a:spcPts val="1000"/>
              </a:spcBef>
              <a:spcAft>
                <a:spcPts val="0"/>
              </a:spcAft>
              <a:buSzPts val="1440"/>
              <a:buAutoNum type="arabicPeriod"/>
            </a:pPr>
            <a:r>
              <a:rPr lang="en-US" sz="1800"/>
              <a:t>If the mutex is free, it is locked and the thread proceeds.</a:t>
            </a:r>
            <a:endParaRPr/>
          </a:p>
          <a:p>
            <a:pPr indent="-285750" lvl="1" marL="742950" rtl="0" algn="l">
              <a:spcBef>
                <a:spcPts val="1000"/>
              </a:spcBef>
              <a:spcAft>
                <a:spcPts val="0"/>
              </a:spcAft>
              <a:buSzPts val="1440"/>
              <a:buAutoNum type="arabicPeriod"/>
            </a:pPr>
            <a:r>
              <a:rPr lang="en-US" sz="1800"/>
              <a:t>If it is locked, the thread waits until it becomes free.</a:t>
            </a:r>
            <a:endParaRPr/>
          </a:p>
          <a:p>
            <a:pPr indent="-342900" lvl="0" marL="342900" rtl="0" algn="l">
              <a:spcBef>
                <a:spcPts val="1000"/>
              </a:spcBef>
              <a:spcAft>
                <a:spcPts val="0"/>
              </a:spcAft>
              <a:buSzPts val="1600"/>
              <a:buAutoNum type="arabicPeriod"/>
            </a:pPr>
            <a:r>
              <a:rPr lang="en-US" sz="2000"/>
              <a:t>Critical Section:</a:t>
            </a:r>
            <a:endParaRPr/>
          </a:p>
          <a:p>
            <a:pPr indent="-285750" lvl="1" marL="742950" rtl="0" algn="l">
              <a:spcBef>
                <a:spcPts val="1000"/>
              </a:spcBef>
              <a:spcAft>
                <a:spcPts val="0"/>
              </a:spcAft>
              <a:buSzPts val="1440"/>
              <a:buAutoNum type="arabicPeriod"/>
            </a:pPr>
            <a:r>
              <a:rPr lang="en-US" sz="1800"/>
              <a:t>The thread performs operations on shared data.</a:t>
            </a:r>
            <a:endParaRPr/>
          </a:p>
          <a:p>
            <a:pPr indent="-342900" lvl="0" marL="342900" rtl="0" algn="l">
              <a:spcBef>
                <a:spcPts val="1000"/>
              </a:spcBef>
              <a:spcAft>
                <a:spcPts val="0"/>
              </a:spcAft>
              <a:buSzPts val="1600"/>
              <a:buAutoNum type="arabicPeriod"/>
            </a:pPr>
            <a:r>
              <a:rPr lang="en-US" sz="2000"/>
              <a:t>Unlock (Release):</a:t>
            </a:r>
            <a:endParaRPr/>
          </a:p>
          <a:p>
            <a:pPr indent="-285750" lvl="1" marL="742950" rtl="0" algn="l">
              <a:spcBef>
                <a:spcPts val="1000"/>
              </a:spcBef>
              <a:spcAft>
                <a:spcPts val="0"/>
              </a:spcAft>
              <a:buSzPts val="1440"/>
              <a:buAutoNum type="arabicPeriod"/>
            </a:pPr>
            <a:r>
              <a:rPr lang="en-US" sz="1800"/>
              <a:t>After finishing, the thread unlocks the mutex so that another thread can access the resource.</a:t>
            </a:r>
            <a:endParaRPr/>
          </a:p>
        </p:txBody>
      </p:sp>
      <p:sp>
        <p:nvSpPr>
          <p:cNvPr id="495" name="Google Shape;495;p47"/>
          <p:cNvSpPr txBox="1"/>
          <p:nvPr/>
        </p:nvSpPr>
        <p:spPr>
          <a:xfrm>
            <a:off x="9060223" y="1006427"/>
            <a:ext cx="4090737"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mutex m;</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void process() {</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lock(m);   </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 critical section</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shared_data++;</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unlock(m);</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Monitors</a:t>
            </a:r>
            <a:endParaRPr/>
          </a:p>
        </p:txBody>
      </p:sp>
      <p:sp>
        <p:nvSpPr>
          <p:cNvPr id="502" name="Google Shape;502;p48"/>
          <p:cNvSpPr txBox="1"/>
          <p:nvPr>
            <p:ph idx="1" type="body"/>
          </p:nvPr>
        </p:nvSpPr>
        <p:spPr>
          <a:xfrm>
            <a:off x="677333" y="2160589"/>
            <a:ext cx="9742013" cy="448084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80000"/>
              <a:buChar char="►"/>
            </a:pPr>
            <a:r>
              <a:rPr lang="en-US" sz="2400"/>
              <a:t>A monitor is a high-level synchronization construct combining shared variables, procedures, and condition variables.</a:t>
            </a:r>
            <a:endParaRPr/>
          </a:p>
          <a:p>
            <a:pPr indent="-342900" lvl="0" marL="342900" rtl="0" algn="l">
              <a:spcBef>
                <a:spcPts val="1000"/>
              </a:spcBef>
              <a:spcAft>
                <a:spcPts val="0"/>
              </a:spcAft>
              <a:buSzPct val="80000"/>
              <a:buChar char="►"/>
            </a:pPr>
            <a:r>
              <a:rPr lang="en-US" sz="2400"/>
              <a:t>It combines mutual exclusion (like a mutex) and condition synchronization (like semaphores) into a single, easy-to-use abstraction</a:t>
            </a:r>
            <a:endParaRPr/>
          </a:p>
          <a:p>
            <a:pPr indent="-342900" lvl="0" marL="342900" rtl="0" algn="l">
              <a:spcBef>
                <a:spcPts val="1000"/>
              </a:spcBef>
              <a:spcAft>
                <a:spcPts val="0"/>
              </a:spcAft>
              <a:buSzPct val="80000"/>
              <a:buChar char="►"/>
            </a:pPr>
            <a:r>
              <a:rPr lang="en-US" sz="2400"/>
              <a:t>It provides a safe and structured way for threads or processes to access shared resources without interference.</a:t>
            </a:r>
            <a:endParaRPr/>
          </a:p>
          <a:p>
            <a:pPr indent="-342900" lvl="0" marL="342900" rtl="0" algn="l">
              <a:spcBef>
                <a:spcPts val="1000"/>
              </a:spcBef>
              <a:spcAft>
                <a:spcPts val="0"/>
              </a:spcAft>
              <a:buSzPct val="80000"/>
              <a:buChar char="►"/>
            </a:pPr>
            <a:r>
              <a:rPr lang="en-US" sz="2400"/>
              <a:t>Understand it as:</a:t>
            </a:r>
            <a:endParaRPr/>
          </a:p>
          <a:p>
            <a:pPr indent="-285750" lvl="1" marL="742950" rtl="0" algn="l">
              <a:spcBef>
                <a:spcPts val="1000"/>
              </a:spcBef>
              <a:spcAft>
                <a:spcPts val="0"/>
              </a:spcAft>
              <a:buSzPct val="80000"/>
              <a:buChar char="►"/>
            </a:pPr>
            <a:r>
              <a:rPr lang="en-US" sz="2000"/>
              <a:t>A monitor is like a controlled room that only one process/thread can enter at a time.</a:t>
            </a:r>
            <a:endParaRPr/>
          </a:p>
          <a:p>
            <a:pPr indent="-285750" lvl="1" marL="742950" rtl="0" algn="l">
              <a:spcBef>
                <a:spcPts val="1000"/>
              </a:spcBef>
              <a:spcAft>
                <a:spcPts val="0"/>
              </a:spcAft>
              <a:buSzPct val="80000"/>
              <a:buChar char="►"/>
            </a:pPr>
            <a:r>
              <a:rPr lang="en-US" sz="2000"/>
              <a:t>It automatically handles locking and unlocking when entering and leaving the monitor.</a:t>
            </a:r>
            <a:endParaRPr/>
          </a:p>
          <a:p>
            <a:pPr indent="-285750" lvl="1" marL="742950" rtl="0" algn="l">
              <a:spcBef>
                <a:spcPts val="1000"/>
              </a:spcBef>
              <a:spcAft>
                <a:spcPts val="0"/>
              </a:spcAft>
              <a:buSzPct val="80000"/>
              <a:buChar char="►"/>
            </a:pPr>
            <a:r>
              <a:rPr lang="en-US" sz="2000"/>
              <a:t>It uses condition variables to allow waiting and signaling between threads.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Structure of monitor</a:t>
            </a:r>
            <a:endParaRPr/>
          </a:p>
        </p:txBody>
      </p:sp>
      <p:sp>
        <p:nvSpPr>
          <p:cNvPr id="508" name="Google Shape;508;p49"/>
          <p:cNvSpPr txBox="1"/>
          <p:nvPr>
            <p:ph idx="1" type="body"/>
          </p:nvPr>
        </p:nvSpPr>
        <p:spPr>
          <a:xfrm>
            <a:off x="677334" y="2160589"/>
            <a:ext cx="8596668" cy="436052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Shared Variables → the data or resource to be protected.</a:t>
            </a:r>
            <a:endParaRPr/>
          </a:p>
          <a:p>
            <a:pPr indent="-342900" lvl="0" marL="342900" rtl="0" algn="l">
              <a:spcBef>
                <a:spcPts val="1000"/>
              </a:spcBef>
              <a:spcAft>
                <a:spcPts val="0"/>
              </a:spcAft>
              <a:buSzPts val="1440"/>
              <a:buChar char="►"/>
            </a:pPr>
            <a:r>
              <a:rPr lang="en-US"/>
              <a:t>Procedures / Methods → the only way to access shared variables.</a:t>
            </a:r>
            <a:endParaRPr/>
          </a:p>
          <a:p>
            <a:pPr indent="-342900" lvl="0" marL="342900" rtl="0" algn="l">
              <a:spcBef>
                <a:spcPts val="1000"/>
              </a:spcBef>
              <a:spcAft>
                <a:spcPts val="0"/>
              </a:spcAft>
              <a:buSzPts val="1440"/>
              <a:buChar char="►"/>
            </a:pPr>
            <a:r>
              <a:rPr lang="en-US"/>
              <a:t>Condition Variables → used for waiting and signaling.</a:t>
            </a:r>
            <a:endParaRPr/>
          </a:p>
          <a:p>
            <a:pPr indent="0" lvl="0" marL="0" rtl="0" algn="l">
              <a:spcBef>
                <a:spcPts val="1000"/>
              </a:spcBef>
              <a:spcAft>
                <a:spcPts val="0"/>
              </a:spcAft>
              <a:buSzPts val="1440"/>
              <a:buNone/>
            </a:pPr>
            <a:r>
              <a:rPr b="1" lang="en-US" u="sng"/>
              <a:t>How it works? </a:t>
            </a:r>
            <a:endParaRPr/>
          </a:p>
          <a:p>
            <a:pPr indent="-342900" lvl="0" marL="342900" rtl="0" algn="l">
              <a:spcBef>
                <a:spcPts val="1000"/>
              </a:spcBef>
              <a:spcAft>
                <a:spcPts val="0"/>
              </a:spcAft>
              <a:buSzPts val="1440"/>
              <a:buChar char="►"/>
            </a:pPr>
            <a:r>
              <a:rPr lang="en-US"/>
              <a:t>When a process calls a monitor procedure:</a:t>
            </a:r>
            <a:endParaRPr/>
          </a:p>
          <a:p>
            <a:pPr indent="-285750" lvl="1" marL="742950" rtl="0" algn="l">
              <a:spcBef>
                <a:spcPts val="1000"/>
              </a:spcBef>
              <a:spcAft>
                <a:spcPts val="0"/>
              </a:spcAft>
              <a:buSzPts val="1280"/>
              <a:buChar char="►"/>
            </a:pPr>
            <a:r>
              <a:rPr lang="en-US"/>
              <a:t>It automatically acquires a lock to ensure mutual exclusion.</a:t>
            </a:r>
            <a:endParaRPr/>
          </a:p>
          <a:p>
            <a:pPr indent="-342900" lvl="0" marL="342900" rtl="0" algn="l">
              <a:spcBef>
                <a:spcPts val="1000"/>
              </a:spcBef>
              <a:spcAft>
                <a:spcPts val="0"/>
              </a:spcAft>
              <a:buSzPts val="1440"/>
              <a:buChar char="►"/>
            </a:pPr>
            <a:r>
              <a:rPr lang="en-US"/>
              <a:t>If the process must wait (because a condition isn’t met):</a:t>
            </a:r>
            <a:endParaRPr/>
          </a:p>
          <a:p>
            <a:pPr indent="-285750" lvl="1" marL="742950" rtl="0" algn="l">
              <a:spcBef>
                <a:spcPts val="1000"/>
              </a:spcBef>
              <a:spcAft>
                <a:spcPts val="0"/>
              </a:spcAft>
              <a:buSzPts val="1280"/>
              <a:buChar char="►"/>
            </a:pPr>
            <a:r>
              <a:rPr lang="en-US"/>
              <a:t>It waits on a condition variable.</a:t>
            </a:r>
            <a:endParaRPr/>
          </a:p>
          <a:p>
            <a:pPr indent="-342900" lvl="0" marL="342900" rtl="0" algn="l">
              <a:spcBef>
                <a:spcPts val="1000"/>
              </a:spcBef>
              <a:spcAft>
                <a:spcPts val="0"/>
              </a:spcAft>
              <a:buSzPts val="1440"/>
              <a:buChar char="►"/>
            </a:pPr>
            <a:r>
              <a:rPr lang="en-US"/>
              <a:t>Another process can signal that condition to wake up the waiting process.</a:t>
            </a:r>
            <a:endParaRPr/>
          </a:p>
          <a:p>
            <a:pPr indent="-342900" lvl="0" marL="342900" rtl="0" algn="l">
              <a:spcBef>
                <a:spcPts val="1000"/>
              </a:spcBef>
              <a:spcAft>
                <a:spcPts val="0"/>
              </a:spcAft>
              <a:buSzPts val="1440"/>
              <a:buChar char="►"/>
            </a:pPr>
            <a:r>
              <a:rPr lang="en-US"/>
              <a:t>When the procedure finishes:</a:t>
            </a:r>
            <a:endParaRPr/>
          </a:p>
          <a:p>
            <a:pPr indent="-285750" lvl="1" marL="742950" rtl="0" algn="l">
              <a:spcBef>
                <a:spcPts val="1000"/>
              </a:spcBef>
              <a:spcAft>
                <a:spcPts val="0"/>
              </a:spcAft>
              <a:buSzPts val="1280"/>
              <a:buChar char="►"/>
            </a:pPr>
            <a:r>
              <a:rPr lang="en-US"/>
              <a:t>The monitor automatically releases the lock.</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Conceptual example</a:t>
            </a:r>
            <a:endParaRPr/>
          </a:p>
        </p:txBody>
      </p:sp>
      <p:sp>
        <p:nvSpPr>
          <p:cNvPr id="514" name="Google Shape;514;p50"/>
          <p:cNvSpPr txBox="1"/>
          <p:nvPr>
            <p:ph idx="1" type="body"/>
          </p:nvPr>
        </p:nvSpPr>
        <p:spPr>
          <a:xfrm>
            <a:off x="7050505" y="1270000"/>
            <a:ext cx="5334000" cy="526983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u="sng"/>
              <a:t>Advantages of Monitors:</a:t>
            </a:r>
            <a:endParaRPr/>
          </a:p>
          <a:p>
            <a:pPr indent="-342900" lvl="0" marL="342900" rtl="0" algn="l">
              <a:spcBef>
                <a:spcPts val="1000"/>
              </a:spcBef>
              <a:spcAft>
                <a:spcPts val="0"/>
              </a:spcAft>
              <a:buSzPts val="1440"/>
              <a:buChar char="►"/>
            </a:pPr>
            <a:r>
              <a:rPr lang="en-US"/>
              <a:t>Easier to use and understand than semaphores.</a:t>
            </a:r>
            <a:endParaRPr/>
          </a:p>
          <a:p>
            <a:pPr indent="-342900" lvl="0" marL="342900" rtl="0" algn="l">
              <a:spcBef>
                <a:spcPts val="1000"/>
              </a:spcBef>
              <a:spcAft>
                <a:spcPts val="0"/>
              </a:spcAft>
              <a:buSzPts val="1440"/>
              <a:buChar char="►"/>
            </a:pPr>
            <a:r>
              <a:rPr lang="en-US"/>
              <a:t>Automatically handles mutual exclusion.</a:t>
            </a:r>
            <a:endParaRPr/>
          </a:p>
          <a:p>
            <a:pPr indent="-342900" lvl="0" marL="342900" rtl="0" algn="l">
              <a:spcBef>
                <a:spcPts val="1000"/>
              </a:spcBef>
              <a:spcAft>
                <a:spcPts val="0"/>
              </a:spcAft>
              <a:buSzPts val="1440"/>
              <a:buChar char="►"/>
            </a:pPr>
            <a:r>
              <a:rPr lang="en-US"/>
              <a:t>Reduces programming errors (no need for explicit lock/unlock).</a:t>
            </a:r>
            <a:endParaRPr/>
          </a:p>
          <a:p>
            <a:pPr indent="-342900" lvl="0" marL="342900" rtl="0" algn="l">
              <a:spcBef>
                <a:spcPts val="1000"/>
              </a:spcBef>
              <a:spcAft>
                <a:spcPts val="0"/>
              </a:spcAft>
              <a:buSzPts val="1440"/>
              <a:buChar char="►"/>
            </a:pPr>
            <a:r>
              <a:rPr lang="en-US"/>
              <a:t>Encourages modular and structured synchronization.</a:t>
            </a:r>
            <a:endParaRPr/>
          </a:p>
          <a:p>
            <a:pPr indent="0" lvl="0" marL="0" rtl="0" algn="l">
              <a:spcBef>
                <a:spcPts val="1000"/>
              </a:spcBef>
              <a:spcAft>
                <a:spcPts val="0"/>
              </a:spcAft>
              <a:buSzPts val="1440"/>
              <a:buNone/>
            </a:pPr>
            <a:r>
              <a:rPr b="1" lang="en-US" u="sng"/>
              <a:t>Disadvantages:</a:t>
            </a:r>
            <a:endParaRPr/>
          </a:p>
          <a:p>
            <a:pPr indent="-342900" lvl="0" marL="342900" rtl="0" algn="l">
              <a:spcBef>
                <a:spcPts val="1000"/>
              </a:spcBef>
              <a:spcAft>
                <a:spcPts val="0"/>
              </a:spcAft>
              <a:buSzPts val="1440"/>
              <a:buChar char="►"/>
            </a:pPr>
            <a:r>
              <a:rPr lang="en-US"/>
              <a:t>Not available in all programming languages.</a:t>
            </a:r>
            <a:endParaRPr/>
          </a:p>
          <a:p>
            <a:pPr indent="-342900" lvl="0" marL="342900" rtl="0" algn="l">
              <a:spcBef>
                <a:spcPts val="1000"/>
              </a:spcBef>
              <a:spcAft>
                <a:spcPts val="0"/>
              </a:spcAft>
              <a:buSzPts val="1440"/>
              <a:buChar char="►"/>
            </a:pPr>
            <a:r>
              <a:rPr lang="en-US"/>
              <a:t>Slightly slower than low-level primitives (like semaphores).</a:t>
            </a:r>
            <a:endParaRPr/>
          </a:p>
          <a:p>
            <a:pPr indent="-342900" lvl="0" marL="342900" rtl="0" algn="l">
              <a:spcBef>
                <a:spcPts val="1000"/>
              </a:spcBef>
              <a:spcAft>
                <a:spcPts val="0"/>
              </a:spcAft>
              <a:buSzPts val="1440"/>
              <a:buChar char="►"/>
            </a:pPr>
            <a:r>
              <a:rPr lang="en-US"/>
              <a:t>Can still face deadlock if used incorrectly.</a:t>
            </a:r>
            <a:endParaRPr/>
          </a:p>
        </p:txBody>
      </p:sp>
      <p:sp>
        <p:nvSpPr>
          <p:cNvPr id="515" name="Google Shape;515;p50"/>
          <p:cNvSpPr txBox="1"/>
          <p:nvPr/>
        </p:nvSpPr>
        <p:spPr>
          <a:xfrm>
            <a:off x="938463" y="1683435"/>
            <a:ext cx="6112042"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monitor ProducerConsumer {</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int buffer;</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condition full, empty;</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procedure insert(item) {</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if (buffer is full)</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wait(empty);        // wait until empty</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add item to buffer;</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signal(full);           // signal that buffer has item</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procedure remove(item) {</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if (buffer is empty)</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wait(full);          // wait until full</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remove item from buffer;</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signal(empty);           // signal that buffer has space</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    }</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51"/>
          <p:cNvPicPr preferRelativeResize="0"/>
          <p:nvPr/>
        </p:nvPicPr>
        <p:blipFill rotWithShape="1">
          <a:blip r:embed="rId3">
            <a:alphaModFix/>
          </a:blip>
          <a:srcRect b="0" l="0" r="0" t="0"/>
          <a:stretch/>
        </p:blipFill>
        <p:spPr>
          <a:xfrm>
            <a:off x="5071843" y="3515903"/>
            <a:ext cx="7120157" cy="2692390"/>
          </a:xfrm>
          <a:prstGeom prst="rect">
            <a:avLst/>
          </a:prstGeom>
          <a:noFill/>
          <a:ln>
            <a:noFill/>
          </a:ln>
        </p:spPr>
      </p:pic>
      <p:sp>
        <p:nvSpPr>
          <p:cNvPr id="522" name="Google Shape;522;p5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2.3.9 Avoiding Locks: Read-Copy-Update</a:t>
            </a:r>
            <a:endParaRPr/>
          </a:p>
        </p:txBody>
      </p:sp>
      <p:sp>
        <p:nvSpPr>
          <p:cNvPr id="523" name="Google Shape;523;p51"/>
          <p:cNvSpPr txBox="1"/>
          <p:nvPr>
            <p:ph idx="1" type="body"/>
          </p:nvPr>
        </p:nvSpPr>
        <p:spPr>
          <a:xfrm>
            <a:off x="677334" y="2160589"/>
            <a:ext cx="7720708" cy="446881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Char char="►"/>
            </a:pPr>
            <a:r>
              <a:rPr lang="en-US"/>
              <a:t>RCU is a </a:t>
            </a:r>
            <a:r>
              <a:rPr b="1" lang="en-US"/>
              <a:t>lock-free synchronization mechanism</a:t>
            </a:r>
            <a:r>
              <a:rPr lang="en-US"/>
              <a:t> used to optimize read-heavy workloads.</a:t>
            </a:r>
            <a:endParaRPr/>
          </a:p>
          <a:p>
            <a:pPr indent="-342900" lvl="0" marL="342900" rtl="0" algn="l">
              <a:spcBef>
                <a:spcPts val="1000"/>
              </a:spcBef>
              <a:spcAft>
                <a:spcPts val="0"/>
              </a:spcAft>
              <a:buSzPct val="79999"/>
              <a:buChar char="►"/>
            </a:pPr>
            <a:r>
              <a:rPr lang="en-US"/>
              <a:t>Allows </a:t>
            </a:r>
            <a:r>
              <a:rPr b="1" lang="en-US"/>
              <a:t>readers to access data concurrently</a:t>
            </a:r>
            <a:r>
              <a:rPr lang="en-US"/>
              <a:t> without blocking writers.</a:t>
            </a:r>
            <a:endParaRPr/>
          </a:p>
          <a:p>
            <a:pPr indent="0" lvl="0" marL="0" rtl="0" algn="l">
              <a:spcBef>
                <a:spcPts val="1000"/>
              </a:spcBef>
              <a:spcAft>
                <a:spcPts val="0"/>
              </a:spcAft>
              <a:buSzPct val="79999"/>
              <a:buNone/>
            </a:pPr>
            <a:r>
              <a:rPr b="1" lang="en-US" u="sng"/>
              <a:t>Working Principle</a:t>
            </a:r>
            <a:r>
              <a:rPr b="1" lang="en-US"/>
              <a:t>:</a:t>
            </a:r>
            <a:endParaRPr/>
          </a:p>
          <a:p>
            <a:pPr indent="-285750" lvl="1" marL="742950" rtl="0" algn="l">
              <a:spcBef>
                <a:spcPts val="1000"/>
              </a:spcBef>
              <a:spcAft>
                <a:spcPts val="0"/>
              </a:spcAft>
              <a:buSzPct val="80000"/>
              <a:buChar char="►"/>
            </a:pPr>
            <a:r>
              <a:rPr b="1" lang="en-US"/>
              <a:t>Read Phase</a:t>
            </a:r>
            <a:endParaRPr/>
          </a:p>
          <a:p>
            <a:pPr indent="-285750" lvl="1" marL="742950" rtl="0" algn="l">
              <a:spcBef>
                <a:spcPts val="1000"/>
              </a:spcBef>
              <a:spcAft>
                <a:spcPts val="0"/>
              </a:spcAft>
              <a:buSzPct val="80000"/>
              <a:buChar char="►"/>
            </a:pPr>
            <a:r>
              <a:rPr b="1" lang="en-US"/>
              <a:t>Update Phase</a:t>
            </a:r>
            <a:endParaRPr/>
          </a:p>
          <a:p>
            <a:pPr indent="-285750" lvl="1" marL="742950" rtl="0" algn="l">
              <a:spcBef>
                <a:spcPts val="1000"/>
              </a:spcBef>
              <a:spcAft>
                <a:spcPts val="0"/>
              </a:spcAft>
              <a:buSzPct val="80000"/>
              <a:buChar char="►"/>
            </a:pPr>
            <a:r>
              <a:rPr b="1" lang="en-US"/>
              <a:t>Grace Period</a:t>
            </a:r>
            <a:endParaRPr/>
          </a:p>
          <a:p>
            <a:pPr indent="-285750" lvl="1" marL="742950" rtl="0" algn="l">
              <a:spcBef>
                <a:spcPts val="1000"/>
              </a:spcBef>
              <a:spcAft>
                <a:spcPts val="0"/>
              </a:spcAft>
              <a:buSzPct val="80000"/>
              <a:buChar char="►"/>
            </a:pPr>
            <a:r>
              <a:rPr b="1" lang="en-US"/>
              <a:t>Reclaim Phase</a:t>
            </a:r>
            <a:endParaRPr/>
          </a:p>
          <a:p>
            <a:pPr indent="0" lvl="0" marL="0" rtl="0" algn="l">
              <a:spcBef>
                <a:spcPts val="1000"/>
              </a:spcBef>
              <a:spcAft>
                <a:spcPts val="0"/>
              </a:spcAft>
              <a:buSzPct val="79999"/>
              <a:buNone/>
            </a:pPr>
            <a:r>
              <a:rPr b="1" lang="en-US"/>
              <a:t>Advantages:</a:t>
            </a:r>
            <a:endParaRPr/>
          </a:p>
          <a:p>
            <a:pPr indent="-285750" lvl="1" marL="742950" rtl="0" algn="l">
              <a:spcBef>
                <a:spcPts val="1000"/>
              </a:spcBef>
              <a:spcAft>
                <a:spcPts val="0"/>
              </a:spcAft>
              <a:buSzPct val="80000"/>
              <a:buChar char="►"/>
            </a:pPr>
            <a:r>
              <a:rPr lang="en-US"/>
              <a:t>High performance for read-mostly data.</a:t>
            </a:r>
            <a:endParaRPr/>
          </a:p>
          <a:p>
            <a:pPr indent="-285750" lvl="1" marL="742950" rtl="0" algn="l">
              <a:spcBef>
                <a:spcPts val="1000"/>
              </a:spcBef>
              <a:spcAft>
                <a:spcPts val="0"/>
              </a:spcAft>
              <a:buSzPct val="80000"/>
              <a:buChar char="►"/>
            </a:pPr>
            <a:r>
              <a:rPr lang="en-US"/>
              <a:t>Avoids deadlocks and reduces contention.</a:t>
            </a:r>
            <a:endParaRPr/>
          </a:p>
          <a:p>
            <a:pPr indent="0" lvl="0" marL="0" rtl="0" algn="l">
              <a:spcBef>
                <a:spcPts val="1000"/>
              </a:spcBef>
              <a:spcAft>
                <a:spcPts val="0"/>
              </a:spcAft>
              <a:buSzPct val="79999"/>
              <a:buNone/>
            </a:pPr>
            <a:r>
              <a:rPr b="1" lang="en-US"/>
              <a:t>Use Case:</a:t>
            </a:r>
            <a:endParaRPr/>
          </a:p>
          <a:p>
            <a:pPr indent="-285750" lvl="1" marL="742950" rtl="0" algn="l">
              <a:spcBef>
                <a:spcPts val="1000"/>
              </a:spcBef>
              <a:spcAft>
                <a:spcPts val="0"/>
              </a:spcAft>
              <a:buSzPct val="80000"/>
              <a:buChar char="►"/>
            </a:pPr>
            <a:r>
              <a:rPr lang="en-US"/>
              <a:t>Linux kernel (network routing tables, process lists)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2.4 Process Scheduling</a:t>
            </a:r>
            <a:endParaRPr/>
          </a:p>
        </p:txBody>
      </p:sp>
      <p:sp>
        <p:nvSpPr>
          <p:cNvPr id="530" name="Google Shape;530;p52"/>
          <p:cNvSpPr txBox="1"/>
          <p:nvPr>
            <p:ph idx="1" type="body"/>
          </p:nvPr>
        </p:nvSpPr>
        <p:spPr>
          <a:xfrm>
            <a:off x="677334" y="1930400"/>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It is the process of deciding which process (or thread) gets to use the CPU next when there are multiple processes in the ready state.</a:t>
            </a:r>
            <a:endParaRPr/>
          </a:p>
          <a:p>
            <a:pPr indent="-342900" lvl="0" marL="342900" rtl="0" algn="l">
              <a:spcBef>
                <a:spcPts val="1000"/>
              </a:spcBef>
              <a:spcAft>
                <a:spcPts val="0"/>
              </a:spcAft>
              <a:buSzPts val="1440"/>
              <a:buChar char="►"/>
            </a:pPr>
            <a:r>
              <a:rPr lang="en-US"/>
              <a:t>The main goal is to maximize CPU utilization and system performance by keeping the CPU busy at all times.</a:t>
            </a:r>
            <a:endParaRPr/>
          </a:p>
          <a:p>
            <a:pPr indent="-342900" lvl="0" marL="342900" rtl="0" algn="l">
              <a:spcBef>
                <a:spcPts val="1000"/>
              </a:spcBef>
              <a:spcAft>
                <a:spcPts val="0"/>
              </a:spcAft>
              <a:buSzPts val="1440"/>
              <a:buChar char="►"/>
            </a:pPr>
            <a:r>
              <a:rPr lang="en-US"/>
              <a:t>The scheduler makes this decision.</a:t>
            </a:r>
            <a:endParaRPr/>
          </a:p>
          <a:p>
            <a:pPr indent="-342900" lvl="0" marL="342900" rtl="0" algn="l">
              <a:spcBef>
                <a:spcPts val="1000"/>
              </a:spcBef>
              <a:spcAft>
                <a:spcPts val="0"/>
              </a:spcAft>
              <a:buSzPts val="1440"/>
              <a:buChar char="►"/>
            </a:pPr>
            <a:r>
              <a:rPr lang="en-US"/>
              <a:t>Types of Schedulers</a:t>
            </a:r>
            <a:endParaRPr/>
          </a:p>
          <a:p>
            <a:pPr indent="-342900" lvl="0" marL="342900" rtl="0" algn="l">
              <a:spcBef>
                <a:spcPts val="1000"/>
              </a:spcBef>
              <a:spcAft>
                <a:spcPts val="0"/>
              </a:spcAft>
              <a:buSzPts val="1440"/>
              <a:buChar char="►"/>
            </a:pPr>
            <a:r>
              <a:rPr lang="en-US"/>
              <a:t>Long term(Job scheduler)</a:t>
            </a:r>
            <a:endParaRPr/>
          </a:p>
          <a:p>
            <a:pPr indent="-342900" lvl="0" marL="342900" rtl="0" algn="l">
              <a:spcBef>
                <a:spcPts val="1000"/>
              </a:spcBef>
              <a:spcAft>
                <a:spcPts val="0"/>
              </a:spcAft>
              <a:buSzPts val="1440"/>
              <a:buChar char="►"/>
            </a:pPr>
            <a:r>
              <a:rPr lang="en-US"/>
              <a:t>Short term (CPU scheduler)</a:t>
            </a:r>
            <a:endParaRPr/>
          </a:p>
          <a:p>
            <a:pPr indent="-342900" lvl="0" marL="342900" rtl="0" algn="l">
              <a:spcBef>
                <a:spcPts val="1000"/>
              </a:spcBef>
              <a:spcAft>
                <a:spcPts val="0"/>
              </a:spcAft>
              <a:buSzPts val="1440"/>
              <a:buChar char="►"/>
            </a:pPr>
            <a:r>
              <a:rPr lang="en-US"/>
              <a:t>Medium term(swapper)</a:t>
            </a:r>
            <a:endParaRPr/>
          </a:p>
        </p:txBody>
      </p:sp>
      <p:sp>
        <p:nvSpPr>
          <p:cNvPr id="531" name="Google Shape;531;p52"/>
          <p:cNvSpPr txBox="1"/>
          <p:nvPr/>
        </p:nvSpPr>
        <p:spPr>
          <a:xfrm>
            <a:off x="5532120" y="3870786"/>
            <a:ext cx="4617720" cy="271289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lang="en-US" sz="1800" u="sng">
                <a:solidFill>
                  <a:srgbClr val="3F3F3F"/>
                </a:solidFill>
                <a:latin typeface="Trebuchet MS"/>
                <a:ea typeface="Trebuchet MS"/>
                <a:cs typeface="Trebuchet MS"/>
                <a:sym typeface="Trebuchet MS"/>
              </a:rPr>
              <a:t>Needed of process scheduling ?</a:t>
            </a:r>
            <a:endParaRPr/>
          </a:p>
          <a:p>
            <a:pPr indent="0" lvl="0" marL="0" marR="0" rtl="0" algn="l">
              <a:spcBef>
                <a:spcPts val="1000"/>
              </a:spcBef>
              <a:spcAft>
                <a:spcPts val="0"/>
              </a:spcAft>
              <a:buClr>
                <a:schemeClr val="accent1"/>
              </a:buClr>
              <a:buSzPts val="1440"/>
              <a:buFont typeface="Noto Sans Symbols"/>
              <a:buNone/>
            </a:pPr>
            <a:r>
              <a:rPr lang="en-US" sz="1800">
                <a:solidFill>
                  <a:srgbClr val="3F3F3F"/>
                </a:solidFill>
                <a:latin typeface="Trebuchet MS"/>
                <a:ea typeface="Trebuchet MS"/>
                <a:cs typeface="Trebuchet MS"/>
                <a:sym typeface="Trebuchet MS"/>
              </a:rPr>
              <a:t>1. Efficient CPU Utilization</a:t>
            </a:r>
            <a:endParaRPr/>
          </a:p>
          <a:p>
            <a:pPr indent="0" lvl="0" marL="0" marR="0" rtl="0" algn="l">
              <a:spcBef>
                <a:spcPts val="1000"/>
              </a:spcBef>
              <a:spcAft>
                <a:spcPts val="0"/>
              </a:spcAft>
              <a:buClr>
                <a:schemeClr val="accent1"/>
              </a:buClr>
              <a:buSzPts val="1440"/>
              <a:buFont typeface="Noto Sans Symbols"/>
              <a:buNone/>
            </a:pPr>
            <a:r>
              <a:rPr lang="en-US" sz="1800">
                <a:solidFill>
                  <a:srgbClr val="3F3F3F"/>
                </a:solidFill>
                <a:latin typeface="Trebuchet MS"/>
                <a:ea typeface="Trebuchet MS"/>
                <a:cs typeface="Trebuchet MS"/>
                <a:sym typeface="Trebuchet MS"/>
              </a:rPr>
              <a:t>2. Improved System Performance</a:t>
            </a:r>
            <a:endParaRPr/>
          </a:p>
          <a:p>
            <a:pPr indent="0" lvl="0" marL="0" marR="0" rtl="0" algn="l">
              <a:spcBef>
                <a:spcPts val="1000"/>
              </a:spcBef>
              <a:spcAft>
                <a:spcPts val="0"/>
              </a:spcAft>
              <a:buClr>
                <a:schemeClr val="accent1"/>
              </a:buClr>
              <a:buSzPts val="1440"/>
              <a:buFont typeface="Noto Sans Symbols"/>
              <a:buNone/>
            </a:pPr>
            <a:r>
              <a:rPr lang="en-US" sz="1800">
                <a:solidFill>
                  <a:srgbClr val="3F3F3F"/>
                </a:solidFill>
                <a:latin typeface="Trebuchet MS"/>
                <a:ea typeface="Trebuchet MS"/>
                <a:cs typeface="Trebuchet MS"/>
                <a:sym typeface="Trebuchet MS"/>
              </a:rPr>
              <a:t>3. Multitasking and Fairness</a:t>
            </a:r>
            <a:endParaRPr/>
          </a:p>
          <a:p>
            <a:pPr indent="0" lvl="0" marL="0" marR="0" rtl="0" algn="l">
              <a:spcBef>
                <a:spcPts val="1000"/>
              </a:spcBef>
              <a:spcAft>
                <a:spcPts val="0"/>
              </a:spcAft>
              <a:buClr>
                <a:schemeClr val="accent1"/>
              </a:buClr>
              <a:buSzPts val="1440"/>
              <a:buFont typeface="Noto Sans Symbols"/>
              <a:buNone/>
            </a:pPr>
            <a:r>
              <a:rPr lang="en-US" sz="1800">
                <a:solidFill>
                  <a:srgbClr val="3F3F3F"/>
                </a:solidFill>
                <a:latin typeface="Trebuchet MS"/>
                <a:ea typeface="Trebuchet MS"/>
                <a:cs typeface="Trebuchet MS"/>
                <a:sym typeface="Trebuchet MS"/>
              </a:rPr>
              <a:t>4. Adaptability to Different System Goals</a:t>
            </a:r>
            <a:endParaRPr/>
          </a:p>
          <a:p>
            <a:pPr indent="0" lvl="0" marL="0" marR="0" rtl="0" algn="l">
              <a:spcBef>
                <a:spcPts val="1000"/>
              </a:spcBef>
              <a:spcAft>
                <a:spcPts val="0"/>
              </a:spcAft>
              <a:buClr>
                <a:schemeClr val="accent1"/>
              </a:buClr>
              <a:buSzPts val="1440"/>
              <a:buFont typeface="Noto Sans Symbols"/>
              <a:buNone/>
            </a:pPr>
            <a:r>
              <a:rPr lang="en-US" sz="1800">
                <a:solidFill>
                  <a:srgbClr val="3F3F3F"/>
                </a:solidFill>
                <a:latin typeface="Trebuchet MS"/>
                <a:ea typeface="Trebuchet MS"/>
                <a:cs typeface="Trebuchet MS"/>
                <a:sym typeface="Trebuchet MS"/>
              </a:rPr>
              <a:t>5. Preventing Deadlock</a:t>
            </a:r>
            <a:endParaRPr/>
          </a:p>
          <a:p>
            <a:pPr indent="-251459" lvl="0" marL="342900" marR="0" rtl="0" algn="l">
              <a:spcBef>
                <a:spcPts val="1000"/>
              </a:spcBef>
              <a:spcAft>
                <a:spcPts val="0"/>
              </a:spcAft>
              <a:buClr>
                <a:schemeClr val="accent1"/>
              </a:buClr>
              <a:buSzPts val="1440"/>
              <a:buFont typeface="Noto Sans Symbols"/>
              <a:buNone/>
            </a:pPr>
            <a:r>
              <a:t/>
            </a:r>
            <a:endParaRPr sz="1800">
              <a:solidFill>
                <a:srgbClr val="3F3F3F"/>
              </a:solidFill>
              <a:latin typeface="Trebuchet MS"/>
              <a:ea typeface="Trebuchet MS"/>
              <a:cs typeface="Trebuchet MS"/>
              <a:sym typeface="Trebuchet M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id="536" name="Google Shape;536;p53"/>
          <p:cNvPicPr preferRelativeResize="0"/>
          <p:nvPr/>
        </p:nvPicPr>
        <p:blipFill rotWithShape="1">
          <a:blip r:embed="rId3">
            <a:alphaModFix/>
          </a:blip>
          <a:srcRect b="0" l="0" r="0" t="0"/>
          <a:stretch/>
        </p:blipFill>
        <p:spPr>
          <a:xfrm>
            <a:off x="440795" y="1467772"/>
            <a:ext cx="9963045" cy="5026536"/>
          </a:xfrm>
          <a:prstGeom prst="rect">
            <a:avLst/>
          </a:prstGeom>
          <a:noFill/>
          <a:ln>
            <a:noFill/>
          </a:ln>
        </p:spPr>
      </p:pic>
      <p:sp>
        <p:nvSpPr>
          <p:cNvPr id="537" name="Google Shape;537;p5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2.4.1 Basic Concept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2.4.2 Type of scheduling</a:t>
            </a:r>
            <a:endParaRPr/>
          </a:p>
        </p:txBody>
      </p:sp>
      <p:graphicFrame>
        <p:nvGraphicFramePr>
          <p:cNvPr id="544" name="Google Shape;544;p54"/>
          <p:cNvGraphicFramePr/>
          <p:nvPr/>
        </p:nvGraphicFramePr>
        <p:xfrm>
          <a:off x="631614" y="1498600"/>
          <a:ext cx="3000000" cy="3000000"/>
        </p:xfrm>
        <a:graphic>
          <a:graphicData uri="http://schemas.openxmlformats.org/drawingml/2006/table">
            <a:tbl>
              <a:tblPr bandRow="1" firstRow="1">
                <a:noFill/>
                <a:tableStyleId>{4A1EB111-B6CD-4540-B144-BA16F0421430}</a:tableStyleId>
              </a:tblPr>
              <a:tblGrid>
                <a:gridCol w="2020150"/>
                <a:gridCol w="4366250"/>
                <a:gridCol w="4868650"/>
              </a:tblGrid>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Basis</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Preemptive Scheduling</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Non-Preemptive Scheduling</a:t>
                      </a:r>
                      <a:endParaRPr sz="1800" u="none" cap="none" strike="noStrike"/>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Definition</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The CPU can be </a:t>
                      </a:r>
                      <a:r>
                        <a:rPr b="1" lang="en-US" sz="1800" u="none" cap="none" strike="noStrike"/>
                        <a:t>taken away</a:t>
                      </a:r>
                      <a:r>
                        <a:rPr lang="en-US" sz="1800" u="none" cap="none" strike="noStrike"/>
                        <a:t> from a running process before it completes its CPU burst.</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Once a process starts executing, it </a:t>
                      </a:r>
                      <a:r>
                        <a:rPr b="1" lang="en-US" sz="1800" u="none" cap="none" strike="noStrike"/>
                        <a:t>cannot be interrupted</a:t>
                      </a:r>
                      <a:r>
                        <a:rPr lang="en-US" sz="1800" u="none" cap="none" strike="noStrike"/>
                        <a:t> until it finishes or waits for I/O.</a:t>
                      </a:r>
                      <a:endParaRPr/>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Control</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The </a:t>
                      </a:r>
                      <a:r>
                        <a:rPr b="1" lang="en-US" sz="1800" u="none" cap="none" strike="noStrike"/>
                        <a:t>operating system</a:t>
                      </a:r>
                      <a:r>
                        <a:rPr lang="en-US" sz="1800" u="none" cap="none" strike="noStrike"/>
                        <a:t> has control over CPU allocation.</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The </a:t>
                      </a:r>
                      <a:r>
                        <a:rPr b="1" lang="en-US" sz="1800" u="none" cap="none" strike="noStrike"/>
                        <a:t>process itself</a:t>
                      </a:r>
                      <a:r>
                        <a:rPr lang="en-US" sz="1800" u="none" cap="none" strike="noStrike"/>
                        <a:t> controls CPU until it releases it.</a:t>
                      </a:r>
                      <a:endParaRPr/>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Response Time</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Usually </a:t>
                      </a:r>
                      <a:r>
                        <a:rPr b="1" lang="en-US" sz="1800" u="none" cap="none" strike="noStrike"/>
                        <a:t>better</a:t>
                      </a:r>
                      <a:r>
                        <a:rPr lang="en-US" sz="1800" u="none" cap="none" strike="noStrike"/>
                        <a:t>, as short or high-priority processes can get CPU faster.</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Usually </a:t>
                      </a:r>
                      <a:r>
                        <a:rPr b="1" lang="en-US" sz="1800" u="none" cap="none" strike="noStrike"/>
                        <a:t>worse</a:t>
                      </a:r>
                      <a:r>
                        <a:rPr lang="en-US" sz="1800" u="none" cap="none" strike="noStrike"/>
                        <a:t>, since long processes block others until completion.</a:t>
                      </a:r>
                      <a:endParaRPr/>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CPU Utilization</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Higher</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Lower</a:t>
                      </a:r>
                      <a:endParaRPr sz="1800" u="none" cap="none" strike="noStrike"/>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Overhead</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High</a:t>
                      </a:r>
                      <a:r>
                        <a:rPr lang="en-US" sz="1800" u="none" cap="none" strike="noStrike"/>
                        <a:t>, due to frequent context switching.</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Low</a:t>
                      </a:r>
                      <a:r>
                        <a:rPr lang="en-US" sz="1800" u="none" cap="none" strike="noStrike"/>
                        <a:t>, since context switching happens less often.</a:t>
                      </a:r>
                      <a:endParaRPr/>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Starvation</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Possible</a:t>
                      </a:r>
                      <a:r>
                        <a:rPr lang="en-US" sz="1800" u="none" cap="none" strike="noStrike"/>
                        <a:t>, if low-priority processes never get CPU time.</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Less likely</a:t>
                      </a:r>
                      <a:r>
                        <a:rPr lang="en-US" sz="1800" u="none" cap="none" strike="noStrike"/>
                        <a:t>, since processes run till completion.</a:t>
                      </a:r>
                      <a:endParaRPr/>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Used In</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Systems needing </a:t>
                      </a:r>
                      <a:r>
                        <a:rPr b="1" lang="en-US" sz="1800" u="none" cap="none" strike="noStrike"/>
                        <a:t>real-time response</a:t>
                      </a:r>
                      <a:r>
                        <a:rPr lang="en-US" sz="1800" u="none" cap="none" strike="noStrike"/>
                        <a:t> (e.g., multitasking, time-sharing).</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Systems where </a:t>
                      </a:r>
                      <a:r>
                        <a:rPr b="1" lang="en-US" sz="1800" u="none" cap="none" strike="noStrike"/>
                        <a:t>predictability</a:t>
                      </a:r>
                      <a:r>
                        <a:rPr lang="en-US" sz="1800" u="none" cap="none" strike="noStrike"/>
                        <a:t> is more important (e.g., batch processing).</a:t>
                      </a:r>
                      <a:endParaRPr/>
                    </a:p>
                  </a:txBody>
                  <a:tcPr marT="45725" marB="45725" marR="91450" marL="91450" anchor="ctr"/>
                </a:tc>
              </a:tr>
              <a:tr h="370850">
                <a:tc>
                  <a:txBody>
                    <a:bodyPr/>
                    <a:lstStyle/>
                    <a:p>
                      <a:pPr indent="0" lvl="0" marL="0" marR="0" rtl="0" algn="r">
                        <a:spcBef>
                          <a:spcPts val="0"/>
                        </a:spcBef>
                        <a:spcAft>
                          <a:spcPts val="0"/>
                        </a:spcAft>
                        <a:buClr>
                          <a:schemeClr val="dk1"/>
                        </a:buClr>
                        <a:buSzPts val="1800"/>
                        <a:buFont typeface="Trebuchet MS"/>
                        <a:buNone/>
                      </a:pPr>
                      <a:r>
                        <a:rPr b="1" lang="en-US" sz="1800" u="none" cap="none" strike="noStrike"/>
                        <a:t>Algorithms</a:t>
                      </a:r>
                      <a:endParaRPr sz="1800" u="none" cap="none" strike="noStrike"/>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RR, SRTF, Preemptive Priority.</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Trebuchet MS"/>
                        <a:buNone/>
                      </a:pPr>
                      <a:r>
                        <a:rPr lang="en-US" sz="1800" u="none" cap="none" strike="noStrike"/>
                        <a:t>FCFS, SJN, Non-Preemptive Priority.</a:t>
                      </a:r>
                      <a:endParaRPr/>
                    </a:p>
                  </a:txBody>
                  <a:tcPr marT="45725" marB="45725" marR="91450" marL="91450" anchor="ct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2.4.3 Scheduling Criteria or performance analysis</a:t>
            </a:r>
            <a:endParaRPr/>
          </a:p>
        </p:txBody>
      </p:sp>
      <p:graphicFrame>
        <p:nvGraphicFramePr>
          <p:cNvPr id="550" name="Google Shape;550;p55"/>
          <p:cNvGraphicFramePr/>
          <p:nvPr/>
        </p:nvGraphicFramePr>
        <p:xfrm>
          <a:off x="677862" y="2160588"/>
          <a:ext cx="3000000" cy="3000000"/>
        </p:xfrm>
        <a:graphic>
          <a:graphicData uri="http://schemas.openxmlformats.org/drawingml/2006/table">
            <a:tbl>
              <a:tblPr bandRow="1" firstRow="1">
                <a:noFill/>
                <a:tableStyleId>{4A1EB111-B6CD-4540-B144-BA16F0421430}</a:tableStyleId>
              </a:tblPr>
              <a:tblGrid>
                <a:gridCol w="4530250"/>
                <a:gridCol w="4530250"/>
              </a:tblGrid>
              <a:tr h="409650">
                <a:tc>
                  <a:txBody>
                    <a:bodyPr/>
                    <a:lstStyle/>
                    <a:p>
                      <a:pPr indent="0" lvl="0" marL="0" marR="0" rtl="0" algn="l">
                        <a:spcBef>
                          <a:spcPts val="0"/>
                        </a:spcBef>
                        <a:spcAft>
                          <a:spcPts val="0"/>
                        </a:spcAft>
                        <a:buClr>
                          <a:schemeClr val="dk1"/>
                        </a:buClr>
                        <a:buSzPts val="1800"/>
                        <a:buFont typeface="Trebuchet MS"/>
                        <a:buNone/>
                      </a:pPr>
                      <a:r>
                        <a:rPr lang="en-US" sz="1800" u="none" cap="none" strike="noStrike"/>
                        <a:t>Criterion</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Description</a:t>
                      </a:r>
                      <a:endParaRPr/>
                    </a:p>
                  </a:txBody>
                  <a:tcPr marT="45725" marB="45725" marR="91450" marL="91450" anchor="ctr"/>
                </a:tc>
              </a:tr>
              <a:tr h="4096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CPU Utilization</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Keep the CPU as busy as possible.</a:t>
                      </a:r>
                      <a:endParaRPr/>
                    </a:p>
                  </a:txBody>
                  <a:tcPr marT="45725" marB="45725" marR="91450" marL="91450" anchor="ctr"/>
                </a:tc>
              </a:tr>
              <a:tr h="7070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Throughput</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Number of processes completed per unit time.</a:t>
                      </a:r>
                      <a:endParaRPr/>
                    </a:p>
                  </a:txBody>
                  <a:tcPr marT="45725" marB="45725" marR="91450" marL="91450" anchor="ctr"/>
                </a:tc>
              </a:tr>
              <a:tr h="7070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Turnaround Time</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Time from process submission to completion.</a:t>
                      </a:r>
                      <a:endParaRPr/>
                    </a:p>
                  </a:txBody>
                  <a:tcPr marT="45725" marB="45725" marR="91450" marL="91450" anchor="ctr"/>
                </a:tc>
              </a:tr>
              <a:tr h="7070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Waiting Time</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Total time a process spends in the ready queue.</a:t>
                      </a:r>
                      <a:endParaRPr/>
                    </a:p>
                  </a:txBody>
                  <a:tcPr marT="45725" marB="45725" marR="91450" marL="91450" anchor="ctr"/>
                </a:tc>
              </a:tr>
              <a:tr h="7070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Response Time</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Time from submission until first response is produced.</a:t>
                      </a:r>
                      <a:endParaRPr/>
                    </a:p>
                  </a:txBody>
                  <a:tcPr marT="45725" marB="45725" marR="91450" marL="91450" anchor="ctr"/>
                </a:tc>
              </a:tr>
              <a:tr h="7070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Fairness</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Every process should get a fair share of CPU.</a:t>
                      </a:r>
                      <a:endParaRPr/>
                    </a:p>
                  </a:txBody>
                  <a:tcPr marT="45725" marB="45725" marR="91450" marL="91450" anchor="ct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Performance analysis</a:t>
            </a:r>
            <a:endParaRPr/>
          </a:p>
        </p:txBody>
      </p:sp>
      <p:graphicFrame>
        <p:nvGraphicFramePr>
          <p:cNvPr id="556" name="Google Shape;556;p56"/>
          <p:cNvGraphicFramePr/>
          <p:nvPr/>
        </p:nvGraphicFramePr>
        <p:xfrm>
          <a:off x="677334" y="1930400"/>
          <a:ext cx="3000000" cy="3000000"/>
        </p:xfrm>
        <a:graphic>
          <a:graphicData uri="http://schemas.openxmlformats.org/drawingml/2006/table">
            <a:tbl>
              <a:tblPr bandRow="1" firstRow="1">
                <a:noFill/>
                <a:tableStyleId>{4A1EB111-B6CD-4540-B144-BA16F0421430}</a:tableStyleId>
              </a:tblPr>
              <a:tblGrid>
                <a:gridCol w="3963250"/>
                <a:gridCol w="6057375"/>
              </a:tblGrid>
              <a:tr h="52910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718050">
                <a:tc>
                  <a:txBody>
                    <a:bodyPr/>
                    <a:lstStyle/>
                    <a:p>
                      <a:pPr indent="0" lvl="0" marL="0" marR="0" rtl="0" algn="l">
                        <a:spcBef>
                          <a:spcPts val="0"/>
                        </a:spcBef>
                        <a:spcAft>
                          <a:spcPts val="0"/>
                        </a:spcAft>
                        <a:buNone/>
                      </a:pPr>
                      <a:r>
                        <a:rPr lang="en-US" sz="1800"/>
                        <a:t>Arrival time</a:t>
                      </a:r>
                      <a:endParaRPr/>
                    </a:p>
                  </a:txBody>
                  <a:tcPr marT="45725" marB="45725" marR="91450" marL="91450"/>
                </a:tc>
                <a:tc>
                  <a:txBody>
                    <a:bodyPr/>
                    <a:lstStyle/>
                    <a:p>
                      <a:pPr indent="0" lvl="0" marL="0" marR="0" rtl="0" algn="l">
                        <a:spcBef>
                          <a:spcPts val="0"/>
                        </a:spcBef>
                        <a:spcAft>
                          <a:spcPts val="0"/>
                        </a:spcAft>
                        <a:buNone/>
                      </a:pPr>
                      <a:r>
                        <a:rPr lang="en-US" sz="1800"/>
                        <a:t>Time at which process enters ready queue</a:t>
                      </a:r>
                      <a:endParaRPr/>
                    </a:p>
                  </a:txBody>
                  <a:tcPr marT="45725" marB="45725" marR="91450" marL="91450"/>
                </a:tc>
              </a:tr>
              <a:tr h="529100">
                <a:tc>
                  <a:txBody>
                    <a:bodyPr/>
                    <a:lstStyle/>
                    <a:p>
                      <a:pPr indent="0" lvl="0" marL="0" marR="0" rtl="0" algn="l">
                        <a:spcBef>
                          <a:spcPts val="0"/>
                        </a:spcBef>
                        <a:spcAft>
                          <a:spcPts val="0"/>
                        </a:spcAft>
                        <a:buNone/>
                      </a:pPr>
                      <a:r>
                        <a:rPr lang="en-US" sz="1800"/>
                        <a:t>Burst time</a:t>
                      </a:r>
                      <a:endParaRPr/>
                    </a:p>
                  </a:txBody>
                  <a:tcPr marT="45725" marB="45725" marR="91450" marL="91450"/>
                </a:tc>
                <a:tc>
                  <a:txBody>
                    <a:bodyPr/>
                    <a:lstStyle/>
                    <a:p>
                      <a:pPr indent="0" lvl="0" marL="0" marR="0" rtl="0" algn="l">
                        <a:spcBef>
                          <a:spcPts val="0"/>
                        </a:spcBef>
                        <a:spcAft>
                          <a:spcPts val="0"/>
                        </a:spcAft>
                        <a:buNone/>
                      </a:pPr>
                      <a:r>
                        <a:rPr lang="en-US" sz="1800"/>
                        <a:t>Time required by a process for CPU execution.</a:t>
                      </a:r>
                      <a:endParaRPr/>
                    </a:p>
                    <a:p>
                      <a:pPr indent="0" lvl="0" marL="0" marR="0" rtl="0" algn="l">
                        <a:spcBef>
                          <a:spcPts val="0"/>
                        </a:spcBef>
                        <a:spcAft>
                          <a:spcPts val="0"/>
                        </a:spcAft>
                        <a:buNone/>
                      </a:pPr>
                      <a:r>
                        <a:t/>
                      </a:r>
                      <a:endParaRPr sz="1800"/>
                    </a:p>
                  </a:txBody>
                  <a:tcPr marT="45725" marB="45725" marR="91450" marL="91450"/>
                </a:tc>
              </a:tr>
              <a:tr h="529100">
                <a:tc>
                  <a:txBody>
                    <a:bodyPr/>
                    <a:lstStyle/>
                    <a:p>
                      <a:pPr indent="0" lvl="0" marL="0" marR="0" rtl="0" algn="l">
                        <a:spcBef>
                          <a:spcPts val="0"/>
                        </a:spcBef>
                        <a:spcAft>
                          <a:spcPts val="0"/>
                        </a:spcAft>
                        <a:buNone/>
                      </a:pPr>
                      <a:r>
                        <a:rPr lang="en-US" sz="1800"/>
                        <a:t>Completion time</a:t>
                      </a:r>
                      <a:endParaRPr/>
                    </a:p>
                  </a:txBody>
                  <a:tcPr marT="45725" marB="45725" marR="91450" marL="91450"/>
                </a:tc>
                <a:tc>
                  <a:txBody>
                    <a:bodyPr/>
                    <a:lstStyle/>
                    <a:p>
                      <a:pPr indent="0" lvl="0" marL="0" marR="0" rtl="0" algn="l">
                        <a:spcBef>
                          <a:spcPts val="0"/>
                        </a:spcBef>
                        <a:spcAft>
                          <a:spcPts val="0"/>
                        </a:spcAft>
                        <a:buNone/>
                      </a:pPr>
                      <a:r>
                        <a:rPr lang="en-US" sz="1800"/>
                        <a:t>The time at which the process completes its execution.</a:t>
                      </a:r>
                      <a:endParaRPr/>
                    </a:p>
                    <a:p>
                      <a:pPr indent="0" lvl="0" marL="0" marR="0" rtl="0" algn="l">
                        <a:spcBef>
                          <a:spcPts val="0"/>
                        </a:spcBef>
                        <a:spcAft>
                          <a:spcPts val="0"/>
                        </a:spcAft>
                        <a:buNone/>
                      </a:pPr>
                      <a:r>
                        <a:t/>
                      </a:r>
                      <a:endParaRPr sz="1800"/>
                    </a:p>
                  </a:txBody>
                  <a:tcPr marT="45725" marB="45725" marR="91450" marL="91450"/>
                </a:tc>
              </a:tr>
              <a:tr h="529100">
                <a:tc>
                  <a:txBody>
                    <a:bodyPr/>
                    <a:lstStyle/>
                    <a:p>
                      <a:pPr indent="0" lvl="0" marL="0" marR="0" rtl="0" algn="l">
                        <a:spcBef>
                          <a:spcPts val="0"/>
                        </a:spcBef>
                        <a:spcAft>
                          <a:spcPts val="0"/>
                        </a:spcAft>
                        <a:buNone/>
                      </a:pPr>
                      <a:r>
                        <a:rPr lang="en-US" sz="1800"/>
                        <a:t>Turn around time</a:t>
                      </a:r>
                      <a:endParaRPr/>
                    </a:p>
                  </a:txBody>
                  <a:tcPr marT="45725" marB="45725" marR="91450" marL="91450"/>
                </a:tc>
                <a:tc>
                  <a:txBody>
                    <a:bodyPr/>
                    <a:lstStyle/>
                    <a:p>
                      <a:pPr indent="0" lvl="0" marL="0" marR="0" rtl="0" algn="l">
                        <a:spcBef>
                          <a:spcPts val="0"/>
                        </a:spcBef>
                        <a:spcAft>
                          <a:spcPts val="0"/>
                        </a:spcAft>
                        <a:buNone/>
                      </a:pPr>
                      <a:r>
                        <a:rPr lang="en-US" sz="1800"/>
                        <a:t>Time Difference between completion time and arrival time. (CT -AT)</a:t>
                      </a:r>
                      <a:endParaRPr/>
                    </a:p>
                  </a:txBody>
                  <a:tcPr marT="45725" marB="45725" marR="91450" marL="91450"/>
                </a:tc>
              </a:tr>
              <a:tr h="529100">
                <a:tc>
                  <a:txBody>
                    <a:bodyPr/>
                    <a:lstStyle/>
                    <a:p>
                      <a:pPr indent="0" lvl="0" marL="0" marR="0" rtl="0" algn="l">
                        <a:spcBef>
                          <a:spcPts val="0"/>
                        </a:spcBef>
                        <a:spcAft>
                          <a:spcPts val="0"/>
                        </a:spcAft>
                        <a:buNone/>
                      </a:pPr>
                      <a:r>
                        <a:rPr lang="en-US" sz="1800"/>
                        <a:t>Waiting time</a:t>
                      </a:r>
                      <a:endParaRPr/>
                    </a:p>
                  </a:txBody>
                  <a:tcPr marT="45725" marB="45725" marR="91450" marL="91450"/>
                </a:tc>
                <a:tc>
                  <a:txBody>
                    <a:bodyPr/>
                    <a:lstStyle/>
                    <a:p>
                      <a:pPr indent="0" lvl="0" marL="0" marR="0" rtl="0" algn="l">
                        <a:spcBef>
                          <a:spcPts val="0"/>
                        </a:spcBef>
                        <a:spcAft>
                          <a:spcPts val="0"/>
                        </a:spcAft>
                        <a:buNone/>
                      </a:pPr>
                      <a:r>
                        <a:rPr lang="en-US" sz="1800"/>
                        <a:t>Time Difference between turn around time and burst time (TAT-BT)</a:t>
                      </a:r>
                      <a:endParaRPr/>
                    </a:p>
                  </a:txBody>
                  <a:tcPr marT="45725" marB="45725" marR="91450" marL="91450"/>
                </a:tc>
              </a:tr>
              <a:tr h="529100">
                <a:tc>
                  <a:txBody>
                    <a:bodyPr/>
                    <a:lstStyle/>
                    <a:p>
                      <a:pPr indent="0" lvl="0" marL="0" marR="0" rtl="0" algn="l">
                        <a:spcBef>
                          <a:spcPts val="0"/>
                        </a:spcBef>
                        <a:spcAft>
                          <a:spcPts val="0"/>
                        </a:spcAft>
                        <a:buNone/>
                      </a:pPr>
                      <a:r>
                        <a:rPr lang="en-US" sz="1800"/>
                        <a:t>Response time</a:t>
                      </a:r>
                      <a:endParaRPr/>
                    </a:p>
                  </a:txBody>
                  <a:tcPr marT="45725" marB="45725" marR="91450" marL="91450"/>
                </a:tc>
                <a:tc>
                  <a:txBody>
                    <a:bodyPr/>
                    <a:lstStyle/>
                    <a:p>
                      <a:pPr indent="0" lvl="0" marL="0" marR="0" rtl="0" algn="l">
                        <a:spcBef>
                          <a:spcPts val="0"/>
                        </a:spcBef>
                        <a:spcAft>
                          <a:spcPts val="0"/>
                        </a:spcAft>
                        <a:buNone/>
                      </a:pPr>
                      <a:r>
                        <a:rPr lang="en-US" sz="1800"/>
                        <a:t>time at which process get cpu for the first time – arrival time</a:t>
                      </a:r>
                      <a:endParaRPr/>
                    </a:p>
                  </a:txBody>
                  <a:tcPr marT="45725" marB="45725" marR="91450" marL="91450"/>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Scheduling Algorithms</a:t>
            </a:r>
            <a:endParaRPr/>
          </a:p>
        </p:txBody>
      </p:sp>
      <p:pic>
        <p:nvPicPr>
          <p:cNvPr descr="Lightbox" id="562" name="Google Shape;562;p57"/>
          <p:cNvPicPr preferRelativeResize="0"/>
          <p:nvPr>
            <p:ph idx="1" type="body"/>
          </p:nvPr>
        </p:nvPicPr>
        <p:blipFill rotWithShape="1">
          <a:blip r:embed="rId3">
            <a:alphaModFix/>
          </a:blip>
          <a:srcRect b="0" l="0" r="0" t="0"/>
          <a:stretch/>
        </p:blipFill>
        <p:spPr>
          <a:xfrm>
            <a:off x="319065" y="2080261"/>
            <a:ext cx="9137990" cy="36432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Categories of Scheduling Algorithms</a:t>
            </a:r>
            <a:endParaRPr/>
          </a:p>
        </p:txBody>
      </p:sp>
      <p:sp>
        <p:nvSpPr>
          <p:cNvPr id="569" name="Google Shape;569;p58"/>
          <p:cNvSpPr txBox="1"/>
          <p:nvPr>
            <p:ph idx="1" type="body"/>
          </p:nvPr>
        </p:nvSpPr>
        <p:spPr>
          <a:xfrm>
            <a:off x="677334" y="2160589"/>
            <a:ext cx="8596668" cy="435172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Font typeface="Trebuchet MS"/>
              <a:buAutoNum type="arabicPeriod"/>
            </a:pPr>
            <a:r>
              <a:rPr lang="en-US"/>
              <a:t>Batch Systems</a:t>
            </a:r>
            <a:endParaRPr/>
          </a:p>
          <a:p>
            <a:pPr indent="-342900" lvl="0" marL="342900" rtl="0" algn="l">
              <a:spcBef>
                <a:spcPts val="1000"/>
              </a:spcBef>
              <a:spcAft>
                <a:spcPts val="0"/>
              </a:spcAft>
              <a:buSzPts val="1440"/>
              <a:buFont typeface="Trebuchet MS"/>
              <a:buAutoNum type="arabicPeriod"/>
            </a:pPr>
            <a:r>
              <a:rPr lang="en-US"/>
              <a:t>Interactive Systems</a:t>
            </a:r>
            <a:endParaRPr/>
          </a:p>
          <a:p>
            <a:pPr indent="-342900" lvl="0" marL="342900" rtl="0" algn="l">
              <a:spcBef>
                <a:spcPts val="1000"/>
              </a:spcBef>
              <a:spcAft>
                <a:spcPts val="0"/>
              </a:spcAft>
              <a:buSzPts val="1440"/>
              <a:buFont typeface="Trebuchet MS"/>
              <a:buAutoNum type="arabicPeriod"/>
            </a:pPr>
            <a:r>
              <a:rPr lang="en-US"/>
              <a:t>Real time Systems</a:t>
            </a:r>
            <a:endParaRPr/>
          </a:p>
        </p:txBody>
      </p:sp>
      <p:sp>
        <p:nvSpPr>
          <p:cNvPr id="570" name="Google Shape;570;p58"/>
          <p:cNvSpPr txBox="1"/>
          <p:nvPr/>
        </p:nvSpPr>
        <p:spPr>
          <a:xfrm>
            <a:off x="7216332" y="1930400"/>
            <a:ext cx="4298334" cy="4351723"/>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spcBef>
                <a:spcPts val="0"/>
              </a:spcBef>
              <a:spcAft>
                <a:spcPts val="0"/>
              </a:spcAft>
              <a:buClr>
                <a:schemeClr val="accent1"/>
              </a:buClr>
              <a:buSzPct val="79999"/>
              <a:buFont typeface="Noto Sans Symbols"/>
              <a:buNone/>
            </a:pPr>
            <a:r>
              <a:rPr b="1" lang="en-US" sz="1800">
                <a:solidFill>
                  <a:srgbClr val="3F3F3F"/>
                </a:solidFill>
                <a:latin typeface="Trebuchet MS"/>
                <a:ea typeface="Trebuchet MS"/>
                <a:cs typeface="Trebuchet MS"/>
                <a:sym typeface="Trebuchet MS"/>
              </a:rPr>
              <a:t>Goals</a:t>
            </a:r>
            <a:endParaRPr/>
          </a:p>
          <a:p>
            <a:pPr indent="0" lvl="0" marL="0" marR="0" rtl="0" algn="l">
              <a:spcBef>
                <a:spcPts val="1000"/>
              </a:spcBef>
              <a:spcAft>
                <a:spcPts val="0"/>
              </a:spcAft>
              <a:buClr>
                <a:schemeClr val="accent1"/>
              </a:buClr>
              <a:buSzPct val="79999"/>
              <a:buFont typeface="Noto Sans Symbols"/>
              <a:buNone/>
            </a:pPr>
            <a:r>
              <a:rPr lang="en-US" sz="1800">
                <a:solidFill>
                  <a:srgbClr val="3F3F3F"/>
                </a:solidFill>
                <a:latin typeface="Trebuchet MS"/>
                <a:ea typeface="Trebuchet MS"/>
                <a:cs typeface="Trebuchet MS"/>
                <a:sym typeface="Trebuchet MS"/>
              </a:rPr>
              <a:t>	-&gt; Fairness </a:t>
            </a:r>
            <a:endParaRPr/>
          </a:p>
          <a:p>
            <a:pPr indent="0" lvl="0" marL="0" marR="0" rtl="0" algn="l">
              <a:spcBef>
                <a:spcPts val="1000"/>
              </a:spcBef>
              <a:spcAft>
                <a:spcPts val="0"/>
              </a:spcAft>
              <a:buClr>
                <a:schemeClr val="accent1"/>
              </a:buClr>
              <a:buSzPct val="79999"/>
              <a:buFont typeface="Noto Sans Symbols"/>
              <a:buNone/>
            </a:pPr>
            <a:r>
              <a:rPr lang="en-US" sz="1800">
                <a:solidFill>
                  <a:srgbClr val="3F3F3F"/>
                </a:solidFill>
                <a:latin typeface="Trebuchet MS"/>
                <a:ea typeface="Trebuchet MS"/>
                <a:cs typeface="Trebuchet MS"/>
                <a:sym typeface="Trebuchet MS"/>
              </a:rPr>
              <a:t>	-&gt; Policy enforcement</a:t>
            </a:r>
            <a:endParaRPr/>
          </a:p>
          <a:p>
            <a:pPr indent="0" lvl="0" marL="0" marR="0" rtl="0" algn="l">
              <a:spcBef>
                <a:spcPts val="1000"/>
              </a:spcBef>
              <a:spcAft>
                <a:spcPts val="0"/>
              </a:spcAft>
              <a:buClr>
                <a:schemeClr val="accent1"/>
              </a:buClr>
              <a:buSzPct val="79999"/>
              <a:buFont typeface="Noto Sans Symbols"/>
              <a:buNone/>
            </a:pPr>
            <a:r>
              <a:rPr lang="en-US" sz="1800">
                <a:solidFill>
                  <a:srgbClr val="3F3F3F"/>
                </a:solidFill>
                <a:latin typeface="Trebuchet MS"/>
                <a:ea typeface="Trebuchet MS"/>
                <a:cs typeface="Trebuchet MS"/>
                <a:sym typeface="Trebuchet MS"/>
              </a:rPr>
              <a:t>	-&gt; Balance</a:t>
            </a:r>
            <a:endParaRPr/>
          </a:p>
          <a:p>
            <a:pPr indent="-342900" lvl="0" marL="342900" marR="0" rtl="0" algn="l">
              <a:spcBef>
                <a:spcPts val="1000"/>
              </a:spcBef>
              <a:spcAft>
                <a:spcPts val="0"/>
              </a:spcAft>
              <a:buClr>
                <a:schemeClr val="accent1"/>
              </a:buClr>
              <a:buSzPct val="79999"/>
              <a:buFont typeface="Trebuchet MS"/>
              <a:buAutoNum type="arabicPeriod"/>
            </a:pPr>
            <a:r>
              <a:rPr lang="en-US" sz="1800">
                <a:solidFill>
                  <a:srgbClr val="3F3F3F"/>
                </a:solidFill>
                <a:latin typeface="Trebuchet MS"/>
                <a:ea typeface="Trebuchet MS"/>
                <a:cs typeface="Trebuchet MS"/>
                <a:sym typeface="Trebuchet MS"/>
              </a:rPr>
              <a:t>Batch Systems</a:t>
            </a:r>
            <a:endParaRPr/>
          </a:p>
          <a:p>
            <a:pPr indent="-285750" lvl="1" marL="742950" marR="0" rtl="0" algn="l">
              <a:spcBef>
                <a:spcPts val="1000"/>
              </a:spcBef>
              <a:spcAft>
                <a:spcPts val="0"/>
              </a:spcAft>
              <a:buClr>
                <a:schemeClr val="accent1"/>
              </a:buClr>
              <a:buSzPct val="80000"/>
              <a:buFont typeface="Trebuchet MS"/>
              <a:buAutoNum type="arabicPeriod"/>
            </a:pPr>
            <a:r>
              <a:rPr b="0" i="0" lang="en-US" sz="1600" u="none" cap="none" strike="noStrike">
                <a:solidFill>
                  <a:srgbClr val="3F3F3F"/>
                </a:solidFill>
                <a:latin typeface="Trebuchet MS"/>
                <a:ea typeface="Trebuchet MS"/>
                <a:cs typeface="Trebuchet MS"/>
                <a:sym typeface="Trebuchet MS"/>
              </a:rPr>
              <a:t>Throughput</a:t>
            </a:r>
            <a:endParaRPr/>
          </a:p>
          <a:p>
            <a:pPr indent="-285750" lvl="1" marL="742950" marR="0" rtl="0" algn="l">
              <a:spcBef>
                <a:spcPts val="1000"/>
              </a:spcBef>
              <a:spcAft>
                <a:spcPts val="0"/>
              </a:spcAft>
              <a:buClr>
                <a:schemeClr val="accent1"/>
              </a:buClr>
              <a:buSzPct val="80000"/>
              <a:buFont typeface="Trebuchet MS"/>
              <a:buAutoNum type="arabicPeriod"/>
            </a:pPr>
            <a:r>
              <a:rPr b="0" i="0" lang="en-US" sz="1600" u="none" cap="none" strike="noStrike">
                <a:solidFill>
                  <a:srgbClr val="3F3F3F"/>
                </a:solidFill>
                <a:latin typeface="Trebuchet MS"/>
                <a:ea typeface="Trebuchet MS"/>
                <a:cs typeface="Trebuchet MS"/>
                <a:sym typeface="Trebuchet MS"/>
              </a:rPr>
              <a:t>Turnaround time</a:t>
            </a:r>
            <a:endParaRPr/>
          </a:p>
          <a:p>
            <a:pPr indent="-285750" lvl="1" marL="742950" marR="0" rtl="0" algn="l">
              <a:spcBef>
                <a:spcPts val="1000"/>
              </a:spcBef>
              <a:spcAft>
                <a:spcPts val="0"/>
              </a:spcAft>
              <a:buClr>
                <a:schemeClr val="accent1"/>
              </a:buClr>
              <a:buSzPct val="80000"/>
              <a:buFont typeface="Trebuchet MS"/>
              <a:buAutoNum type="arabicPeriod"/>
            </a:pPr>
            <a:r>
              <a:rPr b="0" i="0" lang="en-US" sz="1600" u="none" cap="none" strike="noStrike">
                <a:solidFill>
                  <a:srgbClr val="3F3F3F"/>
                </a:solidFill>
                <a:latin typeface="Trebuchet MS"/>
                <a:ea typeface="Trebuchet MS"/>
                <a:cs typeface="Trebuchet MS"/>
                <a:sym typeface="Trebuchet MS"/>
              </a:rPr>
              <a:t>CPU utilixation</a:t>
            </a:r>
            <a:endParaRPr b="0" i="0" sz="1600" u="none" cap="none" strike="noStrike">
              <a:solidFill>
                <a:srgbClr val="3F3F3F"/>
              </a:solidFill>
              <a:latin typeface="Trebuchet MS"/>
              <a:ea typeface="Trebuchet MS"/>
              <a:cs typeface="Trebuchet MS"/>
              <a:sym typeface="Trebuchet MS"/>
            </a:endParaRPr>
          </a:p>
          <a:p>
            <a:pPr indent="-342900" lvl="0" marL="342900" marR="0" rtl="0" algn="l">
              <a:spcBef>
                <a:spcPts val="1000"/>
              </a:spcBef>
              <a:spcAft>
                <a:spcPts val="0"/>
              </a:spcAft>
              <a:buClr>
                <a:schemeClr val="accent1"/>
              </a:buClr>
              <a:buSzPct val="79999"/>
              <a:buFont typeface="Trebuchet MS"/>
              <a:buAutoNum type="arabicPeriod"/>
            </a:pPr>
            <a:r>
              <a:rPr lang="en-US" sz="1800">
                <a:solidFill>
                  <a:srgbClr val="3F3F3F"/>
                </a:solidFill>
                <a:latin typeface="Trebuchet MS"/>
                <a:ea typeface="Trebuchet MS"/>
                <a:cs typeface="Trebuchet MS"/>
                <a:sym typeface="Trebuchet MS"/>
              </a:rPr>
              <a:t>Interactive Systems</a:t>
            </a:r>
            <a:endParaRPr/>
          </a:p>
          <a:p>
            <a:pPr indent="-285750" lvl="1" marL="742950" marR="0" rtl="0" algn="l">
              <a:spcBef>
                <a:spcPts val="1000"/>
              </a:spcBef>
              <a:spcAft>
                <a:spcPts val="0"/>
              </a:spcAft>
              <a:buClr>
                <a:schemeClr val="accent1"/>
              </a:buClr>
              <a:buSzPct val="80000"/>
              <a:buFont typeface="Trebuchet MS"/>
              <a:buAutoNum type="arabicPeriod"/>
            </a:pPr>
            <a:r>
              <a:rPr b="0" i="0" lang="en-US" sz="1600" u="none" cap="none" strike="noStrike">
                <a:solidFill>
                  <a:srgbClr val="3F3F3F"/>
                </a:solidFill>
                <a:latin typeface="Trebuchet MS"/>
                <a:ea typeface="Trebuchet MS"/>
                <a:cs typeface="Trebuchet MS"/>
                <a:sym typeface="Trebuchet MS"/>
              </a:rPr>
              <a:t>Response time</a:t>
            </a:r>
            <a:endParaRPr/>
          </a:p>
          <a:p>
            <a:pPr indent="-285750" lvl="1" marL="742950" marR="0" rtl="0" algn="l">
              <a:spcBef>
                <a:spcPts val="1000"/>
              </a:spcBef>
              <a:spcAft>
                <a:spcPts val="0"/>
              </a:spcAft>
              <a:buClr>
                <a:schemeClr val="accent1"/>
              </a:buClr>
              <a:buSzPct val="80000"/>
              <a:buFont typeface="Trebuchet MS"/>
              <a:buAutoNum type="arabicPeriod"/>
            </a:pPr>
            <a:r>
              <a:rPr b="0" i="0" lang="en-US" sz="1600" u="none" cap="none" strike="noStrike">
                <a:solidFill>
                  <a:srgbClr val="3F3F3F"/>
                </a:solidFill>
                <a:latin typeface="Trebuchet MS"/>
                <a:ea typeface="Trebuchet MS"/>
                <a:cs typeface="Trebuchet MS"/>
                <a:sym typeface="Trebuchet MS"/>
              </a:rPr>
              <a:t>Proportanality</a:t>
            </a:r>
            <a:endParaRPr b="0" i="0" sz="1600" u="none" cap="none" strike="noStrike">
              <a:solidFill>
                <a:srgbClr val="3F3F3F"/>
              </a:solidFill>
              <a:latin typeface="Trebuchet MS"/>
              <a:ea typeface="Trebuchet MS"/>
              <a:cs typeface="Trebuchet MS"/>
              <a:sym typeface="Trebuchet MS"/>
            </a:endParaRPr>
          </a:p>
          <a:p>
            <a:pPr indent="-342900" lvl="0" marL="342900" marR="0" rtl="0" algn="l">
              <a:spcBef>
                <a:spcPts val="1000"/>
              </a:spcBef>
              <a:spcAft>
                <a:spcPts val="0"/>
              </a:spcAft>
              <a:buClr>
                <a:schemeClr val="accent1"/>
              </a:buClr>
              <a:buSzPct val="79999"/>
              <a:buFont typeface="Trebuchet MS"/>
              <a:buAutoNum type="arabicPeriod"/>
            </a:pPr>
            <a:r>
              <a:rPr lang="en-US" sz="1800">
                <a:solidFill>
                  <a:srgbClr val="3F3F3F"/>
                </a:solidFill>
                <a:latin typeface="Trebuchet MS"/>
                <a:ea typeface="Trebuchet MS"/>
                <a:cs typeface="Trebuchet MS"/>
                <a:sym typeface="Trebuchet MS"/>
              </a:rPr>
              <a:t>Real time Systems</a:t>
            </a:r>
            <a:endParaRPr/>
          </a:p>
          <a:p>
            <a:pPr indent="-285750" lvl="1" marL="742950" marR="0" rtl="0" algn="l">
              <a:spcBef>
                <a:spcPts val="1000"/>
              </a:spcBef>
              <a:spcAft>
                <a:spcPts val="0"/>
              </a:spcAft>
              <a:buClr>
                <a:schemeClr val="accent1"/>
              </a:buClr>
              <a:buSzPct val="80000"/>
              <a:buFont typeface="Trebuchet MS"/>
              <a:buAutoNum type="arabicPeriod"/>
            </a:pPr>
            <a:r>
              <a:rPr b="0" i="0" lang="en-US" sz="1600" u="none" cap="none" strike="noStrike">
                <a:solidFill>
                  <a:srgbClr val="3F3F3F"/>
                </a:solidFill>
                <a:latin typeface="Trebuchet MS"/>
                <a:ea typeface="Trebuchet MS"/>
                <a:cs typeface="Trebuchet MS"/>
                <a:sym typeface="Trebuchet MS"/>
              </a:rPr>
              <a:t>Meeting deadlines</a:t>
            </a:r>
            <a:endParaRPr/>
          </a:p>
          <a:p>
            <a:pPr indent="-285750" lvl="1" marL="742950" marR="0" rtl="0" algn="l">
              <a:spcBef>
                <a:spcPts val="1000"/>
              </a:spcBef>
              <a:spcAft>
                <a:spcPts val="0"/>
              </a:spcAft>
              <a:buClr>
                <a:schemeClr val="accent1"/>
              </a:buClr>
              <a:buSzPct val="80000"/>
              <a:buFont typeface="Trebuchet MS"/>
              <a:buAutoNum type="arabicPeriod"/>
            </a:pPr>
            <a:r>
              <a:rPr b="0" i="0" lang="en-US" sz="1600" u="none" cap="none" strike="noStrike">
                <a:solidFill>
                  <a:srgbClr val="3F3F3F"/>
                </a:solidFill>
                <a:latin typeface="Trebuchet MS"/>
                <a:ea typeface="Trebuchet MS"/>
                <a:cs typeface="Trebuchet MS"/>
                <a:sym typeface="Trebuchet MS"/>
              </a:rPr>
              <a:t>Predictability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First come first served (FCFS)</a:t>
            </a:r>
            <a:endParaRPr/>
          </a:p>
        </p:txBody>
      </p:sp>
      <p:sp>
        <p:nvSpPr>
          <p:cNvPr id="576" name="Google Shape;576;p5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79999"/>
              <a:buChar char="►"/>
            </a:pPr>
            <a:r>
              <a:rPr lang="en-US"/>
              <a:t>Jobs are executed on first come, first serve basis.</a:t>
            </a:r>
            <a:endParaRPr/>
          </a:p>
          <a:p>
            <a:pPr indent="-342900" lvl="0" marL="342900" rtl="0" algn="l">
              <a:spcBef>
                <a:spcPts val="1000"/>
              </a:spcBef>
              <a:spcAft>
                <a:spcPts val="0"/>
              </a:spcAft>
              <a:buSzPct val="79999"/>
              <a:buChar char="►"/>
            </a:pPr>
            <a:r>
              <a:rPr lang="en-US"/>
              <a:t>It is both non-preemptive, preemptive</a:t>
            </a:r>
            <a:endParaRPr/>
          </a:p>
          <a:p>
            <a:pPr indent="-342900" lvl="0" marL="342900" rtl="0" algn="l">
              <a:spcBef>
                <a:spcPts val="1000"/>
              </a:spcBef>
              <a:spcAft>
                <a:spcPts val="0"/>
              </a:spcAft>
              <a:buSzPct val="79999"/>
              <a:buChar char="►"/>
            </a:pPr>
            <a:r>
              <a:rPr lang="en-US"/>
              <a:t>Its implementation is based on FIFO queue</a:t>
            </a:r>
            <a:endParaRPr/>
          </a:p>
          <a:p>
            <a:pPr indent="0" lvl="0" marL="0" rtl="0" algn="l">
              <a:spcBef>
                <a:spcPts val="1000"/>
              </a:spcBef>
              <a:spcAft>
                <a:spcPts val="0"/>
              </a:spcAft>
              <a:buSzPct val="79999"/>
              <a:buNone/>
            </a:pPr>
            <a:r>
              <a:rPr b="1" lang="en-US" u="sng"/>
              <a:t>Advantages</a:t>
            </a:r>
            <a:endParaRPr/>
          </a:p>
          <a:p>
            <a:pPr indent="-285750" lvl="1" marL="742950" rtl="0" algn="l">
              <a:spcBef>
                <a:spcPts val="1000"/>
              </a:spcBef>
              <a:spcAft>
                <a:spcPts val="0"/>
              </a:spcAft>
              <a:buSzPct val="80000"/>
              <a:buChar char="►"/>
            </a:pPr>
            <a:r>
              <a:rPr lang="en-US"/>
              <a:t>Simple and easy to implement.</a:t>
            </a:r>
            <a:endParaRPr/>
          </a:p>
          <a:p>
            <a:pPr indent="-285750" lvl="1" marL="742950" rtl="0" algn="l">
              <a:spcBef>
                <a:spcPts val="1000"/>
              </a:spcBef>
              <a:spcAft>
                <a:spcPts val="0"/>
              </a:spcAft>
              <a:buSzPct val="80000"/>
              <a:buChar char="►"/>
            </a:pPr>
            <a:r>
              <a:rPr lang="en-US"/>
              <a:t>Fair in the sense that processes are served in order of arrival.</a:t>
            </a:r>
            <a:endParaRPr/>
          </a:p>
          <a:p>
            <a:pPr indent="-342900" lvl="0" marL="342900" rtl="0" algn="l">
              <a:spcBef>
                <a:spcPts val="1000"/>
              </a:spcBef>
              <a:spcAft>
                <a:spcPts val="0"/>
              </a:spcAft>
              <a:buSzPct val="79999"/>
              <a:buChar char="►"/>
            </a:pPr>
            <a:r>
              <a:rPr b="1" lang="en-US"/>
              <a:t>Disadvantages</a:t>
            </a:r>
            <a:endParaRPr/>
          </a:p>
          <a:p>
            <a:pPr indent="-285750" lvl="1" marL="742950" rtl="0" algn="l">
              <a:spcBef>
                <a:spcPts val="1000"/>
              </a:spcBef>
              <a:spcAft>
                <a:spcPts val="0"/>
              </a:spcAft>
              <a:buSzPct val="80000"/>
              <a:buChar char="►"/>
            </a:pPr>
            <a:r>
              <a:rPr lang="en-US"/>
              <a:t>Can cause </a:t>
            </a:r>
            <a:r>
              <a:rPr b="1" lang="en-US"/>
              <a:t>convoy effect</a:t>
            </a:r>
            <a:r>
              <a:rPr lang="en-US"/>
              <a:t> (short jobs wait behind long jobs).</a:t>
            </a:r>
            <a:endParaRPr/>
          </a:p>
          <a:p>
            <a:pPr indent="-285750" lvl="1" marL="742950" rtl="0" algn="l">
              <a:spcBef>
                <a:spcPts val="1000"/>
              </a:spcBef>
              <a:spcAft>
                <a:spcPts val="0"/>
              </a:spcAft>
              <a:buSzPct val="80000"/>
              <a:buChar char="►"/>
            </a:pPr>
            <a:r>
              <a:rPr lang="en-US"/>
              <a:t>Poor performance for interactive systems.</a:t>
            </a:r>
            <a:endParaRPr/>
          </a:p>
          <a:p>
            <a:pPr indent="-285750" lvl="1" marL="742950" rtl="0" algn="l">
              <a:spcBef>
                <a:spcPts val="1000"/>
              </a:spcBef>
              <a:spcAft>
                <a:spcPts val="0"/>
              </a:spcAft>
              <a:buSzPct val="80000"/>
              <a:buChar char="►"/>
            </a:pPr>
            <a:r>
              <a:rPr lang="en-US"/>
              <a:t>AWT is much higher in comparison to other approaches.</a:t>
            </a:r>
            <a:endParaRPr/>
          </a:p>
          <a:p>
            <a:pPr indent="-342900" lvl="0" marL="342900" rtl="0" algn="l">
              <a:spcBef>
                <a:spcPts val="1000"/>
              </a:spcBef>
              <a:spcAft>
                <a:spcPts val="0"/>
              </a:spcAft>
              <a:buSzPct val="79999"/>
              <a:buChar char="►"/>
            </a:pPr>
            <a:r>
              <a:rPr b="1" lang="en-US"/>
              <a:t>Use cases</a:t>
            </a:r>
            <a:endParaRPr/>
          </a:p>
          <a:p>
            <a:pPr indent="-285750" lvl="1" marL="742950" rtl="0" algn="l">
              <a:spcBef>
                <a:spcPts val="1000"/>
              </a:spcBef>
              <a:spcAft>
                <a:spcPts val="0"/>
              </a:spcAft>
              <a:buSzPct val="80000"/>
              <a:buChar char="►"/>
            </a:pPr>
            <a:r>
              <a:rPr lang="en-US"/>
              <a:t>Batch systems.</a:t>
            </a:r>
            <a:endParaRPr/>
          </a:p>
          <a:p>
            <a:pPr indent="-258318" lvl="0" marL="342900" rtl="0" algn="l">
              <a:spcBef>
                <a:spcPts val="1000"/>
              </a:spcBef>
              <a:spcAft>
                <a:spcPts val="0"/>
              </a:spcAft>
              <a:buSzPct val="79999"/>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Numerical </a:t>
            </a:r>
            <a:endParaRPr/>
          </a:p>
        </p:txBody>
      </p:sp>
      <p:sp>
        <p:nvSpPr>
          <p:cNvPr id="582" name="Google Shape;582;p6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graphicFrame>
        <p:nvGraphicFramePr>
          <p:cNvPr id="583" name="Google Shape;583;p60"/>
          <p:cNvGraphicFramePr/>
          <p:nvPr/>
        </p:nvGraphicFramePr>
        <p:xfrm>
          <a:off x="628492" y="1589087"/>
          <a:ext cx="3000000" cy="3000000"/>
        </p:xfrm>
        <a:graphic>
          <a:graphicData uri="http://schemas.openxmlformats.org/drawingml/2006/table">
            <a:tbl>
              <a:tblPr bandRow="1" firstRow="1">
                <a:noFill/>
                <a:tableStyleId>{4A1EB111-B6CD-4540-B144-BA16F0421430}</a:tableStyleId>
              </a:tblPr>
              <a:tblGrid>
                <a:gridCol w="962350"/>
                <a:gridCol w="884550"/>
                <a:gridCol w="725000"/>
                <a:gridCol w="1314450"/>
                <a:gridCol w="1047750"/>
                <a:gridCol w="914400"/>
                <a:gridCol w="1028700"/>
                <a:gridCol w="1104900"/>
                <a:gridCol w="1627500"/>
              </a:tblGrid>
              <a:tr h="1071425">
                <a:tc>
                  <a:txBody>
                    <a:bodyPr/>
                    <a:lstStyle/>
                    <a:p>
                      <a:pPr indent="0" lvl="0" marL="0" marR="0" rtl="0" algn="ctr">
                        <a:spcBef>
                          <a:spcPts val="0"/>
                        </a:spcBef>
                        <a:spcAft>
                          <a:spcPts val="0"/>
                        </a:spcAft>
                        <a:buNone/>
                      </a:pPr>
                      <a:r>
                        <a:rPr lang="en-US" sz="1600"/>
                        <a:t>Process</a:t>
                      </a:r>
                      <a:endParaRPr/>
                    </a:p>
                  </a:txBody>
                  <a:tcPr marT="45725" marB="45725" marR="91450" marL="91450"/>
                </a:tc>
                <a:tc>
                  <a:txBody>
                    <a:bodyPr/>
                    <a:lstStyle/>
                    <a:p>
                      <a:pPr indent="0" lvl="0" marL="0" marR="0" rtl="0" algn="ctr">
                        <a:spcBef>
                          <a:spcPts val="0"/>
                        </a:spcBef>
                        <a:spcAft>
                          <a:spcPts val="0"/>
                        </a:spcAft>
                        <a:buNone/>
                      </a:pPr>
                      <a:r>
                        <a:rPr lang="en-US" sz="1600"/>
                        <a:t>Arrival</a:t>
                      </a:r>
                      <a:endParaRPr/>
                    </a:p>
                  </a:txBody>
                  <a:tcPr marT="45725" marB="45725" marR="91450" marL="91450"/>
                </a:tc>
                <a:tc>
                  <a:txBody>
                    <a:bodyPr/>
                    <a:lstStyle/>
                    <a:p>
                      <a:pPr indent="0" lvl="0" marL="0" marR="0" rtl="0" algn="ctr">
                        <a:spcBef>
                          <a:spcPts val="0"/>
                        </a:spcBef>
                        <a:spcAft>
                          <a:spcPts val="0"/>
                        </a:spcAft>
                        <a:buNone/>
                      </a:pPr>
                      <a:r>
                        <a:rPr lang="en-US" sz="1600"/>
                        <a:t>Burst time</a:t>
                      </a:r>
                      <a:endParaRPr/>
                    </a:p>
                  </a:txBody>
                  <a:tcPr marT="45725" marB="45725" marR="91450" marL="91450"/>
                </a:tc>
                <a:tc>
                  <a:txBody>
                    <a:bodyPr/>
                    <a:lstStyle/>
                    <a:p>
                      <a:pPr indent="0" lvl="0" marL="0" marR="0" rtl="0" algn="ctr">
                        <a:spcBef>
                          <a:spcPts val="0"/>
                        </a:spcBef>
                        <a:spcAft>
                          <a:spcPts val="0"/>
                        </a:spcAft>
                        <a:buNone/>
                      </a:pPr>
                      <a:r>
                        <a:rPr lang="en-US" sz="1600"/>
                        <a:t>Completion time</a:t>
                      </a:r>
                      <a:endParaRPr/>
                    </a:p>
                  </a:txBody>
                  <a:tcPr marT="45725" marB="45725" marR="91450" marL="91450"/>
                </a:tc>
                <a:tc>
                  <a:txBody>
                    <a:bodyPr/>
                    <a:lstStyle/>
                    <a:p>
                      <a:pPr indent="0" lvl="0" marL="0" marR="0" rtl="0" algn="ctr">
                        <a:spcBef>
                          <a:spcPts val="0"/>
                        </a:spcBef>
                        <a:spcAft>
                          <a:spcPts val="0"/>
                        </a:spcAft>
                        <a:buNone/>
                      </a:pPr>
                      <a:r>
                        <a:rPr lang="en-US" sz="1600"/>
                        <a:t>Turn Around Time</a:t>
                      </a:r>
                      <a:endParaRPr/>
                    </a:p>
                  </a:txBody>
                  <a:tcPr marT="45725" marB="45725" marR="91450" marL="91450"/>
                </a:tc>
                <a:tc>
                  <a:txBody>
                    <a:bodyPr/>
                    <a:lstStyle/>
                    <a:p>
                      <a:pPr indent="0" lvl="0" marL="0" marR="0" rtl="0" algn="ctr">
                        <a:spcBef>
                          <a:spcPts val="0"/>
                        </a:spcBef>
                        <a:spcAft>
                          <a:spcPts val="0"/>
                        </a:spcAft>
                        <a:buNone/>
                      </a:pPr>
                      <a:r>
                        <a:rPr lang="en-US" sz="1600"/>
                        <a:t>Waiting time</a:t>
                      </a:r>
                      <a:endParaRPr/>
                    </a:p>
                  </a:txBody>
                  <a:tcPr marT="45725" marB="45725" marR="91450" marL="91450"/>
                </a:tc>
                <a:tc>
                  <a:txBody>
                    <a:bodyPr/>
                    <a:lstStyle/>
                    <a:p>
                      <a:pPr indent="0" lvl="0" marL="0" marR="0" rtl="0" algn="ctr">
                        <a:spcBef>
                          <a:spcPts val="0"/>
                        </a:spcBef>
                        <a:spcAft>
                          <a:spcPts val="0"/>
                        </a:spcAft>
                        <a:buNone/>
                      </a:pPr>
                      <a:r>
                        <a:rPr lang="en-US" sz="1600"/>
                        <a:t>Average TAT</a:t>
                      </a:r>
                      <a:endParaRPr/>
                    </a:p>
                  </a:txBody>
                  <a:tcPr marT="45725" marB="45725" marR="91450" marL="91450"/>
                </a:tc>
                <a:tc>
                  <a:txBody>
                    <a:bodyPr/>
                    <a:lstStyle/>
                    <a:p>
                      <a:pPr indent="0" lvl="0" marL="0" marR="0" rtl="0" algn="ctr">
                        <a:spcBef>
                          <a:spcPts val="0"/>
                        </a:spcBef>
                        <a:spcAft>
                          <a:spcPts val="0"/>
                        </a:spcAft>
                        <a:buNone/>
                      </a:pPr>
                      <a:r>
                        <a:rPr lang="en-US" sz="1600"/>
                        <a:t>Average WT</a:t>
                      </a:r>
                      <a:endParaRPr/>
                    </a:p>
                  </a:txBody>
                  <a:tcPr marT="45725" marB="45725" marR="91450" marL="91450"/>
                </a:tc>
                <a:tc>
                  <a:txBody>
                    <a:bodyPr/>
                    <a:lstStyle/>
                    <a:p>
                      <a:pPr indent="0" lvl="0" marL="0" marR="0" rtl="0" algn="ctr">
                        <a:spcBef>
                          <a:spcPts val="0"/>
                        </a:spcBef>
                        <a:spcAft>
                          <a:spcPts val="0"/>
                        </a:spcAft>
                        <a:buNone/>
                      </a:pPr>
                      <a:r>
                        <a:rPr lang="en-US" sz="1600"/>
                        <a:t>Response time</a:t>
                      </a:r>
                      <a:endParaRPr/>
                    </a:p>
                  </a:txBody>
                  <a:tcPr marT="45725" marB="45725" marR="91450" marL="91450"/>
                </a:tc>
              </a:tr>
              <a:tr h="620750">
                <a:tc>
                  <a:txBody>
                    <a:bodyPr/>
                    <a:lstStyle/>
                    <a:p>
                      <a:pPr indent="0" lvl="0" marL="0" marR="0" rtl="0" algn="l">
                        <a:spcBef>
                          <a:spcPts val="0"/>
                        </a:spcBef>
                        <a:spcAft>
                          <a:spcPts val="0"/>
                        </a:spcAft>
                        <a:buNone/>
                      </a:pPr>
                      <a:r>
                        <a:rPr lang="en-US" sz="1600"/>
                        <a:t>P1</a:t>
                      </a:r>
                      <a:endParaRPr/>
                    </a:p>
                  </a:txBody>
                  <a:tcPr marT="45725" marB="45725" marR="91450" marL="91450"/>
                </a:tc>
                <a:tc>
                  <a:txBody>
                    <a:bodyPr/>
                    <a:lstStyle/>
                    <a:p>
                      <a:pPr indent="0" lvl="0" marL="0" marR="0" rtl="0" algn="l">
                        <a:spcBef>
                          <a:spcPts val="0"/>
                        </a:spcBef>
                        <a:spcAft>
                          <a:spcPts val="0"/>
                        </a:spcAft>
                        <a:buNone/>
                      </a:pPr>
                      <a:r>
                        <a:rPr lang="en-US" sz="1600"/>
                        <a:t>0</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620750">
                <a:tc>
                  <a:txBody>
                    <a:bodyPr/>
                    <a:lstStyle/>
                    <a:p>
                      <a:pPr indent="0" lvl="0" marL="0" marR="0" rtl="0" algn="l">
                        <a:spcBef>
                          <a:spcPts val="0"/>
                        </a:spcBef>
                        <a:spcAft>
                          <a:spcPts val="0"/>
                        </a:spcAft>
                        <a:buNone/>
                      </a:pPr>
                      <a:r>
                        <a:rPr lang="en-US" sz="1600"/>
                        <a:t>P2</a:t>
                      </a:r>
                      <a:endParaRPr/>
                    </a:p>
                  </a:txBody>
                  <a:tcPr marT="45725" marB="45725" marR="91450" marL="91450"/>
                </a:tc>
                <a:tc>
                  <a:txBody>
                    <a:bodyPr/>
                    <a:lstStyle/>
                    <a:p>
                      <a:pPr indent="0" lvl="0" marL="0" marR="0" rtl="0" algn="l">
                        <a:spcBef>
                          <a:spcPts val="0"/>
                        </a:spcBef>
                        <a:spcAft>
                          <a:spcPts val="0"/>
                        </a:spcAft>
                        <a:buNone/>
                      </a:pPr>
                      <a:r>
                        <a:rPr lang="en-US" sz="1600"/>
                        <a:t>7</a:t>
                      </a:r>
                      <a:endParaRPr/>
                    </a:p>
                  </a:txBody>
                  <a:tcPr marT="45725" marB="45725" marR="91450" marL="91450"/>
                </a:tc>
                <a:tc>
                  <a:txBody>
                    <a:bodyPr/>
                    <a:lstStyle/>
                    <a:p>
                      <a:pPr indent="0" lvl="0" marL="0" marR="0" rtl="0" algn="l">
                        <a:spcBef>
                          <a:spcPts val="0"/>
                        </a:spcBef>
                        <a:spcAft>
                          <a:spcPts val="0"/>
                        </a:spcAft>
                        <a:buNone/>
                      </a:pPr>
                      <a:r>
                        <a:rPr lang="en-US" sz="1600"/>
                        <a:t>6</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620750">
                <a:tc>
                  <a:txBody>
                    <a:bodyPr/>
                    <a:lstStyle/>
                    <a:p>
                      <a:pPr indent="0" lvl="0" marL="0" marR="0" rtl="0" algn="l">
                        <a:spcBef>
                          <a:spcPts val="0"/>
                        </a:spcBef>
                        <a:spcAft>
                          <a:spcPts val="0"/>
                        </a:spcAft>
                        <a:buNone/>
                      </a:pPr>
                      <a:r>
                        <a:rPr lang="en-US" sz="1600"/>
                        <a:t>P3</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rPr lang="en-US" sz="1600"/>
                        <a:t>3</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620750">
                <a:tc>
                  <a:txBody>
                    <a:bodyPr/>
                    <a:lstStyle/>
                    <a:p>
                      <a:pPr indent="0" lvl="0" marL="0" marR="0" rtl="0" algn="l">
                        <a:spcBef>
                          <a:spcPts val="0"/>
                        </a:spcBef>
                        <a:spcAft>
                          <a:spcPts val="0"/>
                        </a:spcAft>
                        <a:buNone/>
                      </a:pPr>
                      <a:r>
                        <a:rPr lang="en-US" sz="1600"/>
                        <a:t>P4</a:t>
                      </a:r>
                      <a:endParaRPr/>
                    </a:p>
                  </a:txBody>
                  <a:tcPr marT="45725" marB="45725" marR="91450" marL="91450"/>
                </a:tc>
                <a:tc>
                  <a:txBody>
                    <a:bodyPr/>
                    <a:lstStyle/>
                    <a:p>
                      <a:pPr indent="0" lvl="0" marL="0" marR="0" rtl="0" algn="l">
                        <a:spcBef>
                          <a:spcPts val="0"/>
                        </a:spcBef>
                        <a:spcAft>
                          <a:spcPts val="0"/>
                        </a:spcAft>
                        <a:buNone/>
                      </a:pPr>
                      <a:r>
                        <a:rPr lang="en-US" sz="1600"/>
                        <a:t>2</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bl>
          </a:graphicData>
        </a:graphic>
      </p:graphicFrame>
      <p:sp>
        <p:nvSpPr>
          <p:cNvPr id="584" name="Google Shape;584;p60"/>
          <p:cNvSpPr txBox="1"/>
          <p:nvPr/>
        </p:nvSpPr>
        <p:spPr>
          <a:xfrm>
            <a:off x="6675120" y="321895"/>
            <a:ext cx="24113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Criterial: Arrival time</a:t>
            </a:r>
            <a:endParaRPr/>
          </a:p>
        </p:txBody>
      </p:sp>
      <p:sp>
        <p:nvSpPr>
          <p:cNvPr id="585" name="Google Shape;585;p60"/>
          <p:cNvSpPr txBox="1"/>
          <p:nvPr/>
        </p:nvSpPr>
        <p:spPr>
          <a:xfrm>
            <a:off x="6661769" y="691227"/>
            <a:ext cx="37914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Non  preemptive, preemptive both</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Shortest Job first (SJF)</a:t>
            </a:r>
            <a:endParaRPr/>
          </a:p>
        </p:txBody>
      </p:sp>
      <p:sp>
        <p:nvSpPr>
          <p:cNvPr id="591" name="Google Shape;591;p6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9999"/>
              <a:buNone/>
            </a:pPr>
            <a:r>
              <a:rPr lang="en-US"/>
              <a:t>Selects the process with the </a:t>
            </a:r>
            <a:r>
              <a:rPr b="1" lang="en-US"/>
              <a:t>shortest </a:t>
            </a:r>
            <a:r>
              <a:rPr b="1" lang="en-US">
                <a:solidFill>
                  <a:srgbClr val="FF0000"/>
                </a:solidFill>
              </a:rPr>
              <a:t>Burst time</a:t>
            </a:r>
            <a:r>
              <a:rPr lang="en-US"/>
              <a:t>.</a:t>
            </a:r>
            <a:endParaRPr/>
          </a:p>
          <a:p>
            <a:pPr indent="0" lvl="0" marL="0" rtl="0" algn="l">
              <a:spcBef>
                <a:spcPts val="1000"/>
              </a:spcBef>
              <a:spcAft>
                <a:spcPts val="0"/>
              </a:spcAft>
              <a:buSzPct val="79999"/>
              <a:buNone/>
            </a:pPr>
            <a:r>
              <a:rPr lang="en-US"/>
              <a:t>Non-preemptive version: running process completes.</a:t>
            </a:r>
            <a:endParaRPr/>
          </a:p>
          <a:p>
            <a:pPr indent="0" lvl="0" marL="0" rtl="0" algn="l">
              <a:spcBef>
                <a:spcPts val="1000"/>
              </a:spcBef>
              <a:spcAft>
                <a:spcPts val="0"/>
              </a:spcAft>
              <a:buSzPct val="79999"/>
              <a:buNone/>
            </a:pPr>
            <a:r>
              <a:rPr lang="en-US"/>
              <a:t>Preemptive version is called </a:t>
            </a:r>
            <a:r>
              <a:rPr b="1" lang="en-US"/>
              <a:t>SRTF</a:t>
            </a:r>
            <a:r>
              <a:rPr lang="en-US"/>
              <a:t>.</a:t>
            </a:r>
            <a:endParaRPr/>
          </a:p>
          <a:p>
            <a:pPr indent="0" lvl="0" marL="0" rtl="0" algn="l">
              <a:spcBef>
                <a:spcPts val="1000"/>
              </a:spcBef>
              <a:spcAft>
                <a:spcPts val="0"/>
              </a:spcAft>
              <a:buSzPct val="79999"/>
              <a:buNone/>
            </a:pPr>
            <a:r>
              <a:rPr b="1" lang="en-US" u="sng"/>
              <a:t>Advantages</a:t>
            </a:r>
            <a:endParaRPr/>
          </a:p>
          <a:p>
            <a:pPr indent="-342900" lvl="0" marL="342900" rtl="0" algn="l">
              <a:spcBef>
                <a:spcPts val="1000"/>
              </a:spcBef>
              <a:spcAft>
                <a:spcPts val="0"/>
              </a:spcAft>
              <a:buSzPct val="79999"/>
              <a:buChar char="►"/>
            </a:pPr>
            <a:r>
              <a:rPr b="1" lang="en-US"/>
              <a:t>Minimum average waiting time</a:t>
            </a:r>
            <a:r>
              <a:rPr lang="en-US"/>
              <a:t> among all algorithms.</a:t>
            </a:r>
            <a:endParaRPr/>
          </a:p>
          <a:p>
            <a:pPr indent="-342900" lvl="0" marL="342900" rtl="0" algn="l">
              <a:spcBef>
                <a:spcPts val="1000"/>
              </a:spcBef>
              <a:spcAft>
                <a:spcPts val="0"/>
              </a:spcAft>
              <a:buSzPct val="79999"/>
              <a:buChar char="►"/>
            </a:pPr>
            <a:r>
              <a:rPr lang="en-US"/>
              <a:t>Optimal if burst times are known.</a:t>
            </a:r>
            <a:endParaRPr/>
          </a:p>
          <a:p>
            <a:pPr indent="0" lvl="0" marL="0" rtl="0" algn="l">
              <a:spcBef>
                <a:spcPts val="1000"/>
              </a:spcBef>
              <a:spcAft>
                <a:spcPts val="0"/>
              </a:spcAft>
              <a:buSzPct val="79999"/>
              <a:buNone/>
            </a:pPr>
            <a:r>
              <a:rPr b="1" lang="en-US" u="sng"/>
              <a:t>Disadvantages</a:t>
            </a:r>
            <a:endParaRPr/>
          </a:p>
          <a:p>
            <a:pPr indent="-342900" lvl="0" marL="342900" rtl="0" algn="l">
              <a:spcBef>
                <a:spcPts val="1000"/>
              </a:spcBef>
              <a:spcAft>
                <a:spcPts val="0"/>
              </a:spcAft>
              <a:buSzPct val="79999"/>
              <a:buChar char="►"/>
            </a:pPr>
            <a:r>
              <a:rPr lang="en-US"/>
              <a:t>Hard to predict burst time.</a:t>
            </a:r>
            <a:endParaRPr/>
          </a:p>
          <a:p>
            <a:pPr indent="-342900" lvl="0" marL="342900" rtl="0" algn="l">
              <a:spcBef>
                <a:spcPts val="1000"/>
              </a:spcBef>
              <a:spcAft>
                <a:spcPts val="0"/>
              </a:spcAft>
              <a:buSzPct val="79999"/>
              <a:buChar char="►"/>
            </a:pPr>
            <a:r>
              <a:rPr lang="en-US"/>
              <a:t>Starvation may occur for long processes.</a:t>
            </a:r>
            <a:endParaRPr/>
          </a:p>
          <a:p>
            <a:pPr indent="0" lvl="0" marL="0" rtl="0" algn="l">
              <a:spcBef>
                <a:spcPts val="1000"/>
              </a:spcBef>
              <a:spcAft>
                <a:spcPts val="0"/>
              </a:spcAft>
              <a:buSzPct val="79999"/>
              <a:buNone/>
            </a:pPr>
            <a:r>
              <a:rPr b="1" lang="en-US" u="sng"/>
              <a:t>Use cases</a:t>
            </a:r>
            <a:endParaRPr/>
          </a:p>
          <a:p>
            <a:pPr indent="-342900" lvl="0" marL="342900" rtl="0" algn="l">
              <a:spcBef>
                <a:spcPts val="1000"/>
              </a:spcBef>
              <a:spcAft>
                <a:spcPts val="0"/>
              </a:spcAft>
              <a:buSzPct val="79999"/>
              <a:buChar char="►"/>
            </a:pPr>
            <a:r>
              <a:rPr lang="en-US"/>
              <a:t>Highly controlled batch systems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Numerical</a:t>
            </a:r>
            <a:endParaRPr/>
          </a:p>
        </p:txBody>
      </p:sp>
      <p:sp>
        <p:nvSpPr>
          <p:cNvPr id="597" name="Google Shape;597;p62"/>
          <p:cNvSpPr txBox="1"/>
          <p:nvPr/>
        </p:nvSpPr>
        <p:spPr>
          <a:xfrm>
            <a:off x="6143546" y="240268"/>
            <a:ext cx="48638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Criteria will be given arrival then Burst time</a:t>
            </a:r>
            <a:endParaRPr/>
          </a:p>
        </p:txBody>
      </p:sp>
      <p:sp>
        <p:nvSpPr>
          <p:cNvPr id="598" name="Google Shape;598;p62"/>
          <p:cNvSpPr txBox="1"/>
          <p:nvPr/>
        </p:nvSpPr>
        <p:spPr>
          <a:xfrm>
            <a:off x="6143546" y="645914"/>
            <a:ext cx="17014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Non Preemtive</a:t>
            </a:r>
            <a:endParaRPr sz="1800">
              <a:solidFill>
                <a:schemeClr val="dk1"/>
              </a:solidFill>
              <a:latin typeface="Trebuchet MS"/>
              <a:ea typeface="Trebuchet MS"/>
              <a:cs typeface="Trebuchet MS"/>
              <a:sym typeface="Trebuchet MS"/>
            </a:endParaRPr>
          </a:p>
        </p:txBody>
      </p:sp>
      <p:graphicFrame>
        <p:nvGraphicFramePr>
          <p:cNvPr id="599" name="Google Shape;599;p62"/>
          <p:cNvGraphicFramePr/>
          <p:nvPr/>
        </p:nvGraphicFramePr>
        <p:xfrm>
          <a:off x="677863" y="2160588"/>
          <a:ext cx="3000000" cy="3000000"/>
        </p:xfrm>
        <a:graphic>
          <a:graphicData uri="http://schemas.openxmlformats.org/drawingml/2006/table">
            <a:tbl>
              <a:tblPr bandRow="1" firstRow="1">
                <a:noFill/>
                <a:tableStyleId>{4A1EB111-B6CD-4540-B144-BA16F0421430}</a:tableStyleId>
              </a:tblPr>
              <a:tblGrid>
                <a:gridCol w="969300"/>
                <a:gridCol w="890950"/>
                <a:gridCol w="962050"/>
                <a:gridCol w="962050"/>
                <a:gridCol w="1387825"/>
                <a:gridCol w="1413400"/>
                <a:gridCol w="962050"/>
                <a:gridCol w="962050"/>
                <a:gridCol w="962050"/>
              </a:tblGrid>
              <a:tr h="837575">
                <a:tc>
                  <a:txBody>
                    <a:bodyPr/>
                    <a:lstStyle/>
                    <a:p>
                      <a:pPr indent="0" lvl="0" marL="0" marR="0" rtl="0" algn="ctr">
                        <a:spcBef>
                          <a:spcPts val="0"/>
                        </a:spcBef>
                        <a:spcAft>
                          <a:spcPts val="0"/>
                        </a:spcAft>
                        <a:buNone/>
                      </a:pPr>
                      <a:r>
                        <a:rPr lang="en-US" sz="1600"/>
                        <a:t>Process</a:t>
                      </a:r>
                      <a:endParaRPr/>
                    </a:p>
                  </a:txBody>
                  <a:tcPr marT="45725" marB="45725" marR="91450" marL="91450"/>
                </a:tc>
                <a:tc>
                  <a:txBody>
                    <a:bodyPr/>
                    <a:lstStyle/>
                    <a:p>
                      <a:pPr indent="0" lvl="0" marL="0" marR="0" rtl="0" algn="ctr">
                        <a:spcBef>
                          <a:spcPts val="0"/>
                        </a:spcBef>
                        <a:spcAft>
                          <a:spcPts val="0"/>
                        </a:spcAft>
                        <a:buNone/>
                      </a:pPr>
                      <a:r>
                        <a:rPr lang="en-US" sz="1600"/>
                        <a:t>Arrival</a:t>
                      </a:r>
                      <a:endParaRPr/>
                    </a:p>
                  </a:txBody>
                  <a:tcPr marT="45725" marB="45725" marR="91450" marL="91450"/>
                </a:tc>
                <a:tc>
                  <a:txBody>
                    <a:bodyPr/>
                    <a:lstStyle/>
                    <a:p>
                      <a:pPr indent="0" lvl="0" marL="0" marR="0" rtl="0" algn="ctr">
                        <a:spcBef>
                          <a:spcPts val="0"/>
                        </a:spcBef>
                        <a:spcAft>
                          <a:spcPts val="0"/>
                        </a:spcAft>
                        <a:buNone/>
                      </a:pPr>
                      <a:r>
                        <a:rPr lang="en-US" sz="1600"/>
                        <a:t>Burst time</a:t>
                      </a:r>
                      <a:endParaRPr/>
                    </a:p>
                  </a:txBody>
                  <a:tcPr marT="45725" marB="45725" marR="91450" marL="91450"/>
                </a:tc>
                <a:tc>
                  <a:txBody>
                    <a:bodyPr/>
                    <a:lstStyle/>
                    <a:p>
                      <a:pPr indent="0" lvl="0" marL="0" marR="0" rtl="0" algn="ctr">
                        <a:spcBef>
                          <a:spcPts val="0"/>
                        </a:spcBef>
                        <a:spcAft>
                          <a:spcPts val="0"/>
                        </a:spcAft>
                        <a:buNone/>
                      </a:pPr>
                      <a:r>
                        <a:rPr lang="en-US" sz="1600"/>
                        <a:t>Start time</a:t>
                      </a:r>
                      <a:endParaRPr/>
                    </a:p>
                  </a:txBody>
                  <a:tcPr marT="45725" marB="45725" marR="91450" marL="91450"/>
                </a:tc>
                <a:tc>
                  <a:txBody>
                    <a:bodyPr/>
                    <a:lstStyle/>
                    <a:p>
                      <a:pPr indent="0" lvl="0" marL="0" marR="0" rtl="0" algn="ctr">
                        <a:spcBef>
                          <a:spcPts val="0"/>
                        </a:spcBef>
                        <a:spcAft>
                          <a:spcPts val="0"/>
                        </a:spcAft>
                        <a:buNone/>
                      </a:pPr>
                      <a:r>
                        <a:rPr lang="en-US" sz="1600"/>
                        <a:t>Completion time</a:t>
                      </a:r>
                      <a:endParaRPr/>
                    </a:p>
                  </a:txBody>
                  <a:tcPr marT="45725" marB="45725" marR="91450" marL="91450"/>
                </a:tc>
                <a:tc>
                  <a:txBody>
                    <a:bodyPr/>
                    <a:lstStyle/>
                    <a:p>
                      <a:pPr indent="0" lvl="0" marL="0" marR="0" rtl="0" algn="ctr">
                        <a:spcBef>
                          <a:spcPts val="0"/>
                        </a:spcBef>
                        <a:spcAft>
                          <a:spcPts val="0"/>
                        </a:spcAft>
                        <a:buNone/>
                      </a:pPr>
                      <a:r>
                        <a:rPr lang="en-US" sz="1600"/>
                        <a:t>Turn Around Time</a:t>
                      </a:r>
                      <a:endParaRPr/>
                    </a:p>
                  </a:txBody>
                  <a:tcPr marT="45725" marB="45725" marR="91450" marL="91450"/>
                </a:tc>
                <a:tc>
                  <a:txBody>
                    <a:bodyPr/>
                    <a:lstStyle/>
                    <a:p>
                      <a:pPr indent="0" lvl="0" marL="0" marR="0" rtl="0" algn="ctr">
                        <a:spcBef>
                          <a:spcPts val="0"/>
                        </a:spcBef>
                        <a:spcAft>
                          <a:spcPts val="0"/>
                        </a:spcAft>
                        <a:buNone/>
                      </a:pPr>
                      <a:r>
                        <a:rPr lang="en-US" sz="1600"/>
                        <a:t>Waiting time</a:t>
                      </a:r>
                      <a:endParaRPr/>
                    </a:p>
                  </a:txBody>
                  <a:tcPr marT="45725" marB="45725" marR="91450" marL="91450"/>
                </a:tc>
                <a:tc>
                  <a:txBody>
                    <a:bodyPr/>
                    <a:lstStyle/>
                    <a:p>
                      <a:pPr indent="0" lvl="0" marL="0" marR="0" rtl="0" algn="ctr">
                        <a:spcBef>
                          <a:spcPts val="0"/>
                        </a:spcBef>
                        <a:spcAft>
                          <a:spcPts val="0"/>
                        </a:spcAft>
                        <a:buNone/>
                      </a:pPr>
                      <a:r>
                        <a:rPr lang="en-US" sz="1600"/>
                        <a:t>Average TAT</a:t>
                      </a:r>
                      <a:endParaRPr/>
                    </a:p>
                  </a:txBody>
                  <a:tcPr marT="45725" marB="45725" marR="91450" marL="91450"/>
                </a:tc>
                <a:tc>
                  <a:txBody>
                    <a:bodyPr/>
                    <a:lstStyle/>
                    <a:p>
                      <a:pPr indent="0" lvl="0" marL="0" marR="0" rtl="0" algn="ctr">
                        <a:spcBef>
                          <a:spcPts val="0"/>
                        </a:spcBef>
                        <a:spcAft>
                          <a:spcPts val="0"/>
                        </a:spcAft>
                        <a:buNone/>
                      </a:pPr>
                      <a:r>
                        <a:rPr lang="en-US" sz="1600"/>
                        <a:t>Average WT</a:t>
                      </a:r>
                      <a:endParaRPr/>
                    </a:p>
                  </a:txBody>
                  <a:tcPr marT="45725" marB="45725" marR="91450" marL="91450"/>
                </a:tc>
              </a:tr>
              <a:tr h="536325">
                <a:tc>
                  <a:txBody>
                    <a:bodyPr/>
                    <a:lstStyle/>
                    <a:p>
                      <a:pPr indent="0" lvl="0" marL="0" marR="0" rtl="0" algn="l">
                        <a:spcBef>
                          <a:spcPts val="0"/>
                        </a:spcBef>
                        <a:spcAft>
                          <a:spcPts val="0"/>
                        </a:spcAft>
                        <a:buNone/>
                      </a:pPr>
                      <a:r>
                        <a:rPr lang="en-US" sz="1600"/>
                        <a:t>P1</a:t>
                      </a:r>
                      <a:endParaRPr/>
                    </a:p>
                  </a:txBody>
                  <a:tcPr marT="45725" marB="45725" marR="91450" marL="91450"/>
                </a:tc>
                <a:tc>
                  <a:txBody>
                    <a:bodyPr/>
                    <a:lstStyle/>
                    <a:p>
                      <a:pPr indent="0" lvl="0" marL="0" marR="0" rtl="0" algn="l">
                        <a:spcBef>
                          <a:spcPts val="0"/>
                        </a:spcBef>
                        <a:spcAft>
                          <a:spcPts val="0"/>
                        </a:spcAft>
                        <a:buNone/>
                      </a:pPr>
                      <a:r>
                        <a:rPr lang="en-US" sz="1600"/>
                        <a:t>2</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36325">
                <a:tc>
                  <a:txBody>
                    <a:bodyPr/>
                    <a:lstStyle/>
                    <a:p>
                      <a:pPr indent="0" lvl="0" marL="0" marR="0" rtl="0" algn="l">
                        <a:spcBef>
                          <a:spcPts val="0"/>
                        </a:spcBef>
                        <a:spcAft>
                          <a:spcPts val="0"/>
                        </a:spcAft>
                        <a:buNone/>
                      </a:pPr>
                      <a:r>
                        <a:rPr lang="en-US" sz="1600"/>
                        <a:t>P2</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rPr lang="en-US" sz="1600"/>
                        <a:t>6</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36325">
                <a:tc>
                  <a:txBody>
                    <a:bodyPr/>
                    <a:lstStyle/>
                    <a:p>
                      <a:pPr indent="0" lvl="0" marL="0" marR="0" rtl="0" algn="l">
                        <a:spcBef>
                          <a:spcPts val="0"/>
                        </a:spcBef>
                        <a:spcAft>
                          <a:spcPts val="0"/>
                        </a:spcAft>
                        <a:buNone/>
                      </a:pPr>
                      <a:r>
                        <a:rPr lang="en-US" sz="1600"/>
                        <a:t>P3</a:t>
                      </a:r>
                      <a:endParaRPr/>
                    </a:p>
                  </a:txBody>
                  <a:tcPr marT="45725" marB="45725" marR="91450" marL="91450"/>
                </a:tc>
                <a:tc>
                  <a:txBody>
                    <a:bodyPr/>
                    <a:lstStyle/>
                    <a:p>
                      <a:pPr indent="0" lvl="0" marL="0" marR="0" rtl="0" algn="l">
                        <a:spcBef>
                          <a:spcPts val="0"/>
                        </a:spcBef>
                        <a:spcAft>
                          <a:spcPts val="0"/>
                        </a:spcAft>
                        <a:buNone/>
                      </a:pPr>
                      <a:r>
                        <a:rPr lang="en-US" sz="1600"/>
                        <a:t>2</a:t>
                      </a:r>
                      <a:endParaRPr/>
                    </a:p>
                  </a:txBody>
                  <a:tcPr marT="45725" marB="45725" marR="91450" marL="91450"/>
                </a:tc>
                <a:tc>
                  <a:txBody>
                    <a:bodyPr/>
                    <a:lstStyle/>
                    <a:p>
                      <a:pPr indent="0" lvl="0" marL="0" marR="0" rtl="0" algn="l">
                        <a:spcBef>
                          <a:spcPts val="0"/>
                        </a:spcBef>
                        <a:spcAft>
                          <a:spcPts val="0"/>
                        </a:spcAft>
                        <a:buNone/>
                      </a:pPr>
                      <a:r>
                        <a:rPr lang="en-US" sz="1600"/>
                        <a:t>3</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36325">
                <a:tc>
                  <a:txBody>
                    <a:bodyPr/>
                    <a:lstStyle/>
                    <a:p>
                      <a:pPr indent="0" lvl="0" marL="0" marR="0" rtl="0" algn="l">
                        <a:spcBef>
                          <a:spcPts val="0"/>
                        </a:spcBef>
                        <a:spcAft>
                          <a:spcPts val="0"/>
                        </a:spcAft>
                        <a:buNone/>
                      </a:pPr>
                      <a:r>
                        <a:rPr lang="en-US" sz="1600"/>
                        <a:t>P4</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Shortest Remaining Time First (SRTF)</a:t>
            </a:r>
            <a:endParaRPr/>
          </a:p>
        </p:txBody>
      </p:sp>
      <p:sp>
        <p:nvSpPr>
          <p:cNvPr id="605" name="Google Shape;605;p6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Preemptive version of SJF</a:t>
            </a:r>
            <a:endParaRPr/>
          </a:p>
          <a:p>
            <a:pPr indent="-342900" lvl="0" marL="342900" rtl="0" algn="l">
              <a:spcBef>
                <a:spcPts val="1000"/>
              </a:spcBef>
              <a:spcAft>
                <a:spcPts val="0"/>
              </a:spcAft>
              <a:buSzPts val="1440"/>
              <a:buChar char="►"/>
            </a:pPr>
            <a:r>
              <a:rPr lang="en-US"/>
              <a:t>CPU is always assigned to the process with shortest remaining time.</a:t>
            </a:r>
            <a:endParaRPr/>
          </a:p>
          <a:p>
            <a:pPr indent="-342900" lvl="0" marL="342900" rtl="0" algn="l">
              <a:spcBef>
                <a:spcPts val="1000"/>
              </a:spcBef>
              <a:spcAft>
                <a:spcPts val="0"/>
              </a:spcAft>
              <a:buSzPts val="1440"/>
              <a:buChar char="►"/>
            </a:pPr>
            <a:r>
              <a:rPr lang="en-US"/>
              <a:t>If a new process arrives with smaller burst time, then preemption occurs.</a:t>
            </a:r>
            <a:endParaRPr/>
          </a:p>
          <a:p>
            <a:pPr indent="0" lvl="0" marL="0" rtl="0" algn="l">
              <a:spcBef>
                <a:spcPts val="1000"/>
              </a:spcBef>
              <a:spcAft>
                <a:spcPts val="0"/>
              </a:spcAft>
              <a:buSzPts val="1440"/>
              <a:buNone/>
            </a:pPr>
            <a:r>
              <a:rPr b="1" lang="en-US" u="sng"/>
              <a:t>Advantages</a:t>
            </a:r>
            <a:endParaRPr/>
          </a:p>
          <a:p>
            <a:pPr indent="-342900" lvl="0" marL="342900" rtl="0" algn="l">
              <a:spcBef>
                <a:spcPts val="1000"/>
              </a:spcBef>
              <a:spcAft>
                <a:spcPts val="0"/>
              </a:spcAft>
              <a:buSzPts val="1440"/>
              <a:buChar char="►"/>
            </a:pPr>
            <a:r>
              <a:rPr lang="en-US"/>
              <a:t>Further decreases waiting time compared to non-preemptive SJF.</a:t>
            </a:r>
            <a:endParaRPr/>
          </a:p>
          <a:p>
            <a:pPr indent="0" lvl="0" marL="0" rtl="0" algn="l">
              <a:spcBef>
                <a:spcPts val="1000"/>
              </a:spcBef>
              <a:spcAft>
                <a:spcPts val="0"/>
              </a:spcAft>
              <a:buSzPts val="1440"/>
              <a:buNone/>
            </a:pPr>
            <a:r>
              <a:rPr lang="en-US" u="sng"/>
              <a:t>Disadvantages</a:t>
            </a:r>
            <a:endParaRPr/>
          </a:p>
          <a:p>
            <a:pPr indent="-342900" lvl="0" marL="342900" rtl="0" algn="l">
              <a:spcBef>
                <a:spcPts val="1000"/>
              </a:spcBef>
              <a:spcAft>
                <a:spcPts val="0"/>
              </a:spcAft>
              <a:buSzPts val="1440"/>
              <a:buChar char="►"/>
            </a:pPr>
            <a:r>
              <a:rPr lang="en-US"/>
              <a:t>High overhead due to frequent preemption.</a:t>
            </a:r>
            <a:endParaRPr/>
          </a:p>
          <a:p>
            <a:pPr indent="-342900" lvl="0" marL="342900" rtl="0" algn="l">
              <a:spcBef>
                <a:spcPts val="1000"/>
              </a:spcBef>
              <a:spcAft>
                <a:spcPts val="0"/>
              </a:spcAft>
              <a:buSzPts val="1440"/>
              <a:buChar char="►"/>
            </a:pPr>
            <a:r>
              <a:rPr lang="en-US"/>
              <a:t>Long processes can suffer </a:t>
            </a:r>
            <a:r>
              <a:rPr b="1" lang="en-US"/>
              <a:t>starvation</a:t>
            </a:r>
            <a:r>
              <a:rPr lang="en-US"/>
              <a:t>.</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Numerical</a:t>
            </a:r>
            <a:endParaRPr/>
          </a:p>
        </p:txBody>
      </p:sp>
      <p:sp>
        <p:nvSpPr>
          <p:cNvPr id="611" name="Google Shape;611;p64"/>
          <p:cNvSpPr txBox="1"/>
          <p:nvPr/>
        </p:nvSpPr>
        <p:spPr>
          <a:xfrm>
            <a:off x="6143546" y="240268"/>
            <a:ext cx="48638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Criteria will be given arrival then Burst time</a:t>
            </a:r>
            <a:endParaRPr/>
          </a:p>
        </p:txBody>
      </p:sp>
      <p:sp>
        <p:nvSpPr>
          <p:cNvPr id="612" name="Google Shape;612;p64"/>
          <p:cNvSpPr txBox="1"/>
          <p:nvPr/>
        </p:nvSpPr>
        <p:spPr>
          <a:xfrm>
            <a:off x="6143546" y="645914"/>
            <a:ext cx="13632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Preemptive</a:t>
            </a:r>
            <a:endParaRPr/>
          </a:p>
        </p:txBody>
      </p:sp>
      <p:graphicFrame>
        <p:nvGraphicFramePr>
          <p:cNvPr id="613" name="Google Shape;613;p64"/>
          <p:cNvGraphicFramePr/>
          <p:nvPr/>
        </p:nvGraphicFramePr>
        <p:xfrm>
          <a:off x="677334" y="1930400"/>
          <a:ext cx="3000000" cy="3000000"/>
        </p:xfrm>
        <a:graphic>
          <a:graphicData uri="http://schemas.openxmlformats.org/drawingml/2006/table">
            <a:tbl>
              <a:tblPr bandRow="1" firstRow="1">
                <a:noFill/>
                <a:tableStyleId>{4A1EB111-B6CD-4540-B144-BA16F0421430}</a:tableStyleId>
              </a:tblPr>
              <a:tblGrid>
                <a:gridCol w="962350"/>
                <a:gridCol w="884550"/>
                <a:gridCol w="1109875"/>
                <a:gridCol w="870975"/>
                <a:gridCol w="1427550"/>
                <a:gridCol w="1281950"/>
                <a:gridCol w="1008475"/>
                <a:gridCol w="974275"/>
                <a:gridCol w="923000"/>
                <a:gridCol w="1548500"/>
              </a:tblGrid>
              <a:tr h="1318725">
                <a:tc>
                  <a:txBody>
                    <a:bodyPr/>
                    <a:lstStyle/>
                    <a:p>
                      <a:pPr indent="0" lvl="0" marL="0" marR="0" rtl="0" algn="ctr">
                        <a:spcBef>
                          <a:spcPts val="0"/>
                        </a:spcBef>
                        <a:spcAft>
                          <a:spcPts val="0"/>
                        </a:spcAft>
                        <a:buNone/>
                      </a:pPr>
                      <a:r>
                        <a:rPr lang="en-US" sz="1600"/>
                        <a:t>Process</a:t>
                      </a:r>
                      <a:endParaRPr/>
                    </a:p>
                  </a:txBody>
                  <a:tcPr marT="45725" marB="45725" marR="91450" marL="91450"/>
                </a:tc>
                <a:tc>
                  <a:txBody>
                    <a:bodyPr/>
                    <a:lstStyle/>
                    <a:p>
                      <a:pPr indent="0" lvl="0" marL="0" marR="0" rtl="0" algn="ctr">
                        <a:spcBef>
                          <a:spcPts val="0"/>
                        </a:spcBef>
                        <a:spcAft>
                          <a:spcPts val="0"/>
                        </a:spcAft>
                        <a:buNone/>
                      </a:pPr>
                      <a:r>
                        <a:rPr lang="en-US" sz="1600"/>
                        <a:t>Arrival</a:t>
                      </a:r>
                      <a:endParaRPr/>
                    </a:p>
                  </a:txBody>
                  <a:tcPr marT="45725" marB="45725" marR="91450" marL="91450"/>
                </a:tc>
                <a:tc>
                  <a:txBody>
                    <a:bodyPr/>
                    <a:lstStyle/>
                    <a:p>
                      <a:pPr indent="0" lvl="0" marL="0" marR="0" rtl="0" algn="ctr">
                        <a:spcBef>
                          <a:spcPts val="0"/>
                        </a:spcBef>
                        <a:spcAft>
                          <a:spcPts val="0"/>
                        </a:spcAft>
                        <a:buNone/>
                      </a:pPr>
                      <a:r>
                        <a:rPr lang="en-US" sz="1600"/>
                        <a:t>Burst time</a:t>
                      </a:r>
                      <a:endParaRPr/>
                    </a:p>
                  </a:txBody>
                  <a:tcPr marT="45725" marB="45725" marR="91450" marL="91450"/>
                </a:tc>
                <a:tc>
                  <a:txBody>
                    <a:bodyPr/>
                    <a:lstStyle/>
                    <a:p>
                      <a:pPr indent="0" lvl="0" marL="0" marR="0" rtl="0" algn="ctr">
                        <a:spcBef>
                          <a:spcPts val="0"/>
                        </a:spcBef>
                        <a:spcAft>
                          <a:spcPts val="0"/>
                        </a:spcAft>
                        <a:buNone/>
                      </a:pPr>
                      <a:r>
                        <a:rPr lang="en-US" sz="1600"/>
                        <a:t>Start</a:t>
                      </a:r>
                      <a:endParaRPr/>
                    </a:p>
                    <a:p>
                      <a:pPr indent="0" lvl="0" marL="0" marR="0" rtl="0" algn="ctr">
                        <a:spcBef>
                          <a:spcPts val="0"/>
                        </a:spcBef>
                        <a:spcAft>
                          <a:spcPts val="0"/>
                        </a:spcAft>
                        <a:buNone/>
                      </a:pPr>
                      <a:r>
                        <a:rPr lang="en-US" sz="1600"/>
                        <a:t>time</a:t>
                      </a:r>
                      <a:endParaRPr/>
                    </a:p>
                  </a:txBody>
                  <a:tcPr marT="45725" marB="45725" marR="91450" marL="91450"/>
                </a:tc>
                <a:tc>
                  <a:txBody>
                    <a:bodyPr/>
                    <a:lstStyle/>
                    <a:p>
                      <a:pPr indent="0" lvl="0" marL="0" marR="0" rtl="0" algn="ctr">
                        <a:spcBef>
                          <a:spcPts val="0"/>
                        </a:spcBef>
                        <a:spcAft>
                          <a:spcPts val="0"/>
                        </a:spcAft>
                        <a:buNone/>
                      </a:pPr>
                      <a:r>
                        <a:rPr lang="en-US" sz="1600"/>
                        <a:t>Completion time</a:t>
                      </a:r>
                      <a:endParaRPr/>
                    </a:p>
                  </a:txBody>
                  <a:tcPr marT="45725" marB="45725" marR="91450" marL="91450"/>
                </a:tc>
                <a:tc>
                  <a:txBody>
                    <a:bodyPr/>
                    <a:lstStyle/>
                    <a:p>
                      <a:pPr indent="0" lvl="0" marL="0" marR="0" rtl="0" algn="ctr">
                        <a:spcBef>
                          <a:spcPts val="0"/>
                        </a:spcBef>
                        <a:spcAft>
                          <a:spcPts val="0"/>
                        </a:spcAft>
                        <a:buNone/>
                      </a:pPr>
                      <a:r>
                        <a:rPr lang="en-US" sz="1600"/>
                        <a:t>Turn Around Time</a:t>
                      </a:r>
                      <a:endParaRPr/>
                    </a:p>
                  </a:txBody>
                  <a:tcPr marT="45725" marB="45725" marR="91450" marL="91450"/>
                </a:tc>
                <a:tc>
                  <a:txBody>
                    <a:bodyPr/>
                    <a:lstStyle/>
                    <a:p>
                      <a:pPr indent="0" lvl="0" marL="0" marR="0" rtl="0" algn="ctr">
                        <a:spcBef>
                          <a:spcPts val="0"/>
                        </a:spcBef>
                        <a:spcAft>
                          <a:spcPts val="0"/>
                        </a:spcAft>
                        <a:buNone/>
                      </a:pPr>
                      <a:r>
                        <a:rPr lang="en-US" sz="1600"/>
                        <a:t>Waiting time</a:t>
                      </a:r>
                      <a:endParaRPr/>
                    </a:p>
                  </a:txBody>
                  <a:tcPr marT="45725" marB="45725" marR="91450" marL="91450"/>
                </a:tc>
                <a:tc>
                  <a:txBody>
                    <a:bodyPr/>
                    <a:lstStyle/>
                    <a:p>
                      <a:pPr indent="0" lvl="0" marL="0" marR="0" rtl="0" algn="ctr">
                        <a:spcBef>
                          <a:spcPts val="0"/>
                        </a:spcBef>
                        <a:spcAft>
                          <a:spcPts val="0"/>
                        </a:spcAft>
                        <a:buNone/>
                      </a:pPr>
                      <a:r>
                        <a:rPr lang="en-US" sz="1600"/>
                        <a:t>Average TAT</a:t>
                      </a:r>
                      <a:endParaRPr/>
                    </a:p>
                  </a:txBody>
                  <a:tcPr marT="45725" marB="45725" marR="91450" marL="91450"/>
                </a:tc>
                <a:tc>
                  <a:txBody>
                    <a:bodyPr/>
                    <a:lstStyle/>
                    <a:p>
                      <a:pPr indent="0" lvl="0" marL="0" marR="0" rtl="0" algn="ctr">
                        <a:spcBef>
                          <a:spcPts val="0"/>
                        </a:spcBef>
                        <a:spcAft>
                          <a:spcPts val="0"/>
                        </a:spcAft>
                        <a:buNone/>
                      </a:pPr>
                      <a:r>
                        <a:rPr lang="en-US" sz="1600"/>
                        <a:t>Average WT</a:t>
                      </a:r>
                      <a:endParaRPr/>
                    </a:p>
                  </a:txBody>
                  <a:tcPr marT="45725" marB="45725" marR="91450" marL="91450"/>
                </a:tc>
                <a:tc>
                  <a:txBody>
                    <a:bodyPr/>
                    <a:lstStyle/>
                    <a:p>
                      <a:pPr indent="0" lvl="0" marL="0" marR="0" rtl="0" algn="ctr">
                        <a:spcBef>
                          <a:spcPts val="0"/>
                        </a:spcBef>
                        <a:spcAft>
                          <a:spcPts val="0"/>
                        </a:spcAft>
                        <a:buNone/>
                      </a:pPr>
                      <a:r>
                        <a:rPr lang="en-US" sz="1600"/>
                        <a:t>Response time</a:t>
                      </a:r>
                      <a:endParaRPr/>
                    </a:p>
                  </a:txBody>
                  <a:tcPr marT="45725" marB="45725" marR="91450" marL="91450"/>
                </a:tc>
              </a:tr>
              <a:tr h="594250">
                <a:tc>
                  <a:txBody>
                    <a:bodyPr/>
                    <a:lstStyle/>
                    <a:p>
                      <a:pPr indent="0" lvl="0" marL="0" marR="0" rtl="0" algn="l">
                        <a:spcBef>
                          <a:spcPts val="0"/>
                        </a:spcBef>
                        <a:spcAft>
                          <a:spcPts val="0"/>
                        </a:spcAft>
                        <a:buNone/>
                      </a:pPr>
                      <a:r>
                        <a:rPr lang="en-US" sz="1600"/>
                        <a:t>P1</a:t>
                      </a:r>
                      <a:endParaRPr/>
                    </a:p>
                  </a:txBody>
                  <a:tcPr marT="45725" marB="45725" marR="91450" marL="91450"/>
                </a:tc>
                <a:tc>
                  <a:txBody>
                    <a:bodyPr/>
                    <a:lstStyle/>
                    <a:p>
                      <a:pPr indent="0" lvl="0" marL="0" marR="0" rtl="0" algn="l">
                        <a:spcBef>
                          <a:spcPts val="0"/>
                        </a:spcBef>
                        <a:spcAft>
                          <a:spcPts val="0"/>
                        </a:spcAft>
                        <a:buNone/>
                      </a:pPr>
                      <a:r>
                        <a:rPr lang="en-US" sz="1600"/>
                        <a:t>2</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P2</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rPr lang="en-US" sz="1600"/>
                        <a:t>6</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P3</a:t>
                      </a:r>
                      <a:endParaRPr/>
                    </a:p>
                  </a:txBody>
                  <a:tcPr marT="45725" marB="45725" marR="91450" marL="91450"/>
                </a:tc>
                <a:tc>
                  <a:txBody>
                    <a:bodyPr/>
                    <a:lstStyle/>
                    <a:p>
                      <a:pPr indent="0" lvl="0" marL="0" marR="0" rtl="0" algn="l">
                        <a:spcBef>
                          <a:spcPts val="0"/>
                        </a:spcBef>
                        <a:spcAft>
                          <a:spcPts val="0"/>
                        </a:spcAft>
                        <a:buNone/>
                      </a:pPr>
                      <a:r>
                        <a:rPr lang="en-US" sz="1600"/>
                        <a:t>2</a:t>
                      </a:r>
                      <a:endParaRPr/>
                    </a:p>
                  </a:txBody>
                  <a:tcPr marT="45725" marB="45725" marR="91450" marL="91450"/>
                </a:tc>
                <a:tc>
                  <a:txBody>
                    <a:bodyPr/>
                    <a:lstStyle/>
                    <a:p>
                      <a:pPr indent="0" lvl="0" marL="0" marR="0" rtl="0" algn="l">
                        <a:spcBef>
                          <a:spcPts val="0"/>
                        </a:spcBef>
                        <a:spcAft>
                          <a:spcPts val="0"/>
                        </a:spcAft>
                        <a:buNone/>
                      </a:pPr>
                      <a:r>
                        <a:rPr lang="en-US" sz="1600"/>
                        <a:t>3</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P4</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Priority Scheduling</a:t>
            </a:r>
            <a:endParaRPr/>
          </a:p>
        </p:txBody>
      </p:sp>
      <p:sp>
        <p:nvSpPr>
          <p:cNvPr id="620" name="Google Shape;620;p6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Char char="►"/>
            </a:pPr>
            <a:r>
              <a:rPr lang="en-US"/>
              <a:t>Each process is assigned a priority, and the process with the highest priority is executed first.</a:t>
            </a:r>
            <a:endParaRPr/>
          </a:p>
          <a:p>
            <a:pPr indent="-342900" lvl="0" marL="342900" rtl="0" algn="l">
              <a:spcBef>
                <a:spcPts val="1000"/>
              </a:spcBef>
              <a:spcAft>
                <a:spcPts val="0"/>
              </a:spcAft>
              <a:buSzPct val="79999"/>
              <a:buChar char="►"/>
            </a:pPr>
            <a:r>
              <a:rPr lang="en-US"/>
              <a:t>Smaller priority value = higher priority (sometimes the reverse → depends on system).</a:t>
            </a:r>
            <a:endParaRPr/>
          </a:p>
          <a:p>
            <a:pPr indent="-342900" lvl="0" marL="342900" rtl="0" algn="l">
              <a:spcBef>
                <a:spcPts val="1000"/>
              </a:spcBef>
              <a:spcAft>
                <a:spcPts val="0"/>
              </a:spcAft>
              <a:buSzPct val="79999"/>
              <a:buChar char="►"/>
            </a:pPr>
            <a:r>
              <a:rPr lang="en-US"/>
              <a:t>Preemptive or non-preemptive</a:t>
            </a:r>
            <a:endParaRPr/>
          </a:p>
          <a:p>
            <a:pPr indent="-342900" lvl="0" marL="342900" rtl="0" algn="l">
              <a:spcBef>
                <a:spcPts val="1000"/>
              </a:spcBef>
              <a:spcAft>
                <a:spcPts val="0"/>
              </a:spcAft>
              <a:buSzPct val="79999"/>
              <a:buChar char="►"/>
            </a:pPr>
            <a:r>
              <a:rPr lang="en-US"/>
              <a:t>Types of Priority:</a:t>
            </a:r>
            <a:endParaRPr/>
          </a:p>
          <a:p>
            <a:pPr indent="-285750" lvl="1" marL="742950" rtl="0" algn="l">
              <a:spcBef>
                <a:spcPts val="1000"/>
              </a:spcBef>
              <a:spcAft>
                <a:spcPts val="0"/>
              </a:spcAft>
              <a:buSzPct val="80000"/>
              <a:buChar char="►"/>
            </a:pPr>
            <a:r>
              <a:rPr lang="en-US"/>
              <a:t>Static Priority</a:t>
            </a:r>
            <a:endParaRPr/>
          </a:p>
          <a:p>
            <a:pPr indent="-228600" lvl="2" marL="1143000" rtl="0" algn="l">
              <a:spcBef>
                <a:spcPts val="1000"/>
              </a:spcBef>
              <a:spcAft>
                <a:spcPts val="0"/>
              </a:spcAft>
              <a:buSzPct val="80000"/>
              <a:buChar char="►"/>
            </a:pPr>
            <a:r>
              <a:rPr lang="en-US"/>
              <a:t>Assigned at the time of process creation.</a:t>
            </a:r>
            <a:endParaRPr/>
          </a:p>
          <a:p>
            <a:pPr indent="-228600" lvl="2" marL="1143000" rtl="0" algn="l">
              <a:spcBef>
                <a:spcPts val="1000"/>
              </a:spcBef>
              <a:spcAft>
                <a:spcPts val="0"/>
              </a:spcAft>
              <a:buSzPct val="80000"/>
              <a:buChar char="►"/>
            </a:pPr>
            <a:r>
              <a:rPr lang="en-US"/>
              <a:t>Does not change.</a:t>
            </a:r>
            <a:endParaRPr/>
          </a:p>
          <a:p>
            <a:pPr indent="-285750" lvl="1" marL="742950" rtl="0" algn="l">
              <a:spcBef>
                <a:spcPts val="1000"/>
              </a:spcBef>
              <a:spcAft>
                <a:spcPts val="0"/>
              </a:spcAft>
              <a:buSzPct val="80000"/>
              <a:buChar char="►"/>
            </a:pPr>
            <a:r>
              <a:rPr lang="en-US"/>
              <a:t>Dynamic Priority</a:t>
            </a:r>
            <a:endParaRPr/>
          </a:p>
          <a:p>
            <a:pPr indent="-285750" lvl="1" marL="742950" rtl="0" algn="l">
              <a:spcBef>
                <a:spcPts val="1000"/>
              </a:spcBef>
              <a:spcAft>
                <a:spcPts val="0"/>
              </a:spcAft>
              <a:buSzPct val="80000"/>
              <a:buChar char="►"/>
            </a:pPr>
            <a:r>
              <a:rPr lang="en-US"/>
              <a:t>Can change over time (e.g., increase the priority of waiting processes to avoid starvation).</a:t>
            </a:r>
            <a:endParaRPr/>
          </a:p>
          <a:p>
            <a:pPr indent="-258318" lvl="0" marL="342900" rtl="0" algn="l">
              <a:spcBef>
                <a:spcPts val="1000"/>
              </a:spcBef>
              <a:spcAft>
                <a:spcPts val="0"/>
              </a:spcAft>
              <a:buSzPct val="79999"/>
              <a:buNone/>
            </a:pPr>
            <a:r>
              <a:t/>
            </a:r>
            <a:endParaRPr/>
          </a:p>
          <a:p>
            <a:pPr indent="-258318" lvl="0" marL="342900" rtl="0" algn="l">
              <a:spcBef>
                <a:spcPts val="1000"/>
              </a:spcBef>
              <a:spcAft>
                <a:spcPts val="0"/>
              </a:spcAft>
              <a:buSzPct val="79999"/>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6"/>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1920"/>
              <a:buNone/>
            </a:pPr>
            <a:r>
              <a:rPr lang="en-US"/>
              <a:t>Non-Preemptive</a:t>
            </a:r>
            <a:endParaRPr/>
          </a:p>
        </p:txBody>
      </p:sp>
      <p:sp>
        <p:nvSpPr>
          <p:cNvPr id="627" name="Google Shape;627;p66"/>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Font typeface="Trebuchet MS"/>
              <a:buAutoNum type="arabicPeriod"/>
            </a:pPr>
            <a:r>
              <a:rPr lang="en-US"/>
              <a:t>Start</a:t>
            </a:r>
            <a:endParaRPr/>
          </a:p>
          <a:p>
            <a:pPr indent="-342900" lvl="0" marL="342900" rtl="0" algn="l">
              <a:spcBef>
                <a:spcPts val="1000"/>
              </a:spcBef>
              <a:spcAft>
                <a:spcPts val="0"/>
              </a:spcAft>
              <a:buSzPct val="79999"/>
              <a:buFont typeface="Trebuchet MS"/>
              <a:buAutoNum type="arabicPeriod"/>
            </a:pPr>
            <a:r>
              <a:rPr lang="en-US"/>
              <a:t>Read the number of processes and their burst time &amp; priority.</a:t>
            </a:r>
            <a:endParaRPr/>
          </a:p>
          <a:p>
            <a:pPr indent="-342900" lvl="0" marL="342900" rtl="0" algn="l">
              <a:spcBef>
                <a:spcPts val="1000"/>
              </a:spcBef>
              <a:spcAft>
                <a:spcPts val="0"/>
              </a:spcAft>
              <a:buSzPct val="79999"/>
              <a:buFont typeface="Trebuchet MS"/>
              <a:buAutoNum type="arabicPeriod"/>
            </a:pPr>
            <a:r>
              <a:rPr lang="en-US"/>
              <a:t>Sort processes based on priority (highest priority first).</a:t>
            </a:r>
            <a:endParaRPr/>
          </a:p>
          <a:p>
            <a:pPr indent="-342900" lvl="0" marL="342900" rtl="0" algn="l">
              <a:spcBef>
                <a:spcPts val="1000"/>
              </a:spcBef>
              <a:spcAft>
                <a:spcPts val="0"/>
              </a:spcAft>
              <a:buSzPct val="79999"/>
              <a:buFont typeface="Trebuchet MS"/>
              <a:buAutoNum type="arabicPeriod"/>
            </a:pPr>
            <a:r>
              <a:rPr lang="en-US"/>
              <a:t>Allocate CPU to the sorted processes one by one.</a:t>
            </a:r>
            <a:endParaRPr/>
          </a:p>
          <a:p>
            <a:pPr indent="-342900" lvl="0" marL="342900" rtl="0" algn="l">
              <a:spcBef>
                <a:spcPts val="1000"/>
              </a:spcBef>
              <a:spcAft>
                <a:spcPts val="0"/>
              </a:spcAft>
              <a:buSzPct val="79999"/>
              <a:buFont typeface="Trebuchet MS"/>
              <a:buAutoNum type="arabicPeriod"/>
            </a:pPr>
            <a:r>
              <a:rPr lang="en-US"/>
              <a:t>Compute waiting time and turnaround time.</a:t>
            </a:r>
            <a:endParaRPr/>
          </a:p>
          <a:p>
            <a:pPr indent="-342900" lvl="0" marL="342900" rtl="0" algn="l">
              <a:spcBef>
                <a:spcPts val="1000"/>
              </a:spcBef>
              <a:spcAft>
                <a:spcPts val="0"/>
              </a:spcAft>
              <a:buSzPct val="79999"/>
              <a:buFont typeface="Trebuchet MS"/>
              <a:buAutoNum type="arabicPeriod"/>
            </a:pPr>
            <a:r>
              <a:rPr lang="en-US"/>
              <a:t>Compute average waiting &amp; turnaround time.</a:t>
            </a:r>
            <a:endParaRPr/>
          </a:p>
          <a:p>
            <a:pPr indent="-342900" lvl="0" marL="342900" rtl="0" algn="l">
              <a:spcBef>
                <a:spcPts val="1000"/>
              </a:spcBef>
              <a:spcAft>
                <a:spcPts val="0"/>
              </a:spcAft>
              <a:buSzPct val="79999"/>
              <a:buFont typeface="Trebuchet MS"/>
              <a:buAutoNum type="arabicPeriod"/>
            </a:pPr>
            <a:r>
              <a:rPr lang="en-US"/>
              <a:t>Stop</a:t>
            </a:r>
            <a:endParaRPr/>
          </a:p>
          <a:p>
            <a:pPr indent="-265176" lvl="0" marL="342900" rtl="0" algn="l">
              <a:spcBef>
                <a:spcPts val="1000"/>
              </a:spcBef>
              <a:spcAft>
                <a:spcPts val="0"/>
              </a:spcAft>
              <a:buSzPct val="79999"/>
              <a:buNone/>
            </a:pPr>
            <a:r>
              <a:t/>
            </a:r>
            <a:endParaRPr/>
          </a:p>
        </p:txBody>
      </p:sp>
      <p:sp>
        <p:nvSpPr>
          <p:cNvPr id="628" name="Google Shape;628;p66"/>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1920"/>
              <a:buNone/>
            </a:pPr>
            <a:r>
              <a:rPr lang="en-US"/>
              <a:t>Preemptive</a:t>
            </a:r>
            <a:endParaRPr/>
          </a:p>
        </p:txBody>
      </p:sp>
      <p:sp>
        <p:nvSpPr>
          <p:cNvPr id="629" name="Google Shape;629;p66"/>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Font typeface="Trebuchet MS"/>
              <a:buAutoNum type="arabicPeriod"/>
            </a:pPr>
            <a:r>
              <a:rPr lang="en-US"/>
              <a:t>Start</a:t>
            </a:r>
            <a:endParaRPr/>
          </a:p>
          <a:p>
            <a:pPr indent="-342900" lvl="0" marL="342900" rtl="0" algn="l">
              <a:spcBef>
                <a:spcPts val="1000"/>
              </a:spcBef>
              <a:spcAft>
                <a:spcPts val="0"/>
              </a:spcAft>
              <a:buSzPct val="79999"/>
              <a:buFont typeface="Trebuchet MS"/>
              <a:buAutoNum type="arabicPeriod"/>
            </a:pPr>
            <a:r>
              <a:rPr lang="en-US"/>
              <a:t>At every arrival time, compare priorities of ready processes.</a:t>
            </a:r>
            <a:endParaRPr/>
          </a:p>
          <a:p>
            <a:pPr indent="-342900" lvl="0" marL="342900" rtl="0" algn="l">
              <a:spcBef>
                <a:spcPts val="1000"/>
              </a:spcBef>
              <a:spcAft>
                <a:spcPts val="0"/>
              </a:spcAft>
              <a:buSzPct val="79999"/>
              <a:buFont typeface="Trebuchet MS"/>
              <a:buAutoNum type="arabicPeriod"/>
            </a:pPr>
            <a:r>
              <a:rPr lang="en-US"/>
              <a:t>Select the process with the highest priority.</a:t>
            </a:r>
            <a:endParaRPr/>
          </a:p>
          <a:p>
            <a:pPr indent="-342900" lvl="0" marL="342900" rtl="0" algn="l">
              <a:spcBef>
                <a:spcPts val="1000"/>
              </a:spcBef>
              <a:spcAft>
                <a:spcPts val="0"/>
              </a:spcAft>
              <a:buSzPct val="79999"/>
              <a:buFont typeface="Trebuchet MS"/>
              <a:buAutoNum type="arabicPeriod"/>
            </a:pPr>
            <a:r>
              <a:rPr lang="en-US"/>
              <a:t>If new process has higher priority than current, preempt CPU.</a:t>
            </a:r>
            <a:endParaRPr/>
          </a:p>
          <a:p>
            <a:pPr indent="-342900" lvl="0" marL="342900" rtl="0" algn="l">
              <a:spcBef>
                <a:spcPts val="1000"/>
              </a:spcBef>
              <a:spcAft>
                <a:spcPts val="0"/>
              </a:spcAft>
              <a:buSzPct val="79999"/>
              <a:buFont typeface="Trebuchet MS"/>
              <a:buAutoNum type="arabicPeriod"/>
            </a:pPr>
            <a:r>
              <a:rPr lang="en-US"/>
              <a:t>Continue until all processes are completed.</a:t>
            </a:r>
            <a:endParaRPr/>
          </a:p>
          <a:p>
            <a:pPr indent="-342900" lvl="0" marL="342900" rtl="0" algn="l">
              <a:spcBef>
                <a:spcPts val="1000"/>
              </a:spcBef>
              <a:spcAft>
                <a:spcPts val="0"/>
              </a:spcAft>
              <a:buSzPct val="79999"/>
              <a:buFont typeface="Trebuchet MS"/>
              <a:buAutoNum type="arabicPeriod"/>
            </a:pPr>
            <a:r>
              <a:rPr lang="en-US"/>
              <a:t>Compute waiting &amp; turnaround times.</a:t>
            </a:r>
            <a:endParaRPr/>
          </a:p>
          <a:p>
            <a:pPr indent="-342900" lvl="0" marL="342900" rtl="0" algn="l">
              <a:spcBef>
                <a:spcPts val="1000"/>
              </a:spcBef>
              <a:spcAft>
                <a:spcPts val="0"/>
              </a:spcAft>
              <a:buSzPct val="79999"/>
              <a:buFont typeface="Trebuchet MS"/>
              <a:buAutoNum type="arabicPeriod"/>
            </a:pPr>
            <a:r>
              <a:rPr lang="en-US"/>
              <a:t>Stop</a:t>
            </a:r>
            <a:endParaRPr/>
          </a:p>
          <a:p>
            <a:pPr indent="-265176" lvl="0" marL="342900" rtl="0" algn="l">
              <a:spcBef>
                <a:spcPts val="1000"/>
              </a:spcBef>
              <a:spcAft>
                <a:spcPts val="0"/>
              </a:spcAft>
              <a:buSzPct val="79999"/>
              <a:buNone/>
            </a:pPr>
            <a:r>
              <a:t/>
            </a:r>
            <a:endParaRPr/>
          </a:p>
        </p:txBody>
      </p:sp>
      <p:sp>
        <p:nvSpPr>
          <p:cNvPr id="630" name="Google Shape;630;p66"/>
          <p:cNvSpPr txBox="1"/>
          <p:nvPr/>
        </p:nvSpPr>
        <p:spPr>
          <a:xfrm>
            <a:off x="675745" y="648621"/>
            <a:ext cx="79552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Processes with very low priority may never get CPU time. called as starvation or indefinite blocking.</a:t>
            </a:r>
            <a:endParaRPr/>
          </a:p>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Solution — Aging</a:t>
            </a:r>
            <a:r>
              <a:rPr lang="en-US" sz="1800">
                <a:solidFill>
                  <a:schemeClr val="dk1"/>
                </a:solidFill>
                <a:latin typeface="Trebuchet MS"/>
                <a:ea typeface="Trebuchet MS"/>
                <a:cs typeface="Trebuchet MS"/>
                <a:sym typeface="Trebuchet MS"/>
              </a:rPr>
              <a:t> Increase priority of a process gradually as its waiting time increases.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Numerical</a:t>
            </a:r>
            <a:endParaRPr/>
          </a:p>
        </p:txBody>
      </p:sp>
      <p:sp>
        <p:nvSpPr>
          <p:cNvPr id="636" name="Google Shape;636;p67"/>
          <p:cNvSpPr txBox="1"/>
          <p:nvPr/>
        </p:nvSpPr>
        <p:spPr>
          <a:xfrm>
            <a:off x="6143546" y="240268"/>
            <a:ext cx="50052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Criteria will be given arrival then Priority time</a:t>
            </a:r>
            <a:endParaRPr/>
          </a:p>
        </p:txBody>
      </p:sp>
      <p:sp>
        <p:nvSpPr>
          <p:cNvPr id="637" name="Google Shape;637;p67"/>
          <p:cNvSpPr txBox="1"/>
          <p:nvPr/>
        </p:nvSpPr>
        <p:spPr>
          <a:xfrm>
            <a:off x="6143546" y="645914"/>
            <a:ext cx="19836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Non -Preemptive</a:t>
            </a:r>
            <a:endParaRPr/>
          </a:p>
        </p:txBody>
      </p:sp>
      <p:graphicFrame>
        <p:nvGraphicFramePr>
          <p:cNvPr id="638" name="Google Shape;638;p67"/>
          <p:cNvGraphicFramePr/>
          <p:nvPr/>
        </p:nvGraphicFramePr>
        <p:xfrm>
          <a:off x="677334" y="1930400"/>
          <a:ext cx="3000000" cy="3000000"/>
        </p:xfrm>
        <a:graphic>
          <a:graphicData uri="http://schemas.openxmlformats.org/drawingml/2006/table">
            <a:tbl>
              <a:tblPr bandRow="1" firstRow="1">
                <a:noFill/>
                <a:tableStyleId>{4A1EB111-B6CD-4540-B144-BA16F0421430}</a:tableStyleId>
              </a:tblPr>
              <a:tblGrid>
                <a:gridCol w="962350"/>
                <a:gridCol w="1003825"/>
                <a:gridCol w="892100"/>
                <a:gridCol w="935675"/>
                <a:gridCol w="1305050"/>
                <a:gridCol w="1561175"/>
                <a:gridCol w="1303600"/>
                <a:gridCol w="997025"/>
                <a:gridCol w="1584650"/>
              </a:tblGrid>
              <a:tr h="789950">
                <a:tc>
                  <a:txBody>
                    <a:bodyPr/>
                    <a:lstStyle/>
                    <a:p>
                      <a:pPr indent="0" lvl="0" marL="0" marR="0" rtl="0" algn="ctr">
                        <a:spcBef>
                          <a:spcPts val="0"/>
                        </a:spcBef>
                        <a:spcAft>
                          <a:spcPts val="0"/>
                        </a:spcAft>
                        <a:buNone/>
                      </a:pPr>
                      <a:r>
                        <a:rPr lang="en-US" sz="1600"/>
                        <a:t>Process</a:t>
                      </a:r>
                      <a:endParaRPr/>
                    </a:p>
                  </a:txBody>
                  <a:tcPr marT="45725" marB="45725" marR="91450" marL="91450"/>
                </a:tc>
                <a:tc>
                  <a:txBody>
                    <a:bodyPr/>
                    <a:lstStyle/>
                    <a:p>
                      <a:pPr indent="0" lvl="0" marL="0" marR="0" rtl="0" algn="ctr">
                        <a:spcBef>
                          <a:spcPts val="0"/>
                        </a:spcBef>
                        <a:spcAft>
                          <a:spcPts val="0"/>
                        </a:spcAft>
                        <a:buNone/>
                      </a:pPr>
                      <a:r>
                        <a:rPr lang="en-US" sz="1600"/>
                        <a:t>Priority</a:t>
                      </a:r>
                      <a:endParaRPr/>
                    </a:p>
                  </a:txBody>
                  <a:tcPr marT="45725" marB="45725" marR="91450" marL="91450"/>
                </a:tc>
                <a:tc>
                  <a:txBody>
                    <a:bodyPr/>
                    <a:lstStyle/>
                    <a:p>
                      <a:pPr indent="0" lvl="0" marL="0" marR="0" rtl="0" algn="ctr">
                        <a:spcBef>
                          <a:spcPts val="0"/>
                        </a:spcBef>
                        <a:spcAft>
                          <a:spcPts val="0"/>
                        </a:spcAft>
                        <a:buNone/>
                      </a:pPr>
                      <a:r>
                        <a:rPr lang="en-US" sz="1600"/>
                        <a:t>Arrival</a:t>
                      </a:r>
                      <a:endParaRPr/>
                    </a:p>
                  </a:txBody>
                  <a:tcPr marT="45725" marB="45725" marR="91450" marL="91450"/>
                </a:tc>
                <a:tc>
                  <a:txBody>
                    <a:bodyPr/>
                    <a:lstStyle/>
                    <a:p>
                      <a:pPr indent="0" lvl="0" marL="0" marR="0" rtl="0" algn="ctr">
                        <a:spcBef>
                          <a:spcPts val="0"/>
                        </a:spcBef>
                        <a:spcAft>
                          <a:spcPts val="0"/>
                        </a:spcAft>
                        <a:buNone/>
                      </a:pPr>
                      <a:r>
                        <a:rPr lang="en-US" sz="1600"/>
                        <a:t>Burst time</a:t>
                      </a:r>
                      <a:endParaRPr/>
                    </a:p>
                  </a:txBody>
                  <a:tcPr marT="45725" marB="45725" marR="91450" marL="91450"/>
                </a:tc>
                <a:tc>
                  <a:txBody>
                    <a:bodyPr/>
                    <a:lstStyle/>
                    <a:p>
                      <a:pPr indent="0" lvl="0" marL="0" marR="0" rtl="0" algn="ctr">
                        <a:spcBef>
                          <a:spcPts val="0"/>
                        </a:spcBef>
                        <a:spcAft>
                          <a:spcPts val="0"/>
                        </a:spcAft>
                        <a:buNone/>
                      </a:pPr>
                      <a:r>
                        <a:rPr lang="en-US" sz="1600"/>
                        <a:t>Completion time</a:t>
                      </a:r>
                      <a:endParaRPr/>
                    </a:p>
                  </a:txBody>
                  <a:tcPr marT="45725" marB="45725" marR="91450" marL="91450"/>
                </a:tc>
                <a:tc>
                  <a:txBody>
                    <a:bodyPr/>
                    <a:lstStyle/>
                    <a:p>
                      <a:pPr indent="0" lvl="0" marL="0" marR="0" rtl="0" algn="ctr">
                        <a:spcBef>
                          <a:spcPts val="0"/>
                        </a:spcBef>
                        <a:spcAft>
                          <a:spcPts val="0"/>
                        </a:spcAft>
                        <a:buNone/>
                      </a:pPr>
                      <a:r>
                        <a:rPr lang="en-US" sz="1600"/>
                        <a:t>Turn Around Time</a:t>
                      </a:r>
                      <a:endParaRPr/>
                    </a:p>
                  </a:txBody>
                  <a:tcPr marT="45725" marB="45725" marR="91450" marL="91450"/>
                </a:tc>
                <a:tc>
                  <a:txBody>
                    <a:bodyPr/>
                    <a:lstStyle/>
                    <a:p>
                      <a:pPr indent="0" lvl="0" marL="0" marR="0" rtl="0" algn="ctr">
                        <a:spcBef>
                          <a:spcPts val="0"/>
                        </a:spcBef>
                        <a:spcAft>
                          <a:spcPts val="0"/>
                        </a:spcAft>
                        <a:buNone/>
                      </a:pPr>
                      <a:r>
                        <a:rPr lang="en-US" sz="1600"/>
                        <a:t>Waiting time</a:t>
                      </a:r>
                      <a:endParaRPr/>
                    </a:p>
                  </a:txBody>
                  <a:tcPr marT="45725" marB="45725" marR="91450" marL="91450"/>
                </a:tc>
                <a:tc>
                  <a:txBody>
                    <a:bodyPr/>
                    <a:lstStyle/>
                    <a:p>
                      <a:pPr indent="0" lvl="0" marL="0" marR="0" rtl="0" algn="ctr">
                        <a:spcBef>
                          <a:spcPts val="0"/>
                        </a:spcBef>
                        <a:spcAft>
                          <a:spcPts val="0"/>
                        </a:spcAft>
                        <a:buNone/>
                      </a:pPr>
                      <a:r>
                        <a:rPr lang="en-US" sz="1600"/>
                        <a:t>Average TAT</a:t>
                      </a:r>
                      <a:endParaRPr/>
                    </a:p>
                  </a:txBody>
                  <a:tcPr marT="45725" marB="45725" marR="91450" marL="91450"/>
                </a:tc>
                <a:tc>
                  <a:txBody>
                    <a:bodyPr/>
                    <a:lstStyle/>
                    <a:p>
                      <a:pPr indent="0" lvl="0" marL="0" marR="0" rtl="0" algn="ctr">
                        <a:spcBef>
                          <a:spcPts val="0"/>
                        </a:spcBef>
                        <a:spcAft>
                          <a:spcPts val="0"/>
                        </a:spcAft>
                        <a:buNone/>
                      </a:pPr>
                      <a:r>
                        <a:rPr lang="en-US" sz="1600"/>
                        <a:t>Average </a:t>
                      </a:r>
                      <a:endParaRPr/>
                    </a:p>
                    <a:p>
                      <a:pPr indent="0" lvl="0" marL="0" marR="0" rtl="0" algn="ctr">
                        <a:spcBef>
                          <a:spcPts val="0"/>
                        </a:spcBef>
                        <a:spcAft>
                          <a:spcPts val="0"/>
                        </a:spcAft>
                        <a:buNone/>
                      </a:pPr>
                      <a:r>
                        <a:rPr lang="en-US" sz="1600"/>
                        <a:t>WT</a:t>
                      </a:r>
                      <a:endParaRPr/>
                    </a:p>
                  </a:txBody>
                  <a:tcPr marT="45725" marB="45725" marR="91450" marL="91450"/>
                </a:tc>
              </a:tr>
              <a:tr h="594250">
                <a:tc>
                  <a:txBody>
                    <a:bodyPr/>
                    <a:lstStyle/>
                    <a:p>
                      <a:pPr indent="0" lvl="0" marL="0" marR="0" rtl="0" algn="l">
                        <a:spcBef>
                          <a:spcPts val="0"/>
                        </a:spcBef>
                        <a:spcAft>
                          <a:spcPts val="0"/>
                        </a:spcAft>
                        <a:buNone/>
                      </a:pPr>
                      <a:r>
                        <a:rPr lang="en-US" sz="1600"/>
                        <a:t>P1</a:t>
                      </a:r>
                      <a:endParaRPr/>
                    </a:p>
                  </a:txBody>
                  <a:tcPr marT="45725" marB="45725" marR="91450" marL="91450"/>
                </a:tc>
                <a:tc>
                  <a:txBody>
                    <a:bodyPr/>
                    <a:lstStyle/>
                    <a:p>
                      <a:pPr indent="0" lvl="0" marL="0" marR="0" rtl="0" algn="l">
                        <a:spcBef>
                          <a:spcPts val="0"/>
                        </a:spcBef>
                        <a:spcAft>
                          <a:spcPts val="0"/>
                        </a:spcAft>
                        <a:buNone/>
                      </a:pPr>
                      <a:r>
                        <a:rPr lang="en-US" sz="1600"/>
                        <a:t>10</a:t>
                      </a:r>
                      <a:endParaRPr/>
                    </a:p>
                  </a:txBody>
                  <a:tcPr marT="45725" marB="45725" marR="91450" marL="91450"/>
                </a:tc>
                <a:tc>
                  <a:txBody>
                    <a:bodyPr/>
                    <a:lstStyle/>
                    <a:p>
                      <a:pPr indent="0" lvl="0" marL="0" marR="0" rtl="0" algn="l">
                        <a:spcBef>
                          <a:spcPts val="0"/>
                        </a:spcBef>
                        <a:spcAft>
                          <a:spcPts val="0"/>
                        </a:spcAft>
                        <a:buNone/>
                      </a:pPr>
                      <a:r>
                        <a:rPr lang="en-US" sz="1600"/>
                        <a:t>0</a:t>
                      </a:r>
                      <a:endParaRPr/>
                    </a:p>
                  </a:txBody>
                  <a:tcPr marT="45725" marB="45725" marR="91450" marL="91450"/>
                </a:tc>
                <a:tc>
                  <a:txBody>
                    <a:bodyPr/>
                    <a:lstStyle/>
                    <a:p>
                      <a:pPr indent="0" lvl="0" marL="0" marR="0" rtl="0" algn="l">
                        <a:spcBef>
                          <a:spcPts val="0"/>
                        </a:spcBef>
                        <a:spcAft>
                          <a:spcPts val="0"/>
                        </a:spcAft>
                        <a:buNone/>
                      </a:pPr>
                      <a:r>
                        <a:rPr lang="en-US" sz="1600"/>
                        <a:t>8</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P2</a:t>
                      </a:r>
                      <a:endParaRPr/>
                    </a:p>
                  </a:txBody>
                  <a:tcPr marT="45725" marB="45725" marR="91450" marL="91450"/>
                </a:tc>
                <a:tc>
                  <a:txBody>
                    <a:bodyPr/>
                    <a:lstStyle/>
                    <a:p>
                      <a:pPr indent="0" lvl="0" marL="0" marR="0" rtl="0" algn="l">
                        <a:spcBef>
                          <a:spcPts val="0"/>
                        </a:spcBef>
                        <a:spcAft>
                          <a:spcPts val="0"/>
                        </a:spcAft>
                        <a:buNone/>
                      </a:pPr>
                      <a:r>
                        <a:rPr lang="en-US" sz="1600"/>
                        <a:t>20</a:t>
                      </a:r>
                      <a:endParaRPr/>
                    </a:p>
                  </a:txBody>
                  <a:tcPr marT="45725" marB="45725" marR="91450" marL="91450"/>
                </a:tc>
                <a:tc>
                  <a:txBody>
                    <a:bodyPr/>
                    <a:lstStyle/>
                    <a:p>
                      <a:pPr indent="0" lvl="0" marL="0" marR="0" rtl="0" algn="l">
                        <a:spcBef>
                          <a:spcPts val="0"/>
                        </a:spcBef>
                        <a:spcAft>
                          <a:spcPts val="0"/>
                        </a:spcAft>
                        <a:buNone/>
                      </a:pPr>
                      <a:r>
                        <a:rPr lang="en-US" sz="1600"/>
                        <a:t>6</a:t>
                      </a:r>
                      <a:endParaRPr/>
                    </a:p>
                  </a:txBody>
                  <a:tcPr marT="45725" marB="45725" marR="91450" marL="91450"/>
                </a:tc>
                <a:tc>
                  <a:txBody>
                    <a:bodyPr/>
                    <a:lstStyle/>
                    <a:p>
                      <a:pPr indent="0" lvl="0" marL="0" marR="0" rtl="0" algn="l">
                        <a:spcBef>
                          <a:spcPts val="0"/>
                        </a:spcBef>
                        <a:spcAft>
                          <a:spcPts val="0"/>
                        </a:spcAft>
                        <a:buNone/>
                      </a:pPr>
                      <a:r>
                        <a:rPr lang="en-US" sz="1600"/>
                        <a:t>3</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P3</a:t>
                      </a:r>
                      <a:endParaRPr/>
                    </a:p>
                  </a:txBody>
                  <a:tcPr marT="45725" marB="45725" marR="91450" marL="91450"/>
                </a:tc>
                <a:tc>
                  <a:txBody>
                    <a:bodyPr/>
                    <a:lstStyle/>
                    <a:p>
                      <a:pPr indent="0" lvl="0" marL="0" marR="0" rtl="0" algn="l">
                        <a:spcBef>
                          <a:spcPts val="0"/>
                        </a:spcBef>
                        <a:spcAft>
                          <a:spcPts val="0"/>
                        </a:spcAft>
                        <a:buNone/>
                      </a:pPr>
                      <a:r>
                        <a:rPr lang="en-US" sz="1600"/>
                        <a:t>30</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P4</a:t>
                      </a:r>
                      <a:endParaRPr/>
                    </a:p>
                  </a:txBody>
                  <a:tcPr marT="45725" marB="45725" marR="91450" marL="91450"/>
                </a:tc>
                <a:tc>
                  <a:txBody>
                    <a:bodyPr/>
                    <a:lstStyle/>
                    <a:p>
                      <a:pPr indent="0" lvl="0" marL="0" marR="0" rtl="0" algn="l">
                        <a:spcBef>
                          <a:spcPts val="0"/>
                        </a:spcBef>
                        <a:spcAft>
                          <a:spcPts val="0"/>
                        </a:spcAft>
                        <a:buNone/>
                      </a:pPr>
                      <a:r>
                        <a:rPr lang="en-US" sz="1600"/>
                        <a:t>40</a:t>
                      </a:r>
                      <a:endParaRPr/>
                    </a:p>
                  </a:txBody>
                  <a:tcPr marT="45725" marB="45725" marR="91450" marL="91450"/>
                </a:tc>
                <a:tc>
                  <a:txBody>
                    <a:bodyPr/>
                    <a:lstStyle/>
                    <a:p>
                      <a:pPr indent="0" lvl="0" marL="0" marR="0" rtl="0" algn="l">
                        <a:spcBef>
                          <a:spcPts val="0"/>
                        </a:spcBef>
                        <a:spcAft>
                          <a:spcPts val="0"/>
                        </a:spcAft>
                        <a:buNone/>
                      </a:pPr>
                      <a:r>
                        <a:rPr lang="en-US" sz="1600"/>
                        <a:t>8</a:t>
                      </a:r>
                      <a:endParaRPr/>
                    </a:p>
                  </a:txBody>
                  <a:tcPr marT="45725" marB="45725" marR="91450" marL="91450"/>
                </a:tc>
                <a:tc>
                  <a:txBody>
                    <a:bodyPr/>
                    <a:lstStyle/>
                    <a:p>
                      <a:pPr indent="0" lvl="0" marL="0" marR="0" rtl="0" algn="l">
                        <a:spcBef>
                          <a:spcPts val="0"/>
                        </a:spcBef>
                        <a:spcAft>
                          <a:spcPts val="0"/>
                        </a:spcAft>
                        <a:buNone/>
                      </a:pPr>
                      <a:r>
                        <a:rPr lang="en-US" sz="1600"/>
                        <a:t>7</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Numerical</a:t>
            </a:r>
            <a:endParaRPr/>
          </a:p>
        </p:txBody>
      </p:sp>
      <p:sp>
        <p:nvSpPr>
          <p:cNvPr id="644" name="Google Shape;644;p68"/>
          <p:cNvSpPr txBox="1"/>
          <p:nvPr/>
        </p:nvSpPr>
        <p:spPr>
          <a:xfrm>
            <a:off x="6143546" y="240268"/>
            <a:ext cx="50052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Criteria will be given arrival then Priority time</a:t>
            </a:r>
            <a:endParaRPr/>
          </a:p>
        </p:txBody>
      </p:sp>
      <p:sp>
        <p:nvSpPr>
          <p:cNvPr id="645" name="Google Shape;645;p68"/>
          <p:cNvSpPr txBox="1"/>
          <p:nvPr/>
        </p:nvSpPr>
        <p:spPr>
          <a:xfrm>
            <a:off x="6143546" y="645914"/>
            <a:ext cx="13632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Preemptive</a:t>
            </a:r>
            <a:endParaRPr sz="1800">
              <a:solidFill>
                <a:schemeClr val="dk1"/>
              </a:solidFill>
              <a:latin typeface="Trebuchet MS"/>
              <a:ea typeface="Trebuchet MS"/>
              <a:cs typeface="Trebuchet MS"/>
              <a:sym typeface="Trebuchet MS"/>
            </a:endParaRPr>
          </a:p>
        </p:txBody>
      </p:sp>
      <p:graphicFrame>
        <p:nvGraphicFramePr>
          <p:cNvPr id="646" name="Google Shape;646;p68"/>
          <p:cNvGraphicFramePr/>
          <p:nvPr/>
        </p:nvGraphicFramePr>
        <p:xfrm>
          <a:off x="677334" y="1930400"/>
          <a:ext cx="3000000" cy="3000000"/>
        </p:xfrm>
        <a:graphic>
          <a:graphicData uri="http://schemas.openxmlformats.org/drawingml/2006/table">
            <a:tbl>
              <a:tblPr bandRow="1" firstRow="1">
                <a:noFill/>
                <a:tableStyleId>{4A1EB111-B6CD-4540-B144-BA16F0421430}</a:tableStyleId>
              </a:tblPr>
              <a:tblGrid>
                <a:gridCol w="962350"/>
                <a:gridCol w="1003825"/>
                <a:gridCol w="892100"/>
                <a:gridCol w="935675"/>
                <a:gridCol w="1305050"/>
                <a:gridCol w="1561175"/>
                <a:gridCol w="1303600"/>
                <a:gridCol w="997025"/>
                <a:gridCol w="944550"/>
                <a:gridCol w="1584650"/>
              </a:tblGrid>
              <a:tr h="789950">
                <a:tc>
                  <a:txBody>
                    <a:bodyPr/>
                    <a:lstStyle/>
                    <a:p>
                      <a:pPr indent="0" lvl="0" marL="0" marR="0" rtl="0" algn="ctr">
                        <a:spcBef>
                          <a:spcPts val="0"/>
                        </a:spcBef>
                        <a:spcAft>
                          <a:spcPts val="0"/>
                        </a:spcAft>
                        <a:buNone/>
                      </a:pPr>
                      <a:r>
                        <a:rPr lang="en-US" sz="1600"/>
                        <a:t>Process</a:t>
                      </a:r>
                      <a:endParaRPr/>
                    </a:p>
                  </a:txBody>
                  <a:tcPr marT="45725" marB="45725" marR="91450" marL="91450"/>
                </a:tc>
                <a:tc>
                  <a:txBody>
                    <a:bodyPr/>
                    <a:lstStyle/>
                    <a:p>
                      <a:pPr indent="0" lvl="0" marL="0" marR="0" rtl="0" algn="ctr">
                        <a:spcBef>
                          <a:spcPts val="0"/>
                        </a:spcBef>
                        <a:spcAft>
                          <a:spcPts val="0"/>
                        </a:spcAft>
                        <a:buNone/>
                      </a:pPr>
                      <a:r>
                        <a:rPr lang="en-US" sz="1600"/>
                        <a:t>Priority</a:t>
                      </a:r>
                      <a:endParaRPr/>
                    </a:p>
                  </a:txBody>
                  <a:tcPr marT="45725" marB="45725" marR="91450" marL="91450"/>
                </a:tc>
                <a:tc>
                  <a:txBody>
                    <a:bodyPr/>
                    <a:lstStyle/>
                    <a:p>
                      <a:pPr indent="0" lvl="0" marL="0" marR="0" rtl="0" algn="ctr">
                        <a:spcBef>
                          <a:spcPts val="0"/>
                        </a:spcBef>
                        <a:spcAft>
                          <a:spcPts val="0"/>
                        </a:spcAft>
                        <a:buNone/>
                      </a:pPr>
                      <a:r>
                        <a:rPr lang="en-US" sz="1600"/>
                        <a:t>Arrival</a:t>
                      </a:r>
                      <a:endParaRPr/>
                    </a:p>
                  </a:txBody>
                  <a:tcPr marT="45725" marB="45725" marR="91450" marL="91450"/>
                </a:tc>
                <a:tc>
                  <a:txBody>
                    <a:bodyPr/>
                    <a:lstStyle/>
                    <a:p>
                      <a:pPr indent="0" lvl="0" marL="0" marR="0" rtl="0" algn="ctr">
                        <a:spcBef>
                          <a:spcPts val="0"/>
                        </a:spcBef>
                        <a:spcAft>
                          <a:spcPts val="0"/>
                        </a:spcAft>
                        <a:buNone/>
                      </a:pPr>
                      <a:r>
                        <a:rPr lang="en-US" sz="1600"/>
                        <a:t>Burst time</a:t>
                      </a:r>
                      <a:endParaRPr/>
                    </a:p>
                  </a:txBody>
                  <a:tcPr marT="45725" marB="45725" marR="91450" marL="91450"/>
                </a:tc>
                <a:tc>
                  <a:txBody>
                    <a:bodyPr/>
                    <a:lstStyle/>
                    <a:p>
                      <a:pPr indent="0" lvl="0" marL="0" marR="0" rtl="0" algn="ctr">
                        <a:spcBef>
                          <a:spcPts val="0"/>
                        </a:spcBef>
                        <a:spcAft>
                          <a:spcPts val="0"/>
                        </a:spcAft>
                        <a:buNone/>
                      </a:pPr>
                      <a:r>
                        <a:rPr lang="en-US" sz="1600"/>
                        <a:t>Completion time</a:t>
                      </a:r>
                      <a:endParaRPr/>
                    </a:p>
                  </a:txBody>
                  <a:tcPr marT="45725" marB="45725" marR="91450" marL="91450"/>
                </a:tc>
                <a:tc>
                  <a:txBody>
                    <a:bodyPr/>
                    <a:lstStyle/>
                    <a:p>
                      <a:pPr indent="0" lvl="0" marL="0" marR="0" rtl="0" algn="ctr">
                        <a:spcBef>
                          <a:spcPts val="0"/>
                        </a:spcBef>
                        <a:spcAft>
                          <a:spcPts val="0"/>
                        </a:spcAft>
                        <a:buNone/>
                      </a:pPr>
                      <a:r>
                        <a:rPr lang="en-US" sz="1600"/>
                        <a:t>Turn Around Time</a:t>
                      </a:r>
                      <a:endParaRPr/>
                    </a:p>
                  </a:txBody>
                  <a:tcPr marT="45725" marB="45725" marR="91450" marL="91450"/>
                </a:tc>
                <a:tc>
                  <a:txBody>
                    <a:bodyPr/>
                    <a:lstStyle/>
                    <a:p>
                      <a:pPr indent="0" lvl="0" marL="0" marR="0" rtl="0" algn="ctr">
                        <a:spcBef>
                          <a:spcPts val="0"/>
                        </a:spcBef>
                        <a:spcAft>
                          <a:spcPts val="0"/>
                        </a:spcAft>
                        <a:buNone/>
                      </a:pPr>
                      <a:r>
                        <a:rPr lang="en-US" sz="1600"/>
                        <a:t>Waiting time</a:t>
                      </a:r>
                      <a:endParaRPr/>
                    </a:p>
                  </a:txBody>
                  <a:tcPr marT="45725" marB="45725" marR="91450" marL="91450"/>
                </a:tc>
                <a:tc>
                  <a:txBody>
                    <a:bodyPr/>
                    <a:lstStyle/>
                    <a:p>
                      <a:pPr indent="0" lvl="0" marL="0" marR="0" rtl="0" algn="ctr">
                        <a:spcBef>
                          <a:spcPts val="0"/>
                        </a:spcBef>
                        <a:spcAft>
                          <a:spcPts val="0"/>
                        </a:spcAft>
                        <a:buNone/>
                      </a:pPr>
                      <a:r>
                        <a:rPr lang="en-US" sz="1600"/>
                        <a:t>Average TAT</a:t>
                      </a:r>
                      <a:endParaRPr/>
                    </a:p>
                  </a:txBody>
                  <a:tcPr marT="45725" marB="45725" marR="91450" marL="91450"/>
                </a:tc>
                <a:tc>
                  <a:txBody>
                    <a:bodyPr/>
                    <a:lstStyle/>
                    <a:p>
                      <a:pPr indent="0" lvl="0" marL="0" marR="0" rtl="0" algn="ctr">
                        <a:spcBef>
                          <a:spcPts val="0"/>
                        </a:spcBef>
                        <a:spcAft>
                          <a:spcPts val="0"/>
                        </a:spcAft>
                        <a:buNone/>
                      </a:pPr>
                      <a:r>
                        <a:rPr lang="en-US" sz="1600"/>
                        <a:t>Average WT</a:t>
                      </a:r>
                      <a:endParaRPr/>
                    </a:p>
                  </a:txBody>
                  <a:tcPr marT="45725" marB="45725" marR="91450" marL="91450"/>
                </a:tc>
                <a:tc>
                  <a:txBody>
                    <a:bodyPr/>
                    <a:lstStyle/>
                    <a:p>
                      <a:pPr indent="0" lvl="0" marL="0" marR="0" rtl="0" algn="ctr">
                        <a:spcBef>
                          <a:spcPts val="0"/>
                        </a:spcBef>
                        <a:spcAft>
                          <a:spcPts val="0"/>
                        </a:spcAft>
                        <a:buNone/>
                      </a:pPr>
                      <a:r>
                        <a:rPr lang="en-US" sz="1600"/>
                        <a:t>Response time</a:t>
                      </a:r>
                      <a:endParaRPr/>
                    </a:p>
                  </a:txBody>
                  <a:tcPr marT="45725" marB="45725" marR="91450" marL="91450"/>
                </a:tc>
              </a:tr>
              <a:tr h="594250">
                <a:tc>
                  <a:txBody>
                    <a:bodyPr/>
                    <a:lstStyle/>
                    <a:p>
                      <a:pPr indent="0" lvl="0" marL="0" marR="0" rtl="0" algn="l">
                        <a:spcBef>
                          <a:spcPts val="0"/>
                        </a:spcBef>
                        <a:spcAft>
                          <a:spcPts val="0"/>
                        </a:spcAft>
                        <a:buNone/>
                      </a:pPr>
                      <a:r>
                        <a:rPr lang="en-US" sz="1600"/>
                        <a:t>P1</a:t>
                      </a:r>
                      <a:endParaRPr/>
                    </a:p>
                  </a:txBody>
                  <a:tcPr marT="45725" marB="45725" marR="91450" marL="91450"/>
                </a:tc>
                <a:tc>
                  <a:txBody>
                    <a:bodyPr/>
                    <a:lstStyle/>
                    <a:p>
                      <a:pPr indent="0" lvl="0" marL="0" marR="0" rtl="0" algn="l">
                        <a:spcBef>
                          <a:spcPts val="0"/>
                        </a:spcBef>
                        <a:spcAft>
                          <a:spcPts val="0"/>
                        </a:spcAft>
                        <a:buNone/>
                      </a:pPr>
                      <a:r>
                        <a:rPr lang="en-US" sz="1600"/>
                        <a:t>10</a:t>
                      </a:r>
                      <a:endParaRPr/>
                    </a:p>
                  </a:txBody>
                  <a:tcPr marT="45725" marB="45725" marR="91450" marL="91450"/>
                </a:tc>
                <a:tc>
                  <a:txBody>
                    <a:bodyPr/>
                    <a:lstStyle/>
                    <a:p>
                      <a:pPr indent="0" lvl="0" marL="0" marR="0" rtl="0" algn="l">
                        <a:spcBef>
                          <a:spcPts val="0"/>
                        </a:spcBef>
                        <a:spcAft>
                          <a:spcPts val="0"/>
                        </a:spcAft>
                        <a:buNone/>
                      </a:pPr>
                      <a:r>
                        <a:rPr lang="en-US" sz="1600"/>
                        <a:t>0</a:t>
                      </a:r>
                      <a:endParaRPr/>
                    </a:p>
                  </a:txBody>
                  <a:tcPr marT="45725" marB="45725" marR="91450" marL="91450"/>
                </a:tc>
                <a:tc>
                  <a:txBody>
                    <a:bodyPr/>
                    <a:lstStyle/>
                    <a:p>
                      <a:pPr indent="0" lvl="0" marL="0" marR="0" rtl="0" algn="l">
                        <a:spcBef>
                          <a:spcPts val="0"/>
                        </a:spcBef>
                        <a:spcAft>
                          <a:spcPts val="0"/>
                        </a:spcAft>
                        <a:buNone/>
                      </a:pPr>
                      <a:r>
                        <a:rPr lang="en-US" sz="1600"/>
                        <a:t>8</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P2</a:t>
                      </a:r>
                      <a:endParaRPr/>
                    </a:p>
                  </a:txBody>
                  <a:tcPr marT="45725" marB="45725" marR="91450" marL="91450"/>
                </a:tc>
                <a:tc>
                  <a:txBody>
                    <a:bodyPr/>
                    <a:lstStyle/>
                    <a:p>
                      <a:pPr indent="0" lvl="0" marL="0" marR="0" rtl="0" algn="l">
                        <a:spcBef>
                          <a:spcPts val="0"/>
                        </a:spcBef>
                        <a:spcAft>
                          <a:spcPts val="0"/>
                        </a:spcAft>
                        <a:buNone/>
                      </a:pPr>
                      <a:r>
                        <a:rPr lang="en-US" sz="1600"/>
                        <a:t>20</a:t>
                      </a:r>
                      <a:endParaRPr/>
                    </a:p>
                  </a:txBody>
                  <a:tcPr marT="45725" marB="45725" marR="91450" marL="91450"/>
                </a:tc>
                <a:tc>
                  <a:txBody>
                    <a:bodyPr/>
                    <a:lstStyle/>
                    <a:p>
                      <a:pPr indent="0" lvl="0" marL="0" marR="0" rtl="0" algn="l">
                        <a:spcBef>
                          <a:spcPts val="0"/>
                        </a:spcBef>
                        <a:spcAft>
                          <a:spcPts val="0"/>
                        </a:spcAft>
                        <a:buNone/>
                      </a:pPr>
                      <a:r>
                        <a:rPr lang="en-US" sz="1600"/>
                        <a:t>6</a:t>
                      </a:r>
                      <a:endParaRPr/>
                    </a:p>
                  </a:txBody>
                  <a:tcPr marT="45725" marB="45725" marR="91450" marL="91450"/>
                </a:tc>
                <a:tc>
                  <a:txBody>
                    <a:bodyPr/>
                    <a:lstStyle/>
                    <a:p>
                      <a:pPr indent="0" lvl="0" marL="0" marR="0" rtl="0" algn="l">
                        <a:spcBef>
                          <a:spcPts val="0"/>
                        </a:spcBef>
                        <a:spcAft>
                          <a:spcPts val="0"/>
                        </a:spcAft>
                        <a:buNone/>
                      </a:pPr>
                      <a:r>
                        <a:rPr lang="en-US" sz="1600"/>
                        <a:t>3</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P3</a:t>
                      </a:r>
                      <a:endParaRPr/>
                    </a:p>
                  </a:txBody>
                  <a:tcPr marT="45725" marB="45725" marR="91450" marL="91450"/>
                </a:tc>
                <a:tc>
                  <a:txBody>
                    <a:bodyPr/>
                    <a:lstStyle/>
                    <a:p>
                      <a:pPr indent="0" lvl="0" marL="0" marR="0" rtl="0" algn="l">
                        <a:spcBef>
                          <a:spcPts val="0"/>
                        </a:spcBef>
                        <a:spcAft>
                          <a:spcPts val="0"/>
                        </a:spcAft>
                        <a:buNone/>
                      </a:pPr>
                      <a:r>
                        <a:rPr lang="en-US" sz="1600"/>
                        <a:t>30</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594250">
                <a:tc>
                  <a:txBody>
                    <a:bodyPr/>
                    <a:lstStyle/>
                    <a:p>
                      <a:pPr indent="0" lvl="0" marL="0" marR="0" rtl="0" algn="l">
                        <a:spcBef>
                          <a:spcPts val="0"/>
                        </a:spcBef>
                        <a:spcAft>
                          <a:spcPts val="0"/>
                        </a:spcAft>
                        <a:buNone/>
                      </a:pPr>
                      <a:r>
                        <a:rPr lang="en-US" sz="1600"/>
                        <a:t>P4</a:t>
                      </a:r>
                      <a:endParaRPr/>
                    </a:p>
                  </a:txBody>
                  <a:tcPr marT="45725" marB="45725" marR="91450" marL="91450"/>
                </a:tc>
                <a:tc>
                  <a:txBody>
                    <a:bodyPr/>
                    <a:lstStyle/>
                    <a:p>
                      <a:pPr indent="0" lvl="0" marL="0" marR="0" rtl="0" algn="l">
                        <a:spcBef>
                          <a:spcPts val="0"/>
                        </a:spcBef>
                        <a:spcAft>
                          <a:spcPts val="0"/>
                        </a:spcAft>
                        <a:buNone/>
                      </a:pPr>
                      <a:r>
                        <a:rPr lang="en-US" sz="1600"/>
                        <a:t>40</a:t>
                      </a:r>
                      <a:endParaRPr/>
                    </a:p>
                  </a:txBody>
                  <a:tcPr marT="45725" marB="45725" marR="91450" marL="91450"/>
                </a:tc>
                <a:tc>
                  <a:txBody>
                    <a:bodyPr/>
                    <a:lstStyle/>
                    <a:p>
                      <a:pPr indent="0" lvl="0" marL="0" marR="0" rtl="0" algn="l">
                        <a:spcBef>
                          <a:spcPts val="0"/>
                        </a:spcBef>
                        <a:spcAft>
                          <a:spcPts val="0"/>
                        </a:spcAft>
                        <a:buNone/>
                      </a:pPr>
                      <a:r>
                        <a:rPr lang="en-US" sz="1600"/>
                        <a:t>8</a:t>
                      </a:r>
                      <a:endParaRPr/>
                    </a:p>
                  </a:txBody>
                  <a:tcPr marT="45725" marB="45725" marR="91450" marL="91450"/>
                </a:tc>
                <a:tc>
                  <a:txBody>
                    <a:bodyPr/>
                    <a:lstStyle/>
                    <a:p>
                      <a:pPr indent="0" lvl="0" marL="0" marR="0" rtl="0" algn="l">
                        <a:spcBef>
                          <a:spcPts val="0"/>
                        </a:spcBef>
                        <a:spcAft>
                          <a:spcPts val="0"/>
                        </a:spcAft>
                        <a:buNone/>
                      </a:pPr>
                      <a:r>
                        <a:rPr lang="en-US" sz="1600"/>
                        <a:t>7</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Round Robin</a:t>
            </a:r>
            <a:endParaRPr/>
          </a:p>
        </p:txBody>
      </p:sp>
      <p:sp>
        <p:nvSpPr>
          <p:cNvPr id="653" name="Google Shape;653;p69"/>
          <p:cNvSpPr txBox="1"/>
          <p:nvPr>
            <p:ph idx="1" type="body"/>
          </p:nvPr>
        </p:nvSpPr>
        <p:spPr>
          <a:xfrm>
            <a:off x="536713" y="1930400"/>
            <a:ext cx="9004851" cy="4569791"/>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79999"/>
              <a:buChar char="►"/>
            </a:pPr>
            <a:r>
              <a:rPr lang="en-US"/>
              <a:t>Round Robin is one of the most popular CPU scheduling algorithms, especially used in time-sharing systems where fairness is important.</a:t>
            </a:r>
            <a:endParaRPr/>
          </a:p>
          <a:p>
            <a:pPr indent="-342900" lvl="0" marL="342900" rtl="0" algn="l">
              <a:spcBef>
                <a:spcPts val="1000"/>
              </a:spcBef>
              <a:spcAft>
                <a:spcPts val="0"/>
              </a:spcAft>
              <a:buSzPct val="79999"/>
              <a:buChar char="►"/>
            </a:pPr>
            <a:r>
              <a:rPr lang="en-US"/>
              <a:t>Round Robin scheduling gives each process a fixed time to execute, called the Time Quantum (or Time Slice).</a:t>
            </a:r>
            <a:endParaRPr/>
          </a:p>
          <a:p>
            <a:pPr indent="-342900" lvl="0" marL="342900" rtl="0" algn="l">
              <a:spcBef>
                <a:spcPts val="1000"/>
              </a:spcBef>
              <a:spcAft>
                <a:spcPts val="0"/>
              </a:spcAft>
              <a:buSzPct val="79999"/>
              <a:buChar char="►"/>
            </a:pPr>
            <a:r>
              <a:rPr lang="en-US"/>
              <a:t>The CPU cycles through the processes in a circular queue, giving every process an equal chance.</a:t>
            </a:r>
            <a:endParaRPr/>
          </a:p>
          <a:p>
            <a:pPr indent="-342900" lvl="0" marL="342900" rtl="0" algn="l">
              <a:spcBef>
                <a:spcPts val="1000"/>
              </a:spcBef>
              <a:spcAft>
                <a:spcPts val="0"/>
              </a:spcAft>
              <a:buSzPct val="79999"/>
              <a:buChar char="►"/>
            </a:pPr>
            <a:r>
              <a:rPr lang="en-US"/>
              <a:t>Steps</a:t>
            </a:r>
            <a:endParaRPr/>
          </a:p>
          <a:p>
            <a:pPr indent="-285750" lvl="1" marL="742950" rtl="0" algn="l">
              <a:spcBef>
                <a:spcPts val="1000"/>
              </a:spcBef>
              <a:spcAft>
                <a:spcPts val="0"/>
              </a:spcAft>
              <a:buSzPct val="80000"/>
              <a:buChar char="►"/>
            </a:pPr>
            <a:r>
              <a:rPr lang="en-US"/>
              <a:t>All ready processes are placed in a queue (FIFO order).</a:t>
            </a:r>
            <a:endParaRPr/>
          </a:p>
          <a:p>
            <a:pPr indent="-285750" lvl="1" marL="742950" rtl="0" algn="l">
              <a:spcBef>
                <a:spcPts val="1000"/>
              </a:spcBef>
              <a:spcAft>
                <a:spcPts val="0"/>
              </a:spcAft>
              <a:buSzPct val="80000"/>
              <a:buChar char="►"/>
            </a:pPr>
            <a:r>
              <a:rPr lang="en-US"/>
              <a:t>The CPU takes the first process from the queue.</a:t>
            </a:r>
            <a:endParaRPr/>
          </a:p>
          <a:p>
            <a:pPr indent="-285750" lvl="1" marL="742950" rtl="0" algn="l">
              <a:spcBef>
                <a:spcPts val="1000"/>
              </a:spcBef>
              <a:spcAft>
                <a:spcPts val="0"/>
              </a:spcAft>
              <a:buSzPct val="80000"/>
              <a:buChar char="►"/>
            </a:pPr>
            <a:r>
              <a:rPr lang="en-US"/>
              <a:t>The process executes for one Time Quantum (TQ).</a:t>
            </a:r>
            <a:endParaRPr/>
          </a:p>
          <a:p>
            <a:pPr indent="-285750" lvl="1" marL="742950" rtl="0" algn="l">
              <a:spcBef>
                <a:spcPts val="1000"/>
              </a:spcBef>
              <a:spcAft>
                <a:spcPts val="0"/>
              </a:spcAft>
              <a:buSzPct val="80000"/>
              <a:buChar char="►"/>
            </a:pPr>
            <a:r>
              <a:rPr lang="en-US"/>
              <a:t>After TQ:</a:t>
            </a:r>
            <a:endParaRPr/>
          </a:p>
          <a:p>
            <a:pPr indent="-228600" lvl="2" marL="1143000" rtl="0" algn="l">
              <a:spcBef>
                <a:spcPts val="1000"/>
              </a:spcBef>
              <a:spcAft>
                <a:spcPts val="0"/>
              </a:spcAft>
              <a:buSzPct val="80000"/>
              <a:buChar char="►"/>
            </a:pPr>
            <a:r>
              <a:rPr lang="en-US"/>
              <a:t>If the process finishes, remove it.</a:t>
            </a:r>
            <a:endParaRPr/>
          </a:p>
          <a:p>
            <a:pPr indent="-228600" lvl="2" marL="1143000" rtl="0" algn="l">
              <a:spcBef>
                <a:spcPts val="1000"/>
              </a:spcBef>
              <a:spcAft>
                <a:spcPts val="0"/>
              </a:spcAft>
              <a:buSzPct val="80000"/>
              <a:buChar char="►"/>
            </a:pPr>
            <a:r>
              <a:rPr lang="en-US"/>
              <a:t>If it needs more CPU time, put it at the end of the queue.</a:t>
            </a:r>
            <a:endParaRPr/>
          </a:p>
          <a:p>
            <a:pPr indent="-285750" lvl="1" marL="742950" rtl="0" algn="l">
              <a:spcBef>
                <a:spcPts val="1000"/>
              </a:spcBef>
              <a:spcAft>
                <a:spcPts val="0"/>
              </a:spcAft>
              <a:buSzPct val="80000"/>
              <a:buChar char="►"/>
            </a:pPr>
            <a:r>
              <a:rPr lang="en-US"/>
              <a:t>Move to the next process.</a:t>
            </a:r>
            <a:endParaRPr/>
          </a:p>
          <a:p>
            <a:pPr indent="-285750" lvl="1" marL="742950" rtl="0" algn="l">
              <a:spcBef>
                <a:spcPts val="1000"/>
              </a:spcBef>
              <a:spcAft>
                <a:spcPts val="0"/>
              </a:spcAft>
              <a:buSzPct val="80000"/>
              <a:buChar char="►"/>
            </a:pPr>
            <a:r>
              <a:rPr lang="en-US"/>
              <a:t>Repeat until all processes finish.</a:t>
            </a:r>
            <a:endParaRPr/>
          </a:p>
          <a:p>
            <a:pPr indent="-258318" lvl="0" marL="342900" rtl="0" algn="l">
              <a:spcBef>
                <a:spcPts val="1000"/>
              </a:spcBef>
              <a:spcAft>
                <a:spcPts val="0"/>
              </a:spcAft>
              <a:buSzPct val="79999"/>
              <a:buNone/>
            </a:pPr>
            <a:r>
              <a:t/>
            </a:r>
            <a:endParaRPr/>
          </a:p>
        </p:txBody>
      </p:sp>
      <p:sp>
        <p:nvSpPr>
          <p:cNvPr id="654" name="Google Shape;654;p69"/>
          <p:cNvSpPr/>
          <p:nvPr/>
        </p:nvSpPr>
        <p:spPr>
          <a:xfrm>
            <a:off x="0" y="-184666"/>
            <a:ext cx="264816"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7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Round Robin Numerical </a:t>
            </a:r>
            <a:endParaRPr/>
          </a:p>
        </p:txBody>
      </p:sp>
      <p:sp>
        <p:nvSpPr>
          <p:cNvPr id="660" name="Google Shape;660;p7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graphicFrame>
        <p:nvGraphicFramePr>
          <p:cNvPr id="661" name="Google Shape;661;p70"/>
          <p:cNvGraphicFramePr/>
          <p:nvPr/>
        </p:nvGraphicFramePr>
        <p:xfrm>
          <a:off x="628492" y="1589087"/>
          <a:ext cx="3000000" cy="3000000"/>
        </p:xfrm>
        <a:graphic>
          <a:graphicData uri="http://schemas.openxmlformats.org/drawingml/2006/table">
            <a:tbl>
              <a:tblPr bandRow="1" firstRow="1">
                <a:noFill/>
                <a:tableStyleId>{4A1EB111-B6CD-4540-B144-BA16F0421430}</a:tableStyleId>
              </a:tblPr>
              <a:tblGrid>
                <a:gridCol w="962350"/>
                <a:gridCol w="884550"/>
                <a:gridCol w="725000"/>
                <a:gridCol w="1314450"/>
                <a:gridCol w="1047750"/>
                <a:gridCol w="914400"/>
                <a:gridCol w="1028700"/>
                <a:gridCol w="1104900"/>
                <a:gridCol w="1627500"/>
              </a:tblGrid>
              <a:tr h="1071425">
                <a:tc>
                  <a:txBody>
                    <a:bodyPr/>
                    <a:lstStyle/>
                    <a:p>
                      <a:pPr indent="0" lvl="0" marL="0" marR="0" rtl="0" algn="ctr">
                        <a:spcBef>
                          <a:spcPts val="0"/>
                        </a:spcBef>
                        <a:spcAft>
                          <a:spcPts val="0"/>
                        </a:spcAft>
                        <a:buNone/>
                      </a:pPr>
                      <a:r>
                        <a:rPr lang="en-US" sz="1600"/>
                        <a:t>Process</a:t>
                      </a:r>
                      <a:endParaRPr/>
                    </a:p>
                  </a:txBody>
                  <a:tcPr marT="45725" marB="45725" marR="91450" marL="91450"/>
                </a:tc>
                <a:tc>
                  <a:txBody>
                    <a:bodyPr/>
                    <a:lstStyle/>
                    <a:p>
                      <a:pPr indent="0" lvl="0" marL="0" marR="0" rtl="0" algn="ctr">
                        <a:spcBef>
                          <a:spcPts val="0"/>
                        </a:spcBef>
                        <a:spcAft>
                          <a:spcPts val="0"/>
                        </a:spcAft>
                        <a:buNone/>
                      </a:pPr>
                      <a:r>
                        <a:rPr lang="en-US" sz="1600"/>
                        <a:t>Arrival</a:t>
                      </a:r>
                      <a:endParaRPr/>
                    </a:p>
                  </a:txBody>
                  <a:tcPr marT="45725" marB="45725" marR="91450" marL="91450"/>
                </a:tc>
                <a:tc>
                  <a:txBody>
                    <a:bodyPr/>
                    <a:lstStyle/>
                    <a:p>
                      <a:pPr indent="0" lvl="0" marL="0" marR="0" rtl="0" algn="ctr">
                        <a:spcBef>
                          <a:spcPts val="0"/>
                        </a:spcBef>
                        <a:spcAft>
                          <a:spcPts val="0"/>
                        </a:spcAft>
                        <a:buNone/>
                      </a:pPr>
                      <a:r>
                        <a:rPr lang="en-US" sz="1600"/>
                        <a:t>Burst time</a:t>
                      </a:r>
                      <a:endParaRPr/>
                    </a:p>
                  </a:txBody>
                  <a:tcPr marT="45725" marB="45725" marR="91450" marL="91450"/>
                </a:tc>
                <a:tc>
                  <a:txBody>
                    <a:bodyPr/>
                    <a:lstStyle/>
                    <a:p>
                      <a:pPr indent="0" lvl="0" marL="0" marR="0" rtl="0" algn="ctr">
                        <a:spcBef>
                          <a:spcPts val="0"/>
                        </a:spcBef>
                        <a:spcAft>
                          <a:spcPts val="0"/>
                        </a:spcAft>
                        <a:buNone/>
                      </a:pPr>
                      <a:r>
                        <a:rPr lang="en-US" sz="1600"/>
                        <a:t>Completion time</a:t>
                      </a:r>
                      <a:endParaRPr/>
                    </a:p>
                  </a:txBody>
                  <a:tcPr marT="45725" marB="45725" marR="91450" marL="91450"/>
                </a:tc>
                <a:tc>
                  <a:txBody>
                    <a:bodyPr/>
                    <a:lstStyle/>
                    <a:p>
                      <a:pPr indent="0" lvl="0" marL="0" marR="0" rtl="0" algn="ctr">
                        <a:spcBef>
                          <a:spcPts val="0"/>
                        </a:spcBef>
                        <a:spcAft>
                          <a:spcPts val="0"/>
                        </a:spcAft>
                        <a:buNone/>
                      </a:pPr>
                      <a:r>
                        <a:rPr lang="en-US" sz="1600"/>
                        <a:t>Turn Around Time</a:t>
                      </a:r>
                      <a:endParaRPr/>
                    </a:p>
                  </a:txBody>
                  <a:tcPr marT="45725" marB="45725" marR="91450" marL="91450"/>
                </a:tc>
                <a:tc>
                  <a:txBody>
                    <a:bodyPr/>
                    <a:lstStyle/>
                    <a:p>
                      <a:pPr indent="0" lvl="0" marL="0" marR="0" rtl="0" algn="ctr">
                        <a:spcBef>
                          <a:spcPts val="0"/>
                        </a:spcBef>
                        <a:spcAft>
                          <a:spcPts val="0"/>
                        </a:spcAft>
                        <a:buNone/>
                      </a:pPr>
                      <a:r>
                        <a:rPr lang="en-US" sz="1600"/>
                        <a:t>Waiting time</a:t>
                      </a:r>
                      <a:endParaRPr/>
                    </a:p>
                  </a:txBody>
                  <a:tcPr marT="45725" marB="45725" marR="91450" marL="91450"/>
                </a:tc>
                <a:tc>
                  <a:txBody>
                    <a:bodyPr/>
                    <a:lstStyle/>
                    <a:p>
                      <a:pPr indent="0" lvl="0" marL="0" marR="0" rtl="0" algn="ctr">
                        <a:spcBef>
                          <a:spcPts val="0"/>
                        </a:spcBef>
                        <a:spcAft>
                          <a:spcPts val="0"/>
                        </a:spcAft>
                        <a:buNone/>
                      </a:pPr>
                      <a:r>
                        <a:rPr lang="en-US" sz="1600"/>
                        <a:t>Average TAT</a:t>
                      </a:r>
                      <a:endParaRPr/>
                    </a:p>
                  </a:txBody>
                  <a:tcPr marT="45725" marB="45725" marR="91450" marL="91450"/>
                </a:tc>
                <a:tc>
                  <a:txBody>
                    <a:bodyPr/>
                    <a:lstStyle/>
                    <a:p>
                      <a:pPr indent="0" lvl="0" marL="0" marR="0" rtl="0" algn="ctr">
                        <a:spcBef>
                          <a:spcPts val="0"/>
                        </a:spcBef>
                        <a:spcAft>
                          <a:spcPts val="0"/>
                        </a:spcAft>
                        <a:buNone/>
                      </a:pPr>
                      <a:r>
                        <a:rPr lang="en-US" sz="1600"/>
                        <a:t>Average WT</a:t>
                      </a:r>
                      <a:endParaRPr/>
                    </a:p>
                  </a:txBody>
                  <a:tcPr marT="45725" marB="45725" marR="91450" marL="91450"/>
                </a:tc>
                <a:tc>
                  <a:txBody>
                    <a:bodyPr/>
                    <a:lstStyle/>
                    <a:p>
                      <a:pPr indent="0" lvl="0" marL="0" marR="0" rtl="0" algn="ctr">
                        <a:spcBef>
                          <a:spcPts val="0"/>
                        </a:spcBef>
                        <a:spcAft>
                          <a:spcPts val="0"/>
                        </a:spcAft>
                        <a:buNone/>
                      </a:pPr>
                      <a:r>
                        <a:rPr lang="en-US" sz="1600"/>
                        <a:t>Response time</a:t>
                      </a:r>
                      <a:endParaRPr/>
                    </a:p>
                  </a:txBody>
                  <a:tcPr marT="45725" marB="45725" marR="91450" marL="91450"/>
                </a:tc>
              </a:tr>
              <a:tr h="620750">
                <a:tc>
                  <a:txBody>
                    <a:bodyPr/>
                    <a:lstStyle/>
                    <a:p>
                      <a:pPr indent="0" lvl="0" marL="0" marR="0" rtl="0" algn="l">
                        <a:spcBef>
                          <a:spcPts val="0"/>
                        </a:spcBef>
                        <a:spcAft>
                          <a:spcPts val="0"/>
                        </a:spcAft>
                        <a:buNone/>
                      </a:pPr>
                      <a:r>
                        <a:rPr lang="en-US" sz="1600"/>
                        <a:t>P1</a:t>
                      </a:r>
                      <a:endParaRPr/>
                    </a:p>
                  </a:txBody>
                  <a:tcPr marT="45725" marB="45725" marR="91450" marL="91450"/>
                </a:tc>
                <a:tc>
                  <a:txBody>
                    <a:bodyPr/>
                    <a:lstStyle/>
                    <a:p>
                      <a:pPr indent="0" lvl="0" marL="0" marR="0" rtl="0" algn="l">
                        <a:spcBef>
                          <a:spcPts val="0"/>
                        </a:spcBef>
                        <a:spcAft>
                          <a:spcPts val="0"/>
                        </a:spcAft>
                        <a:buNone/>
                      </a:pPr>
                      <a:r>
                        <a:rPr lang="en-US" sz="1600"/>
                        <a:t>0</a:t>
                      </a:r>
                      <a:endParaRPr/>
                    </a:p>
                  </a:txBody>
                  <a:tcPr marT="45725" marB="45725" marR="91450" marL="91450"/>
                </a:tc>
                <a:tc>
                  <a:txBody>
                    <a:bodyPr/>
                    <a:lstStyle/>
                    <a:p>
                      <a:pPr indent="0" lvl="0" marL="0" marR="0" rtl="0" algn="l">
                        <a:spcBef>
                          <a:spcPts val="0"/>
                        </a:spcBef>
                        <a:spcAft>
                          <a:spcPts val="0"/>
                        </a:spcAft>
                        <a:buNone/>
                      </a:pPr>
                      <a:r>
                        <a:rPr lang="en-US" sz="1600"/>
                        <a:t>5</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620750">
                <a:tc>
                  <a:txBody>
                    <a:bodyPr/>
                    <a:lstStyle/>
                    <a:p>
                      <a:pPr indent="0" lvl="0" marL="0" marR="0" rtl="0" algn="l">
                        <a:spcBef>
                          <a:spcPts val="0"/>
                        </a:spcBef>
                        <a:spcAft>
                          <a:spcPts val="0"/>
                        </a:spcAft>
                        <a:buNone/>
                      </a:pPr>
                      <a:r>
                        <a:rPr lang="en-US" sz="1600"/>
                        <a:t>P2</a:t>
                      </a:r>
                      <a:endParaRPr/>
                    </a:p>
                  </a:txBody>
                  <a:tcPr marT="45725" marB="45725" marR="91450" marL="91450"/>
                </a:tc>
                <a:tc>
                  <a:txBody>
                    <a:bodyPr/>
                    <a:lstStyle/>
                    <a:p>
                      <a:pPr indent="0" lvl="0" marL="0" marR="0" rtl="0" algn="l">
                        <a:spcBef>
                          <a:spcPts val="0"/>
                        </a:spcBef>
                        <a:spcAft>
                          <a:spcPts val="0"/>
                        </a:spcAft>
                        <a:buNone/>
                      </a:pPr>
                      <a:r>
                        <a:rPr lang="en-US" sz="1600"/>
                        <a:t>7</a:t>
                      </a:r>
                      <a:endParaRPr/>
                    </a:p>
                  </a:txBody>
                  <a:tcPr marT="45725" marB="45725" marR="91450" marL="91450"/>
                </a:tc>
                <a:tc>
                  <a:txBody>
                    <a:bodyPr/>
                    <a:lstStyle/>
                    <a:p>
                      <a:pPr indent="0" lvl="0" marL="0" marR="0" rtl="0" algn="l">
                        <a:spcBef>
                          <a:spcPts val="0"/>
                        </a:spcBef>
                        <a:spcAft>
                          <a:spcPts val="0"/>
                        </a:spcAft>
                        <a:buNone/>
                      </a:pPr>
                      <a:r>
                        <a:rPr lang="en-US" sz="1600"/>
                        <a:t>6</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620750">
                <a:tc>
                  <a:txBody>
                    <a:bodyPr/>
                    <a:lstStyle/>
                    <a:p>
                      <a:pPr indent="0" lvl="0" marL="0" marR="0" rtl="0" algn="l">
                        <a:spcBef>
                          <a:spcPts val="0"/>
                        </a:spcBef>
                        <a:spcAft>
                          <a:spcPts val="0"/>
                        </a:spcAft>
                        <a:buNone/>
                      </a:pPr>
                      <a:r>
                        <a:rPr lang="en-US" sz="1600"/>
                        <a:t>P3</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rPr lang="en-US" sz="1600"/>
                        <a:t>3</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r h="620750">
                <a:tc>
                  <a:txBody>
                    <a:bodyPr/>
                    <a:lstStyle/>
                    <a:p>
                      <a:pPr indent="0" lvl="0" marL="0" marR="0" rtl="0" algn="l">
                        <a:spcBef>
                          <a:spcPts val="0"/>
                        </a:spcBef>
                        <a:spcAft>
                          <a:spcPts val="0"/>
                        </a:spcAft>
                        <a:buNone/>
                      </a:pPr>
                      <a:r>
                        <a:rPr lang="en-US" sz="1600"/>
                        <a:t>P4</a:t>
                      </a:r>
                      <a:endParaRPr/>
                    </a:p>
                  </a:txBody>
                  <a:tcPr marT="45725" marB="45725" marR="91450" marL="91450"/>
                </a:tc>
                <a:tc>
                  <a:txBody>
                    <a:bodyPr/>
                    <a:lstStyle/>
                    <a:p>
                      <a:pPr indent="0" lvl="0" marL="0" marR="0" rtl="0" algn="l">
                        <a:spcBef>
                          <a:spcPts val="0"/>
                        </a:spcBef>
                        <a:spcAft>
                          <a:spcPts val="0"/>
                        </a:spcAft>
                        <a:buNone/>
                      </a:pPr>
                      <a:r>
                        <a:rPr lang="en-US" sz="1600"/>
                        <a:t>2</a:t>
                      </a:r>
                      <a:endParaRPr/>
                    </a:p>
                  </a:txBody>
                  <a:tcPr marT="45725" marB="45725" marR="91450" marL="91450"/>
                </a:tc>
                <a:tc>
                  <a:txBody>
                    <a:bodyPr/>
                    <a:lstStyle/>
                    <a:p>
                      <a:pPr indent="0" lvl="0" marL="0" marR="0" rtl="0" algn="l">
                        <a:spcBef>
                          <a:spcPts val="0"/>
                        </a:spcBef>
                        <a:spcAft>
                          <a:spcPts val="0"/>
                        </a:spcAft>
                        <a:buNone/>
                      </a:pPr>
                      <a:r>
                        <a:rPr lang="en-US" sz="1600"/>
                        <a:t>4</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bl>
          </a:graphicData>
        </a:graphic>
      </p:graphicFrame>
      <p:sp>
        <p:nvSpPr>
          <p:cNvPr id="662" name="Google Shape;662;p70"/>
          <p:cNvSpPr txBox="1"/>
          <p:nvPr/>
        </p:nvSpPr>
        <p:spPr>
          <a:xfrm>
            <a:off x="6179404" y="1060559"/>
            <a:ext cx="37610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Criterial: Arrival time ----Quantum</a:t>
            </a:r>
            <a:endParaRPr/>
          </a:p>
        </p:txBody>
      </p:sp>
      <p:sp>
        <p:nvSpPr>
          <p:cNvPr id="663" name="Google Shape;663;p70"/>
          <p:cNvSpPr txBox="1"/>
          <p:nvPr/>
        </p:nvSpPr>
        <p:spPr>
          <a:xfrm>
            <a:off x="7378290" y="691227"/>
            <a:ext cx="13632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Preemptive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FAIR SHARE SCHEDULING ALGORITHM</a:t>
            </a:r>
            <a:endParaRPr/>
          </a:p>
        </p:txBody>
      </p:sp>
      <p:sp>
        <p:nvSpPr>
          <p:cNvPr id="669" name="Google Shape;669;p71"/>
          <p:cNvSpPr txBox="1"/>
          <p:nvPr>
            <p:ph idx="1" type="body"/>
          </p:nvPr>
        </p:nvSpPr>
        <p:spPr>
          <a:xfrm>
            <a:off x="677334" y="177196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First designed by Judy Kay and Piers Lauder at Sydney University in the 1980s. </a:t>
            </a:r>
            <a:endParaRPr/>
          </a:p>
          <a:p>
            <a:pPr indent="-342900" lvl="0" marL="342900" rtl="0" algn="l">
              <a:spcBef>
                <a:spcPts val="1000"/>
              </a:spcBef>
              <a:spcAft>
                <a:spcPts val="0"/>
              </a:spcAft>
              <a:buSzPts val="1440"/>
              <a:buChar char="►"/>
            </a:pPr>
            <a:r>
              <a:rPr lang="en-US"/>
              <a:t>It is a scheduling algorithm for computer operating systems that dynamically distributes the time quanta “equally” to its users. </a:t>
            </a:r>
            <a:endParaRPr/>
          </a:p>
          <a:p>
            <a:pPr indent="-251459" lvl="0" marL="342900" rtl="0" algn="l">
              <a:spcBef>
                <a:spcPts val="1000"/>
              </a:spcBef>
              <a:spcAft>
                <a:spcPts val="0"/>
              </a:spcAft>
              <a:buSzPts val="1440"/>
              <a:buNone/>
            </a:pPr>
            <a:r>
              <a:t/>
            </a:r>
            <a:endParaRPr/>
          </a:p>
        </p:txBody>
      </p:sp>
      <p:pic>
        <p:nvPicPr>
          <p:cNvPr descr="Lightbox" id="670" name="Google Shape;670;p71"/>
          <p:cNvPicPr preferRelativeResize="0"/>
          <p:nvPr/>
        </p:nvPicPr>
        <p:blipFill rotWithShape="1">
          <a:blip r:embed="rId3">
            <a:alphaModFix/>
          </a:blip>
          <a:srcRect b="0" l="0" r="0" t="0"/>
          <a:stretch/>
        </p:blipFill>
        <p:spPr>
          <a:xfrm>
            <a:off x="1157394" y="2947337"/>
            <a:ext cx="4443306" cy="3960527"/>
          </a:xfrm>
          <a:prstGeom prst="rect">
            <a:avLst/>
          </a:prstGeom>
          <a:noFill/>
          <a:ln>
            <a:noFill/>
          </a:ln>
        </p:spPr>
      </p:pic>
      <p:pic>
        <p:nvPicPr>
          <p:cNvPr id="671" name="Google Shape;671;p71"/>
          <p:cNvPicPr preferRelativeResize="0"/>
          <p:nvPr/>
        </p:nvPicPr>
        <p:blipFill rotWithShape="1">
          <a:blip r:embed="rId4">
            <a:alphaModFix/>
          </a:blip>
          <a:srcRect b="0" l="0" r="1595" t="0"/>
          <a:stretch/>
        </p:blipFill>
        <p:spPr>
          <a:xfrm>
            <a:off x="6450792" y="2876216"/>
            <a:ext cx="4777740" cy="398178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Guaranteed Scheduling</a:t>
            </a:r>
            <a:endParaRPr/>
          </a:p>
        </p:txBody>
      </p:sp>
      <p:sp>
        <p:nvSpPr>
          <p:cNvPr id="678" name="Google Shape;678;p7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Guaranteed Scheduling is a CPU scheduling algorithm that tries to give each process a guaranteed share of CPU time, proportional to what it should get.</a:t>
            </a:r>
            <a:endParaRPr/>
          </a:p>
          <a:p>
            <a:pPr indent="0" lvl="0" marL="0" rtl="0" algn="l">
              <a:spcBef>
                <a:spcPts val="1000"/>
              </a:spcBef>
              <a:spcAft>
                <a:spcPts val="0"/>
              </a:spcAft>
              <a:buSzPts val="1440"/>
              <a:buNone/>
            </a:pPr>
            <a:r>
              <a:rPr b="1" lang="en-US"/>
              <a:t>If there are N processes, each gets at least 1/N of the CPU</a:t>
            </a:r>
            <a:r>
              <a:rPr lang="en-US"/>
              <a:t>.</a:t>
            </a:r>
            <a:endParaRPr/>
          </a:p>
          <a:p>
            <a:pPr indent="-342900" lvl="0" marL="342900" rtl="0" algn="l">
              <a:spcBef>
                <a:spcPts val="1000"/>
              </a:spcBef>
              <a:spcAft>
                <a:spcPts val="0"/>
              </a:spcAft>
              <a:buSzPts val="1440"/>
              <a:buChar char="►"/>
            </a:pPr>
            <a:r>
              <a:rPr lang="en-US"/>
              <a:t>So, the OS tries to ensure fairness by dividing CPU time equally</a:t>
            </a:r>
            <a:endParaRPr/>
          </a:p>
          <a:p>
            <a:pPr indent="-342900" lvl="0" marL="342900" rtl="0" algn="l">
              <a:spcBef>
                <a:spcPts val="1000"/>
              </a:spcBef>
              <a:spcAft>
                <a:spcPts val="0"/>
              </a:spcAft>
              <a:buSzPts val="1440"/>
              <a:buChar char="►"/>
            </a:pPr>
            <a:r>
              <a:rPr lang="en-US"/>
              <a:t>Suppose N processes are running.</a:t>
            </a:r>
            <a:endParaRPr/>
          </a:p>
          <a:p>
            <a:pPr indent="-285750" lvl="1" marL="742950" rtl="0" algn="l">
              <a:spcBef>
                <a:spcPts val="1000"/>
              </a:spcBef>
              <a:spcAft>
                <a:spcPts val="0"/>
              </a:spcAft>
              <a:buSzPts val="1280"/>
              <a:buChar char="►"/>
            </a:pPr>
            <a:r>
              <a:rPr lang="en-US"/>
              <a:t>The OS calculates how much CPU time each process should have received.</a:t>
            </a:r>
            <a:endParaRPr/>
          </a:p>
          <a:p>
            <a:pPr indent="-285750" lvl="1" marL="742950" rtl="0" algn="l">
              <a:spcBef>
                <a:spcPts val="1000"/>
              </a:spcBef>
              <a:spcAft>
                <a:spcPts val="0"/>
              </a:spcAft>
              <a:buSzPts val="1280"/>
              <a:buChar char="►"/>
            </a:pPr>
            <a:r>
              <a:rPr lang="en-US"/>
              <a:t>It also keeps track of how much CPU time they actually received.</a:t>
            </a:r>
            <a:endParaRPr/>
          </a:p>
          <a:p>
            <a:pPr indent="-285750" lvl="1" marL="742950" rtl="0" algn="l">
              <a:spcBef>
                <a:spcPts val="1000"/>
              </a:spcBef>
              <a:spcAft>
                <a:spcPts val="0"/>
              </a:spcAft>
              <a:buSzPts val="1280"/>
              <a:buChar char="►"/>
            </a:pPr>
            <a:r>
              <a:rPr lang="en-US"/>
              <a:t>It selects the process that is most behind in its "guaranteed" CPU share.</a:t>
            </a:r>
            <a:endParaRPr/>
          </a:p>
          <a:p>
            <a:pPr indent="0" lvl="1" marL="457200" rtl="0" algn="l">
              <a:spcBef>
                <a:spcPts val="1000"/>
              </a:spcBef>
              <a:spcAft>
                <a:spcPts val="0"/>
              </a:spcAft>
              <a:buSzPts val="1280"/>
              <a:buNone/>
            </a:pPr>
            <a:r>
              <a:rPr b="1" lang="en-US"/>
              <a:t>CPU time received / CPU time expected</a:t>
            </a:r>
            <a:endParaRPr/>
          </a:p>
          <a:p>
            <a:pPr indent="0" lvl="1" marL="457200" rtl="0" algn="l">
              <a:spcBef>
                <a:spcPts val="1000"/>
              </a:spcBef>
              <a:spcAft>
                <a:spcPts val="0"/>
              </a:spcAft>
              <a:buSzPts val="1280"/>
              <a:buNone/>
            </a:pPr>
            <a:r>
              <a:rPr lang="en-US"/>
              <a:t>is kept close to 1 for all processes</a:t>
            </a:r>
            <a:endParaRPr/>
          </a:p>
          <a:p>
            <a:pPr indent="-204469" lvl="1" marL="742950" rtl="0" algn="l">
              <a:spcBef>
                <a:spcPts val="1000"/>
              </a:spcBef>
              <a:spcAft>
                <a:spcPts val="0"/>
              </a:spcAft>
              <a:buSzPts val="128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7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Why it is called “Guaranteed”?</a:t>
            </a:r>
            <a:endParaRPr/>
          </a:p>
        </p:txBody>
      </p:sp>
      <p:sp>
        <p:nvSpPr>
          <p:cNvPr id="685" name="Google Shape;685;p7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Because the OS guarantees every process a minimum fraction of CPU time.</a:t>
            </a:r>
            <a:endParaRPr/>
          </a:p>
          <a:p>
            <a:pPr indent="-342900" lvl="0" marL="342900" rtl="0" algn="l">
              <a:spcBef>
                <a:spcPts val="1000"/>
              </a:spcBef>
              <a:spcAft>
                <a:spcPts val="0"/>
              </a:spcAft>
              <a:buSzPts val="1440"/>
              <a:buChar char="►"/>
            </a:pPr>
            <a:r>
              <a:rPr lang="en-US"/>
              <a:t>Unlike:</a:t>
            </a:r>
            <a:endParaRPr/>
          </a:p>
          <a:p>
            <a:pPr indent="-285750" lvl="1" marL="742950" rtl="0" algn="l">
              <a:spcBef>
                <a:spcPts val="1000"/>
              </a:spcBef>
              <a:spcAft>
                <a:spcPts val="0"/>
              </a:spcAft>
              <a:buSzPts val="1280"/>
              <a:buChar char="►"/>
            </a:pPr>
            <a:r>
              <a:rPr lang="en-US"/>
              <a:t>FCFS (can cause starvation)</a:t>
            </a:r>
            <a:endParaRPr/>
          </a:p>
          <a:p>
            <a:pPr indent="-285750" lvl="1" marL="742950" rtl="0" algn="l">
              <a:spcBef>
                <a:spcPts val="1000"/>
              </a:spcBef>
              <a:spcAft>
                <a:spcPts val="0"/>
              </a:spcAft>
              <a:buSzPts val="1280"/>
              <a:buChar char="►"/>
            </a:pPr>
            <a:r>
              <a:rPr lang="en-US"/>
              <a:t>Priority scheduling (low priority may suffer)</a:t>
            </a:r>
            <a:endParaRPr/>
          </a:p>
          <a:p>
            <a:pPr indent="-285750" lvl="1" marL="742950" rtl="0" algn="l">
              <a:spcBef>
                <a:spcPts val="1000"/>
              </a:spcBef>
              <a:spcAft>
                <a:spcPts val="0"/>
              </a:spcAft>
              <a:buSzPts val="1280"/>
              <a:buChar char="►"/>
            </a:pPr>
            <a:r>
              <a:rPr lang="en-US"/>
              <a:t>SJF/SRTF (long jobs suffer)</a:t>
            </a:r>
            <a:endParaRPr/>
          </a:p>
          <a:p>
            <a:pPr indent="-285750" lvl="1" marL="742950" rtl="0" algn="l">
              <a:spcBef>
                <a:spcPts val="1000"/>
              </a:spcBef>
              <a:spcAft>
                <a:spcPts val="0"/>
              </a:spcAft>
              <a:buSzPts val="1280"/>
              <a:buChar char="►"/>
            </a:pPr>
            <a:r>
              <a:rPr lang="en-US"/>
              <a:t>Guaranteed scheduling avoids starvation.</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Lottery Scheduling</a:t>
            </a:r>
            <a:endParaRPr/>
          </a:p>
        </p:txBody>
      </p:sp>
      <p:sp>
        <p:nvSpPr>
          <p:cNvPr id="692" name="Google Shape;692;p7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Lottery Scheduling is a probabilistic CPU scheduling algorithm.</a:t>
            </a:r>
            <a:endParaRPr/>
          </a:p>
          <a:p>
            <a:pPr indent="-342900" lvl="0" marL="342900" rtl="0" algn="l">
              <a:spcBef>
                <a:spcPts val="1000"/>
              </a:spcBef>
              <a:spcAft>
                <a:spcPts val="0"/>
              </a:spcAft>
              <a:buSzPts val="1440"/>
              <a:buChar char="►"/>
            </a:pPr>
            <a:r>
              <a:rPr lang="en-US"/>
              <a:t>Instead of fixed priorities, processes receive lottery tickets, and the scheduler randomly draws one ticket to decide which process runs next.</a:t>
            </a:r>
            <a:endParaRPr/>
          </a:p>
          <a:p>
            <a:pPr indent="0" lvl="0" marL="0" rtl="0" algn="l">
              <a:spcBef>
                <a:spcPts val="1000"/>
              </a:spcBef>
              <a:spcAft>
                <a:spcPts val="0"/>
              </a:spcAft>
              <a:buSzPts val="1440"/>
              <a:buNone/>
            </a:pPr>
            <a:r>
              <a:rPr lang="en-US"/>
              <a:t>		</a:t>
            </a:r>
            <a:r>
              <a:rPr b="1" lang="en-US"/>
              <a:t>More tickets = Higher chance to get the CPU.</a:t>
            </a:r>
            <a:endParaRPr/>
          </a:p>
          <a:p>
            <a:pPr indent="-342900" lvl="0" marL="342900" rtl="0" algn="l">
              <a:spcBef>
                <a:spcPts val="1000"/>
              </a:spcBef>
              <a:spcAft>
                <a:spcPts val="0"/>
              </a:spcAft>
              <a:buSzPts val="1440"/>
              <a:buChar char="►"/>
            </a:pPr>
            <a:r>
              <a:rPr lang="en-US"/>
              <a:t>It guarantees fairness over time while allowing flexible control.</a:t>
            </a:r>
            <a:endParaRPr/>
          </a:p>
          <a:p>
            <a:pPr indent="0" lvl="0" marL="0" rtl="0" algn="l">
              <a:spcBef>
                <a:spcPts val="1000"/>
              </a:spcBef>
              <a:spcAft>
                <a:spcPts val="0"/>
              </a:spcAft>
              <a:buSzPts val="1440"/>
              <a:buNone/>
            </a:pPr>
            <a:r>
              <a:rPr b="1" lang="en-US" u="sng"/>
              <a:t>How It Works</a:t>
            </a:r>
            <a:endParaRPr/>
          </a:p>
          <a:p>
            <a:pPr indent="-285750" lvl="1" marL="742950" rtl="0" algn="l">
              <a:spcBef>
                <a:spcPts val="1000"/>
              </a:spcBef>
              <a:spcAft>
                <a:spcPts val="0"/>
              </a:spcAft>
              <a:buSzPts val="1280"/>
              <a:buChar char="►"/>
            </a:pPr>
            <a:r>
              <a:rPr lang="en-US"/>
              <a:t>Each process is given </a:t>
            </a:r>
            <a:r>
              <a:rPr b="1" lang="en-US"/>
              <a:t>a certain number of tickets</a:t>
            </a:r>
            <a:r>
              <a:rPr lang="en-US"/>
              <a:t>.</a:t>
            </a:r>
            <a:endParaRPr/>
          </a:p>
          <a:p>
            <a:pPr indent="-285750" lvl="1" marL="742950" rtl="0" algn="l">
              <a:spcBef>
                <a:spcPts val="1000"/>
              </a:spcBef>
              <a:spcAft>
                <a:spcPts val="0"/>
              </a:spcAft>
              <a:buSzPts val="1280"/>
              <a:buChar char="►"/>
            </a:pPr>
            <a:r>
              <a:rPr lang="en-US"/>
              <a:t>The scheduler performs a </a:t>
            </a:r>
            <a:r>
              <a:rPr b="1" lang="en-US"/>
              <a:t>random lottery draw</a:t>
            </a:r>
            <a:r>
              <a:rPr lang="en-US"/>
              <a:t>.</a:t>
            </a:r>
            <a:endParaRPr/>
          </a:p>
          <a:p>
            <a:pPr indent="-285750" lvl="1" marL="742950" rtl="0" algn="l">
              <a:spcBef>
                <a:spcPts val="1000"/>
              </a:spcBef>
              <a:spcAft>
                <a:spcPts val="0"/>
              </a:spcAft>
              <a:buSzPts val="1280"/>
              <a:buChar char="►"/>
            </a:pPr>
            <a:r>
              <a:rPr lang="en-US"/>
              <a:t>The process holding the winning ticket gets the CPU for the next time slice.</a:t>
            </a:r>
            <a:endParaRPr/>
          </a:p>
          <a:p>
            <a:pPr indent="-285750" lvl="1" marL="742950" rtl="0" algn="l">
              <a:spcBef>
                <a:spcPts val="1000"/>
              </a:spcBef>
              <a:spcAft>
                <a:spcPts val="0"/>
              </a:spcAft>
              <a:buSzPts val="1280"/>
              <a:buChar char="►"/>
            </a:pPr>
            <a:r>
              <a:rPr lang="en-US"/>
              <a:t>After the time slice, another lottery is drawn.</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7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Research on Process and Threads</a:t>
            </a:r>
            <a:endParaRPr/>
          </a:p>
        </p:txBody>
      </p:sp>
      <p:sp>
        <p:nvSpPr>
          <p:cNvPr id="699" name="Google Shape;699;p75"/>
          <p:cNvSpPr txBox="1"/>
          <p:nvPr>
            <p:ph idx="1" type="body"/>
          </p:nvPr>
        </p:nvSpPr>
        <p:spPr>
          <a:xfrm>
            <a:off x="677334" y="2160589"/>
            <a:ext cx="3414606"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Process</a:t>
            </a:r>
            <a:endParaRPr/>
          </a:p>
          <a:p>
            <a:pPr indent="-342900" lvl="0" marL="342900" rtl="0" algn="l">
              <a:spcBef>
                <a:spcPts val="1000"/>
              </a:spcBef>
              <a:spcAft>
                <a:spcPts val="0"/>
              </a:spcAft>
              <a:buSzPts val="1440"/>
              <a:buChar char="►"/>
            </a:pPr>
            <a:r>
              <a:rPr lang="en-US"/>
              <a:t>Characteristics of process</a:t>
            </a:r>
            <a:endParaRPr/>
          </a:p>
          <a:p>
            <a:pPr indent="-342900" lvl="0" marL="342900" rtl="0" algn="l">
              <a:spcBef>
                <a:spcPts val="1000"/>
              </a:spcBef>
              <a:spcAft>
                <a:spcPts val="0"/>
              </a:spcAft>
              <a:buSzPts val="1440"/>
              <a:buChar char="►"/>
            </a:pPr>
            <a:r>
              <a:rPr lang="en-US"/>
              <a:t>PCB</a:t>
            </a:r>
            <a:endParaRPr/>
          </a:p>
          <a:p>
            <a:pPr indent="-342900" lvl="0" marL="342900" rtl="0" algn="l">
              <a:spcBef>
                <a:spcPts val="1000"/>
              </a:spcBef>
              <a:spcAft>
                <a:spcPts val="0"/>
              </a:spcAft>
              <a:buSzPts val="1440"/>
              <a:buChar char="►"/>
            </a:pPr>
            <a:r>
              <a:rPr lang="en-US"/>
              <a:t>IPC (what is it and its types)</a:t>
            </a:r>
            <a:endParaRPr/>
          </a:p>
          <a:p>
            <a:pPr indent="-342900" lvl="0" marL="342900" rtl="0" algn="l">
              <a:spcBef>
                <a:spcPts val="1000"/>
              </a:spcBef>
              <a:spcAft>
                <a:spcPts val="0"/>
              </a:spcAft>
              <a:buSzPts val="1440"/>
              <a:buChar char="►"/>
            </a:pPr>
            <a:r>
              <a:rPr lang="en-US"/>
              <a:t>Process Operation</a:t>
            </a:r>
            <a:endParaRPr/>
          </a:p>
          <a:p>
            <a:pPr indent="-342900" lvl="0" marL="342900" rtl="0" algn="l">
              <a:spcBef>
                <a:spcPts val="1000"/>
              </a:spcBef>
              <a:spcAft>
                <a:spcPts val="0"/>
              </a:spcAft>
              <a:buSzPts val="1440"/>
              <a:buChar char="►"/>
            </a:pPr>
            <a:r>
              <a:rPr lang="en-US"/>
              <a:t>Types of processes</a:t>
            </a:r>
            <a:endParaRPr/>
          </a:p>
          <a:p>
            <a:pPr indent="-342900" lvl="0" marL="342900" rtl="0" algn="l">
              <a:spcBef>
                <a:spcPts val="1000"/>
              </a:spcBef>
              <a:spcAft>
                <a:spcPts val="0"/>
              </a:spcAft>
              <a:buSzPts val="1440"/>
              <a:buChar char="►"/>
            </a:pPr>
            <a:r>
              <a:rPr lang="en-US"/>
              <a:t>Real world examples</a:t>
            </a:r>
            <a:endParaRPr/>
          </a:p>
        </p:txBody>
      </p:sp>
      <p:sp>
        <p:nvSpPr>
          <p:cNvPr id="700" name="Google Shape;700;p75"/>
          <p:cNvSpPr txBox="1"/>
          <p:nvPr/>
        </p:nvSpPr>
        <p:spPr>
          <a:xfrm>
            <a:off x="4975668" y="2160588"/>
            <a:ext cx="3414606" cy="388077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Threads</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Characteristics of Threads</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Types of threads</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Advantages of threads over processes</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Challenges in thread programming</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Real world examples</a:t>
            </a:r>
            <a:endParaRPr/>
          </a:p>
        </p:txBody>
      </p:sp>
      <p:sp>
        <p:nvSpPr>
          <p:cNvPr id="701" name="Google Shape;701;p75"/>
          <p:cNvSpPr txBox="1"/>
          <p:nvPr/>
        </p:nvSpPr>
        <p:spPr>
          <a:xfrm>
            <a:off x="3611880" y="6041361"/>
            <a:ext cx="221887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Max 50 pages</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Font size 16, 14, 12</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pic>
        <p:nvPicPr>
          <p:cNvPr id="707" name="Google Shape;707;p76"/>
          <p:cNvPicPr preferRelativeResize="0"/>
          <p:nvPr/>
        </p:nvPicPr>
        <p:blipFill rotWithShape="1">
          <a:blip r:embed="rId3">
            <a:alphaModFix/>
          </a:blip>
          <a:srcRect b="0" l="0" r="0" t="0"/>
          <a:stretch/>
        </p:blipFill>
        <p:spPr>
          <a:xfrm>
            <a:off x="5780780" y="2830634"/>
            <a:ext cx="6411220" cy="3486637"/>
          </a:xfrm>
          <a:prstGeom prst="rect">
            <a:avLst/>
          </a:prstGeom>
          <a:noFill/>
          <a:ln>
            <a:noFill/>
          </a:ln>
        </p:spPr>
      </p:pic>
      <p:sp>
        <p:nvSpPr>
          <p:cNvPr id="708" name="Google Shape;708;p7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Deadlocks</a:t>
            </a:r>
            <a:endParaRPr/>
          </a:p>
        </p:txBody>
      </p:sp>
      <p:sp>
        <p:nvSpPr>
          <p:cNvPr id="709" name="Google Shape;709;p76"/>
          <p:cNvSpPr txBox="1"/>
          <p:nvPr>
            <p:ph idx="1" type="body"/>
          </p:nvPr>
        </p:nvSpPr>
        <p:spPr>
          <a:xfrm>
            <a:off x="677334" y="2160589"/>
            <a:ext cx="5837766"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lang="en-US"/>
              <a:t>A deadlock in an operating system is a situation where two or more processes are stuck forever, waiting for resources that are held by each other</a:t>
            </a:r>
            <a:endParaRPr/>
          </a:p>
          <a:p>
            <a:pPr indent="-342900" lvl="0" marL="342900" rtl="0" algn="just">
              <a:spcBef>
                <a:spcPts val="1000"/>
              </a:spcBef>
              <a:spcAft>
                <a:spcPts val="0"/>
              </a:spcAft>
              <a:buSzPts val="1440"/>
              <a:buChar char="►"/>
            </a:pPr>
            <a:r>
              <a:rPr lang="en-US"/>
              <a:t>Here resources can be either hardware or any piece of information in database</a:t>
            </a:r>
            <a:endParaRPr/>
          </a:p>
          <a:p>
            <a:pPr indent="0" lvl="1" marL="457200" rtl="0" algn="just">
              <a:spcBef>
                <a:spcPts val="1000"/>
              </a:spcBef>
              <a:spcAft>
                <a:spcPts val="0"/>
              </a:spcAft>
              <a:buSzPts val="1280"/>
              <a:buNone/>
            </a:pPr>
            <a:r>
              <a:rPr lang="en-US"/>
              <a:t>Process P1 holds Resource R1 and requests R2.</a:t>
            </a:r>
            <a:endParaRPr/>
          </a:p>
          <a:p>
            <a:pPr indent="0" lvl="1" marL="457200" rtl="0" algn="just">
              <a:spcBef>
                <a:spcPts val="1000"/>
              </a:spcBef>
              <a:spcAft>
                <a:spcPts val="0"/>
              </a:spcAft>
              <a:buSzPts val="1280"/>
              <a:buNone/>
            </a:pPr>
            <a:r>
              <a:rPr lang="en-US"/>
              <a:t>Process P2 holds Resource R2 and requests R1.</a:t>
            </a:r>
            <a:endParaRPr/>
          </a:p>
          <a:p>
            <a:pPr indent="0" lvl="1" marL="457200" rtl="0" algn="just">
              <a:spcBef>
                <a:spcPts val="1000"/>
              </a:spcBef>
              <a:spcAft>
                <a:spcPts val="0"/>
              </a:spcAft>
              <a:buSzPts val="1280"/>
              <a:buNone/>
            </a:pPr>
            <a:r>
              <a:rPr lang="en-US"/>
              <a:t>Neither process can proceed causing a deadlock</a:t>
            </a:r>
            <a:endParaRPr/>
          </a:p>
          <a:p>
            <a:pPr indent="0" lvl="0" marL="0" rtl="0" algn="just">
              <a:spcBef>
                <a:spcPts val="1000"/>
              </a:spcBef>
              <a:spcAft>
                <a:spcPts val="0"/>
              </a:spcAft>
              <a:buSzPts val="1440"/>
              <a:buNone/>
            </a:pPr>
            <a:r>
              <a:t/>
            </a:r>
            <a:endParaRPr/>
          </a:p>
        </p:txBody>
      </p:sp>
      <p:sp>
        <p:nvSpPr>
          <p:cNvPr descr="d" id="710" name="Google Shape;710;p76"/>
          <p:cNvSpPr/>
          <p:nvPr/>
        </p:nvSpPr>
        <p:spPr>
          <a:xfrm>
            <a:off x="4015740" y="3276600"/>
            <a:ext cx="2232660" cy="2232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7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System Resources: Preemptable and Non-preemptable</a:t>
            </a:r>
            <a:endParaRPr/>
          </a:p>
        </p:txBody>
      </p:sp>
      <p:sp>
        <p:nvSpPr>
          <p:cNvPr id="717" name="Google Shape;717;p77"/>
          <p:cNvSpPr txBox="1"/>
          <p:nvPr>
            <p:ph idx="1" type="body"/>
          </p:nvPr>
        </p:nvSpPr>
        <p:spPr>
          <a:xfrm>
            <a:off x="677334" y="2160589"/>
            <a:ext cx="9243906"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Getting into deadlock highly depends on if the SR are preemptable or not.</a:t>
            </a:r>
            <a:endParaRPr/>
          </a:p>
          <a:p>
            <a:pPr indent="-342900" lvl="0" marL="342900" rtl="0" algn="l">
              <a:spcBef>
                <a:spcPts val="1000"/>
              </a:spcBef>
              <a:spcAft>
                <a:spcPts val="0"/>
              </a:spcAft>
              <a:buSzPts val="1440"/>
              <a:buChar char="►"/>
            </a:pPr>
            <a:r>
              <a:rPr lang="en-US"/>
              <a:t>A preemptable resource means resource that can be taken away from a process without causing damage or data loss</a:t>
            </a:r>
            <a:endParaRPr/>
          </a:p>
          <a:p>
            <a:pPr indent="-342900" lvl="0" marL="342900" rtl="0" algn="l">
              <a:spcBef>
                <a:spcPts val="1000"/>
              </a:spcBef>
              <a:spcAft>
                <a:spcPts val="0"/>
              </a:spcAft>
              <a:buSzPts val="1440"/>
              <a:buChar char="►"/>
            </a:pPr>
            <a:r>
              <a:rPr lang="en-US"/>
              <a:t>A non-preemptable resource  means resource cannot be taken away from a process until the process voluntarily releases it.</a:t>
            </a:r>
            <a:endParaRPr/>
          </a:p>
        </p:txBody>
      </p:sp>
      <p:graphicFrame>
        <p:nvGraphicFramePr>
          <p:cNvPr id="718" name="Google Shape;718;p77"/>
          <p:cNvGraphicFramePr/>
          <p:nvPr/>
        </p:nvGraphicFramePr>
        <p:xfrm>
          <a:off x="2032000" y="3891812"/>
          <a:ext cx="3000000" cy="3000000"/>
        </p:xfrm>
        <a:graphic>
          <a:graphicData uri="http://schemas.openxmlformats.org/drawingml/2006/table">
            <a:tbl>
              <a:tblPr bandRow="1" firstRow="1">
                <a:noFill/>
                <a:tableStyleId>{4A1EB111-B6CD-4540-B144-BA16F0421430}</a:tableStyleId>
              </a:tblPr>
              <a:tblGrid>
                <a:gridCol w="4064000"/>
                <a:gridCol w="4064000"/>
              </a:tblGrid>
              <a:tr h="370850">
                <a:tc>
                  <a:txBody>
                    <a:bodyPr/>
                    <a:lstStyle/>
                    <a:p>
                      <a:pPr indent="0" lvl="0" marL="0" marR="0" rtl="0" algn="l">
                        <a:spcBef>
                          <a:spcPts val="0"/>
                        </a:spcBef>
                        <a:spcAft>
                          <a:spcPts val="0"/>
                        </a:spcAft>
                        <a:buNone/>
                      </a:pPr>
                      <a:r>
                        <a:rPr lang="en-US" sz="1800"/>
                        <a:t>Preemptable resource</a:t>
                      </a:r>
                      <a:endParaRPr sz="1800"/>
                    </a:p>
                  </a:txBody>
                  <a:tcPr marT="45725" marB="45725" marR="91450" marL="91450"/>
                </a:tc>
                <a:tc>
                  <a:txBody>
                    <a:bodyPr/>
                    <a:lstStyle/>
                    <a:p>
                      <a:pPr indent="0" lvl="0" marL="0" marR="0" rtl="0" algn="l">
                        <a:spcBef>
                          <a:spcPts val="0"/>
                        </a:spcBef>
                        <a:spcAft>
                          <a:spcPts val="0"/>
                        </a:spcAft>
                        <a:buNone/>
                      </a:pPr>
                      <a:r>
                        <a:rPr lang="en-US" sz="1800"/>
                        <a:t>Non- preemptable resource</a:t>
                      </a:r>
                      <a:endParaRPr sz="1800"/>
                    </a:p>
                  </a:txBody>
                  <a:tcPr marT="45725" marB="45725" marR="91450" marL="91450"/>
                </a:tc>
              </a:tr>
              <a:tr h="370850">
                <a:tc>
                  <a:txBody>
                    <a:bodyPr/>
                    <a:lstStyle/>
                    <a:p>
                      <a:pPr indent="0" lvl="0" marL="0" marR="0" rtl="0" algn="l">
                        <a:spcBef>
                          <a:spcPts val="0"/>
                        </a:spcBef>
                        <a:spcAft>
                          <a:spcPts val="0"/>
                        </a:spcAft>
                        <a:buNone/>
                      </a:pPr>
                      <a:r>
                        <a:rPr lang="en-US" sz="1800"/>
                        <a:t>🡪 Can be reallocated safely.</a:t>
                      </a:r>
                      <a:endParaRPr/>
                    </a:p>
                    <a:p>
                      <a:pPr indent="-285750" lvl="0" marL="285750" marR="0" rtl="0" algn="l">
                        <a:spcBef>
                          <a:spcPts val="0"/>
                        </a:spcBef>
                        <a:spcAft>
                          <a:spcPts val="0"/>
                        </a:spcAft>
                        <a:buClr>
                          <a:schemeClr val="dk1"/>
                        </a:buClr>
                        <a:buSzPts val="1800"/>
                        <a:buFont typeface="Noto Sans Symbols"/>
                        <a:buChar char="🡪"/>
                      </a:pPr>
                      <a:r>
                        <a:rPr lang="en-US" sz="1800"/>
                        <a:t>OS can interrupt a process and give the resource to another process.</a:t>
                      </a:r>
                      <a:endParaRPr/>
                    </a:p>
                    <a:p>
                      <a:pPr indent="-285750" lvl="0" marL="285750" marR="0" rtl="0" algn="l">
                        <a:spcBef>
                          <a:spcPts val="0"/>
                        </a:spcBef>
                        <a:spcAft>
                          <a:spcPts val="0"/>
                        </a:spcAft>
                        <a:buClr>
                          <a:schemeClr val="dk1"/>
                        </a:buClr>
                        <a:buSzPts val="1800"/>
                        <a:buFont typeface="Noto Sans Symbols"/>
                        <a:buChar char="🡪"/>
                      </a:pPr>
                      <a:r>
                        <a:rPr lang="en-US" sz="1800"/>
                        <a:t>Preemption does not harm the process</a:t>
                      </a:r>
                      <a:endParaRPr/>
                    </a:p>
                    <a:p>
                      <a:pPr indent="0" lvl="0" marL="0" marR="0" rtl="0" algn="l">
                        <a:spcBef>
                          <a:spcPts val="0"/>
                        </a:spcBef>
                        <a:spcAft>
                          <a:spcPts val="0"/>
                        </a:spcAft>
                        <a:buNone/>
                      </a:pPr>
                      <a:r>
                        <a:t/>
                      </a:r>
                      <a:endParaRPr sz="1800"/>
                    </a:p>
                  </a:txBody>
                  <a:tcPr marT="45725" marB="45725" marR="91450" marL="91450"/>
                </a:tc>
                <a:tc>
                  <a:txBody>
                    <a:bodyPr/>
                    <a:lstStyle/>
                    <a:p>
                      <a:pPr indent="-285750" lvl="0" marL="285750" marR="0" rtl="0" algn="l">
                        <a:spcBef>
                          <a:spcPts val="0"/>
                        </a:spcBef>
                        <a:spcAft>
                          <a:spcPts val="0"/>
                        </a:spcAft>
                        <a:buClr>
                          <a:schemeClr val="dk1"/>
                        </a:buClr>
                        <a:buSzPts val="1800"/>
                        <a:buFont typeface="Noto Sans Symbols"/>
                        <a:buChar char="🡪"/>
                      </a:pPr>
                      <a:r>
                        <a:rPr lang="en-US" sz="1800"/>
                        <a:t>Cannot be interrupted safely.</a:t>
                      </a:r>
                      <a:endParaRPr/>
                    </a:p>
                    <a:p>
                      <a:pPr indent="-285750" lvl="0" marL="285750" marR="0" rtl="0" algn="l">
                        <a:spcBef>
                          <a:spcPts val="0"/>
                        </a:spcBef>
                        <a:spcAft>
                          <a:spcPts val="0"/>
                        </a:spcAft>
                        <a:buClr>
                          <a:schemeClr val="dk1"/>
                        </a:buClr>
                        <a:buSzPts val="1800"/>
                        <a:buFont typeface="Noto Sans Symbols"/>
                        <a:buChar char="🡪"/>
                      </a:pPr>
                      <a:r>
                        <a:rPr lang="en-US" sz="1800"/>
                        <a:t> If forcibly preempted, the process may fail or corrupt data.</a:t>
                      </a:r>
                      <a:endParaRPr/>
                    </a:p>
                    <a:p>
                      <a:pPr indent="-285750" lvl="0" marL="285750" marR="0" rtl="0" algn="l">
                        <a:spcBef>
                          <a:spcPts val="0"/>
                        </a:spcBef>
                        <a:spcAft>
                          <a:spcPts val="0"/>
                        </a:spcAft>
                        <a:buClr>
                          <a:schemeClr val="dk1"/>
                        </a:buClr>
                        <a:buSzPts val="1800"/>
                        <a:buFont typeface="Noto Sans Symbols"/>
                        <a:buChar char="🡪"/>
                      </a:pPr>
                      <a:r>
                        <a:rPr lang="en-US" sz="1800"/>
                        <a:t>A process must finish using the resource before another can get it.</a:t>
                      </a:r>
                      <a:endParaRPr/>
                    </a:p>
                  </a:txBody>
                  <a:tcPr marT="45725" marB="45725" marR="91450" marL="91450"/>
                </a:tc>
              </a:tr>
            </a:tbl>
          </a:graphicData>
        </a:graphic>
      </p:graphicFrame>
      <p:sp>
        <p:nvSpPr>
          <p:cNvPr id="719" name="Google Shape;719;p77"/>
          <p:cNvSpPr/>
          <p:nvPr/>
        </p:nvSpPr>
        <p:spPr>
          <a:xfrm>
            <a:off x="9921240" y="5569095"/>
            <a:ext cx="2206487" cy="914400"/>
          </a:xfrm>
          <a:prstGeom prst="ellipse">
            <a:avLst/>
          </a:prstGeom>
          <a:solidFill>
            <a:schemeClr val="lt1"/>
          </a:solidFill>
          <a:ln cap="rnd"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rebuchet MS"/>
                <a:ea typeface="Trebuchet MS"/>
                <a:cs typeface="Trebuchet MS"/>
                <a:sym typeface="Trebuchet MS"/>
              </a:rPr>
              <a:t>High chances of Deadlock</a:t>
            </a:r>
            <a:endParaRPr/>
          </a:p>
        </p:txBody>
      </p:sp>
      <p:sp>
        <p:nvSpPr>
          <p:cNvPr id="720" name="Google Shape;720;p77"/>
          <p:cNvSpPr/>
          <p:nvPr/>
        </p:nvSpPr>
        <p:spPr>
          <a:xfrm>
            <a:off x="0" y="5791200"/>
            <a:ext cx="2206487" cy="914400"/>
          </a:xfrm>
          <a:prstGeom prst="ellipse">
            <a:avLst/>
          </a:prstGeom>
          <a:solidFill>
            <a:schemeClr val="lt1"/>
          </a:solidFill>
          <a:ln cap="rnd"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rebuchet MS"/>
                <a:ea typeface="Trebuchet MS"/>
                <a:cs typeface="Trebuchet MS"/>
                <a:sym typeface="Trebuchet MS"/>
              </a:rPr>
              <a:t>High chances of Deadlock</a:t>
            </a:r>
            <a:endParaRPr/>
          </a:p>
        </p:txBody>
      </p:sp>
      <p:cxnSp>
        <p:nvCxnSpPr>
          <p:cNvPr id="721" name="Google Shape;721;p77"/>
          <p:cNvCxnSpPr>
            <a:endCxn id="720" idx="0"/>
          </p:cNvCxnSpPr>
          <p:nvPr/>
        </p:nvCxnSpPr>
        <p:spPr>
          <a:xfrm rot="5400000">
            <a:off x="722544" y="4481700"/>
            <a:ext cx="1690200" cy="928800"/>
          </a:xfrm>
          <a:prstGeom prst="curvedConnector3">
            <a:avLst>
              <a:gd fmla="val 28830" name="adj1"/>
            </a:avLst>
          </a:prstGeom>
          <a:noFill/>
          <a:ln cap="flat" cmpd="sng" w="9525">
            <a:solidFill>
              <a:schemeClr val="accent6"/>
            </a:solidFill>
            <a:prstDash val="solid"/>
            <a:round/>
            <a:headEnd len="sm" w="sm" type="none"/>
            <a:tailEnd len="med" w="med" type="stealth"/>
          </a:ln>
        </p:spPr>
      </p:cxnSp>
      <p:cxnSp>
        <p:nvCxnSpPr>
          <p:cNvPr id="722" name="Google Shape;722;p77"/>
          <p:cNvCxnSpPr>
            <a:endCxn id="719" idx="0"/>
          </p:cNvCxnSpPr>
          <p:nvPr/>
        </p:nvCxnSpPr>
        <p:spPr>
          <a:xfrm flipH="1" rot="-5400000">
            <a:off x="9738834" y="4283445"/>
            <a:ext cx="1468200" cy="1103100"/>
          </a:xfrm>
          <a:prstGeom prst="curvedConnector3">
            <a:avLst>
              <a:gd fmla="val 25632" name="adj1"/>
            </a:avLst>
          </a:prstGeom>
          <a:noFill/>
          <a:ln cap="flat" cmpd="sng" w="9525">
            <a:solidFill>
              <a:schemeClr val="accent6"/>
            </a:solidFill>
            <a:prstDash val="solid"/>
            <a:round/>
            <a:headEnd len="sm" w="sm" type="none"/>
            <a:tailEnd len="med" w="med" type="stealth"/>
          </a:ln>
        </p:spPr>
      </p:cxnSp>
      <p:sp>
        <p:nvSpPr>
          <p:cNvPr id="723" name="Google Shape;723;p77"/>
          <p:cNvSpPr txBox="1"/>
          <p:nvPr/>
        </p:nvSpPr>
        <p:spPr>
          <a:xfrm>
            <a:off x="4296040" y="6120634"/>
            <a:ext cx="39950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Eg Downloading | Installing Software</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7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All these Conditions should occur</a:t>
            </a:r>
            <a:endParaRPr/>
          </a:p>
        </p:txBody>
      </p:sp>
      <p:grpSp>
        <p:nvGrpSpPr>
          <p:cNvPr id="730" name="Google Shape;730;p78"/>
          <p:cNvGrpSpPr/>
          <p:nvPr/>
        </p:nvGrpSpPr>
        <p:grpSpPr>
          <a:xfrm>
            <a:off x="618077" y="1866832"/>
            <a:ext cx="4163065" cy="4438994"/>
            <a:chOff x="55381" y="-1"/>
            <a:chExt cx="4163065" cy="4438994"/>
          </a:xfrm>
        </p:grpSpPr>
        <p:sp>
          <p:nvSpPr>
            <p:cNvPr id="731" name="Google Shape;731;p78"/>
            <p:cNvSpPr/>
            <p:nvPr/>
          </p:nvSpPr>
          <p:spPr>
            <a:xfrm>
              <a:off x="898788" y="2219497"/>
              <a:ext cx="553276" cy="1581391"/>
            </a:xfrm>
            <a:custGeom>
              <a:rect b="b" l="l" r="r" t="t"/>
              <a:pathLst>
                <a:path extrusionOk="0" h="120000" w="120000">
                  <a:moveTo>
                    <a:pt x="0" y="0"/>
                  </a:moveTo>
                  <a:lnTo>
                    <a:pt x="60000" y="0"/>
                  </a:lnTo>
                  <a:lnTo>
                    <a:pt x="60000" y="120000"/>
                  </a:lnTo>
                  <a:lnTo>
                    <a:pt x="120000" y="120000"/>
                  </a:lnTo>
                </a:path>
              </a:pathLst>
            </a:custGeom>
            <a:noFill/>
            <a:ln cap="rnd" cmpd="sng" w="19050">
              <a:solidFill>
                <a:srgbClr val="3A50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78"/>
            <p:cNvSpPr txBox="1"/>
            <p:nvPr/>
          </p:nvSpPr>
          <p:spPr>
            <a:xfrm>
              <a:off x="1133542" y="2968308"/>
              <a:ext cx="83769" cy="8376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600"/>
                <a:buFont typeface="Trebuchet MS"/>
                <a:buNone/>
              </a:pPr>
              <a:r>
                <a:t/>
              </a:r>
              <a:endParaRPr sz="600">
                <a:solidFill>
                  <a:schemeClr val="dk1"/>
                </a:solidFill>
                <a:latin typeface="Trebuchet MS"/>
                <a:ea typeface="Trebuchet MS"/>
                <a:cs typeface="Trebuchet MS"/>
                <a:sym typeface="Trebuchet MS"/>
              </a:endParaRPr>
            </a:p>
          </p:txBody>
        </p:sp>
        <p:sp>
          <p:nvSpPr>
            <p:cNvPr id="733" name="Google Shape;733;p78"/>
            <p:cNvSpPr/>
            <p:nvPr/>
          </p:nvSpPr>
          <p:spPr>
            <a:xfrm>
              <a:off x="898788" y="2219497"/>
              <a:ext cx="553276" cy="527130"/>
            </a:xfrm>
            <a:custGeom>
              <a:rect b="b" l="l" r="r" t="t"/>
              <a:pathLst>
                <a:path extrusionOk="0" h="120000" w="120000">
                  <a:moveTo>
                    <a:pt x="0" y="0"/>
                  </a:moveTo>
                  <a:lnTo>
                    <a:pt x="60000" y="0"/>
                  </a:lnTo>
                  <a:lnTo>
                    <a:pt x="60000" y="120000"/>
                  </a:lnTo>
                  <a:lnTo>
                    <a:pt x="120000" y="120000"/>
                  </a:lnTo>
                </a:path>
              </a:pathLst>
            </a:custGeom>
            <a:noFill/>
            <a:ln cap="rnd" cmpd="sng" w="19050">
              <a:solidFill>
                <a:srgbClr val="3A50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78"/>
            <p:cNvSpPr txBox="1"/>
            <p:nvPr/>
          </p:nvSpPr>
          <p:spPr>
            <a:xfrm>
              <a:off x="1156322" y="2463957"/>
              <a:ext cx="38209" cy="3820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Trebuchet MS"/>
                <a:buNone/>
              </a:pPr>
              <a:r>
                <a:t/>
              </a:r>
              <a:endParaRPr sz="500">
                <a:solidFill>
                  <a:schemeClr val="dk1"/>
                </a:solidFill>
                <a:latin typeface="Trebuchet MS"/>
                <a:ea typeface="Trebuchet MS"/>
                <a:cs typeface="Trebuchet MS"/>
                <a:sym typeface="Trebuchet MS"/>
              </a:endParaRPr>
            </a:p>
          </p:txBody>
        </p:sp>
        <p:sp>
          <p:nvSpPr>
            <p:cNvPr id="735" name="Google Shape;735;p78"/>
            <p:cNvSpPr/>
            <p:nvPr/>
          </p:nvSpPr>
          <p:spPr>
            <a:xfrm>
              <a:off x="898788" y="1692366"/>
              <a:ext cx="553276" cy="527130"/>
            </a:xfrm>
            <a:custGeom>
              <a:rect b="b" l="l" r="r" t="t"/>
              <a:pathLst>
                <a:path extrusionOk="0" h="120000" w="120000">
                  <a:moveTo>
                    <a:pt x="0" y="120000"/>
                  </a:moveTo>
                  <a:lnTo>
                    <a:pt x="60000" y="120000"/>
                  </a:lnTo>
                  <a:lnTo>
                    <a:pt x="60000" y="0"/>
                  </a:lnTo>
                  <a:lnTo>
                    <a:pt x="120000" y="0"/>
                  </a:lnTo>
                </a:path>
              </a:pathLst>
            </a:custGeom>
            <a:noFill/>
            <a:ln cap="rnd" cmpd="sng" w="19050">
              <a:solidFill>
                <a:srgbClr val="3A50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78"/>
            <p:cNvSpPr txBox="1"/>
            <p:nvPr/>
          </p:nvSpPr>
          <p:spPr>
            <a:xfrm>
              <a:off x="1156322" y="1936827"/>
              <a:ext cx="38209" cy="3820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Trebuchet MS"/>
                <a:buNone/>
              </a:pPr>
              <a:r>
                <a:t/>
              </a:r>
              <a:endParaRPr sz="500">
                <a:solidFill>
                  <a:schemeClr val="dk1"/>
                </a:solidFill>
                <a:latin typeface="Trebuchet MS"/>
                <a:ea typeface="Trebuchet MS"/>
                <a:cs typeface="Trebuchet MS"/>
                <a:sym typeface="Trebuchet MS"/>
              </a:endParaRPr>
            </a:p>
          </p:txBody>
        </p:sp>
        <p:sp>
          <p:nvSpPr>
            <p:cNvPr id="737" name="Google Shape;737;p78"/>
            <p:cNvSpPr/>
            <p:nvPr/>
          </p:nvSpPr>
          <p:spPr>
            <a:xfrm>
              <a:off x="898788" y="638105"/>
              <a:ext cx="553276" cy="1581391"/>
            </a:xfrm>
            <a:custGeom>
              <a:rect b="b" l="l" r="r" t="t"/>
              <a:pathLst>
                <a:path extrusionOk="0" h="120000" w="120000">
                  <a:moveTo>
                    <a:pt x="0" y="120000"/>
                  </a:moveTo>
                  <a:lnTo>
                    <a:pt x="60000" y="120000"/>
                  </a:lnTo>
                  <a:lnTo>
                    <a:pt x="60000" y="0"/>
                  </a:lnTo>
                  <a:lnTo>
                    <a:pt x="120000" y="0"/>
                  </a:lnTo>
                </a:path>
              </a:pathLst>
            </a:custGeom>
            <a:noFill/>
            <a:ln cap="rnd" cmpd="sng" w="19050">
              <a:solidFill>
                <a:srgbClr val="3A50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8"/>
            <p:cNvSpPr txBox="1"/>
            <p:nvPr/>
          </p:nvSpPr>
          <p:spPr>
            <a:xfrm>
              <a:off x="1133542" y="1386916"/>
              <a:ext cx="83769" cy="8376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600"/>
                <a:buFont typeface="Trebuchet MS"/>
                <a:buNone/>
              </a:pPr>
              <a:r>
                <a:t/>
              </a:r>
              <a:endParaRPr sz="600">
                <a:solidFill>
                  <a:schemeClr val="dk1"/>
                </a:solidFill>
                <a:latin typeface="Trebuchet MS"/>
                <a:ea typeface="Trebuchet MS"/>
                <a:cs typeface="Trebuchet MS"/>
                <a:sym typeface="Trebuchet MS"/>
              </a:endParaRPr>
            </a:p>
          </p:txBody>
        </p:sp>
        <p:sp>
          <p:nvSpPr>
            <p:cNvPr id="739" name="Google Shape;739;p78"/>
            <p:cNvSpPr/>
            <p:nvPr/>
          </p:nvSpPr>
          <p:spPr>
            <a:xfrm rot="-5400000">
              <a:off x="-1742412" y="1797792"/>
              <a:ext cx="4438994" cy="843408"/>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8"/>
            <p:cNvSpPr txBox="1"/>
            <p:nvPr/>
          </p:nvSpPr>
          <p:spPr>
            <a:xfrm rot="-5400000">
              <a:off x="-1742412" y="1797792"/>
              <a:ext cx="4438994" cy="843408"/>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lt1"/>
                </a:buClr>
                <a:buSzPts val="5800"/>
                <a:buFont typeface="Trebuchet MS"/>
                <a:buNone/>
              </a:pPr>
              <a:r>
                <a:rPr lang="en-US" sz="5800">
                  <a:solidFill>
                    <a:schemeClr val="lt1"/>
                  </a:solidFill>
                  <a:latin typeface="Trebuchet MS"/>
                  <a:ea typeface="Trebuchet MS"/>
                  <a:cs typeface="Trebuchet MS"/>
                  <a:sym typeface="Trebuchet MS"/>
                </a:rPr>
                <a:t>Conditions</a:t>
              </a:r>
              <a:endParaRPr/>
            </a:p>
          </p:txBody>
        </p:sp>
        <p:sp>
          <p:nvSpPr>
            <p:cNvPr id="741" name="Google Shape;741;p78"/>
            <p:cNvSpPr/>
            <p:nvPr/>
          </p:nvSpPr>
          <p:spPr>
            <a:xfrm>
              <a:off x="1452065" y="216400"/>
              <a:ext cx="2766381" cy="843408"/>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8"/>
            <p:cNvSpPr txBox="1"/>
            <p:nvPr/>
          </p:nvSpPr>
          <p:spPr>
            <a:xfrm>
              <a:off x="1452065" y="216400"/>
              <a:ext cx="2766381" cy="843408"/>
            </a:xfrm>
            <a:prstGeom prst="rect">
              <a:avLst/>
            </a:prstGeom>
            <a:noFill/>
            <a:ln>
              <a:noFill/>
            </a:ln>
          </p:spPr>
          <p:txBody>
            <a:bodyPr anchorCtr="0" anchor="ctr" bIns="19050" lIns="19050" spcFirstLastPara="1" rIns="19050" wrap="square" tIns="19050">
              <a:noAutofit/>
            </a:bodyPr>
            <a:lstStyle/>
            <a:p>
              <a:pPr indent="0" lvl="0" marL="0" marR="0" rtl="0" algn="ctr">
                <a:lnSpc>
                  <a:spcPct val="90000"/>
                </a:lnSpc>
                <a:spcBef>
                  <a:spcPts val="0"/>
                </a:spcBef>
                <a:spcAft>
                  <a:spcPts val="0"/>
                </a:spcAft>
                <a:buClr>
                  <a:schemeClr val="lt1"/>
                </a:buClr>
                <a:buSzPts val="3000"/>
                <a:buFont typeface="Trebuchet MS"/>
                <a:buNone/>
              </a:pPr>
              <a:r>
                <a:rPr lang="en-US" sz="3000">
                  <a:solidFill>
                    <a:schemeClr val="lt1"/>
                  </a:solidFill>
                  <a:latin typeface="Trebuchet MS"/>
                  <a:ea typeface="Trebuchet MS"/>
                  <a:cs typeface="Trebuchet MS"/>
                  <a:sym typeface="Trebuchet MS"/>
                </a:rPr>
                <a:t>1. Mutual Exclusion</a:t>
              </a:r>
              <a:endParaRPr/>
            </a:p>
          </p:txBody>
        </p:sp>
        <p:sp>
          <p:nvSpPr>
            <p:cNvPr id="743" name="Google Shape;743;p78"/>
            <p:cNvSpPr/>
            <p:nvPr/>
          </p:nvSpPr>
          <p:spPr>
            <a:xfrm>
              <a:off x="1452065" y="1270662"/>
              <a:ext cx="2766381" cy="843408"/>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8"/>
            <p:cNvSpPr txBox="1"/>
            <p:nvPr/>
          </p:nvSpPr>
          <p:spPr>
            <a:xfrm>
              <a:off x="1452065" y="1270662"/>
              <a:ext cx="2766381" cy="843408"/>
            </a:xfrm>
            <a:prstGeom prst="rect">
              <a:avLst/>
            </a:prstGeom>
            <a:noFill/>
            <a:ln>
              <a:noFill/>
            </a:ln>
          </p:spPr>
          <p:txBody>
            <a:bodyPr anchorCtr="0" anchor="ctr" bIns="19050" lIns="19050" spcFirstLastPara="1" rIns="19050" wrap="square" tIns="19050">
              <a:noAutofit/>
            </a:bodyPr>
            <a:lstStyle/>
            <a:p>
              <a:pPr indent="0" lvl="0" marL="0" marR="0" rtl="0" algn="ctr">
                <a:lnSpc>
                  <a:spcPct val="90000"/>
                </a:lnSpc>
                <a:spcBef>
                  <a:spcPts val="0"/>
                </a:spcBef>
                <a:spcAft>
                  <a:spcPts val="0"/>
                </a:spcAft>
                <a:buClr>
                  <a:schemeClr val="lt1"/>
                </a:buClr>
                <a:buSzPts val="3000"/>
                <a:buFont typeface="Trebuchet MS"/>
                <a:buNone/>
              </a:pPr>
              <a:r>
                <a:rPr lang="en-US" sz="3000">
                  <a:solidFill>
                    <a:schemeClr val="lt1"/>
                  </a:solidFill>
                  <a:latin typeface="Trebuchet MS"/>
                  <a:ea typeface="Trebuchet MS"/>
                  <a:cs typeface="Trebuchet MS"/>
                  <a:sym typeface="Trebuchet MS"/>
                </a:rPr>
                <a:t>2. Hold and Wait</a:t>
              </a:r>
              <a:endParaRPr/>
            </a:p>
          </p:txBody>
        </p:sp>
        <p:sp>
          <p:nvSpPr>
            <p:cNvPr id="745" name="Google Shape;745;p78"/>
            <p:cNvSpPr/>
            <p:nvPr/>
          </p:nvSpPr>
          <p:spPr>
            <a:xfrm>
              <a:off x="1452065" y="2324923"/>
              <a:ext cx="2766381" cy="843408"/>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78"/>
            <p:cNvSpPr txBox="1"/>
            <p:nvPr/>
          </p:nvSpPr>
          <p:spPr>
            <a:xfrm>
              <a:off x="1452065" y="2324923"/>
              <a:ext cx="2766381" cy="843408"/>
            </a:xfrm>
            <a:prstGeom prst="rect">
              <a:avLst/>
            </a:prstGeom>
            <a:noFill/>
            <a:ln>
              <a:noFill/>
            </a:ln>
          </p:spPr>
          <p:txBody>
            <a:bodyPr anchorCtr="0" anchor="ctr" bIns="19050" lIns="19050" spcFirstLastPara="1" rIns="19050" wrap="square" tIns="19050">
              <a:noAutofit/>
            </a:bodyPr>
            <a:lstStyle/>
            <a:p>
              <a:pPr indent="0" lvl="0" marL="0" marR="0" rtl="0" algn="ctr">
                <a:lnSpc>
                  <a:spcPct val="90000"/>
                </a:lnSpc>
                <a:spcBef>
                  <a:spcPts val="0"/>
                </a:spcBef>
                <a:spcAft>
                  <a:spcPts val="0"/>
                </a:spcAft>
                <a:buClr>
                  <a:schemeClr val="lt1"/>
                </a:buClr>
                <a:buSzPts val="3000"/>
                <a:buFont typeface="Trebuchet MS"/>
                <a:buNone/>
              </a:pPr>
              <a:r>
                <a:rPr lang="en-US" sz="3000">
                  <a:solidFill>
                    <a:schemeClr val="lt1"/>
                  </a:solidFill>
                  <a:latin typeface="Trebuchet MS"/>
                  <a:ea typeface="Trebuchet MS"/>
                  <a:cs typeface="Trebuchet MS"/>
                  <a:sym typeface="Trebuchet MS"/>
                </a:rPr>
                <a:t>3. No- preemption</a:t>
              </a:r>
              <a:endParaRPr/>
            </a:p>
          </p:txBody>
        </p:sp>
        <p:sp>
          <p:nvSpPr>
            <p:cNvPr id="747" name="Google Shape;747;p78"/>
            <p:cNvSpPr/>
            <p:nvPr/>
          </p:nvSpPr>
          <p:spPr>
            <a:xfrm>
              <a:off x="1452065" y="3379184"/>
              <a:ext cx="2766381" cy="843408"/>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8"/>
            <p:cNvSpPr txBox="1"/>
            <p:nvPr/>
          </p:nvSpPr>
          <p:spPr>
            <a:xfrm>
              <a:off x="1452065" y="3379184"/>
              <a:ext cx="2766381" cy="843408"/>
            </a:xfrm>
            <a:prstGeom prst="rect">
              <a:avLst/>
            </a:prstGeom>
            <a:noFill/>
            <a:ln>
              <a:noFill/>
            </a:ln>
          </p:spPr>
          <p:txBody>
            <a:bodyPr anchorCtr="0" anchor="ctr" bIns="19050" lIns="19050" spcFirstLastPara="1" rIns="19050" wrap="square" tIns="19050">
              <a:noAutofit/>
            </a:bodyPr>
            <a:lstStyle/>
            <a:p>
              <a:pPr indent="0" lvl="0" marL="0" marR="0" rtl="0" algn="ctr">
                <a:lnSpc>
                  <a:spcPct val="90000"/>
                </a:lnSpc>
                <a:spcBef>
                  <a:spcPts val="0"/>
                </a:spcBef>
                <a:spcAft>
                  <a:spcPts val="0"/>
                </a:spcAft>
                <a:buClr>
                  <a:schemeClr val="lt1"/>
                </a:buClr>
                <a:buSzPts val="3000"/>
                <a:buFont typeface="Trebuchet MS"/>
                <a:buNone/>
              </a:pPr>
              <a:r>
                <a:rPr lang="en-US" sz="3000">
                  <a:solidFill>
                    <a:schemeClr val="lt1"/>
                  </a:solidFill>
                  <a:latin typeface="Trebuchet MS"/>
                  <a:ea typeface="Trebuchet MS"/>
                  <a:cs typeface="Trebuchet MS"/>
                  <a:sym typeface="Trebuchet MS"/>
                </a:rPr>
                <a:t>4. Circular wait</a:t>
              </a:r>
              <a:endParaRPr/>
            </a:p>
          </p:txBody>
        </p:sp>
      </p:grpSp>
      <p:sp>
        <p:nvSpPr>
          <p:cNvPr id="749" name="Google Shape;749;p78"/>
          <p:cNvSpPr txBox="1"/>
          <p:nvPr/>
        </p:nvSpPr>
        <p:spPr>
          <a:xfrm>
            <a:off x="4836522" y="2103163"/>
            <a:ext cx="538753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Resources cannot be shared;</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i.e. only one process can use a resource at a time.</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Example: Printers, files, semaphores</a:t>
            </a:r>
            <a:endParaRPr/>
          </a:p>
        </p:txBody>
      </p:sp>
      <p:sp>
        <p:nvSpPr>
          <p:cNvPr id="750" name="Google Shape;750;p78"/>
          <p:cNvSpPr txBox="1"/>
          <p:nvPr/>
        </p:nvSpPr>
        <p:spPr>
          <a:xfrm>
            <a:off x="4896156" y="3230219"/>
            <a:ext cx="489595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63C64"/>
                </a:solidFill>
                <a:latin typeface="Trebuchet MS"/>
                <a:ea typeface="Trebuchet MS"/>
                <a:cs typeface="Trebuchet MS"/>
                <a:sym typeface="Trebuchet MS"/>
              </a:rPr>
              <a:t>A process is holding at least one resource and</a:t>
            </a:r>
            <a:endParaRPr/>
          </a:p>
          <a:p>
            <a:pPr indent="0" lvl="0" marL="0" marR="0" rtl="0" algn="l">
              <a:spcBef>
                <a:spcPts val="0"/>
              </a:spcBef>
              <a:spcAft>
                <a:spcPts val="0"/>
              </a:spcAft>
              <a:buNone/>
            </a:pPr>
            <a:r>
              <a:rPr lang="en-US" sz="1800">
                <a:solidFill>
                  <a:srgbClr val="063C64"/>
                </a:solidFill>
                <a:latin typeface="Trebuchet MS"/>
                <a:ea typeface="Trebuchet MS"/>
                <a:cs typeface="Trebuchet MS"/>
                <a:sym typeface="Trebuchet MS"/>
              </a:rPr>
              <a:t> is waiting to acquire more resources.</a:t>
            </a:r>
            <a:endParaRPr/>
          </a:p>
        </p:txBody>
      </p:sp>
      <p:sp>
        <p:nvSpPr>
          <p:cNvPr id="751" name="Google Shape;751;p78"/>
          <p:cNvSpPr txBox="1"/>
          <p:nvPr/>
        </p:nvSpPr>
        <p:spPr>
          <a:xfrm>
            <a:off x="4916034" y="4241514"/>
            <a:ext cx="554356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A resource cannot be forcibly taken from a process.</a:t>
            </a:r>
            <a:endParaRPr/>
          </a:p>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It must be released voluntarily.</a:t>
            </a:r>
            <a:endParaRPr/>
          </a:p>
        </p:txBody>
      </p:sp>
      <p:sp>
        <p:nvSpPr>
          <p:cNvPr id="752" name="Google Shape;752;p78"/>
          <p:cNvSpPr txBox="1"/>
          <p:nvPr/>
        </p:nvSpPr>
        <p:spPr>
          <a:xfrm>
            <a:off x="4969568" y="5230240"/>
            <a:ext cx="670318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3260C"/>
                </a:solidFill>
                <a:latin typeface="Trebuchet MS"/>
                <a:ea typeface="Trebuchet MS"/>
                <a:cs typeface="Trebuchet MS"/>
                <a:sym typeface="Trebuchet MS"/>
              </a:rPr>
              <a:t>A circular chain of processes exists such that each</a:t>
            </a:r>
            <a:endParaRPr/>
          </a:p>
          <a:p>
            <a:pPr indent="0" lvl="0" marL="0" marR="0" rtl="0" algn="l">
              <a:spcBef>
                <a:spcPts val="0"/>
              </a:spcBef>
              <a:spcAft>
                <a:spcPts val="0"/>
              </a:spcAft>
              <a:buNone/>
            </a:pPr>
            <a:r>
              <a:rPr lang="en-US" sz="1800">
                <a:solidFill>
                  <a:srgbClr val="C3260C"/>
                </a:solidFill>
                <a:latin typeface="Trebuchet MS"/>
                <a:ea typeface="Trebuchet MS"/>
                <a:cs typeface="Trebuchet MS"/>
                <a:sym typeface="Trebuchet MS"/>
              </a:rPr>
              <a:t> process waits for a resource held by the next process.</a:t>
            </a:r>
            <a:endParaRPr/>
          </a:p>
          <a:p>
            <a:pPr indent="0" lvl="0" marL="0" marR="0" rtl="0" algn="l">
              <a:spcBef>
                <a:spcPts val="0"/>
              </a:spcBef>
              <a:spcAft>
                <a:spcPts val="0"/>
              </a:spcAft>
              <a:buNone/>
            </a:pPr>
            <a:r>
              <a:rPr lang="en-US" sz="1800">
                <a:solidFill>
                  <a:srgbClr val="C3260C"/>
                </a:solidFill>
                <a:latin typeface="Trebuchet MS"/>
                <a:ea typeface="Trebuchet MS"/>
                <a:cs typeface="Trebuchet MS"/>
                <a:sym typeface="Trebuchet MS"/>
              </a:rPr>
              <a:t>If ANY of these is broken there won’t be on deadlock anymore.</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Method of handling Deadlocks</a:t>
            </a:r>
            <a:endParaRPr/>
          </a:p>
        </p:txBody>
      </p:sp>
      <p:grpSp>
        <p:nvGrpSpPr>
          <p:cNvPr id="758" name="Google Shape;758;p79"/>
          <p:cNvGrpSpPr/>
          <p:nvPr/>
        </p:nvGrpSpPr>
        <p:grpSpPr>
          <a:xfrm>
            <a:off x="682434" y="2380665"/>
            <a:ext cx="9850924" cy="2994532"/>
            <a:chOff x="5100" y="666164"/>
            <a:chExt cx="9850924" cy="2994532"/>
          </a:xfrm>
        </p:grpSpPr>
        <p:sp>
          <p:nvSpPr>
            <p:cNvPr id="759" name="Google Shape;759;p79"/>
            <p:cNvSpPr/>
            <p:nvPr/>
          </p:nvSpPr>
          <p:spPr>
            <a:xfrm>
              <a:off x="4930563" y="1729979"/>
              <a:ext cx="3861647" cy="446802"/>
            </a:xfrm>
            <a:custGeom>
              <a:rect b="b" l="l" r="r" t="t"/>
              <a:pathLst>
                <a:path extrusionOk="0" h="120000" w="120000">
                  <a:moveTo>
                    <a:pt x="0" y="0"/>
                  </a:moveTo>
                  <a:lnTo>
                    <a:pt x="0" y="60000"/>
                  </a:lnTo>
                  <a:lnTo>
                    <a:pt x="120000" y="60000"/>
                  </a:lnTo>
                  <a:lnTo>
                    <a:pt x="120000" y="120000"/>
                  </a:lnTo>
                </a:path>
              </a:pathLst>
            </a:custGeom>
            <a:noFill/>
            <a:ln cap="rnd" cmpd="sng" w="19050">
              <a:solidFill>
                <a:srgbClr val="3A509E"/>
              </a:solidFill>
              <a:prstDash val="solid"/>
              <a:round/>
              <a:headEnd len="sm" w="sm" type="none"/>
              <a:tailEnd len="sm" w="sm" type="none"/>
            </a:ln>
          </p:spPr>
        </p:sp>
        <p:sp>
          <p:nvSpPr>
            <p:cNvPr id="760" name="Google Shape;760;p79"/>
            <p:cNvSpPr/>
            <p:nvPr/>
          </p:nvSpPr>
          <p:spPr>
            <a:xfrm>
              <a:off x="4930563" y="1729979"/>
              <a:ext cx="1287215" cy="446802"/>
            </a:xfrm>
            <a:custGeom>
              <a:rect b="b" l="l" r="r" t="t"/>
              <a:pathLst>
                <a:path extrusionOk="0" h="120000" w="120000">
                  <a:moveTo>
                    <a:pt x="0" y="0"/>
                  </a:moveTo>
                  <a:lnTo>
                    <a:pt x="0" y="60000"/>
                  </a:lnTo>
                  <a:lnTo>
                    <a:pt x="120000" y="60000"/>
                  </a:lnTo>
                  <a:lnTo>
                    <a:pt x="120000" y="120000"/>
                  </a:lnTo>
                </a:path>
              </a:pathLst>
            </a:custGeom>
            <a:noFill/>
            <a:ln cap="rnd" cmpd="sng" w="19050">
              <a:solidFill>
                <a:srgbClr val="3A509E"/>
              </a:solidFill>
              <a:prstDash val="solid"/>
              <a:round/>
              <a:headEnd len="sm" w="sm" type="none"/>
              <a:tailEnd len="sm" w="sm" type="none"/>
            </a:ln>
          </p:spPr>
        </p:sp>
        <p:sp>
          <p:nvSpPr>
            <p:cNvPr id="761" name="Google Shape;761;p79"/>
            <p:cNvSpPr/>
            <p:nvPr/>
          </p:nvSpPr>
          <p:spPr>
            <a:xfrm>
              <a:off x="3643347" y="1729979"/>
              <a:ext cx="1287215" cy="446802"/>
            </a:xfrm>
            <a:custGeom>
              <a:rect b="b" l="l" r="r" t="t"/>
              <a:pathLst>
                <a:path extrusionOk="0" h="120000" w="120000">
                  <a:moveTo>
                    <a:pt x="120000" y="0"/>
                  </a:moveTo>
                  <a:lnTo>
                    <a:pt x="120000" y="60000"/>
                  </a:lnTo>
                  <a:lnTo>
                    <a:pt x="0" y="60000"/>
                  </a:lnTo>
                  <a:lnTo>
                    <a:pt x="0" y="120000"/>
                  </a:lnTo>
                </a:path>
              </a:pathLst>
            </a:custGeom>
            <a:noFill/>
            <a:ln cap="rnd" cmpd="sng" w="19050">
              <a:solidFill>
                <a:srgbClr val="3A509E"/>
              </a:solidFill>
              <a:prstDash val="solid"/>
              <a:round/>
              <a:headEnd len="sm" w="sm" type="none"/>
              <a:tailEnd len="sm" w="sm" type="none"/>
            </a:ln>
          </p:spPr>
        </p:sp>
        <p:sp>
          <p:nvSpPr>
            <p:cNvPr id="762" name="Google Shape;762;p79"/>
            <p:cNvSpPr/>
            <p:nvPr/>
          </p:nvSpPr>
          <p:spPr>
            <a:xfrm>
              <a:off x="1068915" y="1729979"/>
              <a:ext cx="3861647" cy="446802"/>
            </a:xfrm>
            <a:custGeom>
              <a:rect b="b" l="l" r="r" t="t"/>
              <a:pathLst>
                <a:path extrusionOk="0" h="120000" w="120000">
                  <a:moveTo>
                    <a:pt x="120000" y="0"/>
                  </a:moveTo>
                  <a:lnTo>
                    <a:pt x="120000" y="60000"/>
                  </a:lnTo>
                  <a:lnTo>
                    <a:pt x="0" y="60000"/>
                  </a:lnTo>
                  <a:lnTo>
                    <a:pt x="0" y="120000"/>
                  </a:lnTo>
                </a:path>
              </a:pathLst>
            </a:custGeom>
            <a:noFill/>
            <a:ln cap="rnd" cmpd="sng" w="19050">
              <a:solidFill>
                <a:srgbClr val="3A509E"/>
              </a:solidFill>
              <a:prstDash val="solid"/>
              <a:round/>
              <a:headEnd len="sm" w="sm" type="none"/>
              <a:tailEnd len="sm" w="sm" type="none"/>
            </a:ln>
          </p:spPr>
        </p:sp>
        <p:sp>
          <p:nvSpPr>
            <p:cNvPr id="763" name="Google Shape;763;p79"/>
            <p:cNvSpPr/>
            <p:nvPr/>
          </p:nvSpPr>
          <p:spPr>
            <a:xfrm>
              <a:off x="3866748" y="666164"/>
              <a:ext cx="2127629" cy="1063814"/>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9"/>
            <p:cNvSpPr txBox="1"/>
            <p:nvPr/>
          </p:nvSpPr>
          <p:spPr>
            <a:xfrm>
              <a:off x="3866748" y="666164"/>
              <a:ext cx="2127629" cy="1063814"/>
            </a:xfrm>
            <a:prstGeom prst="rect">
              <a:avLst/>
            </a:prstGeom>
            <a:noFill/>
            <a:ln>
              <a:noFill/>
            </a:ln>
          </p:spPr>
          <p:txBody>
            <a:bodyPr anchorCtr="0" anchor="ctr" bIns="17775" lIns="17775" spcFirstLastPara="1" rIns="17775" wrap="square" tIns="17775">
              <a:noAutofit/>
            </a:bodyPr>
            <a:lstStyle/>
            <a:p>
              <a:pPr indent="0" lvl="0" marL="0" marR="0" rtl="0" algn="ctr">
                <a:lnSpc>
                  <a:spcPct val="90000"/>
                </a:lnSpc>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Handling Deadlock</a:t>
              </a:r>
              <a:endParaRPr/>
            </a:p>
          </p:txBody>
        </p:sp>
        <p:sp>
          <p:nvSpPr>
            <p:cNvPr id="765" name="Google Shape;765;p79"/>
            <p:cNvSpPr/>
            <p:nvPr/>
          </p:nvSpPr>
          <p:spPr>
            <a:xfrm>
              <a:off x="5100" y="2176781"/>
              <a:ext cx="2127629" cy="1483915"/>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9"/>
            <p:cNvSpPr txBox="1"/>
            <p:nvPr/>
          </p:nvSpPr>
          <p:spPr>
            <a:xfrm>
              <a:off x="5100" y="2176781"/>
              <a:ext cx="2127629" cy="1483915"/>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Trebuchet MS"/>
                <a:buNone/>
              </a:pPr>
              <a:r>
                <a:rPr lang="en-US" sz="2000">
                  <a:solidFill>
                    <a:schemeClr val="lt1"/>
                  </a:solidFill>
                  <a:latin typeface="Trebuchet MS"/>
                  <a:ea typeface="Trebuchet MS"/>
                  <a:cs typeface="Trebuchet MS"/>
                  <a:sym typeface="Trebuchet MS"/>
                </a:rPr>
                <a:t>Just ignore the problem, and problem will ignore you</a:t>
              </a:r>
              <a:endParaRPr/>
            </a:p>
          </p:txBody>
        </p:sp>
        <p:sp>
          <p:nvSpPr>
            <p:cNvPr id="767" name="Google Shape;767;p79"/>
            <p:cNvSpPr/>
            <p:nvPr/>
          </p:nvSpPr>
          <p:spPr>
            <a:xfrm>
              <a:off x="2579532" y="2176781"/>
              <a:ext cx="2127629" cy="1063814"/>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79"/>
            <p:cNvSpPr txBox="1"/>
            <p:nvPr/>
          </p:nvSpPr>
          <p:spPr>
            <a:xfrm>
              <a:off x="2579532" y="2176781"/>
              <a:ext cx="2127629" cy="1063814"/>
            </a:xfrm>
            <a:prstGeom prst="rect">
              <a:avLst/>
            </a:prstGeom>
            <a:noFill/>
            <a:ln>
              <a:noFill/>
            </a:ln>
          </p:spPr>
          <p:txBody>
            <a:bodyPr anchorCtr="0" anchor="ctr" bIns="15875" lIns="15875" spcFirstLastPara="1" rIns="15875" wrap="square" tIns="15875">
              <a:noAutofit/>
            </a:bodyPr>
            <a:lstStyle/>
            <a:p>
              <a:pPr indent="0" lvl="0" marL="0" marR="0" rtl="0" algn="ctr">
                <a:lnSpc>
                  <a:spcPct val="90000"/>
                </a:lnSpc>
                <a:spcBef>
                  <a:spcPts val="0"/>
                </a:spcBef>
                <a:spcAft>
                  <a:spcPts val="0"/>
                </a:spcAft>
                <a:buClr>
                  <a:schemeClr val="lt1"/>
                </a:buClr>
                <a:buSzPts val="2500"/>
                <a:buFont typeface="Trebuchet MS"/>
                <a:buNone/>
              </a:pPr>
              <a:r>
                <a:rPr lang="en-US" sz="2500">
                  <a:solidFill>
                    <a:schemeClr val="lt1"/>
                  </a:solidFill>
                  <a:latin typeface="Trebuchet MS"/>
                  <a:ea typeface="Trebuchet MS"/>
                  <a:cs typeface="Trebuchet MS"/>
                  <a:sym typeface="Trebuchet MS"/>
                </a:rPr>
                <a:t>Deadlock Prevention</a:t>
              </a:r>
              <a:endParaRPr/>
            </a:p>
          </p:txBody>
        </p:sp>
        <p:sp>
          <p:nvSpPr>
            <p:cNvPr id="769" name="Google Shape;769;p79"/>
            <p:cNvSpPr/>
            <p:nvPr/>
          </p:nvSpPr>
          <p:spPr>
            <a:xfrm>
              <a:off x="5153964" y="2176781"/>
              <a:ext cx="2127629" cy="1063814"/>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9"/>
            <p:cNvSpPr txBox="1"/>
            <p:nvPr/>
          </p:nvSpPr>
          <p:spPr>
            <a:xfrm>
              <a:off x="5153964" y="2176781"/>
              <a:ext cx="2127629" cy="1063814"/>
            </a:xfrm>
            <a:prstGeom prst="rect">
              <a:avLst/>
            </a:prstGeom>
            <a:noFill/>
            <a:ln>
              <a:noFill/>
            </a:ln>
          </p:spPr>
          <p:txBody>
            <a:bodyPr anchorCtr="0" anchor="ctr" bIns="15875" lIns="15875" spcFirstLastPara="1" rIns="15875" wrap="square" tIns="15875">
              <a:noAutofit/>
            </a:bodyPr>
            <a:lstStyle/>
            <a:p>
              <a:pPr indent="0" lvl="0" marL="0" marR="0" rtl="0" algn="ctr">
                <a:lnSpc>
                  <a:spcPct val="90000"/>
                </a:lnSpc>
                <a:spcBef>
                  <a:spcPts val="0"/>
                </a:spcBef>
                <a:spcAft>
                  <a:spcPts val="0"/>
                </a:spcAft>
                <a:buClr>
                  <a:schemeClr val="lt1"/>
                </a:buClr>
                <a:buSzPts val="2500"/>
                <a:buFont typeface="Trebuchet MS"/>
                <a:buNone/>
              </a:pPr>
              <a:r>
                <a:rPr lang="en-US" sz="2500">
                  <a:solidFill>
                    <a:schemeClr val="lt1"/>
                  </a:solidFill>
                  <a:latin typeface="Trebuchet MS"/>
                  <a:ea typeface="Trebuchet MS"/>
                  <a:cs typeface="Trebuchet MS"/>
                  <a:sym typeface="Trebuchet MS"/>
                </a:rPr>
                <a:t>Deadlock avoidance</a:t>
              </a:r>
              <a:endParaRPr/>
            </a:p>
          </p:txBody>
        </p:sp>
        <p:sp>
          <p:nvSpPr>
            <p:cNvPr id="771" name="Google Shape;771;p79"/>
            <p:cNvSpPr/>
            <p:nvPr/>
          </p:nvSpPr>
          <p:spPr>
            <a:xfrm>
              <a:off x="7728395" y="2176781"/>
              <a:ext cx="2127629" cy="1063814"/>
            </a:xfrm>
            <a:prstGeom prst="rect">
              <a:avLst/>
            </a:prstGeom>
            <a:solidFill>
              <a:srgbClr val="4C66C7"/>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79"/>
            <p:cNvSpPr txBox="1"/>
            <p:nvPr/>
          </p:nvSpPr>
          <p:spPr>
            <a:xfrm>
              <a:off x="7728395" y="2176781"/>
              <a:ext cx="2127629" cy="1063814"/>
            </a:xfrm>
            <a:prstGeom prst="rect">
              <a:avLst/>
            </a:prstGeom>
            <a:noFill/>
            <a:ln>
              <a:noFill/>
            </a:ln>
          </p:spPr>
          <p:txBody>
            <a:bodyPr anchorCtr="0" anchor="ctr" bIns="15875" lIns="15875" spcFirstLastPara="1" rIns="15875" wrap="square" tIns="15875">
              <a:noAutofit/>
            </a:bodyPr>
            <a:lstStyle/>
            <a:p>
              <a:pPr indent="0" lvl="0" marL="0" marR="0" rtl="0" algn="ctr">
                <a:lnSpc>
                  <a:spcPct val="90000"/>
                </a:lnSpc>
                <a:spcBef>
                  <a:spcPts val="0"/>
                </a:spcBef>
                <a:spcAft>
                  <a:spcPts val="0"/>
                </a:spcAft>
                <a:buClr>
                  <a:schemeClr val="lt1"/>
                </a:buClr>
                <a:buSzPts val="2500"/>
                <a:buFont typeface="Trebuchet MS"/>
                <a:buNone/>
              </a:pPr>
              <a:r>
                <a:rPr lang="en-US" sz="2500">
                  <a:solidFill>
                    <a:schemeClr val="lt1"/>
                  </a:solidFill>
                  <a:latin typeface="Trebuchet MS"/>
                  <a:ea typeface="Trebuchet MS"/>
                  <a:cs typeface="Trebuchet MS"/>
                  <a:sym typeface="Trebuchet MS"/>
                </a:rPr>
                <a:t>Deadlock Detection and Recovery</a:t>
              </a:r>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8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Ostrich algorithm</a:t>
            </a:r>
            <a:endParaRPr/>
          </a:p>
        </p:txBody>
      </p:sp>
      <p:sp>
        <p:nvSpPr>
          <p:cNvPr id="779" name="Google Shape;779;p8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The OS ignores deadlocks entirely</a:t>
            </a:r>
            <a:endParaRPr/>
          </a:p>
          <a:p>
            <a:pPr indent="-342900" lvl="0" marL="342900" rtl="0" algn="l">
              <a:spcBef>
                <a:spcPts val="1000"/>
              </a:spcBef>
              <a:spcAft>
                <a:spcPts val="0"/>
              </a:spcAft>
              <a:buSzPts val="1440"/>
              <a:buChar char="►"/>
            </a:pPr>
            <a:r>
              <a:rPr lang="en-US"/>
              <a:t>Why?</a:t>
            </a:r>
            <a:endParaRPr/>
          </a:p>
          <a:p>
            <a:pPr indent="-342900" lvl="0" marL="342900" rtl="0" algn="l">
              <a:spcBef>
                <a:spcPts val="1000"/>
              </a:spcBef>
              <a:spcAft>
                <a:spcPts val="0"/>
              </a:spcAft>
              <a:buSzPts val="1440"/>
              <a:buChar char="►"/>
            </a:pPr>
            <a:r>
              <a:rPr lang="en-US"/>
              <a:t>Deadlock detection, prevention, or avoidance requires:</a:t>
            </a:r>
            <a:endParaRPr/>
          </a:p>
          <a:p>
            <a:pPr indent="-285750" lvl="1" marL="742950" rtl="0" algn="l">
              <a:spcBef>
                <a:spcPts val="1000"/>
              </a:spcBef>
              <a:spcAft>
                <a:spcPts val="0"/>
              </a:spcAft>
              <a:buSzPts val="1280"/>
              <a:buChar char="►"/>
            </a:pPr>
            <a:r>
              <a:rPr lang="en-US"/>
              <a:t>Extra CPU time</a:t>
            </a:r>
            <a:endParaRPr/>
          </a:p>
          <a:p>
            <a:pPr indent="-285750" lvl="1" marL="742950" rtl="0" algn="l">
              <a:spcBef>
                <a:spcPts val="1000"/>
              </a:spcBef>
              <a:spcAft>
                <a:spcPts val="0"/>
              </a:spcAft>
              <a:buSzPts val="1280"/>
              <a:buChar char="►"/>
            </a:pPr>
            <a:r>
              <a:rPr lang="en-US"/>
              <a:t>Extra memory</a:t>
            </a:r>
            <a:endParaRPr/>
          </a:p>
          <a:p>
            <a:pPr indent="-285750" lvl="1" marL="742950" rtl="0" algn="l">
              <a:spcBef>
                <a:spcPts val="1000"/>
              </a:spcBef>
              <a:spcAft>
                <a:spcPts val="0"/>
              </a:spcAft>
              <a:buSzPts val="1280"/>
              <a:buChar char="►"/>
            </a:pPr>
            <a:r>
              <a:rPr lang="en-US"/>
              <a:t>Complex algorithms</a:t>
            </a:r>
            <a:endParaRPr/>
          </a:p>
          <a:p>
            <a:pPr indent="-285750" lvl="1" marL="742950" rtl="0" algn="l">
              <a:spcBef>
                <a:spcPts val="1000"/>
              </a:spcBef>
              <a:spcAft>
                <a:spcPts val="0"/>
              </a:spcAft>
              <a:buSzPts val="1280"/>
              <a:buChar char="►"/>
            </a:pPr>
            <a:r>
              <a:rPr lang="en-US"/>
              <a:t>Reduced concurrency</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8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Deadlock prevention</a:t>
            </a:r>
            <a:endParaRPr/>
          </a:p>
        </p:txBody>
      </p:sp>
      <p:sp>
        <p:nvSpPr>
          <p:cNvPr id="786" name="Google Shape;786;p81"/>
          <p:cNvSpPr txBox="1"/>
          <p:nvPr>
            <p:ph idx="1" type="body"/>
          </p:nvPr>
        </p:nvSpPr>
        <p:spPr>
          <a:xfrm>
            <a:off x="677334" y="1714500"/>
            <a:ext cx="9723966" cy="5143500"/>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SzPct val="79999"/>
              <a:buChar char="►"/>
            </a:pPr>
            <a:r>
              <a:rPr lang="en-US"/>
              <a:t>Deadlock prevention is a strategy where the operating system ensures that at least one of the four necessary conditions for deadlock never occurs.</a:t>
            </a:r>
            <a:endParaRPr/>
          </a:p>
          <a:p>
            <a:pPr indent="0" lvl="0" marL="0" rtl="0" algn="l">
              <a:spcBef>
                <a:spcPts val="1000"/>
              </a:spcBef>
              <a:spcAft>
                <a:spcPts val="0"/>
              </a:spcAft>
              <a:buSzPct val="79999"/>
              <a:buNone/>
            </a:pPr>
            <a:r>
              <a:rPr b="1" lang="en-US"/>
              <a:t>	</a:t>
            </a:r>
            <a:r>
              <a:rPr b="1" lang="en-US" u="sng"/>
              <a:t>If any one of the four conditions is eliminated, deadlock cannot happen</a:t>
            </a:r>
            <a:endParaRPr/>
          </a:p>
          <a:p>
            <a:pPr indent="-342900" lvl="0" marL="342900" rtl="0" algn="l">
              <a:spcBef>
                <a:spcPts val="1000"/>
              </a:spcBef>
              <a:spcAft>
                <a:spcPts val="0"/>
              </a:spcAft>
              <a:buSzPct val="79999"/>
              <a:buChar char="►"/>
            </a:pPr>
            <a:r>
              <a:rPr lang="en-US"/>
              <a:t>Mutual Exclusion</a:t>
            </a:r>
            <a:endParaRPr/>
          </a:p>
          <a:p>
            <a:pPr indent="-285750" lvl="1" marL="742950" rtl="0" algn="l">
              <a:spcBef>
                <a:spcPts val="1000"/>
              </a:spcBef>
              <a:spcAft>
                <a:spcPts val="0"/>
              </a:spcAft>
              <a:buSzPct val="80000"/>
              <a:buChar char="►"/>
            </a:pPr>
            <a:r>
              <a:rPr lang="en-US"/>
              <a:t>Make the resource </a:t>
            </a:r>
            <a:r>
              <a:rPr b="1" lang="en-US"/>
              <a:t>sharable</a:t>
            </a:r>
            <a:r>
              <a:rPr lang="en-US"/>
              <a:t>. (some resources are non sharable so preventing this is difficult and widely used)) spooling or make read only files.</a:t>
            </a:r>
            <a:endParaRPr/>
          </a:p>
          <a:p>
            <a:pPr indent="-342900" lvl="0" marL="342900" rtl="0" algn="l">
              <a:spcBef>
                <a:spcPts val="1000"/>
              </a:spcBef>
              <a:spcAft>
                <a:spcPts val="0"/>
              </a:spcAft>
              <a:buSzPct val="79999"/>
              <a:buChar char="►"/>
            </a:pPr>
            <a:r>
              <a:rPr lang="en-US"/>
              <a:t>Hold and Wait</a:t>
            </a:r>
            <a:endParaRPr/>
          </a:p>
          <a:p>
            <a:pPr indent="-285750" lvl="1" marL="742950" rtl="0" algn="l">
              <a:spcBef>
                <a:spcPts val="1000"/>
              </a:spcBef>
              <a:spcAft>
                <a:spcPts val="0"/>
              </a:spcAft>
              <a:buSzPct val="80000"/>
              <a:buChar char="►"/>
            </a:pPr>
            <a:r>
              <a:rPr lang="en-US"/>
              <a:t>Force processes to </a:t>
            </a:r>
            <a:r>
              <a:rPr b="1" lang="en-US"/>
              <a:t>request all resources at once</a:t>
            </a:r>
            <a:r>
              <a:rPr lang="en-US"/>
              <a:t>, before execution starts.(j j Chaiyo sab first mai magne)</a:t>
            </a:r>
            <a:endParaRPr/>
          </a:p>
          <a:p>
            <a:pPr indent="0" lvl="8" marL="3657600" rtl="0" algn="l">
              <a:spcBef>
                <a:spcPts val="1000"/>
              </a:spcBef>
              <a:spcAft>
                <a:spcPts val="0"/>
              </a:spcAft>
              <a:buSzPct val="80000"/>
              <a:buNone/>
            </a:pPr>
            <a:r>
              <a:rPr lang="en-US"/>
              <a:t>OR</a:t>
            </a:r>
            <a:endParaRPr/>
          </a:p>
          <a:p>
            <a:pPr indent="-285750" lvl="1" marL="742950" rtl="0" algn="l">
              <a:spcBef>
                <a:spcPts val="1000"/>
              </a:spcBef>
              <a:spcAft>
                <a:spcPts val="0"/>
              </a:spcAft>
              <a:buSzPct val="80000"/>
              <a:buChar char="►"/>
            </a:pPr>
            <a:r>
              <a:rPr lang="en-US"/>
              <a:t>Require a process to </a:t>
            </a:r>
            <a:r>
              <a:rPr b="1" lang="en-US"/>
              <a:t>release all resources before requesting new ones</a:t>
            </a:r>
            <a:r>
              <a:rPr lang="en-US"/>
              <a:t>.(naya chaiye purano xodne)</a:t>
            </a:r>
            <a:endParaRPr/>
          </a:p>
          <a:p>
            <a:pPr indent="-342900" lvl="0" marL="342900" rtl="0" algn="l">
              <a:spcBef>
                <a:spcPts val="1000"/>
              </a:spcBef>
              <a:spcAft>
                <a:spcPts val="0"/>
              </a:spcAft>
              <a:buSzPct val="79999"/>
              <a:buChar char="►"/>
            </a:pPr>
            <a:r>
              <a:rPr lang="en-US"/>
              <a:t>No preemption</a:t>
            </a:r>
            <a:endParaRPr/>
          </a:p>
          <a:p>
            <a:pPr indent="-285750" lvl="1" marL="742950" rtl="0" algn="l">
              <a:spcBef>
                <a:spcPts val="1000"/>
              </a:spcBef>
              <a:spcAft>
                <a:spcPts val="0"/>
              </a:spcAft>
              <a:buSzPct val="80000"/>
              <a:buChar char="►"/>
            </a:pPr>
            <a:r>
              <a:rPr lang="en-US"/>
              <a:t>If a process holding some resources requests another resource that is not available:</a:t>
            </a:r>
            <a:endParaRPr/>
          </a:p>
          <a:p>
            <a:pPr indent="-342900" lvl="2" marL="1257300" rtl="0" algn="l">
              <a:spcBef>
                <a:spcPts val="1000"/>
              </a:spcBef>
              <a:spcAft>
                <a:spcPts val="0"/>
              </a:spcAft>
              <a:buSzPct val="80000"/>
              <a:buFont typeface="Trebuchet MS"/>
              <a:buAutoNum type="arabicPeriod"/>
            </a:pPr>
            <a:r>
              <a:rPr b="1" lang="en-US"/>
              <a:t>Preempt</a:t>
            </a:r>
            <a:r>
              <a:rPr lang="en-US"/>
              <a:t> (take back) all currently allocated resources</a:t>
            </a:r>
            <a:endParaRPr/>
          </a:p>
          <a:p>
            <a:pPr indent="-342900" lvl="2" marL="1257300" rtl="0" algn="l">
              <a:spcBef>
                <a:spcPts val="1000"/>
              </a:spcBef>
              <a:spcAft>
                <a:spcPts val="0"/>
              </a:spcAft>
              <a:buSzPct val="80000"/>
              <a:buFont typeface="Trebuchet MS"/>
              <a:buAutoNum type="arabicPeriod"/>
            </a:pPr>
            <a:r>
              <a:rPr lang="en-US"/>
              <a:t>Put the process in waiting state</a:t>
            </a:r>
            <a:endParaRPr/>
          </a:p>
          <a:p>
            <a:pPr indent="-342900" lvl="2" marL="1257300" rtl="0" algn="l">
              <a:spcBef>
                <a:spcPts val="1000"/>
              </a:spcBef>
              <a:spcAft>
                <a:spcPts val="0"/>
              </a:spcAft>
              <a:buSzPct val="80000"/>
              <a:buFont typeface="Trebuchet MS"/>
              <a:buAutoNum type="arabicPeriod"/>
            </a:pPr>
            <a:r>
              <a:rPr lang="en-US"/>
              <a:t>Reassign resources later</a:t>
            </a:r>
            <a:endParaRPr/>
          </a:p>
          <a:p>
            <a:pPr indent="-342900" lvl="0" marL="342900" rtl="0" algn="l">
              <a:spcBef>
                <a:spcPts val="1000"/>
              </a:spcBef>
              <a:spcAft>
                <a:spcPts val="0"/>
              </a:spcAft>
              <a:buSzPct val="79999"/>
              <a:buChar char="►"/>
            </a:pPr>
            <a:r>
              <a:rPr lang="en-US"/>
              <a:t>Circular wait</a:t>
            </a:r>
            <a:endParaRPr/>
          </a:p>
          <a:p>
            <a:pPr indent="-285750" lvl="1" marL="742950" rtl="0" algn="l">
              <a:spcBef>
                <a:spcPts val="1000"/>
              </a:spcBef>
              <a:spcAft>
                <a:spcPts val="0"/>
              </a:spcAft>
              <a:buSzPct val="80000"/>
              <a:buChar char="►"/>
            </a:pPr>
            <a:r>
              <a:rPr lang="en-US"/>
              <a:t>Impose a </a:t>
            </a:r>
            <a:r>
              <a:rPr b="1" lang="en-US"/>
              <a:t>strict ordering</a:t>
            </a:r>
            <a:r>
              <a:rPr lang="en-US"/>
              <a:t> of resources. Assign priority to each resources and order resources numerically</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8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Deadlock avoidance</a:t>
            </a:r>
            <a:endParaRPr/>
          </a:p>
        </p:txBody>
      </p:sp>
      <p:sp>
        <p:nvSpPr>
          <p:cNvPr id="792" name="Google Shape;792;p8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Char char="►"/>
            </a:pPr>
            <a:r>
              <a:rPr lang="en-US"/>
              <a:t>It is a dynamic strategy where the operating system carefully checks each resource request before granting it.</a:t>
            </a:r>
            <a:endParaRPr/>
          </a:p>
          <a:p>
            <a:pPr indent="-342900" lvl="0" marL="342900" rtl="0" algn="l">
              <a:spcBef>
                <a:spcPts val="1000"/>
              </a:spcBef>
              <a:spcAft>
                <a:spcPts val="0"/>
              </a:spcAft>
              <a:buSzPct val="79999"/>
              <a:buChar char="►"/>
            </a:pPr>
            <a:r>
              <a:rPr lang="en-US"/>
              <a:t>This is done to ensure that the system never enters an unsafe state that might lead to deadlock.</a:t>
            </a:r>
            <a:endParaRPr/>
          </a:p>
          <a:p>
            <a:pPr indent="0" lvl="0" marL="0" rtl="0" algn="l">
              <a:spcBef>
                <a:spcPts val="1000"/>
              </a:spcBef>
              <a:spcAft>
                <a:spcPts val="0"/>
              </a:spcAft>
              <a:buSzPct val="79999"/>
              <a:buNone/>
            </a:pPr>
            <a:r>
              <a:rPr b="1" lang="en-US" u="sng"/>
              <a:t>How Deadlock Avoidance Works</a:t>
            </a:r>
            <a:endParaRPr/>
          </a:p>
          <a:p>
            <a:pPr indent="-342900" lvl="0" marL="342900" rtl="0" algn="l">
              <a:spcBef>
                <a:spcPts val="1000"/>
              </a:spcBef>
              <a:spcAft>
                <a:spcPts val="0"/>
              </a:spcAft>
              <a:buSzPct val="79999"/>
              <a:buChar char="►"/>
            </a:pPr>
            <a:r>
              <a:rPr lang="en-US"/>
              <a:t>Whenever a process requests some resources, the OS:</a:t>
            </a:r>
            <a:endParaRPr/>
          </a:p>
          <a:p>
            <a:pPr indent="-342900" lvl="0" marL="342900" rtl="0" algn="l">
              <a:spcBef>
                <a:spcPts val="1000"/>
              </a:spcBef>
              <a:spcAft>
                <a:spcPts val="0"/>
              </a:spcAft>
              <a:buSzPct val="79999"/>
              <a:buChar char="►"/>
            </a:pPr>
            <a:r>
              <a:rPr b="1" lang="en-US"/>
              <a:t>Pretends</a:t>
            </a:r>
            <a:r>
              <a:rPr lang="en-US"/>
              <a:t> to allocate the resources (temporary allocation)</a:t>
            </a:r>
            <a:endParaRPr/>
          </a:p>
          <a:p>
            <a:pPr indent="-342900" lvl="0" marL="342900" rtl="0" algn="l">
              <a:spcBef>
                <a:spcPts val="1000"/>
              </a:spcBef>
              <a:spcAft>
                <a:spcPts val="0"/>
              </a:spcAft>
              <a:buSzPct val="79999"/>
              <a:buChar char="►"/>
            </a:pPr>
            <a:r>
              <a:rPr b="1" lang="en-US"/>
              <a:t>Checks</a:t>
            </a:r>
            <a:r>
              <a:rPr lang="en-US"/>
              <a:t> if the system would still remain in a </a:t>
            </a:r>
            <a:r>
              <a:rPr i="1" lang="en-US"/>
              <a:t>safe state</a:t>
            </a:r>
            <a:r>
              <a:rPr lang="en-US"/>
              <a:t> with this allocation</a:t>
            </a:r>
            <a:endParaRPr/>
          </a:p>
          <a:p>
            <a:pPr indent="-342900" lvl="0" marL="342900" rtl="0" algn="l">
              <a:spcBef>
                <a:spcPts val="1000"/>
              </a:spcBef>
              <a:spcAft>
                <a:spcPts val="0"/>
              </a:spcAft>
              <a:buSzPct val="79999"/>
              <a:buChar char="►"/>
            </a:pPr>
            <a:r>
              <a:rPr lang="en-US"/>
              <a:t>If </a:t>
            </a:r>
            <a:r>
              <a:rPr b="1" lang="en-US"/>
              <a:t>safe</a:t>
            </a:r>
            <a:r>
              <a:rPr lang="en-US"/>
              <a:t>, the OS </a:t>
            </a:r>
            <a:r>
              <a:rPr b="1" lang="en-US"/>
              <a:t>grants</a:t>
            </a:r>
            <a:r>
              <a:rPr lang="en-US"/>
              <a:t> the request</a:t>
            </a:r>
            <a:endParaRPr/>
          </a:p>
          <a:p>
            <a:pPr indent="-342900" lvl="0" marL="342900" rtl="0" algn="l">
              <a:spcBef>
                <a:spcPts val="1000"/>
              </a:spcBef>
              <a:spcAft>
                <a:spcPts val="0"/>
              </a:spcAft>
              <a:buSzPct val="79999"/>
              <a:buChar char="►"/>
            </a:pPr>
            <a:r>
              <a:rPr lang="en-US"/>
              <a:t>If </a:t>
            </a:r>
            <a:r>
              <a:rPr b="1" lang="en-US"/>
              <a:t>unsafe</a:t>
            </a:r>
            <a:r>
              <a:rPr lang="en-US"/>
              <a:t>, the OS </a:t>
            </a:r>
            <a:r>
              <a:rPr b="1" lang="en-US"/>
              <a:t>denies</a:t>
            </a:r>
            <a:r>
              <a:rPr lang="en-US"/>
              <a:t> or </a:t>
            </a:r>
            <a:r>
              <a:rPr b="1" lang="en-US"/>
              <a:t>delays</a:t>
            </a:r>
            <a:r>
              <a:rPr lang="en-US"/>
              <a:t> the request</a:t>
            </a:r>
            <a:endParaRPr/>
          </a:p>
          <a:p>
            <a:pPr indent="0" lvl="0" marL="0" rtl="0" algn="l">
              <a:spcBef>
                <a:spcPts val="1000"/>
              </a:spcBef>
              <a:spcAft>
                <a:spcPts val="0"/>
              </a:spcAft>
              <a:buSzPct val="79999"/>
              <a:buNone/>
            </a:pPr>
            <a:r>
              <a:rPr b="1" lang="en-US"/>
              <a:t>This requires:</a:t>
            </a:r>
            <a:endParaRPr/>
          </a:p>
          <a:p>
            <a:pPr indent="-342900" lvl="0" marL="342900" rtl="0" algn="l">
              <a:spcBef>
                <a:spcPts val="1000"/>
              </a:spcBef>
              <a:spcAft>
                <a:spcPts val="0"/>
              </a:spcAft>
              <a:buSzPct val="79999"/>
              <a:buChar char="►"/>
            </a:pPr>
            <a:r>
              <a:rPr lang="en-US"/>
              <a:t>Knowledge of current allocation</a:t>
            </a:r>
            <a:endParaRPr/>
          </a:p>
          <a:p>
            <a:pPr indent="-342900" lvl="0" marL="342900" rtl="0" algn="l">
              <a:spcBef>
                <a:spcPts val="1000"/>
              </a:spcBef>
              <a:spcAft>
                <a:spcPts val="0"/>
              </a:spcAft>
              <a:buSzPct val="79999"/>
              <a:buChar char="►"/>
            </a:pPr>
            <a:r>
              <a:rPr lang="en-US"/>
              <a:t>Knowledge of future maximum needs</a:t>
            </a:r>
            <a:endParaRPr/>
          </a:p>
          <a:p>
            <a:pPr indent="-265176" lvl="0" marL="342900" rtl="0" algn="l">
              <a:spcBef>
                <a:spcPts val="1000"/>
              </a:spcBef>
              <a:spcAft>
                <a:spcPts val="0"/>
              </a:spcAft>
              <a:buSzPct val="79999"/>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8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Deadlock Avoidance Algorithms</a:t>
            </a:r>
            <a:endParaRPr/>
          </a:p>
        </p:txBody>
      </p:sp>
      <p:sp>
        <p:nvSpPr>
          <p:cNvPr id="798" name="Google Shape;798;p83"/>
          <p:cNvSpPr txBox="1"/>
          <p:nvPr>
            <p:ph idx="1" type="body"/>
          </p:nvPr>
        </p:nvSpPr>
        <p:spPr>
          <a:xfrm>
            <a:off x="5937464" y="1992541"/>
            <a:ext cx="4185623" cy="5762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1920"/>
              <a:buNone/>
            </a:pPr>
            <a:r>
              <a:rPr lang="en-US"/>
              <a:t>Resource Allocation Graph (RAG) </a:t>
            </a:r>
            <a:endParaRPr/>
          </a:p>
        </p:txBody>
      </p:sp>
      <p:sp>
        <p:nvSpPr>
          <p:cNvPr id="799" name="Google Shape;799;p83"/>
          <p:cNvSpPr txBox="1"/>
          <p:nvPr>
            <p:ph idx="2" type="body"/>
          </p:nvPr>
        </p:nvSpPr>
        <p:spPr>
          <a:xfrm>
            <a:off x="5937464" y="2568803"/>
            <a:ext cx="4185623" cy="3679597"/>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79999"/>
              <a:buNone/>
            </a:pPr>
            <a:r>
              <a:rPr b="1" lang="en-US" u="sng"/>
              <a:t>Used when:</a:t>
            </a:r>
            <a:endParaRPr/>
          </a:p>
          <a:p>
            <a:pPr indent="-349758" lvl="0" marL="342900" rtl="0" algn="l">
              <a:spcBef>
                <a:spcPts val="1000"/>
              </a:spcBef>
              <a:spcAft>
                <a:spcPts val="0"/>
              </a:spcAft>
              <a:buSzPct val="79999"/>
              <a:buChar char="►"/>
            </a:pPr>
            <a:r>
              <a:rPr lang="en-US"/>
              <a:t>Only one instance per resource type exists.</a:t>
            </a:r>
            <a:endParaRPr/>
          </a:p>
          <a:p>
            <a:pPr indent="0" lvl="0" marL="0" rtl="0" algn="l">
              <a:spcBef>
                <a:spcPts val="1000"/>
              </a:spcBef>
              <a:spcAft>
                <a:spcPts val="0"/>
              </a:spcAft>
              <a:buSzPct val="79999"/>
              <a:buNone/>
            </a:pPr>
            <a:r>
              <a:rPr b="1" lang="en-US" u="sng"/>
              <a:t>How it works:</a:t>
            </a:r>
            <a:endParaRPr/>
          </a:p>
          <a:p>
            <a:pPr indent="-349758" lvl="0" marL="342900" rtl="0" algn="l">
              <a:spcBef>
                <a:spcPts val="1000"/>
              </a:spcBef>
              <a:spcAft>
                <a:spcPts val="0"/>
              </a:spcAft>
              <a:buSzPct val="79999"/>
              <a:buChar char="►"/>
            </a:pPr>
            <a:r>
              <a:rPr lang="en-US"/>
              <a:t>Add a claim edge Pi → Rj, meaning process Pi may request Rj in future.</a:t>
            </a:r>
            <a:endParaRPr/>
          </a:p>
          <a:p>
            <a:pPr indent="-349758" lvl="0" marL="342900" rtl="0" algn="l">
              <a:spcBef>
                <a:spcPts val="1000"/>
              </a:spcBef>
              <a:spcAft>
                <a:spcPts val="0"/>
              </a:spcAft>
              <a:buSzPct val="79999"/>
              <a:buChar char="►"/>
            </a:pPr>
            <a:r>
              <a:rPr lang="en-US"/>
              <a:t>If Pi actually requests Rj:</a:t>
            </a:r>
            <a:endParaRPr/>
          </a:p>
          <a:p>
            <a:pPr indent="-291846" lvl="1" marL="742950" rtl="0" algn="l">
              <a:spcBef>
                <a:spcPts val="1000"/>
              </a:spcBef>
              <a:spcAft>
                <a:spcPts val="0"/>
              </a:spcAft>
              <a:buSzPct val="80000"/>
              <a:buChar char="►"/>
            </a:pPr>
            <a:r>
              <a:rPr lang="en-US"/>
              <a:t>The claim edge becomes a usual request edge</a:t>
            </a:r>
            <a:endParaRPr/>
          </a:p>
          <a:p>
            <a:pPr indent="-349758" lvl="0" marL="342900" rtl="0" algn="l">
              <a:spcBef>
                <a:spcPts val="1000"/>
              </a:spcBef>
              <a:spcAft>
                <a:spcPts val="0"/>
              </a:spcAft>
              <a:buSzPct val="79999"/>
              <a:buChar char="►"/>
            </a:pPr>
            <a:r>
              <a:rPr lang="en-US"/>
              <a:t>Before granting:</a:t>
            </a:r>
            <a:endParaRPr/>
          </a:p>
          <a:p>
            <a:pPr indent="-291846" lvl="1" marL="742950" rtl="0" algn="l">
              <a:spcBef>
                <a:spcPts val="1000"/>
              </a:spcBef>
              <a:spcAft>
                <a:spcPts val="0"/>
              </a:spcAft>
              <a:buSzPct val="80000"/>
              <a:buChar char="►"/>
            </a:pPr>
            <a:r>
              <a:rPr lang="en-US"/>
              <a:t>The OS checks whether converting that request edge to an assignment edge will create a cycle.</a:t>
            </a:r>
            <a:endParaRPr/>
          </a:p>
          <a:p>
            <a:pPr indent="-349758" lvl="0" marL="342900" rtl="0" algn="l">
              <a:spcBef>
                <a:spcPts val="1000"/>
              </a:spcBef>
              <a:spcAft>
                <a:spcPts val="0"/>
              </a:spcAft>
              <a:buSzPct val="79999"/>
              <a:buChar char="►"/>
            </a:pPr>
            <a:r>
              <a:rPr lang="en-US"/>
              <a:t>I	f a cycle is created → deny request (unsafe)If no cycle → grant request (safe)</a:t>
            </a:r>
            <a:endParaRPr/>
          </a:p>
          <a:p>
            <a:pPr indent="-349758" lvl="0" marL="342900" rtl="0" algn="l">
              <a:spcBef>
                <a:spcPts val="1000"/>
              </a:spcBef>
              <a:spcAft>
                <a:spcPts val="0"/>
              </a:spcAft>
              <a:buSzPct val="79999"/>
              <a:buChar char="►"/>
            </a:pPr>
            <a:r>
              <a:rPr lang="en-US"/>
              <a:t>If a cycle exists → unsafe → risk of deadlock.</a:t>
            </a:r>
            <a:endParaRPr/>
          </a:p>
        </p:txBody>
      </p:sp>
      <p:sp>
        <p:nvSpPr>
          <p:cNvPr id="800" name="Google Shape;800;p83"/>
          <p:cNvSpPr txBox="1"/>
          <p:nvPr>
            <p:ph idx="3" type="body"/>
          </p:nvPr>
        </p:nvSpPr>
        <p:spPr>
          <a:xfrm>
            <a:off x="790050" y="1992541"/>
            <a:ext cx="4185618" cy="5762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1920"/>
              <a:buNone/>
            </a:pPr>
            <a:r>
              <a:rPr lang="en-US"/>
              <a:t>Banker's Algorithm (Multiple Resource Instances)</a:t>
            </a:r>
            <a:endParaRPr/>
          </a:p>
        </p:txBody>
      </p:sp>
      <p:sp>
        <p:nvSpPr>
          <p:cNvPr id="801" name="Google Shape;801;p83"/>
          <p:cNvSpPr txBox="1"/>
          <p:nvPr>
            <p:ph idx="4" type="body"/>
          </p:nvPr>
        </p:nvSpPr>
        <p:spPr>
          <a:xfrm>
            <a:off x="905934" y="2756542"/>
            <a:ext cx="4185617" cy="3304117"/>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79999"/>
              <a:buNone/>
            </a:pPr>
            <a:r>
              <a:rPr b="1" lang="en-US" u="sng"/>
              <a:t>Used when:</a:t>
            </a:r>
            <a:endParaRPr/>
          </a:p>
          <a:p>
            <a:pPr indent="-349758" lvl="0" marL="342900" rtl="0" algn="l">
              <a:spcBef>
                <a:spcPts val="1000"/>
              </a:spcBef>
              <a:spcAft>
                <a:spcPts val="0"/>
              </a:spcAft>
              <a:buSzPct val="79999"/>
              <a:buChar char="►"/>
            </a:pPr>
            <a:r>
              <a:rPr lang="en-US"/>
              <a:t>There are </a:t>
            </a:r>
            <a:r>
              <a:rPr b="1" lang="en-US"/>
              <a:t>multiple instances of resource types</a:t>
            </a:r>
            <a:endParaRPr/>
          </a:p>
          <a:p>
            <a:pPr indent="-349758" lvl="0" marL="342900" rtl="0" algn="l">
              <a:spcBef>
                <a:spcPts val="1000"/>
              </a:spcBef>
              <a:spcAft>
                <a:spcPts val="0"/>
              </a:spcAft>
              <a:buSzPct val="79999"/>
              <a:buChar char="►"/>
            </a:pPr>
            <a:r>
              <a:rPr lang="en-US"/>
              <a:t>Each process declares </a:t>
            </a:r>
            <a:r>
              <a:rPr b="1" lang="en-US"/>
              <a:t>maximum resource needs</a:t>
            </a:r>
            <a:endParaRPr/>
          </a:p>
          <a:p>
            <a:pPr indent="0" lvl="0" marL="0" rtl="0" algn="l">
              <a:spcBef>
                <a:spcPts val="1000"/>
              </a:spcBef>
              <a:spcAft>
                <a:spcPts val="0"/>
              </a:spcAft>
              <a:buSzPct val="79999"/>
              <a:buNone/>
            </a:pPr>
            <a:r>
              <a:rPr b="1" lang="en-US" u="sng"/>
              <a:t>Banker’s Algorithm Data Structures</a:t>
            </a:r>
            <a:endParaRPr/>
          </a:p>
          <a:p>
            <a:pPr indent="-349758" lvl="0" marL="342900" rtl="0" algn="l">
              <a:spcBef>
                <a:spcPts val="1000"/>
              </a:spcBef>
              <a:spcAft>
                <a:spcPts val="0"/>
              </a:spcAft>
              <a:buSzPct val="79999"/>
              <a:buChar char="►"/>
            </a:pPr>
            <a:r>
              <a:rPr b="1" lang="en-US"/>
              <a:t>Available[m]</a:t>
            </a:r>
            <a:r>
              <a:rPr lang="en-US"/>
              <a:t> – how many instances of each resource type are free.</a:t>
            </a:r>
            <a:endParaRPr/>
          </a:p>
          <a:p>
            <a:pPr indent="-349758" lvl="0" marL="342900" rtl="0" algn="l">
              <a:spcBef>
                <a:spcPts val="1000"/>
              </a:spcBef>
              <a:spcAft>
                <a:spcPts val="0"/>
              </a:spcAft>
              <a:buSzPct val="79999"/>
              <a:buChar char="►"/>
            </a:pPr>
            <a:r>
              <a:rPr b="1" lang="en-US"/>
              <a:t>Max[n][m]</a:t>
            </a:r>
            <a:r>
              <a:rPr lang="en-US"/>
              <a:t> – maximum demand of each process.</a:t>
            </a:r>
            <a:endParaRPr/>
          </a:p>
          <a:p>
            <a:pPr indent="-349758" lvl="0" marL="342900" rtl="0" algn="l">
              <a:spcBef>
                <a:spcPts val="1000"/>
              </a:spcBef>
              <a:spcAft>
                <a:spcPts val="0"/>
              </a:spcAft>
              <a:buSzPct val="79999"/>
              <a:buChar char="►"/>
            </a:pPr>
            <a:r>
              <a:rPr b="1" lang="en-US"/>
              <a:t>Allocation[n][m]</a:t>
            </a:r>
            <a:r>
              <a:rPr lang="en-US"/>
              <a:t> – currently allocated resources.</a:t>
            </a:r>
            <a:endParaRPr/>
          </a:p>
          <a:p>
            <a:pPr indent="-349758" lvl="0" marL="342900" rtl="0" algn="l">
              <a:spcBef>
                <a:spcPts val="1000"/>
              </a:spcBef>
              <a:spcAft>
                <a:spcPts val="0"/>
              </a:spcAft>
              <a:buSzPct val="79999"/>
              <a:buChar char="►"/>
            </a:pPr>
            <a:r>
              <a:rPr b="1" lang="en-US"/>
              <a:t>Need[n][m] = Max – Allocation</a:t>
            </a:r>
            <a:r>
              <a:rPr lang="en-US"/>
              <a:t> – what each process still requires.</a:t>
            </a:r>
            <a:endParaRPr/>
          </a:p>
          <a:p>
            <a:pPr indent="-278892" lvl="0" marL="342900" rtl="0" algn="l">
              <a:spcBef>
                <a:spcPts val="1000"/>
              </a:spcBef>
              <a:spcAft>
                <a:spcPts val="0"/>
              </a:spcAft>
              <a:buSzPct val="79999"/>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8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Banker’s Algorithm</a:t>
            </a:r>
            <a:endParaRPr/>
          </a:p>
        </p:txBody>
      </p:sp>
      <p:sp>
        <p:nvSpPr>
          <p:cNvPr id="807" name="Google Shape;807;p8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Font typeface="Trebuchet MS"/>
              <a:buAutoNum type="arabicPeriod"/>
            </a:pPr>
            <a:r>
              <a:rPr lang="en-US"/>
              <a:t>When a process requests resources:</a:t>
            </a:r>
            <a:endParaRPr/>
          </a:p>
          <a:p>
            <a:pPr indent="-342900" lvl="0" marL="342900" rtl="0" algn="l">
              <a:spcBef>
                <a:spcPts val="1000"/>
              </a:spcBef>
              <a:spcAft>
                <a:spcPts val="0"/>
              </a:spcAft>
              <a:buSzPct val="79999"/>
              <a:buFont typeface="Trebuchet MS"/>
              <a:buAutoNum type="arabicPeriod"/>
            </a:pPr>
            <a:r>
              <a:rPr lang="en-US"/>
              <a:t>Check if Request[i] &lt;= Need[i]</a:t>
            </a:r>
            <a:endParaRPr/>
          </a:p>
          <a:p>
            <a:pPr indent="-342900" lvl="1" marL="800100" rtl="0" algn="l">
              <a:spcBef>
                <a:spcPts val="1000"/>
              </a:spcBef>
              <a:spcAft>
                <a:spcPts val="0"/>
              </a:spcAft>
              <a:buSzPct val="80000"/>
              <a:buFont typeface="Trebuchet MS"/>
              <a:buAutoNum type="arabicPeriod"/>
            </a:pPr>
            <a:r>
              <a:rPr lang="en-US"/>
              <a:t>If not then error.</a:t>
            </a:r>
            <a:endParaRPr/>
          </a:p>
          <a:p>
            <a:pPr indent="-342900" lvl="0" marL="342900" rtl="0" algn="l">
              <a:spcBef>
                <a:spcPts val="1000"/>
              </a:spcBef>
              <a:spcAft>
                <a:spcPts val="0"/>
              </a:spcAft>
              <a:buSzPct val="79999"/>
              <a:buFont typeface="Trebuchet MS"/>
              <a:buAutoNum type="arabicPeriod"/>
            </a:pPr>
            <a:r>
              <a:rPr lang="en-US"/>
              <a:t>Check if Request[i] &lt;= Available</a:t>
            </a:r>
            <a:endParaRPr/>
          </a:p>
          <a:p>
            <a:pPr indent="-342900" lvl="1" marL="800100" rtl="0" algn="l">
              <a:spcBef>
                <a:spcPts val="1000"/>
              </a:spcBef>
              <a:spcAft>
                <a:spcPts val="0"/>
              </a:spcAft>
              <a:buSzPct val="80000"/>
              <a:buFont typeface="Trebuchet MS"/>
              <a:buAutoNum type="arabicPeriod"/>
            </a:pPr>
            <a:r>
              <a:rPr lang="en-US"/>
              <a:t>If not  then P[i ]must wait.</a:t>
            </a:r>
            <a:endParaRPr/>
          </a:p>
          <a:p>
            <a:pPr indent="-342900" lvl="0" marL="342900" rtl="0" algn="l">
              <a:spcBef>
                <a:spcPts val="1000"/>
              </a:spcBef>
              <a:spcAft>
                <a:spcPts val="0"/>
              </a:spcAft>
              <a:buSzPct val="79999"/>
              <a:buFont typeface="Trebuchet MS"/>
              <a:buAutoNum type="arabicPeriod"/>
            </a:pPr>
            <a:r>
              <a:rPr lang="en-US"/>
              <a:t>Pretend to allocate resources:</a:t>
            </a:r>
            <a:endParaRPr/>
          </a:p>
          <a:p>
            <a:pPr indent="-342900" lvl="0" marL="342900" rtl="0" algn="l">
              <a:spcBef>
                <a:spcPts val="1000"/>
              </a:spcBef>
              <a:spcAft>
                <a:spcPts val="0"/>
              </a:spcAft>
              <a:buSzPct val="79999"/>
              <a:buFont typeface="Trebuchet MS"/>
              <a:buAutoNum type="arabicPeriod"/>
            </a:pPr>
            <a:r>
              <a:rPr lang="en-US"/>
              <a:t>Run the Safety Algorithm:</a:t>
            </a:r>
            <a:endParaRPr/>
          </a:p>
          <a:p>
            <a:pPr indent="-342900" lvl="1" marL="800100" rtl="0" algn="l">
              <a:spcBef>
                <a:spcPts val="1000"/>
              </a:spcBef>
              <a:spcAft>
                <a:spcPts val="0"/>
              </a:spcAft>
              <a:buSzPct val="80000"/>
              <a:buFont typeface="Trebuchet MS"/>
              <a:buAutoNum type="arabicPeriod"/>
            </a:pPr>
            <a:r>
              <a:rPr lang="en-US"/>
              <a:t>Try to find a safe sequence</a:t>
            </a:r>
            <a:endParaRPr/>
          </a:p>
          <a:p>
            <a:pPr indent="-342900" lvl="1" marL="800100" rtl="0" algn="l">
              <a:spcBef>
                <a:spcPts val="1000"/>
              </a:spcBef>
              <a:spcAft>
                <a:spcPts val="0"/>
              </a:spcAft>
              <a:buSzPct val="80000"/>
              <a:buFont typeface="Trebuchet MS"/>
              <a:buAutoNum type="arabicPeriod"/>
            </a:pPr>
            <a:r>
              <a:rPr lang="en-US"/>
              <a:t>Check whether all processes can eventually finish</a:t>
            </a:r>
            <a:endParaRPr/>
          </a:p>
          <a:p>
            <a:pPr indent="-342900" lvl="0" marL="342900" rtl="0" algn="l">
              <a:spcBef>
                <a:spcPts val="1000"/>
              </a:spcBef>
              <a:spcAft>
                <a:spcPts val="0"/>
              </a:spcAft>
              <a:buSzPct val="79999"/>
              <a:buFont typeface="Trebuchet MS"/>
              <a:buAutoNum type="arabicPeriod"/>
            </a:pPr>
            <a:r>
              <a:rPr lang="en-US"/>
              <a:t>If safe sequence exists then Grant the request</a:t>
            </a:r>
            <a:endParaRPr/>
          </a:p>
          <a:p>
            <a:pPr indent="-342900" lvl="0" marL="342900" rtl="0" algn="l">
              <a:spcBef>
                <a:spcPts val="1000"/>
              </a:spcBef>
              <a:spcAft>
                <a:spcPts val="0"/>
              </a:spcAft>
              <a:buSzPct val="79999"/>
              <a:buFont typeface="Trebuchet MS"/>
              <a:buAutoNum type="arabicPeriod"/>
            </a:pPr>
            <a:r>
              <a:rPr lang="en-US"/>
              <a:t>If not safe then Roll back temporary allocation and deny the request</a:t>
            </a:r>
            <a:endParaRPr/>
          </a:p>
          <a:p>
            <a:pPr indent="-258318" lvl="0" marL="342900" rtl="0" algn="l">
              <a:spcBef>
                <a:spcPts val="1000"/>
              </a:spcBef>
              <a:spcAft>
                <a:spcPts val="0"/>
              </a:spcAft>
              <a:buSzPct val="79999"/>
              <a:buFont typeface="Trebuchet MS"/>
              <a:buNone/>
            </a:pPr>
            <a:r>
              <a:t/>
            </a:r>
            <a:endParaRPr/>
          </a:p>
        </p:txBody>
      </p:sp>
      <p:sp>
        <p:nvSpPr>
          <p:cNvPr id="808" name="Google Shape;808;p84"/>
          <p:cNvSpPr/>
          <p:nvPr/>
        </p:nvSpPr>
        <p:spPr>
          <a:xfrm>
            <a:off x="0" y="-184666"/>
            <a:ext cx="264816"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8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Resource Allocation Graph (RAG)</a:t>
            </a:r>
            <a:endParaRPr/>
          </a:p>
        </p:txBody>
      </p:sp>
      <p:sp>
        <p:nvSpPr>
          <p:cNvPr id="814" name="Google Shape;814;p8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latin typeface="Times New Roman"/>
                <a:ea typeface="Times New Roman"/>
                <a:cs typeface="Times New Roman"/>
                <a:sym typeface="Times New Roman"/>
              </a:rPr>
              <a:t>A resource allocation graphs shows which resource is held by which process and which process is waiting for a resource of a specific kind</a:t>
            </a:r>
            <a:endParaRPr>
              <a:latin typeface="Times New Roman"/>
              <a:ea typeface="Times New Roman"/>
              <a:cs typeface="Times New Roman"/>
              <a:sym typeface="Times New Roman"/>
            </a:endParaRPr>
          </a:p>
          <a:p>
            <a:pPr indent="-251459" lvl="0" marL="342900" rtl="0" algn="l">
              <a:spcBef>
                <a:spcPts val="1000"/>
              </a:spcBef>
              <a:spcAft>
                <a:spcPts val="0"/>
              </a:spcAft>
              <a:buSzPts val="1440"/>
              <a:buNone/>
            </a:pPr>
            <a:r>
              <a:t/>
            </a:r>
            <a:endParaRPr/>
          </a:p>
        </p:txBody>
      </p:sp>
      <p:pic>
        <p:nvPicPr>
          <p:cNvPr descr="Vertices" id="815" name="Google Shape;815;p85"/>
          <p:cNvPicPr preferRelativeResize="0"/>
          <p:nvPr/>
        </p:nvPicPr>
        <p:blipFill rotWithShape="1">
          <a:blip r:embed="rId3">
            <a:alphaModFix/>
          </a:blip>
          <a:srcRect b="6587" l="17448" r="2908" t="0"/>
          <a:stretch/>
        </p:blipFill>
        <p:spPr>
          <a:xfrm>
            <a:off x="413558" y="3393477"/>
            <a:ext cx="5008880" cy="2647885"/>
          </a:xfrm>
          <a:prstGeom prst="rect">
            <a:avLst/>
          </a:prstGeom>
          <a:noFill/>
          <a:ln>
            <a:noFill/>
          </a:ln>
        </p:spPr>
      </p:pic>
      <p:pic>
        <p:nvPicPr>
          <p:cNvPr descr="Edge" id="816" name="Google Shape;816;p85"/>
          <p:cNvPicPr preferRelativeResize="0"/>
          <p:nvPr/>
        </p:nvPicPr>
        <p:blipFill rotWithShape="1">
          <a:blip r:embed="rId4">
            <a:alphaModFix/>
          </a:blip>
          <a:srcRect b="7260" l="17084" r="21833" t="7571"/>
          <a:stretch/>
        </p:blipFill>
        <p:spPr>
          <a:xfrm>
            <a:off x="6096000" y="3124204"/>
            <a:ext cx="3983429" cy="312419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8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Single instance</a:t>
            </a:r>
            <a:endParaRPr/>
          </a:p>
        </p:txBody>
      </p:sp>
      <p:pic>
        <p:nvPicPr>
          <p:cNvPr descr="Single Instance Resource" id="823" name="Google Shape;823;p86"/>
          <p:cNvPicPr preferRelativeResize="0"/>
          <p:nvPr/>
        </p:nvPicPr>
        <p:blipFill rotWithShape="1">
          <a:blip r:embed="rId3">
            <a:alphaModFix/>
          </a:blip>
          <a:srcRect b="15158" l="0" r="26583" t="11110"/>
          <a:stretch/>
        </p:blipFill>
        <p:spPr>
          <a:xfrm>
            <a:off x="5576392" y="2436413"/>
            <a:ext cx="6441440" cy="3659587"/>
          </a:xfrm>
          <a:prstGeom prst="rect">
            <a:avLst/>
          </a:prstGeom>
          <a:noFill/>
          <a:ln>
            <a:noFill/>
          </a:ln>
        </p:spPr>
      </p:pic>
      <p:pic>
        <p:nvPicPr>
          <p:cNvPr descr="Single instances RAG" id="824" name="Google Shape;824;p86"/>
          <p:cNvPicPr preferRelativeResize="0"/>
          <p:nvPr/>
        </p:nvPicPr>
        <p:blipFill rotWithShape="1">
          <a:blip r:embed="rId4">
            <a:alphaModFix/>
          </a:blip>
          <a:srcRect b="21440" l="13071" r="23364" t="0"/>
          <a:stretch/>
        </p:blipFill>
        <p:spPr>
          <a:xfrm>
            <a:off x="677334" y="2609714"/>
            <a:ext cx="5014758" cy="3486286"/>
          </a:xfrm>
          <a:prstGeom prst="rect">
            <a:avLst/>
          </a:prstGeom>
          <a:noFill/>
          <a:ln>
            <a:noFill/>
          </a:ln>
        </p:spPr>
      </p:pic>
      <p:sp>
        <p:nvSpPr>
          <p:cNvPr id="825" name="Google Shape;825;p8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Which one is in deadlock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8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Multi instance RAG</a:t>
            </a:r>
            <a:endParaRPr/>
          </a:p>
        </p:txBody>
      </p:sp>
      <p:sp>
        <p:nvSpPr>
          <p:cNvPr id="831" name="Google Shape;831;p8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Which one is Results in deadlock ?</a:t>
            </a:r>
            <a:endParaRPr/>
          </a:p>
          <a:p>
            <a:pPr indent="-342900" lvl="0" marL="342900" rtl="0" algn="l">
              <a:spcBef>
                <a:spcPts val="1000"/>
              </a:spcBef>
              <a:spcAft>
                <a:spcPts val="0"/>
              </a:spcAft>
              <a:buSzPts val="1440"/>
              <a:buChar char="►"/>
            </a:pPr>
            <a:r>
              <a:rPr lang="en-US"/>
              <a:t>Find the sequence that don’t result in deadlock</a:t>
            </a:r>
            <a:endParaRPr/>
          </a:p>
        </p:txBody>
      </p:sp>
      <p:pic>
        <p:nvPicPr>
          <p:cNvPr descr="Multi-instances RAG" id="832" name="Google Shape;832;p87"/>
          <p:cNvPicPr preferRelativeResize="0"/>
          <p:nvPr/>
        </p:nvPicPr>
        <p:blipFill rotWithShape="1">
          <a:blip r:embed="rId3">
            <a:alphaModFix/>
          </a:blip>
          <a:srcRect b="19896" l="7000" r="10417" t="4889"/>
          <a:stretch/>
        </p:blipFill>
        <p:spPr>
          <a:xfrm>
            <a:off x="524937" y="3919485"/>
            <a:ext cx="5242560" cy="2698402"/>
          </a:xfrm>
          <a:prstGeom prst="rect">
            <a:avLst/>
          </a:prstGeom>
          <a:noFill/>
          <a:ln cap="flat" cmpd="sng" w="9525">
            <a:solidFill>
              <a:srgbClr val="FF0000"/>
            </a:solidFill>
            <a:prstDash val="solid"/>
            <a:round/>
            <a:headEnd len="sm" w="sm" type="none"/>
            <a:tailEnd len="sm" w="sm" type="none"/>
          </a:ln>
        </p:spPr>
      </p:pic>
      <p:pic>
        <p:nvPicPr>
          <p:cNvPr descr="Multi Instances with Deadlock" id="833" name="Google Shape;833;p87"/>
          <p:cNvPicPr preferRelativeResize="0"/>
          <p:nvPr/>
        </p:nvPicPr>
        <p:blipFill rotWithShape="1">
          <a:blip r:embed="rId4">
            <a:alphaModFix/>
          </a:blip>
          <a:srcRect b="20736" l="7750" r="4082" t="1"/>
          <a:stretch/>
        </p:blipFill>
        <p:spPr>
          <a:xfrm>
            <a:off x="6272108" y="3919485"/>
            <a:ext cx="5483012" cy="2698403"/>
          </a:xfrm>
          <a:prstGeom prst="rect">
            <a:avLst/>
          </a:prstGeom>
          <a:noFill/>
          <a:ln cap="flat" cmpd="sng" w="28575">
            <a:solidFill>
              <a:schemeClr val="accent1"/>
            </a:solidFill>
            <a:prstDash val="solid"/>
            <a:round/>
            <a:headEnd len="sm" w="sm" type="none"/>
            <a:tailEnd len="sm" w="sm" type="none"/>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8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Deadlock Detection and Recovery</a:t>
            </a:r>
            <a:endParaRPr/>
          </a:p>
        </p:txBody>
      </p:sp>
      <p:sp>
        <p:nvSpPr>
          <p:cNvPr id="840" name="Google Shape;840;p88"/>
          <p:cNvSpPr txBox="1"/>
          <p:nvPr>
            <p:ph idx="1" type="body"/>
          </p:nvPr>
        </p:nvSpPr>
        <p:spPr>
          <a:xfrm>
            <a:off x="10213219" y="5339221"/>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grpSp>
        <p:nvGrpSpPr>
          <p:cNvPr id="841" name="Google Shape;841;p88"/>
          <p:cNvGrpSpPr/>
          <p:nvPr/>
        </p:nvGrpSpPr>
        <p:grpSpPr>
          <a:xfrm>
            <a:off x="2721429" y="1683658"/>
            <a:ext cx="6262650" cy="4755242"/>
            <a:chOff x="2932517" y="1966686"/>
            <a:chExt cx="6262650" cy="4755242"/>
          </a:xfrm>
        </p:grpSpPr>
        <p:sp>
          <p:nvSpPr>
            <p:cNvPr id="842" name="Google Shape;842;p88"/>
            <p:cNvSpPr/>
            <p:nvPr/>
          </p:nvSpPr>
          <p:spPr>
            <a:xfrm>
              <a:off x="4211993" y="4114800"/>
              <a:ext cx="1527349" cy="1393371"/>
            </a:xfrm>
            <a:prstGeom prst="diamond">
              <a:avLst/>
            </a:prstGeom>
            <a:solidFill>
              <a:schemeClr val="accent1"/>
            </a:solidFill>
            <a:ln cap="rnd" cmpd="sng" w="19050">
              <a:solidFill>
                <a:srgbClr val="202B5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rebuchet MS"/>
                  <a:ea typeface="Trebuchet MS"/>
                  <a:cs typeface="Trebuchet MS"/>
                  <a:sym typeface="Trebuchet MS"/>
                </a:rPr>
                <a:t>is</a:t>
              </a:r>
              <a:endParaRPr/>
            </a:p>
            <a:p>
              <a:pPr indent="0" lvl="0" marL="0" marR="0" rtl="0" algn="ctr">
                <a:spcBef>
                  <a:spcPts val="0"/>
                </a:spcBef>
                <a:spcAft>
                  <a:spcPts val="0"/>
                </a:spcAft>
                <a:buNone/>
              </a:pPr>
              <a:r>
                <a:rPr b="1" lang="en-US" sz="1800">
                  <a:solidFill>
                    <a:schemeClr val="lt1"/>
                  </a:solidFill>
                  <a:latin typeface="Trebuchet MS"/>
                  <a:ea typeface="Trebuchet MS"/>
                  <a:cs typeface="Trebuchet MS"/>
                  <a:sym typeface="Trebuchet MS"/>
                </a:rPr>
                <a:t>Deadlock</a:t>
              </a:r>
              <a:endParaRPr/>
            </a:p>
            <a:p>
              <a:pPr indent="0" lvl="0" marL="0" marR="0" rtl="0" algn="ctr">
                <a:spcBef>
                  <a:spcPts val="0"/>
                </a:spcBef>
                <a:spcAft>
                  <a:spcPts val="0"/>
                </a:spcAft>
                <a:buNone/>
              </a:pPr>
              <a:r>
                <a:rPr lang="en-US" sz="1800">
                  <a:solidFill>
                    <a:schemeClr val="lt1"/>
                  </a:solidFill>
                  <a:latin typeface="Trebuchet MS"/>
                  <a:ea typeface="Trebuchet MS"/>
                  <a:cs typeface="Trebuchet MS"/>
                  <a:sym typeface="Trebuchet MS"/>
                </a:rPr>
                <a:t>?</a:t>
              </a:r>
              <a:endParaRPr/>
            </a:p>
          </p:txBody>
        </p:sp>
        <p:sp>
          <p:nvSpPr>
            <p:cNvPr id="843" name="Google Shape;843;p88"/>
            <p:cNvSpPr/>
            <p:nvPr/>
          </p:nvSpPr>
          <p:spPr>
            <a:xfrm>
              <a:off x="6757394" y="4457699"/>
              <a:ext cx="2437773" cy="707571"/>
            </a:xfrm>
            <a:prstGeom prst="roundRect">
              <a:avLst>
                <a:gd fmla="val 16667" name="adj"/>
              </a:avLst>
            </a:prstGeom>
            <a:solidFill>
              <a:schemeClr val="accent1"/>
            </a:solidFill>
            <a:ln cap="rnd" cmpd="sng" w="19050">
              <a:solidFill>
                <a:srgbClr val="202B5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rebuchet MS"/>
                  <a:ea typeface="Trebuchet MS"/>
                  <a:cs typeface="Trebuchet MS"/>
                  <a:sym typeface="Trebuchet MS"/>
                </a:rPr>
                <a:t>Recover Somehow</a:t>
              </a:r>
              <a:endParaRPr/>
            </a:p>
          </p:txBody>
        </p:sp>
        <p:sp>
          <p:nvSpPr>
            <p:cNvPr id="844" name="Google Shape;844;p88"/>
            <p:cNvSpPr/>
            <p:nvPr/>
          </p:nvSpPr>
          <p:spPr>
            <a:xfrm>
              <a:off x="3756780" y="6014357"/>
              <a:ext cx="2437773" cy="707571"/>
            </a:xfrm>
            <a:prstGeom prst="roundRect">
              <a:avLst>
                <a:gd fmla="val 16667" name="adj"/>
              </a:avLst>
            </a:prstGeom>
            <a:solidFill>
              <a:schemeClr val="accent1"/>
            </a:solidFill>
            <a:ln cap="rnd" cmpd="sng" w="19050">
              <a:solidFill>
                <a:srgbClr val="202B5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rebuchet MS"/>
                  <a:ea typeface="Trebuchet MS"/>
                  <a:cs typeface="Trebuchet MS"/>
                  <a:sym typeface="Trebuchet MS"/>
                </a:rPr>
                <a:t>Got safe sequence </a:t>
              </a:r>
              <a:endParaRPr/>
            </a:p>
          </p:txBody>
        </p:sp>
        <p:sp>
          <p:nvSpPr>
            <p:cNvPr id="845" name="Google Shape;845;p88"/>
            <p:cNvSpPr/>
            <p:nvPr/>
          </p:nvSpPr>
          <p:spPr>
            <a:xfrm>
              <a:off x="2932517" y="1966686"/>
              <a:ext cx="4093028" cy="1130300"/>
            </a:xfrm>
            <a:prstGeom prst="roundRect">
              <a:avLst>
                <a:gd fmla="val 16667" name="adj"/>
              </a:avLst>
            </a:prstGeom>
            <a:solidFill>
              <a:schemeClr val="accent1"/>
            </a:solidFill>
            <a:ln cap="rnd" cmpd="sng" w="19050">
              <a:solidFill>
                <a:srgbClr val="202B5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rebuchet MS"/>
                  <a:ea typeface="Trebuchet MS"/>
                  <a:cs typeface="Trebuchet MS"/>
                  <a:sym typeface="Trebuchet MS"/>
                </a:rPr>
                <a:t>Reallocate requested resources when they are released</a:t>
              </a:r>
              <a:endParaRPr/>
            </a:p>
          </p:txBody>
        </p:sp>
        <p:cxnSp>
          <p:nvCxnSpPr>
            <p:cNvPr id="846" name="Google Shape;846;p88"/>
            <p:cNvCxnSpPr>
              <a:stCxn id="842" idx="3"/>
              <a:endCxn id="843" idx="1"/>
            </p:cNvCxnSpPr>
            <p:nvPr/>
          </p:nvCxnSpPr>
          <p:spPr>
            <a:xfrm>
              <a:off x="5739342" y="4811486"/>
              <a:ext cx="1018200" cy="600"/>
            </a:xfrm>
            <a:prstGeom prst="bentConnector3">
              <a:avLst>
                <a:gd fmla="val 50000" name="adj1"/>
              </a:avLst>
            </a:prstGeom>
            <a:noFill/>
            <a:ln cap="rnd" cmpd="sng" w="25400">
              <a:solidFill>
                <a:schemeClr val="accent6"/>
              </a:solidFill>
              <a:prstDash val="solid"/>
              <a:round/>
              <a:headEnd len="sm" w="sm" type="none"/>
              <a:tailEnd len="med" w="med" type="stealth"/>
            </a:ln>
            <a:effectLst>
              <a:outerShdw blurRad="38100" rotWithShape="0" dir="5400000" dist="25400">
                <a:srgbClr val="000000">
                  <a:alpha val="34901"/>
                </a:srgbClr>
              </a:outerShdw>
            </a:effectLst>
          </p:spPr>
        </p:cxnSp>
        <p:cxnSp>
          <p:nvCxnSpPr>
            <p:cNvPr id="847" name="Google Shape;847;p88"/>
            <p:cNvCxnSpPr>
              <a:stCxn id="845" idx="2"/>
              <a:endCxn id="842" idx="0"/>
            </p:cNvCxnSpPr>
            <p:nvPr/>
          </p:nvCxnSpPr>
          <p:spPr>
            <a:xfrm rot="5400000">
              <a:off x="4468431" y="3604286"/>
              <a:ext cx="1017900" cy="3300"/>
            </a:xfrm>
            <a:prstGeom prst="bentConnector3">
              <a:avLst>
                <a:gd fmla="val 50000" name="adj1"/>
              </a:avLst>
            </a:prstGeom>
            <a:noFill/>
            <a:ln cap="flat" cmpd="sng" w="9525">
              <a:solidFill>
                <a:schemeClr val="accent6"/>
              </a:solidFill>
              <a:prstDash val="solid"/>
              <a:round/>
              <a:headEnd len="sm" w="sm" type="none"/>
              <a:tailEnd len="med" w="med" type="stealth"/>
            </a:ln>
          </p:spPr>
        </p:cxnSp>
        <p:cxnSp>
          <p:nvCxnSpPr>
            <p:cNvPr id="848" name="Google Shape;848;p88"/>
            <p:cNvCxnSpPr>
              <a:stCxn id="842" idx="2"/>
              <a:endCxn id="844" idx="0"/>
            </p:cNvCxnSpPr>
            <p:nvPr/>
          </p:nvCxnSpPr>
          <p:spPr>
            <a:xfrm flipH="1" rot="-5400000">
              <a:off x="4722918" y="5760921"/>
              <a:ext cx="506100" cy="600"/>
            </a:xfrm>
            <a:prstGeom prst="bentConnector3">
              <a:avLst>
                <a:gd fmla="val 50000" name="adj1"/>
              </a:avLst>
            </a:prstGeom>
            <a:noFill/>
            <a:ln cap="flat" cmpd="sng" w="9525">
              <a:solidFill>
                <a:schemeClr val="accent6"/>
              </a:solidFill>
              <a:prstDash val="solid"/>
              <a:round/>
              <a:headEnd len="sm" w="sm" type="none"/>
              <a:tailEnd len="med" w="med" type="stealth"/>
            </a:ln>
          </p:spPr>
        </p:cxnSp>
        <p:cxnSp>
          <p:nvCxnSpPr>
            <p:cNvPr id="849" name="Google Shape;849;p88"/>
            <p:cNvCxnSpPr>
              <a:stCxn id="843" idx="0"/>
              <a:endCxn id="845" idx="3"/>
            </p:cNvCxnSpPr>
            <p:nvPr/>
          </p:nvCxnSpPr>
          <p:spPr>
            <a:xfrm flipH="1" rot="5400000">
              <a:off x="6537930" y="3019349"/>
              <a:ext cx="1926000" cy="950700"/>
            </a:xfrm>
            <a:prstGeom prst="bentConnector2">
              <a:avLst/>
            </a:prstGeom>
            <a:noFill/>
            <a:ln cap="flat" cmpd="sng" w="9525">
              <a:solidFill>
                <a:schemeClr val="accent6"/>
              </a:solidFill>
              <a:prstDash val="solid"/>
              <a:round/>
              <a:headEnd len="sm" w="sm" type="none"/>
              <a:tailEnd len="med" w="med" type="stealth"/>
            </a:ln>
          </p:spPr>
        </p:cxnSp>
        <p:sp>
          <p:nvSpPr>
            <p:cNvPr id="850" name="Google Shape;850;p88"/>
            <p:cNvSpPr txBox="1"/>
            <p:nvPr/>
          </p:nvSpPr>
          <p:spPr>
            <a:xfrm>
              <a:off x="5941173" y="4457699"/>
              <a:ext cx="5114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Yes</a:t>
              </a:r>
              <a:endParaRPr/>
            </a:p>
          </p:txBody>
        </p:sp>
        <p:sp>
          <p:nvSpPr>
            <p:cNvPr id="851" name="Google Shape;851;p88"/>
            <p:cNvSpPr txBox="1"/>
            <p:nvPr/>
          </p:nvSpPr>
          <p:spPr>
            <a:xfrm>
              <a:off x="4309354" y="5534993"/>
              <a:ext cx="4555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No</a:t>
              </a:r>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8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Deadlock Detection and Recovery</a:t>
            </a:r>
            <a:endParaRPr/>
          </a:p>
        </p:txBody>
      </p:sp>
      <p:sp>
        <p:nvSpPr>
          <p:cNvPr id="858" name="Google Shape;858;p89"/>
          <p:cNvSpPr txBox="1"/>
          <p:nvPr>
            <p:ph idx="1" type="body"/>
          </p:nvPr>
        </p:nvSpPr>
        <p:spPr>
          <a:xfrm>
            <a:off x="677334" y="1964650"/>
            <a:ext cx="8596668" cy="450146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solidFill>
                  <a:schemeClr val="dk1"/>
                </a:solidFill>
              </a:rPr>
              <a:t>The operating system periodically checks the system's state to see if a deadlock has occurred. </a:t>
            </a:r>
            <a:endParaRPr/>
          </a:p>
          <a:p>
            <a:pPr indent="-342900" lvl="0" marL="342900" rtl="0" algn="l">
              <a:spcBef>
                <a:spcPts val="1000"/>
              </a:spcBef>
              <a:spcAft>
                <a:spcPts val="0"/>
              </a:spcAft>
              <a:buSzPts val="1440"/>
              <a:buChar char="►"/>
            </a:pPr>
            <a:r>
              <a:rPr lang="en-US">
                <a:solidFill>
                  <a:schemeClr val="dk1"/>
                </a:solidFill>
              </a:rPr>
              <a:t>Resource Allocation Graph (RAG)</a:t>
            </a:r>
            <a:endParaRPr/>
          </a:p>
          <a:p>
            <a:pPr indent="-285750" lvl="1" marL="742950" rtl="0" algn="l">
              <a:spcBef>
                <a:spcPts val="1000"/>
              </a:spcBef>
              <a:spcAft>
                <a:spcPts val="0"/>
              </a:spcAft>
              <a:buSzPts val="1280"/>
              <a:buChar char="►"/>
            </a:pPr>
            <a:r>
              <a:rPr lang="en-US">
                <a:solidFill>
                  <a:schemeClr val="dk1"/>
                </a:solidFill>
              </a:rPr>
              <a:t>A deadlock is identified if a cycle exists in the resource allocation graph.</a:t>
            </a:r>
            <a:endParaRPr/>
          </a:p>
          <a:p>
            <a:pPr indent="-342900" lvl="0" marL="342900" rtl="0" algn="l">
              <a:spcBef>
                <a:spcPts val="1000"/>
              </a:spcBef>
              <a:spcAft>
                <a:spcPts val="0"/>
              </a:spcAft>
              <a:buSzPts val="1440"/>
              <a:buChar char="►"/>
            </a:pPr>
            <a:r>
              <a:rPr lang="en-US">
                <a:solidFill>
                  <a:schemeClr val="dk1"/>
                </a:solidFill>
              </a:rPr>
              <a:t>Matrix-based algorithms:</a:t>
            </a:r>
            <a:endParaRPr/>
          </a:p>
          <a:p>
            <a:pPr indent="-285750" lvl="1" marL="742950" rtl="0" algn="l">
              <a:spcBef>
                <a:spcPts val="1000"/>
              </a:spcBef>
              <a:spcAft>
                <a:spcPts val="0"/>
              </a:spcAft>
              <a:buSzPts val="1280"/>
              <a:buChar char="►"/>
            </a:pPr>
            <a:r>
              <a:rPr lang="en-US">
                <a:solidFill>
                  <a:schemeClr val="dk1"/>
                </a:solidFill>
              </a:rPr>
              <a:t>with multiple instances of resource types, algorithms using matrices and vectors (like Work and Finish) are used to detect deadlocks.</a:t>
            </a:r>
            <a:endParaRPr/>
          </a:p>
          <a:p>
            <a:pPr indent="0" lvl="0" marL="0" rtl="0" algn="l">
              <a:spcBef>
                <a:spcPts val="1000"/>
              </a:spcBef>
              <a:spcAft>
                <a:spcPts val="0"/>
              </a:spcAft>
              <a:buSzPts val="1440"/>
              <a:buNone/>
            </a:pPr>
            <a:r>
              <a:rPr b="1" lang="en-US" u="sng">
                <a:solidFill>
                  <a:schemeClr val="dk1"/>
                </a:solidFill>
              </a:rPr>
              <a:t>Deadlock recovery</a:t>
            </a:r>
            <a:endParaRPr/>
          </a:p>
          <a:p>
            <a:pPr indent="-342900" lvl="0" marL="342900" rtl="0" algn="l">
              <a:spcBef>
                <a:spcPts val="1000"/>
              </a:spcBef>
              <a:spcAft>
                <a:spcPts val="0"/>
              </a:spcAft>
              <a:buSzPts val="1440"/>
              <a:buChar char="►"/>
            </a:pPr>
            <a:r>
              <a:rPr lang="en-US"/>
              <a:t>Process termination</a:t>
            </a:r>
            <a:endParaRPr/>
          </a:p>
          <a:p>
            <a:pPr indent="-342900" lvl="0" marL="342900" rtl="0" algn="l">
              <a:spcBef>
                <a:spcPts val="1000"/>
              </a:spcBef>
              <a:spcAft>
                <a:spcPts val="0"/>
              </a:spcAft>
              <a:buSzPts val="1440"/>
              <a:buChar char="►"/>
            </a:pPr>
            <a:r>
              <a:rPr lang="en-US"/>
              <a:t>Resource preemption:</a:t>
            </a:r>
            <a:endParaRPr/>
          </a:p>
          <a:p>
            <a:pPr indent="-342900" lvl="0" marL="342900" rtl="0" algn="l">
              <a:spcBef>
                <a:spcPts val="1000"/>
              </a:spcBef>
              <a:spcAft>
                <a:spcPts val="0"/>
              </a:spcAft>
              <a:buSzPts val="1440"/>
              <a:buChar char="►"/>
            </a:pPr>
            <a:r>
              <a:rPr lang="en-US"/>
              <a:t>Process rollback:</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9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Protection</a:t>
            </a:r>
            <a:endParaRPr/>
          </a:p>
        </p:txBody>
      </p:sp>
      <p:sp>
        <p:nvSpPr>
          <p:cNvPr id="865" name="Google Shape;865;p90"/>
          <p:cNvSpPr txBox="1"/>
          <p:nvPr>
            <p:ph idx="1" type="body"/>
          </p:nvPr>
        </p:nvSpPr>
        <p:spPr>
          <a:xfrm>
            <a:off x="677334" y="2160589"/>
            <a:ext cx="8992446" cy="388077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80000"/>
              <a:buNone/>
            </a:pPr>
            <a:r>
              <a:rPr b="1" lang="en-US" sz="1900"/>
              <a:t>System protection refers to the mechanisms used by an operating system to prevent unauthorized or improper use of system resources.</a:t>
            </a:r>
            <a:endParaRPr/>
          </a:p>
          <a:p>
            <a:pPr indent="-342900" lvl="0" marL="342900" rtl="0" algn="l">
              <a:spcBef>
                <a:spcPts val="1000"/>
              </a:spcBef>
              <a:spcAft>
                <a:spcPts val="0"/>
              </a:spcAft>
              <a:buSzPct val="80000"/>
              <a:buChar char="►"/>
            </a:pPr>
            <a:r>
              <a:rPr b="1" lang="en-US" sz="1900"/>
              <a:t>It ensures that processes do not interfere with each other or with the OS itself.</a:t>
            </a:r>
            <a:endParaRPr/>
          </a:p>
          <a:p>
            <a:pPr indent="-342900" lvl="0" marL="342900" rtl="0" algn="l">
              <a:spcBef>
                <a:spcPts val="1000"/>
              </a:spcBef>
              <a:spcAft>
                <a:spcPts val="0"/>
              </a:spcAft>
              <a:buSzPct val="79999"/>
              <a:buChar char="►"/>
            </a:pPr>
            <a:r>
              <a:rPr b="1" lang="en-US"/>
              <a:t>Protection is required for:</a:t>
            </a:r>
            <a:endParaRPr/>
          </a:p>
          <a:p>
            <a:pPr indent="-285750" lvl="1" marL="742950" rtl="0" algn="l">
              <a:spcBef>
                <a:spcPts val="1000"/>
              </a:spcBef>
              <a:spcAft>
                <a:spcPts val="0"/>
              </a:spcAft>
              <a:buSzPct val="80000"/>
              <a:buChar char="►"/>
            </a:pPr>
            <a:r>
              <a:rPr lang="en-US"/>
              <a:t>Files</a:t>
            </a:r>
            <a:endParaRPr/>
          </a:p>
          <a:p>
            <a:pPr indent="-285750" lvl="1" marL="742950" rtl="0" algn="l">
              <a:spcBef>
                <a:spcPts val="1000"/>
              </a:spcBef>
              <a:spcAft>
                <a:spcPts val="0"/>
              </a:spcAft>
              <a:buSzPct val="80000"/>
              <a:buChar char="►"/>
            </a:pPr>
            <a:r>
              <a:rPr lang="en-US"/>
              <a:t>Memory</a:t>
            </a:r>
            <a:endParaRPr/>
          </a:p>
          <a:p>
            <a:pPr indent="-285750" lvl="1" marL="742950" rtl="0" algn="l">
              <a:spcBef>
                <a:spcPts val="1000"/>
              </a:spcBef>
              <a:spcAft>
                <a:spcPts val="0"/>
              </a:spcAft>
              <a:buSzPct val="80000"/>
              <a:buChar char="►"/>
            </a:pPr>
            <a:r>
              <a:rPr lang="en-US"/>
              <a:t>CPU time</a:t>
            </a:r>
            <a:endParaRPr/>
          </a:p>
          <a:p>
            <a:pPr indent="-285750" lvl="1" marL="742950" rtl="0" algn="l">
              <a:spcBef>
                <a:spcPts val="1000"/>
              </a:spcBef>
              <a:spcAft>
                <a:spcPts val="0"/>
              </a:spcAft>
              <a:buSzPct val="80000"/>
              <a:buChar char="►"/>
            </a:pPr>
            <a:r>
              <a:rPr lang="en-US"/>
              <a:t>I/O devices</a:t>
            </a:r>
            <a:endParaRPr/>
          </a:p>
          <a:p>
            <a:pPr indent="-285750" lvl="1" marL="742950" rtl="0" algn="l">
              <a:spcBef>
                <a:spcPts val="1000"/>
              </a:spcBef>
              <a:spcAft>
                <a:spcPts val="0"/>
              </a:spcAft>
              <a:buSzPct val="80000"/>
              <a:buChar char="►"/>
            </a:pPr>
            <a:r>
              <a:rPr lang="en-US"/>
              <a:t>System data/OS kernel</a:t>
            </a:r>
            <a:endParaRPr/>
          </a:p>
          <a:p>
            <a:pPr indent="-342900" lvl="0" marL="342900" rtl="0" algn="l">
              <a:spcBef>
                <a:spcPts val="1000"/>
              </a:spcBef>
              <a:spcAft>
                <a:spcPts val="0"/>
              </a:spcAft>
              <a:buSzPct val="79999"/>
              <a:buChar char="►"/>
            </a:pPr>
            <a:r>
              <a:rPr b="1" lang="en-US"/>
              <a:t>It prevents:</a:t>
            </a:r>
            <a:endParaRPr/>
          </a:p>
          <a:p>
            <a:pPr indent="-285750" lvl="1" marL="742950" rtl="0" algn="l">
              <a:spcBef>
                <a:spcPts val="1000"/>
              </a:spcBef>
              <a:spcAft>
                <a:spcPts val="0"/>
              </a:spcAft>
              <a:buSzPct val="80000"/>
              <a:buChar char="►"/>
            </a:pPr>
            <a:r>
              <a:rPr lang="en-US"/>
              <a:t>Accidental errors</a:t>
            </a:r>
            <a:endParaRPr/>
          </a:p>
          <a:p>
            <a:pPr indent="-285750" lvl="1" marL="742950" rtl="0" algn="l">
              <a:spcBef>
                <a:spcPts val="1000"/>
              </a:spcBef>
              <a:spcAft>
                <a:spcPts val="0"/>
              </a:spcAft>
              <a:buSzPct val="80000"/>
              <a:buChar char="►"/>
            </a:pPr>
            <a:r>
              <a:rPr lang="en-US"/>
              <a:t>Malicious attacks</a:t>
            </a:r>
            <a:endParaRPr/>
          </a:p>
          <a:p>
            <a:pPr indent="-285750" lvl="1" marL="742950" rtl="0" algn="l">
              <a:spcBef>
                <a:spcPts val="1000"/>
              </a:spcBef>
              <a:spcAft>
                <a:spcPts val="0"/>
              </a:spcAft>
              <a:buSzPct val="80000"/>
              <a:buChar char="►"/>
            </a:pPr>
            <a:r>
              <a:rPr lang="en-US"/>
              <a:t>Resource misuse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9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Goals of Protection</a:t>
            </a:r>
            <a:endParaRPr/>
          </a:p>
        </p:txBody>
      </p:sp>
      <p:sp>
        <p:nvSpPr>
          <p:cNvPr id="872" name="Google Shape;872;p9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u="sng"/>
              <a:t>The main goals are</a:t>
            </a:r>
            <a:r>
              <a:rPr lang="en-US"/>
              <a:t>:</a:t>
            </a:r>
            <a:endParaRPr/>
          </a:p>
          <a:p>
            <a:pPr indent="-342900" lvl="0" marL="342900" rtl="0" algn="l">
              <a:spcBef>
                <a:spcPts val="1000"/>
              </a:spcBef>
              <a:spcAft>
                <a:spcPts val="0"/>
              </a:spcAft>
              <a:buSzPts val="1440"/>
              <a:buChar char="►"/>
            </a:pPr>
            <a:r>
              <a:rPr b="1" lang="en-US"/>
              <a:t>Confidentiality</a:t>
            </a:r>
            <a:r>
              <a:rPr lang="en-US"/>
              <a:t>: Only authorized users/processes should access the information.</a:t>
            </a:r>
            <a:endParaRPr/>
          </a:p>
          <a:p>
            <a:pPr indent="-342900" lvl="0" marL="342900" rtl="0" algn="l">
              <a:spcBef>
                <a:spcPts val="1000"/>
              </a:spcBef>
              <a:spcAft>
                <a:spcPts val="0"/>
              </a:spcAft>
              <a:buSzPts val="1440"/>
              <a:buChar char="►"/>
            </a:pPr>
            <a:r>
              <a:rPr b="1" lang="en-US"/>
              <a:t>Integrity</a:t>
            </a:r>
            <a:r>
              <a:rPr lang="en-US"/>
              <a:t>: Data should not be modified by unauthorized users.</a:t>
            </a:r>
            <a:endParaRPr/>
          </a:p>
          <a:p>
            <a:pPr indent="-342900" lvl="0" marL="342900" rtl="0" algn="l">
              <a:spcBef>
                <a:spcPts val="1000"/>
              </a:spcBef>
              <a:spcAft>
                <a:spcPts val="0"/>
              </a:spcAft>
              <a:buSzPts val="1440"/>
              <a:buChar char="►"/>
            </a:pPr>
            <a:r>
              <a:rPr b="1" lang="en-US"/>
              <a:t>Availability</a:t>
            </a:r>
            <a:r>
              <a:rPr lang="en-US"/>
              <a:t>: Authorized users must get access to resources whenever required.</a:t>
            </a:r>
            <a:endParaRPr/>
          </a:p>
          <a:p>
            <a:pPr indent="-342900" lvl="0" marL="342900" rtl="0" algn="l">
              <a:spcBef>
                <a:spcPts val="1000"/>
              </a:spcBef>
              <a:spcAft>
                <a:spcPts val="0"/>
              </a:spcAft>
              <a:buSzPts val="1440"/>
              <a:buChar char="►"/>
            </a:pPr>
            <a:r>
              <a:rPr b="1" lang="en-US"/>
              <a:t>Safety</a:t>
            </a:r>
            <a:r>
              <a:rPr lang="en-US"/>
              <a:t>: System should protect resources from harmful operations.</a:t>
            </a:r>
            <a:endParaRPr/>
          </a:p>
          <a:p>
            <a:pPr indent="-342900" lvl="0" marL="342900" rtl="0" algn="l">
              <a:spcBef>
                <a:spcPts val="1000"/>
              </a:spcBef>
              <a:spcAft>
                <a:spcPts val="0"/>
              </a:spcAft>
              <a:buSzPts val="1440"/>
              <a:buChar char="►"/>
            </a:pPr>
            <a:r>
              <a:rPr b="1" lang="en-US"/>
              <a:t>Controlled Sharing</a:t>
            </a:r>
            <a:r>
              <a:rPr lang="en-US"/>
              <a:t>: Allow only safe, defined sharing between users and processes.</a:t>
            </a:r>
            <a:endParaRPr/>
          </a:p>
          <a:p>
            <a:pPr indent="-342900" lvl="0" marL="342900" rtl="0" algn="l">
              <a:spcBef>
                <a:spcPts val="1000"/>
              </a:spcBef>
              <a:spcAft>
                <a:spcPts val="0"/>
              </a:spcAft>
              <a:buSzPts val="1440"/>
              <a:buChar char="►"/>
            </a:pPr>
            <a:r>
              <a:rPr b="1" lang="en-US"/>
              <a:t>Reliability</a:t>
            </a:r>
            <a:r>
              <a:rPr lang="en-US"/>
              <a:t> – Keep system stable and predictable.</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9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Principles of Protection</a:t>
            </a:r>
            <a:endParaRPr/>
          </a:p>
        </p:txBody>
      </p:sp>
      <p:sp>
        <p:nvSpPr>
          <p:cNvPr id="879" name="Google Shape;879;p92"/>
          <p:cNvSpPr txBox="1"/>
          <p:nvPr>
            <p:ph idx="1" type="body"/>
          </p:nvPr>
        </p:nvSpPr>
        <p:spPr>
          <a:xfrm>
            <a:off x="677334" y="1623060"/>
            <a:ext cx="9678246" cy="5029199"/>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SzPts val="1440"/>
              <a:buNone/>
            </a:pPr>
            <a:r>
              <a:rPr lang="en-US"/>
              <a:t>Protection principles are guidelines used to design a secure operating system. They ensure that the system is safe, secure, and resistant to misuse or attack.</a:t>
            </a:r>
            <a:endParaRPr/>
          </a:p>
          <a:p>
            <a:pPr indent="-349758" lvl="0" marL="342900" rtl="0" algn="l">
              <a:spcBef>
                <a:spcPts val="1000"/>
              </a:spcBef>
              <a:spcAft>
                <a:spcPts val="0"/>
              </a:spcAft>
              <a:buSzPts val="1440"/>
              <a:buFont typeface="Trebuchet MS"/>
              <a:buAutoNum type="arabicPeriod"/>
            </a:pPr>
            <a:r>
              <a:rPr lang="en-US"/>
              <a:t>Least Privilege</a:t>
            </a:r>
            <a:endParaRPr/>
          </a:p>
          <a:p>
            <a:pPr indent="0" lvl="1" marL="457200" rtl="0" algn="l">
              <a:spcBef>
                <a:spcPts val="1000"/>
              </a:spcBef>
              <a:spcAft>
                <a:spcPts val="0"/>
              </a:spcAft>
              <a:buSzPts val="1280"/>
              <a:buNone/>
            </a:pPr>
            <a:r>
              <a:rPr lang="en-US"/>
              <a:t>Every process/user should be given only the minimum privileges needed</a:t>
            </a:r>
            <a:endParaRPr/>
          </a:p>
          <a:p>
            <a:pPr indent="-349758" lvl="0" marL="342900" rtl="0" algn="l">
              <a:spcBef>
                <a:spcPts val="1000"/>
              </a:spcBef>
              <a:spcAft>
                <a:spcPts val="0"/>
              </a:spcAft>
              <a:buSzPts val="1440"/>
              <a:buFont typeface="Trebuchet MS"/>
              <a:buAutoNum type="arabicPeriod"/>
            </a:pPr>
            <a:r>
              <a:rPr lang="en-US"/>
              <a:t>Need-to-Know Principle</a:t>
            </a:r>
            <a:endParaRPr/>
          </a:p>
          <a:p>
            <a:pPr indent="0" lvl="1" marL="457200" rtl="0" algn="l">
              <a:spcBef>
                <a:spcPts val="1000"/>
              </a:spcBef>
              <a:spcAft>
                <a:spcPts val="0"/>
              </a:spcAft>
              <a:buSzPts val="1280"/>
              <a:buNone/>
            </a:pPr>
            <a:r>
              <a:rPr lang="en-US"/>
              <a:t>Access is granted only when it is required for a specific task.</a:t>
            </a:r>
            <a:endParaRPr/>
          </a:p>
          <a:p>
            <a:pPr indent="-349758" lvl="0" marL="342900" rtl="0" algn="l">
              <a:spcBef>
                <a:spcPts val="1000"/>
              </a:spcBef>
              <a:spcAft>
                <a:spcPts val="0"/>
              </a:spcAft>
              <a:buSzPts val="1440"/>
              <a:buFont typeface="Trebuchet MS"/>
              <a:buAutoNum type="arabicPeriod"/>
            </a:pPr>
            <a:r>
              <a:rPr lang="en-US"/>
              <a:t>Separation of Privilege</a:t>
            </a:r>
            <a:endParaRPr/>
          </a:p>
          <a:p>
            <a:pPr indent="0" lvl="1" marL="457200" rtl="0" algn="l">
              <a:spcBef>
                <a:spcPts val="1000"/>
              </a:spcBef>
              <a:spcAft>
                <a:spcPts val="0"/>
              </a:spcAft>
              <a:buSzPts val="1280"/>
              <a:buNone/>
            </a:pPr>
            <a:r>
              <a:rPr lang="en-US"/>
              <a:t>Access should require more than one condition (two-factor checks).</a:t>
            </a:r>
            <a:endParaRPr/>
          </a:p>
          <a:p>
            <a:pPr indent="-349758" lvl="0" marL="342900" rtl="0" algn="l">
              <a:spcBef>
                <a:spcPts val="1000"/>
              </a:spcBef>
              <a:spcAft>
                <a:spcPts val="0"/>
              </a:spcAft>
              <a:buSzPts val="1440"/>
              <a:buFont typeface="Trebuchet MS"/>
              <a:buAutoNum type="arabicPeriod"/>
            </a:pPr>
            <a:r>
              <a:rPr lang="en-US"/>
              <a:t>Fail-Safe Defaults</a:t>
            </a:r>
            <a:endParaRPr/>
          </a:p>
          <a:p>
            <a:pPr indent="0" lvl="1" marL="457200" rtl="0" algn="l">
              <a:spcBef>
                <a:spcPts val="1000"/>
              </a:spcBef>
              <a:spcAft>
                <a:spcPts val="0"/>
              </a:spcAft>
              <a:buSzPts val="1280"/>
              <a:buNone/>
            </a:pPr>
            <a:r>
              <a:rPr lang="en-US"/>
              <a:t>By default, access should be denied, not allowed.</a:t>
            </a:r>
            <a:endParaRPr/>
          </a:p>
          <a:p>
            <a:pPr indent="-349758" lvl="0" marL="342900" rtl="0" algn="l">
              <a:spcBef>
                <a:spcPts val="1000"/>
              </a:spcBef>
              <a:spcAft>
                <a:spcPts val="0"/>
              </a:spcAft>
              <a:buSzPts val="1440"/>
              <a:buFont typeface="Trebuchet MS"/>
              <a:buAutoNum type="arabicPeriod"/>
            </a:pPr>
            <a:r>
              <a:rPr lang="en-US"/>
              <a:t>Complete Mediation</a:t>
            </a:r>
            <a:endParaRPr/>
          </a:p>
          <a:p>
            <a:pPr indent="0" lvl="1" marL="457200" rtl="0" algn="l">
              <a:spcBef>
                <a:spcPts val="1000"/>
              </a:spcBef>
              <a:spcAft>
                <a:spcPts val="0"/>
              </a:spcAft>
              <a:buSzPts val="1280"/>
              <a:buNone/>
            </a:pPr>
            <a:r>
              <a:rPr lang="en-US"/>
              <a:t>Every access to every resource should be checked by OS.</a:t>
            </a:r>
            <a:endParaRPr/>
          </a:p>
          <a:p>
            <a:pPr indent="-349758" lvl="0" marL="342900" rtl="0" algn="l">
              <a:spcBef>
                <a:spcPts val="1000"/>
              </a:spcBef>
              <a:spcAft>
                <a:spcPts val="0"/>
              </a:spcAft>
              <a:buSzPts val="1440"/>
              <a:buFont typeface="Trebuchet MS"/>
              <a:buAutoNum type="arabicPeriod"/>
            </a:pPr>
            <a:r>
              <a:rPr lang="en-US"/>
              <a:t>Economy of Mechanism</a:t>
            </a:r>
            <a:endParaRPr/>
          </a:p>
          <a:p>
            <a:pPr indent="0" lvl="1" marL="457200" rtl="0" algn="l">
              <a:spcBef>
                <a:spcPts val="1000"/>
              </a:spcBef>
              <a:spcAft>
                <a:spcPts val="0"/>
              </a:spcAft>
              <a:buSzPts val="1280"/>
              <a:buNone/>
            </a:pPr>
            <a:r>
              <a:rPr lang="en-US"/>
              <a:t>Security design should be simple and easy to verify.</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9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Domain of Protection</a:t>
            </a:r>
            <a:endParaRPr/>
          </a:p>
        </p:txBody>
      </p:sp>
      <p:sp>
        <p:nvSpPr>
          <p:cNvPr id="886" name="Google Shape;886;p9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domain defines what a process is allowed to access.</a:t>
            </a:r>
            <a:endParaRPr/>
          </a:p>
          <a:p>
            <a:pPr indent="-342900" lvl="0" marL="342900" rtl="0" algn="l">
              <a:spcBef>
                <a:spcPts val="1000"/>
              </a:spcBef>
              <a:spcAft>
                <a:spcPts val="0"/>
              </a:spcAft>
              <a:buSzPts val="1440"/>
              <a:buChar char="►"/>
            </a:pPr>
            <a:r>
              <a:rPr lang="en-US"/>
              <a:t>A domain consists of:</a:t>
            </a:r>
            <a:endParaRPr/>
          </a:p>
          <a:p>
            <a:pPr indent="-285750" lvl="1" marL="742950" rtl="0" algn="l">
              <a:spcBef>
                <a:spcPts val="1000"/>
              </a:spcBef>
              <a:spcAft>
                <a:spcPts val="0"/>
              </a:spcAft>
              <a:buSzPts val="1280"/>
              <a:buChar char="►"/>
            </a:pPr>
            <a:r>
              <a:rPr lang="en-US"/>
              <a:t>A set of objects (files, memory, devices)</a:t>
            </a:r>
            <a:endParaRPr/>
          </a:p>
          <a:p>
            <a:pPr indent="-285750" lvl="1" marL="742950" rtl="0" algn="l">
              <a:spcBef>
                <a:spcPts val="1000"/>
              </a:spcBef>
              <a:spcAft>
                <a:spcPts val="0"/>
              </a:spcAft>
              <a:buSzPts val="1280"/>
              <a:buChar char="►"/>
            </a:pPr>
            <a:r>
              <a:rPr lang="en-US"/>
              <a:t>A set of rights (read, write, execute, create, delete)</a:t>
            </a:r>
            <a:endParaRPr/>
          </a:p>
          <a:p>
            <a:pPr indent="-342900" lvl="0" marL="342900" rtl="0" algn="l">
              <a:spcBef>
                <a:spcPts val="1000"/>
              </a:spcBef>
              <a:spcAft>
                <a:spcPts val="0"/>
              </a:spcAft>
              <a:buSzPts val="1440"/>
              <a:buChar char="►"/>
            </a:pPr>
            <a:r>
              <a:rPr lang="en-US"/>
              <a:t>Domains can be:</a:t>
            </a:r>
            <a:endParaRPr/>
          </a:p>
          <a:p>
            <a:pPr indent="-285750" lvl="1" marL="742950" rtl="0" algn="l">
              <a:spcBef>
                <a:spcPts val="1000"/>
              </a:spcBef>
              <a:spcAft>
                <a:spcPts val="0"/>
              </a:spcAft>
              <a:buSzPts val="1280"/>
              <a:buChar char="►"/>
            </a:pPr>
            <a:r>
              <a:rPr lang="en-US"/>
              <a:t>User-based (each user has a domain)</a:t>
            </a:r>
            <a:endParaRPr/>
          </a:p>
          <a:p>
            <a:pPr indent="-285750" lvl="1" marL="742950" rtl="0" algn="l">
              <a:spcBef>
                <a:spcPts val="1000"/>
              </a:spcBef>
              <a:spcAft>
                <a:spcPts val="0"/>
              </a:spcAft>
              <a:buSzPts val="1280"/>
              <a:buChar char="►"/>
            </a:pPr>
            <a:r>
              <a:rPr lang="en-US"/>
              <a:t>Process-based (each process has its own domain)</a:t>
            </a:r>
            <a:endParaRPr/>
          </a:p>
          <a:p>
            <a:pPr indent="-285750" lvl="1" marL="742950" rtl="0" algn="l">
              <a:spcBef>
                <a:spcPts val="1000"/>
              </a:spcBef>
              <a:spcAft>
                <a:spcPts val="0"/>
              </a:spcAft>
              <a:buSzPts val="1280"/>
              <a:buChar char="►"/>
            </a:pPr>
            <a:r>
              <a:rPr lang="en-US"/>
              <a:t>Object-based (rights are attached to objects)</a:t>
            </a:r>
            <a:endParaRPr/>
          </a:p>
          <a:p>
            <a:pPr indent="-342900" lvl="0" marL="342900" rtl="0" algn="l">
              <a:spcBef>
                <a:spcPts val="1000"/>
              </a:spcBef>
              <a:spcAft>
                <a:spcPts val="0"/>
              </a:spcAft>
              <a:buSzPts val="1440"/>
              <a:buChar char="►"/>
            </a:pPr>
            <a:r>
              <a:rPr lang="en-US"/>
              <a:t>Processes can switch between domains when required (mode switching).</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9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Access Matrix</a:t>
            </a:r>
            <a:endParaRPr/>
          </a:p>
        </p:txBody>
      </p:sp>
      <p:sp>
        <p:nvSpPr>
          <p:cNvPr id="893" name="Google Shape;893;p9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The access matrix is a model that represents who can access what.</a:t>
            </a:r>
            <a:endParaRPr/>
          </a:p>
          <a:p>
            <a:pPr indent="-342900" lvl="0" marL="342900" rtl="0" algn="l">
              <a:spcBef>
                <a:spcPts val="1000"/>
              </a:spcBef>
              <a:spcAft>
                <a:spcPts val="0"/>
              </a:spcAft>
              <a:buSzPts val="1440"/>
              <a:buChar char="►"/>
            </a:pPr>
            <a:r>
              <a:rPr lang="en-US"/>
              <a:t>The matrix provides a conceptual framework for protection mechanisms.</a:t>
            </a:r>
            <a:endParaRPr/>
          </a:p>
          <a:p>
            <a:pPr indent="-342900" lvl="0" marL="342900" rtl="0" algn="l">
              <a:spcBef>
                <a:spcPts val="1000"/>
              </a:spcBef>
              <a:spcAft>
                <a:spcPts val="0"/>
              </a:spcAft>
              <a:buSzPts val="1440"/>
              <a:buChar char="►"/>
            </a:pPr>
            <a:r>
              <a:rPr lang="en-US"/>
              <a:t>It is a two-dimensional matrix:</a:t>
            </a:r>
            <a:endParaRPr/>
          </a:p>
          <a:p>
            <a:pPr indent="-285750" lvl="1" marL="742950" rtl="0" algn="l">
              <a:spcBef>
                <a:spcPts val="1000"/>
              </a:spcBef>
              <a:spcAft>
                <a:spcPts val="0"/>
              </a:spcAft>
              <a:buSzPts val="1280"/>
              <a:buChar char="►"/>
            </a:pPr>
            <a:r>
              <a:rPr lang="en-US"/>
              <a:t>Rows = Subjects (users/processes/domains)</a:t>
            </a:r>
            <a:endParaRPr/>
          </a:p>
          <a:p>
            <a:pPr indent="-285750" lvl="1" marL="742950" rtl="0" algn="l">
              <a:spcBef>
                <a:spcPts val="1000"/>
              </a:spcBef>
              <a:spcAft>
                <a:spcPts val="0"/>
              </a:spcAft>
              <a:buSzPts val="1280"/>
              <a:buChar char="►"/>
            </a:pPr>
            <a:r>
              <a:rPr lang="en-US"/>
              <a:t>Columns = Objects (files/devices/memory)</a:t>
            </a:r>
            <a:endParaRPr/>
          </a:p>
          <a:p>
            <a:pPr indent="-342900" lvl="0" marL="342900" rtl="0" algn="l">
              <a:spcBef>
                <a:spcPts val="1000"/>
              </a:spcBef>
              <a:spcAft>
                <a:spcPts val="0"/>
              </a:spcAft>
              <a:buSzPts val="1440"/>
              <a:buChar char="►"/>
            </a:pPr>
            <a:r>
              <a:rPr lang="en-US"/>
              <a:t>Entries = Rights (read, write, execute)</a:t>
            </a:r>
            <a:endParaRPr/>
          </a:p>
        </p:txBody>
      </p:sp>
      <p:pic>
        <p:nvPicPr>
          <p:cNvPr id="894" name="Google Shape;894;p94"/>
          <p:cNvPicPr preferRelativeResize="0"/>
          <p:nvPr/>
        </p:nvPicPr>
        <p:blipFill rotWithShape="1">
          <a:blip r:embed="rId3">
            <a:alphaModFix/>
          </a:blip>
          <a:srcRect b="0" l="0" r="0" t="0"/>
          <a:stretch/>
        </p:blipFill>
        <p:spPr>
          <a:xfrm>
            <a:off x="7022283" y="3627237"/>
            <a:ext cx="4921337" cy="3025023"/>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9" name="Shape 899"/>
        <p:cNvGrpSpPr/>
        <p:nvPr/>
      </p:nvGrpSpPr>
      <p:grpSpPr>
        <a:xfrm>
          <a:off x="0" y="0"/>
          <a:ext cx="0" cy="0"/>
          <a:chOff x="0" y="0"/>
          <a:chExt cx="0" cy="0"/>
        </a:xfrm>
      </p:grpSpPr>
      <p:sp>
        <p:nvSpPr>
          <p:cNvPr id="900" name="Google Shape;900;p9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Implementation of Access Matrix</a:t>
            </a:r>
            <a:endParaRPr/>
          </a:p>
        </p:txBody>
      </p:sp>
      <p:sp>
        <p:nvSpPr>
          <p:cNvPr id="901" name="Google Shape;901;p9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9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Access Control List (ACL)</a:t>
            </a:r>
            <a:endParaRPr/>
          </a:p>
        </p:txBody>
      </p:sp>
      <p:sp>
        <p:nvSpPr>
          <p:cNvPr id="908" name="Google Shape;908;p96"/>
          <p:cNvSpPr txBox="1"/>
          <p:nvPr>
            <p:ph idx="1" type="body"/>
          </p:nvPr>
        </p:nvSpPr>
        <p:spPr>
          <a:xfrm>
            <a:off x="677334" y="2092009"/>
            <a:ext cx="8596668" cy="4331651"/>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SzPct val="79999"/>
              <a:buNone/>
            </a:pPr>
            <a:r>
              <a:rPr lang="en-US"/>
              <a:t>An ACL is a </a:t>
            </a:r>
            <a:r>
              <a:rPr b="1" lang="en-US"/>
              <a:t>list attached to an object</a:t>
            </a:r>
            <a:r>
              <a:rPr lang="en-US"/>
              <a:t> specifying what each user/process is allowed to do.</a:t>
            </a:r>
            <a:endParaRPr/>
          </a:p>
          <a:p>
            <a:pPr indent="-342900" lvl="0" marL="342900" rtl="0" algn="l">
              <a:spcBef>
                <a:spcPts val="1000"/>
              </a:spcBef>
              <a:spcAft>
                <a:spcPts val="0"/>
              </a:spcAft>
              <a:buSzPct val="79999"/>
              <a:buChar char="►"/>
            </a:pPr>
            <a:r>
              <a:rPr lang="en-US"/>
              <a:t>It is a direct implementation of access matrix column.</a:t>
            </a:r>
            <a:endParaRPr/>
          </a:p>
          <a:p>
            <a:pPr indent="-342900" lvl="0" marL="342900" rtl="0" algn="l">
              <a:spcBef>
                <a:spcPts val="1000"/>
              </a:spcBef>
              <a:spcAft>
                <a:spcPts val="0"/>
              </a:spcAft>
              <a:buSzPct val="79999"/>
              <a:buChar char="►"/>
            </a:pPr>
            <a:r>
              <a:rPr lang="en-US"/>
              <a:t>Each object has entries like:</a:t>
            </a:r>
            <a:endParaRPr/>
          </a:p>
          <a:p>
            <a:pPr indent="-342900" lvl="0" marL="342900" rtl="0" algn="l">
              <a:spcBef>
                <a:spcPts val="1000"/>
              </a:spcBef>
              <a:spcAft>
                <a:spcPts val="0"/>
              </a:spcAft>
              <a:buSzPct val="79999"/>
              <a:buChar char="►"/>
            </a:pPr>
            <a:r>
              <a:rPr lang="en-US"/>
              <a:t>User/Group name</a:t>
            </a:r>
            <a:endParaRPr/>
          </a:p>
          <a:p>
            <a:pPr indent="-342900" lvl="0" marL="342900" rtl="0" algn="l">
              <a:spcBef>
                <a:spcPts val="1000"/>
              </a:spcBef>
              <a:spcAft>
                <a:spcPts val="0"/>
              </a:spcAft>
              <a:buSzPct val="79999"/>
              <a:buChar char="►"/>
            </a:pPr>
            <a:r>
              <a:rPr lang="en-US"/>
              <a:t>Allowed permissions (r, w, x)</a:t>
            </a:r>
            <a:endParaRPr/>
          </a:p>
          <a:p>
            <a:pPr indent="0" lvl="0" marL="0" rtl="0" algn="l">
              <a:spcBef>
                <a:spcPts val="1000"/>
              </a:spcBef>
              <a:spcAft>
                <a:spcPts val="0"/>
              </a:spcAft>
              <a:buSzPct val="79999"/>
              <a:buNone/>
            </a:pPr>
            <a:r>
              <a:rPr lang="en-US"/>
              <a:t>There are two types of ACLs</a:t>
            </a:r>
            <a:endParaRPr/>
          </a:p>
          <a:p>
            <a:pPr indent="0" lvl="0" marL="0" rtl="0" algn="l">
              <a:spcBef>
                <a:spcPts val="1000"/>
              </a:spcBef>
              <a:spcAft>
                <a:spcPts val="0"/>
              </a:spcAft>
              <a:buSzPct val="79999"/>
              <a:buNone/>
            </a:pPr>
            <a:r>
              <a:rPr b="1" lang="en-US"/>
              <a:t>	Standard Access-list</a:t>
            </a:r>
            <a:endParaRPr/>
          </a:p>
          <a:p>
            <a:pPr indent="0" lvl="0" marL="0" rtl="0" algn="l">
              <a:spcBef>
                <a:spcPts val="1000"/>
              </a:spcBef>
              <a:spcAft>
                <a:spcPts val="0"/>
              </a:spcAft>
              <a:buSzPct val="79999"/>
              <a:buNone/>
            </a:pPr>
            <a:r>
              <a:rPr lang="en-US"/>
              <a:t>	Extended Access List</a:t>
            </a:r>
            <a:endParaRPr/>
          </a:p>
          <a:p>
            <a:pPr indent="0" lvl="0" marL="0" rtl="0" algn="l">
              <a:spcBef>
                <a:spcPts val="1000"/>
              </a:spcBef>
              <a:spcAft>
                <a:spcPts val="0"/>
              </a:spcAft>
              <a:buSzPct val="79999"/>
              <a:buNone/>
            </a:pPr>
            <a:r>
              <a:rPr b="1" lang="en-US"/>
              <a:t>Benefits:</a:t>
            </a:r>
            <a:endParaRPr/>
          </a:p>
          <a:p>
            <a:pPr indent="-342900" lvl="0" marL="342900" rtl="0" algn="l">
              <a:spcBef>
                <a:spcPts val="1000"/>
              </a:spcBef>
              <a:spcAft>
                <a:spcPts val="0"/>
              </a:spcAft>
              <a:buSzPct val="79999"/>
              <a:buChar char="►"/>
            </a:pPr>
            <a:r>
              <a:rPr lang="en-US"/>
              <a:t>Easy to manage per object</a:t>
            </a:r>
            <a:endParaRPr/>
          </a:p>
          <a:p>
            <a:pPr indent="-342900" lvl="0" marL="342900" rtl="0" algn="l">
              <a:spcBef>
                <a:spcPts val="1000"/>
              </a:spcBef>
              <a:spcAft>
                <a:spcPts val="0"/>
              </a:spcAft>
              <a:buSzPct val="79999"/>
              <a:buChar char="►"/>
            </a:pPr>
            <a:r>
              <a:rPr lang="en-US"/>
              <a:t>Good for filesystems</a:t>
            </a:r>
            <a:endParaRPr/>
          </a:p>
          <a:p>
            <a:pPr indent="-342900" lvl="0" marL="342900" rtl="0" algn="l">
              <a:spcBef>
                <a:spcPts val="1000"/>
              </a:spcBef>
              <a:spcAft>
                <a:spcPts val="0"/>
              </a:spcAft>
              <a:buSzPct val="79999"/>
              <a:buChar char="►"/>
            </a:pPr>
            <a:r>
              <a:rPr lang="en-US"/>
              <a:t>Supports group-based permission</a:t>
            </a:r>
            <a:endParaRPr/>
          </a:p>
          <a:p>
            <a:pPr indent="0" lvl="0" marL="0" rtl="0" algn="l">
              <a:spcBef>
                <a:spcPts val="1000"/>
              </a:spcBef>
              <a:spcAft>
                <a:spcPts val="0"/>
              </a:spcAft>
              <a:buSzPct val="79999"/>
              <a:buNone/>
            </a:pPr>
            <a:r>
              <a:rPr b="1" lang="en-US"/>
              <a:t>Limitations:</a:t>
            </a:r>
            <a:endParaRPr/>
          </a:p>
          <a:p>
            <a:pPr indent="-342900" lvl="0" marL="342900" rtl="0" algn="l">
              <a:spcBef>
                <a:spcPts val="1000"/>
              </a:spcBef>
              <a:spcAft>
                <a:spcPts val="0"/>
              </a:spcAft>
              <a:buSzPct val="79999"/>
              <a:buChar char="►"/>
            </a:pPr>
            <a:r>
              <a:rPr lang="en-US"/>
              <a:t>Long lists if many users</a:t>
            </a:r>
            <a:endParaRPr/>
          </a:p>
          <a:p>
            <a:pPr indent="-342900" lvl="0" marL="342900" rtl="0" algn="l">
              <a:spcBef>
                <a:spcPts val="1000"/>
              </a:spcBef>
              <a:spcAft>
                <a:spcPts val="0"/>
              </a:spcAft>
              <a:buSzPct val="79999"/>
              <a:buChar char="►"/>
            </a:pPr>
            <a:r>
              <a:rPr lang="en-US"/>
              <a:t>Hard to manage in large systems</a:t>
            </a:r>
            <a:endParaRPr/>
          </a:p>
          <a:p>
            <a:pPr indent="-278892" lvl="0" marL="342900" rtl="0" algn="l">
              <a:spcBef>
                <a:spcPts val="1000"/>
              </a:spcBef>
              <a:spcAft>
                <a:spcPts val="0"/>
              </a:spcAft>
              <a:buSzPct val="79999"/>
              <a:buNone/>
            </a:pPr>
            <a:r>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9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Questions</a:t>
            </a:r>
            <a:endParaRPr/>
          </a:p>
        </p:txBody>
      </p:sp>
      <p:sp>
        <p:nvSpPr>
          <p:cNvPr id="914" name="Google Shape;914;p9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2025-09-09T09:52:50Z</dcterms:created>
  <dc:creator>Kapil Dev Pant</dc:creator>
</cp:coreProperties>
</file>