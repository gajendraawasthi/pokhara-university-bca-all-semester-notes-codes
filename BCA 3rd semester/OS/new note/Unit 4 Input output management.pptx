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6858000" cx="12192000"/>
  <p:notesSz cx="6858000" cy="9144000"/>
  <p:embeddedFontLst>
    <p:embeddedFont>
      <p:font typeface="ADLaM Display"/>
      <p:regular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4" roundtripDataSignature="AMtx7miltV+WKrumeoK/8g490vL6r30w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ACF7A9-66BB-41A0-8653-9AB85E6FF4AD}">
  <a:tblStyle styleId="{41ACF7A9-66BB-41A0-8653-9AB85E6FF4AD}" styleName="Table_0">
    <a:wholeTbl>
      <a:tcTxStyle b="off" i="off">
        <a:font>
          <a:latin typeface="Trebuchet MS"/>
          <a:ea typeface="Trebuchet MS"/>
          <a:cs typeface="Trebuchet M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4E7"/>
          </a:solidFill>
        </a:fill>
      </a:tcStyle>
    </a:wholeTbl>
    <a:band1H>
      <a:tcTxStyle/>
      <a:tcStyle>
        <a:fill>
          <a:solidFill>
            <a:srgbClr val="DBE9CB"/>
          </a:solidFill>
        </a:fill>
      </a:tcStyle>
    </a:band1H>
    <a:band2H>
      <a:tcTxStyle/>
    </a:band2H>
    <a:band1V>
      <a:tcTxStyle/>
      <a:tcStyle>
        <a:fill>
          <a:solidFill>
            <a:srgbClr val="DBE9CB"/>
          </a:solidFill>
        </a:fill>
      </a:tcStyle>
    </a:band1V>
    <a:band2V>
      <a:tcTxStyle/>
    </a:band2V>
    <a:lastCol>
      <a:tcTxStyle b="on" i="off">
        <a:font>
          <a:latin typeface="Trebuchet MS"/>
          <a:ea typeface="Trebuchet MS"/>
          <a:cs typeface="Trebuchet MS"/>
        </a:font>
        <a:schemeClr val="lt1"/>
      </a:tcTxStyle>
      <a:tcStyle>
        <a:fill>
          <a:solidFill>
            <a:schemeClr val="accent1"/>
          </a:solidFill>
        </a:fill>
      </a:tcStyle>
    </a:lastCol>
    <a:firstCol>
      <a:tcTxStyle b="on" i="off">
        <a:font>
          <a:latin typeface="Trebuchet MS"/>
          <a:ea typeface="Trebuchet MS"/>
          <a:cs typeface="Trebuchet MS"/>
        </a:font>
        <a:schemeClr val="lt1"/>
      </a:tcTxStyle>
      <a:tcStyle>
        <a:fill>
          <a:solidFill>
            <a:schemeClr val="accent1"/>
          </a:solidFill>
        </a:fill>
      </a:tcStyle>
    </a:firstCol>
    <a:lastRow>
      <a:tcTxStyle b="on" i="off">
        <a:font>
          <a:latin typeface="Trebuchet MS"/>
          <a:ea typeface="Trebuchet MS"/>
          <a:cs typeface="Trebuchet M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rebuchet MS"/>
          <a:ea typeface="Trebuchet MS"/>
          <a:cs typeface="Trebuchet M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ADLaMDisplay-regular.fntdata"/><Relationship Id="rId72" Type="http://schemas.openxmlformats.org/officeDocument/2006/relationships/slide" Target="slides/slide67.xml"/><Relationship Id="rId31" Type="http://schemas.openxmlformats.org/officeDocument/2006/relationships/slide" Target="slides/slide26.xml"/><Relationship Id="rId30" Type="http://schemas.openxmlformats.org/officeDocument/2006/relationships/slide" Target="slides/slide25.xml"/><Relationship Id="rId74" Type="http://customschemas.google.com/relationships/presentationmetadata" Target="meta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eeksforgeeks.org/operating-systems/fork-system-call-in-operating-system/"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ing.com/ck/a?!&amp;&amp;p=046fc916e94aaa8310a867da8862544ceba8fb1eaa281d38c1a4822fd0a5f8efJmltdHM9MTc3MDI0OTYwMA&amp;ptn=3&amp;ver=2&amp;hsh=4&amp;fclid=12fa5ca8-c55f-6aad-3df6-4969c4ed6bbd&amp;psq=Processing-in-Memory+(PIM)&amp;u=a1aHR0cHM6Ly9hcnhpdi5vcmcvYWJzLzIwMTIuMDMxMTI&amp;ntb=1"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0" marL="285750" rtl="0" algn="just">
              <a:spcBef>
                <a:spcPts val="0"/>
              </a:spcBef>
              <a:spcAft>
                <a:spcPts val="0"/>
              </a:spcAft>
              <a:buClr>
                <a:schemeClr val="dk1"/>
              </a:buClr>
              <a:buSzPts val="1200"/>
              <a:buFont typeface="Noto Sans Symbols"/>
              <a:buChar char="⮚"/>
            </a:pPr>
            <a:r>
              <a:rPr b="1" lang="en-US"/>
              <a:t>I/O Management</a:t>
            </a:r>
            <a:r>
              <a:rPr lang="en-US"/>
              <a:t> is a function of the </a:t>
            </a:r>
            <a:r>
              <a:rPr b="1" lang="en-US"/>
              <a:t>Operating System</a:t>
            </a:r>
            <a:r>
              <a:rPr lang="en-US"/>
              <a:t> that controls and coordinates all </a:t>
            </a:r>
            <a:r>
              <a:rPr b="1" lang="en-US"/>
              <a:t>input and output devices</a:t>
            </a:r>
            <a:r>
              <a:rPr lang="en-US"/>
              <a:t> (keyboard, mouse, disk, printer, network, display, etc.) so that programs can use them </a:t>
            </a:r>
            <a:r>
              <a:rPr b="1" lang="en-US"/>
              <a:t>efficiently, safely, and without conflicts</a:t>
            </a:r>
            <a:endParaRPr/>
          </a:p>
          <a:p>
            <a:pPr indent="-209550" lvl="0" marL="285750" rtl="0" algn="just">
              <a:spcBef>
                <a:spcPts val="0"/>
              </a:spcBef>
              <a:spcAft>
                <a:spcPts val="0"/>
              </a:spcAft>
              <a:buClr>
                <a:schemeClr val="dk1"/>
              </a:buClr>
              <a:buSzPts val="1200"/>
              <a:buFont typeface="Noto Sans Symbols"/>
              <a:buNone/>
            </a:pPr>
            <a:r>
              <a:t/>
            </a:r>
            <a:endParaRPr b="1"/>
          </a:p>
          <a:p>
            <a:pPr indent="-285750" lvl="0" marL="285750" rtl="0" algn="just">
              <a:spcBef>
                <a:spcPts val="0"/>
              </a:spcBef>
              <a:spcAft>
                <a:spcPts val="0"/>
              </a:spcAft>
              <a:buClr>
                <a:schemeClr val="dk1"/>
              </a:buClr>
              <a:buSzPts val="1200"/>
              <a:buFont typeface="Noto Sans Symbols"/>
              <a:buChar char="⮚"/>
            </a:pPr>
            <a:r>
              <a:rPr lang="en-US">
                <a:latin typeface="Times New Roman"/>
                <a:ea typeface="Times New Roman"/>
                <a:cs typeface="Times New Roman"/>
                <a:sym typeface="Times New Roman"/>
              </a:rPr>
              <a:t>This management is essential to ensure efficient communication between the system’s core components (such as CPU and memory) and external devices (like keyboards, storage devices, printers, and networks).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59" name="Google Shape;1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Input/Output (I/O) hardware provides the physical interface between the computer system and external devices such as keyboard, mouse, disk, printer, and network cards. The design of I/O hardware follows certain principles to ensure efficiency, flexibility, and reliability.</a:t>
            </a:r>
            <a:endParaRPr/>
          </a:p>
          <a:p>
            <a:pPr indent="0" lvl="0" marL="0" rtl="0" algn="l">
              <a:spcBef>
                <a:spcPts val="0"/>
              </a:spcBef>
              <a:spcAft>
                <a:spcPts val="0"/>
              </a:spcAft>
              <a:buNone/>
            </a:pPr>
            <a:r>
              <a:rPr b="1" lang="en-US"/>
              <a:t>1. I/O Devices</a:t>
            </a:r>
            <a:endParaRPr/>
          </a:p>
          <a:p>
            <a:pPr indent="0" lvl="0" marL="0" rtl="0" algn="l">
              <a:spcBef>
                <a:spcPts val="0"/>
              </a:spcBef>
              <a:spcAft>
                <a:spcPts val="0"/>
              </a:spcAft>
              <a:buNone/>
            </a:pPr>
            <a:r>
              <a:rPr lang="en-US"/>
              <a:t>I/O devices are classified based on their functionality:</a:t>
            </a:r>
            <a:endParaRPr/>
          </a:p>
          <a:p>
            <a:pPr indent="0" lvl="0" marL="0" rtl="0" algn="l">
              <a:spcBef>
                <a:spcPts val="0"/>
              </a:spcBef>
              <a:spcAft>
                <a:spcPts val="0"/>
              </a:spcAft>
              <a:buNone/>
            </a:pPr>
            <a:r>
              <a:rPr b="1" lang="en-US"/>
              <a:t>(a) Human-Readable Devices</a:t>
            </a:r>
            <a:endParaRPr/>
          </a:p>
          <a:p>
            <a:pPr indent="0" lvl="0" marL="0" rtl="0" algn="l">
              <a:spcBef>
                <a:spcPts val="0"/>
              </a:spcBef>
              <a:spcAft>
                <a:spcPts val="0"/>
              </a:spcAft>
              <a:buNone/>
            </a:pPr>
            <a:r>
              <a:rPr lang="en-US"/>
              <a:t>Used for interaction with users</a:t>
            </a:r>
            <a:endParaRPr/>
          </a:p>
          <a:p>
            <a:pPr indent="0" lvl="0" marL="0" rtl="0" algn="l">
              <a:spcBef>
                <a:spcPts val="0"/>
              </a:spcBef>
              <a:spcAft>
                <a:spcPts val="0"/>
              </a:spcAft>
              <a:buNone/>
            </a:pPr>
            <a:r>
              <a:rPr lang="en-US"/>
              <a:t>Examples: Keyboard, mouse, monitor, printer</a:t>
            </a:r>
            <a:endParaRPr/>
          </a:p>
          <a:p>
            <a:pPr indent="0" lvl="0" marL="0" rtl="0" algn="l">
              <a:spcBef>
                <a:spcPts val="0"/>
              </a:spcBef>
              <a:spcAft>
                <a:spcPts val="0"/>
              </a:spcAft>
              <a:buNone/>
            </a:pPr>
            <a:r>
              <a:rPr b="1" lang="en-US"/>
              <a:t>(b) Machine-Readable Devices</a:t>
            </a:r>
            <a:endParaRPr/>
          </a:p>
          <a:p>
            <a:pPr indent="0" lvl="0" marL="0" rtl="0" algn="l">
              <a:spcBef>
                <a:spcPts val="0"/>
              </a:spcBef>
              <a:spcAft>
                <a:spcPts val="0"/>
              </a:spcAft>
              <a:buNone/>
            </a:pPr>
            <a:r>
              <a:rPr lang="en-US"/>
              <a:t>Used for data storage and communication</a:t>
            </a:r>
            <a:endParaRPr/>
          </a:p>
          <a:p>
            <a:pPr indent="0" lvl="0" marL="0" rtl="0" algn="l">
              <a:spcBef>
                <a:spcPts val="0"/>
              </a:spcBef>
              <a:spcAft>
                <a:spcPts val="0"/>
              </a:spcAft>
              <a:buNone/>
            </a:pPr>
            <a:r>
              <a:rPr lang="en-US"/>
              <a:t>Examples: Disk drives, sensors, network interface cards</a:t>
            </a:r>
            <a:endParaRPr/>
          </a:p>
          <a:p>
            <a:pPr indent="0" lvl="0" marL="0" rtl="0" algn="l">
              <a:spcBef>
                <a:spcPts val="0"/>
              </a:spcBef>
              <a:spcAft>
                <a:spcPts val="0"/>
              </a:spcAft>
              <a:buNone/>
            </a:pPr>
            <a:r>
              <a:rPr b="1" lang="en-US"/>
              <a:t>(c) Communication Devices</a:t>
            </a:r>
            <a:endParaRPr/>
          </a:p>
          <a:p>
            <a:pPr indent="0" lvl="0" marL="0" rtl="0" algn="l">
              <a:spcBef>
                <a:spcPts val="0"/>
              </a:spcBef>
              <a:spcAft>
                <a:spcPts val="0"/>
              </a:spcAft>
              <a:buNone/>
            </a:pPr>
            <a:r>
              <a:rPr lang="en-US"/>
              <a:t>Used for data transfer between systems</a:t>
            </a:r>
            <a:endParaRPr/>
          </a:p>
          <a:p>
            <a:pPr indent="0" lvl="0" marL="0" rtl="0" algn="l">
              <a:spcBef>
                <a:spcPts val="0"/>
              </a:spcBef>
              <a:spcAft>
                <a:spcPts val="0"/>
              </a:spcAft>
              <a:buNone/>
            </a:pPr>
            <a:r>
              <a:rPr lang="en-US"/>
              <a:t>Examples: Modems, routers, NICs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Device Controllers</a:t>
            </a:r>
            <a:endParaRPr/>
          </a:p>
          <a:p>
            <a:pPr indent="0" lvl="0" marL="0" rtl="0" algn="l">
              <a:spcBef>
                <a:spcPts val="0"/>
              </a:spcBef>
              <a:spcAft>
                <a:spcPts val="0"/>
              </a:spcAft>
              <a:buNone/>
            </a:pPr>
            <a:r>
              <a:rPr lang="en-US"/>
              <a:t>A </a:t>
            </a:r>
            <a:r>
              <a:rPr b="1" lang="en-US"/>
              <a:t>device controller</a:t>
            </a:r>
            <a:r>
              <a:rPr lang="en-US"/>
              <a:t> is an electronic component that manages a specific I/O device.</a:t>
            </a:r>
            <a:endParaRPr/>
          </a:p>
          <a:p>
            <a:pPr indent="0" lvl="0" marL="0" rtl="0" algn="l">
              <a:spcBef>
                <a:spcPts val="0"/>
              </a:spcBef>
              <a:spcAft>
                <a:spcPts val="0"/>
              </a:spcAft>
              <a:buNone/>
            </a:pPr>
            <a:r>
              <a:rPr b="1" lang="en-US"/>
              <a:t>Functions:</a:t>
            </a:r>
            <a:endParaRPr/>
          </a:p>
          <a:p>
            <a:pPr indent="0" lvl="0" marL="0" rtl="0" algn="l">
              <a:spcBef>
                <a:spcPts val="0"/>
              </a:spcBef>
              <a:spcAft>
                <a:spcPts val="0"/>
              </a:spcAft>
              <a:buNone/>
            </a:pPr>
            <a:r>
              <a:rPr lang="en-US"/>
              <a:t>Accepts commands from the CPU</a:t>
            </a:r>
            <a:endParaRPr/>
          </a:p>
          <a:p>
            <a:pPr indent="0" lvl="0" marL="0" rtl="0" algn="l">
              <a:spcBef>
                <a:spcPts val="0"/>
              </a:spcBef>
              <a:spcAft>
                <a:spcPts val="0"/>
              </a:spcAft>
              <a:buNone/>
            </a:pPr>
            <a:r>
              <a:rPr lang="en-US"/>
              <a:t>Controls the operation of the device</a:t>
            </a:r>
            <a:endParaRPr/>
          </a:p>
          <a:p>
            <a:pPr indent="0" lvl="0" marL="0" rtl="0" algn="l">
              <a:spcBef>
                <a:spcPts val="0"/>
              </a:spcBef>
              <a:spcAft>
                <a:spcPts val="0"/>
              </a:spcAft>
              <a:buNone/>
            </a:pPr>
            <a:r>
              <a:rPr lang="en-US"/>
              <a:t>Converts serial data to parallel and vice-versa</a:t>
            </a:r>
            <a:endParaRPr/>
          </a:p>
          <a:p>
            <a:pPr indent="0" lvl="0" marL="0" rtl="0" algn="l">
              <a:spcBef>
                <a:spcPts val="0"/>
              </a:spcBef>
              <a:spcAft>
                <a:spcPts val="0"/>
              </a:spcAft>
              <a:buNone/>
            </a:pPr>
            <a:r>
              <a:rPr lang="en-US"/>
              <a:t>Maintains control and status registers</a:t>
            </a:r>
            <a:endParaRPr/>
          </a:p>
          <a:p>
            <a:pPr indent="0" lvl="0" marL="0" rtl="0" algn="l">
              <a:spcBef>
                <a:spcPts val="0"/>
              </a:spcBef>
              <a:spcAft>
                <a:spcPts val="0"/>
              </a:spcAft>
              <a:buNone/>
            </a:pPr>
            <a:r>
              <a:rPr b="1" lang="en-US"/>
              <a:t>Importance:</a:t>
            </a:r>
            <a:endParaRPr/>
          </a:p>
          <a:p>
            <a:pPr indent="0" lvl="0" marL="0" rtl="0" algn="l">
              <a:spcBef>
                <a:spcPts val="0"/>
              </a:spcBef>
              <a:spcAft>
                <a:spcPts val="0"/>
              </a:spcAft>
              <a:buNone/>
            </a:pPr>
            <a:r>
              <a:rPr lang="en-US"/>
              <a:t>Acts as an interface between CPU and I/O device</a:t>
            </a:r>
            <a:endParaRPr/>
          </a:p>
          <a:p>
            <a:pPr indent="0" lvl="0" marL="0" rtl="0" algn="l">
              <a:spcBef>
                <a:spcPts val="0"/>
              </a:spcBef>
              <a:spcAft>
                <a:spcPts val="0"/>
              </a:spcAft>
              <a:buNone/>
            </a:pPr>
            <a:r>
              <a:rPr lang="en-US"/>
              <a:t>Offloads low-level device control from the CPU</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I/O Ports</a:t>
            </a:r>
            <a:endParaRPr/>
          </a:p>
          <a:p>
            <a:pPr indent="0" lvl="0" marL="0" rtl="0" algn="l">
              <a:spcBef>
                <a:spcPts val="0"/>
              </a:spcBef>
              <a:spcAft>
                <a:spcPts val="0"/>
              </a:spcAft>
              <a:buNone/>
            </a:pPr>
            <a:r>
              <a:rPr lang="en-US"/>
              <a:t>I/O ports are </a:t>
            </a:r>
            <a:r>
              <a:rPr b="1" lang="en-US"/>
              <a:t>addresses</a:t>
            </a:r>
            <a:r>
              <a:rPr lang="en-US"/>
              <a:t> through which the CPU communicates with device controllers.</a:t>
            </a:r>
            <a:endParaRPr/>
          </a:p>
          <a:p>
            <a:pPr indent="0" lvl="0" marL="0" rtl="0" algn="l">
              <a:spcBef>
                <a:spcPts val="0"/>
              </a:spcBef>
              <a:spcAft>
                <a:spcPts val="0"/>
              </a:spcAft>
              <a:buNone/>
            </a:pPr>
            <a:r>
              <a:rPr b="1" lang="en-US"/>
              <a:t>Types:</a:t>
            </a:r>
            <a:endParaRPr/>
          </a:p>
          <a:p>
            <a:pPr indent="0" lvl="0" marL="0" rtl="0" algn="l">
              <a:spcBef>
                <a:spcPts val="0"/>
              </a:spcBef>
              <a:spcAft>
                <a:spcPts val="0"/>
              </a:spcAft>
              <a:buNone/>
            </a:pPr>
            <a:r>
              <a:rPr b="1" lang="en-US"/>
              <a:t>Data port</a:t>
            </a:r>
            <a:r>
              <a:rPr lang="en-US"/>
              <a:t> – transfers data</a:t>
            </a:r>
            <a:endParaRPr/>
          </a:p>
          <a:p>
            <a:pPr indent="0" lvl="0" marL="0" rtl="0" algn="l">
              <a:spcBef>
                <a:spcPts val="0"/>
              </a:spcBef>
              <a:spcAft>
                <a:spcPts val="0"/>
              </a:spcAft>
              <a:buNone/>
            </a:pPr>
            <a:r>
              <a:rPr b="1" lang="en-US"/>
              <a:t>Status port</a:t>
            </a:r>
            <a:r>
              <a:rPr lang="en-US"/>
              <a:t> – provides device status</a:t>
            </a:r>
            <a:endParaRPr/>
          </a:p>
          <a:p>
            <a:pPr indent="0" lvl="0" marL="0" rtl="0" algn="l">
              <a:spcBef>
                <a:spcPts val="0"/>
              </a:spcBef>
              <a:spcAft>
                <a:spcPts val="0"/>
              </a:spcAft>
              <a:buNone/>
            </a:pPr>
            <a:r>
              <a:rPr b="1" lang="en-US"/>
              <a:t>Control port</a:t>
            </a:r>
            <a:r>
              <a:rPr lang="en-US"/>
              <a:t> – sends commands</a:t>
            </a:r>
            <a:endParaRPr/>
          </a:p>
          <a:p>
            <a:pPr indent="0" lvl="0" marL="0" rtl="0" algn="l">
              <a:spcBef>
                <a:spcPts val="0"/>
              </a:spcBef>
              <a:spcAft>
                <a:spcPts val="0"/>
              </a:spcAft>
              <a:buNone/>
            </a:pPr>
            <a:r>
              <a:rPr lang="en-US"/>
              <a:t>Ports allow the CPU to read/write data and control signals efficiently.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Memory-Mapped I/O vs Port-Mapped I/O</a:t>
            </a:r>
            <a:endParaRPr/>
          </a:p>
          <a:p>
            <a:pPr indent="0" lvl="0" marL="0" rtl="0" algn="l">
              <a:spcBef>
                <a:spcPts val="0"/>
              </a:spcBef>
              <a:spcAft>
                <a:spcPts val="0"/>
              </a:spcAft>
              <a:buNone/>
            </a:pPr>
            <a:r>
              <a:rPr b="1" lang="en-US"/>
              <a:t>Memory-Mapped I/O</a:t>
            </a:r>
            <a:endParaRPr/>
          </a:p>
          <a:p>
            <a:pPr indent="0" lvl="0" marL="0" rtl="0" algn="l">
              <a:spcBef>
                <a:spcPts val="0"/>
              </a:spcBef>
              <a:spcAft>
                <a:spcPts val="0"/>
              </a:spcAft>
              <a:buNone/>
            </a:pPr>
            <a:r>
              <a:rPr lang="en-US"/>
              <a:t>Device registers are mapped into memory address space</a:t>
            </a:r>
            <a:endParaRPr/>
          </a:p>
          <a:p>
            <a:pPr indent="0" lvl="0" marL="0" rtl="0" algn="l">
              <a:spcBef>
                <a:spcPts val="0"/>
              </a:spcBef>
              <a:spcAft>
                <a:spcPts val="0"/>
              </a:spcAft>
              <a:buNone/>
            </a:pPr>
            <a:r>
              <a:rPr lang="en-US"/>
              <a:t>CPU accesses devices using normal load/store instructions</a:t>
            </a:r>
            <a:endParaRPr/>
          </a:p>
          <a:p>
            <a:pPr indent="0" lvl="0" marL="0" rtl="0" algn="l">
              <a:spcBef>
                <a:spcPts val="0"/>
              </a:spcBef>
              <a:spcAft>
                <a:spcPts val="0"/>
              </a:spcAft>
              <a:buNone/>
            </a:pPr>
            <a:r>
              <a:rPr lang="en-US"/>
              <a:t>Faster and more flexible</a:t>
            </a:r>
            <a:endParaRPr/>
          </a:p>
          <a:p>
            <a:pPr indent="0" lvl="0" marL="0" rtl="0" algn="l">
              <a:spcBef>
                <a:spcPts val="0"/>
              </a:spcBef>
              <a:spcAft>
                <a:spcPts val="0"/>
              </a:spcAft>
              <a:buNone/>
            </a:pPr>
            <a:r>
              <a:rPr b="1" lang="en-US"/>
              <a:t>Port-Mapped I/O</a:t>
            </a:r>
            <a:endParaRPr/>
          </a:p>
          <a:p>
            <a:pPr indent="0" lvl="0" marL="0" rtl="0" algn="l">
              <a:spcBef>
                <a:spcPts val="0"/>
              </a:spcBef>
              <a:spcAft>
                <a:spcPts val="0"/>
              </a:spcAft>
              <a:buNone/>
            </a:pPr>
            <a:r>
              <a:rPr lang="en-US"/>
              <a:t>Separate I/O address space</a:t>
            </a:r>
            <a:endParaRPr/>
          </a:p>
          <a:p>
            <a:pPr indent="0" lvl="0" marL="0" rtl="0" algn="l">
              <a:spcBef>
                <a:spcPts val="0"/>
              </a:spcBef>
              <a:spcAft>
                <a:spcPts val="0"/>
              </a:spcAft>
              <a:buNone/>
            </a:pPr>
            <a:r>
              <a:rPr lang="en-US"/>
              <a:t>Special I/O instructions are required</a:t>
            </a:r>
            <a:endParaRPr/>
          </a:p>
          <a:p>
            <a:pPr indent="0" lvl="0" marL="0" rtl="0" algn="l">
              <a:spcBef>
                <a:spcPts val="0"/>
              </a:spcBef>
              <a:spcAft>
                <a:spcPts val="0"/>
              </a:spcAft>
              <a:buNone/>
            </a:pPr>
            <a:r>
              <a:rPr lang="en-US"/>
              <a:t>Example: </a:t>
            </a:r>
            <a:r>
              <a:rPr lang="en-US" sz="1200">
                <a:solidFill>
                  <a:schemeClr val="dk1"/>
                </a:solidFill>
                <a:latin typeface="Calibri"/>
                <a:ea typeface="Calibri"/>
                <a:cs typeface="Calibri"/>
                <a:sym typeface="Calibri"/>
              </a:rPr>
              <a:t>IN</a:t>
            </a:r>
            <a:r>
              <a:rPr lang="en-US"/>
              <a:t>, </a:t>
            </a:r>
            <a:r>
              <a:rPr lang="en-US" sz="1200">
                <a:solidFill>
                  <a:schemeClr val="dk1"/>
                </a:solidFill>
                <a:latin typeface="Calibri"/>
                <a:ea typeface="Calibri"/>
                <a:cs typeface="Calibri"/>
                <a:sym typeface="Calibri"/>
              </a:rPr>
              <a:t>OUT</a:t>
            </a:r>
            <a:r>
              <a:rPr lang="en-US"/>
              <a:t> instructions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Polling</a:t>
            </a:r>
            <a:endParaRPr/>
          </a:p>
          <a:p>
            <a:pPr indent="0" lvl="0" marL="0" rtl="0" algn="l">
              <a:spcBef>
                <a:spcPts val="0"/>
              </a:spcBef>
              <a:spcAft>
                <a:spcPts val="0"/>
              </a:spcAft>
              <a:buNone/>
            </a:pPr>
            <a:r>
              <a:rPr lang="en-US"/>
              <a:t>In polling, the CPU repeatedly checks the device status to determine readiness.</a:t>
            </a:r>
            <a:endParaRPr/>
          </a:p>
          <a:p>
            <a:pPr indent="0" lvl="0" marL="0" rtl="0" algn="l">
              <a:spcBef>
                <a:spcPts val="0"/>
              </a:spcBef>
              <a:spcAft>
                <a:spcPts val="0"/>
              </a:spcAft>
              <a:buNone/>
            </a:pPr>
            <a:r>
              <a:rPr b="1" lang="en-US"/>
              <a:t>Working:</a:t>
            </a:r>
            <a:endParaRPr/>
          </a:p>
          <a:p>
            <a:pPr indent="0" lvl="0" marL="0" rtl="0" algn="l">
              <a:spcBef>
                <a:spcPts val="0"/>
              </a:spcBef>
              <a:spcAft>
                <a:spcPts val="0"/>
              </a:spcAft>
              <a:buNone/>
            </a:pPr>
            <a:r>
              <a:rPr lang="en-US"/>
              <a:t>CPU checks status register</a:t>
            </a:r>
            <a:endParaRPr/>
          </a:p>
          <a:p>
            <a:pPr indent="0" lvl="0" marL="0" rtl="0" algn="l">
              <a:spcBef>
                <a:spcPts val="0"/>
              </a:spcBef>
              <a:spcAft>
                <a:spcPts val="0"/>
              </a:spcAft>
              <a:buNone/>
            </a:pPr>
            <a:r>
              <a:rPr lang="en-US"/>
              <a:t>If device is busy, CPU keeps waiting</a:t>
            </a:r>
            <a:endParaRPr/>
          </a:p>
          <a:p>
            <a:pPr indent="0" lvl="0" marL="0" rtl="0" algn="l">
              <a:spcBef>
                <a:spcPts val="0"/>
              </a:spcBef>
              <a:spcAft>
                <a:spcPts val="0"/>
              </a:spcAft>
              <a:buNone/>
            </a:pPr>
            <a:r>
              <a:rPr lang="en-US"/>
              <a:t>Transfers data when ready</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Simple implementation</a:t>
            </a: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lang="en-US"/>
              <a:t>Wastes CPU time (busy waiting)</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6. Interrupts</a:t>
            </a:r>
            <a:endParaRPr/>
          </a:p>
          <a:p>
            <a:pPr indent="0" lvl="0" marL="0" rtl="0" algn="l">
              <a:spcBef>
                <a:spcPts val="0"/>
              </a:spcBef>
              <a:spcAft>
                <a:spcPts val="0"/>
              </a:spcAft>
              <a:buNone/>
            </a:pPr>
            <a:r>
              <a:rPr lang="en-US"/>
              <a:t>Interrupts allow the device to </a:t>
            </a:r>
            <a:r>
              <a:rPr b="1" lang="en-US"/>
              <a:t>notify the CPU</a:t>
            </a:r>
            <a:r>
              <a:rPr lang="en-US"/>
              <a:t> when it needs attention.</a:t>
            </a:r>
            <a:endParaRPr/>
          </a:p>
          <a:p>
            <a:pPr indent="0" lvl="0" marL="0" rtl="0" algn="l">
              <a:spcBef>
                <a:spcPts val="0"/>
              </a:spcBef>
              <a:spcAft>
                <a:spcPts val="0"/>
              </a:spcAft>
              <a:buNone/>
            </a:pPr>
            <a:r>
              <a:rPr b="1" lang="en-US"/>
              <a:t>Working:</a:t>
            </a:r>
            <a:endParaRPr/>
          </a:p>
          <a:p>
            <a:pPr indent="0" lvl="0" marL="0" rtl="0" algn="l">
              <a:spcBef>
                <a:spcPts val="0"/>
              </a:spcBef>
              <a:spcAft>
                <a:spcPts val="0"/>
              </a:spcAft>
              <a:buNone/>
            </a:pPr>
            <a:r>
              <a:rPr lang="en-US"/>
              <a:t>CPU initiates I/O operation</a:t>
            </a:r>
            <a:endParaRPr/>
          </a:p>
          <a:p>
            <a:pPr indent="0" lvl="0" marL="0" rtl="0" algn="l">
              <a:spcBef>
                <a:spcPts val="0"/>
              </a:spcBef>
              <a:spcAft>
                <a:spcPts val="0"/>
              </a:spcAft>
              <a:buNone/>
            </a:pPr>
            <a:r>
              <a:rPr lang="en-US"/>
              <a:t>Device performs operation independently</a:t>
            </a:r>
            <a:endParaRPr/>
          </a:p>
          <a:p>
            <a:pPr indent="0" lvl="0" marL="0" rtl="0" algn="l">
              <a:spcBef>
                <a:spcPts val="0"/>
              </a:spcBef>
              <a:spcAft>
                <a:spcPts val="0"/>
              </a:spcAft>
              <a:buNone/>
            </a:pPr>
            <a:r>
              <a:rPr lang="en-US"/>
              <a:t>Device generates interrupt upon completion</a:t>
            </a:r>
            <a:endParaRPr/>
          </a:p>
          <a:p>
            <a:pPr indent="0" lvl="0" marL="0" rtl="0" algn="l">
              <a:spcBef>
                <a:spcPts val="0"/>
              </a:spcBef>
              <a:spcAft>
                <a:spcPts val="0"/>
              </a:spcAft>
              <a:buNone/>
            </a:pPr>
            <a:r>
              <a:rPr lang="en-US"/>
              <a:t>CPU executes Interrupt Service Routine (ISR)</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Efficient CPU utilization</a:t>
            </a:r>
            <a:endParaRPr/>
          </a:p>
          <a:p>
            <a:pPr indent="0" lvl="0" marL="0" rtl="0" algn="l">
              <a:spcBef>
                <a:spcPts val="0"/>
              </a:spcBef>
              <a:spcAft>
                <a:spcPts val="0"/>
              </a:spcAft>
              <a:buNone/>
            </a:pPr>
            <a:r>
              <a:rPr lang="en-US"/>
              <a:t>Suitable for slow devices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7. Direct Memory Access (DMA)</a:t>
            </a:r>
            <a:endParaRPr/>
          </a:p>
          <a:p>
            <a:pPr indent="0" lvl="0" marL="0" rtl="0" algn="l">
              <a:spcBef>
                <a:spcPts val="0"/>
              </a:spcBef>
              <a:spcAft>
                <a:spcPts val="0"/>
              </a:spcAft>
              <a:buNone/>
            </a:pPr>
            <a:r>
              <a:rPr lang="en-US"/>
              <a:t>DMA allows devices to transfer data </a:t>
            </a:r>
            <a:r>
              <a:rPr b="1" lang="en-US"/>
              <a:t>directly between memory and device</a:t>
            </a:r>
            <a:r>
              <a:rPr lang="en-US"/>
              <a:t>, without CPU involvement.</a:t>
            </a:r>
            <a:endParaRPr/>
          </a:p>
          <a:p>
            <a:pPr indent="0" lvl="0" marL="0" rtl="0" algn="l">
              <a:spcBef>
                <a:spcPts val="0"/>
              </a:spcBef>
              <a:spcAft>
                <a:spcPts val="0"/>
              </a:spcAft>
              <a:buNone/>
            </a:pPr>
            <a:r>
              <a:rPr b="1" lang="en-US"/>
              <a:t>Working:</a:t>
            </a:r>
            <a:endParaRPr/>
          </a:p>
          <a:p>
            <a:pPr indent="0" lvl="0" marL="0" rtl="0" algn="l">
              <a:spcBef>
                <a:spcPts val="0"/>
              </a:spcBef>
              <a:spcAft>
                <a:spcPts val="0"/>
              </a:spcAft>
              <a:buNone/>
            </a:pPr>
            <a:r>
              <a:rPr lang="en-US"/>
              <a:t>CPU initializes DMA controller</a:t>
            </a:r>
            <a:endParaRPr/>
          </a:p>
          <a:p>
            <a:pPr indent="0" lvl="0" marL="0" rtl="0" algn="l">
              <a:spcBef>
                <a:spcPts val="0"/>
              </a:spcBef>
              <a:spcAft>
                <a:spcPts val="0"/>
              </a:spcAft>
              <a:buNone/>
            </a:pPr>
            <a:r>
              <a:rPr lang="en-US"/>
              <a:t>DMA controller transfers data</a:t>
            </a:r>
            <a:endParaRPr/>
          </a:p>
          <a:p>
            <a:pPr indent="0" lvl="0" marL="0" rtl="0" algn="l">
              <a:spcBef>
                <a:spcPts val="0"/>
              </a:spcBef>
              <a:spcAft>
                <a:spcPts val="0"/>
              </a:spcAft>
              <a:buNone/>
            </a:pPr>
            <a:r>
              <a:rPr lang="en-US"/>
              <a:t>CPU is interrupted after completion</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High-speed data transfer</a:t>
            </a:r>
            <a:endParaRPr/>
          </a:p>
          <a:p>
            <a:pPr indent="0" lvl="0" marL="0" rtl="0" algn="l">
              <a:spcBef>
                <a:spcPts val="0"/>
              </a:spcBef>
              <a:spcAft>
                <a:spcPts val="0"/>
              </a:spcAft>
              <a:buNone/>
            </a:pPr>
            <a:r>
              <a:rPr lang="en-US"/>
              <a:t>Reduces CPU overhead</a:t>
            </a:r>
            <a:endParaRPr/>
          </a:p>
          <a:p>
            <a:pPr indent="0" lvl="0" marL="0" rtl="0" algn="l">
              <a:spcBef>
                <a:spcPts val="0"/>
              </a:spcBef>
              <a:spcAft>
                <a:spcPts val="0"/>
              </a:spcAft>
              <a:buNone/>
            </a:pPr>
            <a:r>
              <a:rPr b="1" lang="en-US"/>
              <a:t>Usage:</a:t>
            </a:r>
            <a:endParaRPr/>
          </a:p>
          <a:p>
            <a:pPr indent="0" lvl="0" marL="0" rtl="0" algn="l">
              <a:spcBef>
                <a:spcPts val="0"/>
              </a:spcBef>
              <a:spcAft>
                <a:spcPts val="0"/>
              </a:spcAft>
              <a:buNone/>
            </a:pPr>
            <a:r>
              <a:rPr lang="en-US"/>
              <a:t>Disk drives</a:t>
            </a:r>
            <a:endParaRPr/>
          </a:p>
          <a:p>
            <a:pPr indent="0" lvl="0" marL="0" rtl="0" algn="l">
              <a:spcBef>
                <a:spcPts val="0"/>
              </a:spcBef>
              <a:spcAft>
                <a:spcPts val="0"/>
              </a:spcAft>
              <a:buNone/>
            </a:pPr>
            <a:r>
              <a:rPr lang="en-US"/>
              <a:t>Network cards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8. Error Detection and Handling</a:t>
            </a:r>
            <a:endParaRPr/>
          </a:p>
          <a:p>
            <a:pPr indent="0" lvl="0" marL="0" rtl="0" algn="l">
              <a:spcBef>
                <a:spcPts val="0"/>
              </a:spcBef>
              <a:spcAft>
                <a:spcPts val="0"/>
              </a:spcAft>
              <a:buNone/>
            </a:pPr>
            <a:r>
              <a:rPr lang="en-US"/>
              <a:t>I/O hardware includes mechanisms for:</a:t>
            </a:r>
            <a:endParaRPr/>
          </a:p>
          <a:p>
            <a:pPr indent="0" lvl="0" marL="0" rtl="0" algn="l">
              <a:spcBef>
                <a:spcPts val="0"/>
              </a:spcBef>
              <a:spcAft>
                <a:spcPts val="0"/>
              </a:spcAft>
              <a:buNone/>
            </a:pPr>
            <a:r>
              <a:rPr lang="en-US"/>
              <a:t>Parity checks</a:t>
            </a:r>
            <a:endParaRPr/>
          </a:p>
          <a:p>
            <a:pPr indent="0" lvl="0" marL="0" rtl="0" algn="l">
              <a:spcBef>
                <a:spcPts val="0"/>
              </a:spcBef>
              <a:spcAft>
                <a:spcPts val="0"/>
              </a:spcAft>
              <a:buNone/>
            </a:pPr>
            <a:r>
              <a:rPr lang="en-US"/>
              <a:t>CRC (Cyclic Redundancy Check)</a:t>
            </a:r>
            <a:endParaRPr/>
          </a:p>
          <a:p>
            <a:pPr indent="0" lvl="0" marL="0" rtl="0" algn="l">
              <a:spcBef>
                <a:spcPts val="0"/>
              </a:spcBef>
              <a:spcAft>
                <a:spcPts val="0"/>
              </a:spcAft>
              <a:buNone/>
            </a:pPr>
            <a:r>
              <a:rPr lang="en-US"/>
              <a:t>Time-out detection</a:t>
            </a:r>
            <a:endParaRPr/>
          </a:p>
          <a:p>
            <a:pPr indent="0" lvl="0" marL="0" rtl="0" algn="l">
              <a:spcBef>
                <a:spcPts val="0"/>
              </a:spcBef>
              <a:spcAft>
                <a:spcPts val="0"/>
              </a:spcAft>
              <a:buNone/>
            </a:pPr>
            <a:r>
              <a:rPr lang="en-US"/>
              <a:t>Errors are reported to the OS for corrective action.</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9. I/O Hardware Performance Considerations</a:t>
            </a:r>
            <a:endParaRPr/>
          </a:p>
          <a:p>
            <a:pPr indent="0" lvl="0" marL="0" rtl="0" algn="l">
              <a:spcBef>
                <a:spcPts val="0"/>
              </a:spcBef>
              <a:spcAft>
                <a:spcPts val="0"/>
              </a:spcAft>
              <a:buNone/>
            </a:pPr>
            <a:r>
              <a:rPr lang="en-US"/>
              <a:t>Key performance factors:</a:t>
            </a:r>
            <a:endParaRPr/>
          </a:p>
          <a:p>
            <a:pPr indent="0" lvl="0" marL="0" rtl="0" algn="l">
              <a:spcBef>
                <a:spcPts val="0"/>
              </a:spcBef>
              <a:spcAft>
                <a:spcPts val="0"/>
              </a:spcAft>
              <a:buNone/>
            </a:pPr>
            <a:r>
              <a:rPr lang="en-US"/>
              <a:t>Data transfer rate</a:t>
            </a:r>
            <a:endParaRPr/>
          </a:p>
          <a:p>
            <a:pPr indent="0" lvl="0" marL="0" rtl="0" algn="l">
              <a:spcBef>
                <a:spcPts val="0"/>
              </a:spcBef>
              <a:spcAft>
                <a:spcPts val="0"/>
              </a:spcAft>
              <a:buNone/>
            </a:pPr>
            <a:r>
              <a:rPr lang="en-US"/>
              <a:t>Latency</a:t>
            </a:r>
            <a:endParaRPr/>
          </a:p>
          <a:p>
            <a:pPr indent="0" lvl="0" marL="0" rtl="0" algn="l">
              <a:spcBef>
                <a:spcPts val="0"/>
              </a:spcBef>
              <a:spcAft>
                <a:spcPts val="0"/>
              </a:spcAft>
              <a:buNone/>
            </a:pPr>
            <a:r>
              <a:rPr lang="en-US"/>
              <a:t>Reliability</a:t>
            </a:r>
            <a:endParaRPr/>
          </a:p>
          <a:p>
            <a:pPr indent="0" lvl="0" marL="0" rtl="0" algn="l">
              <a:spcBef>
                <a:spcPts val="0"/>
              </a:spcBef>
              <a:spcAft>
                <a:spcPts val="0"/>
              </a:spcAft>
              <a:buNone/>
            </a:pPr>
            <a:r>
              <a:rPr lang="en-US"/>
              <a:t>Scalability</a:t>
            </a:r>
            <a:endParaRPr/>
          </a:p>
          <a:p>
            <a:pPr indent="0" lvl="0" marL="0" rtl="0" algn="l">
              <a:spcBef>
                <a:spcPts val="0"/>
              </a:spcBef>
              <a:spcAft>
                <a:spcPts val="0"/>
              </a:spcAft>
              <a:buNone/>
            </a:pPr>
            <a:r>
              <a:rPr lang="en-US"/>
              <a:t>Efficient I/O hardware design improves overall system throughput.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principles of I/O hardware focus on standardization, efficiency, and flexibility. Techniques like interrupts and DMA reduce CPU load, while device controllers simplify hardware interaction. Together, these principles ensure smooth and reliable I/O operations in modern operating systems.</a:t>
            </a:r>
            <a:endParaRPr/>
          </a:p>
        </p:txBody>
      </p:sp>
      <p:sp>
        <p:nvSpPr>
          <p:cNvPr id="175" name="Google Shape;1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I/O Devices</a:t>
            </a:r>
            <a:endParaRPr/>
          </a:p>
          <a:p>
            <a:pPr indent="0" lvl="0" marL="0" rtl="0" algn="l">
              <a:spcBef>
                <a:spcPts val="0"/>
              </a:spcBef>
              <a:spcAft>
                <a:spcPts val="0"/>
              </a:spcAft>
              <a:buNone/>
            </a:pPr>
            <a:r>
              <a:rPr lang="en-US"/>
              <a:t>Examples:</a:t>
            </a:r>
            <a:endParaRPr/>
          </a:p>
          <a:p>
            <a:pPr indent="0" lvl="0" marL="0" rtl="0" algn="l">
              <a:spcBef>
                <a:spcPts val="0"/>
              </a:spcBef>
              <a:spcAft>
                <a:spcPts val="0"/>
              </a:spcAft>
              <a:buNone/>
            </a:pPr>
            <a:r>
              <a:rPr lang="en-US"/>
              <a:t>Input: Keyboard, Mouse, Scanner</a:t>
            </a:r>
            <a:endParaRPr/>
          </a:p>
          <a:p>
            <a:pPr indent="0" lvl="0" marL="0" rtl="0" algn="l">
              <a:spcBef>
                <a:spcPts val="0"/>
              </a:spcBef>
              <a:spcAft>
                <a:spcPts val="0"/>
              </a:spcAft>
              <a:buNone/>
            </a:pPr>
            <a:r>
              <a:rPr lang="en-US"/>
              <a:t>Output: Monitor, Printer</a:t>
            </a:r>
            <a:endParaRPr/>
          </a:p>
          <a:p>
            <a:pPr indent="0" lvl="0" marL="0" rtl="0" algn="l">
              <a:spcBef>
                <a:spcPts val="0"/>
              </a:spcBef>
              <a:spcAft>
                <a:spcPts val="0"/>
              </a:spcAft>
              <a:buNone/>
            </a:pPr>
            <a:r>
              <a:rPr lang="en-US"/>
              <a:t>Storage: Hard disk, SSD</a:t>
            </a:r>
            <a:endParaRPr/>
          </a:p>
          <a:p>
            <a:pPr indent="0" lvl="0" marL="0" rtl="0" algn="l">
              <a:spcBef>
                <a:spcPts val="0"/>
              </a:spcBef>
              <a:spcAft>
                <a:spcPts val="0"/>
              </a:spcAft>
              <a:buNone/>
            </a:pPr>
            <a:r>
              <a:rPr lang="en-US"/>
              <a:t>Communication: Network card</a:t>
            </a:r>
            <a:endParaRPr/>
          </a:p>
          <a:p>
            <a:pPr indent="0" lvl="0" marL="0" rtl="0" algn="l">
              <a:spcBef>
                <a:spcPts val="0"/>
              </a:spcBef>
              <a:spcAft>
                <a:spcPts val="0"/>
              </a:spcAft>
              <a:buNone/>
            </a:pPr>
            <a:r>
              <a:t/>
            </a:r>
            <a:endParaRPr/>
          </a:p>
        </p:txBody>
      </p:sp>
      <p:sp>
        <p:nvSpPr>
          <p:cNvPr id="182" name="Google Shape;1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I/O units (Keyboard, mouse, printer, etc.) typically consist of a mechanical component and an electronic component where electronic component is called the device controller.</a:t>
            </a:r>
            <a:endParaRPr/>
          </a:p>
          <a:p>
            <a:pPr indent="0" lvl="0" marL="0" rtl="0" algn="l">
              <a:spcBef>
                <a:spcPts val="0"/>
              </a:spcBef>
              <a:spcAft>
                <a:spcPts val="0"/>
              </a:spcAft>
              <a:buNone/>
            </a:pPr>
            <a:r>
              <a:rPr lang="en-US"/>
              <a:t>There is always a device controller and a device driver for each device to communicate with the Operating Systems.</a:t>
            </a:r>
            <a:endParaRPr/>
          </a:p>
          <a:p>
            <a:pPr indent="0" lvl="0" marL="0" rtl="0" algn="l">
              <a:spcBef>
                <a:spcPts val="0"/>
              </a:spcBef>
              <a:spcAft>
                <a:spcPts val="0"/>
              </a:spcAft>
              <a:buNone/>
            </a:pPr>
            <a:r>
              <a:t/>
            </a:r>
            <a:endParaRPr/>
          </a:p>
        </p:txBody>
      </p:sp>
      <p:sp>
        <p:nvSpPr>
          <p:cNvPr id="190" name="Google Shape;1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1. Stops and starts the activity of the peripheral device</a:t>
            </a:r>
            <a:endParaRPr/>
          </a:p>
          <a:p>
            <a:pPr indent="0" lvl="0" marL="0" rtl="0" algn="l">
              <a:spcBef>
                <a:spcPts val="0"/>
              </a:spcBef>
              <a:spcAft>
                <a:spcPts val="0"/>
              </a:spcAft>
              <a:buNone/>
            </a:pPr>
            <a:r>
              <a:rPr b="1" lang="en-US"/>
              <a:t>Explanation:</a:t>
            </a:r>
            <a:br>
              <a:rPr lang="en-US"/>
            </a:br>
            <a:r>
              <a:rPr lang="en-US"/>
              <a:t>The I/O controller controls when a device should </a:t>
            </a:r>
            <a:r>
              <a:rPr b="1" lang="en-US"/>
              <a:t>begin or stop an operation</a:t>
            </a:r>
            <a:r>
              <a:rPr lang="en-US"/>
              <a:t> based on commands from the OS.</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When you click </a:t>
            </a:r>
            <a:r>
              <a:rPr b="1" lang="en-US"/>
              <a:t>Print</a:t>
            </a:r>
            <a:r>
              <a:rPr lang="en-US"/>
              <a:t>, the printer controller </a:t>
            </a:r>
            <a:r>
              <a:rPr b="1" lang="en-US"/>
              <a:t>starts</a:t>
            </a:r>
            <a:r>
              <a:rPr lang="en-US"/>
              <a:t> printing</a:t>
            </a:r>
            <a:endParaRPr/>
          </a:p>
          <a:p>
            <a:pPr indent="0" lvl="0" marL="0" rtl="0" algn="l">
              <a:spcBef>
                <a:spcPts val="0"/>
              </a:spcBef>
              <a:spcAft>
                <a:spcPts val="0"/>
              </a:spcAft>
              <a:buNone/>
            </a:pPr>
            <a:r>
              <a:rPr lang="en-US"/>
              <a:t>After printing finishes, it </a:t>
            </a:r>
            <a:r>
              <a:rPr b="1" lang="en-US"/>
              <a:t>stops</a:t>
            </a:r>
            <a:r>
              <a:rPr lang="en-US"/>
              <a:t> the printer motor</a:t>
            </a:r>
            <a:endParaRPr/>
          </a:p>
          <a:p>
            <a:pPr indent="0" lvl="0" marL="0" rtl="0" algn="l">
              <a:spcBef>
                <a:spcPts val="0"/>
              </a:spcBef>
              <a:spcAft>
                <a:spcPts val="0"/>
              </a:spcAft>
              <a:buNone/>
            </a:pPr>
            <a:r>
              <a:rPr lang="en-US"/>
              <a:t> OS → Printer driver → Printer controller → Start/Stop device</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Generate error checking code</a:t>
            </a:r>
            <a:endParaRPr/>
          </a:p>
          <a:p>
            <a:pPr indent="0" lvl="0" marL="0" rtl="0" algn="l">
              <a:spcBef>
                <a:spcPts val="0"/>
              </a:spcBef>
              <a:spcAft>
                <a:spcPts val="0"/>
              </a:spcAft>
              <a:buNone/>
            </a:pPr>
            <a:r>
              <a:rPr b="1" lang="en-US"/>
              <a:t>Explanation:</a:t>
            </a:r>
            <a:br>
              <a:rPr lang="en-US"/>
            </a:br>
            <a:r>
              <a:rPr lang="en-US"/>
              <a:t>Before sending data to a device, the controller generates </a:t>
            </a:r>
            <a:r>
              <a:rPr b="1" lang="en-US"/>
              <a:t>error-detecting codes</a:t>
            </a:r>
            <a:r>
              <a:rPr lang="en-US"/>
              <a:t> to ensure data integrity.</a:t>
            </a:r>
            <a:endParaRPr/>
          </a:p>
          <a:p>
            <a:pPr indent="0" lvl="0" marL="0" rtl="0" algn="l">
              <a:spcBef>
                <a:spcPts val="0"/>
              </a:spcBef>
              <a:spcAft>
                <a:spcPts val="0"/>
              </a:spcAft>
              <a:buNone/>
            </a:pPr>
            <a:r>
              <a:rPr b="1" lang="en-US"/>
              <a:t>Common codes:</a:t>
            </a:r>
            <a:endParaRPr/>
          </a:p>
          <a:p>
            <a:pPr indent="0" lvl="0" marL="0" rtl="0" algn="l">
              <a:spcBef>
                <a:spcPts val="0"/>
              </a:spcBef>
              <a:spcAft>
                <a:spcPts val="0"/>
              </a:spcAft>
              <a:buNone/>
            </a:pPr>
            <a:r>
              <a:rPr lang="en-US"/>
              <a:t>Parity bit</a:t>
            </a:r>
            <a:endParaRPr/>
          </a:p>
          <a:p>
            <a:pPr indent="0" lvl="0" marL="0" rtl="0" algn="l">
              <a:spcBef>
                <a:spcPts val="0"/>
              </a:spcBef>
              <a:spcAft>
                <a:spcPts val="0"/>
              </a:spcAft>
              <a:buNone/>
            </a:pPr>
            <a:r>
              <a:rPr lang="en-US"/>
              <a:t>Checksum</a:t>
            </a:r>
            <a:endParaRPr/>
          </a:p>
          <a:p>
            <a:pPr indent="0" lvl="0" marL="0" rtl="0" algn="l">
              <a:spcBef>
                <a:spcPts val="0"/>
              </a:spcBef>
              <a:spcAft>
                <a:spcPts val="0"/>
              </a:spcAft>
              <a:buNone/>
            </a:pPr>
            <a:r>
              <a:rPr lang="en-US"/>
              <a:t>CRC (Cyclic Redundancy Check)</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While sending data to a hard disk, the disk controller generates a </a:t>
            </a:r>
            <a:r>
              <a:rPr b="1" lang="en-US"/>
              <a:t>CRC code</a:t>
            </a:r>
            <a:r>
              <a:rPr lang="en-US"/>
              <a:t> and appends it to the data</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Checks the error in the data received from the interface</a:t>
            </a:r>
            <a:endParaRPr/>
          </a:p>
          <a:p>
            <a:pPr indent="0" lvl="0" marL="0" rtl="0" algn="l">
              <a:spcBef>
                <a:spcPts val="0"/>
              </a:spcBef>
              <a:spcAft>
                <a:spcPts val="0"/>
              </a:spcAft>
              <a:buNone/>
            </a:pPr>
            <a:r>
              <a:rPr b="1" lang="en-US"/>
              <a:t>Explanation:</a:t>
            </a:r>
            <a:br>
              <a:rPr lang="en-US"/>
            </a:br>
            <a:r>
              <a:rPr lang="en-US"/>
              <a:t>When data is received, the controller verifies it using the error-checking code.</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Network card receives a data packet</a:t>
            </a:r>
            <a:endParaRPr/>
          </a:p>
          <a:p>
            <a:pPr indent="0" lvl="0" marL="0" rtl="0" algn="l">
              <a:spcBef>
                <a:spcPts val="0"/>
              </a:spcBef>
              <a:spcAft>
                <a:spcPts val="0"/>
              </a:spcAft>
              <a:buNone/>
            </a:pPr>
            <a:r>
              <a:rPr lang="en-US"/>
              <a:t>Controller recalculates CRC</a:t>
            </a:r>
            <a:endParaRPr/>
          </a:p>
          <a:p>
            <a:pPr indent="0" lvl="0" marL="0" rtl="0" algn="l">
              <a:spcBef>
                <a:spcPts val="0"/>
              </a:spcBef>
              <a:spcAft>
                <a:spcPts val="0"/>
              </a:spcAft>
              <a:buNone/>
            </a:pPr>
            <a:r>
              <a:rPr lang="en-US"/>
              <a:t>If CRC ≠ received value → error detected</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Abort that command which have errors</a:t>
            </a:r>
            <a:endParaRPr/>
          </a:p>
          <a:p>
            <a:pPr indent="0" lvl="0" marL="0" rtl="0" algn="l">
              <a:spcBef>
                <a:spcPts val="0"/>
              </a:spcBef>
              <a:spcAft>
                <a:spcPts val="0"/>
              </a:spcAft>
              <a:buNone/>
            </a:pPr>
            <a:r>
              <a:rPr b="1" lang="en-US"/>
              <a:t>Explanation:</a:t>
            </a:r>
            <a:br>
              <a:rPr lang="en-US"/>
            </a:br>
            <a:r>
              <a:rPr lang="en-US"/>
              <a:t>If an error is detected and recovery is not possible, the controller </a:t>
            </a:r>
            <a:r>
              <a:rPr b="1" lang="en-US"/>
              <a:t>terminates (aborts)</a:t>
            </a:r>
            <a:r>
              <a:rPr lang="en-US"/>
              <a:t> the current command.</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Disk read operation fails due to a bad sector</a:t>
            </a:r>
            <a:endParaRPr/>
          </a:p>
          <a:p>
            <a:pPr indent="0" lvl="0" marL="0" rtl="0" algn="l">
              <a:spcBef>
                <a:spcPts val="0"/>
              </a:spcBef>
              <a:spcAft>
                <a:spcPts val="0"/>
              </a:spcAft>
              <a:buNone/>
            </a:pPr>
            <a:r>
              <a:rPr lang="en-US"/>
              <a:t>Controller aborts the read command and reports error to OS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Retry the command having an error</a:t>
            </a:r>
            <a:endParaRPr/>
          </a:p>
          <a:p>
            <a:pPr indent="0" lvl="0" marL="0" rtl="0" algn="l">
              <a:spcBef>
                <a:spcPts val="0"/>
              </a:spcBef>
              <a:spcAft>
                <a:spcPts val="0"/>
              </a:spcAft>
              <a:buNone/>
            </a:pPr>
            <a:r>
              <a:rPr b="1" lang="en-US"/>
              <a:t>Explanation:</a:t>
            </a:r>
            <a:br>
              <a:rPr lang="en-US"/>
            </a:br>
            <a:r>
              <a:rPr lang="en-US"/>
              <a:t>Instead of immediately failing, the controller may </a:t>
            </a:r>
            <a:r>
              <a:rPr b="1" lang="en-US"/>
              <a:t>automatically retry</a:t>
            </a:r>
            <a:r>
              <a:rPr lang="en-US"/>
              <a:t> the operation.</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Disk read fails once</a:t>
            </a:r>
            <a:endParaRPr/>
          </a:p>
          <a:p>
            <a:pPr indent="0" lvl="0" marL="0" rtl="0" algn="l">
              <a:spcBef>
                <a:spcPts val="0"/>
              </a:spcBef>
              <a:spcAft>
                <a:spcPts val="0"/>
              </a:spcAft>
              <a:buNone/>
            </a:pPr>
            <a:r>
              <a:rPr lang="en-US"/>
              <a:t>Controller retries reading the same sector</a:t>
            </a:r>
            <a:endParaRPr/>
          </a:p>
          <a:p>
            <a:pPr indent="0" lvl="0" marL="0" rtl="0" algn="l">
              <a:spcBef>
                <a:spcPts val="0"/>
              </a:spcBef>
              <a:spcAft>
                <a:spcPts val="0"/>
              </a:spcAft>
              <a:buNone/>
            </a:pPr>
            <a:r>
              <a:rPr lang="en-US"/>
              <a:t>If successful → data is accepted</a:t>
            </a:r>
            <a:endParaRPr/>
          </a:p>
          <a:p>
            <a:pPr indent="0" lvl="0" marL="0" rtl="0" algn="l">
              <a:spcBef>
                <a:spcPts val="0"/>
              </a:spcBef>
              <a:spcAft>
                <a:spcPts val="0"/>
              </a:spcAft>
              <a:buNone/>
            </a:pPr>
            <a:r>
              <a:rPr lang="en-US"/>
              <a:t>If not → error is reported</a:t>
            </a:r>
            <a:endParaRPr/>
          </a:p>
          <a:p>
            <a:pPr indent="0" lvl="0" marL="0" rtl="0" algn="l">
              <a:spcBef>
                <a:spcPts val="0"/>
              </a:spcBef>
              <a:spcAft>
                <a:spcPts val="0"/>
              </a:spcAft>
              <a:buNone/>
            </a:pPr>
            <a:r>
              <a:rPr lang="en-US"/>
              <a:t> This improves reliability.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6. Receives the control signals from the interface unit</a:t>
            </a:r>
            <a:endParaRPr/>
          </a:p>
          <a:p>
            <a:pPr indent="0" lvl="0" marL="0" rtl="0" algn="l">
              <a:spcBef>
                <a:spcPts val="0"/>
              </a:spcBef>
              <a:spcAft>
                <a:spcPts val="0"/>
              </a:spcAft>
              <a:buNone/>
            </a:pPr>
            <a:r>
              <a:rPr b="1" lang="en-US"/>
              <a:t>Explanation:</a:t>
            </a:r>
            <a:br>
              <a:rPr lang="en-US"/>
            </a:br>
            <a:r>
              <a:rPr lang="en-US"/>
              <a:t>The device controller receives </a:t>
            </a:r>
            <a:r>
              <a:rPr b="1" lang="en-US"/>
              <a:t>control signals/commands</a:t>
            </a:r>
            <a:r>
              <a:rPr lang="en-US"/>
              <a:t> such as:</a:t>
            </a:r>
            <a:endParaRPr/>
          </a:p>
          <a:p>
            <a:pPr indent="0" lvl="0" marL="0" rtl="0" algn="l">
              <a:spcBef>
                <a:spcPts val="0"/>
              </a:spcBef>
              <a:spcAft>
                <a:spcPts val="0"/>
              </a:spcAft>
              <a:buNone/>
            </a:pPr>
            <a:r>
              <a:rPr lang="en-US"/>
              <a:t>Read</a:t>
            </a:r>
            <a:endParaRPr/>
          </a:p>
          <a:p>
            <a:pPr indent="0" lvl="0" marL="0" rtl="0" algn="l">
              <a:spcBef>
                <a:spcPts val="0"/>
              </a:spcBef>
              <a:spcAft>
                <a:spcPts val="0"/>
              </a:spcAft>
              <a:buNone/>
            </a:pPr>
            <a:r>
              <a:rPr lang="en-US"/>
              <a:t>Write</a:t>
            </a:r>
            <a:endParaRPr/>
          </a:p>
          <a:p>
            <a:pPr indent="0" lvl="0" marL="0" rtl="0" algn="l">
              <a:spcBef>
                <a:spcPts val="0"/>
              </a:spcBef>
              <a:spcAft>
                <a:spcPts val="0"/>
              </a:spcAft>
              <a:buNone/>
            </a:pPr>
            <a:r>
              <a:rPr lang="en-US"/>
              <a:t>Reset</a:t>
            </a:r>
            <a:endParaRPr/>
          </a:p>
          <a:p>
            <a:pPr indent="0" lvl="0" marL="0" rtl="0" algn="l">
              <a:spcBef>
                <a:spcPts val="0"/>
              </a:spcBef>
              <a:spcAft>
                <a:spcPts val="0"/>
              </a:spcAft>
              <a:buNone/>
            </a:pPr>
            <a:r>
              <a:rPr lang="en-US"/>
              <a:t>Stop</a:t>
            </a:r>
            <a:endParaRPr/>
          </a:p>
          <a:p>
            <a:pPr indent="0" lvl="0" marL="0" rtl="0" algn="l">
              <a:spcBef>
                <a:spcPts val="0"/>
              </a:spcBef>
              <a:spcAft>
                <a:spcPts val="0"/>
              </a:spcAft>
              <a:buNone/>
            </a:pPr>
            <a:r>
              <a:rPr lang="en-US"/>
              <a:t>from the </a:t>
            </a:r>
            <a:r>
              <a:rPr b="1" lang="en-US"/>
              <a:t>interface unit / OS</a:t>
            </a:r>
            <a:r>
              <a:rPr lang="en-US"/>
              <a:t>.</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OS sends a </a:t>
            </a:r>
            <a:r>
              <a:rPr b="1" lang="en-US"/>
              <a:t>READ command</a:t>
            </a:r>
            <a:endParaRPr/>
          </a:p>
          <a:p>
            <a:pPr indent="0" lvl="0" marL="0" rtl="0" algn="l">
              <a:spcBef>
                <a:spcPts val="0"/>
              </a:spcBef>
              <a:spcAft>
                <a:spcPts val="0"/>
              </a:spcAft>
              <a:buNone/>
            </a:pPr>
            <a:r>
              <a:rPr lang="en-US"/>
              <a:t>Disk controller receives it and starts disk rotation</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7. Convert the format of the data</a:t>
            </a:r>
            <a:endParaRPr/>
          </a:p>
          <a:p>
            <a:pPr indent="0" lvl="0" marL="0" rtl="0" algn="l">
              <a:spcBef>
                <a:spcPts val="0"/>
              </a:spcBef>
              <a:spcAft>
                <a:spcPts val="0"/>
              </a:spcAft>
              <a:buNone/>
            </a:pPr>
            <a:r>
              <a:rPr b="1" lang="en-US"/>
              <a:t>Explanation:</a:t>
            </a:r>
            <a:br>
              <a:rPr lang="en-US"/>
            </a:br>
            <a:r>
              <a:rPr lang="en-US"/>
              <a:t>Devices and computers may use </a:t>
            </a:r>
            <a:r>
              <a:rPr b="1" lang="en-US"/>
              <a:t>different data formats</a:t>
            </a:r>
            <a:r>
              <a:rPr lang="en-US"/>
              <a:t>, so conversion is required.</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Keyboard sends scan codes</a:t>
            </a:r>
            <a:endParaRPr/>
          </a:p>
          <a:p>
            <a:pPr indent="0" lvl="0" marL="0" rtl="0" algn="l">
              <a:spcBef>
                <a:spcPts val="0"/>
              </a:spcBef>
              <a:spcAft>
                <a:spcPts val="0"/>
              </a:spcAft>
              <a:buNone/>
            </a:pPr>
            <a:r>
              <a:rPr lang="en-US"/>
              <a:t>Controller converts scan codes → ASCII characters</a:t>
            </a:r>
            <a:endParaRPr/>
          </a:p>
          <a:p>
            <a:pPr indent="0" lvl="0" marL="0" rtl="0" algn="l">
              <a:spcBef>
                <a:spcPts val="0"/>
              </a:spcBef>
              <a:spcAft>
                <a:spcPts val="0"/>
              </a:spcAft>
              <a:buNone/>
            </a:pPr>
            <a:r>
              <a:rPr lang="en-US"/>
              <a:t>OS receives readable characters</a:t>
            </a:r>
            <a:endParaRPr/>
          </a:p>
          <a:p>
            <a:pPr indent="0" lvl="0" marL="0" rtl="0" algn="l">
              <a:spcBef>
                <a:spcPts val="0"/>
              </a:spcBef>
              <a:spcAft>
                <a:spcPts val="0"/>
              </a:spcAft>
              <a:buNone/>
            </a:pPr>
            <a:r>
              <a:rPr lang="en-US"/>
              <a:t>Another example:</a:t>
            </a:r>
            <a:endParaRPr/>
          </a:p>
          <a:p>
            <a:pPr indent="0" lvl="0" marL="0" rtl="0" algn="l">
              <a:spcBef>
                <a:spcPts val="0"/>
              </a:spcBef>
              <a:spcAft>
                <a:spcPts val="0"/>
              </a:spcAft>
              <a:buNone/>
            </a:pPr>
            <a:r>
              <a:rPr lang="en-US"/>
              <a:t>Analog signal (microphone) → digital data</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8. Check the status of the device</a:t>
            </a:r>
            <a:endParaRPr/>
          </a:p>
          <a:p>
            <a:pPr indent="0" lvl="0" marL="0" rtl="0" algn="l">
              <a:spcBef>
                <a:spcPts val="0"/>
              </a:spcBef>
              <a:spcAft>
                <a:spcPts val="0"/>
              </a:spcAft>
              <a:buNone/>
            </a:pPr>
            <a:r>
              <a:rPr b="1" lang="en-US"/>
              <a:t>Explanation:</a:t>
            </a:r>
            <a:br>
              <a:rPr lang="en-US"/>
            </a:br>
            <a:r>
              <a:rPr lang="en-US"/>
              <a:t>The controller continuously monitors and reports device status.</a:t>
            </a:r>
            <a:endParaRPr/>
          </a:p>
          <a:p>
            <a:pPr indent="0" lvl="0" marL="0" rtl="0" algn="l">
              <a:spcBef>
                <a:spcPts val="0"/>
              </a:spcBef>
              <a:spcAft>
                <a:spcPts val="0"/>
              </a:spcAft>
              <a:buNone/>
            </a:pPr>
            <a:r>
              <a:rPr b="1" lang="en-US"/>
              <a:t>Common status values:</a:t>
            </a:r>
            <a:endParaRPr/>
          </a:p>
          <a:p>
            <a:pPr indent="0" lvl="0" marL="0" rtl="0" algn="l">
              <a:spcBef>
                <a:spcPts val="0"/>
              </a:spcBef>
              <a:spcAft>
                <a:spcPts val="0"/>
              </a:spcAft>
              <a:buNone/>
            </a:pPr>
            <a:r>
              <a:rPr lang="en-US"/>
              <a:t>Busy</a:t>
            </a:r>
            <a:endParaRPr/>
          </a:p>
          <a:p>
            <a:pPr indent="0" lvl="0" marL="0" rtl="0" algn="l">
              <a:spcBef>
                <a:spcPts val="0"/>
              </a:spcBef>
              <a:spcAft>
                <a:spcPts val="0"/>
              </a:spcAft>
              <a:buNone/>
            </a:pPr>
            <a:r>
              <a:rPr lang="en-US"/>
              <a:t>Ready</a:t>
            </a:r>
            <a:endParaRPr/>
          </a:p>
          <a:p>
            <a:pPr indent="0" lvl="0" marL="0" rtl="0" algn="l">
              <a:spcBef>
                <a:spcPts val="0"/>
              </a:spcBef>
              <a:spcAft>
                <a:spcPts val="0"/>
              </a:spcAft>
              <a:buNone/>
            </a:pPr>
            <a:r>
              <a:rPr lang="en-US"/>
              <a:t>Idle</a:t>
            </a:r>
            <a:endParaRPr/>
          </a:p>
          <a:p>
            <a:pPr indent="0" lvl="0" marL="0" rtl="0" algn="l">
              <a:spcBef>
                <a:spcPts val="0"/>
              </a:spcBef>
              <a:spcAft>
                <a:spcPts val="0"/>
              </a:spcAft>
              <a:buNone/>
            </a:pPr>
            <a:r>
              <a:rPr lang="en-US"/>
              <a:t>Error</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Printer status:</a:t>
            </a:r>
            <a:endParaRPr/>
          </a:p>
          <a:p>
            <a:pPr indent="0" lvl="1" marL="457200" rtl="0" algn="l">
              <a:spcBef>
                <a:spcPts val="0"/>
              </a:spcBef>
              <a:spcAft>
                <a:spcPts val="0"/>
              </a:spcAft>
              <a:buNone/>
            </a:pPr>
            <a:r>
              <a:rPr lang="en-US"/>
              <a:t>Busy → currently printing</a:t>
            </a:r>
            <a:endParaRPr/>
          </a:p>
          <a:p>
            <a:pPr indent="0" lvl="1" marL="457200" rtl="0" algn="l">
              <a:spcBef>
                <a:spcPts val="0"/>
              </a:spcBef>
              <a:spcAft>
                <a:spcPts val="0"/>
              </a:spcAft>
              <a:buNone/>
            </a:pPr>
            <a:r>
              <a:rPr lang="en-US"/>
              <a:t>Ready → waiting for job</a:t>
            </a:r>
            <a:endParaRPr/>
          </a:p>
          <a:p>
            <a:pPr indent="0" lvl="1" marL="457200" rtl="0" algn="l">
              <a:spcBef>
                <a:spcPts val="0"/>
              </a:spcBef>
              <a:spcAft>
                <a:spcPts val="0"/>
              </a:spcAft>
              <a:buNone/>
            </a:pPr>
            <a:r>
              <a:rPr lang="en-US"/>
              <a:t>Error → paper jam</a:t>
            </a:r>
            <a:endParaRPr/>
          </a:p>
          <a:p>
            <a:pPr indent="0" lvl="0" marL="0" rtl="0" algn="l">
              <a:spcBef>
                <a:spcPts val="0"/>
              </a:spcBef>
              <a:spcAft>
                <a:spcPts val="0"/>
              </a:spcAft>
              <a:buNone/>
            </a:pPr>
            <a:r>
              <a:rPr lang="en-US"/>
              <a:t>OS reads status register to decide next action</a:t>
            </a:r>
            <a:endParaRPr/>
          </a:p>
          <a:p>
            <a:pPr indent="0" lvl="0" marL="0" rtl="0" algn="l">
              <a:spcBef>
                <a:spcPts val="0"/>
              </a:spcBef>
              <a:spcAft>
                <a:spcPts val="0"/>
              </a:spcAft>
              <a:buNone/>
            </a:pPr>
            <a:r>
              <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Port-mapped I/O is an input/output technique in which I/O devices are accessed using a separate address space called the I/O port space.</a:t>
            </a:r>
            <a:endParaRPr/>
          </a:p>
          <a:p>
            <a:pPr indent="0" lvl="0" marL="0" rtl="0" algn="l">
              <a:spcBef>
                <a:spcPts val="0"/>
              </a:spcBef>
              <a:spcAft>
                <a:spcPts val="0"/>
              </a:spcAft>
              <a:buNone/>
            </a:pPr>
            <a:r>
              <a:rPr lang="en-US"/>
              <a:t>This address space is different from the main memory address space.</a:t>
            </a:r>
            <a:endParaRPr/>
          </a:p>
          <a:p>
            <a:pPr indent="0" lvl="0" marL="0" rtl="0" algn="l">
              <a:spcBef>
                <a:spcPts val="0"/>
              </a:spcBef>
              <a:spcAft>
                <a:spcPts val="0"/>
              </a:spcAft>
              <a:buNone/>
            </a:pPr>
            <a:r>
              <a:rPr lang="en-US"/>
              <a:t>Because of this separation, the CPU uses special I/O instructions to communicate with devices instead of normal memory instructions.</a:t>
            </a:r>
            <a:endParaRPr/>
          </a:p>
          <a:p>
            <a:pPr indent="0" lvl="0" marL="0" rtl="0" algn="l">
              <a:spcBef>
                <a:spcPts val="0"/>
              </a:spcBef>
              <a:spcAft>
                <a:spcPts val="0"/>
              </a:spcAft>
              <a:buNone/>
            </a:pPr>
            <a:r>
              <a:rPr lang="en-US"/>
              <a:t>Memory and I/O have separate address spaces, and I/O is accessed via ports.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Aspects of Special Instruction I/O: </a:t>
            </a:r>
            <a:endParaRPr/>
          </a:p>
          <a:p>
            <a:pPr indent="-171450" lvl="0" marL="171450" rtl="0" algn="l">
              <a:spcBef>
                <a:spcPts val="0"/>
              </a:spcBef>
              <a:spcAft>
                <a:spcPts val="0"/>
              </a:spcAft>
              <a:buClr>
                <a:schemeClr val="dk1"/>
              </a:buClr>
              <a:buSzPts val="1200"/>
              <a:buFont typeface="Arial"/>
              <a:buChar char="•"/>
            </a:pPr>
            <a:r>
              <a:rPr lang="en-US"/>
              <a:t>Dedicated Instructions: Uses specialized assembly instructions (e.g., IN for reading, OUT for writing) to transfer data between CPU registers and I/O devices.</a:t>
            </a:r>
            <a:endParaRPr/>
          </a:p>
          <a:p>
            <a:pPr indent="-171450" lvl="0" marL="171450" rtl="0" algn="l">
              <a:spcBef>
                <a:spcPts val="0"/>
              </a:spcBef>
              <a:spcAft>
                <a:spcPts val="0"/>
              </a:spcAft>
              <a:buClr>
                <a:schemeClr val="dk1"/>
              </a:buClr>
              <a:buSzPts val="1200"/>
              <a:buFont typeface="Arial"/>
              <a:buChar char="•"/>
            </a:pPr>
            <a:r>
              <a:rPr lang="en-US"/>
              <a:t>Separate Address Space: The I/O address space is distinct from the physical memory address space, meaning a address  (X) in memory is different from address  (X)  in I/O.</a:t>
            </a:r>
            <a:endParaRPr/>
          </a:p>
          <a:p>
            <a:pPr indent="-171450" lvl="0" marL="171450" rtl="0" algn="l">
              <a:spcBef>
                <a:spcPts val="0"/>
              </a:spcBef>
              <a:spcAft>
                <a:spcPts val="0"/>
              </a:spcAft>
              <a:buClr>
                <a:schemeClr val="dk1"/>
              </a:buClr>
              <a:buSzPts val="1200"/>
              <a:buFont typeface="Arial"/>
              <a:buChar char="•"/>
            </a:pPr>
            <a:r>
              <a:rPr lang="en-US"/>
              <a:t>Controlled Access: Typically used in Intel architectures for accessing device data, status, or command registers.</a:t>
            </a:r>
            <a:endParaRPr/>
          </a:p>
          <a:p>
            <a:pPr indent="-171450" lvl="0" marL="171450" rtl="0" algn="l">
              <a:spcBef>
                <a:spcPts val="0"/>
              </a:spcBef>
              <a:spcAft>
                <a:spcPts val="0"/>
              </a:spcAft>
              <a:buClr>
                <a:schemeClr val="dk1"/>
              </a:buClr>
              <a:buSzPts val="1200"/>
              <a:buFont typeface="Arial"/>
              <a:buChar char="•"/>
            </a:pPr>
            <a:r>
              <a:rPr lang="en-US"/>
              <a:t>Efficiency for Simple Devices: It is ideal for simple, low-speed devices, but can be less efficient than DMA (Direct Memory Access) for high-speed devices.</a:t>
            </a:r>
            <a:endParaRPr/>
          </a:p>
          <a:p>
            <a:pPr indent="-171450" lvl="0" marL="171450" rtl="0" algn="l">
              <a:spcBef>
                <a:spcPts val="0"/>
              </a:spcBef>
              <a:spcAft>
                <a:spcPts val="0"/>
              </a:spcAft>
              <a:buClr>
                <a:schemeClr val="dk1"/>
              </a:buClr>
              <a:buSzPts val="1200"/>
              <a:buFont typeface="Arial"/>
              <a:buChar char="•"/>
            </a:pPr>
            <a:r>
              <a:rPr lang="en-US"/>
              <a:t>Usage Context: While memory-mapped I/O allows any memory instruction to access devices, special instruction I/O requires specific commands. </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a:p>
            <a:pPr indent="-228600" lvl="0" marL="228600" rtl="0" algn="l">
              <a:spcBef>
                <a:spcPts val="0"/>
              </a:spcBef>
              <a:spcAft>
                <a:spcPts val="0"/>
              </a:spcAft>
              <a:buClr>
                <a:schemeClr val="dk1"/>
              </a:buClr>
              <a:buSzPts val="1200"/>
              <a:buFont typeface="Calibri"/>
              <a:buAutoNum type="arabicPeriod"/>
            </a:pPr>
            <a:r>
              <a:rPr b="0" i="0" lang="en-US" sz="1200">
                <a:solidFill>
                  <a:schemeClr val="dk1"/>
                </a:solidFill>
                <a:latin typeface="Calibri"/>
                <a:ea typeface="Calibri"/>
                <a:cs typeface="Calibri"/>
                <a:sym typeface="Calibri"/>
              </a:rPr>
              <a:t>Embedded systems often use isolated I/O because it's important to keep the CPU and peripheral devices completely separate. This includes things like industrial control systems, robotics, and automotive electronics. Keeping devices separate helps prevent issues with one device from affecting the whole system.</a:t>
            </a:r>
            <a:endParaRPr/>
          </a:p>
          <a:p>
            <a:pPr indent="-228600" lvl="0" marL="228600" rtl="0" algn="l">
              <a:spcBef>
                <a:spcPts val="0"/>
              </a:spcBef>
              <a:spcAft>
                <a:spcPts val="0"/>
              </a:spcAft>
              <a:buClr>
                <a:schemeClr val="dk1"/>
              </a:buClr>
              <a:buSzPts val="1200"/>
              <a:buFont typeface="Calibri"/>
              <a:buAutoNum type="arabicPeriod"/>
            </a:pPr>
            <a:r>
              <a:rPr b="0" i="0" lang="en-US" sz="1200">
                <a:solidFill>
                  <a:schemeClr val="dk1"/>
                </a:solidFill>
                <a:latin typeface="Calibri"/>
                <a:ea typeface="Calibri"/>
                <a:cs typeface="Calibri"/>
                <a:sym typeface="Calibri"/>
              </a:rPr>
              <a:t>Microcontrollers often use isolated input and output to connect with different devices like sensors, actuators, and screens. Each device gets its own special input/output port, which lets the microcontroller talk to several different parts connected to it, one at a time, in a smooth and effective way.</a:t>
            </a: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In real-time systems, where timing is very important and the system needs to act in a predictable way, isolated I/O is usually used. It lets you have exact control over when things happen and how they line up with each other, which helps the system work reliably and in a predictable way.</a:t>
            </a:r>
            <a:endParaRPr/>
          </a:p>
        </p:txBody>
      </p:sp>
      <p:sp>
        <p:nvSpPr>
          <p:cNvPr id="217" name="Google Shape;21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 is the scheme that assigns specific memory location to I/O devices. For example, in memory mapped display text character drives its data from a specific location. Thus communication to and from I/O device can be same as reading and writing to memory address that responds to the I/O devices.</a:t>
            </a:r>
            <a:endParaRPr/>
          </a:p>
        </p:txBody>
      </p:sp>
      <p:sp>
        <p:nvSpPr>
          <p:cNvPr id="236" name="Google Shape;23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This is a simple program which services I/O ports A, B, and C. The polling routine checks the status of I/O ports in proper sequence. It first transfers the status of I/O port A into the accumulator. Then the polling routine block checks the contents of accumulator to see if the service request bit is set. If it is, I/O port A service routine is called.</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After completion of service routine for I/O port A, the polling routine moves on to test port B and the process is repeated. This test and service procedure continues until all the I/O port status registers are tested and all the I/O ports requesting service are serviced. Once this is done, the microprocessor continues to execute the normal programs</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polling routine assigns priorities to the different I/O devices. Once the polling routine is started, the service request bit at port A is always checked first. Once port A is checked, port B is checked, and then port C. However, the order can be changed by simply changing the polling routine and thus the priorities.</a:t>
            </a:r>
            <a:endParaRPr/>
          </a:p>
        </p:txBody>
      </p:sp>
      <p:sp>
        <p:nvSpPr>
          <p:cNvPr id="258" name="Google Shape;25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Polled I/O is a </a:t>
            </a:r>
            <a:r>
              <a:rPr b="1" lang="en-US"/>
              <a:t>basic I/O technique</a:t>
            </a:r>
            <a:r>
              <a:rPr lang="en-US"/>
              <a:t> where the CPU actively waits for the device to become ready. Although it is simple and easy to implement, it is inefficient due to </a:t>
            </a:r>
            <a:r>
              <a:rPr b="1" lang="en-US"/>
              <a:t>busy waiting</a:t>
            </a:r>
            <a:r>
              <a:rPr lang="en-US"/>
              <a:t> and is rarely used in modern multitasking operating systems, where </a:t>
            </a:r>
            <a:r>
              <a:rPr b="1" lang="en-US"/>
              <a:t>interrupt-driven I/O</a:t>
            </a:r>
            <a:r>
              <a:rPr lang="en-US"/>
              <a:t> is preferred.</a:t>
            </a:r>
            <a:endParaRPr/>
          </a:p>
        </p:txBody>
      </p:sp>
      <p:sp>
        <p:nvSpPr>
          <p:cNvPr id="273" name="Google Shape;27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 </a:t>
            </a:r>
            <a:r>
              <a:rPr b="1" lang="en-US"/>
              <a:t>interrupt</a:t>
            </a:r>
            <a:r>
              <a:rPr lang="en-US"/>
              <a:t> is a signal that causes the CPU to temporarily stop executing the current program and execute a special routine called the </a:t>
            </a:r>
            <a:r>
              <a:rPr b="1" lang="en-US"/>
              <a:t>Interrupt Service Routine (ISR)</a:t>
            </a:r>
            <a:r>
              <a:rPr lang="en-US"/>
              <a:t>.</a:t>
            </a:r>
            <a:endParaRPr/>
          </a:p>
          <a:p>
            <a:pPr indent="0" lvl="0" marL="0" rtl="0" algn="l">
              <a:spcBef>
                <a:spcPts val="0"/>
              </a:spcBef>
              <a:spcAft>
                <a:spcPts val="0"/>
              </a:spcAft>
              <a:buNone/>
            </a:pPr>
            <a:r>
              <a:rPr lang="en-US"/>
              <a:t>Interrupts are classified based on </a:t>
            </a:r>
            <a:r>
              <a:rPr b="1" lang="en-US"/>
              <a:t>source, timing, and handling method</a:t>
            </a:r>
            <a:r>
              <a:rPr lang="en-US"/>
              <a:t>.</a:t>
            </a:r>
            <a:endParaRPr/>
          </a:p>
          <a:p>
            <a:pPr indent="0" lvl="0" marL="0" rtl="0" algn="l">
              <a:spcBef>
                <a:spcPts val="0"/>
              </a:spcBef>
              <a:spcAft>
                <a:spcPts val="0"/>
              </a:spcAft>
              <a:buNone/>
            </a:pPr>
            <a:r>
              <a:t/>
            </a:r>
            <a:endParaRPr/>
          </a:p>
        </p:txBody>
      </p:sp>
      <p:sp>
        <p:nvSpPr>
          <p:cNvPr id="281" name="Google Shape;28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Need for an Interrupt Controller</a:t>
            </a:r>
            <a:endParaRPr/>
          </a:p>
          <a:p>
            <a:pPr indent="0" lvl="0" marL="0" rtl="0" algn="l">
              <a:spcBef>
                <a:spcPts val="0"/>
              </a:spcBef>
              <a:spcAft>
                <a:spcPts val="0"/>
              </a:spcAft>
              <a:buNone/>
            </a:pPr>
            <a:r>
              <a:rPr lang="en-US"/>
              <a:t>Multiple devices may request service </a:t>
            </a:r>
            <a:r>
              <a:rPr b="1" lang="en-US"/>
              <a:t>simultaneously</a:t>
            </a:r>
            <a:endParaRPr/>
          </a:p>
          <a:p>
            <a:pPr indent="0" lvl="0" marL="0" rtl="0" algn="l">
              <a:spcBef>
                <a:spcPts val="0"/>
              </a:spcBef>
              <a:spcAft>
                <a:spcPts val="0"/>
              </a:spcAft>
              <a:buNone/>
            </a:pPr>
            <a:r>
              <a:rPr lang="en-US"/>
              <a:t>CPU can handle </a:t>
            </a:r>
            <a:r>
              <a:rPr b="1" lang="en-US"/>
              <a:t>only one interrupt at a time</a:t>
            </a:r>
            <a:endParaRPr/>
          </a:p>
          <a:p>
            <a:pPr indent="0" lvl="0" marL="0" rtl="0" algn="l">
              <a:spcBef>
                <a:spcPts val="0"/>
              </a:spcBef>
              <a:spcAft>
                <a:spcPts val="0"/>
              </a:spcAft>
              <a:buNone/>
            </a:pPr>
            <a:r>
              <a:rPr lang="en-US"/>
              <a:t>Interrupts must be:</a:t>
            </a:r>
            <a:endParaRPr/>
          </a:p>
          <a:p>
            <a:pPr indent="0" lvl="1" marL="457200" rtl="0" algn="l">
              <a:spcBef>
                <a:spcPts val="0"/>
              </a:spcBef>
              <a:spcAft>
                <a:spcPts val="0"/>
              </a:spcAft>
              <a:buNone/>
            </a:pPr>
            <a:r>
              <a:rPr lang="en-US"/>
              <a:t>Prioritized</a:t>
            </a:r>
            <a:endParaRPr/>
          </a:p>
          <a:p>
            <a:pPr indent="0" lvl="1" marL="457200" rtl="0" algn="l">
              <a:spcBef>
                <a:spcPts val="0"/>
              </a:spcBef>
              <a:spcAft>
                <a:spcPts val="0"/>
              </a:spcAft>
              <a:buNone/>
            </a:pPr>
            <a:r>
              <a:rPr lang="en-US"/>
              <a:t>Masked (enabled/disabled)</a:t>
            </a:r>
            <a:endParaRPr/>
          </a:p>
          <a:p>
            <a:pPr indent="0" lvl="1" marL="457200" rtl="0" algn="l">
              <a:spcBef>
                <a:spcPts val="0"/>
              </a:spcBef>
              <a:spcAft>
                <a:spcPts val="0"/>
              </a:spcAft>
              <a:buNone/>
            </a:pPr>
            <a:r>
              <a:rPr lang="en-US"/>
              <a:t>Acknowledged correctly</a:t>
            </a:r>
            <a:endParaRPr/>
          </a:p>
          <a:p>
            <a:pPr indent="0" lvl="0" marL="0" rtl="0" algn="l">
              <a:spcBef>
                <a:spcPts val="0"/>
              </a:spcBef>
              <a:spcAft>
                <a:spcPts val="0"/>
              </a:spcAft>
              <a:buNone/>
            </a:pPr>
            <a:r>
              <a:rPr lang="en-US"/>
              <a:t>The interrupt controller </a:t>
            </a:r>
            <a:r>
              <a:rPr b="1" lang="en-US"/>
              <a:t>solves these problems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Functions of Interrupt Controller</a:t>
            </a:r>
            <a:endParaRPr/>
          </a:p>
          <a:p>
            <a:pPr indent="0" lvl="0" marL="0" rtl="0" algn="l">
              <a:spcBef>
                <a:spcPts val="0"/>
              </a:spcBef>
              <a:spcAft>
                <a:spcPts val="0"/>
              </a:spcAft>
              <a:buNone/>
            </a:pPr>
            <a:r>
              <a:rPr b="1" lang="en-US"/>
              <a:t>Collects interrupt requests</a:t>
            </a:r>
            <a:r>
              <a:rPr lang="en-US"/>
              <a:t> from I/O devices</a:t>
            </a:r>
            <a:endParaRPr/>
          </a:p>
          <a:p>
            <a:pPr indent="0" lvl="0" marL="0" rtl="0" algn="l">
              <a:spcBef>
                <a:spcPts val="0"/>
              </a:spcBef>
              <a:spcAft>
                <a:spcPts val="0"/>
              </a:spcAft>
              <a:buNone/>
            </a:pPr>
            <a:r>
              <a:rPr b="1" lang="en-US"/>
              <a:t>Prioritizes interrupts</a:t>
            </a:r>
            <a:r>
              <a:rPr lang="en-US"/>
              <a:t> when multiple requests occur</a:t>
            </a:r>
            <a:endParaRPr/>
          </a:p>
          <a:p>
            <a:pPr indent="0" lvl="0" marL="0" rtl="0" algn="l">
              <a:spcBef>
                <a:spcPts val="0"/>
              </a:spcBef>
              <a:spcAft>
                <a:spcPts val="0"/>
              </a:spcAft>
              <a:buNone/>
            </a:pPr>
            <a:r>
              <a:rPr b="1" lang="en-US"/>
              <a:t>Masks interrupts</a:t>
            </a:r>
            <a:r>
              <a:rPr lang="en-US"/>
              <a:t> (enables/disables selected IRQs)</a:t>
            </a:r>
            <a:endParaRPr/>
          </a:p>
          <a:p>
            <a:pPr indent="0" lvl="0" marL="0" rtl="0" algn="l">
              <a:spcBef>
                <a:spcPts val="0"/>
              </a:spcBef>
              <a:spcAft>
                <a:spcPts val="0"/>
              </a:spcAft>
              <a:buNone/>
            </a:pPr>
            <a:r>
              <a:rPr b="1" lang="en-US"/>
              <a:t>Sends interrupt signal</a:t>
            </a:r>
            <a:r>
              <a:rPr lang="en-US"/>
              <a:t> to CPU</a:t>
            </a:r>
            <a:endParaRPr/>
          </a:p>
          <a:p>
            <a:pPr indent="0" lvl="0" marL="0" rtl="0" algn="l">
              <a:spcBef>
                <a:spcPts val="0"/>
              </a:spcBef>
              <a:spcAft>
                <a:spcPts val="0"/>
              </a:spcAft>
              <a:buNone/>
            </a:pPr>
            <a:r>
              <a:rPr b="1" lang="en-US"/>
              <a:t>Provides interrupt vector number</a:t>
            </a:r>
            <a:endParaRPr/>
          </a:p>
          <a:p>
            <a:pPr indent="0" lvl="0" marL="0" rtl="0" algn="l">
              <a:spcBef>
                <a:spcPts val="0"/>
              </a:spcBef>
              <a:spcAft>
                <a:spcPts val="0"/>
              </a:spcAft>
              <a:buNone/>
            </a:pPr>
            <a:r>
              <a:rPr b="1" lang="en-US"/>
              <a:t>Handles interrupt acknowledgement</a:t>
            </a:r>
            <a:r>
              <a:rPr lang="en-US"/>
              <a:t> from CPU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Working of Interrupt Controller</a:t>
            </a:r>
            <a:endParaRPr/>
          </a:p>
          <a:p>
            <a:pPr indent="0" lvl="0" marL="0" rtl="0" algn="l">
              <a:spcBef>
                <a:spcPts val="0"/>
              </a:spcBef>
              <a:spcAft>
                <a:spcPts val="0"/>
              </a:spcAft>
              <a:buNone/>
            </a:pPr>
            <a:r>
              <a:rPr lang="en-US"/>
              <a:t>An I/O device generates an interrupt request (IRQ).</a:t>
            </a:r>
            <a:endParaRPr/>
          </a:p>
          <a:p>
            <a:pPr indent="0" lvl="0" marL="0" rtl="0" algn="l">
              <a:spcBef>
                <a:spcPts val="0"/>
              </a:spcBef>
              <a:spcAft>
                <a:spcPts val="0"/>
              </a:spcAft>
              <a:buNone/>
            </a:pPr>
            <a:r>
              <a:rPr lang="en-US"/>
              <a:t>The interrupt controller receives the IRQ.</a:t>
            </a:r>
            <a:endParaRPr/>
          </a:p>
          <a:p>
            <a:pPr indent="0" lvl="0" marL="0" rtl="0" algn="l">
              <a:spcBef>
                <a:spcPts val="0"/>
              </a:spcBef>
              <a:spcAft>
                <a:spcPts val="0"/>
              </a:spcAft>
              <a:buNone/>
            </a:pPr>
            <a:r>
              <a:rPr lang="en-US"/>
              <a:t>It checks:</a:t>
            </a:r>
            <a:endParaRPr/>
          </a:p>
          <a:p>
            <a:pPr indent="0" lvl="1" marL="457200" rtl="0" algn="l">
              <a:spcBef>
                <a:spcPts val="0"/>
              </a:spcBef>
              <a:spcAft>
                <a:spcPts val="0"/>
              </a:spcAft>
              <a:buNone/>
            </a:pPr>
            <a:r>
              <a:rPr lang="en-US"/>
              <a:t>Whether the interrupt is enabled</a:t>
            </a:r>
            <a:endParaRPr/>
          </a:p>
          <a:p>
            <a:pPr indent="0" lvl="1" marL="457200" rtl="0" algn="l">
              <a:spcBef>
                <a:spcPts val="0"/>
              </a:spcBef>
              <a:spcAft>
                <a:spcPts val="0"/>
              </a:spcAft>
              <a:buNone/>
            </a:pPr>
            <a:r>
              <a:rPr lang="en-US"/>
              <a:t>Its priority level</a:t>
            </a:r>
            <a:endParaRPr/>
          </a:p>
          <a:p>
            <a:pPr indent="0" lvl="0" marL="0" rtl="0" algn="l">
              <a:spcBef>
                <a:spcPts val="0"/>
              </a:spcBef>
              <a:spcAft>
                <a:spcPts val="0"/>
              </a:spcAft>
              <a:buNone/>
            </a:pPr>
            <a:r>
              <a:rPr lang="en-US"/>
              <a:t>The highest-priority interrupt is forwarded to the CPU.</a:t>
            </a:r>
            <a:endParaRPr/>
          </a:p>
          <a:p>
            <a:pPr indent="0" lvl="0" marL="0" rtl="0" algn="l">
              <a:spcBef>
                <a:spcPts val="0"/>
              </a:spcBef>
              <a:spcAft>
                <a:spcPts val="0"/>
              </a:spcAft>
              <a:buNone/>
            </a:pPr>
            <a:r>
              <a:rPr lang="en-US"/>
              <a:t>CPU sends an </a:t>
            </a:r>
            <a:r>
              <a:rPr b="1" lang="en-US"/>
              <a:t>interrupt acknowledge (INTA)</a:t>
            </a:r>
            <a:r>
              <a:rPr lang="en-US"/>
              <a:t> signal.</a:t>
            </a:r>
            <a:endParaRPr/>
          </a:p>
          <a:p>
            <a:pPr indent="0" lvl="0" marL="0" rtl="0" algn="l">
              <a:spcBef>
                <a:spcPts val="0"/>
              </a:spcBef>
              <a:spcAft>
                <a:spcPts val="0"/>
              </a:spcAft>
              <a:buNone/>
            </a:pPr>
            <a:r>
              <a:rPr lang="en-US"/>
              <a:t>Interrupt controller supplies the </a:t>
            </a:r>
            <a:r>
              <a:rPr b="1" lang="en-US"/>
              <a:t>interrupt vector</a:t>
            </a:r>
            <a:r>
              <a:rPr lang="en-US"/>
              <a:t>.</a:t>
            </a:r>
            <a:endParaRPr/>
          </a:p>
          <a:p>
            <a:pPr indent="0" lvl="0" marL="0" rtl="0" algn="l">
              <a:spcBef>
                <a:spcPts val="0"/>
              </a:spcBef>
              <a:spcAft>
                <a:spcPts val="0"/>
              </a:spcAft>
              <a:buNone/>
            </a:pPr>
            <a:r>
              <a:rPr lang="en-US"/>
              <a:t>CPU executes the corresponding </a:t>
            </a:r>
            <a:r>
              <a:rPr b="1" lang="en-US"/>
              <a:t>Interrupt Service Routine (ISR)</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Interrupt Priority Handling</a:t>
            </a:r>
            <a:endParaRPr/>
          </a:p>
          <a:p>
            <a:pPr indent="0" lvl="0" marL="0" rtl="0" algn="l">
              <a:spcBef>
                <a:spcPts val="0"/>
              </a:spcBef>
              <a:spcAft>
                <a:spcPts val="0"/>
              </a:spcAft>
              <a:buNone/>
            </a:pPr>
            <a:r>
              <a:rPr lang="en-US"/>
              <a:t>Interrupts are assigned </a:t>
            </a:r>
            <a:r>
              <a:rPr b="1" lang="en-US"/>
              <a:t>priority levels</a:t>
            </a:r>
            <a:r>
              <a:rPr lang="en-US"/>
              <a:t>.</a:t>
            </a:r>
            <a:endParaRPr/>
          </a:p>
          <a:p>
            <a:pPr indent="0" lvl="0" marL="0" rtl="0" algn="l">
              <a:spcBef>
                <a:spcPts val="0"/>
              </a:spcBef>
              <a:spcAft>
                <a:spcPts val="0"/>
              </a:spcAft>
              <a:buNone/>
            </a:pPr>
            <a:r>
              <a:rPr lang="en-US"/>
              <a:t>Higher-priority interrupts can:</a:t>
            </a:r>
            <a:endParaRPr/>
          </a:p>
          <a:p>
            <a:pPr indent="0" lvl="1" marL="457200" rtl="0" algn="l">
              <a:spcBef>
                <a:spcPts val="0"/>
              </a:spcBef>
              <a:spcAft>
                <a:spcPts val="0"/>
              </a:spcAft>
              <a:buNone/>
            </a:pPr>
            <a:r>
              <a:rPr lang="en-US"/>
              <a:t>Preempt lower-priority ones</a:t>
            </a:r>
            <a:endParaRPr/>
          </a:p>
          <a:p>
            <a:pPr indent="0" lvl="0" marL="0" rtl="0" algn="l">
              <a:spcBef>
                <a:spcPts val="0"/>
              </a:spcBef>
              <a:spcAft>
                <a:spcPts val="0"/>
              </a:spcAft>
              <a:buNone/>
            </a:pPr>
            <a:r>
              <a:rPr lang="en-US"/>
              <a:t>Priority schemes:</a:t>
            </a:r>
            <a:endParaRPr/>
          </a:p>
          <a:p>
            <a:pPr indent="0" lvl="1" marL="457200" rtl="0" algn="l">
              <a:spcBef>
                <a:spcPts val="0"/>
              </a:spcBef>
              <a:spcAft>
                <a:spcPts val="0"/>
              </a:spcAft>
              <a:buNone/>
            </a:pPr>
            <a:r>
              <a:rPr lang="en-US"/>
              <a:t>Fixed priority</a:t>
            </a:r>
            <a:endParaRPr/>
          </a:p>
          <a:p>
            <a:pPr indent="0" lvl="1" marL="457200" rtl="0" algn="l">
              <a:spcBef>
                <a:spcPts val="0"/>
              </a:spcBef>
              <a:spcAft>
                <a:spcPts val="0"/>
              </a:spcAft>
              <a:buNone/>
            </a:pPr>
            <a:r>
              <a:rPr lang="en-US"/>
              <a:t>Rotating priority</a:t>
            </a:r>
            <a:endParaRPr/>
          </a:p>
          <a:p>
            <a:pPr indent="0" lvl="1" marL="457200" rtl="0" algn="l">
              <a:spcBef>
                <a:spcPts val="0"/>
              </a:spcBef>
              <a:spcAft>
                <a:spcPts val="0"/>
              </a:spcAft>
              <a:buNone/>
            </a:pPr>
            <a:r>
              <a:rPr lang="en-US"/>
              <a:t>Programmable priority</a:t>
            </a:r>
            <a:endParaRPr/>
          </a:p>
          <a:p>
            <a:pPr indent="0" lvl="0" marL="0" rtl="0" algn="l">
              <a:spcBef>
                <a:spcPts val="0"/>
              </a:spcBef>
              <a:spcAft>
                <a:spcPts val="0"/>
              </a:spcAft>
              <a:buNone/>
            </a:pPr>
            <a:r>
              <a:t/>
            </a:r>
            <a:endParaRPr/>
          </a:p>
        </p:txBody>
      </p:sp>
      <p:sp>
        <p:nvSpPr>
          <p:cNvPr id="289" name="Google Shape;2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1. Hardware Interrupts (External)</a:t>
            </a: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Generated by physical peripherals or external signals requiring CPU attention.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Maskable Interrupts (MI):</a:t>
            </a:r>
            <a:r>
              <a:rPr b="0" i="0" lang="en-US" sz="1200">
                <a:solidFill>
                  <a:schemeClr val="dk1"/>
                </a:solidFill>
                <a:latin typeface="Calibri"/>
                <a:ea typeface="Calibri"/>
                <a:cs typeface="Calibri"/>
                <a:sym typeface="Calibri"/>
              </a:rPr>
              <a:t> Can be delayed or ignored by the CPU if higher-priority tasks are running.</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Non-Maskable Interrupts (NMI):</a:t>
            </a:r>
            <a:r>
              <a:rPr b="0" i="0" lang="en-US" sz="1200">
                <a:solidFill>
                  <a:schemeClr val="dk1"/>
                </a:solidFill>
                <a:latin typeface="Calibri"/>
                <a:ea typeface="Calibri"/>
                <a:cs typeface="Calibri"/>
                <a:sym typeface="Calibri"/>
              </a:rPr>
              <a:t> Cannot be ignored; must be serviced immediately (e.g., power failure, hardware failure). </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2. Software Interrupts (Internal)</a:t>
            </a:r>
            <a:br>
              <a:rPr b="0" i="0" lang="en-US" sz="1200">
                <a:solidFill>
                  <a:schemeClr val="dk1"/>
                </a:solidFill>
                <a:latin typeface="Calibri"/>
                <a:ea typeface="Calibri"/>
                <a:cs typeface="Calibri"/>
                <a:sym typeface="Calibri"/>
              </a:rPr>
            </a:br>
            <a:r>
              <a:rPr b="0" i="0" lang="en-US" sz="1200">
                <a:solidFill>
                  <a:schemeClr val="dk1"/>
                </a:solidFill>
                <a:latin typeface="Calibri"/>
                <a:ea typeface="Calibri"/>
                <a:cs typeface="Calibri"/>
                <a:sym typeface="Calibri"/>
              </a:rPr>
              <a:t>Generated by programs or instructions, often to request operating system services.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Normal Interrupts:</a:t>
            </a:r>
            <a:r>
              <a:rPr b="0" i="0" lang="en-US" sz="1200">
                <a:solidFill>
                  <a:schemeClr val="dk1"/>
                </a:solidFill>
                <a:latin typeface="Calibri"/>
                <a:ea typeface="Calibri"/>
                <a:cs typeface="Calibri"/>
                <a:sym typeface="Calibri"/>
              </a:rPr>
              <a:t> Specific instructions within a program that trigger an interrupt.</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Exceptions:</a:t>
            </a:r>
            <a:r>
              <a:rPr b="0" i="0" lang="en-US" sz="1200">
                <a:solidFill>
                  <a:schemeClr val="dk1"/>
                </a:solidFill>
                <a:latin typeface="Calibri"/>
                <a:ea typeface="Calibri"/>
                <a:cs typeface="Calibri"/>
                <a:sym typeface="Calibri"/>
              </a:rPr>
              <a:t> Unplanned interruptions caused by errors during instruction execution (e.g., division by zero, invalid memory access). </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3. Other Classifications</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External Interrupts:</a:t>
            </a:r>
            <a:r>
              <a:rPr b="0" i="0" lang="en-US" sz="1200">
                <a:solidFill>
                  <a:schemeClr val="dk1"/>
                </a:solidFill>
                <a:latin typeface="Calibri"/>
                <a:ea typeface="Calibri"/>
                <a:cs typeface="Calibri"/>
                <a:sym typeface="Calibri"/>
              </a:rPr>
              <a:t> Triggered by I/O devices, timers, or hardware failures.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Internal Interrupts</a:t>
            </a:r>
            <a:r>
              <a:rPr b="0" i="0" lang="en-US" sz="1200">
                <a:solidFill>
                  <a:schemeClr val="dk1"/>
                </a:solidFill>
                <a:latin typeface="Calibri"/>
                <a:ea typeface="Calibri"/>
                <a:cs typeface="Calibri"/>
                <a:sym typeface="Calibri"/>
              </a:rPr>
              <a:t> :Caused by illegal or erroneous use of instructions (similar to exceptions).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Periodic/Aperiodic:</a:t>
            </a:r>
            <a:r>
              <a:rPr b="0" i="0" lang="en-US" sz="1200">
                <a:solidFill>
                  <a:schemeClr val="dk1"/>
                </a:solidFill>
                <a:latin typeface="Calibri"/>
                <a:ea typeface="Calibri"/>
                <a:cs typeface="Calibri"/>
                <a:sym typeface="Calibri"/>
              </a:rPr>
              <a:t> Occurring at fixed intervals (timer) or unpredictably (mouse click). </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Common Examples:</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I/O Interrupt:</a:t>
            </a:r>
            <a:r>
              <a:rPr b="0" i="0" lang="en-US" sz="1200">
                <a:solidFill>
                  <a:schemeClr val="dk1"/>
                </a:solidFill>
                <a:latin typeface="Calibri"/>
                <a:ea typeface="Calibri"/>
                <a:cs typeface="Calibri"/>
                <a:sym typeface="Calibri"/>
              </a:rPr>
              <a:t> Printer finished printing, keyboard key press.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Timer Interrupt:</a:t>
            </a:r>
            <a:r>
              <a:rPr b="0" i="0" lang="en-US" sz="1200">
                <a:solidFill>
                  <a:schemeClr val="dk1"/>
                </a:solidFill>
                <a:latin typeface="Calibri"/>
                <a:ea typeface="Calibri"/>
                <a:cs typeface="Calibri"/>
                <a:sym typeface="Calibri"/>
              </a:rPr>
              <a:t> A process timer reaches zero.</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System Call:</a:t>
            </a:r>
            <a:r>
              <a:rPr b="0" i="0" lang="en-US" sz="1200">
                <a:solidFill>
                  <a:schemeClr val="dk1"/>
                </a:solidFill>
                <a:latin typeface="Calibri"/>
                <a:ea typeface="Calibri"/>
                <a:cs typeface="Calibri"/>
                <a:sym typeface="Calibri"/>
              </a:rPr>
              <a:t> A program requesting data from the disk.</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Hardware Interrupts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a hardware interrupt, all the devices are connected to the Interrupt Request Line. A single request line is used for all the n devices. To request an interrupt, a device closes its associated switch. When a device requests an interrupt, the value of INTR is the logical OR of the requests from individual devices.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Hardware interrupts are further divided into two types of interrupt</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Maskable Interrupt: </a:t>
            </a:r>
            <a:r>
              <a:rPr b="0" i="0" lang="en-US" sz="1200">
                <a:solidFill>
                  <a:schemeClr val="dk1"/>
                </a:solidFill>
                <a:latin typeface="Calibri"/>
                <a:ea typeface="Calibri"/>
                <a:cs typeface="Calibri"/>
                <a:sym typeface="Calibri"/>
              </a:rPr>
              <a:t>Hardware interrupts can be selectively enabled and disabled thanks to an inbuilt interrupt mask register that is commonly found in processors. A bit in the mask register corresponds to each interrupt signal; on some systems, the interrupt is enabled when the bit is set and disabled when the bit is clear, but on other systems, the interrupt is deactivated when the bit is set.</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Spurious Interrupt: </a:t>
            </a:r>
            <a:r>
              <a:rPr b="0" i="0" lang="en-US" sz="1200">
                <a:solidFill>
                  <a:schemeClr val="dk1"/>
                </a:solidFill>
                <a:latin typeface="Calibri"/>
                <a:ea typeface="Calibri"/>
                <a:cs typeface="Calibri"/>
                <a:sym typeface="Calibri"/>
              </a:rPr>
              <a:t>A hardware interrupt for which there is no source is known as a spurious interrupt. This phenomenon might also be referred to as phantom or ghost interrupts. When a wired-OR interrupt circuit is connected to a level-sensitive processor input, spurious interruptions are typically an issue. When a system performs badly, it could be challenging to locate these interruptions.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Software Interrupt: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sort of interrupt called a software interrupt is one that is produced by software or a system as opposed to hardware. Traps and exceptions are other names for software interruptions. They serve as a signal for the operating system or a system service to carry out a certain function or respond to an error condition. Generally, software interrupts occur as a result of specific instructions being used or exceptions in the operation. In our system, software interrupts often occur when system calls are made. In contrast to the </a:t>
            </a:r>
            <a:r>
              <a:rPr b="0" i="0" lang="en-US" sz="1200" u="sng">
                <a:solidFill>
                  <a:schemeClr val="dk1"/>
                </a:solidFill>
                <a:latin typeface="Calibri"/>
                <a:ea typeface="Calibri"/>
                <a:cs typeface="Calibri"/>
                <a:sym typeface="Calibri"/>
                <a:hlinkClick r:id="rId2">
                  <a:extLst>
                    <a:ext uri="{A12FA001-AC4F-418D-AE19-62706E023703}">
                      <ahyp:hlinkClr val="tx"/>
                    </a:ext>
                  </a:extLst>
                </a:hlinkClick>
              </a:rPr>
              <a:t>fork() system call</a:t>
            </a:r>
            <a:r>
              <a:rPr b="0" i="0" lang="en-US" sz="1200">
                <a:solidFill>
                  <a:schemeClr val="dk1"/>
                </a:solidFill>
                <a:latin typeface="Calibri"/>
                <a:ea typeface="Calibri"/>
                <a:cs typeface="Calibri"/>
                <a:sym typeface="Calibri"/>
              </a:rPr>
              <a:t>, which also generates a software interrupt, division by zero throws an exception that results in the software interrupt.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 particular instruction known as an "interrupt instruction" is used to create software interrupts. When the interrupt instruction is used, the processor stops what it is doing and switches over to a particular interrupt handler code. The interrupt handler routine completes the required work or handles any errors before handing back control to the interrupted application.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7" name="Google Shape;29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1:- Any time that an interrupt is raised, it may either be an I/O interrupt or a system interrupt.</a:t>
            </a:r>
            <a:endParaRPr/>
          </a:p>
          <a:p>
            <a:pPr indent="0" lvl="0" marL="0" rtl="0" algn="l">
              <a:spcBef>
                <a:spcPts val="0"/>
              </a:spcBef>
              <a:spcAft>
                <a:spcPts val="0"/>
              </a:spcAft>
              <a:buNone/>
            </a:pPr>
            <a:r>
              <a:rPr lang="en-US"/>
              <a:t>Step 2:- The current state comprising registers and the program counter is then stored in order to conserve the state of the process.</a:t>
            </a:r>
            <a:endParaRPr/>
          </a:p>
          <a:p>
            <a:pPr indent="0" lvl="0" marL="0" rtl="0" algn="l">
              <a:spcBef>
                <a:spcPts val="0"/>
              </a:spcBef>
              <a:spcAft>
                <a:spcPts val="0"/>
              </a:spcAft>
              <a:buNone/>
            </a:pPr>
            <a:r>
              <a:rPr lang="en-US"/>
              <a:t>Step 3:- The current interrupt and its handler is identified through the interrupt vector table in the processor.</a:t>
            </a:r>
            <a:endParaRPr/>
          </a:p>
          <a:p>
            <a:pPr indent="0" lvl="0" marL="0" rtl="0" algn="l">
              <a:spcBef>
                <a:spcPts val="0"/>
              </a:spcBef>
              <a:spcAft>
                <a:spcPts val="0"/>
              </a:spcAft>
              <a:buNone/>
            </a:pPr>
            <a:r>
              <a:rPr lang="en-US"/>
              <a:t>Step 4:- This control now shifts to the interrupt handler, which is a function located in the kernel space.</a:t>
            </a:r>
            <a:endParaRPr/>
          </a:p>
          <a:p>
            <a:pPr indent="0" lvl="0" marL="0" rtl="0" algn="l">
              <a:spcBef>
                <a:spcPts val="0"/>
              </a:spcBef>
              <a:spcAft>
                <a:spcPts val="0"/>
              </a:spcAft>
              <a:buNone/>
            </a:pPr>
            <a:r>
              <a:rPr lang="en-US"/>
              <a:t>Step 5:- Specific tasks are performed by Interrupt Service Routine (ISR) which are essential to manage interrupt.</a:t>
            </a:r>
            <a:endParaRPr/>
          </a:p>
          <a:p>
            <a:pPr indent="0" lvl="0" marL="0" rtl="0" algn="l">
              <a:spcBef>
                <a:spcPts val="0"/>
              </a:spcBef>
              <a:spcAft>
                <a:spcPts val="0"/>
              </a:spcAft>
              <a:buNone/>
            </a:pPr>
            <a:r>
              <a:rPr lang="en-US"/>
              <a:t>Step 6:- The status from the previous session is retrieved so as to build on the process from that point.</a:t>
            </a:r>
            <a:endParaRPr/>
          </a:p>
          <a:p>
            <a:pPr indent="0" lvl="0" marL="0" rtl="0" algn="l">
              <a:spcBef>
                <a:spcPts val="0"/>
              </a:spcBef>
              <a:spcAft>
                <a:spcPts val="0"/>
              </a:spcAft>
              <a:buNone/>
            </a:pPr>
            <a:r>
              <a:rPr lang="en-US"/>
              <a:t>Step 7:- The control is then shifted back to the other process that was pending and the normal process continues.</a:t>
            </a:r>
            <a:endParaRPr/>
          </a:p>
          <a:p>
            <a:pPr indent="0" lvl="0" marL="0" rtl="0" algn="l">
              <a:spcBef>
                <a:spcPts val="0"/>
              </a:spcBef>
              <a:spcAft>
                <a:spcPts val="0"/>
              </a:spcAft>
              <a:buNone/>
            </a:pPr>
            <a:r>
              <a:t/>
            </a:r>
            <a:endParaRPr/>
          </a:p>
        </p:txBody>
      </p:sp>
      <p:sp>
        <p:nvSpPr>
          <p:cNvPr id="333" name="Google Shape;33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Polling</a:t>
            </a:r>
            <a:endParaRPr/>
          </a:p>
          <a:p>
            <a:pPr indent="0" lvl="0" marL="0" rtl="0" algn="l">
              <a:spcBef>
                <a:spcPts val="0"/>
              </a:spcBef>
              <a:spcAft>
                <a:spcPts val="0"/>
              </a:spcAft>
              <a:buNone/>
            </a:pPr>
            <a:r>
              <a:rPr lang="en-US"/>
              <a:t>CPU keeps checking the device status register.</a:t>
            </a:r>
            <a:endParaRPr/>
          </a:p>
          <a:p>
            <a:pPr indent="0" lvl="0" marL="0" rtl="0" algn="l">
              <a:spcBef>
                <a:spcPts val="0"/>
              </a:spcBef>
              <a:spcAft>
                <a:spcPts val="0"/>
              </a:spcAft>
              <a:buNone/>
            </a:pPr>
            <a:r>
              <a:rPr lang="en-US"/>
              <a:t>If the device is not ready, CPU waits.</a:t>
            </a:r>
            <a:endParaRPr/>
          </a:p>
          <a:p>
            <a:pPr indent="0" lvl="0" marL="0" rtl="0" algn="l">
              <a:spcBef>
                <a:spcPts val="0"/>
              </a:spcBef>
              <a:spcAft>
                <a:spcPts val="0"/>
              </a:spcAft>
              <a:buNone/>
            </a:pPr>
            <a:r>
              <a:rPr lang="en-US"/>
              <a:t>Leads to wastage of CPU cycles.</a:t>
            </a:r>
            <a:endParaRPr/>
          </a:p>
          <a:p>
            <a:pPr indent="0" lvl="0" marL="0" rtl="0" algn="l">
              <a:spcBef>
                <a:spcPts val="0"/>
              </a:spcBef>
              <a:spcAft>
                <a:spcPts val="0"/>
              </a:spcAft>
              <a:buNone/>
            </a:pPr>
            <a:r>
              <a:rPr b="1" lang="en-US"/>
              <a:t>Interrupt</a:t>
            </a:r>
            <a:endParaRPr/>
          </a:p>
          <a:p>
            <a:pPr indent="0" lvl="0" marL="0" rtl="0" algn="l">
              <a:spcBef>
                <a:spcPts val="0"/>
              </a:spcBef>
              <a:spcAft>
                <a:spcPts val="0"/>
              </a:spcAft>
              <a:buNone/>
            </a:pPr>
            <a:r>
              <a:rPr lang="en-US"/>
              <a:t>CPU issues I/O command and continues other work.</a:t>
            </a:r>
            <a:endParaRPr/>
          </a:p>
          <a:p>
            <a:pPr indent="0" lvl="0" marL="0" rtl="0" algn="l">
              <a:spcBef>
                <a:spcPts val="0"/>
              </a:spcBef>
              <a:spcAft>
                <a:spcPts val="0"/>
              </a:spcAft>
              <a:buNone/>
            </a:pPr>
            <a:r>
              <a:rPr lang="en-US"/>
              <a:t>Device generates an interrupt when ready.</a:t>
            </a:r>
            <a:endParaRPr/>
          </a:p>
          <a:p>
            <a:pPr indent="0" lvl="0" marL="0" rtl="0" algn="l">
              <a:spcBef>
                <a:spcPts val="0"/>
              </a:spcBef>
              <a:spcAft>
                <a:spcPts val="0"/>
              </a:spcAft>
              <a:buNone/>
            </a:pPr>
            <a:r>
              <a:rPr lang="en-US"/>
              <a:t>CPU executes Interrupt Service Routine (ISR).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Polling is </a:t>
            </a:r>
            <a:r>
              <a:rPr b="1" lang="en-US"/>
              <a:t>simple but inefficient</a:t>
            </a:r>
            <a:r>
              <a:rPr lang="en-US"/>
              <a:t>, while interrupt-driven I/O is </a:t>
            </a:r>
            <a:r>
              <a:rPr b="1" lang="en-US"/>
              <a:t>efficient and widely used</a:t>
            </a:r>
            <a:r>
              <a:rPr lang="en-US"/>
              <a:t> in modern operating systems. Interrupts allow better CPU utilization and support multitasking, making them suitable for most real-world systems.</a:t>
            </a:r>
            <a:endParaRPr/>
          </a:p>
        </p:txBody>
      </p:sp>
      <p:sp>
        <p:nvSpPr>
          <p:cNvPr id="341" name="Google Shape;34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DMA (Direct Memory Access) DMA Stands for "Direct Memory Access." DMA is a method of transferring data from the computer's RAM to another part of the computer without processing it using the CPU. While most data that is input or output from your computer is processed by the CPU, some data does not require processing, or can be processed by another device. In these situations, DMA can save processing time and is a more efficient way to move data from the computer's memory to other devices. In other words, direct memory access (DMA) is a method that allows an input/output (I/O) device to send or receive data directly to or from the main memory, bypassing the CPU to speed up memory operations. The process is managed by a chip known as a DMA controller (DMAC). For example, a sound card may need to access data stored in the computer's RAM, but since it can process the data itself, it may use DMA to bypass the CPU. Video cards that support DMA can also access the system memory and process graphics without needing the CPU DMA is an essential feature of all modern computers, as it allows devices to transfer data without subjecting the CPU to a heavy overhead. With DMA, the CPU gets freed from this overhead and can do useful tasks during data transfer. A DMA Controller is a device, which takes over the system bus to directly transfer information from one part of the system to another. The DMA controller is told to make a transfer either by the CPU or some special circumstances; then the DMA controller makes a request to gain control of the bus from the CPU, other processors, or controllers which might currently be using bus; these other devices then relinquish control of the bus by putting their lines into tri-state condition; they then grant the bus to the DMA controller; and finally, the DMA controller takes over the bus, generating its own address and control signals for the bus and causing the transfer of information.</a:t>
            </a:r>
            <a:endParaRPr/>
          </a:p>
        </p:txBody>
      </p:sp>
      <p:sp>
        <p:nvSpPr>
          <p:cNvPr id="348" name="Google Shape;34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rabicPeriod"/>
            </a:pPr>
            <a:r>
              <a:rPr lang="en-US"/>
              <a:t>Device Independence</a:t>
            </a:r>
            <a:endParaRPr/>
          </a:p>
          <a:p>
            <a:pPr indent="0" lvl="0" marL="0" rtl="0" algn="l">
              <a:spcBef>
                <a:spcPts val="0"/>
              </a:spcBef>
              <a:spcAft>
                <a:spcPts val="0"/>
              </a:spcAft>
              <a:buNone/>
            </a:pPr>
            <a:r>
              <a:rPr lang="en-US"/>
              <a:t>One of the most important principles of I/O software is </a:t>
            </a:r>
            <a:r>
              <a:rPr b="1" lang="en-US"/>
              <a:t>device independence</a:t>
            </a:r>
            <a:r>
              <a:rPr lang="en-US"/>
              <a:t>.</a:t>
            </a:r>
            <a:endParaRPr/>
          </a:p>
          <a:p>
            <a:pPr indent="0" lvl="0" marL="0" rtl="0" algn="l">
              <a:spcBef>
                <a:spcPts val="0"/>
              </a:spcBef>
              <a:spcAft>
                <a:spcPts val="0"/>
              </a:spcAft>
              <a:buNone/>
            </a:pPr>
            <a:r>
              <a:rPr lang="en-US"/>
              <a:t>Application programs should not need to know the </a:t>
            </a:r>
            <a:r>
              <a:rPr b="1" lang="en-US"/>
              <a:t>type or details</a:t>
            </a:r>
            <a:r>
              <a:rPr lang="en-US"/>
              <a:t> of I/O devices.</a:t>
            </a:r>
            <a:endParaRPr/>
          </a:p>
          <a:p>
            <a:pPr indent="0" lvl="0" marL="0" rtl="0" algn="l">
              <a:spcBef>
                <a:spcPts val="0"/>
              </a:spcBef>
              <a:spcAft>
                <a:spcPts val="0"/>
              </a:spcAft>
              <a:buNone/>
            </a:pPr>
            <a:r>
              <a:rPr lang="en-US"/>
              <a:t>The same program should work with different devices without modification.</a:t>
            </a:r>
            <a:endParaRPr/>
          </a:p>
          <a:p>
            <a:pPr indent="0" lvl="0" marL="0" rtl="0" algn="l">
              <a:spcBef>
                <a:spcPts val="0"/>
              </a:spcBef>
              <a:spcAft>
                <a:spcPts val="0"/>
              </a:spcAft>
              <a:buNone/>
            </a:pPr>
            <a:r>
              <a:rPr b="1" lang="en-US"/>
              <a:t>Example:</a:t>
            </a:r>
            <a:br>
              <a:rPr lang="en-US"/>
            </a:br>
            <a:r>
              <a:rPr lang="en-US" sz="1200">
                <a:solidFill>
                  <a:schemeClr val="dk1"/>
                </a:solidFill>
                <a:latin typeface="Calibri"/>
                <a:ea typeface="Calibri"/>
                <a:cs typeface="Calibri"/>
                <a:sym typeface="Calibri"/>
              </a:rPr>
              <a:t>read(file)</a:t>
            </a:r>
            <a:r>
              <a:rPr lang="en-US"/>
              <a:t> works the same whether the file is on HDD, SSD, or USB drive.</a:t>
            </a:r>
            <a:endParaRPr/>
          </a:p>
          <a:p>
            <a:pPr indent="0" lvl="0" marL="0" rtl="0" algn="l">
              <a:spcBef>
                <a:spcPts val="0"/>
              </a:spcBef>
              <a:spcAft>
                <a:spcPts val="0"/>
              </a:spcAft>
              <a:buNone/>
            </a:pPr>
            <a:r>
              <a:rPr b="1" lang="en-US"/>
              <a:t>Benefit:</a:t>
            </a:r>
            <a:br>
              <a:rPr lang="en-US"/>
            </a:br>
            <a:r>
              <a:rPr lang="en-US"/>
              <a:t>Improves portability and simplifies application development.</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rPr lang="en-US"/>
              <a:t>2. Uniform Naming</a:t>
            </a:r>
            <a:endParaRPr/>
          </a:p>
          <a:p>
            <a:pPr indent="0" lvl="0" marL="0" rtl="0" algn="l">
              <a:spcBef>
                <a:spcPts val="0"/>
              </a:spcBef>
              <a:spcAft>
                <a:spcPts val="0"/>
              </a:spcAft>
              <a:buNone/>
            </a:pPr>
            <a:r>
              <a:rPr lang="en-US"/>
              <a:t>I/O software provides </a:t>
            </a:r>
            <a:r>
              <a:rPr b="1" lang="en-US"/>
              <a:t>uniform and consistent names</a:t>
            </a:r>
            <a:r>
              <a:rPr lang="en-US"/>
              <a:t> for devices.</a:t>
            </a:r>
            <a:endParaRPr/>
          </a:p>
          <a:p>
            <a:pPr indent="0" lvl="0" marL="0" rtl="0" algn="l">
              <a:spcBef>
                <a:spcPts val="0"/>
              </a:spcBef>
              <a:spcAft>
                <a:spcPts val="0"/>
              </a:spcAft>
              <a:buNone/>
            </a:pPr>
            <a:r>
              <a:rPr lang="en-US"/>
              <a:t>Devices are accessed using logical names rather than physical identifiers.</a:t>
            </a:r>
            <a:endParaRPr/>
          </a:p>
          <a:p>
            <a:pPr indent="0" lvl="0" marL="0" rtl="0" algn="l">
              <a:spcBef>
                <a:spcPts val="0"/>
              </a:spcBef>
              <a:spcAft>
                <a:spcPts val="0"/>
              </a:spcAft>
              <a:buNone/>
            </a:pPr>
            <a:r>
              <a:rPr lang="en-US"/>
              <a:t>OS maps logical names to physical devices.</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Linux: </a:t>
            </a:r>
            <a:r>
              <a:rPr lang="en-US" sz="1200">
                <a:solidFill>
                  <a:schemeClr val="dk1"/>
                </a:solidFill>
                <a:latin typeface="Calibri"/>
                <a:ea typeface="Calibri"/>
                <a:cs typeface="Calibri"/>
                <a:sym typeface="Calibri"/>
              </a:rPr>
              <a:t>/dev/sda</a:t>
            </a:r>
            <a:r>
              <a:rPr lang="en-US"/>
              <a:t>, </a:t>
            </a:r>
            <a:r>
              <a:rPr lang="en-US" sz="1200">
                <a:solidFill>
                  <a:schemeClr val="dk1"/>
                </a:solidFill>
                <a:latin typeface="Calibri"/>
                <a:ea typeface="Calibri"/>
                <a:cs typeface="Calibri"/>
                <a:sym typeface="Calibri"/>
              </a:rPr>
              <a:t>/dev/tty</a:t>
            </a:r>
            <a:endParaRPr/>
          </a:p>
          <a:p>
            <a:pPr indent="0" lvl="0" marL="0" rtl="0" algn="l">
              <a:spcBef>
                <a:spcPts val="0"/>
              </a:spcBef>
              <a:spcAft>
                <a:spcPts val="0"/>
              </a:spcAft>
              <a:buNone/>
            </a:pPr>
            <a:r>
              <a:rPr lang="en-US"/>
              <a:t>Windows: </a:t>
            </a:r>
            <a:r>
              <a:rPr lang="en-US" sz="1200">
                <a:solidFill>
                  <a:schemeClr val="dk1"/>
                </a:solidFill>
                <a:latin typeface="Calibri"/>
                <a:ea typeface="Calibri"/>
                <a:cs typeface="Calibri"/>
                <a:sym typeface="Calibri"/>
              </a:rPr>
              <a:t>COM1</a:t>
            </a:r>
            <a:r>
              <a:rPr lang="en-US"/>
              <a:t>, </a:t>
            </a:r>
            <a:r>
              <a:rPr lang="en-US" sz="1200">
                <a:solidFill>
                  <a:schemeClr val="dk1"/>
                </a:solidFill>
                <a:latin typeface="Calibri"/>
                <a:ea typeface="Calibri"/>
                <a:cs typeface="Calibri"/>
                <a:sym typeface="Calibri"/>
              </a:rPr>
              <a:t>LPT1</a:t>
            </a:r>
            <a:endParaRPr/>
          </a:p>
          <a:p>
            <a:pPr indent="0" lvl="0" marL="0" rtl="0" algn="l">
              <a:spcBef>
                <a:spcPts val="0"/>
              </a:spcBef>
              <a:spcAft>
                <a:spcPts val="0"/>
              </a:spcAft>
              <a:buNone/>
            </a:pPr>
            <a:r>
              <a:rPr b="1" lang="en-US"/>
              <a:t>Benefit:</a:t>
            </a:r>
            <a:br>
              <a:rPr lang="en-US"/>
            </a:br>
            <a:r>
              <a:rPr lang="en-US"/>
              <a:t>Makes device access simple and consistent.</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rPr lang="en-US"/>
              <a:t>3. Error Handling</a:t>
            </a:r>
            <a:endParaRPr/>
          </a:p>
          <a:p>
            <a:pPr indent="0" lvl="0" marL="0" rtl="0" algn="l">
              <a:spcBef>
                <a:spcPts val="0"/>
              </a:spcBef>
              <a:spcAft>
                <a:spcPts val="0"/>
              </a:spcAft>
              <a:buNone/>
            </a:pPr>
            <a:r>
              <a:rPr lang="en-US"/>
              <a:t>I/O software must detect and handle errors </a:t>
            </a:r>
            <a:r>
              <a:rPr b="1" lang="en-US"/>
              <a:t>as close to the hardware as possible</a:t>
            </a:r>
            <a:r>
              <a:rPr lang="en-US"/>
              <a:t>.</a:t>
            </a:r>
            <a:endParaRPr/>
          </a:p>
          <a:p>
            <a:pPr indent="0" lvl="0" marL="0" rtl="0" algn="l">
              <a:spcBef>
                <a:spcPts val="0"/>
              </a:spcBef>
              <a:spcAft>
                <a:spcPts val="0"/>
              </a:spcAft>
              <a:buNone/>
            </a:pPr>
            <a:r>
              <a:rPr b="1" lang="en-US"/>
              <a:t>Types of Errors:</a:t>
            </a:r>
            <a:endParaRPr/>
          </a:p>
          <a:p>
            <a:pPr indent="0" lvl="0" marL="0" rtl="0" algn="l">
              <a:spcBef>
                <a:spcPts val="0"/>
              </a:spcBef>
              <a:spcAft>
                <a:spcPts val="0"/>
              </a:spcAft>
              <a:buNone/>
            </a:pPr>
            <a:r>
              <a:rPr lang="en-US"/>
              <a:t>Read/write failure</a:t>
            </a:r>
            <a:endParaRPr/>
          </a:p>
          <a:p>
            <a:pPr indent="0" lvl="0" marL="0" rtl="0" algn="l">
              <a:spcBef>
                <a:spcPts val="0"/>
              </a:spcBef>
              <a:spcAft>
                <a:spcPts val="0"/>
              </a:spcAft>
              <a:buNone/>
            </a:pPr>
            <a:r>
              <a:rPr lang="en-US"/>
              <a:t>Device not responding</a:t>
            </a:r>
            <a:endParaRPr/>
          </a:p>
          <a:p>
            <a:pPr indent="0" lvl="0" marL="0" rtl="0" algn="l">
              <a:spcBef>
                <a:spcPts val="0"/>
              </a:spcBef>
              <a:spcAft>
                <a:spcPts val="0"/>
              </a:spcAft>
              <a:buNone/>
            </a:pPr>
            <a:r>
              <a:rPr lang="en-US"/>
              <a:t>Data corruption</a:t>
            </a:r>
            <a:endParaRPr/>
          </a:p>
          <a:p>
            <a:pPr indent="0" lvl="0" marL="0" rtl="0" algn="l">
              <a:spcBef>
                <a:spcPts val="0"/>
              </a:spcBef>
              <a:spcAft>
                <a:spcPts val="0"/>
              </a:spcAft>
              <a:buNone/>
            </a:pPr>
            <a:r>
              <a:rPr b="1" lang="en-US"/>
              <a:t>Handling:</a:t>
            </a:r>
            <a:endParaRPr/>
          </a:p>
          <a:p>
            <a:pPr indent="0" lvl="0" marL="0" rtl="0" algn="l">
              <a:spcBef>
                <a:spcPts val="0"/>
              </a:spcBef>
              <a:spcAft>
                <a:spcPts val="0"/>
              </a:spcAft>
              <a:buNone/>
            </a:pPr>
            <a:r>
              <a:rPr lang="en-US"/>
              <a:t>Device drivers handle hardware-specific errors.</a:t>
            </a:r>
            <a:endParaRPr/>
          </a:p>
          <a:p>
            <a:pPr indent="0" lvl="0" marL="0" rtl="0" algn="l">
              <a:spcBef>
                <a:spcPts val="0"/>
              </a:spcBef>
              <a:spcAft>
                <a:spcPts val="0"/>
              </a:spcAft>
              <a:buNone/>
            </a:pPr>
            <a:r>
              <a:rPr lang="en-US"/>
              <a:t>OS reports errors to applications in a standard form.</a:t>
            </a:r>
            <a:endParaRPr/>
          </a:p>
          <a:p>
            <a:pPr indent="0" lvl="0" marL="0" rtl="0" algn="l">
              <a:spcBef>
                <a:spcPts val="0"/>
              </a:spcBef>
              <a:spcAft>
                <a:spcPts val="0"/>
              </a:spcAft>
              <a:buNone/>
            </a:pPr>
            <a:r>
              <a:rPr b="1" lang="en-US"/>
              <a:t>Benefit:</a:t>
            </a:r>
            <a:br>
              <a:rPr lang="en-US"/>
            </a:br>
            <a:r>
              <a:rPr lang="en-US"/>
              <a:t>Improves reliability and system stability.</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a:t>Synchronous and Asynchronous I/O</a:t>
            </a:r>
            <a:endParaRPr/>
          </a:p>
          <a:p>
            <a:pPr indent="0" lvl="0" marL="0" rtl="0" algn="l">
              <a:spcBef>
                <a:spcPts val="0"/>
              </a:spcBef>
              <a:spcAft>
                <a:spcPts val="0"/>
              </a:spcAft>
              <a:buNone/>
            </a:pPr>
            <a:r>
              <a:rPr b="1" lang="en-US"/>
              <a:t>Synchronous I/O</a:t>
            </a:r>
            <a:endParaRPr/>
          </a:p>
          <a:p>
            <a:pPr indent="0" lvl="0" marL="0" rtl="0" algn="l">
              <a:spcBef>
                <a:spcPts val="0"/>
              </a:spcBef>
              <a:spcAft>
                <a:spcPts val="0"/>
              </a:spcAft>
              <a:buNone/>
            </a:pPr>
            <a:r>
              <a:rPr lang="en-US"/>
              <a:t>Process waits until I/O operation completes.</a:t>
            </a:r>
            <a:endParaRPr/>
          </a:p>
          <a:p>
            <a:pPr indent="0" lvl="0" marL="0" rtl="0" algn="l">
              <a:spcBef>
                <a:spcPts val="0"/>
              </a:spcBef>
              <a:spcAft>
                <a:spcPts val="0"/>
              </a:spcAft>
              <a:buNone/>
            </a:pPr>
            <a:r>
              <a:rPr lang="en-US"/>
              <a:t>Simple but inefficient.</a:t>
            </a:r>
            <a:endParaRPr/>
          </a:p>
          <a:p>
            <a:pPr indent="0" lvl="0" marL="0" rtl="0" algn="l">
              <a:spcBef>
                <a:spcPts val="0"/>
              </a:spcBef>
              <a:spcAft>
                <a:spcPts val="0"/>
              </a:spcAft>
              <a:buNone/>
            </a:pPr>
            <a:r>
              <a:rPr b="1" lang="en-US"/>
              <a:t>Asynchronous I/O</a:t>
            </a:r>
            <a:endParaRPr/>
          </a:p>
          <a:p>
            <a:pPr indent="0" lvl="0" marL="0" rtl="0" algn="l">
              <a:spcBef>
                <a:spcPts val="0"/>
              </a:spcBef>
              <a:spcAft>
                <a:spcPts val="0"/>
              </a:spcAft>
              <a:buNone/>
            </a:pPr>
            <a:r>
              <a:rPr lang="en-US"/>
              <a:t>Process continues execution after initiating I/O.</a:t>
            </a:r>
            <a:endParaRPr/>
          </a:p>
          <a:p>
            <a:pPr indent="0" lvl="0" marL="0" rtl="0" algn="l">
              <a:spcBef>
                <a:spcPts val="0"/>
              </a:spcBef>
              <a:spcAft>
                <a:spcPts val="0"/>
              </a:spcAft>
              <a:buNone/>
            </a:pPr>
            <a:r>
              <a:rPr lang="en-US"/>
              <a:t>OS notifies process upon completion.</a:t>
            </a:r>
            <a:endParaRPr/>
          </a:p>
          <a:p>
            <a:pPr indent="0" lvl="0" marL="0" rtl="0" algn="l">
              <a:spcBef>
                <a:spcPts val="0"/>
              </a:spcBef>
              <a:spcAft>
                <a:spcPts val="0"/>
              </a:spcAft>
              <a:buNone/>
            </a:pPr>
            <a:r>
              <a:rPr b="1" lang="en-US"/>
              <a:t>Benefit:</a:t>
            </a:r>
            <a:br>
              <a:rPr lang="en-US"/>
            </a:br>
            <a:r>
              <a:rPr lang="en-US"/>
              <a:t>Asynchronous I/O improves CPU utilization and performance.</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rabicPeriod"/>
            </a:pPr>
            <a:r>
              <a:rPr lang="en-US"/>
              <a:t>Buffering</a:t>
            </a:r>
            <a:endParaRPr/>
          </a:p>
          <a:p>
            <a:pPr indent="0" lvl="0" marL="0" rtl="0" algn="l">
              <a:spcBef>
                <a:spcPts val="0"/>
              </a:spcBef>
              <a:spcAft>
                <a:spcPts val="0"/>
              </a:spcAft>
              <a:buNone/>
            </a:pPr>
            <a:r>
              <a:rPr lang="en-US"/>
              <a:t>Buffering stores data temporarily in memory during I/O operations.</a:t>
            </a:r>
            <a:endParaRPr/>
          </a:p>
          <a:p>
            <a:pPr indent="0" lvl="0" marL="0" rtl="0" algn="l">
              <a:spcBef>
                <a:spcPts val="0"/>
              </a:spcBef>
              <a:spcAft>
                <a:spcPts val="0"/>
              </a:spcAft>
              <a:buNone/>
            </a:pPr>
            <a:r>
              <a:rPr b="1" lang="en-US"/>
              <a:t>Purpose:</a:t>
            </a:r>
            <a:endParaRPr/>
          </a:p>
          <a:p>
            <a:pPr indent="0" lvl="0" marL="0" rtl="0" algn="l">
              <a:spcBef>
                <a:spcPts val="0"/>
              </a:spcBef>
              <a:spcAft>
                <a:spcPts val="0"/>
              </a:spcAft>
              <a:buNone/>
            </a:pPr>
            <a:r>
              <a:rPr lang="en-US"/>
              <a:t>Match speed differences between CPU and devices</a:t>
            </a:r>
            <a:endParaRPr/>
          </a:p>
          <a:p>
            <a:pPr indent="0" lvl="0" marL="0" rtl="0" algn="l">
              <a:spcBef>
                <a:spcPts val="0"/>
              </a:spcBef>
              <a:spcAft>
                <a:spcPts val="0"/>
              </a:spcAft>
              <a:buNone/>
            </a:pPr>
            <a:r>
              <a:rPr lang="en-US"/>
              <a:t>Reduce number of I/O operations</a:t>
            </a:r>
            <a:endParaRPr/>
          </a:p>
          <a:p>
            <a:pPr indent="0" lvl="0" marL="0" rtl="0" algn="l">
              <a:spcBef>
                <a:spcPts val="0"/>
              </a:spcBef>
              <a:spcAft>
                <a:spcPts val="0"/>
              </a:spcAft>
              <a:buNone/>
            </a:pPr>
            <a:r>
              <a:rPr lang="en-US"/>
              <a:t>Improve throughput</a:t>
            </a:r>
            <a:endParaRPr/>
          </a:p>
          <a:p>
            <a:pPr indent="0" lvl="0" marL="0" rtl="0" algn="l">
              <a:spcBef>
                <a:spcPts val="0"/>
              </a:spcBef>
              <a:spcAft>
                <a:spcPts val="0"/>
              </a:spcAft>
              <a:buNone/>
            </a:pPr>
            <a:r>
              <a:rPr b="1" lang="en-US"/>
              <a:t>Types:</a:t>
            </a:r>
            <a:endParaRPr/>
          </a:p>
          <a:p>
            <a:pPr indent="0" lvl="0" marL="0" rtl="0" algn="l">
              <a:spcBef>
                <a:spcPts val="0"/>
              </a:spcBef>
              <a:spcAft>
                <a:spcPts val="0"/>
              </a:spcAft>
              <a:buNone/>
            </a:pPr>
            <a:r>
              <a:rPr lang="en-US"/>
              <a:t>Single buffering</a:t>
            </a:r>
            <a:endParaRPr/>
          </a:p>
          <a:p>
            <a:pPr indent="0" lvl="0" marL="0" rtl="0" algn="l">
              <a:spcBef>
                <a:spcPts val="0"/>
              </a:spcBef>
              <a:spcAft>
                <a:spcPts val="0"/>
              </a:spcAft>
              <a:buNone/>
            </a:pPr>
            <a:r>
              <a:rPr lang="en-US"/>
              <a:t>Double buffering</a:t>
            </a:r>
            <a:endParaRPr/>
          </a:p>
          <a:p>
            <a:pPr indent="0" lvl="0" marL="0" rtl="0" algn="l">
              <a:spcBef>
                <a:spcPts val="0"/>
              </a:spcBef>
              <a:spcAft>
                <a:spcPts val="0"/>
              </a:spcAft>
              <a:buNone/>
            </a:pPr>
            <a:r>
              <a:rPr lang="en-US"/>
              <a:t>Circular buffering</a:t>
            </a:r>
            <a:endParaRPr/>
          </a:p>
          <a:p>
            <a:pPr indent="0" lvl="0" marL="0" rtl="0" algn="l">
              <a:spcBef>
                <a:spcPts val="0"/>
              </a:spcBef>
              <a:spcAft>
                <a:spcPts val="0"/>
              </a:spcAft>
              <a:buNone/>
            </a:pPr>
            <a:r>
              <a:rPr b="1" lang="en-US"/>
              <a:t>Example:</a:t>
            </a:r>
            <a:br>
              <a:rPr lang="en-US"/>
            </a:br>
            <a:r>
              <a:rPr lang="en-US"/>
              <a:t>Keyboard buffer stores keystrokes before processing.</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a:t>Caching</a:t>
            </a:r>
            <a:endParaRPr/>
          </a:p>
          <a:p>
            <a:pPr indent="0" lvl="0" marL="0" rtl="0" algn="l">
              <a:spcBef>
                <a:spcPts val="0"/>
              </a:spcBef>
              <a:spcAft>
                <a:spcPts val="0"/>
              </a:spcAft>
              <a:buNone/>
            </a:pPr>
            <a:r>
              <a:rPr lang="en-US"/>
              <a:t>Caching stores frequently used data in </a:t>
            </a:r>
            <a:r>
              <a:rPr b="1" lang="en-US"/>
              <a:t>fast memory</a:t>
            </a:r>
            <a:r>
              <a:rPr lang="en-US"/>
              <a:t>.</a:t>
            </a:r>
            <a:endParaRPr/>
          </a:p>
          <a:p>
            <a:pPr indent="0" lvl="0" marL="0" rtl="0" algn="l">
              <a:spcBef>
                <a:spcPts val="0"/>
              </a:spcBef>
              <a:spcAft>
                <a:spcPts val="0"/>
              </a:spcAft>
              <a:buNone/>
            </a:pPr>
            <a:r>
              <a:rPr lang="en-US"/>
              <a:t>Read operations are faster if data is cached.</a:t>
            </a:r>
            <a:endParaRPr/>
          </a:p>
          <a:p>
            <a:pPr indent="0" lvl="0" marL="0" rtl="0" algn="l">
              <a:spcBef>
                <a:spcPts val="0"/>
              </a:spcBef>
              <a:spcAft>
                <a:spcPts val="0"/>
              </a:spcAft>
              <a:buNone/>
            </a:pPr>
            <a:r>
              <a:rPr lang="en-US"/>
              <a:t>Reduces access to slow devices like disks.</a:t>
            </a:r>
            <a:endParaRPr/>
          </a:p>
          <a:p>
            <a:pPr indent="0" lvl="0" marL="0" rtl="0" algn="l">
              <a:spcBef>
                <a:spcPts val="0"/>
              </a:spcBef>
              <a:spcAft>
                <a:spcPts val="0"/>
              </a:spcAft>
              <a:buNone/>
            </a:pPr>
            <a:r>
              <a:rPr b="1" lang="en-US"/>
              <a:t>Example:</a:t>
            </a:r>
            <a:br>
              <a:rPr lang="en-US"/>
            </a:br>
            <a:r>
              <a:rPr lang="en-US"/>
              <a:t>Disk block cache in OS.</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a:t>Spooling</a:t>
            </a:r>
            <a:endParaRPr/>
          </a:p>
          <a:p>
            <a:pPr indent="0" lvl="0" marL="0" rtl="0" algn="l">
              <a:spcBef>
                <a:spcPts val="0"/>
              </a:spcBef>
              <a:spcAft>
                <a:spcPts val="0"/>
              </a:spcAft>
              <a:buNone/>
            </a:pPr>
            <a:r>
              <a:rPr lang="en-US"/>
              <a:t>Spooling (Simultaneous Peripheral Operations On-Line) allows one device to serve multiple processes.</a:t>
            </a:r>
            <a:endParaRPr/>
          </a:p>
          <a:p>
            <a:pPr indent="0" lvl="0" marL="0" rtl="0" algn="l">
              <a:spcBef>
                <a:spcPts val="0"/>
              </a:spcBef>
              <a:spcAft>
                <a:spcPts val="0"/>
              </a:spcAft>
              <a:buNone/>
            </a:pPr>
            <a:r>
              <a:rPr b="1" lang="en-US"/>
              <a:t>Example:</a:t>
            </a:r>
            <a:endParaRPr/>
          </a:p>
          <a:p>
            <a:pPr indent="0" lvl="0" marL="0" rtl="0" algn="l">
              <a:spcBef>
                <a:spcPts val="0"/>
              </a:spcBef>
              <a:spcAft>
                <a:spcPts val="0"/>
              </a:spcAft>
              <a:buNone/>
            </a:pPr>
            <a:r>
              <a:rPr lang="en-US"/>
              <a:t>Print spooling: print jobs stored on disk and printed one by one.</a:t>
            </a:r>
            <a:endParaRPr/>
          </a:p>
          <a:p>
            <a:pPr indent="0" lvl="0" marL="0" rtl="0" algn="l">
              <a:spcBef>
                <a:spcPts val="0"/>
              </a:spcBef>
              <a:spcAft>
                <a:spcPts val="0"/>
              </a:spcAft>
              <a:buNone/>
            </a:pPr>
            <a:r>
              <a:rPr b="1" lang="en-US"/>
              <a:t>Benefit:</a:t>
            </a:r>
            <a:endParaRPr/>
          </a:p>
          <a:p>
            <a:pPr indent="0" lvl="0" marL="0" rtl="0" algn="l">
              <a:spcBef>
                <a:spcPts val="0"/>
              </a:spcBef>
              <a:spcAft>
                <a:spcPts val="0"/>
              </a:spcAft>
              <a:buNone/>
            </a:pPr>
            <a:r>
              <a:rPr lang="en-US"/>
              <a:t>Increases device utilization</a:t>
            </a:r>
            <a:endParaRPr/>
          </a:p>
          <a:p>
            <a:pPr indent="0" lvl="0" marL="0" rtl="0" algn="l">
              <a:spcBef>
                <a:spcPts val="0"/>
              </a:spcBef>
              <a:spcAft>
                <a:spcPts val="0"/>
              </a:spcAft>
              <a:buNone/>
            </a:pPr>
            <a:r>
              <a:rPr lang="en-US"/>
              <a:t>Eliminates direct competition for slow devices</a:t>
            </a:r>
            <a:endParaRPr/>
          </a:p>
          <a:p>
            <a:pPr indent="0" lvl="0" marL="0" rtl="0" algn="l">
              <a:spcBef>
                <a:spcPts val="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rabicPeriod"/>
            </a:pPr>
            <a:r>
              <a:rPr lang="en-US"/>
              <a:t>Sharing Devices</a:t>
            </a:r>
            <a:endParaRPr/>
          </a:p>
          <a:p>
            <a:pPr indent="0" lvl="0" marL="0" rtl="0" algn="l">
              <a:spcBef>
                <a:spcPts val="0"/>
              </a:spcBef>
              <a:spcAft>
                <a:spcPts val="0"/>
              </a:spcAft>
              <a:buClr>
                <a:schemeClr val="dk1"/>
              </a:buClr>
              <a:buSzPts val="1200"/>
              <a:buFont typeface="Calibri"/>
              <a:buNone/>
            </a:pPr>
            <a:r>
              <a:rPr lang="en-US"/>
              <a:t>Allows multiple processes to share devices safely.</a:t>
            </a:r>
            <a:endParaRPr/>
          </a:p>
          <a:p>
            <a:pPr indent="0" lvl="0" marL="0" rtl="0" algn="l">
              <a:spcBef>
                <a:spcPts val="0"/>
              </a:spcBef>
              <a:spcAft>
                <a:spcPts val="0"/>
              </a:spcAft>
              <a:buClr>
                <a:schemeClr val="dk1"/>
              </a:buClr>
              <a:buSzPts val="1200"/>
              <a:buFont typeface="Calibri"/>
              <a:buNone/>
            </a:pPr>
            <a:r>
              <a:rPr lang="en-US"/>
              <a:t>Example:Multiple users printing documents using a print queue.</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a:t>Kernel Mode and User Mode Separation</a:t>
            </a:r>
            <a:endParaRPr/>
          </a:p>
          <a:p>
            <a:pPr indent="0" lvl="0" marL="0" rtl="0" algn="l">
              <a:spcBef>
                <a:spcPts val="0"/>
              </a:spcBef>
              <a:spcAft>
                <a:spcPts val="0"/>
              </a:spcAft>
              <a:buNone/>
            </a:pPr>
            <a:r>
              <a:rPr lang="en-US"/>
              <a:t>Low-level I/O operations run in </a:t>
            </a:r>
            <a:r>
              <a:rPr b="1" lang="en-US"/>
              <a:t>kernel mode</a:t>
            </a:r>
            <a:endParaRPr/>
          </a:p>
          <a:p>
            <a:pPr indent="0" lvl="0" marL="0" rtl="0" algn="l">
              <a:spcBef>
                <a:spcPts val="0"/>
              </a:spcBef>
              <a:spcAft>
                <a:spcPts val="0"/>
              </a:spcAft>
              <a:buNone/>
            </a:pPr>
            <a:r>
              <a:rPr lang="en-US"/>
              <a:t>User programs access devices via </a:t>
            </a:r>
            <a:r>
              <a:rPr b="1" lang="en-US"/>
              <a:t>system calls</a:t>
            </a:r>
            <a:endParaRPr/>
          </a:p>
          <a:p>
            <a:pPr indent="0" lvl="0" marL="0" rtl="0" algn="l">
              <a:spcBef>
                <a:spcPts val="0"/>
              </a:spcBef>
              <a:spcAft>
                <a:spcPts val="0"/>
              </a:spcAft>
              <a:buNone/>
            </a:pPr>
            <a:r>
              <a:rPr b="1" lang="en-US"/>
              <a:t>Benefit:</a:t>
            </a:r>
            <a:endParaRPr/>
          </a:p>
          <a:p>
            <a:pPr indent="0" lvl="0" marL="0" rtl="0" algn="l">
              <a:spcBef>
                <a:spcPts val="0"/>
              </a:spcBef>
              <a:spcAft>
                <a:spcPts val="0"/>
              </a:spcAft>
              <a:buNone/>
            </a:pPr>
            <a:r>
              <a:rPr lang="en-US"/>
              <a:t>Prevents unauthorized or incorrect hardware access</a:t>
            </a:r>
            <a:endParaRPr/>
          </a:p>
          <a:p>
            <a:pPr indent="0" lvl="0" marL="0" rtl="0" algn="l">
              <a:spcBef>
                <a:spcPts val="0"/>
              </a:spcBef>
              <a:spcAft>
                <a:spcPts val="0"/>
              </a:spcAft>
              <a:buNone/>
            </a:pPr>
            <a:r>
              <a:rPr lang="en-US"/>
              <a:t>Improves system security</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rabicPeriod"/>
            </a:pPr>
            <a:r>
              <a:rPr lang="en-US"/>
              <a:t>Protection and Access Control</a:t>
            </a:r>
            <a:endParaRPr/>
          </a:p>
          <a:p>
            <a:pPr indent="0" lvl="0" marL="0" rtl="0" algn="l">
              <a:spcBef>
                <a:spcPts val="0"/>
              </a:spcBef>
              <a:spcAft>
                <a:spcPts val="0"/>
              </a:spcAft>
              <a:buClr>
                <a:schemeClr val="dk1"/>
              </a:buClr>
              <a:buSzPts val="1200"/>
              <a:buFont typeface="Calibri"/>
              <a:buNone/>
            </a:pPr>
            <a:r>
              <a:rPr lang="en-US"/>
              <a:t>Prevent unauthorized access to devices.</a:t>
            </a:r>
            <a:endParaRPr/>
          </a:p>
          <a:p>
            <a:pPr indent="0" lvl="0" marL="0" rtl="0" algn="l">
              <a:spcBef>
                <a:spcPts val="0"/>
              </a:spcBef>
              <a:spcAft>
                <a:spcPts val="0"/>
              </a:spcAft>
              <a:buClr>
                <a:schemeClr val="dk1"/>
              </a:buClr>
              <a:buSzPts val="1200"/>
              <a:buFont typeface="Calibri"/>
              <a:buNone/>
            </a:pPr>
            <a:r>
              <a:rPr lang="en-US"/>
              <a:t>Example:Ordinary users cannot directly access disk hardware.</a:t>
            </a:r>
            <a:endParaRPr/>
          </a:p>
        </p:txBody>
      </p:sp>
      <p:sp>
        <p:nvSpPr>
          <p:cNvPr id="405" name="Google Shape;40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Mass storage</a:t>
            </a:r>
            <a:r>
              <a:rPr lang="en-US"/>
              <a:t> refers to secondary storage devices used to store </a:t>
            </a:r>
            <a:r>
              <a:rPr b="1" lang="en-US"/>
              <a:t>large amounts of data permanently</a:t>
            </a:r>
            <a:r>
              <a:rPr lang="en-US"/>
              <a:t>. Unlike main memory (RAM), mass storage is </a:t>
            </a:r>
            <a:r>
              <a:rPr b="1" lang="en-US"/>
              <a:t>non-volatile</a:t>
            </a:r>
            <a:r>
              <a:rPr lang="en-US"/>
              <a:t>, meaning data is not lost when power is turned off. It is essential for storing the operating system, applications, and user data.</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Purpose of Mass Storage</a:t>
            </a:r>
            <a:endParaRPr/>
          </a:p>
          <a:p>
            <a:pPr indent="0" lvl="0" marL="0" rtl="0" algn="l">
              <a:spcBef>
                <a:spcPts val="0"/>
              </a:spcBef>
              <a:spcAft>
                <a:spcPts val="0"/>
              </a:spcAft>
              <a:buNone/>
            </a:pPr>
            <a:r>
              <a:rPr lang="en-US"/>
              <a:t>Mass storage is used to:</a:t>
            </a:r>
            <a:endParaRPr/>
          </a:p>
          <a:p>
            <a:pPr indent="0" lvl="0" marL="0" rtl="0" algn="l">
              <a:spcBef>
                <a:spcPts val="0"/>
              </a:spcBef>
              <a:spcAft>
                <a:spcPts val="0"/>
              </a:spcAft>
              <a:buNone/>
            </a:pPr>
            <a:r>
              <a:rPr lang="en-US"/>
              <a:t>Store the </a:t>
            </a:r>
            <a:r>
              <a:rPr b="1" lang="en-US"/>
              <a:t>operating system</a:t>
            </a:r>
            <a:r>
              <a:rPr lang="en-US"/>
              <a:t> and system files</a:t>
            </a:r>
            <a:endParaRPr/>
          </a:p>
          <a:p>
            <a:pPr indent="0" lvl="0" marL="0" rtl="0" algn="l">
              <a:spcBef>
                <a:spcPts val="0"/>
              </a:spcBef>
              <a:spcAft>
                <a:spcPts val="0"/>
              </a:spcAft>
              <a:buNone/>
            </a:pPr>
            <a:r>
              <a:rPr lang="en-US"/>
              <a:t>Store </a:t>
            </a:r>
            <a:r>
              <a:rPr b="1" lang="en-US"/>
              <a:t>user data and applications</a:t>
            </a:r>
            <a:endParaRPr/>
          </a:p>
          <a:p>
            <a:pPr indent="0" lvl="0" marL="0" rtl="0" algn="l">
              <a:spcBef>
                <a:spcPts val="0"/>
              </a:spcBef>
              <a:spcAft>
                <a:spcPts val="0"/>
              </a:spcAft>
              <a:buNone/>
            </a:pPr>
            <a:r>
              <a:rPr lang="en-US"/>
              <a:t>Support </a:t>
            </a:r>
            <a:r>
              <a:rPr b="1" lang="en-US"/>
              <a:t>virtual memory (swap space)</a:t>
            </a:r>
            <a:endParaRPr/>
          </a:p>
          <a:p>
            <a:pPr indent="0" lvl="0" marL="0" rtl="0" algn="l">
              <a:spcBef>
                <a:spcPts val="0"/>
              </a:spcBef>
              <a:spcAft>
                <a:spcPts val="0"/>
              </a:spcAft>
              <a:buNone/>
            </a:pPr>
            <a:r>
              <a:rPr lang="en-US"/>
              <a:t>Provide </a:t>
            </a:r>
            <a:r>
              <a:rPr b="1" lang="en-US"/>
              <a:t>backup and archival storage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Characteristics of Mass Storage</a:t>
            </a:r>
            <a:endParaRPr/>
          </a:p>
          <a:p>
            <a:pPr indent="0" lvl="0" marL="0" rtl="0" algn="l">
              <a:spcBef>
                <a:spcPts val="0"/>
              </a:spcBef>
              <a:spcAft>
                <a:spcPts val="0"/>
              </a:spcAft>
              <a:buNone/>
            </a:pPr>
            <a:r>
              <a:rPr b="1" lang="en-US"/>
              <a:t>Non-volatile</a:t>
            </a:r>
            <a:r>
              <a:rPr lang="en-US"/>
              <a:t> (data persists without power)</a:t>
            </a:r>
            <a:endParaRPr/>
          </a:p>
          <a:p>
            <a:pPr indent="0" lvl="0" marL="0" rtl="0" algn="l">
              <a:spcBef>
                <a:spcPts val="0"/>
              </a:spcBef>
              <a:spcAft>
                <a:spcPts val="0"/>
              </a:spcAft>
              <a:buNone/>
            </a:pPr>
            <a:r>
              <a:rPr b="1" lang="en-US"/>
              <a:t>Large capacity</a:t>
            </a:r>
            <a:r>
              <a:rPr lang="en-US"/>
              <a:t> (GBs to TBs)</a:t>
            </a:r>
            <a:endParaRPr/>
          </a:p>
          <a:p>
            <a:pPr indent="0" lvl="0" marL="0" rtl="0" algn="l">
              <a:spcBef>
                <a:spcPts val="0"/>
              </a:spcBef>
              <a:spcAft>
                <a:spcPts val="0"/>
              </a:spcAft>
              <a:buNone/>
            </a:pPr>
            <a:r>
              <a:rPr b="1" lang="en-US"/>
              <a:t>Lower cost per bit</a:t>
            </a:r>
            <a:r>
              <a:rPr lang="en-US"/>
              <a:t> compared to RAM</a:t>
            </a:r>
            <a:endParaRPr/>
          </a:p>
          <a:p>
            <a:pPr indent="0" lvl="0" marL="0" rtl="0" algn="l">
              <a:spcBef>
                <a:spcPts val="0"/>
              </a:spcBef>
              <a:spcAft>
                <a:spcPts val="0"/>
              </a:spcAft>
              <a:buNone/>
            </a:pPr>
            <a:r>
              <a:rPr b="1" lang="en-US"/>
              <a:t>Slower access speed</a:t>
            </a:r>
            <a:r>
              <a:rPr lang="en-US"/>
              <a:t> than main memory</a:t>
            </a:r>
            <a:endParaRPr/>
          </a:p>
          <a:p>
            <a:pPr indent="0" lvl="0" marL="0" rtl="0" algn="l">
              <a:spcBef>
                <a:spcPts val="0"/>
              </a:spcBef>
              <a:spcAft>
                <a:spcPts val="0"/>
              </a:spcAft>
              <a:buNone/>
            </a:pPr>
            <a:r>
              <a:rPr lang="en-US"/>
              <a:t>Accessed via </a:t>
            </a:r>
            <a:r>
              <a:rPr b="1" lang="en-US"/>
              <a:t>I/O controllers</a:t>
            </a:r>
            <a:r>
              <a:rPr lang="en-US"/>
              <a:t> and device drivers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Disk Structure (Core Part)</a:t>
            </a:r>
            <a:endParaRPr/>
          </a:p>
          <a:p>
            <a:pPr indent="0" lvl="0" marL="0" rtl="0" algn="l">
              <a:spcBef>
                <a:spcPts val="0"/>
              </a:spcBef>
              <a:spcAft>
                <a:spcPts val="0"/>
              </a:spcAft>
              <a:buNone/>
            </a:pPr>
            <a:r>
              <a:rPr lang="en-US"/>
              <a:t>A magnetic disk is organized as:</a:t>
            </a:r>
            <a:endParaRPr/>
          </a:p>
          <a:p>
            <a:pPr indent="0" lvl="0" marL="0" rtl="0" algn="l">
              <a:spcBef>
                <a:spcPts val="0"/>
              </a:spcBef>
              <a:spcAft>
                <a:spcPts val="0"/>
              </a:spcAft>
              <a:buNone/>
            </a:pPr>
            <a:r>
              <a:rPr b="1" lang="en-US"/>
              <a:t>Platters</a:t>
            </a:r>
            <a:r>
              <a:rPr lang="en-US"/>
              <a:t> – circular disks coated with magnetic material</a:t>
            </a:r>
            <a:endParaRPr/>
          </a:p>
          <a:p>
            <a:pPr indent="0" lvl="0" marL="0" rtl="0" algn="l">
              <a:spcBef>
                <a:spcPts val="0"/>
              </a:spcBef>
              <a:spcAft>
                <a:spcPts val="0"/>
              </a:spcAft>
              <a:buNone/>
            </a:pPr>
            <a:r>
              <a:rPr b="1" lang="en-US"/>
              <a:t>Tracks</a:t>
            </a:r>
            <a:r>
              <a:rPr lang="en-US"/>
              <a:t> – concentric circles on each platter</a:t>
            </a:r>
            <a:endParaRPr/>
          </a:p>
          <a:p>
            <a:pPr indent="0" lvl="0" marL="0" rtl="0" algn="l">
              <a:spcBef>
                <a:spcPts val="0"/>
              </a:spcBef>
              <a:spcAft>
                <a:spcPts val="0"/>
              </a:spcAft>
              <a:buNone/>
            </a:pPr>
            <a:r>
              <a:rPr b="1" lang="en-US"/>
              <a:t>Sectors</a:t>
            </a:r>
            <a:r>
              <a:rPr lang="en-US"/>
              <a:t> – smallest addressable unit (usually 512 bytes or 4 KB)</a:t>
            </a:r>
            <a:endParaRPr/>
          </a:p>
          <a:p>
            <a:pPr indent="0" lvl="0" marL="0" rtl="0" algn="l">
              <a:spcBef>
                <a:spcPts val="0"/>
              </a:spcBef>
              <a:spcAft>
                <a:spcPts val="0"/>
              </a:spcAft>
              <a:buNone/>
            </a:pPr>
            <a:r>
              <a:rPr b="1" lang="en-US"/>
              <a:t>Cylinders</a:t>
            </a:r>
            <a:r>
              <a:rPr lang="en-US"/>
              <a:t> – set of tracks at the same position on all platters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Mass Storage and Operating System</a:t>
            </a:r>
            <a:endParaRPr/>
          </a:p>
          <a:p>
            <a:pPr indent="0" lvl="0" marL="0" rtl="0" algn="l">
              <a:spcBef>
                <a:spcPts val="0"/>
              </a:spcBef>
              <a:spcAft>
                <a:spcPts val="0"/>
              </a:spcAft>
              <a:buNone/>
            </a:pPr>
            <a:r>
              <a:rPr lang="en-US"/>
              <a:t>The OS manages mass storage using:</a:t>
            </a:r>
            <a:endParaRPr/>
          </a:p>
          <a:p>
            <a:pPr indent="0" lvl="0" marL="0" rtl="0" algn="l">
              <a:spcBef>
                <a:spcPts val="0"/>
              </a:spcBef>
              <a:spcAft>
                <a:spcPts val="0"/>
              </a:spcAft>
              <a:buNone/>
            </a:pPr>
            <a:r>
              <a:rPr b="1" lang="en-US"/>
              <a:t>Device drivers</a:t>
            </a:r>
            <a:endParaRPr/>
          </a:p>
          <a:p>
            <a:pPr indent="0" lvl="0" marL="0" rtl="0" algn="l">
              <a:spcBef>
                <a:spcPts val="0"/>
              </a:spcBef>
              <a:spcAft>
                <a:spcPts val="0"/>
              </a:spcAft>
              <a:buNone/>
            </a:pPr>
            <a:r>
              <a:rPr b="1" lang="en-US"/>
              <a:t>Disk scheduling algorithms</a:t>
            </a:r>
            <a:r>
              <a:rPr lang="en-US"/>
              <a:t> (FCFS, SSTF, SCAN, etc.)</a:t>
            </a:r>
            <a:endParaRPr/>
          </a:p>
          <a:p>
            <a:pPr indent="0" lvl="0" marL="0" rtl="0" algn="l">
              <a:spcBef>
                <a:spcPts val="0"/>
              </a:spcBef>
              <a:spcAft>
                <a:spcPts val="0"/>
              </a:spcAft>
              <a:buNone/>
            </a:pPr>
            <a:r>
              <a:rPr b="1" lang="en-US"/>
              <a:t>File systems</a:t>
            </a:r>
            <a:r>
              <a:rPr lang="en-US"/>
              <a:t> (NTFS, EXT4, FAT32)</a:t>
            </a:r>
            <a:endParaRPr/>
          </a:p>
          <a:p>
            <a:pPr indent="0" lvl="0" marL="0" rtl="0" algn="l">
              <a:spcBef>
                <a:spcPts val="0"/>
              </a:spcBef>
              <a:spcAft>
                <a:spcPts val="0"/>
              </a:spcAft>
              <a:buNone/>
            </a:pPr>
            <a:r>
              <a:rPr b="1" lang="en-US"/>
              <a:t>Swap space management</a:t>
            </a:r>
            <a:endParaRPr/>
          </a:p>
          <a:p>
            <a:pPr indent="0" lvl="0" marL="0" rtl="0" algn="l">
              <a:spcBef>
                <a:spcPts val="0"/>
              </a:spcBef>
              <a:spcAft>
                <a:spcPts val="0"/>
              </a:spcAft>
              <a:buNone/>
            </a:pPr>
            <a:r>
              <a:rPr b="1" lang="en-US"/>
              <a:t>Disk management</a:t>
            </a:r>
            <a:r>
              <a:rPr lang="en-US"/>
              <a:t> (partitioning, formatting)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Importance of Mass Storage Structure</a:t>
            </a:r>
            <a:endParaRPr/>
          </a:p>
          <a:p>
            <a:pPr indent="0" lvl="0" marL="0" rtl="0" algn="l">
              <a:spcBef>
                <a:spcPts val="0"/>
              </a:spcBef>
              <a:spcAft>
                <a:spcPts val="0"/>
              </a:spcAft>
              <a:buNone/>
            </a:pPr>
            <a:r>
              <a:rPr lang="en-US"/>
              <a:t>Enables </a:t>
            </a:r>
            <a:r>
              <a:rPr b="1" lang="en-US"/>
              <a:t>persistent data storage</a:t>
            </a:r>
            <a:endParaRPr/>
          </a:p>
          <a:p>
            <a:pPr indent="0" lvl="0" marL="0" rtl="0" algn="l">
              <a:spcBef>
                <a:spcPts val="0"/>
              </a:spcBef>
              <a:spcAft>
                <a:spcPts val="0"/>
              </a:spcAft>
              <a:buNone/>
            </a:pPr>
            <a:r>
              <a:rPr lang="en-US"/>
              <a:t>Supports </a:t>
            </a:r>
            <a:r>
              <a:rPr b="1" lang="en-US"/>
              <a:t>multitasking and virtual memory</a:t>
            </a:r>
            <a:endParaRPr/>
          </a:p>
          <a:p>
            <a:pPr indent="0" lvl="0" marL="0" rtl="0" algn="l">
              <a:spcBef>
                <a:spcPts val="0"/>
              </a:spcBef>
              <a:spcAft>
                <a:spcPts val="0"/>
              </a:spcAft>
              <a:buNone/>
            </a:pPr>
            <a:r>
              <a:rPr lang="en-US"/>
              <a:t>Improves </a:t>
            </a:r>
            <a:r>
              <a:rPr b="1" lang="en-US"/>
              <a:t>system reliability and performance</a:t>
            </a:r>
            <a:endParaRPr/>
          </a:p>
          <a:p>
            <a:pPr indent="0" lvl="0" marL="0" rtl="0" algn="l">
              <a:spcBef>
                <a:spcPts val="0"/>
              </a:spcBef>
              <a:spcAft>
                <a:spcPts val="0"/>
              </a:spcAft>
              <a:buNone/>
            </a:pPr>
            <a:r>
              <a:rPr lang="en-US"/>
              <a:t>Allows </a:t>
            </a:r>
            <a:r>
              <a:rPr b="1" lang="en-US"/>
              <a:t>large-scale data processing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Mass storage structure is a fundamental component of an operating system. It provides permanent data storage, supports efficient system operation, and ensures data reliability through structured organization and OS-level management.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12" name="Google Shape;41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Types of Mass Storage Devices</a:t>
            </a:r>
            <a:endParaRPr/>
          </a:p>
          <a:p>
            <a:pPr indent="0" lvl="0" marL="0" rtl="0" algn="l">
              <a:spcBef>
                <a:spcPts val="0"/>
              </a:spcBef>
              <a:spcAft>
                <a:spcPts val="0"/>
              </a:spcAft>
              <a:buNone/>
            </a:pPr>
            <a:r>
              <a:rPr b="1" lang="en-US"/>
              <a:t>Magnetic Disks</a:t>
            </a:r>
            <a:endParaRPr/>
          </a:p>
          <a:p>
            <a:pPr indent="0" lvl="1" marL="457200" rtl="0" algn="l">
              <a:spcBef>
                <a:spcPts val="0"/>
              </a:spcBef>
              <a:spcAft>
                <a:spcPts val="0"/>
              </a:spcAft>
              <a:buNone/>
            </a:pPr>
            <a:r>
              <a:rPr lang="en-US"/>
              <a:t>Hard Disk Drives (HDD)</a:t>
            </a:r>
            <a:endParaRPr/>
          </a:p>
          <a:p>
            <a:pPr indent="0" lvl="1" marL="457200" rtl="0" algn="l">
              <a:spcBef>
                <a:spcPts val="0"/>
              </a:spcBef>
              <a:spcAft>
                <a:spcPts val="0"/>
              </a:spcAft>
              <a:buNone/>
            </a:pPr>
            <a:r>
              <a:rPr lang="en-US"/>
              <a:t>High Storage capacity</a:t>
            </a:r>
            <a:endParaRPr/>
          </a:p>
          <a:p>
            <a:pPr indent="0" lvl="1" marL="457200" rtl="0" algn="l">
              <a:spcBef>
                <a:spcPts val="0"/>
              </a:spcBef>
              <a:spcAft>
                <a:spcPts val="0"/>
              </a:spcAft>
              <a:buNone/>
            </a:pPr>
            <a:r>
              <a:rPr lang="en-US"/>
              <a:t>Data stored on rotating magnetic platters</a:t>
            </a:r>
            <a:endParaRPr/>
          </a:p>
          <a:p>
            <a:pPr indent="0" lvl="1" marL="457200" rtl="0" algn="l">
              <a:spcBef>
                <a:spcPts val="0"/>
              </a:spcBef>
              <a:spcAft>
                <a:spcPts val="0"/>
              </a:spcAft>
              <a:buNone/>
            </a:pPr>
            <a:r>
              <a:rPr lang="en-US"/>
              <a:t>Random access storage</a:t>
            </a:r>
            <a:endParaRPr/>
          </a:p>
          <a:p>
            <a:pPr indent="0" lvl="1" marL="457200" marR="0" rtl="0" algn="l">
              <a:lnSpc>
                <a:spcPct val="100000"/>
              </a:lnSpc>
              <a:spcBef>
                <a:spcPts val="0"/>
              </a:spcBef>
              <a:spcAft>
                <a:spcPts val="0"/>
              </a:spcAft>
              <a:buClr>
                <a:schemeClr val="dk1"/>
              </a:buClr>
              <a:buSzPts val="1200"/>
              <a:buFont typeface="Calibri"/>
              <a:buNone/>
            </a:pPr>
            <a:r>
              <a:rPr lang="en-US"/>
              <a:t>Used as primary secondary storage</a:t>
            </a:r>
            <a:endParaRPr/>
          </a:p>
          <a:p>
            <a:pPr indent="0" lvl="1" marL="457200" rtl="0" algn="l">
              <a:spcBef>
                <a:spcPts val="0"/>
              </a:spcBef>
              <a:spcAft>
                <a:spcPts val="0"/>
              </a:spcAft>
              <a:buNone/>
            </a:pPr>
            <a:r>
              <a:rPr lang="en-US"/>
              <a:t>Example: Internal hard disks</a:t>
            </a:r>
            <a:endParaRPr/>
          </a:p>
          <a:p>
            <a:pPr indent="0" lvl="0" marL="0" rtl="0" algn="l">
              <a:spcBef>
                <a:spcPts val="0"/>
              </a:spcBef>
              <a:spcAft>
                <a:spcPts val="0"/>
              </a:spcAft>
              <a:buNone/>
            </a:pPr>
            <a:r>
              <a:rPr b="1" lang="en-US"/>
              <a:t>Solid State Drives (SSD)</a:t>
            </a:r>
            <a:endParaRPr/>
          </a:p>
          <a:p>
            <a:pPr indent="0" lvl="1" marL="457200" rtl="0" algn="l">
              <a:spcBef>
                <a:spcPts val="0"/>
              </a:spcBef>
              <a:spcAft>
                <a:spcPts val="0"/>
              </a:spcAft>
              <a:buNone/>
            </a:pPr>
            <a:r>
              <a:rPr lang="en-US"/>
              <a:t>Uses flash memory, </a:t>
            </a:r>
            <a:endParaRPr/>
          </a:p>
          <a:p>
            <a:pPr indent="0" lvl="1" marL="457200" rtl="0" algn="l">
              <a:spcBef>
                <a:spcPts val="0"/>
              </a:spcBef>
              <a:spcAft>
                <a:spcPts val="0"/>
              </a:spcAft>
              <a:buNone/>
            </a:pPr>
            <a:r>
              <a:rPr lang="en-US"/>
              <a:t>Faster than HDD, no moving parts</a:t>
            </a:r>
            <a:endParaRPr/>
          </a:p>
          <a:p>
            <a:pPr indent="0" lvl="1" marL="457200" rtl="0" algn="l">
              <a:spcBef>
                <a:spcPts val="0"/>
              </a:spcBef>
              <a:spcAft>
                <a:spcPts val="0"/>
              </a:spcAft>
              <a:buNone/>
            </a:pPr>
            <a:r>
              <a:rPr lang="en-US"/>
              <a:t>Lower latency and power consumption</a:t>
            </a:r>
            <a:endParaRPr/>
          </a:p>
          <a:p>
            <a:pPr indent="0" lvl="0" marL="0" rtl="0" algn="l">
              <a:spcBef>
                <a:spcPts val="0"/>
              </a:spcBef>
              <a:spcAft>
                <a:spcPts val="0"/>
              </a:spcAft>
              <a:buNone/>
            </a:pPr>
            <a:r>
              <a:rPr b="1" lang="en-US"/>
              <a:t>Optical Disks</a:t>
            </a:r>
            <a:endParaRPr/>
          </a:p>
          <a:p>
            <a:pPr indent="0" lvl="1" marL="457200" rtl="0" algn="l">
              <a:spcBef>
                <a:spcPts val="0"/>
              </a:spcBef>
              <a:spcAft>
                <a:spcPts val="0"/>
              </a:spcAft>
              <a:buNone/>
            </a:pPr>
            <a:r>
              <a:rPr lang="en-US"/>
              <a:t>CD, DVD, Blu-ray</a:t>
            </a:r>
            <a:endParaRPr/>
          </a:p>
          <a:p>
            <a:pPr indent="0" lvl="1" marL="457200" rtl="0" algn="l">
              <a:spcBef>
                <a:spcPts val="0"/>
              </a:spcBef>
              <a:spcAft>
                <a:spcPts val="0"/>
              </a:spcAft>
              <a:buNone/>
            </a:pPr>
            <a:r>
              <a:rPr lang="en-US"/>
              <a:t>Used mainly for distribution and backups</a:t>
            </a:r>
            <a:endParaRPr/>
          </a:p>
          <a:p>
            <a:pPr indent="0" lvl="0" marL="0" rtl="0" algn="l">
              <a:spcBef>
                <a:spcPts val="0"/>
              </a:spcBef>
              <a:spcAft>
                <a:spcPts val="0"/>
              </a:spcAft>
              <a:buNone/>
            </a:pPr>
            <a:r>
              <a:rPr b="1" lang="en-US"/>
              <a:t>Magnetic Tape</a:t>
            </a:r>
            <a:endParaRPr/>
          </a:p>
          <a:p>
            <a:pPr indent="0" lvl="1" marL="457200" rtl="0" algn="l">
              <a:spcBef>
                <a:spcPts val="0"/>
              </a:spcBef>
              <a:spcAft>
                <a:spcPts val="0"/>
              </a:spcAft>
              <a:buNone/>
            </a:pPr>
            <a:r>
              <a:rPr lang="en-US"/>
              <a:t>Sequential access</a:t>
            </a:r>
            <a:endParaRPr/>
          </a:p>
          <a:p>
            <a:pPr indent="0" lvl="1" marL="457200" rtl="0" algn="l">
              <a:spcBef>
                <a:spcPts val="0"/>
              </a:spcBef>
              <a:spcAft>
                <a:spcPts val="0"/>
              </a:spcAft>
              <a:buNone/>
            </a:pPr>
            <a:r>
              <a:rPr lang="en-US"/>
              <a:t>Used for backup and archival purposes</a:t>
            </a:r>
            <a:endParaRPr/>
          </a:p>
          <a:p>
            <a:pPr indent="0" lvl="0" marL="0" rtl="0" algn="l">
              <a:spcBef>
                <a:spcPts val="0"/>
              </a:spcBef>
              <a:spcAft>
                <a:spcPts val="0"/>
              </a:spcAft>
              <a:buNone/>
            </a:pPr>
            <a:r>
              <a:t/>
            </a:r>
            <a:endParaRPr/>
          </a:p>
        </p:txBody>
      </p:sp>
      <p:sp>
        <p:nvSpPr>
          <p:cNvPr id="419" name="Google Shape;41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1. Physical Structure of Disk</a:t>
            </a:r>
            <a:endParaRPr/>
          </a:p>
          <a:p>
            <a:pPr indent="0" lvl="0" marL="0" rtl="0" algn="l">
              <a:spcBef>
                <a:spcPts val="0"/>
              </a:spcBef>
              <a:spcAft>
                <a:spcPts val="0"/>
              </a:spcAft>
              <a:buNone/>
            </a:pPr>
            <a:r>
              <a:rPr lang="en-US"/>
              <a:t>Physically, a disk consists of the following components:</a:t>
            </a:r>
            <a:endParaRPr/>
          </a:p>
          <a:p>
            <a:pPr indent="0" lvl="0" marL="0" rtl="0" algn="l">
              <a:spcBef>
                <a:spcPts val="0"/>
              </a:spcBef>
              <a:spcAft>
                <a:spcPts val="0"/>
              </a:spcAft>
              <a:buNone/>
            </a:pPr>
            <a:r>
              <a:rPr b="1" lang="en-US"/>
              <a:t>a) Platters</a:t>
            </a:r>
            <a:endParaRPr/>
          </a:p>
          <a:p>
            <a:pPr indent="0" lvl="0" marL="0" rtl="0" algn="l">
              <a:spcBef>
                <a:spcPts val="0"/>
              </a:spcBef>
              <a:spcAft>
                <a:spcPts val="0"/>
              </a:spcAft>
              <a:buNone/>
            </a:pPr>
            <a:r>
              <a:rPr lang="en-US"/>
              <a:t>A disk is made up of one or more </a:t>
            </a:r>
            <a:r>
              <a:rPr b="1" lang="en-US"/>
              <a:t>circular platters</a:t>
            </a:r>
            <a:r>
              <a:rPr lang="en-US"/>
              <a:t>.</a:t>
            </a:r>
            <a:endParaRPr/>
          </a:p>
          <a:p>
            <a:pPr indent="0" lvl="0" marL="0" rtl="0" algn="l">
              <a:spcBef>
                <a:spcPts val="0"/>
              </a:spcBef>
              <a:spcAft>
                <a:spcPts val="0"/>
              </a:spcAft>
              <a:buNone/>
            </a:pPr>
            <a:r>
              <a:rPr lang="en-US"/>
              <a:t>Platters are coated with a magnetic material used to store data.</a:t>
            </a:r>
            <a:endParaRPr/>
          </a:p>
          <a:p>
            <a:pPr indent="0" lvl="0" marL="0" rtl="0" algn="l">
              <a:spcBef>
                <a:spcPts val="0"/>
              </a:spcBef>
              <a:spcAft>
                <a:spcPts val="0"/>
              </a:spcAft>
              <a:buNone/>
            </a:pPr>
            <a:r>
              <a:rPr lang="en-US"/>
              <a:t>Multiple platters are stacked vertically and rotate together.</a:t>
            </a:r>
            <a:endParaRPr/>
          </a:p>
          <a:p>
            <a:pPr indent="0" lvl="0" marL="0" rtl="0" algn="l">
              <a:spcBef>
                <a:spcPts val="0"/>
              </a:spcBef>
              <a:spcAft>
                <a:spcPts val="0"/>
              </a:spcAft>
              <a:buNone/>
            </a:pPr>
            <a:r>
              <a:rPr b="1" lang="en-US"/>
              <a:t>b) Spindle</a:t>
            </a:r>
            <a:endParaRPr/>
          </a:p>
          <a:p>
            <a:pPr indent="0" lvl="0" marL="0" rtl="0" algn="l">
              <a:spcBef>
                <a:spcPts val="0"/>
              </a:spcBef>
              <a:spcAft>
                <a:spcPts val="0"/>
              </a:spcAft>
              <a:buNone/>
            </a:pPr>
            <a:r>
              <a:rPr lang="en-US"/>
              <a:t>The </a:t>
            </a:r>
            <a:r>
              <a:rPr b="1" lang="en-US"/>
              <a:t>spindle</a:t>
            </a:r>
            <a:r>
              <a:rPr lang="en-US"/>
              <a:t> is the central shaft on which platters are mounted.</a:t>
            </a:r>
            <a:endParaRPr/>
          </a:p>
          <a:p>
            <a:pPr indent="0" lvl="0" marL="0" rtl="0" algn="l">
              <a:spcBef>
                <a:spcPts val="0"/>
              </a:spcBef>
              <a:spcAft>
                <a:spcPts val="0"/>
              </a:spcAft>
              <a:buNone/>
            </a:pPr>
            <a:r>
              <a:rPr lang="en-US"/>
              <a:t>It rotates all platters at a constant speed (e.g., 5400 RPM, 7200 RPM).</a:t>
            </a:r>
            <a:endParaRPr/>
          </a:p>
          <a:p>
            <a:pPr indent="0" lvl="0" marL="0" rtl="0" algn="l">
              <a:spcBef>
                <a:spcPts val="0"/>
              </a:spcBef>
              <a:spcAft>
                <a:spcPts val="0"/>
              </a:spcAft>
              <a:buNone/>
            </a:pPr>
            <a:r>
              <a:rPr b="1" lang="en-US"/>
              <a:t>c) Read/Write Heads</a:t>
            </a:r>
            <a:endParaRPr/>
          </a:p>
          <a:p>
            <a:pPr indent="0" lvl="0" marL="0" rtl="0" algn="l">
              <a:spcBef>
                <a:spcPts val="0"/>
              </a:spcBef>
              <a:spcAft>
                <a:spcPts val="0"/>
              </a:spcAft>
              <a:buNone/>
            </a:pPr>
            <a:r>
              <a:rPr lang="en-US"/>
              <a:t>Each platter surface has a </a:t>
            </a:r>
            <a:r>
              <a:rPr b="1" lang="en-US"/>
              <a:t>read/write head</a:t>
            </a:r>
            <a:r>
              <a:rPr lang="en-US"/>
              <a:t>.</a:t>
            </a:r>
            <a:endParaRPr/>
          </a:p>
          <a:p>
            <a:pPr indent="0" lvl="0" marL="0" rtl="0" algn="l">
              <a:spcBef>
                <a:spcPts val="0"/>
              </a:spcBef>
              <a:spcAft>
                <a:spcPts val="0"/>
              </a:spcAft>
              <a:buNone/>
            </a:pPr>
            <a:r>
              <a:rPr lang="en-US"/>
              <a:t>Heads move radially across the platter to access data.</a:t>
            </a:r>
            <a:endParaRPr/>
          </a:p>
          <a:p>
            <a:pPr indent="0" lvl="0" marL="0" rtl="0" algn="l">
              <a:spcBef>
                <a:spcPts val="0"/>
              </a:spcBef>
              <a:spcAft>
                <a:spcPts val="0"/>
              </a:spcAft>
              <a:buNone/>
            </a:pPr>
            <a:r>
              <a:rPr lang="en-US"/>
              <a:t>Data is read or written magnetically without direct contact.</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Logical Structure of Disk</a:t>
            </a:r>
            <a:endParaRPr/>
          </a:p>
          <a:p>
            <a:pPr indent="0" lvl="0" marL="0" rtl="0" algn="l">
              <a:spcBef>
                <a:spcPts val="0"/>
              </a:spcBef>
              <a:spcAft>
                <a:spcPts val="0"/>
              </a:spcAft>
              <a:buNone/>
            </a:pPr>
            <a:r>
              <a:rPr lang="en-US"/>
              <a:t>To organize data logically, the disk surface is divided into smaller units:</a:t>
            </a:r>
            <a:endParaRPr/>
          </a:p>
          <a:p>
            <a:pPr indent="0" lvl="0" marL="0" rtl="0" algn="l">
              <a:spcBef>
                <a:spcPts val="0"/>
              </a:spcBef>
              <a:spcAft>
                <a:spcPts val="0"/>
              </a:spcAft>
              <a:buNone/>
            </a:pPr>
            <a:r>
              <a:rPr b="1" lang="en-US"/>
              <a:t>a) Tracks</a:t>
            </a:r>
            <a:endParaRPr/>
          </a:p>
          <a:p>
            <a:pPr indent="0" lvl="0" marL="0" rtl="0" algn="l">
              <a:spcBef>
                <a:spcPts val="0"/>
              </a:spcBef>
              <a:spcAft>
                <a:spcPts val="0"/>
              </a:spcAft>
              <a:buNone/>
            </a:pPr>
            <a:r>
              <a:rPr lang="en-US"/>
              <a:t>A </a:t>
            </a:r>
            <a:r>
              <a:rPr b="1" lang="en-US"/>
              <a:t>track</a:t>
            </a:r>
            <a:r>
              <a:rPr lang="en-US"/>
              <a:t> is a circular path on the surface of a platter.</a:t>
            </a:r>
            <a:endParaRPr/>
          </a:p>
          <a:p>
            <a:pPr indent="0" lvl="0" marL="0" rtl="0" algn="l">
              <a:spcBef>
                <a:spcPts val="0"/>
              </a:spcBef>
              <a:spcAft>
                <a:spcPts val="0"/>
              </a:spcAft>
              <a:buNone/>
            </a:pPr>
            <a:r>
              <a:rPr lang="en-US"/>
              <a:t>Each platter surface contains thousands of tracks.</a:t>
            </a:r>
            <a:endParaRPr/>
          </a:p>
          <a:p>
            <a:pPr indent="0" lvl="0" marL="0" rtl="0" algn="l">
              <a:spcBef>
                <a:spcPts val="0"/>
              </a:spcBef>
              <a:spcAft>
                <a:spcPts val="0"/>
              </a:spcAft>
              <a:buNone/>
            </a:pPr>
            <a:r>
              <a:rPr b="1" lang="en-US"/>
              <a:t>b) Sectors</a:t>
            </a:r>
            <a:endParaRPr/>
          </a:p>
          <a:p>
            <a:pPr indent="0" lvl="0" marL="0" rtl="0" algn="l">
              <a:spcBef>
                <a:spcPts val="0"/>
              </a:spcBef>
              <a:spcAft>
                <a:spcPts val="0"/>
              </a:spcAft>
              <a:buNone/>
            </a:pPr>
            <a:r>
              <a:rPr lang="en-US"/>
              <a:t>Each track is divided into smaller units called </a:t>
            </a:r>
            <a:r>
              <a:rPr b="1" lang="en-US"/>
              <a:t>sectors</a:t>
            </a:r>
            <a:r>
              <a:rPr lang="en-US"/>
              <a:t>.</a:t>
            </a:r>
            <a:endParaRPr/>
          </a:p>
          <a:p>
            <a:pPr indent="0" lvl="0" marL="0" rtl="0" algn="l">
              <a:spcBef>
                <a:spcPts val="0"/>
              </a:spcBef>
              <a:spcAft>
                <a:spcPts val="0"/>
              </a:spcAft>
              <a:buNone/>
            </a:pPr>
            <a:r>
              <a:rPr lang="en-US"/>
              <a:t>A sector is the </a:t>
            </a:r>
            <a:r>
              <a:rPr b="1" lang="en-US"/>
              <a:t>smallest physical storage unit</a:t>
            </a:r>
            <a:r>
              <a:rPr lang="en-US"/>
              <a:t> on the disk.</a:t>
            </a:r>
            <a:endParaRPr/>
          </a:p>
          <a:p>
            <a:pPr indent="0" lvl="0" marL="0" rtl="0" algn="l">
              <a:spcBef>
                <a:spcPts val="0"/>
              </a:spcBef>
              <a:spcAft>
                <a:spcPts val="0"/>
              </a:spcAft>
              <a:buNone/>
            </a:pPr>
            <a:r>
              <a:rPr lang="en-US"/>
              <a:t>Typical sector size: </a:t>
            </a:r>
            <a:r>
              <a:rPr b="1" lang="en-US"/>
              <a:t>512 bytes or 4 KB</a:t>
            </a:r>
            <a:r>
              <a:rPr lang="en-US"/>
              <a:t>.</a:t>
            </a:r>
            <a:endParaRPr/>
          </a:p>
          <a:p>
            <a:pPr indent="0" lvl="0" marL="0" rtl="0" algn="l">
              <a:spcBef>
                <a:spcPts val="0"/>
              </a:spcBef>
              <a:spcAft>
                <a:spcPts val="0"/>
              </a:spcAft>
              <a:buNone/>
            </a:pPr>
            <a:r>
              <a:rPr b="1" lang="en-US"/>
              <a:t>c) Cylinders</a:t>
            </a:r>
            <a:endParaRPr/>
          </a:p>
          <a:p>
            <a:pPr indent="0" lvl="0" marL="0" rtl="0" algn="l">
              <a:spcBef>
                <a:spcPts val="0"/>
              </a:spcBef>
              <a:spcAft>
                <a:spcPts val="0"/>
              </a:spcAft>
              <a:buNone/>
            </a:pPr>
            <a:r>
              <a:rPr lang="en-US"/>
              <a:t>A </a:t>
            </a:r>
            <a:r>
              <a:rPr b="1" lang="en-US"/>
              <a:t>cylinder</a:t>
            </a:r>
            <a:r>
              <a:rPr lang="en-US"/>
              <a:t> is a set of tracks at the same radius across all platters.</a:t>
            </a:r>
            <a:endParaRPr/>
          </a:p>
          <a:p>
            <a:pPr indent="0" lvl="0" marL="0" rtl="0" algn="l">
              <a:spcBef>
                <a:spcPts val="0"/>
              </a:spcBef>
              <a:spcAft>
                <a:spcPts val="0"/>
              </a:spcAft>
              <a:buNone/>
            </a:pPr>
            <a:r>
              <a:rPr lang="en-US"/>
              <a:t>Accessing data within a cylinder is faster because the head position does not change.</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Disk Addressing</a:t>
            </a:r>
            <a:endParaRPr/>
          </a:p>
          <a:p>
            <a:pPr indent="0" lvl="0" marL="0" rtl="0" algn="l">
              <a:spcBef>
                <a:spcPts val="0"/>
              </a:spcBef>
              <a:spcAft>
                <a:spcPts val="0"/>
              </a:spcAft>
              <a:buNone/>
            </a:pPr>
            <a:r>
              <a:rPr lang="en-US"/>
              <a:t>Data on the disk is accessed using an address:</a:t>
            </a:r>
            <a:endParaRPr/>
          </a:p>
          <a:p>
            <a:pPr indent="0" lvl="0" marL="0" rtl="0" algn="l">
              <a:spcBef>
                <a:spcPts val="0"/>
              </a:spcBef>
              <a:spcAft>
                <a:spcPts val="0"/>
              </a:spcAft>
              <a:buNone/>
            </a:pPr>
            <a:r>
              <a:rPr lang="en-US"/>
              <a:t>Traditionally: </a:t>
            </a:r>
            <a:r>
              <a:rPr b="1" lang="en-US"/>
              <a:t>Cylinder–Head–Sector (CHS)</a:t>
            </a:r>
            <a:endParaRPr/>
          </a:p>
          <a:p>
            <a:pPr indent="0" lvl="0" marL="0" rtl="0" algn="l">
              <a:spcBef>
                <a:spcPts val="0"/>
              </a:spcBef>
              <a:spcAft>
                <a:spcPts val="0"/>
              </a:spcAft>
              <a:buNone/>
            </a:pPr>
            <a:r>
              <a:rPr lang="en-US"/>
              <a:t>Modern systems use </a:t>
            </a:r>
            <a:r>
              <a:rPr b="1" lang="en-US"/>
              <a:t>Logical Block Addressing (LBA)</a:t>
            </a:r>
            <a:r>
              <a:rPr lang="en-US"/>
              <a:t>, where:</a:t>
            </a:r>
            <a:endParaRPr/>
          </a:p>
          <a:p>
            <a:pPr indent="0" lvl="1" marL="457200" rtl="0" algn="l">
              <a:spcBef>
                <a:spcPts val="0"/>
              </a:spcBef>
              <a:spcAft>
                <a:spcPts val="0"/>
              </a:spcAft>
              <a:buNone/>
            </a:pPr>
            <a:r>
              <a:rPr lang="en-US"/>
              <a:t>Each sector is given a unique number.</a:t>
            </a:r>
            <a:endParaRPr/>
          </a:p>
          <a:p>
            <a:pPr indent="0" lvl="1" marL="457200" rtl="0" algn="l">
              <a:spcBef>
                <a:spcPts val="0"/>
              </a:spcBef>
              <a:spcAft>
                <a:spcPts val="0"/>
              </a:spcAft>
              <a:buNone/>
            </a:pPr>
            <a:r>
              <a:rPr lang="en-US"/>
              <a:t>OS accesses data using these block numbers.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4. Disk Blocks</a:t>
            </a:r>
            <a:endParaRPr/>
          </a:p>
          <a:p>
            <a:pPr indent="0" lvl="0" marL="0" rtl="0" algn="l">
              <a:spcBef>
                <a:spcPts val="0"/>
              </a:spcBef>
              <a:spcAft>
                <a:spcPts val="0"/>
              </a:spcAft>
              <a:buNone/>
            </a:pPr>
            <a:r>
              <a:rPr lang="en-US"/>
              <a:t>The operating system views the disk as a sequence of </a:t>
            </a:r>
            <a:r>
              <a:rPr b="1" lang="en-US"/>
              <a:t>logical blocks</a:t>
            </a:r>
            <a:r>
              <a:rPr lang="en-US"/>
              <a:t>.</a:t>
            </a:r>
            <a:endParaRPr/>
          </a:p>
          <a:p>
            <a:pPr indent="0" lvl="0" marL="0" rtl="0" algn="l">
              <a:spcBef>
                <a:spcPts val="0"/>
              </a:spcBef>
              <a:spcAft>
                <a:spcPts val="0"/>
              </a:spcAft>
              <a:buNone/>
            </a:pPr>
            <a:r>
              <a:rPr lang="en-US"/>
              <a:t>A </a:t>
            </a:r>
            <a:r>
              <a:rPr b="1" lang="en-US"/>
              <a:t>block</a:t>
            </a:r>
            <a:r>
              <a:rPr lang="en-US"/>
              <a:t> may consist of one or more sectors.</a:t>
            </a:r>
            <a:endParaRPr/>
          </a:p>
          <a:p>
            <a:pPr indent="0" lvl="0" marL="0" rtl="0" algn="l">
              <a:spcBef>
                <a:spcPts val="0"/>
              </a:spcBef>
              <a:spcAft>
                <a:spcPts val="0"/>
              </a:spcAft>
              <a:buNone/>
            </a:pPr>
            <a:r>
              <a:rPr lang="en-US"/>
              <a:t>File systems allocate disk space in terms of blocks.</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5. Disk Access Time Components</a:t>
            </a:r>
            <a:endParaRPr/>
          </a:p>
          <a:p>
            <a:pPr indent="0" lvl="0" marL="0" rtl="0" algn="l">
              <a:spcBef>
                <a:spcPts val="0"/>
              </a:spcBef>
              <a:spcAft>
                <a:spcPts val="0"/>
              </a:spcAft>
              <a:buNone/>
            </a:pPr>
            <a:r>
              <a:rPr lang="en-US"/>
              <a:t>The disk structure directly affects access time, which includes:</a:t>
            </a:r>
            <a:endParaRPr/>
          </a:p>
          <a:p>
            <a:pPr indent="0" lvl="0" marL="0" rtl="0" algn="l">
              <a:spcBef>
                <a:spcPts val="0"/>
              </a:spcBef>
              <a:spcAft>
                <a:spcPts val="0"/>
              </a:spcAft>
              <a:buNone/>
            </a:pPr>
            <a:r>
              <a:rPr b="1" lang="en-US"/>
              <a:t>Seek Time</a:t>
            </a:r>
            <a:r>
              <a:rPr lang="en-US"/>
              <a:t> – Time to move the head to the correct track.</a:t>
            </a:r>
            <a:endParaRPr/>
          </a:p>
          <a:p>
            <a:pPr indent="0" lvl="0" marL="0" rtl="0" algn="l">
              <a:spcBef>
                <a:spcPts val="0"/>
              </a:spcBef>
              <a:spcAft>
                <a:spcPts val="0"/>
              </a:spcAft>
              <a:buNone/>
            </a:pPr>
            <a:r>
              <a:rPr b="1" lang="en-US"/>
              <a:t>Rotational Latency</a:t>
            </a:r>
            <a:r>
              <a:rPr lang="en-US"/>
              <a:t> – Time waiting for the desired sector to rotate under the head.</a:t>
            </a:r>
            <a:endParaRPr/>
          </a:p>
          <a:p>
            <a:pPr indent="0" lvl="0" marL="0" rtl="0" algn="l">
              <a:spcBef>
                <a:spcPts val="0"/>
              </a:spcBef>
              <a:spcAft>
                <a:spcPts val="0"/>
              </a:spcAft>
              <a:buNone/>
            </a:pPr>
            <a:r>
              <a:rPr b="1" lang="en-US"/>
              <a:t>Transfer Time</a:t>
            </a:r>
            <a:r>
              <a:rPr lang="en-US"/>
              <a:t> – Time to transfer data to/from memory.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Importance of Disk Structure</a:t>
            </a:r>
            <a:endParaRPr/>
          </a:p>
          <a:p>
            <a:pPr indent="0" lvl="0" marL="0" rtl="0" algn="l">
              <a:spcBef>
                <a:spcPts val="0"/>
              </a:spcBef>
              <a:spcAft>
                <a:spcPts val="0"/>
              </a:spcAft>
              <a:buNone/>
            </a:pPr>
            <a:r>
              <a:rPr lang="en-US"/>
              <a:t>Helps the OS </a:t>
            </a:r>
            <a:r>
              <a:rPr b="1" lang="en-US"/>
              <a:t>locate data efficiently</a:t>
            </a:r>
            <a:r>
              <a:rPr lang="en-US"/>
              <a:t>.</a:t>
            </a:r>
            <a:endParaRPr/>
          </a:p>
          <a:p>
            <a:pPr indent="0" lvl="0" marL="0" rtl="0" algn="l">
              <a:spcBef>
                <a:spcPts val="0"/>
              </a:spcBef>
              <a:spcAft>
                <a:spcPts val="0"/>
              </a:spcAft>
              <a:buNone/>
            </a:pPr>
            <a:r>
              <a:rPr lang="en-US"/>
              <a:t>Minimizes access time using proper scheduling.</a:t>
            </a:r>
            <a:endParaRPr/>
          </a:p>
          <a:p>
            <a:pPr indent="0" lvl="0" marL="0" rtl="0" algn="l">
              <a:spcBef>
                <a:spcPts val="0"/>
              </a:spcBef>
              <a:spcAft>
                <a:spcPts val="0"/>
              </a:spcAft>
              <a:buNone/>
            </a:pPr>
            <a:r>
              <a:rPr lang="en-US"/>
              <a:t>Supports file systems and disk management operations.</a:t>
            </a:r>
            <a:endParaRPr/>
          </a:p>
          <a:p>
            <a:pPr indent="0" lvl="0" marL="0" rtl="0" algn="l">
              <a:spcBef>
                <a:spcPts val="0"/>
              </a:spcBef>
              <a:spcAft>
                <a:spcPts val="0"/>
              </a:spcAft>
              <a:buNone/>
            </a:pPr>
            <a:r>
              <a:rPr lang="en-US"/>
              <a:t>Essential for techniques like </a:t>
            </a:r>
            <a:r>
              <a:rPr b="1" lang="en-US"/>
              <a:t>disk scheduling, RAID, and caching</a:t>
            </a:r>
            <a:r>
              <a:rPr lang="en-US"/>
              <a:t>.</a:t>
            </a:r>
            <a:endParaRPr/>
          </a:p>
          <a:p>
            <a:pPr indent="0" lvl="0" marL="0" rtl="0" algn="l">
              <a:spcBef>
                <a:spcPts val="0"/>
              </a:spcBef>
              <a:spcAft>
                <a:spcPts val="0"/>
              </a:spcAft>
              <a:buNone/>
            </a:pPr>
            <a:r>
              <a:t/>
            </a:r>
            <a:endParaRPr/>
          </a:p>
        </p:txBody>
      </p:sp>
      <p:sp>
        <p:nvSpPr>
          <p:cNvPr id="434" name="Google Shape;43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Disk attachment</a:t>
            </a:r>
            <a:r>
              <a:rPr lang="en-US"/>
              <a:t> refers to the </a:t>
            </a:r>
            <a:r>
              <a:rPr b="1" lang="en-US"/>
              <a:t>method by which secondary storage devices (disks)</a:t>
            </a:r>
            <a:r>
              <a:rPr lang="en-US"/>
              <a:t> are connected to a computer system so that the operating system can access and manage them.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Types of Disk Attachment</a:t>
            </a:r>
            <a:endParaRPr/>
          </a:p>
          <a:p>
            <a:pPr indent="0" lvl="0" marL="0" rtl="0" algn="l">
              <a:spcBef>
                <a:spcPts val="0"/>
              </a:spcBef>
              <a:spcAft>
                <a:spcPts val="0"/>
              </a:spcAft>
              <a:buNone/>
            </a:pPr>
            <a:r>
              <a:rPr b="1" lang="en-US"/>
              <a:t>1. Host-Attached Storage</a:t>
            </a:r>
            <a:endParaRPr/>
          </a:p>
          <a:p>
            <a:pPr indent="0" lvl="0" marL="0" rtl="0" algn="l">
              <a:spcBef>
                <a:spcPts val="0"/>
              </a:spcBef>
              <a:spcAft>
                <a:spcPts val="0"/>
              </a:spcAft>
              <a:buNone/>
            </a:pPr>
            <a:r>
              <a:rPr lang="en-US"/>
              <a:t>In </a:t>
            </a:r>
            <a:r>
              <a:rPr b="1" lang="en-US"/>
              <a:t>host-attached storage</a:t>
            </a:r>
            <a:r>
              <a:rPr lang="en-US"/>
              <a:t>, the disk is </a:t>
            </a:r>
            <a:r>
              <a:rPr b="1" lang="en-US"/>
              <a:t>directly connected to the computer system</a:t>
            </a:r>
            <a:r>
              <a:rPr lang="en-US"/>
              <a:t>.</a:t>
            </a:r>
            <a:endParaRPr/>
          </a:p>
          <a:p>
            <a:pPr indent="0" lvl="0" marL="0" rtl="0" algn="l">
              <a:spcBef>
                <a:spcPts val="0"/>
              </a:spcBef>
              <a:spcAft>
                <a:spcPts val="0"/>
              </a:spcAft>
              <a:buNone/>
            </a:pPr>
            <a:r>
              <a:rPr b="1" lang="en-US"/>
              <a:t>Features</a:t>
            </a:r>
            <a:endParaRPr/>
          </a:p>
          <a:p>
            <a:pPr indent="0" lvl="0" marL="0" rtl="0" algn="l">
              <a:spcBef>
                <a:spcPts val="0"/>
              </a:spcBef>
              <a:spcAft>
                <a:spcPts val="0"/>
              </a:spcAft>
              <a:buNone/>
            </a:pPr>
            <a:r>
              <a:rPr lang="en-US"/>
              <a:t>Disk communicates directly with the CPU via I/O controllers</a:t>
            </a:r>
            <a:endParaRPr/>
          </a:p>
          <a:p>
            <a:pPr indent="0" lvl="0" marL="0" rtl="0" algn="l">
              <a:spcBef>
                <a:spcPts val="0"/>
              </a:spcBef>
              <a:spcAft>
                <a:spcPts val="0"/>
              </a:spcAft>
              <a:buNone/>
            </a:pPr>
            <a:r>
              <a:rPr lang="en-US"/>
              <a:t>Appears as a </a:t>
            </a:r>
            <a:r>
              <a:rPr b="1" lang="en-US"/>
              <a:t>local disk</a:t>
            </a:r>
            <a:r>
              <a:rPr lang="en-US"/>
              <a:t> to the OS</a:t>
            </a:r>
            <a:endParaRPr/>
          </a:p>
          <a:p>
            <a:pPr indent="0" lvl="0" marL="0" rtl="0" algn="l">
              <a:spcBef>
                <a:spcPts val="0"/>
              </a:spcBef>
              <a:spcAft>
                <a:spcPts val="0"/>
              </a:spcAft>
              <a:buNone/>
            </a:pPr>
            <a:r>
              <a:rPr lang="en-US"/>
              <a:t>Simple and low cost</a:t>
            </a:r>
            <a:endParaRPr/>
          </a:p>
          <a:p>
            <a:pPr indent="0" lvl="0" marL="0" rtl="0" algn="l">
              <a:spcBef>
                <a:spcPts val="0"/>
              </a:spcBef>
              <a:spcAft>
                <a:spcPts val="0"/>
              </a:spcAft>
              <a:buNone/>
            </a:pPr>
            <a:r>
              <a:rPr b="1" lang="en-US"/>
              <a:t>Common Interfaces</a:t>
            </a:r>
            <a:endParaRPr/>
          </a:p>
          <a:p>
            <a:pPr indent="0" lvl="0" marL="0" rtl="0" algn="l">
              <a:spcBef>
                <a:spcPts val="0"/>
              </a:spcBef>
              <a:spcAft>
                <a:spcPts val="0"/>
              </a:spcAft>
              <a:buNone/>
            </a:pPr>
            <a:r>
              <a:rPr b="1" lang="en-US"/>
              <a:t>IDE / PATA</a:t>
            </a:r>
            <a:endParaRPr/>
          </a:p>
          <a:p>
            <a:pPr indent="0" lvl="0" marL="0" rtl="0" algn="l">
              <a:spcBef>
                <a:spcPts val="0"/>
              </a:spcBef>
              <a:spcAft>
                <a:spcPts val="0"/>
              </a:spcAft>
              <a:buNone/>
            </a:pPr>
            <a:r>
              <a:rPr b="1" lang="en-US"/>
              <a:t>SATA</a:t>
            </a:r>
            <a:endParaRPr/>
          </a:p>
          <a:p>
            <a:pPr indent="0" lvl="0" marL="0" rtl="0" algn="l">
              <a:spcBef>
                <a:spcPts val="0"/>
              </a:spcBef>
              <a:spcAft>
                <a:spcPts val="0"/>
              </a:spcAft>
              <a:buNone/>
            </a:pPr>
            <a:r>
              <a:rPr b="1" lang="en-US"/>
              <a:t>SCSI</a:t>
            </a:r>
            <a:endParaRPr/>
          </a:p>
          <a:p>
            <a:pPr indent="0" lvl="0" marL="0" rtl="0" algn="l">
              <a:spcBef>
                <a:spcPts val="0"/>
              </a:spcBef>
              <a:spcAft>
                <a:spcPts val="0"/>
              </a:spcAft>
              <a:buNone/>
            </a:pPr>
            <a:r>
              <a:rPr b="1" lang="en-US"/>
              <a:t>NVMe (over PCIe)</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Internal HDDs</a:t>
            </a:r>
            <a:endParaRPr/>
          </a:p>
          <a:p>
            <a:pPr indent="0" lvl="0" marL="0" rtl="0" algn="l">
              <a:spcBef>
                <a:spcPts val="0"/>
              </a:spcBef>
              <a:spcAft>
                <a:spcPts val="0"/>
              </a:spcAft>
              <a:buNone/>
            </a:pPr>
            <a:r>
              <a:rPr lang="en-US"/>
              <a:t>SSDs inside laptops/desktops</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High performance</a:t>
            </a:r>
            <a:endParaRPr/>
          </a:p>
          <a:p>
            <a:pPr indent="0" lvl="0" marL="0" rtl="0" algn="l">
              <a:spcBef>
                <a:spcPts val="0"/>
              </a:spcBef>
              <a:spcAft>
                <a:spcPts val="0"/>
              </a:spcAft>
              <a:buNone/>
            </a:pPr>
            <a:r>
              <a:rPr lang="en-US"/>
              <a:t>Low latency</a:t>
            </a:r>
            <a:endParaRPr/>
          </a:p>
          <a:p>
            <a:pPr indent="0" lvl="0" marL="0" rtl="0" algn="l">
              <a:spcBef>
                <a:spcPts val="0"/>
              </a:spcBef>
              <a:spcAft>
                <a:spcPts val="0"/>
              </a:spcAft>
              <a:buNone/>
            </a:pPr>
            <a:r>
              <a:rPr lang="en-US"/>
              <a:t>Simple configuration</a:t>
            </a: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lang="en-US"/>
              <a:t>Limited sharing between systems</a:t>
            </a:r>
            <a:endParaRPr/>
          </a:p>
          <a:p>
            <a:pPr indent="0" lvl="0" marL="0" rtl="0" algn="l">
              <a:spcBef>
                <a:spcPts val="0"/>
              </a:spcBef>
              <a:spcAft>
                <a:spcPts val="0"/>
              </a:spcAft>
              <a:buNone/>
            </a:pPr>
            <a:r>
              <a:rPr lang="en-US"/>
              <a:t>Scalability is low</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2. Network-Attached Storage (NAS)</a:t>
            </a:r>
            <a:endParaRPr/>
          </a:p>
          <a:p>
            <a:pPr indent="0" lvl="0" marL="0" rtl="0" algn="l">
              <a:spcBef>
                <a:spcPts val="0"/>
              </a:spcBef>
              <a:spcAft>
                <a:spcPts val="0"/>
              </a:spcAft>
              <a:buNone/>
            </a:pPr>
            <a:r>
              <a:rPr lang="en-US"/>
              <a:t>In </a:t>
            </a:r>
            <a:r>
              <a:rPr b="1" lang="en-US"/>
              <a:t>NAS</a:t>
            </a:r>
            <a:r>
              <a:rPr lang="en-US"/>
              <a:t>, disks are connected to a </a:t>
            </a:r>
            <a:r>
              <a:rPr b="1" lang="en-US"/>
              <a:t>dedicated storage device</a:t>
            </a:r>
            <a:r>
              <a:rPr lang="en-US"/>
              <a:t> that is accessed over a </a:t>
            </a:r>
            <a:r>
              <a:rPr b="1" lang="en-US"/>
              <a:t>network</a:t>
            </a:r>
            <a:r>
              <a:rPr lang="en-US"/>
              <a:t>.</a:t>
            </a:r>
            <a:endParaRPr/>
          </a:p>
          <a:p>
            <a:pPr indent="0" lvl="0" marL="0" rtl="0" algn="l">
              <a:spcBef>
                <a:spcPts val="0"/>
              </a:spcBef>
              <a:spcAft>
                <a:spcPts val="0"/>
              </a:spcAft>
              <a:buNone/>
            </a:pPr>
            <a:r>
              <a:rPr b="1" lang="en-US"/>
              <a:t>Features</a:t>
            </a:r>
            <a:endParaRPr/>
          </a:p>
          <a:p>
            <a:pPr indent="0" lvl="0" marL="0" rtl="0" algn="l">
              <a:spcBef>
                <a:spcPts val="0"/>
              </a:spcBef>
              <a:spcAft>
                <a:spcPts val="0"/>
              </a:spcAft>
              <a:buNone/>
            </a:pPr>
            <a:r>
              <a:rPr lang="en-US"/>
              <a:t>Uses file-level access</a:t>
            </a:r>
            <a:endParaRPr/>
          </a:p>
          <a:p>
            <a:pPr indent="0" lvl="0" marL="0" rtl="0" algn="l">
              <a:spcBef>
                <a:spcPts val="0"/>
              </a:spcBef>
              <a:spcAft>
                <a:spcPts val="0"/>
              </a:spcAft>
              <a:buNone/>
            </a:pPr>
            <a:r>
              <a:rPr lang="en-US"/>
              <a:t>Appears as a shared folder</a:t>
            </a:r>
            <a:endParaRPr/>
          </a:p>
          <a:p>
            <a:pPr indent="0" lvl="0" marL="0" rtl="0" algn="l">
              <a:spcBef>
                <a:spcPts val="0"/>
              </a:spcBef>
              <a:spcAft>
                <a:spcPts val="0"/>
              </a:spcAft>
              <a:buNone/>
            </a:pPr>
            <a:r>
              <a:rPr lang="en-US"/>
              <a:t>Uses network protocols</a:t>
            </a:r>
            <a:endParaRPr/>
          </a:p>
          <a:p>
            <a:pPr indent="0" lvl="0" marL="0" rtl="0" algn="l">
              <a:spcBef>
                <a:spcPts val="0"/>
              </a:spcBef>
              <a:spcAft>
                <a:spcPts val="0"/>
              </a:spcAft>
              <a:buNone/>
            </a:pPr>
            <a:r>
              <a:rPr b="1" lang="en-US"/>
              <a:t>Protocols Used</a:t>
            </a:r>
            <a:endParaRPr/>
          </a:p>
          <a:p>
            <a:pPr indent="0" lvl="0" marL="0" rtl="0" algn="l">
              <a:spcBef>
                <a:spcPts val="0"/>
              </a:spcBef>
              <a:spcAft>
                <a:spcPts val="0"/>
              </a:spcAft>
              <a:buNone/>
            </a:pPr>
            <a:r>
              <a:rPr b="1" lang="en-US"/>
              <a:t>NFS (Linux/UNIX)</a:t>
            </a:r>
            <a:endParaRPr/>
          </a:p>
          <a:p>
            <a:pPr indent="0" lvl="0" marL="0" rtl="0" algn="l">
              <a:spcBef>
                <a:spcPts val="0"/>
              </a:spcBef>
              <a:spcAft>
                <a:spcPts val="0"/>
              </a:spcAft>
              <a:buNone/>
            </a:pPr>
            <a:r>
              <a:rPr b="1" lang="en-US"/>
              <a:t>SMB/CIFS (Windows)</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File servers</a:t>
            </a:r>
            <a:endParaRPr/>
          </a:p>
          <a:p>
            <a:pPr indent="0" lvl="0" marL="0" rtl="0" algn="l">
              <a:spcBef>
                <a:spcPts val="0"/>
              </a:spcBef>
              <a:spcAft>
                <a:spcPts val="0"/>
              </a:spcAft>
              <a:buNone/>
            </a:pPr>
            <a:r>
              <a:rPr lang="en-US"/>
              <a:t>Home and enterprise NAS devices</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Easy file sharing</a:t>
            </a:r>
            <a:endParaRPr/>
          </a:p>
          <a:p>
            <a:pPr indent="0" lvl="0" marL="0" rtl="0" algn="l">
              <a:spcBef>
                <a:spcPts val="0"/>
              </a:spcBef>
              <a:spcAft>
                <a:spcPts val="0"/>
              </a:spcAft>
              <a:buNone/>
            </a:pPr>
            <a:r>
              <a:rPr lang="en-US"/>
              <a:t>Centralized storage</a:t>
            </a:r>
            <a:endParaRPr/>
          </a:p>
          <a:p>
            <a:pPr indent="0" lvl="0" marL="0" rtl="0" algn="l">
              <a:spcBef>
                <a:spcPts val="0"/>
              </a:spcBef>
              <a:spcAft>
                <a:spcPts val="0"/>
              </a:spcAft>
              <a:buNone/>
            </a:pPr>
            <a:r>
              <a:rPr lang="en-US"/>
              <a:t>OS-independent access</a:t>
            </a: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lang="en-US"/>
              <a:t>Slower than local disks</a:t>
            </a:r>
            <a:endParaRPr/>
          </a:p>
          <a:p>
            <a:pPr indent="0" lvl="0" marL="0" rtl="0" algn="l">
              <a:spcBef>
                <a:spcPts val="0"/>
              </a:spcBef>
              <a:spcAft>
                <a:spcPts val="0"/>
              </a:spcAft>
              <a:buNone/>
            </a:pPr>
            <a:r>
              <a:rPr lang="en-US"/>
              <a:t>Network dependency</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rPr b="1" lang="en-US"/>
              <a:t>3. Storage Area Network (SAN)</a:t>
            </a:r>
            <a:endParaRPr/>
          </a:p>
          <a:p>
            <a:pPr indent="0" lvl="0" marL="0" rtl="0" algn="l">
              <a:spcBef>
                <a:spcPts val="0"/>
              </a:spcBef>
              <a:spcAft>
                <a:spcPts val="0"/>
              </a:spcAft>
              <a:buNone/>
            </a:pPr>
            <a:r>
              <a:rPr lang="en-US"/>
              <a:t>A </a:t>
            </a:r>
            <a:r>
              <a:rPr b="1" lang="en-US"/>
              <a:t>SAN</a:t>
            </a:r>
            <a:r>
              <a:rPr lang="en-US"/>
              <a:t> provides </a:t>
            </a:r>
            <a:r>
              <a:rPr b="1" lang="en-US"/>
              <a:t>block-level disk access</a:t>
            </a:r>
            <a:r>
              <a:rPr lang="en-US"/>
              <a:t> over a high-speed network.</a:t>
            </a:r>
            <a:endParaRPr/>
          </a:p>
          <a:p>
            <a:pPr indent="0" lvl="0" marL="0" rtl="0" algn="l">
              <a:spcBef>
                <a:spcPts val="0"/>
              </a:spcBef>
              <a:spcAft>
                <a:spcPts val="0"/>
              </a:spcAft>
              <a:buNone/>
            </a:pPr>
            <a:r>
              <a:rPr b="1" lang="en-US"/>
              <a:t>Features</a:t>
            </a:r>
            <a:endParaRPr/>
          </a:p>
          <a:p>
            <a:pPr indent="0" lvl="0" marL="0" rtl="0" algn="l">
              <a:spcBef>
                <a:spcPts val="0"/>
              </a:spcBef>
              <a:spcAft>
                <a:spcPts val="0"/>
              </a:spcAft>
              <a:buNone/>
            </a:pPr>
            <a:r>
              <a:rPr lang="en-US"/>
              <a:t>Disk appears as a </a:t>
            </a:r>
            <a:r>
              <a:rPr b="1" lang="en-US"/>
              <a:t>local disk</a:t>
            </a:r>
            <a:r>
              <a:rPr lang="en-US"/>
              <a:t> to the OS</a:t>
            </a:r>
            <a:endParaRPr/>
          </a:p>
          <a:p>
            <a:pPr indent="0" lvl="0" marL="0" rtl="0" algn="l">
              <a:spcBef>
                <a:spcPts val="0"/>
              </a:spcBef>
              <a:spcAft>
                <a:spcPts val="0"/>
              </a:spcAft>
              <a:buNone/>
            </a:pPr>
            <a:r>
              <a:rPr lang="en-US"/>
              <a:t>Uses dedicated storage networks</a:t>
            </a:r>
            <a:endParaRPr/>
          </a:p>
          <a:p>
            <a:pPr indent="0" lvl="0" marL="0" rtl="0" algn="l">
              <a:spcBef>
                <a:spcPts val="0"/>
              </a:spcBef>
              <a:spcAft>
                <a:spcPts val="0"/>
              </a:spcAft>
              <a:buNone/>
            </a:pPr>
            <a:r>
              <a:rPr lang="en-US"/>
              <a:t>High performance and reliability</a:t>
            </a:r>
            <a:endParaRPr/>
          </a:p>
          <a:p>
            <a:pPr indent="0" lvl="0" marL="0" rtl="0" algn="l">
              <a:spcBef>
                <a:spcPts val="0"/>
              </a:spcBef>
              <a:spcAft>
                <a:spcPts val="0"/>
              </a:spcAft>
              <a:buNone/>
            </a:pPr>
            <a:r>
              <a:rPr b="1" lang="en-US"/>
              <a:t>Technologies Used</a:t>
            </a:r>
            <a:endParaRPr/>
          </a:p>
          <a:p>
            <a:pPr indent="0" lvl="0" marL="0" rtl="0" algn="l">
              <a:spcBef>
                <a:spcPts val="0"/>
              </a:spcBef>
              <a:spcAft>
                <a:spcPts val="0"/>
              </a:spcAft>
              <a:buNone/>
            </a:pPr>
            <a:r>
              <a:rPr b="1" lang="en-US"/>
              <a:t>Fibre Channel</a:t>
            </a:r>
            <a:endParaRPr/>
          </a:p>
          <a:p>
            <a:pPr indent="0" lvl="0" marL="0" rtl="0" algn="l">
              <a:spcBef>
                <a:spcPts val="0"/>
              </a:spcBef>
              <a:spcAft>
                <a:spcPts val="0"/>
              </a:spcAft>
              <a:buNone/>
            </a:pPr>
            <a:r>
              <a:rPr b="1" lang="en-US"/>
              <a:t>iSCSI</a:t>
            </a:r>
            <a:endParaRPr/>
          </a:p>
          <a:p>
            <a:pPr indent="0" lvl="0" marL="0" rtl="0" algn="l">
              <a:spcBef>
                <a:spcPts val="0"/>
              </a:spcBef>
              <a:spcAft>
                <a:spcPts val="0"/>
              </a:spcAft>
              <a:buNone/>
            </a:pPr>
            <a:r>
              <a:rPr b="1" lang="en-US"/>
              <a:t>InfiniBand</a:t>
            </a:r>
            <a:endParaRPr/>
          </a:p>
          <a:p>
            <a:pPr indent="0" lvl="0" marL="0" rtl="0" algn="l">
              <a:spcBef>
                <a:spcPts val="0"/>
              </a:spcBef>
              <a:spcAft>
                <a:spcPts val="0"/>
              </a:spcAft>
              <a:buNone/>
            </a:pPr>
            <a:r>
              <a:rPr b="1" lang="en-US"/>
              <a:t>Examples</a:t>
            </a:r>
            <a:endParaRPr/>
          </a:p>
          <a:p>
            <a:pPr indent="0" lvl="0" marL="0" rtl="0" algn="l">
              <a:spcBef>
                <a:spcPts val="0"/>
              </a:spcBef>
              <a:spcAft>
                <a:spcPts val="0"/>
              </a:spcAft>
              <a:buNone/>
            </a:pPr>
            <a:r>
              <a:rPr lang="en-US"/>
              <a:t>Enterprise data centers</a:t>
            </a:r>
            <a:endParaRPr/>
          </a:p>
          <a:p>
            <a:pPr indent="0" lvl="0" marL="0" rtl="0" algn="l">
              <a:spcBef>
                <a:spcPts val="0"/>
              </a:spcBef>
              <a:spcAft>
                <a:spcPts val="0"/>
              </a:spcAft>
              <a:buNone/>
            </a:pPr>
            <a:r>
              <a:rPr lang="en-US"/>
              <a:t>Virtualized environments</a:t>
            </a:r>
            <a:endParaRPr/>
          </a:p>
          <a:p>
            <a:pPr indent="0" lvl="0" marL="0" rtl="0" algn="l">
              <a:spcBef>
                <a:spcPts val="0"/>
              </a:spcBef>
              <a:spcAft>
                <a:spcPts val="0"/>
              </a:spcAft>
              <a:buNone/>
            </a:pPr>
            <a:r>
              <a:rPr b="1" lang="en-US"/>
              <a:t>Advantages</a:t>
            </a:r>
            <a:endParaRPr/>
          </a:p>
          <a:p>
            <a:pPr indent="0" lvl="0" marL="0" rtl="0" algn="l">
              <a:spcBef>
                <a:spcPts val="0"/>
              </a:spcBef>
              <a:spcAft>
                <a:spcPts val="0"/>
              </a:spcAft>
              <a:buNone/>
            </a:pPr>
            <a:r>
              <a:rPr lang="en-US"/>
              <a:t>Very high speed</a:t>
            </a:r>
            <a:endParaRPr/>
          </a:p>
          <a:p>
            <a:pPr indent="0" lvl="0" marL="0" rtl="0" algn="l">
              <a:spcBef>
                <a:spcPts val="0"/>
              </a:spcBef>
              <a:spcAft>
                <a:spcPts val="0"/>
              </a:spcAft>
              <a:buNone/>
            </a:pPr>
            <a:r>
              <a:rPr lang="en-US"/>
              <a:t>High scalability</a:t>
            </a:r>
            <a:endParaRPr/>
          </a:p>
          <a:p>
            <a:pPr indent="0" lvl="0" marL="0" rtl="0" algn="l">
              <a:spcBef>
                <a:spcPts val="0"/>
              </a:spcBef>
              <a:spcAft>
                <a:spcPts val="0"/>
              </a:spcAft>
              <a:buNone/>
            </a:pPr>
            <a:r>
              <a:rPr lang="en-US"/>
              <a:t>Supports clustering</a:t>
            </a:r>
            <a:endParaRPr/>
          </a:p>
          <a:p>
            <a:pPr indent="0" lvl="0" marL="0" rtl="0" algn="l">
              <a:spcBef>
                <a:spcPts val="0"/>
              </a:spcBef>
              <a:spcAft>
                <a:spcPts val="0"/>
              </a:spcAft>
              <a:buNone/>
            </a:pPr>
            <a:r>
              <a:rPr b="1" lang="en-US"/>
              <a:t>Disadvantages</a:t>
            </a:r>
            <a:endParaRPr/>
          </a:p>
          <a:p>
            <a:pPr indent="0" lvl="0" marL="0" rtl="0" algn="l">
              <a:spcBef>
                <a:spcPts val="0"/>
              </a:spcBef>
              <a:spcAft>
                <a:spcPts val="0"/>
              </a:spcAft>
              <a:buNone/>
            </a:pPr>
            <a:r>
              <a:rPr lang="en-US"/>
              <a:t>Expensive</a:t>
            </a:r>
            <a:endParaRPr/>
          </a:p>
          <a:p>
            <a:pPr indent="0" lvl="0" marL="0" rtl="0" algn="l">
              <a:spcBef>
                <a:spcPts val="0"/>
              </a:spcBef>
              <a:spcAft>
                <a:spcPts val="0"/>
              </a:spcAft>
              <a:buNone/>
            </a:pPr>
            <a:r>
              <a:rPr lang="en-US"/>
              <a:t>Complex setup and maintenance</a:t>
            </a:r>
            <a:endParaRPr/>
          </a:p>
          <a:p>
            <a:pPr indent="0" lvl="0" marL="0" rtl="0" algn="l">
              <a:spcBef>
                <a:spcPts val="0"/>
              </a:spcBef>
              <a:spcAft>
                <a:spcPts val="0"/>
              </a:spcAft>
              <a:buNone/>
            </a:pPr>
            <a:r>
              <a:t/>
            </a:r>
            <a:endParaRPr/>
          </a:p>
        </p:txBody>
      </p:sp>
      <p:sp>
        <p:nvSpPr>
          <p:cNvPr id="443" name="Google Shape;44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RAID (Redundant Array of Independent Disks) is a data storage virtualization technology that combines multiple physical drives into one or more logical units for data redundancy, improved performance, or both.</a:t>
            </a:r>
            <a:endParaRPr/>
          </a:p>
          <a:p>
            <a:pPr indent="0" lvl="0" marL="0" rtl="0" algn="l">
              <a:spcBef>
                <a:spcPts val="0"/>
              </a:spcBef>
              <a:spcAft>
                <a:spcPts val="0"/>
              </a:spcAft>
              <a:buNone/>
            </a:pPr>
            <a:r>
              <a:t/>
            </a:r>
            <a:endParaRPr/>
          </a:p>
        </p:txBody>
      </p:sp>
      <p:sp>
        <p:nvSpPr>
          <p:cNvPr id="508" name="Google Shape;50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striping, i.e. data is divided into multiple blocks and saved in multiple disks in parallel.</a:t>
            </a:r>
            <a:endParaRPr/>
          </a:p>
          <a:p>
            <a:pPr indent="0" lvl="0" marL="0" rtl="0" algn="l">
              <a:spcBef>
                <a:spcPts val="0"/>
              </a:spcBef>
              <a:spcAft>
                <a:spcPts val="0"/>
              </a:spcAft>
              <a:buNone/>
            </a:pPr>
            <a:r>
              <a:rPr lang="en-US"/>
              <a:t>Multiple Data blocks can be fetched at the same time boosting performance </a:t>
            </a:r>
            <a:endParaRPr/>
          </a:p>
          <a:p>
            <a:pPr indent="0" lvl="0" marL="0" rtl="0" algn="l">
              <a:spcBef>
                <a:spcPts val="0"/>
              </a:spcBef>
              <a:spcAft>
                <a:spcPts val="0"/>
              </a:spcAft>
              <a:buNone/>
            </a:pPr>
            <a:r>
              <a:rPr lang="en-US"/>
              <a:t>It offers the best performance, but it does not provide fault tolerance</a:t>
            </a:r>
            <a:endParaRPr/>
          </a:p>
          <a:p>
            <a:pPr indent="0" lvl="0" marL="0" rtl="0" algn="l">
              <a:spcBef>
                <a:spcPts val="0"/>
              </a:spcBef>
              <a:spcAft>
                <a:spcPts val="0"/>
              </a:spcAft>
              <a:buNone/>
            </a:pPr>
            <a:r>
              <a:t/>
            </a:r>
            <a:endParaRPr/>
          </a:p>
        </p:txBody>
      </p:sp>
      <p:sp>
        <p:nvSpPr>
          <p:cNvPr id="521" name="Google Shape;52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striping, i.e. data is divided into multiple blocks and saved in multiple disks in parallel.</a:t>
            </a:r>
            <a:endParaRPr/>
          </a:p>
          <a:p>
            <a:pPr indent="0" lvl="0" marL="0" rtl="0" algn="l">
              <a:spcBef>
                <a:spcPts val="0"/>
              </a:spcBef>
              <a:spcAft>
                <a:spcPts val="0"/>
              </a:spcAft>
              <a:buNone/>
            </a:pPr>
            <a:r>
              <a:rPr lang="en-US"/>
              <a:t>Multiple Data blocks can be fetched at the same time boosting performance </a:t>
            </a:r>
            <a:endParaRPr/>
          </a:p>
          <a:p>
            <a:pPr indent="0" lvl="0" marL="0" rtl="0" algn="l">
              <a:spcBef>
                <a:spcPts val="0"/>
              </a:spcBef>
              <a:spcAft>
                <a:spcPts val="0"/>
              </a:spcAft>
              <a:buNone/>
            </a:pPr>
            <a:r>
              <a:rPr lang="en-US"/>
              <a:t>It offers the best performance, but it does not provide fault tolerance</a:t>
            </a:r>
            <a:endParaRPr/>
          </a:p>
          <a:p>
            <a:pPr indent="0" lvl="0" marL="0" rtl="0" algn="l">
              <a:spcBef>
                <a:spcPts val="0"/>
              </a:spcBef>
              <a:spcAft>
                <a:spcPts val="0"/>
              </a:spcAft>
              <a:buNone/>
            </a:pPr>
            <a:r>
              <a:t/>
            </a:r>
            <a:endParaRPr/>
          </a:p>
        </p:txBody>
      </p:sp>
      <p:sp>
        <p:nvSpPr>
          <p:cNvPr id="539" name="Google Shape;53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striping, i.e. data is divided into multiple blocks and saved in multiple disks in parallel.</a:t>
            </a:r>
            <a:endParaRPr/>
          </a:p>
          <a:p>
            <a:pPr indent="0" lvl="0" marL="0" rtl="0" algn="l">
              <a:spcBef>
                <a:spcPts val="0"/>
              </a:spcBef>
              <a:spcAft>
                <a:spcPts val="0"/>
              </a:spcAft>
              <a:buNone/>
            </a:pPr>
            <a:r>
              <a:rPr lang="en-US"/>
              <a:t>Multiple Data blocks can be fetched at the same time boosting performance </a:t>
            </a:r>
            <a:endParaRPr/>
          </a:p>
          <a:p>
            <a:pPr indent="0" lvl="0" marL="0" rtl="0" algn="l">
              <a:spcBef>
                <a:spcPts val="0"/>
              </a:spcBef>
              <a:spcAft>
                <a:spcPts val="0"/>
              </a:spcAft>
              <a:buNone/>
            </a:pPr>
            <a:r>
              <a:rPr lang="en-US"/>
              <a:t>It offers the best performance, but it does not provide fault tolerance</a:t>
            </a:r>
            <a:endParaRPr/>
          </a:p>
          <a:p>
            <a:pPr indent="0" lvl="0" marL="0" rtl="0" algn="l">
              <a:spcBef>
                <a:spcPts val="0"/>
              </a:spcBef>
              <a:spcAft>
                <a:spcPts val="0"/>
              </a:spcAft>
              <a:buNone/>
            </a:pPr>
            <a:r>
              <a:t/>
            </a:r>
            <a:endParaRPr/>
          </a:p>
        </p:txBody>
      </p:sp>
      <p:sp>
        <p:nvSpPr>
          <p:cNvPr id="547" name="Google Shape;54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striping, i.e. data is divided into multiple blocks and saved in multiple disks in parallel.</a:t>
            </a:r>
            <a:endParaRPr/>
          </a:p>
          <a:p>
            <a:pPr indent="0" lvl="0" marL="0" rtl="0" algn="l">
              <a:spcBef>
                <a:spcPts val="0"/>
              </a:spcBef>
              <a:spcAft>
                <a:spcPts val="0"/>
              </a:spcAft>
              <a:buNone/>
            </a:pPr>
            <a:r>
              <a:rPr lang="en-US"/>
              <a:t>Multiple Data blocks can be fetched at the same time boosting performance </a:t>
            </a:r>
            <a:endParaRPr/>
          </a:p>
          <a:p>
            <a:pPr indent="0" lvl="0" marL="0" rtl="0" algn="l">
              <a:spcBef>
                <a:spcPts val="0"/>
              </a:spcBef>
              <a:spcAft>
                <a:spcPts val="0"/>
              </a:spcAft>
              <a:buNone/>
            </a:pPr>
            <a:r>
              <a:rPr lang="en-US"/>
              <a:t>It offers the best performance, but it does not provide fault tolerance</a:t>
            </a:r>
            <a:endParaRPr/>
          </a:p>
          <a:p>
            <a:pPr indent="0" lvl="0" marL="0" rtl="0" algn="l">
              <a:spcBef>
                <a:spcPts val="0"/>
              </a:spcBef>
              <a:spcAft>
                <a:spcPts val="0"/>
              </a:spcAft>
              <a:buNone/>
            </a:pPr>
            <a:r>
              <a:t/>
            </a:r>
            <a:endParaRPr/>
          </a:p>
        </p:txBody>
      </p:sp>
      <p:sp>
        <p:nvSpPr>
          <p:cNvPr id="555" name="Google Shape;55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striping, i.e. data is divided into multiple blocks and saved in multiple disks in parallel.</a:t>
            </a:r>
            <a:endParaRPr/>
          </a:p>
          <a:p>
            <a:pPr indent="0" lvl="0" marL="0" rtl="0" algn="l">
              <a:spcBef>
                <a:spcPts val="0"/>
              </a:spcBef>
              <a:spcAft>
                <a:spcPts val="0"/>
              </a:spcAft>
              <a:buNone/>
            </a:pPr>
            <a:r>
              <a:rPr lang="en-US"/>
              <a:t>Multiple Data blocks can be fetched at the same time boosting performance </a:t>
            </a:r>
            <a:endParaRPr/>
          </a:p>
          <a:p>
            <a:pPr indent="0" lvl="0" marL="0" rtl="0" algn="l">
              <a:spcBef>
                <a:spcPts val="0"/>
              </a:spcBef>
              <a:spcAft>
                <a:spcPts val="0"/>
              </a:spcAft>
              <a:buNone/>
            </a:pPr>
            <a:r>
              <a:rPr lang="en-US"/>
              <a:t>It offers the best performance, but it does not provide fault tolerance</a:t>
            </a:r>
            <a:endParaRPr/>
          </a:p>
          <a:p>
            <a:pPr indent="0" lvl="0" marL="0" rtl="0" algn="l">
              <a:spcBef>
                <a:spcPts val="0"/>
              </a:spcBef>
              <a:spcAft>
                <a:spcPts val="0"/>
              </a:spcAft>
              <a:buNone/>
            </a:pPr>
            <a:r>
              <a:t/>
            </a:r>
            <a:endParaRPr/>
          </a:p>
        </p:txBody>
      </p:sp>
      <p:sp>
        <p:nvSpPr>
          <p:cNvPr id="563" name="Google Shape;56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striping, i.e. data is divided into multiple blocks and saved in multiple disks in parallel.</a:t>
            </a:r>
            <a:endParaRPr/>
          </a:p>
          <a:p>
            <a:pPr indent="0" lvl="0" marL="0" rtl="0" algn="l">
              <a:spcBef>
                <a:spcPts val="0"/>
              </a:spcBef>
              <a:spcAft>
                <a:spcPts val="0"/>
              </a:spcAft>
              <a:buNone/>
            </a:pPr>
            <a:r>
              <a:rPr lang="en-US"/>
              <a:t>Multiple Data blocks can be fetched at the same time boosting performance </a:t>
            </a:r>
            <a:endParaRPr/>
          </a:p>
          <a:p>
            <a:pPr indent="0" lvl="0" marL="0" rtl="0" algn="l">
              <a:spcBef>
                <a:spcPts val="0"/>
              </a:spcBef>
              <a:spcAft>
                <a:spcPts val="0"/>
              </a:spcAft>
              <a:buNone/>
            </a:pPr>
            <a:r>
              <a:rPr lang="en-US"/>
              <a:t>It offers the best performance, but it does not provide fault tolerance</a:t>
            </a:r>
            <a:endParaRPr/>
          </a:p>
          <a:p>
            <a:pPr indent="0" lvl="0" marL="0" rtl="0" algn="l">
              <a:spcBef>
                <a:spcPts val="0"/>
              </a:spcBef>
              <a:spcAft>
                <a:spcPts val="0"/>
              </a:spcAft>
              <a:buNone/>
            </a:pPr>
            <a:r>
              <a:t/>
            </a:r>
            <a:endParaRPr/>
          </a:p>
        </p:txBody>
      </p:sp>
      <p:sp>
        <p:nvSpPr>
          <p:cNvPr id="571" name="Google Shape;57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Disk scheduling is done by operating systems to schedule I/O requests arriving for the disk. Disk scheduling is also known as I/O scheduling. Disk scheduling is important because: </a:t>
            </a:r>
            <a:endParaRPr/>
          </a:p>
          <a:p>
            <a:pPr indent="0" lvl="0" marL="0" rtl="0" algn="l">
              <a:spcBef>
                <a:spcPts val="0"/>
              </a:spcBef>
              <a:spcAft>
                <a:spcPts val="0"/>
              </a:spcAft>
              <a:buNone/>
            </a:pPr>
            <a:r>
              <a:rPr lang="en-US"/>
              <a:t>• Multiple I/O requests may arrive by different processes and only one I/O request can be served at a time by the disk controller. Thus other I/O requests need to wait in the waiting queue and need to be scheduled. </a:t>
            </a:r>
            <a:endParaRPr/>
          </a:p>
          <a:p>
            <a:pPr indent="0" lvl="0" marL="0" rtl="0" algn="l">
              <a:spcBef>
                <a:spcPts val="0"/>
              </a:spcBef>
              <a:spcAft>
                <a:spcPts val="0"/>
              </a:spcAft>
              <a:buNone/>
            </a:pPr>
            <a:r>
              <a:rPr lang="en-US"/>
              <a:t>• Two or more request may be far from each other so can result in greater disk arm movement. </a:t>
            </a:r>
            <a:endParaRPr/>
          </a:p>
          <a:p>
            <a:pPr indent="0" lvl="0" marL="0" rtl="0" algn="l">
              <a:spcBef>
                <a:spcPts val="0"/>
              </a:spcBef>
              <a:spcAft>
                <a:spcPts val="0"/>
              </a:spcAft>
              <a:buNone/>
            </a:pPr>
            <a:r>
              <a:rPr lang="en-US"/>
              <a:t>• Hard drives are one of the slowest parts of the computer system and thus need to be accessed in an efficient manner. </a:t>
            </a:r>
            <a:endParaRPr/>
          </a:p>
          <a:p>
            <a:pPr indent="0" lvl="0" marL="0" rtl="0" algn="l">
              <a:spcBef>
                <a:spcPts val="0"/>
              </a:spcBef>
              <a:spcAft>
                <a:spcPts val="0"/>
              </a:spcAft>
              <a:buNone/>
            </a:pPr>
            <a:r>
              <a:rPr lang="en-US"/>
              <a:t>There are many Disk Scheduling Algorithms but before discussing them let’s have a quick look at </a:t>
            </a:r>
            <a:endParaRPr/>
          </a:p>
          <a:p>
            <a:pPr indent="0" lvl="0" marL="0" rtl="0" algn="l">
              <a:spcBef>
                <a:spcPts val="0"/>
              </a:spcBef>
              <a:spcAft>
                <a:spcPts val="0"/>
              </a:spcAft>
              <a:buNone/>
            </a:pPr>
            <a:r>
              <a:rPr b="1" lang="en-US"/>
              <a:t>some of the important terms: </a:t>
            </a:r>
            <a:endParaRPr/>
          </a:p>
          <a:p>
            <a:pPr indent="0" lvl="0" marL="0" rtl="0" algn="l">
              <a:spcBef>
                <a:spcPts val="0"/>
              </a:spcBef>
              <a:spcAft>
                <a:spcPts val="0"/>
              </a:spcAft>
              <a:buNone/>
            </a:pPr>
            <a:r>
              <a:rPr lang="en-US"/>
              <a:t>• </a:t>
            </a:r>
            <a:r>
              <a:rPr b="1" lang="en-US"/>
              <a:t>Seek Time:</a:t>
            </a:r>
            <a:r>
              <a:rPr lang="en-US"/>
              <a:t> Seek time is the time taken to locate the disk arm to a specified track where the data is to be read or write. So the disk scheduling algorithm that gives minimum average seek time is better. </a:t>
            </a:r>
            <a:endParaRPr/>
          </a:p>
          <a:p>
            <a:pPr indent="0" lvl="0" marL="0" rtl="0" algn="l">
              <a:spcBef>
                <a:spcPts val="0"/>
              </a:spcBef>
              <a:spcAft>
                <a:spcPts val="0"/>
              </a:spcAft>
              <a:buNone/>
            </a:pPr>
            <a:r>
              <a:rPr lang="en-US"/>
              <a:t>• </a:t>
            </a:r>
            <a:r>
              <a:rPr b="1" lang="en-US"/>
              <a:t>Rotational Latency</a:t>
            </a:r>
            <a:r>
              <a:rPr lang="en-US"/>
              <a:t>: Rotational Latency is the time taken by the desired sector of disk to rotate into a position so that it can access the read/write heads. So the disk scheduling algorithm that gives minimum rotational latency is better. </a:t>
            </a:r>
            <a:endParaRPr/>
          </a:p>
          <a:p>
            <a:pPr indent="0" lvl="0" marL="0" rtl="0" algn="l">
              <a:spcBef>
                <a:spcPts val="0"/>
              </a:spcBef>
              <a:spcAft>
                <a:spcPts val="0"/>
              </a:spcAft>
              <a:buNone/>
            </a:pPr>
            <a:r>
              <a:rPr b="1" lang="en-US"/>
              <a:t>• Transfer Time</a:t>
            </a:r>
            <a:r>
              <a:rPr lang="en-US"/>
              <a:t>: Transfer time is the time to transfer the data. It depends on the rotating speed of the disk and number of bytes to be transferred. </a:t>
            </a:r>
            <a:endParaRPr/>
          </a:p>
          <a:p>
            <a:pPr indent="0" lvl="0" marL="0" rtl="0" algn="l">
              <a:spcBef>
                <a:spcPts val="0"/>
              </a:spcBef>
              <a:spcAft>
                <a:spcPts val="0"/>
              </a:spcAft>
              <a:buNone/>
            </a:pPr>
            <a:r>
              <a:rPr b="1" lang="en-US"/>
              <a:t>• Disk Access Time</a:t>
            </a:r>
            <a:r>
              <a:rPr lang="en-US"/>
              <a:t>: Disk Access Time is: Disk Access Time = Seek Time + Rotational Latency +Transfer Time </a:t>
            </a:r>
            <a:endParaRPr/>
          </a:p>
          <a:p>
            <a:pPr indent="0" lvl="0" marL="0" rtl="0" algn="l">
              <a:spcBef>
                <a:spcPts val="0"/>
              </a:spcBef>
              <a:spcAft>
                <a:spcPts val="0"/>
              </a:spcAft>
              <a:buNone/>
            </a:pPr>
            <a:r>
              <a:rPr b="1" lang="en-US"/>
              <a:t>Disk Response Time</a:t>
            </a:r>
            <a:r>
              <a:rPr lang="en-US"/>
              <a:t>: Response Time is the average of time spent by a request waiting to perform its I/O operation. Average Response time is the response time of the all requests. Variance Response Time is measure of how individual request are serviced with respect to average response time. So the disk scheduling algorithm that gives minimum variance response time is better. </a:t>
            </a:r>
            <a:endParaRPr/>
          </a:p>
        </p:txBody>
      </p:sp>
      <p:sp>
        <p:nvSpPr>
          <p:cNvPr id="579" name="Google Shape;57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 name="Google Shape;86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a:t>
            </a:r>
            <a:r>
              <a:rPr b="1" lang="en-US"/>
              <a:t>RAM Disk</a:t>
            </a:r>
            <a:r>
              <a:rPr lang="en-US"/>
              <a:t> is a </a:t>
            </a:r>
            <a:r>
              <a:rPr b="1" lang="en-US"/>
              <a:t>portion of main memory (RAM)</a:t>
            </a:r>
            <a:r>
              <a:rPr lang="en-US"/>
              <a:t> that is treated by the operating system as a </a:t>
            </a:r>
            <a:r>
              <a:rPr b="1" lang="en-US"/>
              <a:t>secondary storage device</a:t>
            </a:r>
            <a:r>
              <a:rPr lang="en-US"/>
              <a:t>. It behaves like a hard disk but offers </a:t>
            </a:r>
            <a:r>
              <a:rPr b="1" lang="en-US"/>
              <a:t>much faster access speed</a:t>
            </a:r>
            <a:r>
              <a:rPr lang="en-US"/>
              <a:t> because it is implemented using RAM.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Characteristics of RAM Disk</a:t>
            </a:r>
            <a:endParaRPr/>
          </a:p>
          <a:p>
            <a:pPr indent="0" lvl="0" marL="0" rtl="0" algn="l">
              <a:spcBef>
                <a:spcPts val="0"/>
              </a:spcBef>
              <a:spcAft>
                <a:spcPts val="0"/>
              </a:spcAft>
              <a:buNone/>
            </a:pPr>
            <a:r>
              <a:rPr b="1" lang="en-US"/>
              <a:t>Very high speed</a:t>
            </a:r>
            <a:r>
              <a:rPr lang="en-US"/>
              <a:t> compared to HDDs and SSDs.</a:t>
            </a:r>
            <a:endParaRPr/>
          </a:p>
          <a:p>
            <a:pPr indent="0" lvl="0" marL="0" rtl="0" algn="l">
              <a:spcBef>
                <a:spcPts val="0"/>
              </a:spcBef>
              <a:spcAft>
                <a:spcPts val="0"/>
              </a:spcAft>
              <a:buNone/>
            </a:pPr>
            <a:r>
              <a:rPr b="1" lang="en-US"/>
              <a:t>Volatile storage</a:t>
            </a:r>
            <a:r>
              <a:rPr lang="en-US"/>
              <a:t> – data disappears after shutdown.</a:t>
            </a:r>
            <a:endParaRPr/>
          </a:p>
          <a:p>
            <a:pPr indent="0" lvl="0" marL="0" rtl="0" algn="l">
              <a:spcBef>
                <a:spcPts val="0"/>
              </a:spcBef>
              <a:spcAft>
                <a:spcPts val="0"/>
              </a:spcAft>
              <a:buNone/>
            </a:pPr>
            <a:r>
              <a:rPr lang="en-US"/>
              <a:t>Limited in size by available system RAM.</a:t>
            </a:r>
            <a:endParaRPr/>
          </a:p>
          <a:p>
            <a:pPr indent="0" lvl="0" marL="0" rtl="0" algn="l">
              <a:spcBef>
                <a:spcPts val="0"/>
              </a:spcBef>
              <a:spcAft>
                <a:spcPts val="0"/>
              </a:spcAft>
              <a:buNone/>
            </a:pPr>
            <a:r>
              <a:rPr lang="en-US"/>
              <a:t>Requires OS or third-party software support.</a:t>
            </a:r>
            <a:endParaRPr/>
          </a:p>
          <a:p>
            <a:pPr indent="0" lvl="0" marL="0" rtl="0" algn="l">
              <a:spcBef>
                <a:spcPts val="0"/>
              </a:spcBef>
              <a:spcAft>
                <a:spcPts val="0"/>
              </a:spcAft>
              <a:buNone/>
            </a:pPr>
            <a:r>
              <a:rPr lang="en-US"/>
              <a:t>No mechanical parts → silent and no wear.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27" name="Google Shape;927;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Optical disks are </a:t>
            </a:r>
            <a:r>
              <a:rPr b="1" lang="en-US"/>
              <a:t>laser-based secondary storage devices</a:t>
            </a:r>
            <a:r>
              <a:rPr lang="en-US"/>
              <a:t> that store data as pits and lands along a spiral track. Although they offer portability and durability against magnetic interference, their slow speed and limited capacity have reduced their use in modern systems.</a:t>
            </a:r>
            <a:endParaRPr/>
          </a:p>
        </p:txBody>
      </p:sp>
      <p:sp>
        <p:nvSpPr>
          <p:cNvPr id="951" name="Google Shape;951;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 name="Google Shape;95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9" name="Google Shape;98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7" name="Google Shape;1007;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Operating System Strategies: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Page Coloring</a:t>
            </a:r>
            <a:endParaRPr b="0" i="0" sz="1200">
              <a:solidFill>
                <a:schemeClr val="dk1"/>
              </a:solidFill>
              <a:latin typeface="Calibri"/>
              <a:ea typeface="Calibri"/>
              <a:cs typeface="Calibri"/>
              <a:sym typeface="Calibri"/>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Map pages to specific cache regions</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Reduces cache conflicts between processes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Huge Pages</a:t>
            </a:r>
            <a:endParaRPr b="0" i="0" sz="1200">
              <a:solidFill>
                <a:schemeClr val="dk1"/>
              </a:solidFill>
              <a:latin typeface="Calibri"/>
              <a:ea typeface="Calibri"/>
              <a:cs typeface="Calibri"/>
              <a:sym typeface="Calibri"/>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Use 2MB or 1GB pages instead of 4KB</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Reduces TLB misses for large memory workloads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NUMA-Aware Allocation</a:t>
            </a:r>
            <a:endParaRPr b="0" i="0" sz="1200">
              <a:solidFill>
                <a:schemeClr val="dk1"/>
              </a:solidFill>
              <a:latin typeface="Calibri"/>
              <a:ea typeface="Calibri"/>
              <a:cs typeface="Calibri"/>
              <a:sym typeface="Calibri"/>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Allocate memory from the same node as the requesting CPU</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Tools: numactl on Linux, NUMA APIs on Windows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Memory Compression</a:t>
            </a:r>
            <a:endParaRPr b="0" i="0" sz="1200">
              <a:solidFill>
                <a:schemeClr val="dk1"/>
              </a:solidFill>
              <a:latin typeface="Calibri"/>
              <a:ea typeface="Calibri"/>
              <a:cs typeface="Calibri"/>
              <a:sym typeface="Calibri"/>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Compress less-frequently used pages (zswap in Linux)</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Reduces swap I/O at cost of CPU cycles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Transparent Huge Pages</a:t>
            </a:r>
            <a:endParaRPr b="0" i="0" sz="1200">
              <a:solidFill>
                <a:schemeClr val="dk1"/>
              </a:solidFill>
              <a:latin typeface="Calibri"/>
              <a:ea typeface="Calibri"/>
              <a:cs typeface="Calibri"/>
              <a:sym typeface="Calibri"/>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Automatically coalesce small pages into huge pages</a:t>
            </a:r>
            <a:endParaRPr/>
          </a:p>
          <a:p>
            <a:pPr indent="0" lvl="1" marL="457200" rtl="0" algn="l">
              <a:spcBef>
                <a:spcPts val="0"/>
              </a:spcBef>
              <a:spcAft>
                <a:spcPts val="0"/>
              </a:spcAft>
              <a:buNone/>
            </a:pPr>
            <a:r>
              <a:rPr b="0" i="0" lang="en-US" sz="1200">
                <a:solidFill>
                  <a:schemeClr val="dk1"/>
                </a:solidFill>
                <a:latin typeface="Calibri"/>
                <a:ea typeface="Calibri"/>
                <a:cs typeface="Calibri"/>
                <a:sym typeface="Calibri"/>
              </a:rPr>
              <a:t>Balance between TLB efficiency and memory fragmentation</a:t>
            </a:r>
            <a:endParaRPr/>
          </a:p>
          <a:p>
            <a:pPr indent="0" lvl="0" marL="0" rtl="0" algn="l">
              <a:spcBef>
                <a:spcPts val="0"/>
              </a:spcBef>
              <a:spcAft>
                <a:spcPts val="0"/>
              </a:spcAft>
              <a:buNone/>
            </a:pPr>
            <a:r>
              <a:t/>
            </a:r>
            <a:endParaRPr/>
          </a:p>
        </p:txBody>
      </p:sp>
      <p:sp>
        <p:nvSpPr>
          <p:cNvPr id="1008" name="Google Shape;1008;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OS Developer Considerations:</a:t>
            </a:r>
            <a:endParaRPr/>
          </a:p>
          <a:p>
            <a:pPr indent="0" lvl="0" marL="0" rtl="0" algn="l">
              <a:spcBef>
                <a:spcPts val="0"/>
              </a:spcBef>
              <a:spcAft>
                <a:spcPts val="0"/>
              </a:spcAft>
              <a:buNone/>
            </a:pPr>
            <a:r>
              <a:rPr lang="en-US"/>
              <a:t>Minimize cache pollution in kernel code</a:t>
            </a:r>
            <a:endParaRPr/>
          </a:p>
          <a:p>
            <a:pPr indent="0" lvl="0" marL="0" rtl="0" algn="l">
              <a:spcBef>
                <a:spcPts val="0"/>
              </a:spcBef>
              <a:spcAft>
                <a:spcPts val="0"/>
              </a:spcAft>
              <a:buNone/>
            </a:pPr>
            <a:r>
              <a:rPr lang="en-US"/>
              <a:t>Use per-CPU data structures to avoid false sharing</a:t>
            </a:r>
            <a:endParaRPr/>
          </a:p>
          <a:p>
            <a:pPr indent="0" lvl="0" marL="0" rtl="0" algn="l">
              <a:spcBef>
                <a:spcPts val="0"/>
              </a:spcBef>
              <a:spcAft>
                <a:spcPts val="0"/>
              </a:spcAft>
              <a:buNone/>
            </a:pPr>
            <a:r>
              <a:rPr lang="en-US"/>
              <a:t>Implement efficient page table walkers</a:t>
            </a:r>
            <a:endParaRPr/>
          </a:p>
          <a:p>
            <a:pPr indent="0" lvl="0" marL="0" rtl="0" algn="l">
              <a:spcBef>
                <a:spcPts val="0"/>
              </a:spcBef>
              <a:spcAft>
                <a:spcPts val="0"/>
              </a:spcAft>
              <a:buNone/>
            </a:pPr>
            <a:r>
              <a:rPr lang="en-US"/>
              <a:t>Design memory allocators with cache lines in mind</a:t>
            </a:r>
            <a:endParaRPr/>
          </a:p>
          <a:p>
            <a:pPr indent="0" lvl="0" marL="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rtl="0" algn="l">
              <a:spcBef>
                <a:spcPts val="0"/>
              </a:spcBef>
              <a:spcAft>
                <a:spcPts val="0"/>
              </a:spcAft>
              <a:buNone/>
            </a:pPr>
            <a:r>
              <a:rPr b="0" lang="en-US" sz="1200">
                <a:solidFill>
                  <a:schemeClr val="dk1"/>
                </a:solidFill>
                <a:latin typeface="Calibri"/>
                <a:ea typeface="Calibri"/>
                <a:cs typeface="Calibri"/>
                <a:sym typeface="Calibri"/>
              </a:rPr>
              <a:t>The </a:t>
            </a:r>
            <a:r>
              <a:rPr b="1" lang="en-US" sz="1200">
                <a:solidFill>
                  <a:schemeClr val="dk1"/>
                </a:solidFill>
                <a:latin typeface="Calibri"/>
                <a:ea typeface="Calibri"/>
                <a:cs typeface="Calibri"/>
                <a:sym typeface="Calibri"/>
              </a:rPr>
              <a:t>memory wall</a:t>
            </a:r>
            <a:r>
              <a:rPr b="0" lang="en-US" sz="1200">
                <a:solidFill>
                  <a:schemeClr val="dk1"/>
                </a:solidFill>
                <a:latin typeface="Calibri"/>
                <a:ea typeface="Calibri"/>
                <a:cs typeface="Calibri"/>
                <a:sym typeface="Calibri"/>
              </a:rPr>
              <a:t> and </a:t>
            </a:r>
            <a:r>
              <a:rPr b="1" lang="en-US" sz="1200">
                <a:solidFill>
                  <a:schemeClr val="dk1"/>
                </a:solidFill>
                <a:latin typeface="Calibri"/>
                <a:ea typeface="Calibri"/>
                <a:cs typeface="Calibri"/>
                <a:sym typeface="Calibri"/>
              </a:rPr>
              <a:t>memory bottleneck</a:t>
            </a:r>
            <a:r>
              <a:rPr b="0" lang="en-US" sz="1200">
                <a:solidFill>
                  <a:schemeClr val="dk1"/>
                </a:solidFill>
                <a:latin typeface="Calibri"/>
                <a:ea typeface="Calibri"/>
                <a:cs typeface="Calibri"/>
                <a:sym typeface="Calibri"/>
              </a:rPr>
              <a:t> force OS designers to make sophisticated trade-offs between CPU utilization, memory efficiency, and fairness. Modern operating systems implement complex memory management subsystems specifically to mitigate these issues, but they remain fundamental limitations in computing architecture that require ongoing hardware and software co-design solutions.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sng">
                <a:solidFill>
                  <a:schemeClr val="dk1"/>
                </a:solidFill>
                <a:latin typeface="Calibri"/>
                <a:ea typeface="Calibri"/>
                <a:cs typeface="Calibri"/>
                <a:sym typeface="Calibri"/>
              </a:rPr>
              <a:t>Processing in Memory (PIM)</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baseline="30000" i="0" lang="en-US" sz="1200" u="sng" strike="noStrike">
                <a:solidFill>
                  <a:schemeClr val="dk1"/>
                </a:solidFill>
                <a:latin typeface="Calibri"/>
                <a:ea typeface="Calibri"/>
                <a:cs typeface="Calibri"/>
                <a:sym typeface="Calibri"/>
                <a:hlinkClick r:id="rId2">
                  <a:extLst>
                    <a:ext uri="{A12FA001-AC4F-418D-AE19-62706E023703}">
                      <ahyp:hlinkClr val="tx"/>
                    </a:ext>
                  </a:extLst>
                </a:hlinkClick>
              </a:rPr>
              <a:t>1</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Processing in Memory (PIM)</a:t>
            </a:r>
            <a:r>
              <a:rPr b="0" i="0" lang="en-US" sz="1200">
                <a:solidFill>
                  <a:schemeClr val="dk1"/>
                </a:solidFill>
                <a:latin typeface="Calibri"/>
                <a:ea typeface="Calibri"/>
                <a:cs typeface="Calibri"/>
                <a:sym typeface="Calibri"/>
              </a:rPr>
              <a:t> is an innovative approach that aims to bring computation closer to where data is stored, thereby reducing or eliminating the need for data movement between computation units and memory/storage units. This concept is not entirely new, but recent advancements in applications, memory circuits, and technology have significantly increased the need for PIM in modern computing systems.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Key Approaches in PIM</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There are two primary approaches to designing PIM systems: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Processing-Using-Memory</a:t>
            </a:r>
            <a:r>
              <a:rPr b="0" i="0" lang="en-US" sz="1200">
                <a:solidFill>
                  <a:schemeClr val="dk1"/>
                </a:solidFill>
                <a:latin typeface="Calibri"/>
                <a:ea typeface="Calibri"/>
                <a:cs typeface="Calibri"/>
                <a:sym typeface="Calibri"/>
              </a:rPr>
              <a:t>: This approach leverages the fundamental analog operational principles of memory chips to perform massively-parallel operations directly within the memory. This method can significantly accelerate data-intensive applications by performing computations in-situ in memory.</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Processing-Near-Memory</a:t>
            </a:r>
            <a:r>
              <a:rPr b="0" i="0" lang="en-US" sz="1200">
                <a:solidFill>
                  <a:schemeClr val="dk1"/>
                </a:solidFill>
                <a:latin typeface="Calibri"/>
                <a:ea typeface="Calibri"/>
                <a:cs typeface="Calibri"/>
                <a:sym typeface="Calibri"/>
              </a:rPr>
              <a:t>: This approach utilizes different logic and memory integration technologies, such as 3D-stacked memory technology, to place computation logic close to memory circuitry. This enables high-bandwidth, low-energy, and low-latency access to data.</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Challenges and Solutions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Implementing PIM involves several cross-layer research, design, and adoption challenges across devices, architecture, systems, compilers, programming models, and applications. Some of the key challenges include: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Device and Architecture Design</a:t>
            </a:r>
            <a:r>
              <a:rPr b="0" i="0" lang="en-US" sz="1200">
                <a:solidFill>
                  <a:schemeClr val="dk1"/>
                </a:solidFill>
                <a:latin typeface="Calibri"/>
                <a:ea typeface="Calibri"/>
                <a:cs typeface="Calibri"/>
                <a:sym typeface="Calibri"/>
              </a:rPr>
              <a:t>: Developing memory chips and modules that can support in-situ computation without compromising their primary storage functions.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System Integration</a:t>
            </a:r>
            <a:r>
              <a:rPr b="0" i="0" lang="en-US" sz="1200">
                <a:solidFill>
                  <a:schemeClr val="dk1"/>
                </a:solidFill>
                <a:latin typeface="Calibri"/>
                <a:ea typeface="Calibri"/>
                <a:cs typeface="Calibri"/>
                <a:sym typeface="Calibri"/>
              </a:rPr>
              <a:t>: Ensuring seamless integration of PIM with existing computing platforms and infrastructure.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Programming Models</a:t>
            </a:r>
            <a:r>
              <a:rPr b="0" i="0" lang="en-US" sz="1200">
                <a:solidFill>
                  <a:schemeClr val="dk1"/>
                </a:solidFill>
                <a:latin typeface="Calibri"/>
                <a:ea typeface="Calibri"/>
                <a:cs typeface="Calibri"/>
                <a:sym typeface="Calibri"/>
              </a:rPr>
              <a:t>: Creating programming models and compilers that can efficiently utilize PIM capabilities.</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Adoption</a:t>
            </a:r>
            <a:r>
              <a:rPr b="0" i="0" lang="en-US" sz="1200">
                <a:solidFill>
                  <a:schemeClr val="dk1"/>
                </a:solidFill>
                <a:latin typeface="Calibri"/>
                <a:ea typeface="Calibri"/>
                <a:cs typeface="Calibri"/>
                <a:sym typeface="Calibri"/>
              </a:rPr>
              <a:t>: Overcoming the shift from a processor-centric to a memory-centric mindset and infrastructure.</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Benefits of PIM</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Once these challenges are addressed, PIM can offer several benefits, including:</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Energy Efficiency</a:t>
            </a:r>
            <a:r>
              <a:rPr b="0" i="0" lang="en-US" sz="1200">
                <a:solidFill>
                  <a:schemeClr val="dk1"/>
                </a:solidFill>
                <a:latin typeface="Calibri"/>
                <a:ea typeface="Calibri"/>
                <a:cs typeface="Calibri"/>
                <a:sym typeface="Calibri"/>
              </a:rPr>
              <a:t>: By reducing data movement, PIM can significantly lower energy consumption.</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High Performance</a:t>
            </a:r>
            <a:r>
              <a:rPr b="0" i="0" lang="en-US" sz="1200">
                <a:solidFill>
                  <a:schemeClr val="dk1"/>
                </a:solidFill>
                <a:latin typeface="Calibri"/>
                <a:ea typeface="Calibri"/>
                <a:cs typeface="Calibri"/>
                <a:sym typeface="Calibri"/>
              </a:rPr>
              <a:t>: PIM can accelerate data-intensive applications by performing computations closer to the data.</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Sustainability</a:t>
            </a:r>
            <a:r>
              <a:rPr b="0" i="0" lang="en-US" sz="1200">
                <a:solidFill>
                  <a:schemeClr val="dk1"/>
                </a:solidFill>
                <a:latin typeface="Calibri"/>
                <a:ea typeface="Calibri"/>
                <a:cs typeface="Calibri"/>
                <a:sym typeface="Calibri"/>
              </a:rPr>
              <a:t>: PIM can contribute to more sustainable computing systems by improving energy efficiency and performance.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In conclusion, PIM represents a fundamental shift in how computing systems are designed, used, and programmed. By moving computation closer to data, PIM can unleash a new era of energy-efficient, high-performance, and sustainable computing.</a:t>
            </a:r>
            <a:endParaRPr/>
          </a:p>
          <a:p>
            <a:pPr indent="0" lvl="0" marL="0" rtl="0" algn="l">
              <a:spcBef>
                <a:spcPts val="0"/>
              </a:spcBef>
              <a:spcAft>
                <a:spcPts val="0"/>
              </a:spcAft>
              <a:buNone/>
            </a:pPr>
            <a:br>
              <a:rPr lang="en-US" sz="1200">
                <a:solidFill>
                  <a:schemeClr val="dk1"/>
                </a:solidFill>
                <a:latin typeface="Calibri"/>
                <a:ea typeface="Calibri"/>
                <a:cs typeface="Calibri"/>
                <a:sym typeface="Calibri"/>
              </a:rPr>
            </a:br>
            <a:endParaRPr/>
          </a:p>
        </p:txBody>
      </p:sp>
      <p:sp>
        <p:nvSpPr>
          <p:cNvPr id="1015" name="Google Shape;1015;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1" name="Google Shape;1021;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7" name="Google Shape;1027;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69"/>
          <p:cNvGrpSpPr/>
          <p:nvPr/>
        </p:nvGrpSpPr>
        <p:grpSpPr>
          <a:xfrm>
            <a:off x="0" y="-8467"/>
            <a:ext cx="12192000" cy="6866467"/>
            <a:chOff x="0" y="-8467"/>
            <a:chExt cx="12192000" cy="6866467"/>
          </a:xfrm>
        </p:grpSpPr>
        <p:cxnSp>
          <p:nvCxnSpPr>
            <p:cNvPr id="28" name="Google Shape;28;p69"/>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9" name="Google Shape;29;p69"/>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30" name="Google Shape;30;p69"/>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31" name="Google Shape;31;p69"/>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2" name="Google Shape;32;p69"/>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9"/>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4" name="Google Shape;34;p69"/>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5" name="Google Shape;35;p69"/>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36" name="Google Shape;36;p69"/>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9"/>
            <p:cNvSpPr/>
            <p:nvPr/>
          </p:nvSpPr>
          <p:spPr>
            <a:xfrm rot="10800000">
              <a:off x="0" y="0"/>
              <a:ext cx="842596" cy="5666154"/>
            </a:xfrm>
            <a:prstGeom prst="triangle">
              <a:avLst>
                <a:gd fmla="val 10000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69"/>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9"/>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6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7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7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71"/>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1"/>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7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7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2"/>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8" name="Google Shape;58;p72"/>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7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7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3"/>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73"/>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73"/>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73"/>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7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7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7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7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76"/>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6"/>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76"/>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7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7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77"/>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7"/>
          <p:cNvSpPr/>
          <p:nvPr>
            <p:ph idx="2" type="pic"/>
          </p:nvPr>
        </p:nvSpPr>
        <p:spPr>
          <a:xfrm>
            <a:off x="677334" y="609600"/>
            <a:ext cx="8596668" cy="3845718"/>
          </a:xfrm>
          <a:prstGeom prst="rect">
            <a:avLst/>
          </a:prstGeom>
          <a:noFill/>
          <a:ln>
            <a:noFill/>
          </a:ln>
        </p:spPr>
      </p:sp>
      <p:sp>
        <p:nvSpPr>
          <p:cNvPr id="90" name="Google Shape;90;p77"/>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7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78"/>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8"/>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7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7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79"/>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79"/>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79"/>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7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7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7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79"/>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
        <p:nvSpPr>
          <p:cNvPr id="108" name="Google Shape;108;p79"/>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80"/>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80"/>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8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8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8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81"/>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81"/>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81"/>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8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8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8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81"/>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
        <p:nvSpPr>
          <p:cNvPr id="123" name="Google Shape;123;p81"/>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82"/>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8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8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8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8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8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8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83"/>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8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8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8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84"/>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84"/>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8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8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8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68"/>
          <p:cNvGrpSpPr/>
          <p:nvPr/>
        </p:nvGrpSpPr>
        <p:grpSpPr>
          <a:xfrm>
            <a:off x="0" y="-8467"/>
            <a:ext cx="12192000" cy="6866467"/>
            <a:chOff x="0" y="-8467"/>
            <a:chExt cx="12192000" cy="6866467"/>
          </a:xfrm>
        </p:grpSpPr>
        <p:cxnSp>
          <p:nvCxnSpPr>
            <p:cNvPr id="11" name="Google Shape;11;p68"/>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12" name="Google Shape;12;p68"/>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13" name="Google Shape;13;p6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4" name="Google Shape;14;p6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68"/>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6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7" name="Google Shape;17;p6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8" name="Google Shape;18;p6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9" name="Google Shape;19;p68"/>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68"/>
            <p:cNvSpPr/>
            <p:nvPr/>
          </p:nvSpPr>
          <p:spPr>
            <a:xfrm>
              <a:off x="0" y="4013200"/>
              <a:ext cx="448733" cy="2844800"/>
            </a:xfrm>
            <a:prstGeom prst="triangle">
              <a:avLst>
                <a:gd fmla="val 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6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6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6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6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6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jpg"/><Relationship Id="rId4" Type="http://schemas.openxmlformats.org/officeDocument/2006/relationships/hyperlink" Target="https://www.youtube.com/watch?v=wtdnatmVdI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8.png"/><Relationship Id="rId6" Type="http://schemas.openxmlformats.org/officeDocument/2006/relationships/image" Target="../media/image22.png"/><Relationship Id="rId7"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7.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Trebuchet MS"/>
              <a:buNone/>
            </a:pPr>
            <a:r>
              <a:rPr lang="en-US"/>
              <a:t>Unit 4: Input/Output Management </a:t>
            </a:r>
            <a:endParaRPr/>
          </a:p>
        </p:txBody>
      </p:sp>
      <p:sp>
        <p:nvSpPr>
          <p:cNvPr id="148" name="Google Shape;148;p1"/>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rPr lang="en-US"/>
              <a:t>Kapil Dev Pant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Contents</a:t>
            </a:r>
            <a:endParaRPr/>
          </a:p>
        </p:txBody>
      </p:sp>
      <p:sp>
        <p:nvSpPr>
          <p:cNvPr id="154" name="Google Shape;154;p2"/>
          <p:cNvSpPr txBox="1"/>
          <p:nvPr>
            <p:ph idx="1" type="body"/>
          </p:nvPr>
        </p:nvSpPr>
        <p:spPr>
          <a:xfrm>
            <a:off x="677334" y="1930400"/>
            <a:ext cx="9221046" cy="46974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Font typeface="Trebuchet MS"/>
              <a:buAutoNum type="arabicPeriod"/>
            </a:pPr>
            <a:r>
              <a:rPr lang="en-US"/>
              <a:t>Principles of I/O Hardware</a:t>
            </a:r>
            <a:endParaRPr/>
          </a:p>
          <a:p>
            <a:pPr indent="-285750" lvl="1" marL="742950" rtl="0" algn="l">
              <a:spcBef>
                <a:spcPts val="1000"/>
              </a:spcBef>
              <a:spcAft>
                <a:spcPts val="0"/>
              </a:spcAft>
              <a:buSzPts val="1280"/>
              <a:buChar char="►"/>
            </a:pPr>
            <a:r>
              <a:rPr lang="en-US"/>
              <a:t>I/O Device</a:t>
            </a:r>
            <a:endParaRPr/>
          </a:p>
          <a:p>
            <a:pPr indent="-285750" lvl="1" marL="742950" rtl="0" algn="l">
              <a:spcBef>
                <a:spcPts val="1000"/>
              </a:spcBef>
              <a:spcAft>
                <a:spcPts val="0"/>
              </a:spcAft>
              <a:buSzPts val="1280"/>
              <a:buChar char="►"/>
            </a:pPr>
            <a:r>
              <a:rPr lang="en-US"/>
              <a:t>Device Controller</a:t>
            </a:r>
            <a:endParaRPr/>
          </a:p>
          <a:p>
            <a:pPr indent="-285750" lvl="1" marL="742950" rtl="0" algn="l">
              <a:spcBef>
                <a:spcPts val="1000"/>
              </a:spcBef>
              <a:spcAft>
                <a:spcPts val="0"/>
              </a:spcAft>
              <a:buSzPts val="1280"/>
              <a:buChar char="►"/>
            </a:pPr>
            <a:r>
              <a:rPr lang="en-US"/>
              <a:t>Memory Mapped I/O</a:t>
            </a:r>
            <a:endParaRPr/>
          </a:p>
          <a:p>
            <a:pPr indent="-285750" lvl="1" marL="742950" rtl="0" algn="l">
              <a:spcBef>
                <a:spcPts val="1000"/>
              </a:spcBef>
              <a:spcAft>
                <a:spcPts val="0"/>
              </a:spcAft>
              <a:buSzPts val="1280"/>
              <a:buChar char="►"/>
            </a:pPr>
            <a:r>
              <a:rPr lang="en-US"/>
              <a:t>Direct 	Memory Access</a:t>
            </a:r>
            <a:endParaRPr/>
          </a:p>
          <a:p>
            <a:pPr indent="-342900" lvl="0" marL="342900" rtl="0" algn="l">
              <a:spcBef>
                <a:spcPts val="1000"/>
              </a:spcBef>
              <a:spcAft>
                <a:spcPts val="0"/>
              </a:spcAft>
              <a:buSzPts val="1440"/>
              <a:buFont typeface="Trebuchet MS"/>
              <a:buAutoNum type="arabicPeriod"/>
            </a:pPr>
            <a:r>
              <a:rPr lang="en-US"/>
              <a:t>Principles of I/O Software </a:t>
            </a:r>
            <a:endParaRPr/>
          </a:p>
          <a:p>
            <a:pPr indent="-285750" lvl="1" marL="742950" rtl="0" algn="l">
              <a:spcBef>
                <a:spcPts val="1000"/>
              </a:spcBef>
              <a:spcAft>
                <a:spcPts val="0"/>
              </a:spcAft>
              <a:buSzPts val="1280"/>
              <a:buChar char="►"/>
            </a:pPr>
            <a:r>
              <a:rPr lang="en-US"/>
              <a:t>Goals of I/O Software,</a:t>
            </a:r>
            <a:endParaRPr/>
          </a:p>
          <a:p>
            <a:pPr indent="-285750" lvl="1" marL="742950" rtl="0" algn="l">
              <a:spcBef>
                <a:spcPts val="1000"/>
              </a:spcBef>
              <a:spcAft>
                <a:spcPts val="0"/>
              </a:spcAft>
              <a:buSzPts val="1280"/>
              <a:buChar char="►"/>
            </a:pPr>
            <a:r>
              <a:rPr lang="en-US"/>
              <a:t>Polled I/O verses Interrupt Driven I/O,</a:t>
            </a:r>
            <a:endParaRPr/>
          </a:p>
          <a:p>
            <a:pPr indent="-285750" lvl="1" marL="742950" rtl="0" algn="l">
              <a:spcBef>
                <a:spcPts val="1000"/>
              </a:spcBef>
              <a:spcAft>
                <a:spcPts val="0"/>
              </a:spcAft>
              <a:buSzPts val="1280"/>
              <a:buChar char="►"/>
            </a:pPr>
            <a:r>
              <a:rPr lang="en-US"/>
              <a:t>Character User Interface and Graphical User Interface,</a:t>
            </a:r>
            <a:endParaRPr/>
          </a:p>
          <a:p>
            <a:pPr indent="-285750" lvl="1" marL="742950" rtl="0" algn="l">
              <a:spcBef>
                <a:spcPts val="1000"/>
              </a:spcBef>
              <a:spcAft>
                <a:spcPts val="0"/>
              </a:spcAft>
              <a:buSzPts val="1280"/>
              <a:buChar char="►"/>
            </a:pPr>
            <a:r>
              <a:rPr lang="en-US"/>
              <a:t>Device Driver,</a:t>
            </a:r>
            <a:endParaRPr/>
          </a:p>
          <a:p>
            <a:pPr indent="-285750" lvl="1" marL="742950" rtl="0" algn="l">
              <a:spcBef>
                <a:spcPts val="1000"/>
              </a:spcBef>
              <a:spcAft>
                <a:spcPts val="0"/>
              </a:spcAft>
              <a:buSzPts val="1280"/>
              <a:buChar char="►"/>
            </a:pPr>
            <a:r>
              <a:rPr lang="en-US"/>
              <a:t>Device Independent I/O Software,</a:t>
            </a:r>
            <a:endParaRPr/>
          </a:p>
          <a:p>
            <a:pPr indent="-285750" lvl="1" marL="742950" rtl="0" algn="l">
              <a:spcBef>
                <a:spcPts val="1000"/>
              </a:spcBef>
              <a:spcAft>
                <a:spcPts val="0"/>
              </a:spcAft>
              <a:buSzPts val="1280"/>
              <a:buChar char="►"/>
            </a:pPr>
            <a:r>
              <a:rPr lang="en-US"/>
              <a:t>User space I/O Software </a:t>
            </a:r>
            <a:endParaRPr/>
          </a:p>
        </p:txBody>
      </p:sp>
      <p:sp>
        <p:nvSpPr>
          <p:cNvPr id="155" name="Google Shape;155;p2"/>
          <p:cNvSpPr txBox="1"/>
          <p:nvPr/>
        </p:nvSpPr>
        <p:spPr>
          <a:xfrm>
            <a:off x="6570966" y="1930399"/>
            <a:ext cx="9221046" cy="469741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0" i="0" lang="en-US" sz="1800" u="none" cap="none" strike="noStrike">
                <a:solidFill>
                  <a:srgbClr val="3F3F3F"/>
                </a:solidFill>
                <a:latin typeface="Trebuchet MS"/>
                <a:ea typeface="Trebuchet MS"/>
                <a:cs typeface="Trebuchet MS"/>
                <a:sym typeface="Trebuchet MS"/>
              </a:rPr>
              <a:t>3. Mass Storage Structure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Overview of Mass Storage Structure,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Disk Structure,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Disk Attachment,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Disk Scheduling,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Disk Management,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Swap space Management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Redundant Array of Inexpensive Disks , 	</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RAM Disks,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Optical Disk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3"/>
          <p:cNvPicPr preferRelativeResize="0"/>
          <p:nvPr/>
        </p:nvPicPr>
        <p:blipFill rotWithShape="1">
          <a:blip r:embed="rId3">
            <a:alphaModFix/>
          </a:blip>
          <a:srcRect b="0" l="0" r="0" t="0"/>
          <a:stretch/>
        </p:blipFill>
        <p:spPr>
          <a:xfrm>
            <a:off x="5081876" y="1822429"/>
            <a:ext cx="6914170" cy="4936181"/>
          </a:xfrm>
          <a:prstGeom prst="rect">
            <a:avLst/>
          </a:prstGeom>
          <a:noFill/>
          <a:ln>
            <a:noFill/>
          </a:ln>
        </p:spPr>
      </p:pic>
      <p:sp>
        <p:nvSpPr>
          <p:cNvPr id="162" name="Google Shape;162;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Input Output Management</a:t>
            </a:r>
            <a:endParaRPr/>
          </a:p>
        </p:txBody>
      </p:sp>
      <p:sp>
        <p:nvSpPr>
          <p:cNvPr id="163" name="Google Shape;163;p3"/>
          <p:cNvSpPr txBox="1"/>
          <p:nvPr>
            <p:ph idx="1" type="body"/>
          </p:nvPr>
        </p:nvSpPr>
        <p:spPr>
          <a:xfrm>
            <a:off x="677334" y="1930400"/>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Input/Output Management refers to the process of handling data inputs and outputs in a computer system. </a:t>
            </a:r>
            <a:endParaRPr/>
          </a:p>
          <a:p>
            <a:pPr indent="-342900" lvl="0" marL="342900" rtl="0" algn="l">
              <a:spcBef>
                <a:spcPts val="1000"/>
              </a:spcBef>
              <a:spcAft>
                <a:spcPts val="0"/>
              </a:spcAft>
              <a:buSzPts val="1440"/>
              <a:buChar char="►"/>
            </a:pPr>
            <a:r>
              <a:rPr lang="en-US"/>
              <a:t>Essential to ensure communication between core components and external devices  </a:t>
            </a:r>
            <a:endParaRPr/>
          </a:p>
          <a:p>
            <a:pPr indent="-342900" lvl="0" marL="342900" rtl="0" algn="l">
              <a:spcBef>
                <a:spcPts val="1000"/>
              </a:spcBef>
              <a:spcAft>
                <a:spcPts val="0"/>
              </a:spcAft>
              <a:buSzPts val="1440"/>
              <a:buChar char="►"/>
            </a:pPr>
            <a:r>
              <a:rPr lang="en-US"/>
              <a:t>OS acts as a manager between hardware</a:t>
            </a:r>
            <a:endParaRPr/>
          </a:p>
          <a:p>
            <a:pPr indent="0" lvl="0" marL="0" rtl="0" algn="l">
              <a:spcBef>
                <a:spcPts val="1000"/>
              </a:spcBef>
              <a:spcAft>
                <a:spcPts val="0"/>
              </a:spcAft>
              <a:buSzPts val="1440"/>
              <a:buNone/>
            </a:pPr>
            <a:r>
              <a:rPr lang="en-US"/>
              <a:t>	devices and user programs.</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Why I/O Management is Needed?</a:t>
            </a:r>
            <a:endParaRPr/>
          </a:p>
        </p:txBody>
      </p:sp>
      <p:sp>
        <p:nvSpPr>
          <p:cNvPr id="170" name="Google Shape;170;p4"/>
          <p:cNvSpPr txBox="1"/>
          <p:nvPr>
            <p:ph idx="1" type="body"/>
          </p:nvPr>
        </p:nvSpPr>
        <p:spPr>
          <a:xfrm>
            <a:off x="677334" y="2160589"/>
            <a:ext cx="5418666" cy="388077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lang="en-US"/>
              <a:t>Without I/O management:</a:t>
            </a:r>
            <a:endParaRPr/>
          </a:p>
          <a:p>
            <a:pPr indent="-342900" lvl="0" marL="342900" rtl="0" algn="l">
              <a:spcBef>
                <a:spcPts val="1000"/>
              </a:spcBef>
              <a:spcAft>
                <a:spcPts val="0"/>
              </a:spcAft>
              <a:buSzPts val="1440"/>
              <a:buChar char="►"/>
            </a:pPr>
            <a:r>
              <a:rPr lang="en-US"/>
              <a:t>Programs would need to know device hardware details</a:t>
            </a:r>
            <a:endParaRPr/>
          </a:p>
          <a:p>
            <a:pPr indent="-342900" lvl="0" marL="342900" rtl="0" algn="l">
              <a:spcBef>
                <a:spcPts val="1000"/>
              </a:spcBef>
              <a:spcAft>
                <a:spcPts val="0"/>
              </a:spcAft>
              <a:buSzPts val="1440"/>
              <a:buChar char="►"/>
            </a:pPr>
            <a:r>
              <a:rPr lang="en-US"/>
              <a:t>Multiple processes might try to use the same device at once</a:t>
            </a:r>
            <a:endParaRPr/>
          </a:p>
          <a:p>
            <a:pPr indent="-342900" lvl="0" marL="342900" rtl="0" algn="l">
              <a:spcBef>
                <a:spcPts val="1000"/>
              </a:spcBef>
              <a:spcAft>
                <a:spcPts val="0"/>
              </a:spcAft>
              <a:buSzPts val="1440"/>
              <a:buChar char="►"/>
            </a:pPr>
            <a:r>
              <a:rPr lang="en-US"/>
              <a:t>Data transfer would be slow, unsafe, and error-prone</a:t>
            </a:r>
            <a:endParaRPr/>
          </a:p>
          <a:p>
            <a:pPr indent="0" lvl="0" marL="0" rtl="0" algn="l">
              <a:spcBef>
                <a:spcPts val="1000"/>
              </a:spcBef>
              <a:spcAft>
                <a:spcPts val="0"/>
              </a:spcAft>
              <a:buSzPts val="1440"/>
              <a:buNone/>
            </a:pPr>
            <a:r>
              <a:rPr lang="en-US"/>
              <a:t>With I/O management:</a:t>
            </a:r>
            <a:endParaRPr/>
          </a:p>
          <a:p>
            <a:pPr indent="-342900" lvl="0" marL="342900" rtl="0" algn="l">
              <a:spcBef>
                <a:spcPts val="1000"/>
              </a:spcBef>
              <a:spcAft>
                <a:spcPts val="0"/>
              </a:spcAft>
              <a:buSzPts val="1440"/>
              <a:buChar char="►"/>
            </a:pPr>
            <a:r>
              <a:rPr lang="en-US"/>
              <a:t>Hardware complexity is hidden</a:t>
            </a:r>
            <a:endParaRPr/>
          </a:p>
          <a:p>
            <a:pPr indent="-342900" lvl="0" marL="342900" rtl="0" algn="l">
              <a:spcBef>
                <a:spcPts val="1000"/>
              </a:spcBef>
              <a:spcAft>
                <a:spcPts val="0"/>
              </a:spcAft>
              <a:buSzPts val="1440"/>
              <a:buChar char="►"/>
            </a:pPr>
            <a:r>
              <a:rPr lang="en-US"/>
              <a:t>Devices are shared safely</a:t>
            </a:r>
            <a:endParaRPr/>
          </a:p>
          <a:p>
            <a:pPr indent="-342900" lvl="0" marL="342900" rtl="0" algn="l">
              <a:spcBef>
                <a:spcPts val="1000"/>
              </a:spcBef>
              <a:spcAft>
                <a:spcPts val="0"/>
              </a:spcAft>
              <a:buSzPts val="1440"/>
              <a:buChar char="►"/>
            </a:pPr>
            <a:r>
              <a:rPr lang="en-US"/>
              <a:t>System performance improves</a:t>
            </a:r>
            <a:endParaRPr/>
          </a:p>
        </p:txBody>
      </p:sp>
      <p:sp>
        <p:nvSpPr>
          <p:cNvPr id="171" name="Google Shape;171;p4"/>
          <p:cNvSpPr txBox="1"/>
          <p:nvPr/>
        </p:nvSpPr>
        <p:spPr>
          <a:xfrm>
            <a:off x="6323754" y="2160589"/>
            <a:ext cx="4908126" cy="3880773"/>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spcBef>
                <a:spcPts val="0"/>
              </a:spcBef>
              <a:spcAft>
                <a:spcPts val="0"/>
              </a:spcAft>
              <a:buClr>
                <a:schemeClr val="accent1"/>
              </a:buClr>
              <a:buSzPct val="79999"/>
              <a:buFont typeface="Noto Sans Symbols"/>
              <a:buNone/>
            </a:pPr>
            <a:r>
              <a:rPr b="1" i="0" lang="en-US" sz="1800" u="sng" cap="none" strike="noStrike">
                <a:solidFill>
                  <a:srgbClr val="3F3F3F"/>
                </a:solidFill>
                <a:latin typeface="Trebuchet MS"/>
                <a:ea typeface="Trebuchet MS"/>
                <a:cs typeface="Trebuchet MS"/>
                <a:sym typeface="Trebuchet MS"/>
              </a:rPr>
              <a:t>Goals of I/O Management</a:t>
            </a:r>
            <a:endParaRPr/>
          </a:p>
          <a:p>
            <a:pPr indent="-342900" lvl="0" marL="342900" marR="0" rtl="0" algn="l">
              <a:spcBef>
                <a:spcPts val="1000"/>
              </a:spcBef>
              <a:spcAft>
                <a:spcPts val="0"/>
              </a:spcAft>
              <a:buClr>
                <a:schemeClr val="accent1"/>
              </a:buClr>
              <a:buSzPct val="79999"/>
              <a:buFont typeface="Noto Sans Symbols"/>
              <a:buChar char="►"/>
            </a:pPr>
            <a:r>
              <a:rPr b="1" i="0" lang="en-US" sz="1800" u="none" cap="none" strike="noStrike">
                <a:solidFill>
                  <a:srgbClr val="3F3F3F"/>
                </a:solidFill>
                <a:latin typeface="Trebuchet MS"/>
                <a:ea typeface="Trebuchet MS"/>
                <a:cs typeface="Trebuchet MS"/>
                <a:sym typeface="Trebuchet MS"/>
              </a:rPr>
              <a:t>Device Independence</a:t>
            </a:r>
            <a:endParaRPr b="0" i="0" sz="1800" u="none" cap="none" strike="noStrike">
              <a:solidFill>
                <a:srgbClr val="3F3F3F"/>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Programs don’t need to know </a:t>
            </a:r>
            <a:r>
              <a:rPr b="0" i="1" lang="en-US" sz="1600" u="none" cap="none" strike="noStrike">
                <a:solidFill>
                  <a:srgbClr val="3F3F3F"/>
                </a:solidFill>
                <a:latin typeface="Trebuchet MS"/>
                <a:ea typeface="Trebuchet MS"/>
                <a:cs typeface="Trebuchet MS"/>
                <a:sym typeface="Trebuchet MS"/>
              </a:rPr>
              <a:t>how</a:t>
            </a:r>
            <a:r>
              <a:rPr b="0" i="0" lang="en-US" sz="1600" u="none" cap="none" strike="noStrike">
                <a:solidFill>
                  <a:srgbClr val="3F3F3F"/>
                </a:solidFill>
                <a:latin typeface="Trebuchet MS"/>
                <a:ea typeface="Trebuchet MS"/>
                <a:cs typeface="Trebuchet MS"/>
                <a:sym typeface="Trebuchet MS"/>
              </a:rPr>
              <a:t> a device works</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Same read/write commands for different devices</a:t>
            </a:r>
            <a:endParaRPr/>
          </a:p>
          <a:p>
            <a:pPr indent="-342900" lvl="0" marL="342900" marR="0" rtl="0" algn="l">
              <a:spcBef>
                <a:spcPts val="1000"/>
              </a:spcBef>
              <a:spcAft>
                <a:spcPts val="0"/>
              </a:spcAft>
              <a:buClr>
                <a:schemeClr val="accent1"/>
              </a:buClr>
              <a:buSzPct val="79999"/>
              <a:buFont typeface="Noto Sans Symbols"/>
              <a:buChar char="►"/>
            </a:pPr>
            <a:r>
              <a:rPr b="1" i="0" lang="en-US" sz="1800" u="none" cap="none" strike="noStrike">
                <a:solidFill>
                  <a:srgbClr val="3F3F3F"/>
                </a:solidFill>
                <a:latin typeface="Trebuchet MS"/>
                <a:ea typeface="Trebuchet MS"/>
                <a:cs typeface="Trebuchet MS"/>
                <a:sym typeface="Trebuchet MS"/>
              </a:rPr>
              <a:t>Efficiency</a:t>
            </a:r>
            <a:endParaRPr b="0" i="0" sz="1800" u="none" cap="none" strike="noStrike">
              <a:solidFill>
                <a:srgbClr val="3F3F3F"/>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Reduce CPU waiting time</a:t>
            </a:r>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Use buffering, caching, and DMA</a:t>
            </a:r>
            <a:endParaRPr/>
          </a:p>
          <a:p>
            <a:pPr indent="-342900" lvl="0" marL="342900" marR="0" rtl="0" algn="l">
              <a:spcBef>
                <a:spcPts val="1000"/>
              </a:spcBef>
              <a:spcAft>
                <a:spcPts val="0"/>
              </a:spcAft>
              <a:buClr>
                <a:schemeClr val="accent1"/>
              </a:buClr>
              <a:buSzPct val="79999"/>
              <a:buFont typeface="Noto Sans Symbols"/>
              <a:buChar char="►"/>
            </a:pPr>
            <a:r>
              <a:rPr b="1" i="0" lang="en-US" sz="1800" u="none" cap="none" strike="noStrike">
                <a:solidFill>
                  <a:srgbClr val="3F3F3F"/>
                </a:solidFill>
                <a:latin typeface="Trebuchet MS"/>
                <a:ea typeface="Trebuchet MS"/>
                <a:cs typeface="Trebuchet MS"/>
                <a:sym typeface="Trebuchet MS"/>
              </a:rPr>
              <a:t>Protection &amp; Security</a:t>
            </a:r>
            <a:endParaRPr b="0" i="0" sz="1800" u="none" cap="none" strike="noStrike">
              <a:solidFill>
                <a:srgbClr val="3F3F3F"/>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Prevent unauthorized device access</a:t>
            </a:r>
            <a:endParaRPr/>
          </a:p>
          <a:p>
            <a:pPr indent="-342900" lvl="0" marL="342900" marR="0" rtl="0" algn="l">
              <a:spcBef>
                <a:spcPts val="1000"/>
              </a:spcBef>
              <a:spcAft>
                <a:spcPts val="0"/>
              </a:spcAft>
              <a:buClr>
                <a:schemeClr val="accent1"/>
              </a:buClr>
              <a:buSzPct val="79999"/>
              <a:buFont typeface="Noto Sans Symbols"/>
              <a:buChar char="►"/>
            </a:pPr>
            <a:r>
              <a:rPr b="1" i="0" lang="en-US" sz="1800" u="none" cap="none" strike="noStrike">
                <a:solidFill>
                  <a:srgbClr val="3F3F3F"/>
                </a:solidFill>
                <a:latin typeface="Trebuchet MS"/>
                <a:ea typeface="Trebuchet MS"/>
                <a:cs typeface="Trebuchet MS"/>
                <a:sym typeface="Trebuchet MS"/>
              </a:rPr>
              <a:t>Error Handling</a:t>
            </a:r>
            <a:endParaRPr b="0" i="0" sz="1800" u="none" cap="none" strike="noStrike">
              <a:solidFill>
                <a:srgbClr val="3F3F3F"/>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ct val="80000"/>
              <a:buFont typeface="Noto Sans Symbols"/>
              <a:buChar char="►"/>
            </a:pPr>
            <a:r>
              <a:rPr b="0" i="0" lang="en-US" sz="1600" u="none" cap="none" strike="noStrike">
                <a:solidFill>
                  <a:srgbClr val="3F3F3F"/>
                </a:solidFill>
                <a:latin typeface="Trebuchet MS"/>
                <a:ea typeface="Trebuchet MS"/>
                <a:cs typeface="Trebuchet MS"/>
                <a:sym typeface="Trebuchet MS"/>
              </a:rPr>
              <a:t>Detect and recover from I/O errors</a:t>
            </a:r>
            <a:endParaRPr/>
          </a:p>
          <a:p>
            <a:pPr indent="-258318" lvl="0" marL="342900" marR="0" rtl="0" algn="l">
              <a:spcBef>
                <a:spcPts val="1000"/>
              </a:spcBef>
              <a:spcAft>
                <a:spcPts val="0"/>
              </a:spcAft>
              <a:buClr>
                <a:schemeClr val="accent1"/>
              </a:buClr>
              <a:buSzPct val="79999"/>
              <a:buFont typeface="Noto Sans Symbols"/>
              <a:buNone/>
            </a:pPr>
            <a:r>
              <a:t/>
            </a:r>
            <a:endParaRPr b="0" i="0" sz="18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Principles of IO Hardware</a:t>
            </a:r>
            <a:endParaRPr/>
          </a:p>
        </p:txBody>
      </p:sp>
      <p:sp>
        <p:nvSpPr>
          <p:cNvPr id="178" name="Google Shape;178;p5"/>
          <p:cNvSpPr txBox="1"/>
          <p:nvPr>
            <p:ph idx="1" type="body"/>
          </p:nvPr>
        </p:nvSpPr>
        <p:spPr>
          <a:xfrm>
            <a:off x="677334" y="2160589"/>
            <a:ext cx="8855286" cy="440023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Font typeface="Trebuchet MS"/>
              <a:buAutoNum type="arabicPeriod"/>
            </a:pPr>
            <a:r>
              <a:rPr lang="en-US"/>
              <a:t>I/O Devices</a:t>
            </a:r>
            <a:endParaRPr/>
          </a:p>
          <a:p>
            <a:pPr indent="-285750" lvl="1" marL="742950" rtl="0" algn="l">
              <a:spcBef>
                <a:spcPts val="1000"/>
              </a:spcBef>
              <a:spcAft>
                <a:spcPts val="0"/>
              </a:spcAft>
              <a:buSzPct val="80000"/>
              <a:buFont typeface="Trebuchet MS"/>
              <a:buAutoNum type="arabicPeriod"/>
            </a:pPr>
            <a:r>
              <a:rPr lang="en-US"/>
              <a:t>Human readable</a:t>
            </a:r>
            <a:endParaRPr/>
          </a:p>
          <a:p>
            <a:pPr indent="-285750" lvl="1" marL="742950" rtl="0" algn="l">
              <a:spcBef>
                <a:spcPts val="1000"/>
              </a:spcBef>
              <a:spcAft>
                <a:spcPts val="0"/>
              </a:spcAft>
              <a:buSzPct val="80000"/>
              <a:buFont typeface="Trebuchet MS"/>
              <a:buAutoNum type="arabicPeriod"/>
            </a:pPr>
            <a:r>
              <a:rPr lang="en-US"/>
              <a:t>Machine readable</a:t>
            </a:r>
            <a:endParaRPr/>
          </a:p>
          <a:p>
            <a:pPr indent="-285750" lvl="1" marL="742950" rtl="0" algn="l">
              <a:spcBef>
                <a:spcPts val="1000"/>
              </a:spcBef>
              <a:spcAft>
                <a:spcPts val="0"/>
              </a:spcAft>
              <a:buSzPct val="80000"/>
              <a:buFont typeface="Trebuchet MS"/>
              <a:buAutoNum type="arabicPeriod"/>
            </a:pPr>
            <a:r>
              <a:rPr lang="en-US"/>
              <a:t>Communication devices</a:t>
            </a:r>
            <a:endParaRPr/>
          </a:p>
          <a:p>
            <a:pPr indent="-342900" lvl="0" marL="342900" rtl="0" algn="l">
              <a:spcBef>
                <a:spcPts val="1000"/>
              </a:spcBef>
              <a:spcAft>
                <a:spcPts val="0"/>
              </a:spcAft>
              <a:buSzPct val="79999"/>
              <a:buFont typeface="Trebuchet MS"/>
              <a:buAutoNum type="arabicPeriod"/>
            </a:pPr>
            <a:r>
              <a:rPr lang="en-US"/>
              <a:t>Device controllers</a:t>
            </a:r>
            <a:endParaRPr/>
          </a:p>
          <a:p>
            <a:pPr indent="-342900" lvl="0" marL="342900" rtl="0" algn="l">
              <a:spcBef>
                <a:spcPts val="1000"/>
              </a:spcBef>
              <a:spcAft>
                <a:spcPts val="0"/>
              </a:spcAft>
              <a:buSzPct val="79999"/>
              <a:buFont typeface="Trebuchet MS"/>
              <a:buAutoNum type="arabicPeriod"/>
            </a:pPr>
            <a:r>
              <a:rPr lang="en-US"/>
              <a:t>I/O Ports</a:t>
            </a:r>
            <a:endParaRPr/>
          </a:p>
          <a:p>
            <a:pPr indent="-342900" lvl="0" marL="342900" rtl="0" algn="l">
              <a:spcBef>
                <a:spcPts val="1000"/>
              </a:spcBef>
              <a:spcAft>
                <a:spcPts val="0"/>
              </a:spcAft>
              <a:buSzPct val="79999"/>
              <a:buFont typeface="Trebuchet MS"/>
              <a:buAutoNum type="arabicPeriod"/>
            </a:pPr>
            <a:r>
              <a:rPr lang="en-US"/>
              <a:t>Memory Mapped IO vs Port mapped IO</a:t>
            </a:r>
            <a:endParaRPr/>
          </a:p>
          <a:p>
            <a:pPr indent="-342900" lvl="0" marL="342900" rtl="0" algn="l">
              <a:spcBef>
                <a:spcPts val="1000"/>
              </a:spcBef>
              <a:spcAft>
                <a:spcPts val="0"/>
              </a:spcAft>
              <a:buSzPct val="79999"/>
              <a:buFont typeface="Trebuchet MS"/>
              <a:buAutoNum type="arabicPeriod"/>
            </a:pPr>
            <a:r>
              <a:rPr lang="en-US"/>
              <a:t>Polling</a:t>
            </a:r>
            <a:endParaRPr/>
          </a:p>
          <a:p>
            <a:pPr indent="-342900" lvl="0" marL="342900" rtl="0" algn="l">
              <a:spcBef>
                <a:spcPts val="1000"/>
              </a:spcBef>
              <a:spcAft>
                <a:spcPts val="0"/>
              </a:spcAft>
              <a:buSzPct val="79999"/>
              <a:buFont typeface="Trebuchet MS"/>
              <a:buAutoNum type="arabicPeriod"/>
            </a:pPr>
            <a:r>
              <a:rPr lang="en-US"/>
              <a:t>Interrupts</a:t>
            </a:r>
            <a:endParaRPr/>
          </a:p>
          <a:p>
            <a:pPr indent="-342900" lvl="0" marL="342900" rtl="0" algn="l">
              <a:spcBef>
                <a:spcPts val="1000"/>
              </a:spcBef>
              <a:spcAft>
                <a:spcPts val="0"/>
              </a:spcAft>
              <a:buSzPct val="79999"/>
              <a:buFont typeface="Trebuchet MS"/>
              <a:buAutoNum type="arabicPeriod"/>
            </a:pPr>
            <a:r>
              <a:rPr lang="en-US"/>
              <a:t>DMA</a:t>
            </a:r>
            <a:endParaRPr/>
          </a:p>
          <a:p>
            <a:pPr indent="-342900" lvl="0" marL="342900" rtl="0" algn="l">
              <a:spcBef>
                <a:spcPts val="1000"/>
              </a:spcBef>
              <a:spcAft>
                <a:spcPts val="0"/>
              </a:spcAft>
              <a:buSzPct val="79999"/>
              <a:buFont typeface="Trebuchet MS"/>
              <a:buAutoNum type="arabicPeriod"/>
            </a:pPr>
            <a:r>
              <a:rPr lang="en-US"/>
              <a:t>Error Detection and Handling </a:t>
            </a:r>
            <a:endParaRPr/>
          </a:p>
          <a:p>
            <a:pPr indent="-342900" lvl="0" marL="342900" rtl="0" algn="l">
              <a:spcBef>
                <a:spcPts val="1000"/>
              </a:spcBef>
              <a:spcAft>
                <a:spcPts val="0"/>
              </a:spcAft>
              <a:buSzPct val="79999"/>
              <a:buFont typeface="Trebuchet MS"/>
              <a:buAutoNum type="arabicPeriod"/>
            </a:pPr>
            <a:r>
              <a:rPr lang="en-US"/>
              <a:t>IO Hardware Performance Considerations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1 Operating Systems Input/Output Management. 2 What is the I/O System A  collection of devices that different sub- systems of a computer use to  communicate. - ppt download" id="184" name="Google Shape;184;p6"/>
          <p:cNvPicPr preferRelativeResize="0"/>
          <p:nvPr/>
        </p:nvPicPr>
        <p:blipFill rotWithShape="1">
          <a:blip r:embed="rId3">
            <a:alphaModFix/>
          </a:blip>
          <a:srcRect b="14537" l="4256" r="9674" t="12253"/>
          <a:stretch/>
        </p:blipFill>
        <p:spPr>
          <a:xfrm>
            <a:off x="7996692" y="4008678"/>
            <a:ext cx="4195308" cy="2859490"/>
          </a:xfrm>
          <a:prstGeom prst="rect">
            <a:avLst/>
          </a:prstGeom>
          <a:noFill/>
          <a:ln>
            <a:noFill/>
          </a:ln>
        </p:spPr>
      </p:pic>
      <p:sp>
        <p:nvSpPr>
          <p:cNvPr id="185" name="Google Shape;185;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I/O Device</a:t>
            </a:r>
            <a:endParaRPr/>
          </a:p>
        </p:txBody>
      </p:sp>
      <p:sp>
        <p:nvSpPr>
          <p:cNvPr id="186" name="Google Shape;186;p6"/>
          <p:cNvSpPr txBox="1"/>
          <p:nvPr>
            <p:ph idx="1" type="body"/>
          </p:nvPr>
        </p:nvSpPr>
        <p:spPr>
          <a:xfrm>
            <a:off x="677334" y="1714500"/>
            <a:ext cx="8596668" cy="470916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These are the devices that communicate with a computer system by sending signals over a cable. </a:t>
            </a:r>
            <a:endParaRPr/>
          </a:p>
          <a:p>
            <a:pPr indent="-342900" lvl="0" marL="342900" rtl="0" algn="l">
              <a:spcBef>
                <a:spcPts val="1000"/>
              </a:spcBef>
              <a:spcAft>
                <a:spcPts val="0"/>
              </a:spcAft>
              <a:buSzPts val="1440"/>
              <a:buChar char="►"/>
            </a:pPr>
            <a:r>
              <a:rPr lang="en-US"/>
              <a:t>The devices use a common set of wires, called bus, for communication</a:t>
            </a:r>
            <a:endParaRPr/>
          </a:p>
          <a:p>
            <a:pPr indent="0" lvl="0" marL="0" rtl="0" algn="l">
              <a:spcBef>
                <a:spcPts val="1000"/>
              </a:spcBef>
              <a:spcAft>
                <a:spcPts val="0"/>
              </a:spcAft>
              <a:buSzPts val="1440"/>
              <a:buNone/>
            </a:pPr>
            <a:r>
              <a:rPr b="1" lang="en-US" u="sng"/>
              <a:t>I/O devices can be of two types: </a:t>
            </a:r>
            <a:endParaRPr/>
          </a:p>
          <a:p>
            <a:pPr indent="-342900" lvl="0" marL="342900" rtl="0" algn="l">
              <a:spcBef>
                <a:spcPts val="1000"/>
              </a:spcBef>
              <a:spcAft>
                <a:spcPts val="0"/>
              </a:spcAft>
              <a:buSzPts val="1440"/>
              <a:buFont typeface="Trebuchet MS"/>
              <a:buAutoNum type="arabicPeriod"/>
            </a:pPr>
            <a:r>
              <a:rPr b="1" lang="en-US"/>
              <a:t>Block Device</a:t>
            </a:r>
            <a:r>
              <a:rPr lang="en-US"/>
              <a:t>: A device which stores information in fixed size blocks, each one with its own address is termed as block device.</a:t>
            </a:r>
            <a:endParaRPr/>
          </a:p>
          <a:p>
            <a:pPr indent="0" lvl="1" marL="457200" rtl="0" algn="l">
              <a:spcBef>
                <a:spcPts val="1000"/>
              </a:spcBef>
              <a:spcAft>
                <a:spcPts val="0"/>
              </a:spcAft>
              <a:buSzPts val="1280"/>
              <a:buNone/>
            </a:pPr>
            <a:r>
              <a:rPr lang="en-US"/>
              <a:t>Common block size – 512 – 32,768 bytes.</a:t>
            </a:r>
            <a:endParaRPr/>
          </a:p>
          <a:p>
            <a:pPr indent="0" lvl="1" marL="457200" rtl="0" algn="l">
              <a:spcBef>
                <a:spcPts val="1000"/>
              </a:spcBef>
              <a:spcAft>
                <a:spcPts val="0"/>
              </a:spcAft>
              <a:buSzPts val="1280"/>
              <a:buNone/>
            </a:pPr>
            <a:r>
              <a:rPr lang="en-US"/>
              <a:t>Example: Disks are the most common block devices. </a:t>
            </a:r>
            <a:endParaRPr/>
          </a:p>
          <a:p>
            <a:pPr indent="-342900" lvl="0" marL="342900" rtl="0" algn="l">
              <a:spcBef>
                <a:spcPts val="1000"/>
              </a:spcBef>
              <a:spcAft>
                <a:spcPts val="0"/>
              </a:spcAft>
              <a:buSzPts val="1440"/>
              <a:buFont typeface="Trebuchet MS"/>
              <a:buAutoNum type="arabicPeriod"/>
            </a:pPr>
            <a:r>
              <a:rPr b="1" lang="en-US"/>
              <a:t>Character Device:</a:t>
            </a:r>
            <a:r>
              <a:rPr lang="en-US"/>
              <a:t> A character device delivers or accepts a stream of characters, without regard to any block structure.</a:t>
            </a:r>
            <a:endParaRPr/>
          </a:p>
          <a:p>
            <a:pPr indent="0" lvl="1" marL="457200" rtl="0" algn="l">
              <a:spcBef>
                <a:spcPts val="1000"/>
              </a:spcBef>
              <a:spcAft>
                <a:spcPts val="0"/>
              </a:spcAft>
              <a:buSzPts val="1280"/>
              <a:buNone/>
            </a:pPr>
            <a:r>
              <a:rPr lang="en-US"/>
              <a:t>Example: printer, mouse, etc.</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Device Controllers" id="192" name="Google Shape;192;p7"/>
          <p:cNvPicPr preferRelativeResize="0"/>
          <p:nvPr/>
        </p:nvPicPr>
        <p:blipFill rotWithShape="1">
          <a:blip r:embed="rId3">
            <a:alphaModFix/>
          </a:blip>
          <a:srcRect b="0" l="0" r="0" t="0"/>
          <a:stretch/>
        </p:blipFill>
        <p:spPr>
          <a:xfrm>
            <a:off x="4572000" y="3848100"/>
            <a:ext cx="7620000" cy="3009900"/>
          </a:xfrm>
          <a:prstGeom prst="rect">
            <a:avLst/>
          </a:prstGeom>
          <a:noFill/>
          <a:ln>
            <a:noFill/>
          </a:ln>
        </p:spPr>
      </p:pic>
      <p:sp>
        <p:nvSpPr>
          <p:cNvPr id="193" name="Google Shape;193;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Device Controller</a:t>
            </a:r>
            <a:br>
              <a:rPr lang="en-US"/>
            </a:br>
            <a:endParaRPr/>
          </a:p>
        </p:txBody>
      </p:sp>
      <p:sp>
        <p:nvSpPr>
          <p:cNvPr id="194" name="Google Shape;194;p7"/>
          <p:cNvSpPr txBox="1"/>
          <p:nvPr>
            <p:ph idx="1" type="body"/>
          </p:nvPr>
        </p:nvSpPr>
        <p:spPr>
          <a:xfrm>
            <a:off x="677334" y="1907713"/>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chip or circuit board that controls functioning of IO.</a:t>
            </a:r>
            <a:endParaRPr/>
          </a:p>
          <a:p>
            <a:pPr indent="-342900" lvl="0" marL="342900" rtl="0" algn="l">
              <a:spcBef>
                <a:spcPts val="1000"/>
              </a:spcBef>
              <a:spcAft>
                <a:spcPts val="0"/>
              </a:spcAft>
              <a:buSzPts val="1440"/>
              <a:buChar char="►"/>
            </a:pPr>
            <a:r>
              <a:rPr lang="en-US"/>
              <a:t>Device drivers are software modules that can be plugged into an OS to handle a particular device. </a:t>
            </a:r>
            <a:endParaRPr/>
          </a:p>
          <a:p>
            <a:pPr indent="-342900" lvl="0" marL="342900" rtl="0" algn="l">
              <a:spcBef>
                <a:spcPts val="1000"/>
              </a:spcBef>
              <a:spcAft>
                <a:spcPts val="0"/>
              </a:spcAft>
              <a:buSzPts val="1440"/>
              <a:buChar char="►"/>
            </a:pPr>
            <a:r>
              <a:rPr lang="en-US"/>
              <a:t>Works like an interface between a device and a device driver. </a:t>
            </a:r>
            <a:endParaRPr/>
          </a:p>
          <a:p>
            <a:pPr indent="-342900" lvl="0" marL="342900" rtl="0" algn="l">
              <a:spcBef>
                <a:spcPts val="1000"/>
              </a:spcBef>
              <a:spcAft>
                <a:spcPts val="0"/>
              </a:spcAft>
              <a:buSzPts val="1440"/>
              <a:buChar char="►"/>
            </a:pPr>
            <a:r>
              <a:rPr lang="en-US"/>
              <a:t>It takes care of low-level operations such as error checking, moving disk heads, data transfer, and location of data on the device.</a:t>
            </a:r>
            <a:endParaRPr/>
          </a:p>
          <a:p>
            <a:pPr indent="-342900" lvl="0" marL="342900" rtl="0" algn="l">
              <a:spcBef>
                <a:spcPts val="1000"/>
              </a:spcBef>
              <a:spcAft>
                <a:spcPts val="0"/>
              </a:spcAft>
              <a:buSzPts val="1440"/>
              <a:buChar char="►"/>
            </a:pPr>
            <a:r>
              <a:rPr lang="en-US"/>
              <a:t>Example: serial port controller,</a:t>
            </a:r>
            <a:endParaRPr/>
          </a:p>
          <a:p>
            <a:pPr indent="0" lvl="1" marL="457200" rtl="0" algn="l">
              <a:spcBef>
                <a:spcPts val="1000"/>
              </a:spcBef>
              <a:spcAft>
                <a:spcPts val="0"/>
              </a:spcAft>
              <a:buSzPts val="1280"/>
              <a:buNone/>
            </a:pPr>
            <a:r>
              <a:rPr lang="en-US"/>
              <a:t>SCSI bus controller, disk controller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Function of device controllers </a:t>
            </a:r>
            <a:endParaRPr/>
          </a:p>
        </p:txBody>
      </p:sp>
      <p:sp>
        <p:nvSpPr>
          <p:cNvPr id="201" name="Google Shape;201;p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Stops and starts the activity of the peripheral device. </a:t>
            </a:r>
            <a:endParaRPr/>
          </a:p>
          <a:p>
            <a:pPr indent="-342900" lvl="0" marL="342900" rtl="0" algn="l">
              <a:spcBef>
                <a:spcPts val="1000"/>
              </a:spcBef>
              <a:spcAft>
                <a:spcPts val="0"/>
              </a:spcAft>
              <a:buSzPts val="1440"/>
              <a:buChar char="►"/>
            </a:pPr>
            <a:r>
              <a:rPr lang="en-US"/>
              <a:t>Generate error checking code. </a:t>
            </a:r>
            <a:endParaRPr/>
          </a:p>
          <a:p>
            <a:pPr indent="-342900" lvl="0" marL="342900" rtl="0" algn="l">
              <a:spcBef>
                <a:spcPts val="1000"/>
              </a:spcBef>
              <a:spcAft>
                <a:spcPts val="0"/>
              </a:spcAft>
              <a:buSzPts val="1440"/>
              <a:buChar char="►"/>
            </a:pPr>
            <a:r>
              <a:rPr lang="en-US"/>
              <a:t>Checks the error in the data received from the interface. </a:t>
            </a:r>
            <a:endParaRPr/>
          </a:p>
          <a:p>
            <a:pPr indent="-342900" lvl="0" marL="342900" rtl="0" algn="l">
              <a:spcBef>
                <a:spcPts val="1000"/>
              </a:spcBef>
              <a:spcAft>
                <a:spcPts val="0"/>
              </a:spcAft>
              <a:buSzPts val="1440"/>
              <a:buChar char="►"/>
            </a:pPr>
            <a:r>
              <a:rPr lang="en-US"/>
              <a:t>Abort that command which have errors. </a:t>
            </a:r>
            <a:endParaRPr/>
          </a:p>
          <a:p>
            <a:pPr indent="-342900" lvl="0" marL="342900" rtl="0" algn="l">
              <a:spcBef>
                <a:spcPts val="1000"/>
              </a:spcBef>
              <a:spcAft>
                <a:spcPts val="0"/>
              </a:spcAft>
              <a:buSzPts val="1440"/>
              <a:buChar char="►"/>
            </a:pPr>
            <a:r>
              <a:rPr lang="en-US"/>
              <a:t>Retry the command having an error </a:t>
            </a:r>
            <a:endParaRPr/>
          </a:p>
          <a:p>
            <a:pPr indent="-342900" lvl="0" marL="342900" rtl="0" algn="l">
              <a:spcBef>
                <a:spcPts val="1000"/>
              </a:spcBef>
              <a:spcAft>
                <a:spcPts val="0"/>
              </a:spcAft>
              <a:buSzPts val="1440"/>
              <a:buChar char="►"/>
            </a:pPr>
            <a:r>
              <a:rPr lang="en-US"/>
              <a:t>Receives the control signals from the interface unit </a:t>
            </a:r>
            <a:endParaRPr/>
          </a:p>
          <a:p>
            <a:pPr indent="-342900" lvl="0" marL="342900" rtl="0" algn="l">
              <a:spcBef>
                <a:spcPts val="1000"/>
              </a:spcBef>
              <a:spcAft>
                <a:spcPts val="0"/>
              </a:spcAft>
              <a:buSzPts val="1440"/>
              <a:buChar char="►"/>
            </a:pPr>
            <a:r>
              <a:rPr lang="en-US"/>
              <a:t>Convert the format of the data </a:t>
            </a:r>
            <a:endParaRPr/>
          </a:p>
          <a:p>
            <a:pPr indent="-342900" lvl="0" marL="342900" rtl="0" algn="l">
              <a:spcBef>
                <a:spcPts val="1000"/>
              </a:spcBef>
              <a:spcAft>
                <a:spcPts val="0"/>
              </a:spcAft>
              <a:buSzPts val="1440"/>
              <a:buChar char="►"/>
            </a:pPr>
            <a:r>
              <a:rPr lang="en-US"/>
              <a:t>Check the status of the device</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I/O Classification</a:t>
            </a:r>
            <a:endParaRPr/>
          </a:p>
        </p:txBody>
      </p:sp>
      <p:sp>
        <p:nvSpPr>
          <p:cNvPr id="207" name="Google Shape;207;p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Data Transfer Methods</a:t>
            </a:r>
            <a:endParaRPr/>
          </a:p>
          <a:p>
            <a:pPr indent="-285750" lvl="1" marL="742950" rtl="0" algn="l">
              <a:spcBef>
                <a:spcPts val="1000"/>
              </a:spcBef>
              <a:spcAft>
                <a:spcPts val="0"/>
              </a:spcAft>
              <a:buSzPts val="1280"/>
              <a:buChar char="►"/>
            </a:pPr>
            <a:r>
              <a:rPr lang="en-US"/>
              <a:t>Programmed I/O</a:t>
            </a:r>
            <a:endParaRPr/>
          </a:p>
          <a:p>
            <a:pPr indent="-285750" lvl="1" marL="742950" rtl="0" algn="l">
              <a:spcBef>
                <a:spcPts val="1000"/>
              </a:spcBef>
              <a:spcAft>
                <a:spcPts val="0"/>
              </a:spcAft>
              <a:buSzPts val="1280"/>
              <a:buChar char="►"/>
            </a:pPr>
            <a:r>
              <a:rPr lang="en-US"/>
              <a:t>Interrupt-driven I/O</a:t>
            </a:r>
            <a:endParaRPr/>
          </a:p>
          <a:p>
            <a:pPr indent="-285750" lvl="1" marL="742950" rtl="0" algn="l">
              <a:spcBef>
                <a:spcPts val="1000"/>
              </a:spcBef>
              <a:spcAft>
                <a:spcPts val="0"/>
              </a:spcAft>
              <a:buSzPts val="1280"/>
              <a:buChar char="►"/>
            </a:pPr>
            <a:r>
              <a:rPr lang="en-US"/>
              <a:t>DMA </a:t>
            </a:r>
            <a:endParaRPr/>
          </a:p>
          <a:p>
            <a:pPr indent="-342900" lvl="0" marL="342900" rtl="0" algn="l">
              <a:spcBef>
                <a:spcPts val="1000"/>
              </a:spcBef>
              <a:spcAft>
                <a:spcPts val="0"/>
              </a:spcAft>
              <a:buSzPts val="1440"/>
              <a:buChar char="►"/>
            </a:pPr>
            <a:r>
              <a:rPr lang="en-US"/>
              <a:t>Device Addressing Methods</a:t>
            </a:r>
            <a:endParaRPr/>
          </a:p>
          <a:p>
            <a:pPr indent="-285750" lvl="1" marL="742950" rtl="0" algn="l">
              <a:spcBef>
                <a:spcPts val="1000"/>
              </a:spcBef>
              <a:spcAft>
                <a:spcPts val="0"/>
              </a:spcAft>
              <a:buSzPts val="1280"/>
              <a:buChar char="►"/>
            </a:pPr>
            <a:r>
              <a:rPr lang="en-US"/>
              <a:t>Memory-mapped I/O</a:t>
            </a:r>
            <a:endParaRPr/>
          </a:p>
          <a:p>
            <a:pPr indent="-285750" lvl="1" marL="742950" rtl="0" algn="l">
              <a:spcBef>
                <a:spcPts val="1000"/>
              </a:spcBef>
              <a:spcAft>
                <a:spcPts val="0"/>
              </a:spcAft>
              <a:buSzPts val="1280"/>
              <a:buChar char="►"/>
            </a:pPr>
            <a:r>
              <a:rPr lang="en-US"/>
              <a:t>Port-mapped / Isolated I/O</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Device Addressing Methods</a:t>
            </a:r>
            <a:endParaRPr/>
          </a:p>
        </p:txBody>
      </p:sp>
      <p:sp>
        <p:nvSpPr>
          <p:cNvPr id="213" name="Google Shape;213;p10"/>
          <p:cNvSpPr txBox="1"/>
          <p:nvPr>
            <p:ph idx="1" type="body"/>
          </p:nvPr>
        </p:nvSpPr>
        <p:spPr>
          <a:xfrm>
            <a:off x="677334" y="2160589"/>
            <a:ext cx="9040824"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How devices are addressed?</a:t>
            </a:r>
            <a:endParaRPr b="1"/>
          </a:p>
          <a:p>
            <a:pPr indent="-342900" lvl="0" marL="342900" rtl="0" algn="l">
              <a:spcBef>
                <a:spcPts val="1000"/>
              </a:spcBef>
              <a:spcAft>
                <a:spcPts val="0"/>
              </a:spcAft>
              <a:buSzPts val="1440"/>
              <a:buChar char="►"/>
            </a:pPr>
            <a:r>
              <a:rPr b="1" lang="en-US"/>
              <a:t>Port-mapped / Special-instruction I/O</a:t>
            </a:r>
            <a:r>
              <a:rPr lang="en-US"/>
              <a:t> : Uses separate I/O address space, IN/OUT instructions</a:t>
            </a:r>
            <a:endParaRPr/>
          </a:p>
          <a:p>
            <a:pPr indent="-342900" lvl="0" marL="342900" rtl="0" algn="l">
              <a:spcBef>
                <a:spcPts val="1000"/>
              </a:spcBef>
              <a:spcAft>
                <a:spcPts val="0"/>
              </a:spcAft>
              <a:buSzPts val="1440"/>
              <a:buChar char="►"/>
            </a:pPr>
            <a:r>
              <a:rPr b="1" lang="en-US"/>
              <a:t>Memory-mapped I/O :</a:t>
            </a:r>
            <a:r>
              <a:rPr lang="en-US"/>
              <a:t> Devices share memory address space, CPU uses normal instructions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Special Instruction IO| Port mapped IO | Isolated IO</a:t>
            </a:r>
            <a:endParaRPr/>
          </a:p>
        </p:txBody>
      </p:sp>
      <p:sp>
        <p:nvSpPr>
          <p:cNvPr id="220" name="Google Shape;220;p11"/>
          <p:cNvSpPr txBox="1"/>
          <p:nvPr>
            <p:ph idx="1" type="body"/>
          </p:nvPr>
        </p:nvSpPr>
        <p:spPr>
          <a:xfrm>
            <a:off x="677334" y="1930400"/>
            <a:ext cx="972130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Devices have a </a:t>
            </a:r>
            <a:r>
              <a:rPr b="1" lang="en-US"/>
              <a:t>separate I/O address space</a:t>
            </a:r>
            <a:r>
              <a:rPr lang="en-US"/>
              <a:t>.</a:t>
            </a:r>
            <a:endParaRPr/>
          </a:p>
          <a:p>
            <a:pPr indent="-342900" lvl="0" marL="342900" rtl="0" algn="l">
              <a:spcBef>
                <a:spcPts val="1000"/>
              </a:spcBef>
              <a:spcAft>
                <a:spcPts val="0"/>
              </a:spcAft>
              <a:buSzPts val="1440"/>
              <a:buChar char="►"/>
            </a:pPr>
            <a:r>
              <a:rPr lang="en-US"/>
              <a:t>This uses CPU instructions (IN &amp; OUT) that are specifically made for controlling I/O devices. </a:t>
            </a:r>
            <a:endParaRPr/>
          </a:p>
          <a:p>
            <a:pPr indent="-342900" lvl="0" marL="342900" rtl="0" algn="l">
              <a:spcBef>
                <a:spcPts val="1000"/>
              </a:spcBef>
              <a:spcAft>
                <a:spcPts val="0"/>
              </a:spcAft>
              <a:buSzPts val="1440"/>
              <a:buChar char="►"/>
            </a:pPr>
            <a:r>
              <a:rPr lang="en-US"/>
              <a:t>These instructions typically allow data to be sent to an I/O device or read from an I/O device.</a:t>
            </a:r>
            <a:endParaRPr/>
          </a:p>
          <a:p>
            <a:pPr indent="-342900" lvl="0" marL="342900" rtl="0" algn="l">
              <a:spcBef>
                <a:spcPts val="1000"/>
              </a:spcBef>
              <a:spcAft>
                <a:spcPts val="0"/>
              </a:spcAft>
              <a:buSzPts val="1440"/>
              <a:buChar char="►"/>
            </a:pPr>
            <a:r>
              <a:rPr lang="en-US"/>
              <a:t>It maintains a separate address space for I/O devices, distinct from main memory</a:t>
            </a:r>
            <a:endParaRPr/>
          </a:p>
          <a:p>
            <a:pPr indent="-342900" lvl="0" marL="342900" rtl="0" algn="l">
              <a:spcBef>
                <a:spcPts val="1000"/>
              </a:spcBef>
              <a:spcAft>
                <a:spcPts val="0"/>
              </a:spcAft>
              <a:buSzPts val="1440"/>
              <a:buChar char="►"/>
            </a:pPr>
            <a:r>
              <a:rPr lang="en-US"/>
              <a:t>This method offers simple, explicit control over devices, often used for specific register access, but requires special, often slower commands compared to memory-mapped I/O.</a:t>
            </a:r>
            <a:endParaRPr/>
          </a:p>
          <a:p>
            <a:pPr indent="-342900" lvl="0" marL="342900" rtl="0" algn="l">
              <a:spcBef>
                <a:spcPts val="1000"/>
              </a:spcBef>
              <a:spcAft>
                <a:spcPts val="0"/>
              </a:spcAft>
              <a:buSzPts val="1440"/>
              <a:buChar char="►"/>
            </a:pPr>
            <a:r>
              <a:rPr lang="en-US"/>
              <a:t>Widely Used in : Embedded Systems, Microcontrollers, Real time Systems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How Port-Mapped I/O Works</a:t>
            </a:r>
            <a:endParaRPr/>
          </a:p>
        </p:txBody>
      </p:sp>
      <p:sp>
        <p:nvSpPr>
          <p:cNvPr id="226" name="Google Shape;226;p12"/>
          <p:cNvSpPr txBox="1"/>
          <p:nvPr>
            <p:ph idx="1" type="body"/>
          </p:nvPr>
        </p:nvSpPr>
        <p:spPr>
          <a:xfrm>
            <a:off x="677334" y="2160589"/>
            <a:ext cx="8596668" cy="4264274"/>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Font typeface="Trebuchet MS"/>
              <a:buAutoNum type="arabicPeriod"/>
            </a:pPr>
            <a:r>
              <a:rPr lang="en-US"/>
              <a:t>Each I/O device is assigned a unique port number (or range of port numbers).</a:t>
            </a:r>
            <a:endParaRPr/>
          </a:p>
          <a:p>
            <a:pPr indent="-342900" lvl="0" marL="342900" rtl="0" algn="l">
              <a:spcBef>
                <a:spcPts val="1000"/>
              </a:spcBef>
              <a:spcAft>
                <a:spcPts val="0"/>
              </a:spcAft>
              <a:buSzPts val="1440"/>
              <a:buFont typeface="Trebuchet MS"/>
              <a:buAutoNum type="arabicPeriod"/>
            </a:pPr>
            <a:r>
              <a:rPr lang="en-US"/>
              <a:t>The CPU places the port address on the address bus.</a:t>
            </a:r>
            <a:endParaRPr/>
          </a:p>
          <a:p>
            <a:pPr indent="-342900" lvl="0" marL="342900" rtl="0" algn="l">
              <a:spcBef>
                <a:spcPts val="1000"/>
              </a:spcBef>
              <a:spcAft>
                <a:spcPts val="0"/>
              </a:spcAft>
              <a:buSzPts val="1440"/>
              <a:buFont typeface="Trebuchet MS"/>
              <a:buAutoNum type="arabicPeriod"/>
            </a:pPr>
            <a:r>
              <a:rPr lang="en-US"/>
              <a:t>Special control signals indicate an I/O operation (not a memory operation).</a:t>
            </a:r>
            <a:endParaRPr/>
          </a:p>
          <a:p>
            <a:pPr indent="-342900" lvl="0" marL="342900" rtl="0" algn="l">
              <a:spcBef>
                <a:spcPts val="1000"/>
              </a:spcBef>
              <a:spcAft>
                <a:spcPts val="0"/>
              </a:spcAft>
              <a:buSzPts val="1440"/>
              <a:buFont typeface="Trebuchet MS"/>
              <a:buAutoNum type="arabicPeriod"/>
            </a:pPr>
            <a:r>
              <a:rPr lang="en-US"/>
              <a:t>Data is transferred between CPU registers and the I/O device.</a:t>
            </a:r>
            <a:endParaRPr/>
          </a:p>
          <a:p>
            <a:pPr indent="0" lvl="0" marL="0" rtl="0" algn="l">
              <a:spcBef>
                <a:spcPts val="1000"/>
              </a:spcBef>
              <a:spcAft>
                <a:spcPts val="0"/>
              </a:spcAft>
              <a:buSzPts val="1440"/>
              <a:buNone/>
            </a:pPr>
            <a:r>
              <a:rPr lang="en-US"/>
              <a:t>In port-mapped I/O, normal load/store instructions cannot be used.</a:t>
            </a:r>
            <a:endParaRPr/>
          </a:p>
          <a:p>
            <a:pPr indent="0" lvl="0" marL="0" rtl="0" algn="l">
              <a:spcBef>
                <a:spcPts val="1000"/>
              </a:spcBef>
              <a:spcAft>
                <a:spcPts val="0"/>
              </a:spcAft>
              <a:buSzPts val="1440"/>
              <a:buNone/>
            </a:pPr>
            <a:r>
              <a:rPr lang="en-US"/>
              <a:t>Common instructions (especially in x86 architecture):</a:t>
            </a:r>
            <a:endParaRPr/>
          </a:p>
          <a:p>
            <a:pPr indent="-342900" lvl="0" marL="342900" rtl="0" algn="l">
              <a:spcBef>
                <a:spcPts val="1000"/>
              </a:spcBef>
              <a:spcAft>
                <a:spcPts val="0"/>
              </a:spcAft>
              <a:buSzPts val="1440"/>
              <a:buFont typeface="Trebuchet MS"/>
              <a:buAutoNum type="arabicPeriod"/>
            </a:pPr>
            <a:r>
              <a:rPr lang="en-US"/>
              <a:t>IN  🡪 Read data from an I/O port</a:t>
            </a:r>
            <a:endParaRPr/>
          </a:p>
          <a:p>
            <a:pPr indent="-342900" lvl="0" marL="342900" rtl="0" algn="l">
              <a:spcBef>
                <a:spcPts val="1000"/>
              </a:spcBef>
              <a:spcAft>
                <a:spcPts val="0"/>
              </a:spcAft>
              <a:buSzPts val="1440"/>
              <a:buFont typeface="Trebuchet MS"/>
              <a:buAutoNum type="arabicPeriod"/>
            </a:pPr>
            <a:r>
              <a:rPr lang="en-US"/>
              <a:t>OUT 🡪 Write data to an I/O port</a:t>
            </a:r>
            <a:endParaRPr/>
          </a:p>
          <a:p>
            <a:pPr indent="-342900" lvl="0" marL="342900" rtl="0" algn="l">
              <a:spcBef>
                <a:spcPts val="1000"/>
              </a:spcBef>
              <a:spcAft>
                <a:spcPts val="0"/>
              </a:spcAft>
              <a:buSzPts val="1440"/>
              <a:buFont typeface="Trebuchet MS"/>
              <a:buAutoNum type="arabicPeriod"/>
            </a:pPr>
            <a:r>
              <a:rPr lang="en-US"/>
              <a:t>Example: </a:t>
            </a:r>
            <a:endParaRPr/>
          </a:p>
          <a:p>
            <a:pPr indent="0" lvl="1" marL="457200" rtl="0" algn="l">
              <a:spcBef>
                <a:spcPts val="1000"/>
              </a:spcBef>
              <a:spcAft>
                <a:spcPts val="0"/>
              </a:spcAft>
              <a:buSzPts val="1280"/>
              <a:buNone/>
            </a:pPr>
            <a:r>
              <a:rPr lang="en-US"/>
              <a:t>IN  AL, 60H     ; Read data from keyboard port</a:t>
            </a:r>
            <a:endParaRPr/>
          </a:p>
          <a:p>
            <a:pPr indent="0" lvl="1" marL="457200" rtl="0" algn="l">
              <a:spcBef>
                <a:spcPts val="1000"/>
              </a:spcBef>
              <a:spcAft>
                <a:spcPts val="0"/>
              </a:spcAft>
              <a:buSzPts val="1280"/>
              <a:buNone/>
            </a:pPr>
            <a:r>
              <a:rPr lang="en-US"/>
              <a:t>OUT 378H, AL    ; Send data to printer port</a:t>
            </a:r>
            <a:endParaRPr/>
          </a:p>
          <a:p>
            <a:pPr indent="-251459" lvl="0" marL="342900" rtl="0" algn="l">
              <a:spcBef>
                <a:spcPts val="1000"/>
              </a:spcBef>
              <a:spcAft>
                <a:spcPts val="0"/>
              </a:spcAft>
              <a:buSzPts val="1440"/>
              <a:buFont typeface="Trebuchet MS"/>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Advantages and Disadvantages</a:t>
            </a:r>
            <a:endParaRPr/>
          </a:p>
        </p:txBody>
      </p:sp>
      <p:sp>
        <p:nvSpPr>
          <p:cNvPr id="232" name="Google Shape;232;p1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lang="en-US" u="sng"/>
              <a:t>Advantages:</a:t>
            </a:r>
            <a:endParaRPr/>
          </a:p>
          <a:p>
            <a:pPr indent="-342900" lvl="0" marL="342900" rtl="0" algn="l">
              <a:spcBef>
                <a:spcPts val="1000"/>
              </a:spcBef>
              <a:spcAft>
                <a:spcPts val="0"/>
              </a:spcAft>
              <a:buSzPts val="1440"/>
              <a:buChar char="►"/>
            </a:pPr>
            <a:r>
              <a:rPr lang="en-US"/>
              <a:t>Clear separation between memory and I/O</a:t>
            </a:r>
            <a:endParaRPr/>
          </a:p>
          <a:p>
            <a:pPr indent="-342900" lvl="0" marL="342900" rtl="0" algn="l">
              <a:spcBef>
                <a:spcPts val="1000"/>
              </a:spcBef>
              <a:spcAft>
                <a:spcPts val="0"/>
              </a:spcAft>
              <a:buSzPts val="1440"/>
              <a:buChar char="►"/>
            </a:pPr>
            <a:r>
              <a:rPr lang="en-US"/>
              <a:t>Memory space is fully available for programs</a:t>
            </a:r>
            <a:endParaRPr/>
          </a:p>
          <a:p>
            <a:pPr indent="-342900" lvl="0" marL="342900" rtl="0" algn="l">
              <a:spcBef>
                <a:spcPts val="1000"/>
              </a:spcBef>
              <a:spcAft>
                <a:spcPts val="0"/>
              </a:spcAft>
              <a:buSzPts val="1440"/>
              <a:buChar char="►"/>
            </a:pPr>
            <a:r>
              <a:rPr lang="en-US"/>
              <a:t>Simple and efficient for basic devices</a:t>
            </a:r>
            <a:endParaRPr/>
          </a:p>
          <a:p>
            <a:pPr indent="-342900" lvl="0" marL="342900" rtl="0" algn="l">
              <a:spcBef>
                <a:spcPts val="1000"/>
              </a:spcBef>
              <a:spcAft>
                <a:spcPts val="0"/>
              </a:spcAft>
              <a:buSzPts val="1440"/>
              <a:buChar char="►"/>
            </a:pPr>
            <a:r>
              <a:rPr lang="en-US"/>
              <a:t>Easy to control I/O operations.</a:t>
            </a:r>
            <a:endParaRPr/>
          </a:p>
          <a:p>
            <a:pPr indent="0" lvl="0" marL="0" rtl="0" algn="l">
              <a:spcBef>
                <a:spcPts val="1000"/>
              </a:spcBef>
              <a:spcAft>
                <a:spcPts val="0"/>
              </a:spcAft>
              <a:buSzPts val="1440"/>
              <a:buNone/>
            </a:pPr>
            <a:r>
              <a:rPr b="1" lang="en-US" u="sng"/>
              <a:t>Disadvantages:</a:t>
            </a:r>
            <a:endParaRPr/>
          </a:p>
          <a:p>
            <a:pPr indent="-342900" lvl="0" marL="342900" rtl="0" algn="l">
              <a:spcBef>
                <a:spcPts val="1000"/>
              </a:spcBef>
              <a:spcAft>
                <a:spcPts val="0"/>
              </a:spcAft>
              <a:buSzPts val="1440"/>
              <a:buChar char="►"/>
            </a:pPr>
            <a:r>
              <a:rPr lang="en-US"/>
              <a:t>Limited number of I/O ports</a:t>
            </a:r>
            <a:endParaRPr/>
          </a:p>
          <a:p>
            <a:pPr indent="-342900" lvl="0" marL="342900" rtl="0" algn="l">
              <a:spcBef>
                <a:spcPts val="1000"/>
              </a:spcBef>
              <a:spcAft>
                <a:spcPts val="0"/>
              </a:spcAft>
              <a:buSzPts val="1440"/>
              <a:buChar char="►"/>
            </a:pPr>
            <a:r>
              <a:rPr lang="en-US"/>
              <a:t>Extra instructions needed</a:t>
            </a:r>
            <a:endParaRPr/>
          </a:p>
          <a:p>
            <a:pPr indent="-342900" lvl="0" marL="342900" rtl="0" algn="l">
              <a:spcBef>
                <a:spcPts val="1000"/>
              </a:spcBef>
              <a:spcAft>
                <a:spcPts val="0"/>
              </a:spcAft>
              <a:buSzPts val="1440"/>
              <a:buChar char="►"/>
            </a:pPr>
            <a:r>
              <a:rPr lang="en-US"/>
              <a:t>Not portable across all CPU architectures</a:t>
            </a:r>
            <a:endParaRPr/>
          </a:p>
          <a:p>
            <a:pPr indent="-342900" lvl="0" marL="342900" rtl="0" algn="l">
              <a:spcBef>
                <a:spcPts val="1000"/>
              </a:spcBef>
              <a:spcAft>
                <a:spcPts val="0"/>
              </a:spcAft>
              <a:buSzPts val="1440"/>
              <a:buChar char="►"/>
            </a:pPr>
            <a:r>
              <a:rPr lang="en-US"/>
              <a:t>Less flexible than memory-mapped I/O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Memory-mapped I/O" id="238" name="Google Shape;238;p14"/>
          <p:cNvPicPr preferRelativeResize="0"/>
          <p:nvPr/>
        </p:nvPicPr>
        <p:blipFill rotWithShape="1">
          <a:blip r:embed="rId3">
            <a:alphaModFix/>
          </a:blip>
          <a:srcRect b="0" l="0" r="0" t="0"/>
          <a:stretch/>
        </p:blipFill>
        <p:spPr>
          <a:xfrm>
            <a:off x="7109460" y="3103880"/>
            <a:ext cx="4991100" cy="3759200"/>
          </a:xfrm>
          <a:prstGeom prst="rect">
            <a:avLst/>
          </a:prstGeom>
          <a:noFill/>
          <a:ln>
            <a:noFill/>
          </a:ln>
        </p:spPr>
      </p:pic>
      <p:sp>
        <p:nvSpPr>
          <p:cNvPr id="239" name="Google Shape;239;p1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Memory Mapped I/O</a:t>
            </a:r>
            <a:br>
              <a:rPr lang="en-US"/>
            </a:br>
            <a:endParaRPr/>
          </a:p>
        </p:txBody>
      </p:sp>
      <p:sp>
        <p:nvSpPr>
          <p:cNvPr id="240" name="Google Shape;240;p14"/>
          <p:cNvSpPr txBox="1"/>
          <p:nvPr>
            <p:ph idx="1" type="body"/>
          </p:nvPr>
        </p:nvSpPr>
        <p:spPr>
          <a:xfrm>
            <a:off x="677334" y="1930400"/>
            <a:ext cx="8596668" cy="456184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Technique used in computer systems to communicate with I/O devices by mapping their control and data registers into the system's main memory address space. </a:t>
            </a:r>
            <a:endParaRPr/>
          </a:p>
          <a:p>
            <a:pPr indent="-342900" lvl="0" marL="342900" rtl="0" algn="l">
              <a:spcBef>
                <a:spcPts val="1000"/>
              </a:spcBef>
              <a:spcAft>
                <a:spcPts val="0"/>
              </a:spcAft>
              <a:buSzPts val="1440"/>
              <a:buChar char="►"/>
            </a:pPr>
            <a:r>
              <a:rPr lang="en-US"/>
              <a:t>This allows the CPU to interact with these devices using standard memory instructions.</a:t>
            </a:r>
            <a:endParaRPr/>
          </a:p>
          <a:p>
            <a:pPr indent="-342900" lvl="0" marL="342900" rtl="0" algn="l">
              <a:spcBef>
                <a:spcPts val="1000"/>
              </a:spcBef>
              <a:spcAft>
                <a:spcPts val="0"/>
              </a:spcAft>
              <a:buSzPts val="1440"/>
              <a:buChar char="►"/>
            </a:pPr>
            <a:r>
              <a:rPr lang="en-US"/>
              <a:t>Working of Memory-Mapped I/O:</a:t>
            </a:r>
            <a:endParaRPr/>
          </a:p>
          <a:p>
            <a:pPr indent="-285750" lvl="1" marL="742950" rtl="0" algn="l">
              <a:spcBef>
                <a:spcPts val="1000"/>
              </a:spcBef>
              <a:spcAft>
                <a:spcPts val="0"/>
              </a:spcAft>
              <a:buSzPts val="1280"/>
              <a:buChar char="►"/>
            </a:pPr>
            <a:r>
              <a:rPr lang="en-US"/>
              <a:t>Devices have control registers and data registers </a:t>
            </a:r>
            <a:endParaRPr/>
          </a:p>
          <a:p>
            <a:pPr indent="-285750" lvl="1" marL="742950" rtl="0" algn="l">
              <a:spcBef>
                <a:spcPts val="1000"/>
              </a:spcBef>
              <a:spcAft>
                <a:spcPts val="0"/>
              </a:spcAft>
              <a:buSzPts val="1280"/>
              <a:buChar char="►"/>
            </a:pPr>
            <a:r>
              <a:rPr lang="en-US"/>
              <a:t>These registers are assigned specific memory addresses. </a:t>
            </a:r>
            <a:endParaRPr/>
          </a:p>
          <a:p>
            <a:pPr indent="-285750" lvl="1" marL="742950" rtl="0" algn="l">
              <a:spcBef>
                <a:spcPts val="1000"/>
              </a:spcBef>
              <a:spcAft>
                <a:spcPts val="0"/>
              </a:spcAft>
              <a:buSzPts val="1280"/>
              <a:buChar char="►"/>
            </a:pPr>
            <a:r>
              <a:rPr lang="en-US"/>
              <a:t>The CPU reads from or writes to these addresses to</a:t>
            </a:r>
            <a:endParaRPr/>
          </a:p>
          <a:p>
            <a:pPr indent="0" lvl="1" marL="457200" rtl="0" algn="l">
              <a:spcBef>
                <a:spcPts val="1000"/>
              </a:spcBef>
              <a:spcAft>
                <a:spcPts val="0"/>
              </a:spcAft>
              <a:buSzPts val="1280"/>
              <a:buNone/>
            </a:pPr>
            <a:r>
              <a:rPr lang="en-US"/>
              <a:t>perform I/O operations.</a:t>
            </a:r>
            <a:endParaRPr/>
          </a:p>
          <a:p>
            <a:pPr indent="0" lvl="0" marL="0" rtl="0" algn="l">
              <a:spcBef>
                <a:spcPts val="1000"/>
              </a:spcBef>
              <a:spcAft>
                <a:spcPts val="0"/>
              </a:spcAft>
              <a:buSzPts val="1440"/>
              <a:buNone/>
            </a:pPr>
            <a:r>
              <a:rPr lang="en-US"/>
              <a:t>Applications</a:t>
            </a:r>
            <a:endParaRPr/>
          </a:p>
          <a:p>
            <a:pPr indent="0" lvl="1" marL="457200" rtl="0" algn="l">
              <a:spcBef>
                <a:spcPts val="1000"/>
              </a:spcBef>
              <a:spcAft>
                <a:spcPts val="0"/>
              </a:spcAft>
              <a:buSzPts val="1280"/>
              <a:buNone/>
            </a:pPr>
            <a:r>
              <a:rPr lang="en-US"/>
              <a:t>Modern computer systems (like x86 and ARM architectures)</a:t>
            </a:r>
            <a:endParaRPr/>
          </a:p>
          <a:p>
            <a:pPr indent="0" lvl="1" marL="457200" rtl="0" algn="l">
              <a:spcBef>
                <a:spcPts val="1000"/>
              </a:spcBef>
              <a:spcAft>
                <a:spcPts val="0"/>
              </a:spcAft>
              <a:buSzPts val="1280"/>
              <a:buNone/>
            </a:pPr>
            <a:r>
              <a:rPr lang="en-US"/>
              <a:t>MMIO is common in embedded systems.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Data Transfer Method</a:t>
            </a:r>
            <a:br>
              <a:rPr lang="en-US"/>
            </a:br>
            <a:r>
              <a:rPr lang="en-US"/>
              <a:t>(Communication to IO devices)</a:t>
            </a:r>
            <a:endParaRPr/>
          </a:p>
        </p:txBody>
      </p:sp>
      <p:sp>
        <p:nvSpPr>
          <p:cNvPr id="246" name="Google Shape;246;p15"/>
          <p:cNvSpPr txBox="1"/>
          <p:nvPr>
            <p:ph idx="1" type="body"/>
          </p:nvPr>
        </p:nvSpPr>
        <p:spPr>
          <a:xfrm>
            <a:off x="677334" y="2160589"/>
            <a:ext cx="6829252"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Who moves the data?</a:t>
            </a:r>
            <a:endParaRPr/>
          </a:p>
          <a:p>
            <a:pPr indent="-342900" lvl="0" marL="342900" rtl="0" algn="l">
              <a:spcBef>
                <a:spcPts val="1000"/>
              </a:spcBef>
              <a:spcAft>
                <a:spcPts val="0"/>
              </a:spcAft>
              <a:buSzPts val="1440"/>
              <a:buChar char="►"/>
            </a:pPr>
            <a:r>
              <a:rPr lang="en-US"/>
              <a:t>There are three types:</a:t>
            </a:r>
            <a:endParaRPr/>
          </a:p>
          <a:p>
            <a:pPr indent="-342900" lvl="0" marL="342900" rtl="0" algn="l">
              <a:spcBef>
                <a:spcPts val="1000"/>
              </a:spcBef>
              <a:spcAft>
                <a:spcPts val="0"/>
              </a:spcAft>
              <a:buSzPts val="1440"/>
              <a:buFont typeface="Trebuchet MS"/>
              <a:buAutoNum type="arabicPeriod"/>
            </a:pPr>
            <a:r>
              <a:rPr b="1" lang="en-US"/>
              <a:t>Programmed / Polled I/O: </a:t>
            </a:r>
            <a:r>
              <a:rPr lang="en-US"/>
              <a:t>CPU continuously checks device status and transfers data</a:t>
            </a:r>
            <a:endParaRPr/>
          </a:p>
          <a:p>
            <a:pPr indent="-342900" lvl="0" marL="342900" rtl="0" algn="l">
              <a:spcBef>
                <a:spcPts val="1000"/>
              </a:spcBef>
              <a:spcAft>
                <a:spcPts val="0"/>
              </a:spcAft>
              <a:buSzPts val="1440"/>
              <a:buFont typeface="Trebuchet MS"/>
              <a:buAutoNum type="arabicPeriod"/>
            </a:pPr>
            <a:r>
              <a:rPr b="1" lang="en-US"/>
              <a:t>Interrupt-driven I/O: </a:t>
            </a:r>
            <a:r>
              <a:rPr lang="en-US"/>
              <a:t>CPU transfers data only after device sends interrupt     </a:t>
            </a:r>
            <a:endParaRPr/>
          </a:p>
          <a:p>
            <a:pPr indent="-342900" lvl="0" marL="342900" rtl="0" algn="l">
              <a:spcBef>
                <a:spcPts val="1000"/>
              </a:spcBef>
              <a:spcAft>
                <a:spcPts val="0"/>
              </a:spcAft>
              <a:buSzPts val="1440"/>
              <a:buFont typeface="Trebuchet MS"/>
              <a:buAutoNum type="arabicPeriod"/>
            </a:pPr>
            <a:r>
              <a:rPr b="1" lang="en-US"/>
              <a:t>Direct Memory Access (DMA):  </a:t>
            </a:r>
            <a:r>
              <a:rPr lang="en-US"/>
              <a:t>DMA controller transfers data directly, CPU free</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Polled IO (Programmed IO)</a:t>
            </a:r>
            <a:endParaRPr/>
          </a:p>
        </p:txBody>
      </p:sp>
      <p:sp>
        <p:nvSpPr>
          <p:cNvPr id="253" name="Google Shape;253;p1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Polled I/O is an input/output technique in which the CPU repeatedly checks the status of an I/O device to determine whether it is ready to perform a data transfer. </a:t>
            </a:r>
            <a:endParaRPr/>
          </a:p>
          <a:p>
            <a:pPr indent="-342900" lvl="0" marL="342900" rtl="0" algn="l">
              <a:spcBef>
                <a:spcPts val="1000"/>
              </a:spcBef>
              <a:spcAft>
                <a:spcPts val="0"/>
              </a:spcAft>
              <a:buSzPts val="1440"/>
              <a:buChar char="►"/>
            </a:pPr>
            <a:r>
              <a:rPr lang="en-US"/>
              <a:t>The CPU remains actively involved during the entire I/O operation.</a:t>
            </a:r>
            <a:endParaRPr/>
          </a:p>
          <a:p>
            <a:pPr indent="-342900" lvl="0" marL="342900" rtl="0" algn="l">
              <a:spcBef>
                <a:spcPts val="1000"/>
              </a:spcBef>
              <a:spcAft>
                <a:spcPts val="0"/>
              </a:spcAft>
              <a:buSzPts val="1440"/>
              <a:buChar char="►"/>
            </a:pPr>
            <a:r>
              <a:rPr b="1" lang="en-US"/>
              <a:t>Characteristics of Polled I/O:</a:t>
            </a:r>
            <a:endParaRPr/>
          </a:p>
          <a:p>
            <a:pPr indent="-285750" lvl="1" marL="742950" rtl="0" algn="l">
              <a:spcBef>
                <a:spcPts val="1000"/>
              </a:spcBef>
              <a:spcAft>
                <a:spcPts val="0"/>
              </a:spcAft>
              <a:buSzPts val="1280"/>
              <a:buChar char="►"/>
            </a:pPr>
            <a:r>
              <a:rPr lang="en-US"/>
              <a:t>CPU continuously monitors the device</a:t>
            </a:r>
            <a:endParaRPr/>
          </a:p>
          <a:p>
            <a:pPr indent="-285750" lvl="1" marL="742950" rtl="0" algn="l">
              <a:spcBef>
                <a:spcPts val="1000"/>
              </a:spcBef>
              <a:spcAft>
                <a:spcPts val="0"/>
              </a:spcAft>
              <a:buSzPts val="1280"/>
              <a:buChar char="►"/>
            </a:pPr>
            <a:r>
              <a:rPr lang="en-US"/>
              <a:t>No interrupts are used</a:t>
            </a:r>
            <a:endParaRPr/>
          </a:p>
          <a:p>
            <a:pPr indent="-285750" lvl="1" marL="742950" rtl="0" algn="l">
              <a:spcBef>
                <a:spcPts val="1000"/>
              </a:spcBef>
              <a:spcAft>
                <a:spcPts val="0"/>
              </a:spcAft>
              <a:buSzPts val="1280"/>
              <a:buChar char="►"/>
            </a:pPr>
            <a:r>
              <a:rPr lang="en-US"/>
              <a:t>Simple control mechanism</a:t>
            </a:r>
            <a:endParaRPr/>
          </a:p>
          <a:p>
            <a:pPr indent="-285750" lvl="1" marL="742950" rtl="0" algn="l">
              <a:spcBef>
                <a:spcPts val="1000"/>
              </a:spcBef>
              <a:spcAft>
                <a:spcPts val="0"/>
              </a:spcAft>
              <a:buSzPts val="1280"/>
              <a:buChar char="►"/>
            </a:pPr>
            <a:r>
              <a:rPr lang="en-US"/>
              <a:t>CPU remains blocked until I/O completes</a:t>
            </a:r>
            <a:endParaRPr/>
          </a:p>
        </p:txBody>
      </p:sp>
      <p:sp>
        <p:nvSpPr>
          <p:cNvPr id="254" name="Google Shape;254;p16"/>
          <p:cNvSpPr txBox="1"/>
          <p:nvPr/>
        </p:nvSpPr>
        <p:spPr>
          <a:xfrm>
            <a:off x="6263640" y="4100975"/>
            <a:ext cx="4777740" cy="230614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t/>
            </a:r>
            <a:endParaRPr b="0" i="0" sz="18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Working of Polled IO</a:t>
            </a:r>
            <a:endParaRPr/>
          </a:p>
        </p:txBody>
      </p:sp>
      <p:sp>
        <p:nvSpPr>
          <p:cNvPr id="261" name="Google Shape;261;p17"/>
          <p:cNvSpPr txBox="1"/>
          <p:nvPr>
            <p:ph idx="1" type="body"/>
          </p:nvPr>
        </p:nvSpPr>
        <p:spPr>
          <a:xfrm>
            <a:off x="677334" y="2160589"/>
            <a:ext cx="4489026"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Font typeface="Trebuchet MS"/>
              <a:buAutoNum type="arabicPeriod"/>
            </a:pPr>
            <a:r>
              <a:rPr lang="en-US"/>
              <a:t>The CPU issues an I/O command to the device controller.</a:t>
            </a:r>
            <a:endParaRPr/>
          </a:p>
          <a:p>
            <a:pPr indent="-342900" lvl="0" marL="342900" rtl="0" algn="l">
              <a:spcBef>
                <a:spcPts val="1000"/>
              </a:spcBef>
              <a:spcAft>
                <a:spcPts val="0"/>
              </a:spcAft>
              <a:buSzPts val="1440"/>
              <a:buFont typeface="Trebuchet MS"/>
              <a:buAutoNum type="arabicPeriod"/>
            </a:pPr>
            <a:r>
              <a:rPr lang="en-US"/>
              <a:t>The CPU continuously checks (polls) the status register of the device.</a:t>
            </a:r>
            <a:endParaRPr/>
          </a:p>
          <a:p>
            <a:pPr indent="-342900" lvl="0" marL="342900" rtl="0" algn="l">
              <a:spcBef>
                <a:spcPts val="1000"/>
              </a:spcBef>
              <a:spcAft>
                <a:spcPts val="0"/>
              </a:spcAft>
              <a:buSzPts val="1440"/>
              <a:buFont typeface="Trebuchet MS"/>
              <a:buAutoNum type="arabicPeriod"/>
            </a:pPr>
            <a:r>
              <a:rPr lang="en-US"/>
              <a:t>If the device is busy, the CPU keeps waiting (busy waiting).</a:t>
            </a:r>
            <a:endParaRPr/>
          </a:p>
          <a:p>
            <a:pPr indent="-342900" lvl="0" marL="342900" rtl="0" algn="l">
              <a:spcBef>
                <a:spcPts val="1000"/>
              </a:spcBef>
              <a:spcAft>
                <a:spcPts val="0"/>
              </a:spcAft>
              <a:buSzPts val="1440"/>
              <a:buFont typeface="Trebuchet MS"/>
              <a:buAutoNum type="arabicPeriod"/>
            </a:pPr>
            <a:r>
              <a:rPr lang="en-US"/>
              <a:t>When the device becomes ready, the CPU transfers data.</a:t>
            </a:r>
            <a:endParaRPr/>
          </a:p>
          <a:p>
            <a:pPr indent="-342900" lvl="0" marL="342900" rtl="0" algn="l">
              <a:spcBef>
                <a:spcPts val="1000"/>
              </a:spcBef>
              <a:spcAft>
                <a:spcPts val="0"/>
              </a:spcAft>
              <a:buSzPts val="1440"/>
              <a:buFont typeface="Trebuchet MS"/>
              <a:buAutoNum type="arabicPeriod"/>
            </a:pPr>
            <a:r>
              <a:rPr lang="en-US"/>
              <a:t>The operation ends after successful data transfer.</a:t>
            </a:r>
            <a:endParaRPr/>
          </a:p>
        </p:txBody>
      </p:sp>
      <p:pic>
        <p:nvPicPr>
          <p:cNvPr descr="Polling and Interrupts" id="262" name="Google Shape;262;p17"/>
          <p:cNvPicPr preferRelativeResize="0"/>
          <p:nvPr/>
        </p:nvPicPr>
        <p:blipFill rotWithShape="1">
          <a:blip r:embed="rId3">
            <a:alphaModFix/>
          </a:blip>
          <a:srcRect b="0" l="0" r="0" t="0"/>
          <a:stretch/>
        </p:blipFill>
        <p:spPr>
          <a:xfrm>
            <a:off x="5919297" y="334310"/>
            <a:ext cx="3354705" cy="61893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Applications</a:t>
            </a:r>
            <a:endParaRPr/>
          </a:p>
        </p:txBody>
      </p:sp>
      <p:sp>
        <p:nvSpPr>
          <p:cNvPr id="268" name="Google Shape;268;p1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Simple embedded systems</a:t>
            </a:r>
            <a:endParaRPr/>
          </a:p>
          <a:p>
            <a:pPr indent="-342900" lvl="0" marL="342900" rtl="0" algn="l">
              <a:spcBef>
                <a:spcPts val="1000"/>
              </a:spcBef>
              <a:spcAft>
                <a:spcPts val="0"/>
              </a:spcAft>
              <a:buSzPts val="1440"/>
              <a:buChar char="►"/>
            </a:pPr>
            <a:r>
              <a:rPr lang="en-US"/>
              <a:t>Microcontrollers</a:t>
            </a:r>
            <a:endParaRPr/>
          </a:p>
          <a:p>
            <a:pPr indent="-342900" lvl="0" marL="342900" rtl="0" algn="l">
              <a:spcBef>
                <a:spcPts val="1000"/>
              </a:spcBef>
              <a:spcAft>
                <a:spcPts val="0"/>
              </a:spcAft>
              <a:buSzPts val="1440"/>
              <a:buChar char="►"/>
            </a:pPr>
            <a:r>
              <a:rPr lang="en-US"/>
              <a:t>Devices requiring frequent checking</a:t>
            </a:r>
            <a:endParaRPr/>
          </a:p>
          <a:p>
            <a:pPr indent="-342900" lvl="0" marL="342900" rtl="0" algn="l">
              <a:spcBef>
                <a:spcPts val="1000"/>
              </a:spcBef>
              <a:spcAft>
                <a:spcPts val="0"/>
              </a:spcAft>
              <a:buSzPts val="1440"/>
              <a:buChar char="►"/>
            </a:pPr>
            <a:r>
              <a:rPr lang="en-US"/>
              <a:t>Systems with few I/O devices</a:t>
            </a:r>
            <a:endParaRPr/>
          </a:p>
          <a:p>
            <a:pPr indent="-251459" lvl="0" marL="342900" rtl="0" algn="l">
              <a:spcBef>
                <a:spcPts val="1000"/>
              </a:spcBef>
              <a:spcAft>
                <a:spcPts val="0"/>
              </a:spcAft>
              <a:buSzPts val="1440"/>
              <a:buNone/>
            </a:pPr>
            <a:r>
              <a:t/>
            </a:r>
            <a:endParaRPr/>
          </a:p>
        </p:txBody>
      </p:sp>
      <p:pic>
        <p:nvPicPr>
          <p:cNvPr descr="Programmed I/O - VCMOS" id="269" name="Google Shape;269;p18"/>
          <p:cNvPicPr preferRelativeResize="0"/>
          <p:nvPr/>
        </p:nvPicPr>
        <p:blipFill rotWithShape="1">
          <a:blip r:embed="rId3">
            <a:alphaModFix/>
          </a:blip>
          <a:srcRect b="0" l="0" r="0" t="0"/>
          <a:stretch/>
        </p:blipFill>
        <p:spPr>
          <a:xfrm>
            <a:off x="3200252" y="3797300"/>
            <a:ext cx="8470900" cy="3060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Advantages  and Disadvantages</a:t>
            </a:r>
            <a:endParaRPr/>
          </a:p>
        </p:txBody>
      </p:sp>
      <p:sp>
        <p:nvSpPr>
          <p:cNvPr id="276" name="Google Shape;276;p19"/>
          <p:cNvSpPr txBox="1"/>
          <p:nvPr>
            <p:ph idx="1" type="body"/>
          </p:nvPr>
        </p:nvSpPr>
        <p:spPr>
          <a:xfrm>
            <a:off x="677334" y="2160589"/>
            <a:ext cx="4630162"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a:t>Advantages</a:t>
            </a:r>
            <a:endParaRPr/>
          </a:p>
          <a:p>
            <a:pPr indent="-342900" lvl="0" marL="342900" rtl="0" algn="l">
              <a:spcBef>
                <a:spcPts val="1000"/>
              </a:spcBef>
              <a:spcAft>
                <a:spcPts val="0"/>
              </a:spcAft>
              <a:buSzPts val="1440"/>
              <a:buChar char="►"/>
            </a:pPr>
            <a:r>
              <a:rPr b="1" lang="en-US"/>
              <a:t>Simple implementation</a:t>
            </a:r>
            <a:endParaRPr/>
          </a:p>
          <a:p>
            <a:pPr indent="-285750" lvl="1" marL="742950" rtl="0" algn="l">
              <a:spcBef>
                <a:spcPts val="1000"/>
              </a:spcBef>
              <a:spcAft>
                <a:spcPts val="0"/>
              </a:spcAft>
              <a:buSzPts val="1280"/>
              <a:buChar char="►"/>
            </a:pPr>
            <a:r>
              <a:rPr lang="en-US"/>
              <a:t>Easy hardware and software design</a:t>
            </a:r>
            <a:endParaRPr/>
          </a:p>
          <a:p>
            <a:pPr indent="-342900" lvl="0" marL="342900" rtl="0" algn="l">
              <a:spcBef>
                <a:spcPts val="1000"/>
              </a:spcBef>
              <a:spcAft>
                <a:spcPts val="0"/>
              </a:spcAft>
              <a:buSzPts val="1440"/>
              <a:buChar char="►"/>
            </a:pPr>
            <a:r>
              <a:rPr b="1" lang="en-US"/>
              <a:t>Predictable behavior</a:t>
            </a:r>
            <a:endParaRPr/>
          </a:p>
          <a:p>
            <a:pPr indent="-285750" lvl="1" marL="742950" rtl="0" algn="l">
              <a:spcBef>
                <a:spcPts val="1000"/>
              </a:spcBef>
              <a:spcAft>
                <a:spcPts val="0"/>
              </a:spcAft>
              <a:buSzPts val="1280"/>
              <a:buChar char="►"/>
            </a:pPr>
            <a:r>
              <a:rPr lang="en-US"/>
              <a:t>Useful for real-time or embedded systems</a:t>
            </a:r>
            <a:endParaRPr/>
          </a:p>
          <a:p>
            <a:pPr indent="-342900" lvl="0" marL="342900" rtl="0" algn="l">
              <a:spcBef>
                <a:spcPts val="1000"/>
              </a:spcBef>
              <a:spcAft>
                <a:spcPts val="0"/>
              </a:spcAft>
              <a:buSzPts val="1440"/>
              <a:buChar char="►"/>
            </a:pPr>
            <a:r>
              <a:rPr b="1" lang="en-US"/>
              <a:t>No interrupt overhead</a:t>
            </a:r>
            <a:endParaRPr/>
          </a:p>
          <a:p>
            <a:pPr indent="-285750" lvl="1" marL="742950" rtl="0" algn="l">
              <a:spcBef>
                <a:spcPts val="1000"/>
              </a:spcBef>
              <a:spcAft>
                <a:spcPts val="0"/>
              </a:spcAft>
              <a:buSzPts val="1280"/>
              <a:buChar char="►"/>
            </a:pPr>
            <a:r>
              <a:rPr lang="en-US"/>
              <a:t>Eliminates context switching due to interrupts</a:t>
            </a:r>
            <a:endParaRPr/>
          </a:p>
          <a:p>
            <a:pPr indent="0" lvl="0" marL="0" rtl="0" algn="l">
              <a:spcBef>
                <a:spcPts val="1000"/>
              </a:spcBef>
              <a:spcAft>
                <a:spcPts val="0"/>
              </a:spcAft>
              <a:buSzPts val="1440"/>
              <a:buNone/>
            </a:pPr>
            <a:r>
              <a:t/>
            </a:r>
            <a:endParaRPr/>
          </a:p>
        </p:txBody>
      </p:sp>
      <p:sp>
        <p:nvSpPr>
          <p:cNvPr id="277" name="Google Shape;277;p19"/>
          <p:cNvSpPr txBox="1"/>
          <p:nvPr/>
        </p:nvSpPr>
        <p:spPr>
          <a:xfrm>
            <a:off x="5466522" y="2160588"/>
            <a:ext cx="3807480"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i="0" lang="en-US" sz="1800" u="none" cap="none" strike="noStrike">
                <a:solidFill>
                  <a:srgbClr val="3F3F3F"/>
                </a:solidFill>
                <a:latin typeface="Trebuchet MS"/>
                <a:ea typeface="Trebuchet MS"/>
                <a:cs typeface="Trebuchet MS"/>
                <a:sym typeface="Trebuchet MS"/>
              </a:rPr>
              <a:t>Disadvantages</a:t>
            </a:r>
            <a:endParaRPr/>
          </a:p>
          <a:p>
            <a:pPr indent="-342900" lvl="0" marL="342900" marR="0" rtl="0" algn="l">
              <a:spcBef>
                <a:spcPts val="1000"/>
              </a:spcBef>
              <a:spcAft>
                <a:spcPts val="0"/>
              </a:spcAft>
              <a:buClr>
                <a:schemeClr val="accent1"/>
              </a:buClr>
              <a:buSzPts val="1440"/>
              <a:buFont typeface="Noto Sans Symbols"/>
              <a:buChar char="►"/>
            </a:pPr>
            <a:r>
              <a:rPr b="1" i="0" lang="en-US" sz="1800" u="none" cap="none" strike="noStrike">
                <a:solidFill>
                  <a:srgbClr val="3F3F3F"/>
                </a:solidFill>
                <a:latin typeface="Trebuchet MS"/>
                <a:ea typeface="Trebuchet MS"/>
                <a:cs typeface="Trebuchet MS"/>
                <a:sym typeface="Trebuchet MS"/>
              </a:rPr>
              <a:t>Wastes CPU time</a:t>
            </a:r>
            <a:endParaRPr b="0" i="0" sz="1800" u="none" cap="none" strike="noStrike">
              <a:solidFill>
                <a:srgbClr val="3F3F3F"/>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CPU is idle while polling</a:t>
            </a:r>
            <a:endParaRPr/>
          </a:p>
          <a:p>
            <a:pPr indent="-342900" lvl="0" marL="342900" marR="0" rtl="0" algn="l">
              <a:spcBef>
                <a:spcPts val="1000"/>
              </a:spcBef>
              <a:spcAft>
                <a:spcPts val="0"/>
              </a:spcAft>
              <a:buClr>
                <a:schemeClr val="accent1"/>
              </a:buClr>
              <a:buSzPts val="1440"/>
              <a:buFont typeface="Noto Sans Symbols"/>
              <a:buChar char="►"/>
            </a:pPr>
            <a:r>
              <a:rPr b="1" i="0" lang="en-US" sz="1800" u="none" cap="none" strike="noStrike">
                <a:solidFill>
                  <a:srgbClr val="3F3F3F"/>
                </a:solidFill>
                <a:latin typeface="Trebuchet MS"/>
                <a:ea typeface="Trebuchet MS"/>
                <a:cs typeface="Trebuchet MS"/>
                <a:sym typeface="Trebuchet MS"/>
              </a:rPr>
              <a:t>Poor performance</a:t>
            </a:r>
            <a:endParaRPr b="0" i="0" sz="1800" u="none" cap="none" strike="noStrike">
              <a:solidFill>
                <a:srgbClr val="3F3F3F"/>
              </a:solidFill>
              <a:latin typeface="Trebuchet MS"/>
              <a:ea typeface="Trebuchet MS"/>
              <a:cs typeface="Trebuchet MS"/>
              <a:sym typeface="Trebuchet MS"/>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Trebuchet MS"/>
                <a:ea typeface="Trebuchet MS"/>
                <a:cs typeface="Trebuchet MS"/>
                <a:sym typeface="Trebuchet MS"/>
              </a:rPr>
              <a:t>Inefficient for slow devices</a:t>
            </a:r>
            <a:endParaRPr/>
          </a:p>
          <a:p>
            <a:pPr indent="-342900" lvl="0" marL="342900" marR="0" rtl="0" algn="l">
              <a:spcBef>
                <a:spcPts val="1000"/>
              </a:spcBef>
              <a:spcAft>
                <a:spcPts val="0"/>
              </a:spcAft>
              <a:buClr>
                <a:schemeClr val="accent1"/>
              </a:buClr>
              <a:buSzPts val="1440"/>
              <a:buFont typeface="Noto Sans Symbols"/>
              <a:buChar char="►"/>
            </a:pPr>
            <a:r>
              <a:rPr b="1" i="0" lang="en-US" sz="1800" u="none" cap="none" strike="noStrike">
                <a:solidFill>
                  <a:srgbClr val="3F3F3F"/>
                </a:solidFill>
                <a:latin typeface="Trebuchet MS"/>
                <a:ea typeface="Trebuchet MS"/>
                <a:cs typeface="Trebuchet MS"/>
                <a:sym typeface="Trebuchet MS"/>
              </a:rPr>
              <a:t>Not suitable for multitasking systems</a:t>
            </a:r>
            <a:endParaRPr b="0" i="0" sz="1800" u="none" cap="none" strike="noStrike">
              <a:solidFill>
                <a:srgbClr val="3F3F3F"/>
              </a:solidFill>
              <a:latin typeface="Trebuchet MS"/>
              <a:ea typeface="Trebuchet MS"/>
              <a:cs typeface="Trebuchet MS"/>
              <a:sym typeface="Trebuchet MS"/>
            </a:endParaRPr>
          </a:p>
          <a:p>
            <a:pPr indent="-251459" lvl="0" marL="342900" marR="0" rtl="0" algn="l">
              <a:spcBef>
                <a:spcPts val="1000"/>
              </a:spcBef>
              <a:spcAft>
                <a:spcPts val="0"/>
              </a:spcAft>
              <a:buClr>
                <a:schemeClr val="accent1"/>
              </a:buClr>
              <a:buSzPts val="1440"/>
              <a:buFont typeface="Noto Sans Symbols"/>
              <a:buNone/>
            </a:pPr>
            <a:r>
              <a:t/>
            </a:r>
            <a:endParaRPr b="0" i="0" sz="18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descr="Lightbox" id="283" name="Google Shape;283;p20"/>
          <p:cNvPicPr preferRelativeResize="0"/>
          <p:nvPr/>
        </p:nvPicPr>
        <p:blipFill rotWithShape="1">
          <a:blip r:embed="rId3">
            <a:alphaModFix/>
          </a:blip>
          <a:srcRect b="0" l="0" r="0" t="0"/>
          <a:stretch/>
        </p:blipFill>
        <p:spPr>
          <a:xfrm>
            <a:off x="438280" y="1258841"/>
            <a:ext cx="8069317" cy="5426668"/>
          </a:xfrm>
          <a:prstGeom prst="rect">
            <a:avLst/>
          </a:prstGeom>
          <a:noFill/>
          <a:ln>
            <a:noFill/>
          </a:ln>
        </p:spPr>
      </p:pic>
      <p:sp>
        <p:nvSpPr>
          <p:cNvPr id="284" name="Google Shape;284;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Interrupt Driven IO</a:t>
            </a:r>
            <a:endParaRPr/>
          </a:p>
        </p:txBody>
      </p:sp>
      <p:sp>
        <p:nvSpPr>
          <p:cNvPr id="285" name="Google Shape;285;p20"/>
          <p:cNvSpPr txBox="1"/>
          <p:nvPr>
            <p:ph idx="1" type="body"/>
          </p:nvPr>
        </p:nvSpPr>
        <p:spPr>
          <a:xfrm>
            <a:off x="4632959" y="4308013"/>
            <a:ext cx="6499861"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It is a signal emitted by hardware or software when a process or an event needs immediate attention. </a:t>
            </a:r>
            <a:endParaRPr/>
          </a:p>
          <a:p>
            <a:pPr indent="-342900" lvl="0" marL="342900" rtl="0" algn="l">
              <a:spcBef>
                <a:spcPts val="1000"/>
              </a:spcBef>
              <a:spcAft>
                <a:spcPts val="0"/>
              </a:spcAft>
              <a:buSzPts val="1440"/>
              <a:buChar char="►"/>
            </a:pPr>
            <a:r>
              <a:rPr lang="en-US"/>
              <a:t>It alerts the processor to a high-priority process requiring interruption of the current working process. </a:t>
            </a:r>
            <a:endParaRPr/>
          </a:p>
          <a:p>
            <a:pPr indent="-342900" lvl="0" marL="342900" rtl="0" algn="l">
              <a:spcBef>
                <a:spcPts val="1000"/>
              </a:spcBef>
              <a:spcAft>
                <a:spcPts val="0"/>
              </a:spcAft>
              <a:buSzPts val="1440"/>
              <a:buChar char="►"/>
            </a:pPr>
            <a:r>
              <a:rPr lang="en-US"/>
              <a:t>dedicated control line  is called the Interrupt Service Routine (ISR).</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1"/>
          <p:cNvSpPr txBox="1"/>
          <p:nvPr>
            <p:ph type="title"/>
          </p:nvPr>
        </p:nvSpPr>
        <p:spPr>
          <a:xfrm>
            <a:off x="4975668" y="394495"/>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Interrupt Controller</a:t>
            </a:r>
            <a:endParaRPr/>
          </a:p>
        </p:txBody>
      </p:sp>
      <p:sp>
        <p:nvSpPr>
          <p:cNvPr id="292" name="Google Shape;292;p21"/>
          <p:cNvSpPr txBox="1"/>
          <p:nvPr>
            <p:ph idx="1" type="body"/>
          </p:nvPr>
        </p:nvSpPr>
        <p:spPr>
          <a:xfrm>
            <a:off x="826190" y="4917613"/>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Manages </a:t>
            </a:r>
            <a:r>
              <a:rPr b="1" lang="en-US"/>
              <a:t>interrupt requests (IRQs)</a:t>
            </a:r>
            <a:r>
              <a:rPr lang="en-US"/>
              <a:t> generated by I/O devices and delivers them to the </a:t>
            </a:r>
            <a:r>
              <a:rPr b="1" lang="en-US"/>
              <a:t>CPU in an organized and prioritized manner</a:t>
            </a:r>
            <a:r>
              <a:rPr lang="en-US"/>
              <a:t>.</a:t>
            </a:r>
            <a:endParaRPr/>
          </a:p>
          <a:p>
            <a:pPr indent="-342900" lvl="0" marL="342900" rtl="0" algn="l">
              <a:spcBef>
                <a:spcPts val="1000"/>
              </a:spcBef>
              <a:spcAft>
                <a:spcPts val="0"/>
              </a:spcAft>
              <a:buSzPts val="1440"/>
              <a:buChar char="►"/>
            </a:pPr>
            <a:r>
              <a:rPr lang="en-US"/>
              <a:t>It acts as an </a:t>
            </a:r>
            <a:r>
              <a:rPr b="1" lang="en-US"/>
              <a:t>intermediate unit</a:t>
            </a:r>
            <a:r>
              <a:rPr lang="en-US"/>
              <a:t> between interrupt-generating devices and the processor</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pic>
        <p:nvPicPr>
          <p:cNvPr descr="What is Interrupt in OS" id="293" name="Google Shape;293;p21"/>
          <p:cNvPicPr preferRelativeResize="0"/>
          <p:nvPr/>
        </p:nvPicPr>
        <p:blipFill rotWithShape="1">
          <a:blip r:embed="rId3">
            <a:alphaModFix/>
          </a:blip>
          <a:srcRect b="0" l="0" r="0" t="0"/>
          <a:stretch/>
        </p:blipFill>
        <p:spPr>
          <a:xfrm>
            <a:off x="1140039" y="1715295"/>
            <a:ext cx="7671258" cy="26283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Interrupt</a:t>
            </a:r>
            <a:endParaRPr/>
          </a:p>
        </p:txBody>
      </p:sp>
      <p:grpSp>
        <p:nvGrpSpPr>
          <p:cNvPr id="300" name="Google Shape;300;p22"/>
          <p:cNvGrpSpPr/>
          <p:nvPr/>
        </p:nvGrpSpPr>
        <p:grpSpPr>
          <a:xfrm>
            <a:off x="680785" y="2059496"/>
            <a:ext cx="8948860" cy="3852771"/>
            <a:chOff x="3451" y="129095"/>
            <a:chExt cx="8948860" cy="3852771"/>
          </a:xfrm>
        </p:grpSpPr>
        <p:sp>
          <p:nvSpPr>
            <p:cNvPr id="301" name="Google Shape;301;p22"/>
            <p:cNvSpPr/>
            <p:nvPr/>
          </p:nvSpPr>
          <p:spPr>
            <a:xfrm>
              <a:off x="6025201" y="1901663"/>
              <a:ext cx="335806" cy="1713970"/>
            </a:xfrm>
            <a:custGeom>
              <a:rect b="b" l="l" r="r" t="t"/>
              <a:pathLst>
                <a:path extrusionOk="0" h="120000" w="120000">
                  <a:moveTo>
                    <a:pt x="0" y="0"/>
                  </a:moveTo>
                  <a:lnTo>
                    <a:pt x="0" y="120000"/>
                  </a:lnTo>
                  <a:lnTo>
                    <a:pt x="120000" y="120000"/>
                  </a:lnTo>
                </a:path>
              </a:pathLst>
            </a:custGeom>
            <a:noFill/>
            <a:ln cap="rnd" cmpd="sng" w="19050">
              <a:solidFill>
                <a:srgbClr val="90C223"/>
              </a:solidFill>
              <a:prstDash val="solid"/>
              <a:round/>
              <a:headEnd len="sm" w="sm" type="none"/>
              <a:tailEnd len="sm" w="sm" type="none"/>
            </a:ln>
          </p:spPr>
        </p:sp>
        <p:sp>
          <p:nvSpPr>
            <p:cNvPr id="302" name="Google Shape;302;p22"/>
            <p:cNvSpPr/>
            <p:nvPr/>
          </p:nvSpPr>
          <p:spPr>
            <a:xfrm>
              <a:off x="6025201" y="1901663"/>
              <a:ext cx="335806" cy="673868"/>
            </a:xfrm>
            <a:custGeom>
              <a:rect b="b" l="l" r="r" t="t"/>
              <a:pathLst>
                <a:path extrusionOk="0" h="120000" w="120000">
                  <a:moveTo>
                    <a:pt x="0" y="0"/>
                  </a:moveTo>
                  <a:lnTo>
                    <a:pt x="0" y="120000"/>
                  </a:lnTo>
                  <a:lnTo>
                    <a:pt x="120000" y="120000"/>
                  </a:lnTo>
                </a:path>
              </a:pathLst>
            </a:custGeom>
            <a:noFill/>
            <a:ln cap="rnd" cmpd="sng" w="19050">
              <a:solidFill>
                <a:srgbClr val="90C223"/>
              </a:solidFill>
              <a:prstDash val="solid"/>
              <a:round/>
              <a:headEnd len="sm" w="sm" type="none"/>
              <a:tailEnd len="sm" w="sm" type="none"/>
            </a:ln>
          </p:spPr>
        </p:sp>
        <p:sp>
          <p:nvSpPr>
            <p:cNvPr id="303" name="Google Shape;303;p22"/>
            <p:cNvSpPr/>
            <p:nvPr/>
          </p:nvSpPr>
          <p:spPr>
            <a:xfrm>
              <a:off x="4021746" y="861561"/>
              <a:ext cx="2898939" cy="307635"/>
            </a:xfrm>
            <a:custGeom>
              <a:rect b="b" l="l" r="r" t="t"/>
              <a:pathLst>
                <a:path extrusionOk="0" h="120000" w="120000">
                  <a:moveTo>
                    <a:pt x="0" y="0"/>
                  </a:moveTo>
                  <a:lnTo>
                    <a:pt x="0" y="60000"/>
                  </a:lnTo>
                  <a:lnTo>
                    <a:pt x="120000" y="60000"/>
                  </a:lnTo>
                  <a:lnTo>
                    <a:pt x="120000" y="120000"/>
                  </a:lnTo>
                </a:path>
              </a:pathLst>
            </a:custGeom>
            <a:noFill/>
            <a:ln cap="rnd" cmpd="sng" w="19050">
              <a:solidFill>
                <a:schemeClr val="accent6"/>
              </a:solidFill>
              <a:prstDash val="solid"/>
              <a:round/>
              <a:headEnd len="sm" w="sm" type="none"/>
              <a:tailEnd len="sm" w="sm" type="none"/>
            </a:ln>
          </p:spPr>
        </p:sp>
        <p:sp>
          <p:nvSpPr>
            <p:cNvPr id="304" name="Google Shape;304;p22"/>
            <p:cNvSpPr/>
            <p:nvPr/>
          </p:nvSpPr>
          <p:spPr>
            <a:xfrm>
              <a:off x="3126262" y="1901663"/>
              <a:ext cx="335806" cy="1713970"/>
            </a:xfrm>
            <a:custGeom>
              <a:rect b="b" l="l" r="r" t="t"/>
              <a:pathLst>
                <a:path extrusionOk="0" h="120000" w="120000">
                  <a:moveTo>
                    <a:pt x="0" y="0"/>
                  </a:moveTo>
                  <a:lnTo>
                    <a:pt x="0" y="120000"/>
                  </a:lnTo>
                  <a:lnTo>
                    <a:pt x="120000" y="120000"/>
                  </a:lnTo>
                </a:path>
              </a:pathLst>
            </a:custGeom>
            <a:noFill/>
            <a:ln cap="rnd" cmpd="sng" w="19050">
              <a:solidFill>
                <a:srgbClr val="90C223"/>
              </a:solidFill>
              <a:prstDash val="solid"/>
              <a:round/>
              <a:headEnd len="sm" w="sm" type="none"/>
              <a:tailEnd len="sm" w="sm" type="none"/>
            </a:ln>
          </p:spPr>
        </p:sp>
        <p:sp>
          <p:nvSpPr>
            <p:cNvPr id="305" name="Google Shape;305;p22"/>
            <p:cNvSpPr/>
            <p:nvPr/>
          </p:nvSpPr>
          <p:spPr>
            <a:xfrm>
              <a:off x="3126262" y="1901663"/>
              <a:ext cx="335806" cy="673868"/>
            </a:xfrm>
            <a:custGeom>
              <a:rect b="b" l="l" r="r" t="t"/>
              <a:pathLst>
                <a:path extrusionOk="0" h="120000" w="120000">
                  <a:moveTo>
                    <a:pt x="0" y="0"/>
                  </a:moveTo>
                  <a:lnTo>
                    <a:pt x="0" y="120000"/>
                  </a:lnTo>
                  <a:lnTo>
                    <a:pt x="120000" y="120000"/>
                  </a:lnTo>
                </a:path>
              </a:pathLst>
            </a:custGeom>
            <a:noFill/>
            <a:ln cap="rnd" cmpd="sng" w="19050">
              <a:solidFill>
                <a:srgbClr val="90C223"/>
              </a:solidFill>
              <a:prstDash val="solid"/>
              <a:round/>
              <a:headEnd len="sm" w="sm" type="none"/>
              <a:tailEnd len="sm" w="sm" type="none"/>
            </a:ln>
          </p:spPr>
        </p:sp>
        <p:sp>
          <p:nvSpPr>
            <p:cNvPr id="306" name="Google Shape;306;p22"/>
            <p:cNvSpPr/>
            <p:nvPr/>
          </p:nvSpPr>
          <p:spPr>
            <a:xfrm>
              <a:off x="3976026" y="861561"/>
              <a:ext cx="91440" cy="307635"/>
            </a:xfrm>
            <a:custGeom>
              <a:rect b="b" l="l" r="r" t="t"/>
              <a:pathLst>
                <a:path extrusionOk="0" h="120000" w="120000">
                  <a:moveTo>
                    <a:pt x="60000" y="0"/>
                  </a:moveTo>
                  <a:lnTo>
                    <a:pt x="60000" y="120000"/>
                  </a:lnTo>
                </a:path>
              </a:pathLst>
            </a:custGeom>
            <a:noFill/>
            <a:ln cap="rnd" cmpd="sng" w="19050">
              <a:solidFill>
                <a:schemeClr val="accent6"/>
              </a:solidFill>
              <a:prstDash val="solid"/>
              <a:round/>
              <a:headEnd len="sm" w="sm" type="none"/>
              <a:tailEnd len="sm" w="sm" type="none"/>
            </a:ln>
          </p:spPr>
        </p:sp>
        <p:sp>
          <p:nvSpPr>
            <p:cNvPr id="307" name="Google Shape;307;p22"/>
            <p:cNvSpPr/>
            <p:nvPr/>
          </p:nvSpPr>
          <p:spPr>
            <a:xfrm>
              <a:off x="227322" y="1901663"/>
              <a:ext cx="335806" cy="1713970"/>
            </a:xfrm>
            <a:custGeom>
              <a:rect b="b" l="l" r="r" t="t"/>
              <a:pathLst>
                <a:path extrusionOk="0" h="120000" w="120000">
                  <a:moveTo>
                    <a:pt x="0" y="0"/>
                  </a:moveTo>
                  <a:lnTo>
                    <a:pt x="0" y="120000"/>
                  </a:lnTo>
                  <a:lnTo>
                    <a:pt x="120000" y="120000"/>
                  </a:lnTo>
                </a:path>
              </a:pathLst>
            </a:custGeom>
            <a:noFill/>
            <a:ln cap="rnd" cmpd="sng" w="19050">
              <a:solidFill>
                <a:srgbClr val="90C223"/>
              </a:solidFill>
              <a:prstDash val="solid"/>
              <a:round/>
              <a:headEnd len="sm" w="sm" type="none"/>
              <a:tailEnd len="sm" w="sm" type="none"/>
            </a:ln>
          </p:spPr>
        </p:sp>
        <p:sp>
          <p:nvSpPr>
            <p:cNvPr id="308" name="Google Shape;308;p22"/>
            <p:cNvSpPr/>
            <p:nvPr/>
          </p:nvSpPr>
          <p:spPr>
            <a:xfrm>
              <a:off x="227322" y="1901663"/>
              <a:ext cx="335806" cy="673868"/>
            </a:xfrm>
            <a:custGeom>
              <a:rect b="b" l="l" r="r" t="t"/>
              <a:pathLst>
                <a:path extrusionOk="0" h="120000" w="120000">
                  <a:moveTo>
                    <a:pt x="0" y="0"/>
                  </a:moveTo>
                  <a:lnTo>
                    <a:pt x="0" y="120000"/>
                  </a:lnTo>
                  <a:lnTo>
                    <a:pt x="120000" y="120000"/>
                  </a:lnTo>
                </a:path>
              </a:pathLst>
            </a:custGeom>
            <a:noFill/>
            <a:ln cap="rnd" cmpd="sng" w="19050">
              <a:solidFill>
                <a:srgbClr val="90C223"/>
              </a:solidFill>
              <a:prstDash val="solid"/>
              <a:round/>
              <a:headEnd len="sm" w="sm" type="none"/>
              <a:tailEnd len="sm" w="sm" type="none"/>
            </a:ln>
          </p:spPr>
        </p:sp>
        <p:sp>
          <p:nvSpPr>
            <p:cNvPr id="309" name="Google Shape;309;p22"/>
            <p:cNvSpPr/>
            <p:nvPr/>
          </p:nvSpPr>
          <p:spPr>
            <a:xfrm>
              <a:off x="1122806" y="861561"/>
              <a:ext cx="2898939" cy="307635"/>
            </a:xfrm>
            <a:custGeom>
              <a:rect b="b" l="l" r="r" t="t"/>
              <a:pathLst>
                <a:path extrusionOk="0" h="120000" w="120000">
                  <a:moveTo>
                    <a:pt x="120000" y="0"/>
                  </a:moveTo>
                  <a:lnTo>
                    <a:pt x="120000" y="60000"/>
                  </a:lnTo>
                  <a:lnTo>
                    <a:pt x="0" y="60000"/>
                  </a:lnTo>
                  <a:lnTo>
                    <a:pt x="0" y="120000"/>
                  </a:lnTo>
                </a:path>
              </a:pathLst>
            </a:custGeom>
            <a:noFill/>
            <a:ln cap="rnd" cmpd="sng" w="19050">
              <a:solidFill>
                <a:schemeClr val="accent6"/>
              </a:solidFill>
              <a:prstDash val="solid"/>
              <a:round/>
              <a:headEnd len="sm" w="sm" type="none"/>
              <a:tailEnd len="sm" w="sm" type="none"/>
            </a:ln>
          </p:spPr>
        </p:sp>
        <p:sp>
          <p:nvSpPr>
            <p:cNvPr id="310" name="Google Shape;310;p22"/>
            <p:cNvSpPr/>
            <p:nvPr/>
          </p:nvSpPr>
          <p:spPr>
            <a:xfrm>
              <a:off x="2725493" y="129095"/>
              <a:ext cx="2592504" cy="732466"/>
            </a:xfrm>
            <a:prstGeom prst="rect">
              <a:avLst/>
            </a:prstGeom>
            <a:gradFill>
              <a:gsLst>
                <a:gs pos="0">
                  <a:srgbClr val="E8713E"/>
                </a:gs>
                <a:gs pos="78000">
                  <a:srgbClr val="D25D12"/>
                </a:gs>
                <a:gs pos="100000">
                  <a:srgbClr val="D25D12"/>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txBox="1"/>
            <p:nvPr/>
          </p:nvSpPr>
          <p:spPr>
            <a:xfrm>
              <a:off x="2725493" y="129095"/>
              <a:ext cx="2592504"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Types of interrupt</a:t>
              </a:r>
              <a:endParaRPr/>
            </a:p>
          </p:txBody>
        </p:sp>
        <p:sp>
          <p:nvSpPr>
            <p:cNvPr id="312" name="Google Shape;312;p22"/>
            <p:cNvSpPr/>
            <p:nvPr/>
          </p:nvSpPr>
          <p:spPr>
            <a:xfrm>
              <a:off x="3451" y="1169197"/>
              <a:ext cx="2238709" cy="732466"/>
            </a:xfrm>
            <a:prstGeom prst="rect">
              <a:avLst/>
            </a:prstGeom>
            <a:gradFill>
              <a:gsLst>
                <a:gs pos="0">
                  <a:srgbClr val="978D63"/>
                </a:gs>
                <a:gs pos="78000">
                  <a:srgbClr val="837A4D"/>
                </a:gs>
                <a:gs pos="100000">
                  <a:srgbClr val="837A4D"/>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txBox="1"/>
            <p:nvPr/>
          </p:nvSpPr>
          <p:spPr>
            <a:xfrm>
              <a:off x="3451" y="1169197"/>
              <a:ext cx="2238709"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Hardware interrupt</a:t>
              </a:r>
              <a:endParaRPr/>
            </a:p>
          </p:txBody>
        </p:sp>
        <p:sp>
          <p:nvSpPr>
            <p:cNvPr id="314" name="Google Shape;314;p22"/>
            <p:cNvSpPr/>
            <p:nvPr/>
          </p:nvSpPr>
          <p:spPr>
            <a:xfrm>
              <a:off x="563129" y="2209298"/>
              <a:ext cx="2591303" cy="732466"/>
            </a:xfrm>
            <a:prstGeom prst="rect">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txBox="1"/>
            <p:nvPr/>
          </p:nvSpPr>
          <p:spPr>
            <a:xfrm>
              <a:off x="563129" y="2209298"/>
              <a:ext cx="2591303"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Maskable </a:t>
              </a:r>
              <a:endParaRPr/>
            </a:p>
          </p:txBody>
        </p:sp>
        <p:sp>
          <p:nvSpPr>
            <p:cNvPr id="316" name="Google Shape;316;p22"/>
            <p:cNvSpPr/>
            <p:nvPr/>
          </p:nvSpPr>
          <p:spPr>
            <a:xfrm>
              <a:off x="563129" y="3249400"/>
              <a:ext cx="2591303" cy="732466"/>
            </a:xfrm>
            <a:prstGeom prst="rect">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txBox="1"/>
            <p:nvPr/>
          </p:nvSpPr>
          <p:spPr>
            <a:xfrm>
              <a:off x="563129" y="3249400"/>
              <a:ext cx="2591303"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Non maskable</a:t>
              </a:r>
              <a:endParaRPr/>
            </a:p>
          </p:txBody>
        </p:sp>
        <p:sp>
          <p:nvSpPr>
            <p:cNvPr id="318" name="Google Shape;318;p22"/>
            <p:cNvSpPr/>
            <p:nvPr/>
          </p:nvSpPr>
          <p:spPr>
            <a:xfrm>
              <a:off x="2902391" y="1169197"/>
              <a:ext cx="2238709" cy="732466"/>
            </a:xfrm>
            <a:prstGeom prst="rect">
              <a:avLst/>
            </a:prstGeom>
            <a:gradFill>
              <a:gsLst>
                <a:gs pos="0">
                  <a:srgbClr val="978D63"/>
                </a:gs>
                <a:gs pos="78000">
                  <a:srgbClr val="837A4D"/>
                </a:gs>
                <a:gs pos="100000">
                  <a:srgbClr val="837A4D"/>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txBox="1"/>
            <p:nvPr/>
          </p:nvSpPr>
          <p:spPr>
            <a:xfrm>
              <a:off x="2902391" y="1169197"/>
              <a:ext cx="2238709"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Software interrupt</a:t>
              </a:r>
              <a:endParaRPr/>
            </a:p>
          </p:txBody>
        </p:sp>
        <p:sp>
          <p:nvSpPr>
            <p:cNvPr id="320" name="Google Shape;320;p22"/>
            <p:cNvSpPr/>
            <p:nvPr/>
          </p:nvSpPr>
          <p:spPr>
            <a:xfrm>
              <a:off x="3462068" y="2209298"/>
              <a:ext cx="2591303" cy="732466"/>
            </a:xfrm>
            <a:prstGeom prst="rect">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txBox="1"/>
            <p:nvPr/>
          </p:nvSpPr>
          <p:spPr>
            <a:xfrm>
              <a:off x="3462068" y="2209298"/>
              <a:ext cx="2591303"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Normal interrupts</a:t>
              </a:r>
              <a:endParaRPr/>
            </a:p>
          </p:txBody>
        </p:sp>
        <p:sp>
          <p:nvSpPr>
            <p:cNvPr id="322" name="Google Shape;322;p22"/>
            <p:cNvSpPr/>
            <p:nvPr/>
          </p:nvSpPr>
          <p:spPr>
            <a:xfrm>
              <a:off x="3462068" y="3249400"/>
              <a:ext cx="2591303" cy="732466"/>
            </a:xfrm>
            <a:prstGeom prst="rect">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txBox="1"/>
            <p:nvPr/>
          </p:nvSpPr>
          <p:spPr>
            <a:xfrm>
              <a:off x="3462068" y="3249400"/>
              <a:ext cx="2591303"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Exceptions</a:t>
              </a:r>
              <a:endParaRPr/>
            </a:p>
          </p:txBody>
        </p:sp>
        <p:sp>
          <p:nvSpPr>
            <p:cNvPr id="324" name="Google Shape;324;p22"/>
            <p:cNvSpPr/>
            <p:nvPr/>
          </p:nvSpPr>
          <p:spPr>
            <a:xfrm>
              <a:off x="5801330" y="1169197"/>
              <a:ext cx="2238709" cy="732466"/>
            </a:xfrm>
            <a:prstGeom prst="rect">
              <a:avLst/>
            </a:prstGeom>
            <a:gradFill>
              <a:gsLst>
                <a:gs pos="0">
                  <a:srgbClr val="978D63"/>
                </a:gs>
                <a:gs pos="78000">
                  <a:srgbClr val="837A4D"/>
                </a:gs>
                <a:gs pos="100000">
                  <a:srgbClr val="837A4D"/>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txBox="1"/>
            <p:nvPr/>
          </p:nvSpPr>
          <p:spPr>
            <a:xfrm>
              <a:off x="5801330" y="1169197"/>
              <a:ext cx="2238709"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Other classifications</a:t>
              </a:r>
              <a:endParaRPr/>
            </a:p>
          </p:txBody>
        </p:sp>
        <p:sp>
          <p:nvSpPr>
            <p:cNvPr id="326" name="Google Shape;326;p22"/>
            <p:cNvSpPr/>
            <p:nvPr/>
          </p:nvSpPr>
          <p:spPr>
            <a:xfrm>
              <a:off x="6361008" y="2209298"/>
              <a:ext cx="2591303" cy="732466"/>
            </a:xfrm>
            <a:prstGeom prst="rect">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
            <p:cNvSpPr txBox="1"/>
            <p:nvPr/>
          </p:nvSpPr>
          <p:spPr>
            <a:xfrm>
              <a:off x="6361008" y="2209298"/>
              <a:ext cx="2591303"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External interrupts (due to IO devices)</a:t>
              </a:r>
              <a:endParaRPr/>
            </a:p>
          </p:txBody>
        </p:sp>
        <p:sp>
          <p:nvSpPr>
            <p:cNvPr id="328" name="Google Shape;328;p22"/>
            <p:cNvSpPr/>
            <p:nvPr/>
          </p:nvSpPr>
          <p:spPr>
            <a:xfrm>
              <a:off x="6361008" y="3249400"/>
              <a:ext cx="2591303" cy="732466"/>
            </a:xfrm>
            <a:prstGeom prst="rect">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txBox="1"/>
            <p:nvPr/>
          </p:nvSpPr>
          <p:spPr>
            <a:xfrm>
              <a:off x="6361008" y="3249400"/>
              <a:ext cx="2591303" cy="73246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Trebuchet MS"/>
                <a:buNone/>
              </a:pPr>
              <a:r>
                <a:rPr b="0" i="0" lang="en-US" sz="1600" u="none" cap="none" strike="noStrike">
                  <a:solidFill>
                    <a:schemeClr val="lt1"/>
                  </a:solidFill>
                  <a:latin typeface="Trebuchet MS"/>
                  <a:ea typeface="Trebuchet MS"/>
                  <a:cs typeface="Trebuchet MS"/>
                  <a:sym typeface="Trebuchet MS"/>
                </a:rPr>
                <a:t>Periodic/aperiodic</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Interrupt handling mechanism</a:t>
            </a:r>
            <a:endParaRPr/>
          </a:p>
        </p:txBody>
      </p:sp>
      <p:sp>
        <p:nvSpPr>
          <p:cNvPr id="336" name="Google Shape;336;p23"/>
          <p:cNvSpPr txBox="1"/>
          <p:nvPr>
            <p:ph idx="1" type="body"/>
          </p:nvPr>
        </p:nvSpPr>
        <p:spPr>
          <a:xfrm>
            <a:off x="677334" y="3680461"/>
            <a:ext cx="10477500" cy="3543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Devices raise an IRQ.</a:t>
            </a:r>
            <a:endParaRPr/>
          </a:p>
          <a:p>
            <a:pPr indent="-342900" lvl="0" marL="342900" rtl="0" algn="l">
              <a:spcBef>
                <a:spcPts val="1000"/>
              </a:spcBef>
              <a:spcAft>
                <a:spcPts val="0"/>
              </a:spcAft>
              <a:buSzPts val="1440"/>
              <a:buChar char="►"/>
            </a:pPr>
            <a:r>
              <a:rPr lang="en-US"/>
              <a:t>The processor interrupts the program currently being executed.</a:t>
            </a:r>
            <a:endParaRPr/>
          </a:p>
          <a:p>
            <a:pPr indent="-342900" lvl="0" marL="342900" rtl="0" algn="l">
              <a:spcBef>
                <a:spcPts val="1000"/>
              </a:spcBef>
              <a:spcAft>
                <a:spcPts val="0"/>
              </a:spcAft>
              <a:buSzPts val="1440"/>
              <a:buChar char="►"/>
            </a:pPr>
            <a:r>
              <a:rPr lang="en-US"/>
              <a:t>The device is informed that its request has been recognized and the device deactivates the request signal.</a:t>
            </a:r>
            <a:endParaRPr/>
          </a:p>
          <a:p>
            <a:pPr indent="-342900" lvl="0" marL="342900" rtl="0" algn="l">
              <a:spcBef>
                <a:spcPts val="1000"/>
              </a:spcBef>
              <a:spcAft>
                <a:spcPts val="0"/>
              </a:spcAft>
              <a:buSzPts val="1440"/>
              <a:buChar char="►"/>
            </a:pPr>
            <a:r>
              <a:rPr lang="en-US"/>
              <a:t>The requested action is performed.</a:t>
            </a:r>
            <a:endParaRPr/>
          </a:p>
          <a:p>
            <a:pPr indent="-342900" lvl="0" marL="342900" rtl="0" algn="l">
              <a:spcBef>
                <a:spcPts val="1000"/>
              </a:spcBef>
              <a:spcAft>
                <a:spcPts val="0"/>
              </a:spcAft>
              <a:buSzPts val="1440"/>
              <a:buChar char="►"/>
            </a:pPr>
            <a:r>
              <a:rPr lang="en-US"/>
              <a:t>An interrupt is enabled and the interrupted program is resumed</a:t>
            </a:r>
            <a:endParaRPr/>
          </a:p>
        </p:txBody>
      </p:sp>
      <p:pic>
        <p:nvPicPr>
          <p:cNvPr id="337" name="Google Shape;337;p23"/>
          <p:cNvPicPr preferRelativeResize="0"/>
          <p:nvPr/>
        </p:nvPicPr>
        <p:blipFill rotWithShape="1">
          <a:blip r:embed="rId3">
            <a:alphaModFix/>
          </a:blip>
          <a:srcRect b="0" l="0" r="0" t="0"/>
          <a:stretch/>
        </p:blipFill>
        <p:spPr>
          <a:xfrm>
            <a:off x="857250" y="995681"/>
            <a:ext cx="10477500" cy="3619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Polling Vs Interrupt</a:t>
            </a:r>
            <a:endParaRPr/>
          </a:p>
        </p:txBody>
      </p:sp>
      <p:graphicFrame>
        <p:nvGraphicFramePr>
          <p:cNvPr id="344" name="Google Shape;344;p24"/>
          <p:cNvGraphicFramePr/>
          <p:nvPr/>
        </p:nvGraphicFramePr>
        <p:xfrm>
          <a:off x="677334" y="1498600"/>
          <a:ext cx="3000000" cy="3000000"/>
        </p:xfrm>
        <a:graphic>
          <a:graphicData uri="http://schemas.openxmlformats.org/drawingml/2006/table">
            <a:tbl>
              <a:tblPr bandRow="1" firstRow="1">
                <a:noFill/>
                <a:tableStyleId>{41ACF7A9-66BB-41A0-8653-9AB85E6FF4AD}</a:tableStyleId>
              </a:tblPr>
              <a:tblGrid>
                <a:gridCol w="3446875"/>
                <a:gridCol w="3446875"/>
                <a:gridCol w="3446875"/>
              </a:tblGrid>
              <a:tr h="370850">
                <a:tc>
                  <a:txBody>
                    <a:bodyPr/>
                    <a:lstStyle/>
                    <a:p>
                      <a:pPr indent="0" lvl="0" marL="0" marR="0" rtl="0" algn="l">
                        <a:spcBef>
                          <a:spcPts val="0"/>
                        </a:spcBef>
                        <a:spcAft>
                          <a:spcPts val="0"/>
                        </a:spcAft>
                        <a:buClr>
                          <a:schemeClr val="dk1"/>
                        </a:buClr>
                        <a:buSzPts val="1800"/>
                        <a:buFont typeface="Trebuchet MS"/>
                        <a:buNone/>
                      </a:pPr>
                      <a:r>
                        <a:rPr lang="en-US" sz="1800" u="none" cap="none" strike="noStrike"/>
                        <a:t>Basis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Polling</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Interrupt</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Definition</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CPU repeatedly checks the status of the I/O device</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Device notifies CPU when it needs attention</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CPU Involvement</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CPU is continuously involved</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CPU is involved only when interrupt occurs</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Waiting Mechanism</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Busy waiting</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No busy waiting</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Efficiency</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Low</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High</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CPU Utilization</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Poor (CPU time wasted)</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Good (CPU does useful work)</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Response Time</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Depends on polling frequency</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Immediate response</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Complexity</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Simple to implement</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More complex</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Overhead</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No interrupt overhead</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Interrupt handling overhead</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Suitable Devices</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Fast or simple devices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Slow I/O devices</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Multitasking Support</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Poor</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Excellent</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Power Consumption</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Higher</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Lower</a:t>
                      </a:r>
                      <a:endParaRPr/>
                    </a:p>
                  </a:txBody>
                  <a:tcPr marT="45725" marB="45725" marR="91450" marL="91450" anchor="ctr"/>
                </a:tc>
              </a:tr>
              <a:tr h="370850">
                <a:tc>
                  <a:txBody>
                    <a:bodyPr/>
                    <a:lstStyle/>
                    <a:p>
                      <a:pPr indent="0" lvl="0" marL="0" marR="0" rtl="0" algn="l">
                        <a:spcBef>
                          <a:spcPts val="0"/>
                        </a:spcBef>
                        <a:spcAft>
                          <a:spcPts val="0"/>
                        </a:spcAft>
                        <a:buClr>
                          <a:schemeClr val="dk1"/>
                        </a:buClr>
                        <a:buSzPts val="1800"/>
                        <a:buFont typeface="Trebuchet MS"/>
                        <a:buNone/>
                      </a:pPr>
                      <a:r>
                        <a:rPr b="1" lang="en-US" sz="1800" u="none" cap="none" strike="noStrike"/>
                        <a:t>Example</a:t>
                      </a:r>
                      <a:endParaRPr sz="1800" u="none" cap="none" strike="noStrike"/>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Simple microcontrollers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t>Keyboard, disk, network I/O</a:t>
                      </a:r>
                      <a:endParaRPr/>
                    </a:p>
                  </a:txBody>
                  <a:tcPr marT="45725" marB="45725" marR="91450" marL="91450" anchor="ct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Direct Memory Access (DMA)</a:t>
            </a:r>
            <a:br>
              <a:rPr lang="en-US"/>
            </a:br>
            <a:endParaRPr/>
          </a:p>
        </p:txBody>
      </p:sp>
      <p:sp>
        <p:nvSpPr>
          <p:cNvPr id="351" name="Google Shape;351;p25"/>
          <p:cNvSpPr txBox="1"/>
          <p:nvPr>
            <p:ph idx="1" type="body"/>
          </p:nvPr>
        </p:nvSpPr>
        <p:spPr>
          <a:xfrm>
            <a:off x="677334" y="1654023"/>
            <a:ext cx="10231671"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It is a feature used in computer systems to allow I/O devices to transfer data directly to or from the main memory without continuous CPU involvement.</a:t>
            </a:r>
            <a:endParaRPr/>
          </a:p>
          <a:p>
            <a:pPr indent="-342900" lvl="0" marL="342900" rtl="0" algn="l">
              <a:spcBef>
                <a:spcPts val="1000"/>
              </a:spcBef>
              <a:spcAft>
                <a:spcPts val="0"/>
              </a:spcAft>
              <a:buSzPts val="1440"/>
              <a:buChar char="►"/>
            </a:pPr>
            <a:r>
              <a:rPr lang="en-US"/>
              <a:t>DMA module itself controls exchange of data between main memory and the I/O device.</a:t>
            </a:r>
            <a:endParaRPr/>
          </a:p>
          <a:p>
            <a:pPr indent="-342900" lvl="0" marL="342900" rtl="0" algn="l">
              <a:spcBef>
                <a:spcPts val="1000"/>
              </a:spcBef>
              <a:spcAft>
                <a:spcPts val="0"/>
              </a:spcAft>
              <a:buSzPts val="1440"/>
              <a:buChar char="►"/>
            </a:pPr>
            <a:r>
              <a:rPr lang="en-US"/>
              <a:t>CPU is only involved at the beginning and end of the transfer and interrupted only after entire block has been transferred.</a:t>
            </a:r>
            <a:endParaRPr/>
          </a:p>
          <a:p>
            <a:pPr indent="-251459" lvl="0" marL="342900" rtl="0" algn="l">
              <a:spcBef>
                <a:spcPts val="1000"/>
              </a:spcBef>
              <a:spcAft>
                <a:spcPts val="0"/>
              </a:spcAft>
              <a:buSzPts val="1440"/>
              <a:buNone/>
            </a:pPr>
            <a:r>
              <a:t/>
            </a:r>
            <a:endParaRPr/>
          </a:p>
        </p:txBody>
      </p:sp>
      <p:grpSp>
        <p:nvGrpSpPr>
          <p:cNvPr id="352" name="Google Shape;352;p25"/>
          <p:cNvGrpSpPr/>
          <p:nvPr/>
        </p:nvGrpSpPr>
        <p:grpSpPr>
          <a:xfrm>
            <a:off x="2683885" y="3428999"/>
            <a:ext cx="5907221" cy="3269583"/>
            <a:chOff x="2683886" y="2449165"/>
            <a:chExt cx="5651500" cy="4249418"/>
          </a:xfrm>
        </p:grpSpPr>
        <p:grpSp>
          <p:nvGrpSpPr>
            <p:cNvPr id="353" name="Google Shape;353;p25"/>
            <p:cNvGrpSpPr/>
            <p:nvPr/>
          </p:nvGrpSpPr>
          <p:grpSpPr>
            <a:xfrm>
              <a:off x="2683886" y="4092283"/>
              <a:ext cx="5651500" cy="2606300"/>
              <a:chOff x="2648444" y="4109487"/>
              <a:chExt cx="5651500" cy="2606300"/>
            </a:xfrm>
          </p:grpSpPr>
          <p:sp>
            <p:nvSpPr>
              <p:cNvPr id="354" name="Google Shape;354;p25"/>
              <p:cNvSpPr/>
              <p:nvPr/>
            </p:nvSpPr>
            <p:spPr>
              <a:xfrm>
                <a:off x="2648444" y="5186032"/>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Device Controller</a:t>
                </a:r>
                <a:endParaRPr/>
              </a:p>
            </p:txBody>
          </p:sp>
          <p:sp>
            <p:nvSpPr>
              <p:cNvPr id="355" name="Google Shape;355;p25"/>
              <p:cNvSpPr/>
              <p:nvPr/>
            </p:nvSpPr>
            <p:spPr>
              <a:xfrm>
                <a:off x="4648128" y="5186032"/>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Device Controller</a:t>
                </a:r>
                <a:endParaRPr/>
              </a:p>
            </p:txBody>
          </p:sp>
          <p:sp>
            <p:nvSpPr>
              <p:cNvPr id="356" name="Google Shape;356;p25"/>
              <p:cNvSpPr/>
              <p:nvPr/>
            </p:nvSpPr>
            <p:spPr>
              <a:xfrm>
                <a:off x="6647812" y="5186032"/>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Device Controller</a:t>
                </a:r>
                <a:endParaRPr/>
              </a:p>
            </p:txBody>
          </p:sp>
          <p:sp>
            <p:nvSpPr>
              <p:cNvPr id="357" name="Google Shape;357;p25"/>
              <p:cNvSpPr/>
              <p:nvPr/>
            </p:nvSpPr>
            <p:spPr>
              <a:xfrm>
                <a:off x="6647812" y="6120364"/>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Printer</a:t>
                </a:r>
                <a:endParaRPr/>
              </a:p>
            </p:txBody>
          </p:sp>
          <p:sp>
            <p:nvSpPr>
              <p:cNvPr id="358" name="Google Shape;358;p25"/>
              <p:cNvSpPr/>
              <p:nvPr/>
            </p:nvSpPr>
            <p:spPr>
              <a:xfrm>
                <a:off x="4648128" y="6120363"/>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Disk</a:t>
                </a:r>
                <a:endParaRPr/>
              </a:p>
            </p:txBody>
          </p:sp>
          <p:sp>
            <p:nvSpPr>
              <p:cNvPr id="359" name="Google Shape;359;p25"/>
              <p:cNvSpPr/>
              <p:nvPr/>
            </p:nvSpPr>
            <p:spPr>
              <a:xfrm>
                <a:off x="2648444" y="6120363"/>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USB Drive</a:t>
                </a:r>
                <a:endParaRPr/>
              </a:p>
            </p:txBody>
          </p:sp>
          <p:sp>
            <p:nvSpPr>
              <p:cNvPr id="360" name="Google Shape;360;p25"/>
              <p:cNvSpPr/>
              <p:nvPr/>
            </p:nvSpPr>
            <p:spPr>
              <a:xfrm>
                <a:off x="4648128" y="4109487"/>
                <a:ext cx="1652132" cy="5954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rebuchet MS"/>
                    <a:ea typeface="Trebuchet MS"/>
                    <a:cs typeface="Trebuchet MS"/>
                    <a:sym typeface="Trebuchet MS"/>
                  </a:rPr>
                  <a:t>DMA</a:t>
                </a:r>
                <a:endParaRPr/>
              </a:p>
            </p:txBody>
          </p:sp>
        </p:grpSp>
        <p:grpSp>
          <p:nvGrpSpPr>
            <p:cNvPr id="361" name="Google Shape;361;p25"/>
            <p:cNvGrpSpPr/>
            <p:nvPr/>
          </p:nvGrpSpPr>
          <p:grpSpPr>
            <a:xfrm>
              <a:off x="2965195" y="2449165"/>
              <a:ext cx="5136814" cy="3653995"/>
              <a:chOff x="2965195" y="2449165"/>
              <a:chExt cx="5136814" cy="3653995"/>
            </a:xfrm>
          </p:grpSpPr>
          <p:cxnSp>
            <p:nvCxnSpPr>
              <p:cNvPr id="362" name="Google Shape;362;p25"/>
              <p:cNvCxnSpPr>
                <a:stCxn id="358" idx="0"/>
                <a:endCxn id="355" idx="2"/>
              </p:cNvCxnSpPr>
              <p:nvPr/>
            </p:nvCxnSpPr>
            <p:spPr>
              <a:xfrm rot="10800000">
                <a:off x="5509636" y="5764159"/>
                <a:ext cx="0" cy="33900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63" name="Google Shape;363;p25"/>
              <p:cNvCxnSpPr>
                <a:stCxn id="357" idx="0"/>
                <a:endCxn id="356" idx="2"/>
              </p:cNvCxnSpPr>
              <p:nvPr/>
            </p:nvCxnSpPr>
            <p:spPr>
              <a:xfrm rot="10800000">
                <a:off x="7509320" y="5764160"/>
                <a:ext cx="0" cy="33900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64" name="Google Shape;364;p25"/>
              <p:cNvCxnSpPr>
                <a:stCxn id="359" idx="0"/>
              </p:cNvCxnSpPr>
              <p:nvPr/>
            </p:nvCxnSpPr>
            <p:spPr>
              <a:xfrm rot="10800000">
                <a:off x="3509952" y="5781559"/>
                <a:ext cx="0" cy="32160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65" name="Google Shape;365;p25"/>
              <p:cNvCxnSpPr>
                <a:stCxn id="355" idx="0"/>
              </p:cNvCxnSpPr>
              <p:nvPr/>
            </p:nvCxnSpPr>
            <p:spPr>
              <a:xfrm rot="10800000">
                <a:off x="5474236" y="4687628"/>
                <a:ext cx="35400" cy="48120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66" name="Google Shape;366;p25"/>
              <p:cNvCxnSpPr>
                <a:stCxn id="354" idx="0"/>
                <a:endCxn id="360" idx="2"/>
              </p:cNvCxnSpPr>
              <p:nvPr/>
            </p:nvCxnSpPr>
            <p:spPr>
              <a:xfrm rot="-5400000">
                <a:off x="4269252" y="3928328"/>
                <a:ext cx="481200" cy="1999800"/>
              </a:xfrm>
              <a:prstGeom prst="bentConnector3">
                <a:avLst>
                  <a:gd fmla="val 50000" name="adj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67" name="Google Shape;367;p25"/>
              <p:cNvCxnSpPr>
                <a:stCxn id="356" idx="0"/>
              </p:cNvCxnSpPr>
              <p:nvPr/>
            </p:nvCxnSpPr>
            <p:spPr>
              <a:xfrm flipH="1" rot="5400000">
                <a:off x="6371420" y="4030928"/>
                <a:ext cx="240600" cy="2035200"/>
              </a:xfrm>
              <a:prstGeom prst="bentConnector2">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68" name="Google Shape;368;p25"/>
              <p:cNvCxnSpPr>
                <a:stCxn id="355" idx="0"/>
              </p:cNvCxnSpPr>
              <p:nvPr/>
            </p:nvCxnSpPr>
            <p:spPr>
              <a:xfrm rot="10800000">
                <a:off x="5474236" y="4687628"/>
                <a:ext cx="35400" cy="48120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sp>
            <p:nvSpPr>
              <p:cNvPr id="369" name="Google Shape;369;p25"/>
              <p:cNvSpPr/>
              <p:nvPr/>
            </p:nvSpPr>
            <p:spPr>
              <a:xfrm>
                <a:off x="2965195" y="2449165"/>
                <a:ext cx="1652132" cy="9203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rebuchet MS"/>
                    <a:ea typeface="Trebuchet MS"/>
                    <a:cs typeface="Trebuchet MS"/>
                    <a:sym typeface="Trebuchet MS"/>
                  </a:rPr>
                  <a:t>CPU</a:t>
                </a:r>
                <a:endParaRPr/>
              </a:p>
            </p:txBody>
          </p:sp>
          <p:sp>
            <p:nvSpPr>
              <p:cNvPr id="370" name="Google Shape;370;p25"/>
              <p:cNvSpPr/>
              <p:nvPr/>
            </p:nvSpPr>
            <p:spPr>
              <a:xfrm>
                <a:off x="6251849" y="2449165"/>
                <a:ext cx="1652132" cy="920323"/>
              </a:xfrm>
              <a:prstGeom prst="rect">
                <a:avLst/>
              </a:prstGeom>
              <a:solidFill>
                <a:srgbClr val="BFE471"/>
              </a:solidFill>
              <a:ln cap="rnd" cmpd="sng" w="19050">
                <a:solidFill>
                  <a:srgbClr val="BFE4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rebuchet MS"/>
                    <a:ea typeface="Trebuchet MS"/>
                    <a:cs typeface="Trebuchet MS"/>
                    <a:sym typeface="Trebuchet MS"/>
                  </a:rPr>
                  <a:t>Main Memory</a:t>
                </a:r>
                <a:endParaRPr/>
              </a:p>
            </p:txBody>
          </p:sp>
          <p:cxnSp>
            <p:nvCxnSpPr>
              <p:cNvPr id="371" name="Google Shape;371;p25"/>
              <p:cNvCxnSpPr/>
              <p:nvPr/>
            </p:nvCxnSpPr>
            <p:spPr>
              <a:xfrm>
                <a:off x="2965195" y="2909326"/>
                <a:ext cx="1652132" cy="1480668"/>
              </a:xfrm>
              <a:prstGeom prst="bentConnector3">
                <a:avLst>
                  <a:gd fmla="val -16931" name="adj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72" name="Google Shape;372;p25"/>
              <p:cNvCxnSpPr/>
              <p:nvPr/>
            </p:nvCxnSpPr>
            <p:spPr>
              <a:xfrm>
                <a:off x="2965195" y="4928267"/>
                <a:ext cx="5136814" cy="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73" name="Google Shape;373;p25"/>
              <p:cNvCxnSpPr/>
              <p:nvPr/>
            </p:nvCxnSpPr>
            <p:spPr>
              <a:xfrm>
                <a:off x="3400112" y="3826025"/>
                <a:ext cx="4109208" cy="0"/>
              </a:xfrm>
              <a:prstGeom prst="straightConnector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74" name="Google Shape;374;p25"/>
              <p:cNvCxnSpPr>
                <a:stCxn id="370" idx="2"/>
                <a:endCxn id="360" idx="0"/>
              </p:cNvCxnSpPr>
              <p:nvPr/>
            </p:nvCxnSpPr>
            <p:spPr>
              <a:xfrm rot="5400000">
                <a:off x="5932365" y="2946638"/>
                <a:ext cx="722700" cy="1568400"/>
              </a:xfrm>
              <a:prstGeom prst="bentConnector3">
                <a:avLst>
                  <a:gd fmla="val 64710" name="adj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cxnSp>
            <p:nvCxnSpPr>
              <p:cNvPr id="375" name="Google Shape;375;p25"/>
              <p:cNvCxnSpPr>
                <a:stCxn id="369" idx="2"/>
                <a:endCxn id="360" idx="0"/>
              </p:cNvCxnSpPr>
              <p:nvPr/>
            </p:nvCxnSpPr>
            <p:spPr>
              <a:xfrm flipH="1" rot="-5400000">
                <a:off x="4289111" y="2871638"/>
                <a:ext cx="722700" cy="1718400"/>
              </a:xfrm>
              <a:prstGeom prst="bentConnector3">
                <a:avLst>
                  <a:gd fmla="val 61768" name="adj1"/>
                </a:avLst>
              </a:prstGeom>
              <a:noFill/>
              <a:ln cap="flat" cmpd="sng" w="38100">
                <a:solidFill>
                  <a:schemeClr val="accent2"/>
                </a:solidFill>
                <a:prstDash val="solid"/>
                <a:round/>
                <a:headEnd len="sm" w="sm" type="none"/>
                <a:tailEnd len="sm" w="sm" type="none"/>
              </a:ln>
              <a:effectLst>
                <a:outerShdw blurRad="38100" rotWithShape="0" dir="5400000" dist="25400">
                  <a:srgbClr val="000000">
                    <a:alpha val="34901"/>
                  </a:srgbClr>
                </a:outerShdw>
              </a:effectLst>
            </p:spPr>
          </p:cxnSp>
          <p:sp>
            <p:nvSpPr>
              <p:cNvPr id="376" name="Google Shape;376;p25"/>
              <p:cNvSpPr txBox="1"/>
              <p:nvPr/>
            </p:nvSpPr>
            <p:spPr>
              <a:xfrm>
                <a:off x="4994031" y="3429000"/>
                <a:ext cx="10791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Data Bus</a:t>
                </a:r>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Direct Memory Access (DMA)</a:t>
            </a:r>
            <a:br>
              <a:rPr lang="en-US"/>
            </a:br>
            <a:endParaRPr/>
          </a:p>
        </p:txBody>
      </p:sp>
      <p:sp>
        <p:nvSpPr>
          <p:cNvPr id="382" name="Google Shape;382;p26"/>
          <p:cNvSpPr txBox="1"/>
          <p:nvPr>
            <p:ph idx="1" type="body"/>
          </p:nvPr>
        </p:nvSpPr>
        <p:spPr>
          <a:xfrm>
            <a:off x="677334" y="1726249"/>
            <a:ext cx="8596668" cy="469741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Types of Direct Memory Access (DMA)</a:t>
            </a:r>
            <a:endParaRPr/>
          </a:p>
          <a:p>
            <a:pPr indent="-285750" lvl="1" marL="742950" rtl="0" algn="l">
              <a:spcBef>
                <a:spcPts val="1000"/>
              </a:spcBef>
              <a:spcAft>
                <a:spcPts val="0"/>
              </a:spcAft>
              <a:buSzPts val="1280"/>
              <a:buFont typeface="Trebuchet MS"/>
              <a:buAutoNum type="arabicPeriod"/>
            </a:pPr>
            <a:r>
              <a:rPr lang="en-US"/>
              <a:t>Single-Ended DMA: reading and writing from a single memory address. </a:t>
            </a:r>
            <a:endParaRPr/>
          </a:p>
          <a:p>
            <a:pPr indent="-285750" lvl="1" marL="742950" rtl="0" algn="l">
              <a:spcBef>
                <a:spcPts val="1000"/>
              </a:spcBef>
              <a:spcAft>
                <a:spcPts val="0"/>
              </a:spcAft>
              <a:buSzPts val="1280"/>
              <a:buFont typeface="Trebuchet MS"/>
              <a:buAutoNum type="arabicPeriod"/>
            </a:pPr>
            <a:r>
              <a:rPr lang="en-US"/>
              <a:t>Dual-Ended DMA: read and write from two memory addresses.</a:t>
            </a:r>
            <a:endParaRPr/>
          </a:p>
          <a:p>
            <a:pPr indent="-285750" lvl="1" marL="742950" rtl="0" algn="l">
              <a:spcBef>
                <a:spcPts val="1000"/>
              </a:spcBef>
              <a:spcAft>
                <a:spcPts val="0"/>
              </a:spcAft>
              <a:buSzPts val="1280"/>
              <a:buFont typeface="Trebuchet MS"/>
              <a:buAutoNum type="arabicPeriod"/>
            </a:pPr>
            <a:r>
              <a:rPr lang="en-US"/>
              <a:t>Arbitrated-Ended DMA: reading and writing to several memory addresses.</a:t>
            </a:r>
            <a:endParaRPr/>
          </a:p>
          <a:p>
            <a:pPr indent="-285750" lvl="1" marL="742950" rtl="0" algn="l">
              <a:spcBef>
                <a:spcPts val="1000"/>
              </a:spcBef>
              <a:spcAft>
                <a:spcPts val="0"/>
              </a:spcAft>
              <a:buSzPts val="1280"/>
              <a:buFont typeface="Trebuchet MS"/>
              <a:buAutoNum type="arabicPeriod"/>
            </a:pPr>
            <a:r>
              <a:rPr lang="en-US"/>
              <a:t>Interleaved DMA: read from one memory address and write from another memory address.</a:t>
            </a:r>
            <a:endParaRPr/>
          </a:p>
          <a:p>
            <a:pPr indent="-342900" lvl="0" marL="342900" rtl="0" algn="l">
              <a:spcBef>
                <a:spcPts val="1000"/>
              </a:spcBef>
              <a:spcAft>
                <a:spcPts val="0"/>
              </a:spcAft>
              <a:buSzPts val="1440"/>
              <a:buChar char="►"/>
            </a:pPr>
            <a:r>
              <a:rPr lang="en-US"/>
              <a:t>Modes of Data Transfer in DMA</a:t>
            </a:r>
            <a:endParaRPr/>
          </a:p>
          <a:p>
            <a:pPr indent="-285750" lvl="1" marL="742950" rtl="0" algn="l">
              <a:spcBef>
                <a:spcPts val="1000"/>
              </a:spcBef>
              <a:spcAft>
                <a:spcPts val="0"/>
              </a:spcAft>
              <a:buSzPts val="1280"/>
              <a:buFont typeface="Trebuchet MS"/>
              <a:buAutoNum type="arabicPeriod"/>
            </a:pPr>
            <a:r>
              <a:rPr lang="en-US"/>
              <a:t>Burst Mode: In this buses are handed over to the CPU by the DMA if the whole data is completely transferred.</a:t>
            </a:r>
            <a:endParaRPr/>
          </a:p>
          <a:p>
            <a:pPr indent="-285750" lvl="1" marL="742950" rtl="0" algn="l">
              <a:spcBef>
                <a:spcPts val="1000"/>
              </a:spcBef>
              <a:spcAft>
                <a:spcPts val="0"/>
              </a:spcAft>
              <a:buSzPts val="1280"/>
              <a:buFont typeface="Trebuchet MS"/>
              <a:buAutoNum type="arabicPeriod"/>
            </a:pPr>
            <a:r>
              <a:rPr lang="en-US"/>
              <a:t>Cycle Stealing Mode: In this buses are handed over to the CPU by the DMA after the transfer of each byte</a:t>
            </a:r>
            <a:endParaRPr/>
          </a:p>
          <a:p>
            <a:pPr indent="-285750" lvl="1" marL="742950" rtl="0" algn="l">
              <a:spcBef>
                <a:spcPts val="1000"/>
              </a:spcBef>
              <a:spcAft>
                <a:spcPts val="0"/>
              </a:spcAft>
              <a:buSzPts val="1280"/>
              <a:buFont typeface="Trebuchet MS"/>
              <a:buAutoNum type="arabicPeriod"/>
            </a:pPr>
            <a:r>
              <a:rPr lang="en-US"/>
              <a:t>Transparent Mode: does not require any bus in the transfer of the data as it works when the CPU is executing the transaction.</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Lightbox" id="387" name="Google Shape;387;p27"/>
          <p:cNvPicPr preferRelativeResize="0"/>
          <p:nvPr/>
        </p:nvPicPr>
        <p:blipFill rotWithShape="1">
          <a:blip r:embed="rId3">
            <a:alphaModFix/>
          </a:blip>
          <a:srcRect b="0" l="0" r="0" t="0"/>
          <a:stretch/>
        </p:blipFill>
        <p:spPr>
          <a:xfrm>
            <a:off x="1512378" y="1930400"/>
            <a:ext cx="6926580" cy="4397329"/>
          </a:xfrm>
          <a:prstGeom prst="rect">
            <a:avLst/>
          </a:prstGeom>
          <a:noFill/>
          <a:ln>
            <a:noFill/>
          </a:ln>
        </p:spPr>
      </p:pic>
      <p:sp>
        <p:nvSpPr>
          <p:cNvPr id="388" name="Google Shape;388;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DMA Controller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Working of DMA Controller</a:t>
            </a:r>
            <a:endParaRPr/>
          </a:p>
        </p:txBody>
      </p:sp>
      <p:sp>
        <p:nvSpPr>
          <p:cNvPr id="394" name="Google Shape;394;p2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descr="Working Diagram of DMA Controller" id="395" name="Google Shape;395;p28"/>
          <p:cNvPicPr preferRelativeResize="0"/>
          <p:nvPr/>
        </p:nvPicPr>
        <p:blipFill rotWithShape="1">
          <a:blip r:embed="rId3">
            <a:alphaModFix/>
          </a:blip>
          <a:srcRect b="0" l="0" r="0" t="0"/>
          <a:stretch/>
        </p:blipFill>
        <p:spPr>
          <a:xfrm>
            <a:off x="677334" y="1270000"/>
            <a:ext cx="8382000" cy="5016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Principles of I/O Software</a:t>
            </a:r>
            <a:endParaRPr/>
          </a:p>
        </p:txBody>
      </p:sp>
      <p:sp>
        <p:nvSpPr>
          <p:cNvPr id="401" name="Google Shape;401;p2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I/O software provides a layered interface between application programs and I/O hardware. </a:t>
            </a:r>
            <a:endParaRPr/>
          </a:p>
          <a:p>
            <a:pPr indent="-342900" lvl="0" marL="342900" rtl="0" algn="l">
              <a:spcBef>
                <a:spcPts val="1000"/>
              </a:spcBef>
              <a:spcAft>
                <a:spcPts val="0"/>
              </a:spcAft>
              <a:buSzPts val="1440"/>
              <a:buChar char="►"/>
            </a:pPr>
            <a:r>
              <a:rPr lang="en-US"/>
              <a:t>The main goal of I/O software is to hide hardware complexity, provide a uniform interface, and ensure efficient, reliable, and secure I/O operations.</a:t>
            </a:r>
            <a:endParaRPr/>
          </a:p>
          <a:p>
            <a:pPr indent="-342900" lvl="0" marL="342900" rtl="0" algn="l">
              <a:spcBef>
                <a:spcPts val="1000"/>
              </a:spcBef>
              <a:spcAft>
                <a:spcPts val="0"/>
              </a:spcAft>
              <a:buSzPts val="1440"/>
              <a:buChar char="►"/>
            </a:pPr>
            <a:r>
              <a:rPr lang="en-US"/>
              <a:t>The principles of I/O software aim to provide </a:t>
            </a:r>
            <a:r>
              <a:rPr b="1" lang="en-US"/>
              <a:t>simplicity, efficiency, reliability, and protection</a:t>
            </a:r>
            <a:r>
              <a:rPr lang="en-US"/>
              <a:t>. </a:t>
            </a:r>
            <a:endParaRPr/>
          </a:p>
          <a:p>
            <a:pPr indent="-342900" lvl="0" marL="342900" rtl="0" algn="l">
              <a:spcBef>
                <a:spcPts val="1000"/>
              </a:spcBef>
              <a:spcAft>
                <a:spcPts val="0"/>
              </a:spcAft>
              <a:buSzPts val="1440"/>
              <a:buChar char="►"/>
            </a:pPr>
            <a:r>
              <a:rPr lang="en-US"/>
              <a:t>By hiding hardware details and using techniques like </a:t>
            </a:r>
            <a:r>
              <a:rPr b="1" lang="en-US"/>
              <a:t>buffering, caching, spooling, and device independence</a:t>
            </a:r>
            <a:r>
              <a:rPr lang="en-US"/>
              <a:t>, I/O software ensures smooth interaction between applications and hardware in modern operating systems.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Goals of IO Software</a:t>
            </a:r>
            <a:endParaRPr/>
          </a:p>
        </p:txBody>
      </p:sp>
      <p:sp>
        <p:nvSpPr>
          <p:cNvPr id="408" name="Google Shape;408;p3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I/O software acts as a bridge between hardware devices and user programs. Its main goals are:</a:t>
            </a:r>
            <a:endParaRPr/>
          </a:p>
          <a:p>
            <a:pPr indent="-342900" lvl="0" marL="342900" rtl="0" algn="l">
              <a:spcBef>
                <a:spcPts val="1000"/>
              </a:spcBef>
              <a:spcAft>
                <a:spcPts val="0"/>
              </a:spcAft>
              <a:buSzPts val="1440"/>
              <a:buFont typeface="Trebuchet MS"/>
              <a:buAutoNum type="arabicPeriod"/>
            </a:pPr>
            <a:r>
              <a:rPr lang="en-US"/>
              <a:t>Device Independence</a:t>
            </a:r>
            <a:endParaRPr/>
          </a:p>
          <a:p>
            <a:pPr indent="-342900" lvl="0" marL="342900" rtl="0" algn="l">
              <a:spcBef>
                <a:spcPts val="1000"/>
              </a:spcBef>
              <a:spcAft>
                <a:spcPts val="0"/>
              </a:spcAft>
              <a:buSzPts val="1440"/>
              <a:buFont typeface="Trebuchet MS"/>
              <a:buAutoNum type="arabicPeriod"/>
            </a:pPr>
            <a:r>
              <a:rPr lang="en-US"/>
              <a:t>Uniform Naming</a:t>
            </a:r>
            <a:endParaRPr/>
          </a:p>
          <a:p>
            <a:pPr indent="-342900" lvl="0" marL="342900" rtl="0" algn="l">
              <a:spcBef>
                <a:spcPts val="1000"/>
              </a:spcBef>
              <a:spcAft>
                <a:spcPts val="0"/>
              </a:spcAft>
              <a:buSzPts val="1440"/>
              <a:buFont typeface="Trebuchet MS"/>
              <a:buAutoNum type="arabicPeriod"/>
            </a:pPr>
            <a:r>
              <a:rPr lang="en-US"/>
              <a:t>Error Handling</a:t>
            </a:r>
            <a:endParaRPr/>
          </a:p>
          <a:p>
            <a:pPr indent="-342900" lvl="0" marL="342900" rtl="0" algn="l">
              <a:spcBef>
                <a:spcPts val="1000"/>
              </a:spcBef>
              <a:spcAft>
                <a:spcPts val="0"/>
              </a:spcAft>
              <a:buSzPts val="1440"/>
              <a:buFont typeface="Trebuchet MS"/>
              <a:buAutoNum type="arabicPeriod"/>
            </a:pPr>
            <a:r>
              <a:rPr lang="en-US"/>
              <a:t>Buffering</a:t>
            </a:r>
            <a:endParaRPr/>
          </a:p>
          <a:p>
            <a:pPr indent="-342900" lvl="0" marL="342900" rtl="0" algn="l">
              <a:spcBef>
                <a:spcPts val="1000"/>
              </a:spcBef>
              <a:spcAft>
                <a:spcPts val="0"/>
              </a:spcAft>
              <a:buSzPts val="1440"/>
              <a:buFont typeface="Trebuchet MS"/>
              <a:buAutoNum type="arabicPeriod"/>
            </a:pPr>
            <a:r>
              <a:rPr lang="en-US"/>
              <a:t>Sharing Devices</a:t>
            </a:r>
            <a:endParaRPr/>
          </a:p>
          <a:p>
            <a:pPr indent="-342900" lvl="0" marL="342900" rtl="0" algn="l">
              <a:spcBef>
                <a:spcPts val="1000"/>
              </a:spcBef>
              <a:spcAft>
                <a:spcPts val="0"/>
              </a:spcAft>
              <a:buSzPts val="1440"/>
              <a:buFont typeface="Trebuchet MS"/>
              <a:buAutoNum type="arabicPeriod"/>
            </a:pPr>
            <a:r>
              <a:rPr lang="en-US"/>
              <a:t>Protection and Access Control</a:t>
            </a:r>
            <a:endParaRPr/>
          </a:p>
          <a:p>
            <a:pPr indent="0" lvl="0" marL="0" rtl="0" algn="l">
              <a:spcBef>
                <a:spcPts val="1000"/>
              </a:spcBef>
              <a:spcAft>
                <a:spcPts val="0"/>
              </a:spcAft>
              <a:buSzPts val="1440"/>
              <a:buNone/>
            </a:pPr>
            <a:r>
              <a:rPr lang="en-US"/>
              <a:t>It manages device drivers, handles errors, optimizes performance through buffering and caching, and supports both shared and dedicated devices.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Overview of Mass Storage Structure</a:t>
            </a:r>
            <a:endParaRPr/>
          </a:p>
        </p:txBody>
      </p:sp>
      <p:sp>
        <p:nvSpPr>
          <p:cNvPr id="415" name="Google Shape;415;p3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Mass storage provides permanent data storage</a:t>
            </a:r>
            <a:endParaRPr/>
          </a:p>
          <a:p>
            <a:pPr indent="-342900" lvl="0" marL="342900" rtl="0" algn="l">
              <a:spcBef>
                <a:spcPts val="1000"/>
              </a:spcBef>
              <a:spcAft>
                <a:spcPts val="0"/>
              </a:spcAft>
              <a:buSzPts val="1440"/>
              <a:buChar char="►"/>
            </a:pPr>
            <a:r>
              <a:rPr lang="en-US"/>
              <a:t>Data is non-volatile (retained without power)</a:t>
            </a:r>
            <a:endParaRPr/>
          </a:p>
          <a:p>
            <a:pPr indent="-342900" lvl="0" marL="342900" rtl="0" algn="l">
              <a:spcBef>
                <a:spcPts val="1000"/>
              </a:spcBef>
              <a:spcAft>
                <a:spcPts val="0"/>
              </a:spcAft>
              <a:buSzPts val="1440"/>
              <a:buChar char="►"/>
            </a:pPr>
            <a:r>
              <a:rPr lang="en-US"/>
              <a:t>Essential for OS, applications, and user data</a:t>
            </a:r>
            <a:endParaRPr/>
          </a:p>
          <a:p>
            <a:pPr indent="0" lvl="0" marL="0" rtl="0" algn="l">
              <a:spcBef>
                <a:spcPts val="1000"/>
              </a:spcBef>
              <a:spcAft>
                <a:spcPts val="0"/>
              </a:spcAft>
              <a:buSzPts val="1440"/>
              <a:buNone/>
            </a:pPr>
            <a:r>
              <a:rPr b="1" lang="en-US" u="sng"/>
              <a:t>Need for Mass Storage</a:t>
            </a:r>
            <a:endParaRPr/>
          </a:p>
          <a:p>
            <a:pPr indent="-342900" lvl="0" marL="342900" rtl="0" algn="l">
              <a:spcBef>
                <a:spcPts val="1000"/>
              </a:spcBef>
              <a:spcAft>
                <a:spcPts val="0"/>
              </a:spcAft>
              <a:buSzPts val="1440"/>
              <a:buChar char="►"/>
            </a:pPr>
            <a:r>
              <a:rPr lang="en-US"/>
              <a:t>RAM is limited and volatile</a:t>
            </a:r>
            <a:endParaRPr/>
          </a:p>
          <a:p>
            <a:pPr indent="-342900" lvl="0" marL="342900" rtl="0" algn="l">
              <a:spcBef>
                <a:spcPts val="1000"/>
              </a:spcBef>
              <a:spcAft>
                <a:spcPts val="0"/>
              </a:spcAft>
              <a:buSzPts val="1440"/>
              <a:buChar char="►"/>
            </a:pPr>
            <a:r>
              <a:rPr lang="en-US"/>
              <a:t>Store operating system files</a:t>
            </a:r>
            <a:endParaRPr/>
          </a:p>
          <a:p>
            <a:pPr indent="-342900" lvl="0" marL="342900" rtl="0" algn="l">
              <a:spcBef>
                <a:spcPts val="1000"/>
              </a:spcBef>
              <a:spcAft>
                <a:spcPts val="0"/>
              </a:spcAft>
              <a:buSzPts val="1440"/>
              <a:buChar char="►"/>
            </a:pPr>
            <a:r>
              <a:rPr lang="en-US"/>
              <a:t>Store applications and user data</a:t>
            </a:r>
            <a:endParaRPr/>
          </a:p>
          <a:p>
            <a:pPr indent="-342900" lvl="0" marL="342900" rtl="0" algn="l">
              <a:spcBef>
                <a:spcPts val="1000"/>
              </a:spcBef>
              <a:spcAft>
                <a:spcPts val="0"/>
              </a:spcAft>
              <a:buSzPts val="1440"/>
              <a:buChar char="►"/>
            </a:pPr>
            <a:r>
              <a:rPr lang="en-US"/>
              <a:t>Support </a:t>
            </a:r>
            <a:r>
              <a:rPr b="1" lang="en-US"/>
              <a:t>virtual memory (swap space)</a:t>
            </a:r>
            <a:endParaRPr/>
          </a:p>
          <a:p>
            <a:pPr indent="-342900" lvl="0" marL="342900" rtl="0" algn="l">
              <a:spcBef>
                <a:spcPts val="1000"/>
              </a:spcBef>
              <a:spcAft>
                <a:spcPts val="0"/>
              </a:spcAft>
              <a:buSzPts val="1440"/>
              <a:buChar char="►"/>
            </a:pPr>
            <a:r>
              <a:rPr lang="en-US"/>
              <a:t>Backup and recovery</a:t>
            </a:r>
            <a:endParaRPr/>
          </a:p>
          <a:p>
            <a:pPr indent="0" lvl="1" marL="457200" rtl="0" algn="l">
              <a:spcBef>
                <a:spcPts val="1000"/>
              </a:spcBef>
              <a:spcAft>
                <a:spcPts val="0"/>
              </a:spcAft>
              <a:buSzPts val="128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32"/>
          <p:cNvPicPr preferRelativeResize="0"/>
          <p:nvPr/>
        </p:nvPicPr>
        <p:blipFill rotWithShape="1">
          <a:blip r:embed="rId3">
            <a:alphaModFix/>
          </a:blip>
          <a:srcRect b="0" l="0" r="0" t="0"/>
          <a:stretch/>
        </p:blipFill>
        <p:spPr>
          <a:xfrm>
            <a:off x="8033998" y="0"/>
            <a:ext cx="3480668" cy="2209637"/>
          </a:xfrm>
          <a:prstGeom prst="rect">
            <a:avLst/>
          </a:prstGeom>
          <a:noFill/>
          <a:ln>
            <a:noFill/>
          </a:ln>
        </p:spPr>
      </p:pic>
      <p:sp>
        <p:nvSpPr>
          <p:cNvPr id="422" name="Google Shape;422;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Types of Mass Storage Devices</a:t>
            </a:r>
            <a:endParaRPr/>
          </a:p>
        </p:txBody>
      </p:sp>
      <p:sp>
        <p:nvSpPr>
          <p:cNvPr id="423" name="Google Shape;423;p32"/>
          <p:cNvSpPr txBox="1"/>
          <p:nvPr>
            <p:ph idx="1" type="body"/>
          </p:nvPr>
        </p:nvSpPr>
        <p:spPr>
          <a:xfrm>
            <a:off x="3270661" y="1346201"/>
            <a:ext cx="8596668" cy="51418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20"/>
              <a:buNone/>
            </a:pPr>
            <a:r>
              <a:rPr lang="en-US" sz="2400">
                <a:solidFill>
                  <a:srgbClr val="73330B"/>
                </a:solidFill>
                <a:latin typeface="ADLaM Display"/>
                <a:ea typeface="ADLaM Display"/>
                <a:cs typeface="ADLaM Display"/>
                <a:sym typeface="ADLaM Display"/>
              </a:rPr>
              <a:t>			Magnetic Disk (HDD)</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0" lvl="0" marL="0" rtl="0" algn="l">
              <a:spcBef>
                <a:spcPts val="1000"/>
              </a:spcBef>
              <a:spcAft>
                <a:spcPts val="0"/>
              </a:spcAft>
              <a:buSzPts val="1920"/>
              <a:buNone/>
            </a:pPr>
            <a:r>
              <a:rPr lang="en-US" sz="2400">
                <a:solidFill>
                  <a:srgbClr val="3F7818"/>
                </a:solidFill>
                <a:latin typeface="ADLaM Display"/>
                <a:ea typeface="ADLaM Display"/>
                <a:cs typeface="ADLaM Display"/>
                <a:sym typeface="ADLaM Display"/>
              </a:rPr>
              <a:t>Solid State Drive (SSD)</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0" lvl="0" marL="0" rtl="0" algn="l">
              <a:spcBef>
                <a:spcPts val="1000"/>
              </a:spcBef>
              <a:spcAft>
                <a:spcPts val="0"/>
              </a:spcAft>
              <a:buSzPts val="1920"/>
              <a:buNone/>
            </a:pPr>
            <a:r>
              <a:rPr lang="en-US" sz="2400">
                <a:solidFill>
                  <a:srgbClr val="AD4C11"/>
                </a:solidFill>
                <a:latin typeface="ADLaM Display"/>
                <a:ea typeface="ADLaM Display"/>
                <a:cs typeface="ADLaM Display"/>
                <a:sym typeface="ADLaM Display"/>
              </a:rPr>
              <a:t>				Optical Disks </a:t>
            </a:r>
            <a:endParaRPr>
              <a:solidFill>
                <a:srgbClr val="AD4C11"/>
              </a:solidFill>
            </a:endParaRPr>
          </a:p>
          <a:p>
            <a:pPr indent="-251459" lvl="0" marL="342900" rtl="0" algn="l">
              <a:spcBef>
                <a:spcPts val="1000"/>
              </a:spcBef>
              <a:spcAft>
                <a:spcPts val="0"/>
              </a:spcAft>
              <a:buSzPts val="1440"/>
              <a:buNone/>
            </a:pPr>
            <a:r>
              <a:t/>
            </a:r>
            <a:endParaRPr/>
          </a:p>
          <a:p>
            <a:pPr indent="0" lvl="0" marL="0" rtl="0" algn="l">
              <a:spcBef>
                <a:spcPts val="1000"/>
              </a:spcBef>
              <a:spcAft>
                <a:spcPts val="0"/>
              </a:spcAft>
              <a:buSzPts val="1920"/>
              <a:buNone/>
            </a:pPr>
            <a:r>
              <a:rPr lang="en-US" sz="2400">
                <a:solidFill>
                  <a:srgbClr val="0070C0"/>
                </a:solidFill>
                <a:latin typeface="ADLaM Display"/>
                <a:ea typeface="ADLaM Display"/>
                <a:cs typeface="ADLaM Display"/>
                <a:sym typeface="ADLaM Display"/>
              </a:rPr>
              <a:t>Magnetic Tape</a:t>
            </a:r>
            <a:endParaRPr/>
          </a:p>
          <a:p>
            <a:pPr indent="-251459" lvl="0" marL="342900" rtl="0" algn="l">
              <a:spcBef>
                <a:spcPts val="1000"/>
              </a:spcBef>
              <a:spcAft>
                <a:spcPts val="0"/>
              </a:spcAft>
              <a:buSzPts val="1440"/>
              <a:buNone/>
            </a:pPr>
            <a:r>
              <a:t/>
            </a:r>
            <a:endParaRPr/>
          </a:p>
        </p:txBody>
      </p:sp>
      <p:sp>
        <p:nvSpPr>
          <p:cNvPr id="424" name="Google Shape;424;p32"/>
          <p:cNvSpPr txBox="1"/>
          <p:nvPr/>
        </p:nvSpPr>
        <p:spPr>
          <a:xfrm>
            <a:off x="905812" y="1410889"/>
            <a:ext cx="5429692" cy="1631216"/>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2000" u="none" cap="none" strike="noStrike">
                <a:solidFill>
                  <a:srgbClr val="73330B"/>
                </a:solidFill>
                <a:latin typeface="Trebuchet MS"/>
                <a:ea typeface="Trebuchet MS"/>
                <a:cs typeface="Trebuchet MS"/>
                <a:sym typeface="Trebuchet MS"/>
              </a:rPr>
              <a:t>High Storage capacity</a:t>
            </a:r>
            <a:endParaRPr/>
          </a:p>
          <a:p>
            <a:pPr indent="0" lvl="1" marL="457200" marR="0" rtl="0" algn="r">
              <a:spcBef>
                <a:spcPts val="0"/>
              </a:spcBef>
              <a:spcAft>
                <a:spcPts val="0"/>
              </a:spcAft>
              <a:buNone/>
            </a:pPr>
            <a:r>
              <a:rPr b="0" i="0" lang="en-US" sz="2000" u="none" cap="none" strike="noStrike">
                <a:solidFill>
                  <a:srgbClr val="73330B"/>
                </a:solidFill>
                <a:latin typeface="Trebuchet MS"/>
                <a:ea typeface="Trebuchet MS"/>
                <a:cs typeface="Trebuchet MS"/>
                <a:sym typeface="Trebuchet MS"/>
              </a:rPr>
              <a:t>Data stored on rotating magnetic platters</a:t>
            </a:r>
            <a:endParaRPr/>
          </a:p>
          <a:p>
            <a:pPr indent="0" lvl="1" marL="457200" marR="0" rtl="0" algn="l">
              <a:spcBef>
                <a:spcPts val="0"/>
              </a:spcBef>
              <a:spcAft>
                <a:spcPts val="0"/>
              </a:spcAft>
              <a:buNone/>
            </a:pPr>
            <a:r>
              <a:rPr b="0" i="0" lang="en-US" sz="2000" u="none" cap="none" strike="noStrike">
                <a:solidFill>
                  <a:srgbClr val="73330B"/>
                </a:solidFill>
                <a:latin typeface="Trebuchet MS"/>
                <a:ea typeface="Trebuchet MS"/>
                <a:cs typeface="Trebuchet MS"/>
                <a:sym typeface="Trebuchet MS"/>
              </a:rPr>
              <a:t>Random access storage</a:t>
            </a:r>
            <a:endParaRPr/>
          </a:p>
          <a:p>
            <a:pPr indent="0" lvl="1" marL="457200" marR="0" rtl="0" algn="l">
              <a:spcBef>
                <a:spcPts val="0"/>
              </a:spcBef>
              <a:spcAft>
                <a:spcPts val="0"/>
              </a:spcAft>
              <a:buNone/>
            </a:pPr>
            <a:r>
              <a:rPr b="0" i="0" lang="en-US" sz="2000" u="none" cap="none" strike="noStrike">
                <a:solidFill>
                  <a:srgbClr val="73330B"/>
                </a:solidFill>
                <a:latin typeface="Trebuchet MS"/>
                <a:ea typeface="Trebuchet MS"/>
                <a:cs typeface="Trebuchet MS"/>
                <a:sym typeface="Trebuchet MS"/>
              </a:rPr>
              <a:t>Used as primary secondary storage</a:t>
            </a:r>
            <a:endParaRPr/>
          </a:p>
          <a:p>
            <a:pPr indent="0" lvl="1" marL="457200" marR="0" rtl="0" algn="l">
              <a:spcBef>
                <a:spcPts val="0"/>
              </a:spcBef>
              <a:spcAft>
                <a:spcPts val="0"/>
              </a:spcAft>
              <a:buNone/>
            </a:pPr>
            <a:r>
              <a:rPr b="0" i="0" lang="en-US" sz="2000" u="none" cap="none" strike="noStrike">
                <a:solidFill>
                  <a:srgbClr val="73330B"/>
                </a:solidFill>
                <a:latin typeface="Trebuchet MS"/>
                <a:ea typeface="Trebuchet MS"/>
                <a:cs typeface="Trebuchet MS"/>
                <a:sym typeface="Trebuchet MS"/>
              </a:rPr>
              <a:t>Example: Internal hard disks</a:t>
            </a:r>
            <a:endParaRPr/>
          </a:p>
        </p:txBody>
      </p:sp>
      <p:sp>
        <p:nvSpPr>
          <p:cNvPr id="425" name="Google Shape;425;p32"/>
          <p:cNvSpPr txBox="1"/>
          <p:nvPr/>
        </p:nvSpPr>
        <p:spPr>
          <a:xfrm>
            <a:off x="-454024" y="3166089"/>
            <a:ext cx="5077031" cy="1015663"/>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2000" u="none" cap="none" strike="noStrike">
                <a:solidFill>
                  <a:srgbClr val="3F7818"/>
                </a:solidFill>
                <a:latin typeface="Trebuchet MS"/>
                <a:ea typeface="Trebuchet MS"/>
                <a:cs typeface="Trebuchet MS"/>
                <a:sym typeface="Trebuchet MS"/>
              </a:rPr>
              <a:t>Uses flash memory, </a:t>
            </a:r>
            <a:endParaRPr/>
          </a:p>
          <a:p>
            <a:pPr indent="0" lvl="1" marL="457200" marR="0" rtl="0" algn="l">
              <a:spcBef>
                <a:spcPts val="0"/>
              </a:spcBef>
              <a:spcAft>
                <a:spcPts val="0"/>
              </a:spcAft>
              <a:buNone/>
            </a:pPr>
            <a:r>
              <a:rPr b="0" i="0" lang="en-US" sz="2000" u="none" cap="none" strike="noStrike">
                <a:solidFill>
                  <a:srgbClr val="3F7818"/>
                </a:solidFill>
                <a:latin typeface="Trebuchet MS"/>
                <a:ea typeface="Trebuchet MS"/>
                <a:cs typeface="Trebuchet MS"/>
                <a:sym typeface="Trebuchet MS"/>
              </a:rPr>
              <a:t>Faster than HDD, no moving parts</a:t>
            </a:r>
            <a:endParaRPr/>
          </a:p>
          <a:p>
            <a:pPr indent="0" lvl="1" marL="457200" marR="0" rtl="0" algn="l">
              <a:spcBef>
                <a:spcPts val="0"/>
              </a:spcBef>
              <a:spcAft>
                <a:spcPts val="0"/>
              </a:spcAft>
              <a:buNone/>
            </a:pPr>
            <a:r>
              <a:rPr b="0" i="0" lang="en-US" sz="2000" u="none" cap="none" strike="noStrike">
                <a:solidFill>
                  <a:srgbClr val="3F7818"/>
                </a:solidFill>
                <a:latin typeface="Trebuchet MS"/>
                <a:ea typeface="Trebuchet MS"/>
                <a:cs typeface="Trebuchet MS"/>
                <a:sym typeface="Trebuchet MS"/>
              </a:rPr>
              <a:t>Lower latency and power consumption</a:t>
            </a:r>
            <a:endParaRPr/>
          </a:p>
        </p:txBody>
      </p:sp>
      <p:sp>
        <p:nvSpPr>
          <p:cNvPr id="426" name="Google Shape;426;p32"/>
          <p:cNvSpPr txBox="1"/>
          <p:nvPr/>
        </p:nvSpPr>
        <p:spPr>
          <a:xfrm>
            <a:off x="363368" y="4447199"/>
            <a:ext cx="5344733" cy="707886"/>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2000" u="none" cap="none" strike="noStrike">
                <a:solidFill>
                  <a:srgbClr val="AD4C11"/>
                </a:solidFill>
                <a:latin typeface="Trebuchet MS"/>
                <a:ea typeface="Trebuchet MS"/>
                <a:cs typeface="Trebuchet MS"/>
                <a:sym typeface="Trebuchet MS"/>
              </a:rPr>
              <a:t>CD, DVD, Blu-ray</a:t>
            </a:r>
            <a:endParaRPr/>
          </a:p>
          <a:p>
            <a:pPr indent="0" lvl="1" marL="457200" marR="0" rtl="0" algn="l">
              <a:spcBef>
                <a:spcPts val="0"/>
              </a:spcBef>
              <a:spcAft>
                <a:spcPts val="0"/>
              </a:spcAft>
              <a:buNone/>
            </a:pPr>
            <a:r>
              <a:rPr b="0" i="0" lang="en-US" sz="2000" u="none" cap="none" strike="noStrike">
                <a:solidFill>
                  <a:srgbClr val="AD4C11"/>
                </a:solidFill>
                <a:latin typeface="Trebuchet MS"/>
                <a:ea typeface="Trebuchet MS"/>
                <a:cs typeface="Trebuchet MS"/>
                <a:sym typeface="Trebuchet MS"/>
              </a:rPr>
              <a:t>Used mainly for distribution and backups</a:t>
            </a:r>
            <a:endParaRPr/>
          </a:p>
        </p:txBody>
      </p:sp>
      <p:sp>
        <p:nvSpPr>
          <p:cNvPr id="427" name="Google Shape;427;p32"/>
          <p:cNvSpPr txBox="1"/>
          <p:nvPr/>
        </p:nvSpPr>
        <p:spPr>
          <a:xfrm>
            <a:off x="-411545" y="5447118"/>
            <a:ext cx="5067413" cy="707886"/>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2000" u="none" cap="none" strike="noStrike">
                <a:solidFill>
                  <a:srgbClr val="0070C0"/>
                </a:solidFill>
                <a:latin typeface="Trebuchet MS"/>
                <a:ea typeface="Trebuchet MS"/>
                <a:cs typeface="Trebuchet MS"/>
                <a:sym typeface="Trebuchet MS"/>
              </a:rPr>
              <a:t>Sequential access</a:t>
            </a:r>
            <a:endParaRPr/>
          </a:p>
          <a:p>
            <a:pPr indent="0" lvl="1" marL="457200" marR="0" rtl="0" algn="l">
              <a:spcBef>
                <a:spcPts val="0"/>
              </a:spcBef>
              <a:spcAft>
                <a:spcPts val="0"/>
              </a:spcAft>
              <a:buNone/>
            </a:pPr>
            <a:r>
              <a:rPr b="0" i="0" lang="en-US" sz="2000" u="none" cap="none" strike="noStrike">
                <a:solidFill>
                  <a:srgbClr val="0070C0"/>
                </a:solidFill>
                <a:latin typeface="Trebuchet MS"/>
                <a:ea typeface="Trebuchet MS"/>
                <a:cs typeface="Trebuchet MS"/>
                <a:sym typeface="Trebuchet MS"/>
              </a:rPr>
              <a:t>Used for backup and archival purposes</a:t>
            </a:r>
            <a:endParaRPr/>
          </a:p>
        </p:txBody>
      </p:sp>
      <p:pic>
        <p:nvPicPr>
          <p:cNvPr id="428" name="Google Shape;428;p32"/>
          <p:cNvPicPr preferRelativeResize="0"/>
          <p:nvPr/>
        </p:nvPicPr>
        <p:blipFill rotWithShape="1">
          <a:blip r:embed="rId4">
            <a:alphaModFix/>
          </a:blip>
          <a:srcRect b="0" l="0" r="0" t="0"/>
          <a:stretch/>
        </p:blipFill>
        <p:spPr>
          <a:xfrm>
            <a:off x="7216334" y="1811952"/>
            <a:ext cx="2544647" cy="2209637"/>
          </a:xfrm>
          <a:prstGeom prst="rect">
            <a:avLst/>
          </a:prstGeom>
          <a:noFill/>
          <a:ln>
            <a:noFill/>
          </a:ln>
        </p:spPr>
      </p:pic>
      <p:pic>
        <p:nvPicPr>
          <p:cNvPr id="429" name="Google Shape;429;p32"/>
          <p:cNvPicPr preferRelativeResize="0"/>
          <p:nvPr/>
        </p:nvPicPr>
        <p:blipFill rotWithShape="1">
          <a:blip r:embed="rId5">
            <a:alphaModFix/>
          </a:blip>
          <a:srcRect b="0" l="0" r="0" t="0"/>
          <a:stretch/>
        </p:blipFill>
        <p:spPr>
          <a:xfrm>
            <a:off x="7244442" y="4022131"/>
            <a:ext cx="3886200" cy="1171575"/>
          </a:xfrm>
          <a:prstGeom prst="rect">
            <a:avLst/>
          </a:prstGeom>
          <a:noFill/>
          <a:ln>
            <a:noFill/>
          </a:ln>
        </p:spPr>
      </p:pic>
      <p:pic>
        <p:nvPicPr>
          <p:cNvPr id="430" name="Google Shape;430;p32"/>
          <p:cNvPicPr preferRelativeResize="0"/>
          <p:nvPr/>
        </p:nvPicPr>
        <p:blipFill rotWithShape="1">
          <a:blip r:embed="rId6">
            <a:alphaModFix/>
          </a:blip>
          <a:srcRect b="0" l="0" r="0" t="0"/>
          <a:stretch/>
        </p:blipFill>
        <p:spPr>
          <a:xfrm>
            <a:off x="5742075" y="5229498"/>
            <a:ext cx="3014240" cy="162850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descr="Operating Systems: Mass-Storage Structure" id="436" name="Google Shape;436;p33"/>
          <p:cNvPicPr preferRelativeResize="0"/>
          <p:nvPr/>
        </p:nvPicPr>
        <p:blipFill rotWithShape="1">
          <a:blip r:embed="rId3">
            <a:alphaModFix/>
          </a:blip>
          <a:srcRect b="0" l="0" r="0" t="0"/>
          <a:stretch/>
        </p:blipFill>
        <p:spPr>
          <a:xfrm>
            <a:off x="5162872" y="1567445"/>
            <a:ext cx="6500633" cy="4769945"/>
          </a:xfrm>
          <a:prstGeom prst="rect">
            <a:avLst/>
          </a:prstGeom>
          <a:noFill/>
          <a:ln>
            <a:noFill/>
          </a:ln>
        </p:spPr>
      </p:pic>
      <p:sp>
        <p:nvSpPr>
          <p:cNvPr id="437" name="Google Shape;437;p3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Disk Structure</a:t>
            </a:r>
            <a:endParaRPr/>
          </a:p>
        </p:txBody>
      </p:sp>
      <p:sp>
        <p:nvSpPr>
          <p:cNvPr id="438" name="Google Shape;438;p33"/>
          <p:cNvSpPr txBox="1"/>
          <p:nvPr>
            <p:ph idx="1" type="body"/>
          </p:nvPr>
        </p:nvSpPr>
        <p:spPr>
          <a:xfrm>
            <a:off x="388510" y="1360407"/>
            <a:ext cx="5347799" cy="4927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A </a:t>
            </a:r>
            <a:r>
              <a:rPr b="1" lang="en-US"/>
              <a:t>disk</a:t>
            </a:r>
            <a:r>
              <a:rPr lang="en-US"/>
              <a:t> is a secondary storage device used to store large amounts of data permanently.</a:t>
            </a:r>
            <a:endParaRPr/>
          </a:p>
          <a:p>
            <a:pPr indent="-342900" lvl="0" marL="342900" rtl="0" algn="l">
              <a:spcBef>
                <a:spcPts val="1000"/>
              </a:spcBef>
              <a:spcAft>
                <a:spcPts val="0"/>
              </a:spcAft>
              <a:buSzPts val="1440"/>
              <a:buChar char="►"/>
            </a:pPr>
            <a:r>
              <a:rPr lang="en-US"/>
              <a:t>To manage data efficiently, a disk is organized into a well-defined </a:t>
            </a:r>
            <a:r>
              <a:rPr b="1" lang="en-US"/>
              <a:t>physical and logical structure</a:t>
            </a:r>
            <a:r>
              <a:rPr lang="en-US"/>
              <a:t>.</a:t>
            </a:r>
            <a:endParaRPr/>
          </a:p>
          <a:p>
            <a:pPr indent="0" lvl="0" marL="0" rtl="0" algn="just">
              <a:spcBef>
                <a:spcPts val="1000"/>
              </a:spcBef>
              <a:spcAft>
                <a:spcPts val="0"/>
              </a:spcAft>
              <a:buSzPts val="1440"/>
              <a:buNone/>
            </a:pPr>
            <a:r>
              <a:rPr b="1" lang="en-US"/>
              <a:t>Physical Structure</a:t>
            </a:r>
            <a:endParaRPr/>
          </a:p>
          <a:p>
            <a:pPr indent="-285750" lvl="1" marL="742950" rtl="0" algn="just">
              <a:spcBef>
                <a:spcPts val="1000"/>
              </a:spcBef>
              <a:spcAft>
                <a:spcPts val="0"/>
              </a:spcAft>
              <a:buSzPts val="1280"/>
              <a:buChar char="►"/>
            </a:pPr>
            <a:r>
              <a:rPr b="1" lang="en-US"/>
              <a:t>Platters</a:t>
            </a:r>
            <a:endParaRPr/>
          </a:p>
          <a:p>
            <a:pPr indent="-285750" lvl="1" marL="742950" rtl="0" algn="just">
              <a:spcBef>
                <a:spcPts val="1000"/>
              </a:spcBef>
              <a:spcAft>
                <a:spcPts val="0"/>
              </a:spcAft>
              <a:buSzPts val="1280"/>
              <a:buChar char="►"/>
            </a:pPr>
            <a:r>
              <a:rPr b="1" lang="en-US"/>
              <a:t>Spindle</a:t>
            </a:r>
            <a:endParaRPr/>
          </a:p>
          <a:p>
            <a:pPr indent="-285750" lvl="1" marL="742950" rtl="0" algn="just">
              <a:spcBef>
                <a:spcPts val="1000"/>
              </a:spcBef>
              <a:spcAft>
                <a:spcPts val="0"/>
              </a:spcAft>
              <a:buSzPts val="1280"/>
              <a:buChar char="►"/>
            </a:pPr>
            <a:r>
              <a:rPr b="1" lang="en-US"/>
              <a:t>Read Write heads</a:t>
            </a:r>
            <a:endParaRPr/>
          </a:p>
          <a:p>
            <a:pPr indent="0" lvl="0" marL="0" rtl="0" algn="just">
              <a:spcBef>
                <a:spcPts val="1000"/>
              </a:spcBef>
              <a:spcAft>
                <a:spcPts val="0"/>
              </a:spcAft>
              <a:buSzPts val="1440"/>
              <a:buNone/>
            </a:pPr>
            <a:r>
              <a:rPr b="1" lang="en-US"/>
              <a:t>Logical Structure</a:t>
            </a:r>
            <a:endParaRPr/>
          </a:p>
          <a:p>
            <a:pPr indent="-285750" lvl="1" marL="742950" rtl="0" algn="just">
              <a:spcBef>
                <a:spcPts val="1000"/>
              </a:spcBef>
              <a:spcAft>
                <a:spcPts val="0"/>
              </a:spcAft>
              <a:buSzPts val="1280"/>
              <a:buChar char="►"/>
            </a:pPr>
            <a:r>
              <a:rPr b="1" lang="en-US"/>
              <a:t>Tracks</a:t>
            </a:r>
            <a:endParaRPr/>
          </a:p>
          <a:p>
            <a:pPr indent="-285750" lvl="1" marL="742950" rtl="0" algn="just">
              <a:spcBef>
                <a:spcPts val="1000"/>
              </a:spcBef>
              <a:spcAft>
                <a:spcPts val="0"/>
              </a:spcAft>
              <a:buSzPts val="1280"/>
              <a:buChar char="►"/>
            </a:pPr>
            <a:r>
              <a:rPr b="1" lang="en-US"/>
              <a:t>Sectors</a:t>
            </a:r>
            <a:endParaRPr/>
          </a:p>
          <a:p>
            <a:pPr indent="-285750" lvl="1" marL="742950" rtl="0" algn="just">
              <a:spcBef>
                <a:spcPts val="1000"/>
              </a:spcBef>
              <a:spcAft>
                <a:spcPts val="0"/>
              </a:spcAft>
              <a:buSzPts val="1280"/>
              <a:buChar char="►"/>
            </a:pPr>
            <a:r>
              <a:rPr b="1" lang="en-US"/>
              <a:t>Cylinders</a:t>
            </a:r>
            <a:endParaRPr/>
          </a:p>
        </p:txBody>
      </p:sp>
      <p:sp>
        <p:nvSpPr>
          <p:cNvPr id="439" name="Google Shape;439;p33"/>
          <p:cNvSpPr txBox="1"/>
          <p:nvPr/>
        </p:nvSpPr>
        <p:spPr>
          <a:xfrm>
            <a:off x="5405528" y="512153"/>
            <a:ext cx="34750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rgbClr val="3F7818"/>
                </a:solidFill>
                <a:latin typeface="Trebuchet MS"/>
                <a:ea typeface="Trebuchet MS"/>
                <a:cs typeface="Trebuchet MS"/>
                <a:sym typeface="Trebuchet MS"/>
                <a:hlinkClick r:id="rId4">
                  <a:extLst>
                    <a:ext uri="{A12FA001-AC4F-418D-AE19-62706E023703}">
                      <ahyp:hlinkClr val="tx"/>
                    </a:ext>
                  </a:extLst>
                </a:hlinkClick>
              </a:rPr>
              <a:t>Animation on Disk Structure</a:t>
            </a:r>
            <a:endParaRPr sz="1800">
              <a:solidFill>
                <a:srgbClr val="3F7818"/>
              </a:solidFill>
              <a:latin typeface="Trebuchet MS"/>
              <a:ea typeface="Trebuchet MS"/>
              <a:cs typeface="Trebuchet MS"/>
              <a:sym typeface="Trebuchet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Disk Attachment</a:t>
            </a:r>
            <a:endParaRPr/>
          </a:p>
        </p:txBody>
      </p:sp>
      <p:sp>
        <p:nvSpPr>
          <p:cNvPr id="446" name="Google Shape;446;p34"/>
          <p:cNvSpPr txBox="1"/>
          <p:nvPr>
            <p:ph idx="1" type="body"/>
          </p:nvPr>
        </p:nvSpPr>
        <p:spPr>
          <a:xfrm>
            <a:off x="423334" y="1346200"/>
            <a:ext cx="10066866"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a:t>Method by which secondary storage devices (disks)</a:t>
            </a:r>
            <a:r>
              <a:rPr lang="en-US"/>
              <a:t> are connected to a computer system</a:t>
            </a:r>
            <a:endParaRPr/>
          </a:p>
          <a:p>
            <a:pPr indent="0" lvl="0" marL="0" rtl="0" algn="l">
              <a:spcBef>
                <a:spcPts val="1000"/>
              </a:spcBef>
              <a:spcAft>
                <a:spcPts val="0"/>
              </a:spcAft>
              <a:buSzPts val="1440"/>
              <a:buNone/>
            </a:pPr>
            <a:r>
              <a:rPr b="1" lang="en-US" u="sng"/>
              <a:t>Role of Disk Attachment in OS</a:t>
            </a:r>
            <a:endParaRPr/>
          </a:p>
          <a:p>
            <a:pPr indent="-342900" lvl="0" marL="342900" rtl="0" algn="l">
              <a:spcBef>
                <a:spcPts val="1000"/>
              </a:spcBef>
              <a:spcAft>
                <a:spcPts val="0"/>
              </a:spcAft>
              <a:buSzPts val="1440"/>
              <a:buChar char="►"/>
            </a:pPr>
            <a:r>
              <a:rPr lang="en-US"/>
              <a:t>Determines </a:t>
            </a:r>
            <a:r>
              <a:rPr b="1" lang="en-US"/>
              <a:t>I/O performance</a:t>
            </a:r>
            <a:endParaRPr/>
          </a:p>
          <a:p>
            <a:pPr indent="-342900" lvl="0" marL="342900" rtl="0" algn="l">
              <a:spcBef>
                <a:spcPts val="1000"/>
              </a:spcBef>
              <a:spcAft>
                <a:spcPts val="0"/>
              </a:spcAft>
              <a:buSzPts val="1440"/>
              <a:buChar char="►"/>
            </a:pPr>
            <a:r>
              <a:rPr lang="en-US"/>
              <a:t>Affects </a:t>
            </a:r>
            <a:r>
              <a:rPr b="1" lang="en-US"/>
              <a:t>file system behavior</a:t>
            </a:r>
            <a:endParaRPr/>
          </a:p>
          <a:p>
            <a:pPr indent="-342900" lvl="0" marL="342900" rtl="0" algn="l">
              <a:spcBef>
                <a:spcPts val="1000"/>
              </a:spcBef>
              <a:spcAft>
                <a:spcPts val="0"/>
              </a:spcAft>
              <a:buSzPts val="1440"/>
              <a:buChar char="►"/>
            </a:pPr>
            <a:r>
              <a:rPr lang="en-US"/>
              <a:t>Influences </a:t>
            </a:r>
            <a:r>
              <a:rPr b="1" lang="en-US"/>
              <a:t>scalability and reliability</a:t>
            </a:r>
            <a:endParaRPr/>
          </a:p>
          <a:p>
            <a:pPr indent="-342900" lvl="0" marL="342900" rtl="0" algn="l">
              <a:spcBef>
                <a:spcPts val="1000"/>
              </a:spcBef>
              <a:spcAft>
                <a:spcPts val="0"/>
              </a:spcAft>
              <a:buSzPts val="1440"/>
              <a:buChar char="►"/>
            </a:pPr>
            <a:r>
              <a:rPr lang="en-US"/>
              <a:t>Helps in </a:t>
            </a:r>
            <a:r>
              <a:rPr b="1" lang="en-US"/>
              <a:t>distributed and cloud storage</a:t>
            </a:r>
            <a:endParaRPr/>
          </a:p>
          <a:p>
            <a:pPr indent="-251459" lvl="0" marL="342900" rtl="0" algn="l">
              <a:spcBef>
                <a:spcPts val="1000"/>
              </a:spcBef>
              <a:spcAft>
                <a:spcPts val="0"/>
              </a:spcAft>
              <a:buSzPts val="1440"/>
              <a:buNone/>
            </a:pPr>
            <a:r>
              <a:t/>
            </a:r>
            <a:endParaRPr/>
          </a:p>
        </p:txBody>
      </p:sp>
      <p:grpSp>
        <p:nvGrpSpPr>
          <p:cNvPr id="447" name="Google Shape;447;p34"/>
          <p:cNvGrpSpPr/>
          <p:nvPr/>
        </p:nvGrpSpPr>
        <p:grpSpPr>
          <a:xfrm>
            <a:off x="136490" y="2902955"/>
            <a:ext cx="11975188" cy="3549194"/>
            <a:chOff x="9490" y="743955"/>
            <a:chExt cx="11975188" cy="3549194"/>
          </a:xfrm>
        </p:grpSpPr>
        <p:sp>
          <p:nvSpPr>
            <p:cNvPr id="448" name="Google Shape;448;p34"/>
            <p:cNvSpPr/>
            <p:nvPr/>
          </p:nvSpPr>
          <p:spPr>
            <a:xfrm>
              <a:off x="10344038" y="2509137"/>
              <a:ext cx="919395" cy="632344"/>
            </a:xfrm>
            <a:custGeom>
              <a:rect b="b" l="l" r="r" t="t"/>
              <a:pathLst>
                <a:path extrusionOk="0" h="120000" w="120000">
                  <a:moveTo>
                    <a:pt x="0" y="0"/>
                  </a:moveTo>
                  <a:lnTo>
                    <a:pt x="0" y="107353"/>
                  </a:lnTo>
                  <a:lnTo>
                    <a:pt x="120000" y="107353"/>
                  </a:lnTo>
                  <a:lnTo>
                    <a:pt x="120000" y="120000"/>
                  </a:lnTo>
                </a:path>
              </a:pathLst>
            </a:custGeom>
            <a:noFill/>
            <a:ln cap="rnd" cmpd="sng" w="19050">
              <a:solidFill>
                <a:srgbClr val="81AF1F"/>
              </a:solidFill>
              <a:prstDash val="solid"/>
              <a:round/>
              <a:headEnd len="sm" w="sm" type="none"/>
              <a:tailEnd len="sm" w="sm" type="none"/>
            </a:ln>
          </p:spPr>
        </p:sp>
        <p:sp>
          <p:nvSpPr>
            <p:cNvPr id="449" name="Google Shape;449;p34"/>
            <p:cNvSpPr/>
            <p:nvPr/>
          </p:nvSpPr>
          <p:spPr>
            <a:xfrm>
              <a:off x="10225600" y="2509137"/>
              <a:ext cx="118438" cy="1130272"/>
            </a:xfrm>
            <a:custGeom>
              <a:rect b="b" l="l" r="r" t="t"/>
              <a:pathLst>
                <a:path extrusionOk="0" h="120000" w="120000">
                  <a:moveTo>
                    <a:pt x="120000" y="0"/>
                  </a:moveTo>
                  <a:lnTo>
                    <a:pt x="120000" y="112924"/>
                  </a:lnTo>
                  <a:lnTo>
                    <a:pt x="0" y="112924"/>
                  </a:lnTo>
                  <a:lnTo>
                    <a:pt x="0" y="120000"/>
                  </a:lnTo>
                </a:path>
              </a:pathLst>
            </a:custGeom>
            <a:noFill/>
            <a:ln cap="rnd" cmpd="sng" w="19050">
              <a:solidFill>
                <a:srgbClr val="81AF1F"/>
              </a:solidFill>
              <a:prstDash val="solid"/>
              <a:round/>
              <a:headEnd len="sm" w="sm" type="none"/>
              <a:tailEnd len="sm" w="sm" type="none"/>
            </a:ln>
          </p:spPr>
        </p:sp>
        <p:sp>
          <p:nvSpPr>
            <p:cNvPr id="450" name="Google Shape;450;p34"/>
            <p:cNvSpPr/>
            <p:nvPr/>
          </p:nvSpPr>
          <p:spPr>
            <a:xfrm>
              <a:off x="9110494" y="2509137"/>
              <a:ext cx="1233544" cy="387267"/>
            </a:xfrm>
            <a:custGeom>
              <a:rect b="b" l="l" r="r" t="t"/>
              <a:pathLst>
                <a:path extrusionOk="0" h="120000" w="120000">
                  <a:moveTo>
                    <a:pt x="120000" y="0"/>
                  </a:moveTo>
                  <a:lnTo>
                    <a:pt x="120000" y="99349"/>
                  </a:lnTo>
                  <a:lnTo>
                    <a:pt x="0" y="99349"/>
                  </a:lnTo>
                  <a:lnTo>
                    <a:pt x="0" y="120000"/>
                  </a:lnTo>
                </a:path>
              </a:pathLst>
            </a:custGeom>
            <a:noFill/>
            <a:ln cap="rnd" cmpd="sng" w="19050">
              <a:solidFill>
                <a:srgbClr val="81AF1F"/>
              </a:solidFill>
              <a:prstDash val="solid"/>
              <a:round/>
              <a:headEnd len="sm" w="sm" type="none"/>
              <a:tailEnd len="sm" w="sm" type="none"/>
            </a:ln>
          </p:spPr>
        </p:sp>
        <p:sp>
          <p:nvSpPr>
            <p:cNvPr id="451" name="Google Shape;451;p34"/>
            <p:cNvSpPr/>
            <p:nvPr/>
          </p:nvSpPr>
          <p:spPr>
            <a:xfrm>
              <a:off x="7081386" y="1435858"/>
              <a:ext cx="3262652" cy="430954"/>
            </a:xfrm>
            <a:custGeom>
              <a:rect b="b" l="l" r="r" t="t"/>
              <a:pathLst>
                <a:path extrusionOk="0" h="120000" w="120000">
                  <a:moveTo>
                    <a:pt x="0" y="0"/>
                  </a:moveTo>
                  <a:lnTo>
                    <a:pt x="0" y="101442"/>
                  </a:lnTo>
                  <a:lnTo>
                    <a:pt x="120000" y="101442"/>
                  </a:lnTo>
                  <a:lnTo>
                    <a:pt x="120000" y="120000"/>
                  </a:lnTo>
                </a:path>
              </a:pathLst>
            </a:custGeom>
            <a:noFill/>
            <a:ln cap="rnd" cmpd="sng" w="19050">
              <a:solidFill>
                <a:srgbClr val="71991B"/>
              </a:solidFill>
              <a:prstDash val="solid"/>
              <a:round/>
              <a:headEnd len="sm" w="sm" type="none"/>
              <a:tailEnd len="sm" w="sm" type="none"/>
            </a:ln>
          </p:spPr>
        </p:sp>
        <p:sp>
          <p:nvSpPr>
            <p:cNvPr id="452" name="Google Shape;452;p34"/>
            <p:cNvSpPr/>
            <p:nvPr/>
          </p:nvSpPr>
          <p:spPr>
            <a:xfrm>
              <a:off x="6104908" y="2690001"/>
              <a:ext cx="1280219" cy="1024274"/>
            </a:xfrm>
            <a:custGeom>
              <a:rect b="b" l="l" r="r" t="t"/>
              <a:pathLst>
                <a:path extrusionOk="0" h="120000" w="120000">
                  <a:moveTo>
                    <a:pt x="0" y="0"/>
                  </a:moveTo>
                  <a:lnTo>
                    <a:pt x="0" y="112192"/>
                  </a:lnTo>
                  <a:lnTo>
                    <a:pt x="120000" y="112192"/>
                  </a:lnTo>
                  <a:lnTo>
                    <a:pt x="120000" y="120000"/>
                  </a:lnTo>
                </a:path>
              </a:pathLst>
            </a:custGeom>
            <a:noFill/>
            <a:ln cap="rnd" cmpd="sng" w="19050">
              <a:solidFill>
                <a:srgbClr val="81AF1F"/>
              </a:solidFill>
              <a:prstDash val="solid"/>
              <a:round/>
              <a:headEnd len="sm" w="sm" type="none"/>
              <a:tailEnd len="sm" w="sm" type="none"/>
            </a:ln>
          </p:spPr>
        </p:sp>
        <p:sp>
          <p:nvSpPr>
            <p:cNvPr id="453" name="Google Shape;453;p34"/>
            <p:cNvSpPr/>
            <p:nvPr/>
          </p:nvSpPr>
          <p:spPr>
            <a:xfrm>
              <a:off x="5199866" y="2690001"/>
              <a:ext cx="905042" cy="995781"/>
            </a:xfrm>
            <a:custGeom>
              <a:rect b="b" l="l" r="r" t="t"/>
              <a:pathLst>
                <a:path extrusionOk="0" h="120000" w="120000">
                  <a:moveTo>
                    <a:pt x="120000" y="0"/>
                  </a:moveTo>
                  <a:lnTo>
                    <a:pt x="120000" y="111969"/>
                  </a:lnTo>
                  <a:lnTo>
                    <a:pt x="0" y="111969"/>
                  </a:lnTo>
                  <a:lnTo>
                    <a:pt x="0" y="120000"/>
                  </a:lnTo>
                </a:path>
              </a:pathLst>
            </a:custGeom>
            <a:noFill/>
            <a:ln cap="rnd" cmpd="sng" w="19050">
              <a:solidFill>
                <a:srgbClr val="81AF1F"/>
              </a:solidFill>
              <a:prstDash val="solid"/>
              <a:round/>
              <a:headEnd len="sm" w="sm" type="none"/>
              <a:tailEnd len="sm" w="sm" type="none"/>
            </a:ln>
          </p:spPr>
        </p:sp>
        <p:sp>
          <p:nvSpPr>
            <p:cNvPr id="454" name="Google Shape;454;p34"/>
            <p:cNvSpPr/>
            <p:nvPr/>
          </p:nvSpPr>
          <p:spPr>
            <a:xfrm>
              <a:off x="6104908" y="1435858"/>
              <a:ext cx="976477" cy="537853"/>
            </a:xfrm>
            <a:custGeom>
              <a:rect b="b" l="l" r="r" t="t"/>
              <a:pathLst>
                <a:path extrusionOk="0" h="120000" w="120000">
                  <a:moveTo>
                    <a:pt x="120000" y="0"/>
                  </a:moveTo>
                  <a:lnTo>
                    <a:pt x="120000" y="105131"/>
                  </a:lnTo>
                  <a:lnTo>
                    <a:pt x="0" y="105131"/>
                  </a:lnTo>
                  <a:lnTo>
                    <a:pt x="0" y="120000"/>
                  </a:lnTo>
                </a:path>
              </a:pathLst>
            </a:custGeom>
            <a:noFill/>
            <a:ln cap="rnd" cmpd="sng" w="19050">
              <a:solidFill>
                <a:srgbClr val="71991B"/>
              </a:solidFill>
              <a:prstDash val="solid"/>
              <a:round/>
              <a:headEnd len="sm" w="sm" type="none"/>
              <a:tailEnd len="sm" w="sm" type="none"/>
            </a:ln>
          </p:spPr>
        </p:sp>
        <p:sp>
          <p:nvSpPr>
            <p:cNvPr id="455" name="Google Shape;455;p34"/>
            <p:cNvSpPr/>
            <p:nvPr/>
          </p:nvSpPr>
          <p:spPr>
            <a:xfrm>
              <a:off x="2330875" y="2597598"/>
              <a:ext cx="1624974" cy="391068"/>
            </a:xfrm>
            <a:custGeom>
              <a:rect b="b" l="l" r="r" t="t"/>
              <a:pathLst>
                <a:path extrusionOk="0" h="120000" w="120000">
                  <a:moveTo>
                    <a:pt x="0" y="0"/>
                  </a:moveTo>
                  <a:lnTo>
                    <a:pt x="0" y="99550"/>
                  </a:lnTo>
                  <a:lnTo>
                    <a:pt x="120000" y="99550"/>
                  </a:lnTo>
                  <a:lnTo>
                    <a:pt x="120000" y="120000"/>
                  </a:lnTo>
                </a:path>
              </a:pathLst>
            </a:custGeom>
            <a:noFill/>
            <a:ln cap="rnd" cmpd="sng" w="19050">
              <a:solidFill>
                <a:srgbClr val="81AF1F"/>
              </a:solidFill>
              <a:prstDash val="solid"/>
              <a:round/>
              <a:headEnd len="sm" w="sm" type="none"/>
              <a:tailEnd len="sm" w="sm" type="none"/>
            </a:ln>
          </p:spPr>
        </p:sp>
        <p:sp>
          <p:nvSpPr>
            <p:cNvPr id="456" name="Google Shape;456;p34"/>
            <p:cNvSpPr/>
            <p:nvPr/>
          </p:nvSpPr>
          <p:spPr>
            <a:xfrm>
              <a:off x="2330875" y="2597598"/>
              <a:ext cx="310955" cy="848489"/>
            </a:xfrm>
            <a:custGeom>
              <a:rect b="b" l="l" r="r" t="t"/>
              <a:pathLst>
                <a:path extrusionOk="0" h="120000" w="120000">
                  <a:moveTo>
                    <a:pt x="0" y="0"/>
                  </a:moveTo>
                  <a:lnTo>
                    <a:pt x="0" y="110574"/>
                  </a:lnTo>
                  <a:lnTo>
                    <a:pt x="120000" y="110574"/>
                  </a:lnTo>
                  <a:lnTo>
                    <a:pt x="120000" y="120000"/>
                  </a:lnTo>
                </a:path>
              </a:pathLst>
            </a:custGeom>
            <a:noFill/>
            <a:ln cap="rnd" cmpd="sng" w="19050">
              <a:solidFill>
                <a:srgbClr val="81AF1F"/>
              </a:solidFill>
              <a:prstDash val="solid"/>
              <a:round/>
              <a:headEnd len="sm" w="sm" type="none"/>
              <a:tailEnd len="sm" w="sm" type="none"/>
            </a:ln>
          </p:spPr>
        </p:sp>
        <p:sp>
          <p:nvSpPr>
            <p:cNvPr id="457" name="Google Shape;457;p34"/>
            <p:cNvSpPr/>
            <p:nvPr/>
          </p:nvSpPr>
          <p:spPr>
            <a:xfrm>
              <a:off x="1677712" y="2597598"/>
              <a:ext cx="653162" cy="1004137"/>
            </a:xfrm>
            <a:custGeom>
              <a:rect b="b" l="l" r="r" t="t"/>
              <a:pathLst>
                <a:path extrusionOk="0" h="120000" w="120000">
                  <a:moveTo>
                    <a:pt x="120000" y="0"/>
                  </a:moveTo>
                  <a:lnTo>
                    <a:pt x="120000" y="112035"/>
                  </a:lnTo>
                  <a:lnTo>
                    <a:pt x="0" y="112035"/>
                  </a:lnTo>
                  <a:lnTo>
                    <a:pt x="0" y="120000"/>
                  </a:lnTo>
                </a:path>
              </a:pathLst>
            </a:custGeom>
            <a:noFill/>
            <a:ln cap="rnd" cmpd="sng" w="19050">
              <a:solidFill>
                <a:srgbClr val="81AF1F"/>
              </a:solidFill>
              <a:prstDash val="solid"/>
              <a:round/>
              <a:headEnd len="sm" w="sm" type="none"/>
              <a:tailEnd len="sm" w="sm" type="none"/>
            </a:ln>
          </p:spPr>
        </p:sp>
        <p:sp>
          <p:nvSpPr>
            <p:cNvPr id="458" name="Google Shape;458;p34"/>
            <p:cNvSpPr/>
            <p:nvPr/>
          </p:nvSpPr>
          <p:spPr>
            <a:xfrm>
              <a:off x="626224" y="2597598"/>
              <a:ext cx="1704650" cy="423736"/>
            </a:xfrm>
            <a:custGeom>
              <a:rect b="b" l="l" r="r" t="t"/>
              <a:pathLst>
                <a:path extrusionOk="0" h="120000" w="120000">
                  <a:moveTo>
                    <a:pt x="120000" y="0"/>
                  </a:moveTo>
                  <a:lnTo>
                    <a:pt x="120000" y="101126"/>
                  </a:lnTo>
                  <a:lnTo>
                    <a:pt x="0" y="101126"/>
                  </a:lnTo>
                  <a:lnTo>
                    <a:pt x="0" y="120000"/>
                  </a:lnTo>
                </a:path>
              </a:pathLst>
            </a:custGeom>
            <a:noFill/>
            <a:ln cap="rnd" cmpd="sng" w="19050">
              <a:solidFill>
                <a:srgbClr val="81AF1F"/>
              </a:solidFill>
              <a:prstDash val="solid"/>
              <a:round/>
              <a:headEnd len="sm" w="sm" type="none"/>
              <a:tailEnd len="sm" w="sm" type="none"/>
            </a:ln>
          </p:spPr>
        </p:sp>
        <p:sp>
          <p:nvSpPr>
            <p:cNvPr id="459" name="Google Shape;459;p34"/>
            <p:cNvSpPr/>
            <p:nvPr/>
          </p:nvSpPr>
          <p:spPr>
            <a:xfrm>
              <a:off x="2330875" y="1435858"/>
              <a:ext cx="4750510" cy="430954"/>
            </a:xfrm>
            <a:custGeom>
              <a:rect b="b" l="l" r="r" t="t"/>
              <a:pathLst>
                <a:path extrusionOk="0" h="120000" w="120000">
                  <a:moveTo>
                    <a:pt x="120000" y="0"/>
                  </a:moveTo>
                  <a:lnTo>
                    <a:pt x="120000" y="101442"/>
                  </a:lnTo>
                  <a:lnTo>
                    <a:pt x="0" y="101442"/>
                  </a:lnTo>
                  <a:lnTo>
                    <a:pt x="0" y="120000"/>
                  </a:lnTo>
                </a:path>
              </a:pathLst>
            </a:custGeom>
            <a:noFill/>
            <a:ln cap="rnd" cmpd="sng" w="19050">
              <a:solidFill>
                <a:srgbClr val="71991B"/>
              </a:solidFill>
              <a:prstDash val="solid"/>
              <a:round/>
              <a:headEnd len="sm" w="sm" type="none"/>
              <a:tailEnd len="sm" w="sm" type="none"/>
            </a:ln>
          </p:spPr>
        </p:sp>
        <p:sp>
          <p:nvSpPr>
            <p:cNvPr id="460" name="Google Shape;460;p34"/>
            <p:cNvSpPr/>
            <p:nvPr/>
          </p:nvSpPr>
          <p:spPr>
            <a:xfrm>
              <a:off x="5631908" y="743955"/>
              <a:ext cx="2898954" cy="691903"/>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4"/>
            <p:cNvSpPr/>
            <p:nvPr/>
          </p:nvSpPr>
          <p:spPr>
            <a:xfrm>
              <a:off x="5711844" y="819893"/>
              <a:ext cx="2898954" cy="691903"/>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4"/>
            <p:cNvSpPr txBox="1"/>
            <p:nvPr/>
          </p:nvSpPr>
          <p:spPr>
            <a:xfrm>
              <a:off x="5732109" y="840158"/>
              <a:ext cx="2858424" cy="651373"/>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2400"/>
                <a:buFont typeface="Trebuchet MS"/>
                <a:buNone/>
              </a:pPr>
              <a:r>
                <a:rPr lang="en-US" sz="2400">
                  <a:solidFill>
                    <a:schemeClr val="dk1"/>
                  </a:solidFill>
                  <a:latin typeface="Trebuchet MS"/>
                  <a:ea typeface="Trebuchet MS"/>
                  <a:cs typeface="Trebuchet MS"/>
                  <a:sym typeface="Trebuchet MS"/>
                </a:rPr>
                <a:t>Types of Disk </a:t>
              </a:r>
              <a:endParaRPr/>
            </a:p>
            <a:p>
              <a:pPr indent="0" lvl="0" marL="0" marR="0" rtl="0" algn="ctr">
                <a:lnSpc>
                  <a:spcPct val="90000"/>
                </a:lnSpc>
                <a:spcBef>
                  <a:spcPts val="840"/>
                </a:spcBef>
                <a:spcAft>
                  <a:spcPts val="0"/>
                </a:spcAft>
                <a:buClr>
                  <a:schemeClr val="dk1"/>
                </a:buClr>
                <a:buSzPts val="2400"/>
                <a:buFont typeface="Trebuchet MS"/>
                <a:buNone/>
              </a:pPr>
              <a:r>
                <a:rPr lang="en-US" sz="2400">
                  <a:solidFill>
                    <a:schemeClr val="dk1"/>
                  </a:solidFill>
                  <a:latin typeface="Trebuchet MS"/>
                  <a:ea typeface="Trebuchet MS"/>
                  <a:cs typeface="Trebuchet MS"/>
                  <a:sym typeface="Trebuchet MS"/>
                </a:rPr>
                <a:t>Attachment</a:t>
              </a:r>
              <a:endParaRPr/>
            </a:p>
          </p:txBody>
        </p:sp>
        <p:sp>
          <p:nvSpPr>
            <p:cNvPr id="463" name="Google Shape;463;p34"/>
            <p:cNvSpPr/>
            <p:nvPr/>
          </p:nvSpPr>
          <p:spPr>
            <a:xfrm>
              <a:off x="1199209" y="1866813"/>
              <a:ext cx="2263332" cy="730784"/>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4"/>
            <p:cNvSpPr/>
            <p:nvPr/>
          </p:nvSpPr>
          <p:spPr>
            <a:xfrm>
              <a:off x="1279144" y="1942752"/>
              <a:ext cx="2263332" cy="730784"/>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4"/>
            <p:cNvSpPr txBox="1"/>
            <p:nvPr/>
          </p:nvSpPr>
          <p:spPr>
            <a:xfrm>
              <a:off x="1300548" y="1964156"/>
              <a:ext cx="2220524" cy="687976"/>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Host-Attached Storage</a:t>
              </a:r>
              <a:endParaRPr/>
            </a:p>
          </p:txBody>
        </p:sp>
        <p:sp>
          <p:nvSpPr>
            <p:cNvPr id="466" name="Google Shape;466;p34"/>
            <p:cNvSpPr/>
            <p:nvPr/>
          </p:nvSpPr>
          <p:spPr>
            <a:xfrm>
              <a:off x="9490" y="3021335"/>
              <a:ext cx="1233467" cy="675316"/>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4"/>
            <p:cNvSpPr/>
            <p:nvPr/>
          </p:nvSpPr>
          <p:spPr>
            <a:xfrm>
              <a:off x="89426" y="3097274"/>
              <a:ext cx="1233467" cy="675316"/>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4"/>
            <p:cNvSpPr txBox="1"/>
            <p:nvPr/>
          </p:nvSpPr>
          <p:spPr>
            <a:xfrm>
              <a:off x="109205" y="3117053"/>
              <a:ext cx="1193909" cy="63575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IDE/PATA</a:t>
              </a:r>
              <a:endParaRPr/>
            </a:p>
          </p:txBody>
        </p:sp>
        <p:sp>
          <p:nvSpPr>
            <p:cNvPr id="469" name="Google Shape;469;p34"/>
            <p:cNvSpPr/>
            <p:nvPr/>
          </p:nvSpPr>
          <p:spPr>
            <a:xfrm>
              <a:off x="1318002" y="3601735"/>
              <a:ext cx="719420" cy="456831"/>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4"/>
            <p:cNvSpPr/>
            <p:nvPr/>
          </p:nvSpPr>
          <p:spPr>
            <a:xfrm>
              <a:off x="1397938" y="3677674"/>
              <a:ext cx="719420" cy="456831"/>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4"/>
            <p:cNvSpPr txBox="1"/>
            <p:nvPr/>
          </p:nvSpPr>
          <p:spPr>
            <a:xfrm>
              <a:off x="1411318" y="3691054"/>
              <a:ext cx="692660" cy="430071"/>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SATA</a:t>
              </a:r>
              <a:endParaRPr/>
            </a:p>
          </p:txBody>
        </p:sp>
        <p:sp>
          <p:nvSpPr>
            <p:cNvPr id="472" name="Google Shape;472;p34"/>
            <p:cNvSpPr/>
            <p:nvPr/>
          </p:nvSpPr>
          <p:spPr>
            <a:xfrm>
              <a:off x="2282120" y="3446088"/>
              <a:ext cx="719420" cy="456831"/>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4"/>
            <p:cNvSpPr/>
            <p:nvPr/>
          </p:nvSpPr>
          <p:spPr>
            <a:xfrm>
              <a:off x="2362056" y="3522027"/>
              <a:ext cx="719420" cy="456831"/>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4"/>
            <p:cNvSpPr txBox="1"/>
            <p:nvPr/>
          </p:nvSpPr>
          <p:spPr>
            <a:xfrm>
              <a:off x="2375436" y="3535407"/>
              <a:ext cx="692660" cy="430071"/>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SCSI</a:t>
              </a:r>
              <a:endParaRPr/>
            </a:p>
          </p:txBody>
        </p:sp>
        <p:sp>
          <p:nvSpPr>
            <p:cNvPr id="475" name="Google Shape;475;p34"/>
            <p:cNvSpPr/>
            <p:nvPr/>
          </p:nvSpPr>
          <p:spPr>
            <a:xfrm>
              <a:off x="3161412" y="2988667"/>
              <a:ext cx="1588875" cy="502761"/>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4"/>
            <p:cNvSpPr/>
            <p:nvPr/>
          </p:nvSpPr>
          <p:spPr>
            <a:xfrm>
              <a:off x="3241347" y="3064606"/>
              <a:ext cx="1588875" cy="502761"/>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4"/>
            <p:cNvSpPr txBox="1"/>
            <p:nvPr/>
          </p:nvSpPr>
          <p:spPr>
            <a:xfrm>
              <a:off x="3256072" y="3079331"/>
              <a:ext cx="1559425" cy="473311"/>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NVMe (over PCLe)</a:t>
              </a:r>
              <a:endParaRPr/>
            </a:p>
          </p:txBody>
        </p:sp>
        <p:sp>
          <p:nvSpPr>
            <p:cNvPr id="478" name="Google Shape;478;p34"/>
            <p:cNvSpPr/>
            <p:nvPr/>
          </p:nvSpPr>
          <p:spPr>
            <a:xfrm>
              <a:off x="4995141" y="1973712"/>
              <a:ext cx="2219533" cy="716289"/>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4"/>
            <p:cNvSpPr/>
            <p:nvPr/>
          </p:nvSpPr>
          <p:spPr>
            <a:xfrm>
              <a:off x="5075077" y="2049651"/>
              <a:ext cx="2219533" cy="716289"/>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4"/>
            <p:cNvSpPr txBox="1"/>
            <p:nvPr/>
          </p:nvSpPr>
          <p:spPr>
            <a:xfrm>
              <a:off x="5096056" y="2070630"/>
              <a:ext cx="2177575" cy="674331"/>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Network-Attached Storage (NAS)</a:t>
              </a:r>
              <a:endParaRPr/>
            </a:p>
          </p:txBody>
        </p:sp>
        <p:sp>
          <p:nvSpPr>
            <p:cNvPr id="481" name="Google Shape;481;p34"/>
            <p:cNvSpPr/>
            <p:nvPr/>
          </p:nvSpPr>
          <p:spPr>
            <a:xfrm>
              <a:off x="4288026" y="3685783"/>
              <a:ext cx="1823680" cy="531427"/>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4"/>
            <p:cNvSpPr/>
            <p:nvPr/>
          </p:nvSpPr>
          <p:spPr>
            <a:xfrm>
              <a:off x="4367961" y="3761722"/>
              <a:ext cx="1823680" cy="531427"/>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4"/>
            <p:cNvSpPr txBox="1"/>
            <p:nvPr/>
          </p:nvSpPr>
          <p:spPr>
            <a:xfrm>
              <a:off x="4383526" y="3777287"/>
              <a:ext cx="1792550" cy="50029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NFS (Linux/UNIX)</a:t>
              </a:r>
              <a:endParaRPr/>
            </a:p>
          </p:txBody>
        </p:sp>
        <p:sp>
          <p:nvSpPr>
            <p:cNvPr id="484" name="Google Shape;484;p34"/>
            <p:cNvSpPr/>
            <p:nvPr/>
          </p:nvSpPr>
          <p:spPr>
            <a:xfrm>
              <a:off x="6624524" y="3714276"/>
              <a:ext cx="1521206" cy="491144"/>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4"/>
            <p:cNvSpPr/>
            <p:nvPr/>
          </p:nvSpPr>
          <p:spPr>
            <a:xfrm>
              <a:off x="6704460" y="3790214"/>
              <a:ext cx="1521206" cy="491144"/>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
            <p:cNvSpPr txBox="1"/>
            <p:nvPr/>
          </p:nvSpPr>
          <p:spPr>
            <a:xfrm>
              <a:off x="6718845" y="3804599"/>
              <a:ext cx="1492436" cy="462374"/>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SMB/CIFS (Windows)</a:t>
              </a:r>
              <a:endParaRPr/>
            </a:p>
          </p:txBody>
        </p:sp>
        <p:sp>
          <p:nvSpPr>
            <p:cNvPr id="487" name="Google Shape;487;p34"/>
            <p:cNvSpPr/>
            <p:nvPr/>
          </p:nvSpPr>
          <p:spPr>
            <a:xfrm>
              <a:off x="8893270" y="1866813"/>
              <a:ext cx="2901537" cy="642323"/>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4"/>
            <p:cNvSpPr/>
            <p:nvPr/>
          </p:nvSpPr>
          <p:spPr>
            <a:xfrm>
              <a:off x="8973205" y="1942752"/>
              <a:ext cx="2901537" cy="642323"/>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4"/>
            <p:cNvSpPr txBox="1"/>
            <p:nvPr/>
          </p:nvSpPr>
          <p:spPr>
            <a:xfrm>
              <a:off x="8992018" y="1961565"/>
              <a:ext cx="2863911" cy="60469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Storage Area Network</a:t>
              </a:r>
              <a:endParaRPr/>
            </a:p>
            <a:p>
              <a:pPr indent="0" lvl="0" marL="0" marR="0" rtl="0" algn="ctr">
                <a:lnSpc>
                  <a:spcPct val="90000"/>
                </a:lnSpc>
                <a:spcBef>
                  <a:spcPts val="630"/>
                </a:spcBef>
                <a:spcAft>
                  <a:spcPts val="0"/>
                </a:spcAft>
                <a:buClr>
                  <a:schemeClr val="dk1"/>
                </a:buClr>
                <a:buSzPts val="1800"/>
                <a:buFont typeface="Trebuchet MS"/>
                <a:buNone/>
              </a:pPr>
              <a:r>
                <a:rPr lang="en-US" sz="1800">
                  <a:solidFill>
                    <a:schemeClr val="dk1"/>
                  </a:solidFill>
                  <a:latin typeface="Trebuchet MS"/>
                  <a:ea typeface="Trebuchet MS"/>
                  <a:cs typeface="Trebuchet MS"/>
                  <a:sym typeface="Trebuchet MS"/>
                </a:rPr>
                <a:t>(SAN)</a:t>
              </a:r>
              <a:endParaRPr/>
            </a:p>
          </p:txBody>
        </p:sp>
        <p:sp>
          <p:nvSpPr>
            <p:cNvPr id="490" name="Google Shape;490;p34"/>
            <p:cNvSpPr/>
            <p:nvPr/>
          </p:nvSpPr>
          <p:spPr>
            <a:xfrm>
              <a:off x="8355091" y="2896405"/>
              <a:ext cx="1510804" cy="677340"/>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4"/>
            <p:cNvSpPr/>
            <p:nvPr/>
          </p:nvSpPr>
          <p:spPr>
            <a:xfrm>
              <a:off x="8435027" y="2972344"/>
              <a:ext cx="1510804" cy="677340"/>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4"/>
            <p:cNvSpPr txBox="1"/>
            <p:nvPr/>
          </p:nvSpPr>
          <p:spPr>
            <a:xfrm>
              <a:off x="8454866" y="2992183"/>
              <a:ext cx="1471126" cy="637662"/>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b="1" lang="en-US" sz="1800">
                  <a:solidFill>
                    <a:schemeClr val="dk1"/>
                  </a:solidFill>
                  <a:latin typeface="Trebuchet MS"/>
                  <a:ea typeface="Trebuchet MS"/>
                  <a:cs typeface="Trebuchet MS"/>
                  <a:sym typeface="Trebuchet MS"/>
                </a:rPr>
                <a:t>Fibre Channel</a:t>
              </a:r>
              <a:endParaRPr sz="1800">
                <a:solidFill>
                  <a:schemeClr val="dk1"/>
                </a:solidFill>
                <a:latin typeface="Trebuchet MS"/>
                <a:ea typeface="Trebuchet MS"/>
                <a:cs typeface="Trebuchet MS"/>
                <a:sym typeface="Trebuchet MS"/>
              </a:endParaRPr>
            </a:p>
          </p:txBody>
        </p:sp>
        <p:sp>
          <p:nvSpPr>
            <p:cNvPr id="493" name="Google Shape;493;p34"/>
            <p:cNvSpPr/>
            <p:nvPr/>
          </p:nvSpPr>
          <p:spPr>
            <a:xfrm>
              <a:off x="9865890" y="3639410"/>
              <a:ext cx="719420" cy="456831"/>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4"/>
            <p:cNvSpPr/>
            <p:nvPr/>
          </p:nvSpPr>
          <p:spPr>
            <a:xfrm>
              <a:off x="9945826" y="3715349"/>
              <a:ext cx="719420" cy="456831"/>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4"/>
            <p:cNvSpPr txBox="1"/>
            <p:nvPr/>
          </p:nvSpPr>
          <p:spPr>
            <a:xfrm>
              <a:off x="9959206" y="3728729"/>
              <a:ext cx="692660" cy="430071"/>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b="1" lang="en-US" sz="1800">
                  <a:solidFill>
                    <a:schemeClr val="dk1"/>
                  </a:solidFill>
                  <a:latin typeface="Trebuchet MS"/>
                  <a:ea typeface="Trebuchet MS"/>
                  <a:cs typeface="Trebuchet MS"/>
                  <a:sym typeface="Trebuchet MS"/>
                </a:rPr>
                <a:t>SCSI</a:t>
              </a:r>
              <a:endParaRPr sz="1800">
                <a:solidFill>
                  <a:schemeClr val="dk1"/>
                </a:solidFill>
                <a:latin typeface="Trebuchet MS"/>
                <a:ea typeface="Trebuchet MS"/>
                <a:cs typeface="Trebuchet MS"/>
                <a:sym typeface="Trebuchet MS"/>
              </a:endParaRPr>
            </a:p>
          </p:txBody>
        </p:sp>
        <p:sp>
          <p:nvSpPr>
            <p:cNvPr id="496" name="Google Shape;496;p34"/>
            <p:cNvSpPr/>
            <p:nvPr/>
          </p:nvSpPr>
          <p:spPr>
            <a:xfrm>
              <a:off x="10622125" y="3141482"/>
              <a:ext cx="1282618" cy="357055"/>
            </a:xfrm>
            <a:prstGeom prst="roundRect">
              <a:avLst>
                <a:gd fmla="val 10000" name="adj"/>
              </a:avLst>
            </a:prstGeom>
            <a:gradFill>
              <a:gsLst>
                <a:gs pos="0">
                  <a:srgbClr val="96C443"/>
                </a:gs>
                <a:gs pos="78000">
                  <a:srgbClr val="83B01F"/>
                </a:gs>
                <a:gs pos="100000">
                  <a:srgbClr val="83B01F"/>
                </a:gs>
              </a:gsLst>
              <a:lin ang="5400000" scaled="0"/>
            </a:gradFill>
            <a:ln>
              <a:noFill/>
            </a:ln>
            <a:effectLst>
              <a:outerShdw blurRad="50800" rotWithShape="0"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4"/>
            <p:cNvSpPr/>
            <p:nvPr/>
          </p:nvSpPr>
          <p:spPr>
            <a:xfrm>
              <a:off x="10702060" y="3217420"/>
              <a:ext cx="1282618" cy="357055"/>
            </a:xfrm>
            <a:prstGeom prst="roundRect">
              <a:avLst>
                <a:gd fmla="val 10000" name="adj"/>
              </a:avLst>
            </a:prstGeom>
            <a:solidFill>
              <a:schemeClr val="lt1">
                <a:alpha val="90196"/>
              </a:schemeClr>
            </a:solidFill>
            <a:ln cap="rnd" cmpd="sng" w="12700">
              <a:solidFill>
                <a:srgbClr val="90C223"/>
              </a:solidFill>
              <a:prstDash val="solid"/>
              <a:round/>
              <a:headEnd len="sm" w="sm" type="none"/>
              <a:tailEnd len="sm" w="sm" type="none"/>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4"/>
            <p:cNvSpPr txBox="1"/>
            <p:nvPr/>
          </p:nvSpPr>
          <p:spPr>
            <a:xfrm>
              <a:off x="10712518" y="3227878"/>
              <a:ext cx="1261702" cy="336139"/>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Trebuchet MS"/>
                <a:buNone/>
              </a:pPr>
              <a:r>
                <a:rPr b="1" lang="en-US" sz="1800">
                  <a:solidFill>
                    <a:schemeClr val="dk1"/>
                  </a:solidFill>
                  <a:latin typeface="Trebuchet MS"/>
                  <a:ea typeface="Trebuchet MS"/>
                  <a:cs typeface="Trebuchet MS"/>
                  <a:sym typeface="Trebuchet MS"/>
                </a:rPr>
                <a:t>InfiniBand</a:t>
              </a:r>
              <a:endParaRPr sz="1800">
                <a:solidFill>
                  <a:schemeClr val="dk1"/>
                </a:solidFill>
                <a:latin typeface="Trebuchet MS"/>
                <a:ea typeface="Trebuchet MS"/>
                <a:cs typeface="Trebuchet MS"/>
                <a:sym typeface="Trebuchet M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5"/>
          <p:cNvSpPr txBox="1"/>
          <p:nvPr>
            <p:ph type="title"/>
          </p:nvPr>
        </p:nvSpPr>
        <p:spPr>
          <a:xfrm>
            <a:off x="677334" y="609600"/>
            <a:ext cx="9762066"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Comparison of Disk attachment methods</a:t>
            </a:r>
            <a:endParaRPr/>
          </a:p>
        </p:txBody>
      </p:sp>
      <p:graphicFrame>
        <p:nvGraphicFramePr>
          <p:cNvPr id="504" name="Google Shape;504;p35"/>
          <p:cNvGraphicFramePr/>
          <p:nvPr/>
        </p:nvGraphicFramePr>
        <p:xfrm>
          <a:off x="677862" y="2160588"/>
          <a:ext cx="3000000" cy="3000000"/>
        </p:xfrm>
        <a:graphic>
          <a:graphicData uri="http://schemas.openxmlformats.org/drawingml/2006/table">
            <a:tbl>
              <a:tblPr bandRow="1" firstRow="1">
                <a:noFill/>
                <a:tableStyleId>{41ACF7A9-66BB-41A0-8653-9AB85E6FF4AD}</a:tableStyleId>
              </a:tblPr>
              <a:tblGrid>
                <a:gridCol w="2332425"/>
                <a:gridCol w="2332425"/>
                <a:gridCol w="2332425"/>
                <a:gridCol w="2332425"/>
              </a:tblGrid>
              <a:tr h="475575">
                <a:tc>
                  <a:txBody>
                    <a:bodyPr/>
                    <a:lstStyle/>
                    <a:p>
                      <a:pPr indent="0" lvl="0" marL="0" marR="0" rtl="0" algn="l">
                        <a:spcBef>
                          <a:spcPts val="0"/>
                        </a:spcBef>
                        <a:spcAft>
                          <a:spcPts val="0"/>
                        </a:spcAft>
                        <a:buClr>
                          <a:schemeClr val="dk1"/>
                        </a:buClr>
                        <a:buSzPts val="2400"/>
                        <a:buFont typeface="Trebuchet MS"/>
                        <a:buNone/>
                      </a:pPr>
                      <a:r>
                        <a:rPr lang="en-US" sz="2400" u="none" cap="none" strike="noStrike"/>
                        <a:t>Feature</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Host-Attached</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NAS</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SAN</a:t>
                      </a:r>
                      <a:endParaRPr/>
                    </a:p>
                  </a:txBody>
                  <a:tcPr marT="45725" marB="45725" marR="91450" marL="91450" anchor="ctr"/>
                </a:tc>
              </a:tr>
              <a:tr h="475575">
                <a:tc>
                  <a:txBody>
                    <a:bodyPr/>
                    <a:lstStyle/>
                    <a:p>
                      <a:pPr indent="0" lvl="0" marL="0" marR="0" rtl="0" algn="l">
                        <a:spcBef>
                          <a:spcPts val="0"/>
                        </a:spcBef>
                        <a:spcAft>
                          <a:spcPts val="0"/>
                        </a:spcAft>
                        <a:buClr>
                          <a:schemeClr val="dk1"/>
                        </a:buClr>
                        <a:buSzPts val="2400"/>
                        <a:buFont typeface="Trebuchet MS"/>
                        <a:buNone/>
                      </a:pPr>
                      <a:r>
                        <a:rPr lang="en-US" sz="2400" u="none" cap="none" strike="noStrike"/>
                        <a:t>Connection</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Direct</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Network</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Dedicated network</a:t>
                      </a:r>
                      <a:endParaRPr/>
                    </a:p>
                  </a:txBody>
                  <a:tcPr marT="45725" marB="45725" marR="91450" marL="91450" anchor="ctr"/>
                </a:tc>
              </a:tr>
              <a:tr h="475575">
                <a:tc>
                  <a:txBody>
                    <a:bodyPr/>
                    <a:lstStyle/>
                    <a:p>
                      <a:pPr indent="0" lvl="0" marL="0" marR="0" rtl="0" algn="l">
                        <a:spcBef>
                          <a:spcPts val="0"/>
                        </a:spcBef>
                        <a:spcAft>
                          <a:spcPts val="0"/>
                        </a:spcAft>
                        <a:buClr>
                          <a:schemeClr val="dk1"/>
                        </a:buClr>
                        <a:buSzPts val="2400"/>
                        <a:buFont typeface="Trebuchet MS"/>
                        <a:buNone/>
                      </a:pPr>
                      <a:r>
                        <a:rPr lang="en-US" sz="2400" u="none" cap="none" strike="noStrike"/>
                        <a:t>Access type</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Block-level</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File-level</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Block-level</a:t>
                      </a:r>
                      <a:endParaRPr/>
                    </a:p>
                  </a:txBody>
                  <a:tcPr marT="45725" marB="45725" marR="91450" marL="91450" anchor="ctr"/>
                </a:tc>
              </a:tr>
              <a:tr h="475575">
                <a:tc>
                  <a:txBody>
                    <a:bodyPr/>
                    <a:lstStyle/>
                    <a:p>
                      <a:pPr indent="0" lvl="0" marL="0" marR="0" rtl="0" algn="l">
                        <a:spcBef>
                          <a:spcPts val="0"/>
                        </a:spcBef>
                        <a:spcAft>
                          <a:spcPts val="0"/>
                        </a:spcAft>
                        <a:buClr>
                          <a:schemeClr val="dk1"/>
                        </a:buClr>
                        <a:buSzPts val="2400"/>
                        <a:buFont typeface="Trebuchet MS"/>
                        <a:buNone/>
                      </a:pPr>
                      <a:r>
                        <a:rPr lang="en-US" sz="2400" u="none" cap="none" strike="noStrike"/>
                        <a:t>Performance</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High</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Moderate</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Very high</a:t>
                      </a:r>
                      <a:endParaRPr/>
                    </a:p>
                  </a:txBody>
                  <a:tcPr marT="45725" marB="45725" marR="91450" marL="91450" anchor="ctr"/>
                </a:tc>
              </a:tr>
              <a:tr h="820875">
                <a:tc>
                  <a:txBody>
                    <a:bodyPr/>
                    <a:lstStyle/>
                    <a:p>
                      <a:pPr indent="0" lvl="0" marL="0" marR="0" rtl="0" algn="l">
                        <a:spcBef>
                          <a:spcPts val="0"/>
                        </a:spcBef>
                        <a:spcAft>
                          <a:spcPts val="0"/>
                        </a:spcAft>
                        <a:buClr>
                          <a:schemeClr val="dk1"/>
                        </a:buClr>
                        <a:buSzPts val="2400"/>
                        <a:buFont typeface="Trebuchet MS"/>
                        <a:buNone/>
                      </a:pPr>
                      <a:r>
                        <a:rPr lang="en-US" sz="2400" u="none" cap="none" strike="noStrike"/>
                        <a:t>Sharing</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Limited</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Easy</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Complex but powerful</a:t>
                      </a:r>
                      <a:endParaRPr/>
                    </a:p>
                  </a:txBody>
                  <a:tcPr marT="45725" marB="45725" marR="91450" marL="91450" anchor="ctr"/>
                </a:tc>
              </a:tr>
              <a:tr h="475575">
                <a:tc>
                  <a:txBody>
                    <a:bodyPr/>
                    <a:lstStyle/>
                    <a:p>
                      <a:pPr indent="0" lvl="0" marL="0" marR="0" rtl="0" algn="l">
                        <a:spcBef>
                          <a:spcPts val="0"/>
                        </a:spcBef>
                        <a:spcAft>
                          <a:spcPts val="0"/>
                        </a:spcAft>
                        <a:buClr>
                          <a:schemeClr val="dk1"/>
                        </a:buClr>
                        <a:buSzPts val="2400"/>
                        <a:buFont typeface="Trebuchet MS"/>
                        <a:buNone/>
                      </a:pPr>
                      <a:r>
                        <a:rPr lang="en-US" sz="2400" u="none" cap="none" strike="noStrike"/>
                        <a:t>Cost</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Low</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Medium</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Trebuchet MS"/>
                        <a:buNone/>
                      </a:pPr>
                      <a:r>
                        <a:rPr lang="en-US" sz="2400" u="none" cap="none" strike="noStrike"/>
                        <a:t>High</a:t>
                      </a:r>
                      <a:endParaRPr/>
                    </a:p>
                  </a:txBody>
                  <a:tcPr marT="45725" marB="45725" marR="91450" marL="91450" anchor="ct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Redundant Array of Independent Disks</a:t>
            </a:r>
            <a:br>
              <a:rPr lang="en-US"/>
            </a:br>
            <a:r>
              <a:rPr lang="en-US"/>
              <a:t>(RAID)</a:t>
            </a:r>
            <a:endParaRPr/>
          </a:p>
        </p:txBody>
      </p:sp>
      <p:sp>
        <p:nvSpPr>
          <p:cNvPr id="511" name="Google Shape;511;p3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combines multiple physical drives into one or more logical units for data redundancy, improved performance, or both.</a:t>
            </a:r>
            <a:endParaRPr/>
          </a:p>
          <a:p>
            <a:pPr indent="-342900" lvl="0" marL="342900" rtl="0" algn="l">
              <a:spcBef>
                <a:spcPts val="1000"/>
              </a:spcBef>
              <a:spcAft>
                <a:spcPts val="0"/>
              </a:spcAft>
              <a:buSzPts val="1440"/>
              <a:buChar char="►"/>
            </a:pPr>
            <a:r>
              <a:rPr lang="en-US"/>
              <a:t>distributes data across drives using methods like striping (speed) or mirroring (fault tolerance)</a:t>
            </a:r>
            <a:endParaRPr/>
          </a:p>
          <a:p>
            <a:pPr indent="-342900" lvl="0" marL="342900" rtl="0" algn="l">
              <a:spcBef>
                <a:spcPts val="1000"/>
              </a:spcBef>
              <a:spcAft>
                <a:spcPts val="0"/>
              </a:spcAft>
              <a:buSzPts val="1440"/>
              <a:buChar char="►"/>
            </a:pPr>
            <a:r>
              <a:rPr lang="en-US"/>
              <a:t>Common levels include RAID 0, 1, 5, and 10, typically managed by a hardware controller or software within the operating system.</a:t>
            </a:r>
            <a:endParaRPr/>
          </a:p>
          <a:p>
            <a:pPr indent="0" lvl="0" marL="0" rtl="0" algn="l">
              <a:spcBef>
                <a:spcPts val="1000"/>
              </a:spcBef>
              <a:spcAft>
                <a:spcPts val="0"/>
              </a:spcAft>
              <a:buSzPts val="1440"/>
              <a:buNone/>
            </a:pPr>
            <a:r>
              <a:rPr b="1" lang="en-US"/>
              <a:t>Purpose:</a:t>
            </a:r>
            <a:r>
              <a:rPr lang="en-US"/>
              <a:t> Enhances reliability, increases storage capacity, and boosts read/write speeds.</a:t>
            </a:r>
            <a:endParaRPr/>
          </a:p>
          <a:p>
            <a:pPr indent="0" lvl="0" marL="0" rtl="0" algn="l">
              <a:spcBef>
                <a:spcPts val="1000"/>
              </a:spcBef>
              <a:spcAft>
                <a:spcPts val="0"/>
              </a:spcAft>
              <a:buSzPts val="1440"/>
              <a:buNone/>
            </a:pPr>
            <a:r>
              <a:rPr b="1" lang="en-US"/>
              <a:t>Functionality:</a:t>
            </a:r>
            <a:r>
              <a:rPr lang="en-US"/>
              <a:t> It treats multiple drives as a single logical volume, managing data to prevent loss if one drive fails.</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RAID</a:t>
            </a:r>
            <a:endParaRPr/>
          </a:p>
        </p:txBody>
      </p:sp>
      <p:sp>
        <p:nvSpPr>
          <p:cNvPr id="517" name="Google Shape;517;p3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Hard ware </a:t>
            </a:r>
            <a:endParaRPr/>
          </a:p>
          <a:p>
            <a:pPr indent="-342900" lvl="0" marL="342900" rtl="0" algn="l">
              <a:spcBef>
                <a:spcPts val="1000"/>
              </a:spcBef>
              <a:spcAft>
                <a:spcPts val="0"/>
              </a:spcAft>
              <a:buSzPts val="1440"/>
              <a:buChar char="►"/>
            </a:pPr>
            <a:r>
              <a:rPr lang="en-US"/>
              <a:t>Software</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2" name="Shape 522"/>
        <p:cNvGrpSpPr/>
        <p:nvPr/>
      </p:nvGrpSpPr>
      <p:grpSpPr>
        <a:xfrm>
          <a:off x="0" y="0"/>
          <a:ext cx="0" cy="0"/>
          <a:chOff x="0" y="0"/>
          <a:chExt cx="0" cy="0"/>
        </a:xfrm>
      </p:grpSpPr>
      <p:pic>
        <p:nvPicPr>
          <p:cNvPr id="523" name="Google Shape;523;p38"/>
          <p:cNvPicPr preferRelativeResize="0"/>
          <p:nvPr/>
        </p:nvPicPr>
        <p:blipFill rotWithShape="1">
          <a:blip r:embed="rId3">
            <a:alphaModFix/>
          </a:blip>
          <a:srcRect b="0" l="0" r="0" t="0"/>
          <a:stretch/>
        </p:blipFill>
        <p:spPr>
          <a:xfrm>
            <a:off x="2442052" y="759417"/>
            <a:ext cx="6072037" cy="5865505"/>
          </a:xfrm>
          <a:prstGeom prst="rect">
            <a:avLst/>
          </a:prstGeom>
          <a:noFill/>
          <a:ln>
            <a:noFill/>
          </a:ln>
        </p:spPr>
      </p:pic>
      <p:pic>
        <p:nvPicPr>
          <p:cNvPr id="524" name="Google Shape;524;p38"/>
          <p:cNvPicPr preferRelativeResize="0"/>
          <p:nvPr/>
        </p:nvPicPr>
        <p:blipFill rotWithShape="1">
          <a:blip r:embed="rId4">
            <a:alphaModFix/>
          </a:blip>
          <a:srcRect b="0" l="0" r="0" t="0"/>
          <a:stretch/>
        </p:blipFill>
        <p:spPr>
          <a:xfrm>
            <a:off x="2492384" y="981065"/>
            <a:ext cx="5898342" cy="5207430"/>
          </a:xfrm>
          <a:prstGeom prst="rect">
            <a:avLst/>
          </a:prstGeom>
          <a:noFill/>
          <a:ln>
            <a:noFill/>
          </a:ln>
        </p:spPr>
      </p:pic>
      <p:pic>
        <p:nvPicPr>
          <p:cNvPr id="525" name="Google Shape;525;p38"/>
          <p:cNvPicPr preferRelativeResize="0"/>
          <p:nvPr/>
        </p:nvPicPr>
        <p:blipFill rotWithShape="1">
          <a:blip r:embed="rId5">
            <a:alphaModFix/>
          </a:blip>
          <a:srcRect b="0" l="0" r="0" t="0"/>
          <a:stretch/>
        </p:blipFill>
        <p:spPr>
          <a:xfrm>
            <a:off x="2324979" y="969524"/>
            <a:ext cx="6527556" cy="5655398"/>
          </a:xfrm>
          <a:prstGeom prst="rect">
            <a:avLst/>
          </a:prstGeom>
          <a:noFill/>
          <a:ln>
            <a:noFill/>
          </a:ln>
        </p:spPr>
      </p:pic>
      <p:pic>
        <p:nvPicPr>
          <p:cNvPr id="526" name="Google Shape;526;p38"/>
          <p:cNvPicPr preferRelativeResize="0"/>
          <p:nvPr/>
        </p:nvPicPr>
        <p:blipFill rotWithShape="1">
          <a:blip r:embed="rId6">
            <a:alphaModFix/>
          </a:blip>
          <a:srcRect b="0" l="0" r="0" t="0"/>
          <a:stretch/>
        </p:blipFill>
        <p:spPr>
          <a:xfrm>
            <a:off x="2552671" y="877570"/>
            <a:ext cx="6011750" cy="5418314"/>
          </a:xfrm>
          <a:prstGeom prst="rect">
            <a:avLst/>
          </a:prstGeom>
          <a:noFill/>
          <a:ln>
            <a:noFill/>
          </a:ln>
        </p:spPr>
      </p:pic>
      <p:pic>
        <p:nvPicPr>
          <p:cNvPr id="527" name="Google Shape;527;p38"/>
          <p:cNvPicPr preferRelativeResize="0"/>
          <p:nvPr/>
        </p:nvPicPr>
        <p:blipFill rotWithShape="1">
          <a:blip r:embed="rId7">
            <a:alphaModFix/>
          </a:blip>
          <a:srcRect b="0" l="0" r="0" t="0"/>
          <a:stretch/>
        </p:blipFill>
        <p:spPr>
          <a:xfrm>
            <a:off x="2338102" y="839859"/>
            <a:ext cx="6222704" cy="5785063"/>
          </a:xfrm>
          <a:prstGeom prst="rect">
            <a:avLst/>
          </a:prstGeom>
          <a:noFill/>
          <a:ln>
            <a:noFill/>
          </a:ln>
        </p:spPr>
      </p:pic>
      <p:sp>
        <p:nvSpPr>
          <p:cNvPr id="528" name="Google Shape;528;p38"/>
          <p:cNvSpPr txBox="1"/>
          <p:nvPr/>
        </p:nvSpPr>
        <p:spPr>
          <a:xfrm>
            <a:off x="250614" y="5334348"/>
            <a:ext cx="1245258" cy="496229"/>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6</a:t>
            </a:r>
            <a:endParaRPr/>
          </a:p>
        </p:txBody>
      </p:sp>
      <p:sp>
        <p:nvSpPr>
          <p:cNvPr id="529" name="Google Shape;529;p38"/>
          <p:cNvSpPr txBox="1"/>
          <p:nvPr/>
        </p:nvSpPr>
        <p:spPr>
          <a:xfrm>
            <a:off x="250614" y="4673948"/>
            <a:ext cx="1245258" cy="496229"/>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5</a:t>
            </a:r>
            <a:endParaRPr/>
          </a:p>
        </p:txBody>
      </p:sp>
      <p:sp>
        <p:nvSpPr>
          <p:cNvPr id="530" name="Google Shape;530;p38"/>
          <p:cNvSpPr txBox="1"/>
          <p:nvPr/>
        </p:nvSpPr>
        <p:spPr>
          <a:xfrm>
            <a:off x="250614" y="2692748"/>
            <a:ext cx="1425786" cy="492411"/>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1+0</a:t>
            </a:r>
            <a:endParaRPr/>
          </a:p>
        </p:txBody>
      </p:sp>
      <p:sp>
        <p:nvSpPr>
          <p:cNvPr id="531" name="Google Shape;531;p38"/>
          <p:cNvSpPr txBox="1"/>
          <p:nvPr/>
        </p:nvSpPr>
        <p:spPr>
          <a:xfrm>
            <a:off x="250614" y="2027267"/>
            <a:ext cx="1245258" cy="496229"/>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1</a:t>
            </a:r>
            <a:endParaRPr/>
          </a:p>
        </p:txBody>
      </p:sp>
      <p:sp>
        <p:nvSpPr>
          <p:cNvPr id="532" name="Google Shape;532;p38"/>
          <p:cNvSpPr txBox="1"/>
          <p:nvPr/>
        </p:nvSpPr>
        <p:spPr>
          <a:xfrm>
            <a:off x="250614" y="1366867"/>
            <a:ext cx="1245258" cy="492411"/>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0</a:t>
            </a:r>
            <a:endParaRPr/>
          </a:p>
        </p:txBody>
      </p:sp>
      <p:sp>
        <p:nvSpPr>
          <p:cNvPr id="533" name="Google Shape;533;p38"/>
          <p:cNvSpPr txBox="1"/>
          <p:nvPr/>
        </p:nvSpPr>
        <p:spPr>
          <a:xfrm>
            <a:off x="102447" y="202852"/>
            <a:ext cx="12330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DLaM Display"/>
                <a:ea typeface="ADLaM Display"/>
                <a:cs typeface="ADLaM Display"/>
                <a:sym typeface="ADLaM Display"/>
              </a:rPr>
              <a:t>CLICK ME</a:t>
            </a:r>
            <a:endParaRPr/>
          </a:p>
        </p:txBody>
      </p:sp>
      <p:cxnSp>
        <p:nvCxnSpPr>
          <p:cNvPr id="534" name="Google Shape;534;p38"/>
          <p:cNvCxnSpPr>
            <a:stCxn id="533" idx="2"/>
            <a:endCxn id="532" idx="0"/>
          </p:cNvCxnSpPr>
          <p:nvPr/>
        </p:nvCxnSpPr>
        <p:spPr>
          <a:xfrm flipH="1" rot="-5400000">
            <a:off x="398712" y="892434"/>
            <a:ext cx="794700" cy="154200"/>
          </a:xfrm>
          <a:prstGeom prst="curvedConnector3">
            <a:avLst>
              <a:gd fmla="val 50000" name="adj1"/>
            </a:avLst>
          </a:prstGeom>
          <a:noFill/>
          <a:ln cap="rnd" cmpd="sng" w="25400">
            <a:solidFill>
              <a:schemeClr val="accent5"/>
            </a:solidFill>
            <a:prstDash val="solid"/>
            <a:round/>
            <a:headEnd len="sm" w="sm" type="none"/>
            <a:tailEnd len="med" w="med" type="stealth"/>
          </a:ln>
          <a:effectLst>
            <a:outerShdw blurRad="38100" rotWithShape="0" dir="5400000" dist="25400">
              <a:srgbClr val="000000">
                <a:alpha val="34901"/>
              </a:srgbClr>
            </a:outerShdw>
          </a:effectLst>
        </p:spPr>
      </p:cxnSp>
      <p:sp>
        <p:nvSpPr>
          <p:cNvPr id="535" name="Google Shape;535;p38"/>
          <p:cNvSpPr txBox="1"/>
          <p:nvPr>
            <p:ph type="title"/>
          </p:nvPr>
        </p:nvSpPr>
        <p:spPr>
          <a:xfrm>
            <a:off x="662094" y="376267"/>
            <a:ext cx="4595706" cy="9855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RAID levels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id="541" name="Google Shape;541;p39"/>
          <p:cNvPicPr preferRelativeResize="0"/>
          <p:nvPr/>
        </p:nvPicPr>
        <p:blipFill rotWithShape="1">
          <a:blip r:embed="rId3">
            <a:alphaModFix/>
          </a:blip>
          <a:srcRect b="0" l="0" r="0" t="0"/>
          <a:stretch/>
        </p:blipFill>
        <p:spPr>
          <a:xfrm>
            <a:off x="2442052" y="759417"/>
            <a:ext cx="6072037" cy="5865505"/>
          </a:xfrm>
          <a:prstGeom prst="rect">
            <a:avLst/>
          </a:prstGeom>
          <a:noFill/>
          <a:ln>
            <a:noFill/>
          </a:ln>
        </p:spPr>
      </p:pic>
      <p:sp>
        <p:nvSpPr>
          <p:cNvPr id="542" name="Google Shape;542;p39"/>
          <p:cNvSpPr txBox="1"/>
          <p:nvPr/>
        </p:nvSpPr>
        <p:spPr>
          <a:xfrm>
            <a:off x="250614" y="1366867"/>
            <a:ext cx="1245258" cy="492411"/>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0</a:t>
            </a:r>
            <a:endParaRPr/>
          </a:p>
        </p:txBody>
      </p:sp>
      <p:sp>
        <p:nvSpPr>
          <p:cNvPr id="543" name="Google Shape;543;p39"/>
          <p:cNvSpPr txBox="1"/>
          <p:nvPr>
            <p:ph type="title"/>
          </p:nvPr>
        </p:nvSpPr>
        <p:spPr>
          <a:xfrm>
            <a:off x="662094" y="376267"/>
            <a:ext cx="4595706" cy="9855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RAID levels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40"/>
          <p:cNvPicPr preferRelativeResize="0"/>
          <p:nvPr/>
        </p:nvPicPr>
        <p:blipFill rotWithShape="1">
          <a:blip r:embed="rId3">
            <a:alphaModFix/>
          </a:blip>
          <a:srcRect b="0" l="0" r="0" t="0"/>
          <a:stretch/>
        </p:blipFill>
        <p:spPr>
          <a:xfrm>
            <a:off x="2070960" y="1008104"/>
            <a:ext cx="5898342" cy="5207430"/>
          </a:xfrm>
          <a:prstGeom prst="rect">
            <a:avLst/>
          </a:prstGeom>
          <a:noFill/>
          <a:ln>
            <a:noFill/>
          </a:ln>
        </p:spPr>
      </p:pic>
      <p:sp>
        <p:nvSpPr>
          <p:cNvPr id="550" name="Google Shape;550;p40"/>
          <p:cNvSpPr txBox="1"/>
          <p:nvPr/>
        </p:nvSpPr>
        <p:spPr>
          <a:xfrm>
            <a:off x="250614" y="2027267"/>
            <a:ext cx="1245258" cy="496229"/>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1</a:t>
            </a:r>
            <a:endParaRPr/>
          </a:p>
        </p:txBody>
      </p:sp>
      <p:sp>
        <p:nvSpPr>
          <p:cNvPr id="551" name="Google Shape;551;p40"/>
          <p:cNvSpPr txBox="1"/>
          <p:nvPr>
            <p:ph type="title"/>
          </p:nvPr>
        </p:nvSpPr>
        <p:spPr>
          <a:xfrm>
            <a:off x="662094" y="376267"/>
            <a:ext cx="4595706" cy="9855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RAID levels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id="557" name="Google Shape;557;p41"/>
          <p:cNvPicPr preferRelativeResize="0"/>
          <p:nvPr/>
        </p:nvPicPr>
        <p:blipFill rotWithShape="1">
          <a:blip r:embed="rId3">
            <a:alphaModFix/>
          </a:blip>
          <a:srcRect b="0" l="0" r="0" t="0"/>
          <a:stretch/>
        </p:blipFill>
        <p:spPr>
          <a:xfrm>
            <a:off x="2146448" y="869026"/>
            <a:ext cx="6222704" cy="5785063"/>
          </a:xfrm>
          <a:prstGeom prst="rect">
            <a:avLst/>
          </a:prstGeom>
          <a:noFill/>
          <a:ln>
            <a:noFill/>
          </a:ln>
        </p:spPr>
      </p:pic>
      <p:sp>
        <p:nvSpPr>
          <p:cNvPr id="558" name="Google Shape;558;p41"/>
          <p:cNvSpPr txBox="1"/>
          <p:nvPr/>
        </p:nvSpPr>
        <p:spPr>
          <a:xfrm>
            <a:off x="250614" y="2692748"/>
            <a:ext cx="1425786" cy="492411"/>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1+0</a:t>
            </a:r>
            <a:endParaRPr/>
          </a:p>
        </p:txBody>
      </p:sp>
      <p:sp>
        <p:nvSpPr>
          <p:cNvPr id="559" name="Google Shape;559;p41"/>
          <p:cNvSpPr txBox="1"/>
          <p:nvPr>
            <p:ph type="title"/>
          </p:nvPr>
        </p:nvSpPr>
        <p:spPr>
          <a:xfrm>
            <a:off x="662094" y="376267"/>
            <a:ext cx="4595706" cy="9855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RAID levels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p42"/>
          <p:cNvPicPr preferRelativeResize="0"/>
          <p:nvPr/>
        </p:nvPicPr>
        <p:blipFill rotWithShape="1">
          <a:blip r:embed="rId3">
            <a:alphaModFix/>
          </a:blip>
          <a:srcRect b="0" l="0" r="0" t="0"/>
          <a:stretch/>
        </p:blipFill>
        <p:spPr>
          <a:xfrm>
            <a:off x="1893041" y="869026"/>
            <a:ext cx="6011750" cy="5418314"/>
          </a:xfrm>
          <a:prstGeom prst="rect">
            <a:avLst/>
          </a:prstGeom>
          <a:noFill/>
          <a:ln>
            <a:noFill/>
          </a:ln>
        </p:spPr>
      </p:pic>
      <p:sp>
        <p:nvSpPr>
          <p:cNvPr id="566" name="Google Shape;566;p42"/>
          <p:cNvSpPr txBox="1"/>
          <p:nvPr/>
        </p:nvSpPr>
        <p:spPr>
          <a:xfrm>
            <a:off x="328105" y="3328333"/>
            <a:ext cx="1245258" cy="496229"/>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5</a:t>
            </a:r>
            <a:endParaRPr/>
          </a:p>
        </p:txBody>
      </p:sp>
      <p:sp>
        <p:nvSpPr>
          <p:cNvPr id="567" name="Google Shape;567;p42"/>
          <p:cNvSpPr txBox="1"/>
          <p:nvPr>
            <p:ph type="title"/>
          </p:nvPr>
        </p:nvSpPr>
        <p:spPr>
          <a:xfrm>
            <a:off x="662094" y="376267"/>
            <a:ext cx="4595706" cy="9855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RAID levels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43"/>
          <p:cNvPicPr preferRelativeResize="0"/>
          <p:nvPr/>
        </p:nvPicPr>
        <p:blipFill rotWithShape="1">
          <a:blip r:embed="rId3">
            <a:alphaModFix/>
          </a:blip>
          <a:srcRect b="0" l="0" r="0" t="0"/>
          <a:stretch/>
        </p:blipFill>
        <p:spPr>
          <a:xfrm>
            <a:off x="2144747" y="1025496"/>
            <a:ext cx="6527556" cy="5655398"/>
          </a:xfrm>
          <a:prstGeom prst="rect">
            <a:avLst/>
          </a:prstGeom>
          <a:noFill/>
          <a:ln>
            <a:noFill/>
          </a:ln>
        </p:spPr>
      </p:pic>
      <p:sp>
        <p:nvSpPr>
          <p:cNvPr id="574" name="Google Shape;574;p43"/>
          <p:cNvSpPr txBox="1"/>
          <p:nvPr/>
        </p:nvSpPr>
        <p:spPr>
          <a:xfrm>
            <a:off x="328105" y="4063487"/>
            <a:ext cx="1245258" cy="496229"/>
          </a:xfrm>
          <a:prstGeom prst="rect">
            <a:avLst/>
          </a:prstGeom>
          <a:solidFill>
            <a:srgbClr val="B6E995"/>
          </a:solidFill>
          <a:ln cap="flat" cmpd="sng" w="9525">
            <a:solidFill>
              <a:srgbClr val="2A501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Clr>
                <a:srgbClr val="0C0C0C"/>
              </a:buClr>
              <a:buSzPts val="2000"/>
              <a:buFont typeface="ADLaM Display"/>
              <a:buNone/>
            </a:pPr>
            <a:r>
              <a:rPr lang="en-US" sz="2000">
                <a:solidFill>
                  <a:srgbClr val="0C0C0C"/>
                </a:solidFill>
                <a:latin typeface="ADLaM Display"/>
                <a:ea typeface="ADLaM Display"/>
                <a:cs typeface="ADLaM Display"/>
                <a:sym typeface="ADLaM Display"/>
              </a:rPr>
              <a:t>RAID 6</a:t>
            </a:r>
            <a:endParaRPr/>
          </a:p>
        </p:txBody>
      </p:sp>
      <p:sp>
        <p:nvSpPr>
          <p:cNvPr id="575" name="Google Shape;575;p43"/>
          <p:cNvSpPr txBox="1"/>
          <p:nvPr>
            <p:ph type="title"/>
          </p:nvPr>
        </p:nvSpPr>
        <p:spPr>
          <a:xfrm>
            <a:off x="662094" y="376267"/>
            <a:ext cx="4595706" cy="9855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RAID levels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Disk Scheduling</a:t>
            </a:r>
            <a:endParaRPr/>
          </a:p>
        </p:txBody>
      </p:sp>
      <p:sp>
        <p:nvSpPr>
          <p:cNvPr id="582" name="Google Shape;582;p44"/>
          <p:cNvSpPr txBox="1"/>
          <p:nvPr>
            <p:ph idx="1" type="body"/>
          </p:nvPr>
        </p:nvSpPr>
        <p:spPr>
          <a:xfrm>
            <a:off x="677334" y="1802810"/>
            <a:ext cx="9883986" cy="46974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Disk scheduling algorithms manage how data is read from and written to a computer's hard disk.</a:t>
            </a:r>
            <a:endParaRPr/>
          </a:p>
          <a:p>
            <a:pPr indent="-342900" lvl="0" marL="342900" rtl="0" algn="l">
              <a:spcBef>
                <a:spcPts val="1000"/>
              </a:spcBef>
              <a:spcAft>
                <a:spcPts val="0"/>
              </a:spcAft>
              <a:buSzPts val="1440"/>
              <a:buChar char="►"/>
            </a:pPr>
            <a:r>
              <a:rPr lang="en-US"/>
              <a:t>The main goals are to optimize the performance of disk operations; reduce the time it takes to access data and improve overall system efficiency.</a:t>
            </a:r>
            <a:endParaRPr b="1"/>
          </a:p>
          <a:p>
            <a:pPr indent="0" lvl="0" marL="0" rtl="0" algn="l">
              <a:spcBef>
                <a:spcPts val="1000"/>
              </a:spcBef>
              <a:spcAft>
                <a:spcPts val="0"/>
              </a:spcAft>
              <a:buSzPts val="1440"/>
              <a:buNone/>
            </a:pPr>
            <a:r>
              <a:rPr b="1" lang="en-US" u="sng"/>
              <a:t>Key Components: </a:t>
            </a:r>
            <a:endParaRPr/>
          </a:p>
          <a:p>
            <a:pPr indent="-342900" lvl="0" marL="342900" rtl="0" algn="l">
              <a:spcBef>
                <a:spcPts val="1000"/>
              </a:spcBef>
              <a:spcAft>
                <a:spcPts val="0"/>
              </a:spcAft>
              <a:buSzPts val="1440"/>
              <a:buChar char="►"/>
            </a:pPr>
            <a:r>
              <a:rPr b="1" lang="en-US"/>
              <a:t>Seek Time:</a:t>
            </a:r>
            <a:r>
              <a:rPr lang="en-US"/>
              <a:t> Seek time is the time taken to locate the disk arm to a specified track where the data is to be read or write. </a:t>
            </a:r>
            <a:endParaRPr b="1"/>
          </a:p>
          <a:p>
            <a:pPr indent="-342900" lvl="0" marL="342900" rtl="0" algn="l">
              <a:spcBef>
                <a:spcPts val="1000"/>
              </a:spcBef>
              <a:spcAft>
                <a:spcPts val="0"/>
              </a:spcAft>
              <a:buSzPts val="1440"/>
              <a:buChar char="►"/>
            </a:pPr>
            <a:r>
              <a:rPr b="1" lang="en-US"/>
              <a:t>Rotational Latency:</a:t>
            </a:r>
            <a:r>
              <a:rPr lang="en-US"/>
              <a:t> time taken by the desired sector of disk to rotate into a position </a:t>
            </a:r>
            <a:endParaRPr/>
          </a:p>
          <a:p>
            <a:pPr indent="-342900" lvl="0" marL="342900" rtl="0" algn="l">
              <a:spcBef>
                <a:spcPts val="1000"/>
              </a:spcBef>
              <a:spcAft>
                <a:spcPts val="0"/>
              </a:spcAft>
              <a:buSzPts val="1440"/>
              <a:buChar char="►"/>
            </a:pPr>
            <a:r>
              <a:rPr b="1" lang="en-US"/>
              <a:t>Transfer Time:</a:t>
            </a:r>
            <a:r>
              <a:rPr lang="en-US"/>
              <a:t> time to transfer the data. depends on the rotating speed of the disk and number of bytes to be transferred.</a:t>
            </a:r>
            <a:endParaRPr/>
          </a:p>
          <a:p>
            <a:pPr indent="-342900" lvl="0" marL="342900" rtl="0" algn="l">
              <a:spcBef>
                <a:spcPts val="1000"/>
              </a:spcBef>
              <a:spcAft>
                <a:spcPts val="0"/>
              </a:spcAft>
              <a:buSzPts val="1440"/>
              <a:buChar char="►"/>
            </a:pPr>
            <a:r>
              <a:rPr b="1" lang="en-US"/>
              <a:t>Disk Access Time:</a:t>
            </a:r>
            <a:r>
              <a:rPr lang="en-US"/>
              <a:t>  Seek Time + Rotational Latency +Transfer Time </a:t>
            </a:r>
            <a:endParaRPr/>
          </a:p>
          <a:p>
            <a:pPr indent="-342900" lvl="0" marL="342900" rtl="0" algn="l">
              <a:spcBef>
                <a:spcPts val="1000"/>
              </a:spcBef>
              <a:spcAft>
                <a:spcPts val="0"/>
              </a:spcAft>
              <a:buSzPts val="1440"/>
              <a:buChar char="►"/>
            </a:pPr>
            <a:r>
              <a:rPr lang="en-US"/>
              <a:t>Disk Response Time: Average of time spent by a request waiting to perform its I/O operation.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Disk Scheduling Algorithms</a:t>
            </a:r>
            <a:endParaRPr/>
          </a:p>
        </p:txBody>
      </p:sp>
      <p:sp>
        <p:nvSpPr>
          <p:cNvPr id="588" name="Google Shape;588;p4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b="1" lang="en-US"/>
              <a:t>FCFS : </a:t>
            </a:r>
            <a:r>
              <a:rPr lang="en-US"/>
              <a:t>Requests are addressed the order they arrive in disk queue.</a:t>
            </a:r>
            <a:endParaRPr/>
          </a:p>
          <a:p>
            <a:pPr indent="-342900" lvl="0" marL="342900" rtl="0" algn="l">
              <a:spcBef>
                <a:spcPts val="1000"/>
              </a:spcBef>
              <a:spcAft>
                <a:spcPts val="0"/>
              </a:spcAft>
              <a:buSzPts val="1440"/>
              <a:buChar char="►"/>
            </a:pPr>
            <a:r>
              <a:rPr b="1" lang="en-US"/>
              <a:t>SSTF :</a:t>
            </a:r>
            <a:r>
              <a:rPr lang="en-US"/>
              <a:t>Requests that have the shortest seek time are executed first.</a:t>
            </a:r>
            <a:endParaRPr b="1"/>
          </a:p>
          <a:p>
            <a:pPr indent="-342900" lvl="0" marL="342900" rtl="0" algn="l">
              <a:spcBef>
                <a:spcPts val="1000"/>
              </a:spcBef>
              <a:spcAft>
                <a:spcPts val="0"/>
              </a:spcAft>
              <a:buSzPts val="1440"/>
              <a:buChar char="►"/>
            </a:pPr>
            <a:r>
              <a:rPr b="1" lang="en-US"/>
              <a:t>SCAN : </a:t>
            </a:r>
            <a:r>
              <a:rPr lang="en-US"/>
              <a:t>Moves in particular direction and request coming in its path are served, after reaching to end its reverse its direction and again served requests in its path.</a:t>
            </a:r>
            <a:endParaRPr b="1"/>
          </a:p>
          <a:p>
            <a:pPr indent="-342900" lvl="0" marL="342900" rtl="0" algn="l">
              <a:spcBef>
                <a:spcPts val="1000"/>
              </a:spcBef>
              <a:spcAft>
                <a:spcPts val="0"/>
              </a:spcAft>
              <a:buSzPts val="1440"/>
              <a:buChar char="►"/>
            </a:pPr>
            <a:r>
              <a:rPr b="1" lang="en-US"/>
              <a:t>CSCAN: </a:t>
            </a:r>
            <a:endParaRPr/>
          </a:p>
          <a:p>
            <a:pPr indent="-342900" lvl="0" marL="342900" rtl="0" algn="l">
              <a:spcBef>
                <a:spcPts val="1000"/>
              </a:spcBef>
              <a:spcAft>
                <a:spcPts val="0"/>
              </a:spcAft>
              <a:buSzPts val="1440"/>
              <a:buChar char="►"/>
            </a:pPr>
            <a:r>
              <a:rPr b="1" lang="en-US"/>
              <a:t>LOOK: </a:t>
            </a:r>
            <a:r>
              <a:rPr lang="en-US"/>
              <a:t>moves in particular direction, but does not reach in end, only up to the last request in front of head. And then reverses its direction.</a:t>
            </a:r>
            <a:endParaRPr/>
          </a:p>
          <a:p>
            <a:pPr indent="-342900" lvl="0" marL="342900" rtl="0" algn="l">
              <a:spcBef>
                <a:spcPts val="1000"/>
              </a:spcBef>
              <a:spcAft>
                <a:spcPts val="0"/>
              </a:spcAft>
              <a:buSzPts val="1440"/>
              <a:buChar char="►"/>
            </a:pPr>
            <a:r>
              <a:rPr b="1" lang="en-US"/>
              <a:t>CLOOK :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First Come First Serve</a:t>
            </a:r>
            <a:endParaRPr/>
          </a:p>
        </p:txBody>
      </p:sp>
      <p:sp>
        <p:nvSpPr>
          <p:cNvPr id="594" name="Google Shape;594;p46"/>
          <p:cNvSpPr txBox="1"/>
          <p:nvPr>
            <p:ph idx="1" type="body"/>
          </p:nvPr>
        </p:nvSpPr>
        <p:spPr>
          <a:xfrm>
            <a:off x="677334" y="1610360"/>
            <a:ext cx="9586806" cy="524764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In FCFS, the requests are addressed in the order they arrive in the disk queue. Order of request is: (95,169,33,137,26,9,188) and current position of Read/Write head is: 55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a:p>
            <a:pPr indent="0" lvl="0" marL="0" rtl="0" algn="l">
              <a:spcBef>
                <a:spcPts val="1000"/>
              </a:spcBef>
              <a:spcAft>
                <a:spcPts val="0"/>
              </a:spcAft>
              <a:buSzPts val="1440"/>
              <a:buNone/>
            </a:pPr>
            <a:r>
              <a:rPr b="1" lang="en-US"/>
              <a:t>Seek Time </a:t>
            </a:r>
            <a:r>
              <a:rPr lang="en-US"/>
              <a:t>= (95 – 55) + (169-95)+ (169 – 33) + ….+ (188 - 9) = </a:t>
            </a:r>
            <a:endParaRPr/>
          </a:p>
        </p:txBody>
      </p:sp>
      <p:grpSp>
        <p:nvGrpSpPr>
          <p:cNvPr id="595" name="Google Shape;595;p46"/>
          <p:cNvGrpSpPr/>
          <p:nvPr/>
        </p:nvGrpSpPr>
        <p:grpSpPr>
          <a:xfrm>
            <a:off x="737757" y="2291321"/>
            <a:ext cx="9855015" cy="717891"/>
            <a:chOff x="737757" y="2565641"/>
            <a:chExt cx="9855015" cy="717891"/>
          </a:xfrm>
        </p:grpSpPr>
        <p:cxnSp>
          <p:nvCxnSpPr>
            <p:cNvPr id="596" name="Google Shape;596;p46"/>
            <p:cNvCxnSpPr/>
            <p:nvPr/>
          </p:nvCxnSpPr>
          <p:spPr>
            <a:xfrm>
              <a:off x="955964" y="3131127"/>
              <a:ext cx="9308176" cy="0"/>
            </a:xfrm>
            <a:prstGeom prst="straightConnector1">
              <a:avLst/>
            </a:prstGeom>
            <a:noFill/>
            <a:ln cap="flat" cmpd="sng" w="57150">
              <a:solidFill>
                <a:schemeClr val="accent6"/>
              </a:solidFill>
              <a:prstDash val="solid"/>
              <a:round/>
              <a:headEnd len="sm" w="sm" type="none"/>
              <a:tailEnd len="sm" w="sm" type="none"/>
            </a:ln>
            <a:effectLst>
              <a:outerShdw blurRad="38100" rotWithShape="0" dir="5400000" dist="25400">
                <a:srgbClr val="000000">
                  <a:alpha val="34901"/>
                </a:srgbClr>
              </a:outerShdw>
            </a:effectLst>
          </p:spPr>
        </p:cxnSp>
        <p:cxnSp>
          <p:nvCxnSpPr>
            <p:cNvPr id="597" name="Google Shape;597;p46"/>
            <p:cNvCxnSpPr/>
            <p:nvPr/>
          </p:nvCxnSpPr>
          <p:spPr>
            <a:xfrm>
              <a:off x="1026414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598" name="Google Shape;598;p46"/>
            <p:cNvCxnSpPr/>
            <p:nvPr/>
          </p:nvCxnSpPr>
          <p:spPr>
            <a:xfrm>
              <a:off x="9751518" y="2951017"/>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599" name="Google Shape;599;p46"/>
            <p:cNvCxnSpPr/>
            <p:nvPr/>
          </p:nvCxnSpPr>
          <p:spPr>
            <a:xfrm>
              <a:off x="8657011" y="2937168"/>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0" name="Google Shape;600;p46"/>
            <p:cNvCxnSpPr/>
            <p:nvPr/>
          </p:nvCxnSpPr>
          <p:spPr>
            <a:xfrm>
              <a:off x="7285406" y="2978732"/>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1" name="Google Shape;601;p46"/>
            <p:cNvCxnSpPr/>
            <p:nvPr/>
          </p:nvCxnSpPr>
          <p:spPr>
            <a:xfrm>
              <a:off x="662038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2" name="Google Shape;602;p46"/>
            <p:cNvCxnSpPr/>
            <p:nvPr/>
          </p:nvCxnSpPr>
          <p:spPr>
            <a:xfrm>
              <a:off x="497169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3" name="Google Shape;603;p46"/>
            <p:cNvCxnSpPr/>
            <p:nvPr/>
          </p:nvCxnSpPr>
          <p:spPr>
            <a:xfrm>
              <a:off x="4417505"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4" name="Google Shape;604;p46"/>
            <p:cNvCxnSpPr/>
            <p:nvPr/>
          </p:nvCxnSpPr>
          <p:spPr>
            <a:xfrm>
              <a:off x="95387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5" name="Google Shape;605;p46"/>
            <p:cNvCxnSpPr/>
            <p:nvPr/>
          </p:nvCxnSpPr>
          <p:spPr>
            <a:xfrm>
              <a:off x="1355657" y="296487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6" name="Google Shape;606;p46"/>
            <p:cNvCxnSpPr/>
            <p:nvPr/>
          </p:nvCxnSpPr>
          <p:spPr>
            <a:xfrm>
              <a:off x="1771297" y="295101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7" name="Google Shape;607;p46"/>
            <p:cNvCxnSpPr/>
            <p:nvPr/>
          </p:nvCxnSpPr>
          <p:spPr>
            <a:xfrm>
              <a:off x="2464021" y="29648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08" name="Google Shape;608;p46"/>
            <p:cNvCxnSpPr/>
            <p:nvPr/>
          </p:nvCxnSpPr>
          <p:spPr>
            <a:xfrm>
              <a:off x="3115189" y="2951006"/>
              <a:ext cx="0" cy="304800"/>
            </a:xfrm>
            <a:prstGeom prst="straightConnector1">
              <a:avLst/>
            </a:prstGeom>
            <a:noFill/>
            <a:ln cap="flat" cmpd="sng" w="57150">
              <a:solidFill>
                <a:schemeClr val="accent6"/>
              </a:solidFill>
              <a:prstDash val="solid"/>
              <a:round/>
              <a:headEnd len="sm" w="sm" type="none"/>
              <a:tailEnd len="sm" w="sm" type="none"/>
            </a:ln>
          </p:spPr>
        </p:cxnSp>
        <p:sp>
          <p:nvSpPr>
            <p:cNvPr id="609" name="Google Shape;609;p46"/>
            <p:cNvSpPr txBox="1"/>
            <p:nvPr/>
          </p:nvSpPr>
          <p:spPr>
            <a:xfrm>
              <a:off x="2940631" y="26093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sp>
          <p:nvSpPr>
            <p:cNvPr id="610" name="Google Shape;610;p46"/>
            <p:cNvSpPr txBox="1"/>
            <p:nvPr/>
          </p:nvSpPr>
          <p:spPr>
            <a:xfrm>
              <a:off x="4201404" y="262324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sp>
          <p:nvSpPr>
            <p:cNvPr id="611" name="Google Shape;611;p46"/>
            <p:cNvSpPr txBox="1"/>
            <p:nvPr/>
          </p:nvSpPr>
          <p:spPr>
            <a:xfrm>
              <a:off x="73775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sp>
          <p:nvSpPr>
            <p:cNvPr id="612" name="Google Shape;612;p46"/>
            <p:cNvSpPr txBox="1"/>
            <p:nvPr/>
          </p:nvSpPr>
          <p:spPr>
            <a:xfrm>
              <a:off x="115339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sp>
          <p:nvSpPr>
            <p:cNvPr id="613" name="Google Shape;613;p46"/>
            <p:cNvSpPr txBox="1"/>
            <p:nvPr/>
          </p:nvSpPr>
          <p:spPr>
            <a:xfrm>
              <a:off x="156902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sp>
          <p:nvSpPr>
            <p:cNvPr id="614" name="Google Shape;614;p46"/>
            <p:cNvSpPr txBox="1"/>
            <p:nvPr/>
          </p:nvSpPr>
          <p:spPr>
            <a:xfrm>
              <a:off x="2247896"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sp>
          <p:nvSpPr>
            <p:cNvPr id="615" name="Google Shape;615;p46"/>
            <p:cNvSpPr txBox="1"/>
            <p:nvPr/>
          </p:nvSpPr>
          <p:spPr>
            <a:xfrm>
              <a:off x="4796457" y="256564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100</a:t>
              </a:r>
              <a:endParaRPr/>
            </a:p>
          </p:txBody>
        </p:sp>
        <p:sp>
          <p:nvSpPr>
            <p:cNvPr id="616" name="Google Shape;616;p46"/>
            <p:cNvSpPr txBox="1"/>
            <p:nvPr/>
          </p:nvSpPr>
          <p:spPr>
            <a:xfrm>
              <a:off x="640636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sp>
          <p:nvSpPr>
            <p:cNvPr id="617" name="Google Shape;617;p46"/>
            <p:cNvSpPr txBox="1"/>
            <p:nvPr/>
          </p:nvSpPr>
          <p:spPr>
            <a:xfrm>
              <a:off x="6984921"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150</a:t>
              </a:r>
              <a:endParaRPr/>
            </a:p>
          </p:txBody>
        </p:sp>
        <p:sp>
          <p:nvSpPr>
            <p:cNvPr id="618" name="Google Shape;618;p46"/>
            <p:cNvSpPr txBox="1"/>
            <p:nvPr/>
          </p:nvSpPr>
          <p:spPr>
            <a:xfrm>
              <a:off x="9974870"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sp>
          <p:nvSpPr>
            <p:cNvPr id="619" name="Google Shape;619;p46"/>
            <p:cNvSpPr txBox="1"/>
            <p:nvPr/>
          </p:nvSpPr>
          <p:spPr>
            <a:xfrm>
              <a:off x="9438015" y="2579496"/>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sp>
          <p:nvSpPr>
            <p:cNvPr id="620" name="Google Shape;620;p46"/>
            <p:cNvSpPr txBox="1"/>
            <p:nvPr/>
          </p:nvSpPr>
          <p:spPr>
            <a:xfrm>
              <a:off x="8339355"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sp>
        <p:nvSpPr>
          <p:cNvPr id="621" name="Google Shape;621;p46"/>
          <p:cNvSpPr txBox="1"/>
          <p:nvPr/>
        </p:nvSpPr>
        <p:spPr>
          <a:xfrm>
            <a:off x="2786557" y="311310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grpSp>
        <p:nvGrpSpPr>
          <p:cNvPr id="622" name="Google Shape;622;p46"/>
          <p:cNvGrpSpPr/>
          <p:nvPr/>
        </p:nvGrpSpPr>
        <p:grpSpPr>
          <a:xfrm>
            <a:off x="3115189" y="3133373"/>
            <a:ext cx="1675774" cy="646226"/>
            <a:chOff x="3115189" y="3407693"/>
            <a:chExt cx="1675774" cy="646226"/>
          </a:xfrm>
        </p:grpSpPr>
        <p:cxnSp>
          <p:nvCxnSpPr>
            <p:cNvPr id="623" name="Google Shape;623;p46"/>
            <p:cNvCxnSpPr/>
            <p:nvPr/>
          </p:nvCxnSpPr>
          <p:spPr>
            <a:xfrm>
              <a:off x="3115189" y="3407693"/>
              <a:ext cx="1207429" cy="249907"/>
            </a:xfrm>
            <a:prstGeom prst="straightConnector1">
              <a:avLst/>
            </a:prstGeom>
            <a:noFill/>
            <a:ln cap="flat" cmpd="sng" w="38100">
              <a:solidFill>
                <a:schemeClr val="dk1"/>
              </a:solidFill>
              <a:prstDash val="solid"/>
              <a:round/>
              <a:headEnd len="sm" w="sm" type="none"/>
              <a:tailEnd len="med" w="med" type="stealth"/>
            </a:ln>
          </p:spPr>
        </p:cxnSp>
        <p:sp>
          <p:nvSpPr>
            <p:cNvPr id="624" name="Google Shape;624;p46"/>
            <p:cNvSpPr txBox="1"/>
            <p:nvPr/>
          </p:nvSpPr>
          <p:spPr>
            <a:xfrm>
              <a:off x="4173061" y="368458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grpSp>
      <p:grpSp>
        <p:nvGrpSpPr>
          <p:cNvPr id="625" name="Google Shape;625;p46"/>
          <p:cNvGrpSpPr/>
          <p:nvPr/>
        </p:nvGrpSpPr>
        <p:grpSpPr>
          <a:xfrm>
            <a:off x="4501693" y="3432410"/>
            <a:ext cx="4764515" cy="906499"/>
            <a:chOff x="4501693" y="3706730"/>
            <a:chExt cx="4764515" cy="906499"/>
          </a:xfrm>
        </p:grpSpPr>
        <p:cxnSp>
          <p:nvCxnSpPr>
            <p:cNvPr id="626" name="Google Shape;626;p46"/>
            <p:cNvCxnSpPr/>
            <p:nvPr/>
          </p:nvCxnSpPr>
          <p:spPr>
            <a:xfrm>
              <a:off x="4501693" y="3706730"/>
              <a:ext cx="4146613" cy="740579"/>
            </a:xfrm>
            <a:prstGeom prst="straightConnector1">
              <a:avLst/>
            </a:prstGeom>
            <a:noFill/>
            <a:ln cap="flat" cmpd="sng" w="38100">
              <a:solidFill>
                <a:schemeClr val="dk1"/>
              </a:solidFill>
              <a:prstDash val="solid"/>
              <a:round/>
              <a:headEnd len="sm" w="sm" type="none"/>
              <a:tailEnd len="med" w="med" type="stealth"/>
            </a:ln>
          </p:spPr>
        </p:cxnSp>
        <p:sp>
          <p:nvSpPr>
            <p:cNvPr id="627" name="Google Shape;627;p46"/>
            <p:cNvSpPr txBox="1"/>
            <p:nvPr/>
          </p:nvSpPr>
          <p:spPr>
            <a:xfrm>
              <a:off x="8648306" y="424389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grpSp>
        <p:nvGrpSpPr>
          <p:cNvPr id="628" name="Google Shape;628;p46"/>
          <p:cNvGrpSpPr/>
          <p:nvPr/>
        </p:nvGrpSpPr>
        <p:grpSpPr>
          <a:xfrm>
            <a:off x="2556847" y="4749997"/>
            <a:ext cx="4726326" cy="520102"/>
            <a:chOff x="2556847" y="5024317"/>
            <a:chExt cx="4726326" cy="520102"/>
          </a:xfrm>
        </p:grpSpPr>
        <p:cxnSp>
          <p:nvCxnSpPr>
            <p:cNvPr id="629" name="Google Shape;629;p46"/>
            <p:cNvCxnSpPr/>
            <p:nvPr/>
          </p:nvCxnSpPr>
          <p:spPr>
            <a:xfrm>
              <a:off x="2556847" y="5024317"/>
              <a:ext cx="4063538" cy="335200"/>
            </a:xfrm>
            <a:prstGeom prst="straightConnector1">
              <a:avLst/>
            </a:prstGeom>
            <a:noFill/>
            <a:ln cap="flat" cmpd="sng" w="38100">
              <a:solidFill>
                <a:schemeClr val="dk1"/>
              </a:solidFill>
              <a:prstDash val="solid"/>
              <a:round/>
              <a:headEnd len="sm" w="sm" type="none"/>
              <a:tailEnd len="med" w="med" type="stealth"/>
            </a:ln>
          </p:spPr>
        </p:cxnSp>
        <p:sp>
          <p:nvSpPr>
            <p:cNvPr id="630" name="Google Shape;630;p46"/>
            <p:cNvSpPr txBox="1"/>
            <p:nvPr/>
          </p:nvSpPr>
          <p:spPr>
            <a:xfrm>
              <a:off x="6665271" y="517508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grpSp>
      <p:grpSp>
        <p:nvGrpSpPr>
          <p:cNvPr id="631" name="Google Shape;631;p46"/>
          <p:cNvGrpSpPr/>
          <p:nvPr/>
        </p:nvGrpSpPr>
        <p:grpSpPr>
          <a:xfrm>
            <a:off x="2155070" y="4334365"/>
            <a:ext cx="6501941" cy="468682"/>
            <a:chOff x="2155070" y="4608685"/>
            <a:chExt cx="6501941" cy="468682"/>
          </a:xfrm>
        </p:grpSpPr>
        <p:cxnSp>
          <p:nvCxnSpPr>
            <p:cNvPr id="632" name="Google Shape;632;p46"/>
            <p:cNvCxnSpPr/>
            <p:nvPr/>
          </p:nvCxnSpPr>
          <p:spPr>
            <a:xfrm flipH="1">
              <a:off x="2489032" y="4608685"/>
              <a:ext cx="6167979" cy="268115"/>
            </a:xfrm>
            <a:prstGeom prst="straightConnector1">
              <a:avLst/>
            </a:prstGeom>
            <a:noFill/>
            <a:ln cap="flat" cmpd="sng" w="38100">
              <a:solidFill>
                <a:schemeClr val="dk1"/>
              </a:solidFill>
              <a:prstDash val="solid"/>
              <a:round/>
              <a:headEnd len="sm" w="sm" type="none"/>
              <a:tailEnd len="med" w="med" type="stealth"/>
            </a:ln>
          </p:spPr>
        </p:cxnSp>
        <p:sp>
          <p:nvSpPr>
            <p:cNvPr id="633" name="Google Shape;633;p46"/>
            <p:cNvSpPr txBox="1"/>
            <p:nvPr/>
          </p:nvSpPr>
          <p:spPr>
            <a:xfrm>
              <a:off x="2155070" y="4708035"/>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grpSp>
      <p:grpSp>
        <p:nvGrpSpPr>
          <p:cNvPr id="634" name="Google Shape;634;p46"/>
          <p:cNvGrpSpPr/>
          <p:nvPr/>
        </p:nvGrpSpPr>
        <p:grpSpPr>
          <a:xfrm>
            <a:off x="1629994" y="5111355"/>
            <a:ext cx="5035277" cy="369332"/>
            <a:chOff x="1629994" y="5111355"/>
            <a:chExt cx="5035277" cy="369332"/>
          </a:xfrm>
        </p:grpSpPr>
        <p:cxnSp>
          <p:nvCxnSpPr>
            <p:cNvPr id="635" name="Google Shape;635;p46"/>
            <p:cNvCxnSpPr/>
            <p:nvPr/>
          </p:nvCxnSpPr>
          <p:spPr>
            <a:xfrm flipH="1">
              <a:off x="1927860" y="5216813"/>
              <a:ext cx="4737411" cy="263874"/>
            </a:xfrm>
            <a:prstGeom prst="straightConnector1">
              <a:avLst/>
            </a:prstGeom>
            <a:noFill/>
            <a:ln cap="flat" cmpd="sng" w="38100">
              <a:solidFill>
                <a:schemeClr val="dk1"/>
              </a:solidFill>
              <a:prstDash val="solid"/>
              <a:round/>
              <a:headEnd len="sm" w="sm" type="none"/>
              <a:tailEnd len="med" w="med" type="stealth"/>
            </a:ln>
          </p:spPr>
        </p:cxnSp>
        <p:sp>
          <p:nvSpPr>
            <p:cNvPr id="636" name="Google Shape;636;p46"/>
            <p:cNvSpPr txBox="1"/>
            <p:nvPr/>
          </p:nvSpPr>
          <p:spPr>
            <a:xfrm>
              <a:off x="1629994" y="5111355"/>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grpSp>
      <p:grpSp>
        <p:nvGrpSpPr>
          <p:cNvPr id="637" name="Google Shape;637;p46"/>
          <p:cNvGrpSpPr/>
          <p:nvPr/>
        </p:nvGrpSpPr>
        <p:grpSpPr>
          <a:xfrm>
            <a:off x="844443" y="5488020"/>
            <a:ext cx="926853" cy="400159"/>
            <a:chOff x="844443" y="5762340"/>
            <a:chExt cx="926853" cy="400159"/>
          </a:xfrm>
        </p:grpSpPr>
        <p:cxnSp>
          <p:nvCxnSpPr>
            <p:cNvPr id="638" name="Google Shape;638;p46"/>
            <p:cNvCxnSpPr/>
            <p:nvPr/>
          </p:nvCxnSpPr>
          <p:spPr>
            <a:xfrm flipH="1">
              <a:off x="1153394" y="5762340"/>
              <a:ext cx="617902" cy="84272"/>
            </a:xfrm>
            <a:prstGeom prst="straightConnector1">
              <a:avLst/>
            </a:prstGeom>
            <a:noFill/>
            <a:ln cap="flat" cmpd="sng" w="38100">
              <a:solidFill>
                <a:schemeClr val="dk1"/>
              </a:solidFill>
              <a:prstDash val="solid"/>
              <a:round/>
              <a:headEnd len="sm" w="sm" type="none"/>
              <a:tailEnd len="med" w="med" type="stealth"/>
            </a:ln>
          </p:spPr>
        </p:cxnSp>
        <p:sp>
          <p:nvSpPr>
            <p:cNvPr id="639" name="Google Shape;639;p46"/>
            <p:cNvSpPr txBox="1"/>
            <p:nvPr/>
          </p:nvSpPr>
          <p:spPr>
            <a:xfrm>
              <a:off x="844443" y="579316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grpSp>
      <p:grpSp>
        <p:nvGrpSpPr>
          <p:cNvPr id="640" name="Google Shape;640;p46"/>
          <p:cNvGrpSpPr/>
          <p:nvPr/>
        </p:nvGrpSpPr>
        <p:grpSpPr>
          <a:xfrm>
            <a:off x="1248489" y="5699530"/>
            <a:ext cx="9324602" cy="612125"/>
            <a:chOff x="1248489" y="5973850"/>
            <a:chExt cx="9324602" cy="612125"/>
          </a:xfrm>
        </p:grpSpPr>
        <p:cxnSp>
          <p:nvCxnSpPr>
            <p:cNvPr id="641" name="Google Shape;641;p46"/>
            <p:cNvCxnSpPr/>
            <p:nvPr/>
          </p:nvCxnSpPr>
          <p:spPr>
            <a:xfrm>
              <a:off x="1248489" y="5973850"/>
              <a:ext cx="8650343" cy="485586"/>
            </a:xfrm>
            <a:prstGeom prst="straightConnector1">
              <a:avLst/>
            </a:prstGeom>
            <a:noFill/>
            <a:ln cap="flat" cmpd="sng" w="38100">
              <a:solidFill>
                <a:schemeClr val="dk1"/>
              </a:solidFill>
              <a:prstDash val="solid"/>
              <a:round/>
              <a:headEnd len="sm" w="sm" type="none"/>
              <a:tailEnd len="med" w="med" type="stealth"/>
            </a:ln>
          </p:spPr>
        </p:cxnSp>
        <p:sp>
          <p:nvSpPr>
            <p:cNvPr id="642" name="Google Shape;642;p46"/>
            <p:cNvSpPr txBox="1"/>
            <p:nvPr/>
          </p:nvSpPr>
          <p:spPr>
            <a:xfrm>
              <a:off x="9955189" y="621664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Shortest Seek Time First (SSTF)</a:t>
            </a:r>
            <a:endParaRPr/>
          </a:p>
        </p:txBody>
      </p:sp>
      <p:sp>
        <p:nvSpPr>
          <p:cNvPr id="648" name="Google Shape;648;p47"/>
          <p:cNvSpPr txBox="1"/>
          <p:nvPr>
            <p:ph idx="1" type="body"/>
          </p:nvPr>
        </p:nvSpPr>
        <p:spPr>
          <a:xfrm>
            <a:off x="677334" y="1610360"/>
            <a:ext cx="9586806" cy="524764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Requests with shortest seek time are executed first, so seek time is calculated in advance.</a:t>
            </a:r>
            <a:endParaRPr/>
          </a:p>
          <a:p>
            <a:pPr indent="0" lvl="0" marL="0" rtl="0" algn="l">
              <a:spcBef>
                <a:spcPts val="1000"/>
              </a:spcBef>
              <a:spcAft>
                <a:spcPts val="0"/>
              </a:spcAft>
              <a:buSzPts val="1440"/>
              <a:buNone/>
            </a:pPr>
            <a:r>
              <a:rPr lang="en-US"/>
              <a:t>Suppose the order of request is- (95,169,33,137,26,9,188) And current position of Read/Write head is: 55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a:t>
            </a:r>
            <a:r>
              <a:rPr b="1" lang="en-US"/>
              <a:t>Seek Time </a:t>
            </a:r>
            <a:r>
              <a:rPr lang="en-US"/>
              <a:t>= (55 - 9) + (188 - 9) = </a:t>
            </a:r>
            <a:endParaRPr/>
          </a:p>
          <a:p>
            <a:pPr indent="0" lvl="0" marL="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grpSp>
        <p:nvGrpSpPr>
          <p:cNvPr id="649" name="Google Shape;649;p47"/>
          <p:cNvGrpSpPr/>
          <p:nvPr/>
        </p:nvGrpSpPr>
        <p:grpSpPr>
          <a:xfrm>
            <a:off x="737757" y="2794241"/>
            <a:ext cx="9855015" cy="717891"/>
            <a:chOff x="737757" y="2565641"/>
            <a:chExt cx="9855015" cy="717891"/>
          </a:xfrm>
        </p:grpSpPr>
        <p:cxnSp>
          <p:nvCxnSpPr>
            <p:cNvPr id="650" name="Google Shape;650;p47"/>
            <p:cNvCxnSpPr/>
            <p:nvPr/>
          </p:nvCxnSpPr>
          <p:spPr>
            <a:xfrm>
              <a:off x="955964" y="3131127"/>
              <a:ext cx="9308176" cy="0"/>
            </a:xfrm>
            <a:prstGeom prst="straightConnector1">
              <a:avLst/>
            </a:prstGeom>
            <a:noFill/>
            <a:ln cap="flat" cmpd="sng" w="57150">
              <a:solidFill>
                <a:schemeClr val="accent6"/>
              </a:solidFill>
              <a:prstDash val="solid"/>
              <a:round/>
              <a:headEnd len="sm" w="sm" type="none"/>
              <a:tailEnd len="sm" w="sm" type="none"/>
            </a:ln>
            <a:effectLst>
              <a:outerShdw blurRad="38100" rotWithShape="0" dir="5400000" dist="25400">
                <a:srgbClr val="000000">
                  <a:alpha val="34901"/>
                </a:srgbClr>
              </a:outerShdw>
            </a:effectLst>
          </p:spPr>
        </p:cxnSp>
        <p:cxnSp>
          <p:nvCxnSpPr>
            <p:cNvPr id="651" name="Google Shape;651;p47"/>
            <p:cNvCxnSpPr/>
            <p:nvPr/>
          </p:nvCxnSpPr>
          <p:spPr>
            <a:xfrm>
              <a:off x="1026414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2" name="Google Shape;652;p47"/>
            <p:cNvCxnSpPr/>
            <p:nvPr/>
          </p:nvCxnSpPr>
          <p:spPr>
            <a:xfrm>
              <a:off x="9751518" y="2951017"/>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3" name="Google Shape;653;p47"/>
            <p:cNvCxnSpPr/>
            <p:nvPr/>
          </p:nvCxnSpPr>
          <p:spPr>
            <a:xfrm>
              <a:off x="8657011" y="2937168"/>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4" name="Google Shape;654;p47"/>
            <p:cNvCxnSpPr/>
            <p:nvPr/>
          </p:nvCxnSpPr>
          <p:spPr>
            <a:xfrm>
              <a:off x="7285406" y="2978732"/>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5" name="Google Shape;655;p47"/>
            <p:cNvCxnSpPr/>
            <p:nvPr/>
          </p:nvCxnSpPr>
          <p:spPr>
            <a:xfrm>
              <a:off x="662038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6" name="Google Shape;656;p47"/>
            <p:cNvCxnSpPr/>
            <p:nvPr/>
          </p:nvCxnSpPr>
          <p:spPr>
            <a:xfrm>
              <a:off x="497169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7" name="Google Shape;657;p47"/>
            <p:cNvCxnSpPr/>
            <p:nvPr/>
          </p:nvCxnSpPr>
          <p:spPr>
            <a:xfrm>
              <a:off x="4417505"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8" name="Google Shape;658;p47"/>
            <p:cNvCxnSpPr/>
            <p:nvPr/>
          </p:nvCxnSpPr>
          <p:spPr>
            <a:xfrm>
              <a:off x="95387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59" name="Google Shape;659;p47"/>
            <p:cNvCxnSpPr/>
            <p:nvPr/>
          </p:nvCxnSpPr>
          <p:spPr>
            <a:xfrm>
              <a:off x="1355657" y="296487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60" name="Google Shape;660;p47"/>
            <p:cNvCxnSpPr/>
            <p:nvPr/>
          </p:nvCxnSpPr>
          <p:spPr>
            <a:xfrm>
              <a:off x="1771297" y="295101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61" name="Google Shape;661;p47"/>
            <p:cNvCxnSpPr/>
            <p:nvPr/>
          </p:nvCxnSpPr>
          <p:spPr>
            <a:xfrm>
              <a:off x="2464021" y="29648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662" name="Google Shape;662;p47"/>
            <p:cNvCxnSpPr/>
            <p:nvPr/>
          </p:nvCxnSpPr>
          <p:spPr>
            <a:xfrm>
              <a:off x="3115189" y="2951006"/>
              <a:ext cx="0" cy="304800"/>
            </a:xfrm>
            <a:prstGeom prst="straightConnector1">
              <a:avLst/>
            </a:prstGeom>
            <a:noFill/>
            <a:ln cap="flat" cmpd="sng" w="57150">
              <a:solidFill>
                <a:schemeClr val="accent6"/>
              </a:solidFill>
              <a:prstDash val="solid"/>
              <a:round/>
              <a:headEnd len="sm" w="sm" type="none"/>
              <a:tailEnd len="sm" w="sm" type="none"/>
            </a:ln>
          </p:spPr>
        </p:cxnSp>
        <p:sp>
          <p:nvSpPr>
            <p:cNvPr id="663" name="Google Shape;663;p47"/>
            <p:cNvSpPr txBox="1"/>
            <p:nvPr/>
          </p:nvSpPr>
          <p:spPr>
            <a:xfrm>
              <a:off x="2940631" y="26093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sp>
          <p:nvSpPr>
            <p:cNvPr id="664" name="Google Shape;664;p47"/>
            <p:cNvSpPr txBox="1"/>
            <p:nvPr/>
          </p:nvSpPr>
          <p:spPr>
            <a:xfrm>
              <a:off x="4201404" y="262324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sp>
          <p:nvSpPr>
            <p:cNvPr id="665" name="Google Shape;665;p47"/>
            <p:cNvSpPr txBox="1"/>
            <p:nvPr/>
          </p:nvSpPr>
          <p:spPr>
            <a:xfrm>
              <a:off x="73775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sp>
          <p:nvSpPr>
            <p:cNvPr id="666" name="Google Shape;666;p47"/>
            <p:cNvSpPr txBox="1"/>
            <p:nvPr/>
          </p:nvSpPr>
          <p:spPr>
            <a:xfrm>
              <a:off x="115339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sp>
          <p:nvSpPr>
            <p:cNvPr id="667" name="Google Shape;667;p47"/>
            <p:cNvSpPr txBox="1"/>
            <p:nvPr/>
          </p:nvSpPr>
          <p:spPr>
            <a:xfrm>
              <a:off x="156902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sp>
          <p:nvSpPr>
            <p:cNvPr id="668" name="Google Shape;668;p47"/>
            <p:cNvSpPr txBox="1"/>
            <p:nvPr/>
          </p:nvSpPr>
          <p:spPr>
            <a:xfrm>
              <a:off x="2247896"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sp>
          <p:nvSpPr>
            <p:cNvPr id="669" name="Google Shape;669;p47"/>
            <p:cNvSpPr txBox="1"/>
            <p:nvPr/>
          </p:nvSpPr>
          <p:spPr>
            <a:xfrm>
              <a:off x="4796457" y="256564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100</a:t>
              </a:r>
              <a:endParaRPr/>
            </a:p>
          </p:txBody>
        </p:sp>
        <p:sp>
          <p:nvSpPr>
            <p:cNvPr id="670" name="Google Shape;670;p47"/>
            <p:cNvSpPr txBox="1"/>
            <p:nvPr/>
          </p:nvSpPr>
          <p:spPr>
            <a:xfrm>
              <a:off x="640636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sp>
          <p:nvSpPr>
            <p:cNvPr id="671" name="Google Shape;671;p47"/>
            <p:cNvSpPr txBox="1"/>
            <p:nvPr/>
          </p:nvSpPr>
          <p:spPr>
            <a:xfrm>
              <a:off x="6984921"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150</a:t>
              </a:r>
              <a:endParaRPr/>
            </a:p>
          </p:txBody>
        </p:sp>
        <p:sp>
          <p:nvSpPr>
            <p:cNvPr id="672" name="Google Shape;672;p47"/>
            <p:cNvSpPr txBox="1"/>
            <p:nvPr/>
          </p:nvSpPr>
          <p:spPr>
            <a:xfrm>
              <a:off x="9974870"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sp>
          <p:nvSpPr>
            <p:cNvPr id="673" name="Google Shape;673;p47"/>
            <p:cNvSpPr txBox="1"/>
            <p:nvPr/>
          </p:nvSpPr>
          <p:spPr>
            <a:xfrm>
              <a:off x="9438015" y="2579496"/>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sp>
          <p:nvSpPr>
            <p:cNvPr id="674" name="Google Shape;674;p47"/>
            <p:cNvSpPr txBox="1"/>
            <p:nvPr/>
          </p:nvSpPr>
          <p:spPr>
            <a:xfrm>
              <a:off x="8339355"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sp>
        <p:nvSpPr>
          <p:cNvPr id="675" name="Google Shape;675;p47"/>
          <p:cNvSpPr txBox="1"/>
          <p:nvPr/>
        </p:nvSpPr>
        <p:spPr>
          <a:xfrm>
            <a:off x="2809417" y="352458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grpSp>
        <p:nvGrpSpPr>
          <p:cNvPr id="676" name="Google Shape;676;p47"/>
          <p:cNvGrpSpPr/>
          <p:nvPr/>
        </p:nvGrpSpPr>
        <p:grpSpPr>
          <a:xfrm>
            <a:off x="2129006" y="3756615"/>
            <a:ext cx="989362" cy="369332"/>
            <a:chOff x="2129006" y="3756615"/>
            <a:chExt cx="989362" cy="369332"/>
          </a:xfrm>
        </p:grpSpPr>
        <p:cxnSp>
          <p:nvCxnSpPr>
            <p:cNvPr id="677" name="Google Shape;677;p47"/>
            <p:cNvCxnSpPr>
              <a:stCxn id="675" idx="2"/>
            </p:cNvCxnSpPr>
            <p:nvPr/>
          </p:nvCxnSpPr>
          <p:spPr>
            <a:xfrm flipH="1">
              <a:off x="2464068" y="3893914"/>
              <a:ext cx="654300" cy="198000"/>
            </a:xfrm>
            <a:prstGeom prst="straightConnector1">
              <a:avLst/>
            </a:prstGeom>
            <a:noFill/>
            <a:ln cap="flat" cmpd="sng" w="38100">
              <a:solidFill>
                <a:srgbClr val="0C0C0C"/>
              </a:solidFill>
              <a:prstDash val="solid"/>
              <a:round/>
              <a:headEnd len="sm" w="sm" type="none"/>
              <a:tailEnd len="med" w="med" type="triangle"/>
            </a:ln>
          </p:spPr>
        </p:cxnSp>
        <p:sp>
          <p:nvSpPr>
            <p:cNvPr id="678" name="Google Shape;678;p47"/>
            <p:cNvSpPr txBox="1"/>
            <p:nvPr/>
          </p:nvSpPr>
          <p:spPr>
            <a:xfrm>
              <a:off x="2129006" y="3756615"/>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grpSp>
      <p:grpSp>
        <p:nvGrpSpPr>
          <p:cNvPr id="679" name="Google Shape;679;p47"/>
          <p:cNvGrpSpPr/>
          <p:nvPr/>
        </p:nvGrpSpPr>
        <p:grpSpPr>
          <a:xfrm>
            <a:off x="1491423" y="4040891"/>
            <a:ext cx="925911" cy="369332"/>
            <a:chOff x="1491423" y="4040891"/>
            <a:chExt cx="925911" cy="369332"/>
          </a:xfrm>
        </p:grpSpPr>
        <p:cxnSp>
          <p:nvCxnSpPr>
            <p:cNvPr id="680" name="Google Shape;680;p47"/>
            <p:cNvCxnSpPr/>
            <p:nvPr/>
          </p:nvCxnSpPr>
          <p:spPr>
            <a:xfrm flipH="1">
              <a:off x="1877978" y="4160153"/>
              <a:ext cx="539356" cy="200335"/>
            </a:xfrm>
            <a:prstGeom prst="straightConnector1">
              <a:avLst/>
            </a:prstGeom>
            <a:noFill/>
            <a:ln cap="flat" cmpd="sng" w="38100">
              <a:solidFill>
                <a:srgbClr val="0C0C0C"/>
              </a:solidFill>
              <a:prstDash val="solid"/>
              <a:round/>
              <a:headEnd len="sm" w="sm" type="none"/>
              <a:tailEnd len="med" w="med" type="triangle"/>
            </a:ln>
          </p:spPr>
        </p:cxnSp>
        <p:sp>
          <p:nvSpPr>
            <p:cNvPr id="681" name="Google Shape;681;p47"/>
            <p:cNvSpPr txBox="1"/>
            <p:nvPr/>
          </p:nvSpPr>
          <p:spPr>
            <a:xfrm>
              <a:off x="1491423" y="40408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grpSp>
      <p:grpSp>
        <p:nvGrpSpPr>
          <p:cNvPr id="682" name="Google Shape;682;p47"/>
          <p:cNvGrpSpPr/>
          <p:nvPr/>
        </p:nvGrpSpPr>
        <p:grpSpPr>
          <a:xfrm>
            <a:off x="1206652" y="4461831"/>
            <a:ext cx="617902" cy="549632"/>
            <a:chOff x="1206652" y="4461831"/>
            <a:chExt cx="617902" cy="549632"/>
          </a:xfrm>
        </p:grpSpPr>
        <p:cxnSp>
          <p:nvCxnSpPr>
            <p:cNvPr id="683" name="Google Shape;683;p47"/>
            <p:cNvCxnSpPr>
              <a:endCxn id="684" idx="0"/>
            </p:cNvCxnSpPr>
            <p:nvPr/>
          </p:nvCxnSpPr>
          <p:spPr>
            <a:xfrm flipH="1">
              <a:off x="1515603" y="4461831"/>
              <a:ext cx="247500" cy="180300"/>
            </a:xfrm>
            <a:prstGeom prst="straightConnector1">
              <a:avLst/>
            </a:prstGeom>
            <a:noFill/>
            <a:ln cap="flat" cmpd="sng" w="38100">
              <a:solidFill>
                <a:srgbClr val="0C0C0C"/>
              </a:solidFill>
              <a:prstDash val="solid"/>
              <a:round/>
              <a:headEnd len="sm" w="sm" type="none"/>
              <a:tailEnd len="med" w="med" type="triangle"/>
            </a:ln>
          </p:spPr>
        </p:cxnSp>
        <p:sp>
          <p:nvSpPr>
            <p:cNvPr id="684" name="Google Shape;684;p47"/>
            <p:cNvSpPr txBox="1"/>
            <p:nvPr/>
          </p:nvSpPr>
          <p:spPr>
            <a:xfrm>
              <a:off x="1206652" y="464213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grpSp>
      <p:grpSp>
        <p:nvGrpSpPr>
          <p:cNvPr id="685" name="Google Shape;685;p47"/>
          <p:cNvGrpSpPr/>
          <p:nvPr/>
        </p:nvGrpSpPr>
        <p:grpSpPr>
          <a:xfrm>
            <a:off x="1515969" y="4482061"/>
            <a:ext cx="3433577" cy="369332"/>
            <a:chOff x="1515969" y="4482061"/>
            <a:chExt cx="3433577" cy="369332"/>
          </a:xfrm>
        </p:grpSpPr>
        <p:cxnSp>
          <p:nvCxnSpPr>
            <p:cNvPr id="686" name="Google Shape;686;p47"/>
            <p:cNvCxnSpPr/>
            <p:nvPr/>
          </p:nvCxnSpPr>
          <p:spPr>
            <a:xfrm>
              <a:off x="1515969" y="4789055"/>
              <a:ext cx="2901536" cy="37742"/>
            </a:xfrm>
            <a:prstGeom prst="straightConnector1">
              <a:avLst/>
            </a:prstGeom>
            <a:noFill/>
            <a:ln cap="flat" cmpd="sng" w="38100">
              <a:solidFill>
                <a:srgbClr val="0C0C0C"/>
              </a:solidFill>
              <a:prstDash val="solid"/>
              <a:round/>
              <a:headEnd len="sm" w="sm" type="none"/>
              <a:tailEnd len="med" w="med" type="triangle"/>
            </a:ln>
          </p:spPr>
        </p:cxnSp>
        <p:sp>
          <p:nvSpPr>
            <p:cNvPr id="687" name="Google Shape;687;p47"/>
            <p:cNvSpPr txBox="1"/>
            <p:nvPr/>
          </p:nvSpPr>
          <p:spPr>
            <a:xfrm>
              <a:off x="4331644" y="448206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grpSp>
      <p:grpSp>
        <p:nvGrpSpPr>
          <p:cNvPr id="688" name="Google Shape;688;p47"/>
          <p:cNvGrpSpPr/>
          <p:nvPr/>
        </p:nvGrpSpPr>
        <p:grpSpPr>
          <a:xfrm>
            <a:off x="4510355" y="4760827"/>
            <a:ext cx="2592679" cy="400086"/>
            <a:chOff x="4510355" y="4760827"/>
            <a:chExt cx="2592679" cy="400086"/>
          </a:xfrm>
        </p:grpSpPr>
        <p:cxnSp>
          <p:nvCxnSpPr>
            <p:cNvPr id="689" name="Google Shape;689;p47"/>
            <p:cNvCxnSpPr/>
            <p:nvPr/>
          </p:nvCxnSpPr>
          <p:spPr>
            <a:xfrm>
              <a:off x="4510355" y="4892365"/>
              <a:ext cx="2110030" cy="268548"/>
            </a:xfrm>
            <a:prstGeom prst="straightConnector1">
              <a:avLst/>
            </a:prstGeom>
            <a:noFill/>
            <a:ln cap="flat" cmpd="sng" w="38100">
              <a:solidFill>
                <a:srgbClr val="0C0C0C"/>
              </a:solidFill>
              <a:prstDash val="solid"/>
              <a:round/>
              <a:headEnd len="sm" w="sm" type="none"/>
              <a:tailEnd len="med" w="med" type="triangle"/>
            </a:ln>
          </p:spPr>
        </p:cxnSp>
        <p:sp>
          <p:nvSpPr>
            <p:cNvPr id="690" name="Google Shape;690;p47"/>
            <p:cNvSpPr txBox="1"/>
            <p:nvPr/>
          </p:nvSpPr>
          <p:spPr>
            <a:xfrm>
              <a:off x="6485132" y="476082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grpSp>
      <p:grpSp>
        <p:nvGrpSpPr>
          <p:cNvPr id="691" name="Google Shape;691;p47"/>
          <p:cNvGrpSpPr/>
          <p:nvPr/>
        </p:nvGrpSpPr>
        <p:grpSpPr>
          <a:xfrm>
            <a:off x="6715315" y="5081377"/>
            <a:ext cx="2362496" cy="423614"/>
            <a:chOff x="6715315" y="5081377"/>
            <a:chExt cx="2362496" cy="423614"/>
          </a:xfrm>
        </p:grpSpPr>
        <p:cxnSp>
          <p:nvCxnSpPr>
            <p:cNvPr id="692" name="Google Shape;692;p47"/>
            <p:cNvCxnSpPr/>
            <p:nvPr/>
          </p:nvCxnSpPr>
          <p:spPr>
            <a:xfrm>
              <a:off x="6715315" y="5261499"/>
              <a:ext cx="1941696" cy="243492"/>
            </a:xfrm>
            <a:prstGeom prst="straightConnector1">
              <a:avLst/>
            </a:prstGeom>
            <a:noFill/>
            <a:ln cap="flat" cmpd="sng" w="38100">
              <a:solidFill>
                <a:srgbClr val="0C0C0C"/>
              </a:solidFill>
              <a:prstDash val="solid"/>
              <a:round/>
              <a:headEnd len="sm" w="sm" type="none"/>
              <a:tailEnd len="med" w="med" type="triangle"/>
            </a:ln>
          </p:spPr>
        </p:cxnSp>
        <p:sp>
          <p:nvSpPr>
            <p:cNvPr id="693" name="Google Shape;693;p47"/>
            <p:cNvSpPr txBox="1"/>
            <p:nvPr/>
          </p:nvSpPr>
          <p:spPr>
            <a:xfrm>
              <a:off x="8459909" y="508137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grpSp>
        <p:nvGrpSpPr>
          <p:cNvPr id="694" name="Google Shape;694;p47"/>
          <p:cNvGrpSpPr/>
          <p:nvPr/>
        </p:nvGrpSpPr>
        <p:grpSpPr>
          <a:xfrm>
            <a:off x="8799597" y="5536523"/>
            <a:ext cx="1357247" cy="435163"/>
            <a:chOff x="8957257" y="5504991"/>
            <a:chExt cx="1357247" cy="435163"/>
          </a:xfrm>
        </p:grpSpPr>
        <p:cxnSp>
          <p:nvCxnSpPr>
            <p:cNvPr id="695" name="Google Shape;695;p47"/>
            <p:cNvCxnSpPr/>
            <p:nvPr/>
          </p:nvCxnSpPr>
          <p:spPr>
            <a:xfrm>
              <a:off x="8957257" y="5504991"/>
              <a:ext cx="789709" cy="118961"/>
            </a:xfrm>
            <a:prstGeom prst="straightConnector1">
              <a:avLst/>
            </a:prstGeom>
            <a:noFill/>
            <a:ln cap="flat" cmpd="sng" w="38100">
              <a:solidFill>
                <a:srgbClr val="0C0C0C"/>
              </a:solidFill>
              <a:prstDash val="solid"/>
              <a:round/>
              <a:headEnd len="sm" w="sm" type="none"/>
              <a:tailEnd len="med" w="med" type="triangle"/>
            </a:ln>
          </p:spPr>
        </p:cxnSp>
        <p:sp>
          <p:nvSpPr>
            <p:cNvPr id="696" name="Google Shape;696;p47"/>
            <p:cNvSpPr txBox="1"/>
            <p:nvPr/>
          </p:nvSpPr>
          <p:spPr>
            <a:xfrm>
              <a:off x="9696602" y="557082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LOOK Algorithm</a:t>
            </a:r>
            <a:endParaRPr/>
          </a:p>
        </p:txBody>
      </p:sp>
      <p:sp>
        <p:nvSpPr>
          <p:cNvPr id="702" name="Google Shape;702;p48"/>
          <p:cNvSpPr txBox="1"/>
          <p:nvPr>
            <p:ph idx="1" type="body"/>
          </p:nvPr>
        </p:nvSpPr>
        <p:spPr>
          <a:xfrm>
            <a:off x="677334" y="1610360"/>
            <a:ext cx="9586806" cy="52476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Disk goes to the last request to be serviced in front of the head and then reverses its direction from there only</a:t>
            </a:r>
            <a:endParaRPr/>
          </a:p>
          <a:p>
            <a:pPr indent="-342900" lvl="0" marL="342900" rtl="0" algn="l">
              <a:spcBef>
                <a:spcPts val="1000"/>
              </a:spcBef>
              <a:spcAft>
                <a:spcPts val="0"/>
              </a:spcAft>
              <a:buSzPts val="1440"/>
              <a:buChar char="►"/>
            </a:pPr>
            <a:r>
              <a:rPr lang="en-US"/>
              <a:t>Suppose the order of request is- (95,169,33,137,26,9,188) And current position of Read/Write head is: 55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a:t>
            </a:r>
            <a:r>
              <a:rPr b="1" lang="en-US"/>
              <a:t>Seek Time </a:t>
            </a:r>
            <a:r>
              <a:rPr lang="en-US"/>
              <a:t>= (188 - 55) + (188 - 9) = </a:t>
            </a:r>
            <a:endParaRPr/>
          </a:p>
          <a:p>
            <a:pPr indent="0" lvl="0" marL="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grpSp>
        <p:nvGrpSpPr>
          <p:cNvPr id="703" name="Google Shape;703;p48"/>
          <p:cNvGrpSpPr/>
          <p:nvPr/>
        </p:nvGrpSpPr>
        <p:grpSpPr>
          <a:xfrm>
            <a:off x="737757" y="2794241"/>
            <a:ext cx="9855015" cy="717891"/>
            <a:chOff x="737757" y="2565641"/>
            <a:chExt cx="9855015" cy="717891"/>
          </a:xfrm>
        </p:grpSpPr>
        <p:cxnSp>
          <p:nvCxnSpPr>
            <p:cNvPr id="704" name="Google Shape;704;p48"/>
            <p:cNvCxnSpPr/>
            <p:nvPr/>
          </p:nvCxnSpPr>
          <p:spPr>
            <a:xfrm>
              <a:off x="955964" y="3131127"/>
              <a:ext cx="9308176" cy="0"/>
            </a:xfrm>
            <a:prstGeom prst="straightConnector1">
              <a:avLst/>
            </a:prstGeom>
            <a:noFill/>
            <a:ln cap="flat" cmpd="sng" w="57150">
              <a:solidFill>
                <a:schemeClr val="accent6"/>
              </a:solidFill>
              <a:prstDash val="solid"/>
              <a:round/>
              <a:headEnd len="sm" w="sm" type="none"/>
              <a:tailEnd len="sm" w="sm" type="none"/>
            </a:ln>
            <a:effectLst>
              <a:outerShdw blurRad="38100" rotWithShape="0" dir="5400000" dist="25400">
                <a:srgbClr val="000000">
                  <a:alpha val="34901"/>
                </a:srgbClr>
              </a:outerShdw>
            </a:effectLst>
          </p:spPr>
        </p:cxnSp>
        <p:cxnSp>
          <p:nvCxnSpPr>
            <p:cNvPr id="705" name="Google Shape;705;p48"/>
            <p:cNvCxnSpPr/>
            <p:nvPr/>
          </p:nvCxnSpPr>
          <p:spPr>
            <a:xfrm>
              <a:off x="1026414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06" name="Google Shape;706;p48"/>
            <p:cNvCxnSpPr/>
            <p:nvPr/>
          </p:nvCxnSpPr>
          <p:spPr>
            <a:xfrm>
              <a:off x="9751518" y="2951017"/>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07" name="Google Shape;707;p48"/>
            <p:cNvCxnSpPr/>
            <p:nvPr/>
          </p:nvCxnSpPr>
          <p:spPr>
            <a:xfrm>
              <a:off x="8657011" y="2937168"/>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08" name="Google Shape;708;p48"/>
            <p:cNvCxnSpPr/>
            <p:nvPr/>
          </p:nvCxnSpPr>
          <p:spPr>
            <a:xfrm>
              <a:off x="7285406" y="2978732"/>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09" name="Google Shape;709;p48"/>
            <p:cNvCxnSpPr/>
            <p:nvPr/>
          </p:nvCxnSpPr>
          <p:spPr>
            <a:xfrm>
              <a:off x="662038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0" name="Google Shape;710;p48"/>
            <p:cNvCxnSpPr/>
            <p:nvPr/>
          </p:nvCxnSpPr>
          <p:spPr>
            <a:xfrm>
              <a:off x="497169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1" name="Google Shape;711;p48"/>
            <p:cNvCxnSpPr/>
            <p:nvPr/>
          </p:nvCxnSpPr>
          <p:spPr>
            <a:xfrm>
              <a:off x="4417505"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2" name="Google Shape;712;p48"/>
            <p:cNvCxnSpPr/>
            <p:nvPr/>
          </p:nvCxnSpPr>
          <p:spPr>
            <a:xfrm>
              <a:off x="95387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3" name="Google Shape;713;p48"/>
            <p:cNvCxnSpPr/>
            <p:nvPr/>
          </p:nvCxnSpPr>
          <p:spPr>
            <a:xfrm>
              <a:off x="1355657" y="296487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4" name="Google Shape;714;p48"/>
            <p:cNvCxnSpPr/>
            <p:nvPr/>
          </p:nvCxnSpPr>
          <p:spPr>
            <a:xfrm>
              <a:off x="1771297" y="295101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5" name="Google Shape;715;p48"/>
            <p:cNvCxnSpPr/>
            <p:nvPr/>
          </p:nvCxnSpPr>
          <p:spPr>
            <a:xfrm>
              <a:off x="2464021" y="29648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16" name="Google Shape;716;p48"/>
            <p:cNvCxnSpPr/>
            <p:nvPr/>
          </p:nvCxnSpPr>
          <p:spPr>
            <a:xfrm>
              <a:off x="3115189" y="2951006"/>
              <a:ext cx="0" cy="304800"/>
            </a:xfrm>
            <a:prstGeom prst="straightConnector1">
              <a:avLst/>
            </a:prstGeom>
            <a:noFill/>
            <a:ln cap="flat" cmpd="sng" w="57150">
              <a:solidFill>
                <a:schemeClr val="accent6"/>
              </a:solidFill>
              <a:prstDash val="solid"/>
              <a:round/>
              <a:headEnd len="sm" w="sm" type="none"/>
              <a:tailEnd len="sm" w="sm" type="none"/>
            </a:ln>
          </p:spPr>
        </p:cxnSp>
        <p:sp>
          <p:nvSpPr>
            <p:cNvPr id="717" name="Google Shape;717;p48"/>
            <p:cNvSpPr txBox="1"/>
            <p:nvPr/>
          </p:nvSpPr>
          <p:spPr>
            <a:xfrm>
              <a:off x="2940631" y="26093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sp>
          <p:nvSpPr>
            <p:cNvPr id="718" name="Google Shape;718;p48"/>
            <p:cNvSpPr txBox="1"/>
            <p:nvPr/>
          </p:nvSpPr>
          <p:spPr>
            <a:xfrm>
              <a:off x="4201404" y="262324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sp>
          <p:nvSpPr>
            <p:cNvPr id="719" name="Google Shape;719;p48"/>
            <p:cNvSpPr txBox="1"/>
            <p:nvPr/>
          </p:nvSpPr>
          <p:spPr>
            <a:xfrm>
              <a:off x="73775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sp>
          <p:nvSpPr>
            <p:cNvPr id="720" name="Google Shape;720;p48"/>
            <p:cNvSpPr txBox="1"/>
            <p:nvPr/>
          </p:nvSpPr>
          <p:spPr>
            <a:xfrm>
              <a:off x="115339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sp>
          <p:nvSpPr>
            <p:cNvPr id="721" name="Google Shape;721;p48"/>
            <p:cNvSpPr txBox="1"/>
            <p:nvPr/>
          </p:nvSpPr>
          <p:spPr>
            <a:xfrm>
              <a:off x="156902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sp>
          <p:nvSpPr>
            <p:cNvPr id="722" name="Google Shape;722;p48"/>
            <p:cNvSpPr txBox="1"/>
            <p:nvPr/>
          </p:nvSpPr>
          <p:spPr>
            <a:xfrm>
              <a:off x="2247896"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sp>
          <p:nvSpPr>
            <p:cNvPr id="723" name="Google Shape;723;p48"/>
            <p:cNvSpPr txBox="1"/>
            <p:nvPr/>
          </p:nvSpPr>
          <p:spPr>
            <a:xfrm>
              <a:off x="4796457" y="256564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100</a:t>
              </a:r>
              <a:endParaRPr/>
            </a:p>
          </p:txBody>
        </p:sp>
        <p:sp>
          <p:nvSpPr>
            <p:cNvPr id="724" name="Google Shape;724;p48"/>
            <p:cNvSpPr txBox="1"/>
            <p:nvPr/>
          </p:nvSpPr>
          <p:spPr>
            <a:xfrm>
              <a:off x="640636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sp>
          <p:nvSpPr>
            <p:cNvPr id="725" name="Google Shape;725;p48"/>
            <p:cNvSpPr txBox="1"/>
            <p:nvPr/>
          </p:nvSpPr>
          <p:spPr>
            <a:xfrm>
              <a:off x="6984921"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150</a:t>
              </a:r>
              <a:endParaRPr/>
            </a:p>
          </p:txBody>
        </p:sp>
        <p:sp>
          <p:nvSpPr>
            <p:cNvPr id="726" name="Google Shape;726;p48"/>
            <p:cNvSpPr txBox="1"/>
            <p:nvPr/>
          </p:nvSpPr>
          <p:spPr>
            <a:xfrm>
              <a:off x="9974870"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sp>
          <p:nvSpPr>
            <p:cNvPr id="727" name="Google Shape;727;p48"/>
            <p:cNvSpPr txBox="1"/>
            <p:nvPr/>
          </p:nvSpPr>
          <p:spPr>
            <a:xfrm>
              <a:off x="9438015" y="2579496"/>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sp>
          <p:nvSpPr>
            <p:cNvPr id="728" name="Google Shape;728;p48"/>
            <p:cNvSpPr txBox="1"/>
            <p:nvPr/>
          </p:nvSpPr>
          <p:spPr>
            <a:xfrm>
              <a:off x="8339355"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sp>
        <p:nvSpPr>
          <p:cNvPr id="729" name="Google Shape;729;p48"/>
          <p:cNvSpPr txBox="1"/>
          <p:nvPr/>
        </p:nvSpPr>
        <p:spPr>
          <a:xfrm>
            <a:off x="2809417" y="352458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grpSp>
        <p:nvGrpSpPr>
          <p:cNvPr id="730" name="Google Shape;730;p48"/>
          <p:cNvGrpSpPr/>
          <p:nvPr/>
        </p:nvGrpSpPr>
        <p:grpSpPr>
          <a:xfrm>
            <a:off x="1601787" y="5049893"/>
            <a:ext cx="926051" cy="369332"/>
            <a:chOff x="1601787" y="5049893"/>
            <a:chExt cx="926051" cy="369332"/>
          </a:xfrm>
        </p:grpSpPr>
        <p:cxnSp>
          <p:nvCxnSpPr>
            <p:cNvPr id="731" name="Google Shape;731;p48"/>
            <p:cNvCxnSpPr>
              <a:endCxn id="732" idx="2"/>
            </p:cNvCxnSpPr>
            <p:nvPr/>
          </p:nvCxnSpPr>
          <p:spPr>
            <a:xfrm flipH="1">
              <a:off x="1910738" y="5279425"/>
              <a:ext cx="617100" cy="139800"/>
            </a:xfrm>
            <a:prstGeom prst="straightConnector1">
              <a:avLst/>
            </a:prstGeom>
            <a:noFill/>
            <a:ln cap="flat" cmpd="sng" w="38100">
              <a:solidFill>
                <a:srgbClr val="0C0C0C"/>
              </a:solidFill>
              <a:prstDash val="solid"/>
              <a:round/>
              <a:headEnd len="sm" w="sm" type="none"/>
              <a:tailEnd len="med" w="med" type="triangle"/>
            </a:ln>
          </p:spPr>
        </p:cxnSp>
        <p:sp>
          <p:nvSpPr>
            <p:cNvPr id="732" name="Google Shape;732;p48"/>
            <p:cNvSpPr txBox="1"/>
            <p:nvPr/>
          </p:nvSpPr>
          <p:spPr>
            <a:xfrm>
              <a:off x="1601787" y="504989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grpSp>
      <p:grpSp>
        <p:nvGrpSpPr>
          <p:cNvPr id="733" name="Google Shape;733;p48"/>
          <p:cNvGrpSpPr/>
          <p:nvPr/>
        </p:nvGrpSpPr>
        <p:grpSpPr>
          <a:xfrm>
            <a:off x="2272699" y="4825315"/>
            <a:ext cx="7266243" cy="422400"/>
            <a:chOff x="2272699" y="4825315"/>
            <a:chExt cx="7266243" cy="422400"/>
          </a:xfrm>
        </p:grpSpPr>
        <p:sp>
          <p:nvSpPr>
            <p:cNvPr id="734" name="Google Shape;734;p48"/>
            <p:cNvSpPr txBox="1"/>
            <p:nvPr/>
          </p:nvSpPr>
          <p:spPr>
            <a:xfrm>
              <a:off x="2272699" y="487531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cxnSp>
          <p:nvCxnSpPr>
            <p:cNvPr id="735" name="Google Shape;735;p48"/>
            <p:cNvCxnSpPr>
              <a:stCxn id="736" idx="1"/>
            </p:cNvCxnSpPr>
            <p:nvPr/>
          </p:nvCxnSpPr>
          <p:spPr>
            <a:xfrm flipH="1">
              <a:off x="2588842" y="4825315"/>
              <a:ext cx="6950100" cy="422400"/>
            </a:xfrm>
            <a:prstGeom prst="straightConnector1">
              <a:avLst/>
            </a:prstGeom>
            <a:noFill/>
            <a:ln cap="flat" cmpd="sng" w="38100">
              <a:solidFill>
                <a:srgbClr val="0C0C0C"/>
              </a:solidFill>
              <a:prstDash val="solid"/>
              <a:round/>
              <a:headEnd len="sm" w="sm" type="none"/>
              <a:tailEnd len="med" w="med" type="triangle"/>
            </a:ln>
          </p:spPr>
        </p:cxnSp>
      </p:grpSp>
      <p:grpSp>
        <p:nvGrpSpPr>
          <p:cNvPr id="737" name="Google Shape;737;p48"/>
          <p:cNvGrpSpPr/>
          <p:nvPr/>
        </p:nvGrpSpPr>
        <p:grpSpPr>
          <a:xfrm>
            <a:off x="3118368" y="3693781"/>
            <a:ext cx="1689286" cy="369332"/>
            <a:chOff x="3118368" y="3693781"/>
            <a:chExt cx="1689286" cy="369332"/>
          </a:xfrm>
        </p:grpSpPr>
        <p:cxnSp>
          <p:nvCxnSpPr>
            <p:cNvPr id="738" name="Google Shape;738;p48"/>
            <p:cNvCxnSpPr>
              <a:stCxn id="729" idx="2"/>
            </p:cNvCxnSpPr>
            <p:nvPr/>
          </p:nvCxnSpPr>
          <p:spPr>
            <a:xfrm>
              <a:off x="3118368" y="3893914"/>
              <a:ext cx="1299000" cy="147000"/>
            </a:xfrm>
            <a:prstGeom prst="straightConnector1">
              <a:avLst/>
            </a:prstGeom>
            <a:noFill/>
            <a:ln cap="flat" cmpd="sng" w="38100">
              <a:solidFill>
                <a:srgbClr val="0C0C0C"/>
              </a:solidFill>
              <a:prstDash val="solid"/>
              <a:round/>
              <a:headEnd len="sm" w="sm" type="none"/>
              <a:tailEnd len="med" w="med" type="triangle"/>
            </a:ln>
          </p:spPr>
        </p:cxnSp>
        <p:sp>
          <p:nvSpPr>
            <p:cNvPr id="739" name="Google Shape;739;p48"/>
            <p:cNvSpPr txBox="1"/>
            <p:nvPr/>
          </p:nvSpPr>
          <p:spPr>
            <a:xfrm>
              <a:off x="4189752" y="369378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grpSp>
      <p:grpSp>
        <p:nvGrpSpPr>
          <p:cNvPr id="740" name="Google Shape;740;p48"/>
          <p:cNvGrpSpPr/>
          <p:nvPr/>
        </p:nvGrpSpPr>
        <p:grpSpPr>
          <a:xfrm>
            <a:off x="4510355" y="3972541"/>
            <a:ext cx="2592679" cy="400086"/>
            <a:chOff x="4510355" y="4760827"/>
            <a:chExt cx="2592679" cy="400086"/>
          </a:xfrm>
        </p:grpSpPr>
        <p:cxnSp>
          <p:nvCxnSpPr>
            <p:cNvPr id="741" name="Google Shape;741;p48"/>
            <p:cNvCxnSpPr/>
            <p:nvPr/>
          </p:nvCxnSpPr>
          <p:spPr>
            <a:xfrm>
              <a:off x="4510355" y="4892365"/>
              <a:ext cx="2110030" cy="268548"/>
            </a:xfrm>
            <a:prstGeom prst="straightConnector1">
              <a:avLst/>
            </a:prstGeom>
            <a:noFill/>
            <a:ln cap="flat" cmpd="sng" w="38100">
              <a:solidFill>
                <a:srgbClr val="0C0C0C"/>
              </a:solidFill>
              <a:prstDash val="solid"/>
              <a:round/>
              <a:headEnd len="sm" w="sm" type="none"/>
              <a:tailEnd len="med" w="med" type="triangle"/>
            </a:ln>
          </p:spPr>
        </p:cxnSp>
        <p:sp>
          <p:nvSpPr>
            <p:cNvPr id="742" name="Google Shape;742;p48"/>
            <p:cNvSpPr txBox="1"/>
            <p:nvPr/>
          </p:nvSpPr>
          <p:spPr>
            <a:xfrm>
              <a:off x="6485132" y="476082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grpSp>
      <p:grpSp>
        <p:nvGrpSpPr>
          <p:cNvPr id="743" name="Google Shape;743;p48"/>
          <p:cNvGrpSpPr/>
          <p:nvPr/>
        </p:nvGrpSpPr>
        <p:grpSpPr>
          <a:xfrm>
            <a:off x="6715315" y="4214274"/>
            <a:ext cx="2362496" cy="423614"/>
            <a:chOff x="6715315" y="5081377"/>
            <a:chExt cx="2362496" cy="423614"/>
          </a:xfrm>
        </p:grpSpPr>
        <p:cxnSp>
          <p:nvCxnSpPr>
            <p:cNvPr id="744" name="Google Shape;744;p48"/>
            <p:cNvCxnSpPr/>
            <p:nvPr/>
          </p:nvCxnSpPr>
          <p:spPr>
            <a:xfrm>
              <a:off x="6715315" y="5261499"/>
              <a:ext cx="1941696" cy="243492"/>
            </a:xfrm>
            <a:prstGeom prst="straightConnector1">
              <a:avLst/>
            </a:prstGeom>
            <a:noFill/>
            <a:ln cap="flat" cmpd="sng" w="38100">
              <a:solidFill>
                <a:srgbClr val="0C0C0C"/>
              </a:solidFill>
              <a:prstDash val="solid"/>
              <a:round/>
              <a:headEnd len="sm" w="sm" type="none"/>
              <a:tailEnd len="med" w="med" type="triangle"/>
            </a:ln>
          </p:spPr>
        </p:cxnSp>
        <p:sp>
          <p:nvSpPr>
            <p:cNvPr id="745" name="Google Shape;745;p48"/>
            <p:cNvSpPr txBox="1"/>
            <p:nvPr/>
          </p:nvSpPr>
          <p:spPr>
            <a:xfrm>
              <a:off x="8459909" y="508137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grpSp>
        <p:nvGrpSpPr>
          <p:cNvPr id="746" name="Google Shape;746;p48"/>
          <p:cNvGrpSpPr/>
          <p:nvPr/>
        </p:nvGrpSpPr>
        <p:grpSpPr>
          <a:xfrm>
            <a:off x="8799597" y="4637882"/>
            <a:ext cx="1357247" cy="372099"/>
            <a:chOff x="8957257" y="5504991"/>
            <a:chExt cx="1357247" cy="372099"/>
          </a:xfrm>
        </p:grpSpPr>
        <p:cxnSp>
          <p:nvCxnSpPr>
            <p:cNvPr id="747" name="Google Shape;747;p48"/>
            <p:cNvCxnSpPr/>
            <p:nvPr/>
          </p:nvCxnSpPr>
          <p:spPr>
            <a:xfrm>
              <a:off x="8957257" y="5504991"/>
              <a:ext cx="789709" cy="118961"/>
            </a:xfrm>
            <a:prstGeom prst="straightConnector1">
              <a:avLst/>
            </a:prstGeom>
            <a:noFill/>
            <a:ln cap="flat" cmpd="sng" w="38100">
              <a:solidFill>
                <a:srgbClr val="0C0C0C"/>
              </a:solidFill>
              <a:prstDash val="solid"/>
              <a:round/>
              <a:headEnd len="sm" w="sm" type="none"/>
              <a:tailEnd len="med" w="med" type="triangle"/>
            </a:ln>
          </p:spPr>
        </p:cxnSp>
        <p:sp>
          <p:nvSpPr>
            <p:cNvPr id="736" name="Google Shape;736;p48"/>
            <p:cNvSpPr txBox="1"/>
            <p:nvPr/>
          </p:nvSpPr>
          <p:spPr>
            <a:xfrm>
              <a:off x="9696602" y="5507758"/>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grpSp>
      <p:grpSp>
        <p:nvGrpSpPr>
          <p:cNvPr id="748" name="Google Shape;748;p48"/>
          <p:cNvGrpSpPr/>
          <p:nvPr/>
        </p:nvGrpSpPr>
        <p:grpSpPr>
          <a:xfrm>
            <a:off x="1130219" y="5201411"/>
            <a:ext cx="711605" cy="379582"/>
            <a:chOff x="1130219" y="5201411"/>
            <a:chExt cx="711605" cy="379582"/>
          </a:xfrm>
        </p:grpSpPr>
        <p:cxnSp>
          <p:nvCxnSpPr>
            <p:cNvPr id="749" name="Google Shape;749;p48"/>
            <p:cNvCxnSpPr/>
            <p:nvPr/>
          </p:nvCxnSpPr>
          <p:spPr>
            <a:xfrm flipH="1">
              <a:off x="1355657" y="5439407"/>
              <a:ext cx="486167" cy="141586"/>
            </a:xfrm>
            <a:prstGeom prst="straightConnector1">
              <a:avLst/>
            </a:prstGeom>
            <a:noFill/>
            <a:ln cap="flat" cmpd="sng" w="38100">
              <a:solidFill>
                <a:srgbClr val="0C0C0C"/>
              </a:solidFill>
              <a:prstDash val="solid"/>
              <a:round/>
              <a:headEnd len="sm" w="sm" type="none"/>
              <a:tailEnd len="med" w="med" type="triangle"/>
            </a:ln>
          </p:spPr>
        </p:cxnSp>
        <p:sp>
          <p:nvSpPr>
            <p:cNvPr id="750" name="Google Shape;750;p48"/>
            <p:cNvSpPr txBox="1"/>
            <p:nvPr/>
          </p:nvSpPr>
          <p:spPr>
            <a:xfrm>
              <a:off x="1130219" y="520141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5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500"/>
                                        <p:tgtEl>
                                          <p:spTgt spid="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500"/>
                                        <p:tgtEl>
                                          <p:spTgt spid="7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4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CLOOK Algorithm</a:t>
            </a:r>
            <a:endParaRPr/>
          </a:p>
        </p:txBody>
      </p:sp>
      <p:sp>
        <p:nvSpPr>
          <p:cNvPr id="757" name="Google Shape;757;p49"/>
          <p:cNvSpPr txBox="1"/>
          <p:nvPr>
            <p:ph idx="1" type="body"/>
          </p:nvPr>
        </p:nvSpPr>
        <p:spPr>
          <a:xfrm>
            <a:off x="677334" y="1610360"/>
            <a:ext cx="9586806" cy="52476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Disk goes only to the last request to be serviced in front of the head and then reverses its direction from there only</a:t>
            </a:r>
            <a:endParaRPr/>
          </a:p>
          <a:p>
            <a:pPr indent="-342900" lvl="0" marL="342900" rtl="0" algn="l">
              <a:spcBef>
                <a:spcPts val="1000"/>
              </a:spcBef>
              <a:spcAft>
                <a:spcPts val="0"/>
              </a:spcAft>
              <a:buSzPts val="1440"/>
              <a:buChar char="►"/>
            </a:pPr>
            <a:r>
              <a:rPr lang="en-US"/>
              <a:t>Suppose the order of request is- (95,169,33,137,26,9,188) And current position of Read/Write head is: 55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a:t>
            </a:r>
            <a:r>
              <a:rPr b="1" lang="en-US"/>
              <a:t>Seek Time </a:t>
            </a:r>
            <a:r>
              <a:rPr lang="en-US"/>
              <a:t>= (188 - 55) + (188 - 9)+ (33 – 9) = </a:t>
            </a:r>
            <a:endParaRPr/>
          </a:p>
          <a:p>
            <a:pPr indent="0" lvl="0" marL="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grpSp>
        <p:nvGrpSpPr>
          <p:cNvPr id="758" name="Google Shape;758;p49"/>
          <p:cNvGrpSpPr/>
          <p:nvPr/>
        </p:nvGrpSpPr>
        <p:grpSpPr>
          <a:xfrm>
            <a:off x="737757" y="2794241"/>
            <a:ext cx="9855015" cy="717891"/>
            <a:chOff x="737757" y="2565641"/>
            <a:chExt cx="9855015" cy="717891"/>
          </a:xfrm>
        </p:grpSpPr>
        <p:cxnSp>
          <p:nvCxnSpPr>
            <p:cNvPr id="759" name="Google Shape;759;p49"/>
            <p:cNvCxnSpPr/>
            <p:nvPr/>
          </p:nvCxnSpPr>
          <p:spPr>
            <a:xfrm>
              <a:off x="955964" y="3131127"/>
              <a:ext cx="9308176" cy="0"/>
            </a:xfrm>
            <a:prstGeom prst="straightConnector1">
              <a:avLst/>
            </a:prstGeom>
            <a:noFill/>
            <a:ln cap="flat" cmpd="sng" w="57150">
              <a:solidFill>
                <a:schemeClr val="accent6"/>
              </a:solidFill>
              <a:prstDash val="solid"/>
              <a:round/>
              <a:headEnd len="sm" w="sm" type="none"/>
              <a:tailEnd len="sm" w="sm" type="none"/>
            </a:ln>
            <a:effectLst>
              <a:outerShdw blurRad="38100" rotWithShape="0" dir="5400000" dist="25400">
                <a:srgbClr val="000000">
                  <a:alpha val="34901"/>
                </a:srgbClr>
              </a:outerShdw>
            </a:effectLst>
          </p:spPr>
        </p:cxnSp>
        <p:cxnSp>
          <p:nvCxnSpPr>
            <p:cNvPr id="760" name="Google Shape;760;p49"/>
            <p:cNvCxnSpPr/>
            <p:nvPr/>
          </p:nvCxnSpPr>
          <p:spPr>
            <a:xfrm>
              <a:off x="1026414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1" name="Google Shape;761;p49"/>
            <p:cNvCxnSpPr/>
            <p:nvPr/>
          </p:nvCxnSpPr>
          <p:spPr>
            <a:xfrm>
              <a:off x="9751518" y="2951017"/>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2" name="Google Shape;762;p49"/>
            <p:cNvCxnSpPr/>
            <p:nvPr/>
          </p:nvCxnSpPr>
          <p:spPr>
            <a:xfrm>
              <a:off x="8657011" y="2937168"/>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3" name="Google Shape;763;p49"/>
            <p:cNvCxnSpPr/>
            <p:nvPr/>
          </p:nvCxnSpPr>
          <p:spPr>
            <a:xfrm>
              <a:off x="7285406" y="2978732"/>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4" name="Google Shape;764;p49"/>
            <p:cNvCxnSpPr/>
            <p:nvPr/>
          </p:nvCxnSpPr>
          <p:spPr>
            <a:xfrm>
              <a:off x="662038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5" name="Google Shape;765;p49"/>
            <p:cNvCxnSpPr/>
            <p:nvPr/>
          </p:nvCxnSpPr>
          <p:spPr>
            <a:xfrm>
              <a:off x="497169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6" name="Google Shape;766;p49"/>
            <p:cNvCxnSpPr/>
            <p:nvPr/>
          </p:nvCxnSpPr>
          <p:spPr>
            <a:xfrm>
              <a:off x="4417505"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7" name="Google Shape;767;p49"/>
            <p:cNvCxnSpPr/>
            <p:nvPr/>
          </p:nvCxnSpPr>
          <p:spPr>
            <a:xfrm>
              <a:off x="95387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8" name="Google Shape;768;p49"/>
            <p:cNvCxnSpPr/>
            <p:nvPr/>
          </p:nvCxnSpPr>
          <p:spPr>
            <a:xfrm>
              <a:off x="1355657" y="296487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69" name="Google Shape;769;p49"/>
            <p:cNvCxnSpPr/>
            <p:nvPr/>
          </p:nvCxnSpPr>
          <p:spPr>
            <a:xfrm>
              <a:off x="1771297" y="295101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70" name="Google Shape;770;p49"/>
            <p:cNvCxnSpPr/>
            <p:nvPr/>
          </p:nvCxnSpPr>
          <p:spPr>
            <a:xfrm>
              <a:off x="2464021" y="29648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771" name="Google Shape;771;p49"/>
            <p:cNvCxnSpPr/>
            <p:nvPr/>
          </p:nvCxnSpPr>
          <p:spPr>
            <a:xfrm>
              <a:off x="3115189" y="2951006"/>
              <a:ext cx="0" cy="304800"/>
            </a:xfrm>
            <a:prstGeom prst="straightConnector1">
              <a:avLst/>
            </a:prstGeom>
            <a:noFill/>
            <a:ln cap="flat" cmpd="sng" w="57150">
              <a:solidFill>
                <a:schemeClr val="accent6"/>
              </a:solidFill>
              <a:prstDash val="solid"/>
              <a:round/>
              <a:headEnd len="sm" w="sm" type="none"/>
              <a:tailEnd len="sm" w="sm" type="none"/>
            </a:ln>
          </p:spPr>
        </p:cxnSp>
        <p:sp>
          <p:nvSpPr>
            <p:cNvPr id="772" name="Google Shape;772;p49"/>
            <p:cNvSpPr txBox="1"/>
            <p:nvPr/>
          </p:nvSpPr>
          <p:spPr>
            <a:xfrm>
              <a:off x="2940631" y="26093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sp>
          <p:nvSpPr>
            <p:cNvPr id="773" name="Google Shape;773;p49"/>
            <p:cNvSpPr txBox="1"/>
            <p:nvPr/>
          </p:nvSpPr>
          <p:spPr>
            <a:xfrm>
              <a:off x="4201404" y="262324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sp>
          <p:nvSpPr>
            <p:cNvPr id="774" name="Google Shape;774;p49"/>
            <p:cNvSpPr txBox="1"/>
            <p:nvPr/>
          </p:nvSpPr>
          <p:spPr>
            <a:xfrm>
              <a:off x="73775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sp>
          <p:nvSpPr>
            <p:cNvPr id="775" name="Google Shape;775;p49"/>
            <p:cNvSpPr txBox="1"/>
            <p:nvPr/>
          </p:nvSpPr>
          <p:spPr>
            <a:xfrm>
              <a:off x="115339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sp>
          <p:nvSpPr>
            <p:cNvPr id="776" name="Google Shape;776;p49"/>
            <p:cNvSpPr txBox="1"/>
            <p:nvPr/>
          </p:nvSpPr>
          <p:spPr>
            <a:xfrm>
              <a:off x="156902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sp>
          <p:nvSpPr>
            <p:cNvPr id="777" name="Google Shape;777;p49"/>
            <p:cNvSpPr txBox="1"/>
            <p:nvPr/>
          </p:nvSpPr>
          <p:spPr>
            <a:xfrm>
              <a:off x="2247896"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sp>
          <p:nvSpPr>
            <p:cNvPr id="778" name="Google Shape;778;p49"/>
            <p:cNvSpPr txBox="1"/>
            <p:nvPr/>
          </p:nvSpPr>
          <p:spPr>
            <a:xfrm>
              <a:off x="4796457" y="256564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100</a:t>
              </a:r>
              <a:endParaRPr/>
            </a:p>
          </p:txBody>
        </p:sp>
        <p:sp>
          <p:nvSpPr>
            <p:cNvPr id="779" name="Google Shape;779;p49"/>
            <p:cNvSpPr txBox="1"/>
            <p:nvPr/>
          </p:nvSpPr>
          <p:spPr>
            <a:xfrm>
              <a:off x="640636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sp>
          <p:nvSpPr>
            <p:cNvPr id="780" name="Google Shape;780;p49"/>
            <p:cNvSpPr txBox="1"/>
            <p:nvPr/>
          </p:nvSpPr>
          <p:spPr>
            <a:xfrm>
              <a:off x="6984921"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150</a:t>
              </a:r>
              <a:endParaRPr/>
            </a:p>
          </p:txBody>
        </p:sp>
        <p:sp>
          <p:nvSpPr>
            <p:cNvPr id="781" name="Google Shape;781;p49"/>
            <p:cNvSpPr txBox="1"/>
            <p:nvPr/>
          </p:nvSpPr>
          <p:spPr>
            <a:xfrm>
              <a:off x="9974870"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sp>
          <p:nvSpPr>
            <p:cNvPr id="782" name="Google Shape;782;p49"/>
            <p:cNvSpPr txBox="1"/>
            <p:nvPr/>
          </p:nvSpPr>
          <p:spPr>
            <a:xfrm>
              <a:off x="9438015" y="2579496"/>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sp>
          <p:nvSpPr>
            <p:cNvPr id="783" name="Google Shape;783;p49"/>
            <p:cNvSpPr txBox="1"/>
            <p:nvPr/>
          </p:nvSpPr>
          <p:spPr>
            <a:xfrm>
              <a:off x="8339355"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sp>
        <p:nvSpPr>
          <p:cNvPr id="784" name="Google Shape;784;p49"/>
          <p:cNvSpPr txBox="1"/>
          <p:nvPr/>
        </p:nvSpPr>
        <p:spPr>
          <a:xfrm>
            <a:off x="2809417" y="352458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grpSp>
        <p:nvGrpSpPr>
          <p:cNvPr id="785" name="Google Shape;785;p49"/>
          <p:cNvGrpSpPr/>
          <p:nvPr/>
        </p:nvGrpSpPr>
        <p:grpSpPr>
          <a:xfrm>
            <a:off x="3118368" y="3693781"/>
            <a:ext cx="1689286" cy="369332"/>
            <a:chOff x="3118368" y="3693781"/>
            <a:chExt cx="1689286" cy="369332"/>
          </a:xfrm>
        </p:grpSpPr>
        <p:cxnSp>
          <p:nvCxnSpPr>
            <p:cNvPr id="786" name="Google Shape;786;p49"/>
            <p:cNvCxnSpPr>
              <a:stCxn id="784" idx="2"/>
            </p:cNvCxnSpPr>
            <p:nvPr/>
          </p:nvCxnSpPr>
          <p:spPr>
            <a:xfrm>
              <a:off x="3118368" y="3893914"/>
              <a:ext cx="1299000" cy="147000"/>
            </a:xfrm>
            <a:prstGeom prst="straightConnector1">
              <a:avLst/>
            </a:prstGeom>
            <a:noFill/>
            <a:ln cap="flat" cmpd="sng" w="38100">
              <a:solidFill>
                <a:srgbClr val="0C0C0C"/>
              </a:solidFill>
              <a:prstDash val="solid"/>
              <a:round/>
              <a:headEnd len="sm" w="sm" type="none"/>
              <a:tailEnd len="med" w="med" type="triangle"/>
            </a:ln>
          </p:spPr>
        </p:cxnSp>
        <p:sp>
          <p:nvSpPr>
            <p:cNvPr id="787" name="Google Shape;787;p49"/>
            <p:cNvSpPr txBox="1"/>
            <p:nvPr/>
          </p:nvSpPr>
          <p:spPr>
            <a:xfrm>
              <a:off x="4189752" y="369378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grpSp>
      <p:grpSp>
        <p:nvGrpSpPr>
          <p:cNvPr id="788" name="Google Shape;788;p49"/>
          <p:cNvGrpSpPr/>
          <p:nvPr/>
        </p:nvGrpSpPr>
        <p:grpSpPr>
          <a:xfrm>
            <a:off x="4510355" y="3972541"/>
            <a:ext cx="2592679" cy="400086"/>
            <a:chOff x="4510355" y="4760827"/>
            <a:chExt cx="2592679" cy="400086"/>
          </a:xfrm>
        </p:grpSpPr>
        <p:cxnSp>
          <p:nvCxnSpPr>
            <p:cNvPr id="789" name="Google Shape;789;p49"/>
            <p:cNvCxnSpPr/>
            <p:nvPr/>
          </p:nvCxnSpPr>
          <p:spPr>
            <a:xfrm>
              <a:off x="4510355" y="4892365"/>
              <a:ext cx="2110030" cy="268548"/>
            </a:xfrm>
            <a:prstGeom prst="straightConnector1">
              <a:avLst/>
            </a:prstGeom>
            <a:noFill/>
            <a:ln cap="flat" cmpd="sng" w="38100">
              <a:solidFill>
                <a:srgbClr val="0C0C0C"/>
              </a:solidFill>
              <a:prstDash val="solid"/>
              <a:round/>
              <a:headEnd len="sm" w="sm" type="none"/>
              <a:tailEnd len="med" w="med" type="triangle"/>
            </a:ln>
          </p:spPr>
        </p:cxnSp>
        <p:sp>
          <p:nvSpPr>
            <p:cNvPr id="790" name="Google Shape;790;p49"/>
            <p:cNvSpPr txBox="1"/>
            <p:nvPr/>
          </p:nvSpPr>
          <p:spPr>
            <a:xfrm>
              <a:off x="6485132" y="476082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grpSp>
      <p:grpSp>
        <p:nvGrpSpPr>
          <p:cNvPr id="791" name="Google Shape;791;p49"/>
          <p:cNvGrpSpPr/>
          <p:nvPr/>
        </p:nvGrpSpPr>
        <p:grpSpPr>
          <a:xfrm>
            <a:off x="6715315" y="4214274"/>
            <a:ext cx="2362496" cy="423614"/>
            <a:chOff x="6715315" y="5081377"/>
            <a:chExt cx="2362496" cy="423614"/>
          </a:xfrm>
        </p:grpSpPr>
        <p:cxnSp>
          <p:nvCxnSpPr>
            <p:cNvPr id="792" name="Google Shape;792;p49"/>
            <p:cNvCxnSpPr/>
            <p:nvPr/>
          </p:nvCxnSpPr>
          <p:spPr>
            <a:xfrm>
              <a:off x="6715315" y="5261499"/>
              <a:ext cx="1941696" cy="243492"/>
            </a:xfrm>
            <a:prstGeom prst="straightConnector1">
              <a:avLst/>
            </a:prstGeom>
            <a:noFill/>
            <a:ln cap="flat" cmpd="sng" w="38100">
              <a:solidFill>
                <a:srgbClr val="0C0C0C"/>
              </a:solidFill>
              <a:prstDash val="solid"/>
              <a:round/>
              <a:headEnd len="sm" w="sm" type="none"/>
              <a:tailEnd len="med" w="med" type="triangle"/>
            </a:ln>
          </p:spPr>
        </p:cxnSp>
        <p:sp>
          <p:nvSpPr>
            <p:cNvPr id="793" name="Google Shape;793;p49"/>
            <p:cNvSpPr txBox="1"/>
            <p:nvPr/>
          </p:nvSpPr>
          <p:spPr>
            <a:xfrm>
              <a:off x="8459909" y="508137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grpSp>
        <p:nvGrpSpPr>
          <p:cNvPr id="794" name="Google Shape;794;p49"/>
          <p:cNvGrpSpPr/>
          <p:nvPr/>
        </p:nvGrpSpPr>
        <p:grpSpPr>
          <a:xfrm>
            <a:off x="8799597" y="4637882"/>
            <a:ext cx="1357247" cy="372099"/>
            <a:chOff x="8957257" y="5504991"/>
            <a:chExt cx="1357247" cy="372099"/>
          </a:xfrm>
        </p:grpSpPr>
        <p:cxnSp>
          <p:nvCxnSpPr>
            <p:cNvPr id="795" name="Google Shape;795;p49"/>
            <p:cNvCxnSpPr/>
            <p:nvPr/>
          </p:nvCxnSpPr>
          <p:spPr>
            <a:xfrm>
              <a:off x="8957257" y="5504991"/>
              <a:ext cx="789709" cy="118961"/>
            </a:xfrm>
            <a:prstGeom prst="straightConnector1">
              <a:avLst/>
            </a:prstGeom>
            <a:noFill/>
            <a:ln cap="flat" cmpd="sng" w="38100">
              <a:solidFill>
                <a:srgbClr val="0C0C0C"/>
              </a:solidFill>
              <a:prstDash val="solid"/>
              <a:round/>
              <a:headEnd len="sm" w="sm" type="none"/>
              <a:tailEnd len="med" w="med" type="triangle"/>
            </a:ln>
          </p:spPr>
        </p:cxnSp>
        <p:sp>
          <p:nvSpPr>
            <p:cNvPr id="796" name="Google Shape;796;p49"/>
            <p:cNvSpPr txBox="1"/>
            <p:nvPr/>
          </p:nvSpPr>
          <p:spPr>
            <a:xfrm>
              <a:off x="9696602" y="5507758"/>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grpSp>
      <p:grpSp>
        <p:nvGrpSpPr>
          <p:cNvPr id="797" name="Google Shape;797;p49"/>
          <p:cNvGrpSpPr/>
          <p:nvPr/>
        </p:nvGrpSpPr>
        <p:grpSpPr>
          <a:xfrm>
            <a:off x="1411195" y="5356161"/>
            <a:ext cx="700367" cy="586595"/>
            <a:chOff x="1411195" y="5356161"/>
            <a:chExt cx="700367" cy="586595"/>
          </a:xfrm>
        </p:grpSpPr>
        <p:sp>
          <p:nvSpPr>
            <p:cNvPr id="798" name="Google Shape;798;p49"/>
            <p:cNvSpPr txBox="1"/>
            <p:nvPr/>
          </p:nvSpPr>
          <p:spPr>
            <a:xfrm>
              <a:off x="1493660" y="557342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cxnSp>
          <p:nvCxnSpPr>
            <p:cNvPr id="799" name="Google Shape;799;p49"/>
            <p:cNvCxnSpPr/>
            <p:nvPr/>
          </p:nvCxnSpPr>
          <p:spPr>
            <a:xfrm>
              <a:off x="1411195" y="5356161"/>
              <a:ext cx="391416" cy="130872"/>
            </a:xfrm>
            <a:prstGeom prst="straightConnector1">
              <a:avLst/>
            </a:prstGeom>
            <a:noFill/>
            <a:ln cap="flat" cmpd="sng" w="38100">
              <a:solidFill>
                <a:srgbClr val="0C0C0C"/>
              </a:solidFill>
              <a:prstDash val="solid"/>
              <a:round/>
              <a:headEnd len="sm" w="sm" type="none"/>
              <a:tailEnd len="med" w="med" type="triangle"/>
            </a:ln>
          </p:spPr>
        </p:cxnSp>
      </p:grpSp>
      <p:grpSp>
        <p:nvGrpSpPr>
          <p:cNvPr id="800" name="Google Shape;800;p49"/>
          <p:cNvGrpSpPr/>
          <p:nvPr/>
        </p:nvGrpSpPr>
        <p:grpSpPr>
          <a:xfrm>
            <a:off x="1133713" y="4825315"/>
            <a:ext cx="8405229" cy="603996"/>
            <a:chOff x="1133713" y="4825315"/>
            <a:chExt cx="8405229" cy="603996"/>
          </a:xfrm>
        </p:grpSpPr>
        <p:cxnSp>
          <p:nvCxnSpPr>
            <p:cNvPr id="801" name="Google Shape;801;p49"/>
            <p:cNvCxnSpPr>
              <a:stCxn id="796" idx="1"/>
            </p:cNvCxnSpPr>
            <p:nvPr/>
          </p:nvCxnSpPr>
          <p:spPr>
            <a:xfrm flipH="1">
              <a:off x="1462342" y="4825315"/>
              <a:ext cx="8076600" cy="427200"/>
            </a:xfrm>
            <a:prstGeom prst="straightConnector1">
              <a:avLst/>
            </a:prstGeom>
            <a:noFill/>
            <a:ln cap="flat" cmpd="sng" w="38100">
              <a:solidFill>
                <a:srgbClr val="0C0C0C"/>
              </a:solidFill>
              <a:prstDash val="solid"/>
              <a:round/>
              <a:headEnd len="sm" w="sm" type="none"/>
              <a:tailEnd len="med" w="med" type="triangle"/>
            </a:ln>
          </p:spPr>
        </p:cxnSp>
        <p:sp>
          <p:nvSpPr>
            <p:cNvPr id="802" name="Google Shape;802;p49"/>
            <p:cNvSpPr txBox="1"/>
            <p:nvPr/>
          </p:nvSpPr>
          <p:spPr>
            <a:xfrm>
              <a:off x="1133713" y="5059979"/>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grpSp>
      <p:grpSp>
        <p:nvGrpSpPr>
          <p:cNvPr id="803" name="Google Shape;803;p49"/>
          <p:cNvGrpSpPr/>
          <p:nvPr/>
        </p:nvGrpSpPr>
        <p:grpSpPr>
          <a:xfrm>
            <a:off x="1927860" y="5487033"/>
            <a:ext cx="944140" cy="544013"/>
            <a:chOff x="1927860" y="5487033"/>
            <a:chExt cx="944140" cy="544013"/>
          </a:xfrm>
        </p:grpSpPr>
        <p:cxnSp>
          <p:nvCxnSpPr>
            <p:cNvPr id="804" name="Google Shape;804;p49"/>
            <p:cNvCxnSpPr/>
            <p:nvPr/>
          </p:nvCxnSpPr>
          <p:spPr>
            <a:xfrm>
              <a:off x="1927860" y="5487033"/>
              <a:ext cx="536161" cy="86391"/>
            </a:xfrm>
            <a:prstGeom prst="straightConnector1">
              <a:avLst/>
            </a:prstGeom>
            <a:noFill/>
            <a:ln cap="flat" cmpd="sng" w="38100">
              <a:solidFill>
                <a:srgbClr val="0C0C0C"/>
              </a:solidFill>
              <a:prstDash val="solid"/>
              <a:round/>
              <a:headEnd len="sm" w="sm" type="none"/>
              <a:tailEnd len="med" w="med" type="triangle"/>
            </a:ln>
          </p:spPr>
        </p:cxnSp>
        <p:sp>
          <p:nvSpPr>
            <p:cNvPr id="805" name="Google Shape;805;p49"/>
            <p:cNvSpPr txBox="1"/>
            <p:nvPr/>
          </p:nvSpPr>
          <p:spPr>
            <a:xfrm>
              <a:off x="2254098" y="566171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500"/>
                                        <p:tgtEl>
                                          <p:spTgt spid="7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500"/>
                                        <p:tgtEl>
                                          <p:spTgt spid="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5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5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SCAN Algorithm </a:t>
            </a:r>
            <a:endParaRPr/>
          </a:p>
        </p:txBody>
      </p:sp>
      <p:sp>
        <p:nvSpPr>
          <p:cNvPr id="811" name="Google Shape;811;p50"/>
          <p:cNvSpPr txBox="1"/>
          <p:nvPr>
            <p:ph idx="1" type="body"/>
          </p:nvPr>
        </p:nvSpPr>
        <p:spPr>
          <a:xfrm>
            <a:off x="677334" y="1610360"/>
            <a:ext cx="9586806" cy="52476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Disk not only goes to the last request to be serviced in front of the head but at the end of the list and then reverses its direction from there only. </a:t>
            </a:r>
            <a:endParaRPr/>
          </a:p>
          <a:p>
            <a:pPr indent="-342900" lvl="0" marL="342900" rtl="0" algn="l">
              <a:spcBef>
                <a:spcPts val="1000"/>
              </a:spcBef>
              <a:spcAft>
                <a:spcPts val="0"/>
              </a:spcAft>
              <a:buSzPts val="1440"/>
              <a:buChar char="►"/>
            </a:pPr>
            <a:r>
              <a:rPr lang="en-US"/>
              <a:t>Suppose the order of request is- (95,169,33,137,26,9,188) And current position of Read/Write head is: 55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a:t>
            </a:r>
            <a:r>
              <a:rPr b="1" lang="en-US"/>
              <a:t>Seek Time </a:t>
            </a:r>
            <a:r>
              <a:rPr lang="en-US"/>
              <a:t>= (199 - 55) + (199 - 16) = </a:t>
            </a:r>
            <a:endParaRPr/>
          </a:p>
          <a:p>
            <a:pPr indent="0" lvl="0" marL="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grpSp>
        <p:nvGrpSpPr>
          <p:cNvPr id="812" name="Google Shape;812;p50"/>
          <p:cNvGrpSpPr/>
          <p:nvPr/>
        </p:nvGrpSpPr>
        <p:grpSpPr>
          <a:xfrm>
            <a:off x="737757" y="2794241"/>
            <a:ext cx="9855015" cy="717891"/>
            <a:chOff x="737757" y="2565641"/>
            <a:chExt cx="9855015" cy="717891"/>
          </a:xfrm>
        </p:grpSpPr>
        <p:cxnSp>
          <p:nvCxnSpPr>
            <p:cNvPr id="813" name="Google Shape;813;p50"/>
            <p:cNvCxnSpPr/>
            <p:nvPr/>
          </p:nvCxnSpPr>
          <p:spPr>
            <a:xfrm>
              <a:off x="955964" y="3131127"/>
              <a:ext cx="9308176" cy="0"/>
            </a:xfrm>
            <a:prstGeom prst="straightConnector1">
              <a:avLst/>
            </a:prstGeom>
            <a:noFill/>
            <a:ln cap="flat" cmpd="sng" w="57150">
              <a:solidFill>
                <a:schemeClr val="accent6"/>
              </a:solidFill>
              <a:prstDash val="solid"/>
              <a:round/>
              <a:headEnd len="sm" w="sm" type="none"/>
              <a:tailEnd len="sm" w="sm" type="none"/>
            </a:ln>
            <a:effectLst>
              <a:outerShdw blurRad="38100" rotWithShape="0" dir="5400000" dist="25400">
                <a:srgbClr val="000000">
                  <a:alpha val="34901"/>
                </a:srgbClr>
              </a:outerShdw>
            </a:effectLst>
          </p:spPr>
        </p:cxnSp>
        <p:cxnSp>
          <p:nvCxnSpPr>
            <p:cNvPr id="814" name="Google Shape;814;p50"/>
            <p:cNvCxnSpPr/>
            <p:nvPr/>
          </p:nvCxnSpPr>
          <p:spPr>
            <a:xfrm>
              <a:off x="1026414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15" name="Google Shape;815;p50"/>
            <p:cNvCxnSpPr/>
            <p:nvPr/>
          </p:nvCxnSpPr>
          <p:spPr>
            <a:xfrm>
              <a:off x="9751518" y="2951017"/>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16" name="Google Shape;816;p50"/>
            <p:cNvCxnSpPr/>
            <p:nvPr/>
          </p:nvCxnSpPr>
          <p:spPr>
            <a:xfrm>
              <a:off x="8657011" y="2937168"/>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17" name="Google Shape;817;p50"/>
            <p:cNvCxnSpPr/>
            <p:nvPr/>
          </p:nvCxnSpPr>
          <p:spPr>
            <a:xfrm>
              <a:off x="7285406" y="2978732"/>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18" name="Google Shape;818;p50"/>
            <p:cNvCxnSpPr/>
            <p:nvPr/>
          </p:nvCxnSpPr>
          <p:spPr>
            <a:xfrm>
              <a:off x="662038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19" name="Google Shape;819;p50"/>
            <p:cNvCxnSpPr/>
            <p:nvPr/>
          </p:nvCxnSpPr>
          <p:spPr>
            <a:xfrm>
              <a:off x="497169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20" name="Google Shape;820;p50"/>
            <p:cNvCxnSpPr/>
            <p:nvPr/>
          </p:nvCxnSpPr>
          <p:spPr>
            <a:xfrm>
              <a:off x="4417505"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21" name="Google Shape;821;p50"/>
            <p:cNvCxnSpPr/>
            <p:nvPr/>
          </p:nvCxnSpPr>
          <p:spPr>
            <a:xfrm>
              <a:off x="95387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22" name="Google Shape;822;p50"/>
            <p:cNvCxnSpPr/>
            <p:nvPr/>
          </p:nvCxnSpPr>
          <p:spPr>
            <a:xfrm>
              <a:off x="1355657" y="296487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23" name="Google Shape;823;p50"/>
            <p:cNvCxnSpPr/>
            <p:nvPr/>
          </p:nvCxnSpPr>
          <p:spPr>
            <a:xfrm>
              <a:off x="1771297" y="295101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24" name="Google Shape;824;p50"/>
            <p:cNvCxnSpPr/>
            <p:nvPr/>
          </p:nvCxnSpPr>
          <p:spPr>
            <a:xfrm>
              <a:off x="2464021" y="29648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25" name="Google Shape;825;p50"/>
            <p:cNvCxnSpPr/>
            <p:nvPr/>
          </p:nvCxnSpPr>
          <p:spPr>
            <a:xfrm>
              <a:off x="3115189" y="2951006"/>
              <a:ext cx="0" cy="304800"/>
            </a:xfrm>
            <a:prstGeom prst="straightConnector1">
              <a:avLst/>
            </a:prstGeom>
            <a:noFill/>
            <a:ln cap="flat" cmpd="sng" w="57150">
              <a:solidFill>
                <a:schemeClr val="accent6"/>
              </a:solidFill>
              <a:prstDash val="solid"/>
              <a:round/>
              <a:headEnd len="sm" w="sm" type="none"/>
              <a:tailEnd len="sm" w="sm" type="none"/>
            </a:ln>
          </p:spPr>
        </p:cxnSp>
        <p:sp>
          <p:nvSpPr>
            <p:cNvPr id="826" name="Google Shape;826;p50"/>
            <p:cNvSpPr txBox="1"/>
            <p:nvPr/>
          </p:nvSpPr>
          <p:spPr>
            <a:xfrm>
              <a:off x="2940631" y="26093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sp>
          <p:nvSpPr>
            <p:cNvPr id="827" name="Google Shape;827;p50"/>
            <p:cNvSpPr txBox="1"/>
            <p:nvPr/>
          </p:nvSpPr>
          <p:spPr>
            <a:xfrm>
              <a:off x="4201404" y="262324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sp>
          <p:nvSpPr>
            <p:cNvPr id="828" name="Google Shape;828;p50"/>
            <p:cNvSpPr txBox="1"/>
            <p:nvPr/>
          </p:nvSpPr>
          <p:spPr>
            <a:xfrm>
              <a:off x="73775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sp>
          <p:nvSpPr>
            <p:cNvPr id="829" name="Google Shape;829;p50"/>
            <p:cNvSpPr txBox="1"/>
            <p:nvPr/>
          </p:nvSpPr>
          <p:spPr>
            <a:xfrm>
              <a:off x="115339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sp>
          <p:nvSpPr>
            <p:cNvPr id="830" name="Google Shape;830;p50"/>
            <p:cNvSpPr txBox="1"/>
            <p:nvPr/>
          </p:nvSpPr>
          <p:spPr>
            <a:xfrm>
              <a:off x="156902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sp>
          <p:nvSpPr>
            <p:cNvPr id="831" name="Google Shape;831;p50"/>
            <p:cNvSpPr txBox="1"/>
            <p:nvPr/>
          </p:nvSpPr>
          <p:spPr>
            <a:xfrm>
              <a:off x="2247896"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sp>
          <p:nvSpPr>
            <p:cNvPr id="832" name="Google Shape;832;p50"/>
            <p:cNvSpPr txBox="1"/>
            <p:nvPr/>
          </p:nvSpPr>
          <p:spPr>
            <a:xfrm>
              <a:off x="4796457" y="256564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100</a:t>
              </a:r>
              <a:endParaRPr/>
            </a:p>
          </p:txBody>
        </p:sp>
        <p:sp>
          <p:nvSpPr>
            <p:cNvPr id="833" name="Google Shape;833;p50"/>
            <p:cNvSpPr txBox="1"/>
            <p:nvPr/>
          </p:nvSpPr>
          <p:spPr>
            <a:xfrm>
              <a:off x="640636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sp>
          <p:nvSpPr>
            <p:cNvPr id="834" name="Google Shape;834;p50"/>
            <p:cNvSpPr txBox="1"/>
            <p:nvPr/>
          </p:nvSpPr>
          <p:spPr>
            <a:xfrm>
              <a:off x="6984921"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150</a:t>
              </a:r>
              <a:endParaRPr/>
            </a:p>
          </p:txBody>
        </p:sp>
        <p:sp>
          <p:nvSpPr>
            <p:cNvPr id="835" name="Google Shape;835;p50"/>
            <p:cNvSpPr txBox="1"/>
            <p:nvPr/>
          </p:nvSpPr>
          <p:spPr>
            <a:xfrm>
              <a:off x="9974870"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sp>
          <p:nvSpPr>
            <p:cNvPr id="836" name="Google Shape;836;p50"/>
            <p:cNvSpPr txBox="1"/>
            <p:nvPr/>
          </p:nvSpPr>
          <p:spPr>
            <a:xfrm>
              <a:off x="9438015" y="2579496"/>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sp>
          <p:nvSpPr>
            <p:cNvPr id="837" name="Google Shape;837;p50"/>
            <p:cNvSpPr txBox="1"/>
            <p:nvPr/>
          </p:nvSpPr>
          <p:spPr>
            <a:xfrm>
              <a:off x="8339355"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sp>
        <p:nvSpPr>
          <p:cNvPr id="838" name="Google Shape;838;p50"/>
          <p:cNvSpPr txBox="1"/>
          <p:nvPr/>
        </p:nvSpPr>
        <p:spPr>
          <a:xfrm>
            <a:off x="2809417" y="352458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grpSp>
        <p:nvGrpSpPr>
          <p:cNvPr id="839" name="Google Shape;839;p50"/>
          <p:cNvGrpSpPr/>
          <p:nvPr/>
        </p:nvGrpSpPr>
        <p:grpSpPr>
          <a:xfrm>
            <a:off x="1601787" y="5049893"/>
            <a:ext cx="926051" cy="369332"/>
            <a:chOff x="1601787" y="5049893"/>
            <a:chExt cx="926051" cy="369332"/>
          </a:xfrm>
        </p:grpSpPr>
        <p:cxnSp>
          <p:nvCxnSpPr>
            <p:cNvPr id="840" name="Google Shape;840;p50"/>
            <p:cNvCxnSpPr>
              <a:endCxn id="841" idx="2"/>
            </p:cNvCxnSpPr>
            <p:nvPr/>
          </p:nvCxnSpPr>
          <p:spPr>
            <a:xfrm flipH="1">
              <a:off x="1910738" y="5279425"/>
              <a:ext cx="617100" cy="139800"/>
            </a:xfrm>
            <a:prstGeom prst="straightConnector1">
              <a:avLst/>
            </a:prstGeom>
            <a:noFill/>
            <a:ln cap="flat" cmpd="sng" w="38100">
              <a:solidFill>
                <a:srgbClr val="0C0C0C"/>
              </a:solidFill>
              <a:prstDash val="solid"/>
              <a:round/>
              <a:headEnd len="sm" w="sm" type="none"/>
              <a:tailEnd len="med" w="med" type="triangle"/>
            </a:ln>
          </p:spPr>
        </p:cxnSp>
        <p:sp>
          <p:nvSpPr>
            <p:cNvPr id="841" name="Google Shape;841;p50"/>
            <p:cNvSpPr txBox="1"/>
            <p:nvPr/>
          </p:nvSpPr>
          <p:spPr>
            <a:xfrm>
              <a:off x="1601787" y="504989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grpSp>
      <p:grpSp>
        <p:nvGrpSpPr>
          <p:cNvPr id="842" name="Google Shape;842;p50"/>
          <p:cNvGrpSpPr/>
          <p:nvPr/>
        </p:nvGrpSpPr>
        <p:grpSpPr>
          <a:xfrm>
            <a:off x="2272699" y="4875313"/>
            <a:ext cx="7702171" cy="372327"/>
            <a:chOff x="2272699" y="4875313"/>
            <a:chExt cx="7702171" cy="372327"/>
          </a:xfrm>
        </p:grpSpPr>
        <p:sp>
          <p:nvSpPr>
            <p:cNvPr id="843" name="Google Shape;843;p50"/>
            <p:cNvSpPr txBox="1"/>
            <p:nvPr/>
          </p:nvSpPr>
          <p:spPr>
            <a:xfrm>
              <a:off x="2272699" y="487531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cxnSp>
          <p:nvCxnSpPr>
            <p:cNvPr id="844" name="Google Shape;844;p50"/>
            <p:cNvCxnSpPr/>
            <p:nvPr/>
          </p:nvCxnSpPr>
          <p:spPr>
            <a:xfrm flipH="1">
              <a:off x="2588978" y="5049893"/>
              <a:ext cx="7385892" cy="197747"/>
            </a:xfrm>
            <a:prstGeom prst="straightConnector1">
              <a:avLst/>
            </a:prstGeom>
            <a:noFill/>
            <a:ln cap="flat" cmpd="sng" w="38100">
              <a:solidFill>
                <a:srgbClr val="0C0C0C"/>
              </a:solidFill>
              <a:prstDash val="solid"/>
              <a:round/>
              <a:headEnd len="sm" w="sm" type="none"/>
              <a:tailEnd len="med" w="med" type="triangle"/>
            </a:ln>
          </p:spPr>
        </p:cxnSp>
      </p:grpSp>
      <p:grpSp>
        <p:nvGrpSpPr>
          <p:cNvPr id="845" name="Google Shape;845;p50"/>
          <p:cNvGrpSpPr/>
          <p:nvPr/>
        </p:nvGrpSpPr>
        <p:grpSpPr>
          <a:xfrm>
            <a:off x="3118368" y="3693781"/>
            <a:ext cx="1689286" cy="369332"/>
            <a:chOff x="3118368" y="3693781"/>
            <a:chExt cx="1689286" cy="369332"/>
          </a:xfrm>
        </p:grpSpPr>
        <p:cxnSp>
          <p:nvCxnSpPr>
            <p:cNvPr id="846" name="Google Shape;846;p50"/>
            <p:cNvCxnSpPr>
              <a:stCxn id="838" idx="2"/>
            </p:cNvCxnSpPr>
            <p:nvPr/>
          </p:nvCxnSpPr>
          <p:spPr>
            <a:xfrm>
              <a:off x="3118368" y="3893914"/>
              <a:ext cx="1299000" cy="147000"/>
            </a:xfrm>
            <a:prstGeom prst="straightConnector1">
              <a:avLst/>
            </a:prstGeom>
            <a:noFill/>
            <a:ln cap="flat" cmpd="sng" w="38100">
              <a:solidFill>
                <a:srgbClr val="0C0C0C"/>
              </a:solidFill>
              <a:prstDash val="solid"/>
              <a:round/>
              <a:headEnd len="sm" w="sm" type="none"/>
              <a:tailEnd len="med" w="med" type="triangle"/>
            </a:ln>
          </p:spPr>
        </p:cxnSp>
        <p:sp>
          <p:nvSpPr>
            <p:cNvPr id="847" name="Google Shape;847;p50"/>
            <p:cNvSpPr txBox="1"/>
            <p:nvPr/>
          </p:nvSpPr>
          <p:spPr>
            <a:xfrm>
              <a:off x="4189752" y="369378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grpSp>
      <p:grpSp>
        <p:nvGrpSpPr>
          <p:cNvPr id="848" name="Google Shape;848;p50"/>
          <p:cNvGrpSpPr/>
          <p:nvPr/>
        </p:nvGrpSpPr>
        <p:grpSpPr>
          <a:xfrm>
            <a:off x="4510355" y="3972541"/>
            <a:ext cx="2592679" cy="400086"/>
            <a:chOff x="4510355" y="4760827"/>
            <a:chExt cx="2592679" cy="400086"/>
          </a:xfrm>
        </p:grpSpPr>
        <p:cxnSp>
          <p:nvCxnSpPr>
            <p:cNvPr id="849" name="Google Shape;849;p50"/>
            <p:cNvCxnSpPr/>
            <p:nvPr/>
          </p:nvCxnSpPr>
          <p:spPr>
            <a:xfrm>
              <a:off x="4510355" y="4892365"/>
              <a:ext cx="2110030" cy="268548"/>
            </a:xfrm>
            <a:prstGeom prst="straightConnector1">
              <a:avLst/>
            </a:prstGeom>
            <a:noFill/>
            <a:ln cap="flat" cmpd="sng" w="38100">
              <a:solidFill>
                <a:srgbClr val="0C0C0C"/>
              </a:solidFill>
              <a:prstDash val="solid"/>
              <a:round/>
              <a:headEnd len="sm" w="sm" type="none"/>
              <a:tailEnd len="med" w="med" type="triangle"/>
            </a:ln>
          </p:spPr>
        </p:cxnSp>
        <p:sp>
          <p:nvSpPr>
            <p:cNvPr id="850" name="Google Shape;850;p50"/>
            <p:cNvSpPr txBox="1"/>
            <p:nvPr/>
          </p:nvSpPr>
          <p:spPr>
            <a:xfrm>
              <a:off x="6485132" y="476082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grpSp>
      <p:grpSp>
        <p:nvGrpSpPr>
          <p:cNvPr id="851" name="Google Shape;851;p50"/>
          <p:cNvGrpSpPr/>
          <p:nvPr/>
        </p:nvGrpSpPr>
        <p:grpSpPr>
          <a:xfrm>
            <a:off x="6715315" y="4214274"/>
            <a:ext cx="2362496" cy="423614"/>
            <a:chOff x="6715315" y="5081377"/>
            <a:chExt cx="2362496" cy="423614"/>
          </a:xfrm>
        </p:grpSpPr>
        <p:cxnSp>
          <p:nvCxnSpPr>
            <p:cNvPr id="852" name="Google Shape;852;p50"/>
            <p:cNvCxnSpPr/>
            <p:nvPr/>
          </p:nvCxnSpPr>
          <p:spPr>
            <a:xfrm>
              <a:off x="6715315" y="5261499"/>
              <a:ext cx="1941696" cy="243492"/>
            </a:xfrm>
            <a:prstGeom prst="straightConnector1">
              <a:avLst/>
            </a:prstGeom>
            <a:noFill/>
            <a:ln cap="flat" cmpd="sng" w="38100">
              <a:solidFill>
                <a:srgbClr val="0C0C0C"/>
              </a:solidFill>
              <a:prstDash val="solid"/>
              <a:round/>
              <a:headEnd len="sm" w="sm" type="none"/>
              <a:tailEnd len="med" w="med" type="triangle"/>
            </a:ln>
          </p:spPr>
        </p:cxnSp>
        <p:sp>
          <p:nvSpPr>
            <p:cNvPr id="853" name="Google Shape;853;p50"/>
            <p:cNvSpPr txBox="1"/>
            <p:nvPr/>
          </p:nvSpPr>
          <p:spPr>
            <a:xfrm>
              <a:off x="8459909" y="508137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grpSp>
        <p:nvGrpSpPr>
          <p:cNvPr id="854" name="Google Shape;854;p50"/>
          <p:cNvGrpSpPr/>
          <p:nvPr/>
        </p:nvGrpSpPr>
        <p:grpSpPr>
          <a:xfrm>
            <a:off x="1130219" y="5201411"/>
            <a:ext cx="711605" cy="379582"/>
            <a:chOff x="1130219" y="5201411"/>
            <a:chExt cx="711605" cy="379582"/>
          </a:xfrm>
        </p:grpSpPr>
        <p:cxnSp>
          <p:nvCxnSpPr>
            <p:cNvPr id="855" name="Google Shape;855;p50"/>
            <p:cNvCxnSpPr/>
            <p:nvPr/>
          </p:nvCxnSpPr>
          <p:spPr>
            <a:xfrm flipH="1">
              <a:off x="1355657" y="5439407"/>
              <a:ext cx="486167" cy="141586"/>
            </a:xfrm>
            <a:prstGeom prst="straightConnector1">
              <a:avLst/>
            </a:prstGeom>
            <a:noFill/>
            <a:ln cap="flat" cmpd="sng" w="38100">
              <a:solidFill>
                <a:srgbClr val="0C0C0C"/>
              </a:solidFill>
              <a:prstDash val="solid"/>
              <a:round/>
              <a:headEnd len="sm" w="sm" type="none"/>
              <a:tailEnd len="med" w="med" type="triangle"/>
            </a:ln>
          </p:spPr>
        </p:cxnSp>
        <p:sp>
          <p:nvSpPr>
            <p:cNvPr id="856" name="Google Shape;856;p50"/>
            <p:cNvSpPr txBox="1"/>
            <p:nvPr/>
          </p:nvSpPr>
          <p:spPr>
            <a:xfrm>
              <a:off x="1130219" y="520141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grpSp>
      <p:grpSp>
        <p:nvGrpSpPr>
          <p:cNvPr id="857" name="Google Shape;857;p50"/>
          <p:cNvGrpSpPr/>
          <p:nvPr/>
        </p:nvGrpSpPr>
        <p:grpSpPr>
          <a:xfrm>
            <a:off x="9637104" y="4789055"/>
            <a:ext cx="1036715" cy="455590"/>
            <a:chOff x="8957257" y="5504991"/>
            <a:chExt cx="1036715" cy="455590"/>
          </a:xfrm>
        </p:grpSpPr>
        <p:cxnSp>
          <p:nvCxnSpPr>
            <p:cNvPr id="858" name="Google Shape;858;p50"/>
            <p:cNvCxnSpPr/>
            <p:nvPr/>
          </p:nvCxnSpPr>
          <p:spPr>
            <a:xfrm>
              <a:off x="8957257" y="5504991"/>
              <a:ext cx="594781" cy="86258"/>
            </a:xfrm>
            <a:prstGeom prst="straightConnector1">
              <a:avLst/>
            </a:prstGeom>
            <a:noFill/>
            <a:ln cap="flat" cmpd="sng" w="38100">
              <a:solidFill>
                <a:srgbClr val="0C0C0C"/>
              </a:solidFill>
              <a:prstDash val="solid"/>
              <a:round/>
              <a:headEnd len="sm" w="sm" type="none"/>
              <a:tailEnd len="med" w="med" type="triangle"/>
            </a:ln>
          </p:spPr>
        </p:cxnSp>
        <p:sp>
          <p:nvSpPr>
            <p:cNvPr id="859" name="Google Shape;859;p50"/>
            <p:cNvSpPr txBox="1"/>
            <p:nvPr/>
          </p:nvSpPr>
          <p:spPr>
            <a:xfrm>
              <a:off x="9376070" y="5591249"/>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grpSp>
      <p:grpSp>
        <p:nvGrpSpPr>
          <p:cNvPr id="860" name="Google Shape;860;p50"/>
          <p:cNvGrpSpPr/>
          <p:nvPr/>
        </p:nvGrpSpPr>
        <p:grpSpPr>
          <a:xfrm>
            <a:off x="8799597" y="4358723"/>
            <a:ext cx="1241246" cy="398120"/>
            <a:chOff x="8799597" y="4358723"/>
            <a:chExt cx="1241246" cy="398120"/>
          </a:xfrm>
        </p:grpSpPr>
        <p:cxnSp>
          <p:nvCxnSpPr>
            <p:cNvPr id="861" name="Google Shape;861;p50"/>
            <p:cNvCxnSpPr/>
            <p:nvPr/>
          </p:nvCxnSpPr>
          <p:spPr>
            <a:xfrm>
              <a:off x="8799597" y="4637882"/>
              <a:ext cx="789709" cy="118961"/>
            </a:xfrm>
            <a:prstGeom prst="straightConnector1">
              <a:avLst/>
            </a:prstGeom>
            <a:noFill/>
            <a:ln cap="flat" cmpd="sng" w="38100">
              <a:solidFill>
                <a:srgbClr val="0C0C0C"/>
              </a:solidFill>
              <a:prstDash val="solid"/>
              <a:round/>
              <a:headEnd len="sm" w="sm" type="none"/>
              <a:tailEnd len="med" w="med" type="triangle"/>
            </a:ln>
          </p:spPr>
        </p:cxnSp>
        <p:sp>
          <p:nvSpPr>
            <p:cNvPr id="862" name="Google Shape;862;p50"/>
            <p:cNvSpPr txBox="1"/>
            <p:nvPr/>
          </p:nvSpPr>
          <p:spPr>
            <a:xfrm>
              <a:off x="9422941" y="435872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grpSp>
      <p:sp>
        <p:nvSpPr>
          <p:cNvPr id="863" name="Google Shape;863;p50"/>
          <p:cNvSpPr txBox="1"/>
          <p:nvPr/>
        </p:nvSpPr>
        <p:spPr>
          <a:xfrm>
            <a:off x="6674925" y="794765"/>
            <a:ext cx="33288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FF0000"/>
                </a:solidFill>
                <a:latin typeface="Arial"/>
                <a:ea typeface="Arial"/>
                <a:cs typeface="Arial"/>
                <a:sym typeface="Arial"/>
              </a:rPr>
              <a:t>after reaching the end of the disk, it reverses its direction</a:t>
            </a:r>
            <a:endParaRPr sz="1800">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500"/>
                                        <p:tgtEl>
                                          <p:spTgt spid="8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500"/>
                                        <p:tgtEl>
                                          <p:spTgt spid="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500"/>
                                        <p:tgtEl>
                                          <p:spTgt spid="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5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500"/>
                                        <p:tgtEl>
                                          <p:spTgt spid="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500"/>
                                        <p:tgtEl>
                                          <p:spTgt spid="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500"/>
                                        <p:tgtEl>
                                          <p:spTgt spid="8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500"/>
                                        <p:tgtEl>
                                          <p:spTgt spid="8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5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CSCAN Algorithm </a:t>
            </a:r>
            <a:endParaRPr/>
          </a:p>
        </p:txBody>
      </p:sp>
      <p:sp>
        <p:nvSpPr>
          <p:cNvPr id="869" name="Google Shape;869;p51"/>
          <p:cNvSpPr txBox="1"/>
          <p:nvPr>
            <p:ph idx="1" type="body"/>
          </p:nvPr>
        </p:nvSpPr>
        <p:spPr>
          <a:xfrm>
            <a:off x="677334" y="1610360"/>
            <a:ext cx="9586806" cy="52476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Disk not only goes to the last request to be serviced in front of the head but at the end of the list and then reverses its direction from there only. </a:t>
            </a:r>
            <a:endParaRPr/>
          </a:p>
          <a:p>
            <a:pPr indent="-342900" lvl="0" marL="342900" rtl="0" algn="l">
              <a:spcBef>
                <a:spcPts val="1000"/>
              </a:spcBef>
              <a:spcAft>
                <a:spcPts val="0"/>
              </a:spcAft>
              <a:buSzPts val="1440"/>
              <a:buChar char="►"/>
            </a:pPr>
            <a:r>
              <a:rPr lang="en-US"/>
              <a:t>Suppose the order of request is- (95,169,33,137,26,9,188) And current position of Read/Write head is: 55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a:t>
            </a:r>
            <a:r>
              <a:rPr b="1" lang="en-US"/>
              <a:t>Seek Time </a:t>
            </a:r>
            <a:r>
              <a:rPr lang="en-US"/>
              <a:t>= (199 - 55) + (199 - 0) + (33 - 0) = </a:t>
            </a:r>
            <a:endParaRPr/>
          </a:p>
          <a:p>
            <a:pPr indent="0" lvl="0" marL="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grpSp>
        <p:nvGrpSpPr>
          <p:cNvPr id="870" name="Google Shape;870;p51"/>
          <p:cNvGrpSpPr/>
          <p:nvPr/>
        </p:nvGrpSpPr>
        <p:grpSpPr>
          <a:xfrm>
            <a:off x="737757" y="2794241"/>
            <a:ext cx="9855015" cy="717891"/>
            <a:chOff x="737757" y="2565641"/>
            <a:chExt cx="9855015" cy="717891"/>
          </a:xfrm>
        </p:grpSpPr>
        <p:cxnSp>
          <p:nvCxnSpPr>
            <p:cNvPr id="871" name="Google Shape;871;p51"/>
            <p:cNvCxnSpPr/>
            <p:nvPr/>
          </p:nvCxnSpPr>
          <p:spPr>
            <a:xfrm>
              <a:off x="955964" y="3131127"/>
              <a:ext cx="9308176" cy="0"/>
            </a:xfrm>
            <a:prstGeom prst="straightConnector1">
              <a:avLst/>
            </a:prstGeom>
            <a:noFill/>
            <a:ln cap="flat" cmpd="sng" w="57150">
              <a:solidFill>
                <a:schemeClr val="accent6"/>
              </a:solidFill>
              <a:prstDash val="solid"/>
              <a:round/>
              <a:headEnd len="sm" w="sm" type="none"/>
              <a:tailEnd len="sm" w="sm" type="none"/>
            </a:ln>
            <a:effectLst>
              <a:outerShdw blurRad="38100" rotWithShape="0" dir="5400000" dist="25400">
                <a:srgbClr val="000000">
                  <a:alpha val="34901"/>
                </a:srgbClr>
              </a:outerShdw>
            </a:effectLst>
          </p:spPr>
        </p:cxnSp>
        <p:cxnSp>
          <p:nvCxnSpPr>
            <p:cNvPr id="872" name="Google Shape;872;p51"/>
            <p:cNvCxnSpPr/>
            <p:nvPr/>
          </p:nvCxnSpPr>
          <p:spPr>
            <a:xfrm>
              <a:off x="1026414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3" name="Google Shape;873;p51"/>
            <p:cNvCxnSpPr/>
            <p:nvPr/>
          </p:nvCxnSpPr>
          <p:spPr>
            <a:xfrm>
              <a:off x="9751518" y="2951017"/>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4" name="Google Shape;874;p51"/>
            <p:cNvCxnSpPr/>
            <p:nvPr/>
          </p:nvCxnSpPr>
          <p:spPr>
            <a:xfrm>
              <a:off x="8657011" y="2937168"/>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5" name="Google Shape;875;p51"/>
            <p:cNvCxnSpPr/>
            <p:nvPr/>
          </p:nvCxnSpPr>
          <p:spPr>
            <a:xfrm>
              <a:off x="7285406" y="2978732"/>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6" name="Google Shape;876;p51"/>
            <p:cNvCxnSpPr/>
            <p:nvPr/>
          </p:nvCxnSpPr>
          <p:spPr>
            <a:xfrm>
              <a:off x="662038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7" name="Google Shape;877;p51"/>
            <p:cNvCxnSpPr/>
            <p:nvPr/>
          </p:nvCxnSpPr>
          <p:spPr>
            <a:xfrm>
              <a:off x="4971695" y="2964875"/>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8" name="Google Shape;878;p51"/>
            <p:cNvCxnSpPr/>
            <p:nvPr/>
          </p:nvCxnSpPr>
          <p:spPr>
            <a:xfrm>
              <a:off x="4417505"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79" name="Google Shape;879;p51"/>
            <p:cNvCxnSpPr/>
            <p:nvPr/>
          </p:nvCxnSpPr>
          <p:spPr>
            <a:xfrm>
              <a:off x="953870" y="29371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80" name="Google Shape;880;p51"/>
            <p:cNvCxnSpPr/>
            <p:nvPr/>
          </p:nvCxnSpPr>
          <p:spPr>
            <a:xfrm>
              <a:off x="1355657" y="296487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81" name="Google Shape;881;p51"/>
            <p:cNvCxnSpPr/>
            <p:nvPr/>
          </p:nvCxnSpPr>
          <p:spPr>
            <a:xfrm>
              <a:off x="1771297" y="2951011"/>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82" name="Google Shape;882;p51"/>
            <p:cNvCxnSpPr/>
            <p:nvPr/>
          </p:nvCxnSpPr>
          <p:spPr>
            <a:xfrm>
              <a:off x="2464021" y="2964864"/>
              <a:ext cx="0" cy="304800"/>
            </a:xfrm>
            <a:prstGeom prst="straightConnector1">
              <a:avLst/>
            </a:prstGeom>
            <a:noFill/>
            <a:ln cap="flat" cmpd="sng" w="57150">
              <a:solidFill>
                <a:schemeClr val="accent6"/>
              </a:solidFill>
              <a:prstDash val="solid"/>
              <a:round/>
              <a:headEnd len="sm" w="sm" type="none"/>
              <a:tailEnd len="sm" w="sm" type="none"/>
            </a:ln>
          </p:spPr>
        </p:cxnSp>
        <p:cxnSp>
          <p:nvCxnSpPr>
            <p:cNvPr id="883" name="Google Shape;883;p51"/>
            <p:cNvCxnSpPr/>
            <p:nvPr/>
          </p:nvCxnSpPr>
          <p:spPr>
            <a:xfrm>
              <a:off x="3115189" y="2951006"/>
              <a:ext cx="0" cy="304800"/>
            </a:xfrm>
            <a:prstGeom prst="straightConnector1">
              <a:avLst/>
            </a:prstGeom>
            <a:noFill/>
            <a:ln cap="flat" cmpd="sng" w="57150">
              <a:solidFill>
                <a:schemeClr val="accent6"/>
              </a:solidFill>
              <a:prstDash val="solid"/>
              <a:round/>
              <a:headEnd len="sm" w="sm" type="none"/>
              <a:tailEnd len="sm" w="sm" type="none"/>
            </a:ln>
          </p:spPr>
        </p:cxnSp>
        <p:sp>
          <p:nvSpPr>
            <p:cNvPr id="884" name="Google Shape;884;p51"/>
            <p:cNvSpPr txBox="1"/>
            <p:nvPr/>
          </p:nvSpPr>
          <p:spPr>
            <a:xfrm>
              <a:off x="2940631" y="260939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sp>
          <p:nvSpPr>
            <p:cNvPr id="885" name="Google Shape;885;p51"/>
            <p:cNvSpPr txBox="1"/>
            <p:nvPr/>
          </p:nvSpPr>
          <p:spPr>
            <a:xfrm>
              <a:off x="4201404" y="262324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sp>
          <p:nvSpPr>
            <p:cNvPr id="886" name="Google Shape;886;p51"/>
            <p:cNvSpPr txBox="1"/>
            <p:nvPr/>
          </p:nvSpPr>
          <p:spPr>
            <a:xfrm>
              <a:off x="73775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sp>
          <p:nvSpPr>
            <p:cNvPr id="887" name="Google Shape;887;p51"/>
            <p:cNvSpPr txBox="1"/>
            <p:nvPr/>
          </p:nvSpPr>
          <p:spPr>
            <a:xfrm>
              <a:off x="115339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sp>
          <p:nvSpPr>
            <p:cNvPr id="888" name="Google Shape;888;p51"/>
            <p:cNvSpPr txBox="1"/>
            <p:nvPr/>
          </p:nvSpPr>
          <p:spPr>
            <a:xfrm>
              <a:off x="1569027"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sp>
          <p:nvSpPr>
            <p:cNvPr id="889" name="Google Shape;889;p51"/>
            <p:cNvSpPr txBox="1"/>
            <p:nvPr/>
          </p:nvSpPr>
          <p:spPr>
            <a:xfrm>
              <a:off x="2247896"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sp>
          <p:nvSpPr>
            <p:cNvPr id="890" name="Google Shape;890;p51"/>
            <p:cNvSpPr txBox="1"/>
            <p:nvPr/>
          </p:nvSpPr>
          <p:spPr>
            <a:xfrm>
              <a:off x="4796457" y="256564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100</a:t>
              </a:r>
              <a:endParaRPr/>
            </a:p>
          </p:txBody>
        </p:sp>
        <p:sp>
          <p:nvSpPr>
            <p:cNvPr id="891" name="Google Shape;891;p51"/>
            <p:cNvSpPr txBox="1"/>
            <p:nvPr/>
          </p:nvSpPr>
          <p:spPr>
            <a:xfrm>
              <a:off x="6406364" y="259553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sp>
          <p:nvSpPr>
            <p:cNvPr id="892" name="Google Shape;892;p51"/>
            <p:cNvSpPr txBox="1"/>
            <p:nvPr/>
          </p:nvSpPr>
          <p:spPr>
            <a:xfrm>
              <a:off x="6984921"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150</a:t>
              </a:r>
              <a:endParaRPr/>
            </a:p>
          </p:txBody>
        </p:sp>
        <p:sp>
          <p:nvSpPr>
            <p:cNvPr id="893" name="Google Shape;893;p51"/>
            <p:cNvSpPr txBox="1"/>
            <p:nvPr/>
          </p:nvSpPr>
          <p:spPr>
            <a:xfrm>
              <a:off x="9974870"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sp>
          <p:nvSpPr>
            <p:cNvPr id="894" name="Google Shape;894;p51"/>
            <p:cNvSpPr txBox="1"/>
            <p:nvPr/>
          </p:nvSpPr>
          <p:spPr>
            <a:xfrm>
              <a:off x="9438015" y="2579496"/>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sp>
          <p:nvSpPr>
            <p:cNvPr id="895" name="Google Shape;895;p51"/>
            <p:cNvSpPr txBox="1"/>
            <p:nvPr/>
          </p:nvSpPr>
          <p:spPr>
            <a:xfrm>
              <a:off x="8339355" y="2581674"/>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sp>
        <p:nvSpPr>
          <p:cNvPr id="896" name="Google Shape;896;p51"/>
          <p:cNvSpPr txBox="1"/>
          <p:nvPr/>
        </p:nvSpPr>
        <p:spPr>
          <a:xfrm>
            <a:off x="2809417" y="352458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55</a:t>
            </a:r>
            <a:endParaRPr/>
          </a:p>
        </p:txBody>
      </p:sp>
      <p:grpSp>
        <p:nvGrpSpPr>
          <p:cNvPr id="897" name="Google Shape;897;p51"/>
          <p:cNvGrpSpPr/>
          <p:nvPr/>
        </p:nvGrpSpPr>
        <p:grpSpPr>
          <a:xfrm>
            <a:off x="3118368" y="3614951"/>
            <a:ext cx="1689286" cy="425963"/>
            <a:chOff x="3118368" y="3693781"/>
            <a:chExt cx="1689286" cy="425963"/>
          </a:xfrm>
        </p:grpSpPr>
        <p:cxnSp>
          <p:nvCxnSpPr>
            <p:cNvPr id="898" name="Google Shape;898;p51"/>
            <p:cNvCxnSpPr>
              <a:stCxn id="896" idx="2"/>
            </p:cNvCxnSpPr>
            <p:nvPr/>
          </p:nvCxnSpPr>
          <p:spPr>
            <a:xfrm>
              <a:off x="3118368" y="3972744"/>
              <a:ext cx="1299000" cy="147000"/>
            </a:xfrm>
            <a:prstGeom prst="straightConnector1">
              <a:avLst/>
            </a:prstGeom>
            <a:noFill/>
            <a:ln cap="flat" cmpd="sng" w="38100">
              <a:solidFill>
                <a:srgbClr val="0C0C0C"/>
              </a:solidFill>
              <a:prstDash val="solid"/>
              <a:round/>
              <a:headEnd len="sm" w="sm" type="none"/>
              <a:tailEnd len="med" w="med" type="triangle"/>
            </a:ln>
          </p:spPr>
        </p:cxnSp>
        <p:sp>
          <p:nvSpPr>
            <p:cNvPr id="899" name="Google Shape;899;p51"/>
            <p:cNvSpPr txBox="1"/>
            <p:nvPr/>
          </p:nvSpPr>
          <p:spPr>
            <a:xfrm>
              <a:off x="4189752" y="3693781"/>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95</a:t>
              </a:r>
              <a:endParaRPr/>
            </a:p>
          </p:txBody>
        </p:sp>
      </p:grpSp>
      <p:grpSp>
        <p:nvGrpSpPr>
          <p:cNvPr id="900" name="Google Shape;900;p51"/>
          <p:cNvGrpSpPr/>
          <p:nvPr/>
        </p:nvGrpSpPr>
        <p:grpSpPr>
          <a:xfrm>
            <a:off x="4510355" y="3862179"/>
            <a:ext cx="2592679" cy="400086"/>
            <a:chOff x="4510355" y="4760827"/>
            <a:chExt cx="2592679" cy="400086"/>
          </a:xfrm>
        </p:grpSpPr>
        <p:cxnSp>
          <p:nvCxnSpPr>
            <p:cNvPr id="901" name="Google Shape;901;p51"/>
            <p:cNvCxnSpPr/>
            <p:nvPr/>
          </p:nvCxnSpPr>
          <p:spPr>
            <a:xfrm>
              <a:off x="4510355" y="4892365"/>
              <a:ext cx="2110030" cy="268548"/>
            </a:xfrm>
            <a:prstGeom prst="straightConnector1">
              <a:avLst/>
            </a:prstGeom>
            <a:noFill/>
            <a:ln cap="flat" cmpd="sng" w="38100">
              <a:solidFill>
                <a:srgbClr val="0C0C0C"/>
              </a:solidFill>
              <a:prstDash val="solid"/>
              <a:round/>
              <a:headEnd len="sm" w="sm" type="none"/>
              <a:tailEnd len="med" w="med" type="triangle"/>
            </a:ln>
          </p:spPr>
        </p:cxnSp>
        <p:sp>
          <p:nvSpPr>
            <p:cNvPr id="902" name="Google Shape;902;p51"/>
            <p:cNvSpPr txBox="1"/>
            <p:nvPr/>
          </p:nvSpPr>
          <p:spPr>
            <a:xfrm>
              <a:off x="6485132" y="476082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137</a:t>
              </a:r>
              <a:endParaRPr/>
            </a:p>
          </p:txBody>
        </p:sp>
      </p:grpSp>
      <p:grpSp>
        <p:nvGrpSpPr>
          <p:cNvPr id="903" name="Google Shape;903;p51"/>
          <p:cNvGrpSpPr/>
          <p:nvPr/>
        </p:nvGrpSpPr>
        <p:grpSpPr>
          <a:xfrm>
            <a:off x="6715315" y="4103912"/>
            <a:ext cx="2362496" cy="423614"/>
            <a:chOff x="6715315" y="5081377"/>
            <a:chExt cx="2362496" cy="423614"/>
          </a:xfrm>
        </p:grpSpPr>
        <p:cxnSp>
          <p:nvCxnSpPr>
            <p:cNvPr id="904" name="Google Shape;904;p51"/>
            <p:cNvCxnSpPr/>
            <p:nvPr/>
          </p:nvCxnSpPr>
          <p:spPr>
            <a:xfrm>
              <a:off x="6715315" y="5261499"/>
              <a:ext cx="1941696" cy="243492"/>
            </a:xfrm>
            <a:prstGeom prst="straightConnector1">
              <a:avLst/>
            </a:prstGeom>
            <a:noFill/>
            <a:ln cap="flat" cmpd="sng" w="38100">
              <a:solidFill>
                <a:srgbClr val="0C0C0C"/>
              </a:solidFill>
              <a:prstDash val="solid"/>
              <a:round/>
              <a:headEnd len="sm" w="sm" type="none"/>
              <a:tailEnd len="med" w="med" type="triangle"/>
            </a:ln>
          </p:spPr>
        </p:cxnSp>
        <p:sp>
          <p:nvSpPr>
            <p:cNvPr id="905" name="Google Shape;905;p51"/>
            <p:cNvSpPr txBox="1"/>
            <p:nvPr/>
          </p:nvSpPr>
          <p:spPr>
            <a:xfrm>
              <a:off x="8459909" y="508137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169</a:t>
              </a:r>
              <a:endParaRPr/>
            </a:p>
          </p:txBody>
        </p:sp>
      </p:grpSp>
      <p:grpSp>
        <p:nvGrpSpPr>
          <p:cNvPr id="906" name="Google Shape;906;p51"/>
          <p:cNvGrpSpPr/>
          <p:nvPr/>
        </p:nvGrpSpPr>
        <p:grpSpPr>
          <a:xfrm>
            <a:off x="1487623" y="5459929"/>
            <a:ext cx="732066" cy="416500"/>
            <a:chOff x="1487623" y="5459929"/>
            <a:chExt cx="732066" cy="416500"/>
          </a:xfrm>
        </p:grpSpPr>
        <p:sp>
          <p:nvSpPr>
            <p:cNvPr id="907" name="Google Shape;907;p51"/>
            <p:cNvSpPr txBox="1"/>
            <p:nvPr/>
          </p:nvSpPr>
          <p:spPr>
            <a:xfrm>
              <a:off x="1601787" y="5507097"/>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26</a:t>
              </a:r>
              <a:endParaRPr/>
            </a:p>
          </p:txBody>
        </p:sp>
        <p:cxnSp>
          <p:nvCxnSpPr>
            <p:cNvPr id="908" name="Google Shape;908;p51"/>
            <p:cNvCxnSpPr/>
            <p:nvPr/>
          </p:nvCxnSpPr>
          <p:spPr>
            <a:xfrm>
              <a:off x="1487623" y="5459929"/>
              <a:ext cx="390355" cy="102125"/>
            </a:xfrm>
            <a:prstGeom prst="straightConnector1">
              <a:avLst/>
            </a:prstGeom>
            <a:noFill/>
            <a:ln cap="flat" cmpd="sng" w="38100">
              <a:solidFill>
                <a:srgbClr val="0C0C0C"/>
              </a:solidFill>
              <a:prstDash val="solid"/>
              <a:round/>
              <a:headEnd len="sm" w="sm" type="none"/>
              <a:tailEnd len="med" w="med" type="triangle"/>
            </a:ln>
          </p:spPr>
        </p:cxnSp>
      </p:grpSp>
      <p:grpSp>
        <p:nvGrpSpPr>
          <p:cNvPr id="909" name="Google Shape;909;p51"/>
          <p:cNvGrpSpPr/>
          <p:nvPr/>
        </p:nvGrpSpPr>
        <p:grpSpPr>
          <a:xfrm>
            <a:off x="1077944" y="5374546"/>
            <a:ext cx="786381" cy="508751"/>
            <a:chOff x="1114304" y="5356400"/>
            <a:chExt cx="786381" cy="508751"/>
          </a:xfrm>
        </p:grpSpPr>
        <p:cxnSp>
          <p:nvCxnSpPr>
            <p:cNvPr id="910" name="Google Shape;910;p51"/>
            <p:cNvCxnSpPr/>
            <p:nvPr/>
          </p:nvCxnSpPr>
          <p:spPr>
            <a:xfrm>
              <a:off x="1114304" y="5356400"/>
              <a:ext cx="348041" cy="80022"/>
            </a:xfrm>
            <a:prstGeom prst="straightConnector1">
              <a:avLst/>
            </a:prstGeom>
            <a:noFill/>
            <a:ln cap="flat" cmpd="sng" w="38100">
              <a:solidFill>
                <a:srgbClr val="0C0C0C"/>
              </a:solidFill>
              <a:prstDash val="solid"/>
              <a:round/>
              <a:headEnd len="sm" w="sm" type="none"/>
              <a:tailEnd len="med" w="med" type="triangle"/>
            </a:ln>
          </p:spPr>
        </p:cxnSp>
        <p:sp>
          <p:nvSpPr>
            <p:cNvPr id="911" name="Google Shape;911;p51"/>
            <p:cNvSpPr txBox="1"/>
            <p:nvPr/>
          </p:nvSpPr>
          <p:spPr>
            <a:xfrm>
              <a:off x="1282783" y="5495819"/>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9</a:t>
              </a:r>
              <a:endParaRPr/>
            </a:p>
          </p:txBody>
        </p:sp>
      </p:grpSp>
      <p:grpSp>
        <p:nvGrpSpPr>
          <p:cNvPr id="912" name="Google Shape;912;p51"/>
          <p:cNvGrpSpPr/>
          <p:nvPr/>
        </p:nvGrpSpPr>
        <p:grpSpPr>
          <a:xfrm>
            <a:off x="9637104" y="4678693"/>
            <a:ext cx="1036715" cy="455590"/>
            <a:chOff x="8957257" y="5504991"/>
            <a:chExt cx="1036715" cy="455590"/>
          </a:xfrm>
        </p:grpSpPr>
        <p:cxnSp>
          <p:nvCxnSpPr>
            <p:cNvPr id="913" name="Google Shape;913;p51"/>
            <p:cNvCxnSpPr/>
            <p:nvPr/>
          </p:nvCxnSpPr>
          <p:spPr>
            <a:xfrm>
              <a:off x="8957257" y="5504991"/>
              <a:ext cx="594781" cy="86258"/>
            </a:xfrm>
            <a:prstGeom prst="straightConnector1">
              <a:avLst/>
            </a:prstGeom>
            <a:noFill/>
            <a:ln cap="flat" cmpd="sng" w="38100">
              <a:solidFill>
                <a:srgbClr val="0C0C0C"/>
              </a:solidFill>
              <a:prstDash val="solid"/>
              <a:round/>
              <a:headEnd len="sm" w="sm" type="none"/>
              <a:tailEnd len="med" w="med" type="triangle"/>
            </a:ln>
          </p:spPr>
        </p:cxnSp>
        <p:sp>
          <p:nvSpPr>
            <p:cNvPr id="914" name="Google Shape;914;p51"/>
            <p:cNvSpPr txBox="1"/>
            <p:nvPr/>
          </p:nvSpPr>
          <p:spPr>
            <a:xfrm>
              <a:off x="9376070" y="5591249"/>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199</a:t>
              </a:r>
              <a:endParaRPr/>
            </a:p>
          </p:txBody>
        </p:sp>
      </p:grpSp>
      <p:grpSp>
        <p:nvGrpSpPr>
          <p:cNvPr id="915" name="Google Shape;915;p51"/>
          <p:cNvGrpSpPr/>
          <p:nvPr/>
        </p:nvGrpSpPr>
        <p:grpSpPr>
          <a:xfrm>
            <a:off x="8799597" y="4264127"/>
            <a:ext cx="1241246" cy="398120"/>
            <a:chOff x="8799597" y="4358723"/>
            <a:chExt cx="1241246" cy="398120"/>
          </a:xfrm>
        </p:grpSpPr>
        <p:cxnSp>
          <p:nvCxnSpPr>
            <p:cNvPr id="916" name="Google Shape;916;p51"/>
            <p:cNvCxnSpPr/>
            <p:nvPr/>
          </p:nvCxnSpPr>
          <p:spPr>
            <a:xfrm>
              <a:off x="8799597" y="4637882"/>
              <a:ext cx="789709" cy="118961"/>
            </a:xfrm>
            <a:prstGeom prst="straightConnector1">
              <a:avLst/>
            </a:prstGeom>
            <a:noFill/>
            <a:ln cap="flat" cmpd="sng" w="38100">
              <a:solidFill>
                <a:srgbClr val="0C0C0C"/>
              </a:solidFill>
              <a:prstDash val="solid"/>
              <a:round/>
              <a:headEnd len="sm" w="sm" type="none"/>
              <a:tailEnd len="med" w="med" type="triangle"/>
            </a:ln>
          </p:spPr>
        </p:cxnSp>
        <p:sp>
          <p:nvSpPr>
            <p:cNvPr id="917" name="Google Shape;917;p51"/>
            <p:cNvSpPr txBox="1"/>
            <p:nvPr/>
          </p:nvSpPr>
          <p:spPr>
            <a:xfrm>
              <a:off x="9422941" y="4358723"/>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188</a:t>
              </a:r>
              <a:endParaRPr/>
            </a:p>
          </p:txBody>
        </p:sp>
      </p:grpSp>
      <p:grpSp>
        <p:nvGrpSpPr>
          <p:cNvPr id="918" name="Google Shape;918;p51"/>
          <p:cNvGrpSpPr/>
          <p:nvPr/>
        </p:nvGrpSpPr>
        <p:grpSpPr>
          <a:xfrm>
            <a:off x="845145" y="4796482"/>
            <a:ext cx="9192789" cy="408800"/>
            <a:chOff x="845145" y="4796482"/>
            <a:chExt cx="9192789" cy="408800"/>
          </a:xfrm>
        </p:grpSpPr>
        <p:cxnSp>
          <p:nvCxnSpPr>
            <p:cNvPr id="919" name="Google Shape;919;p51"/>
            <p:cNvCxnSpPr/>
            <p:nvPr/>
          </p:nvCxnSpPr>
          <p:spPr>
            <a:xfrm flipH="1">
              <a:off x="1046708" y="4955297"/>
              <a:ext cx="8991226" cy="249985"/>
            </a:xfrm>
            <a:prstGeom prst="straightConnector1">
              <a:avLst/>
            </a:prstGeom>
            <a:noFill/>
            <a:ln cap="flat" cmpd="sng" w="38100">
              <a:solidFill>
                <a:srgbClr val="0C0C0C"/>
              </a:solidFill>
              <a:prstDash val="solid"/>
              <a:round/>
              <a:headEnd len="sm" w="sm" type="none"/>
              <a:tailEnd len="med" w="med" type="triangle"/>
            </a:ln>
          </p:spPr>
        </p:cxnSp>
        <p:sp>
          <p:nvSpPr>
            <p:cNvPr id="920" name="Google Shape;920;p51"/>
            <p:cNvSpPr txBox="1"/>
            <p:nvPr/>
          </p:nvSpPr>
          <p:spPr>
            <a:xfrm>
              <a:off x="845145" y="4796482"/>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0</a:t>
              </a:r>
              <a:endParaRPr/>
            </a:p>
          </p:txBody>
        </p:sp>
      </p:grpSp>
      <p:grpSp>
        <p:nvGrpSpPr>
          <p:cNvPr id="921" name="Google Shape;921;p51"/>
          <p:cNvGrpSpPr/>
          <p:nvPr/>
        </p:nvGrpSpPr>
        <p:grpSpPr>
          <a:xfrm>
            <a:off x="1990020" y="5551992"/>
            <a:ext cx="889627" cy="465189"/>
            <a:chOff x="1990020" y="5551992"/>
            <a:chExt cx="889627" cy="465189"/>
          </a:xfrm>
        </p:grpSpPr>
        <p:sp>
          <p:nvSpPr>
            <p:cNvPr id="922" name="Google Shape;922;p51"/>
            <p:cNvSpPr txBox="1"/>
            <p:nvPr/>
          </p:nvSpPr>
          <p:spPr>
            <a:xfrm>
              <a:off x="2261745" y="5647849"/>
              <a:ext cx="617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33</a:t>
              </a:r>
              <a:endParaRPr/>
            </a:p>
          </p:txBody>
        </p:sp>
        <p:cxnSp>
          <p:nvCxnSpPr>
            <p:cNvPr id="923" name="Google Shape;923;p51"/>
            <p:cNvCxnSpPr/>
            <p:nvPr/>
          </p:nvCxnSpPr>
          <p:spPr>
            <a:xfrm>
              <a:off x="1990020" y="5551992"/>
              <a:ext cx="390355" cy="102125"/>
            </a:xfrm>
            <a:prstGeom prst="straightConnector1">
              <a:avLst/>
            </a:prstGeom>
            <a:noFill/>
            <a:ln cap="flat" cmpd="sng" w="38100">
              <a:solidFill>
                <a:srgbClr val="0C0C0C"/>
              </a:solidFill>
              <a:prstDash val="solid"/>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500"/>
                                        <p:tgtEl>
                                          <p:spTgt spid="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500"/>
                                        <p:tgtEl>
                                          <p:spTgt spid="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5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500"/>
                                        <p:tgtEl>
                                          <p:spTgt spid="9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500"/>
                                        <p:tgtEl>
                                          <p:spTgt spid="9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5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RAM Disk</a:t>
            </a:r>
            <a:endParaRPr/>
          </a:p>
        </p:txBody>
      </p:sp>
      <p:sp>
        <p:nvSpPr>
          <p:cNvPr id="930" name="Google Shape;930;p52"/>
          <p:cNvSpPr txBox="1"/>
          <p:nvPr>
            <p:ph idx="1" type="body"/>
          </p:nvPr>
        </p:nvSpPr>
        <p:spPr>
          <a:xfrm>
            <a:off x="677334" y="1735289"/>
            <a:ext cx="9529922"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 RAM disk is a virtual storage location that can be accessed the same as an HDD, SSD, or other flash storage device on a computer.</a:t>
            </a:r>
            <a:endParaRPr/>
          </a:p>
          <a:p>
            <a:pPr indent="-342900" lvl="0" marL="342900" rtl="0" algn="l">
              <a:spcBef>
                <a:spcPts val="1000"/>
              </a:spcBef>
              <a:spcAft>
                <a:spcPts val="0"/>
              </a:spcAft>
              <a:buSzPts val="1440"/>
              <a:buChar char="►"/>
            </a:pPr>
            <a:r>
              <a:rPr lang="en-US"/>
              <a:t>They are created by partitioning capacity from system memory (RAM) using software.</a:t>
            </a:r>
            <a:endParaRPr/>
          </a:p>
          <a:p>
            <a:pPr indent="-342900" lvl="0" marL="342900" rtl="0" algn="l">
              <a:spcBef>
                <a:spcPts val="1000"/>
              </a:spcBef>
              <a:spcAft>
                <a:spcPts val="0"/>
              </a:spcAft>
              <a:buSzPts val="1440"/>
              <a:buChar char="►"/>
            </a:pPr>
            <a:r>
              <a:rPr lang="en-US"/>
              <a:t>They provide incredibly fast I/O (read and write) performance, many times faster than today’s fastest SSDs, with wider bandwidth and extremely low latencies.</a:t>
            </a:r>
            <a:endParaRPr/>
          </a:p>
        </p:txBody>
      </p:sp>
      <p:sp>
        <p:nvSpPr>
          <p:cNvPr id="931" name="Google Shape;931;p52"/>
          <p:cNvSpPr txBox="1"/>
          <p:nvPr/>
        </p:nvSpPr>
        <p:spPr>
          <a:xfrm>
            <a:off x="677333" y="3658713"/>
            <a:ext cx="8596668"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u="sng">
                <a:solidFill>
                  <a:srgbClr val="3F3F3F"/>
                </a:solidFill>
                <a:latin typeface="Trebuchet MS"/>
                <a:ea typeface="Trebuchet MS"/>
                <a:cs typeface="Trebuchet MS"/>
                <a:sym typeface="Trebuchet MS"/>
              </a:rPr>
              <a:t>Working of RAM Disk</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The operating system reserves a specific portion of </a:t>
            </a:r>
            <a:r>
              <a:rPr b="1" lang="en-US" sz="1800">
                <a:solidFill>
                  <a:srgbClr val="3F3F3F"/>
                </a:solidFill>
                <a:latin typeface="Trebuchet MS"/>
                <a:ea typeface="Trebuchet MS"/>
                <a:cs typeface="Trebuchet MS"/>
                <a:sym typeface="Trebuchet MS"/>
              </a:rPr>
              <a:t>RAM</a:t>
            </a:r>
            <a:r>
              <a:rPr lang="en-US" sz="1800">
                <a:solidFill>
                  <a:srgbClr val="3F3F3F"/>
                </a:solidFill>
                <a:latin typeface="Trebuchet MS"/>
                <a:ea typeface="Trebuchet MS"/>
                <a:cs typeface="Trebuchet MS"/>
                <a:sym typeface="Trebuchet MS"/>
              </a:rPr>
              <a:t>.</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This reserved memory is formatted with a </a:t>
            </a:r>
            <a:r>
              <a:rPr b="1" lang="en-US" sz="1800">
                <a:solidFill>
                  <a:srgbClr val="3F3F3F"/>
                </a:solidFill>
                <a:latin typeface="Trebuchet MS"/>
                <a:ea typeface="Trebuchet MS"/>
                <a:cs typeface="Trebuchet MS"/>
                <a:sym typeface="Trebuchet MS"/>
              </a:rPr>
              <a:t>file system</a:t>
            </a:r>
            <a:r>
              <a:rPr lang="en-US" sz="1800">
                <a:solidFill>
                  <a:srgbClr val="3F3F3F"/>
                </a:solidFill>
                <a:latin typeface="Trebuchet MS"/>
                <a:ea typeface="Trebuchet MS"/>
                <a:cs typeface="Trebuchet MS"/>
                <a:sym typeface="Trebuchet MS"/>
              </a:rPr>
              <a:t>.</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The OS then treats it as a </a:t>
            </a:r>
            <a:r>
              <a:rPr b="1" lang="en-US" sz="1800">
                <a:solidFill>
                  <a:srgbClr val="3F3F3F"/>
                </a:solidFill>
                <a:latin typeface="Trebuchet MS"/>
                <a:ea typeface="Trebuchet MS"/>
                <a:cs typeface="Trebuchet MS"/>
                <a:sym typeface="Trebuchet MS"/>
              </a:rPr>
              <a:t>virtual disk drive</a:t>
            </a:r>
            <a:r>
              <a:rPr lang="en-US" sz="1800">
                <a:solidFill>
                  <a:srgbClr val="3F3F3F"/>
                </a:solidFill>
                <a:latin typeface="Trebuchet MS"/>
                <a:ea typeface="Trebuchet MS"/>
                <a:cs typeface="Trebuchet MS"/>
                <a:sym typeface="Trebuchet MS"/>
              </a:rPr>
              <a:t>.</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Files stored in a RAM disk can be read and written like normal disk files.</a:t>
            </a:r>
            <a:endParaRPr/>
          </a:p>
          <a:p>
            <a:pPr indent="-342900" lvl="0" marL="342900" marR="0" rtl="0" algn="l">
              <a:spcBef>
                <a:spcPts val="1000"/>
              </a:spcBef>
              <a:spcAft>
                <a:spcPts val="0"/>
              </a:spcAft>
              <a:buClr>
                <a:schemeClr val="accent1"/>
              </a:buClr>
              <a:buSzPts val="1440"/>
              <a:buFont typeface="Noto Sans Symbols"/>
              <a:buChar char="►"/>
            </a:pPr>
            <a:r>
              <a:rPr lang="en-US" sz="1800">
                <a:solidFill>
                  <a:srgbClr val="3F3F3F"/>
                </a:solidFill>
                <a:latin typeface="Trebuchet MS"/>
                <a:ea typeface="Trebuchet MS"/>
                <a:cs typeface="Trebuchet MS"/>
                <a:sym typeface="Trebuchet MS"/>
              </a:rPr>
              <a:t> Since RAM is </a:t>
            </a:r>
            <a:r>
              <a:rPr b="1" lang="en-US" sz="1800">
                <a:solidFill>
                  <a:srgbClr val="3F3F3F"/>
                </a:solidFill>
                <a:latin typeface="Trebuchet MS"/>
                <a:ea typeface="Trebuchet MS"/>
                <a:cs typeface="Trebuchet MS"/>
                <a:sym typeface="Trebuchet MS"/>
              </a:rPr>
              <a:t>volatile</a:t>
            </a:r>
            <a:r>
              <a:rPr lang="en-US" sz="1800">
                <a:solidFill>
                  <a:srgbClr val="3F3F3F"/>
                </a:solidFill>
                <a:latin typeface="Trebuchet MS"/>
                <a:ea typeface="Trebuchet MS"/>
                <a:cs typeface="Trebuchet MS"/>
                <a:sym typeface="Trebuchet MS"/>
              </a:rPr>
              <a:t>, all data in a RAM disk is </a:t>
            </a:r>
            <a:r>
              <a:rPr b="1" lang="en-US" sz="1800">
                <a:solidFill>
                  <a:srgbClr val="3F3F3F"/>
                </a:solidFill>
                <a:latin typeface="Trebuchet MS"/>
                <a:ea typeface="Trebuchet MS"/>
                <a:cs typeface="Trebuchet MS"/>
                <a:sym typeface="Trebuchet MS"/>
              </a:rPr>
              <a:t>lost when the system is powered off</a:t>
            </a:r>
            <a:r>
              <a:rPr lang="en-US" sz="1800">
                <a:solidFill>
                  <a:srgbClr val="3F3F3F"/>
                </a:solidFill>
                <a:latin typeface="Trebuchet MS"/>
                <a:ea typeface="Trebuchet MS"/>
                <a:cs typeface="Trebuchet MS"/>
                <a:sym typeface="Trebuchet MS"/>
              </a:rPr>
              <a:t>, unless explicitly backed up.</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5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Characteristics and Applications</a:t>
            </a:r>
            <a:endParaRPr/>
          </a:p>
        </p:txBody>
      </p:sp>
      <p:sp>
        <p:nvSpPr>
          <p:cNvPr id="937" name="Google Shape;937;p53"/>
          <p:cNvSpPr txBox="1"/>
          <p:nvPr>
            <p:ph idx="1" type="body"/>
          </p:nvPr>
        </p:nvSpPr>
        <p:spPr>
          <a:xfrm>
            <a:off x="677334" y="1947939"/>
            <a:ext cx="4575150"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a:t>Characteristics</a:t>
            </a:r>
            <a:endParaRPr/>
          </a:p>
          <a:p>
            <a:pPr indent="-342900" lvl="0" marL="342900" rtl="0" algn="l">
              <a:spcBef>
                <a:spcPts val="1000"/>
              </a:spcBef>
              <a:spcAft>
                <a:spcPts val="0"/>
              </a:spcAft>
              <a:buSzPts val="1440"/>
              <a:buFont typeface="Trebuchet MS"/>
              <a:buAutoNum type="arabicPeriod"/>
            </a:pPr>
            <a:r>
              <a:rPr lang="en-US"/>
              <a:t>Very high speed compared to HDDs and SSDs.</a:t>
            </a:r>
            <a:endParaRPr/>
          </a:p>
          <a:p>
            <a:pPr indent="-342900" lvl="0" marL="342900" rtl="0" algn="l">
              <a:spcBef>
                <a:spcPts val="1000"/>
              </a:spcBef>
              <a:spcAft>
                <a:spcPts val="0"/>
              </a:spcAft>
              <a:buSzPts val="1440"/>
              <a:buFont typeface="Trebuchet MS"/>
              <a:buAutoNum type="arabicPeriod"/>
            </a:pPr>
            <a:r>
              <a:rPr lang="en-US"/>
              <a:t>Volatile storage – data disappears after shutdown.</a:t>
            </a:r>
            <a:endParaRPr/>
          </a:p>
          <a:p>
            <a:pPr indent="-342900" lvl="0" marL="342900" rtl="0" algn="l">
              <a:spcBef>
                <a:spcPts val="1000"/>
              </a:spcBef>
              <a:spcAft>
                <a:spcPts val="0"/>
              </a:spcAft>
              <a:buSzPts val="1440"/>
              <a:buFont typeface="Trebuchet MS"/>
              <a:buAutoNum type="arabicPeriod"/>
            </a:pPr>
            <a:r>
              <a:rPr lang="en-US"/>
              <a:t>Limited in size by available system RAM.</a:t>
            </a:r>
            <a:endParaRPr/>
          </a:p>
          <a:p>
            <a:pPr indent="-342900" lvl="0" marL="342900" rtl="0" algn="l">
              <a:spcBef>
                <a:spcPts val="1000"/>
              </a:spcBef>
              <a:spcAft>
                <a:spcPts val="0"/>
              </a:spcAft>
              <a:buSzPts val="1440"/>
              <a:buFont typeface="Trebuchet MS"/>
              <a:buAutoNum type="arabicPeriod"/>
            </a:pPr>
            <a:r>
              <a:rPr lang="en-US"/>
              <a:t>Requires OS or third-party software support.</a:t>
            </a:r>
            <a:endParaRPr/>
          </a:p>
          <a:p>
            <a:pPr indent="-342900" lvl="0" marL="342900" rtl="0" algn="l">
              <a:spcBef>
                <a:spcPts val="1000"/>
              </a:spcBef>
              <a:spcAft>
                <a:spcPts val="0"/>
              </a:spcAft>
              <a:buSzPts val="1440"/>
              <a:buFont typeface="Trebuchet MS"/>
              <a:buAutoNum type="arabicPeriod"/>
            </a:pPr>
            <a:r>
              <a:rPr lang="en-US"/>
              <a:t>No mechanical parts, so silent and no wear.</a:t>
            </a:r>
            <a:endParaRPr/>
          </a:p>
          <a:p>
            <a:pPr indent="-251459" lvl="0" marL="342900" rtl="0" algn="l">
              <a:spcBef>
                <a:spcPts val="1000"/>
              </a:spcBef>
              <a:spcAft>
                <a:spcPts val="0"/>
              </a:spcAft>
              <a:buSzPts val="1440"/>
              <a:buFont typeface="Trebuchet MS"/>
              <a:buNone/>
            </a:pPr>
            <a:r>
              <a:t/>
            </a:r>
            <a:endParaRPr/>
          </a:p>
        </p:txBody>
      </p:sp>
      <p:sp>
        <p:nvSpPr>
          <p:cNvPr id="938" name="Google Shape;938;p53"/>
          <p:cNvSpPr txBox="1"/>
          <p:nvPr/>
        </p:nvSpPr>
        <p:spPr>
          <a:xfrm>
            <a:off x="5656915" y="1947939"/>
            <a:ext cx="4954378"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a:solidFill>
                  <a:srgbClr val="3F3F3F"/>
                </a:solidFill>
                <a:latin typeface="Trebuchet MS"/>
                <a:ea typeface="Trebuchet MS"/>
                <a:cs typeface="Trebuchet MS"/>
                <a:sym typeface="Trebuchet MS"/>
              </a:rPr>
              <a:t>Applications</a:t>
            </a:r>
            <a:endParaRPr sz="1800">
              <a:solidFill>
                <a:srgbClr val="3F3F3F"/>
              </a:solidFill>
              <a:latin typeface="Trebuchet MS"/>
              <a:ea typeface="Trebuchet MS"/>
              <a:cs typeface="Trebuchet MS"/>
              <a:sym typeface="Trebuchet MS"/>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Storing temporary files (OS temp folders).</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Browser cache storage.</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Compilation and build directories.</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High-speed buffering in servers.</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Embedded systems for fast data access.</a:t>
            </a:r>
            <a:endParaRPr/>
          </a:p>
          <a:p>
            <a:pPr indent="-251459" lvl="0" marL="342900" marR="0" rtl="0" algn="l">
              <a:spcBef>
                <a:spcPts val="1000"/>
              </a:spcBef>
              <a:spcAft>
                <a:spcPts val="0"/>
              </a:spcAft>
              <a:buClr>
                <a:schemeClr val="accent1"/>
              </a:buClr>
              <a:buSzPts val="1440"/>
              <a:buFont typeface="Trebuchet MS"/>
              <a:buNone/>
            </a:pPr>
            <a:r>
              <a:t/>
            </a:r>
            <a:endParaRPr sz="1800">
              <a:solidFill>
                <a:srgbClr val="3F3F3F"/>
              </a:solidFill>
              <a:latin typeface="Trebuchet MS"/>
              <a:ea typeface="Trebuchet MS"/>
              <a:cs typeface="Trebuchet MS"/>
              <a:sym typeface="Trebuchet M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54"/>
          <p:cNvSpPr txBox="1"/>
          <p:nvPr>
            <p:ph type="title"/>
          </p:nvPr>
        </p:nvSpPr>
        <p:spPr>
          <a:xfrm>
            <a:off x="528478" y="609600"/>
            <a:ext cx="10167875"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Applications , Advantages and Disadvantages</a:t>
            </a:r>
            <a:endParaRPr/>
          </a:p>
        </p:txBody>
      </p:sp>
      <p:sp>
        <p:nvSpPr>
          <p:cNvPr id="944" name="Google Shape;944;p54"/>
          <p:cNvSpPr txBox="1"/>
          <p:nvPr>
            <p:ph idx="1" type="body"/>
          </p:nvPr>
        </p:nvSpPr>
        <p:spPr>
          <a:xfrm>
            <a:off x="677334" y="1653953"/>
            <a:ext cx="5829792"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a:t>Advantages</a:t>
            </a:r>
            <a:endParaRPr/>
          </a:p>
          <a:p>
            <a:pPr indent="-342900" lvl="0" marL="342900" rtl="0" algn="l">
              <a:spcBef>
                <a:spcPts val="1000"/>
              </a:spcBef>
              <a:spcAft>
                <a:spcPts val="0"/>
              </a:spcAft>
              <a:buSzPts val="1440"/>
              <a:buFont typeface="Trebuchet MS"/>
              <a:buAutoNum type="arabicPeriod"/>
            </a:pPr>
            <a:r>
              <a:rPr lang="en-US"/>
              <a:t>Extremely fast access time</a:t>
            </a:r>
            <a:endParaRPr/>
          </a:p>
          <a:p>
            <a:pPr indent="-285750" lvl="1" marL="742950" rtl="0" algn="l">
              <a:spcBef>
                <a:spcPts val="1000"/>
              </a:spcBef>
              <a:spcAft>
                <a:spcPts val="0"/>
              </a:spcAft>
              <a:buSzPts val="1280"/>
              <a:buFont typeface="Trebuchet MS"/>
              <a:buAutoNum type="arabicPeriod"/>
            </a:pPr>
            <a:r>
              <a:rPr lang="en-US"/>
              <a:t>No seek time or rotational latency.</a:t>
            </a:r>
            <a:endParaRPr/>
          </a:p>
          <a:p>
            <a:pPr indent="-342900" lvl="0" marL="342900" rtl="0" algn="l">
              <a:spcBef>
                <a:spcPts val="1000"/>
              </a:spcBef>
              <a:spcAft>
                <a:spcPts val="0"/>
              </a:spcAft>
              <a:buSzPts val="1440"/>
              <a:buFont typeface="Trebuchet MS"/>
              <a:buAutoNum type="arabicPeriod"/>
            </a:pPr>
            <a:r>
              <a:rPr lang="en-US"/>
              <a:t>Improves performance for temporary files.</a:t>
            </a:r>
            <a:endParaRPr/>
          </a:p>
          <a:p>
            <a:pPr indent="-342900" lvl="0" marL="342900" rtl="0" algn="l">
              <a:spcBef>
                <a:spcPts val="1000"/>
              </a:spcBef>
              <a:spcAft>
                <a:spcPts val="0"/>
              </a:spcAft>
              <a:buSzPts val="1440"/>
              <a:buFont typeface="Trebuchet MS"/>
              <a:buAutoNum type="arabicPeriod"/>
            </a:pPr>
            <a:r>
              <a:rPr lang="en-US"/>
              <a:t>Reduces wear on SSDs by avoiding frequent writes.</a:t>
            </a:r>
            <a:endParaRPr/>
          </a:p>
          <a:p>
            <a:pPr indent="-342900" lvl="0" marL="342900" rtl="0" algn="l">
              <a:spcBef>
                <a:spcPts val="1000"/>
              </a:spcBef>
              <a:spcAft>
                <a:spcPts val="0"/>
              </a:spcAft>
              <a:buSzPts val="1440"/>
              <a:buFont typeface="Trebuchet MS"/>
              <a:buAutoNum type="arabicPeriod"/>
            </a:pPr>
            <a:r>
              <a:rPr lang="en-US"/>
              <a:t>Ideal for caching, compilation, and temp storage.</a:t>
            </a:r>
            <a:endParaRPr/>
          </a:p>
          <a:p>
            <a:pPr indent="-342900" lvl="0" marL="342900" rtl="0" algn="l">
              <a:spcBef>
                <a:spcPts val="1000"/>
              </a:spcBef>
              <a:spcAft>
                <a:spcPts val="0"/>
              </a:spcAft>
              <a:buSzPts val="1440"/>
              <a:buFont typeface="Trebuchet MS"/>
              <a:buAutoNum type="arabicPeriod"/>
            </a:pPr>
            <a:r>
              <a:rPr lang="en-US"/>
              <a:t>Simple read/write operations.</a:t>
            </a:r>
            <a:endParaRPr/>
          </a:p>
        </p:txBody>
      </p:sp>
      <p:sp>
        <p:nvSpPr>
          <p:cNvPr id="945" name="Google Shape;945;p54"/>
          <p:cNvSpPr txBox="1"/>
          <p:nvPr/>
        </p:nvSpPr>
        <p:spPr>
          <a:xfrm>
            <a:off x="677334" y="4638692"/>
            <a:ext cx="5238307"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a:solidFill>
                  <a:srgbClr val="3F3F3F"/>
                </a:solidFill>
                <a:latin typeface="Trebuchet MS"/>
                <a:ea typeface="Trebuchet MS"/>
                <a:cs typeface="Trebuchet MS"/>
                <a:sym typeface="Trebuchet MS"/>
              </a:rPr>
              <a:t>Disadvantages</a:t>
            </a:r>
            <a:endParaRPr sz="1800">
              <a:solidFill>
                <a:srgbClr val="3F3F3F"/>
              </a:solidFill>
              <a:latin typeface="Trebuchet MS"/>
              <a:ea typeface="Trebuchet MS"/>
              <a:cs typeface="Trebuchet MS"/>
              <a:sym typeface="Trebuchet MS"/>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Data loss on power failure or reboot.</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Reduces available RAM for running programs.</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Not suitable for permanent storage.</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Requires careful size management.</a:t>
            </a:r>
            <a:endParaRPr/>
          </a:p>
        </p:txBody>
      </p:sp>
      <p:sp>
        <p:nvSpPr>
          <p:cNvPr id="946" name="Google Shape;946;p54"/>
          <p:cNvSpPr txBox="1"/>
          <p:nvPr/>
        </p:nvSpPr>
        <p:spPr>
          <a:xfrm>
            <a:off x="6276361" y="3925241"/>
            <a:ext cx="5238307" cy="38807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t/>
            </a:r>
            <a:endParaRPr sz="1800">
              <a:solidFill>
                <a:srgbClr val="3F3F3F"/>
              </a:solidFill>
              <a:latin typeface="Trebuchet MS"/>
              <a:ea typeface="Trebuchet MS"/>
              <a:cs typeface="Trebuchet MS"/>
              <a:sym typeface="Trebuchet MS"/>
            </a:endParaRPr>
          </a:p>
        </p:txBody>
      </p:sp>
      <p:pic>
        <p:nvPicPr>
          <p:cNvPr id="947" name="Google Shape;947;p54"/>
          <p:cNvPicPr preferRelativeResize="0"/>
          <p:nvPr/>
        </p:nvPicPr>
        <p:blipFill rotWithShape="1">
          <a:blip r:embed="rId3">
            <a:alphaModFix amt="70000"/>
          </a:blip>
          <a:srcRect b="0" l="0" r="0" t="0"/>
          <a:stretch/>
        </p:blipFill>
        <p:spPr>
          <a:xfrm>
            <a:off x="6867846" y="2718749"/>
            <a:ext cx="3626069" cy="241298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pic>
        <p:nvPicPr>
          <p:cNvPr id="953" name="Google Shape;953;p55"/>
          <p:cNvPicPr preferRelativeResize="0"/>
          <p:nvPr/>
        </p:nvPicPr>
        <p:blipFill rotWithShape="1">
          <a:blip r:embed="rId3">
            <a:alphaModFix/>
          </a:blip>
          <a:srcRect b="0" l="0" r="0" t="0"/>
          <a:stretch/>
        </p:blipFill>
        <p:spPr>
          <a:xfrm>
            <a:off x="7364304" y="3836285"/>
            <a:ext cx="4827696" cy="3021715"/>
          </a:xfrm>
          <a:prstGeom prst="rect">
            <a:avLst/>
          </a:prstGeom>
          <a:noFill/>
          <a:ln>
            <a:noFill/>
          </a:ln>
        </p:spPr>
      </p:pic>
      <p:sp>
        <p:nvSpPr>
          <p:cNvPr id="954" name="Google Shape;954;p5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Optical Disks</a:t>
            </a:r>
            <a:endParaRPr/>
          </a:p>
        </p:txBody>
      </p:sp>
      <p:sp>
        <p:nvSpPr>
          <p:cNvPr id="955" name="Google Shape;955;p55"/>
          <p:cNvSpPr txBox="1"/>
          <p:nvPr>
            <p:ph idx="1" type="body"/>
          </p:nvPr>
        </p:nvSpPr>
        <p:spPr>
          <a:xfrm>
            <a:off x="677334" y="1692759"/>
            <a:ext cx="8596668" cy="469741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Stores data in digital form and uses laser light to read and/or write data.</a:t>
            </a:r>
            <a:endParaRPr/>
          </a:p>
          <a:p>
            <a:pPr indent="-342900" lvl="0" marL="342900" rtl="0" algn="l">
              <a:spcBef>
                <a:spcPts val="1000"/>
              </a:spcBef>
              <a:spcAft>
                <a:spcPts val="0"/>
              </a:spcAft>
              <a:buSzPts val="1440"/>
              <a:buChar char="►"/>
            </a:pPr>
            <a:r>
              <a:rPr lang="en-US"/>
              <a:t>Data is recorded as </a:t>
            </a:r>
            <a:r>
              <a:rPr b="1" lang="en-US"/>
              <a:t>pits and lands</a:t>
            </a:r>
            <a:r>
              <a:rPr lang="en-US"/>
              <a:t> on the disk surface and read by detecting changes in reflected light.</a:t>
            </a:r>
            <a:endParaRPr/>
          </a:p>
          <a:p>
            <a:pPr indent="-342900" lvl="0" marL="342900" rtl="0" algn="l">
              <a:spcBef>
                <a:spcPts val="1000"/>
              </a:spcBef>
              <a:spcAft>
                <a:spcPts val="0"/>
              </a:spcAft>
              <a:buSzPts val="1440"/>
              <a:buChar char="►"/>
            </a:pPr>
            <a:r>
              <a:rPr b="1" lang="en-US"/>
              <a:t>Optical drives</a:t>
            </a:r>
            <a:r>
              <a:rPr lang="en-US"/>
              <a:t> work by rotating the disc at a constant speed, measured in RPM (rotation per minute).</a:t>
            </a:r>
            <a:endParaRPr/>
          </a:p>
          <a:p>
            <a:pPr indent="-342900" lvl="0" marL="342900" rtl="0" algn="l">
              <a:spcBef>
                <a:spcPts val="1000"/>
              </a:spcBef>
              <a:spcAft>
                <a:spcPts val="0"/>
              </a:spcAft>
              <a:buSzPts val="1440"/>
              <a:buChar char="►"/>
            </a:pPr>
            <a:r>
              <a:rPr lang="en-US"/>
              <a:t>The drive uses advanced high-tech laser beams to read and observe the data, and its interface is smaller than computers</a:t>
            </a:r>
            <a:endParaRPr/>
          </a:p>
          <a:p>
            <a:pPr indent="0" lvl="0" marL="0" rtl="0" algn="l">
              <a:spcBef>
                <a:spcPts val="1000"/>
              </a:spcBef>
              <a:spcAft>
                <a:spcPts val="0"/>
              </a:spcAft>
              <a:buSzPts val="1440"/>
              <a:buNone/>
            </a:pPr>
            <a:r>
              <a:rPr b="1" lang="en-US"/>
              <a:t>Structure of Optical Disk</a:t>
            </a:r>
            <a:endParaRPr/>
          </a:p>
          <a:p>
            <a:pPr indent="-342900" lvl="0" marL="342900" rtl="0" algn="l">
              <a:spcBef>
                <a:spcPts val="1000"/>
              </a:spcBef>
              <a:spcAft>
                <a:spcPts val="0"/>
              </a:spcAft>
              <a:buSzPts val="1440"/>
              <a:buChar char="►"/>
            </a:pPr>
            <a:r>
              <a:rPr lang="en-US"/>
              <a:t>An optical disk is made up of:</a:t>
            </a:r>
            <a:endParaRPr/>
          </a:p>
          <a:p>
            <a:pPr indent="-342900" lvl="0" marL="342900" rtl="0" algn="l">
              <a:spcBef>
                <a:spcPts val="1000"/>
              </a:spcBef>
              <a:spcAft>
                <a:spcPts val="0"/>
              </a:spcAft>
              <a:buSzPts val="1440"/>
              <a:buChar char="►"/>
            </a:pPr>
            <a:r>
              <a:rPr b="1" lang="en-US"/>
              <a:t>Polycarbonate substrate</a:t>
            </a:r>
            <a:r>
              <a:rPr lang="en-US"/>
              <a:t> – base layer of the disk</a:t>
            </a:r>
            <a:endParaRPr/>
          </a:p>
          <a:p>
            <a:pPr indent="-342900" lvl="0" marL="342900" rtl="0" algn="l">
              <a:spcBef>
                <a:spcPts val="1000"/>
              </a:spcBef>
              <a:spcAft>
                <a:spcPts val="0"/>
              </a:spcAft>
              <a:buSzPts val="1440"/>
              <a:buChar char="►"/>
            </a:pPr>
            <a:r>
              <a:rPr b="1" lang="en-US"/>
              <a:t>Reflective layer</a:t>
            </a:r>
            <a:r>
              <a:rPr lang="en-US"/>
              <a:t> (aluminum or silver) – reflects laser light</a:t>
            </a:r>
            <a:endParaRPr/>
          </a:p>
          <a:p>
            <a:pPr indent="-342900" lvl="0" marL="342900" rtl="0" algn="l">
              <a:spcBef>
                <a:spcPts val="1000"/>
              </a:spcBef>
              <a:spcAft>
                <a:spcPts val="0"/>
              </a:spcAft>
              <a:buSzPts val="1440"/>
              <a:buChar char="►"/>
            </a:pPr>
            <a:r>
              <a:rPr b="1" lang="en-US"/>
              <a:t>Protective lacquer layer</a:t>
            </a:r>
            <a:r>
              <a:rPr lang="en-US"/>
              <a:t> – protects data layer</a:t>
            </a:r>
            <a:endParaRPr/>
          </a:p>
          <a:p>
            <a:pPr indent="-342900" lvl="0" marL="342900" rtl="0" algn="l">
              <a:spcBef>
                <a:spcPts val="1000"/>
              </a:spcBef>
              <a:spcAft>
                <a:spcPts val="0"/>
              </a:spcAft>
              <a:buSzPts val="1440"/>
              <a:buChar char="►"/>
            </a:pPr>
            <a:r>
              <a:rPr b="1" lang="en-US"/>
              <a:t>Label layer</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descr="Figure 2. Refer to the following caption and surrounding text." id="960" name="Google Shape;960;p56"/>
          <p:cNvPicPr preferRelativeResize="0"/>
          <p:nvPr/>
        </p:nvPicPr>
        <p:blipFill rotWithShape="1">
          <a:blip r:embed="rId3">
            <a:alphaModFix/>
          </a:blip>
          <a:srcRect b="0" l="0" r="0" t="0"/>
          <a:stretch/>
        </p:blipFill>
        <p:spPr>
          <a:xfrm>
            <a:off x="1517253" y="3615070"/>
            <a:ext cx="9503307" cy="3157870"/>
          </a:xfrm>
          <a:prstGeom prst="rect">
            <a:avLst/>
          </a:prstGeom>
          <a:noFill/>
          <a:ln>
            <a:noFill/>
          </a:ln>
        </p:spPr>
      </p:pic>
      <p:sp>
        <p:nvSpPr>
          <p:cNvPr id="961" name="Google Shape;961;p56"/>
          <p:cNvSpPr txBox="1"/>
          <p:nvPr>
            <p:ph idx="1" type="body"/>
          </p:nvPr>
        </p:nvSpPr>
        <p:spPr>
          <a:xfrm>
            <a:off x="485948" y="650765"/>
            <a:ext cx="5255633" cy="589889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u="sng"/>
              <a:t>Working Principle</a:t>
            </a:r>
            <a:endParaRPr/>
          </a:p>
          <a:p>
            <a:pPr indent="-342900" lvl="0" marL="342900" rtl="0" algn="l">
              <a:spcBef>
                <a:spcPts val="1000"/>
              </a:spcBef>
              <a:spcAft>
                <a:spcPts val="0"/>
              </a:spcAft>
              <a:buSzPts val="1440"/>
              <a:buFont typeface="Trebuchet MS"/>
              <a:buAutoNum type="arabicPeriod"/>
            </a:pPr>
            <a:r>
              <a:rPr lang="en-US" u="sng"/>
              <a:t>A</a:t>
            </a:r>
            <a:r>
              <a:rPr lang="en-US"/>
              <a:t> </a:t>
            </a:r>
            <a:r>
              <a:rPr b="1" lang="en-US"/>
              <a:t>laser beam</a:t>
            </a:r>
            <a:r>
              <a:rPr lang="en-US"/>
              <a:t> is focused onto the disk surface.</a:t>
            </a:r>
            <a:endParaRPr/>
          </a:p>
          <a:p>
            <a:pPr indent="-342900" lvl="0" marL="342900" rtl="0" algn="l">
              <a:spcBef>
                <a:spcPts val="1000"/>
              </a:spcBef>
              <a:spcAft>
                <a:spcPts val="0"/>
              </a:spcAft>
              <a:buSzPts val="1440"/>
              <a:buFont typeface="Trebuchet MS"/>
              <a:buAutoNum type="arabicPeriod"/>
            </a:pPr>
            <a:r>
              <a:rPr b="1" lang="en-US"/>
              <a:t>Pits</a:t>
            </a:r>
            <a:r>
              <a:rPr lang="en-US"/>
              <a:t> (non-reflective areas) and </a:t>
            </a:r>
            <a:r>
              <a:rPr b="1" lang="en-US"/>
              <a:t>lands</a:t>
            </a:r>
            <a:r>
              <a:rPr lang="en-US"/>
              <a:t> (reflective areas) represent binary data (0s and 1s).</a:t>
            </a:r>
            <a:endParaRPr/>
          </a:p>
          <a:p>
            <a:pPr indent="-342900" lvl="0" marL="342900" rtl="0" algn="l">
              <a:spcBef>
                <a:spcPts val="1000"/>
              </a:spcBef>
              <a:spcAft>
                <a:spcPts val="0"/>
              </a:spcAft>
              <a:buSzPts val="1440"/>
              <a:buFont typeface="Trebuchet MS"/>
              <a:buAutoNum type="arabicPeriod"/>
            </a:pPr>
            <a:r>
              <a:rPr lang="en-US"/>
              <a:t>Reflected laser light is detected by a </a:t>
            </a:r>
            <a:r>
              <a:rPr b="1" lang="en-US"/>
              <a:t>photodiode</a:t>
            </a:r>
            <a:r>
              <a:rPr lang="en-US"/>
              <a:t>.</a:t>
            </a:r>
            <a:endParaRPr/>
          </a:p>
          <a:p>
            <a:pPr indent="-342900" lvl="0" marL="342900" rtl="0" algn="l">
              <a:spcBef>
                <a:spcPts val="1000"/>
              </a:spcBef>
              <a:spcAft>
                <a:spcPts val="0"/>
              </a:spcAft>
              <a:buSzPts val="1440"/>
              <a:buFont typeface="Trebuchet MS"/>
              <a:buAutoNum type="arabicPeriod"/>
            </a:pPr>
            <a:r>
              <a:rPr lang="en-US"/>
              <a:t>Difference in reflection is interpreted as digital data.</a:t>
            </a:r>
            <a:endParaRPr/>
          </a:p>
        </p:txBody>
      </p:sp>
      <p:sp>
        <p:nvSpPr>
          <p:cNvPr id="962" name="Google Shape;962;p56"/>
          <p:cNvSpPr txBox="1"/>
          <p:nvPr/>
        </p:nvSpPr>
        <p:spPr>
          <a:xfrm>
            <a:off x="5530086" y="650765"/>
            <a:ext cx="5255633" cy="589889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440"/>
              <a:buFont typeface="Noto Sans Symbols"/>
              <a:buNone/>
            </a:pPr>
            <a:r>
              <a:rPr b="1" lang="en-US" sz="1800" u="sng">
                <a:solidFill>
                  <a:srgbClr val="3F3F3F"/>
                </a:solidFill>
                <a:latin typeface="Trebuchet MS"/>
                <a:ea typeface="Trebuchet MS"/>
                <a:cs typeface="Trebuchet MS"/>
                <a:sym typeface="Trebuchet MS"/>
              </a:rPr>
              <a:t>Data Organization on Optical Disks</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Data is stored along a </a:t>
            </a:r>
            <a:r>
              <a:rPr b="1" lang="en-US" sz="1800">
                <a:solidFill>
                  <a:srgbClr val="3F3F3F"/>
                </a:solidFill>
                <a:latin typeface="Trebuchet MS"/>
                <a:ea typeface="Trebuchet MS"/>
                <a:cs typeface="Trebuchet MS"/>
                <a:sym typeface="Trebuchet MS"/>
              </a:rPr>
              <a:t>single continuous spiral track</a:t>
            </a:r>
            <a:r>
              <a:rPr lang="en-US" sz="1800">
                <a:solidFill>
                  <a:srgbClr val="3F3F3F"/>
                </a:solidFill>
                <a:latin typeface="Trebuchet MS"/>
                <a:ea typeface="Trebuchet MS"/>
                <a:cs typeface="Trebuchet MS"/>
                <a:sym typeface="Trebuchet MS"/>
              </a:rPr>
              <a:t>.</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Track runs from the </a:t>
            </a:r>
            <a:r>
              <a:rPr b="1" lang="en-US" sz="1800">
                <a:solidFill>
                  <a:srgbClr val="3F3F3F"/>
                </a:solidFill>
                <a:latin typeface="Trebuchet MS"/>
                <a:ea typeface="Trebuchet MS"/>
                <a:cs typeface="Trebuchet MS"/>
                <a:sym typeface="Trebuchet MS"/>
              </a:rPr>
              <a:t>center to the outer edge</a:t>
            </a:r>
            <a:r>
              <a:rPr lang="en-US" sz="1800">
                <a:solidFill>
                  <a:srgbClr val="3F3F3F"/>
                </a:solidFill>
                <a:latin typeface="Trebuchet MS"/>
                <a:ea typeface="Trebuchet MS"/>
                <a:cs typeface="Trebuchet MS"/>
                <a:sym typeface="Trebuchet MS"/>
              </a:rPr>
              <a:t>.</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Disk is divided into </a:t>
            </a:r>
            <a:r>
              <a:rPr b="1" lang="en-US" sz="1800">
                <a:solidFill>
                  <a:srgbClr val="3F3F3F"/>
                </a:solidFill>
                <a:latin typeface="Trebuchet MS"/>
                <a:ea typeface="Trebuchet MS"/>
                <a:cs typeface="Trebuchet MS"/>
                <a:sym typeface="Trebuchet MS"/>
              </a:rPr>
              <a:t>sectors</a:t>
            </a:r>
            <a:r>
              <a:rPr lang="en-US" sz="1800">
                <a:solidFill>
                  <a:srgbClr val="3F3F3F"/>
                </a:solidFill>
                <a:latin typeface="Trebuchet MS"/>
                <a:ea typeface="Trebuchet MS"/>
                <a:cs typeface="Trebuchet MS"/>
                <a:sym typeface="Trebuchet MS"/>
              </a:rPr>
              <a:t> for addressing.</a:t>
            </a:r>
            <a:endParaRPr/>
          </a:p>
          <a:p>
            <a:pPr indent="-342900" lvl="0" marL="342900" marR="0" rtl="0" algn="l">
              <a:spcBef>
                <a:spcPts val="1000"/>
              </a:spcBef>
              <a:spcAft>
                <a:spcPts val="0"/>
              </a:spcAft>
              <a:buClr>
                <a:schemeClr val="accent1"/>
              </a:buClr>
              <a:buSzPts val="1440"/>
              <a:buFont typeface="Trebuchet MS"/>
              <a:buAutoNum type="arabicPeriod"/>
            </a:pPr>
            <a:r>
              <a:rPr lang="en-US" sz="1800">
                <a:solidFill>
                  <a:srgbClr val="3F3F3F"/>
                </a:solidFill>
                <a:latin typeface="Trebuchet MS"/>
                <a:ea typeface="Trebuchet MS"/>
                <a:cs typeface="Trebuchet MS"/>
                <a:sym typeface="Trebuchet MS"/>
              </a:rPr>
              <a:t>Uses </a:t>
            </a:r>
            <a:r>
              <a:rPr b="1" lang="en-US" sz="1800">
                <a:solidFill>
                  <a:srgbClr val="3F3F3F"/>
                </a:solidFill>
                <a:latin typeface="Trebuchet MS"/>
                <a:ea typeface="Trebuchet MS"/>
                <a:cs typeface="Trebuchet MS"/>
                <a:sym typeface="Trebuchet MS"/>
              </a:rPr>
              <a:t>Constant Linear Velocity (CLV)</a:t>
            </a:r>
            <a:r>
              <a:rPr lang="en-US" sz="1800">
                <a:solidFill>
                  <a:srgbClr val="3F3F3F"/>
                </a:solidFill>
                <a:latin typeface="Trebuchet MS"/>
                <a:ea typeface="Trebuchet MS"/>
                <a:cs typeface="Trebuchet MS"/>
                <a:sym typeface="Trebuchet MS"/>
              </a:rPr>
              <a:t>.</a:t>
            </a:r>
            <a:endParaRPr/>
          </a:p>
          <a:p>
            <a:pPr indent="-251459" lvl="0" marL="342900" marR="0" rtl="0" algn="l">
              <a:spcBef>
                <a:spcPts val="1000"/>
              </a:spcBef>
              <a:spcAft>
                <a:spcPts val="0"/>
              </a:spcAft>
              <a:buClr>
                <a:schemeClr val="accent1"/>
              </a:buClr>
              <a:buSzPts val="1440"/>
              <a:buFont typeface="Noto Sans Symbols"/>
              <a:buNone/>
            </a:pPr>
            <a:r>
              <a:t/>
            </a:r>
            <a:endParaRPr sz="1800">
              <a:solidFill>
                <a:srgbClr val="3F3F3F"/>
              </a:solidFill>
              <a:latin typeface="Trebuchet MS"/>
              <a:ea typeface="Trebuchet MS"/>
              <a:cs typeface="Trebuchet MS"/>
              <a:sym typeface="Trebuchet M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5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Types of Disks</a:t>
            </a:r>
            <a:endParaRPr/>
          </a:p>
        </p:txBody>
      </p:sp>
      <p:graphicFrame>
        <p:nvGraphicFramePr>
          <p:cNvPr id="968" name="Google Shape;968;p57"/>
          <p:cNvGraphicFramePr/>
          <p:nvPr/>
        </p:nvGraphicFramePr>
        <p:xfrm>
          <a:off x="677861" y="1930400"/>
          <a:ext cx="3000000" cy="3000000"/>
        </p:xfrm>
        <a:graphic>
          <a:graphicData uri="http://schemas.openxmlformats.org/drawingml/2006/table">
            <a:tbl>
              <a:tblPr bandRow="1" firstRow="1">
                <a:noFill/>
                <a:tableStyleId>{41ACF7A9-66BB-41A0-8653-9AB85E6FF4AD}</a:tableStyleId>
              </a:tblPr>
              <a:tblGrid>
                <a:gridCol w="2339825"/>
                <a:gridCol w="2339825"/>
                <a:gridCol w="2339825"/>
                <a:gridCol w="2339825"/>
              </a:tblGrid>
              <a:tr h="488650">
                <a:tc>
                  <a:txBody>
                    <a:bodyPr/>
                    <a:lstStyle/>
                    <a:p>
                      <a:pPr indent="0" lvl="0" marL="0" marR="0" rtl="0" algn="l">
                        <a:spcBef>
                          <a:spcPts val="0"/>
                        </a:spcBef>
                        <a:spcAft>
                          <a:spcPts val="0"/>
                        </a:spcAft>
                        <a:buClr>
                          <a:srgbClr val="FFFFFF"/>
                        </a:buClr>
                        <a:buSzPts val="2000"/>
                        <a:buFont typeface="Trebuchet MS"/>
                        <a:buNone/>
                      </a:pPr>
                      <a:r>
                        <a:rPr b="1" lang="en-US" sz="2000" u="none" cap="none" strike="noStrike">
                          <a:solidFill>
                            <a:srgbClr val="FFFFFF"/>
                          </a:solidFill>
                          <a:latin typeface="Trebuchet MS"/>
                          <a:ea typeface="Trebuchet MS"/>
                          <a:cs typeface="Trebuchet MS"/>
                          <a:sym typeface="Trebuchet MS"/>
                        </a:rPr>
                        <a:t>Features</a:t>
                      </a:r>
                      <a:endParaRPr/>
                    </a:p>
                  </a:txBody>
                  <a:tcPr marT="45725" marB="45725" marR="91450" marL="91450" anchor="ctr"/>
                </a:tc>
                <a:tc>
                  <a:txBody>
                    <a:bodyPr/>
                    <a:lstStyle/>
                    <a:p>
                      <a:pPr indent="0" lvl="0" marL="0" marR="0" rtl="0" algn="l">
                        <a:spcBef>
                          <a:spcPts val="0"/>
                        </a:spcBef>
                        <a:spcAft>
                          <a:spcPts val="0"/>
                        </a:spcAft>
                        <a:buClr>
                          <a:srgbClr val="FFFFFF"/>
                        </a:buClr>
                        <a:buSzPts val="2000"/>
                        <a:buFont typeface="Trebuchet MS"/>
                        <a:buNone/>
                      </a:pPr>
                      <a:r>
                        <a:rPr b="1" lang="en-US" sz="2000" u="none" cap="none" strike="noStrike">
                          <a:solidFill>
                            <a:srgbClr val="FFFFFF"/>
                          </a:solidFill>
                          <a:latin typeface="Trebuchet MS"/>
                          <a:ea typeface="Trebuchet MS"/>
                          <a:cs typeface="Trebuchet MS"/>
                          <a:sym typeface="Trebuchet MS"/>
                        </a:rPr>
                        <a:t>CD</a:t>
                      </a:r>
                      <a:endParaRPr/>
                    </a:p>
                  </a:txBody>
                  <a:tcPr marT="45725" marB="45725" marR="91450" marL="91450" anchor="ctr"/>
                </a:tc>
                <a:tc>
                  <a:txBody>
                    <a:bodyPr/>
                    <a:lstStyle/>
                    <a:p>
                      <a:pPr indent="0" lvl="0" marL="0" marR="0" rtl="0" algn="l">
                        <a:spcBef>
                          <a:spcPts val="0"/>
                        </a:spcBef>
                        <a:spcAft>
                          <a:spcPts val="0"/>
                        </a:spcAft>
                        <a:buClr>
                          <a:srgbClr val="FFFFFF"/>
                        </a:buClr>
                        <a:buSzPts val="2000"/>
                        <a:buFont typeface="Trebuchet MS"/>
                        <a:buNone/>
                      </a:pPr>
                      <a:r>
                        <a:rPr b="1" lang="en-US" sz="2000" u="none" cap="none" strike="noStrike">
                          <a:solidFill>
                            <a:srgbClr val="FFFFFF"/>
                          </a:solidFill>
                          <a:latin typeface="Trebuchet MS"/>
                          <a:ea typeface="Trebuchet MS"/>
                          <a:cs typeface="Trebuchet MS"/>
                          <a:sym typeface="Trebuchet MS"/>
                        </a:rPr>
                        <a:t>DVD</a:t>
                      </a:r>
                      <a:endParaRPr/>
                    </a:p>
                  </a:txBody>
                  <a:tcPr marT="45725" marB="45725" marR="91450" marL="91450" anchor="ctr"/>
                </a:tc>
                <a:tc>
                  <a:txBody>
                    <a:bodyPr/>
                    <a:lstStyle/>
                    <a:p>
                      <a:pPr indent="0" lvl="0" marL="0" marR="0" rtl="0" algn="l">
                        <a:spcBef>
                          <a:spcPts val="0"/>
                        </a:spcBef>
                        <a:spcAft>
                          <a:spcPts val="0"/>
                        </a:spcAft>
                        <a:buClr>
                          <a:srgbClr val="FFFFFF"/>
                        </a:buClr>
                        <a:buSzPts val="2000"/>
                        <a:buFont typeface="Trebuchet MS"/>
                        <a:buNone/>
                      </a:pPr>
                      <a:r>
                        <a:rPr b="1" lang="en-US" sz="2000" u="none" cap="none" strike="noStrike">
                          <a:solidFill>
                            <a:srgbClr val="FFFFFF"/>
                          </a:solidFill>
                          <a:latin typeface="Trebuchet MS"/>
                          <a:ea typeface="Trebuchet MS"/>
                          <a:cs typeface="Trebuchet MS"/>
                          <a:sym typeface="Trebuchet MS"/>
                        </a:rPr>
                        <a:t>Blu-Ray</a:t>
                      </a:r>
                      <a:endParaRPr/>
                    </a:p>
                  </a:txBody>
                  <a:tcPr marT="45725" marB="45725" marR="91450" marL="91450" anchor="ctr"/>
                </a:tc>
              </a:tr>
              <a:tr h="843425">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Storage</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700 MB</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4.7 GB (single layer)</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25 GB (single layer)</a:t>
                      </a:r>
                      <a:endParaRPr/>
                    </a:p>
                  </a:txBody>
                  <a:tcPr marT="45725" marB="45725" marR="91450" marL="91450" anchor="ctr"/>
                </a:tc>
              </a:tr>
              <a:tr h="488650">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Disc diameter</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120mm</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120mm</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120mm</a:t>
                      </a:r>
                      <a:endParaRPr/>
                    </a:p>
                  </a:txBody>
                  <a:tcPr marT="45725" marB="45725" marR="91450" marL="91450" anchor="ctr"/>
                </a:tc>
              </a:tr>
              <a:tr h="488650">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Disc thickness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1.2mm</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1.2mm</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1.2mm</a:t>
                      </a:r>
                      <a:endParaRPr/>
                    </a:p>
                  </a:txBody>
                  <a:tcPr marT="45725" marB="45725" marR="91450" marL="91450" anchor="ctr"/>
                </a:tc>
              </a:tr>
              <a:tr h="488650">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Hard coating</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Yes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Yes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No</a:t>
                      </a:r>
                      <a:endParaRPr/>
                    </a:p>
                  </a:txBody>
                  <a:tcPr marT="45725" marB="45725" marR="91450" marL="91450" anchor="ctr"/>
                </a:tc>
              </a:tr>
              <a:tr h="488650">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Protection layer</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1.2mm</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0.6mm</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1.2mm</a:t>
                      </a:r>
                      <a:endParaRPr/>
                    </a:p>
                  </a:txBody>
                  <a:tcPr marT="45725" marB="45725" marR="91450" marL="91450" anchor="ctr"/>
                </a:tc>
              </a:tr>
              <a:tr h="843425">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Material</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Acrylic Plastic</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Polycarbonate plastic</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Trebuchet MS"/>
                        <a:buNone/>
                      </a:pPr>
                      <a:r>
                        <a:rPr lang="en-US" sz="1800" u="none" cap="none" strike="noStrike">
                          <a:latin typeface="Trebuchet MS"/>
                          <a:ea typeface="Trebuchet MS"/>
                          <a:cs typeface="Trebuchet MS"/>
                          <a:sym typeface="Trebuchet MS"/>
                        </a:rPr>
                        <a:t>Multiple layers of polycarbonate</a:t>
                      </a:r>
                      <a:endParaRPr/>
                    </a:p>
                  </a:txBody>
                  <a:tcPr marT="45725" marB="45725" marR="91450" marL="91450" anchor="ct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5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Memory Wall and Bottleneck</a:t>
            </a:r>
            <a:endParaRPr/>
          </a:p>
        </p:txBody>
      </p:sp>
      <p:sp>
        <p:nvSpPr>
          <p:cNvPr id="974" name="Google Shape;974;p5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 </a:t>
            </a:r>
            <a:r>
              <a:rPr b="1" lang="en-US"/>
              <a:t>memory wall</a:t>
            </a:r>
            <a:r>
              <a:rPr lang="en-US"/>
              <a:t> refers to the growing performance gap between CPU speed and memory access speed. While CPU speeds have increased exponentially (following Moore's Law), memory speeds have improved at a much slower pace.</a:t>
            </a:r>
            <a:endParaRPr/>
          </a:p>
          <a:p>
            <a:pPr indent="0" lvl="0" marL="0" rtl="0" algn="l">
              <a:spcBef>
                <a:spcPts val="1000"/>
              </a:spcBef>
              <a:spcAft>
                <a:spcPts val="0"/>
              </a:spcAft>
              <a:buSzPts val="1440"/>
              <a:buNone/>
            </a:pPr>
            <a:r>
              <a:rPr b="1" lang="en-US"/>
              <a:t>Key Problem:</a:t>
            </a:r>
            <a:endParaRPr/>
          </a:p>
          <a:p>
            <a:pPr indent="-342900" lvl="0" marL="342900" rtl="0" algn="l">
              <a:spcBef>
                <a:spcPts val="1000"/>
              </a:spcBef>
              <a:spcAft>
                <a:spcPts val="0"/>
              </a:spcAft>
              <a:buSzPts val="1440"/>
              <a:buChar char="►"/>
            </a:pPr>
            <a:r>
              <a:rPr b="1" lang="en-US"/>
              <a:t>CPU</a:t>
            </a:r>
            <a:r>
              <a:rPr lang="en-US"/>
              <a:t> can execute operations in nanoseconds (e.g., 0.3 ns per instruction)</a:t>
            </a:r>
            <a:endParaRPr/>
          </a:p>
          <a:p>
            <a:pPr indent="-342900" lvl="0" marL="342900" rtl="0" algn="l">
              <a:spcBef>
                <a:spcPts val="1000"/>
              </a:spcBef>
              <a:spcAft>
                <a:spcPts val="0"/>
              </a:spcAft>
              <a:buSzPts val="1440"/>
              <a:buChar char="►"/>
            </a:pPr>
            <a:r>
              <a:rPr b="1" lang="en-US"/>
              <a:t>Main memory (RAM)</a:t>
            </a:r>
            <a:r>
              <a:rPr lang="en-US"/>
              <a:t> access takes ~100 ns (100-300x slower than CPU operations)</a:t>
            </a:r>
            <a:endParaRPr/>
          </a:p>
          <a:p>
            <a:pPr indent="-342900" lvl="0" marL="342900" rtl="0" algn="l">
              <a:spcBef>
                <a:spcPts val="1000"/>
              </a:spcBef>
              <a:spcAft>
                <a:spcPts val="0"/>
              </a:spcAft>
              <a:buSzPts val="1440"/>
              <a:buChar char="►"/>
            </a:pPr>
            <a:r>
              <a:rPr lang="en-US"/>
              <a:t>This creates a </a:t>
            </a:r>
            <a:r>
              <a:rPr b="1" lang="en-US"/>
              <a:t>performance mismatch</a:t>
            </a:r>
            <a:r>
              <a:rPr lang="en-US"/>
              <a:t> where CPUs spend most of their time waiting for data</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5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t/>
            </a:r>
            <a:endParaRPr/>
          </a:p>
        </p:txBody>
      </p:sp>
      <p:sp>
        <p:nvSpPr>
          <p:cNvPr id="980" name="Google Shape;980;p5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CPU Cycle Time: ~0.3 ns</a:t>
            </a:r>
            <a:endParaRPr/>
          </a:p>
          <a:p>
            <a:pPr indent="-342900" lvl="0" marL="342900" rtl="0" algn="l">
              <a:spcBef>
                <a:spcPts val="1000"/>
              </a:spcBef>
              <a:spcAft>
                <a:spcPts val="0"/>
              </a:spcAft>
              <a:buSzPts val="1440"/>
              <a:buChar char="►"/>
            </a:pPr>
            <a:r>
              <a:rPr lang="en-US"/>
              <a:t>L1 Cache Access: ~1 ns</a:t>
            </a:r>
            <a:endParaRPr/>
          </a:p>
          <a:p>
            <a:pPr indent="-342900" lvl="0" marL="342900" rtl="0" algn="l">
              <a:spcBef>
                <a:spcPts val="1000"/>
              </a:spcBef>
              <a:spcAft>
                <a:spcPts val="0"/>
              </a:spcAft>
              <a:buSzPts val="1440"/>
              <a:buChar char="►"/>
            </a:pPr>
            <a:r>
              <a:rPr lang="en-US"/>
              <a:t>L2 Cache Access: ~3-10 ns</a:t>
            </a:r>
            <a:endParaRPr/>
          </a:p>
          <a:p>
            <a:pPr indent="-342900" lvl="0" marL="342900" rtl="0" algn="l">
              <a:spcBef>
                <a:spcPts val="1000"/>
              </a:spcBef>
              <a:spcAft>
                <a:spcPts val="0"/>
              </a:spcAft>
              <a:buSzPts val="1440"/>
              <a:buChar char="►"/>
            </a:pPr>
            <a:r>
              <a:rPr lang="en-US"/>
              <a:t>L3 Cache Access: ~10-20 ns</a:t>
            </a:r>
            <a:endParaRPr/>
          </a:p>
          <a:p>
            <a:pPr indent="-342900" lvl="0" marL="342900" rtl="0" algn="l">
              <a:spcBef>
                <a:spcPts val="1000"/>
              </a:spcBef>
              <a:spcAft>
                <a:spcPts val="0"/>
              </a:spcAft>
              <a:buSzPts val="1440"/>
              <a:buChar char="►"/>
            </a:pPr>
            <a:r>
              <a:rPr lang="en-US"/>
              <a:t>Main Memory Access: ~100 ns</a:t>
            </a:r>
            <a:endParaRPr/>
          </a:p>
          <a:p>
            <a:pPr indent="-342900" lvl="0" marL="342900" rtl="0" algn="l">
              <a:spcBef>
                <a:spcPts val="1000"/>
              </a:spcBef>
              <a:spcAft>
                <a:spcPts val="0"/>
              </a:spcAft>
              <a:buSzPts val="1440"/>
              <a:buChar char="►"/>
            </a:pPr>
            <a:r>
              <a:rPr lang="en-US"/>
              <a:t>Disk Access: ~10,000,000 ns</a:t>
            </a:r>
            <a:endParaRPr/>
          </a:p>
          <a:p>
            <a:pPr indent="0" lvl="0" marL="0" rtl="0" algn="l">
              <a:spcBef>
                <a:spcPts val="1000"/>
              </a:spcBef>
              <a:spcAft>
                <a:spcPts val="0"/>
              </a:spcAft>
              <a:buSzPts val="1440"/>
              <a:buNone/>
            </a:pPr>
            <a:r>
              <a:rPr b="1" lang="en-US" u="sng"/>
              <a:t>This hierarchy shows why memory access is a major bottleneck.</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6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The Von Neumann Bottleneck</a:t>
            </a:r>
            <a:br>
              <a:rPr b="1" lang="en-US"/>
            </a:br>
            <a:endParaRPr/>
          </a:p>
        </p:txBody>
      </p:sp>
      <p:sp>
        <p:nvSpPr>
          <p:cNvPr id="986" name="Google Shape;986;p6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processor is limited by the rate at which it can transfer data between CPU and memory.</a:t>
            </a:r>
            <a:endParaRPr/>
          </a:p>
          <a:p>
            <a:pPr indent="0" lvl="0" marL="0" rtl="0" algn="l">
              <a:spcBef>
                <a:spcPts val="1000"/>
              </a:spcBef>
              <a:spcAft>
                <a:spcPts val="0"/>
              </a:spcAft>
              <a:buSzPts val="1440"/>
              <a:buNone/>
            </a:pPr>
            <a:r>
              <a:rPr b="1" lang="en-US" u="sng"/>
              <a:t>How it manifests:</a:t>
            </a:r>
            <a:endParaRPr/>
          </a:p>
          <a:p>
            <a:pPr indent="-342900" lvl="0" marL="342900" rtl="0" algn="l">
              <a:spcBef>
                <a:spcPts val="1000"/>
              </a:spcBef>
              <a:spcAft>
                <a:spcPts val="0"/>
              </a:spcAft>
              <a:buSzPts val="1440"/>
              <a:buChar char="►"/>
            </a:pPr>
            <a:r>
              <a:rPr b="1" lang="en-US"/>
              <a:t>Shared bus architecture</a:t>
            </a:r>
            <a:r>
              <a:rPr lang="en-US"/>
              <a:t>: CPU and memory compete for the same data pathway</a:t>
            </a:r>
            <a:endParaRPr/>
          </a:p>
          <a:p>
            <a:pPr indent="-342900" lvl="0" marL="342900" rtl="0" algn="l">
              <a:spcBef>
                <a:spcPts val="1000"/>
              </a:spcBef>
              <a:spcAft>
                <a:spcPts val="0"/>
              </a:spcAft>
              <a:buSzPts val="1440"/>
              <a:buChar char="►"/>
            </a:pPr>
            <a:r>
              <a:rPr b="1" lang="en-US"/>
              <a:t>Sequential access</a:t>
            </a:r>
            <a:r>
              <a:rPr lang="en-US"/>
              <a:t>: Even with parallel processing, memory often provides data sequentially</a:t>
            </a:r>
            <a:endParaRPr/>
          </a:p>
          <a:p>
            <a:pPr indent="-342900" lvl="0" marL="342900" rtl="0" algn="l">
              <a:spcBef>
                <a:spcPts val="1000"/>
              </a:spcBef>
              <a:spcAft>
                <a:spcPts val="0"/>
              </a:spcAft>
              <a:buSzPts val="1440"/>
              <a:buChar char="►"/>
            </a:pPr>
            <a:r>
              <a:rPr b="1" lang="en-US"/>
              <a:t>Bandwidth limitations</a:t>
            </a:r>
            <a:r>
              <a:rPr lang="en-US"/>
              <a:t>: Memory bandwidth can't keep up with CPU's data demands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6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Operating System Implications</a:t>
            </a:r>
            <a:br>
              <a:rPr b="1" lang="en-US"/>
            </a:br>
            <a:endParaRPr/>
          </a:p>
        </p:txBody>
      </p:sp>
      <p:sp>
        <p:nvSpPr>
          <p:cNvPr id="992" name="Google Shape;992;p61"/>
          <p:cNvSpPr txBox="1"/>
          <p:nvPr>
            <p:ph idx="1" type="body"/>
          </p:nvPr>
        </p:nvSpPr>
        <p:spPr>
          <a:xfrm>
            <a:off x="677334" y="1752601"/>
            <a:ext cx="9177866" cy="44958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9999"/>
              <a:buNone/>
            </a:pPr>
            <a:r>
              <a:rPr b="1" lang="en-US"/>
              <a:t>Memory Management Challenges:</a:t>
            </a:r>
            <a:endParaRPr/>
          </a:p>
          <a:p>
            <a:pPr indent="-342900" lvl="0" marL="342900" rtl="0" algn="l">
              <a:spcBef>
                <a:spcPts val="1000"/>
              </a:spcBef>
              <a:spcAft>
                <a:spcPts val="0"/>
              </a:spcAft>
              <a:buSzPct val="79999"/>
              <a:buChar char="►"/>
            </a:pPr>
            <a:r>
              <a:rPr b="1" lang="en-US"/>
              <a:t>Page Fault Overhead</a:t>
            </a:r>
            <a:endParaRPr/>
          </a:p>
          <a:p>
            <a:pPr indent="-285750" lvl="1" marL="742950" rtl="0" algn="l">
              <a:spcBef>
                <a:spcPts val="1000"/>
              </a:spcBef>
              <a:spcAft>
                <a:spcPts val="0"/>
              </a:spcAft>
              <a:buSzPct val="80000"/>
              <a:buChar char="►"/>
            </a:pPr>
            <a:r>
              <a:rPr lang="en-US"/>
              <a:t>When data isn't in RAM (page fault), OS must load from disk</a:t>
            </a:r>
            <a:endParaRPr/>
          </a:p>
          <a:p>
            <a:pPr indent="-285750" lvl="1" marL="742950" rtl="0" algn="l">
              <a:spcBef>
                <a:spcPts val="1000"/>
              </a:spcBef>
              <a:spcAft>
                <a:spcPts val="0"/>
              </a:spcAft>
              <a:buSzPct val="80000"/>
              <a:buChar char="►"/>
            </a:pPr>
            <a:r>
              <a:rPr lang="en-US"/>
              <a:t>Context switches and disk I/O create massive delays</a:t>
            </a:r>
            <a:endParaRPr/>
          </a:p>
          <a:p>
            <a:pPr indent="-285750" lvl="1" marL="742950" rtl="0" algn="l">
              <a:spcBef>
                <a:spcPts val="1000"/>
              </a:spcBef>
              <a:spcAft>
                <a:spcPts val="0"/>
              </a:spcAft>
              <a:buSzPct val="80000"/>
              <a:buChar char="►"/>
            </a:pPr>
            <a:r>
              <a:rPr lang="en-US"/>
              <a:t>Example: Page fault penalty = ~10 million CPU cycles</a:t>
            </a:r>
            <a:endParaRPr/>
          </a:p>
          <a:p>
            <a:pPr indent="-342900" lvl="0" marL="342900" rtl="0" algn="l">
              <a:spcBef>
                <a:spcPts val="1000"/>
              </a:spcBef>
              <a:spcAft>
                <a:spcPts val="0"/>
              </a:spcAft>
              <a:buSzPct val="79999"/>
              <a:buChar char="►"/>
            </a:pPr>
            <a:r>
              <a:rPr b="1" lang="en-US"/>
              <a:t>Translation Lookaside Buffer (TLB) Misses</a:t>
            </a:r>
            <a:endParaRPr/>
          </a:p>
          <a:p>
            <a:pPr indent="-285750" lvl="1" marL="742950" rtl="0" algn="l">
              <a:spcBef>
                <a:spcPts val="1000"/>
              </a:spcBef>
              <a:spcAft>
                <a:spcPts val="0"/>
              </a:spcAft>
              <a:buSzPct val="80000"/>
              <a:buChar char="►"/>
            </a:pPr>
            <a:r>
              <a:rPr lang="en-US"/>
              <a:t>TLB caches virtual-to-physical address translations</a:t>
            </a:r>
            <a:endParaRPr/>
          </a:p>
          <a:p>
            <a:pPr indent="-285750" lvl="1" marL="742950" rtl="0" algn="l">
              <a:spcBef>
                <a:spcPts val="1000"/>
              </a:spcBef>
              <a:spcAft>
                <a:spcPts val="0"/>
              </a:spcAft>
              <a:buSzPct val="80000"/>
              <a:buChar char="►"/>
            </a:pPr>
            <a:r>
              <a:rPr lang="en-US"/>
              <a:t>TLB misses force expensive page table walks</a:t>
            </a:r>
            <a:endParaRPr/>
          </a:p>
          <a:p>
            <a:pPr indent="-285750" lvl="1" marL="742950" rtl="0" algn="l">
              <a:spcBef>
                <a:spcPts val="1000"/>
              </a:spcBef>
              <a:spcAft>
                <a:spcPts val="0"/>
              </a:spcAft>
              <a:buSzPct val="80000"/>
              <a:buChar char="►"/>
            </a:pPr>
            <a:r>
              <a:rPr lang="en-US"/>
              <a:t>OS must optimize page table structures and page sizes</a:t>
            </a:r>
            <a:endParaRPr/>
          </a:p>
          <a:p>
            <a:pPr indent="-342900" lvl="0" marL="342900" rtl="0" algn="l">
              <a:spcBef>
                <a:spcPts val="1000"/>
              </a:spcBef>
              <a:spcAft>
                <a:spcPts val="0"/>
              </a:spcAft>
              <a:buSzPct val="79999"/>
              <a:buChar char="►"/>
            </a:pPr>
            <a:r>
              <a:rPr b="1" lang="en-US"/>
              <a:t>Cache Coherence &amp; False Sharing</a:t>
            </a:r>
            <a:endParaRPr/>
          </a:p>
          <a:p>
            <a:pPr indent="-285750" lvl="1" marL="742950" rtl="0" algn="l">
              <a:spcBef>
                <a:spcPts val="1000"/>
              </a:spcBef>
              <a:spcAft>
                <a:spcPts val="0"/>
              </a:spcAft>
              <a:buSzPct val="80000"/>
              <a:buChar char="►"/>
            </a:pPr>
            <a:r>
              <a:rPr lang="en-US"/>
              <a:t>Multiple CPU cores accessing same memory lines</a:t>
            </a:r>
            <a:endParaRPr/>
          </a:p>
          <a:p>
            <a:pPr indent="-285750" lvl="1" marL="742950" rtl="0" algn="l">
              <a:spcBef>
                <a:spcPts val="1000"/>
              </a:spcBef>
              <a:spcAft>
                <a:spcPts val="0"/>
              </a:spcAft>
              <a:buSzPct val="80000"/>
              <a:buChar char="►"/>
            </a:pPr>
            <a:r>
              <a:rPr lang="en-US"/>
              <a:t>Cache coherence protocols create overhead</a:t>
            </a:r>
            <a:endParaRPr/>
          </a:p>
          <a:p>
            <a:pPr indent="-285750" lvl="1" marL="742950" rtl="0" algn="l">
              <a:spcBef>
                <a:spcPts val="1000"/>
              </a:spcBef>
              <a:spcAft>
                <a:spcPts val="0"/>
              </a:spcAft>
              <a:buSzPct val="80000"/>
              <a:buChar char="►"/>
            </a:pPr>
            <a:r>
              <a:rPr lang="en-US"/>
              <a:t>False sharing: Different cores modifying different data in same cache line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6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Operating System Implications</a:t>
            </a:r>
            <a:br>
              <a:rPr b="1" lang="en-US"/>
            </a:br>
            <a:endParaRPr/>
          </a:p>
        </p:txBody>
      </p:sp>
      <p:sp>
        <p:nvSpPr>
          <p:cNvPr id="998" name="Google Shape;998;p62"/>
          <p:cNvSpPr txBox="1"/>
          <p:nvPr>
            <p:ph idx="1" type="body"/>
          </p:nvPr>
        </p:nvSpPr>
        <p:spPr>
          <a:xfrm>
            <a:off x="677334" y="1777817"/>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a:t>Scheduling Impacts:</a:t>
            </a:r>
            <a:endParaRPr/>
          </a:p>
          <a:p>
            <a:pPr indent="-342900" lvl="0" marL="342900" rtl="0" algn="l">
              <a:spcBef>
                <a:spcPts val="1000"/>
              </a:spcBef>
              <a:spcAft>
                <a:spcPts val="0"/>
              </a:spcAft>
              <a:buSzPts val="1440"/>
              <a:buChar char="►"/>
            </a:pPr>
            <a:r>
              <a:rPr b="1" lang="en-US"/>
              <a:t>Memory-Aware Scheduling</a:t>
            </a:r>
            <a:endParaRPr/>
          </a:p>
          <a:p>
            <a:pPr indent="-285750" lvl="1" marL="742950" rtl="0" algn="l">
              <a:spcBef>
                <a:spcPts val="1000"/>
              </a:spcBef>
              <a:spcAft>
                <a:spcPts val="0"/>
              </a:spcAft>
              <a:buSzPts val="1280"/>
              <a:buChar char="►"/>
            </a:pPr>
            <a:r>
              <a:rPr lang="en-US"/>
              <a:t>OS must consider memory access patterns when scheduling threads</a:t>
            </a:r>
            <a:endParaRPr/>
          </a:p>
          <a:p>
            <a:pPr indent="-285750" lvl="1" marL="742950" rtl="0" algn="l">
              <a:spcBef>
                <a:spcPts val="1000"/>
              </a:spcBef>
              <a:spcAft>
                <a:spcPts val="0"/>
              </a:spcAft>
              <a:buSzPts val="1280"/>
              <a:buChar char="►"/>
            </a:pPr>
            <a:r>
              <a:rPr lang="en-US"/>
              <a:t>NUMA (Non-Uniform Memory Access) architectures require careful thread placement</a:t>
            </a:r>
            <a:endParaRPr/>
          </a:p>
          <a:p>
            <a:pPr indent="-285750" lvl="1" marL="742950" rtl="0" algn="l">
              <a:spcBef>
                <a:spcPts val="1000"/>
              </a:spcBef>
              <a:spcAft>
                <a:spcPts val="0"/>
              </a:spcAft>
              <a:buSzPts val="1280"/>
              <a:buChar char="►"/>
            </a:pPr>
            <a:r>
              <a:rPr lang="en-US"/>
              <a:t>Example: Placing threads near their frequently accessed memory</a:t>
            </a:r>
            <a:endParaRPr/>
          </a:p>
          <a:p>
            <a:pPr indent="-342900" lvl="0" marL="342900" rtl="0" algn="l">
              <a:spcBef>
                <a:spcPts val="1000"/>
              </a:spcBef>
              <a:spcAft>
                <a:spcPts val="0"/>
              </a:spcAft>
              <a:buSzPts val="1440"/>
              <a:buChar char="►"/>
            </a:pPr>
            <a:r>
              <a:rPr b="1" lang="en-US"/>
              <a:t>Working Set Management</a:t>
            </a:r>
            <a:endParaRPr/>
          </a:p>
          <a:p>
            <a:pPr indent="-285750" lvl="1" marL="742950" rtl="0" algn="l">
              <a:spcBef>
                <a:spcPts val="1000"/>
              </a:spcBef>
              <a:spcAft>
                <a:spcPts val="0"/>
              </a:spcAft>
              <a:buSzPts val="1280"/>
              <a:buChar char="►"/>
            </a:pPr>
            <a:r>
              <a:rPr lang="en-US"/>
              <a:t>OS must keep each process's "working set" in memory</a:t>
            </a:r>
            <a:endParaRPr/>
          </a:p>
          <a:p>
            <a:pPr indent="-285750" lvl="1" marL="742950" rtl="0" algn="l">
              <a:spcBef>
                <a:spcPts val="1000"/>
              </a:spcBef>
              <a:spcAft>
                <a:spcPts val="0"/>
              </a:spcAft>
              <a:buSzPts val="1280"/>
              <a:buChar char="►"/>
            </a:pPr>
            <a:r>
              <a:rPr lang="en-US"/>
              <a:t>Thrashing occurs when working sets exceed available RAM</a:t>
            </a:r>
            <a:endParaRPr/>
          </a:p>
          <a:p>
            <a:pPr indent="-285750" lvl="1" marL="742950" rtl="0" algn="l">
              <a:spcBef>
                <a:spcPts val="1000"/>
              </a:spcBef>
              <a:spcAft>
                <a:spcPts val="0"/>
              </a:spcAft>
              <a:buSzPts val="1280"/>
              <a:buChar char="►"/>
            </a:pPr>
            <a:r>
              <a:rPr lang="en-US"/>
              <a:t>Page replacement algorithms (LRU, Clock, etc.) become critical</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6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Real-World Consequences</a:t>
            </a:r>
            <a:br>
              <a:rPr b="1" lang="en-US"/>
            </a:br>
            <a:endParaRPr/>
          </a:p>
        </p:txBody>
      </p:sp>
      <p:sp>
        <p:nvSpPr>
          <p:cNvPr id="1004" name="Google Shape;1004;p63"/>
          <p:cNvSpPr txBox="1"/>
          <p:nvPr>
            <p:ph idx="1" type="body"/>
          </p:nvPr>
        </p:nvSpPr>
        <p:spPr>
          <a:xfrm>
            <a:off x="677334" y="1798084"/>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en-US"/>
              <a:t>Performance Symptoms:</a:t>
            </a:r>
            <a:endParaRPr/>
          </a:p>
          <a:p>
            <a:pPr indent="-342900" lvl="0" marL="342900" rtl="0" algn="l">
              <a:spcBef>
                <a:spcPts val="1000"/>
              </a:spcBef>
              <a:spcAft>
                <a:spcPts val="0"/>
              </a:spcAft>
              <a:buSzPts val="1440"/>
              <a:buChar char="►"/>
            </a:pPr>
            <a:r>
              <a:rPr b="1" lang="en-US"/>
              <a:t>High CPI (Cycles Per Instruction)</a:t>
            </a:r>
            <a:r>
              <a:rPr lang="en-US"/>
              <a:t>: Due to memory stalls</a:t>
            </a:r>
            <a:endParaRPr/>
          </a:p>
          <a:p>
            <a:pPr indent="-342900" lvl="0" marL="342900" rtl="0" algn="l">
              <a:spcBef>
                <a:spcPts val="1000"/>
              </a:spcBef>
              <a:spcAft>
                <a:spcPts val="0"/>
              </a:spcAft>
              <a:buSzPts val="1440"/>
              <a:buChar char="►"/>
            </a:pPr>
            <a:r>
              <a:rPr b="1" lang="en-US"/>
              <a:t>Low CPU utilization</a:t>
            </a:r>
            <a:r>
              <a:rPr lang="en-US"/>
              <a:t>: CPUs idle while waiting for memory</a:t>
            </a:r>
            <a:endParaRPr/>
          </a:p>
          <a:p>
            <a:pPr indent="-342900" lvl="0" marL="342900" rtl="0" algn="l">
              <a:spcBef>
                <a:spcPts val="1000"/>
              </a:spcBef>
              <a:spcAft>
                <a:spcPts val="0"/>
              </a:spcAft>
              <a:buSzPts val="1440"/>
              <a:buChar char="►"/>
            </a:pPr>
            <a:r>
              <a:rPr b="1" lang="en-US"/>
              <a:t>Inconsistent performance</a:t>
            </a:r>
            <a:r>
              <a:rPr lang="en-US"/>
              <a:t>: Memory-bound workloads show unpredictable timing</a:t>
            </a:r>
            <a:endParaRPr/>
          </a:p>
          <a:p>
            <a:pPr indent="0" lvl="0" marL="0" rtl="0" algn="l">
              <a:spcBef>
                <a:spcPts val="1000"/>
              </a:spcBef>
              <a:spcAft>
                <a:spcPts val="0"/>
              </a:spcAft>
              <a:buSzPts val="1440"/>
              <a:buNone/>
            </a:pPr>
            <a:r>
              <a:rPr b="1" lang="en-US"/>
              <a:t>Examples:</a:t>
            </a:r>
            <a:endParaRPr/>
          </a:p>
          <a:p>
            <a:pPr indent="-342900" lvl="0" marL="342900" rtl="0" algn="l">
              <a:spcBef>
                <a:spcPts val="1000"/>
              </a:spcBef>
              <a:spcAft>
                <a:spcPts val="0"/>
              </a:spcAft>
              <a:buSzPts val="1440"/>
              <a:buChar char="►"/>
            </a:pPr>
            <a:r>
              <a:rPr b="1" lang="en-US"/>
              <a:t>Database Systems</a:t>
            </a:r>
            <a:r>
              <a:rPr lang="en-US"/>
              <a:t>: Random memory access patterns suffer most</a:t>
            </a:r>
            <a:endParaRPr/>
          </a:p>
          <a:p>
            <a:pPr indent="-342900" lvl="0" marL="342900" rtl="0" algn="l">
              <a:spcBef>
                <a:spcPts val="1000"/>
              </a:spcBef>
              <a:spcAft>
                <a:spcPts val="0"/>
              </a:spcAft>
              <a:buSzPts val="1440"/>
              <a:buChar char="►"/>
            </a:pPr>
            <a:r>
              <a:rPr b="1" lang="en-US"/>
              <a:t>Scientific Computing</a:t>
            </a:r>
            <a:r>
              <a:rPr lang="en-US"/>
              <a:t>: Large matrices exceed cache capacities</a:t>
            </a:r>
            <a:endParaRPr/>
          </a:p>
          <a:p>
            <a:pPr indent="-342900" lvl="0" marL="342900" rtl="0" algn="l">
              <a:spcBef>
                <a:spcPts val="1000"/>
              </a:spcBef>
              <a:spcAft>
                <a:spcPts val="0"/>
              </a:spcAft>
              <a:buSzPts val="1440"/>
              <a:buChar char="►"/>
            </a:pPr>
            <a:r>
              <a:rPr b="1" lang="en-US"/>
              <a:t>Virtualization</a:t>
            </a:r>
            <a:r>
              <a:rPr lang="en-US"/>
              <a:t>: Multiple VMs competing for limited memory bandwidth</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6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Mitigation Strategies</a:t>
            </a:r>
            <a:br>
              <a:rPr b="1" lang="en-US"/>
            </a:br>
            <a:endParaRPr/>
          </a:p>
        </p:txBody>
      </p:sp>
      <p:sp>
        <p:nvSpPr>
          <p:cNvPr id="1011" name="Google Shape;1011;p64"/>
          <p:cNvSpPr txBox="1"/>
          <p:nvPr>
            <p:ph idx="1" type="body"/>
          </p:nvPr>
        </p:nvSpPr>
        <p:spPr>
          <a:xfrm>
            <a:off x="677334" y="1930401"/>
            <a:ext cx="8596668" cy="43180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b="1" lang="en-US"/>
              <a:t>Hardware Solutions:</a:t>
            </a:r>
            <a:endParaRPr/>
          </a:p>
          <a:p>
            <a:pPr indent="-342900" lvl="0" marL="342900" rtl="0" algn="l">
              <a:spcBef>
                <a:spcPts val="1000"/>
              </a:spcBef>
              <a:spcAft>
                <a:spcPts val="0"/>
              </a:spcAft>
              <a:buSzPts val="1440"/>
              <a:buChar char="►"/>
            </a:pPr>
            <a:r>
              <a:rPr b="1" lang="en-US"/>
              <a:t>Caching hierarchies</a:t>
            </a:r>
            <a:r>
              <a:rPr lang="en-US"/>
              <a:t>: L1, L2, L3, LLC (Last Level Cache)</a:t>
            </a:r>
            <a:endParaRPr/>
          </a:p>
          <a:p>
            <a:pPr indent="-342900" lvl="0" marL="342900" rtl="0" algn="l">
              <a:spcBef>
                <a:spcPts val="1000"/>
              </a:spcBef>
              <a:spcAft>
                <a:spcPts val="0"/>
              </a:spcAft>
              <a:buSzPts val="1440"/>
              <a:buChar char="►"/>
            </a:pPr>
            <a:r>
              <a:rPr b="1" lang="en-US"/>
              <a:t>Prefetching</a:t>
            </a:r>
            <a:r>
              <a:rPr lang="en-US"/>
              <a:t>: Predict and load data before it's needed</a:t>
            </a:r>
            <a:endParaRPr/>
          </a:p>
          <a:p>
            <a:pPr indent="-342900" lvl="0" marL="342900" rtl="0" algn="l">
              <a:spcBef>
                <a:spcPts val="1000"/>
              </a:spcBef>
              <a:spcAft>
                <a:spcPts val="0"/>
              </a:spcAft>
              <a:buSzPts val="1440"/>
              <a:buChar char="►"/>
            </a:pPr>
            <a:r>
              <a:rPr b="1" lang="en-US"/>
              <a:t>Wider memory buses</a:t>
            </a:r>
            <a:r>
              <a:rPr lang="en-US"/>
              <a:t>: Increase data transfer bandwidth</a:t>
            </a:r>
            <a:endParaRPr/>
          </a:p>
          <a:p>
            <a:pPr indent="-342900" lvl="0" marL="342900" rtl="0" algn="l">
              <a:spcBef>
                <a:spcPts val="1000"/>
              </a:spcBef>
              <a:spcAft>
                <a:spcPts val="0"/>
              </a:spcAft>
              <a:buSzPts val="1440"/>
              <a:buChar char="►"/>
            </a:pPr>
            <a:r>
              <a:rPr b="1" lang="en-US"/>
              <a:t>3D-stacked memory</a:t>
            </a:r>
            <a:r>
              <a:rPr lang="en-US"/>
              <a:t>: HBM (High Bandwidth Memory) closer to CPU</a:t>
            </a:r>
            <a:endParaRPr/>
          </a:p>
          <a:p>
            <a:pPr indent="0" lvl="0" marL="0" rtl="0" algn="l">
              <a:spcBef>
                <a:spcPts val="1000"/>
              </a:spcBef>
              <a:spcAft>
                <a:spcPts val="0"/>
              </a:spcAft>
              <a:buSzPts val="1440"/>
              <a:buNone/>
            </a:pPr>
            <a:r>
              <a:rPr b="1" lang="en-US"/>
              <a:t>Operating System Strategies:</a:t>
            </a:r>
            <a:endParaRPr/>
          </a:p>
          <a:p>
            <a:pPr indent="-342900" lvl="0" marL="342900" rtl="0" algn="l">
              <a:spcBef>
                <a:spcPts val="1000"/>
              </a:spcBef>
              <a:spcAft>
                <a:spcPts val="0"/>
              </a:spcAft>
              <a:buSzPts val="1440"/>
              <a:buChar char="►"/>
            </a:pPr>
            <a:r>
              <a:rPr b="1" lang="en-US"/>
              <a:t>Page Coloring</a:t>
            </a:r>
            <a:endParaRPr/>
          </a:p>
          <a:p>
            <a:pPr indent="-342900" lvl="0" marL="342900" rtl="0" algn="l">
              <a:spcBef>
                <a:spcPts val="1000"/>
              </a:spcBef>
              <a:spcAft>
                <a:spcPts val="0"/>
              </a:spcAft>
              <a:buSzPts val="1440"/>
              <a:buChar char="►"/>
            </a:pPr>
            <a:r>
              <a:rPr b="1" lang="en-US"/>
              <a:t>Huge Pages</a:t>
            </a:r>
            <a:endParaRPr/>
          </a:p>
          <a:p>
            <a:pPr indent="-342900" lvl="0" marL="342900" rtl="0" algn="l">
              <a:spcBef>
                <a:spcPts val="1000"/>
              </a:spcBef>
              <a:spcAft>
                <a:spcPts val="0"/>
              </a:spcAft>
              <a:buSzPts val="1440"/>
              <a:buChar char="►"/>
            </a:pPr>
            <a:r>
              <a:rPr b="1" lang="en-US"/>
              <a:t>NUMA-Aware Allocation</a:t>
            </a:r>
            <a:endParaRPr/>
          </a:p>
          <a:p>
            <a:pPr indent="-342900" lvl="0" marL="342900" rtl="0" algn="l">
              <a:spcBef>
                <a:spcPts val="1000"/>
              </a:spcBef>
              <a:spcAft>
                <a:spcPts val="0"/>
              </a:spcAft>
              <a:buSzPts val="1440"/>
              <a:buChar char="►"/>
            </a:pPr>
            <a:r>
              <a:rPr b="1" lang="en-US"/>
              <a:t>Memory Compression</a:t>
            </a:r>
            <a:endParaRPr/>
          </a:p>
          <a:p>
            <a:pPr indent="-342900" lvl="0" marL="342900" rtl="0" algn="l">
              <a:spcBef>
                <a:spcPts val="1000"/>
              </a:spcBef>
              <a:spcAft>
                <a:spcPts val="0"/>
              </a:spcAft>
              <a:buSzPts val="1440"/>
              <a:buChar char="►"/>
            </a:pPr>
            <a:r>
              <a:rPr b="1" lang="en-US"/>
              <a:t>Transparent Huge Pages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6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Future Trends</a:t>
            </a:r>
            <a:br>
              <a:rPr b="1" lang="en-US"/>
            </a:br>
            <a:endParaRPr/>
          </a:p>
        </p:txBody>
      </p:sp>
      <p:sp>
        <p:nvSpPr>
          <p:cNvPr id="1018" name="Google Shape;1018;p6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b="1" lang="en-US"/>
              <a:t>Processing-in-Memory (PIM)</a:t>
            </a:r>
            <a:endParaRPr/>
          </a:p>
          <a:p>
            <a:pPr indent="-285750" lvl="1" marL="742950" rtl="0" algn="l">
              <a:spcBef>
                <a:spcPts val="1000"/>
              </a:spcBef>
              <a:spcAft>
                <a:spcPts val="0"/>
              </a:spcAft>
              <a:buSzPts val="1280"/>
              <a:buChar char="►"/>
            </a:pPr>
            <a:r>
              <a:rPr lang="en-US"/>
              <a:t>Perform computations inside memory chips</a:t>
            </a:r>
            <a:endParaRPr/>
          </a:p>
          <a:p>
            <a:pPr indent="-285750" lvl="1" marL="742950" rtl="0" algn="l">
              <a:spcBef>
                <a:spcPts val="1000"/>
              </a:spcBef>
              <a:spcAft>
                <a:spcPts val="0"/>
              </a:spcAft>
              <a:buSzPts val="1280"/>
              <a:buChar char="►"/>
            </a:pPr>
            <a:r>
              <a:rPr lang="en-US"/>
              <a:t>Reduces data movement</a:t>
            </a:r>
            <a:endParaRPr/>
          </a:p>
          <a:p>
            <a:pPr indent="-342900" lvl="0" marL="342900" rtl="0" algn="l">
              <a:spcBef>
                <a:spcPts val="1000"/>
              </a:spcBef>
              <a:spcAft>
                <a:spcPts val="0"/>
              </a:spcAft>
              <a:buSzPts val="1440"/>
              <a:buChar char="►"/>
            </a:pPr>
            <a:r>
              <a:rPr b="1" lang="en-US"/>
              <a:t>Optical Interconnects</a:t>
            </a:r>
            <a:endParaRPr/>
          </a:p>
          <a:p>
            <a:pPr indent="-285750" lvl="1" marL="742950" rtl="0" algn="l">
              <a:spcBef>
                <a:spcPts val="1000"/>
              </a:spcBef>
              <a:spcAft>
                <a:spcPts val="0"/>
              </a:spcAft>
              <a:buSzPts val="1280"/>
              <a:buChar char="►"/>
            </a:pPr>
            <a:r>
              <a:rPr lang="en-US"/>
              <a:t>Faster CPU-memory communication</a:t>
            </a:r>
            <a:endParaRPr/>
          </a:p>
          <a:p>
            <a:pPr indent="-342900" lvl="0" marL="342900" rtl="0" algn="l">
              <a:spcBef>
                <a:spcPts val="1000"/>
              </a:spcBef>
              <a:spcAft>
                <a:spcPts val="0"/>
              </a:spcAft>
              <a:buSzPts val="1440"/>
              <a:buChar char="►"/>
            </a:pPr>
            <a:r>
              <a:rPr b="1" lang="en-US"/>
              <a:t>Persistent Memory</a:t>
            </a:r>
            <a:endParaRPr/>
          </a:p>
          <a:p>
            <a:pPr indent="-285750" lvl="1" marL="742950" rtl="0" algn="l">
              <a:spcBef>
                <a:spcPts val="1000"/>
              </a:spcBef>
              <a:spcAft>
                <a:spcPts val="0"/>
              </a:spcAft>
              <a:buSzPts val="1280"/>
              <a:buChar char="►"/>
            </a:pPr>
            <a:r>
              <a:rPr lang="en-US"/>
              <a:t>Blurring line between memory and storage</a:t>
            </a:r>
            <a:endParaRPr/>
          </a:p>
          <a:p>
            <a:pPr indent="-285750" lvl="1" marL="742950" rtl="0" algn="l">
              <a:spcBef>
                <a:spcPts val="1000"/>
              </a:spcBef>
              <a:spcAft>
                <a:spcPts val="0"/>
              </a:spcAft>
              <a:buSzPts val="1280"/>
              <a:buChar char="►"/>
            </a:pPr>
            <a:r>
              <a:rPr lang="en-US"/>
              <a:t>New OS memory management challenges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6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Questions</a:t>
            </a:r>
            <a:endParaRPr/>
          </a:p>
        </p:txBody>
      </p:sp>
      <p:sp>
        <p:nvSpPr>
          <p:cNvPr id="1024" name="Google Shape;1024;p6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6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Presentation Topics</a:t>
            </a:r>
            <a:endParaRPr/>
          </a:p>
        </p:txBody>
      </p:sp>
      <p:sp>
        <p:nvSpPr>
          <p:cNvPr id="1030" name="Google Shape;1030;p6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2026-01-27T22:10:23Z</dcterms:created>
  <dc:creator>Kapil Dev Pant</dc:creator>
</cp:coreProperties>
</file>