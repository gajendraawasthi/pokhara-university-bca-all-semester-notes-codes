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6" r:id="rId4"/>
    <p:sldId id="345" r:id="rId5"/>
    <p:sldId id="329" r:id="rId6"/>
    <p:sldId id="328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42" r:id="rId25"/>
    <p:sldId id="339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14" r:id="rId34"/>
    <p:sldId id="37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3969" autoAdjust="0"/>
  </p:normalViewPr>
  <p:slideViewPr>
    <p:cSldViewPr snapToGrid="0">
      <p:cViewPr varScale="1">
        <p:scale>
          <a:sx n="125" d="100"/>
          <a:sy n="125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04/10/24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95" y="1087755"/>
            <a:ext cx="12066905" cy="699135"/>
          </a:xfrm>
        </p:spPr>
        <p:txBody>
          <a:bodyPr>
            <a:noAutofit/>
          </a:bodyPr>
          <a:lstStyle/>
          <a:p>
            <a:r>
              <a:rPr lang="en-US" altLang="en-GB" sz="4000" b="1" dirty="0"/>
              <a:t>Unit 1</a:t>
            </a:r>
            <a:br>
              <a:rPr lang="en-US" altLang="en-GB" sz="4000" b="1" dirty="0"/>
            </a:br>
            <a:r>
              <a:rPr lang="en-US" altLang="en-GB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Basics of Operating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10" y="3712210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</a:rPr>
              <a:t>sented </a:t>
            </a:r>
            <a:r>
              <a:rPr lang="en-GB" sz="3200" b="1" dirty="0">
                <a:solidFill>
                  <a:srgbClr val="FF0000"/>
                </a:solidFill>
              </a:rPr>
              <a:t>by</a:t>
            </a:r>
            <a:r>
              <a:rPr lang="en-GB" dirty="0">
                <a:solidFill>
                  <a:srgbClr val="FF0000"/>
                </a:solidFill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		</a:t>
            </a:r>
            <a:r>
              <a:rPr lang="en-US" altLang="en-GB" dirty="0">
                <a:solidFill>
                  <a:srgbClr val="FF0000"/>
                </a:solidFill>
              </a:rPr>
              <a:t>                          </a:t>
            </a:r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</a:t>
            </a:r>
            <a:r>
              <a:rPr lang="en-US" altLang="en-GB" dirty="0">
                <a:solidFill>
                  <a:srgbClr val="FF0000"/>
                </a:solidFill>
              </a:rPr>
              <a:t>	      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Department of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BCA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    				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236710" y="2147570"/>
            <a:ext cx="29552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Total Hour:</a:t>
            </a:r>
            <a:r>
              <a:rPr lang="en-US" sz="2800" b="1">
                <a:solidFill>
                  <a:srgbClr val="00B050"/>
                </a:solidFill>
              </a:rPr>
              <a:t>6 Hrs</a:t>
            </a:r>
            <a:endParaRPr 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16573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OUTLINES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025" y="1275715"/>
            <a:ext cx="120459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1.1 Introduction, goals of operating system </a:t>
            </a:r>
          </a:p>
          <a:p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1.2 Operating-System Structures and functions</a:t>
            </a:r>
          </a:p>
          <a:p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1.3 Types of Operating Systems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i="1" dirty="0">
                <a:latin typeface="Times New Roman Italic" panose="02020603050405020304" charset="0"/>
                <a:cs typeface="Times New Roman Italic" panose="02020603050405020304" charset="0"/>
              </a:rPr>
              <a:t>Batch Processing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i="1" dirty="0">
                <a:latin typeface="Times New Roman Italic" panose="02020603050405020304" charset="0"/>
                <a:cs typeface="Times New Roman Italic" panose="02020603050405020304" charset="0"/>
              </a:rPr>
              <a:t>Multiprogramming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i="1" dirty="0">
                <a:latin typeface="Times New Roman Italic" panose="02020603050405020304" charset="0"/>
                <a:cs typeface="Times New Roman Italic" panose="02020603050405020304" charset="0"/>
              </a:rPr>
              <a:t>Multiprocessing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i="1" dirty="0">
                <a:latin typeface="Times New Roman Italic" panose="02020603050405020304" charset="0"/>
                <a:cs typeface="Times New Roman Italic" panose="02020603050405020304" charset="0"/>
              </a:rPr>
              <a:t>Networking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i="1" dirty="0">
                <a:latin typeface="Times New Roman Italic" panose="02020603050405020304" charset="0"/>
                <a:cs typeface="Times New Roman Italic" panose="02020603050405020304" charset="0"/>
              </a:rPr>
              <a:t>Real Time (RTOS)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i="1" dirty="0">
                <a:latin typeface="Times New Roman Italic" panose="02020603050405020304" charset="0"/>
                <a:cs typeface="Times New Roman Italic" panose="02020603050405020304" charset="0"/>
              </a:rPr>
              <a:t>Distributed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i="1" dirty="0">
                <a:latin typeface="Times New Roman Italic" panose="02020603050405020304" charset="0"/>
                <a:cs typeface="Times New Roman Italic" panose="02020603050405020304" charset="0"/>
              </a:rPr>
              <a:t>Embedded system </a:t>
            </a:r>
          </a:p>
          <a:p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1.4 Kernel Data Structures, System Interface, System Calls</a:t>
            </a:r>
          </a:p>
          <a:p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1.5 Virtual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Introduction to OS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641350"/>
            <a:ext cx="12080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/>
              <a:t>Intermediary between the user of a computer and computer hardware.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/>
              <a:t>System software that manages and controls computer hardware.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1478280"/>
            <a:ext cx="5646420" cy="5227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2942" t="34266" r="19902" b="19130"/>
          <a:stretch>
            <a:fillRect/>
          </a:stretch>
        </p:blipFill>
        <p:spPr>
          <a:xfrm>
            <a:off x="1920240" y="1980565"/>
            <a:ext cx="8611235" cy="28975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325" y="120015"/>
            <a:ext cx="58362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Examples of 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History of OS</a:t>
            </a:r>
          </a:p>
        </p:txBody>
      </p:sp>
      <p:graphicFrame>
        <p:nvGraphicFramePr>
          <p:cNvPr id="5" name="Table 4"/>
          <p:cNvGraphicFramePr/>
          <p:nvPr>
            <p:extLst>
              <p:ext uri="{D42A27DB-BD31-4B8C-83A1-F6EECF244321}">
                <p14:modId xmlns:p14="http://schemas.microsoft.com/office/powerpoint/2010/main" val="1886779751"/>
              </p:ext>
            </p:extLst>
          </p:nvPr>
        </p:nvGraphicFramePr>
        <p:xfrm>
          <a:off x="2316480" y="854710"/>
          <a:ext cx="790448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0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First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1940s - Early 1950s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No operating systems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Manual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ENIAC (No OS)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Second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1950s - Early 1960s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-Simple batch processing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Introduction of punch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- IBM 7094 (Batch Processing)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Third Generation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1960s - Early 1970s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 Multiprogramming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- Time-sharing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IBM OS/360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UNIVAC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Fourth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1970s - 1980s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GUI-based operating systems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Introduction of Unix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MS-DOS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Unix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Fifth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1980s - 1990s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Advanced multitasking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Early mobile operating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Windows 95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Mac 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Sixth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1990s - 2000s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Start of modern mobile OS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Open-source OS emerges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 Linux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Windows 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63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Seventh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2000s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 Cloud computing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Mobile-first OS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Virtualization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- Integration of AI and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 Windows 10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- macOS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- Android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- 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6985"/>
            <a:ext cx="1219136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Operating-System Structures/Architecture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74695" y="1672590"/>
            <a:ext cx="410400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Simple/Monolithic Structure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Micro-Kernel Structure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Hybrid-Kernel Structure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Exo-Kernel Structure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Layered Structure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Modular Structure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Client-Server Model Structre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Virtual Machines 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Structre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1. Simple/Monolithic Kernel</a:t>
            </a:r>
            <a:endParaRPr lang="en-US" altLang="en-GB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749935"/>
            <a:ext cx="796671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In this structure, all operating system components reside in a single, large kernel.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same memory space is used to implement user services and kernel services.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Efficient communication between components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Simple to implement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Difficult to maintain and modify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Less secure (a single bug can compromise the entire system)</a:t>
            </a: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Examples: Unix, Linux (early versions),MS-DOS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1797050"/>
            <a:ext cx="5541010" cy="45326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2. </a:t>
            </a:r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Micro-Kernel Structure</a:t>
            </a:r>
            <a:endParaRPr lang="en-US" altLang="en-GB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975" y="1143000"/>
            <a:ext cx="6238240" cy="57156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0" y="696595"/>
            <a:ext cx="118973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Here multiple kernels each one specilized in particular service and developed independent to the other one with small size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Reliable and Stable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Maintainability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Disadvanatges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Complex to Design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Performance Degradation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07950" y="4180205"/>
            <a:ext cx="23387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Examples: macOS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3. 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Hybrid Kernel Structure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634365"/>
            <a:ext cx="1195578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This combines elements of both monolithic and microkernel structures.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Some components are integrated into the kernel, while others run as separate processes.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 offers good performance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 enhances overall system reliability by cooping both Kernels.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 increases overall complexity of system by implementing both structure.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It increases time complexity and decreases performance.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72299" t="15549" r="394" b="2125"/>
          <a:stretch>
            <a:fillRect/>
          </a:stretch>
        </p:blipFill>
        <p:spPr>
          <a:xfrm>
            <a:off x="7251700" y="1550670"/>
            <a:ext cx="4704080" cy="4254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4. </a:t>
            </a:r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Exo-Kernel Structure</a:t>
            </a:r>
            <a:endParaRPr lang="en-US" altLang="en-GB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-78740" y="634365"/>
            <a:ext cx="82149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An exokernel allows to directly manage hardware resources by application software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whose aims to maximize performance and flexibility.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Very high performance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Maximum flexibility for applications</a:t>
            </a:r>
          </a:p>
          <a:p>
            <a:pPr indent="0">
              <a:buFont typeface="Wingdings" panose="05000000000000000000" charset="0"/>
              <a:buNone/>
            </a:pP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Complex and difficult to implement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Requires significant application-level support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Examples: Exokernel (developed at MIT), Nemesis OS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25035" t="27583" r="12639" b="13713"/>
          <a:stretch>
            <a:fillRect/>
          </a:stretch>
        </p:blipFill>
        <p:spPr>
          <a:xfrm>
            <a:off x="5591810" y="1631315"/>
            <a:ext cx="5981700" cy="5078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5. 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Layered Structure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085" y="774065"/>
            <a:ext cx="12101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Divided into layers, where each layer performs a set of functions and provides services to the layer above it.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bottom layer is usually hardware, and the highest layer is the user interface.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745" y="3240405"/>
            <a:ext cx="3996690" cy="36175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5085" y="1483995"/>
            <a:ext cx="819213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Easier to debug and maintain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Can develop or change layers independently.</a:t>
            </a: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Layering can add overhead, which might impact performance.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Strict hierarchical structure might make some interactions between layers difficult.</a:t>
            </a: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Examples: UNIX, Linux.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6. 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Modular Structure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35" y="634365"/>
            <a:ext cx="1219136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Improved form of Monolithic kernel that allows for dynamic loading and unloading of kernel modules, enabling customization and flexibility.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Customizable and flexible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Easier to maintain and extend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Can introduce performance overhead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Complex designing </a:t>
            </a:r>
          </a:p>
          <a:p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Examples: Linux, Windows NT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8259" r="10635" b="12900"/>
          <a:stretch>
            <a:fillRect/>
          </a:stretch>
        </p:blipFill>
        <p:spPr>
          <a:xfrm>
            <a:off x="4303395" y="1939290"/>
            <a:ext cx="6566535" cy="3442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7. 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Client-Server Model Structure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727710"/>
            <a:ext cx="870267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In this structure, the OS is split into multiple services that communicate over a network.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A client requests services, and a server responds and often used in distributed systems.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Good for distributed systems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Scalable and flexible.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Disadvantages: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Network latency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security issues </a:t>
            </a:r>
          </a:p>
          <a:p>
            <a:pPr indent="0">
              <a:buFont typeface="Wingdings" panose="05000000000000000000" charset="0"/>
              <a:buNone/>
            </a:pP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Examples: Distributed OS.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670" y="2371090"/>
            <a:ext cx="8194675" cy="2546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655" y="0"/>
            <a:ext cx="8533130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8.Virtual Machine Structure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35" y="751840"/>
            <a:ext cx="121913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In this kind of structure, hardware like CPU, memory, hard disks are abstracted into virtual machines.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dirty="0" err="1">
                <a:latin typeface="Times New Roman Regular" panose="02020603050405020304" charset="0"/>
                <a:cs typeface="Times New Roman Regular" panose="02020603050405020304" charset="0"/>
              </a:rPr>
              <a:t>Muliple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virtual machines can be created on a single physical machine.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Advantages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High Customizable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Secure </a:t>
            </a:r>
          </a:p>
          <a:p>
            <a:pPr marL="285750" indent="-285750">
              <a:buFont typeface="Wingdings" panose="05000000000000000000" charset="0"/>
              <a:buChar char=""/>
            </a:pP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Disadvantages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Less Performing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Complex designing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1915" y="3730625"/>
            <a:ext cx="18529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Examples: Linux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135" y="1438275"/>
            <a:ext cx="7455535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Functions/Goals of OS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3570" t="12853" r="4496" b="7853"/>
          <a:stretch>
            <a:fillRect/>
          </a:stretch>
        </p:blipFill>
        <p:spPr>
          <a:xfrm>
            <a:off x="1527175" y="641985"/>
            <a:ext cx="9590405" cy="56432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2175" y="0"/>
            <a:ext cx="58362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Types of OS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26060" y="758825"/>
            <a:ext cx="470344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Batch Operating System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Multi-Programming System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Multi-Processing System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Multi-Tasking Operating System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Time-Sharing Operating System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Distributed Operating System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Network Operating System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000">
                <a:latin typeface="Times New Roman Regular" panose="02020603050405020304" charset="0"/>
                <a:cs typeface="Times New Roman Regular" panose="02020603050405020304" charset="0"/>
              </a:rPr>
              <a:t>Real-Time Operating System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r="643"/>
          <a:stretch>
            <a:fillRect/>
          </a:stretch>
        </p:blipFill>
        <p:spPr>
          <a:xfrm>
            <a:off x="4781550" y="1671955"/>
            <a:ext cx="7069455" cy="38766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20535" y="5180330"/>
            <a:ext cx="37293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Batch Operating System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241550" y="5673090"/>
            <a:ext cx="9950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Payroll Systems, Bank Statements, etc.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t="18543"/>
          <a:stretch>
            <a:fillRect/>
          </a:stretch>
        </p:blipFill>
        <p:spPr>
          <a:xfrm>
            <a:off x="3042920" y="1527810"/>
            <a:ext cx="6286500" cy="28397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210945" y="4676140"/>
            <a:ext cx="9950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Windows,Mac OS etc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Multi-Programming OS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2400935" y="260350"/>
            <a:ext cx="848677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Multi-Processing OS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16797"/>
          <a:stretch>
            <a:fillRect/>
          </a:stretch>
        </p:blipFill>
        <p:spPr>
          <a:xfrm>
            <a:off x="2952750" y="2375535"/>
            <a:ext cx="6286500" cy="26390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244600" y="5265420"/>
            <a:ext cx="9950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Windows,Mac OS etc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2400935" y="260350"/>
            <a:ext cx="848677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Multi-Tasking OS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44600" y="5265420"/>
            <a:ext cx="9950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Windows,Mac OS etc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17299"/>
          <a:stretch>
            <a:fillRect/>
          </a:stretch>
        </p:blipFill>
        <p:spPr>
          <a:xfrm>
            <a:off x="3076575" y="1912620"/>
            <a:ext cx="6286500" cy="3032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2400935" y="260350"/>
            <a:ext cx="848677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Time-Sharing OS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44600" y="5265420"/>
            <a:ext cx="9950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IBM VM/CMS,Windows Terminal Services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05" y="836295"/>
            <a:ext cx="8048625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2400935" y="260350"/>
            <a:ext cx="848677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Distributed Operating System 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t="19754"/>
          <a:stretch>
            <a:fillRect/>
          </a:stretch>
        </p:blipFill>
        <p:spPr>
          <a:xfrm>
            <a:off x="1333500" y="1790065"/>
            <a:ext cx="9525000" cy="24841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244600" y="5265420"/>
            <a:ext cx="99504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Windows,Linux etc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852930" y="68580"/>
            <a:ext cx="848677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Network OS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702945"/>
            <a:ext cx="7448550" cy="56864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10540" y="6443980"/>
            <a:ext cx="121913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Examples: Microsoft Windows Server ,UNIX, Linux, Mac OS Xetc.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852930" y="68580"/>
            <a:ext cx="848677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Real-Time Operating System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8955" t="1552" r="12423" b="10355"/>
          <a:stretch>
            <a:fillRect/>
          </a:stretch>
        </p:blipFill>
        <p:spPr>
          <a:xfrm>
            <a:off x="3992245" y="1137920"/>
            <a:ext cx="3584575" cy="38569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35" y="5448300"/>
            <a:ext cx="121913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Scientific experiments, weapon systems, robots, air traffic control systems,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852930" y="68580"/>
            <a:ext cx="8486775" cy="634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  <a:scene3d>
              <a:camera prst="orthographicFront"/>
              <a:lightRig rig="threePt" dir="t"/>
            </a:scene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sym typeface="+mn-ea"/>
              </a:rPr>
              <a:t>Embedded Operating System</a:t>
            </a:r>
            <a:endParaRPr lang="en-US" altLang="en-GB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35" y="5448300"/>
            <a:ext cx="121913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Examples : QNX,FreeRTOS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25725" t="22000" r="23642"/>
          <a:stretch>
            <a:fillRect/>
          </a:stretch>
        </p:blipFill>
        <p:spPr>
          <a:xfrm>
            <a:off x="3555365" y="1014095"/>
            <a:ext cx="4877435" cy="38214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586865" y="0"/>
            <a:ext cx="8596630" cy="52197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Kernel Data Structures, System Interface, System Calls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0" y="676275"/>
            <a:ext cx="1219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/>
              <a:t>Kernel is a computer program that is a core or heart of an operating system.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45" y="1044575"/>
            <a:ext cx="5328920" cy="36804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4759325"/>
            <a:ext cx="9048750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" y="313055"/>
            <a:ext cx="11852910" cy="62325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521970"/>
            <a:ext cx="1219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They store data about the current state of the system.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For example, if a new process is created in the system, a kernel data structure is created that contains the details about the process.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943350" y="0"/>
            <a:ext cx="3738245" cy="52197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Kernel Data Structures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9413" t="9916" r="10553" b="10186"/>
          <a:stretch>
            <a:fillRect/>
          </a:stretch>
        </p:blipFill>
        <p:spPr>
          <a:xfrm>
            <a:off x="3637280" y="1259205"/>
            <a:ext cx="4759325" cy="28727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3996690"/>
            <a:ext cx="105378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Process Table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Stores information about all the processes running in the system.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File Table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file table contains entries about all the files in the system. </a:t>
            </a:r>
          </a:p>
          <a:p>
            <a:pPr indent="0">
              <a:buFont typeface="Wingdings" panose="05000000000000000000" charset="0"/>
              <a:buNone/>
            </a:pPr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V-Node(Virtual Node) and I-Node(Index Node) Tables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Both the v-node and i-node are references to the storage system of the file and the storage mechanisms.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v-node defines the method to access file data.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The i-node specifies file access information like file storage device, read/write procedures etc.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532630" y="0"/>
            <a:ext cx="3105150" cy="5835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System Interface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35" y="866775"/>
            <a:ext cx="1219136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Defines the mechanisms through which applications interact with the kernel. 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It provides a well-defined set of functions and protocols that applications can use to request kernel services.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Key components of the system interface include:</a:t>
            </a:r>
          </a:p>
          <a:p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System Calls: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Functions that applications invoke to request kernel services.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Application Programming Interface (API):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 A set of libraries and functions that provide a higher-level abstraction of system calls.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Device Drivers: 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Provide a standardized interface for applications to interact with hardware devices.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532630" y="0"/>
            <a:ext cx="2248535" cy="58356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System Call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0" y="583565"/>
            <a:ext cx="120567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system call is a mechanism used by programs to request services from the operating system (OS).</a:t>
            </a:r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 system call is a way for programs to interact with the operating system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9571" t="4974" r="8606" b="5916"/>
          <a:stretch>
            <a:fillRect/>
          </a:stretch>
        </p:blipFill>
        <p:spPr>
          <a:xfrm>
            <a:off x="3211830" y="1270000"/>
            <a:ext cx="6210300" cy="41497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653790" y="5461000"/>
            <a:ext cx="57683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b="1">
                <a:latin typeface="Times New Roman Bold" panose="02020603050405020304" charset="0"/>
                <a:cs typeface="Times New Roman Bold" panose="02020603050405020304" charset="0"/>
              </a:rPr>
              <a:t>Fig: Representing the execution of the system call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530" y="707390"/>
            <a:ext cx="9271635" cy="56222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210" y="215265"/>
            <a:ext cx="7888605" cy="66427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635" y="645160"/>
            <a:ext cx="1219136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To create or delete a file.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To send and receive data packets.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To read or write a file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To access hardware devices, including a printer, scanner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To create and manage new processes.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090035" y="0"/>
            <a:ext cx="3903980" cy="64516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3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Need of system call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090035" y="2089785"/>
            <a:ext cx="5199380" cy="64516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3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Advantages of system call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2734945"/>
            <a:ext cx="12191365" cy="4123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Access to Hardware Resources: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Memory Management: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Process Management: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Security: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Standardization: </a:t>
            </a:r>
          </a:p>
          <a:p>
            <a:pPr algn="ctr"/>
            <a:r>
              <a:rPr lang="en-US" sz="2800">
                <a:latin typeface="Times New Roman Regular" panose="02020603050405020304" charset="0"/>
                <a:cs typeface="Times New Roman Regular" panose="02020603050405020304" charset="0"/>
              </a:rPr>
              <a:t>                      </a:t>
            </a:r>
          </a:p>
          <a:p>
            <a:pPr algn="ctr"/>
            <a:r>
              <a:rPr 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                </a:t>
            </a:r>
            <a:r>
              <a:rPr lang="en-US" sz="3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 Bold" panose="02020603050405020304" charset="0"/>
                <a:cs typeface="Times New Roman Bold" panose="02020603050405020304" charset="0"/>
              </a:rPr>
              <a:t>Disadvantages of System Call</a:t>
            </a:r>
          </a:p>
          <a:p>
            <a:endParaRPr lang="en-US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Performance Overhead: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Security Risks: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Error Handling Complexity: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Compatibility Challenges: 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>
                <a:latin typeface="Times New Roman Regular" panose="02020603050405020304" charset="0"/>
                <a:cs typeface="Times New Roman Regular" panose="02020603050405020304" charset="0"/>
              </a:rPr>
              <a:t>Resource Consumption: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End of Unit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1270</Words>
  <Application>Microsoft Macintosh PowerPoint</Application>
  <PresentationFormat>Widescreen</PresentationFormat>
  <Paragraphs>251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Times New Roman Bold</vt:lpstr>
      <vt:lpstr>Times New Roman Italic</vt:lpstr>
      <vt:lpstr>Times New Roman Regular</vt:lpstr>
      <vt:lpstr>Wingdings</vt:lpstr>
      <vt:lpstr>Office Theme</vt:lpstr>
      <vt:lpstr>Unit 1 Basics of Operating System</vt:lpstr>
      <vt:lpstr>OUTLINES</vt:lpstr>
      <vt:lpstr>Introduction to OS</vt:lpstr>
      <vt:lpstr>Examples of OS</vt:lpstr>
      <vt:lpstr>History of OS</vt:lpstr>
      <vt:lpstr>Operating-System Structures/Architecture</vt:lpstr>
      <vt:lpstr>1. Simple/Monolithic Kernel</vt:lpstr>
      <vt:lpstr>2. Micro-Kernel Structure</vt:lpstr>
      <vt:lpstr>3. Hybrid Kernel Structure</vt:lpstr>
      <vt:lpstr>4. Exo-Kernel Structure</vt:lpstr>
      <vt:lpstr>5. Layered Structure</vt:lpstr>
      <vt:lpstr>6. Modular Structure</vt:lpstr>
      <vt:lpstr>7. Client-Server Model Structure</vt:lpstr>
      <vt:lpstr>8.Virtual Machine Structure</vt:lpstr>
      <vt:lpstr>Functions/Goals of OS</vt:lpstr>
      <vt:lpstr>Types of OS</vt:lpstr>
      <vt:lpstr>Multi-Programming 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kushal pokharel</cp:lastModifiedBy>
  <cp:revision>270</cp:revision>
  <dcterms:created xsi:type="dcterms:W3CDTF">2024-09-19T16:48:33Z</dcterms:created>
  <dcterms:modified xsi:type="dcterms:W3CDTF">2024-10-04T15:46:33Z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