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5" r:id="rId2"/>
    <p:sldId id="328" r:id="rId3"/>
    <p:sldId id="329" r:id="rId4"/>
    <p:sldId id="318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30" r:id="rId13"/>
    <p:sldId id="331" r:id="rId14"/>
    <p:sldId id="332" r:id="rId15"/>
    <p:sldId id="333" r:id="rId16"/>
    <p:sldId id="314" r:id="rId1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20" autoAdjust="0"/>
    <p:restoredTop sz="93969" autoAdjust="0"/>
  </p:normalViewPr>
  <p:slideViewPr>
    <p:cSldViewPr snapToGrid="0">
      <p:cViewPr varScale="1">
        <p:scale>
          <a:sx n="60" d="100"/>
          <a:sy n="6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33EC-B991-A23A-F21B-2ABAA0D5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C22E-913B-8A8E-41A8-14FD28C6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41434"/>
            <a:ext cx="5836285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Linux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5D2E7-55A3-5454-59B7-92EC4E979F69}"/>
              </a:ext>
            </a:extLst>
          </p:cNvPr>
          <p:cNvSpPr txBox="1"/>
          <p:nvPr/>
        </p:nvSpPr>
        <p:spPr>
          <a:xfrm>
            <a:off x="0" y="72696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is a free and open-source family of operating systems that is resilient and flexible.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1991, an individual by the name as Linus Torvalds constructed 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E500A051-FB51-385D-077F-60A7FB3ED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785" y="1478493"/>
            <a:ext cx="5404945" cy="529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99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FE31-ECB7-4866-2A4B-1AC5521D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EB49-1C3F-F060-165B-312E171E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41434"/>
            <a:ext cx="5836285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Linux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2F1D42-EFBD-4937-6BBF-42245E13A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28518"/>
              </p:ext>
            </p:extLst>
          </p:nvPr>
        </p:nvGraphicFramePr>
        <p:xfrm>
          <a:off x="87086" y="947941"/>
          <a:ext cx="12104914" cy="4396944"/>
        </p:xfrm>
        <a:graphic>
          <a:graphicData uri="http://schemas.openxmlformats.org/drawingml/2006/table">
            <a:tbl>
              <a:tblPr/>
              <a:tblGrid>
                <a:gridCol w="6052457">
                  <a:extLst>
                    <a:ext uri="{9D8B030D-6E8A-4147-A177-3AD203B41FA5}">
                      <a16:colId xmlns:a16="http://schemas.microsoft.com/office/drawing/2014/main" val="1346415433"/>
                    </a:ext>
                  </a:extLst>
                </a:gridCol>
                <a:gridCol w="6052457">
                  <a:extLst>
                    <a:ext uri="{9D8B030D-6E8A-4147-A177-3AD203B41FA5}">
                      <a16:colId xmlns:a16="http://schemas.microsoft.com/office/drawing/2014/main" val="3280555023"/>
                    </a:ext>
                  </a:extLst>
                </a:gridCol>
              </a:tblGrid>
              <a:tr h="576058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 Year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Version/Name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781255"/>
                  </a:ext>
                </a:extLst>
              </a:tr>
              <a:tr h="47010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1991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 Kernel 0.01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86121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2000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 Kernel 2.4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377467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2003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Fedora Core 1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418347"/>
                  </a:ext>
                </a:extLst>
              </a:tr>
              <a:tr h="31568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2004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Ubuntu 4.10 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5907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2006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Linux Kernel 2.6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804584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2017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Ubuntu 17.10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680584"/>
                  </a:ext>
                </a:extLst>
              </a:tr>
              <a:tr h="48783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2019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Linux Kernel 5.0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688232"/>
                  </a:ext>
                </a:extLst>
              </a:tr>
              <a:tr h="34834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2020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 on WSL 2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642889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2023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 Kernel 6.0</a:t>
                      </a:r>
                    </a:p>
                  </a:txBody>
                  <a:tcPr marL="21226" marR="21226" marT="10613" marB="106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131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130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F0ADF-74D7-2176-AFC8-A8A7BB150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826C-8C19-3A57-893F-224AE6A6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41434"/>
            <a:ext cx="5836285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Linux </a:t>
            </a:r>
          </a:p>
        </p:txBody>
      </p:sp>
      <p:pic>
        <p:nvPicPr>
          <p:cNvPr id="5122" name="Picture 2" descr="Architecture of Linux">
            <a:extLst>
              <a:ext uri="{FF2B5EF4-FFF2-40B4-BE49-F238E27FC236}">
                <a16:creationId xmlns:a16="http://schemas.microsoft.com/office/drawing/2014/main" id="{8A0D783F-1E60-BC3F-DE5D-FFCC3B21A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0" y="758715"/>
            <a:ext cx="6946900" cy="567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49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09E70-E804-2463-228B-9B7AD78F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AFAD-5974-8200-2C4F-9DD0FD5F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41434"/>
            <a:ext cx="5836285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Linux </a:t>
            </a:r>
          </a:p>
        </p:txBody>
      </p:sp>
      <p:pic>
        <p:nvPicPr>
          <p:cNvPr id="7170" name="Picture 2" descr="Architecture of Linux">
            <a:extLst>
              <a:ext uri="{FF2B5EF4-FFF2-40B4-BE49-F238E27FC236}">
                <a16:creationId xmlns:a16="http://schemas.microsoft.com/office/drawing/2014/main" id="{8055B676-52A6-D98E-7372-28B673D02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0" y="1352550"/>
            <a:ext cx="7137400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40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2F6A7-37C0-98E5-528A-E1E8FBC1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CA4A1-7C38-ACDC-62A3-59BE67A4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6748911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Design Principles of Linux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403D0-7343-C736-B8BF-A628576C3401}"/>
              </a:ext>
            </a:extLst>
          </p:cNvPr>
          <p:cNvSpPr txBox="1"/>
          <p:nvPr/>
        </p:nvSpPr>
        <p:spPr>
          <a:xfrm>
            <a:off x="0" y="675799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Modularity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Everything is a File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Small, Single-Purpose Programs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Text as a Universal Interface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Open Source Philosophy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Interoperability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Security and Stability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Community-Driven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325424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3815D-79ED-723D-EEBF-6F8CFA96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FAD6-080D-F36E-2C9F-0C3C4B29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6748911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IPC in Linux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23D1F-55BF-1449-A568-2DD0B625DAAD}"/>
              </a:ext>
            </a:extLst>
          </p:cNvPr>
          <p:cNvSpPr txBox="1"/>
          <p:nvPr/>
        </p:nvSpPr>
        <p:spPr>
          <a:xfrm>
            <a:off x="-20386" y="567559"/>
            <a:ext cx="122123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Pipes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Message Queues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Shared Memory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Semaphores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Signals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Sockets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File-Based IPC</a:t>
            </a:r>
          </a:p>
        </p:txBody>
      </p:sp>
    </p:spTree>
    <p:extLst>
      <p:ext uri="{BB962C8B-B14F-4D97-AF65-F5344CB8AC3E}">
        <p14:creationId xmlns:p14="http://schemas.microsoft.com/office/powerpoint/2010/main" val="1231676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3265-92A5-9726-8E39-8B1EF314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70755-E761-DF01-4BD7-E0C152DDE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6748911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Kernel Modules in Linux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2662D-1A73-1747-55EA-EA1E2313CD7E}"/>
              </a:ext>
            </a:extLst>
          </p:cNvPr>
          <p:cNvSpPr txBox="1"/>
          <p:nvPr/>
        </p:nvSpPr>
        <p:spPr>
          <a:xfrm>
            <a:off x="0" y="675799"/>
            <a:ext cx="11067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Related articles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Modules are pieces of code that can be loaded and unloaded into the kernel upon demand.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FAB19-7CAE-14F5-F145-B484E0712071}"/>
              </a:ext>
            </a:extLst>
          </p:cNvPr>
          <p:cNvSpPr txBox="1"/>
          <p:nvPr/>
        </p:nvSpPr>
        <p:spPr>
          <a:xfrm>
            <a:off x="0" y="1429407"/>
            <a:ext cx="1219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of Kernel Modules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Loading and Unloading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Modules can be added or removed without restarting the system.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Keeps the kernel lightweight by including only the necessary components.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Modules can be reused across different systems and configurations.</a:t>
            </a:r>
          </a:p>
          <a:p>
            <a:pPr algn="ctr"/>
            <a:r>
              <a:rPr lang="en-GB" sz="28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Use Cases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Systems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Protocols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Extensions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Lifecycle of a Kernel Module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Unloading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7742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E7CAB-F025-D61B-F6B0-6A542A0E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F15A-801F-30D7-6A42-14270469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6748911" cy="634365"/>
          </a:xfrm>
        </p:spPr>
        <p:txBody>
          <a:bodyPr>
            <a:normAutofit fontScale="90000"/>
          </a:bodyPr>
          <a:lstStyle/>
          <a:p>
            <a:pPr marL="342900" indent="-342900"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Network structure </a:t>
            </a:r>
            <a:r>
              <a:rPr lang="en-US" b="1" dirty="0">
                <a:solidFill>
                  <a:srgbClr val="00B0F0"/>
                </a:solidFill>
                <a:latin typeface="Times New Roman Bold" panose="02020603050405020304" charset="0"/>
                <a:cs typeface="Times New Roman Bold" panose="02020603050405020304" charset="0"/>
              </a:rPr>
              <a:t>in Linux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653A1-76DC-3670-C3CA-0E38536A5938}"/>
              </a:ext>
            </a:extLst>
          </p:cNvPr>
          <p:cNvSpPr txBox="1"/>
          <p:nvPr/>
        </p:nvSpPr>
        <p:spPr>
          <a:xfrm>
            <a:off x="0" y="851338"/>
            <a:ext cx="1175056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Linux Network Structure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Stack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Linux kernel implements a modular network stack with layers following the OSI or TCP/IP model.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Interfaces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or virtual interfaces connect the system to a network.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Routing Table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Linux maintains a routing table to determine how packets are forwarded.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Firewall and Packet Filtering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Namespaces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isolated network environments for containers or virtualized applications.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Networking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Sockets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Sockets provide APIs for inter-process and network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61776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2114-3E63-C461-F396-B4805167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845C-452A-F66D-36A2-D90377C6C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6748911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Security in Linux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43194-A917-0D85-603E-36DC6DC18202}"/>
              </a:ext>
            </a:extLst>
          </p:cNvPr>
          <p:cNvSpPr txBox="1"/>
          <p:nvPr/>
        </p:nvSpPr>
        <p:spPr>
          <a:xfrm>
            <a:off x="-20386" y="675798"/>
            <a:ext cx="122123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User and Permissions Management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Authentication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Access Control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System Updates and Patching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Network Security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Malware and Exploit Protection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Log Management and Monitoring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Encryption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 Backup and Recovery</a:t>
            </a:r>
          </a:p>
        </p:txBody>
      </p:sp>
    </p:spTree>
    <p:extLst>
      <p:ext uri="{BB962C8B-B14F-4D97-AF65-F5344CB8AC3E}">
        <p14:creationId xmlns:p14="http://schemas.microsoft.com/office/powerpoint/2010/main" val="3240340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C73A-E371-6073-E3A6-B561DED9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65B4D-C9EA-F66C-4DA5-9C99768A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6748911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Windows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960EE-56D1-585B-B705-5B17DD68D709}"/>
              </a:ext>
            </a:extLst>
          </p:cNvPr>
          <p:cNvSpPr txBox="1"/>
          <p:nvPr/>
        </p:nvSpPr>
        <p:spPr>
          <a:xfrm>
            <a:off x="0" y="1339828"/>
            <a:ext cx="34507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User Interface (UI)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File Management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Security Features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Compatibility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Productivity Features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Networking and Internet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Gaming Features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Multimedia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Customization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Advanced Features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11. Connectivity and Cloud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4DAC52-6B76-F26E-A1EB-107FB85E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771" y="1111228"/>
            <a:ext cx="7620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03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C61EC-77D8-0C87-7C43-A9163AB9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C562-9CEA-D4E6-8203-44054B645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6748911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Windows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FDA0BA-F6B8-9C48-A1A3-1D28F4633CC9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687569"/>
          <a:ext cx="11364686" cy="5435085"/>
        </p:xfrm>
        <a:graphic>
          <a:graphicData uri="http://schemas.openxmlformats.org/drawingml/2006/table">
            <a:tbl>
              <a:tblPr/>
              <a:tblGrid>
                <a:gridCol w="3286174">
                  <a:extLst>
                    <a:ext uri="{9D8B030D-6E8A-4147-A177-3AD203B41FA5}">
                      <a16:colId xmlns:a16="http://schemas.microsoft.com/office/drawing/2014/main" val="828512178"/>
                    </a:ext>
                  </a:extLst>
                </a:gridCol>
                <a:gridCol w="8078512">
                  <a:extLst>
                    <a:ext uri="{9D8B030D-6E8A-4147-A177-3AD203B41FA5}">
                      <a16:colId xmlns:a16="http://schemas.microsoft.com/office/drawing/2014/main" val="3060958431"/>
                    </a:ext>
                  </a:extLst>
                </a:gridCol>
              </a:tblGrid>
              <a:tr h="285715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Release Year</a:t>
                      </a:r>
                      <a:endParaRPr 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126831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1985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1.0</a:t>
                      </a:r>
                      <a:endParaRPr 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889198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1995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95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496008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1998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98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048768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2000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538768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ME (Millennium Edition)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572121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2001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XP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756679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Vista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19232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7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089925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8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295982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2013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8.1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234611"/>
                  </a:ext>
                </a:extLst>
              </a:tr>
              <a:tr h="417121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957370"/>
                  </a:ext>
                </a:extLst>
              </a:tr>
              <a:tr h="548526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11</a:t>
                      </a:r>
                      <a:endParaRPr lang="en-GB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908" marR="23908" marT="11954" marB="119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408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17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00BF-12EE-014A-3BCD-CDAB69E9A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FFB5-972B-9059-9BB1-27E236A8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159" y="41434"/>
            <a:ext cx="795595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Design Principle of Windows 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4F4F6-860E-75B3-23F8-3118177FD317}"/>
              </a:ext>
            </a:extLst>
          </p:cNvPr>
          <p:cNvSpPr txBox="1"/>
          <p:nvPr/>
        </p:nvSpPr>
        <p:spPr>
          <a:xfrm>
            <a:off x="0" y="1230971"/>
            <a:ext cx="69437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Modularity and Extensibility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Compatibility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User-Centric Design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Performance and Efficiency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Security and Reliability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Interoperability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Usability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Scalability and Multiuser Support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Networking and Connectivity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Innovation and Adaptability</a:t>
            </a:r>
          </a:p>
        </p:txBody>
      </p:sp>
    </p:spTree>
    <p:extLst>
      <p:ext uri="{BB962C8B-B14F-4D97-AF65-F5344CB8AC3E}">
        <p14:creationId xmlns:p14="http://schemas.microsoft.com/office/powerpoint/2010/main" val="2362684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76015-879F-EDA0-2614-1DB55C7E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592A-4BAE-F274-0398-2362A78D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5" y="41434"/>
            <a:ext cx="9220200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Programming Interface of Windows OS</a:t>
            </a:r>
          </a:p>
        </p:txBody>
      </p:sp>
      <p:pic>
        <p:nvPicPr>
          <p:cNvPr id="6146" name="Picture 2" descr="User Interface and Application Programming Interface The Microsoft UI... |  Download Scientific Diagram">
            <a:extLst>
              <a:ext uri="{FF2B5EF4-FFF2-40B4-BE49-F238E27FC236}">
                <a16:creationId xmlns:a16="http://schemas.microsoft.com/office/drawing/2014/main" id="{7E20C997-3CAB-CB1E-84F9-EFE3879F0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031421"/>
            <a:ext cx="107950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53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239A-B7E7-BC53-716D-CD09830D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A66E-6B37-F1AA-E30B-18E92D52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5" y="41434"/>
            <a:ext cx="9220200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System components of Windows 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54965-33C4-C132-A531-88E4882DF954}"/>
              </a:ext>
            </a:extLst>
          </p:cNvPr>
          <p:cNvSpPr txBox="1"/>
          <p:nvPr/>
        </p:nvSpPr>
        <p:spPr>
          <a:xfrm>
            <a:off x="0" y="103864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Kernel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Hardware Abstraction Layer (HAL)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System Processes</a:t>
            </a:r>
          </a:p>
        </p:txBody>
      </p:sp>
    </p:spTree>
    <p:extLst>
      <p:ext uri="{BB962C8B-B14F-4D97-AF65-F5344CB8AC3E}">
        <p14:creationId xmlns:p14="http://schemas.microsoft.com/office/powerpoint/2010/main" val="92901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F7F0-1FAE-513E-D088-BD4C845F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2202-7FA4-A6A8-E61B-E4D5BAF7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5" y="41434"/>
            <a:ext cx="9220200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</a:rPr>
              <a:t>Security Levels in Windows 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5E7BA-E367-5575-0288-42B552DDED1A}"/>
              </a:ext>
            </a:extLst>
          </p:cNvPr>
          <p:cNvSpPr txBox="1"/>
          <p:nvPr/>
        </p:nvSpPr>
        <p:spPr>
          <a:xfrm>
            <a:off x="0" y="892629"/>
            <a:ext cx="79356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Access Control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Data Protection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Malware Protection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Network Security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Threat Detection and Response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Application Security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Enterprise Security</a:t>
            </a:r>
          </a:p>
          <a:p>
            <a:pPr algn="l"/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Cloud Integration and Backup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Security Levels by Edition</a:t>
            </a:r>
          </a:p>
        </p:txBody>
      </p:sp>
    </p:spTree>
    <p:extLst>
      <p:ext uri="{BB962C8B-B14F-4D97-AF65-F5344CB8AC3E}">
        <p14:creationId xmlns:p14="http://schemas.microsoft.com/office/powerpoint/2010/main" val="288736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588</Words>
  <Application>Microsoft Office PowerPoint</Application>
  <PresentationFormat>Widescreen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Times New Roman Bold</vt:lpstr>
      <vt:lpstr>Wingdings</vt:lpstr>
      <vt:lpstr>Office Theme</vt:lpstr>
      <vt:lpstr>Linux </vt:lpstr>
      <vt:lpstr>Linux </vt:lpstr>
      <vt:lpstr>Linux </vt:lpstr>
      <vt:lpstr>Linux </vt:lpstr>
      <vt:lpstr>Design Principles of Linux </vt:lpstr>
      <vt:lpstr>IPC in Linux </vt:lpstr>
      <vt:lpstr>Kernel Modules in Linux </vt:lpstr>
      <vt:lpstr>Network structure in Linux </vt:lpstr>
      <vt:lpstr>Security in Linux</vt:lpstr>
      <vt:lpstr>Windows</vt:lpstr>
      <vt:lpstr>Windows</vt:lpstr>
      <vt:lpstr>Design Principle of Windows OS</vt:lpstr>
      <vt:lpstr>Programming Interface of Windows OS</vt:lpstr>
      <vt:lpstr>System components of Windows OS</vt:lpstr>
      <vt:lpstr>Security Levels in Windows 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Kapil Dev Pant</cp:lastModifiedBy>
  <cp:revision>200</cp:revision>
  <dcterms:created xsi:type="dcterms:W3CDTF">2024-09-18T03:14:27Z</dcterms:created>
  <dcterms:modified xsi:type="dcterms:W3CDTF">2025-09-16T02:03:10Z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