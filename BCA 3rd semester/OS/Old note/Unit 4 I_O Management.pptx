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9144000" cy="6858000"/>
  <p:embeddedFontLst>
    <p:embeddedFont>
      <p:font typeface="Noto Sans Symbols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iye02jhAajdSm3sfgVtFR0fEFR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E59854-14C0-4F05-BEA3-52283548B59F}">
  <a:tblStyle styleId="{D6E59854-14C0-4F05-BEA3-52283548B5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NotoSansSymbols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NotoSansSymbol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Relationship Id="rId4" Type="http://schemas.openxmlformats.org/officeDocument/2006/relationships/image" Target="../media/image42.jpg"/><Relationship Id="rId5" Type="http://schemas.openxmlformats.org/officeDocument/2006/relationships/image" Target="../media/image2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jpg"/><Relationship Id="rId4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25095" y="1087755"/>
            <a:ext cx="12066905" cy="699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"/>
              <a:buNone/>
            </a:pPr>
            <a:r>
              <a:rPr b="1" lang="en-GB" sz="4800">
                <a:latin typeface="Times"/>
                <a:ea typeface="Times"/>
                <a:cs typeface="Times"/>
                <a:sym typeface="Times"/>
              </a:rPr>
              <a:t>Unit 4:</a:t>
            </a:r>
            <a:br>
              <a:rPr b="1" lang="en-GB" sz="4800">
                <a:latin typeface="Times"/>
                <a:ea typeface="Times"/>
                <a:cs typeface="Times"/>
                <a:sym typeface="Times"/>
              </a:rPr>
            </a:br>
            <a:r>
              <a:rPr b="1" lang="en-GB" sz="4800">
                <a:latin typeface="Times"/>
                <a:ea typeface="Times"/>
                <a:cs typeface="Times"/>
                <a:sym typeface="Times"/>
              </a:rPr>
              <a:t>Input/output Management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46542" y="3315970"/>
            <a:ext cx="9224010" cy="260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GB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lang="en-GB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Er.Harendra Bikram Shah </a:t>
            </a:r>
            <a:br>
              <a:rPr b="1"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          (Lecturer)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GB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 </a:t>
            </a:r>
            <a:r>
              <a:rPr b="1" lang="en-GB">
                <a:solidFill>
                  <a:srgbClr val="7B3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BCA 			          </a:t>
            </a:r>
            <a:r>
              <a:rPr b="1" lang="en-GB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      NAST</a:t>
            </a:r>
            <a:r>
              <a:rPr b="1" lang="en-GB">
                <a:solidFill>
                  <a:srgbClr val="7B3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rgbClr val="7B32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solidFill>
                <a:srgbClr val="7B32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415145" y="2159000"/>
            <a:ext cx="17731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Time:</a:t>
            </a:r>
            <a:r>
              <a:rPr b="1" i="0" lang="en-GB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7hrs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-635" y="0"/>
            <a:ext cx="12192635" cy="634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OUTLINES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4.1 Principles of I/O Hardware- </a:t>
            </a:r>
            <a:endParaRPr b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Device,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Controller,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Mapped I/O,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4.2 Principles of I/O Software</a:t>
            </a: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of I/O Software,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Polled I/O verses Interrupt Driven I/O,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User Interface and Graphical User Interface,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Driver,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Independent I/O Software, 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User-space I/O Software</a:t>
            </a: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GB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4.3 Mass Storage Structure</a:t>
            </a: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Mass Storage Structure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Disk Structure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Attachment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Management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 space Management Redundant Array of Inexpensive Disks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 Disks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Optical Disk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3122468" y="0"/>
            <a:ext cx="6099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2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0" y="783472"/>
            <a:ext cx="1219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Input/Output Management 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refers to the process of handling data inputs and outputs in a computer system.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management is essential to ensure efficient communication between the system’s core components (such as CPU and memory) and external devices (like keyboards, storage devices, printers, and networks). 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2468" y="1706802"/>
            <a:ext cx="6281902" cy="4484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3122468" y="0"/>
            <a:ext cx="6099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-5195" y="508001"/>
            <a:ext cx="121954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signal emitted by hardware or software when a process or an event needs immediate attention.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alerts the processor to a high-priority process requiring interruption of the current working process.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control line  is called the </a:t>
            </a:r>
            <a:r>
              <a:rPr b="1" i="1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 Service Routine</a:t>
            </a: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(ISR).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ightbox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431332"/>
            <a:ext cx="8069317" cy="5426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3122468" y="0"/>
            <a:ext cx="6099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</a:t>
            </a:r>
            <a:endParaRPr/>
          </a:p>
        </p:txBody>
      </p:sp>
      <p:pic>
        <p:nvPicPr>
          <p:cNvPr descr="What is Interrupt in OS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2800" y="1440296"/>
            <a:ext cx="8026400" cy="364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3122468" y="0"/>
            <a:ext cx="60994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 HANDLING</a:t>
            </a:r>
            <a:endParaRPr/>
          </a:p>
        </p:txBody>
      </p:sp>
      <p:pic>
        <p:nvPicPr>
          <p:cNvPr descr="overview of interrupt handling" id="117" name="Google Shape;117;p6"/>
          <p:cNvPicPr preferRelativeResize="0"/>
          <p:nvPr/>
        </p:nvPicPr>
        <p:blipFill rotWithShape="1">
          <a:blip r:embed="rId3">
            <a:alphaModFix/>
          </a:blip>
          <a:srcRect b="20447" l="0" r="0" t="0"/>
          <a:stretch/>
        </p:blipFill>
        <p:spPr>
          <a:xfrm>
            <a:off x="422563" y="646331"/>
            <a:ext cx="10972800" cy="4894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1221589" y="-11331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I/O Hardware</a:t>
            </a:r>
            <a:endParaRPr/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635000"/>
            <a:ext cx="8382000" cy="55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1221589" y="-11331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I/O Device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0" y="635000"/>
            <a:ext cx="120287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are the devices that communicate with a computer system by sending signals over a cable.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devices use a common set of wires, called bus, for communication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0" y="1596241"/>
            <a:ext cx="12192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devices can be of two types: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Device: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device which stores information in fixed size blocks, each one with its own address is termed as block device.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Disks are the most common block devices.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 Device: 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character device delivers or accepts a stream of characters, without regard to any block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printer, mouse, etc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 Operating Systems Input/Output Management. 2 What is the I/O System A  collection of devices that different sub- systems of a computer use to  communicate. - ppt download" id="131" name="Google Shape;131;p8"/>
          <p:cNvPicPr preferRelativeResize="0"/>
          <p:nvPr/>
        </p:nvPicPr>
        <p:blipFill rotWithShape="1">
          <a:blip r:embed="rId3">
            <a:alphaModFix/>
          </a:blip>
          <a:srcRect b="14537" l="4256" r="9674" t="12253"/>
          <a:stretch/>
        </p:blipFill>
        <p:spPr>
          <a:xfrm>
            <a:off x="3929743" y="3187281"/>
            <a:ext cx="5145940" cy="3507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1221589" y="-11331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Device Controller</a:t>
            </a:r>
            <a:endParaRPr b="1" i="0" sz="3600" u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0" y="744141"/>
            <a:ext cx="12192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drivers are software modules that can be plugged into an OS to handle a particular device.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Device Controller works like an interface between a device and a device driver.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units (Keyboard, mouse, printer, etc.) typically consist of a mechanical component and an electronic component where electronic component is called the device controller.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always a device controller and a device driver for each device to communicate with the Operating Systems.</a:t>
            </a:r>
            <a:endParaRPr/>
          </a:p>
        </p:txBody>
      </p:sp>
      <p:pic>
        <p:nvPicPr>
          <p:cNvPr descr="Device Controllers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947307"/>
            <a:ext cx="762000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/>
        </p:nvSpPr>
        <p:spPr>
          <a:xfrm>
            <a:off x="1221589" y="-11331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Device Controller</a:t>
            </a:r>
            <a:endParaRPr b="1" i="0" sz="3600" u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154789" y="1417882"/>
            <a:ext cx="790064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of device controllers: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Stops and starts the activity of the peripheral device.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error checking code.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 the error in the data received from the interface.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Abort that command which have errors.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Retry the command having an error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Receives the control signals from the interface unit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format of the data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the status of the device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/>
        </p:nvSpPr>
        <p:spPr>
          <a:xfrm>
            <a:off x="869050" y="0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to I/O Devices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-1" y="646331"/>
            <a:ext cx="1166686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Instruction I/O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Memory-mapped I/O</a:t>
            </a:r>
            <a:endParaRPr/>
          </a:p>
          <a:p>
            <a:pPr indent="-1524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 (DMA)</a:t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0" y="2828835"/>
            <a:ext cx="1196431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 Instruction I/O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uses CPU instructions that are specifically made for controlling I/O devices.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instructions typically allow data to be sent to an I/O device or read from an I/O device.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869050" y="0"/>
            <a:ext cx="1005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Mapped I/O</a:t>
            </a:r>
            <a:endParaRPr/>
          </a:p>
        </p:txBody>
      </p:sp>
      <p:pic>
        <p:nvPicPr>
          <p:cNvPr descr="Memory-mapped I/O"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7306" y="3098800"/>
            <a:ext cx="4991100" cy="37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-1836" y="759630"/>
            <a:ext cx="121938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used in computer systems to communicate with I/O devices by mapping their control and data registers into the system's main memory address space.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allows the CPU to interact with these devices using standard memory instructions.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0" y="1796259"/>
            <a:ext cx="1219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Memory-Mapped I/O: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Devices have control registers and data registers 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registers are assigned specific memory addresses.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CPU reads from or writes to these addresses to perform I/O operations.</a:t>
            </a:r>
            <a:endParaRPr/>
          </a:p>
        </p:txBody>
      </p:sp>
      <p:sp>
        <p:nvSpPr>
          <p:cNvPr id="160" name="Google Shape;160;p12"/>
          <p:cNvSpPr txBox="1"/>
          <p:nvPr/>
        </p:nvSpPr>
        <p:spPr>
          <a:xfrm>
            <a:off x="-30296" y="3518567"/>
            <a:ext cx="61253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computer systems (like x86 and ARM architectures)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MMIO is common in embedded systems.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880067" y="132202"/>
            <a:ext cx="100584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 (DMA)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-1836" y="541930"/>
            <a:ext cx="121938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feature used in computer systems to allow I/O devices to transfer data directly to or from the main memory without continuous CPU involvement.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module itself controls exchange of data between main memory and the I/O device.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is only involved at the beginning and end of the transfer and interrupted only after entire block has been transferred.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MA"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9332" y="1982871"/>
            <a:ext cx="5651500" cy="4588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/>
        </p:nvSpPr>
        <p:spPr>
          <a:xfrm>
            <a:off x="880067" y="132202"/>
            <a:ext cx="100584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 (DMA)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0" y="690509"/>
            <a:ext cx="11611778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Direct Memory Access (DMA)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Single-Ended DMA: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and writing from a single memory address. </a:t>
            </a:r>
            <a:endParaRPr/>
          </a:p>
          <a:p>
            <a:pPr indent="-114300" lvl="0" marL="0" marR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Dual-Ended DMA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read and write from two memory addresses.</a:t>
            </a:r>
            <a:endParaRPr/>
          </a:p>
          <a:p>
            <a:pPr indent="-114300" lvl="0" marL="0" marR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Arbitrated-Ended DMA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reading and writing to several memory addresses.</a:t>
            </a:r>
            <a:endParaRPr/>
          </a:p>
          <a:p>
            <a:pPr indent="-114300" lvl="0" marL="0" marR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Interleaved DMA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read from one memory address and write from another memory address.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0" y="3008914"/>
            <a:ext cx="1219200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Modes of Data Transfer in DMA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Burst Mode: 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buses are handed over to the CPU by the DMA if the whole data is completely transferred.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 Stealing Mode: 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buses are handed over to the CPU by the DMA after the transfer of each byte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Mode: 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require any bus in the transfer of the data as it works when the CPU is executing the transaction.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/>
        </p:nvSpPr>
        <p:spPr>
          <a:xfrm>
            <a:off x="880067" y="132202"/>
            <a:ext cx="100584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 (DMA) Controller</a:t>
            </a:r>
            <a:endParaRPr/>
          </a:p>
        </p:txBody>
      </p:sp>
      <p:pic>
        <p:nvPicPr>
          <p:cNvPr descr="Lightbox" id="180" name="Google Shape;1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607" y="996602"/>
            <a:ext cx="8382000" cy="53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Direct Memory Access (DMA) Controller</a:t>
            </a:r>
            <a:endParaRPr/>
          </a:p>
        </p:txBody>
      </p:sp>
      <p:pic>
        <p:nvPicPr>
          <p:cNvPr descr="Working Diagram of DMA Controller" id="186" name="Google Shape;1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920750"/>
            <a:ext cx="8382000" cy="5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OF Direct Memory Access (DMA) Controller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01599" y="909767"/>
            <a:ext cx="11695289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DMA Controller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Memory Access speeds up memory operations and data transfer.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is not involved while transferring data.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requires very few clock cycles while transferring data.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distributes workload very appropriately.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helps the CPU in decreasing its load.</a:t>
            </a:r>
            <a:endParaRPr/>
          </a:p>
          <a:p>
            <a:pPr indent="0" lvl="0" marL="0" marR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DMA Controller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Memory Access is a costly operation because of additional operations.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Controller increases the overall cost of the system.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 Controller increases the complexity of the software.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 OF I/O Software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-1" y="776772"/>
            <a:ext cx="12101689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Goals of I/O Software 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Independence: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Naming: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Buffering: </a:t>
            </a:r>
            <a:endParaRPr sz="20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Device Independent Block Size: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-3464" y="0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Polling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-3463" y="541930"/>
            <a:ext cx="12191999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where a device continuously checks the status of another device to determine if it needs attention. 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: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Simplicity: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Compatibility: 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Predictability: </a:t>
            </a:r>
            <a:endParaRPr/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Intensive: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Latency: </a:t>
            </a:r>
            <a:endParaRPr/>
          </a:p>
          <a:p>
            <a:pPr indent="-285750" lvl="0" marL="28575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in Real-Time Systems: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/>
        </p:nvSpPr>
        <p:spPr>
          <a:xfrm>
            <a:off x="-3464" y="0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Polling VS Interrupt</a:t>
            </a:r>
            <a:endParaRPr/>
          </a:p>
        </p:txBody>
      </p:sp>
      <p:graphicFrame>
        <p:nvGraphicFramePr>
          <p:cNvPr id="210" name="Google Shape;210;p20"/>
          <p:cNvGraphicFramePr/>
          <p:nvPr/>
        </p:nvGraphicFramePr>
        <p:xfrm>
          <a:off x="-3465" y="646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{D6E59854-14C0-4F05-BEA3-52283548B59F}</a:tableStyleId>
              </a:tblPr>
              <a:tblGrid>
                <a:gridCol w="1499850"/>
                <a:gridCol w="5361625"/>
                <a:gridCol w="5247400"/>
              </a:tblGrid>
              <a:tr h="37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Features</a:t>
                      </a:r>
                      <a:endParaRPr/>
                    </a:p>
                  </a:txBody>
                  <a:tcPr marT="41800" marB="41800" marR="41800" marL="418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Interrupt</a:t>
                      </a:r>
                      <a:endParaRPr/>
                    </a:p>
                  </a:txBody>
                  <a:tcPr marT="41800" marB="41800" marR="41800" marL="418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Polling</a:t>
                      </a:r>
                      <a:endParaRPr/>
                    </a:p>
                  </a:txBody>
                  <a:tcPr marT="41800" marB="41800" marR="41800" marL="418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Definition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interrupt is an occurrence that signals the CPU to do a certain action and is caused by components outside the CPU.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synchronous process in which a client program checks the status of an external device is known as polling.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Basic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device determines the processor that it requires CPU attention.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CPU regularly checks the device status and whether it requires the processor's attention.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Indication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interrupt-request line serves as a signal for interrupts.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Command-ready bit signifies that the device requires to be serviced.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Mechanism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a hardware Mechanism.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is a Protocol.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Efficiency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Interrupts become inefficient when devices constantly interrupt CPU operations.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becomes wasteful when the CPU continues to poll the gadget and rarely finds any gadget ready for servicing.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 cycles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CPU is only interrupted when a device requires servicing, which saves CPU cycles.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CPU must wait to determine whether a device requires servicing, which consumes many CPU cycles.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Occurrence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interrupt happens at any time.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CPU keeps polling the device at regular intervals.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Servicing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device is serviced by the interrupt handler.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CPU services the gadget.</a:t>
                      </a:r>
                      <a:endParaRPr/>
                    </a:p>
                  </a:txBody>
                  <a:tcPr marT="33450" marB="33450" marR="33450" marL="33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Software</a:t>
            </a:r>
            <a:endParaRPr/>
          </a:p>
        </p:txBody>
      </p:sp>
      <p:pic>
        <p:nvPicPr>
          <p:cNvPr descr="I/O Softwares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233" y="629798"/>
            <a:ext cx="73914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Independent I/O</a:t>
            </a:r>
            <a:endParaRPr/>
          </a:p>
        </p:txBody>
      </p:sp>
      <p:pic>
        <p:nvPicPr>
          <p:cNvPr descr="Lightbox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845" y="442252"/>
            <a:ext cx="7368309" cy="613756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4644737" y="6541132"/>
            <a:ext cx="3331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Device I/O Software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Drivers</a:t>
            </a:r>
            <a:endParaRPr/>
          </a:p>
        </p:txBody>
      </p:sp>
      <p:pic>
        <p:nvPicPr>
          <p:cNvPr descr="Working of Device Driver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4820"/>
            <a:ext cx="5388264" cy="522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ion Driver, OS and Devices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4546" y="720399"/>
            <a:ext cx="5807652" cy="5642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PROGRAMMED I/O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-1" y="77446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echnique where the CPU has to do all the work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called programmed I/O.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ogrammed I/O - VCMOS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0550" y="1898650"/>
            <a:ext cx="8470900" cy="30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/>
        </p:nvSpPr>
        <p:spPr>
          <a:xfrm>
            <a:off x="0" y="132202"/>
            <a:ext cx="12192000" cy="4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Interrupt Driven I/O</a:t>
            </a:r>
            <a:endParaRPr/>
          </a:p>
        </p:txBody>
      </p:sp>
      <p:pic>
        <p:nvPicPr>
          <p:cNvPr descr="Interrupt-Driven I/O" id="243" name="Google Shape;243;p25"/>
          <p:cNvPicPr preferRelativeResize="0"/>
          <p:nvPr/>
        </p:nvPicPr>
        <p:blipFill rotWithShape="1">
          <a:blip r:embed="rId3">
            <a:alphaModFix/>
          </a:blip>
          <a:srcRect b="10124" l="32564" r="32302" t="0"/>
          <a:stretch/>
        </p:blipFill>
        <p:spPr>
          <a:xfrm>
            <a:off x="4594577" y="541930"/>
            <a:ext cx="3002845" cy="6163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/>
        </p:nvSpPr>
        <p:spPr>
          <a:xfrm>
            <a:off x="0" y="132202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 Using DMA</a:t>
            </a:r>
            <a:endParaRPr sz="5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466" y="697131"/>
            <a:ext cx="6589183" cy="6028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Redundant array of Independent disk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0" y="901642"/>
            <a:ext cx="1219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 that makes use of a combination of multiple disks for storing the data instead of using a single disk for increased performance, data redundancy, or to protect data in the case of a drive failure.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term was defined by David Patterson, Garth A. Gibson, and Randy Katz at the University of California, Berkeley in 1987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AID: Definition, function, and types - IONOS UK" id="256" name="Google Shape;256;p27"/>
          <p:cNvPicPr preferRelativeResize="0"/>
          <p:nvPr/>
        </p:nvPicPr>
        <p:blipFill rotWithShape="1">
          <a:blip r:embed="rId3">
            <a:alphaModFix/>
          </a:blip>
          <a:srcRect b="9873" l="21835" r="21487" t="26611"/>
          <a:stretch/>
        </p:blipFill>
        <p:spPr>
          <a:xfrm>
            <a:off x="3553427" y="2847372"/>
            <a:ext cx="5997615" cy="378492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190983" y="2363880"/>
            <a:ext cx="2449975" cy="118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Splitting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Copies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8"/>
          <p:cNvPicPr preferRelativeResize="0"/>
          <p:nvPr/>
        </p:nvPicPr>
        <p:blipFill rotWithShape="1">
          <a:blip r:embed="rId3">
            <a:alphaModFix/>
          </a:blip>
          <a:srcRect b="16666" l="25105" r="24941" t="15635"/>
          <a:stretch/>
        </p:blipFill>
        <p:spPr>
          <a:xfrm>
            <a:off x="0" y="1122743"/>
            <a:ext cx="5868366" cy="4178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 rotWithShape="1">
          <a:blip r:embed="rId4">
            <a:alphaModFix/>
          </a:blip>
          <a:srcRect b="16084" l="25401" r="24645" t="17135"/>
          <a:stretch/>
        </p:blipFill>
        <p:spPr>
          <a:xfrm>
            <a:off x="6096000" y="1261640"/>
            <a:ext cx="5868367" cy="4121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 rotWithShape="1">
          <a:blip r:embed="rId3">
            <a:alphaModFix/>
          </a:blip>
          <a:srcRect b="18167" l="7171" r="7304" t="17136"/>
          <a:stretch/>
        </p:blipFill>
        <p:spPr>
          <a:xfrm>
            <a:off x="1072587" y="1273215"/>
            <a:ext cx="10046826" cy="399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190982" y="1060010"/>
            <a:ext cx="6099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striping across disks, with Parity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0"/>
          <p:cNvPicPr preferRelativeResize="0"/>
          <p:nvPr/>
        </p:nvPicPr>
        <p:blipFill rotWithShape="1">
          <a:blip r:embed="rId3">
            <a:alphaModFix/>
          </a:blip>
          <a:srcRect b="17041" l="16927" r="16172" t="17324"/>
          <a:stretch/>
        </p:blipFill>
        <p:spPr>
          <a:xfrm>
            <a:off x="2210764" y="1412111"/>
            <a:ext cx="7859211" cy="40511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/>
        </p:nvSpPr>
        <p:spPr>
          <a:xfrm>
            <a:off x="40511" y="972210"/>
            <a:ext cx="6099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striping and dedicates one drive to storing Parity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1"/>
          <p:cNvPicPr preferRelativeResize="0"/>
          <p:nvPr/>
        </p:nvPicPr>
        <p:blipFill rotWithShape="1">
          <a:blip r:embed="rId3">
            <a:alphaModFix/>
          </a:blip>
          <a:srcRect b="16290" l="15941" r="15778" t="15448"/>
          <a:stretch/>
        </p:blipFill>
        <p:spPr>
          <a:xfrm>
            <a:off x="2210764" y="1909823"/>
            <a:ext cx="8021255" cy="421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1"/>
          <p:cNvSpPr txBox="1"/>
          <p:nvPr/>
        </p:nvSpPr>
        <p:spPr>
          <a:xfrm>
            <a:off x="-86812" y="887315"/>
            <a:ext cx="9740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large stripes, which means a user can read records from any single drive.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2"/>
          <p:cNvPicPr preferRelativeResize="0"/>
          <p:nvPr/>
        </p:nvPicPr>
        <p:blipFill rotWithShape="1">
          <a:blip r:embed="rId3">
            <a:alphaModFix/>
          </a:blip>
          <a:srcRect b="16479" l="16434" r="16269" t="16573"/>
          <a:stretch/>
        </p:blipFill>
        <p:spPr>
          <a:xfrm>
            <a:off x="2143245" y="1875099"/>
            <a:ext cx="7905510" cy="413216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 txBox="1"/>
          <p:nvPr/>
        </p:nvSpPr>
        <p:spPr>
          <a:xfrm>
            <a:off x="0" y="1019038"/>
            <a:ext cx="105734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parity block-level striping. The parity information is striped across each drive 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RAID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is RAID" id="298" name="Google Shape;2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1151440"/>
            <a:ext cx="8001000" cy="52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 DISK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w to accelerate your build process using RAM memory as hard disk." id="304" name="Google Shape;3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4306" y="1275348"/>
            <a:ext cx="8410031" cy="490757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4"/>
          <p:cNvSpPr txBox="1"/>
          <p:nvPr/>
        </p:nvSpPr>
        <p:spPr>
          <a:xfrm>
            <a:off x="0" y="901642"/>
            <a:ext cx="395839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Ultra-Fast Read and Write Speeds: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Latency: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Wear on SSDs: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Drawbacks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Volatility: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Usage: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i="0" lang="en-GB" sz="18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Size: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Structure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-3463" y="901642"/>
            <a:ext cx="118790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 designed to store enormous volumes of data are referred to as mass storage devices.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35"/>
          <p:cNvSpPr txBox="1"/>
          <p:nvPr/>
        </p:nvSpPr>
        <p:spPr>
          <a:xfrm>
            <a:off x="0" y="1440250"/>
            <a:ext cx="61202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Mass Storage Structure Devices are: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Magnetic Disks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State Disks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Magnetic Tapes</a:t>
            </a:r>
            <a:endParaRPr/>
          </a:p>
        </p:txBody>
      </p:sp>
      <p:sp>
        <p:nvSpPr>
          <p:cNvPr id="313" name="Google Shape;313;p35"/>
          <p:cNvSpPr txBox="1"/>
          <p:nvPr/>
        </p:nvSpPr>
        <p:spPr>
          <a:xfrm>
            <a:off x="80530" y="3017093"/>
            <a:ext cx="61254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Common Examples of </a:t>
            </a:r>
            <a:r>
              <a:rPr b="1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Magnetic Disks </a:t>
            </a: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are: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Floppy Disks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Disks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eriod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 Disks</a:t>
            </a:r>
            <a:endParaRPr/>
          </a:p>
        </p:txBody>
      </p:sp>
      <p:pic>
        <p:nvPicPr>
          <p:cNvPr descr="Mass Storage Structure in Operating Systems" id="314" name="Google Shape;3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686" y="4593936"/>
            <a:ext cx="2524992" cy="2118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me industries still use floppy disks. This is one of the only places to  buy them | TPR" id="315" name="Google Shape;31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30" y="4723310"/>
            <a:ext cx="2524991" cy="17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ip drive - Wikipedia" id="316" name="Google Shape;31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324" y="4607589"/>
            <a:ext cx="2794000" cy="2118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/>
        </p:nvSpPr>
        <p:spPr>
          <a:xfrm>
            <a:off x="868100" y="0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Structure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0" y="872549"/>
            <a:ext cx="61202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1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State Disks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1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Magnetic Tapes</a:t>
            </a:r>
            <a:endParaRPr/>
          </a:p>
        </p:txBody>
      </p:sp>
      <p:pic>
        <p:nvPicPr>
          <p:cNvPr descr="How does a magnetic tape work?. One of ..." id="323" name="Google Shape;3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0307" y="2873085"/>
            <a:ext cx="3178464" cy="2005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Disk 240GB SSD Plus - Internal Solid ..." id="324" name="Google Shape;32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2540576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/>
        </p:nvSpPr>
        <p:spPr>
          <a:xfrm>
            <a:off x="868100" y="0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Structure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perating Systems: Mass-Storage Structure" id="330" name="Google Shape;3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400" y="964046"/>
            <a:ext cx="7823200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/>
        </p:nvSpPr>
        <p:spPr>
          <a:xfrm>
            <a:off x="868100" y="0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Attachment</a:t>
            </a:r>
            <a:endParaRPr/>
          </a:p>
        </p:txBody>
      </p:sp>
      <p:sp>
        <p:nvSpPr>
          <p:cNvPr id="336" name="Google Shape;336;p38"/>
          <p:cNvSpPr txBox="1"/>
          <p:nvPr/>
        </p:nvSpPr>
        <p:spPr>
          <a:xfrm>
            <a:off x="-35909" y="769441"/>
            <a:ext cx="120880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ways for computers to access disc storage.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method is to use I/O ports, also known as </a:t>
            </a:r>
            <a:r>
              <a:rPr b="1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host-attached storage,</a:t>
            </a: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on small systems.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Char char="⮚"/>
            </a:pPr>
            <a:r>
              <a:rPr b="0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method is through a remote host in a distributed file system, which is known as </a:t>
            </a:r>
            <a:r>
              <a:rPr b="1" i="0" lang="en-GB" sz="1800" u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network-attached storage.</a:t>
            </a:r>
            <a:endParaRPr b="0" i="0" sz="1800" u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isk Attachment in Operating System" id="337" name="Google Shape;3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54" y="2608118"/>
            <a:ext cx="3865420" cy="3480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k Attachment in Operating System" id="338" name="Google Shape;3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2932" y="1692771"/>
            <a:ext cx="7046191" cy="470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/>
          <p:nvPr/>
        </p:nvSpPr>
        <p:spPr>
          <a:xfrm>
            <a:off x="-3462" y="432093"/>
            <a:ext cx="1219546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management is one of the critical operations carried out by the OS.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deals with organizing the data stored on the Secondary Storage devices which includes the hard disk drives and the solid-state drives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2932834" y="0"/>
            <a:ext cx="6156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MANAGEMENT</a:t>
            </a:r>
            <a:endParaRPr/>
          </a:p>
        </p:txBody>
      </p:sp>
      <p:sp>
        <p:nvSpPr>
          <p:cNvPr id="345" name="Google Shape;345;p39"/>
          <p:cNvSpPr txBox="1"/>
          <p:nvPr/>
        </p:nvSpPr>
        <p:spPr>
          <a:xfrm>
            <a:off x="0" y="1507095"/>
            <a:ext cx="672291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Management of the Operating System Includes: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Format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Booting from disk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Bad block recovery</a:t>
            </a:r>
            <a:endParaRPr/>
          </a:p>
        </p:txBody>
      </p:sp>
      <p:sp>
        <p:nvSpPr>
          <p:cNvPr id="346" name="Google Shape;346;p39"/>
          <p:cNvSpPr txBox="1"/>
          <p:nvPr/>
        </p:nvSpPr>
        <p:spPr>
          <a:xfrm>
            <a:off x="-3461" y="3429000"/>
            <a:ext cx="5448298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disk management include: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organization and management of data.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use of available storage space.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data integrity and security.</a:t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4992832" y="3320760"/>
            <a:ext cx="7199168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 of disk management include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system overhead due to disk management tasks.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complexity in managing multiple partitions and file systems.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risk of data loss due to errors during disk management tasks.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/>
        </p:nvSpPr>
        <p:spPr>
          <a:xfrm>
            <a:off x="2932834" y="0"/>
            <a:ext cx="6156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Optical Disk</a:t>
            </a:r>
            <a:endParaRPr/>
          </a:p>
        </p:txBody>
      </p:sp>
      <p:pic>
        <p:nvPicPr>
          <p:cNvPr descr="Introduction to An Optical Disc - MiniTool" id="353" name="Google Shape;3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0160" y="3718680"/>
            <a:ext cx="25400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0"/>
          <p:cNvSpPr txBox="1"/>
          <p:nvPr/>
        </p:nvSpPr>
        <p:spPr>
          <a:xfrm>
            <a:off x="0" y="461665"/>
            <a:ext cx="12032673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Optical Disk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Security: 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Distribution: 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Transfer: 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Imaging: 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Resources: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-1" y="1116936"/>
            <a:ext cx="12192001" cy="328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marR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FCFS (First Come First Serve)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SSTF (Shortest Seek Time First)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C-SCAN 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</a:t>
            </a:r>
            <a:endParaRPr/>
          </a:p>
          <a:p>
            <a:pPr indent="-11430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C-LOOK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box" id="366" name="Google Shape;3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468" y="1990037"/>
            <a:ext cx="10311063" cy="449863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2"/>
          <p:cNvSpPr txBox="1"/>
          <p:nvPr/>
        </p:nvSpPr>
        <p:spPr>
          <a:xfrm>
            <a:off x="156411" y="901642"/>
            <a:ext cx="397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FCFS (First Come First Serve)</a:t>
            </a:r>
            <a:endParaRPr/>
          </a:p>
        </p:txBody>
      </p:sp>
      <p:sp>
        <p:nvSpPr>
          <p:cNvPr id="368" name="Google Shape;368;p42"/>
          <p:cNvSpPr txBox="1"/>
          <p:nvPr/>
        </p:nvSpPr>
        <p:spPr>
          <a:xfrm>
            <a:off x="156411" y="1307340"/>
            <a:ext cx="73031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order of request is- (82,170,43,140,24,16,190)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current position of Read/Write head is: 50 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0" y="716976"/>
            <a:ext cx="6100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SSTF (Shortest Seek Time First)</a:t>
            </a:r>
            <a:endParaRPr/>
          </a:p>
        </p:txBody>
      </p:sp>
      <p:pic>
        <p:nvPicPr>
          <p:cNvPr descr="Lightbox" id="375" name="Google Shape;375;p43"/>
          <p:cNvPicPr preferRelativeResize="0"/>
          <p:nvPr/>
        </p:nvPicPr>
        <p:blipFill rotWithShape="1">
          <a:blip r:embed="rId3">
            <a:alphaModFix/>
          </a:blip>
          <a:srcRect b="11019" l="0" r="0" t="10074"/>
          <a:stretch/>
        </p:blipFill>
        <p:spPr>
          <a:xfrm>
            <a:off x="132682" y="2526630"/>
            <a:ext cx="11493500" cy="401854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3"/>
          <p:cNvSpPr txBox="1"/>
          <p:nvPr/>
        </p:nvSpPr>
        <p:spPr>
          <a:xfrm>
            <a:off x="0" y="1316548"/>
            <a:ext cx="93124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order of request is- (82,170,43,140,24,16,190)</a:t>
            </a:r>
            <a:b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current position of Read/Write head is: 50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4"/>
          <p:cNvSpPr txBox="1"/>
          <p:nvPr/>
        </p:nvSpPr>
        <p:spPr>
          <a:xfrm>
            <a:off x="138363" y="901642"/>
            <a:ext cx="6100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SCAN</a:t>
            </a:r>
            <a:endParaRPr/>
          </a:p>
        </p:txBody>
      </p:sp>
      <p:pic>
        <p:nvPicPr>
          <p:cNvPr descr="Lightbox" id="383" name="Google Shape;383;p44"/>
          <p:cNvPicPr preferRelativeResize="0"/>
          <p:nvPr/>
        </p:nvPicPr>
        <p:blipFill rotWithShape="1">
          <a:blip r:embed="rId3">
            <a:alphaModFix/>
          </a:blip>
          <a:srcRect b="0" l="0" r="0" t="9269"/>
          <a:stretch/>
        </p:blipFill>
        <p:spPr>
          <a:xfrm>
            <a:off x="1060450" y="2807513"/>
            <a:ext cx="10071100" cy="400414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4"/>
          <p:cNvSpPr txBox="1"/>
          <p:nvPr/>
        </p:nvSpPr>
        <p:spPr>
          <a:xfrm>
            <a:off x="138363" y="1301751"/>
            <a:ext cx="103170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requests to be addressed are-82,170,43,140,24,16,190. And the Read/Write arm is at 50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258678" y="1830523"/>
            <a:ext cx="10487861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 total overhead movement  (total distance covered by the disk arm)  is calculated as 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(199-50) + (199-16) = 332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5"/>
          <p:cNvSpPr txBox="1"/>
          <p:nvPr/>
        </p:nvSpPr>
        <p:spPr>
          <a:xfrm>
            <a:off x="138363" y="901642"/>
            <a:ext cx="6100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C-SCAN</a:t>
            </a:r>
            <a:endParaRPr/>
          </a:p>
        </p:txBody>
      </p:sp>
      <p:pic>
        <p:nvPicPr>
          <p:cNvPr descr="Circular SCAN" id="392" name="Google Shape;392;p45"/>
          <p:cNvPicPr preferRelativeResize="0"/>
          <p:nvPr/>
        </p:nvPicPr>
        <p:blipFill rotWithShape="1">
          <a:blip r:embed="rId3">
            <a:alphaModFix/>
          </a:blip>
          <a:srcRect b="2535" l="0" r="0" t="9798"/>
          <a:stretch/>
        </p:blipFill>
        <p:spPr>
          <a:xfrm>
            <a:off x="971550" y="2833278"/>
            <a:ext cx="10248900" cy="405464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5"/>
          <p:cNvSpPr txBox="1"/>
          <p:nvPr/>
        </p:nvSpPr>
        <p:spPr>
          <a:xfrm>
            <a:off x="-4010" y="1298501"/>
            <a:ext cx="112244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requests to be addressed are-82,170,43,140,24,16,190. And the Read/Write arm is at 50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0" y="1750436"/>
            <a:ext cx="11610474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total overhead movement  (total distance covered by the disk arm) is calculated as: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=(199-50) + (199-0) + (43-0) = 391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138363" y="716976"/>
            <a:ext cx="6100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LOOK</a:t>
            </a:r>
            <a:endParaRPr/>
          </a:p>
        </p:txBody>
      </p:sp>
      <p:pic>
        <p:nvPicPr>
          <p:cNvPr descr="LOOK Algorithm" id="401" name="Google Shape;401;p46"/>
          <p:cNvPicPr preferRelativeResize="0"/>
          <p:nvPr/>
        </p:nvPicPr>
        <p:blipFill rotWithShape="1">
          <a:blip r:embed="rId3">
            <a:alphaModFix/>
          </a:blip>
          <a:srcRect b="12194" l="0" r="0" t="8076"/>
          <a:stretch/>
        </p:blipFill>
        <p:spPr>
          <a:xfrm>
            <a:off x="1136650" y="2767262"/>
            <a:ext cx="9918700" cy="409073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6"/>
          <p:cNvSpPr txBox="1"/>
          <p:nvPr/>
        </p:nvSpPr>
        <p:spPr>
          <a:xfrm>
            <a:off x="0" y="1188121"/>
            <a:ext cx="114219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requests to be addressed are-82,170,43,140,24,16,190. And the Read/Write arm is at 50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6"/>
          <p:cNvSpPr txBox="1"/>
          <p:nvPr/>
        </p:nvSpPr>
        <p:spPr>
          <a:xfrm>
            <a:off x="138363" y="1741340"/>
            <a:ext cx="11544300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total overhead movement  (total distance covered by the disk arm) is calculated as: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(190-50) + (190-16) = 314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/>
          <p:nvPr/>
        </p:nvSpPr>
        <p:spPr>
          <a:xfrm>
            <a:off x="868101" y="132201"/>
            <a:ext cx="110075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 Scheduling Algorithm</a:t>
            </a:r>
            <a:endParaRPr b="1" sz="66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7"/>
          <p:cNvSpPr txBox="1"/>
          <p:nvPr/>
        </p:nvSpPr>
        <p:spPr>
          <a:xfrm>
            <a:off x="-4011" y="734614"/>
            <a:ext cx="61000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C-LOOK</a:t>
            </a:r>
            <a:endParaRPr/>
          </a:p>
        </p:txBody>
      </p:sp>
      <p:pic>
        <p:nvPicPr>
          <p:cNvPr descr="C-LOOK" id="410" name="Google Shape;410;p47"/>
          <p:cNvPicPr preferRelativeResize="0"/>
          <p:nvPr/>
        </p:nvPicPr>
        <p:blipFill rotWithShape="1">
          <a:blip r:embed="rId3">
            <a:alphaModFix/>
          </a:blip>
          <a:srcRect b="4552" l="0" r="0" t="8454"/>
          <a:stretch/>
        </p:blipFill>
        <p:spPr>
          <a:xfrm>
            <a:off x="1187450" y="2779294"/>
            <a:ext cx="9817100" cy="407870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7"/>
          <p:cNvSpPr txBox="1"/>
          <p:nvPr/>
        </p:nvSpPr>
        <p:spPr>
          <a:xfrm>
            <a:off x="-4011" y="1197513"/>
            <a:ext cx="11758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the requests to be addressed are-82,170,43,140,24,16,190. And the Read/Write arm is at 50,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7"/>
          <p:cNvSpPr txBox="1"/>
          <p:nvPr/>
        </p:nvSpPr>
        <p:spPr>
          <a:xfrm>
            <a:off x="0" y="1706359"/>
            <a:ext cx="11004550" cy="74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total overhead movement  (total distance covered by the disk arm) is calculated as</a:t>
            </a:r>
            <a:endParaRPr/>
          </a:p>
          <a:p>
            <a:pPr indent="0" lvl="0" marL="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(190-50) + (190-16) + (43-16) = 341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9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2024-09-18T03:14:27Z</dcterms:created>
  <dc:creator>Harendra Bikram Shah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