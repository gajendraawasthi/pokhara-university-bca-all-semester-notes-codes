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87" autoAdjust="0"/>
    <p:restoredTop sz="86477" autoAdjust="0"/>
  </p:normalViewPr>
  <p:slideViewPr>
    <p:cSldViewPr>
      <p:cViewPr varScale="1">
        <p:scale>
          <a:sx n="74" d="100"/>
          <a:sy n="74" d="100"/>
        </p:scale>
        <p:origin x="-189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08" y="192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-228600"/>
            <a:ext cx="7851648" cy="1828800"/>
          </a:xfrm>
        </p:spPr>
        <p:txBody>
          <a:bodyPr/>
          <a:lstStyle/>
          <a:p>
            <a:pPr algn="l"/>
            <a:r>
              <a:rPr lang="en-US" smtClean="0"/>
              <a:t>Letter writing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00200"/>
            <a:ext cx="7854696" cy="175260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8000" dirty="0" smtClean="0"/>
              <a:t>A letter </a:t>
            </a:r>
            <a:r>
              <a:rPr lang="en-US" sz="8000" dirty="0"/>
              <a:t>is a means of communication used between </a:t>
            </a:r>
            <a:r>
              <a:rPr lang="en-US" sz="8000" dirty="0"/>
              <a:t> </a:t>
            </a:r>
            <a:r>
              <a:rPr lang="en-US" sz="8000" dirty="0" smtClean="0"/>
              <a:t>a </a:t>
            </a:r>
            <a:r>
              <a:rPr lang="en-US" sz="8000" dirty="0" smtClean="0"/>
              <a:t>sender  </a:t>
            </a:r>
            <a:r>
              <a:rPr lang="en-US" sz="8000" dirty="0"/>
              <a:t>and </a:t>
            </a:r>
            <a:r>
              <a:rPr lang="en-US" sz="8000" dirty="0" smtClean="0"/>
              <a:t> a </a:t>
            </a:r>
            <a:r>
              <a:rPr lang="en-US" sz="8000" dirty="0"/>
              <a:t>receiver who are at distance. </a:t>
            </a:r>
          </a:p>
          <a:p>
            <a:pPr algn="l"/>
            <a:r>
              <a:rPr lang="en-US" sz="8000" dirty="0"/>
              <a:t>According to oxford advanced learner’s  dictionary “a writing message addressed to a person or an organization, usually in an envelope and sent by post is a letter.”</a:t>
            </a:r>
          </a:p>
          <a:p>
            <a:pPr marL="514350" indent="-514350" algn="l"/>
            <a:r>
              <a:rPr lang="en-US" sz="8000" dirty="0"/>
              <a:t>Parts of a letter: 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 smtClean="0"/>
              <a:t>The </a:t>
            </a:r>
            <a:r>
              <a:rPr lang="en-US" sz="8000" dirty="0"/>
              <a:t>letter </a:t>
            </a:r>
            <a:r>
              <a:rPr lang="en-US" sz="8000" dirty="0" smtClean="0"/>
              <a:t>head/pad</a:t>
            </a:r>
            <a:endParaRPr lang="en-US" sz="8000" dirty="0"/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 smtClean="0"/>
              <a:t>The </a:t>
            </a:r>
            <a:r>
              <a:rPr lang="en-US" sz="8000" dirty="0"/>
              <a:t>heading : a) address of the sender  b) the date on which the letter is written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/>
              <a:t>The </a:t>
            </a:r>
            <a:r>
              <a:rPr lang="en-US" sz="8000" dirty="0" smtClean="0"/>
              <a:t>superscription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 smtClean="0"/>
              <a:t>subject</a:t>
            </a:r>
            <a:endParaRPr lang="en-US" sz="8000" dirty="0"/>
          </a:p>
          <a:p>
            <a:pPr marL="514350" indent="-514350" algn="l">
              <a:buFont typeface="+mj-lt"/>
              <a:buAutoNum type="arabicParenR"/>
            </a:pPr>
            <a:r>
              <a:rPr lang="en-US" sz="8000"/>
              <a:t>Salutation </a:t>
            </a:r>
            <a:r>
              <a:rPr lang="en-US" sz="8000"/>
              <a:t>/</a:t>
            </a:r>
            <a:r>
              <a:rPr lang="en-US" sz="8000" smtClean="0"/>
              <a:t>greeting</a:t>
            </a:r>
            <a:endParaRPr lang="en-US" sz="8000" dirty="0"/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/>
              <a:t>Body or message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/>
              <a:t>Closing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/>
              <a:t>Subscription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/>
              <a:t>The signature</a:t>
            </a:r>
          </a:p>
          <a:p>
            <a:pPr marL="514350" indent="-514350" algn="l">
              <a:buFont typeface="+mj-lt"/>
              <a:buAutoNum type="arabicParenR"/>
            </a:pPr>
            <a:r>
              <a:rPr lang="en-US" sz="8000" dirty="0"/>
              <a:t>Address on envelope</a:t>
            </a:r>
          </a:p>
          <a:p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79944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None/>
            </a:pPr>
            <a:r>
              <a:rPr lang="en-US" sz="12800" b="1" dirty="0" smtClean="0"/>
              <a:t>1)The </a:t>
            </a:r>
            <a:r>
              <a:rPr lang="en-US" sz="12800" b="1" dirty="0"/>
              <a:t>letter head:</a:t>
            </a:r>
            <a:r>
              <a:rPr lang="en-US" sz="12800" dirty="0"/>
              <a:t> </a:t>
            </a:r>
            <a:r>
              <a:rPr lang="en-US" sz="8000" dirty="0"/>
              <a:t>it is a common part of an official letter. It is generally known as letter pad. It is written at the top in the middle of the page.</a:t>
            </a:r>
          </a:p>
          <a:p>
            <a:pPr marL="514350" indent="-514350">
              <a:buNone/>
            </a:pPr>
            <a:r>
              <a:rPr lang="en-US" sz="8000" dirty="0"/>
              <a:t> in the place of the letter head the name of the office or firm along with a short address should be mentioned.</a:t>
            </a:r>
          </a:p>
          <a:p>
            <a:pPr marL="514350" indent="-514350">
              <a:buNone/>
            </a:pPr>
            <a:r>
              <a:rPr lang="en-US" sz="8000" dirty="0"/>
              <a:t>Example:         </a:t>
            </a:r>
            <a:r>
              <a:rPr lang="en-US" sz="8000" dirty="0" err="1"/>
              <a:t>Jyoti</a:t>
            </a:r>
            <a:r>
              <a:rPr lang="en-US" sz="8000" dirty="0"/>
              <a:t> Boarding High School</a:t>
            </a:r>
          </a:p>
          <a:p>
            <a:pPr marL="514350" indent="-514350">
              <a:buNone/>
            </a:pPr>
            <a:r>
              <a:rPr lang="en-US" sz="8000" dirty="0"/>
              <a:t>                           </a:t>
            </a:r>
            <a:r>
              <a:rPr lang="en-US" sz="8000" dirty="0" err="1"/>
              <a:t>Dhangadhi</a:t>
            </a:r>
            <a:r>
              <a:rPr lang="en-US" sz="8000" dirty="0"/>
              <a:t>, </a:t>
            </a:r>
            <a:r>
              <a:rPr lang="en-US" sz="8000" dirty="0" err="1"/>
              <a:t>Kailali</a:t>
            </a:r>
            <a:endParaRPr lang="en-US" sz="9600" b="1" dirty="0"/>
          </a:p>
          <a:p>
            <a:pPr marL="514350" indent="-514350">
              <a:buNone/>
            </a:pPr>
            <a:r>
              <a:rPr lang="en-US" sz="12800" b="1" dirty="0"/>
              <a:t>2) The heading</a:t>
            </a:r>
            <a:r>
              <a:rPr lang="en-US" sz="12800" dirty="0"/>
              <a:t>:</a:t>
            </a:r>
            <a:r>
              <a:rPr lang="en-US" sz="8000" dirty="0"/>
              <a:t> it combines address and date and is written at the top of the right or left corner of the page.</a:t>
            </a:r>
          </a:p>
          <a:p>
            <a:pPr marL="514350" indent="-514350">
              <a:buNone/>
            </a:pPr>
            <a:r>
              <a:rPr lang="en-US" sz="8000" dirty="0"/>
              <a:t>Example:                                              </a:t>
            </a:r>
            <a:r>
              <a:rPr lang="en-US" sz="8000" dirty="0" smtClean="0"/>
              <a:t>               </a:t>
            </a:r>
            <a:r>
              <a:rPr lang="en-US" sz="8000" dirty="0" err="1"/>
              <a:t>Utterbehadi</a:t>
            </a:r>
            <a:r>
              <a:rPr lang="en-US" sz="8000" dirty="0"/>
              <a:t>, </a:t>
            </a:r>
            <a:r>
              <a:rPr lang="en-US" sz="8000" dirty="0" err="1"/>
              <a:t>Dhangadhi</a:t>
            </a:r>
            <a:endParaRPr lang="en-US" sz="8000" dirty="0"/>
          </a:p>
          <a:p>
            <a:pPr marL="514350" indent="-514350">
              <a:buNone/>
            </a:pPr>
            <a:r>
              <a:rPr lang="en-US" sz="8000" dirty="0"/>
              <a:t>                                                                   </a:t>
            </a:r>
            <a:r>
              <a:rPr lang="en-US" sz="8000" dirty="0" smtClean="0"/>
              <a:t>             25</a:t>
            </a:r>
            <a:r>
              <a:rPr lang="en-US" sz="8000" baseline="30000" dirty="0" smtClean="0"/>
              <a:t>th</a:t>
            </a:r>
            <a:r>
              <a:rPr lang="en-US" sz="8000" dirty="0" smtClean="0"/>
              <a:t> November, 2020</a:t>
            </a:r>
            <a:endParaRPr lang="en-US" sz="9600" dirty="0"/>
          </a:p>
          <a:p>
            <a:pPr marL="514350" indent="-514350">
              <a:buNone/>
            </a:pPr>
            <a:r>
              <a:rPr lang="en-US" sz="12800" b="1" dirty="0"/>
              <a:t>3) The superscription</a:t>
            </a:r>
            <a:r>
              <a:rPr lang="en-US" sz="12800" dirty="0"/>
              <a:t>:</a:t>
            </a:r>
            <a:r>
              <a:rPr lang="en-US" sz="8000" dirty="0"/>
              <a:t> this part is a full address of the receiver of the letter.</a:t>
            </a:r>
          </a:p>
          <a:p>
            <a:pPr marL="514350" indent="-514350">
              <a:buNone/>
            </a:pPr>
            <a:r>
              <a:rPr lang="en-US" sz="8000" dirty="0"/>
              <a:t> It is essential in formal letter but not written in personal or informal letter.</a:t>
            </a:r>
          </a:p>
          <a:p>
            <a:pPr marL="514350" indent="-514350">
              <a:buNone/>
            </a:pPr>
            <a:r>
              <a:rPr lang="en-US" sz="8000" dirty="0"/>
              <a:t>It is written two or three lines below the line of the date.</a:t>
            </a:r>
          </a:p>
          <a:p>
            <a:pPr marL="514350" indent="-514350">
              <a:buNone/>
            </a:pPr>
            <a:r>
              <a:rPr lang="en-US" sz="8000" dirty="0"/>
              <a:t>Example: The Principal</a:t>
            </a:r>
          </a:p>
          <a:p>
            <a:pPr marL="514350" indent="-514350">
              <a:buNone/>
            </a:pPr>
            <a:r>
              <a:rPr lang="en-US" sz="8000" dirty="0"/>
              <a:t>                 </a:t>
            </a:r>
            <a:r>
              <a:rPr lang="en-US" sz="8000" dirty="0" err="1"/>
              <a:t>Jyoti</a:t>
            </a:r>
            <a:r>
              <a:rPr lang="en-US" sz="8000" dirty="0"/>
              <a:t> </a:t>
            </a:r>
            <a:r>
              <a:rPr lang="en-US" sz="8000" dirty="0" smtClean="0"/>
              <a:t>Boarding </a:t>
            </a:r>
            <a:r>
              <a:rPr lang="en-US" sz="8000" dirty="0"/>
              <a:t>High School </a:t>
            </a:r>
          </a:p>
          <a:p>
            <a:pPr marL="514350" indent="-514350">
              <a:buNone/>
            </a:pPr>
            <a:r>
              <a:rPr lang="en-US" sz="8000" dirty="0"/>
              <a:t>                   </a:t>
            </a:r>
            <a:r>
              <a:rPr lang="en-US" sz="8000" dirty="0" err="1"/>
              <a:t>Dhangadhi</a:t>
            </a:r>
            <a:r>
              <a:rPr lang="en-US" sz="8000" dirty="0"/>
              <a:t>, </a:t>
            </a:r>
            <a:r>
              <a:rPr lang="en-US" sz="8000" dirty="0" err="1"/>
              <a:t>kailali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34627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3891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200" b="1" dirty="0"/>
              <a:t>4) The salutation or greeting:</a:t>
            </a:r>
            <a:r>
              <a:rPr lang="en-US" sz="2400" dirty="0"/>
              <a:t> </a:t>
            </a:r>
            <a:r>
              <a:rPr lang="en-US" sz="2000" dirty="0"/>
              <a:t>it is the greeting of the sender to the receiver. It shows the relationship between the sender and the receiver.</a:t>
            </a:r>
          </a:p>
          <a:p>
            <a:pPr>
              <a:buNone/>
            </a:pPr>
            <a:r>
              <a:rPr lang="en-US" sz="2000" dirty="0"/>
              <a:t>In official letters: Dear sir, Dear Madam, </a:t>
            </a:r>
            <a:r>
              <a:rPr lang="en-US" sz="2000" dirty="0" err="1"/>
              <a:t>Dr</a:t>
            </a:r>
            <a:r>
              <a:rPr lang="en-US" sz="2000" dirty="0"/>
              <a:t> </a:t>
            </a:r>
            <a:r>
              <a:rPr lang="en-US" sz="2000" dirty="0" err="1"/>
              <a:t>Mr</a:t>
            </a:r>
            <a:r>
              <a:rPr lang="en-US" sz="2000" dirty="0"/>
              <a:t> David</a:t>
            </a:r>
          </a:p>
          <a:p>
            <a:pPr>
              <a:buNone/>
            </a:pPr>
            <a:r>
              <a:rPr lang="en-US" sz="2000" dirty="0"/>
              <a:t>In personal letter: Dear </a:t>
            </a:r>
            <a:r>
              <a:rPr lang="en-US" sz="2000" dirty="0" err="1"/>
              <a:t>Neetu</a:t>
            </a:r>
            <a:r>
              <a:rPr lang="en-US" sz="2000" dirty="0"/>
              <a:t>, My Dear father etc.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5) Body or message:</a:t>
            </a:r>
            <a:r>
              <a:rPr lang="en-US" sz="2000" dirty="0"/>
              <a:t> this is the main part of  letter. It begins just below the salutation line. this part contains the actual message to be conveyed the receiver. </a:t>
            </a:r>
          </a:p>
          <a:p>
            <a:pPr>
              <a:buNone/>
            </a:pPr>
            <a:r>
              <a:rPr lang="en-US" sz="2000" dirty="0"/>
              <a:t>The language of the message must be lucid, clear, pleasant and courteous, polite and civilized.</a:t>
            </a:r>
          </a:p>
          <a:p>
            <a:pPr>
              <a:buNone/>
            </a:pPr>
            <a:r>
              <a:rPr lang="en-US" sz="3200" b="1" dirty="0"/>
              <a:t>6) The ending</a:t>
            </a:r>
            <a:r>
              <a:rPr lang="en-US" sz="3200" dirty="0"/>
              <a:t>:</a:t>
            </a:r>
            <a:r>
              <a:rPr lang="en-US" sz="2000" dirty="0"/>
              <a:t> the phrase or sentence used at the </a:t>
            </a:r>
            <a:r>
              <a:rPr lang="en-US" sz="2000" dirty="0" smtClean="0"/>
              <a:t>end </a:t>
            </a:r>
            <a:r>
              <a:rPr lang="en-US" sz="2000" dirty="0"/>
              <a:t>of the body of the letter is known as the ending. it is used to show the formal ending of the letter. </a:t>
            </a:r>
          </a:p>
          <a:p>
            <a:pPr>
              <a:buNone/>
            </a:pPr>
            <a:r>
              <a:rPr lang="en-US" sz="2000" dirty="0"/>
              <a:t>Example: hoping so, I look forward to hearing from you, waiting for a positive response etc. </a:t>
            </a:r>
          </a:p>
          <a:p>
            <a:pPr>
              <a:buNone/>
            </a:pPr>
            <a:r>
              <a:rPr lang="en-US" sz="2000" dirty="0" smtClean="0"/>
              <a:t>……………</a:t>
            </a: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765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12800" dirty="0"/>
              <a:t>7</a:t>
            </a:r>
            <a:r>
              <a:rPr lang="en-US" sz="12800" b="1" dirty="0"/>
              <a:t>) </a:t>
            </a:r>
            <a:r>
              <a:rPr lang="en-US" sz="12800" b="1" dirty="0" smtClean="0"/>
              <a:t>The Subscription</a:t>
            </a:r>
            <a:r>
              <a:rPr lang="en-US" sz="12800" b="1" dirty="0"/>
              <a:t>:</a:t>
            </a:r>
            <a:r>
              <a:rPr lang="en-US" sz="9600" dirty="0"/>
              <a:t> it is a closing part of letter. it </a:t>
            </a:r>
            <a:r>
              <a:rPr lang="en-US" sz="9600" dirty="0" smtClean="0"/>
              <a:t>is written </a:t>
            </a:r>
            <a:r>
              <a:rPr lang="en-US" sz="9600" dirty="0"/>
              <a:t>below the body of the letter and varies in formal and informal letters.</a:t>
            </a:r>
          </a:p>
          <a:p>
            <a:pPr>
              <a:buNone/>
            </a:pPr>
            <a:r>
              <a:rPr lang="en-US" sz="9600" dirty="0"/>
              <a:t>Formal: yours faithfully, yours sincerely, yours truly, yours cordially, sincerely yours</a:t>
            </a:r>
          </a:p>
          <a:p>
            <a:pPr>
              <a:buNone/>
            </a:pPr>
            <a:r>
              <a:rPr lang="en-US" sz="9600" dirty="0"/>
              <a:t>Informal: with love, best regards, affectionately yours.</a:t>
            </a:r>
          </a:p>
          <a:p>
            <a:pPr>
              <a:buNone/>
            </a:pPr>
            <a:r>
              <a:rPr lang="en-US" sz="12800" b="1" dirty="0"/>
              <a:t>8) The signature:</a:t>
            </a:r>
            <a:r>
              <a:rPr lang="en-US" sz="9600" b="1" dirty="0"/>
              <a:t> </a:t>
            </a:r>
            <a:r>
              <a:rPr lang="en-US" sz="9600" dirty="0"/>
              <a:t>it is done just below the subscription. In formal letter full name is there and in informal letter only the first name is mentioned.</a:t>
            </a:r>
          </a:p>
          <a:p>
            <a:pPr>
              <a:buNone/>
            </a:pPr>
            <a:r>
              <a:rPr lang="en-US" sz="9600" dirty="0"/>
              <a:t>informal: affectionately yours  </a:t>
            </a:r>
            <a:r>
              <a:rPr lang="en-US" sz="9600" dirty="0" err="1"/>
              <a:t>S.J</a:t>
            </a:r>
            <a:endParaRPr lang="en-US" sz="9600" dirty="0"/>
          </a:p>
          <a:p>
            <a:pPr>
              <a:buNone/>
            </a:pPr>
            <a:r>
              <a:rPr lang="en-US" sz="9600" dirty="0"/>
              <a:t>formal:  yours faithfully  </a:t>
            </a:r>
            <a:r>
              <a:rPr lang="en-US" sz="9600" dirty="0" err="1"/>
              <a:t>Dipesh</a:t>
            </a:r>
            <a:r>
              <a:rPr lang="en-US" sz="9600" dirty="0"/>
              <a:t> Pant</a:t>
            </a:r>
          </a:p>
          <a:p>
            <a:pPr>
              <a:buNone/>
            </a:pPr>
            <a:r>
              <a:rPr lang="en-US" sz="12800" dirty="0"/>
              <a:t>9) </a:t>
            </a:r>
            <a:r>
              <a:rPr lang="en-US" sz="12800" b="1" dirty="0"/>
              <a:t>The envelope:</a:t>
            </a:r>
            <a:r>
              <a:rPr lang="en-US" sz="9600" b="1" dirty="0"/>
              <a:t> </a:t>
            </a:r>
            <a:r>
              <a:rPr lang="en-US" sz="9600" dirty="0"/>
              <a:t>the  sender’s complete name and address is written on the left side and the receiver’s name and address is written on the right side of the envelope.</a:t>
            </a:r>
          </a:p>
          <a:p>
            <a:pPr>
              <a:buNone/>
            </a:pPr>
            <a:r>
              <a:rPr lang="en-US" sz="9600" dirty="0"/>
              <a:t>From       </a:t>
            </a:r>
            <a:r>
              <a:rPr lang="en-US" sz="9600" dirty="0" smtClean="0"/>
              <a:t>                                                                 To                                                                                                                                                                             </a:t>
            </a:r>
            <a:endParaRPr lang="en-US" sz="9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8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        The Business </a:t>
            </a:r>
            <a:r>
              <a:rPr lang="en-US" sz="4000" b="1" dirty="0">
                <a:solidFill>
                  <a:srgbClr val="FF0000"/>
                </a:solidFill>
              </a:rPr>
              <a:t>L</a:t>
            </a:r>
            <a:r>
              <a:rPr lang="en-US" sz="4000" b="1" dirty="0" smtClean="0">
                <a:solidFill>
                  <a:srgbClr val="FF0000"/>
                </a:solidFill>
              </a:rPr>
              <a:t>etter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Are written </a:t>
            </a:r>
            <a:r>
              <a:rPr lang="en-US" dirty="0" smtClean="0">
                <a:solidFill>
                  <a:srgbClr val="00B0F0"/>
                </a:solidFill>
              </a:rPr>
              <a:t>to establish business relationship</a:t>
            </a:r>
            <a:r>
              <a:rPr lang="en-US" dirty="0" smtClean="0"/>
              <a:t> between two or more than two firms or companies.</a:t>
            </a:r>
          </a:p>
          <a:p>
            <a:r>
              <a:rPr lang="en-US" dirty="0" smtClean="0"/>
              <a:t>To </a:t>
            </a:r>
            <a:r>
              <a:rPr lang="en-US" dirty="0" smtClean="0">
                <a:solidFill>
                  <a:srgbClr val="00B0F0"/>
                </a:solidFill>
              </a:rPr>
              <a:t>strengthen </a:t>
            </a:r>
            <a:r>
              <a:rPr lang="en-US" dirty="0" smtClean="0"/>
              <a:t>business ties or relationship.</a:t>
            </a:r>
          </a:p>
          <a:p>
            <a:r>
              <a:rPr lang="en-US" dirty="0" smtClean="0"/>
              <a:t>They are </a:t>
            </a:r>
            <a:r>
              <a:rPr lang="en-US" dirty="0" smtClean="0">
                <a:solidFill>
                  <a:srgbClr val="00B0F0"/>
                </a:solidFill>
              </a:rPr>
              <a:t>official and formal.</a:t>
            </a:r>
          </a:p>
          <a:p>
            <a:r>
              <a:rPr lang="en-US" dirty="0" smtClean="0"/>
              <a:t>Should be </a:t>
            </a:r>
            <a:r>
              <a:rPr lang="en-US" dirty="0" smtClean="0">
                <a:solidFill>
                  <a:srgbClr val="00B0F0"/>
                </a:solidFill>
              </a:rPr>
              <a:t>concise, clear and to the point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00B0F0"/>
                </a:solidFill>
              </a:rPr>
              <a:t>Language</a:t>
            </a:r>
            <a:r>
              <a:rPr lang="en-US" dirty="0" smtClean="0"/>
              <a:t> should be </a:t>
            </a:r>
            <a:r>
              <a:rPr lang="en-US" dirty="0" smtClean="0">
                <a:solidFill>
                  <a:srgbClr val="00B0F0"/>
                </a:solidFill>
              </a:rPr>
              <a:t>decent and polite </a:t>
            </a:r>
            <a:r>
              <a:rPr lang="en-US" dirty="0" smtClean="0"/>
              <a:t>in tone.</a:t>
            </a:r>
          </a:p>
          <a:p>
            <a:r>
              <a:rPr lang="en-US" dirty="0" smtClean="0"/>
              <a:t>To </a:t>
            </a:r>
            <a:r>
              <a:rPr lang="en-US" dirty="0" smtClean="0">
                <a:solidFill>
                  <a:srgbClr val="00B0F0"/>
                </a:solidFill>
              </a:rPr>
              <a:t>promote the business</a:t>
            </a:r>
            <a:r>
              <a:rPr lang="en-US" dirty="0" smtClean="0"/>
              <a:t> in nutshell. </a:t>
            </a:r>
          </a:p>
          <a:p>
            <a:r>
              <a:rPr lang="en-US" dirty="0" smtClean="0"/>
              <a:t>Subjects of letters as; </a:t>
            </a:r>
            <a:r>
              <a:rPr lang="en-US" dirty="0" smtClean="0">
                <a:solidFill>
                  <a:srgbClr val="00B0F0"/>
                </a:solidFill>
              </a:rPr>
              <a:t>ordering goods, requesting credit, booking, complaint, enquiry, apology, transfer of money etc.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30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Types of Business Letters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800" b="1" dirty="0" smtClean="0"/>
              <a:t> 1. Inquiry Letter: </a:t>
            </a:r>
            <a:r>
              <a:rPr lang="en-US" dirty="0" smtClean="0"/>
              <a:t>written by probable </a:t>
            </a:r>
            <a:r>
              <a:rPr lang="en-US" dirty="0" smtClean="0">
                <a:solidFill>
                  <a:srgbClr val="00B0F0"/>
                </a:solidFill>
              </a:rPr>
              <a:t>buyer to the seller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Queries regarding </a:t>
            </a:r>
            <a:r>
              <a:rPr lang="en-US" dirty="0" smtClean="0">
                <a:solidFill>
                  <a:srgbClr val="00B0F0"/>
                </a:solidFill>
              </a:rPr>
              <a:t>quantity, quality, price, discount, terms and conditions of trade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Ask for </a:t>
            </a:r>
            <a:r>
              <a:rPr lang="en-US" dirty="0" smtClean="0">
                <a:solidFill>
                  <a:srgbClr val="00B0F0"/>
                </a:solidFill>
              </a:rPr>
              <a:t>catalogues, information and details</a:t>
            </a:r>
            <a:r>
              <a:rPr lang="en-US" dirty="0" smtClean="0"/>
              <a:t> about business.</a:t>
            </a:r>
          </a:p>
          <a:p>
            <a:pPr marL="0" indent="0">
              <a:buNone/>
            </a:pPr>
            <a:r>
              <a:rPr lang="en-US" dirty="0" smtClean="0"/>
              <a:t>Should be </a:t>
            </a:r>
            <a:r>
              <a:rPr lang="en-US" dirty="0" smtClean="0">
                <a:solidFill>
                  <a:srgbClr val="00B0F0"/>
                </a:solidFill>
              </a:rPr>
              <a:t>short, simple, accurate, complete, direct, courteous </a:t>
            </a:r>
            <a:r>
              <a:rPr lang="en-US" dirty="0" smtClean="0"/>
              <a:t>without any literary style in writing.</a:t>
            </a:r>
          </a:p>
          <a:p>
            <a:pPr marL="0" indent="0">
              <a:buNone/>
            </a:pPr>
            <a:r>
              <a:rPr lang="en-US" sz="3800" b="1" dirty="0" smtClean="0"/>
              <a:t>2. Quotation Letter: </a:t>
            </a:r>
            <a:r>
              <a:rPr lang="en-US" dirty="0" smtClean="0"/>
              <a:t>written by </a:t>
            </a:r>
            <a:r>
              <a:rPr lang="en-US" dirty="0" smtClean="0">
                <a:solidFill>
                  <a:srgbClr val="00B0F0"/>
                </a:solidFill>
              </a:rPr>
              <a:t>seller to the buyer </a:t>
            </a:r>
            <a:r>
              <a:rPr lang="en-US" dirty="0" smtClean="0"/>
              <a:t>mentioning about the </a:t>
            </a:r>
            <a:r>
              <a:rPr lang="en-US" dirty="0" smtClean="0">
                <a:solidFill>
                  <a:srgbClr val="00B0F0"/>
                </a:solidFill>
              </a:rPr>
              <a:t>terms and conditions of the payment, discount system, offers, skims, delivery system </a:t>
            </a:r>
            <a:r>
              <a:rPr lang="en-US" dirty="0" smtClean="0"/>
              <a:t>etc.</a:t>
            </a:r>
          </a:p>
          <a:p>
            <a:pPr marL="0" indent="0">
              <a:buNone/>
            </a:pPr>
            <a:r>
              <a:rPr lang="en-US" dirty="0" smtClean="0"/>
              <a:t>Entire trade is performed on the basis of the information the seller sends to the buyer.</a:t>
            </a:r>
          </a:p>
          <a:p>
            <a:pPr marL="0" indent="0">
              <a:buNone/>
            </a:pPr>
            <a:r>
              <a:rPr lang="en-US" dirty="0" smtClean="0"/>
              <a:t>To maintain business rapport</a:t>
            </a:r>
            <a:r>
              <a:rPr lang="en-US" dirty="0" smtClean="0">
                <a:solidFill>
                  <a:srgbClr val="00B0F0"/>
                </a:solidFill>
              </a:rPr>
              <a:t> information should be authentic and real.</a:t>
            </a:r>
          </a:p>
        </p:txBody>
      </p:sp>
    </p:spTree>
    <p:extLst>
      <p:ext uri="{BB962C8B-B14F-4D97-AF65-F5344CB8AC3E}">
        <p14:creationId xmlns:p14="http://schemas.microsoft.com/office/powerpoint/2010/main" val="356871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3891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b="1" dirty="0" smtClean="0"/>
              <a:t>3. Order Letter:</a:t>
            </a:r>
            <a:r>
              <a:rPr lang="en-US" sz="3800" b="1" dirty="0" smtClean="0"/>
              <a:t> </a:t>
            </a:r>
            <a:r>
              <a:rPr lang="en-US" dirty="0" smtClean="0"/>
              <a:t>it is by</a:t>
            </a:r>
            <a:r>
              <a:rPr lang="en-US" dirty="0" smtClean="0">
                <a:solidFill>
                  <a:srgbClr val="00B0F0"/>
                </a:solidFill>
              </a:rPr>
              <a:t> buyer to the seller</a:t>
            </a:r>
            <a:r>
              <a:rPr lang="en-US" dirty="0" smtClean="0"/>
              <a:t> as the terms and conditions for the purchase of goods are favorable for the buyer.</a:t>
            </a:r>
          </a:p>
          <a:p>
            <a:pPr marL="0" indent="0">
              <a:buNone/>
            </a:pPr>
            <a:r>
              <a:rPr lang="en-US" dirty="0" smtClean="0"/>
              <a:t>It contains </a:t>
            </a:r>
            <a:r>
              <a:rPr lang="en-US" dirty="0" smtClean="0">
                <a:solidFill>
                  <a:srgbClr val="00B0F0"/>
                </a:solidFill>
              </a:rPr>
              <a:t>detailed description of the goods ordered and delivery time.</a:t>
            </a:r>
          </a:p>
          <a:p>
            <a:pPr marL="0" indent="0">
              <a:buNone/>
            </a:pPr>
            <a:r>
              <a:rPr lang="en-US" dirty="0" smtClean="0"/>
              <a:t>Should be </a:t>
            </a:r>
            <a:r>
              <a:rPr lang="en-US" dirty="0" smtClean="0">
                <a:solidFill>
                  <a:srgbClr val="00B0F0"/>
                </a:solidFill>
              </a:rPr>
              <a:t>transparency in terms of payment</a:t>
            </a:r>
            <a:r>
              <a:rPr lang="en-US" dirty="0" smtClean="0"/>
              <a:t> to be saved from further dispute and continue trade relation.</a:t>
            </a:r>
          </a:p>
          <a:p>
            <a:pPr marL="0" indent="0">
              <a:buNone/>
            </a:pPr>
            <a:r>
              <a:rPr lang="en-US" sz="4100" b="1" dirty="0" smtClean="0"/>
              <a:t>4. Claim/complain letter: </a:t>
            </a:r>
            <a:r>
              <a:rPr lang="en-US" dirty="0" smtClean="0"/>
              <a:t>written by </a:t>
            </a:r>
            <a:r>
              <a:rPr lang="en-US" dirty="0" smtClean="0">
                <a:solidFill>
                  <a:srgbClr val="00B0F0"/>
                </a:solidFill>
              </a:rPr>
              <a:t>buyer to the seller.</a:t>
            </a:r>
          </a:p>
          <a:p>
            <a:pPr marL="0" indent="0">
              <a:buNone/>
            </a:pPr>
            <a:r>
              <a:rPr lang="en-US" dirty="0" smtClean="0"/>
              <a:t>It is written when </a:t>
            </a:r>
            <a:r>
              <a:rPr lang="en-US" dirty="0" smtClean="0">
                <a:solidFill>
                  <a:srgbClr val="00B0F0"/>
                </a:solidFill>
              </a:rPr>
              <a:t>buyer does not receive the ordered goods in right time under the right terms and conditions.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Damage in purchased items, low quality goods, different than ordered etc.</a:t>
            </a:r>
          </a:p>
          <a:p>
            <a:pPr marL="0" indent="0">
              <a:buNone/>
            </a:pPr>
            <a:r>
              <a:rPr lang="en-US" dirty="0" smtClean="0"/>
              <a:t>Customers </a:t>
            </a:r>
            <a:r>
              <a:rPr lang="en-US" dirty="0" smtClean="0">
                <a:solidFill>
                  <a:srgbClr val="00B0F0"/>
                </a:solidFill>
              </a:rPr>
              <a:t>claim for reduction in price, return the goods or exchange</a:t>
            </a:r>
            <a:r>
              <a:rPr lang="en-US" dirty="0" smtClean="0"/>
              <a:t> the purchased goods.</a:t>
            </a:r>
          </a:p>
          <a:p>
            <a:pPr marL="0" indent="0">
              <a:buNone/>
            </a:pPr>
            <a:r>
              <a:rPr lang="en-US" dirty="0" smtClean="0"/>
              <a:t>To keep relationship buyer should </a:t>
            </a:r>
            <a:r>
              <a:rPr lang="en-US" dirty="0" smtClean="0">
                <a:solidFill>
                  <a:srgbClr val="00B0F0"/>
                </a:solidFill>
              </a:rPr>
              <a:t>maintain politeness in language.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99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3891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 smtClean="0"/>
              <a:t>5. Adjustment Letter: </a:t>
            </a:r>
            <a:r>
              <a:rPr lang="en-US" dirty="0"/>
              <a:t>W</a:t>
            </a:r>
            <a:r>
              <a:rPr lang="en-US" dirty="0" smtClean="0"/>
              <a:t>ritten by </a:t>
            </a:r>
            <a:r>
              <a:rPr lang="en-US" dirty="0" smtClean="0">
                <a:solidFill>
                  <a:srgbClr val="00B0F0"/>
                </a:solidFill>
              </a:rPr>
              <a:t>seller to the buyer</a:t>
            </a:r>
            <a:r>
              <a:rPr lang="en-US" dirty="0" smtClean="0"/>
              <a:t> in response to the customer’s dissatisfaction with service.</a:t>
            </a:r>
          </a:p>
          <a:p>
            <a:pPr marL="0" indent="0">
              <a:buNone/>
            </a:pPr>
            <a:r>
              <a:rPr lang="en-US" dirty="0" smtClean="0"/>
              <a:t>It is a </a:t>
            </a:r>
            <a:r>
              <a:rPr lang="en-US" dirty="0" smtClean="0">
                <a:solidFill>
                  <a:srgbClr val="00B0F0"/>
                </a:solidFill>
              </a:rPr>
              <a:t>remedial step for the mistake committed.</a:t>
            </a:r>
          </a:p>
          <a:p>
            <a:pPr marL="0" indent="0">
              <a:buNone/>
            </a:pPr>
            <a:r>
              <a:rPr lang="en-US" dirty="0" smtClean="0"/>
              <a:t>Seller has to </a:t>
            </a:r>
            <a:r>
              <a:rPr lang="en-US" dirty="0" smtClean="0">
                <a:solidFill>
                  <a:srgbClr val="00B0F0"/>
                </a:solidFill>
              </a:rPr>
              <a:t>take complaint positively and courteous treatment</a:t>
            </a:r>
            <a:r>
              <a:rPr lang="en-US" dirty="0" smtClean="0"/>
              <a:t> should be made in response to maintain business  relationship.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Assignment</a:t>
            </a:r>
          </a:p>
          <a:p>
            <a:pPr marL="0" indent="0">
              <a:buNone/>
            </a:pPr>
            <a:r>
              <a:rPr lang="en-US" dirty="0" smtClean="0"/>
              <a:t>1. Write the sample of all business letters those we have read.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5083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122</TotalTime>
  <Words>961</Words>
  <Application>Microsoft Office PowerPoint</Application>
  <PresentationFormat>On-screen Show (4:3)</PresentationFormat>
  <Paragraphs>74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Letter writing</vt:lpstr>
      <vt:lpstr>PowerPoint Presentation</vt:lpstr>
      <vt:lpstr>PowerPoint Presentation</vt:lpstr>
      <vt:lpstr>PowerPoint Presentation</vt:lpstr>
      <vt:lpstr>        The Business Letter</vt:lpstr>
      <vt:lpstr>Types of Business Letters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Letters</dc:title>
  <dc:creator>JOSHI SHANKAR</dc:creator>
  <cp:lastModifiedBy>lenovo</cp:lastModifiedBy>
  <cp:revision>18</cp:revision>
  <dcterms:created xsi:type="dcterms:W3CDTF">2006-08-16T00:00:00Z</dcterms:created>
  <dcterms:modified xsi:type="dcterms:W3CDTF">2025-05-14T12:34:13Z</dcterms:modified>
</cp:coreProperties>
</file>