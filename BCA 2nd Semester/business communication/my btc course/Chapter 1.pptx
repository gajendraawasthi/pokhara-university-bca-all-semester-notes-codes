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885190" y="735965"/>
            <a:ext cx="9784715" cy="147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/>
              <a:t>CHAPTER 1 :</a:t>
            </a:r>
            <a:endParaRPr lang="en-US" altLang="en-GB" sz="3200" b="1"/>
          </a:p>
          <a:p>
            <a:r>
              <a:rPr lang="en-US" altLang="en-GB" sz="4000" b="1">
                <a:solidFill>
                  <a:srgbClr val="FF0000"/>
                </a:solidFill>
              </a:rPr>
              <a:t>INTRODUCTION TO COMMUNICATION</a:t>
            </a:r>
            <a:endParaRPr lang="en-US" altLang="en-GB" sz="4000" b="1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83920" y="2649855"/>
            <a:ext cx="9785985" cy="2165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solidFill>
                  <a:schemeClr val="accent2"/>
                </a:solidFill>
              </a:rPr>
              <a:t>POKHARA UNIVERSITY</a:t>
            </a:r>
            <a:endParaRPr lang="en-US" altLang="en-GB" sz="3200" b="1">
              <a:solidFill>
                <a:schemeClr val="accent2"/>
              </a:solidFill>
            </a:endParaRPr>
          </a:p>
          <a:p>
            <a:r>
              <a:rPr lang="en-US" altLang="en-GB" sz="3200" b="1">
                <a:solidFill>
                  <a:srgbClr val="FF0000"/>
                </a:solidFill>
              </a:rPr>
              <a:t>BCA</a:t>
            </a:r>
            <a:endParaRPr lang="en-US" altLang="en-GB" sz="3200"/>
          </a:p>
          <a:p>
            <a:r>
              <a:rPr lang="en-US" altLang="en-GB" sz="3200" b="1">
                <a:solidFill>
                  <a:srgbClr val="00B050"/>
                </a:solidFill>
              </a:rPr>
              <a:t>BUSINESS AND TECHNICAL COMMUNICATION </a:t>
            </a:r>
            <a:endParaRPr lang="en-US" altLang="en-GB" sz="3200" b="1">
              <a:solidFill>
                <a:srgbClr val="00B050"/>
              </a:solidFill>
            </a:endParaRPr>
          </a:p>
          <a:p>
            <a:r>
              <a:rPr lang="en-US" altLang="en-GB" sz="2400">
                <a:solidFill>
                  <a:srgbClr val="7030A0"/>
                </a:solidFill>
              </a:rPr>
              <a:t>( ENG 122 -:3 CREDITS )</a:t>
            </a:r>
            <a:endParaRPr lang="en-US" altLang="en-GB" sz="24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en-GB" b="1"/>
              <a:t>Communication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725" y="1356360"/>
            <a:ext cx="10972800" cy="5071110"/>
          </a:xfrm>
        </p:spPr>
        <p:txBody>
          <a:bodyPr/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Communication (Latin comm</a:t>
            </a: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ū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nic</a:t>
            </a: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ā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re = "to share") is conveying meaning between people/groups using common signs or systems.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Simple form: Transfer of message from sender (addresser) to receiver (addressee).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Exchange: Sharing information between addresser and addressee.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Definitions by writers: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 i="1">
                <a:latin typeface="Times New Roman" panose="02020603050405020304" charset="0"/>
                <a:cs typeface="Times New Roman" panose="02020603050405020304" charset="0"/>
              </a:rPr>
              <a:t>“Communication is an exchange of facts, ideas, opinions or emotions by two or more persons.”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- Newman and Summer 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 i="1">
                <a:latin typeface="Times New Roman" panose="02020603050405020304" charset="0"/>
                <a:cs typeface="Times New Roman" panose="02020603050405020304" charset="0"/>
              </a:rPr>
              <a:t>“Communication is the exchange of information and the transmission of meaning. It is the very essence of a social system of an organization.”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- Katz and Kahn 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 i="1">
                <a:latin typeface="Times New Roman" panose="02020603050405020304" charset="0"/>
                <a:cs typeface="Times New Roman" panose="02020603050405020304" charset="0"/>
              </a:rPr>
              <a:t>”Communication is transfer of information from one person to another, whether or not it elicits confidence. But the information transferred must be understandable to the receiver.”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– G.G. Brown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 i="1">
                <a:latin typeface="Times New Roman" panose="02020603050405020304" charset="0"/>
                <a:cs typeface="Times New Roman" panose="02020603050405020304" charset="0"/>
              </a:rPr>
              <a:t>“Communication is the intercourse by words, letters or messages.”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Fred G. Meyer.  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 i="1">
                <a:latin typeface="Times New Roman" panose="02020603050405020304" charset="0"/>
                <a:cs typeface="Times New Roman" panose="02020603050405020304" charset="0"/>
              </a:rPr>
              <a:t>“Communication is the sum of all the things one person does; when he wants to create understanding in the mind of another. It involves a systematic and continuous process of telling, listening and understanding.</a:t>
            </a:r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” -</a:t>
            </a: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Allen Louis 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00"/>
            <a:ext cx="12192635" cy="1143000"/>
          </a:xfrm>
        </p:spPr>
        <p:txBody>
          <a:bodyPr/>
          <a:p>
            <a:pPr fontAlgn="ctr"/>
            <a:r>
              <a:rPr lang="en-US" altLang="en-GB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SCHOOLS IN THE STUDY OF COMMUNICATION</a:t>
            </a:r>
            <a:endParaRPr lang="en-US" altLang="en-GB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76675" y="58801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3600" b="1">
                <a:sym typeface="+mn-ea"/>
              </a:rPr>
              <a:t>Chapter 1 ( Part 2 )</a:t>
            </a:r>
            <a:endParaRPr lang="en-US" altLang="en-GB" sz="3600" b="1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Process school 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l">
              <a:buNone/>
            </a:pPr>
            <a:r>
              <a:rPr lang="en-US" altLang="en-GB" sz="2400" b="1">
                <a:solidFill>
                  <a:srgbClr val="FF0000"/>
                </a:solidFill>
              </a:rPr>
              <a:t>Meaning</a:t>
            </a:r>
            <a:endParaRPr lang="en-US" altLang="en-GB" sz="2400" b="1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GB" sz="2400">
                <a:solidFill>
                  <a:schemeClr val="tx1"/>
                </a:solidFill>
              </a:rPr>
              <a:t>Communication = sending a message from one person to another.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GB" sz="2400">
                <a:solidFill>
                  <a:schemeClr val="accent2"/>
                </a:solidFill>
              </a:rPr>
              <a:t>How it works:</a:t>
            </a:r>
            <a:endParaRPr lang="en-US" altLang="en-GB" sz="2400">
              <a:solidFill>
                <a:schemeClr val="accent2"/>
              </a:solidFill>
            </a:endParaRPr>
          </a:p>
          <a:p>
            <a:pPr algn="l"/>
            <a:r>
              <a:rPr lang="en-US" altLang="en-GB" sz="2400">
                <a:solidFill>
                  <a:schemeClr val="tx1"/>
                </a:solidFill>
              </a:rPr>
              <a:t>Sender makes (encodes) the message.</a:t>
            </a:r>
            <a:endParaRPr lang="en-US" altLang="en-GB" sz="2400">
              <a:solidFill>
                <a:schemeClr val="tx1"/>
              </a:solidFill>
            </a:endParaRPr>
          </a:p>
          <a:p>
            <a:pPr algn="l"/>
            <a:r>
              <a:rPr lang="en-US" altLang="en-GB" sz="2400">
                <a:solidFill>
                  <a:schemeClr val="tx1"/>
                </a:solidFill>
              </a:rPr>
              <a:t>Message goes through a channel/media (like phone, letter, email).</a:t>
            </a:r>
            <a:endParaRPr lang="en-US" altLang="en-GB" sz="2400">
              <a:solidFill>
                <a:schemeClr val="tx1"/>
              </a:solidFill>
            </a:endParaRPr>
          </a:p>
          <a:p>
            <a:pPr algn="l"/>
            <a:r>
              <a:rPr lang="en-US" altLang="en-GB" sz="2400">
                <a:solidFill>
                  <a:schemeClr val="tx1"/>
                </a:solidFill>
              </a:rPr>
              <a:t>Receiver understands (decodes) the message.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GB" sz="2400" b="1">
                <a:solidFill>
                  <a:srgbClr val="00B050"/>
                </a:solidFill>
              </a:rPr>
              <a:t>Focus</a:t>
            </a:r>
            <a:r>
              <a:rPr lang="en-US" altLang="en-GB" sz="2400">
                <a:solidFill>
                  <a:schemeClr val="tx1"/>
                </a:solidFill>
              </a:rPr>
              <a:t>: How clear and correct the message is.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GB" sz="2400" b="1">
                <a:solidFill>
                  <a:srgbClr val="7030A0"/>
                </a:solidFill>
              </a:rPr>
              <a:t>Purpose</a:t>
            </a:r>
            <a:r>
              <a:rPr lang="en-US" altLang="en-GB" sz="2400">
                <a:solidFill>
                  <a:schemeClr val="tx1"/>
                </a:solidFill>
              </a:rPr>
              <a:t>: To change or influence another person’s thoughts or actions.</a:t>
            </a:r>
            <a:endParaRPr lang="en-US" altLang="en-GB" sz="24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altLang="en-GB" sz="2400" b="1">
                <a:solidFill>
                  <a:srgbClr val="FFC000"/>
                </a:solidFill>
              </a:rPr>
              <a:t>Failure</a:t>
            </a:r>
            <a:r>
              <a:rPr lang="en-US" altLang="en-GB" sz="2400">
                <a:solidFill>
                  <a:schemeClr val="tx1"/>
                </a:solidFill>
              </a:rPr>
              <a:t>: Happens if the receiver does not get the message as the sender wanted.</a:t>
            </a:r>
            <a:endParaRPr lang="en-US" altLang="en-GB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The Semiotic School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35880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solidFill>
                  <a:srgbClr val="FF0000"/>
                </a:solidFill>
                <a:sym typeface="+mn-ea"/>
              </a:rPr>
              <a:t>Meaning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Communication = the production and exchange of meaning.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olidFill>
                  <a:schemeClr val="accent2"/>
                </a:solidFill>
                <a:sym typeface="+mn-ea"/>
              </a:rPr>
              <a:t>How it works:</a:t>
            </a:r>
            <a:endParaRPr lang="en-US" altLang="en-GB" sz="2400">
              <a:solidFill>
                <a:schemeClr val="accent2"/>
              </a:solidFill>
            </a:endParaRPr>
          </a:p>
          <a:p>
            <a:r>
              <a:rPr lang="en-US" altLang="en-GB" sz="2400"/>
              <a:t>A text (message) is made of signs.</a:t>
            </a:r>
            <a:endParaRPr lang="en-US" altLang="en-GB" sz="2400"/>
          </a:p>
          <a:p>
            <a:r>
              <a:rPr lang="en-US" altLang="en-GB" sz="2400"/>
              <a:t>The receiver (reader) decodes it based on their own culture and experience.</a:t>
            </a:r>
            <a:endParaRPr lang="en-US" altLang="en-GB" sz="2400"/>
          </a:p>
          <a:p>
            <a:r>
              <a:rPr lang="en-US" altLang="en-GB" sz="2400"/>
              <a:t>This interaction creates the meaning.</a:t>
            </a:r>
            <a:endParaRPr lang="en-US" altLang="en-GB" sz="2400"/>
          </a:p>
          <a:p>
            <a:r>
              <a:rPr lang="en-US" altLang="en-GB" sz="2400"/>
              <a:t>Communication can be verbal or non-verbal, it can be internal or external and it can take place in two people as well as in-group.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olidFill>
                  <a:srgbClr val="00B050"/>
                </a:solidFill>
                <a:sym typeface="+mn-ea"/>
              </a:rPr>
              <a:t>Focus</a:t>
            </a:r>
            <a:r>
              <a:rPr lang="en-US" altLang="en-GB" sz="2400"/>
              <a:t>: The role of the text in culture and how meaning is made by the reader.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olidFill>
                  <a:srgbClr val="7030A0"/>
                </a:solidFill>
                <a:sym typeface="+mn-ea"/>
              </a:rPr>
              <a:t>Purpose</a:t>
            </a:r>
            <a:r>
              <a:rPr lang="en-US" altLang="en-GB" sz="2400"/>
              <a:t>: To understand culture and how people interpret messages.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olidFill>
                  <a:srgbClr val="FFC000"/>
                </a:solidFill>
                <a:sym typeface="+mn-ea"/>
              </a:rPr>
              <a:t>Failure</a:t>
            </a:r>
            <a:r>
              <a:rPr lang="en-US" altLang="en-GB" sz="2400"/>
              <a:t>: Happens due to cultural differences, not a wrong transmission. Many meanings are possible.</a:t>
            </a:r>
            <a:endParaRPr lang="en-US" altLang="en-GB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Chapter 1 ( Part 3 )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2018665" y="3106420"/>
            <a:ext cx="9330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4000" b="1">
                <a:solidFill>
                  <a:srgbClr val="FF0000"/>
                </a:solidFill>
                <a:sym typeface="+mn-ea"/>
              </a:rPr>
              <a:t>Principles of Communication (7 C’s) </a:t>
            </a:r>
            <a:br>
              <a:rPr lang="en-US" altLang="en-GB" sz="4000" b="1">
                <a:solidFill>
                  <a:srgbClr val="FF0000"/>
                </a:solidFill>
                <a:sym typeface="+mn-ea"/>
              </a:rPr>
            </a:br>
            <a:endParaRPr lang="en-US" altLang="en-GB" sz="4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9620"/>
            <a:ext cx="10972800" cy="830580"/>
          </a:xfrm>
        </p:spPr>
        <p:txBody>
          <a:bodyPr/>
          <a:p>
            <a:r>
              <a:rPr lang="en-US" altLang="en-GB"/>
              <a:t>Principles of Communication (7 Cs) </a:t>
            </a:r>
            <a:br>
              <a:rPr lang="en-US" altLang="en-GB"/>
            </a:b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rgbClr val="FFC000"/>
                </a:solidFill>
              </a:rPr>
              <a:t>Clarity 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chemeClr val="accent2"/>
                </a:solidFill>
              </a:rPr>
              <a:t>Completeness 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rgbClr val="7030A0"/>
                </a:solidFill>
              </a:rPr>
              <a:t>Conciseness </a:t>
            </a:r>
            <a:endParaRPr lang="en-US" altLang="en-GB">
              <a:solidFill>
                <a:srgbClr val="7030A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rgbClr val="00B050"/>
                </a:solidFill>
              </a:rPr>
              <a:t>Concreteness </a:t>
            </a:r>
            <a:endParaRPr lang="en-US" altLang="en-GB">
              <a:solidFill>
                <a:srgbClr val="00B05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chemeClr val="accent1">
                    <a:lumMod val="75000"/>
                  </a:schemeClr>
                </a:solidFill>
              </a:rPr>
              <a:t>Consideration </a:t>
            </a:r>
            <a:endParaRPr lang="en-US" altLang="en-GB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rgbClr val="002060"/>
                </a:solidFill>
              </a:rPr>
              <a:t>Correctness </a:t>
            </a:r>
            <a:endParaRPr lang="en-US" altLang="en-GB">
              <a:solidFill>
                <a:srgbClr val="00206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solidFill>
                  <a:srgbClr val="FF0000"/>
                </a:solidFill>
              </a:rPr>
              <a:t>Courtesy </a:t>
            </a:r>
            <a:endParaRPr lang="en-US" altLang="en-GB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1. Clarity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400"/>
              <a:t>Be clear so the receiver understands you.</a:t>
            </a:r>
            <a:endParaRPr lang="en-US" altLang="en-GB" sz="2400"/>
          </a:p>
          <a:p>
            <a:r>
              <a:rPr lang="en-US" altLang="en-GB" sz="2400"/>
              <a:t>Use simple, familiar words and effective sentences.</a:t>
            </a:r>
            <a:endParaRPr lang="en-US" altLang="en-GB" sz="2400"/>
          </a:p>
          <a:p>
            <a:r>
              <a:rPr lang="en-US" altLang="en-GB" sz="2400"/>
              <a:t>Use visuals to help explain.</a:t>
            </a:r>
            <a:endParaRPr lang="en-US" altLang="en-GB" sz="2400"/>
          </a:p>
          <a:p>
            <a:endParaRPr lang="en-US" altLang="en-GB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2. Completeness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Provide all necessary information.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Answer who, what, where, when, why, and how.</a:t>
            </a:r>
            <a:endParaRPr lang="en-US" altLang="en-GB"/>
          </a:p>
          <a:p>
            <a:r>
              <a:rPr lang="en-US" altLang="en-GB">
                <a:sym typeface="+mn-ea"/>
              </a:rPr>
              <a:t>Give the audience everything they need to know.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3. Conciseness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Be brief and to the point.</a:t>
            </a:r>
            <a:endParaRPr lang="en-US" altLang="en-GB"/>
          </a:p>
          <a:p>
            <a:r>
              <a:rPr lang="en-US" altLang="en-GB">
                <a:sym typeface="+mn-ea"/>
              </a:rPr>
              <a:t>Eliminate unnecessary words.</a:t>
            </a:r>
            <a:endParaRPr lang="en-US" altLang="en-GB"/>
          </a:p>
          <a:p>
            <a:r>
              <a:rPr lang="en-US" altLang="en-GB">
                <a:sym typeface="+mn-ea"/>
              </a:rPr>
              <a:t>Saves time and makes the main idea stand out.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4. Concreteness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Be specific, not vague.</a:t>
            </a:r>
            <a:endParaRPr lang="en-US" altLang="en-GB"/>
          </a:p>
          <a:p>
            <a:r>
              <a:rPr lang="en-US" altLang="en-GB">
                <a:sym typeface="+mn-ea"/>
              </a:rPr>
              <a:t>Use solid facts, figures, and action verbs.</a:t>
            </a:r>
            <a:endParaRPr lang="en-US" altLang="en-GB"/>
          </a:p>
          <a:p>
            <a:r>
              <a:rPr lang="en-US" altLang="en-GB">
                <a:sym typeface="+mn-ea"/>
              </a:rPr>
              <a:t>Paint a clear picture for the audience.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5. Consideration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Think about the audience's needs and feelings.</a:t>
            </a:r>
            <a:endParaRPr lang="en-US" altLang="en-GB"/>
          </a:p>
          <a:p>
            <a:r>
              <a:rPr lang="en-US" altLang="en-GB">
                <a:sym typeface="+mn-ea"/>
              </a:rPr>
              <a:t>See things from their perspective (empathize).</a:t>
            </a:r>
            <a:endParaRPr lang="en-US" altLang="en-GB"/>
          </a:p>
          <a:p>
            <a:r>
              <a:rPr lang="en-US" altLang="en-GB">
                <a:sym typeface="+mn-ea"/>
              </a:rPr>
              <a:t>Focus on the receiver's benefit.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6. Correctness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Ensure facts, grammar, and spelling are accurate.</a:t>
            </a:r>
            <a:endParaRPr lang="en-US" altLang="en-GB"/>
          </a:p>
          <a:p>
            <a:r>
              <a:rPr lang="en-US" altLang="en-GB">
                <a:sym typeface="+mn-ea"/>
              </a:rPr>
              <a:t>Use the right tone and polite language.</a:t>
            </a:r>
            <a:endParaRPr lang="en-US" altLang="en-GB"/>
          </a:p>
          <a:p>
            <a:r>
              <a:rPr lang="en-US" altLang="en-GB">
                <a:sym typeface="+mn-ea"/>
              </a:rPr>
              <a:t>Be politically correct and appropriate.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7030A0"/>
                </a:solidFill>
                <a:sym typeface="+mn-ea"/>
              </a:rPr>
              <a:t>7. Courtesy</a:t>
            </a:r>
            <a:endParaRPr lang="en-US" altLang="en-GB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Be polite, respectful, and sincere.</a:t>
            </a:r>
            <a:endParaRPr lang="en-US" altLang="en-GB"/>
          </a:p>
          <a:p>
            <a:r>
              <a:rPr lang="en-US" altLang="en-GB">
                <a:sym typeface="+mn-ea"/>
              </a:rPr>
              <a:t>Show appreciation (say "thank you").</a:t>
            </a:r>
            <a:endParaRPr lang="en-US" altLang="en-GB"/>
          </a:p>
          <a:p>
            <a:r>
              <a:rPr lang="en-US" altLang="en-GB">
                <a:sym typeface="+mn-ea"/>
              </a:rPr>
              <a:t>Avoid rude or hurtful language.</a:t>
            </a:r>
            <a:endParaRPr lang="en-US" altLang="en-GB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Chapter 1 ( Part 4 )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27605"/>
            <a:ext cx="10972800" cy="3698875"/>
          </a:xfrm>
        </p:spPr>
        <p:txBody>
          <a:bodyPr/>
          <a:p>
            <a:pPr marL="0" indent="0" algn="ctr">
              <a:buNone/>
            </a:pPr>
            <a:r>
              <a:rPr lang="en-US" altLang="en-GB" sz="4000" b="1">
                <a:solidFill>
                  <a:srgbClr val="C00000"/>
                </a:solidFill>
              </a:rPr>
              <a:t>Process of Communication </a:t>
            </a:r>
            <a:endParaRPr lang="en-US" altLang="en-GB" sz="4000" b="1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altLang="en-GB" sz="40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Process of Communication 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Communication process generally includes: </a:t>
            </a:r>
            <a:endParaRPr lang="en-US" altLang="en-GB"/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C00000"/>
                </a:solidFill>
              </a:rPr>
              <a:t>Sender/encoder</a:t>
            </a:r>
            <a:endParaRPr lang="en-US" altLang="en-GB">
              <a:solidFill>
                <a:srgbClr val="C00000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FF0000"/>
                </a:solidFill>
              </a:rPr>
              <a:t>Message </a:t>
            </a:r>
            <a:endParaRPr lang="en-US" altLang="en-GB"/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FFC000"/>
                </a:solidFill>
              </a:rPr>
              <a:t>Medium/channel </a:t>
            </a:r>
            <a:endParaRPr lang="en-US" altLang="en-GB">
              <a:solidFill>
                <a:srgbClr val="FFC000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92D050"/>
                </a:solidFill>
              </a:rPr>
              <a:t>Recipient/decoder </a:t>
            </a:r>
            <a:endParaRPr lang="en-US" altLang="en-GB">
              <a:solidFill>
                <a:srgbClr val="92D050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00B0F0"/>
                </a:solidFill>
              </a:rPr>
              <a:t>Feedback </a:t>
            </a:r>
            <a:endParaRPr lang="en-US" altLang="en-GB">
              <a:solidFill>
                <a:srgbClr val="00B0F0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GB">
                <a:solidFill>
                  <a:srgbClr val="7030A0"/>
                </a:solidFill>
              </a:rPr>
              <a:t>Context</a:t>
            </a:r>
            <a:endParaRPr lang="en-US" altLang="en-GB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1. Sender/Encoder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The person or group who creates and sends the message.</a:t>
            </a:r>
            <a:endParaRPr lang="en-US" altLang="en-GB"/>
          </a:p>
          <a:p>
            <a:r>
              <a:rPr lang="en-US" altLang="en-GB"/>
              <a:t>They choose words or symbols to convey their meaning.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2. Message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The main idea or information being sent.</a:t>
            </a:r>
            <a:endParaRPr lang="en-US" altLang="en-GB"/>
          </a:p>
          <a:p>
            <a:r>
              <a:rPr lang="en-US" altLang="en-GB">
                <a:sym typeface="+mn-ea"/>
              </a:rPr>
              <a:t>It must be clear and suitable for the audience.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3. Medium/Channel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The method used to send the message (e.g., email, speech, text).</a:t>
            </a:r>
            <a:endParaRPr lang="en-US" altLang="en-GB"/>
          </a:p>
          <a:p>
            <a:r>
              <a:rPr lang="en-US" altLang="en-GB">
                <a:sym typeface="+mn-ea"/>
              </a:rPr>
              <a:t>The best channel depends on the message and the receiver.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4. Recipient/Decoder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The person or group the message is for.</a:t>
            </a:r>
            <a:endParaRPr lang="en-US" altLang="en-GB"/>
          </a:p>
          <a:p>
            <a:r>
              <a:rPr lang="en-US" altLang="en-GB">
                <a:sym typeface="+mn-ea"/>
              </a:rPr>
              <a:t>They interpret the message based on their own understanding.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5. Feedback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The receiver's response to the sender.</a:t>
            </a:r>
            <a:endParaRPr lang="en-US" altLang="en-GB"/>
          </a:p>
          <a:p>
            <a:r>
              <a:rPr lang="en-US" altLang="en-GB">
                <a:sym typeface="+mn-ea"/>
              </a:rPr>
              <a:t>It makes communication a two-way process and shows if the message was understood.</a:t>
            </a:r>
            <a:endParaRPr lang="en-US" altLang="en-GB"/>
          </a:p>
          <a:p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00B050"/>
                </a:solidFill>
                <a:sym typeface="+mn-ea"/>
              </a:rPr>
              <a:t>6. Context</a:t>
            </a:r>
            <a:endParaRPr lang="en-US" altLang="en-GB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The situation or environment where communication happens.</a:t>
            </a:r>
            <a:endParaRPr lang="en-US" altLang="en-GB"/>
          </a:p>
          <a:p>
            <a:r>
              <a:rPr lang="en-US" altLang="en-GB">
                <a:sym typeface="+mn-ea"/>
              </a:rPr>
              <a:t>This includes physical, social, and cultural settings, which can help or hinder the message.</a:t>
            </a:r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-203835" y="-150495"/>
            <a:ext cx="13505180" cy="26720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67335" y="4400550"/>
            <a:ext cx="13505180" cy="26720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064000" y="267144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6000" b="1">
                <a:solidFill>
                  <a:srgbClr val="00B0F0"/>
                </a:solidFill>
                <a:latin typeface="Calibri (Body)" charset="0"/>
                <a:cs typeface="Calibri (Body)" charset="0"/>
              </a:rPr>
              <a:t>THANK YOU</a:t>
            </a:r>
            <a:endParaRPr lang="en-US" altLang="en-GB" sz="6000" b="1">
              <a:solidFill>
                <a:srgbClr val="00B0F0"/>
              </a:solidFill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-203835" y="-150495"/>
            <a:ext cx="13505180" cy="26720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67335" y="4400550"/>
            <a:ext cx="13505180" cy="26720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064000" y="267144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6000" b="1">
                <a:solidFill>
                  <a:srgbClr val="00B0F0"/>
                </a:solidFill>
                <a:latin typeface="Calibri (Body)" charset="0"/>
                <a:cs typeface="Calibri (Body)" charset="0"/>
              </a:rPr>
              <a:t>THANK YOU</a:t>
            </a:r>
            <a:endParaRPr lang="en-US" altLang="en-GB" sz="6000" b="1">
              <a:solidFill>
                <a:srgbClr val="00B0F0"/>
              </a:solidFill>
              <a:latin typeface="Calibri (Body)" charset="0"/>
              <a:cs typeface="Calibri (Body)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-635" y="4861560"/>
            <a:ext cx="12192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4800" b="1">
                <a:solidFill>
                  <a:schemeClr val="accent2"/>
                </a:solidFill>
                <a:latin typeface="Calibri (Body)" charset="0"/>
                <a:cs typeface="Calibri (Body)" charset="0"/>
              </a:rPr>
              <a:t>LIKE </a:t>
            </a:r>
            <a:r>
              <a:rPr lang="en-US" altLang="en-GB" sz="4800" b="1">
                <a:solidFill>
                  <a:srgbClr val="00B0F0"/>
                </a:solidFill>
                <a:latin typeface="Calibri (Body)" charset="0"/>
                <a:cs typeface="Calibri (Body)" charset="0"/>
              </a:rPr>
              <a:t>, </a:t>
            </a:r>
            <a:r>
              <a:rPr lang="en-US" altLang="en-GB" sz="4800" b="1">
                <a:solidFill>
                  <a:srgbClr val="0070C0"/>
                </a:solidFill>
                <a:latin typeface="Calibri (Body)" charset="0"/>
                <a:cs typeface="Calibri (Body)" charset="0"/>
              </a:rPr>
              <a:t>COMMENT </a:t>
            </a:r>
            <a:r>
              <a:rPr lang="en-US" altLang="en-GB" sz="4800" b="1">
                <a:solidFill>
                  <a:srgbClr val="00B0F0"/>
                </a:solidFill>
                <a:latin typeface="Calibri (Body)" charset="0"/>
                <a:cs typeface="Calibri (Body)" charset="0"/>
              </a:rPr>
              <a:t>, </a:t>
            </a:r>
            <a:r>
              <a:rPr lang="en-US" altLang="en-GB" sz="4800" b="1">
                <a:solidFill>
                  <a:srgbClr val="7030A0"/>
                </a:solidFill>
                <a:latin typeface="Calibri (Body)" charset="0"/>
                <a:cs typeface="Calibri (Body)" charset="0"/>
              </a:rPr>
              <a:t>SHARE </a:t>
            </a:r>
            <a:r>
              <a:rPr lang="en-US" altLang="en-GB" sz="4800" b="1">
                <a:solidFill>
                  <a:srgbClr val="00B0F0"/>
                </a:solidFill>
                <a:latin typeface="Calibri (Body)" charset="0"/>
                <a:cs typeface="Calibri (Body)" charset="0"/>
              </a:rPr>
              <a:t>, </a:t>
            </a:r>
            <a:r>
              <a:rPr lang="en-US" altLang="en-GB" sz="4800" b="1">
                <a:solidFill>
                  <a:srgbClr val="C00000"/>
                </a:solidFill>
                <a:latin typeface="Calibri (Body)" charset="0"/>
                <a:cs typeface="Calibri (Body)" charset="0"/>
              </a:rPr>
              <a:t>SUBSCRIBE</a:t>
            </a:r>
            <a:endParaRPr lang="en-US" altLang="en-GB" sz="4800" b="1">
              <a:solidFill>
                <a:srgbClr val="C00000"/>
              </a:solidFill>
              <a:latin typeface="Calibri (Body)" charset="0"/>
              <a:cs typeface="Calibri (Body)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4369</Words>
  <Application>WPS Presentation</Application>
  <PresentationFormat>Widescreen</PresentationFormat>
  <Paragraphs>170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Wingdings</vt:lpstr>
      <vt:lpstr>Calibri (Body)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Gajendra Awasthi</cp:lastModifiedBy>
  <cp:revision>5</cp:revision>
  <dcterms:created xsi:type="dcterms:W3CDTF">2025-08-22T13:57:14Z</dcterms:created>
  <dcterms:modified xsi:type="dcterms:W3CDTF">2025-08-22T15:37:55Z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16612705C9634DEA8B25B05E000D7DC9_11</vt:lpwstr>
  </property>
  <property fmtid="{D5CDD505-2E9C-101B-9397-08002B2CF9AE}" pid="3" name="KSOProductBuildVer">
    <vt:lpwstr>2057-12.2.0.21936</vt:lpwstr>
  </property>
</Properties>
</file>