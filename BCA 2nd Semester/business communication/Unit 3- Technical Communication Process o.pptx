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45" r:id="rId2"/>
    <p:sldId id="34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5" r:id="rId11"/>
    <p:sldId id="376" r:id="rId12"/>
    <p:sldId id="6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7" d="100"/>
          <a:sy n="77" d="100"/>
        </p:scale>
        <p:origin x="-366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C365-889A-41DF-AE9C-1B49932D9E32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E57ED-2306-491D-9DAB-432447165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9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3DB55-A7BC-4955-9594-1B8BE0CEC1DE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D67D-D5AD-4398-BD2C-5776D4DF3391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1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719A-057E-48F1-B5E2-2D0AF542DCAD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1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B893-88AB-40C4-92D5-477BE7904D07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8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D5AB-D571-4AF6-BAD7-B3CFA86E6398}" type="datetime1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8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BD585-6257-4A74-8A1A-15EE7DC6F962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6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0322-513E-4A97-B217-169DF18E057B}" type="datetime1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7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70F91-0732-409B-9294-4FE9532EDFB6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4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44FC-193F-456D-8D80-2118A892EB33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7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509F-986E-4BE8-A751-4AA62CAE195E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1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EBD30-94AA-4DBD-8599-2D33C32527B9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5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516EC-B4E3-4F40-8801-772128E9785A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mnrmaniram12@gmail.com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CB889-8A7B-4BBF-B652-6828A84DE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2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Unit- 3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Technical Communication Process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5391"/>
            <a:ext cx="11184835" cy="447260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2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5.1 The Document Process</a:t>
            </a:r>
          </a:p>
          <a:p>
            <a:pPr marL="0" indent="0">
              <a:buNone/>
            </a:pPr>
            <a:r>
              <a:rPr lang="en-US" dirty="0"/>
              <a:t>	A. Planning</a:t>
            </a:r>
          </a:p>
          <a:p>
            <a:pPr marL="0" indent="0">
              <a:buNone/>
            </a:pPr>
            <a:r>
              <a:rPr lang="en-US" dirty="0"/>
              <a:t>	B. Writing the draft</a:t>
            </a:r>
          </a:p>
          <a:p>
            <a:pPr marL="0" indent="0">
              <a:buNone/>
            </a:pPr>
            <a:r>
              <a:rPr lang="en-US" dirty="0"/>
              <a:t>	C. Revising</a:t>
            </a:r>
          </a:p>
          <a:p>
            <a:pPr marL="0" indent="0">
              <a:buNone/>
            </a:pPr>
            <a:r>
              <a:rPr lang="en-US" dirty="0"/>
              <a:t>	D. Delivery</a:t>
            </a:r>
          </a:p>
          <a:p>
            <a:pPr marL="0" indent="0">
              <a:buNone/>
            </a:pPr>
            <a:r>
              <a:rPr lang="en-US" b="1" dirty="0"/>
              <a:t>5.2 The Collaboration Process</a:t>
            </a:r>
          </a:p>
          <a:p>
            <a:pPr marL="0" indent="0">
              <a:buNone/>
            </a:pPr>
            <a:r>
              <a:rPr lang="en-US" dirty="0"/>
              <a:t>	5.2.1 The Pros and Cons of Collaboration</a:t>
            </a:r>
          </a:p>
          <a:p>
            <a:pPr marL="0" indent="0">
              <a:buNone/>
            </a:pPr>
            <a:r>
              <a:rPr lang="en-US" dirty="0"/>
              <a:t>	5..2.2 Collaborative Writing Process</a:t>
            </a:r>
          </a:p>
          <a:p>
            <a:pPr marL="0" indent="0">
              <a:buNone/>
            </a:pPr>
            <a:r>
              <a:rPr lang="en-US" dirty="0"/>
              <a:t>	5.2.3 Strategies for Effective Collaborative Writing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5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9357" y="48869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Warm up: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38" y="1615561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A technical communicator has to </a:t>
            </a:r>
            <a:r>
              <a:rPr lang="en-US" sz="2000" dirty="0">
                <a:solidFill>
                  <a:srgbClr val="00B0F0"/>
                </a:solidFill>
              </a:rPr>
              <a:t>understand the communication process</a:t>
            </a:r>
            <a:r>
              <a:rPr lang="en-US" sz="2000" dirty="0"/>
              <a:t> and follow it for effective and successful communication.</a:t>
            </a:r>
          </a:p>
          <a:p>
            <a:r>
              <a:rPr lang="en-US" sz="2000" dirty="0"/>
              <a:t>Technical communication has a</a:t>
            </a:r>
            <a:r>
              <a:rPr lang="en-US" sz="2000" dirty="0">
                <a:solidFill>
                  <a:srgbClr val="00B0F0"/>
                </a:solidFill>
              </a:rPr>
              <a:t> formal tone and is well organized</a:t>
            </a:r>
            <a:r>
              <a:rPr lang="en-US" sz="2000" dirty="0"/>
              <a:t>.</a:t>
            </a:r>
          </a:p>
          <a:p>
            <a:r>
              <a:rPr lang="en-US" sz="2000" dirty="0">
                <a:solidFill>
                  <a:srgbClr val="00B0F0"/>
                </a:solidFill>
              </a:rPr>
              <a:t>Fairly standard and professional language</a:t>
            </a:r>
          </a:p>
          <a:p>
            <a:r>
              <a:rPr lang="en-US" sz="2000" dirty="0"/>
              <a:t>Must have a certain </a:t>
            </a:r>
            <a:r>
              <a:rPr lang="en-US" sz="2000" dirty="0">
                <a:solidFill>
                  <a:srgbClr val="00B0F0"/>
                </a:solidFill>
              </a:rPr>
              <a:t>plan,</a:t>
            </a:r>
            <a:r>
              <a:rPr lang="en-US" sz="2000" dirty="0"/>
              <a:t> an </a:t>
            </a:r>
            <a:r>
              <a:rPr lang="en-US" sz="2000" dirty="0">
                <a:solidFill>
                  <a:srgbClr val="00B0F0"/>
                </a:solidFill>
              </a:rPr>
              <a:t>outlook</a:t>
            </a:r>
            <a:r>
              <a:rPr lang="en-US" sz="2000" dirty="0"/>
              <a:t> of the topic to write about, and </a:t>
            </a:r>
            <a:r>
              <a:rPr lang="en-US" sz="2000" dirty="0">
                <a:solidFill>
                  <a:srgbClr val="00B0F0"/>
                </a:solidFill>
              </a:rPr>
              <a:t>revise</a:t>
            </a:r>
            <a:r>
              <a:rPr lang="en-US" sz="2000" dirty="0"/>
              <a:t> it.</a:t>
            </a:r>
          </a:p>
          <a:p>
            <a:r>
              <a:rPr lang="en-US" sz="2000" dirty="0"/>
              <a:t>Think critically while making any decision</a:t>
            </a:r>
          </a:p>
          <a:p>
            <a:r>
              <a:rPr lang="en-US" sz="2000" dirty="0">
                <a:solidFill>
                  <a:srgbClr val="00B0F0"/>
                </a:solidFill>
              </a:rPr>
              <a:t>Spend hours finding relevant information/articles, read, analyze, follow a format according to the audience, receive help from friends/experts, revise, call experts for clarification, accept feedback and revise time and again.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5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87" y="228600"/>
            <a:ext cx="9375913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5.1 The document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1809" y="793750"/>
            <a:ext cx="8971721" cy="553084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66800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0" y="1066800"/>
            <a:ext cx="1676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DRAFTING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4200" y="1066800"/>
            <a:ext cx="1447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839200" y="1066800"/>
            <a:ext cx="152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362200" y="1828800"/>
            <a:ext cx="2057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DETERMINE THE 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62200" y="2895600"/>
            <a:ext cx="20574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ANALYZE AUDIENCE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2200" y="4191000"/>
            <a:ext cx="20574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2200" y="5638800"/>
            <a:ext cx="2133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OUTLINE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400" y="4267200"/>
            <a:ext cx="19050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WRITE THE DRAFT, ORGANIZE AND 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828800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THE DRAFT APPROVED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048000"/>
            <a:ext cx="1752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EDIT, CHECK, STYLE, GRAMMAR, MECHANICS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343400"/>
            <a:ext cx="1828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AUDIENCE, SUBJECT EXPERT 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10400" y="5410200"/>
            <a:ext cx="1676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REVIEW, ADJUST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9200" y="1828800"/>
            <a:ext cx="1524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PRINT, PRODUCE, CHECK QAUALITY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3276600"/>
            <a:ext cx="1371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DISTRIBUTE, DISSEMINATE</a:t>
            </a:r>
          </a:p>
        </p:txBody>
      </p: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3352800" y="2590800"/>
            <a:ext cx="381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429000" y="38100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1" idx="0"/>
          </p:cNvCxnSpPr>
          <p:nvPr/>
        </p:nvCxnSpPr>
        <p:spPr>
          <a:xfrm>
            <a:off x="3429000" y="51054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495800" y="44196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4419600" y="48768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495800" y="5791200"/>
            <a:ext cx="152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495800" y="60960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629400" y="56388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0"/>
          </p:cNvCxnSpPr>
          <p:nvPr/>
        </p:nvCxnSpPr>
        <p:spPr>
          <a:xfrm flipV="1">
            <a:off x="7848600" y="5029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7848600" y="36576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7848600" y="25146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13" idx="3"/>
          </p:cNvCxnSpPr>
          <p:nvPr/>
        </p:nvCxnSpPr>
        <p:spPr>
          <a:xfrm flipV="1">
            <a:off x="8382000" y="2133600"/>
            <a:ext cx="3810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17" idx="2"/>
            <a:endCxn id="18" idx="0"/>
          </p:cNvCxnSpPr>
          <p:nvPr/>
        </p:nvCxnSpPr>
        <p:spPr>
          <a:xfrm>
            <a:off x="9601200" y="27432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11" idx="1"/>
          </p:cNvCxnSpPr>
          <p:nvPr/>
        </p:nvCxnSpPr>
        <p:spPr>
          <a:xfrm rot="10800000">
            <a:off x="2057400" y="4648200"/>
            <a:ext cx="304800" cy="13335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2057400" y="4648200"/>
            <a:ext cx="228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2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557" y="365126"/>
            <a:ext cx="11009243" cy="20471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A.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096" y="715616"/>
            <a:ext cx="10770704" cy="614238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Determine your </a:t>
            </a:r>
            <a:r>
              <a:rPr lang="en-US" b="1" dirty="0" smtClean="0">
                <a:solidFill>
                  <a:srgbClr val="92D050"/>
                </a:solidFill>
              </a:rPr>
              <a:t>purpose</a:t>
            </a:r>
            <a:r>
              <a:rPr lang="en-US" dirty="0" smtClean="0">
                <a:solidFill>
                  <a:srgbClr val="92D050"/>
                </a:solidFill>
              </a:rPr>
              <a:t>: </a:t>
            </a:r>
            <a:r>
              <a:rPr lang="en-US" dirty="0" smtClean="0"/>
              <a:t>inform</a:t>
            </a:r>
            <a:r>
              <a:rPr lang="en-US" dirty="0"/>
              <a:t>, instruct, persuade, build rapport with someone etc. it may overlap in a single document.</a:t>
            </a:r>
            <a:endParaRPr lang="en-US" b="1" dirty="0">
              <a:solidFill>
                <a:srgbClr val="92D050"/>
              </a:solidFill>
            </a:endParaRPr>
          </a:p>
          <a:p>
            <a:r>
              <a:rPr lang="en-US" b="1" dirty="0">
                <a:solidFill>
                  <a:srgbClr val="92D050"/>
                </a:solidFill>
              </a:rPr>
              <a:t>Analyze your </a:t>
            </a:r>
            <a:r>
              <a:rPr lang="en-US" b="1" dirty="0" smtClean="0">
                <a:solidFill>
                  <a:srgbClr val="92D050"/>
                </a:solidFill>
              </a:rPr>
              <a:t>audience:</a:t>
            </a:r>
            <a:r>
              <a:rPr lang="en-US" dirty="0" smtClean="0"/>
              <a:t> </a:t>
            </a:r>
            <a:r>
              <a:rPr lang="en-US" dirty="0"/>
              <a:t>nature, tone and format of document should depend on readers. Audiences: technical, semi-technical and non-technical. </a:t>
            </a:r>
            <a:endParaRPr lang="en-US" b="1" dirty="0">
              <a:solidFill>
                <a:srgbClr val="92D050"/>
              </a:solidFill>
            </a:endParaRPr>
          </a:p>
          <a:p>
            <a:r>
              <a:rPr lang="en-US" b="1" dirty="0">
                <a:solidFill>
                  <a:srgbClr val="92D050"/>
                </a:solidFill>
              </a:rPr>
              <a:t>Gather information</a:t>
            </a: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Jotting down random </a:t>
            </a:r>
            <a:r>
              <a:rPr lang="en-US" b="1" i="1" dirty="0" smtClean="0">
                <a:solidFill>
                  <a:srgbClr val="FF0000"/>
                </a:solidFill>
              </a:rPr>
              <a:t>thoughts</a:t>
            </a:r>
            <a:r>
              <a:rPr lang="en-US" b="1" dirty="0" smtClean="0">
                <a:solidFill>
                  <a:srgbClr val="FF0000"/>
                </a:solidFill>
              </a:rPr>
              <a:t>: </a:t>
            </a:r>
            <a:r>
              <a:rPr lang="en-US" dirty="0" smtClean="0">
                <a:solidFill>
                  <a:srgbClr val="00B0F0"/>
                </a:solidFill>
              </a:rPr>
              <a:t>scribbling </a:t>
            </a:r>
            <a:r>
              <a:rPr lang="en-US" dirty="0">
                <a:solidFill>
                  <a:srgbClr val="00B0F0"/>
                </a:solidFill>
              </a:rPr>
              <a:t>about the topic comes in mind on paper.</a:t>
            </a:r>
            <a:endParaRPr lang="en-US" i="1" dirty="0">
              <a:solidFill>
                <a:srgbClr val="00B0F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Asking the 5W and H </a:t>
            </a:r>
            <a:r>
              <a:rPr lang="en-US" b="1" i="1" dirty="0" smtClean="0">
                <a:solidFill>
                  <a:srgbClr val="FF0000"/>
                </a:solidFill>
              </a:rPr>
              <a:t>questions: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who, what, when, where, why, </a:t>
            </a:r>
            <a:r>
              <a:rPr lang="en-US" dirty="0" smtClean="0">
                <a:solidFill>
                  <a:srgbClr val="00B0F0"/>
                </a:solidFill>
              </a:rPr>
              <a:t>how jot </a:t>
            </a:r>
            <a:r>
              <a:rPr lang="en-US" dirty="0">
                <a:solidFill>
                  <a:srgbClr val="00B0F0"/>
                </a:solidFill>
              </a:rPr>
              <a:t>down response.</a:t>
            </a:r>
            <a:endParaRPr lang="en-US" b="1" i="1" dirty="0">
              <a:solidFill>
                <a:srgbClr val="FF000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Clustering/ </a:t>
            </a:r>
            <a:r>
              <a:rPr lang="en-US" b="1" i="1" dirty="0" smtClean="0">
                <a:solidFill>
                  <a:srgbClr val="FF0000"/>
                </a:solidFill>
              </a:rPr>
              <a:t>mind-mapping</a:t>
            </a:r>
            <a:r>
              <a:rPr lang="en-US" b="1" dirty="0" smtClean="0">
                <a:solidFill>
                  <a:srgbClr val="FF0000"/>
                </a:solidFill>
              </a:rPr>
              <a:t>: </a:t>
            </a:r>
            <a:r>
              <a:rPr lang="en-US" dirty="0" smtClean="0">
                <a:solidFill>
                  <a:srgbClr val="00B0F0"/>
                </a:solidFill>
              </a:rPr>
              <a:t>circle </a:t>
            </a:r>
            <a:r>
              <a:rPr lang="en-US" dirty="0">
                <a:solidFill>
                  <a:srgbClr val="00B0F0"/>
                </a:solidFill>
              </a:rPr>
              <a:t>topic in the center jot down related ideas</a:t>
            </a:r>
            <a:endParaRPr lang="en-US" i="1" dirty="0">
              <a:solidFill>
                <a:srgbClr val="00B0F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brainstorming or </a:t>
            </a:r>
            <a:r>
              <a:rPr lang="en-US" b="1" i="1" dirty="0" smtClean="0">
                <a:solidFill>
                  <a:srgbClr val="FF0000"/>
                </a:solidFill>
              </a:rPr>
              <a:t>listing: 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jot down related ideas without judging them.</a:t>
            </a:r>
            <a:endParaRPr lang="en-US" i="1" dirty="0">
              <a:solidFill>
                <a:srgbClr val="00B0F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Idea </a:t>
            </a:r>
            <a:r>
              <a:rPr lang="en-US" b="1" i="1" dirty="0" smtClean="0">
                <a:solidFill>
                  <a:srgbClr val="FF0000"/>
                </a:solidFill>
              </a:rPr>
              <a:t>bank: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00B0F0"/>
                </a:solidFill>
              </a:rPr>
              <a:t>use pocket </a:t>
            </a:r>
            <a:r>
              <a:rPr lang="en-US" dirty="0">
                <a:solidFill>
                  <a:srgbClr val="00B0F0"/>
                </a:solidFill>
              </a:rPr>
              <a:t>book, diary</a:t>
            </a:r>
            <a:r>
              <a:rPr lang="en-US" dirty="0" smtClean="0">
                <a:solidFill>
                  <a:srgbClr val="00B0F0"/>
                </a:solidFill>
              </a:rPr>
              <a:t>, </a:t>
            </a:r>
            <a:r>
              <a:rPr lang="en-US" dirty="0">
                <a:solidFill>
                  <a:srgbClr val="00B0F0"/>
                </a:solidFill>
              </a:rPr>
              <a:t>note pad, email account to collect </a:t>
            </a:r>
            <a:r>
              <a:rPr lang="en-US" dirty="0" smtClean="0">
                <a:solidFill>
                  <a:srgbClr val="00B0F0"/>
                </a:solidFill>
              </a:rPr>
              <a:t>ideas.</a:t>
            </a:r>
            <a:endParaRPr lang="en-US" i="1" dirty="0">
              <a:solidFill>
                <a:srgbClr val="00B0F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Free </a:t>
            </a:r>
            <a:r>
              <a:rPr lang="en-US" b="1" i="1" dirty="0" smtClean="0">
                <a:solidFill>
                  <a:srgbClr val="FF0000"/>
                </a:solidFill>
              </a:rPr>
              <a:t>writing: </a:t>
            </a:r>
            <a:r>
              <a:rPr lang="en-US" dirty="0" smtClean="0"/>
              <a:t> </a:t>
            </a:r>
            <a:r>
              <a:rPr lang="en-US" dirty="0">
                <a:solidFill>
                  <a:srgbClr val="00B0F0"/>
                </a:solidFill>
              </a:rPr>
              <a:t>take 10-15 minutes to write points  freely </a:t>
            </a:r>
            <a:r>
              <a:rPr lang="en-US" dirty="0" smtClean="0">
                <a:solidFill>
                  <a:srgbClr val="00B0F0"/>
                </a:solidFill>
              </a:rPr>
              <a:t>on </a:t>
            </a:r>
            <a:r>
              <a:rPr lang="en-US" dirty="0">
                <a:solidFill>
                  <a:srgbClr val="00B0F0"/>
                </a:solidFill>
              </a:rPr>
              <a:t>the </a:t>
            </a:r>
            <a:r>
              <a:rPr lang="en-US" dirty="0" smtClean="0">
                <a:solidFill>
                  <a:srgbClr val="00B0F0"/>
                </a:solidFill>
              </a:rPr>
              <a:t>topic then </a:t>
            </a:r>
            <a:r>
              <a:rPr lang="en-US" dirty="0">
                <a:solidFill>
                  <a:srgbClr val="00B0F0"/>
                </a:solidFill>
              </a:rPr>
              <a:t>identify best </a:t>
            </a:r>
            <a:r>
              <a:rPr lang="en-US" dirty="0" smtClean="0">
                <a:solidFill>
                  <a:srgbClr val="00B0F0"/>
                </a:solidFill>
              </a:rPr>
              <a:t>points</a:t>
            </a:r>
            <a:endParaRPr lang="en-US" i="1" dirty="0">
              <a:solidFill>
                <a:srgbClr val="00B0F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 smtClean="0">
                <a:solidFill>
                  <a:srgbClr val="FF0000"/>
                </a:solidFill>
              </a:rPr>
              <a:t>Outlining:</a:t>
            </a:r>
            <a:r>
              <a:rPr lang="en-US" i="1" dirty="0" smtClean="0"/>
              <a:t> </a:t>
            </a:r>
            <a:r>
              <a:rPr lang="en-US" dirty="0" smtClean="0">
                <a:solidFill>
                  <a:srgbClr val="00B0F0"/>
                </a:solidFill>
              </a:rPr>
              <a:t>break </a:t>
            </a:r>
            <a:r>
              <a:rPr lang="en-US" dirty="0">
                <a:solidFill>
                  <a:srgbClr val="00B0F0"/>
                </a:solidFill>
              </a:rPr>
              <a:t>topic in terms of themes, headings, subheadings, title, introduction, body and </a:t>
            </a:r>
            <a:r>
              <a:rPr lang="en-US" dirty="0" smtClean="0">
                <a:solidFill>
                  <a:srgbClr val="00B0F0"/>
                </a:solidFill>
              </a:rPr>
              <a:t>conclusion</a:t>
            </a:r>
            <a:r>
              <a:rPr lang="en-US" dirty="0" smtClean="0"/>
              <a:t>.</a:t>
            </a:r>
            <a:endParaRPr lang="en-US" b="1" dirty="0" smtClean="0">
              <a:solidFill>
                <a:srgbClr val="FF000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 smtClean="0">
                <a:solidFill>
                  <a:srgbClr val="FF0000"/>
                </a:solidFill>
              </a:rPr>
              <a:t>Storyboarding: </a:t>
            </a:r>
            <a:r>
              <a:rPr lang="en-US" dirty="0">
                <a:solidFill>
                  <a:srgbClr val="00B0F0"/>
                </a:solidFill>
              </a:rPr>
              <a:t>blueprint of document effective for visuals with text </a:t>
            </a:r>
            <a:r>
              <a:rPr lang="en-US" dirty="0" smtClean="0">
                <a:solidFill>
                  <a:srgbClr val="00B0F0"/>
                </a:solidFill>
              </a:rPr>
              <a:t>as </a:t>
            </a:r>
            <a:r>
              <a:rPr lang="en-US" dirty="0">
                <a:solidFill>
                  <a:srgbClr val="00B0F0"/>
                </a:solidFill>
              </a:rPr>
              <a:t>in brochure.</a:t>
            </a:r>
            <a:endParaRPr lang="en-US" i="1" dirty="0">
              <a:solidFill>
                <a:srgbClr val="00B0F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Creating models or </a:t>
            </a:r>
            <a:r>
              <a:rPr lang="en-US" b="1" i="1" dirty="0" smtClean="0">
                <a:solidFill>
                  <a:srgbClr val="FF0000"/>
                </a:solidFill>
              </a:rPr>
              <a:t>charts: </a:t>
            </a:r>
            <a:r>
              <a:rPr lang="en-US" dirty="0">
                <a:solidFill>
                  <a:srgbClr val="00B0F0"/>
                </a:solidFill>
              </a:rPr>
              <a:t>to visualize over all organization of the document</a:t>
            </a:r>
            <a:endParaRPr lang="en-US" i="1" dirty="0">
              <a:solidFill>
                <a:srgbClr val="00B0F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Creating flow </a:t>
            </a:r>
            <a:r>
              <a:rPr lang="en-US" b="1" i="1" dirty="0" smtClean="0">
                <a:solidFill>
                  <a:srgbClr val="FF0000"/>
                </a:solidFill>
              </a:rPr>
              <a:t>charts:</a:t>
            </a:r>
            <a:r>
              <a:rPr lang="en-US" dirty="0" smtClean="0"/>
              <a:t> </a:t>
            </a:r>
            <a:r>
              <a:rPr lang="en-US" dirty="0">
                <a:solidFill>
                  <a:srgbClr val="00B0F0"/>
                </a:solidFill>
              </a:rPr>
              <a:t>visual technique of gathering data, organizes content chronologically, reflect the flow of task</a:t>
            </a:r>
            <a:endParaRPr lang="en-US" b="1" i="1" dirty="0">
              <a:solidFill>
                <a:srgbClr val="FF0000"/>
              </a:solidFill>
            </a:endParaRPr>
          </a:p>
          <a:p>
            <a:pPr lvl="1">
              <a:buFontTx/>
              <a:buChar char="-"/>
            </a:pPr>
            <a:r>
              <a:rPr lang="en-US" b="1" i="1" dirty="0" smtClean="0">
                <a:solidFill>
                  <a:srgbClr val="FF0000"/>
                </a:solidFill>
              </a:rPr>
              <a:t>Research: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surveys, interviews, </a:t>
            </a:r>
            <a:r>
              <a:rPr lang="en-US" dirty="0" smtClean="0">
                <a:solidFill>
                  <a:srgbClr val="00B0F0"/>
                </a:solidFill>
              </a:rPr>
              <a:t>observations, libraries, </a:t>
            </a:r>
            <a:r>
              <a:rPr lang="en-US" dirty="0">
                <a:solidFill>
                  <a:srgbClr val="00B0F0"/>
                </a:solidFill>
              </a:rPr>
              <a:t>internet to collect relevant information.</a:t>
            </a:r>
          </a:p>
          <a:p>
            <a:pPr lvl="1">
              <a:buFontTx/>
              <a:buChar char="-"/>
            </a:pPr>
            <a:endParaRPr lang="en-US" i="1" dirty="0">
              <a:solidFill>
                <a:srgbClr val="92D050"/>
              </a:solidFill>
            </a:endParaRPr>
          </a:p>
          <a:p>
            <a:r>
              <a:rPr lang="en-US" b="1" dirty="0">
                <a:solidFill>
                  <a:srgbClr val="92D050"/>
                </a:solidFill>
              </a:rPr>
              <a:t>Create an </a:t>
            </a:r>
            <a:r>
              <a:rPr lang="en-US" b="1" dirty="0" smtClean="0">
                <a:solidFill>
                  <a:srgbClr val="92D050"/>
                </a:solidFill>
              </a:rPr>
              <a:t>outline: </a:t>
            </a:r>
            <a:r>
              <a:rPr lang="en-US" dirty="0" smtClean="0"/>
              <a:t>deciding document type- </a:t>
            </a:r>
            <a:r>
              <a:rPr lang="en-US" dirty="0" smtClean="0">
                <a:solidFill>
                  <a:srgbClr val="00B0F0"/>
                </a:solidFill>
              </a:rPr>
              <a:t>proposal, brochure, letter, oral presentation etc.</a:t>
            </a:r>
            <a:endParaRPr lang="en-US" dirty="0">
              <a:solidFill>
                <a:srgbClr val="00B0F0"/>
              </a:solidFill>
            </a:endParaRPr>
          </a:p>
          <a:p>
            <a:pPr>
              <a:buFontTx/>
              <a:buChar char="-"/>
            </a:pPr>
            <a:endParaRPr lang="en-US" i="1" dirty="0"/>
          </a:p>
          <a:p>
            <a:pPr>
              <a:buFontTx/>
              <a:buChar char="-"/>
            </a:pPr>
            <a:endParaRPr lang="en-US" i="1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7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49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4886"/>
            <a:ext cx="10515600" cy="602311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0000"/>
                </a:solidFill>
              </a:rPr>
              <a:t>B. WRITING </a:t>
            </a:r>
            <a:r>
              <a:rPr lang="en-US" sz="3800" b="1" dirty="0" smtClean="0">
                <a:solidFill>
                  <a:srgbClr val="FF0000"/>
                </a:solidFill>
              </a:rPr>
              <a:t>DRAFT:</a:t>
            </a:r>
            <a:endParaRPr lang="en-US" sz="38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/>
              <a:t>		</a:t>
            </a:r>
            <a:endParaRPr lang="en-US" i="1" dirty="0"/>
          </a:p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800" b="1" dirty="0" smtClean="0">
                <a:solidFill>
                  <a:srgbClr val="FF0000"/>
                </a:solidFill>
              </a:rPr>
              <a:t>C</a:t>
            </a:r>
            <a:r>
              <a:rPr lang="en-US" sz="3800" b="1" dirty="0">
                <a:solidFill>
                  <a:srgbClr val="FF0000"/>
                </a:solidFill>
              </a:rPr>
              <a:t>. </a:t>
            </a:r>
            <a:r>
              <a:rPr lang="en-US" sz="3800" b="1" dirty="0" smtClean="0">
                <a:solidFill>
                  <a:srgbClr val="FF0000"/>
                </a:solidFill>
              </a:rPr>
              <a:t>REVISING: </a:t>
            </a:r>
            <a:r>
              <a:rPr lang="en-US" sz="4200" b="1" dirty="0" smtClean="0">
                <a:solidFill>
                  <a:srgbClr val="00B0F0"/>
                </a:solidFill>
              </a:rPr>
              <a:t>Rewriting</a:t>
            </a:r>
          </a:p>
          <a:p>
            <a:pPr marL="0" indent="0">
              <a:buNone/>
            </a:pPr>
            <a:r>
              <a:rPr lang="en-US" sz="3800" dirty="0" smtClean="0"/>
              <a:t>Saying</a:t>
            </a:r>
            <a:r>
              <a:rPr lang="en-US" sz="3800" dirty="0"/>
              <a:t>: there are no good writers but there are good rewriters.</a:t>
            </a:r>
          </a:p>
          <a:p>
            <a:pPr marL="0" indent="0">
              <a:buNone/>
            </a:pPr>
            <a:r>
              <a:rPr lang="en-US" sz="3800" b="1" dirty="0" smtClean="0">
                <a:solidFill>
                  <a:srgbClr val="C00000"/>
                </a:solidFill>
              </a:rPr>
              <a:t>Four stages of Revision process</a:t>
            </a:r>
            <a:endParaRPr lang="en-US" sz="3800" b="1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sz="3800" i="1" dirty="0" smtClean="0"/>
              <a:t>Review</a:t>
            </a:r>
            <a:r>
              <a:rPr lang="en-US" sz="3800" i="1" dirty="0"/>
              <a:t>, and adjust </a:t>
            </a:r>
            <a:r>
              <a:rPr lang="en-US" sz="3800" i="1" dirty="0" smtClean="0"/>
              <a:t>content: </a:t>
            </a:r>
            <a:r>
              <a:rPr lang="en-US" sz="3800" dirty="0" smtClean="0">
                <a:solidFill>
                  <a:srgbClr val="00B0F0"/>
                </a:solidFill>
              </a:rPr>
              <a:t>Addition </a:t>
            </a:r>
            <a:r>
              <a:rPr lang="en-US" sz="3800" dirty="0">
                <a:solidFill>
                  <a:srgbClr val="00B0F0"/>
                </a:solidFill>
              </a:rPr>
              <a:t>of missing details, expansion of certain parts, delete  unnecessary details  for conciseness, shortening some parts and focus for certain </a:t>
            </a:r>
            <a:r>
              <a:rPr lang="en-US" sz="3800" dirty="0" smtClean="0">
                <a:solidFill>
                  <a:srgbClr val="00B0F0"/>
                </a:solidFill>
              </a:rPr>
              <a:t>information.</a:t>
            </a:r>
          </a:p>
          <a:p>
            <a:pPr>
              <a:buFont typeface="Wingdings" pitchFamily="2" charset="2"/>
              <a:buChar char="v"/>
            </a:pPr>
            <a:r>
              <a:rPr lang="en-US" sz="3800" i="1" dirty="0" smtClean="0"/>
              <a:t>Get feedback: </a:t>
            </a:r>
            <a:r>
              <a:rPr lang="en-US" sz="3800" dirty="0">
                <a:solidFill>
                  <a:srgbClr val="00B0F0"/>
                </a:solidFill>
              </a:rPr>
              <a:t>Seek feedback on </a:t>
            </a:r>
            <a:r>
              <a:rPr lang="en-US" sz="3800" dirty="0" smtClean="0">
                <a:solidFill>
                  <a:srgbClr val="00B0F0"/>
                </a:solidFill>
              </a:rPr>
              <a:t>organization</a:t>
            </a:r>
            <a:r>
              <a:rPr lang="en-US" sz="3800" dirty="0">
                <a:solidFill>
                  <a:srgbClr val="00B0F0"/>
                </a:solidFill>
              </a:rPr>
              <a:t>, </a:t>
            </a:r>
            <a:r>
              <a:rPr lang="en-US" sz="3800" dirty="0" smtClean="0">
                <a:solidFill>
                  <a:srgbClr val="00B0F0"/>
                </a:solidFill>
              </a:rPr>
              <a:t>style, tone etc.  </a:t>
            </a:r>
            <a:r>
              <a:rPr lang="en-US" sz="3800" dirty="0">
                <a:solidFill>
                  <a:srgbClr val="00B0F0"/>
                </a:solidFill>
              </a:rPr>
              <a:t>from colleagues</a:t>
            </a:r>
            <a:r>
              <a:rPr lang="en-US" sz="3800" dirty="0" smtClean="0">
                <a:solidFill>
                  <a:srgbClr val="00B0F0"/>
                </a:solidFill>
              </a:rPr>
              <a:t>, </a:t>
            </a:r>
            <a:r>
              <a:rPr lang="en-US" sz="3800" dirty="0">
                <a:solidFill>
                  <a:srgbClr val="00B0F0"/>
                </a:solidFill>
              </a:rPr>
              <a:t>family </a:t>
            </a:r>
            <a:r>
              <a:rPr lang="en-US" sz="3800" dirty="0" smtClean="0">
                <a:solidFill>
                  <a:srgbClr val="00B0F0"/>
                </a:solidFill>
              </a:rPr>
              <a:t>members, </a:t>
            </a:r>
            <a:r>
              <a:rPr lang="en-US" sz="3800" dirty="0">
                <a:solidFill>
                  <a:srgbClr val="00B0F0"/>
                </a:solidFill>
              </a:rPr>
              <a:t>intended audience, subject </a:t>
            </a:r>
            <a:r>
              <a:rPr lang="en-US" sz="3800" dirty="0" smtClean="0">
                <a:solidFill>
                  <a:srgbClr val="00B0F0"/>
                </a:solidFill>
              </a:rPr>
              <a:t>exports, stakeholders etc. and ready to change.</a:t>
            </a:r>
          </a:p>
          <a:p>
            <a:pPr>
              <a:buFont typeface="Wingdings" pitchFamily="2" charset="2"/>
              <a:buChar char="v"/>
            </a:pPr>
            <a:r>
              <a:rPr lang="en-US" sz="3800" i="1" dirty="0" smtClean="0"/>
              <a:t>Edit </a:t>
            </a:r>
            <a:r>
              <a:rPr lang="en-US" sz="3800" i="1" dirty="0"/>
              <a:t>for style, grammar and </a:t>
            </a:r>
            <a:r>
              <a:rPr lang="en-US" sz="3800" i="1" dirty="0" smtClean="0"/>
              <a:t>mechanics: </a:t>
            </a:r>
            <a:r>
              <a:rPr lang="en-US" sz="3800" dirty="0" smtClean="0">
                <a:solidFill>
                  <a:srgbClr val="00B0F0"/>
                </a:solidFill>
              </a:rPr>
              <a:t>Style </a:t>
            </a:r>
            <a:r>
              <a:rPr lang="en-US" sz="3800" dirty="0">
                <a:solidFill>
                  <a:srgbClr val="00B0F0"/>
                </a:solidFill>
              </a:rPr>
              <a:t>refers to how you write, not what you </a:t>
            </a:r>
            <a:r>
              <a:rPr lang="en-US" sz="3800" dirty="0" smtClean="0">
                <a:solidFill>
                  <a:srgbClr val="00B0F0"/>
                </a:solidFill>
              </a:rPr>
              <a:t>write. Mechanics </a:t>
            </a:r>
            <a:r>
              <a:rPr lang="en-US" sz="3800" dirty="0">
                <a:solidFill>
                  <a:srgbClr val="00B0F0"/>
                </a:solidFill>
              </a:rPr>
              <a:t>include punctuation, capitalization, and </a:t>
            </a:r>
            <a:r>
              <a:rPr lang="en-US" sz="3800" dirty="0" smtClean="0">
                <a:solidFill>
                  <a:srgbClr val="00B0F0"/>
                </a:solidFill>
              </a:rPr>
              <a:t>spelling.  Grammar </a:t>
            </a:r>
            <a:r>
              <a:rPr lang="en-US" sz="3800" dirty="0">
                <a:solidFill>
                  <a:srgbClr val="00B0F0"/>
                </a:solidFill>
              </a:rPr>
              <a:t>refers to parts of speech and their correct </a:t>
            </a:r>
            <a:r>
              <a:rPr lang="en-US" sz="3800" dirty="0" smtClean="0">
                <a:solidFill>
                  <a:srgbClr val="00B0F0"/>
                </a:solidFill>
              </a:rPr>
              <a:t>use</a:t>
            </a:r>
          </a:p>
          <a:p>
            <a:pPr>
              <a:buFont typeface="Wingdings" pitchFamily="2" charset="2"/>
              <a:buChar char="v"/>
            </a:pPr>
            <a:r>
              <a:rPr lang="en-US" sz="3800" i="1" dirty="0" smtClean="0"/>
              <a:t>Get </a:t>
            </a:r>
            <a:r>
              <a:rPr lang="en-US" sz="3800" i="1" dirty="0"/>
              <a:t>the draft </a:t>
            </a:r>
            <a:r>
              <a:rPr lang="en-US" sz="3800" i="1" dirty="0" smtClean="0"/>
              <a:t>approved: </a:t>
            </a:r>
            <a:r>
              <a:rPr lang="en-US" sz="3800" dirty="0">
                <a:solidFill>
                  <a:srgbClr val="00B0F0"/>
                </a:solidFill>
              </a:rPr>
              <a:t>Consider if the document fulfills its communication purpose, responds to the audience’s needs and effectiveness of  written and organized style</a:t>
            </a:r>
            <a:r>
              <a:rPr lang="en-US" sz="3800" dirty="0" smtClean="0">
                <a:solidFill>
                  <a:srgbClr val="00B0F0"/>
                </a:solidFill>
              </a:rPr>
              <a:t>.</a:t>
            </a:r>
            <a:endParaRPr lang="en-US" sz="3800" i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800" dirty="0" smtClean="0"/>
              <a:t>Saying</a:t>
            </a:r>
            <a:r>
              <a:rPr lang="en-US" sz="3800" dirty="0"/>
              <a:t>: there are no good writers but there are good rewriters.</a:t>
            </a:r>
          </a:p>
          <a:p>
            <a:pPr marL="0" indent="0">
              <a:buNone/>
            </a:pPr>
            <a:endParaRPr lang="en-US" sz="3800" i="1" dirty="0"/>
          </a:p>
          <a:p>
            <a:pPr marL="0" indent="0">
              <a:buNone/>
            </a:pPr>
            <a:r>
              <a:rPr lang="en-US" sz="3800" b="1" dirty="0">
                <a:solidFill>
                  <a:srgbClr val="FF0000"/>
                </a:solidFill>
              </a:rPr>
              <a:t>D. </a:t>
            </a:r>
            <a:r>
              <a:rPr lang="en-US" sz="3800" b="1" dirty="0" smtClean="0">
                <a:solidFill>
                  <a:srgbClr val="FF0000"/>
                </a:solidFill>
              </a:rPr>
              <a:t>Delivery:  </a:t>
            </a:r>
            <a:r>
              <a:rPr lang="en-US" sz="3800" i="1" dirty="0" smtClean="0"/>
              <a:t>Distribute/ </a:t>
            </a:r>
            <a:r>
              <a:rPr lang="en-US" sz="3800" i="1" dirty="0"/>
              <a:t>Disseminate </a:t>
            </a:r>
          </a:p>
          <a:p>
            <a:pPr marL="0" indent="0">
              <a:buNone/>
            </a:pPr>
            <a:r>
              <a:rPr lang="en-US" sz="3800" dirty="0" smtClean="0">
                <a:solidFill>
                  <a:srgbClr val="00B0F0"/>
                </a:solidFill>
              </a:rPr>
              <a:t>After </a:t>
            </a:r>
            <a:r>
              <a:rPr lang="en-US" sz="3800" dirty="0">
                <a:solidFill>
                  <a:srgbClr val="00B0F0"/>
                </a:solidFill>
              </a:rPr>
              <a:t>the distribution of document the writer should remain open to suggestions for further improvement.</a:t>
            </a:r>
          </a:p>
          <a:p>
            <a:pPr marL="0" indent="0">
              <a:buNone/>
            </a:pPr>
            <a:endParaRPr lang="en-US" sz="3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800" i="1" dirty="0"/>
              <a:t>	</a:t>
            </a:r>
            <a:endParaRPr lang="en-US" sz="3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435" y="928047"/>
            <a:ext cx="4810125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960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9356"/>
            <a:ext cx="10515600" cy="22528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5.2 The Collaboration Process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4642"/>
            <a:ext cx="10515600" cy="5857461"/>
          </a:xfrm>
        </p:spPr>
        <p:txBody>
          <a:bodyPr/>
          <a:lstStyle/>
          <a:p>
            <a:r>
              <a:rPr lang="en-US" dirty="0"/>
              <a:t>One of the </a:t>
            </a:r>
            <a:r>
              <a:rPr lang="en-US" dirty="0">
                <a:solidFill>
                  <a:srgbClr val="00B0F0"/>
                </a:solidFill>
              </a:rPr>
              <a:t>competencies </a:t>
            </a:r>
          </a:p>
          <a:p>
            <a:r>
              <a:rPr lang="en-US" dirty="0"/>
              <a:t>Technology has extended the possibilities and needs for collaboration.</a:t>
            </a:r>
          </a:p>
          <a:p>
            <a:r>
              <a:rPr lang="en-US" dirty="0"/>
              <a:t>Much of the work in companies today relies on the </a:t>
            </a:r>
            <a:r>
              <a:rPr lang="en-US" dirty="0">
                <a:solidFill>
                  <a:srgbClr val="00B0F0"/>
                </a:solidFill>
              </a:rPr>
              <a:t>internet, telecommunication and videoconferencing, which require multiple people from different professional backgrounds working together, </a:t>
            </a:r>
            <a:r>
              <a:rPr lang="en-US" dirty="0"/>
              <a:t>between or across diverse organizations, countries and cultures.</a:t>
            </a:r>
          </a:p>
          <a:p>
            <a:r>
              <a:rPr lang="en-US" dirty="0"/>
              <a:t>Writing documents such as </a:t>
            </a:r>
            <a:r>
              <a:rPr lang="en-US" dirty="0">
                <a:solidFill>
                  <a:srgbClr val="00B0F0"/>
                </a:solidFill>
              </a:rPr>
              <a:t>proposals, manuals and reports, building websites, conducting </a:t>
            </a:r>
            <a:r>
              <a:rPr lang="en-US" dirty="0" smtClean="0">
                <a:solidFill>
                  <a:srgbClr val="00B0F0"/>
                </a:solidFill>
              </a:rPr>
              <a:t>webinars, working </a:t>
            </a:r>
            <a:r>
              <a:rPr lang="en-US" dirty="0">
                <a:solidFill>
                  <a:srgbClr val="00B0F0"/>
                </a:solidFill>
              </a:rPr>
              <a:t>on shared documents like Google Docs, and doing PowerPoint presentations require collaboration.</a:t>
            </a:r>
          </a:p>
          <a:p>
            <a:r>
              <a:rPr lang="en-US" dirty="0"/>
              <a:t>It is essential to bridge the gap between people of diverse backgrounds, academic degrees, professions, expertise, </a:t>
            </a:r>
            <a:r>
              <a:rPr lang="en-US" dirty="0" smtClean="0"/>
              <a:t>age, </a:t>
            </a:r>
            <a:r>
              <a:rPr lang="en-US" dirty="0"/>
              <a:t>gender, culture and </a:t>
            </a:r>
            <a:r>
              <a:rPr lang="en-US" dirty="0" smtClean="0"/>
              <a:t>ethnicity </a:t>
            </a:r>
            <a:r>
              <a:rPr lang="en-US" dirty="0"/>
              <a:t>that makeup today’s workforce.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262" y="111370"/>
            <a:ext cx="9581322" cy="4554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5.2.1 The Pros and Cons of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262" y="703384"/>
            <a:ext cx="10814538" cy="615461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900" b="1" dirty="0"/>
              <a:t>The pros</a:t>
            </a:r>
          </a:p>
          <a:p>
            <a:r>
              <a:rPr lang="en-US" dirty="0"/>
              <a:t>Enhances </a:t>
            </a:r>
            <a:r>
              <a:rPr lang="en-US" dirty="0" smtClean="0"/>
              <a:t>cooperation </a:t>
            </a:r>
            <a:r>
              <a:rPr lang="en-US" dirty="0"/>
              <a:t>skills by bringing people together.</a:t>
            </a:r>
          </a:p>
          <a:p>
            <a:r>
              <a:rPr lang="en-US" dirty="0"/>
              <a:t>Encourages them to work through their differences and find ways to resolve conflicts.</a:t>
            </a:r>
          </a:p>
          <a:p>
            <a:r>
              <a:rPr lang="en-US" dirty="0"/>
              <a:t>Helps to improve communication among employees.</a:t>
            </a:r>
          </a:p>
          <a:p>
            <a:r>
              <a:rPr lang="en-US" dirty="0"/>
              <a:t>Fosters a collective vision for success, quality and satisfaction.</a:t>
            </a:r>
          </a:p>
          <a:p>
            <a:r>
              <a:rPr lang="en-US" dirty="0"/>
              <a:t>Enables greater division of labor for a given task.</a:t>
            </a:r>
          </a:p>
          <a:p>
            <a:r>
              <a:rPr lang="en-US" dirty="0"/>
              <a:t>Brings people from diverse background and allows a diversity of opinions to </a:t>
            </a:r>
            <a:r>
              <a:rPr lang="en-US" dirty="0" smtClean="0"/>
              <a:t>solve </a:t>
            </a:r>
            <a:r>
              <a:rPr lang="en-US" dirty="0"/>
              <a:t>a problem.</a:t>
            </a:r>
          </a:p>
          <a:p>
            <a:r>
              <a:rPr lang="en-US" dirty="0"/>
              <a:t>Helps in making the document more comprehensive, accurate and wide-ranging than a document written by an individual.</a:t>
            </a:r>
          </a:p>
          <a:p>
            <a:r>
              <a:rPr lang="en-US" dirty="0"/>
              <a:t>Makes the document more audience-centered.</a:t>
            </a:r>
          </a:p>
          <a:p>
            <a:r>
              <a:rPr lang="en-US" dirty="0"/>
              <a:t>Way of sharing ideas and creativity.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000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0174"/>
            <a:ext cx="10515600" cy="57978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Involves people with varied interests and backgrounds.</a:t>
            </a:r>
          </a:p>
          <a:p>
            <a:r>
              <a:rPr lang="en-US" dirty="0"/>
              <a:t>Challenging to manage the tasks.</a:t>
            </a:r>
          </a:p>
          <a:p>
            <a:r>
              <a:rPr lang="en-US" dirty="0"/>
              <a:t>Chances of disagreements and interpersonal conflicts</a:t>
            </a:r>
          </a:p>
          <a:p>
            <a:r>
              <a:rPr lang="en-US" dirty="0"/>
              <a:t>Ego clashes</a:t>
            </a:r>
          </a:p>
          <a:p>
            <a:r>
              <a:rPr lang="en-US" dirty="0"/>
              <a:t>Some </a:t>
            </a:r>
            <a:r>
              <a:rPr lang="en-US" dirty="0" smtClean="0"/>
              <a:t>people </a:t>
            </a:r>
            <a:r>
              <a:rPr lang="en-US" dirty="0"/>
              <a:t>may try to dominate others in the communication process or monopolize an activity.</a:t>
            </a:r>
          </a:p>
          <a:p>
            <a:r>
              <a:rPr lang="en-US" dirty="0"/>
              <a:t>Some members may not fulfill their assigned responsibilities.</a:t>
            </a:r>
          </a:p>
          <a:p>
            <a:r>
              <a:rPr lang="en-US" dirty="0" smtClean="0"/>
              <a:t>Backbiting</a:t>
            </a:r>
            <a:endParaRPr lang="en-US" dirty="0"/>
          </a:p>
          <a:p>
            <a:r>
              <a:rPr lang="en-US" dirty="0"/>
              <a:t>Risk of group thinking and lack of critical </a:t>
            </a:r>
            <a:r>
              <a:rPr lang="en-US" dirty="0" smtClean="0"/>
              <a:t>thinking</a:t>
            </a:r>
            <a:endParaRPr lang="en-US" dirty="0"/>
          </a:p>
          <a:p>
            <a:r>
              <a:rPr lang="en-US" dirty="0"/>
              <a:t>Messy document without coherence and cohesion</a:t>
            </a:r>
          </a:p>
          <a:p>
            <a:r>
              <a:rPr lang="en-US" dirty="0"/>
              <a:t>Time and resource consuming</a:t>
            </a:r>
          </a:p>
          <a:p>
            <a:r>
              <a:rPr lang="en-US" dirty="0"/>
              <a:t>Difficult to schedule the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2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22" y="365126"/>
            <a:ext cx="10916478" cy="3239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5.2.2 COLLABORATIVE DOCUMENT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7164"/>
            <a:ext cx="11353800" cy="5724939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b="1" dirty="0"/>
              <a:t>PLANNING</a:t>
            </a:r>
          </a:p>
          <a:p>
            <a:r>
              <a:rPr lang="en-US" dirty="0"/>
              <a:t>Group members meet, brainstorm, determine </a:t>
            </a:r>
            <a:r>
              <a:rPr lang="en-US" dirty="0" smtClean="0"/>
              <a:t>purpose/ </a:t>
            </a:r>
            <a:r>
              <a:rPr lang="en-US" dirty="0"/>
              <a:t>audience</a:t>
            </a:r>
          </a:p>
          <a:p>
            <a:r>
              <a:rPr lang="en-US" dirty="0"/>
              <a:t>Choose a team leader, define task, </a:t>
            </a:r>
            <a:r>
              <a:rPr lang="en-US" dirty="0" smtClean="0"/>
              <a:t>scheduling and </a:t>
            </a:r>
            <a:r>
              <a:rPr lang="en-US" dirty="0"/>
              <a:t>procedures to resolve possible conflicts</a:t>
            </a:r>
          </a:p>
          <a:p>
            <a:pPr marL="0" indent="0">
              <a:buNone/>
            </a:pPr>
            <a:r>
              <a:rPr lang="en-US" b="1" dirty="0"/>
              <a:t>2. WRITING THE </a:t>
            </a:r>
            <a:r>
              <a:rPr lang="en-US" b="1" dirty="0" smtClean="0"/>
              <a:t>DRAFT</a:t>
            </a:r>
            <a:endParaRPr lang="en-US" dirty="0"/>
          </a:p>
          <a:p>
            <a:r>
              <a:rPr lang="en-US" dirty="0"/>
              <a:t>Periodic group meeting is a must</a:t>
            </a:r>
          </a:p>
          <a:p>
            <a:r>
              <a:rPr lang="en-US" dirty="0"/>
              <a:t>Each individual contributes</a:t>
            </a:r>
          </a:p>
          <a:p>
            <a:r>
              <a:rPr lang="en-US" dirty="0"/>
              <a:t>Consistency in the approach, style and tone</a:t>
            </a:r>
          </a:p>
          <a:p>
            <a:r>
              <a:rPr lang="en-US" dirty="0"/>
              <a:t>One from the group compiles</a:t>
            </a:r>
          </a:p>
          <a:p>
            <a:pPr marL="0" indent="0">
              <a:buNone/>
            </a:pPr>
            <a:r>
              <a:rPr lang="en-US" b="1" dirty="0"/>
              <a:t>3. REVISION</a:t>
            </a:r>
          </a:p>
          <a:p>
            <a:r>
              <a:rPr lang="en-US" dirty="0"/>
              <a:t>Merge separate portions</a:t>
            </a:r>
          </a:p>
          <a:p>
            <a:r>
              <a:rPr lang="en-US" dirty="0"/>
              <a:t>Check: parts, the flow of information, uniformity, consistency, structure, format, arguments, 	</a:t>
            </a:r>
            <a:r>
              <a:rPr lang="en-US" dirty="0" smtClean="0"/>
              <a:t>transitions</a:t>
            </a:r>
            <a:endParaRPr lang="en-US" dirty="0"/>
          </a:p>
          <a:p>
            <a:r>
              <a:rPr lang="en-US" dirty="0"/>
              <a:t>Edit and </a:t>
            </a:r>
            <a:r>
              <a:rPr lang="en-US" dirty="0" smtClean="0"/>
              <a:t>proofread</a:t>
            </a:r>
          </a:p>
          <a:p>
            <a:pPr marL="0" indent="0">
              <a:buNone/>
            </a:pPr>
            <a:r>
              <a:rPr lang="en-US" b="1" dirty="0" smtClean="0"/>
              <a:t>4. </a:t>
            </a:r>
            <a:r>
              <a:rPr lang="en-US" b="1" dirty="0" smtClean="0"/>
              <a:t>Delivery: </a:t>
            </a:r>
            <a:endParaRPr lang="en-US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27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5504" cy="102635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5.2.3 STRATEGIES FOR EFFECTIVE COLLABORATIVE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</a:t>
            </a:r>
            <a:r>
              <a:rPr lang="en-US" dirty="0">
                <a:solidFill>
                  <a:srgbClr val="00B0F0"/>
                </a:solidFill>
              </a:rPr>
              <a:t> Make a realistic plan and follow it </a:t>
            </a:r>
            <a:r>
              <a:rPr lang="en-US" dirty="0" smtClean="0">
                <a:solidFill>
                  <a:srgbClr val="00B0F0"/>
                </a:solidFill>
              </a:rPr>
              <a:t>through: </a:t>
            </a:r>
            <a:r>
              <a:rPr lang="en-US" dirty="0" smtClean="0"/>
              <a:t>not too ambitious, be purposeful.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>
                <a:solidFill>
                  <a:srgbClr val="00B0F0"/>
                </a:solidFill>
              </a:rPr>
              <a:t>Choose a good team </a:t>
            </a:r>
            <a:r>
              <a:rPr lang="en-US" dirty="0" smtClean="0">
                <a:solidFill>
                  <a:srgbClr val="00B0F0"/>
                </a:solidFill>
              </a:rPr>
              <a:t>leader:</a:t>
            </a:r>
            <a:r>
              <a:rPr lang="en-US" dirty="0"/>
              <a:t> </a:t>
            </a:r>
            <a:r>
              <a:rPr lang="en-US" dirty="0" smtClean="0"/>
              <a:t>handle problem, delegate </a:t>
            </a:r>
            <a:r>
              <a:rPr lang="en-US" dirty="0"/>
              <a:t>task to a proper individual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3. Deliver individual </a:t>
            </a:r>
            <a:r>
              <a:rPr lang="en-US" dirty="0" smtClean="0">
                <a:solidFill>
                  <a:srgbClr val="00B0F0"/>
                </a:solidFill>
              </a:rPr>
              <a:t>task: </a:t>
            </a:r>
            <a:r>
              <a:rPr lang="en-US" dirty="0" smtClean="0"/>
              <a:t>Sharing </a:t>
            </a:r>
            <a:r>
              <a:rPr lang="en-US" dirty="0"/>
              <a:t>responsibility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4. Keep communication open with </a:t>
            </a:r>
            <a:r>
              <a:rPr lang="en-US" dirty="0" smtClean="0">
                <a:solidFill>
                  <a:srgbClr val="00B0F0"/>
                </a:solidFill>
              </a:rPr>
              <a:t>others: </a:t>
            </a:r>
            <a:r>
              <a:rPr lang="en-US" dirty="0"/>
              <a:t>Sharing progress and problems with team members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5. Give constructive feedback: </a:t>
            </a:r>
            <a:r>
              <a:rPr lang="en-US" dirty="0"/>
              <a:t>To be critique, start with positive comment</a:t>
            </a:r>
            <a:endParaRPr lang="en-US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6</a:t>
            </a:r>
            <a:r>
              <a:rPr lang="en-US" dirty="0">
                <a:solidFill>
                  <a:srgbClr val="00B0F0"/>
                </a:solidFill>
              </a:rPr>
              <a:t>. Be tactful and </a:t>
            </a:r>
            <a:r>
              <a:rPr lang="en-US" dirty="0" smtClean="0">
                <a:solidFill>
                  <a:srgbClr val="00B0F0"/>
                </a:solidFill>
              </a:rPr>
              <a:t>diplomatic: </a:t>
            </a:r>
            <a:r>
              <a:rPr lang="en-US" dirty="0"/>
              <a:t>handling affairs without arousing hostility.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7. Follow set guidelines to resolve </a:t>
            </a:r>
            <a:r>
              <a:rPr lang="en-US" dirty="0" smtClean="0">
                <a:solidFill>
                  <a:srgbClr val="00B0F0"/>
                </a:solidFill>
              </a:rPr>
              <a:t>conflict: </a:t>
            </a:r>
            <a:r>
              <a:rPr lang="en-US" dirty="0"/>
              <a:t>Allow everyone to express their </a:t>
            </a:r>
            <a:r>
              <a:rPr lang="en-US" dirty="0" smtClean="0"/>
              <a:t>views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8. Be sensitive to issues of gender and </a:t>
            </a:r>
            <a:r>
              <a:rPr lang="en-US" dirty="0" smtClean="0">
                <a:solidFill>
                  <a:srgbClr val="00B0F0"/>
                </a:solidFill>
              </a:rPr>
              <a:t>culture: no </a:t>
            </a:r>
            <a:r>
              <a:rPr lang="en-US" dirty="0" smtClean="0"/>
              <a:t>discrimination based on gender, culture  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9.</a:t>
            </a:r>
            <a:r>
              <a:rPr lang="en-US" dirty="0">
                <a:solidFill>
                  <a:srgbClr val="00B0F0"/>
                </a:solidFill>
              </a:rPr>
              <a:t> Use collaborative </a:t>
            </a:r>
            <a:r>
              <a:rPr lang="en-US" dirty="0" smtClean="0">
                <a:solidFill>
                  <a:srgbClr val="00B0F0"/>
                </a:solidFill>
              </a:rPr>
              <a:t>tools:</a:t>
            </a:r>
            <a:r>
              <a:rPr lang="en-US" dirty="0" smtClean="0"/>
              <a:t> </a:t>
            </a:r>
            <a:r>
              <a:rPr lang="en-US" dirty="0"/>
              <a:t>email, Google, software application, text chatting, email updating system, spellchecking etc.</a:t>
            </a:r>
          </a:p>
          <a:p>
            <a:pPr marL="0" indent="0" algn="just">
              <a:buNone/>
            </a:pPr>
            <a:r>
              <a:rPr lang="en-US" dirty="0"/>
              <a:t>10. </a:t>
            </a:r>
            <a:r>
              <a:rPr lang="en-US" dirty="0">
                <a:solidFill>
                  <a:srgbClr val="00B0F0"/>
                </a:solidFill>
              </a:rPr>
              <a:t>Maintain a positive </a:t>
            </a:r>
            <a:r>
              <a:rPr lang="en-US" dirty="0" smtClean="0">
                <a:solidFill>
                  <a:srgbClr val="00B0F0"/>
                </a:solidFill>
              </a:rPr>
              <a:t>attitude: </a:t>
            </a:r>
            <a:r>
              <a:rPr lang="en-US" dirty="0" smtClean="0"/>
              <a:t>Always </a:t>
            </a:r>
            <a:r>
              <a:rPr lang="en-US" dirty="0"/>
              <a:t>be </a:t>
            </a:r>
            <a:r>
              <a:rPr lang="en-US" dirty="0" smtClean="0"/>
              <a:t>positive, humane </a:t>
            </a:r>
            <a:r>
              <a:rPr lang="en-US" dirty="0"/>
              <a:t>and be </a:t>
            </a:r>
            <a:r>
              <a:rPr lang="en-US" dirty="0" smtClean="0"/>
              <a:t>unique.</a:t>
            </a:r>
            <a:endParaRPr lang="en-US" dirty="0"/>
          </a:p>
          <a:p>
            <a:pPr algn="just"/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00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b="1" i="1" dirty="0" smtClean="0"/>
              <a:t>THANK YOU</a:t>
            </a:r>
            <a:endParaRPr lang="en-US" sz="6600" b="1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mnrmaniram12@gmail.com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B889-8A7B-4BBF-B652-6828A84DE4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0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7889</TotalTime>
  <Words>981</Words>
  <Application>Microsoft Office PowerPoint</Application>
  <PresentationFormat>Custom</PresentationFormat>
  <Paragraphs>144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Unit- 3</vt:lpstr>
      <vt:lpstr>Contents</vt:lpstr>
      <vt:lpstr>Warm up:</vt:lpstr>
      <vt:lpstr>5.1 The document process</vt:lpstr>
      <vt:lpstr>A. Planning</vt:lpstr>
      <vt:lpstr>Cont…</vt:lpstr>
      <vt:lpstr>5.2 The Collaboration Process </vt:lpstr>
      <vt:lpstr>5.2.1 The Pros and Cons of Collaboration</vt:lpstr>
      <vt:lpstr>The cons</vt:lpstr>
      <vt:lpstr>5.2.2 COLLABORATIVE DOCUMENT PROCESS</vt:lpstr>
      <vt:lpstr>5.2.3 STRATEGIES FOR EFFECTIVE COLLABORATIVE WRITING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 201 Business Communication - I</dc:title>
  <dc:creator>MANI  PANDEY</dc:creator>
  <cp:lastModifiedBy>lenovo</cp:lastModifiedBy>
  <cp:revision>612</cp:revision>
  <dcterms:created xsi:type="dcterms:W3CDTF">2020-01-11T16:38:53Z</dcterms:created>
  <dcterms:modified xsi:type="dcterms:W3CDTF">2025-05-13T11:03:10Z</dcterms:modified>
</cp:coreProperties>
</file>