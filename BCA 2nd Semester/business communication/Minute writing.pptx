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3" r:id="rId3"/>
    <p:sldId id="262" r:id="rId4"/>
    <p:sldId id="257" r:id="rId5"/>
    <p:sldId id="264" r:id="rId6"/>
    <p:sldId id="265" r:id="rId7"/>
    <p:sldId id="258" r:id="rId8"/>
    <p:sldId id="259" r:id="rId9"/>
    <p:sldId id="260" r:id="rId10"/>
    <p:sldId id="261"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04"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1D8BD707-D9CF-40AE-B4C6-C98DA3205C09}" type="datetimeFigureOut">
              <a:rPr lang="en-US" smtClean="0"/>
              <a:pPr/>
              <a:t>5/23/2025</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5/23/2025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5/23/2025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5/23/2025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5/23/2025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5/23/2025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B6F15528-21DE-4FAA-801E-634DDDAF4B2B}"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5/23/2025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5/23/2025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D8BD707-D9CF-40AE-B4C6-C98DA3205C09}" type="datetimeFigureOut">
              <a:rPr lang="en-US" smtClean="0"/>
              <a:pPr/>
              <a:t>5/23/2025</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6F15528-21DE-4FAA-801E-634DDDAF4B2B}"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0" y="76200"/>
            <a:ext cx="7854696" cy="1752600"/>
          </a:xfrm>
        </p:spPr>
        <p:txBody>
          <a:bodyPr>
            <a:noAutofit/>
          </a:bodyPr>
          <a:lstStyle/>
          <a:p>
            <a:pPr algn="l">
              <a:buFont typeface="Wingdings" pitchFamily="2" charset="2"/>
              <a:buChar char="Ø"/>
            </a:pPr>
            <a:endParaRPr lang="en-US" sz="1800" dirty="0" smtClean="0"/>
          </a:p>
          <a:p>
            <a:pPr algn="l">
              <a:buFont typeface="Wingdings" pitchFamily="2" charset="2"/>
              <a:buChar char="Ø"/>
            </a:pPr>
            <a:endParaRPr lang="en-US" sz="1800" dirty="0"/>
          </a:p>
          <a:p>
            <a:pPr algn="l">
              <a:buFont typeface="Wingdings" pitchFamily="2" charset="2"/>
              <a:buChar char="Ø"/>
            </a:pPr>
            <a:endParaRPr lang="en-US" sz="1800" dirty="0" smtClean="0"/>
          </a:p>
          <a:p>
            <a:pPr algn="l">
              <a:buFont typeface="Wingdings" pitchFamily="2" charset="2"/>
              <a:buChar char="Ø"/>
            </a:pPr>
            <a:endParaRPr lang="en-US" sz="1800" dirty="0"/>
          </a:p>
          <a:p>
            <a:pPr algn="ctr">
              <a:buFont typeface="Wingdings" pitchFamily="2" charset="2"/>
              <a:buChar char="Ø"/>
            </a:pPr>
            <a:endParaRPr lang="en-US" sz="6000" b="1" dirty="0" smtClean="0"/>
          </a:p>
          <a:p>
            <a:pPr algn="ctr"/>
            <a:r>
              <a:rPr lang="en-US" sz="6000" b="1" dirty="0" smtClean="0"/>
              <a:t>Minute Writing</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4389120"/>
          </a:xfrm>
        </p:spPr>
        <p:txBody>
          <a:bodyPr>
            <a:normAutofit fontScale="77500" lnSpcReduction="20000"/>
          </a:bodyPr>
          <a:lstStyle/>
          <a:p>
            <a:pPr>
              <a:buFont typeface="Wingdings" pitchFamily="2" charset="2"/>
              <a:buChar char="Ø"/>
            </a:pPr>
            <a:endParaRPr lang="en-US" sz="4100" b="1" dirty="0">
              <a:solidFill>
                <a:srgbClr val="FF0000"/>
              </a:solidFill>
            </a:endParaRPr>
          </a:p>
          <a:p>
            <a:pPr marL="0" indent="0">
              <a:buNone/>
            </a:pPr>
            <a:r>
              <a:rPr lang="en-US" sz="4100" b="1" dirty="0" smtClean="0">
                <a:solidFill>
                  <a:srgbClr val="FF0000"/>
                </a:solidFill>
              </a:rPr>
              <a:t>          Meeting</a:t>
            </a:r>
            <a:endParaRPr lang="en-US" sz="4100" b="1" dirty="0">
              <a:solidFill>
                <a:srgbClr val="FF0000"/>
              </a:solidFill>
            </a:endParaRPr>
          </a:p>
          <a:p>
            <a:pPr>
              <a:buFont typeface="Wingdings" pitchFamily="2" charset="2"/>
              <a:buChar char="Ø"/>
            </a:pPr>
            <a:r>
              <a:rPr lang="en-US" sz="2800" dirty="0" smtClean="0"/>
              <a:t>Meeting </a:t>
            </a:r>
            <a:r>
              <a:rPr lang="en-US" sz="2800" dirty="0"/>
              <a:t>is the </a:t>
            </a:r>
            <a:r>
              <a:rPr lang="en-US" sz="2800" dirty="0">
                <a:solidFill>
                  <a:srgbClr val="00B0F0"/>
                </a:solidFill>
              </a:rPr>
              <a:t>formal gathering of </a:t>
            </a:r>
            <a:r>
              <a:rPr lang="en-US" sz="2800" dirty="0" smtClean="0">
                <a:solidFill>
                  <a:srgbClr val="00B0F0"/>
                </a:solidFill>
              </a:rPr>
              <a:t> </a:t>
            </a:r>
            <a:r>
              <a:rPr lang="en-US" sz="2800" dirty="0">
                <a:solidFill>
                  <a:srgbClr val="00B0F0"/>
                </a:solidFill>
              </a:rPr>
              <a:t>people with certain purpose.</a:t>
            </a:r>
          </a:p>
          <a:p>
            <a:pPr>
              <a:buFont typeface="Wingdings" pitchFamily="2" charset="2"/>
              <a:buChar char="Ø"/>
            </a:pPr>
            <a:r>
              <a:rPr lang="en-US" sz="2800" dirty="0"/>
              <a:t>Meeting is called by  sending</a:t>
            </a:r>
            <a:r>
              <a:rPr lang="en-US" sz="2800" dirty="0">
                <a:solidFill>
                  <a:srgbClr val="00B0F0"/>
                </a:solidFill>
              </a:rPr>
              <a:t> notice stating the agenda.</a:t>
            </a:r>
          </a:p>
          <a:p>
            <a:pPr>
              <a:buFont typeface="Wingdings" pitchFamily="2" charset="2"/>
              <a:buChar char="Ø"/>
            </a:pPr>
            <a:r>
              <a:rPr lang="en-US" sz="2800" dirty="0">
                <a:solidFill>
                  <a:srgbClr val="00B0F0"/>
                </a:solidFill>
              </a:rPr>
              <a:t>Agenda is an official list of important points to be discussed</a:t>
            </a:r>
            <a:r>
              <a:rPr lang="en-US" sz="2800" dirty="0"/>
              <a:t> at a particular meeting.</a:t>
            </a:r>
          </a:p>
          <a:p>
            <a:pPr>
              <a:buFont typeface="Wingdings" pitchFamily="2" charset="2"/>
              <a:buChar char="Ø"/>
            </a:pPr>
            <a:r>
              <a:rPr lang="en-US" sz="2800" dirty="0"/>
              <a:t> M</a:t>
            </a:r>
            <a:r>
              <a:rPr lang="en-US" sz="2800" dirty="0" smtClean="0"/>
              <a:t>eeting </a:t>
            </a:r>
            <a:r>
              <a:rPr lang="en-US" sz="2800" dirty="0"/>
              <a:t>must be chaired by a person under whom the meeting shall be conducted</a:t>
            </a:r>
            <a:r>
              <a:rPr lang="en-US" sz="2800" dirty="0" smtClean="0"/>
              <a:t>.</a:t>
            </a:r>
            <a:r>
              <a:rPr lang="en-US" sz="2800" dirty="0" smtClean="0">
                <a:solidFill>
                  <a:srgbClr val="00B0F0"/>
                </a:solidFill>
              </a:rPr>
              <a:t>(chairperson)</a:t>
            </a:r>
            <a:endParaRPr lang="en-US" sz="2800" dirty="0">
              <a:solidFill>
                <a:srgbClr val="00B0F0"/>
              </a:solidFill>
            </a:endParaRPr>
          </a:p>
          <a:p>
            <a:pPr>
              <a:buFont typeface="Wingdings" pitchFamily="2" charset="2"/>
              <a:buChar char="Ø"/>
            </a:pPr>
            <a:r>
              <a:rPr lang="en-US" sz="2800" dirty="0">
                <a:solidFill>
                  <a:srgbClr val="00B0F0"/>
                </a:solidFill>
              </a:rPr>
              <a:t>Meeting must be called by an authorized person.</a:t>
            </a:r>
            <a:r>
              <a:rPr lang="en-US" sz="2800" dirty="0"/>
              <a:t> Generally , </a:t>
            </a:r>
            <a:r>
              <a:rPr lang="en-US" sz="2800" dirty="0" smtClean="0">
                <a:solidFill>
                  <a:srgbClr val="00B0F0"/>
                </a:solidFill>
              </a:rPr>
              <a:t>secretary </a:t>
            </a:r>
            <a:r>
              <a:rPr lang="en-US" sz="2800" dirty="0"/>
              <a:t>of the company is authorized to call the meeting.</a:t>
            </a:r>
          </a:p>
          <a:p>
            <a:pPr>
              <a:buFont typeface="Wingdings" pitchFamily="2" charset="2"/>
              <a:buChar char="Ø"/>
            </a:pPr>
            <a:r>
              <a:rPr lang="en-US" sz="2800" b="1" dirty="0" smtClean="0">
                <a:solidFill>
                  <a:srgbClr val="C00000"/>
                </a:solidFill>
              </a:rPr>
              <a:t>Minutes:</a:t>
            </a:r>
            <a:r>
              <a:rPr lang="en-US" sz="2800" dirty="0" smtClean="0">
                <a:solidFill>
                  <a:srgbClr val="00B0F0"/>
                </a:solidFill>
              </a:rPr>
              <a:t> official </a:t>
            </a:r>
            <a:r>
              <a:rPr lang="en-US" sz="2800" dirty="0">
                <a:solidFill>
                  <a:srgbClr val="00B0F0"/>
                </a:solidFill>
              </a:rPr>
              <a:t>records of discussions held and decisions taken at a </a:t>
            </a:r>
            <a:r>
              <a:rPr lang="en-US" sz="2800" dirty="0" smtClean="0">
                <a:solidFill>
                  <a:srgbClr val="00B0F0"/>
                </a:solidFill>
              </a:rPr>
              <a:t>meeting.</a:t>
            </a:r>
            <a:endParaRPr lang="en-US" sz="2800" dirty="0">
              <a:solidFill>
                <a:srgbClr val="00B0F0"/>
              </a:solidFill>
            </a:endParaRPr>
          </a:p>
          <a:p>
            <a:endParaRPr lang="en-US" dirty="0"/>
          </a:p>
        </p:txBody>
      </p:sp>
    </p:spTree>
    <p:extLst>
      <p:ext uri="{BB962C8B-B14F-4D97-AF65-F5344CB8AC3E}">
        <p14:creationId xmlns:p14="http://schemas.microsoft.com/office/powerpoint/2010/main" val="35448646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4389120"/>
          </a:xfrm>
        </p:spPr>
        <p:txBody>
          <a:bodyPr>
            <a:normAutofit fontScale="85000" lnSpcReduction="20000"/>
          </a:bodyPr>
          <a:lstStyle/>
          <a:p>
            <a:pPr>
              <a:buFont typeface="Wingdings" pitchFamily="2" charset="2"/>
              <a:buChar char="Ø"/>
            </a:pPr>
            <a:r>
              <a:rPr lang="en-US" sz="2800" dirty="0"/>
              <a:t>Every important </a:t>
            </a:r>
            <a:r>
              <a:rPr lang="en-US" sz="2800" dirty="0" smtClean="0"/>
              <a:t>argument </a:t>
            </a:r>
            <a:r>
              <a:rPr lang="en-US" sz="2800" dirty="0"/>
              <a:t>, suggestions, recommendations, decisions in the meeting must be noted down in minutes</a:t>
            </a:r>
            <a:r>
              <a:rPr lang="en-US" sz="2800" dirty="0" smtClean="0"/>
              <a:t>, signed </a:t>
            </a:r>
            <a:r>
              <a:rPr lang="en-US" sz="2800" dirty="0"/>
              <a:t>by the members to make it valid.</a:t>
            </a:r>
          </a:p>
          <a:p>
            <a:pPr>
              <a:buFont typeface="Wingdings" pitchFamily="2" charset="2"/>
              <a:buChar char="Ø"/>
            </a:pPr>
            <a:r>
              <a:rPr lang="en-US" sz="2800" dirty="0" smtClean="0"/>
              <a:t>Minutes </a:t>
            </a:r>
            <a:r>
              <a:rPr lang="en-US" sz="2800" dirty="0"/>
              <a:t>is a special </a:t>
            </a:r>
            <a:r>
              <a:rPr lang="en-US" sz="2800" dirty="0">
                <a:solidFill>
                  <a:srgbClr val="00B0F0"/>
                </a:solidFill>
              </a:rPr>
              <a:t>type of summary</a:t>
            </a:r>
            <a:r>
              <a:rPr lang="en-US" sz="2800" dirty="0"/>
              <a:t> of what happened at </a:t>
            </a:r>
            <a:r>
              <a:rPr lang="en-US" sz="2800" dirty="0" smtClean="0"/>
              <a:t>the </a:t>
            </a:r>
            <a:r>
              <a:rPr lang="en-US" sz="2800" dirty="0" smtClean="0"/>
              <a:t>meeting</a:t>
            </a:r>
            <a:r>
              <a:rPr lang="en-US" sz="2800" dirty="0"/>
              <a:t>.</a:t>
            </a:r>
          </a:p>
          <a:p>
            <a:pPr>
              <a:buFont typeface="Wingdings" pitchFamily="2" charset="2"/>
              <a:buChar char="Ø"/>
            </a:pPr>
            <a:r>
              <a:rPr lang="en-US" sz="2800" dirty="0">
                <a:solidFill>
                  <a:srgbClr val="00B0F0"/>
                </a:solidFill>
              </a:rPr>
              <a:t>Minute is read at the end of the meeting to be signed.</a:t>
            </a:r>
          </a:p>
          <a:p>
            <a:pPr>
              <a:buFont typeface="Wingdings" pitchFamily="2" charset="2"/>
              <a:buChar char="Ø"/>
            </a:pPr>
            <a:r>
              <a:rPr lang="en-US" sz="2800" dirty="0"/>
              <a:t>Minute is a </a:t>
            </a:r>
            <a:r>
              <a:rPr lang="en-US" sz="2800" dirty="0">
                <a:solidFill>
                  <a:srgbClr val="00B0F0"/>
                </a:solidFill>
              </a:rPr>
              <a:t>valid document</a:t>
            </a:r>
            <a:r>
              <a:rPr lang="en-US" sz="2800" dirty="0"/>
              <a:t> that can be used as a proof </a:t>
            </a:r>
            <a:r>
              <a:rPr lang="en-US" sz="2800" dirty="0" smtClean="0"/>
              <a:t> in future.</a:t>
            </a:r>
            <a:endParaRPr lang="en-US" sz="2800" dirty="0"/>
          </a:p>
          <a:p>
            <a:pPr>
              <a:buFont typeface="Wingdings" pitchFamily="2" charset="2"/>
              <a:buChar char="Ø"/>
            </a:pPr>
            <a:r>
              <a:rPr lang="en-US" sz="2800" dirty="0">
                <a:solidFill>
                  <a:srgbClr val="00B0F0"/>
                </a:solidFill>
              </a:rPr>
              <a:t>Certain quorum or number of members must be present</a:t>
            </a:r>
            <a:r>
              <a:rPr lang="en-US" sz="2800" dirty="0"/>
              <a:t> in the meeting to make it valid.</a:t>
            </a:r>
          </a:p>
          <a:p>
            <a:pPr>
              <a:buFont typeface="Wingdings" pitchFamily="2" charset="2"/>
              <a:buChar char="Ø"/>
            </a:pPr>
            <a:r>
              <a:rPr lang="en-US" sz="2800" dirty="0"/>
              <a:t>Meeting must </a:t>
            </a:r>
            <a:r>
              <a:rPr lang="en-US" sz="2800" dirty="0">
                <a:solidFill>
                  <a:srgbClr val="00B0F0"/>
                </a:solidFill>
              </a:rPr>
              <a:t>focus on the agenda.</a:t>
            </a:r>
          </a:p>
          <a:p>
            <a:pPr>
              <a:buFont typeface="Wingdings" pitchFamily="2" charset="2"/>
              <a:buChar char="Ø"/>
            </a:pPr>
            <a:r>
              <a:rPr lang="en-US" sz="2800" dirty="0"/>
              <a:t>Meeting </a:t>
            </a:r>
            <a:r>
              <a:rPr lang="en-US" sz="2800" dirty="0">
                <a:solidFill>
                  <a:srgbClr val="00B0F0"/>
                </a:solidFill>
              </a:rPr>
              <a:t>ends with vote of thanks</a:t>
            </a:r>
            <a:r>
              <a:rPr lang="en-US" sz="2800" dirty="0"/>
              <a:t> to all the members.</a:t>
            </a:r>
          </a:p>
          <a:p>
            <a:endParaRPr lang="en-US" dirty="0"/>
          </a:p>
        </p:txBody>
      </p:sp>
    </p:spTree>
    <p:extLst>
      <p:ext uri="{BB962C8B-B14F-4D97-AF65-F5344CB8AC3E}">
        <p14:creationId xmlns:p14="http://schemas.microsoft.com/office/powerpoint/2010/main" val="33601113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533400"/>
            <a:ext cx="8229600" cy="1847088"/>
          </a:xfrm>
        </p:spPr>
        <p:txBody>
          <a:bodyPr/>
          <a:lstStyle/>
          <a:p>
            <a:pPr algn="ctr"/>
            <a:r>
              <a:rPr lang="en-US" sz="4000" b="1" dirty="0" smtClean="0"/>
              <a:t>Ten rules for successful meeting</a:t>
            </a:r>
            <a:endParaRPr lang="en-US" sz="4000" b="1" dirty="0"/>
          </a:p>
        </p:txBody>
      </p:sp>
      <p:sp>
        <p:nvSpPr>
          <p:cNvPr id="3" name="Content Placeholder 2"/>
          <p:cNvSpPr>
            <a:spLocks noGrp="1"/>
          </p:cNvSpPr>
          <p:nvPr>
            <p:ph idx="1"/>
          </p:nvPr>
        </p:nvSpPr>
        <p:spPr>
          <a:xfrm>
            <a:off x="457200" y="1371600"/>
            <a:ext cx="8229600" cy="4389120"/>
          </a:xfrm>
        </p:spPr>
        <p:txBody>
          <a:bodyPr>
            <a:noAutofit/>
          </a:bodyPr>
          <a:lstStyle/>
          <a:p>
            <a:pPr marL="514350" indent="-514350">
              <a:buFont typeface="+mj-lt"/>
              <a:buAutoNum type="arabicParenR"/>
            </a:pPr>
            <a:r>
              <a:rPr lang="en-US" sz="2000" dirty="0" smtClean="0"/>
              <a:t>Convene a meeting when it is essential to consult others for taking action/decision. Hold a meeting when consultations on telephone would not </a:t>
            </a:r>
            <a:r>
              <a:rPr lang="en-US" sz="2000" dirty="0" smtClean="0"/>
              <a:t>give</a:t>
            </a:r>
            <a:r>
              <a:rPr lang="en-US" sz="2000" dirty="0" smtClean="0"/>
              <a:t> </a:t>
            </a:r>
            <a:r>
              <a:rPr lang="en-US" sz="2000" dirty="0" smtClean="0"/>
              <a:t>the desired result.</a:t>
            </a:r>
          </a:p>
          <a:p>
            <a:pPr marL="514350" indent="-514350">
              <a:buFont typeface="+mj-lt"/>
              <a:buAutoNum type="arabicParenR"/>
            </a:pPr>
            <a:r>
              <a:rPr lang="en-US" sz="2000" dirty="0" smtClean="0"/>
              <a:t>Invite only those who are essential to the meeting.</a:t>
            </a:r>
          </a:p>
          <a:p>
            <a:pPr marL="514350" indent="-514350">
              <a:buFont typeface="+mj-lt"/>
              <a:buAutoNum type="arabicParenR"/>
            </a:pPr>
            <a:r>
              <a:rPr lang="en-US" sz="2000" dirty="0" smtClean="0"/>
              <a:t>Insist on punctuality.</a:t>
            </a:r>
          </a:p>
          <a:p>
            <a:pPr marL="514350" indent="-514350">
              <a:buFont typeface="+mj-lt"/>
              <a:buAutoNum type="arabicParenR"/>
            </a:pPr>
            <a:r>
              <a:rPr lang="en-US" sz="2000" dirty="0" smtClean="0"/>
              <a:t>Be clear about the objective of the meeting.</a:t>
            </a:r>
          </a:p>
          <a:p>
            <a:pPr marL="514350" indent="-514350">
              <a:buFont typeface="+mj-lt"/>
              <a:buAutoNum type="arabicParenR"/>
            </a:pPr>
            <a:r>
              <a:rPr lang="en-US" sz="2000" dirty="0" smtClean="0"/>
              <a:t>Prepare </a:t>
            </a:r>
            <a:r>
              <a:rPr lang="en-US" sz="2000" dirty="0" smtClean="0"/>
              <a:t>agenda </a:t>
            </a:r>
            <a:r>
              <a:rPr lang="en-US" sz="2000" dirty="0" smtClean="0"/>
              <a:t>to be discussed and circulate it giving adequate time for members to prepare for the meeting.</a:t>
            </a:r>
          </a:p>
          <a:p>
            <a:pPr marL="514350" indent="-514350">
              <a:buFont typeface="+mj-lt"/>
              <a:buAutoNum type="arabicParenR"/>
            </a:pPr>
            <a:r>
              <a:rPr lang="en-US" sz="2000" dirty="0" smtClean="0"/>
              <a:t>Set time limit for the discussion of each item on the agenda.</a:t>
            </a:r>
          </a:p>
          <a:p>
            <a:pPr marL="514350" indent="-514350">
              <a:buFont typeface="+mj-lt"/>
              <a:buAutoNum type="arabicParenR"/>
            </a:pPr>
            <a:r>
              <a:rPr lang="en-US" sz="2000" dirty="0" smtClean="0"/>
              <a:t>Do not deviate from the agenda unless important.</a:t>
            </a:r>
          </a:p>
          <a:p>
            <a:pPr marL="514350" indent="-514350">
              <a:buFont typeface="+mj-lt"/>
              <a:buAutoNum type="arabicParenR"/>
            </a:pPr>
            <a:r>
              <a:rPr lang="en-US" sz="2000" dirty="0"/>
              <a:t>G</a:t>
            </a:r>
            <a:r>
              <a:rPr lang="en-US" sz="2000" dirty="0" smtClean="0"/>
              <a:t>ive </a:t>
            </a:r>
            <a:r>
              <a:rPr lang="en-US" sz="2000" dirty="0" smtClean="0"/>
              <a:t>time for every participant, stop a participant politely if he is speaking too much reminding him about time.</a:t>
            </a:r>
          </a:p>
          <a:p>
            <a:pPr marL="514350" indent="-514350">
              <a:buFont typeface="+mj-lt"/>
              <a:buAutoNum type="arabicParenR"/>
            </a:pPr>
            <a:r>
              <a:rPr lang="en-US" sz="2000" dirty="0" smtClean="0"/>
              <a:t>Conclude the meeting briefly with important points.</a:t>
            </a:r>
          </a:p>
          <a:p>
            <a:pPr marL="514350" indent="-514350">
              <a:buFont typeface="+mj-lt"/>
              <a:buAutoNum type="arabicParenR"/>
            </a:pPr>
            <a:r>
              <a:rPr lang="en-US" sz="2000" dirty="0" smtClean="0"/>
              <a:t>Close the meeting with a pleasant note, indicating the future course of action.</a:t>
            </a:r>
            <a:endParaRPr lang="en-US" sz="20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43000"/>
            <a:ext cx="8229600" cy="4389120"/>
          </a:xfrm>
        </p:spPr>
        <p:txBody>
          <a:bodyPr/>
          <a:lstStyle/>
          <a:p>
            <a:pPr lvl="0"/>
            <a:r>
              <a:rPr lang="en-US" dirty="0">
                <a:solidFill>
                  <a:srgbClr val="FF0000"/>
                </a:solidFill>
              </a:rPr>
              <a:t>Purposes of </a:t>
            </a:r>
            <a:r>
              <a:rPr lang="en-US" dirty="0" smtClean="0">
                <a:solidFill>
                  <a:srgbClr val="FF0000"/>
                </a:solidFill>
              </a:rPr>
              <a:t>Meeting</a:t>
            </a:r>
          </a:p>
          <a:p>
            <a:pPr lvl="0"/>
            <a:r>
              <a:rPr lang="en-US" dirty="0" smtClean="0"/>
              <a:t>Inform</a:t>
            </a:r>
          </a:p>
          <a:p>
            <a:pPr lvl="0"/>
            <a:r>
              <a:rPr lang="en-US" dirty="0" smtClean="0"/>
              <a:t>Seek ideas</a:t>
            </a:r>
          </a:p>
          <a:p>
            <a:pPr lvl="0"/>
            <a:r>
              <a:rPr lang="en-US" dirty="0" smtClean="0"/>
              <a:t>Seek clarification</a:t>
            </a:r>
          </a:p>
          <a:p>
            <a:pPr lvl="0"/>
            <a:r>
              <a:rPr lang="en-US" dirty="0" smtClean="0"/>
              <a:t>Resolve problems/settle disputes</a:t>
            </a:r>
          </a:p>
          <a:p>
            <a:pPr lvl="0"/>
            <a:r>
              <a:rPr lang="en-US" dirty="0" smtClean="0"/>
              <a:t>Discuss proposals/way of working</a:t>
            </a:r>
          </a:p>
          <a:p>
            <a:pPr lvl="0"/>
            <a:r>
              <a:rPr lang="en-US" dirty="0" smtClean="0"/>
              <a:t>Take decisions</a:t>
            </a:r>
            <a:endParaRPr lang="en-US" dirty="0"/>
          </a:p>
          <a:p>
            <a:endParaRPr lang="en-US" dirty="0"/>
          </a:p>
        </p:txBody>
      </p:sp>
    </p:spTree>
    <p:extLst>
      <p:ext uri="{BB962C8B-B14F-4D97-AF65-F5344CB8AC3E}">
        <p14:creationId xmlns:p14="http://schemas.microsoft.com/office/powerpoint/2010/main" val="25666353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229600" cy="4389120"/>
          </a:xfrm>
        </p:spPr>
        <p:txBody>
          <a:bodyPr/>
          <a:lstStyle/>
          <a:p>
            <a:pPr marL="0" indent="0">
              <a:buNone/>
            </a:pPr>
            <a:r>
              <a:rPr lang="en-US" smtClean="0">
                <a:solidFill>
                  <a:srgbClr val="FF0000"/>
                </a:solidFill>
              </a:rPr>
              <a:t>Purposes </a:t>
            </a:r>
            <a:r>
              <a:rPr lang="en-US" dirty="0" smtClean="0">
                <a:solidFill>
                  <a:srgbClr val="FF0000"/>
                </a:solidFill>
              </a:rPr>
              <a:t>of Minute</a:t>
            </a:r>
          </a:p>
          <a:p>
            <a:r>
              <a:rPr lang="en-US" dirty="0" smtClean="0"/>
              <a:t>To provide accurate summary of the proceeding of meeting</a:t>
            </a:r>
          </a:p>
          <a:p>
            <a:r>
              <a:rPr lang="en-US" dirty="0" smtClean="0"/>
              <a:t>Acts as documentary evidence</a:t>
            </a:r>
          </a:p>
          <a:p>
            <a:r>
              <a:rPr lang="en-US" dirty="0" smtClean="0"/>
              <a:t>Opinions of the members can be reviewed</a:t>
            </a:r>
          </a:p>
          <a:p>
            <a:r>
              <a:rPr lang="en-US" dirty="0" smtClean="0"/>
              <a:t>Guidelines for future meeting</a:t>
            </a:r>
          </a:p>
          <a:p>
            <a:r>
              <a:rPr lang="en-US" dirty="0" smtClean="0"/>
              <a:t>Acts as a means of accountability to the shareholders</a:t>
            </a:r>
            <a:endParaRPr lang="en-US" dirty="0"/>
          </a:p>
        </p:txBody>
      </p:sp>
    </p:spTree>
    <p:extLst>
      <p:ext uri="{BB962C8B-B14F-4D97-AF65-F5344CB8AC3E}">
        <p14:creationId xmlns:p14="http://schemas.microsoft.com/office/powerpoint/2010/main" val="41315395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1143000"/>
          </a:xfrm>
        </p:spPr>
        <p:txBody>
          <a:bodyPr/>
          <a:lstStyle/>
          <a:p>
            <a:pPr algn="ctr"/>
            <a:r>
              <a:rPr lang="en-US" dirty="0" smtClean="0"/>
              <a:t> </a:t>
            </a:r>
            <a:r>
              <a:rPr lang="en-US" sz="4000" b="1" dirty="0" smtClean="0"/>
              <a:t>Calling a Meeting</a:t>
            </a:r>
            <a:endParaRPr lang="en-US" sz="4000" b="1" dirty="0"/>
          </a:p>
        </p:txBody>
      </p:sp>
      <p:sp>
        <p:nvSpPr>
          <p:cNvPr id="3" name="Content Placeholder 2"/>
          <p:cNvSpPr>
            <a:spLocks noGrp="1"/>
          </p:cNvSpPr>
          <p:nvPr>
            <p:ph idx="1"/>
          </p:nvPr>
        </p:nvSpPr>
        <p:spPr>
          <a:xfrm>
            <a:off x="457200" y="1524000"/>
            <a:ext cx="8229600" cy="4389120"/>
          </a:xfrm>
        </p:spPr>
        <p:txBody>
          <a:bodyPr>
            <a:normAutofit fontScale="62500" lnSpcReduction="20000"/>
          </a:bodyPr>
          <a:lstStyle/>
          <a:p>
            <a:pPr algn="ctr">
              <a:buNone/>
            </a:pPr>
            <a:r>
              <a:rPr lang="en-US" dirty="0" smtClean="0"/>
              <a:t>                                                                                                   </a:t>
            </a:r>
          </a:p>
          <a:p>
            <a:pPr algn="ctr">
              <a:buNone/>
            </a:pPr>
            <a:r>
              <a:rPr lang="en-US" dirty="0" err="1" smtClean="0"/>
              <a:t>Uttarbehadi</a:t>
            </a:r>
            <a:r>
              <a:rPr lang="en-US" dirty="0" smtClean="0"/>
              <a:t> youth’s club                                </a:t>
            </a:r>
          </a:p>
          <a:p>
            <a:pPr algn="ctr">
              <a:buNone/>
            </a:pPr>
            <a:r>
              <a:rPr lang="en-US" dirty="0" err="1" smtClean="0"/>
              <a:t>Dhangadhi</a:t>
            </a:r>
            <a:r>
              <a:rPr lang="en-US" dirty="0" smtClean="0"/>
              <a:t>, </a:t>
            </a:r>
            <a:r>
              <a:rPr lang="en-US" dirty="0" err="1" smtClean="0"/>
              <a:t>kailali</a:t>
            </a:r>
            <a:r>
              <a:rPr lang="en-US" dirty="0" smtClean="0"/>
              <a:t>                                                         </a:t>
            </a:r>
          </a:p>
          <a:p>
            <a:pPr algn="ctr">
              <a:buNone/>
            </a:pPr>
            <a:r>
              <a:rPr lang="en-US" dirty="0" smtClean="0"/>
              <a:t>Ph:                      fax:</a:t>
            </a:r>
          </a:p>
          <a:p>
            <a:pPr algn="ctr">
              <a:buNone/>
            </a:pPr>
            <a:r>
              <a:rPr lang="en-US" dirty="0" smtClean="0"/>
              <a:t>Email: </a:t>
            </a:r>
            <a:r>
              <a:rPr lang="en-US" dirty="0"/>
              <a:t> </a:t>
            </a:r>
            <a:endParaRPr lang="en-US" dirty="0" smtClean="0"/>
          </a:p>
          <a:p>
            <a:pPr>
              <a:buNone/>
            </a:pPr>
            <a:r>
              <a:rPr lang="en-US" dirty="0" smtClean="0"/>
              <a:t>15</a:t>
            </a:r>
            <a:r>
              <a:rPr lang="en-US" baseline="30000" dirty="0" smtClean="0"/>
              <a:t>th</a:t>
            </a:r>
            <a:r>
              <a:rPr lang="en-US" dirty="0" smtClean="0"/>
              <a:t> </a:t>
            </a:r>
            <a:r>
              <a:rPr lang="en-US" dirty="0"/>
              <a:t>March </a:t>
            </a:r>
            <a:r>
              <a:rPr lang="en-US" dirty="0" smtClean="0"/>
              <a:t>2025</a:t>
            </a:r>
            <a:endParaRPr lang="en-US" dirty="0" smtClean="0"/>
          </a:p>
          <a:p>
            <a:pPr>
              <a:buNone/>
            </a:pPr>
            <a:r>
              <a:rPr lang="en-US" dirty="0" smtClean="0"/>
              <a:t>                           </a:t>
            </a:r>
          </a:p>
          <a:p>
            <a:pPr algn="ctr">
              <a:buNone/>
            </a:pPr>
            <a:r>
              <a:rPr lang="en-US" sz="3900" b="1" dirty="0" smtClean="0"/>
              <a:t>Notice </a:t>
            </a:r>
          </a:p>
          <a:p>
            <a:pPr>
              <a:buNone/>
            </a:pPr>
            <a:r>
              <a:rPr lang="en-US" dirty="0" smtClean="0"/>
              <a:t>This is notify to all the executive members of the club to attend the 10</a:t>
            </a:r>
            <a:r>
              <a:rPr lang="en-US" baseline="30000" dirty="0" smtClean="0"/>
              <a:t>th</a:t>
            </a:r>
            <a:r>
              <a:rPr lang="en-US" dirty="0" smtClean="0"/>
              <a:t> regular meeting  to be held at 4 pm on 18th March , </a:t>
            </a:r>
            <a:r>
              <a:rPr lang="en-US" dirty="0" smtClean="0"/>
              <a:t>2025 at  </a:t>
            </a:r>
            <a:r>
              <a:rPr lang="en-US" dirty="0" smtClean="0"/>
              <a:t>Devotee  hotel ,Dhangadhi, Kailali to discuss on the following agendas:</a:t>
            </a:r>
          </a:p>
          <a:p>
            <a:pPr>
              <a:buNone/>
            </a:pPr>
            <a:r>
              <a:rPr lang="en-US" dirty="0" smtClean="0"/>
              <a:t>10.01     confirmation of the minutes of previous meeting</a:t>
            </a:r>
          </a:p>
          <a:p>
            <a:pPr>
              <a:buNone/>
            </a:pPr>
            <a:r>
              <a:rPr lang="en-US" dirty="0" smtClean="0"/>
              <a:t>10.02     appointment of an accountant</a:t>
            </a:r>
          </a:p>
          <a:p>
            <a:pPr>
              <a:buNone/>
            </a:pPr>
            <a:r>
              <a:rPr lang="en-US" dirty="0" smtClean="0"/>
              <a:t>10.03     cash collection for the establishment of public study centre</a:t>
            </a:r>
          </a:p>
          <a:p>
            <a:pPr>
              <a:buNone/>
            </a:pPr>
            <a:r>
              <a:rPr lang="en-US" dirty="0" smtClean="0"/>
              <a:t>10.04      purchase of furniture</a:t>
            </a:r>
          </a:p>
          <a:p>
            <a:pPr>
              <a:buNone/>
            </a:pPr>
            <a:r>
              <a:rPr lang="en-US" dirty="0" smtClean="0"/>
              <a:t>10.05      schedule for the next meeting</a:t>
            </a:r>
          </a:p>
          <a:p>
            <a:pPr>
              <a:buNone/>
            </a:pP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229600" cy="1143000"/>
          </a:xfrm>
        </p:spPr>
        <p:txBody>
          <a:bodyPr/>
          <a:lstStyle/>
          <a:p>
            <a:r>
              <a:rPr lang="en-US" sz="3600" b="1" dirty="0" smtClean="0"/>
              <a:t>                 Minute</a:t>
            </a:r>
            <a:endParaRPr lang="en-US" sz="3600" b="1" dirty="0"/>
          </a:p>
        </p:txBody>
      </p:sp>
      <p:sp>
        <p:nvSpPr>
          <p:cNvPr id="3" name="Content Placeholder 2"/>
          <p:cNvSpPr>
            <a:spLocks noGrp="1"/>
          </p:cNvSpPr>
          <p:nvPr>
            <p:ph idx="1"/>
          </p:nvPr>
        </p:nvSpPr>
        <p:spPr>
          <a:xfrm>
            <a:off x="304800" y="685800"/>
            <a:ext cx="8229600" cy="4389120"/>
          </a:xfrm>
        </p:spPr>
        <p:txBody>
          <a:bodyPr>
            <a:noAutofit/>
          </a:bodyPr>
          <a:lstStyle/>
          <a:p>
            <a:pPr algn="ctr">
              <a:buNone/>
            </a:pPr>
            <a:r>
              <a:rPr lang="en-US" sz="1800" dirty="0" smtClean="0"/>
              <a:t>                                                                                                            </a:t>
            </a:r>
          </a:p>
          <a:p>
            <a:pPr algn="ctr">
              <a:buNone/>
            </a:pPr>
            <a:r>
              <a:rPr lang="en-US" sz="1800" dirty="0" err="1" smtClean="0"/>
              <a:t>Uttarbehadi</a:t>
            </a:r>
            <a:r>
              <a:rPr lang="en-US" sz="1800" dirty="0" smtClean="0"/>
              <a:t> Youth’s Club</a:t>
            </a:r>
          </a:p>
          <a:p>
            <a:pPr algn="ctr">
              <a:buNone/>
            </a:pPr>
            <a:r>
              <a:rPr lang="en-US" sz="1800" dirty="0" err="1" smtClean="0"/>
              <a:t>Dhangadhi</a:t>
            </a:r>
            <a:r>
              <a:rPr lang="en-US" sz="1800" dirty="0" smtClean="0"/>
              <a:t>, </a:t>
            </a:r>
            <a:r>
              <a:rPr lang="en-US" sz="1800" dirty="0" err="1" smtClean="0"/>
              <a:t>Kailali</a:t>
            </a:r>
            <a:r>
              <a:rPr lang="en-US" sz="1800" dirty="0" smtClean="0"/>
              <a:t>  </a:t>
            </a:r>
            <a:r>
              <a:rPr lang="en-US" sz="1800" dirty="0"/>
              <a:t> </a:t>
            </a:r>
            <a:endParaRPr lang="en-US" sz="1800" dirty="0" smtClean="0"/>
          </a:p>
          <a:p>
            <a:pPr algn="ctr">
              <a:buNone/>
            </a:pPr>
            <a:r>
              <a:rPr lang="en-US" sz="1800" dirty="0" err="1" smtClean="0"/>
              <a:t>Ph</a:t>
            </a:r>
            <a:r>
              <a:rPr lang="en-US" sz="1800" dirty="0" smtClean="0"/>
              <a:t>,.. </a:t>
            </a:r>
            <a:r>
              <a:rPr lang="en-US" sz="1800" dirty="0" err="1" smtClean="0"/>
              <a:t>Fx</a:t>
            </a:r>
            <a:r>
              <a:rPr lang="en-US" sz="1800" dirty="0" smtClean="0"/>
              <a:t>,.. Email…</a:t>
            </a:r>
          </a:p>
          <a:p>
            <a:pPr>
              <a:buNone/>
            </a:pPr>
            <a:r>
              <a:rPr lang="en-US" sz="1800" dirty="0"/>
              <a:t>1</a:t>
            </a:r>
            <a:r>
              <a:rPr lang="en-US" sz="1800" dirty="0" smtClean="0"/>
              <a:t>8</a:t>
            </a:r>
            <a:r>
              <a:rPr lang="en-US" sz="1800" baseline="30000" dirty="0" smtClean="0"/>
              <a:t>th</a:t>
            </a:r>
            <a:r>
              <a:rPr lang="en-US" sz="1800" dirty="0" smtClean="0"/>
              <a:t> </a:t>
            </a:r>
            <a:r>
              <a:rPr lang="en-US" sz="1800" dirty="0"/>
              <a:t>March, </a:t>
            </a:r>
            <a:r>
              <a:rPr lang="en-US" sz="1800" dirty="0" smtClean="0"/>
              <a:t>2025</a:t>
            </a:r>
            <a:endParaRPr lang="en-US" sz="1800" dirty="0"/>
          </a:p>
          <a:p>
            <a:pPr algn="ctr">
              <a:buNone/>
            </a:pPr>
            <a:r>
              <a:rPr lang="en-US" sz="1800" dirty="0" smtClean="0"/>
              <a:t>                                                               </a:t>
            </a:r>
          </a:p>
          <a:p>
            <a:pPr>
              <a:buNone/>
            </a:pPr>
            <a:r>
              <a:rPr lang="en-US" sz="1800" dirty="0" smtClean="0"/>
              <a:t>The tenth regular meeting of the executive committee of </a:t>
            </a:r>
            <a:r>
              <a:rPr lang="en-US" sz="1800" dirty="0" err="1" smtClean="0"/>
              <a:t>Uttarbehadi</a:t>
            </a:r>
            <a:r>
              <a:rPr lang="en-US" sz="1800" dirty="0" smtClean="0"/>
              <a:t>  Youths’ </a:t>
            </a:r>
            <a:r>
              <a:rPr lang="en-US" sz="1800" dirty="0"/>
              <a:t>C</a:t>
            </a:r>
            <a:r>
              <a:rPr lang="en-US" sz="1800" dirty="0" smtClean="0"/>
              <a:t>lub was held at Devotee hotel </a:t>
            </a:r>
            <a:r>
              <a:rPr lang="en-US" sz="1800" dirty="0" err="1" smtClean="0"/>
              <a:t>Dhangadhi</a:t>
            </a:r>
            <a:r>
              <a:rPr lang="en-US" sz="1800" dirty="0" smtClean="0"/>
              <a:t>, </a:t>
            </a:r>
            <a:r>
              <a:rPr lang="en-US" sz="1800" dirty="0" err="1" smtClean="0"/>
              <a:t>Kailali</a:t>
            </a:r>
            <a:r>
              <a:rPr lang="en-US" sz="1800" dirty="0" smtClean="0"/>
              <a:t> under the chairmanship of the president </a:t>
            </a:r>
            <a:r>
              <a:rPr lang="en-US" sz="1800" dirty="0" err="1" smtClean="0"/>
              <a:t>Mr</a:t>
            </a:r>
            <a:r>
              <a:rPr lang="en-US" sz="1800" dirty="0" smtClean="0"/>
              <a:t>  </a:t>
            </a:r>
            <a:r>
              <a:rPr lang="en-US" sz="1800" dirty="0" err="1" smtClean="0"/>
              <a:t>Bibek</a:t>
            </a:r>
            <a:r>
              <a:rPr lang="en-US" sz="1800" dirty="0" smtClean="0"/>
              <a:t> Pant on the presence of the following members to discuss and decide on the following agendas.</a:t>
            </a:r>
          </a:p>
          <a:p>
            <a:pPr>
              <a:buNone/>
            </a:pPr>
            <a:r>
              <a:rPr lang="en-US" sz="1800" dirty="0" smtClean="0"/>
              <a:t>Present members:</a:t>
            </a:r>
          </a:p>
          <a:p>
            <a:pPr>
              <a:buNone/>
            </a:pPr>
            <a:r>
              <a:rPr lang="en-US" sz="1800" dirty="0" smtClean="0"/>
              <a:t>Name                             designation                 signature</a:t>
            </a:r>
          </a:p>
          <a:p>
            <a:pPr>
              <a:buNone/>
            </a:pPr>
            <a:r>
              <a:rPr lang="en-US" sz="1800" dirty="0" smtClean="0"/>
              <a:t>1. </a:t>
            </a:r>
            <a:r>
              <a:rPr lang="en-US" sz="1800" dirty="0" err="1" smtClean="0"/>
              <a:t>Mr</a:t>
            </a:r>
            <a:r>
              <a:rPr lang="en-US" sz="1800" dirty="0" smtClean="0"/>
              <a:t> </a:t>
            </a:r>
            <a:r>
              <a:rPr lang="en-US" sz="1800" dirty="0" err="1" smtClean="0"/>
              <a:t>Bibek</a:t>
            </a:r>
            <a:r>
              <a:rPr lang="en-US" sz="1800" dirty="0" smtClean="0"/>
              <a:t> Pant             president      </a:t>
            </a:r>
          </a:p>
          <a:p>
            <a:pPr>
              <a:buNone/>
            </a:pPr>
            <a:r>
              <a:rPr lang="en-US" sz="1800" dirty="0" smtClean="0"/>
              <a:t>2. </a:t>
            </a:r>
            <a:r>
              <a:rPr lang="en-US" sz="1800" dirty="0" err="1" smtClean="0"/>
              <a:t>MrDeepak</a:t>
            </a:r>
            <a:r>
              <a:rPr lang="en-US" sz="1800" dirty="0" smtClean="0"/>
              <a:t> </a:t>
            </a:r>
            <a:r>
              <a:rPr lang="en-US" sz="1800" dirty="0" err="1" smtClean="0"/>
              <a:t>Regmi</a:t>
            </a:r>
            <a:r>
              <a:rPr lang="en-US" sz="1800" dirty="0" smtClean="0"/>
              <a:t>        vice-president</a:t>
            </a:r>
          </a:p>
          <a:p>
            <a:pPr>
              <a:buNone/>
            </a:pPr>
            <a:r>
              <a:rPr lang="en-US" sz="1800" dirty="0" smtClean="0"/>
              <a:t>3. </a:t>
            </a:r>
            <a:r>
              <a:rPr lang="en-US" sz="1800" dirty="0" err="1" smtClean="0"/>
              <a:t>Mrs</a:t>
            </a:r>
            <a:r>
              <a:rPr lang="en-US" sz="1800" dirty="0" smtClean="0"/>
              <a:t> </a:t>
            </a:r>
            <a:r>
              <a:rPr lang="en-US" sz="1800" dirty="0" err="1" smtClean="0"/>
              <a:t>Usha</a:t>
            </a:r>
            <a:r>
              <a:rPr lang="en-US" sz="1800" dirty="0" smtClean="0"/>
              <a:t> </a:t>
            </a:r>
            <a:r>
              <a:rPr lang="en-US" sz="1800" dirty="0" err="1" smtClean="0"/>
              <a:t>Thapa</a:t>
            </a:r>
            <a:r>
              <a:rPr lang="en-US" sz="1800" dirty="0" smtClean="0"/>
              <a:t>           secretary</a:t>
            </a:r>
          </a:p>
          <a:p>
            <a:pPr>
              <a:buNone/>
            </a:pPr>
            <a:r>
              <a:rPr lang="en-US" sz="1800" dirty="0" smtClean="0"/>
              <a:t>4. </a:t>
            </a:r>
            <a:r>
              <a:rPr lang="en-US" sz="1800" dirty="0" err="1" smtClean="0"/>
              <a:t>Mrs</a:t>
            </a:r>
            <a:r>
              <a:rPr lang="en-US" sz="1800" dirty="0" smtClean="0"/>
              <a:t> </a:t>
            </a:r>
            <a:r>
              <a:rPr lang="en-US" sz="1800" dirty="0" err="1" smtClean="0"/>
              <a:t>Anju</a:t>
            </a:r>
            <a:r>
              <a:rPr lang="en-US" sz="1800" dirty="0" smtClean="0"/>
              <a:t> </a:t>
            </a:r>
            <a:r>
              <a:rPr lang="en-US" sz="1800" dirty="0" err="1" smtClean="0"/>
              <a:t>bhatt</a:t>
            </a:r>
            <a:r>
              <a:rPr lang="en-US" sz="1800" dirty="0" smtClean="0"/>
              <a:t>             treasurer</a:t>
            </a:r>
          </a:p>
          <a:p>
            <a:pPr>
              <a:buNone/>
            </a:pPr>
            <a:r>
              <a:rPr lang="en-US" sz="1800" dirty="0" smtClean="0"/>
              <a:t>5. </a:t>
            </a:r>
            <a:r>
              <a:rPr lang="en-US" sz="1800" dirty="0" err="1" smtClean="0"/>
              <a:t>Kamal</a:t>
            </a:r>
            <a:r>
              <a:rPr lang="en-US" sz="1800" dirty="0" smtClean="0"/>
              <a:t> </a:t>
            </a:r>
            <a:r>
              <a:rPr lang="en-US" sz="1800" dirty="0" err="1" smtClean="0"/>
              <a:t>Chand</a:t>
            </a:r>
            <a:r>
              <a:rPr lang="en-US" sz="1800" dirty="0" smtClean="0"/>
              <a:t>                member</a:t>
            </a:r>
          </a:p>
          <a:p>
            <a:pPr>
              <a:buNone/>
            </a:pPr>
            <a:r>
              <a:rPr lang="en-US" sz="1800" dirty="0" smtClean="0"/>
              <a:t>6. Rita </a:t>
            </a:r>
            <a:r>
              <a:rPr lang="en-US" sz="1800" dirty="0" err="1" smtClean="0"/>
              <a:t>Rijal</a:t>
            </a:r>
            <a:r>
              <a:rPr lang="en-US" sz="1800" dirty="0" smtClean="0"/>
              <a:t>                         member</a:t>
            </a:r>
          </a:p>
          <a:p>
            <a:pPr>
              <a:buNone/>
            </a:pPr>
            <a:r>
              <a:rPr lang="en-US" sz="1800" dirty="0" smtClean="0"/>
              <a:t>Absentees:</a:t>
            </a:r>
          </a:p>
          <a:p>
            <a:pPr>
              <a:buNone/>
            </a:pPr>
            <a:r>
              <a:rPr lang="en-US" sz="1800" dirty="0" smtClean="0"/>
              <a:t>Name                                   designation</a:t>
            </a:r>
          </a:p>
          <a:p>
            <a:pPr marL="514350" indent="-514350">
              <a:buAutoNum type="arabicPeriod"/>
            </a:pPr>
            <a:r>
              <a:rPr lang="en-US" sz="1800" dirty="0" err="1" smtClean="0"/>
              <a:t>Gita</a:t>
            </a:r>
            <a:r>
              <a:rPr lang="en-US" sz="1800" dirty="0" smtClean="0"/>
              <a:t> Bhatt                          member</a:t>
            </a:r>
          </a:p>
          <a:p>
            <a:pPr marL="514350" indent="-514350">
              <a:buAutoNum type="arabicPeriod"/>
            </a:pPr>
            <a:r>
              <a:rPr lang="en-US" sz="1800" dirty="0" err="1" smtClean="0"/>
              <a:t>Shyam</a:t>
            </a:r>
            <a:r>
              <a:rPr lang="en-US" sz="1800" dirty="0" smtClean="0"/>
              <a:t> </a:t>
            </a:r>
            <a:r>
              <a:rPr lang="en-US" sz="1800" dirty="0" err="1" smtClean="0"/>
              <a:t>Paneru</a:t>
            </a:r>
            <a:r>
              <a:rPr lang="en-US" sz="1800" dirty="0" smtClean="0"/>
              <a:t>                  member</a:t>
            </a:r>
          </a:p>
          <a:p>
            <a:pPr marL="514350" indent="-514350">
              <a:buAutoNum type="arabicPeriod"/>
            </a:pPr>
            <a:r>
              <a:rPr lang="en-US" sz="1800" dirty="0" err="1" smtClean="0"/>
              <a:t>Ganga</a:t>
            </a:r>
            <a:r>
              <a:rPr lang="en-US" sz="1800" dirty="0" smtClean="0"/>
              <a:t> </a:t>
            </a:r>
            <a:r>
              <a:rPr lang="en-US" sz="1800" dirty="0" err="1" smtClean="0"/>
              <a:t>Karki</a:t>
            </a:r>
            <a:r>
              <a:rPr lang="en-US" sz="1800" dirty="0" smtClean="0"/>
              <a:t>                     member</a:t>
            </a:r>
            <a:endParaRPr lang="en-US" sz="18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
            <a:ext cx="8229600" cy="990600"/>
          </a:xfrm>
        </p:spPr>
        <p:txBody>
          <a:bodyPr>
            <a:normAutofit/>
          </a:bodyPr>
          <a:lstStyle/>
          <a:p>
            <a:r>
              <a:rPr lang="en-US" sz="3200" b="1" dirty="0" smtClean="0"/>
              <a:t>The following decisions are made</a:t>
            </a:r>
            <a:endParaRPr lang="en-US" sz="3200" b="1" dirty="0"/>
          </a:p>
        </p:txBody>
      </p:sp>
      <p:sp>
        <p:nvSpPr>
          <p:cNvPr id="3" name="Content Placeholder 2"/>
          <p:cNvSpPr>
            <a:spLocks noGrp="1"/>
          </p:cNvSpPr>
          <p:nvPr>
            <p:ph idx="1"/>
          </p:nvPr>
        </p:nvSpPr>
        <p:spPr>
          <a:xfrm>
            <a:off x="228600" y="1249680"/>
            <a:ext cx="8229600" cy="4389120"/>
          </a:xfrm>
        </p:spPr>
        <p:txBody>
          <a:bodyPr>
            <a:normAutofit fontScale="25000" lnSpcReduction="20000"/>
          </a:bodyPr>
          <a:lstStyle/>
          <a:p>
            <a:pPr>
              <a:buNone/>
            </a:pPr>
            <a:r>
              <a:rPr lang="en-US" sz="7200" dirty="0" smtClean="0"/>
              <a:t>10.01       confirmation of the minutes of the last meeting: the minutes of the last meeting held on January 5, 2024 were approved and signed by the chairperson.</a:t>
            </a:r>
          </a:p>
          <a:p>
            <a:pPr>
              <a:buNone/>
            </a:pPr>
            <a:r>
              <a:rPr lang="en-US" sz="7200" dirty="0" smtClean="0"/>
              <a:t>10.02       appointment of an accountant: the secretary of the club </a:t>
            </a:r>
            <a:r>
              <a:rPr lang="en-US" sz="7200" dirty="0" err="1" smtClean="0"/>
              <a:t>Mrs</a:t>
            </a:r>
            <a:r>
              <a:rPr lang="en-US" sz="7200" dirty="0" smtClean="0"/>
              <a:t> </a:t>
            </a:r>
            <a:r>
              <a:rPr lang="en-US" sz="7200" dirty="0" err="1" smtClean="0"/>
              <a:t>Usha</a:t>
            </a:r>
            <a:r>
              <a:rPr lang="en-US" sz="7200" dirty="0" smtClean="0"/>
              <a:t> </a:t>
            </a:r>
            <a:r>
              <a:rPr lang="en-US" sz="7200" dirty="0" err="1" smtClean="0"/>
              <a:t>Thapa</a:t>
            </a:r>
            <a:r>
              <a:rPr lang="en-US" sz="7200" dirty="0" smtClean="0"/>
              <a:t> reported that the work of the club has increased and she proposed for the appointment of full time accountant. The committee approved her proposal and asked her to take essential steps for the appointment of an accountant in the pay scale of </a:t>
            </a:r>
            <a:r>
              <a:rPr lang="en-US" sz="7200" dirty="0" err="1" smtClean="0"/>
              <a:t>Rs</a:t>
            </a:r>
            <a:r>
              <a:rPr lang="en-US" sz="7200" dirty="0" smtClean="0"/>
              <a:t> </a:t>
            </a:r>
            <a:r>
              <a:rPr lang="en-US" sz="7200" dirty="0" err="1" smtClean="0"/>
              <a:t>20,ooo</a:t>
            </a:r>
            <a:r>
              <a:rPr lang="en-US" sz="7200" dirty="0" smtClean="0"/>
              <a:t> per month.</a:t>
            </a:r>
          </a:p>
          <a:p>
            <a:pPr>
              <a:buNone/>
            </a:pPr>
            <a:r>
              <a:rPr lang="en-US" sz="7200" dirty="0" smtClean="0"/>
              <a:t>10.03     cash collection for the establishment of public study centre: </a:t>
            </a:r>
            <a:r>
              <a:rPr lang="en-US" sz="7200" dirty="0" err="1" smtClean="0"/>
              <a:t>Mr</a:t>
            </a:r>
            <a:r>
              <a:rPr lang="en-US" sz="7200" dirty="0" smtClean="0"/>
              <a:t> </a:t>
            </a:r>
            <a:r>
              <a:rPr lang="en-US" sz="7200" dirty="0" err="1" smtClean="0"/>
              <a:t>Bibek</a:t>
            </a:r>
            <a:r>
              <a:rPr lang="en-US" sz="7200" dirty="0" smtClean="0"/>
              <a:t> pant (president) proposed that immediate cash collection should be done to establish a public study centre in the village.  It will be beneficial for the public to increase the level of knowledge  by studying  various books according to their choice. It has been decided that  a sum of </a:t>
            </a:r>
            <a:r>
              <a:rPr lang="en-US" sz="7200" dirty="0" err="1" smtClean="0"/>
              <a:t>Rs</a:t>
            </a:r>
            <a:r>
              <a:rPr lang="en-US" sz="7200" dirty="0" smtClean="0"/>
              <a:t> </a:t>
            </a:r>
            <a:r>
              <a:rPr lang="en-US" sz="7200" dirty="0" err="1" smtClean="0"/>
              <a:t>1ooo</a:t>
            </a:r>
            <a:r>
              <a:rPr lang="en-US" sz="7200" dirty="0" smtClean="0"/>
              <a:t> should be collected from each house hold by the end of the next month.</a:t>
            </a:r>
          </a:p>
          <a:p>
            <a:pPr>
              <a:buNone/>
            </a:pPr>
            <a:r>
              <a:rPr lang="en-US" sz="7200" dirty="0" smtClean="0"/>
              <a:t>10.04          the members approved the purchase of 35 arm </a:t>
            </a:r>
            <a:r>
              <a:rPr lang="en-US" sz="7200" dirty="0" err="1" smtClean="0"/>
              <a:t>chairs,5</a:t>
            </a:r>
            <a:r>
              <a:rPr lang="en-US" sz="7200" dirty="0" smtClean="0"/>
              <a:t> tables and a sofa set . </a:t>
            </a:r>
            <a:r>
              <a:rPr lang="en-US" sz="7200" dirty="0" err="1" smtClean="0"/>
              <a:t>Mr</a:t>
            </a:r>
            <a:r>
              <a:rPr lang="en-US" sz="7200" dirty="0" smtClean="0"/>
              <a:t> </a:t>
            </a:r>
            <a:r>
              <a:rPr lang="en-US" sz="7200" dirty="0" err="1" smtClean="0"/>
              <a:t>Kamal</a:t>
            </a:r>
            <a:r>
              <a:rPr lang="en-US" sz="7200" dirty="0" smtClean="0"/>
              <a:t> </a:t>
            </a:r>
            <a:r>
              <a:rPr lang="en-US" sz="7200" dirty="0" err="1" smtClean="0"/>
              <a:t>Chand</a:t>
            </a:r>
            <a:r>
              <a:rPr lang="en-US" sz="7200" dirty="0" smtClean="0"/>
              <a:t> was asked to making quotations from pant  furniture.</a:t>
            </a:r>
          </a:p>
          <a:p>
            <a:pPr>
              <a:buNone/>
            </a:pPr>
            <a:r>
              <a:rPr lang="en-US" sz="7200" dirty="0" smtClean="0"/>
              <a:t>10.05           schedule for the next meeting: The schedule for the next meeting was fixed to be held on 20</a:t>
            </a:r>
            <a:r>
              <a:rPr lang="en-US" sz="7200" baseline="30000" dirty="0" smtClean="0"/>
              <a:t>th</a:t>
            </a:r>
            <a:r>
              <a:rPr lang="en-US" sz="7200" dirty="0" smtClean="0"/>
              <a:t> April 2017.</a:t>
            </a:r>
          </a:p>
          <a:p>
            <a:pPr>
              <a:buNone/>
            </a:pPr>
            <a:r>
              <a:rPr lang="en-US" sz="7200" dirty="0" smtClean="0"/>
              <a:t>As there were not any other matter to be discussed further, the meeting ended with vote of thanks.</a:t>
            </a:r>
          </a:p>
          <a:p>
            <a:pPr>
              <a:buNone/>
            </a:pPr>
            <a:endParaRPr lang="en-US" sz="7200" dirty="0" smtClean="0"/>
          </a:p>
          <a:p>
            <a:pPr>
              <a:buNone/>
            </a:pPr>
            <a:r>
              <a:rPr lang="en-US" sz="7200" dirty="0" smtClean="0"/>
              <a:t>Secretary                                                                                               Chairperson</a:t>
            </a:r>
          </a:p>
          <a:p>
            <a:pPr>
              <a:buNone/>
            </a:pPr>
            <a:r>
              <a:rPr lang="en-US" sz="7200" dirty="0" smtClean="0"/>
              <a:t>…………..                                                                                                     ………………..</a:t>
            </a:r>
          </a:p>
          <a:p>
            <a:pPr>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229600" cy="1143000"/>
          </a:xfrm>
        </p:spPr>
        <p:txBody>
          <a:bodyPr/>
          <a:lstStyle/>
          <a:p>
            <a:r>
              <a:rPr lang="en-US" sz="3200" b="1" dirty="0" smtClean="0"/>
              <a:t>        Assignment</a:t>
            </a:r>
            <a:endParaRPr lang="en-US" sz="3200" b="1" dirty="0"/>
          </a:p>
        </p:txBody>
      </p:sp>
      <p:sp>
        <p:nvSpPr>
          <p:cNvPr id="3" name="Content Placeholder 2"/>
          <p:cNvSpPr>
            <a:spLocks noGrp="1"/>
          </p:cNvSpPr>
          <p:nvPr>
            <p:ph idx="1"/>
          </p:nvPr>
        </p:nvSpPr>
        <p:spPr>
          <a:xfrm>
            <a:off x="228600" y="914400"/>
            <a:ext cx="8229600" cy="4389120"/>
          </a:xfrm>
        </p:spPr>
        <p:txBody>
          <a:bodyPr>
            <a:noAutofit/>
          </a:bodyPr>
          <a:lstStyle/>
          <a:p>
            <a:pPr marL="514350" indent="-514350">
              <a:buNone/>
            </a:pPr>
            <a:r>
              <a:rPr lang="en-US" sz="2000" dirty="0" smtClean="0"/>
              <a:t>A) Imagine that you have been appointed as the reporting secretary for the seventh meeting of the executive committee of the </a:t>
            </a:r>
            <a:r>
              <a:rPr lang="en-US" sz="2000" dirty="0" err="1" smtClean="0"/>
              <a:t>Dhangadhi</a:t>
            </a:r>
            <a:r>
              <a:rPr lang="en-US" sz="2000" dirty="0" smtClean="0"/>
              <a:t> departmental store held on Feb. 2, </a:t>
            </a:r>
            <a:r>
              <a:rPr lang="en-US" sz="2000" dirty="0" smtClean="0"/>
              <a:t>2025. </a:t>
            </a:r>
            <a:r>
              <a:rPr lang="en-US" sz="2000" dirty="0" smtClean="0"/>
              <a:t>write the minutes of the following meeting assuming the agenda to be as follows:</a:t>
            </a:r>
          </a:p>
          <a:p>
            <a:pPr marL="514350" indent="-514350">
              <a:buFont typeface="Arial" pitchFamily="34" charset="0"/>
              <a:buChar char="•"/>
            </a:pPr>
            <a:r>
              <a:rPr lang="en-US" sz="2000" dirty="0" smtClean="0"/>
              <a:t>7.01   adoption of the minutes of the last meeting </a:t>
            </a:r>
          </a:p>
          <a:p>
            <a:pPr marL="514350" indent="-514350">
              <a:buFont typeface="Arial" pitchFamily="34" charset="0"/>
              <a:buChar char="•"/>
            </a:pPr>
            <a:r>
              <a:rPr lang="en-US" sz="2000" dirty="0" smtClean="0"/>
              <a:t>7.02    appointment of sales manager</a:t>
            </a:r>
          </a:p>
          <a:p>
            <a:pPr marL="514350" indent="-514350">
              <a:buFont typeface="Arial" pitchFamily="34" charset="0"/>
              <a:buChar char="•"/>
            </a:pPr>
            <a:r>
              <a:rPr lang="en-US" sz="2000" dirty="0" smtClean="0"/>
              <a:t>7.03    proposal for the extension of a storeroom</a:t>
            </a:r>
          </a:p>
          <a:p>
            <a:pPr marL="514350" indent="-514350">
              <a:buFont typeface="Arial" pitchFamily="34" charset="0"/>
              <a:buChar char="•"/>
            </a:pPr>
            <a:r>
              <a:rPr lang="en-US" sz="2000" dirty="0" smtClean="0"/>
              <a:t>7.04   complaints regarding the quality of groceries</a:t>
            </a:r>
          </a:p>
          <a:p>
            <a:pPr marL="514350" indent="-514350">
              <a:buNone/>
            </a:pPr>
            <a:r>
              <a:rPr lang="en-US" sz="2000" dirty="0" smtClean="0"/>
              <a:t>B)  Suppose you are the secretary of the engineering association Nepal write a notice for a meeting along with the following tentative agenda to be sent to the members of the association and also prepare the minutes of the meeting.</a:t>
            </a:r>
          </a:p>
          <a:p>
            <a:r>
              <a:rPr lang="en-US" sz="2000" dirty="0" smtClean="0"/>
              <a:t>Agenda:</a:t>
            </a:r>
          </a:p>
          <a:p>
            <a:r>
              <a:rPr lang="en-US" sz="2000" dirty="0" smtClean="0"/>
              <a:t>1.01    minutes of the previous meeting</a:t>
            </a:r>
          </a:p>
          <a:p>
            <a:r>
              <a:rPr lang="en-US" sz="2000" dirty="0" smtClean="0"/>
              <a:t>1.02    chairman’s report </a:t>
            </a:r>
          </a:p>
          <a:p>
            <a:r>
              <a:rPr lang="en-US" sz="2000" dirty="0" smtClean="0"/>
              <a:t>1.03     organize annual engineering exhibition</a:t>
            </a:r>
          </a:p>
          <a:p>
            <a:r>
              <a:rPr lang="en-US" sz="2000" dirty="0" err="1" smtClean="0"/>
              <a:t>1.o4</a:t>
            </a:r>
            <a:r>
              <a:rPr lang="en-US" sz="2000" dirty="0" smtClean="0"/>
              <a:t>     participate in a seminar in USA and select delegates. </a:t>
            </a:r>
            <a:endParaRPr lang="en-US" sz="20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272</TotalTime>
  <Words>1011</Words>
  <Application>Microsoft Office PowerPoint</Application>
  <PresentationFormat>On-screen Show (4:3)</PresentationFormat>
  <Paragraphs>103</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Flow</vt:lpstr>
      <vt:lpstr>PowerPoint Presentation</vt:lpstr>
      <vt:lpstr>PowerPoint Presentation</vt:lpstr>
      <vt:lpstr>PowerPoint Presentation</vt:lpstr>
      <vt:lpstr>Ten rules for successful meeting</vt:lpstr>
      <vt:lpstr>PowerPoint Presentation</vt:lpstr>
      <vt:lpstr>PowerPoint Presentation</vt:lpstr>
      <vt:lpstr> Calling a Meeting</vt:lpstr>
      <vt:lpstr>                 Minute</vt:lpstr>
      <vt:lpstr>The following decisions are made</vt:lpstr>
      <vt:lpstr>        Assignment</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Meeting</dc:title>
  <dc:creator>JOSHI SHANKAR</dc:creator>
  <cp:lastModifiedBy>lenovo</cp:lastModifiedBy>
  <cp:revision>48</cp:revision>
  <dcterms:created xsi:type="dcterms:W3CDTF">2006-08-16T00:00:00Z</dcterms:created>
  <dcterms:modified xsi:type="dcterms:W3CDTF">2025-05-23T12:56:57Z</dcterms:modified>
</cp:coreProperties>
</file>