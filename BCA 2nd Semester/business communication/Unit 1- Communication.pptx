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74" r:id="rId2"/>
    <p:sldId id="259" r:id="rId3"/>
    <p:sldId id="260" r:id="rId4"/>
    <p:sldId id="484" r:id="rId5"/>
    <p:sldId id="609" r:id="rId6"/>
    <p:sldId id="610" r:id="rId7"/>
    <p:sldId id="485" r:id="rId8"/>
    <p:sldId id="488" r:id="rId9"/>
    <p:sldId id="511" r:id="rId10"/>
    <p:sldId id="512" r:id="rId11"/>
    <p:sldId id="513" r:id="rId12"/>
    <p:sldId id="514" r:id="rId13"/>
    <p:sldId id="515" r:id="rId14"/>
    <p:sldId id="516" r:id="rId15"/>
    <p:sldId id="517" r:id="rId16"/>
    <p:sldId id="489" r:id="rId17"/>
    <p:sldId id="490" r:id="rId18"/>
    <p:sldId id="491" r:id="rId19"/>
    <p:sldId id="492" r:id="rId20"/>
    <p:sldId id="493" r:id="rId21"/>
    <p:sldId id="494" r:id="rId22"/>
    <p:sldId id="495" r:id="rId23"/>
    <p:sldId id="60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7" d="100"/>
          <a:sy n="77" d="100"/>
        </p:scale>
        <p:origin x="-378" y="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C365-889A-41DF-AE9C-1B49932D9E3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E57ED-2306-491D-9DAB-43244716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9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3DB55-A7BC-4955-9594-1B8BE0CEC1DE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40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D67D-D5AD-4398-BD2C-5776D4DF3391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13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719A-057E-48F1-B5E2-2D0AF542DCAD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1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B893-88AB-40C4-92D5-477BE7904D07}" type="datetime1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83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AD5AB-D571-4AF6-BAD7-B3CFA86E6398}" type="datetime1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8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BD585-6257-4A74-8A1A-15EE7DC6F962}" type="datetime1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62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0322-513E-4A97-B217-169DF18E057B}" type="datetime1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7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70F91-0732-409B-9294-4FE9532EDFB6}" type="datetime1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47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44FC-193F-456D-8D80-2118A892EB33}" type="datetime1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71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4509F-986E-4BE8-A751-4AA62CAE195E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14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EBD30-94AA-4DBD-8599-2D33C32527B9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59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516EC-B4E3-4F40-8801-772128E9785A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mnrmaniram12@gmail.com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29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jpeg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7553"/>
            <a:ext cx="10515600" cy="132313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Chapter 1 </a:t>
            </a: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0565"/>
            <a:ext cx="10515600" cy="18198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0000"/>
                </a:solidFill>
              </a:rPr>
              <a:t>Communication</a:t>
            </a:r>
            <a:endParaRPr lang="en-US" sz="6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2" descr="Communication with customers: Five essential factors - Customer Experience  Magazin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473" y="2357718"/>
            <a:ext cx="8959903" cy="429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973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44969"/>
            <a:ext cx="10515600" cy="4571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Contents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1 Definition of Communication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2</a:t>
            </a:r>
            <a:r>
              <a:rPr lang="en-US" b="1" dirty="0" smtClean="0"/>
              <a:t> </a:t>
            </a:r>
            <a:r>
              <a:rPr lang="en-US" b="1" dirty="0"/>
              <a:t>Process of </a:t>
            </a:r>
            <a:r>
              <a:rPr lang="en-US" b="1" dirty="0" smtClean="0"/>
              <a:t>Communication</a:t>
            </a: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3 Principles </a:t>
            </a:r>
            <a:r>
              <a:rPr lang="en-US" b="1" dirty="0"/>
              <a:t>of </a:t>
            </a:r>
            <a:r>
              <a:rPr lang="en-US" b="1" dirty="0" smtClean="0"/>
              <a:t>Communication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8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1.1 Communication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3365876"/>
              </p:ext>
            </p:extLst>
          </p:nvPr>
        </p:nvGraphicFramePr>
        <p:xfrm>
          <a:off x="6866152" y="909982"/>
          <a:ext cx="22145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Packager Shell Object" showAsIcon="1" r:id="rId3" imgW="2215080" imgH="437760" progId="Package">
                  <p:embed/>
                </p:oleObj>
              </mc:Choice>
              <mc:Fallback>
                <p:oleObj name="Packager Shell Object" showAsIcon="1" r:id="rId3" imgW="2215080" imgH="4377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66152" y="909982"/>
                        <a:ext cx="2214563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7" name="Picture 3" descr="C:\Users\lenovo\Desktop\What-is-Communication.jpg"/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984" y="1609692"/>
            <a:ext cx="6766560" cy="478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0745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271" y="1630191"/>
            <a:ext cx="11483787" cy="438912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Communication</a:t>
            </a:r>
            <a:r>
              <a:rPr lang="en-US" b="1" dirty="0"/>
              <a:t> (</a:t>
            </a:r>
            <a:r>
              <a:rPr lang="en-US" b="1" dirty="0">
                <a:solidFill>
                  <a:srgbClr val="FF0000"/>
                </a:solidFill>
              </a:rPr>
              <a:t>from Latin </a:t>
            </a:r>
            <a:r>
              <a:rPr lang="en-US" b="1" i="1" dirty="0" err="1">
                <a:solidFill>
                  <a:srgbClr val="FF0000"/>
                </a:solidFill>
              </a:rPr>
              <a:t>commūnicāre</a:t>
            </a:r>
            <a:r>
              <a:rPr lang="en-US" b="1" dirty="0">
                <a:solidFill>
                  <a:srgbClr val="FF0000"/>
                </a:solidFill>
              </a:rPr>
              <a:t>, meaning "to share, impart")</a:t>
            </a:r>
            <a:r>
              <a:rPr lang="en-US" b="1" dirty="0"/>
              <a:t> is </a:t>
            </a:r>
            <a:r>
              <a:rPr lang="en-US" b="1" dirty="0">
                <a:solidFill>
                  <a:srgbClr val="0070C0"/>
                </a:solidFill>
              </a:rPr>
              <a:t>the act of conveying intended meanings from one entity or group to another through the use of mutually understood signs and meaning system.</a:t>
            </a:r>
          </a:p>
          <a:p>
            <a:pPr lvl="0"/>
            <a:r>
              <a:rPr lang="en-US" b="1" dirty="0">
                <a:solidFill>
                  <a:srgbClr val="0070C0"/>
                </a:solidFill>
              </a:rPr>
              <a:t>Transfer of message </a:t>
            </a:r>
            <a:r>
              <a:rPr lang="en-US" b="1" dirty="0"/>
              <a:t>from the sender/addressor to the receiver/addressee.</a:t>
            </a:r>
          </a:p>
          <a:p>
            <a:pPr lvl="0"/>
            <a:r>
              <a:rPr lang="en-US" b="1" dirty="0">
                <a:solidFill>
                  <a:srgbClr val="0070C0"/>
                </a:solidFill>
              </a:rPr>
              <a:t>Exchange of information </a:t>
            </a:r>
            <a:r>
              <a:rPr lang="en-US" b="1" dirty="0"/>
              <a:t>between the addresser and addressee.</a:t>
            </a:r>
          </a:p>
          <a:p>
            <a:r>
              <a:rPr lang="en-US" dirty="0" smtClean="0"/>
              <a:t>“Communication </a:t>
            </a:r>
            <a:r>
              <a:rPr lang="en-US" dirty="0"/>
              <a:t>is an exchange of facts, ideas, opinions or emotions by two or more </a:t>
            </a:r>
            <a:r>
              <a:rPr lang="en-US" dirty="0" smtClean="0"/>
              <a:t>persons.”- </a:t>
            </a:r>
            <a:r>
              <a:rPr lang="en-US" dirty="0"/>
              <a:t>Newman and </a:t>
            </a:r>
            <a:r>
              <a:rPr lang="en-US" dirty="0" smtClean="0"/>
              <a:t>Summer</a:t>
            </a:r>
          </a:p>
          <a:p>
            <a:r>
              <a:rPr lang="en-US" dirty="0" smtClean="0"/>
              <a:t>“Communication </a:t>
            </a:r>
            <a:r>
              <a:rPr lang="en-US" dirty="0"/>
              <a:t>is the exchange of information and the transmission of meaning. It is the very essence of a social system of an </a:t>
            </a:r>
            <a:r>
              <a:rPr lang="en-US" dirty="0" smtClean="0"/>
              <a:t>organization.”- </a:t>
            </a:r>
            <a:r>
              <a:rPr lang="en-US" dirty="0"/>
              <a:t>Katz and </a:t>
            </a:r>
            <a:r>
              <a:rPr lang="en-US" dirty="0" smtClean="0"/>
              <a:t>Kahn</a:t>
            </a:r>
          </a:p>
          <a:p>
            <a:r>
              <a:rPr lang="en-US" b="1" dirty="0" smtClean="0"/>
              <a:t>”Communication </a:t>
            </a:r>
            <a:r>
              <a:rPr lang="en-US" b="1" dirty="0"/>
              <a:t>is transfer of information from one person to another</a:t>
            </a:r>
            <a:r>
              <a:rPr lang="en-US" b="1" dirty="0" smtClean="0"/>
              <a:t>, whether </a:t>
            </a:r>
            <a:r>
              <a:rPr lang="en-US" b="1" dirty="0"/>
              <a:t>or not it elicits confidence. But the information transferred must be understandable to the </a:t>
            </a:r>
            <a:r>
              <a:rPr lang="en-US" b="1" dirty="0" smtClean="0"/>
              <a:t>receiver.” </a:t>
            </a:r>
            <a:r>
              <a:rPr lang="en-US" b="1" dirty="0"/>
              <a:t>– </a:t>
            </a:r>
            <a:r>
              <a:rPr lang="en-US" b="1" dirty="0" err="1"/>
              <a:t>G.G</a:t>
            </a:r>
            <a:r>
              <a:rPr lang="en-US" b="1" dirty="0"/>
              <a:t>. Brown.</a:t>
            </a:r>
            <a:endParaRPr lang="en-US" dirty="0"/>
          </a:p>
          <a:p>
            <a:r>
              <a:rPr lang="en-US" b="1" dirty="0" smtClean="0"/>
              <a:t>“</a:t>
            </a:r>
            <a:r>
              <a:rPr lang="en-US" b="1" dirty="0"/>
              <a:t>Communication is the intercourse by words, letters or </a:t>
            </a:r>
            <a:r>
              <a:rPr lang="en-US" b="1" dirty="0" smtClean="0"/>
              <a:t>messages.”- </a:t>
            </a:r>
            <a:r>
              <a:rPr lang="en-US" b="1" dirty="0"/>
              <a:t>Fred G. Meyer</a:t>
            </a:r>
            <a:r>
              <a:rPr lang="en-US" b="1" dirty="0" smtClean="0"/>
              <a:t>.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“Communication </a:t>
            </a:r>
            <a:r>
              <a:rPr lang="en-US" dirty="0"/>
              <a:t>is the sum of all the things one person does; when he wants to create understanding in the mind of another. It involves a systematic and continuous process of telling, listening and </a:t>
            </a:r>
            <a:r>
              <a:rPr lang="en-US" dirty="0" smtClean="0"/>
              <a:t>understanding.” -Allen </a:t>
            </a:r>
            <a:r>
              <a:rPr lang="en-US" dirty="0"/>
              <a:t>Louis </a:t>
            </a:r>
          </a:p>
          <a:p>
            <a:pPr lvl="0"/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5373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87637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Two Schools in the Study of Communication</a:t>
            </a:r>
          </a:p>
          <a:p>
            <a:r>
              <a:rPr lang="en-US" sz="3600" b="1" dirty="0"/>
              <a:t>Process school:</a:t>
            </a:r>
            <a:r>
              <a:rPr lang="en-US" sz="3600" dirty="0"/>
              <a:t>  </a:t>
            </a:r>
          </a:p>
          <a:p>
            <a:r>
              <a:rPr lang="en-US" dirty="0"/>
              <a:t>Process school sees communication as the </a:t>
            </a:r>
            <a:r>
              <a:rPr lang="en-US" dirty="0">
                <a:solidFill>
                  <a:srgbClr val="00B0F0"/>
                </a:solidFill>
              </a:rPr>
              <a:t>transmission of message.</a:t>
            </a:r>
          </a:p>
          <a:p>
            <a:r>
              <a:rPr lang="en-US" dirty="0"/>
              <a:t>It focuses on how</a:t>
            </a:r>
            <a:r>
              <a:rPr lang="en-US" dirty="0">
                <a:solidFill>
                  <a:srgbClr val="00B0F0"/>
                </a:solidFill>
              </a:rPr>
              <a:t> senders and receivers encode and decode messages, and how transmitters use channels and media.</a:t>
            </a:r>
          </a:p>
          <a:p>
            <a:r>
              <a:rPr lang="en-US" dirty="0"/>
              <a:t>It emphasizes </a:t>
            </a:r>
            <a:r>
              <a:rPr lang="en-US" dirty="0">
                <a:solidFill>
                  <a:srgbClr val="00B0F0"/>
                </a:solidFill>
              </a:rPr>
              <a:t>efficiency and accuracy</a:t>
            </a:r>
            <a:r>
              <a:rPr lang="en-US" dirty="0"/>
              <a:t> in communication.</a:t>
            </a:r>
          </a:p>
          <a:p>
            <a:r>
              <a:rPr lang="en-US" dirty="0"/>
              <a:t>Communication is seen as a </a:t>
            </a:r>
            <a:r>
              <a:rPr lang="en-US" dirty="0">
                <a:solidFill>
                  <a:srgbClr val="00B0F0"/>
                </a:solidFill>
              </a:rPr>
              <a:t>process of affecting behavior</a:t>
            </a:r>
            <a:r>
              <a:rPr lang="en-US" dirty="0"/>
              <a:t> or </a:t>
            </a:r>
            <a:r>
              <a:rPr lang="en-US" dirty="0">
                <a:solidFill>
                  <a:srgbClr val="00B0F0"/>
                </a:solidFill>
              </a:rPr>
              <a:t>state of mind of another person.</a:t>
            </a:r>
          </a:p>
          <a:p>
            <a:r>
              <a:rPr lang="en-US" dirty="0">
                <a:solidFill>
                  <a:srgbClr val="00B0F0"/>
                </a:solidFill>
              </a:rPr>
              <a:t>Communication failure</a:t>
            </a:r>
            <a:r>
              <a:rPr lang="en-US" dirty="0"/>
              <a:t> happens when the </a:t>
            </a:r>
            <a:r>
              <a:rPr lang="en-US" dirty="0">
                <a:solidFill>
                  <a:srgbClr val="00B0F0"/>
                </a:solidFill>
              </a:rPr>
              <a:t>effect is different or smaller than intended.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mnrmaniram12@gmail.com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6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4343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4000" b="1" dirty="0"/>
              <a:t>The Semiotic School:</a:t>
            </a:r>
          </a:p>
          <a:p>
            <a:r>
              <a:rPr lang="en-US" dirty="0"/>
              <a:t> Semiotic school: communication = </a:t>
            </a:r>
            <a:r>
              <a:rPr lang="en-US" dirty="0">
                <a:solidFill>
                  <a:srgbClr val="00B0F0"/>
                </a:solidFill>
              </a:rPr>
              <a:t>production/exchange of meaning</a:t>
            </a:r>
          </a:p>
          <a:p>
            <a:r>
              <a:rPr lang="en-US" dirty="0"/>
              <a:t>Concerned with how </a:t>
            </a:r>
            <a:r>
              <a:rPr lang="en-US" dirty="0">
                <a:solidFill>
                  <a:srgbClr val="00B0F0"/>
                </a:solidFill>
              </a:rPr>
              <a:t>text/message interacts with people to produce meaning</a:t>
            </a:r>
          </a:p>
          <a:p>
            <a:r>
              <a:rPr lang="en-US" dirty="0"/>
              <a:t>Focus on role of text in culture</a:t>
            </a:r>
          </a:p>
          <a:p>
            <a:r>
              <a:rPr lang="en-US" dirty="0">
                <a:solidFill>
                  <a:srgbClr val="00B0F0"/>
                </a:solidFill>
              </a:rPr>
              <a:t>Misunderstanding</a:t>
            </a:r>
            <a:r>
              <a:rPr lang="en-US" dirty="0"/>
              <a:t> due to </a:t>
            </a:r>
            <a:r>
              <a:rPr lang="en-US" dirty="0">
                <a:solidFill>
                  <a:srgbClr val="00B0F0"/>
                </a:solidFill>
              </a:rPr>
              <a:t>cultural differences</a:t>
            </a:r>
            <a:r>
              <a:rPr lang="en-US" dirty="0"/>
              <a:t>, not communication failure</a:t>
            </a:r>
          </a:p>
          <a:p>
            <a:r>
              <a:rPr lang="en-US" dirty="0">
                <a:solidFill>
                  <a:srgbClr val="00B0F0"/>
                </a:solidFill>
              </a:rPr>
              <a:t>Communication = study of culture and text</a:t>
            </a:r>
          </a:p>
          <a:p>
            <a:r>
              <a:rPr lang="en-US" dirty="0">
                <a:solidFill>
                  <a:srgbClr val="00B0F0"/>
                </a:solidFill>
              </a:rPr>
              <a:t>Message = signs interacting with receivers to give meaning</a:t>
            </a:r>
          </a:p>
          <a:p>
            <a:r>
              <a:rPr lang="en-US" dirty="0">
                <a:solidFill>
                  <a:srgbClr val="00B0F0"/>
                </a:solidFill>
              </a:rPr>
              <a:t>Sender less important</a:t>
            </a:r>
            <a:r>
              <a:rPr lang="en-US" dirty="0"/>
              <a:t>, emphasis on text and how it's read</a:t>
            </a:r>
          </a:p>
          <a:p>
            <a:r>
              <a:rPr lang="en-US" dirty="0"/>
              <a:t>Reader brings </a:t>
            </a:r>
            <a:r>
              <a:rPr lang="en-US" dirty="0">
                <a:solidFill>
                  <a:srgbClr val="00B0F0"/>
                </a:solidFill>
              </a:rPr>
              <a:t>cultural experience to interpret text</a:t>
            </a:r>
          </a:p>
          <a:p>
            <a:r>
              <a:rPr lang="en-US" dirty="0">
                <a:solidFill>
                  <a:srgbClr val="00B0F0"/>
                </a:solidFill>
              </a:rPr>
              <a:t>Multiple meanings due to social/cultural differences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mnrmaniram12@gmail.com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2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Communication can be </a:t>
            </a:r>
            <a:r>
              <a:rPr lang="en-US" b="1" dirty="0">
                <a:solidFill>
                  <a:srgbClr val="0070C0"/>
                </a:solidFill>
              </a:rPr>
              <a:t>verbal or non-verbal.</a:t>
            </a:r>
          </a:p>
          <a:p>
            <a:r>
              <a:rPr lang="en-US" b="1" dirty="0"/>
              <a:t>Communication can be </a:t>
            </a:r>
            <a:r>
              <a:rPr lang="en-US" b="1" dirty="0">
                <a:solidFill>
                  <a:srgbClr val="0070C0"/>
                </a:solidFill>
              </a:rPr>
              <a:t>internal or external.</a:t>
            </a:r>
          </a:p>
          <a:p>
            <a:r>
              <a:rPr lang="en-US" b="1" dirty="0"/>
              <a:t>Communication can take place in </a:t>
            </a:r>
            <a:r>
              <a:rPr lang="en-US" b="1" dirty="0">
                <a:solidFill>
                  <a:srgbClr val="0070C0"/>
                </a:solidFill>
              </a:rPr>
              <a:t>two people as well as in-group</a:t>
            </a:r>
            <a:r>
              <a:rPr lang="en-US" b="1" dirty="0"/>
              <a:t>.</a:t>
            </a:r>
          </a:p>
          <a:p>
            <a:r>
              <a:rPr lang="en-US" b="1" dirty="0"/>
              <a:t>Communication can involve </a:t>
            </a:r>
            <a:r>
              <a:rPr lang="en-US" b="1" dirty="0">
                <a:solidFill>
                  <a:srgbClr val="0070C0"/>
                </a:solidFill>
              </a:rPr>
              <a:t>human, machine or animals.</a:t>
            </a:r>
          </a:p>
          <a:p>
            <a:r>
              <a:rPr lang="en-US" b="1" dirty="0"/>
              <a:t>It is </a:t>
            </a:r>
            <a:r>
              <a:rPr lang="en-US" b="1" dirty="0">
                <a:solidFill>
                  <a:srgbClr val="0070C0"/>
                </a:solidFill>
              </a:rPr>
              <a:t>a dynamic process</a:t>
            </a:r>
          </a:p>
          <a:p>
            <a:r>
              <a:rPr lang="en-US" b="1" dirty="0"/>
              <a:t>It is </a:t>
            </a:r>
            <a:r>
              <a:rPr lang="en-US" b="1" dirty="0">
                <a:solidFill>
                  <a:srgbClr val="0070C0"/>
                </a:solidFill>
              </a:rPr>
              <a:t>the lifeblood of business.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3560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1.5 Principles of Communication (7 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2751"/>
          </a:xfrm>
        </p:spPr>
        <p:txBody>
          <a:bodyPr/>
          <a:lstStyle/>
          <a:p>
            <a:r>
              <a:rPr lang="en-US" sz="3600" b="1" dirty="0"/>
              <a:t>Clarity</a:t>
            </a:r>
          </a:p>
          <a:p>
            <a:r>
              <a:rPr lang="en-US" sz="3600" b="1" dirty="0"/>
              <a:t>Completeness</a:t>
            </a:r>
          </a:p>
          <a:p>
            <a:r>
              <a:rPr lang="en-US" sz="3600" b="1" dirty="0"/>
              <a:t>Conciseness</a:t>
            </a:r>
          </a:p>
          <a:p>
            <a:r>
              <a:rPr lang="en-US" sz="3600" b="1" dirty="0"/>
              <a:t>Concreteness</a:t>
            </a:r>
          </a:p>
          <a:p>
            <a:r>
              <a:rPr lang="en-US" sz="3600" b="1" dirty="0"/>
              <a:t>Consideration</a:t>
            </a:r>
          </a:p>
          <a:p>
            <a:r>
              <a:rPr lang="en-US" sz="3600" b="1" dirty="0"/>
              <a:t>Correctness</a:t>
            </a:r>
          </a:p>
          <a:p>
            <a:r>
              <a:rPr lang="en-US" sz="3600" b="1" dirty="0"/>
              <a:t>Courtesy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2050" name="Picture 2" descr="C:\Users\lenovo\Desktop\7cs-effective-communic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195" y="1294890"/>
            <a:ext cx="804672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29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1. Clarity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Using accurate manner so that the receiver understand what is originally conveyed</a:t>
            </a:r>
          </a:p>
          <a:p>
            <a:r>
              <a:rPr lang="en-US" b="1" dirty="0"/>
              <a:t>Difficult task (words have multiple meanings)</a:t>
            </a:r>
          </a:p>
          <a:p>
            <a:r>
              <a:rPr lang="en-US" b="1" dirty="0"/>
              <a:t>Clarity is maintained by:</a:t>
            </a:r>
          </a:p>
          <a:p>
            <a:pPr marL="0" indent="0">
              <a:buNone/>
            </a:pPr>
            <a:r>
              <a:rPr lang="en-US" b="1" dirty="0"/>
              <a:t>	- using precise, familiar and easy words </a:t>
            </a:r>
          </a:p>
          <a:p>
            <a:pPr marL="0" indent="0">
              <a:buNone/>
            </a:pPr>
            <a:r>
              <a:rPr lang="en-US" b="1" dirty="0"/>
              <a:t>	- constructing effective sentences and paragraphs</a:t>
            </a:r>
          </a:p>
          <a:p>
            <a:pPr marL="0" indent="0">
              <a:buNone/>
            </a:pPr>
            <a:r>
              <a:rPr lang="en-US" b="1" dirty="0"/>
              <a:t>	- making easily readable and easy to grasp when spoken out</a:t>
            </a:r>
          </a:p>
          <a:p>
            <a:pPr marL="0" indent="0">
              <a:buNone/>
            </a:pPr>
            <a:r>
              <a:rPr lang="en-US" b="1" dirty="0"/>
              <a:t>	- using visual aids like illustrations and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2. Completeness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82" y="1825625"/>
            <a:ext cx="11273118" cy="4895850"/>
          </a:xfrm>
        </p:spPr>
        <p:txBody>
          <a:bodyPr/>
          <a:lstStyle/>
          <a:p>
            <a:r>
              <a:rPr lang="en-US" b="1" dirty="0"/>
              <a:t>A complete message will have all the facts/details needed by the audience</a:t>
            </a:r>
          </a:p>
          <a:p>
            <a:r>
              <a:rPr lang="en-US" b="1" dirty="0"/>
              <a:t>Ask </a:t>
            </a:r>
            <a:r>
              <a:rPr lang="en-US" b="1" dirty="0">
                <a:solidFill>
                  <a:srgbClr val="FF0000"/>
                </a:solidFill>
              </a:rPr>
              <a:t>5Ws+1H</a:t>
            </a:r>
            <a:r>
              <a:rPr lang="en-US" b="1" dirty="0"/>
              <a:t> or journalistic questions (who, what, where, when, why and how)</a:t>
            </a:r>
          </a:p>
          <a:p>
            <a:r>
              <a:rPr lang="en-US" b="1" dirty="0"/>
              <a:t>Recognize receiver’s needs, background, attitude and emotions</a:t>
            </a:r>
          </a:p>
          <a:p>
            <a:r>
              <a:rPr lang="en-US" b="1" i="1" dirty="0">
                <a:solidFill>
                  <a:srgbClr val="002060"/>
                </a:solidFill>
              </a:rPr>
              <a:t>For </a:t>
            </a:r>
            <a:r>
              <a:rPr lang="en-US" b="1" i="1" dirty="0" err="1">
                <a:solidFill>
                  <a:srgbClr val="002060"/>
                </a:solidFill>
              </a:rPr>
              <a:t>eg</a:t>
            </a:r>
            <a:r>
              <a:rPr lang="en-US" b="1" i="1" dirty="0">
                <a:solidFill>
                  <a:srgbClr val="002060"/>
                </a:solidFill>
              </a:rPr>
              <a:t>, If you want to write a brochure on your beautiful mountain village to promote it as a touristic spot, you will need to provide a complete profile of the village, including its location, map, landmarks, demographics, culture, travel logistics, estimated costs etc.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7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3. Conciseness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Using fewest words</a:t>
            </a:r>
          </a:p>
          <a:p>
            <a:r>
              <a:rPr lang="en-US" b="1" dirty="0"/>
              <a:t>A concise message is without wordiness, awkward constructions and redundancies.</a:t>
            </a:r>
          </a:p>
          <a:p>
            <a:r>
              <a:rPr lang="en-US" b="1" dirty="0"/>
              <a:t>Conciseness: </a:t>
            </a:r>
          </a:p>
          <a:p>
            <a:pPr marL="0" indent="0">
              <a:buNone/>
            </a:pPr>
            <a:r>
              <a:rPr lang="en-US" b="1" dirty="0"/>
              <a:t>	- helps to emphasize</a:t>
            </a:r>
          </a:p>
          <a:p>
            <a:pPr marL="0" indent="0">
              <a:buNone/>
            </a:pPr>
            <a:r>
              <a:rPr lang="en-US" b="1" dirty="0"/>
              <a:t>	- make important ideas stand out</a:t>
            </a:r>
          </a:p>
          <a:p>
            <a:pPr marL="0" indent="0">
              <a:buNone/>
            </a:pPr>
            <a:r>
              <a:rPr lang="en-US" b="1" dirty="0"/>
              <a:t>	- saves the time and resources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7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4. Concreteness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Message should be specific, definite and vivid with relevant details</a:t>
            </a:r>
          </a:p>
          <a:p>
            <a:r>
              <a:rPr lang="en-US" b="1" dirty="0"/>
              <a:t>Concreteness is maintained by:</a:t>
            </a:r>
          </a:p>
          <a:p>
            <a:pPr marL="0" indent="0">
              <a:buNone/>
            </a:pPr>
            <a:r>
              <a:rPr lang="en-US" b="1" dirty="0"/>
              <a:t>	- using facts and figures</a:t>
            </a:r>
          </a:p>
          <a:p>
            <a:pPr marL="0" indent="0">
              <a:buNone/>
            </a:pPr>
            <a:r>
              <a:rPr lang="en-US" b="1" dirty="0"/>
              <a:t>	- using image building words or phrases</a:t>
            </a:r>
          </a:p>
          <a:p>
            <a:pPr marL="0" indent="0">
              <a:buNone/>
            </a:pPr>
            <a:r>
              <a:rPr lang="en-US" b="1" dirty="0"/>
              <a:t>	- using action verbs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7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5. Consideration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It is keeping the audience in mind.</a:t>
            </a:r>
          </a:p>
          <a:p>
            <a:r>
              <a:rPr lang="en-US" b="1" dirty="0"/>
              <a:t>It is putting yourself in your audience’s shoes, and empathizing with them, eager to address their needs, always positively and with integrity.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8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6. 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7496"/>
            <a:ext cx="10515600" cy="536050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It is concerned with using:</a:t>
            </a:r>
          </a:p>
          <a:p>
            <a:pPr marL="0" indent="0">
              <a:buNone/>
            </a:pPr>
            <a:r>
              <a:rPr lang="en-US" b="1" dirty="0"/>
              <a:t>	- correct grammar</a:t>
            </a:r>
          </a:p>
          <a:p>
            <a:pPr marL="0" indent="0">
              <a:buNone/>
            </a:pPr>
            <a:r>
              <a:rPr lang="en-US" b="1" dirty="0"/>
              <a:t>	- punctuation</a:t>
            </a:r>
          </a:p>
          <a:p>
            <a:pPr marL="0" indent="0">
              <a:buNone/>
            </a:pPr>
            <a:r>
              <a:rPr lang="en-US" b="1" dirty="0"/>
              <a:t>	- spelling and other mechanics</a:t>
            </a:r>
          </a:p>
          <a:p>
            <a:pPr marL="0" indent="0">
              <a:buNone/>
            </a:pPr>
            <a:r>
              <a:rPr lang="en-US" b="1" dirty="0"/>
              <a:t>	- proper body language</a:t>
            </a:r>
          </a:p>
          <a:p>
            <a:pPr marL="0" indent="0">
              <a:buNone/>
            </a:pPr>
            <a:r>
              <a:rPr lang="en-US" b="1" dirty="0"/>
              <a:t>	- proper tone</a:t>
            </a:r>
          </a:p>
          <a:p>
            <a:pPr marL="0" indent="0">
              <a:buNone/>
            </a:pPr>
            <a:r>
              <a:rPr lang="en-US" b="1" dirty="0"/>
              <a:t>	- political correctness (not using harsh language in terms of race, gender, 	religion </a:t>
            </a:r>
            <a:r>
              <a:rPr lang="en-US" b="1" dirty="0" err="1"/>
              <a:t>etc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b="1" dirty="0"/>
              <a:t>	- correct facts and figures</a:t>
            </a:r>
          </a:p>
          <a:p>
            <a:pPr marL="0" indent="0">
              <a:buNone/>
            </a:pPr>
            <a:r>
              <a:rPr lang="en-US" b="1" dirty="0"/>
              <a:t>	- sources</a:t>
            </a:r>
          </a:p>
          <a:p>
            <a:pPr marL="0" indent="0">
              <a:buNone/>
            </a:pPr>
            <a:r>
              <a:rPr lang="en-US" b="1" dirty="0"/>
              <a:t>	- appropriate language according to the situation (formal and informal)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0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7. Courtesy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It involves showing concern for the recipient, being polite, sincere, and thankful to others</a:t>
            </a:r>
          </a:p>
          <a:p>
            <a:r>
              <a:rPr lang="en-US" b="1" dirty="0"/>
              <a:t>It helps to win new friends</a:t>
            </a:r>
          </a:p>
          <a:p>
            <a:r>
              <a:rPr lang="en-US" b="1" dirty="0"/>
              <a:t>It is a way to avoid annoying or hurtful expressions</a:t>
            </a:r>
          </a:p>
          <a:p>
            <a:r>
              <a:rPr lang="en-US" b="1" dirty="0"/>
              <a:t>It is the ability to say ‘thank you’ or ‘sorry’ to the audience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7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266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Arial Narrow" panose="020B0606020202030204" pitchFamily="34" charset="0"/>
              </a:rPr>
              <a:t>1.3 Process of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1953"/>
            <a:ext cx="10515600" cy="489501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Communication </a:t>
            </a:r>
            <a:r>
              <a:rPr lang="en-US" b="1" dirty="0">
                <a:solidFill>
                  <a:srgbClr val="C00000"/>
                </a:solidFill>
              </a:rPr>
              <a:t>process generally includes:</a:t>
            </a:r>
          </a:p>
          <a:p>
            <a:pPr marL="0" indent="0">
              <a:buNone/>
            </a:pPr>
            <a:r>
              <a:rPr lang="en-US" b="1" dirty="0" err="1"/>
              <a:t>i</a:t>
            </a:r>
            <a:r>
              <a:rPr lang="en-US" b="1" dirty="0">
                <a:solidFill>
                  <a:srgbClr val="002060"/>
                </a:solidFill>
              </a:rPr>
              <a:t>.    Sender/encoder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ii.   Message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 iii. Medium/channel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iv.  Recipient/decoder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v.   Feedback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vi.  Context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4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7030A0"/>
                </a:solidFill>
                <a:latin typeface="Arial Rounded MT Bold" panose="020F0704030504030204" pitchFamily="34" charset="0"/>
              </a:rPr>
              <a:t>i</a:t>
            </a:r>
            <a:r>
              <a:rPr lang="en-US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. Sender/encoder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person who sends the message (symbols such as speech, written words, gestures etc.) with the intended meaning.</a:t>
            </a:r>
          </a:p>
          <a:p>
            <a:r>
              <a:rPr lang="en-US" b="1" dirty="0"/>
              <a:t>A sender is a source of the message</a:t>
            </a:r>
          </a:p>
          <a:p>
            <a:r>
              <a:rPr lang="en-US" b="1" dirty="0"/>
              <a:t>It could be an </a:t>
            </a:r>
            <a:r>
              <a:rPr lang="en-US" b="1" dirty="0" smtClean="0"/>
              <a:t>individual/institution</a:t>
            </a:r>
            <a:endParaRPr lang="en-US" b="1" dirty="0"/>
          </a:p>
          <a:p>
            <a:r>
              <a:rPr lang="en-US" b="1" dirty="0"/>
              <a:t>An ideal sender is one who has the abilities of a good communicator</a:t>
            </a:r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90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ii.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key idea with a meaning conveyed by the sender to the receiver.</a:t>
            </a:r>
          </a:p>
          <a:p>
            <a:r>
              <a:rPr lang="en-US" b="1" dirty="0"/>
              <a:t>The effectiveness of message depends on:</a:t>
            </a:r>
          </a:p>
          <a:p>
            <a:pPr marL="0" indent="0">
              <a:buNone/>
            </a:pPr>
            <a:r>
              <a:rPr lang="en-US" b="1" dirty="0"/>
              <a:t>	- </a:t>
            </a:r>
            <a:r>
              <a:rPr lang="en-US" b="1" dirty="0" smtClean="0"/>
              <a:t>How </a:t>
            </a:r>
            <a:r>
              <a:rPr lang="en-US" b="1" dirty="0"/>
              <a:t>accurate and clear it </a:t>
            </a:r>
            <a:r>
              <a:rPr lang="en-US" b="1" dirty="0" smtClean="0"/>
              <a:t>is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	- </a:t>
            </a:r>
            <a:r>
              <a:rPr lang="en-US" b="1" dirty="0" smtClean="0"/>
              <a:t>How </a:t>
            </a:r>
            <a:r>
              <a:rPr lang="en-US" b="1" dirty="0"/>
              <a:t>well it suits the needs of the sender, medium and 			</a:t>
            </a:r>
            <a:r>
              <a:rPr lang="en-US" b="1" dirty="0" smtClean="0"/>
              <a:t>recipient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8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iii. Medium/channel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means by which a message is conveyed to the receiver</a:t>
            </a:r>
          </a:p>
          <a:p>
            <a:r>
              <a:rPr lang="en-US" b="1" dirty="0"/>
              <a:t>There are different channels like- letter, telephone, fax, email etc. </a:t>
            </a:r>
          </a:p>
          <a:p>
            <a:r>
              <a:rPr lang="en-US" b="1" dirty="0"/>
              <a:t>It is determined by the nature of audience, message and the receiver.</a:t>
            </a:r>
          </a:p>
          <a:p>
            <a:r>
              <a:rPr lang="en-US" b="1" dirty="0" err="1" smtClean="0"/>
              <a:t>Eg</a:t>
            </a:r>
            <a:r>
              <a:rPr lang="en-US" b="1" dirty="0" smtClean="0"/>
              <a:t>: folk </a:t>
            </a:r>
            <a:r>
              <a:rPr lang="en-US" b="1" dirty="0"/>
              <a:t>media like street drama, or FM radio could be more effective  today to communicate a health message to the rural audience in Nepal.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58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iv. Recipient/decoder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Individual(s) for whom the message is intended for or targeted at.</a:t>
            </a:r>
          </a:p>
          <a:p>
            <a:r>
              <a:rPr lang="en-US" b="1" dirty="0"/>
              <a:t>An ideal recipient is one who is receptive, and has the abilities to understand the intended message.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1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v.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It is the response by the recipient.</a:t>
            </a:r>
          </a:p>
          <a:p>
            <a:r>
              <a:rPr lang="en-US" b="1" dirty="0"/>
              <a:t>It is the return message sent by the receiver to the sender.</a:t>
            </a:r>
          </a:p>
          <a:p>
            <a:r>
              <a:rPr lang="en-US" b="1" dirty="0"/>
              <a:t>It can be either verbal or non-verbal.</a:t>
            </a:r>
          </a:p>
          <a:p>
            <a:r>
              <a:rPr lang="en-US" b="1" dirty="0"/>
              <a:t>It helps to make communication a circular rather than a linear process.</a:t>
            </a:r>
          </a:p>
          <a:p>
            <a:r>
              <a:rPr lang="en-US" b="1" dirty="0"/>
              <a:t>It helps to relate to the intended meaning of the message, or to assess its effectiveness.</a:t>
            </a:r>
          </a:p>
          <a:p>
            <a:r>
              <a:rPr lang="en-US" b="1" dirty="0"/>
              <a:t>It helps to improve communication next time.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9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vi. Context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 message is always communicated within a context.</a:t>
            </a:r>
          </a:p>
          <a:p>
            <a:r>
              <a:rPr lang="en-US" b="1" dirty="0"/>
              <a:t>It could be physical, social, cultural, psychological or temporal.</a:t>
            </a:r>
          </a:p>
          <a:p>
            <a:r>
              <a:rPr lang="en-US" b="1" dirty="0"/>
              <a:t>It could be more than one at the same time.</a:t>
            </a:r>
          </a:p>
          <a:p>
            <a:r>
              <a:rPr lang="en-US" b="1" dirty="0"/>
              <a:t>Appropriate contexts help in the efficacy of the message.</a:t>
            </a:r>
          </a:p>
          <a:p>
            <a:r>
              <a:rPr lang="en-US" b="1" dirty="0"/>
              <a:t>Inappropriate context serve as barrier to communication.</a:t>
            </a:r>
          </a:p>
          <a:p>
            <a:r>
              <a:rPr lang="en-US" b="1" dirty="0" err="1" smtClean="0"/>
              <a:t>Eg</a:t>
            </a:r>
            <a:r>
              <a:rPr lang="en-US" b="1" dirty="0"/>
              <a:t>:</a:t>
            </a:r>
            <a:r>
              <a:rPr lang="en-US" b="1" dirty="0" smtClean="0"/>
              <a:t> </a:t>
            </a:r>
            <a:r>
              <a:rPr lang="en-US" b="1" dirty="0"/>
              <a:t>a Pepsi-Cola advertisement on </a:t>
            </a:r>
            <a:r>
              <a:rPr lang="en-US" b="1" dirty="0" smtClean="0"/>
              <a:t>radio </a:t>
            </a:r>
            <a:r>
              <a:rPr lang="en-US" b="1" dirty="0"/>
              <a:t>in </a:t>
            </a:r>
            <a:r>
              <a:rPr lang="en-US" b="1" dirty="0" err="1"/>
              <a:t>Terai</a:t>
            </a:r>
            <a:r>
              <a:rPr lang="en-US" b="1" dirty="0"/>
              <a:t> is more effective during summer than in the winter.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3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b="1" i="1" dirty="0" smtClean="0">
                <a:solidFill>
                  <a:srgbClr val="00B0F0"/>
                </a:solidFill>
              </a:rPr>
              <a:t>THANK YOU</a:t>
            </a:r>
            <a:endParaRPr lang="en-US" sz="6600" b="1" i="1" dirty="0">
              <a:solidFill>
                <a:srgbClr val="00B0F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mnrmaniram12@gmail.com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0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7883</TotalTime>
  <Words>880</Words>
  <Application>Microsoft Office PowerPoint</Application>
  <PresentationFormat>Custom</PresentationFormat>
  <Paragraphs>159</Paragraphs>
  <Slides>23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Office Theme</vt:lpstr>
      <vt:lpstr>Packager Shell Object</vt:lpstr>
      <vt:lpstr>Chapter 1  </vt:lpstr>
      <vt:lpstr>Contents </vt:lpstr>
      <vt:lpstr>1.1 Communication</vt:lpstr>
      <vt:lpstr>Communication</vt:lpstr>
      <vt:lpstr>PowerPoint Presentation</vt:lpstr>
      <vt:lpstr>PowerPoint Presentation</vt:lpstr>
      <vt:lpstr>…</vt:lpstr>
      <vt:lpstr>1.5 Principles of Communication (7 Cs)</vt:lpstr>
      <vt:lpstr>1. Clarity</vt:lpstr>
      <vt:lpstr>2. Completeness</vt:lpstr>
      <vt:lpstr>3. Conciseness </vt:lpstr>
      <vt:lpstr>4. Concreteness </vt:lpstr>
      <vt:lpstr>5. Consideration </vt:lpstr>
      <vt:lpstr>6. Correctness</vt:lpstr>
      <vt:lpstr>7. Courtesy</vt:lpstr>
      <vt:lpstr>1.3 Process of Communication</vt:lpstr>
      <vt:lpstr>i. Sender/encoder</vt:lpstr>
      <vt:lpstr>ii. Message</vt:lpstr>
      <vt:lpstr>iii. Medium/channel</vt:lpstr>
      <vt:lpstr>iv. Recipient/decoder</vt:lpstr>
      <vt:lpstr>v. Feedback</vt:lpstr>
      <vt:lpstr>vi. Context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 201 Business Communication - I</dc:title>
  <dc:creator>MANI  PANDEY</dc:creator>
  <cp:lastModifiedBy>lenovo</cp:lastModifiedBy>
  <cp:revision>616</cp:revision>
  <dcterms:created xsi:type="dcterms:W3CDTF">2020-01-11T16:38:53Z</dcterms:created>
  <dcterms:modified xsi:type="dcterms:W3CDTF">2025-05-05T15:15:53Z</dcterms:modified>
</cp:coreProperties>
</file>