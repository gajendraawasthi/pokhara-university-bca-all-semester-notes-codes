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1"/>
  </p:notesMasterIdLst>
  <p:sldIdLst>
    <p:sldId id="300" r:id="rId2"/>
    <p:sldId id="305" r:id="rId3"/>
    <p:sldId id="301" r:id="rId4"/>
    <p:sldId id="542" r:id="rId5"/>
    <p:sldId id="559" r:id="rId6"/>
    <p:sldId id="302" r:id="rId7"/>
    <p:sldId id="303" r:id="rId8"/>
    <p:sldId id="555" r:id="rId9"/>
    <p:sldId id="569" r:id="rId10"/>
    <p:sldId id="570" r:id="rId11"/>
    <p:sldId id="571" r:id="rId12"/>
    <p:sldId id="572" r:id="rId13"/>
    <p:sldId id="573" r:id="rId14"/>
    <p:sldId id="574" r:id="rId15"/>
    <p:sldId id="575" r:id="rId16"/>
    <p:sldId id="576" r:id="rId17"/>
    <p:sldId id="577" r:id="rId18"/>
    <p:sldId id="578" r:id="rId19"/>
    <p:sldId id="579" r:id="rId20"/>
    <p:sldId id="614" r:id="rId21"/>
    <p:sldId id="306" r:id="rId22"/>
    <p:sldId id="307" r:id="rId23"/>
    <p:sldId id="308" r:id="rId24"/>
    <p:sldId id="309" r:id="rId25"/>
    <p:sldId id="310" r:id="rId26"/>
    <p:sldId id="312" r:id="rId27"/>
    <p:sldId id="314" r:id="rId28"/>
    <p:sldId id="315" r:id="rId29"/>
    <p:sldId id="343" r:id="rId30"/>
    <p:sldId id="344" r:id="rId31"/>
    <p:sldId id="349" r:id="rId32"/>
    <p:sldId id="351" r:id="rId33"/>
    <p:sldId id="352" r:id="rId34"/>
    <p:sldId id="353" r:id="rId35"/>
    <p:sldId id="604" r:id="rId36"/>
    <p:sldId id="270" r:id="rId37"/>
    <p:sldId id="605" r:id="rId38"/>
    <p:sldId id="271" r:id="rId39"/>
    <p:sldId id="606" r:id="rId40"/>
    <p:sldId id="607" r:id="rId41"/>
    <p:sldId id="354" r:id="rId42"/>
    <p:sldId id="602" r:id="rId43"/>
    <p:sldId id="355" r:id="rId44"/>
    <p:sldId id="356" r:id="rId45"/>
    <p:sldId id="601" r:id="rId46"/>
    <p:sldId id="357" r:id="rId47"/>
    <p:sldId id="358" r:id="rId48"/>
    <p:sldId id="603" r:id="rId49"/>
    <p:sldId id="615"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77" d="100"/>
          <a:sy n="77" d="100"/>
        </p:scale>
        <p:origin x="-378" y="-4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17C365-889A-41DF-AE9C-1B49932D9E32}" type="datetimeFigureOut">
              <a:rPr lang="en-US" smtClean="0"/>
              <a:t>5/5/2025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7E57ED-2306-491D-9DAB-432447165626}" type="slidenum">
              <a:rPr lang="en-US" smtClean="0"/>
              <a:t>‹#›</a:t>
            </a:fld>
            <a:endParaRPr lang="en-US"/>
          </a:p>
        </p:txBody>
      </p:sp>
    </p:spTree>
    <p:extLst>
      <p:ext uri="{BB962C8B-B14F-4D97-AF65-F5344CB8AC3E}">
        <p14:creationId xmlns:p14="http://schemas.microsoft.com/office/powerpoint/2010/main" val="7591952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87E57ED-2306-491D-9DAB-432447165626}" type="slidenum">
              <a:rPr lang="en-US" smtClean="0"/>
              <a:t>27</a:t>
            </a:fld>
            <a:endParaRPr lang="en-US"/>
          </a:p>
        </p:txBody>
      </p:sp>
    </p:spTree>
    <p:extLst>
      <p:ext uri="{BB962C8B-B14F-4D97-AF65-F5344CB8AC3E}">
        <p14:creationId xmlns:p14="http://schemas.microsoft.com/office/powerpoint/2010/main" val="31424384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813DB55-A7BC-4955-9594-1B8BE0CEC1DE}" type="datetime1">
              <a:rPr lang="en-US" smtClean="0"/>
              <a:t>5/5/2025</a:t>
            </a:fld>
            <a:endParaRPr lang="en-US"/>
          </a:p>
        </p:txBody>
      </p:sp>
      <p:sp>
        <p:nvSpPr>
          <p:cNvPr id="5" name="Footer Placeholder 4"/>
          <p:cNvSpPr>
            <a:spLocks noGrp="1"/>
          </p:cNvSpPr>
          <p:nvPr>
            <p:ph type="ftr" sz="quarter" idx="11"/>
          </p:nvPr>
        </p:nvSpPr>
        <p:spPr/>
        <p:txBody>
          <a:bodyPr/>
          <a:lstStyle/>
          <a:p>
            <a:r>
              <a:rPr lang="en-US"/>
              <a:t>mnrmaniram12@gmail.com</a:t>
            </a:r>
          </a:p>
        </p:txBody>
      </p:sp>
      <p:sp>
        <p:nvSpPr>
          <p:cNvPr id="6" name="Slide Number Placeholder 5"/>
          <p:cNvSpPr>
            <a:spLocks noGrp="1"/>
          </p:cNvSpPr>
          <p:nvPr>
            <p:ph type="sldNum" sz="quarter" idx="12"/>
          </p:nvPr>
        </p:nvSpPr>
        <p:spPr/>
        <p:txBody>
          <a:bodyPr/>
          <a:lstStyle/>
          <a:p>
            <a:fld id="{A4FCB889-8A7B-4BBF-B652-6828A84DE4E9}" type="slidenum">
              <a:rPr lang="en-US" smtClean="0"/>
              <a:t>‹#›</a:t>
            </a:fld>
            <a:endParaRPr lang="en-US"/>
          </a:p>
        </p:txBody>
      </p:sp>
    </p:spTree>
    <p:extLst>
      <p:ext uri="{BB962C8B-B14F-4D97-AF65-F5344CB8AC3E}">
        <p14:creationId xmlns:p14="http://schemas.microsoft.com/office/powerpoint/2010/main" val="16863400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E82D67D-D5AD-4398-BD2C-5776D4DF3391}" type="datetime1">
              <a:rPr lang="en-US" smtClean="0"/>
              <a:t>5/5/2025</a:t>
            </a:fld>
            <a:endParaRPr lang="en-US"/>
          </a:p>
        </p:txBody>
      </p:sp>
      <p:sp>
        <p:nvSpPr>
          <p:cNvPr id="5" name="Footer Placeholder 4"/>
          <p:cNvSpPr>
            <a:spLocks noGrp="1"/>
          </p:cNvSpPr>
          <p:nvPr>
            <p:ph type="ftr" sz="quarter" idx="11"/>
          </p:nvPr>
        </p:nvSpPr>
        <p:spPr/>
        <p:txBody>
          <a:bodyPr/>
          <a:lstStyle/>
          <a:p>
            <a:r>
              <a:rPr lang="en-US"/>
              <a:t>mnrmaniram12@gmail.com</a:t>
            </a:r>
          </a:p>
        </p:txBody>
      </p:sp>
      <p:sp>
        <p:nvSpPr>
          <p:cNvPr id="6" name="Slide Number Placeholder 5"/>
          <p:cNvSpPr>
            <a:spLocks noGrp="1"/>
          </p:cNvSpPr>
          <p:nvPr>
            <p:ph type="sldNum" sz="quarter" idx="12"/>
          </p:nvPr>
        </p:nvSpPr>
        <p:spPr/>
        <p:txBody>
          <a:bodyPr/>
          <a:lstStyle/>
          <a:p>
            <a:fld id="{A4FCB889-8A7B-4BBF-B652-6828A84DE4E9}" type="slidenum">
              <a:rPr lang="en-US" smtClean="0"/>
              <a:t>‹#›</a:t>
            </a:fld>
            <a:endParaRPr lang="en-US"/>
          </a:p>
        </p:txBody>
      </p:sp>
    </p:spTree>
    <p:extLst>
      <p:ext uri="{BB962C8B-B14F-4D97-AF65-F5344CB8AC3E}">
        <p14:creationId xmlns:p14="http://schemas.microsoft.com/office/powerpoint/2010/main" val="19051132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DCA719A-057E-48F1-B5E2-2D0AF542DCAD}" type="datetime1">
              <a:rPr lang="en-US" smtClean="0"/>
              <a:t>5/5/2025</a:t>
            </a:fld>
            <a:endParaRPr lang="en-US"/>
          </a:p>
        </p:txBody>
      </p:sp>
      <p:sp>
        <p:nvSpPr>
          <p:cNvPr id="5" name="Footer Placeholder 4"/>
          <p:cNvSpPr>
            <a:spLocks noGrp="1"/>
          </p:cNvSpPr>
          <p:nvPr>
            <p:ph type="ftr" sz="quarter" idx="11"/>
          </p:nvPr>
        </p:nvSpPr>
        <p:spPr/>
        <p:txBody>
          <a:bodyPr/>
          <a:lstStyle/>
          <a:p>
            <a:r>
              <a:rPr lang="en-US"/>
              <a:t>mnrmaniram12@gmail.com</a:t>
            </a:r>
          </a:p>
        </p:txBody>
      </p:sp>
      <p:sp>
        <p:nvSpPr>
          <p:cNvPr id="6" name="Slide Number Placeholder 5"/>
          <p:cNvSpPr>
            <a:spLocks noGrp="1"/>
          </p:cNvSpPr>
          <p:nvPr>
            <p:ph type="sldNum" sz="quarter" idx="12"/>
          </p:nvPr>
        </p:nvSpPr>
        <p:spPr/>
        <p:txBody>
          <a:bodyPr/>
          <a:lstStyle/>
          <a:p>
            <a:fld id="{A4FCB889-8A7B-4BBF-B652-6828A84DE4E9}" type="slidenum">
              <a:rPr lang="en-US" smtClean="0"/>
              <a:t>‹#›</a:t>
            </a:fld>
            <a:endParaRPr lang="en-US"/>
          </a:p>
        </p:txBody>
      </p:sp>
    </p:spTree>
    <p:extLst>
      <p:ext uri="{BB962C8B-B14F-4D97-AF65-F5344CB8AC3E}">
        <p14:creationId xmlns:p14="http://schemas.microsoft.com/office/powerpoint/2010/main" val="20809155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D7AB893-88AB-40C4-92D5-477BE7904D07}" type="datetime1">
              <a:rPr lang="en-US" smtClean="0"/>
              <a:t>5/5/2025</a:t>
            </a:fld>
            <a:endParaRPr lang="en-US"/>
          </a:p>
        </p:txBody>
      </p:sp>
      <p:sp>
        <p:nvSpPr>
          <p:cNvPr id="6" name="Footer Placeholder 5"/>
          <p:cNvSpPr>
            <a:spLocks noGrp="1"/>
          </p:cNvSpPr>
          <p:nvPr>
            <p:ph type="ftr" sz="quarter" idx="11"/>
          </p:nvPr>
        </p:nvSpPr>
        <p:spPr/>
        <p:txBody>
          <a:bodyPr/>
          <a:lstStyle/>
          <a:p>
            <a:r>
              <a:rPr lang="en-US"/>
              <a:t>mnrmaniram12@gmail.com</a:t>
            </a:r>
          </a:p>
        </p:txBody>
      </p:sp>
      <p:sp>
        <p:nvSpPr>
          <p:cNvPr id="7" name="Slide Number Placeholder 6"/>
          <p:cNvSpPr>
            <a:spLocks noGrp="1"/>
          </p:cNvSpPr>
          <p:nvPr>
            <p:ph type="sldNum" sz="quarter" idx="12"/>
          </p:nvPr>
        </p:nvSpPr>
        <p:spPr/>
        <p:txBody>
          <a:bodyPr/>
          <a:lstStyle/>
          <a:p>
            <a:fld id="{A4FCB889-8A7B-4BBF-B652-6828A84DE4E9}" type="slidenum">
              <a:rPr lang="en-US" smtClean="0"/>
              <a:t>‹#›</a:t>
            </a:fld>
            <a:endParaRPr lang="en-US"/>
          </a:p>
        </p:txBody>
      </p:sp>
    </p:spTree>
    <p:extLst>
      <p:ext uri="{BB962C8B-B14F-4D97-AF65-F5344CB8AC3E}">
        <p14:creationId xmlns:p14="http://schemas.microsoft.com/office/powerpoint/2010/main" val="15858830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90AD5AB-D571-4AF6-BAD7-B3CFA86E6398}" type="datetime1">
              <a:rPr lang="en-US" smtClean="0"/>
              <a:t>5/5/2025</a:t>
            </a:fld>
            <a:endParaRPr lang="en-US"/>
          </a:p>
        </p:txBody>
      </p:sp>
      <p:sp>
        <p:nvSpPr>
          <p:cNvPr id="8" name="Footer Placeholder 7"/>
          <p:cNvSpPr>
            <a:spLocks noGrp="1"/>
          </p:cNvSpPr>
          <p:nvPr>
            <p:ph type="ftr" sz="quarter" idx="11"/>
          </p:nvPr>
        </p:nvSpPr>
        <p:spPr/>
        <p:txBody>
          <a:bodyPr/>
          <a:lstStyle/>
          <a:p>
            <a:r>
              <a:rPr lang="en-US"/>
              <a:t>mnrmaniram12@gmail.com</a:t>
            </a:r>
          </a:p>
        </p:txBody>
      </p:sp>
      <p:sp>
        <p:nvSpPr>
          <p:cNvPr id="9" name="Slide Number Placeholder 8"/>
          <p:cNvSpPr>
            <a:spLocks noGrp="1"/>
          </p:cNvSpPr>
          <p:nvPr>
            <p:ph type="sldNum" sz="quarter" idx="12"/>
          </p:nvPr>
        </p:nvSpPr>
        <p:spPr/>
        <p:txBody>
          <a:bodyPr/>
          <a:lstStyle/>
          <a:p>
            <a:fld id="{A4FCB889-8A7B-4BBF-B652-6828A84DE4E9}" type="slidenum">
              <a:rPr lang="en-US" smtClean="0"/>
              <a:t>‹#›</a:t>
            </a:fld>
            <a:endParaRPr lang="en-US"/>
          </a:p>
        </p:txBody>
      </p:sp>
    </p:spTree>
    <p:extLst>
      <p:ext uri="{BB962C8B-B14F-4D97-AF65-F5344CB8AC3E}">
        <p14:creationId xmlns:p14="http://schemas.microsoft.com/office/powerpoint/2010/main" val="31058871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40BD585-6257-4A74-8A1A-15EE7DC6F962}" type="datetime1">
              <a:rPr lang="en-US" smtClean="0"/>
              <a:t>5/5/2025</a:t>
            </a:fld>
            <a:endParaRPr lang="en-US"/>
          </a:p>
        </p:txBody>
      </p:sp>
      <p:sp>
        <p:nvSpPr>
          <p:cNvPr id="4" name="Footer Placeholder 3"/>
          <p:cNvSpPr>
            <a:spLocks noGrp="1"/>
          </p:cNvSpPr>
          <p:nvPr>
            <p:ph type="ftr" sz="quarter" idx="11"/>
          </p:nvPr>
        </p:nvSpPr>
        <p:spPr/>
        <p:txBody>
          <a:bodyPr/>
          <a:lstStyle/>
          <a:p>
            <a:r>
              <a:rPr lang="en-US"/>
              <a:t>mnrmaniram12@gmail.com</a:t>
            </a:r>
          </a:p>
        </p:txBody>
      </p:sp>
      <p:sp>
        <p:nvSpPr>
          <p:cNvPr id="5" name="Slide Number Placeholder 4"/>
          <p:cNvSpPr>
            <a:spLocks noGrp="1"/>
          </p:cNvSpPr>
          <p:nvPr>
            <p:ph type="sldNum" sz="quarter" idx="12"/>
          </p:nvPr>
        </p:nvSpPr>
        <p:spPr/>
        <p:txBody>
          <a:bodyPr/>
          <a:lstStyle/>
          <a:p>
            <a:fld id="{A4FCB889-8A7B-4BBF-B652-6828A84DE4E9}" type="slidenum">
              <a:rPr lang="en-US" smtClean="0"/>
              <a:t>‹#›</a:t>
            </a:fld>
            <a:endParaRPr lang="en-US"/>
          </a:p>
        </p:txBody>
      </p:sp>
    </p:spTree>
    <p:extLst>
      <p:ext uri="{BB962C8B-B14F-4D97-AF65-F5344CB8AC3E}">
        <p14:creationId xmlns:p14="http://schemas.microsoft.com/office/powerpoint/2010/main" val="36168628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820322-513E-4A97-B217-169DF18E057B}" type="datetime1">
              <a:rPr lang="en-US" smtClean="0"/>
              <a:t>5/5/2025</a:t>
            </a:fld>
            <a:endParaRPr lang="en-US"/>
          </a:p>
        </p:txBody>
      </p:sp>
      <p:sp>
        <p:nvSpPr>
          <p:cNvPr id="3" name="Footer Placeholder 2"/>
          <p:cNvSpPr>
            <a:spLocks noGrp="1"/>
          </p:cNvSpPr>
          <p:nvPr>
            <p:ph type="ftr" sz="quarter" idx="11"/>
          </p:nvPr>
        </p:nvSpPr>
        <p:spPr/>
        <p:txBody>
          <a:bodyPr/>
          <a:lstStyle/>
          <a:p>
            <a:r>
              <a:rPr lang="en-US"/>
              <a:t>mnrmaniram12@gmail.com</a:t>
            </a:r>
          </a:p>
        </p:txBody>
      </p:sp>
      <p:sp>
        <p:nvSpPr>
          <p:cNvPr id="4" name="Slide Number Placeholder 3"/>
          <p:cNvSpPr>
            <a:spLocks noGrp="1"/>
          </p:cNvSpPr>
          <p:nvPr>
            <p:ph type="sldNum" sz="quarter" idx="12"/>
          </p:nvPr>
        </p:nvSpPr>
        <p:spPr/>
        <p:txBody>
          <a:bodyPr/>
          <a:lstStyle/>
          <a:p>
            <a:fld id="{A4FCB889-8A7B-4BBF-B652-6828A84DE4E9}" type="slidenum">
              <a:rPr lang="en-US" smtClean="0"/>
              <a:t>‹#›</a:t>
            </a:fld>
            <a:endParaRPr lang="en-US"/>
          </a:p>
        </p:txBody>
      </p:sp>
    </p:spTree>
    <p:extLst>
      <p:ext uri="{BB962C8B-B14F-4D97-AF65-F5344CB8AC3E}">
        <p14:creationId xmlns:p14="http://schemas.microsoft.com/office/powerpoint/2010/main" val="27625799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4D70F91-0732-409B-9294-4FE9532EDFB6}" type="datetime1">
              <a:rPr lang="en-US" smtClean="0"/>
              <a:t>5/5/2025</a:t>
            </a:fld>
            <a:endParaRPr lang="en-US"/>
          </a:p>
        </p:txBody>
      </p:sp>
      <p:sp>
        <p:nvSpPr>
          <p:cNvPr id="6" name="Footer Placeholder 5"/>
          <p:cNvSpPr>
            <a:spLocks noGrp="1"/>
          </p:cNvSpPr>
          <p:nvPr>
            <p:ph type="ftr" sz="quarter" idx="11"/>
          </p:nvPr>
        </p:nvSpPr>
        <p:spPr/>
        <p:txBody>
          <a:bodyPr/>
          <a:lstStyle/>
          <a:p>
            <a:r>
              <a:rPr lang="en-US"/>
              <a:t>mnrmaniram12@gmail.com</a:t>
            </a:r>
          </a:p>
        </p:txBody>
      </p:sp>
      <p:sp>
        <p:nvSpPr>
          <p:cNvPr id="7" name="Slide Number Placeholder 6"/>
          <p:cNvSpPr>
            <a:spLocks noGrp="1"/>
          </p:cNvSpPr>
          <p:nvPr>
            <p:ph type="sldNum" sz="quarter" idx="12"/>
          </p:nvPr>
        </p:nvSpPr>
        <p:spPr/>
        <p:txBody>
          <a:bodyPr/>
          <a:lstStyle/>
          <a:p>
            <a:fld id="{A4FCB889-8A7B-4BBF-B652-6828A84DE4E9}" type="slidenum">
              <a:rPr lang="en-US" smtClean="0"/>
              <a:t>‹#›</a:t>
            </a:fld>
            <a:endParaRPr lang="en-US"/>
          </a:p>
        </p:txBody>
      </p:sp>
    </p:spTree>
    <p:extLst>
      <p:ext uri="{BB962C8B-B14F-4D97-AF65-F5344CB8AC3E}">
        <p14:creationId xmlns:p14="http://schemas.microsoft.com/office/powerpoint/2010/main" val="35702474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73744FC-193F-456D-8D80-2118A892EB33}" type="datetime1">
              <a:rPr lang="en-US" smtClean="0"/>
              <a:t>5/5/2025</a:t>
            </a:fld>
            <a:endParaRPr lang="en-US"/>
          </a:p>
        </p:txBody>
      </p:sp>
      <p:sp>
        <p:nvSpPr>
          <p:cNvPr id="6" name="Footer Placeholder 5"/>
          <p:cNvSpPr>
            <a:spLocks noGrp="1"/>
          </p:cNvSpPr>
          <p:nvPr>
            <p:ph type="ftr" sz="quarter" idx="11"/>
          </p:nvPr>
        </p:nvSpPr>
        <p:spPr/>
        <p:txBody>
          <a:bodyPr/>
          <a:lstStyle/>
          <a:p>
            <a:r>
              <a:rPr lang="en-US"/>
              <a:t>mnrmaniram12@gmail.com</a:t>
            </a:r>
          </a:p>
        </p:txBody>
      </p:sp>
      <p:sp>
        <p:nvSpPr>
          <p:cNvPr id="7" name="Slide Number Placeholder 6"/>
          <p:cNvSpPr>
            <a:spLocks noGrp="1"/>
          </p:cNvSpPr>
          <p:nvPr>
            <p:ph type="sldNum" sz="quarter" idx="12"/>
          </p:nvPr>
        </p:nvSpPr>
        <p:spPr/>
        <p:txBody>
          <a:bodyPr/>
          <a:lstStyle/>
          <a:p>
            <a:fld id="{A4FCB889-8A7B-4BBF-B652-6828A84DE4E9}" type="slidenum">
              <a:rPr lang="en-US" smtClean="0"/>
              <a:t>‹#›</a:t>
            </a:fld>
            <a:endParaRPr lang="en-US"/>
          </a:p>
        </p:txBody>
      </p:sp>
    </p:spTree>
    <p:extLst>
      <p:ext uri="{BB962C8B-B14F-4D97-AF65-F5344CB8AC3E}">
        <p14:creationId xmlns:p14="http://schemas.microsoft.com/office/powerpoint/2010/main" val="38491716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E84509F-986E-4BE8-A751-4AA62CAE195E}" type="datetime1">
              <a:rPr lang="en-US" smtClean="0"/>
              <a:t>5/5/2025</a:t>
            </a:fld>
            <a:endParaRPr lang="en-US"/>
          </a:p>
        </p:txBody>
      </p:sp>
      <p:sp>
        <p:nvSpPr>
          <p:cNvPr id="5" name="Footer Placeholder 4"/>
          <p:cNvSpPr>
            <a:spLocks noGrp="1"/>
          </p:cNvSpPr>
          <p:nvPr>
            <p:ph type="ftr" sz="quarter" idx="11"/>
          </p:nvPr>
        </p:nvSpPr>
        <p:spPr/>
        <p:txBody>
          <a:bodyPr/>
          <a:lstStyle/>
          <a:p>
            <a:r>
              <a:rPr lang="en-US"/>
              <a:t>mnrmaniram12@gmail.com</a:t>
            </a:r>
          </a:p>
        </p:txBody>
      </p:sp>
      <p:sp>
        <p:nvSpPr>
          <p:cNvPr id="6" name="Slide Number Placeholder 5"/>
          <p:cNvSpPr>
            <a:spLocks noGrp="1"/>
          </p:cNvSpPr>
          <p:nvPr>
            <p:ph type="sldNum" sz="quarter" idx="12"/>
          </p:nvPr>
        </p:nvSpPr>
        <p:spPr/>
        <p:txBody>
          <a:bodyPr/>
          <a:lstStyle/>
          <a:p>
            <a:fld id="{A4FCB889-8A7B-4BBF-B652-6828A84DE4E9}" type="slidenum">
              <a:rPr lang="en-US" smtClean="0"/>
              <a:t>‹#›</a:t>
            </a:fld>
            <a:endParaRPr lang="en-US"/>
          </a:p>
        </p:txBody>
      </p:sp>
    </p:spTree>
    <p:extLst>
      <p:ext uri="{BB962C8B-B14F-4D97-AF65-F5344CB8AC3E}">
        <p14:creationId xmlns:p14="http://schemas.microsoft.com/office/powerpoint/2010/main" val="5715140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DFEBD30-94AA-4DBD-8599-2D33C32527B9}" type="datetime1">
              <a:rPr lang="en-US" smtClean="0"/>
              <a:t>5/5/2025</a:t>
            </a:fld>
            <a:endParaRPr lang="en-US"/>
          </a:p>
        </p:txBody>
      </p:sp>
      <p:sp>
        <p:nvSpPr>
          <p:cNvPr id="5" name="Footer Placeholder 4"/>
          <p:cNvSpPr>
            <a:spLocks noGrp="1"/>
          </p:cNvSpPr>
          <p:nvPr>
            <p:ph type="ftr" sz="quarter" idx="11"/>
          </p:nvPr>
        </p:nvSpPr>
        <p:spPr/>
        <p:txBody>
          <a:bodyPr/>
          <a:lstStyle/>
          <a:p>
            <a:r>
              <a:rPr lang="en-US"/>
              <a:t>mnrmaniram12@gmail.com</a:t>
            </a:r>
          </a:p>
        </p:txBody>
      </p:sp>
      <p:sp>
        <p:nvSpPr>
          <p:cNvPr id="6" name="Slide Number Placeholder 5"/>
          <p:cNvSpPr>
            <a:spLocks noGrp="1"/>
          </p:cNvSpPr>
          <p:nvPr>
            <p:ph type="sldNum" sz="quarter" idx="12"/>
          </p:nvPr>
        </p:nvSpPr>
        <p:spPr/>
        <p:txBody>
          <a:bodyPr/>
          <a:lstStyle/>
          <a:p>
            <a:fld id="{A4FCB889-8A7B-4BBF-B652-6828A84DE4E9}" type="slidenum">
              <a:rPr lang="en-US" smtClean="0"/>
              <a:t>‹#›</a:t>
            </a:fld>
            <a:endParaRPr lang="en-US"/>
          </a:p>
        </p:txBody>
      </p:sp>
    </p:spTree>
    <p:extLst>
      <p:ext uri="{BB962C8B-B14F-4D97-AF65-F5344CB8AC3E}">
        <p14:creationId xmlns:p14="http://schemas.microsoft.com/office/powerpoint/2010/main" val="13107599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DE516EC-B4E3-4F40-8801-772128E9785A}" type="datetime1">
              <a:rPr lang="en-US" smtClean="0"/>
              <a:t>5/5/2025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mnrmaniram12@gmail.com</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FCB889-8A7B-4BBF-B652-6828A84DE4E9}" type="slidenum">
              <a:rPr lang="en-US" smtClean="0"/>
              <a:t>‹#›</a:t>
            </a:fld>
            <a:endParaRPr lang="en-US"/>
          </a:p>
        </p:txBody>
      </p:sp>
    </p:spTree>
    <p:extLst>
      <p:ext uri="{BB962C8B-B14F-4D97-AF65-F5344CB8AC3E}">
        <p14:creationId xmlns:p14="http://schemas.microsoft.com/office/powerpoint/2010/main" val="40899292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923494" cy="1325563"/>
          </a:xfrm>
        </p:spPr>
        <p:txBody>
          <a:bodyPr/>
          <a:lstStyle/>
          <a:p>
            <a:pPr algn="ctr"/>
            <a:r>
              <a:rPr lang="en-US" b="1" dirty="0">
                <a:solidFill>
                  <a:srgbClr val="7030A0"/>
                </a:solidFill>
                <a:latin typeface="Arial Rounded MT Bold" panose="020F0704030504030204" pitchFamily="34" charset="0"/>
              </a:rPr>
              <a:t>Chapter – 2 </a:t>
            </a:r>
          </a:p>
        </p:txBody>
      </p:sp>
      <p:sp>
        <p:nvSpPr>
          <p:cNvPr id="3" name="Content Placeholder 2"/>
          <p:cNvSpPr>
            <a:spLocks noGrp="1"/>
          </p:cNvSpPr>
          <p:nvPr>
            <p:ph idx="1"/>
          </p:nvPr>
        </p:nvSpPr>
        <p:spPr>
          <a:xfrm>
            <a:off x="838200" y="1825625"/>
            <a:ext cx="10762129" cy="4351338"/>
          </a:xfrm>
        </p:spPr>
        <p:txBody>
          <a:bodyPr>
            <a:normAutofit/>
          </a:bodyPr>
          <a:lstStyle/>
          <a:p>
            <a:pPr marL="0" indent="0" algn="r">
              <a:buNone/>
            </a:pPr>
            <a:r>
              <a:rPr lang="en-US" sz="6000" b="1" dirty="0">
                <a:solidFill>
                  <a:srgbClr val="FF0000"/>
                </a:solidFill>
                <a:latin typeface="Arial Narrow" panose="020B0606020202030204" pitchFamily="34" charset="0"/>
              </a:rPr>
              <a:t>Technical Communication</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5130" y="1206966"/>
            <a:ext cx="2895599" cy="235505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6" name="Slide Number Placeholder 5"/>
          <p:cNvSpPr>
            <a:spLocks noGrp="1"/>
          </p:cNvSpPr>
          <p:nvPr>
            <p:ph type="sldNum" sz="quarter" idx="12"/>
          </p:nvPr>
        </p:nvSpPr>
        <p:spPr/>
        <p:txBody>
          <a:bodyPr/>
          <a:lstStyle/>
          <a:p>
            <a:fld id="{A4FCB889-8A7B-4BBF-B652-6828A84DE4E9}" type="slidenum">
              <a:rPr lang="en-US" smtClean="0"/>
              <a:t>1</a:t>
            </a:fld>
            <a:endParaRPr lang="en-US"/>
          </a:p>
        </p:txBody>
      </p:sp>
    </p:spTree>
    <p:extLst>
      <p:ext uri="{BB962C8B-B14F-4D97-AF65-F5344CB8AC3E}">
        <p14:creationId xmlns:p14="http://schemas.microsoft.com/office/powerpoint/2010/main" val="34656634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Contents </a:t>
            </a:r>
          </a:p>
        </p:txBody>
      </p:sp>
      <p:sp>
        <p:nvSpPr>
          <p:cNvPr id="3" name="Content Placeholder 2"/>
          <p:cNvSpPr>
            <a:spLocks noGrp="1"/>
          </p:cNvSpPr>
          <p:nvPr>
            <p:ph idx="1"/>
          </p:nvPr>
        </p:nvSpPr>
        <p:spPr/>
        <p:txBody>
          <a:bodyPr/>
          <a:lstStyle/>
          <a:p>
            <a:pPr marL="0" indent="0">
              <a:buNone/>
            </a:pPr>
            <a:r>
              <a:rPr lang="en-US" b="1" dirty="0"/>
              <a:t>2.1 Defining Technical Communication</a:t>
            </a:r>
          </a:p>
          <a:p>
            <a:pPr marL="0" indent="0">
              <a:buNone/>
            </a:pPr>
            <a:r>
              <a:rPr lang="en-US" b="1" dirty="0"/>
              <a:t>2.2 Evolution of Technical Communication</a:t>
            </a:r>
          </a:p>
          <a:p>
            <a:pPr marL="0" indent="0">
              <a:buNone/>
            </a:pPr>
            <a:r>
              <a:rPr lang="en-US" b="1" dirty="0"/>
              <a:t>2.3 Forms of Technical </a:t>
            </a:r>
            <a:r>
              <a:rPr lang="en-US" b="1" dirty="0" smtClean="0"/>
              <a:t>Communication</a:t>
            </a:r>
            <a:endParaRPr lang="en-US" b="1" dirty="0">
              <a:solidFill>
                <a:srgbClr val="FF0000"/>
              </a:solidFill>
            </a:endParaRPr>
          </a:p>
          <a:p>
            <a:pPr marL="0" indent="0">
              <a:buNone/>
            </a:pPr>
            <a:r>
              <a:rPr lang="en-US" b="1" dirty="0" smtClean="0"/>
              <a:t>2.4 </a:t>
            </a:r>
            <a:r>
              <a:rPr lang="en-US" b="1" dirty="0"/>
              <a:t>Types of Technical </a:t>
            </a:r>
            <a:r>
              <a:rPr lang="en-US" b="1" dirty="0" smtClean="0"/>
              <a:t>Communication</a:t>
            </a:r>
            <a:endParaRPr lang="en-US" b="1" dirty="0">
              <a:solidFill>
                <a:srgbClr val="FF0000"/>
              </a:solidFill>
            </a:endParaRPr>
          </a:p>
          <a:p>
            <a:pPr marL="0" indent="0">
              <a:buNone/>
            </a:pPr>
            <a:r>
              <a:rPr lang="en-US" b="1" dirty="0" smtClean="0"/>
              <a:t>2.5 </a:t>
            </a:r>
            <a:r>
              <a:rPr lang="en-US" b="1" dirty="0"/>
              <a:t>Importance of Technical Communication</a:t>
            </a:r>
          </a:p>
          <a:p>
            <a:pPr marL="0" indent="0">
              <a:buNone/>
            </a:pPr>
            <a:r>
              <a:rPr lang="en-US" b="1" dirty="0"/>
              <a:t>2.8 </a:t>
            </a:r>
            <a:r>
              <a:rPr lang="en-US" b="1" dirty="0">
                <a:solidFill>
                  <a:srgbClr val="FF0000"/>
                </a:solidFill>
              </a:rPr>
              <a:t>Career </a:t>
            </a:r>
            <a:r>
              <a:rPr lang="en-US" b="1" dirty="0" smtClean="0">
                <a:solidFill>
                  <a:srgbClr val="FF0000"/>
                </a:solidFill>
              </a:rPr>
              <a:t>Prospects</a:t>
            </a:r>
            <a:endParaRPr lang="en-US" b="1" dirty="0">
              <a:solidFill>
                <a:srgbClr val="FF0000"/>
              </a:solidFill>
            </a:endParaRPr>
          </a:p>
        </p:txBody>
      </p:sp>
      <p:sp>
        <p:nvSpPr>
          <p:cNvPr id="5" name="Slide Number Placeholder 4"/>
          <p:cNvSpPr>
            <a:spLocks noGrp="1"/>
          </p:cNvSpPr>
          <p:nvPr>
            <p:ph type="sldNum" sz="quarter" idx="12"/>
          </p:nvPr>
        </p:nvSpPr>
        <p:spPr/>
        <p:txBody>
          <a:bodyPr/>
          <a:lstStyle/>
          <a:p>
            <a:fld id="{A4FCB889-8A7B-4BBF-B652-6828A84DE4E9}" type="slidenum">
              <a:rPr lang="en-US" smtClean="0"/>
              <a:t>2</a:t>
            </a:fld>
            <a:endParaRPr lang="en-US"/>
          </a:p>
        </p:txBody>
      </p:sp>
    </p:spTree>
    <p:extLst>
      <p:ext uri="{BB962C8B-B14F-4D97-AF65-F5344CB8AC3E}">
        <p14:creationId xmlns:p14="http://schemas.microsoft.com/office/powerpoint/2010/main" val="16794177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1913704" cy="861391"/>
          </a:xfrm>
        </p:spPr>
        <p:txBody>
          <a:bodyPr>
            <a:normAutofit/>
          </a:bodyPr>
          <a:lstStyle/>
          <a:p>
            <a:r>
              <a:rPr lang="en-US" sz="4000" b="1" dirty="0">
                <a:solidFill>
                  <a:srgbClr val="FF0000"/>
                </a:solidFill>
              </a:rPr>
              <a:t>Background information on TECHNICAL COMMUNICATION</a:t>
            </a:r>
          </a:p>
        </p:txBody>
      </p:sp>
      <p:sp>
        <p:nvSpPr>
          <p:cNvPr id="3" name="Content Placeholder 2"/>
          <p:cNvSpPr>
            <a:spLocks noGrp="1"/>
          </p:cNvSpPr>
          <p:nvPr>
            <p:ph idx="1"/>
          </p:nvPr>
        </p:nvSpPr>
        <p:spPr>
          <a:xfrm>
            <a:off x="690282" y="1479176"/>
            <a:ext cx="11089342" cy="4805083"/>
          </a:xfrm>
        </p:spPr>
        <p:txBody>
          <a:bodyPr>
            <a:noAutofit/>
          </a:bodyPr>
          <a:lstStyle/>
          <a:p>
            <a:r>
              <a:rPr lang="en-US" b="1" dirty="0"/>
              <a:t>Communication: </a:t>
            </a:r>
            <a:r>
              <a:rPr lang="en-US" b="1" dirty="0">
                <a:solidFill>
                  <a:srgbClr val="00B0F0"/>
                </a:solidFill>
              </a:rPr>
              <a:t>transfer of information</a:t>
            </a:r>
          </a:p>
          <a:p>
            <a:r>
              <a:rPr lang="en-US" b="1" dirty="0"/>
              <a:t>Technical information: </a:t>
            </a:r>
            <a:r>
              <a:rPr lang="en-US" b="1" dirty="0">
                <a:solidFill>
                  <a:srgbClr val="00B0F0"/>
                </a:solidFill>
              </a:rPr>
              <a:t>information related to engineering, evaluation, and research and development</a:t>
            </a:r>
            <a:r>
              <a:rPr lang="en-US" b="1" dirty="0"/>
              <a:t> (R&amp;D)</a:t>
            </a:r>
          </a:p>
          <a:p>
            <a:r>
              <a:rPr lang="en-US" b="1" dirty="0"/>
              <a:t> Information associated with </a:t>
            </a:r>
            <a:r>
              <a:rPr lang="en-US" b="1" dirty="0">
                <a:solidFill>
                  <a:srgbClr val="00B0F0"/>
                </a:solidFill>
              </a:rPr>
              <a:t>design, production, operation, use, and/or maintenance of an equipment, machine, process, or system.</a:t>
            </a:r>
          </a:p>
          <a:p>
            <a:r>
              <a:rPr lang="en-US" b="1" dirty="0"/>
              <a:t>Information related to the </a:t>
            </a:r>
            <a:r>
              <a:rPr lang="en-US" b="1" dirty="0">
                <a:solidFill>
                  <a:srgbClr val="00B0F0"/>
                </a:solidFill>
              </a:rPr>
              <a:t>use of goods and services.</a:t>
            </a:r>
          </a:p>
          <a:p>
            <a:r>
              <a:rPr lang="en-US" b="1" dirty="0"/>
              <a:t>Communication about </a:t>
            </a:r>
            <a:r>
              <a:rPr lang="en-US" b="1" dirty="0">
                <a:solidFill>
                  <a:srgbClr val="00B0F0"/>
                </a:solidFill>
              </a:rPr>
              <a:t>technical products and services</a:t>
            </a:r>
          </a:p>
          <a:p>
            <a:endParaRPr lang="en-US" sz="2400" dirty="0"/>
          </a:p>
          <a:p>
            <a:endParaRPr lang="en-US" sz="2400" dirty="0"/>
          </a:p>
        </p:txBody>
      </p:sp>
      <p:sp>
        <p:nvSpPr>
          <p:cNvPr id="5" name="Slide Number Placeholder 4"/>
          <p:cNvSpPr>
            <a:spLocks noGrp="1"/>
          </p:cNvSpPr>
          <p:nvPr>
            <p:ph type="sldNum" sz="quarter" idx="12"/>
          </p:nvPr>
        </p:nvSpPr>
        <p:spPr/>
        <p:txBody>
          <a:bodyPr/>
          <a:lstStyle/>
          <a:p>
            <a:fld id="{A4FCB889-8A7B-4BBF-B652-6828A84DE4E9}" type="slidenum">
              <a:rPr lang="en-US" smtClean="0"/>
              <a:t>3</a:t>
            </a:fld>
            <a:endParaRPr lang="en-US"/>
          </a:p>
        </p:txBody>
      </p:sp>
    </p:spTree>
    <p:extLst>
      <p:ext uri="{BB962C8B-B14F-4D97-AF65-F5344CB8AC3E}">
        <p14:creationId xmlns:p14="http://schemas.microsoft.com/office/powerpoint/2010/main" val="4251319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
            </a:r>
            <a:endParaRPr lang="en-US" dirty="0"/>
          </a:p>
        </p:txBody>
      </p:sp>
      <p:sp>
        <p:nvSpPr>
          <p:cNvPr id="3" name="Content Placeholder 2"/>
          <p:cNvSpPr>
            <a:spLocks noGrp="1"/>
          </p:cNvSpPr>
          <p:nvPr>
            <p:ph idx="1"/>
          </p:nvPr>
        </p:nvSpPr>
        <p:spPr>
          <a:xfrm>
            <a:off x="838200" y="1825624"/>
            <a:ext cx="10515600" cy="4727575"/>
          </a:xfrm>
        </p:spPr>
        <p:txBody>
          <a:bodyPr/>
          <a:lstStyle/>
          <a:p>
            <a:r>
              <a:rPr lang="en-US" b="1" dirty="0">
                <a:solidFill>
                  <a:srgbClr val="FF0000"/>
                </a:solidFill>
              </a:rPr>
              <a:t>Transfer of technical information</a:t>
            </a:r>
          </a:p>
          <a:p>
            <a:r>
              <a:rPr lang="en-US" b="1" dirty="0"/>
              <a:t>Communication which is intended </a:t>
            </a:r>
            <a:r>
              <a:rPr lang="en-US" b="1" dirty="0">
                <a:solidFill>
                  <a:srgbClr val="00B0F0"/>
                </a:solidFill>
              </a:rPr>
              <a:t>to inform and enable  people to use the technical goods and services well</a:t>
            </a:r>
            <a:r>
              <a:rPr lang="en-US" b="1" dirty="0"/>
              <a:t>.</a:t>
            </a:r>
          </a:p>
          <a:p>
            <a:r>
              <a:rPr lang="en-US" b="1" dirty="0"/>
              <a:t>Communicating about </a:t>
            </a:r>
            <a:r>
              <a:rPr lang="en-US" b="1" dirty="0">
                <a:solidFill>
                  <a:srgbClr val="00B0F0"/>
                </a:solidFill>
              </a:rPr>
              <a:t>how to use a product and service easily, safely, effectively and efficiently.</a:t>
            </a:r>
          </a:p>
          <a:p>
            <a:r>
              <a:rPr lang="en-US" b="1" dirty="0"/>
              <a:t>The process </a:t>
            </a:r>
            <a:r>
              <a:rPr lang="en-US" b="1" dirty="0" smtClean="0"/>
              <a:t>of </a:t>
            </a:r>
            <a:r>
              <a:rPr lang="en-US" b="1" dirty="0" smtClean="0">
                <a:solidFill>
                  <a:srgbClr val="00B0F0"/>
                </a:solidFill>
              </a:rPr>
              <a:t>creating, </a:t>
            </a:r>
            <a:r>
              <a:rPr lang="en-US" b="1" dirty="0">
                <a:solidFill>
                  <a:srgbClr val="00B0F0"/>
                </a:solidFill>
              </a:rPr>
              <a:t>designing and delivering information about products for </a:t>
            </a:r>
            <a:r>
              <a:rPr lang="en-US" b="1" dirty="0" smtClean="0">
                <a:solidFill>
                  <a:srgbClr val="00B0F0"/>
                </a:solidFill>
              </a:rPr>
              <a:t>its safe</a:t>
            </a:r>
            <a:r>
              <a:rPr lang="en-US" b="1" dirty="0">
                <a:solidFill>
                  <a:srgbClr val="00B0F0"/>
                </a:solidFill>
              </a:rPr>
              <a:t>, efficient and effective </a:t>
            </a:r>
            <a:r>
              <a:rPr lang="en-US" b="1" dirty="0" smtClean="0">
                <a:solidFill>
                  <a:srgbClr val="00B0F0"/>
                </a:solidFill>
              </a:rPr>
              <a:t>use. </a:t>
            </a:r>
            <a:r>
              <a:rPr lang="en-US" b="1" dirty="0" smtClean="0"/>
              <a:t>(technical </a:t>
            </a:r>
            <a:r>
              <a:rPr lang="en-US" b="1" dirty="0"/>
              <a:t>systems, software, services).</a:t>
            </a:r>
          </a:p>
          <a:p>
            <a:endParaRPr lang="en-US" dirty="0"/>
          </a:p>
        </p:txBody>
      </p:sp>
      <p:sp>
        <p:nvSpPr>
          <p:cNvPr id="5" name="Slide Number Placeholder 4"/>
          <p:cNvSpPr>
            <a:spLocks noGrp="1"/>
          </p:cNvSpPr>
          <p:nvPr>
            <p:ph type="sldNum" sz="quarter" idx="12"/>
          </p:nvPr>
        </p:nvSpPr>
        <p:spPr/>
        <p:txBody>
          <a:bodyPr/>
          <a:lstStyle/>
          <a:p>
            <a:fld id="{A4FCB889-8A7B-4BBF-B652-6828A84DE4E9}" type="slidenum">
              <a:rPr lang="en-US" smtClean="0"/>
              <a:t>4</a:t>
            </a:fld>
            <a:endParaRPr lang="en-US"/>
          </a:p>
        </p:txBody>
      </p:sp>
    </p:spTree>
    <p:extLst>
      <p:ext uri="{BB962C8B-B14F-4D97-AF65-F5344CB8AC3E}">
        <p14:creationId xmlns:p14="http://schemas.microsoft.com/office/powerpoint/2010/main" val="34920267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70C0"/>
                </a:solidFill>
              </a:rPr>
              <a:t>Examples</a:t>
            </a:r>
            <a:r>
              <a:rPr lang="en-US" dirty="0">
                <a:solidFill>
                  <a:srgbClr val="0070C0"/>
                </a:solidFill>
              </a:rPr>
              <a:t> </a:t>
            </a:r>
          </a:p>
        </p:txBody>
      </p:sp>
      <p:sp>
        <p:nvSpPr>
          <p:cNvPr id="3" name="Content Placeholder 2"/>
          <p:cNvSpPr>
            <a:spLocks noGrp="1"/>
          </p:cNvSpPr>
          <p:nvPr>
            <p:ph idx="1"/>
          </p:nvPr>
        </p:nvSpPr>
        <p:spPr/>
        <p:txBody>
          <a:bodyPr>
            <a:normAutofit lnSpcReduction="10000"/>
          </a:bodyPr>
          <a:lstStyle/>
          <a:p>
            <a:r>
              <a:rPr lang="en-US" b="1" dirty="0">
                <a:solidFill>
                  <a:srgbClr val="FF0000"/>
                </a:solidFill>
              </a:rPr>
              <a:t>C</a:t>
            </a:r>
            <a:r>
              <a:rPr lang="en-US" b="1" dirty="0" smtClean="0">
                <a:solidFill>
                  <a:srgbClr val="FF0000"/>
                </a:solidFill>
              </a:rPr>
              <a:t>omputer </a:t>
            </a:r>
            <a:r>
              <a:rPr lang="en-US" b="1" dirty="0">
                <a:solidFill>
                  <a:srgbClr val="FF0000"/>
                </a:solidFill>
              </a:rPr>
              <a:t>manuals </a:t>
            </a:r>
            <a:r>
              <a:rPr lang="en-US" b="1" dirty="0"/>
              <a:t>(print versions and help screens) </a:t>
            </a:r>
          </a:p>
          <a:p>
            <a:r>
              <a:rPr lang="en-US" b="1" dirty="0" smtClean="0">
                <a:solidFill>
                  <a:srgbClr val="FF0000"/>
                </a:solidFill>
              </a:rPr>
              <a:t>Assembly </a:t>
            </a:r>
            <a:r>
              <a:rPr lang="en-US" b="1" dirty="0">
                <a:solidFill>
                  <a:srgbClr val="FF0000"/>
                </a:solidFill>
              </a:rPr>
              <a:t>instructions </a:t>
            </a:r>
            <a:r>
              <a:rPr lang="en-US" b="1" dirty="0"/>
              <a:t>for appliances, equipment, furniture, toys, and games </a:t>
            </a:r>
          </a:p>
          <a:p>
            <a:r>
              <a:rPr lang="en-US" b="1" dirty="0" smtClean="0">
                <a:solidFill>
                  <a:srgbClr val="FF0000"/>
                </a:solidFill>
              </a:rPr>
              <a:t>Research </a:t>
            </a:r>
            <a:r>
              <a:rPr lang="en-US" b="1" dirty="0">
                <a:solidFill>
                  <a:srgbClr val="FF0000"/>
                </a:solidFill>
              </a:rPr>
              <a:t>articles </a:t>
            </a:r>
            <a:r>
              <a:rPr lang="en-US" b="1" dirty="0"/>
              <a:t>that present scientific or technological discoveries </a:t>
            </a:r>
          </a:p>
          <a:p>
            <a:r>
              <a:rPr lang="en-US" b="1" dirty="0">
                <a:solidFill>
                  <a:srgbClr val="FF0000"/>
                </a:solidFill>
              </a:rPr>
              <a:t>M</a:t>
            </a:r>
            <a:r>
              <a:rPr lang="en-US" b="1" dirty="0" smtClean="0">
                <a:solidFill>
                  <a:srgbClr val="FF0000"/>
                </a:solidFill>
              </a:rPr>
              <a:t>agazine </a:t>
            </a:r>
            <a:r>
              <a:rPr lang="en-US" b="1" dirty="0">
                <a:solidFill>
                  <a:srgbClr val="FF0000"/>
                </a:solidFill>
              </a:rPr>
              <a:t>articles </a:t>
            </a:r>
            <a:r>
              <a:rPr lang="en-US" b="1" dirty="0"/>
              <a:t>that explain how to complete a process— preparing yellow chicken curry or a dovetail joint </a:t>
            </a:r>
          </a:p>
          <a:p>
            <a:r>
              <a:rPr lang="en-US" b="1" dirty="0">
                <a:solidFill>
                  <a:srgbClr val="FF0000"/>
                </a:solidFill>
              </a:rPr>
              <a:t>T</a:t>
            </a:r>
            <a:r>
              <a:rPr lang="en-US" b="1" dirty="0" smtClean="0">
                <a:solidFill>
                  <a:srgbClr val="FF0000"/>
                </a:solidFill>
              </a:rPr>
              <a:t>raining </a:t>
            </a:r>
            <a:r>
              <a:rPr lang="en-US" b="1" dirty="0">
                <a:solidFill>
                  <a:srgbClr val="FF0000"/>
                </a:solidFill>
              </a:rPr>
              <a:t>films </a:t>
            </a:r>
            <a:r>
              <a:rPr lang="en-US" b="1" dirty="0"/>
              <a:t>that demonstrate a process </a:t>
            </a:r>
          </a:p>
          <a:p>
            <a:r>
              <a:rPr lang="en-US" b="1" dirty="0">
                <a:solidFill>
                  <a:srgbClr val="FF0000"/>
                </a:solidFill>
              </a:rPr>
              <a:t>I</a:t>
            </a:r>
            <a:r>
              <a:rPr lang="en-US" b="1" dirty="0" smtClean="0">
                <a:solidFill>
                  <a:srgbClr val="FF0000"/>
                </a:solidFill>
              </a:rPr>
              <a:t>nstructions</a:t>
            </a:r>
            <a:r>
              <a:rPr lang="en-US" b="1" dirty="0" smtClean="0"/>
              <a:t> </a:t>
            </a:r>
            <a:r>
              <a:rPr lang="en-US" b="1" dirty="0"/>
              <a:t>on how to register online or create an online account </a:t>
            </a:r>
          </a:p>
          <a:p>
            <a:r>
              <a:rPr lang="en-US" b="1" dirty="0" err="1">
                <a:solidFill>
                  <a:srgbClr val="FF0000"/>
                </a:solidFill>
              </a:rPr>
              <a:t>W</a:t>
            </a:r>
            <a:r>
              <a:rPr lang="en-US" b="1" dirty="0" err="1" smtClean="0">
                <a:solidFill>
                  <a:srgbClr val="FF0000"/>
                </a:solidFill>
              </a:rPr>
              <a:t>ikkis</a:t>
            </a:r>
            <a:r>
              <a:rPr lang="en-US" b="1" dirty="0" smtClean="0">
                <a:solidFill>
                  <a:srgbClr val="FF0000"/>
                </a:solidFill>
              </a:rPr>
              <a:t> </a:t>
            </a:r>
            <a:r>
              <a:rPr lang="en-US" b="1" dirty="0">
                <a:solidFill>
                  <a:srgbClr val="FF0000"/>
                </a:solidFill>
              </a:rPr>
              <a:t>or user groups </a:t>
            </a:r>
            <a:r>
              <a:rPr lang="en-US" b="1" dirty="0"/>
              <a:t>that exchange and/or continuously update technical information or document processes </a:t>
            </a:r>
          </a:p>
          <a:p>
            <a:endParaRPr lang="en-US" dirty="0"/>
          </a:p>
        </p:txBody>
      </p:sp>
    </p:spTree>
    <p:extLst>
      <p:ext uri="{BB962C8B-B14F-4D97-AF65-F5344CB8AC3E}">
        <p14:creationId xmlns:p14="http://schemas.microsoft.com/office/powerpoint/2010/main" val="26658407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2.1 Defining Technical Communication</a:t>
            </a:r>
          </a:p>
        </p:txBody>
      </p:sp>
      <p:sp>
        <p:nvSpPr>
          <p:cNvPr id="3" name="Content Placeholder 2"/>
          <p:cNvSpPr>
            <a:spLocks noGrp="1"/>
          </p:cNvSpPr>
          <p:nvPr>
            <p:ph idx="1"/>
          </p:nvPr>
        </p:nvSpPr>
        <p:spPr>
          <a:xfrm>
            <a:off x="537882" y="1825625"/>
            <a:ext cx="10815918" cy="4351338"/>
          </a:xfrm>
        </p:spPr>
        <p:txBody>
          <a:bodyPr>
            <a:normAutofit fontScale="92500" lnSpcReduction="10000"/>
          </a:bodyPr>
          <a:lstStyle/>
          <a:p>
            <a:r>
              <a:rPr lang="en-US" b="1" dirty="0"/>
              <a:t>“Technical communication is a process of managing technical information in ways that allow people to take action” </a:t>
            </a:r>
          </a:p>
          <a:p>
            <a:pPr marL="0" indent="0">
              <a:buNone/>
            </a:pPr>
            <a:r>
              <a:rPr lang="en-US" b="1" dirty="0"/>
              <a:t>						- Richard Johnson-Sheehan</a:t>
            </a:r>
          </a:p>
          <a:p>
            <a:endParaRPr lang="en-US" b="1" dirty="0"/>
          </a:p>
          <a:p>
            <a:r>
              <a:rPr lang="en-US" b="1" dirty="0"/>
              <a:t>“Technical communication is the process of creating, designing and transmitting technical information so that people can understand it easily and safely, effectively and efficiently. Most technical communication is written by people working in or for organizations. Technical communication is reached by people who need to carry out procedures and solve problems.”</a:t>
            </a:r>
          </a:p>
          <a:p>
            <a:pPr marL="0" indent="0">
              <a:buNone/>
            </a:pPr>
            <a:r>
              <a:rPr lang="en-US" b="1" dirty="0"/>
              <a:t>						- Mike Markel</a:t>
            </a:r>
          </a:p>
          <a:p>
            <a:pPr marL="0" indent="0">
              <a:buNone/>
            </a:pPr>
            <a:endParaRPr lang="en-US" b="1" dirty="0"/>
          </a:p>
        </p:txBody>
      </p:sp>
      <p:sp>
        <p:nvSpPr>
          <p:cNvPr id="5" name="Slide Number Placeholder 4"/>
          <p:cNvSpPr>
            <a:spLocks noGrp="1"/>
          </p:cNvSpPr>
          <p:nvPr>
            <p:ph type="sldNum" sz="quarter" idx="12"/>
          </p:nvPr>
        </p:nvSpPr>
        <p:spPr/>
        <p:txBody>
          <a:bodyPr/>
          <a:lstStyle/>
          <a:p>
            <a:fld id="{A4FCB889-8A7B-4BBF-B652-6828A84DE4E9}" type="slidenum">
              <a:rPr lang="en-US" smtClean="0"/>
              <a:t>6</a:t>
            </a:fld>
            <a:endParaRPr lang="en-US"/>
          </a:p>
        </p:txBody>
      </p:sp>
    </p:spTree>
    <p:extLst>
      <p:ext uri="{BB962C8B-B14F-4D97-AF65-F5344CB8AC3E}">
        <p14:creationId xmlns:p14="http://schemas.microsoft.com/office/powerpoint/2010/main" val="1788474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1000"/>
                                        <p:tgtEl>
                                          <p:spTgt spid="3">
                                            <p:txEl>
                                              <p:pRg st="3" end="3"/>
                                            </p:txEl>
                                          </p:spTgt>
                                        </p:tgtEl>
                                      </p:cBhvr>
                                    </p:animEffect>
                                    <p:anim calcmode="lin" valueType="num">
                                      <p:cBhvr>
                                        <p:cTn id="20"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1000"/>
                                        <p:tgtEl>
                                          <p:spTgt spid="3">
                                            <p:txEl>
                                              <p:pRg st="4" end="4"/>
                                            </p:txEl>
                                          </p:spTgt>
                                        </p:tgtEl>
                                      </p:cBhvr>
                                    </p:animEffect>
                                    <p:anim calcmode="lin" valueType="num">
                                      <p:cBhvr>
                                        <p:cTn id="25"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t>Cont</a:t>
            </a:r>
            <a:r>
              <a:rPr lang="en-US" b="1" dirty="0" smtClean="0"/>
              <a:t> …</a:t>
            </a:r>
            <a:endParaRPr lang="en-US" b="1" dirty="0"/>
          </a:p>
        </p:txBody>
      </p:sp>
      <p:sp>
        <p:nvSpPr>
          <p:cNvPr id="3" name="Content Placeholder 2"/>
          <p:cNvSpPr>
            <a:spLocks noGrp="1"/>
          </p:cNvSpPr>
          <p:nvPr>
            <p:ph idx="1"/>
          </p:nvPr>
        </p:nvSpPr>
        <p:spPr>
          <a:xfrm>
            <a:off x="838199" y="1825625"/>
            <a:ext cx="11040035" cy="4351338"/>
          </a:xfrm>
        </p:spPr>
        <p:txBody>
          <a:bodyPr/>
          <a:lstStyle/>
          <a:p>
            <a:r>
              <a:rPr lang="en-US" b="1" dirty="0"/>
              <a:t>“It is the process of gathering information from experts and presenting to an audience in a clear, easily understandable form”. </a:t>
            </a:r>
          </a:p>
          <a:p>
            <a:pPr marL="0" indent="0">
              <a:buNone/>
            </a:pPr>
            <a:r>
              <a:rPr lang="en-US" b="1" dirty="0"/>
              <a:t>				- Society for Technical Communication (STC)</a:t>
            </a:r>
          </a:p>
          <a:p>
            <a:pPr>
              <a:buFontTx/>
              <a:buChar char="-"/>
            </a:pPr>
            <a:r>
              <a:rPr lang="en-US" b="1" dirty="0"/>
              <a:t>A technical writer’s main task is to convey information  to another person in a very clear manner.</a:t>
            </a:r>
          </a:p>
          <a:p>
            <a:pPr>
              <a:buFontTx/>
              <a:buChar char="-"/>
            </a:pPr>
            <a:r>
              <a:rPr lang="en-US" b="1" dirty="0"/>
              <a:t>Examples: user manuals, press releases, memos, business proposals, product descriptions,  specifications, resumes, job </a:t>
            </a:r>
            <a:r>
              <a:rPr lang="en-US" b="1" dirty="0" smtClean="0"/>
              <a:t>applications.</a:t>
            </a:r>
            <a:endParaRPr lang="en-US" b="1" dirty="0"/>
          </a:p>
          <a:p>
            <a:endParaRPr lang="en-US" b="1" dirty="0"/>
          </a:p>
        </p:txBody>
      </p:sp>
      <p:sp>
        <p:nvSpPr>
          <p:cNvPr id="5" name="Slide Number Placeholder 4"/>
          <p:cNvSpPr>
            <a:spLocks noGrp="1"/>
          </p:cNvSpPr>
          <p:nvPr>
            <p:ph type="sldNum" sz="quarter" idx="12"/>
          </p:nvPr>
        </p:nvSpPr>
        <p:spPr/>
        <p:txBody>
          <a:bodyPr/>
          <a:lstStyle/>
          <a:p>
            <a:fld id="{A4FCB889-8A7B-4BBF-B652-6828A84DE4E9}" type="slidenum">
              <a:rPr lang="en-US" smtClean="0"/>
              <a:t>7</a:t>
            </a:fld>
            <a:endParaRPr lang="en-US"/>
          </a:p>
        </p:txBody>
      </p:sp>
    </p:spTree>
    <p:extLst>
      <p:ext uri="{BB962C8B-B14F-4D97-AF65-F5344CB8AC3E}">
        <p14:creationId xmlns:p14="http://schemas.microsoft.com/office/powerpoint/2010/main" val="4120434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1000"/>
                                        <p:tgtEl>
                                          <p:spTgt spid="3">
                                            <p:txEl>
                                              <p:pRg st="3" end="3"/>
                                            </p:txEl>
                                          </p:spTgt>
                                        </p:tgtEl>
                                      </p:cBhvr>
                                    </p:animEffect>
                                    <p:anim calcmode="lin" valueType="num">
                                      <p:cBhvr>
                                        <p:cTn id="2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C0066"/>
                </a:solidFill>
                <a:latin typeface="Arial Narrow" panose="020B0606020202030204" pitchFamily="34" charset="0"/>
              </a:rPr>
              <a:t>2.7 Importance of Technical Communication</a:t>
            </a:r>
          </a:p>
        </p:txBody>
      </p:sp>
      <p:sp>
        <p:nvSpPr>
          <p:cNvPr id="3" name="Content Placeholder 2"/>
          <p:cNvSpPr>
            <a:spLocks noGrp="1"/>
          </p:cNvSpPr>
          <p:nvPr>
            <p:ph idx="1"/>
          </p:nvPr>
        </p:nvSpPr>
        <p:spPr>
          <a:xfrm>
            <a:off x="838200" y="1825625"/>
            <a:ext cx="10995212" cy="4351338"/>
          </a:xfrm>
        </p:spPr>
        <p:txBody>
          <a:bodyPr>
            <a:normAutofit fontScale="92500" lnSpcReduction="20000"/>
          </a:bodyPr>
          <a:lstStyle/>
          <a:p>
            <a:r>
              <a:rPr lang="en-US" dirty="0"/>
              <a:t>Technical communication is a way of </a:t>
            </a:r>
            <a:r>
              <a:rPr lang="en-US" dirty="0">
                <a:solidFill>
                  <a:srgbClr val="00B0F0"/>
                </a:solidFill>
              </a:rPr>
              <a:t>facilitating communication about projects and ideas throughout the industry. </a:t>
            </a:r>
            <a:endParaRPr lang="en-US" dirty="0" smtClean="0">
              <a:solidFill>
                <a:srgbClr val="00B0F0"/>
              </a:solidFill>
            </a:endParaRPr>
          </a:p>
          <a:p>
            <a:r>
              <a:rPr lang="en-US" dirty="0" smtClean="0"/>
              <a:t>It </a:t>
            </a:r>
            <a:r>
              <a:rPr lang="en-US" dirty="0"/>
              <a:t>is important in </a:t>
            </a:r>
            <a:r>
              <a:rPr lang="en-US" dirty="0">
                <a:solidFill>
                  <a:srgbClr val="00B0F0"/>
                </a:solidFill>
              </a:rPr>
              <a:t>documenting discoveries, designs, products, and methodologies. </a:t>
            </a:r>
          </a:p>
          <a:p>
            <a:r>
              <a:rPr lang="en-US" dirty="0"/>
              <a:t>It helps </a:t>
            </a:r>
            <a:r>
              <a:rPr lang="en-US" dirty="0">
                <a:solidFill>
                  <a:srgbClr val="00B0F0"/>
                </a:solidFill>
              </a:rPr>
              <a:t>convey information about the field to non-technical people</a:t>
            </a:r>
            <a:r>
              <a:rPr lang="en-US" dirty="0"/>
              <a:t> and </a:t>
            </a:r>
            <a:r>
              <a:rPr lang="en-US" dirty="0">
                <a:solidFill>
                  <a:srgbClr val="00B0F0"/>
                </a:solidFill>
              </a:rPr>
              <a:t>external agencies for </a:t>
            </a:r>
            <a:r>
              <a:rPr lang="en-US" dirty="0"/>
              <a:t>the purposes of support, administration and funding. </a:t>
            </a:r>
            <a:endParaRPr lang="en-US" dirty="0" smtClean="0"/>
          </a:p>
          <a:p>
            <a:r>
              <a:rPr lang="en-US" dirty="0" smtClean="0"/>
              <a:t>It </a:t>
            </a:r>
            <a:r>
              <a:rPr lang="en-US" dirty="0"/>
              <a:t>contributes to usability of designs, and it provides information for end users so they can understand and enjoy the resulting products and processes.</a:t>
            </a:r>
            <a:br>
              <a:rPr lang="en-US" dirty="0"/>
            </a:br>
            <a:endParaRPr lang="en-US" dirty="0"/>
          </a:p>
          <a:p>
            <a:pPr marL="0" indent="0">
              <a:buNone/>
            </a:pPr>
            <a:r>
              <a:rPr lang="en-US" b="1" dirty="0">
                <a:solidFill>
                  <a:srgbClr val="FF0000"/>
                </a:solidFill>
              </a:rPr>
              <a:t>1. Personal value</a:t>
            </a:r>
          </a:p>
          <a:p>
            <a:pPr marL="0" indent="0">
              <a:buNone/>
            </a:pPr>
            <a:r>
              <a:rPr lang="en-US" b="1" dirty="0">
                <a:solidFill>
                  <a:srgbClr val="FF0000"/>
                </a:solidFill>
              </a:rPr>
              <a:t>2. Workplace communication</a:t>
            </a:r>
          </a:p>
          <a:p>
            <a:pPr marL="0" indent="0">
              <a:buNone/>
            </a:pPr>
            <a:r>
              <a:rPr lang="en-US" b="1" dirty="0">
                <a:solidFill>
                  <a:srgbClr val="FF0000"/>
                </a:solidFill>
              </a:rPr>
              <a:t>3. Complex environments</a:t>
            </a:r>
          </a:p>
        </p:txBody>
      </p:sp>
      <p:sp>
        <p:nvSpPr>
          <p:cNvPr id="5" name="Slide Number Placeholder 4"/>
          <p:cNvSpPr>
            <a:spLocks noGrp="1"/>
          </p:cNvSpPr>
          <p:nvPr>
            <p:ph type="sldNum" sz="quarter" idx="12"/>
          </p:nvPr>
        </p:nvSpPr>
        <p:spPr/>
        <p:txBody>
          <a:bodyPr/>
          <a:lstStyle/>
          <a:p>
            <a:fld id="{A4FCB889-8A7B-4BBF-B652-6828A84DE4E9}" type="slidenum">
              <a:rPr lang="en-US" smtClean="0"/>
              <a:t>8</a:t>
            </a:fld>
            <a:endParaRPr lang="en-US"/>
          </a:p>
        </p:txBody>
      </p:sp>
    </p:spTree>
    <p:extLst>
      <p:ext uri="{BB962C8B-B14F-4D97-AF65-F5344CB8AC3E}">
        <p14:creationId xmlns:p14="http://schemas.microsoft.com/office/powerpoint/2010/main" val="18804001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FF0000"/>
                </a:solidFill>
              </a:rPr>
              <a:t>Personal value</a:t>
            </a:r>
            <a:r>
              <a:rPr lang="en-US" dirty="0"/>
              <a:t/>
            </a:r>
            <a:br>
              <a:rPr lang="en-US" dirty="0"/>
            </a:br>
            <a:endParaRPr lang="en-US" dirty="0"/>
          </a:p>
        </p:txBody>
      </p:sp>
      <p:sp>
        <p:nvSpPr>
          <p:cNvPr id="3" name="Content Placeholder 2"/>
          <p:cNvSpPr>
            <a:spLocks noGrp="1"/>
          </p:cNvSpPr>
          <p:nvPr>
            <p:ph idx="1"/>
          </p:nvPr>
        </p:nvSpPr>
        <p:spPr/>
        <p:txBody>
          <a:bodyPr>
            <a:normAutofit/>
          </a:bodyPr>
          <a:lstStyle/>
          <a:p>
            <a:r>
              <a:rPr lang="en-US" dirty="0">
                <a:solidFill>
                  <a:srgbClr val="00B0F0"/>
                </a:solidFill>
              </a:rPr>
              <a:t>The new media</a:t>
            </a:r>
            <a:r>
              <a:rPr lang="en-US" dirty="0"/>
              <a:t> has penetrated our personal lives. In the past</a:t>
            </a:r>
            <a:r>
              <a:rPr lang="en-US" dirty="0" smtClean="0"/>
              <a:t>, new </a:t>
            </a:r>
            <a:r>
              <a:rPr lang="en-US" dirty="0"/>
              <a:t>technology </a:t>
            </a:r>
            <a:r>
              <a:rPr lang="en-US" dirty="0" smtClean="0"/>
              <a:t>was </a:t>
            </a:r>
            <a:r>
              <a:rPr lang="en-US" dirty="0"/>
              <a:t>limited to work environment or businesses.</a:t>
            </a:r>
          </a:p>
          <a:p>
            <a:r>
              <a:rPr lang="en-US" dirty="0"/>
              <a:t>Today, our lives are deeply intertwined with computers, smartphones, and electronic devices. To navigate them effectively, mastering basic personal communication like </a:t>
            </a:r>
            <a:r>
              <a:rPr lang="en-US" dirty="0">
                <a:solidFill>
                  <a:srgbClr val="00B0F0"/>
                </a:solidFill>
              </a:rPr>
              <a:t>emailing, texting, browsing, and social media interaction demands solid technical communication skills</a:t>
            </a:r>
            <a:r>
              <a:rPr lang="en-US" dirty="0" smtClean="0">
                <a:solidFill>
                  <a:srgbClr val="00B0F0"/>
                </a:solidFill>
              </a:rPr>
              <a:t>.</a:t>
            </a:r>
            <a:r>
              <a:rPr lang="en-US" dirty="0">
                <a:solidFill>
                  <a:srgbClr val="00B0F0"/>
                </a:solidFill>
              </a:rPr>
              <a:t/>
            </a:r>
            <a:br>
              <a:rPr lang="en-US" dirty="0">
                <a:solidFill>
                  <a:srgbClr val="00B0F0"/>
                </a:solidFill>
              </a:rPr>
            </a:br>
            <a:endParaRPr lang="en-US" dirty="0">
              <a:solidFill>
                <a:srgbClr val="00B0F0"/>
              </a:solidFill>
            </a:endParaRPr>
          </a:p>
        </p:txBody>
      </p:sp>
    </p:spTree>
    <p:extLst>
      <p:ext uri="{BB962C8B-B14F-4D97-AF65-F5344CB8AC3E}">
        <p14:creationId xmlns:p14="http://schemas.microsoft.com/office/powerpoint/2010/main" val="36093986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
            </a:r>
            <a:endParaRPr lang="en-US" dirty="0"/>
          </a:p>
        </p:txBody>
      </p:sp>
      <p:sp>
        <p:nvSpPr>
          <p:cNvPr id="3" name="Content Placeholder 2"/>
          <p:cNvSpPr>
            <a:spLocks noGrp="1"/>
          </p:cNvSpPr>
          <p:nvPr>
            <p:ph idx="1"/>
          </p:nvPr>
        </p:nvSpPr>
        <p:spPr/>
        <p:txBody>
          <a:bodyPr/>
          <a:lstStyle/>
          <a:p>
            <a:r>
              <a:rPr lang="en-US" dirty="0"/>
              <a:t>Technical communication in the form of </a:t>
            </a:r>
            <a:r>
              <a:rPr lang="en-US" dirty="0">
                <a:solidFill>
                  <a:srgbClr val="00B0F0"/>
                </a:solidFill>
              </a:rPr>
              <a:t>proper language use and effective interpersonal skills </a:t>
            </a:r>
            <a:r>
              <a:rPr lang="en-US" dirty="0"/>
              <a:t>is equally important.</a:t>
            </a:r>
          </a:p>
          <a:p>
            <a:r>
              <a:rPr lang="en-US" dirty="0"/>
              <a:t>It is needed for </a:t>
            </a:r>
            <a:r>
              <a:rPr lang="en-US" dirty="0">
                <a:solidFill>
                  <a:srgbClr val="00B0F0"/>
                </a:solidFill>
              </a:rPr>
              <a:t>thinking clearly, organizing information </a:t>
            </a:r>
            <a:r>
              <a:rPr lang="en-US" dirty="0" smtClean="0">
                <a:solidFill>
                  <a:srgbClr val="00B0F0"/>
                </a:solidFill>
              </a:rPr>
              <a:t>logically </a:t>
            </a:r>
            <a:r>
              <a:rPr lang="en-US" dirty="0">
                <a:solidFill>
                  <a:srgbClr val="00B0F0"/>
                </a:solidFill>
              </a:rPr>
              <a:t>and presenting it effectively.</a:t>
            </a:r>
          </a:p>
          <a:p>
            <a:r>
              <a:rPr lang="en-US" dirty="0"/>
              <a:t>There lies its importance in </a:t>
            </a:r>
            <a:r>
              <a:rPr lang="en-US" dirty="0">
                <a:solidFill>
                  <a:srgbClr val="00B0F0"/>
                </a:solidFill>
              </a:rPr>
              <a:t>easy, safe, effective and efficient use of technical product and services.</a:t>
            </a:r>
          </a:p>
        </p:txBody>
      </p:sp>
    </p:spTree>
    <p:extLst>
      <p:ext uri="{BB962C8B-B14F-4D97-AF65-F5344CB8AC3E}">
        <p14:creationId xmlns:p14="http://schemas.microsoft.com/office/powerpoint/2010/main" val="32083181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Workplace </a:t>
            </a:r>
            <a:r>
              <a:rPr lang="en-US" b="1" dirty="0" smtClean="0">
                <a:solidFill>
                  <a:srgbClr val="FF0000"/>
                </a:solidFill>
              </a:rPr>
              <a:t>Communication</a:t>
            </a:r>
            <a:endParaRPr lang="en-US" b="1" dirty="0">
              <a:solidFill>
                <a:srgbClr val="FF0000"/>
              </a:solidFill>
            </a:endParaRPr>
          </a:p>
        </p:txBody>
      </p:sp>
      <p:sp>
        <p:nvSpPr>
          <p:cNvPr id="3" name="Content Placeholder 2"/>
          <p:cNvSpPr>
            <a:spLocks noGrp="1"/>
          </p:cNvSpPr>
          <p:nvPr>
            <p:ph idx="1"/>
          </p:nvPr>
        </p:nvSpPr>
        <p:spPr/>
        <p:txBody>
          <a:bodyPr/>
          <a:lstStyle/>
          <a:p>
            <a:r>
              <a:rPr lang="en-US" dirty="0"/>
              <a:t>Every organization, small or big, depends on communicating to get things done.</a:t>
            </a:r>
          </a:p>
          <a:p>
            <a:r>
              <a:rPr lang="en-US" dirty="0"/>
              <a:t>Such communication in small organizations may involve </a:t>
            </a:r>
            <a:r>
              <a:rPr lang="en-US" dirty="0">
                <a:solidFill>
                  <a:srgbClr val="00B0F0"/>
                </a:solidFill>
              </a:rPr>
              <a:t>interpersonal exchanges and some written materials</a:t>
            </a:r>
            <a:r>
              <a:rPr lang="en-US" dirty="0"/>
              <a:t>, but in large organizations the </a:t>
            </a:r>
            <a:r>
              <a:rPr lang="en-US" dirty="0">
                <a:solidFill>
                  <a:srgbClr val="00B0F0"/>
                </a:solidFill>
              </a:rPr>
              <a:t>volume of formal , oral as well as written communication is bigger, requiring the skills of a technical communicator.</a:t>
            </a:r>
          </a:p>
        </p:txBody>
      </p:sp>
    </p:spTree>
    <p:extLst>
      <p:ext uri="{BB962C8B-B14F-4D97-AF65-F5344CB8AC3E}">
        <p14:creationId xmlns:p14="http://schemas.microsoft.com/office/powerpoint/2010/main" val="22624338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
            </a:r>
            <a:endParaRPr lang="en-US" dirty="0"/>
          </a:p>
        </p:txBody>
      </p:sp>
      <p:sp>
        <p:nvSpPr>
          <p:cNvPr id="3" name="Content Placeholder 2"/>
          <p:cNvSpPr>
            <a:spLocks noGrp="1"/>
          </p:cNvSpPr>
          <p:nvPr>
            <p:ph idx="1"/>
          </p:nvPr>
        </p:nvSpPr>
        <p:spPr/>
        <p:txBody>
          <a:bodyPr>
            <a:normAutofit/>
          </a:bodyPr>
          <a:lstStyle/>
          <a:p>
            <a:r>
              <a:rPr lang="en-US" dirty="0"/>
              <a:t>Everyone within an organization </a:t>
            </a:r>
            <a:r>
              <a:rPr lang="en-US" dirty="0" smtClean="0">
                <a:solidFill>
                  <a:srgbClr val="00B0F0"/>
                </a:solidFill>
              </a:rPr>
              <a:t>needs </a:t>
            </a:r>
            <a:r>
              <a:rPr lang="en-US" dirty="0">
                <a:solidFill>
                  <a:srgbClr val="00B0F0"/>
                </a:solidFill>
              </a:rPr>
              <a:t>some technical communication skills</a:t>
            </a:r>
            <a:r>
              <a:rPr lang="en-US" dirty="0"/>
              <a:t>: managers, supervisors, workers.</a:t>
            </a:r>
          </a:p>
          <a:p>
            <a:r>
              <a:rPr lang="en-US" dirty="0"/>
              <a:t>Technical communication </a:t>
            </a:r>
            <a:r>
              <a:rPr lang="en-US" dirty="0">
                <a:solidFill>
                  <a:srgbClr val="00B0F0"/>
                </a:solidFill>
              </a:rPr>
              <a:t>goes hand in hand with product development.</a:t>
            </a:r>
          </a:p>
          <a:p>
            <a:r>
              <a:rPr lang="en-US" dirty="0">
                <a:solidFill>
                  <a:srgbClr val="00B0F0"/>
                </a:solidFill>
              </a:rPr>
              <a:t>The developer develops a product or </a:t>
            </a:r>
            <a:r>
              <a:rPr lang="en-US" dirty="0" smtClean="0">
                <a:solidFill>
                  <a:srgbClr val="00B0F0"/>
                </a:solidFill>
              </a:rPr>
              <a:t>service, </a:t>
            </a:r>
            <a:r>
              <a:rPr lang="en-US" dirty="0">
                <a:solidFill>
                  <a:srgbClr val="00B0F0"/>
                </a:solidFill>
              </a:rPr>
              <a:t>and the technical communicator writes documentation on it.</a:t>
            </a:r>
          </a:p>
          <a:p>
            <a:r>
              <a:rPr lang="en-US" dirty="0">
                <a:solidFill>
                  <a:srgbClr val="00B0F0"/>
                </a:solidFill>
              </a:rPr>
              <a:t>Inefficiencies or errors in communication </a:t>
            </a:r>
            <a:r>
              <a:rPr lang="en-US" dirty="0"/>
              <a:t>will cost a company money, resources, time and ultimately its image.</a:t>
            </a:r>
          </a:p>
        </p:txBody>
      </p:sp>
    </p:spTree>
    <p:extLst>
      <p:ext uri="{BB962C8B-B14F-4D97-AF65-F5344CB8AC3E}">
        <p14:creationId xmlns:p14="http://schemas.microsoft.com/office/powerpoint/2010/main" val="14303123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Complex </a:t>
            </a:r>
            <a:r>
              <a:rPr lang="en-US" b="1" dirty="0" smtClean="0">
                <a:solidFill>
                  <a:srgbClr val="FF0000"/>
                </a:solidFill>
              </a:rPr>
              <a:t>Environment</a:t>
            </a:r>
            <a:endParaRPr lang="en-US" b="1" dirty="0">
              <a:solidFill>
                <a:srgbClr val="FF0000"/>
              </a:solidFill>
            </a:endParaRPr>
          </a:p>
        </p:txBody>
      </p:sp>
      <p:sp>
        <p:nvSpPr>
          <p:cNvPr id="3" name="Content Placeholder 2"/>
          <p:cNvSpPr>
            <a:spLocks noGrp="1"/>
          </p:cNvSpPr>
          <p:nvPr>
            <p:ph idx="1"/>
          </p:nvPr>
        </p:nvSpPr>
        <p:spPr/>
        <p:txBody>
          <a:bodyPr>
            <a:normAutofit/>
          </a:bodyPr>
          <a:lstStyle/>
          <a:p>
            <a:r>
              <a:rPr lang="en-US" dirty="0">
                <a:solidFill>
                  <a:srgbClr val="00B0F0"/>
                </a:solidFill>
              </a:rPr>
              <a:t>Organizations </a:t>
            </a:r>
            <a:r>
              <a:rPr lang="en-US" dirty="0"/>
              <a:t>are becoming </a:t>
            </a:r>
            <a:r>
              <a:rPr lang="en-US" dirty="0">
                <a:solidFill>
                  <a:srgbClr val="00B0F0"/>
                </a:solidFill>
              </a:rPr>
              <a:t>complex</a:t>
            </a:r>
            <a:r>
              <a:rPr lang="en-US" dirty="0"/>
              <a:t> in size, structures and areas of work because of technological penetration, global business advancement and diversifying workforce.</a:t>
            </a:r>
          </a:p>
          <a:p>
            <a:r>
              <a:rPr lang="en-US" dirty="0"/>
              <a:t>It requires </a:t>
            </a:r>
            <a:r>
              <a:rPr lang="en-US" dirty="0">
                <a:solidFill>
                  <a:srgbClr val="00B0F0"/>
                </a:solidFill>
              </a:rPr>
              <a:t>well-coordinated communication</a:t>
            </a:r>
            <a:r>
              <a:rPr lang="en-US" dirty="0"/>
              <a:t> process both internal and external.</a:t>
            </a:r>
          </a:p>
          <a:p>
            <a:r>
              <a:rPr lang="en-US" dirty="0"/>
              <a:t>More specialized </a:t>
            </a:r>
            <a:r>
              <a:rPr lang="en-US" dirty="0">
                <a:solidFill>
                  <a:srgbClr val="00B0F0"/>
                </a:solidFill>
              </a:rPr>
              <a:t>skills in research, teamwork, negotiation, deliberation and interpersonal as well as translation, and multicultural communication are in demand.</a:t>
            </a:r>
          </a:p>
        </p:txBody>
      </p:sp>
    </p:spTree>
    <p:extLst>
      <p:ext uri="{BB962C8B-B14F-4D97-AF65-F5344CB8AC3E}">
        <p14:creationId xmlns:p14="http://schemas.microsoft.com/office/powerpoint/2010/main" val="1580474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
            </a:r>
          </a:p>
        </p:txBody>
      </p:sp>
      <p:sp>
        <p:nvSpPr>
          <p:cNvPr id="3" name="Content Placeholder 2"/>
          <p:cNvSpPr>
            <a:spLocks noGrp="1"/>
          </p:cNvSpPr>
          <p:nvPr>
            <p:ph idx="1"/>
          </p:nvPr>
        </p:nvSpPr>
        <p:spPr>
          <a:xfrm>
            <a:off x="838200" y="1417844"/>
            <a:ext cx="10515600" cy="4351338"/>
          </a:xfrm>
        </p:spPr>
        <p:txBody>
          <a:bodyPr>
            <a:normAutofit fontScale="92500"/>
          </a:bodyPr>
          <a:lstStyle/>
          <a:p>
            <a:r>
              <a:rPr lang="en-US" dirty="0"/>
              <a:t>Without the </a:t>
            </a:r>
            <a:r>
              <a:rPr lang="en-US" dirty="0" smtClean="0"/>
              <a:t>technical </a:t>
            </a:r>
            <a:r>
              <a:rPr lang="en-US" dirty="0"/>
              <a:t>communication </a:t>
            </a:r>
            <a:r>
              <a:rPr lang="en-US" dirty="0" smtClean="0"/>
              <a:t>skill the </a:t>
            </a:r>
            <a:r>
              <a:rPr lang="en-US" dirty="0">
                <a:solidFill>
                  <a:srgbClr val="00B0F0"/>
                </a:solidFill>
              </a:rPr>
              <a:t>product developers will not be able to explain how to use the product </a:t>
            </a:r>
            <a:r>
              <a:rPr lang="en-US" dirty="0"/>
              <a:t>or how it may benefit the users.</a:t>
            </a:r>
            <a:endParaRPr lang="en-US" dirty="0">
              <a:solidFill>
                <a:srgbClr val="00B0F0"/>
              </a:solidFill>
            </a:endParaRPr>
          </a:p>
          <a:p>
            <a:r>
              <a:rPr lang="en-US" dirty="0">
                <a:solidFill>
                  <a:srgbClr val="00B0F0"/>
                </a:solidFill>
              </a:rPr>
              <a:t>Globalization of trade and business continues </a:t>
            </a:r>
            <a:r>
              <a:rPr lang="en-US" dirty="0"/>
              <a:t>to expand the scope for technical communication</a:t>
            </a:r>
            <a:endParaRPr lang="en-US" dirty="0">
              <a:solidFill>
                <a:srgbClr val="00B0F0"/>
              </a:solidFill>
            </a:endParaRPr>
          </a:p>
          <a:p>
            <a:r>
              <a:rPr lang="en-US" dirty="0">
                <a:solidFill>
                  <a:srgbClr val="00B0F0"/>
                </a:solidFill>
              </a:rPr>
              <a:t>Outsourcing</a:t>
            </a:r>
            <a:r>
              <a:rPr lang="en-US" dirty="0"/>
              <a:t> has made technical communication even more relevant to developing markets like Nepal.</a:t>
            </a:r>
          </a:p>
          <a:p>
            <a:r>
              <a:rPr lang="en-US" dirty="0"/>
              <a:t>Technical communication in advanced economies is a </a:t>
            </a:r>
            <a:r>
              <a:rPr lang="en-US" dirty="0" smtClean="0"/>
              <a:t>thoughtful </a:t>
            </a:r>
            <a:r>
              <a:rPr lang="en-US" dirty="0"/>
              <a:t>business.</a:t>
            </a:r>
          </a:p>
          <a:p>
            <a:r>
              <a:rPr lang="en-US" dirty="0"/>
              <a:t>Today’s complex technological environments also call for </a:t>
            </a:r>
            <a:r>
              <a:rPr lang="en-US" dirty="0" smtClean="0">
                <a:solidFill>
                  <a:srgbClr val="00B0F0"/>
                </a:solidFill>
              </a:rPr>
              <a:t>multipurpose </a:t>
            </a:r>
            <a:r>
              <a:rPr lang="en-US" dirty="0">
                <a:solidFill>
                  <a:srgbClr val="00B0F0"/>
                </a:solidFill>
              </a:rPr>
              <a:t>technical communication skills.</a:t>
            </a:r>
          </a:p>
        </p:txBody>
      </p:sp>
    </p:spTree>
    <p:extLst>
      <p:ext uri="{BB962C8B-B14F-4D97-AF65-F5344CB8AC3E}">
        <p14:creationId xmlns:p14="http://schemas.microsoft.com/office/powerpoint/2010/main" val="8109439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solidFill>
                  <a:srgbClr val="FF0000"/>
                </a:solidFill>
              </a:rPr>
              <a:t>2.3 FORMS OF TECHNICAL COMMUNICATION</a:t>
            </a:r>
          </a:p>
        </p:txBody>
      </p:sp>
      <p:sp>
        <p:nvSpPr>
          <p:cNvPr id="3" name="Content Placeholder 2"/>
          <p:cNvSpPr>
            <a:spLocks noGrp="1"/>
          </p:cNvSpPr>
          <p:nvPr>
            <p:ph idx="1"/>
          </p:nvPr>
        </p:nvSpPr>
        <p:spPr>
          <a:xfrm>
            <a:off x="838200" y="1452282"/>
            <a:ext cx="10515600" cy="4724681"/>
          </a:xfrm>
        </p:spPr>
        <p:txBody>
          <a:bodyPr>
            <a:normAutofit/>
          </a:bodyPr>
          <a:lstStyle/>
          <a:p>
            <a:pPr marL="0" indent="0">
              <a:buNone/>
            </a:pPr>
            <a:endParaRPr lang="en-US" dirty="0"/>
          </a:p>
          <a:p>
            <a:r>
              <a:rPr lang="en-US" b="1" dirty="0"/>
              <a:t>BASICALLY:</a:t>
            </a:r>
          </a:p>
          <a:p>
            <a:pPr>
              <a:buFontTx/>
              <a:buChar char="-"/>
            </a:pPr>
            <a:r>
              <a:rPr lang="en-US" dirty="0">
                <a:solidFill>
                  <a:srgbClr val="FF0000"/>
                </a:solidFill>
              </a:rPr>
              <a:t>ORAL AND WRITTEN</a:t>
            </a:r>
            <a:endParaRPr lang="en-US" b="1" dirty="0">
              <a:solidFill>
                <a:schemeClr val="tx1">
                  <a:lumMod val="95000"/>
                  <a:lumOff val="5000"/>
                </a:schemeClr>
              </a:solidFill>
            </a:endParaRPr>
          </a:p>
          <a:p>
            <a:r>
              <a:rPr lang="en-US" b="1" dirty="0">
                <a:solidFill>
                  <a:schemeClr val="tx1">
                    <a:lumMod val="95000"/>
                    <a:lumOff val="5000"/>
                  </a:schemeClr>
                </a:solidFill>
              </a:rPr>
              <a:t>OTHER FORMS</a:t>
            </a:r>
          </a:p>
          <a:p>
            <a:pPr>
              <a:buNone/>
            </a:pPr>
            <a:r>
              <a:rPr lang="en-US" dirty="0">
                <a:solidFill>
                  <a:srgbClr val="00B050"/>
                </a:solidFill>
              </a:rPr>
              <a:t>-HIGH-TECH AND LOW –TECH</a:t>
            </a:r>
          </a:p>
          <a:p>
            <a:pPr>
              <a:buNone/>
            </a:pPr>
            <a:r>
              <a:rPr lang="en-US" dirty="0">
                <a:solidFill>
                  <a:srgbClr val="00B050"/>
                </a:solidFill>
              </a:rPr>
              <a:t>-INTERNAL AND EXTERNAL</a:t>
            </a:r>
          </a:p>
          <a:p>
            <a:endParaRPr lang="en-US" dirty="0"/>
          </a:p>
        </p:txBody>
      </p:sp>
    </p:spTree>
    <p:extLst>
      <p:ext uri="{BB962C8B-B14F-4D97-AF65-F5344CB8AC3E}">
        <p14:creationId xmlns:p14="http://schemas.microsoft.com/office/powerpoint/2010/main" val="18548765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
            </a:r>
            <a:endParaRPr lang="en-US" dirty="0"/>
          </a:p>
        </p:txBody>
      </p:sp>
      <p:sp>
        <p:nvSpPr>
          <p:cNvPr id="3" name="Content Placeholder 2"/>
          <p:cNvSpPr>
            <a:spLocks noGrp="1"/>
          </p:cNvSpPr>
          <p:nvPr>
            <p:ph idx="1"/>
          </p:nvPr>
        </p:nvSpPr>
        <p:spPr/>
        <p:txBody>
          <a:bodyPr/>
          <a:lstStyle/>
          <a:p>
            <a:r>
              <a:rPr lang="en-US" b="1" dirty="0">
                <a:solidFill>
                  <a:srgbClr val="FF0000"/>
                </a:solidFill>
              </a:rPr>
              <a:t>ORAL-</a:t>
            </a:r>
            <a:r>
              <a:rPr lang="en-US" dirty="0"/>
              <a:t> sense of immediacy, personal and informal touch, flexibility, high level of transparency, spontaneous feedback, receptivity, interactivity,, time saving, effective in resolving </a:t>
            </a:r>
            <a:r>
              <a:rPr lang="en-US" dirty="0" smtClean="0"/>
              <a:t>conflict</a:t>
            </a:r>
            <a:endParaRPr lang="en-US" dirty="0"/>
          </a:p>
          <a:p>
            <a:pPr>
              <a:buNone/>
            </a:pPr>
            <a:r>
              <a:rPr lang="en-US" dirty="0">
                <a:solidFill>
                  <a:srgbClr val="FF0000"/>
                </a:solidFill>
              </a:rPr>
              <a:t>Disadvantages-</a:t>
            </a:r>
            <a:r>
              <a:rPr lang="en-US" dirty="0"/>
              <a:t> less authentic, transcribing can be costly, messages can be long or distorted, requiring great receptivity and attentiveness</a:t>
            </a:r>
          </a:p>
        </p:txBody>
      </p:sp>
    </p:spTree>
    <p:extLst>
      <p:ext uri="{BB962C8B-B14F-4D97-AF65-F5344CB8AC3E}">
        <p14:creationId xmlns:p14="http://schemas.microsoft.com/office/powerpoint/2010/main" val="41875006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
            </a:r>
            <a:endParaRPr lang="en-US" dirty="0"/>
          </a:p>
        </p:txBody>
      </p:sp>
      <p:sp>
        <p:nvSpPr>
          <p:cNvPr id="3" name="Content Placeholder 2"/>
          <p:cNvSpPr>
            <a:spLocks noGrp="1"/>
          </p:cNvSpPr>
          <p:nvPr>
            <p:ph idx="1"/>
          </p:nvPr>
        </p:nvSpPr>
        <p:spPr>
          <a:xfrm>
            <a:off x="838200" y="1825625"/>
            <a:ext cx="11022106" cy="4351338"/>
          </a:xfrm>
        </p:spPr>
        <p:txBody>
          <a:bodyPr>
            <a:normAutofit/>
          </a:bodyPr>
          <a:lstStyle/>
          <a:p>
            <a:r>
              <a:rPr lang="en-US" b="1" dirty="0">
                <a:solidFill>
                  <a:srgbClr val="FF0000"/>
                </a:solidFill>
              </a:rPr>
              <a:t>WRITTEN-</a:t>
            </a:r>
            <a:r>
              <a:rPr lang="en-US" dirty="0"/>
              <a:t> good for emphasis, evidence, records and reference, more organized, precise, explicit and permanent, leaves no room for misunderstanding, allows for clarification or verification, sounds formal and authoritative, </a:t>
            </a:r>
            <a:r>
              <a:rPr lang="en-US" dirty="0" smtClean="0"/>
              <a:t>time saving, </a:t>
            </a:r>
            <a:r>
              <a:rPr lang="en-US" dirty="0"/>
              <a:t>reliable for lengthy content or data.</a:t>
            </a:r>
          </a:p>
          <a:p>
            <a:pPr>
              <a:buNone/>
            </a:pPr>
            <a:r>
              <a:rPr lang="en-US" dirty="0">
                <a:solidFill>
                  <a:srgbClr val="FF0000"/>
                </a:solidFill>
              </a:rPr>
              <a:t>Disadvantages-</a:t>
            </a:r>
            <a:r>
              <a:rPr lang="en-US" dirty="0"/>
              <a:t> costly in production and delivery, involves paperwork and burden, requires skilled manpower to write, impersonal, response is not spontaneous</a:t>
            </a:r>
          </a:p>
        </p:txBody>
      </p:sp>
    </p:spTree>
    <p:extLst>
      <p:ext uri="{BB962C8B-B14F-4D97-AF65-F5344CB8AC3E}">
        <p14:creationId xmlns:p14="http://schemas.microsoft.com/office/powerpoint/2010/main" val="40792724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
            </a:r>
            <a:endParaRPr lang="en-US" dirty="0"/>
          </a:p>
        </p:txBody>
      </p:sp>
      <p:sp>
        <p:nvSpPr>
          <p:cNvPr id="3" name="Content Placeholder 2"/>
          <p:cNvSpPr>
            <a:spLocks noGrp="1"/>
          </p:cNvSpPr>
          <p:nvPr>
            <p:ph idx="1"/>
          </p:nvPr>
        </p:nvSpPr>
        <p:spPr/>
        <p:txBody>
          <a:bodyPr>
            <a:normAutofit/>
          </a:bodyPr>
          <a:lstStyle/>
          <a:p>
            <a:r>
              <a:rPr lang="en-US" dirty="0">
                <a:solidFill>
                  <a:srgbClr val="FF0000"/>
                </a:solidFill>
              </a:rPr>
              <a:t>High-tech-</a:t>
            </a:r>
            <a:r>
              <a:rPr lang="en-US" dirty="0"/>
              <a:t> software interface, computer applications, medical procedures etc.</a:t>
            </a:r>
          </a:p>
          <a:p>
            <a:r>
              <a:rPr lang="en-US" dirty="0">
                <a:solidFill>
                  <a:srgbClr val="FF0000"/>
                </a:solidFill>
              </a:rPr>
              <a:t>Low-tech</a:t>
            </a:r>
            <a:r>
              <a:rPr lang="en-US" dirty="0"/>
              <a:t>- memos, reports, newsletters, websites etc.</a:t>
            </a:r>
          </a:p>
          <a:p>
            <a:r>
              <a:rPr lang="en-US" dirty="0">
                <a:solidFill>
                  <a:srgbClr val="FF0000"/>
                </a:solidFill>
              </a:rPr>
              <a:t>Internal – </a:t>
            </a:r>
            <a:r>
              <a:rPr lang="en-US" dirty="0" smtClean="0"/>
              <a:t>reports, </a:t>
            </a:r>
            <a:r>
              <a:rPr lang="en-US" dirty="0"/>
              <a:t>proposals, presentations, memos ,minutes, newsletters etc.</a:t>
            </a:r>
          </a:p>
          <a:p>
            <a:r>
              <a:rPr lang="en-US" dirty="0">
                <a:solidFill>
                  <a:srgbClr val="FF0000"/>
                </a:solidFill>
              </a:rPr>
              <a:t>External – </a:t>
            </a:r>
            <a:r>
              <a:rPr lang="en-US" dirty="0"/>
              <a:t>brochures, flyers, public announcements, product manuals, releases, posters etc.</a:t>
            </a:r>
          </a:p>
        </p:txBody>
      </p:sp>
    </p:spTree>
    <p:extLst>
      <p:ext uri="{BB962C8B-B14F-4D97-AF65-F5344CB8AC3E}">
        <p14:creationId xmlns:p14="http://schemas.microsoft.com/office/powerpoint/2010/main" val="25994049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solidFill>
                  <a:srgbClr val="FF0000"/>
                </a:solidFill>
                <a:latin typeface="Arial Black" panose="020B0A04020102020204" pitchFamily="34" charset="0"/>
              </a:rPr>
              <a:t>2.5 </a:t>
            </a:r>
            <a:r>
              <a:rPr lang="en-US" sz="3200" b="1" dirty="0">
                <a:solidFill>
                  <a:srgbClr val="FF0000"/>
                </a:solidFill>
                <a:latin typeface="Arial Black" panose="020B0A04020102020204" pitchFamily="34" charset="0"/>
              </a:rPr>
              <a:t>TYPES OF TECHNICAL C</a:t>
            </a:r>
            <a:r>
              <a:rPr lang="en-US" sz="3200" b="1" dirty="0" smtClean="0">
                <a:solidFill>
                  <a:srgbClr val="FF0000"/>
                </a:solidFill>
                <a:latin typeface="Arial Black" panose="020B0A04020102020204" pitchFamily="34" charset="0"/>
              </a:rPr>
              <a:t>OMMUNICATION</a:t>
            </a:r>
            <a:endParaRPr lang="en-US" sz="3200" b="1" dirty="0">
              <a:solidFill>
                <a:srgbClr val="FF0000"/>
              </a:solidFill>
              <a:latin typeface="Arial Black" panose="020B0A04020102020204" pitchFamily="34" charset="0"/>
            </a:endParaRPr>
          </a:p>
        </p:txBody>
      </p:sp>
      <p:sp>
        <p:nvSpPr>
          <p:cNvPr id="3" name="Content Placeholder 2"/>
          <p:cNvSpPr>
            <a:spLocks noGrp="1"/>
          </p:cNvSpPr>
          <p:nvPr>
            <p:ph idx="1"/>
          </p:nvPr>
        </p:nvSpPr>
        <p:spPr/>
        <p:txBody>
          <a:bodyPr>
            <a:normAutofit lnSpcReduction="10000"/>
          </a:bodyPr>
          <a:lstStyle/>
          <a:p>
            <a:r>
              <a:rPr lang="en-US" dirty="0"/>
              <a:t>Mail/ correspondence</a:t>
            </a:r>
          </a:p>
          <a:p>
            <a:r>
              <a:rPr lang="en-US" dirty="0"/>
              <a:t>Documentation/ Records</a:t>
            </a:r>
          </a:p>
          <a:p>
            <a:r>
              <a:rPr lang="en-US" dirty="0"/>
              <a:t>Forms/ Receipts</a:t>
            </a:r>
          </a:p>
          <a:p>
            <a:r>
              <a:rPr lang="en-US" dirty="0"/>
              <a:t>Planning</a:t>
            </a:r>
          </a:p>
          <a:p>
            <a:r>
              <a:rPr lang="en-US" dirty="0"/>
              <a:t>Procedures/ descriptions</a:t>
            </a:r>
          </a:p>
          <a:p>
            <a:r>
              <a:rPr lang="en-US" dirty="0"/>
              <a:t>Instructions/ manuals/ guides</a:t>
            </a:r>
          </a:p>
          <a:p>
            <a:r>
              <a:rPr lang="en-US" dirty="0"/>
              <a:t>Proposals/ agreements/ policies</a:t>
            </a:r>
          </a:p>
          <a:p>
            <a:r>
              <a:rPr lang="en-US" dirty="0"/>
              <a:t>Oral presentations/ group work</a:t>
            </a:r>
          </a:p>
          <a:p>
            <a:r>
              <a:rPr lang="en-US" dirty="0"/>
              <a:t>Reports</a:t>
            </a:r>
          </a:p>
          <a:p>
            <a:endParaRPr lang="en-US" dirty="0"/>
          </a:p>
        </p:txBody>
      </p:sp>
    </p:spTree>
    <p:extLst>
      <p:ext uri="{BB962C8B-B14F-4D97-AF65-F5344CB8AC3E}">
        <p14:creationId xmlns:p14="http://schemas.microsoft.com/office/powerpoint/2010/main" val="13479281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78712"/>
            <a:ext cx="10515600" cy="4351338"/>
          </a:xfrm>
        </p:spPr>
        <p:txBody>
          <a:bodyPr>
            <a:normAutofit fontScale="25000" lnSpcReduction="20000"/>
          </a:bodyPr>
          <a:lstStyle/>
          <a:p>
            <a:pPr marL="0" indent="0">
              <a:buNone/>
            </a:pPr>
            <a:r>
              <a:rPr lang="en-US" sz="14400" b="1" dirty="0">
                <a:solidFill>
                  <a:srgbClr val="FF0000"/>
                </a:solidFill>
              </a:rPr>
              <a:t> Types of Technical Communication</a:t>
            </a:r>
            <a:endParaRPr lang="en-US" sz="14400" dirty="0">
              <a:solidFill>
                <a:srgbClr val="FF0000"/>
              </a:solidFill>
            </a:endParaRPr>
          </a:p>
          <a:p>
            <a:pPr marL="0" indent="0">
              <a:buNone/>
            </a:pPr>
            <a:r>
              <a:rPr lang="en-US" sz="8000" b="1" dirty="0">
                <a:solidFill>
                  <a:srgbClr val="00B0F0"/>
                </a:solidFill>
              </a:rPr>
              <a:t>a. Mail/Correspondence</a:t>
            </a:r>
          </a:p>
          <a:p>
            <a:pPr marL="0" indent="0">
              <a:buNone/>
            </a:pPr>
            <a:r>
              <a:rPr lang="en-US" sz="8000" dirty="0"/>
              <a:t>Business: sales letter, quotations letter, official: circular </a:t>
            </a:r>
            <a:r>
              <a:rPr lang="en-US" sz="8000" dirty="0" smtClean="0"/>
              <a:t>letter</a:t>
            </a:r>
            <a:endParaRPr lang="en-US" sz="8000" dirty="0"/>
          </a:p>
          <a:p>
            <a:pPr marL="0" indent="0">
              <a:buNone/>
            </a:pPr>
            <a:r>
              <a:rPr lang="en-US" sz="8000" dirty="0"/>
              <a:t>Professional: Acceptance letter; application letter, appointment </a:t>
            </a:r>
            <a:r>
              <a:rPr lang="en-US" sz="8000" dirty="0" smtClean="0"/>
              <a:t>letter</a:t>
            </a:r>
            <a:endParaRPr lang="en-US" sz="8000" b="1" dirty="0"/>
          </a:p>
          <a:p>
            <a:pPr marL="0" indent="0">
              <a:buNone/>
            </a:pPr>
            <a:r>
              <a:rPr lang="en-US" sz="8000" b="1" dirty="0">
                <a:solidFill>
                  <a:srgbClr val="00B0F0"/>
                </a:solidFill>
              </a:rPr>
              <a:t>b. Documentation/Records </a:t>
            </a:r>
            <a:r>
              <a:rPr lang="en-US" sz="8000" b="1" dirty="0" smtClean="0">
                <a:solidFill>
                  <a:srgbClr val="00B0F0"/>
                </a:solidFill>
              </a:rPr>
              <a:t>: </a:t>
            </a:r>
            <a:r>
              <a:rPr lang="en-US" sz="8000" dirty="0" smtClean="0"/>
              <a:t>Meeting </a:t>
            </a:r>
            <a:r>
              <a:rPr lang="en-US" sz="8000" dirty="0"/>
              <a:t>minutes, class notes, speech or </a:t>
            </a:r>
            <a:r>
              <a:rPr lang="en-US" sz="8000" dirty="0" smtClean="0"/>
              <a:t>presentation</a:t>
            </a:r>
            <a:endParaRPr lang="en-US" sz="8000" dirty="0">
              <a:solidFill>
                <a:srgbClr val="00B0F0"/>
              </a:solidFill>
            </a:endParaRPr>
          </a:p>
          <a:p>
            <a:pPr marL="0" indent="0">
              <a:buNone/>
            </a:pPr>
            <a:r>
              <a:rPr lang="en-US" sz="8000" b="1" dirty="0">
                <a:solidFill>
                  <a:srgbClr val="00B0F0"/>
                </a:solidFill>
              </a:rPr>
              <a:t>c. Forms/Receipts: </a:t>
            </a:r>
            <a:r>
              <a:rPr lang="en-US" sz="8000" dirty="0" smtClean="0"/>
              <a:t>work </a:t>
            </a:r>
            <a:r>
              <a:rPr lang="en-US" sz="8000" dirty="0"/>
              <a:t>order </a:t>
            </a:r>
            <a:r>
              <a:rPr lang="en-US" sz="8000" dirty="0" smtClean="0"/>
              <a:t>form, </a:t>
            </a:r>
            <a:r>
              <a:rPr lang="en-US" sz="8000" dirty="0"/>
              <a:t>Tax form, application form</a:t>
            </a:r>
          </a:p>
          <a:p>
            <a:pPr marL="0" indent="0">
              <a:buNone/>
            </a:pPr>
            <a:r>
              <a:rPr lang="en-US" sz="8000" b="1" dirty="0">
                <a:solidFill>
                  <a:srgbClr val="00B0F0"/>
                </a:solidFill>
              </a:rPr>
              <a:t>d. Planning: </a:t>
            </a:r>
            <a:r>
              <a:rPr lang="en-US" sz="8000" dirty="0"/>
              <a:t>meeting agenda, action plan</a:t>
            </a:r>
            <a:r>
              <a:rPr lang="en-US" sz="8000" b="1" dirty="0"/>
              <a:t>.</a:t>
            </a:r>
          </a:p>
          <a:p>
            <a:pPr marL="0" indent="0">
              <a:buNone/>
            </a:pPr>
            <a:r>
              <a:rPr lang="en-US" sz="8000" b="1" dirty="0">
                <a:solidFill>
                  <a:srgbClr val="00B0F0"/>
                </a:solidFill>
              </a:rPr>
              <a:t>e. Procedure/Descriptions: </a:t>
            </a:r>
            <a:r>
              <a:rPr lang="en-US" sz="8000" dirty="0"/>
              <a:t>procedures for activities, operation guides, catalogues.</a:t>
            </a:r>
          </a:p>
          <a:p>
            <a:pPr marL="0" indent="0">
              <a:buNone/>
            </a:pPr>
            <a:r>
              <a:rPr lang="en-US" sz="8000" b="1" dirty="0">
                <a:solidFill>
                  <a:srgbClr val="00B0F0"/>
                </a:solidFill>
              </a:rPr>
              <a:t>f. Instructions/Manuals/guides</a:t>
            </a:r>
            <a:r>
              <a:rPr lang="en-US" sz="8000" b="1" dirty="0" smtClean="0">
                <a:solidFill>
                  <a:srgbClr val="00B0F0"/>
                </a:solidFill>
              </a:rPr>
              <a:t>:</a:t>
            </a:r>
            <a:r>
              <a:rPr lang="en-US" sz="8000" dirty="0" smtClean="0"/>
              <a:t> instruction writing, user manual</a:t>
            </a:r>
            <a:endParaRPr lang="en-US" sz="8000" dirty="0"/>
          </a:p>
          <a:p>
            <a:pPr marL="0" indent="0">
              <a:buNone/>
            </a:pPr>
            <a:r>
              <a:rPr lang="en-US" sz="8000" b="1" dirty="0">
                <a:solidFill>
                  <a:srgbClr val="00B0F0"/>
                </a:solidFill>
              </a:rPr>
              <a:t>g. Proposals/Agreements/Policies:</a:t>
            </a:r>
            <a:r>
              <a:rPr lang="en-US" sz="8000" dirty="0"/>
              <a:t> call for proposal , Terms of Reference, budget estimate, Treaties </a:t>
            </a:r>
            <a:endParaRPr lang="en-US" sz="8000" b="1" dirty="0">
              <a:solidFill>
                <a:srgbClr val="00B0F0"/>
              </a:solidFill>
            </a:endParaRPr>
          </a:p>
          <a:p>
            <a:pPr marL="0" indent="0">
              <a:buNone/>
            </a:pPr>
            <a:r>
              <a:rPr lang="en-US" sz="8000" b="1" dirty="0">
                <a:solidFill>
                  <a:srgbClr val="00B0F0"/>
                </a:solidFill>
              </a:rPr>
              <a:t>h. oral/presentation/group work: </a:t>
            </a:r>
            <a:r>
              <a:rPr lang="en-US" sz="8000" dirty="0"/>
              <a:t>oral reports, group discussion, webinar</a:t>
            </a:r>
          </a:p>
          <a:p>
            <a:pPr marL="0" indent="0">
              <a:buNone/>
            </a:pPr>
            <a:r>
              <a:rPr lang="en-US" sz="8000" b="1" dirty="0">
                <a:solidFill>
                  <a:srgbClr val="00B0F0"/>
                </a:solidFill>
              </a:rPr>
              <a:t>i. Reports: </a:t>
            </a:r>
            <a:r>
              <a:rPr lang="en-US" sz="8000" dirty="0"/>
              <a:t>Progress Report, lab Report, survey Report</a:t>
            </a:r>
            <a:r>
              <a:rPr lang="en-US" sz="8000" b="1" dirty="0">
                <a:solidFill>
                  <a:srgbClr val="00B0F0"/>
                </a:solidFill>
              </a:rPr>
              <a:t> </a:t>
            </a:r>
          </a:p>
          <a:p>
            <a:pPr marL="0" indent="0">
              <a:buNone/>
            </a:pPr>
            <a:r>
              <a:rPr lang="en-US" sz="8000" b="1" dirty="0">
                <a:solidFill>
                  <a:srgbClr val="00B0F0"/>
                </a:solidFill>
              </a:rPr>
              <a:t>j. Evaluation : </a:t>
            </a:r>
            <a:r>
              <a:rPr lang="en-US" sz="8000" dirty="0"/>
              <a:t>Audit Report, feasibility Report, Review</a:t>
            </a:r>
            <a:endParaRPr lang="en-US" sz="8000" b="1" dirty="0">
              <a:solidFill>
                <a:srgbClr val="00B0F0"/>
              </a:solidFill>
            </a:endParaRPr>
          </a:p>
          <a:p>
            <a:pPr marL="0" indent="0">
              <a:buNone/>
            </a:pPr>
            <a:r>
              <a:rPr lang="en-US" sz="8000" b="1" dirty="0">
                <a:solidFill>
                  <a:srgbClr val="00B0F0"/>
                </a:solidFill>
              </a:rPr>
              <a:t>k. Promotion/Outreach/ Information:</a:t>
            </a:r>
            <a:r>
              <a:rPr lang="en-US" sz="8000" dirty="0"/>
              <a:t> leaflet, pamphlet, banner, hoarding  board, poster, notice</a:t>
            </a:r>
          </a:p>
          <a:p>
            <a:pPr marL="0" indent="0">
              <a:buNone/>
            </a:pPr>
            <a:r>
              <a:rPr lang="en-US" sz="8000" b="1" dirty="0">
                <a:solidFill>
                  <a:srgbClr val="00B0F0"/>
                </a:solidFill>
              </a:rPr>
              <a:t>l. Design and Technology:</a:t>
            </a:r>
            <a:r>
              <a:rPr lang="en-US" sz="8000" dirty="0"/>
              <a:t> Email, CDs Websites, programming.  </a:t>
            </a:r>
          </a:p>
          <a:p>
            <a:endParaRPr lang="en-US" sz="8000" dirty="0"/>
          </a:p>
          <a:p>
            <a:endParaRPr lang="en-US" sz="8000" dirty="0"/>
          </a:p>
        </p:txBody>
      </p:sp>
      <p:sp>
        <p:nvSpPr>
          <p:cNvPr id="4" name="Footer Placeholder 3"/>
          <p:cNvSpPr>
            <a:spLocks noGrp="1"/>
          </p:cNvSpPr>
          <p:nvPr>
            <p:ph type="ftr" sz="quarter" idx="11"/>
          </p:nvPr>
        </p:nvSpPr>
        <p:spPr/>
        <p:txBody>
          <a:bodyPr/>
          <a:lstStyle/>
          <a:p>
            <a:r>
              <a:rPr lang="en-US" smtClean="0"/>
              <a:t>mnrmaniram12@gmail.com</a:t>
            </a:r>
            <a:endParaRPr lang="en-US"/>
          </a:p>
        </p:txBody>
      </p:sp>
      <p:sp>
        <p:nvSpPr>
          <p:cNvPr id="5" name="Slide Number Placeholder 4"/>
          <p:cNvSpPr>
            <a:spLocks noGrp="1"/>
          </p:cNvSpPr>
          <p:nvPr>
            <p:ph type="sldNum" sz="quarter" idx="12"/>
          </p:nvPr>
        </p:nvSpPr>
        <p:spPr/>
        <p:txBody>
          <a:bodyPr/>
          <a:lstStyle/>
          <a:p>
            <a:fld id="{A4FCB889-8A7B-4BBF-B652-6828A84DE4E9}" type="slidenum">
              <a:rPr lang="en-US" smtClean="0"/>
              <a:t>20</a:t>
            </a:fld>
            <a:endParaRPr lang="en-US"/>
          </a:p>
        </p:txBody>
      </p:sp>
    </p:spTree>
    <p:extLst>
      <p:ext uri="{BB962C8B-B14F-4D97-AF65-F5344CB8AC3E}">
        <p14:creationId xmlns:p14="http://schemas.microsoft.com/office/powerpoint/2010/main" val="18661599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2.2 Evolution of Technical Communication</a:t>
            </a:r>
            <a:br>
              <a:rPr lang="en-US" b="1" dirty="0">
                <a:solidFill>
                  <a:srgbClr val="FF0000"/>
                </a:solidFill>
              </a:rPr>
            </a:br>
            <a:endParaRPr lang="en-US" dirty="0">
              <a:solidFill>
                <a:srgbClr val="FF0000"/>
              </a:solidFill>
            </a:endParaRPr>
          </a:p>
        </p:txBody>
      </p:sp>
      <p:sp>
        <p:nvSpPr>
          <p:cNvPr id="3" name="Content Placeholder 2"/>
          <p:cNvSpPr>
            <a:spLocks noGrp="1"/>
          </p:cNvSpPr>
          <p:nvPr>
            <p:ph idx="1"/>
          </p:nvPr>
        </p:nvSpPr>
        <p:spPr>
          <a:xfrm>
            <a:off x="905435" y="1586754"/>
            <a:ext cx="11107271" cy="5105594"/>
          </a:xfrm>
        </p:spPr>
        <p:txBody>
          <a:bodyPr/>
          <a:lstStyle/>
          <a:p>
            <a:r>
              <a:rPr lang="en-US" dirty="0"/>
              <a:t>The </a:t>
            </a:r>
            <a:r>
              <a:rPr lang="en-US" b="1" dirty="0"/>
              <a:t>root</a:t>
            </a:r>
            <a:r>
              <a:rPr lang="en-US" dirty="0"/>
              <a:t> of technical communication goes back to </a:t>
            </a:r>
            <a:r>
              <a:rPr lang="en-US" b="1" dirty="0"/>
              <a:t>classical antiquity</a:t>
            </a:r>
            <a:r>
              <a:rPr lang="en-US" dirty="0"/>
              <a:t>.</a:t>
            </a:r>
          </a:p>
          <a:p>
            <a:r>
              <a:rPr lang="en-US" dirty="0"/>
              <a:t>It can be </a:t>
            </a:r>
            <a:r>
              <a:rPr lang="en-US" b="1" dirty="0"/>
              <a:t>traced</a:t>
            </a:r>
            <a:r>
              <a:rPr lang="en-US" dirty="0"/>
              <a:t> to ancient </a:t>
            </a:r>
            <a:r>
              <a:rPr lang="en-US" b="1" dirty="0"/>
              <a:t>Greece and Rome </a:t>
            </a:r>
            <a:r>
              <a:rPr lang="en-US" dirty="0"/>
              <a:t>as well as to </a:t>
            </a:r>
            <a:r>
              <a:rPr lang="en-US" b="1" dirty="0" err="1"/>
              <a:t>Sumeria</a:t>
            </a:r>
            <a:r>
              <a:rPr lang="en-US" b="1" dirty="0"/>
              <a:t>, and ancient Egypt</a:t>
            </a:r>
            <a:r>
              <a:rPr lang="en-US" dirty="0"/>
              <a:t>.</a:t>
            </a:r>
          </a:p>
          <a:p>
            <a:r>
              <a:rPr lang="en-US" b="1" dirty="0"/>
              <a:t>Handed down orally first</a:t>
            </a:r>
            <a:r>
              <a:rPr lang="en-US" dirty="0"/>
              <a:t>, such communication </a:t>
            </a:r>
            <a:r>
              <a:rPr lang="en-US" b="1" dirty="0"/>
              <a:t>contained descriptions of scientific and astronomical observations.</a:t>
            </a:r>
          </a:p>
          <a:p>
            <a:r>
              <a:rPr lang="en-US" dirty="0">
                <a:solidFill>
                  <a:srgbClr val="CC0066"/>
                </a:solidFill>
              </a:rPr>
              <a:t>The works of the writers like </a:t>
            </a:r>
            <a:r>
              <a:rPr lang="en-US" b="1" dirty="0">
                <a:solidFill>
                  <a:srgbClr val="CC0066"/>
                </a:solidFill>
              </a:rPr>
              <a:t>Aristotle</a:t>
            </a:r>
            <a:r>
              <a:rPr lang="en-US" dirty="0">
                <a:solidFill>
                  <a:srgbClr val="CC0066"/>
                </a:solidFill>
              </a:rPr>
              <a:t> can be taken as </a:t>
            </a:r>
            <a:r>
              <a:rPr lang="en-US" b="1" dirty="0">
                <a:solidFill>
                  <a:srgbClr val="CC0066"/>
                </a:solidFill>
              </a:rPr>
              <a:t>the earliest form of technical writing.</a:t>
            </a:r>
          </a:p>
          <a:p>
            <a:endParaRPr lang="en-US" dirty="0">
              <a:solidFill>
                <a:srgbClr val="CC0066"/>
              </a:solidFill>
            </a:endParaRPr>
          </a:p>
          <a:p>
            <a:pPr marL="0" indent="0">
              <a:buNone/>
            </a:pPr>
            <a:endParaRPr lang="en-US" dirty="0"/>
          </a:p>
        </p:txBody>
      </p:sp>
      <p:sp>
        <p:nvSpPr>
          <p:cNvPr id="5" name="Slide Number Placeholder 4"/>
          <p:cNvSpPr>
            <a:spLocks noGrp="1"/>
          </p:cNvSpPr>
          <p:nvPr>
            <p:ph type="sldNum" sz="quarter" idx="12"/>
          </p:nvPr>
        </p:nvSpPr>
        <p:spPr/>
        <p:txBody>
          <a:bodyPr/>
          <a:lstStyle/>
          <a:p>
            <a:fld id="{A4FCB889-8A7B-4BBF-B652-6828A84DE4E9}" type="slidenum">
              <a:rPr lang="en-US" smtClean="0"/>
              <a:t>21</a:t>
            </a:fld>
            <a:endParaRPr lang="en-US"/>
          </a:p>
        </p:txBody>
      </p:sp>
    </p:spTree>
    <p:extLst>
      <p:ext uri="{BB962C8B-B14F-4D97-AF65-F5344CB8AC3E}">
        <p14:creationId xmlns:p14="http://schemas.microsoft.com/office/powerpoint/2010/main" val="24703856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t>Cont</a:t>
            </a:r>
            <a:r>
              <a:rPr lang="en-US" b="1" dirty="0" smtClean="0"/>
              <a:t>…</a:t>
            </a:r>
            <a:endParaRPr lang="en-US" b="1" dirty="0"/>
          </a:p>
        </p:txBody>
      </p:sp>
      <p:sp>
        <p:nvSpPr>
          <p:cNvPr id="3" name="Content Placeholder 2"/>
          <p:cNvSpPr>
            <a:spLocks noGrp="1"/>
          </p:cNvSpPr>
          <p:nvPr>
            <p:ph idx="1"/>
          </p:nvPr>
        </p:nvSpPr>
        <p:spPr>
          <a:xfrm>
            <a:off x="838199" y="1825625"/>
            <a:ext cx="10986247" cy="4351338"/>
          </a:xfrm>
        </p:spPr>
        <p:txBody>
          <a:bodyPr>
            <a:normAutofit/>
          </a:bodyPr>
          <a:lstStyle/>
          <a:p>
            <a:r>
              <a:rPr lang="en-US" b="1" dirty="0"/>
              <a:t>During or around Renaissance period (1400-1600), </a:t>
            </a:r>
            <a:r>
              <a:rPr lang="en-US" dirty="0">
                <a:solidFill>
                  <a:srgbClr val="FF0000"/>
                </a:solidFill>
              </a:rPr>
              <a:t>Copernicus, Geoffrey Chaucer, Leonardo da Vinci and Newton wrote technical details and drawings on the use and operation of their various inventions.</a:t>
            </a:r>
          </a:p>
          <a:p>
            <a:r>
              <a:rPr lang="en-US" b="1" dirty="0"/>
              <a:t>The earliest document- Chaucer’s ‘Treatise Astrolabe</a:t>
            </a:r>
            <a:r>
              <a:rPr lang="en-US" dirty="0"/>
              <a:t>’ (medieval manual on astrolabe- </a:t>
            </a:r>
            <a:r>
              <a:rPr lang="en-US" i="1" dirty="0"/>
              <a:t>a scientific instrument used to measure the position of </a:t>
            </a:r>
            <a:r>
              <a:rPr lang="en-US" i="1" dirty="0" smtClean="0"/>
              <a:t>heavenly </a:t>
            </a:r>
            <a:r>
              <a:rPr lang="en-US" i="1" dirty="0"/>
              <a:t>body</a:t>
            </a:r>
            <a:r>
              <a:rPr lang="en-US" dirty="0"/>
              <a:t>)</a:t>
            </a:r>
          </a:p>
          <a:p>
            <a:r>
              <a:rPr lang="en-US" dirty="0">
                <a:solidFill>
                  <a:srgbClr val="FF0000"/>
                </a:solidFill>
              </a:rPr>
              <a:t>The field of technical communication grew during industrial period.</a:t>
            </a:r>
            <a:endParaRPr lang="en-US" dirty="0">
              <a:solidFill>
                <a:srgbClr val="00B0F0"/>
              </a:solidFill>
            </a:endParaRPr>
          </a:p>
          <a:p>
            <a:r>
              <a:rPr lang="en-US" b="1" dirty="0">
                <a:solidFill>
                  <a:srgbClr val="00B0F0"/>
                </a:solidFill>
              </a:rPr>
              <a:t>Samuel Chandler Earle</a:t>
            </a:r>
            <a:r>
              <a:rPr lang="en-US" dirty="0">
                <a:solidFill>
                  <a:srgbClr val="00B0F0"/>
                </a:solidFill>
              </a:rPr>
              <a:t>,</a:t>
            </a:r>
            <a:r>
              <a:rPr lang="en-US" dirty="0"/>
              <a:t> who wrote the book, </a:t>
            </a:r>
            <a:r>
              <a:rPr lang="en-US" b="1" dirty="0"/>
              <a:t>The Theory and Practice of Technical Writing </a:t>
            </a:r>
            <a:r>
              <a:rPr lang="en-US" dirty="0"/>
              <a:t>(1911), is generally considered to be </a:t>
            </a:r>
            <a:r>
              <a:rPr lang="en-US" b="1" dirty="0">
                <a:solidFill>
                  <a:srgbClr val="00B0F0"/>
                </a:solidFill>
              </a:rPr>
              <a:t>the father of technical writing</a:t>
            </a:r>
            <a:r>
              <a:rPr lang="en-US" dirty="0">
                <a:solidFill>
                  <a:srgbClr val="00B0F0"/>
                </a:solidFill>
              </a:rPr>
              <a:t>.</a:t>
            </a:r>
          </a:p>
          <a:p>
            <a:pPr marL="0" indent="0">
              <a:buNone/>
            </a:pPr>
            <a:endParaRPr lang="en-US" dirty="0"/>
          </a:p>
        </p:txBody>
      </p:sp>
      <p:sp>
        <p:nvSpPr>
          <p:cNvPr id="5" name="Slide Number Placeholder 4"/>
          <p:cNvSpPr>
            <a:spLocks noGrp="1"/>
          </p:cNvSpPr>
          <p:nvPr>
            <p:ph type="sldNum" sz="quarter" idx="12"/>
          </p:nvPr>
        </p:nvSpPr>
        <p:spPr/>
        <p:txBody>
          <a:bodyPr/>
          <a:lstStyle/>
          <a:p>
            <a:fld id="{A4FCB889-8A7B-4BBF-B652-6828A84DE4E9}" type="slidenum">
              <a:rPr lang="en-US" smtClean="0"/>
              <a:t>22</a:t>
            </a:fld>
            <a:endParaRPr lang="en-US"/>
          </a:p>
        </p:txBody>
      </p:sp>
    </p:spTree>
    <p:extLst>
      <p:ext uri="{BB962C8B-B14F-4D97-AF65-F5344CB8AC3E}">
        <p14:creationId xmlns:p14="http://schemas.microsoft.com/office/powerpoint/2010/main" val="11994878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t>Cont</a:t>
            </a:r>
            <a:r>
              <a:rPr lang="en-US" b="1" dirty="0" smtClean="0"/>
              <a:t>… </a:t>
            </a:r>
            <a:endParaRPr lang="en-US" b="1" dirty="0"/>
          </a:p>
        </p:txBody>
      </p:sp>
      <p:sp>
        <p:nvSpPr>
          <p:cNvPr id="3" name="Content Placeholder 2"/>
          <p:cNvSpPr>
            <a:spLocks noGrp="1"/>
          </p:cNvSpPr>
          <p:nvPr>
            <p:ph idx="1"/>
          </p:nvPr>
        </p:nvSpPr>
        <p:spPr/>
        <p:txBody>
          <a:bodyPr/>
          <a:lstStyle/>
          <a:p>
            <a:r>
              <a:rPr lang="en-US" dirty="0">
                <a:solidFill>
                  <a:srgbClr val="FF0000"/>
                </a:solidFill>
              </a:rPr>
              <a:t>During 20</a:t>
            </a:r>
            <a:r>
              <a:rPr lang="en-US" baseline="30000" dirty="0">
                <a:solidFill>
                  <a:srgbClr val="FF0000"/>
                </a:solidFill>
              </a:rPr>
              <a:t>th</a:t>
            </a:r>
            <a:r>
              <a:rPr lang="en-US" dirty="0">
                <a:solidFill>
                  <a:srgbClr val="FF0000"/>
                </a:solidFill>
              </a:rPr>
              <a:t> century, the need for technical writing skyrocketed</a:t>
            </a:r>
            <a:r>
              <a:rPr lang="en-US" dirty="0"/>
              <a:t>.</a:t>
            </a:r>
          </a:p>
          <a:p>
            <a:r>
              <a:rPr lang="en-US" b="1" dirty="0"/>
              <a:t>During the First World War</a:t>
            </a:r>
            <a:r>
              <a:rPr lang="en-US" dirty="0"/>
              <a:t>,, western governments spent large amount of money to write manuals and instructions on the </a:t>
            </a:r>
            <a:r>
              <a:rPr lang="en-US" dirty="0">
                <a:solidFill>
                  <a:srgbClr val="00B0F0"/>
                </a:solidFill>
              </a:rPr>
              <a:t>use of weapons and defense products.</a:t>
            </a:r>
          </a:p>
          <a:p>
            <a:r>
              <a:rPr lang="en-US" b="1" dirty="0"/>
              <a:t>Following the war, </a:t>
            </a:r>
            <a:r>
              <a:rPr lang="en-US" dirty="0">
                <a:solidFill>
                  <a:srgbClr val="00B0F0"/>
                </a:solidFill>
              </a:rPr>
              <a:t>large telecom and car manufacturers</a:t>
            </a:r>
            <a:r>
              <a:rPr lang="en-US" dirty="0"/>
              <a:t> and other companies created technical communication departments within their organizations.</a:t>
            </a:r>
          </a:p>
          <a:p>
            <a:endParaRPr lang="en-US" dirty="0"/>
          </a:p>
          <a:p>
            <a:pPr marL="0" indent="0">
              <a:buNone/>
            </a:pPr>
            <a:endParaRPr lang="en-US" dirty="0"/>
          </a:p>
        </p:txBody>
      </p:sp>
      <p:sp>
        <p:nvSpPr>
          <p:cNvPr id="5" name="Slide Number Placeholder 4"/>
          <p:cNvSpPr>
            <a:spLocks noGrp="1"/>
          </p:cNvSpPr>
          <p:nvPr>
            <p:ph type="sldNum" sz="quarter" idx="12"/>
          </p:nvPr>
        </p:nvSpPr>
        <p:spPr/>
        <p:txBody>
          <a:bodyPr/>
          <a:lstStyle/>
          <a:p>
            <a:fld id="{A4FCB889-8A7B-4BBF-B652-6828A84DE4E9}" type="slidenum">
              <a:rPr lang="en-US" smtClean="0"/>
              <a:t>23</a:t>
            </a:fld>
            <a:endParaRPr lang="en-US"/>
          </a:p>
        </p:txBody>
      </p:sp>
    </p:spTree>
    <p:extLst>
      <p:ext uri="{BB962C8B-B14F-4D97-AF65-F5344CB8AC3E}">
        <p14:creationId xmlns:p14="http://schemas.microsoft.com/office/powerpoint/2010/main" val="24524900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t>Cont</a:t>
            </a:r>
            <a:r>
              <a:rPr lang="en-US" b="1" dirty="0" smtClean="0"/>
              <a:t>…</a:t>
            </a:r>
            <a:endParaRPr lang="en-US" b="1" dirty="0"/>
          </a:p>
        </p:txBody>
      </p:sp>
      <p:sp>
        <p:nvSpPr>
          <p:cNvPr id="3" name="Content Placeholder 2"/>
          <p:cNvSpPr>
            <a:spLocks noGrp="1"/>
          </p:cNvSpPr>
          <p:nvPr>
            <p:ph idx="1"/>
          </p:nvPr>
        </p:nvSpPr>
        <p:spPr/>
        <p:txBody>
          <a:bodyPr/>
          <a:lstStyle/>
          <a:p>
            <a:r>
              <a:rPr lang="en-US" b="1" dirty="0">
                <a:solidFill>
                  <a:srgbClr val="00B0F0"/>
                </a:solidFill>
              </a:rPr>
              <a:t>In 1949, Joseph D. </a:t>
            </a:r>
            <a:r>
              <a:rPr lang="en-US" b="1" dirty="0" err="1">
                <a:solidFill>
                  <a:srgbClr val="00B0F0"/>
                </a:solidFill>
              </a:rPr>
              <a:t>Chapline</a:t>
            </a:r>
            <a:r>
              <a:rPr lang="en-US" b="1" dirty="0"/>
              <a:t> wrote the first computer related technical manual</a:t>
            </a:r>
            <a:r>
              <a:rPr lang="en-US" dirty="0"/>
              <a:t>. He also wrote a brief pamphlet, </a:t>
            </a:r>
            <a:r>
              <a:rPr lang="en-US" b="1" i="1" dirty="0">
                <a:solidFill>
                  <a:srgbClr val="00B0F0"/>
                </a:solidFill>
              </a:rPr>
              <a:t>Technical Writing</a:t>
            </a:r>
            <a:r>
              <a:rPr lang="en-US" dirty="0">
                <a:solidFill>
                  <a:srgbClr val="00B0F0"/>
                </a:solidFill>
              </a:rPr>
              <a:t>.</a:t>
            </a:r>
          </a:p>
          <a:p>
            <a:r>
              <a:rPr lang="en-US" b="1" dirty="0"/>
              <a:t>In 1953</a:t>
            </a:r>
            <a:r>
              <a:rPr lang="en-US" dirty="0"/>
              <a:t>, it came together to form professional associations in the USA.</a:t>
            </a:r>
          </a:p>
          <a:p>
            <a:r>
              <a:rPr lang="en-US" dirty="0">
                <a:solidFill>
                  <a:srgbClr val="FF0000"/>
                </a:solidFill>
              </a:rPr>
              <a:t>It gained further pace with the growth and expansion of technical industries, particularly electronics and computers, as various government legislations made it compulsory for organizations to produce certain technical documents as part of ensuring standards to meet public obligations ( </a:t>
            </a:r>
            <a:r>
              <a:rPr lang="en-US" dirty="0" err="1">
                <a:solidFill>
                  <a:srgbClr val="FF0000"/>
                </a:solidFill>
              </a:rPr>
              <a:t>E</a:t>
            </a:r>
            <a:r>
              <a:rPr lang="en-US" dirty="0" err="1" smtClean="0">
                <a:solidFill>
                  <a:srgbClr val="FF0000"/>
                </a:solidFill>
              </a:rPr>
              <a:t>g</a:t>
            </a:r>
            <a:r>
              <a:rPr lang="en-US" dirty="0">
                <a:solidFill>
                  <a:srgbClr val="FF0000"/>
                </a:solidFill>
              </a:rPr>
              <a:t>. ISO 9000 in the US).</a:t>
            </a:r>
          </a:p>
          <a:p>
            <a:pPr marL="0" indent="0">
              <a:buNone/>
            </a:pPr>
            <a:endParaRPr lang="en-US" dirty="0"/>
          </a:p>
        </p:txBody>
      </p:sp>
      <p:sp>
        <p:nvSpPr>
          <p:cNvPr id="5" name="Slide Number Placeholder 4"/>
          <p:cNvSpPr>
            <a:spLocks noGrp="1"/>
          </p:cNvSpPr>
          <p:nvPr>
            <p:ph type="sldNum" sz="quarter" idx="12"/>
          </p:nvPr>
        </p:nvSpPr>
        <p:spPr/>
        <p:txBody>
          <a:bodyPr/>
          <a:lstStyle/>
          <a:p>
            <a:fld id="{A4FCB889-8A7B-4BBF-B652-6828A84DE4E9}" type="slidenum">
              <a:rPr lang="en-US" smtClean="0"/>
              <a:t>24</a:t>
            </a:fld>
            <a:endParaRPr lang="en-US"/>
          </a:p>
        </p:txBody>
      </p:sp>
    </p:spTree>
    <p:extLst>
      <p:ext uri="{BB962C8B-B14F-4D97-AF65-F5344CB8AC3E}">
        <p14:creationId xmlns:p14="http://schemas.microsoft.com/office/powerpoint/2010/main" val="16171999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t>Cont</a:t>
            </a:r>
            <a:r>
              <a:rPr lang="en-US" b="1" dirty="0" smtClean="0"/>
              <a:t>…</a:t>
            </a:r>
            <a:endParaRPr lang="en-US" b="1" dirty="0"/>
          </a:p>
        </p:txBody>
      </p:sp>
      <p:sp>
        <p:nvSpPr>
          <p:cNvPr id="3" name="Content Placeholder 2"/>
          <p:cNvSpPr>
            <a:spLocks noGrp="1"/>
          </p:cNvSpPr>
          <p:nvPr>
            <p:ph idx="1"/>
          </p:nvPr>
        </p:nvSpPr>
        <p:spPr/>
        <p:txBody>
          <a:bodyPr/>
          <a:lstStyle/>
          <a:p>
            <a:r>
              <a:rPr lang="en-US" dirty="0">
                <a:solidFill>
                  <a:srgbClr val="FF0000"/>
                </a:solidFill>
              </a:rPr>
              <a:t>Today, the field has expanded around the world</a:t>
            </a:r>
            <a:r>
              <a:rPr lang="en-US" dirty="0"/>
              <a:t>, with most of the technical communication taking place in countries with an edge in </a:t>
            </a:r>
            <a:r>
              <a:rPr lang="en-US" dirty="0">
                <a:solidFill>
                  <a:srgbClr val="00B0F0"/>
                </a:solidFill>
              </a:rPr>
              <a:t>hardware, </a:t>
            </a:r>
            <a:r>
              <a:rPr lang="en-US" dirty="0" smtClean="0">
                <a:solidFill>
                  <a:srgbClr val="00B0F0"/>
                </a:solidFill>
              </a:rPr>
              <a:t>software, e-commerce etc.</a:t>
            </a:r>
            <a:endParaRPr lang="en-US" dirty="0">
              <a:solidFill>
                <a:srgbClr val="00B0F0"/>
              </a:solidFill>
            </a:endParaRPr>
          </a:p>
          <a:p>
            <a:r>
              <a:rPr lang="en-US" dirty="0"/>
              <a:t>Experts have estimated that </a:t>
            </a:r>
            <a:r>
              <a:rPr lang="en-US" dirty="0">
                <a:solidFill>
                  <a:srgbClr val="00B0F0"/>
                </a:solidFill>
              </a:rPr>
              <a:t>India has possibly the largest number of technical writers outside North America.</a:t>
            </a:r>
          </a:p>
          <a:p>
            <a:pPr marL="0" indent="0">
              <a:buNone/>
            </a:pPr>
            <a:endParaRPr lang="en-US" dirty="0"/>
          </a:p>
        </p:txBody>
      </p:sp>
      <p:sp>
        <p:nvSpPr>
          <p:cNvPr id="5" name="Slide Number Placeholder 4"/>
          <p:cNvSpPr>
            <a:spLocks noGrp="1"/>
          </p:cNvSpPr>
          <p:nvPr>
            <p:ph type="sldNum" sz="quarter" idx="12"/>
          </p:nvPr>
        </p:nvSpPr>
        <p:spPr/>
        <p:txBody>
          <a:bodyPr/>
          <a:lstStyle/>
          <a:p>
            <a:fld id="{A4FCB889-8A7B-4BBF-B652-6828A84DE4E9}" type="slidenum">
              <a:rPr lang="en-US" smtClean="0"/>
              <a:t>25</a:t>
            </a:fld>
            <a:endParaRPr lang="en-US"/>
          </a:p>
        </p:txBody>
      </p:sp>
    </p:spTree>
    <p:extLst>
      <p:ext uri="{BB962C8B-B14F-4D97-AF65-F5344CB8AC3E}">
        <p14:creationId xmlns:p14="http://schemas.microsoft.com/office/powerpoint/2010/main" val="18186827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In Nepal</a:t>
            </a:r>
          </a:p>
        </p:txBody>
      </p:sp>
      <p:sp>
        <p:nvSpPr>
          <p:cNvPr id="3" name="Content Placeholder 2"/>
          <p:cNvSpPr>
            <a:spLocks noGrp="1"/>
          </p:cNvSpPr>
          <p:nvPr>
            <p:ph idx="1"/>
          </p:nvPr>
        </p:nvSpPr>
        <p:spPr/>
        <p:txBody>
          <a:bodyPr/>
          <a:lstStyle/>
          <a:p>
            <a:r>
              <a:rPr lang="en-US" dirty="0">
                <a:solidFill>
                  <a:srgbClr val="FF0000"/>
                </a:solidFill>
              </a:rPr>
              <a:t>The scope of technical communication has been widened in Nepal due to steady growth of technology companies, </a:t>
            </a:r>
            <a:r>
              <a:rPr lang="en-US" dirty="0" smtClean="0">
                <a:solidFill>
                  <a:srgbClr val="FF0000"/>
                </a:solidFill>
              </a:rPr>
              <a:t>production </a:t>
            </a:r>
            <a:r>
              <a:rPr lang="en-US" dirty="0">
                <a:solidFill>
                  <a:srgbClr val="FF0000"/>
                </a:solidFill>
              </a:rPr>
              <a:t>of websites, the gradual </a:t>
            </a:r>
            <a:r>
              <a:rPr lang="en-US" dirty="0" smtClean="0">
                <a:solidFill>
                  <a:srgbClr val="FF0000"/>
                </a:solidFill>
              </a:rPr>
              <a:t>association </a:t>
            </a:r>
            <a:r>
              <a:rPr lang="en-US" dirty="0">
                <a:solidFill>
                  <a:srgbClr val="FF0000"/>
                </a:solidFill>
              </a:rPr>
              <a:t>of the private sector and NGOs and </a:t>
            </a:r>
            <a:r>
              <a:rPr lang="en-US" dirty="0" smtClean="0">
                <a:solidFill>
                  <a:srgbClr val="FF0000"/>
                </a:solidFill>
              </a:rPr>
              <a:t> </a:t>
            </a:r>
            <a:r>
              <a:rPr lang="en-US" dirty="0">
                <a:solidFill>
                  <a:srgbClr val="FF0000"/>
                </a:solidFill>
              </a:rPr>
              <a:t>modernization of various professions.</a:t>
            </a:r>
          </a:p>
          <a:p>
            <a:r>
              <a:rPr lang="en-US" dirty="0"/>
              <a:t>The traces of technical communication practices can be gathered from </a:t>
            </a:r>
            <a:r>
              <a:rPr lang="en-US" dirty="0">
                <a:solidFill>
                  <a:srgbClr val="00B0F0"/>
                </a:solidFill>
              </a:rPr>
              <a:t>scriptures, oral traditions and more recently from social histories</a:t>
            </a:r>
            <a:r>
              <a:rPr lang="en-US" dirty="0" smtClean="0">
                <a:solidFill>
                  <a:srgbClr val="00B0F0"/>
                </a:solidFill>
              </a:rPr>
              <a:t>.</a:t>
            </a:r>
            <a:endParaRPr lang="en-US" dirty="0"/>
          </a:p>
          <a:p>
            <a:pPr marL="0" indent="0">
              <a:buNone/>
            </a:pPr>
            <a:endParaRPr lang="en-US" dirty="0"/>
          </a:p>
        </p:txBody>
      </p:sp>
      <p:sp>
        <p:nvSpPr>
          <p:cNvPr id="5" name="Slide Number Placeholder 4"/>
          <p:cNvSpPr>
            <a:spLocks noGrp="1"/>
          </p:cNvSpPr>
          <p:nvPr>
            <p:ph type="sldNum" sz="quarter" idx="12"/>
          </p:nvPr>
        </p:nvSpPr>
        <p:spPr/>
        <p:txBody>
          <a:bodyPr/>
          <a:lstStyle/>
          <a:p>
            <a:fld id="{A4FCB889-8A7B-4BBF-B652-6828A84DE4E9}" type="slidenum">
              <a:rPr lang="en-US" smtClean="0"/>
              <a:t>26</a:t>
            </a:fld>
            <a:endParaRPr lang="en-US"/>
          </a:p>
        </p:txBody>
      </p:sp>
    </p:spTree>
    <p:extLst>
      <p:ext uri="{BB962C8B-B14F-4D97-AF65-F5344CB8AC3E}">
        <p14:creationId xmlns:p14="http://schemas.microsoft.com/office/powerpoint/2010/main" val="10923581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t>Cont</a:t>
            </a:r>
            <a:r>
              <a:rPr lang="en-US" b="1" dirty="0"/>
              <a:t>…</a:t>
            </a:r>
          </a:p>
        </p:txBody>
      </p:sp>
      <p:sp>
        <p:nvSpPr>
          <p:cNvPr id="3" name="Content Placeholder 2"/>
          <p:cNvSpPr>
            <a:spLocks noGrp="1"/>
          </p:cNvSpPr>
          <p:nvPr>
            <p:ph idx="1"/>
          </p:nvPr>
        </p:nvSpPr>
        <p:spPr>
          <a:xfrm>
            <a:off x="1353670" y="1825625"/>
            <a:ext cx="10000129" cy="4351338"/>
          </a:xfrm>
        </p:spPr>
        <p:txBody>
          <a:bodyPr/>
          <a:lstStyle/>
          <a:p>
            <a:r>
              <a:rPr lang="en-US" b="1" i="1" dirty="0" err="1">
                <a:solidFill>
                  <a:srgbClr val="00B0F0"/>
                </a:solidFill>
              </a:rPr>
              <a:t>Ayurved</a:t>
            </a:r>
            <a:r>
              <a:rPr lang="en-US" b="1" i="1" dirty="0">
                <a:solidFill>
                  <a:srgbClr val="00B0F0"/>
                </a:solidFill>
              </a:rPr>
              <a:t>,</a:t>
            </a:r>
            <a:r>
              <a:rPr lang="en-US" dirty="0">
                <a:solidFill>
                  <a:srgbClr val="00B0F0"/>
                </a:solidFill>
              </a:rPr>
              <a:t> </a:t>
            </a:r>
            <a:r>
              <a:rPr lang="en-US" dirty="0"/>
              <a:t>the medical treatise, from more than </a:t>
            </a:r>
            <a:r>
              <a:rPr lang="en-US" b="1" dirty="0">
                <a:solidFill>
                  <a:srgbClr val="FF0000"/>
                </a:solidFill>
              </a:rPr>
              <a:t>5000 years  ago</a:t>
            </a:r>
            <a:r>
              <a:rPr lang="en-US" dirty="0"/>
              <a:t>, is full of instructional technical information on healing practices.</a:t>
            </a:r>
          </a:p>
          <a:p>
            <a:r>
              <a:rPr lang="en-US" b="1" i="1" dirty="0" err="1">
                <a:solidFill>
                  <a:srgbClr val="00B0F0"/>
                </a:solidFill>
              </a:rPr>
              <a:t>Manusmriti</a:t>
            </a:r>
            <a:r>
              <a:rPr lang="en-US" dirty="0">
                <a:solidFill>
                  <a:srgbClr val="00B0F0"/>
                </a:solidFill>
              </a:rPr>
              <a:t>,</a:t>
            </a:r>
            <a:r>
              <a:rPr lang="en-US" dirty="0"/>
              <a:t> the law of Manu, looks equally technical.</a:t>
            </a:r>
          </a:p>
          <a:p>
            <a:r>
              <a:rPr lang="en-US" dirty="0"/>
              <a:t>During the Golden Age,</a:t>
            </a:r>
            <a:r>
              <a:rPr lang="en-US" dirty="0">
                <a:solidFill>
                  <a:srgbClr val="00B0F0"/>
                </a:solidFill>
              </a:rPr>
              <a:t> </a:t>
            </a:r>
            <a:r>
              <a:rPr lang="en-US" b="1" dirty="0" err="1">
                <a:solidFill>
                  <a:srgbClr val="00B0F0"/>
                </a:solidFill>
              </a:rPr>
              <a:t>Arniko</a:t>
            </a:r>
            <a:r>
              <a:rPr lang="en-US" b="1" dirty="0">
                <a:solidFill>
                  <a:srgbClr val="00B0F0"/>
                </a:solidFill>
              </a:rPr>
              <a:t>,</a:t>
            </a:r>
            <a:r>
              <a:rPr lang="en-US" dirty="0"/>
              <a:t> the master constructor, must have written or at least sketched out some technical </a:t>
            </a:r>
            <a:r>
              <a:rPr lang="en-US" dirty="0">
                <a:solidFill>
                  <a:srgbClr val="FF0000"/>
                </a:solidFill>
              </a:rPr>
              <a:t>documents on pagodas and chaityas</a:t>
            </a:r>
            <a:r>
              <a:rPr lang="en-US" dirty="0"/>
              <a:t>.</a:t>
            </a:r>
          </a:p>
          <a:p>
            <a:r>
              <a:rPr lang="en-US" dirty="0"/>
              <a:t>In villages, across the countries,</a:t>
            </a:r>
            <a:r>
              <a:rPr lang="en-US" dirty="0">
                <a:solidFill>
                  <a:srgbClr val="00B0F0"/>
                </a:solidFill>
              </a:rPr>
              <a:t> </a:t>
            </a:r>
            <a:r>
              <a:rPr lang="en-US" b="1" dirty="0" err="1">
                <a:solidFill>
                  <a:srgbClr val="00B0F0"/>
                </a:solidFill>
              </a:rPr>
              <a:t>lekhandas</a:t>
            </a:r>
            <a:r>
              <a:rPr lang="en-US" b="1" dirty="0">
                <a:solidFill>
                  <a:srgbClr val="00B0F0"/>
                </a:solidFill>
              </a:rPr>
              <a:t>,</a:t>
            </a:r>
            <a:r>
              <a:rPr lang="en-US" b="1" dirty="0"/>
              <a:t> </a:t>
            </a:r>
            <a:r>
              <a:rPr lang="en-US" dirty="0"/>
              <a:t>for many generations, helped crack the legalese for the masses. </a:t>
            </a:r>
            <a:endParaRPr lang="en-US" dirty="0" smtClean="0"/>
          </a:p>
          <a:p>
            <a:r>
              <a:rPr lang="en-US" b="1" dirty="0" err="1" smtClean="0">
                <a:solidFill>
                  <a:srgbClr val="00B0F0"/>
                </a:solidFill>
              </a:rPr>
              <a:t>Jyotishis</a:t>
            </a:r>
            <a:r>
              <a:rPr lang="en-US" b="1" dirty="0" smtClean="0">
                <a:solidFill>
                  <a:srgbClr val="00B0F0"/>
                </a:solidFill>
              </a:rPr>
              <a:t> </a:t>
            </a:r>
            <a:r>
              <a:rPr lang="en-US" b="1" dirty="0">
                <a:solidFill>
                  <a:srgbClr val="00B0F0"/>
                </a:solidFill>
              </a:rPr>
              <a:t>and </a:t>
            </a:r>
            <a:r>
              <a:rPr lang="en-US" b="1" dirty="0" err="1">
                <a:solidFill>
                  <a:srgbClr val="00B0F0"/>
                </a:solidFill>
              </a:rPr>
              <a:t>Vaidhyas</a:t>
            </a:r>
            <a:r>
              <a:rPr lang="en-US" b="1" dirty="0">
                <a:solidFill>
                  <a:srgbClr val="00B0F0"/>
                </a:solidFill>
              </a:rPr>
              <a:t> </a:t>
            </a:r>
            <a:r>
              <a:rPr lang="en-US" dirty="0"/>
              <a:t>are also the technical communicators.</a:t>
            </a:r>
          </a:p>
          <a:p>
            <a:endParaRPr lang="en-US" dirty="0"/>
          </a:p>
          <a:p>
            <a:pPr marL="0" indent="0">
              <a:buNone/>
            </a:pPr>
            <a:endParaRPr lang="en-US" dirty="0"/>
          </a:p>
        </p:txBody>
      </p:sp>
      <p:sp>
        <p:nvSpPr>
          <p:cNvPr id="5" name="Slide Number Placeholder 4"/>
          <p:cNvSpPr>
            <a:spLocks noGrp="1"/>
          </p:cNvSpPr>
          <p:nvPr>
            <p:ph type="sldNum" sz="quarter" idx="12"/>
          </p:nvPr>
        </p:nvSpPr>
        <p:spPr/>
        <p:txBody>
          <a:bodyPr/>
          <a:lstStyle/>
          <a:p>
            <a:fld id="{A4FCB889-8A7B-4BBF-B652-6828A84DE4E9}" type="slidenum">
              <a:rPr lang="en-US" smtClean="0"/>
              <a:t>27</a:t>
            </a:fld>
            <a:endParaRPr lang="en-US"/>
          </a:p>
        </p:txBody>
      </p:sp>
    </p:spTree>
    <p:extLst>
      <p:ext uri="{BB962C8B-B14F-4D97-AF65-F5344CB8AC3E}">
        <p14:creationId xmlns:p14="http://schemas.microsoft.com/office/powerpoint/2010/main" val="573464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t>Cont</a:t>
            </a:r>
            <a:r>
              <a:rPr lang="en-US" b="1" dirty="0"/>
              <a:t>…</a:t>
            </a:r>
          </a:p>
        </p:txBody>
      </p:sp>
      <p:sp>
        <p:nvSpPr>
          <p:cNvPr id="3" name="Content Placeholder 2"/>
          <p:cNvSpPr>
            <a:spLocks noGrp="1"/>
          </p:cNvSpPr>
          <p:nvPr>
            <p:ph idx="1"/>
          </p:nvPr>
        </p:nvSpPr>
        <p:spPr/>
        <p:txBody>
          <a:bodyPr/>
          <a:lstStyle/>
          <a:p>
            <a:r>
              <a:rPr lang="en-US" b="1" dirty="0"/>
              <a:t>Technical content exists in abundance today, but apparently, Nepal has </a:t>
            </a:r>
            <a:r>
              <a:rPr lang="en-US" b="1" dirty="0">
                <a:solidFill>
                  <a:srgbClr val="00B0F0"/>
                </a:solidFill>
              </a:rPr>
              <a:t>few effective technical communicators to translate them for non-specialists.</a:t>
            </a:r>
          </a:p>
          <a:p>
            <a:r>
              <a:rPr lang="en-US" b="1" dirty="0"/>
              <a:t>We need to prepare good number of technical communicators to facilitate the people about technical products and services</a:t>
            </a:r>
            <a:r>
              <a:rPr lang="en-US" b="1" dirty="0" smtClean="0"/>
              <a:t>.</a:t>
            </a:r>
            <a:endParaRPr lang="en-US" sz="4000" b="1" i="1" dirty="0">
              <a:solidFill>
                <a:srgbClr val="0070C0"/>
              </a:solidFill>
            </a:endParaRPr>
          </a:p>
          <a:p>
            <a:pPr marL="0" indent="0">
              <a:buNone/>
            </a:pPr>
            <a:endParaRPr lang="en-US" dirty="0"/>
          </a:p>
        </p:txBody>
      </p:sp>
      <p:sp>
        <p:nvSpPr>
          <p:cNvPr id="5" name="Slide Number Placeholder 4"/>
          <p:cNvSpPr>
            <a:spLocks noGrp="1"/>
          </p:cNvSpPr>
          <p:nvPr>
            <p:ph type="sldNum" sz="quarter" idx="12"/>
          </p:nvPr>
        </p:nvSpPr>
        <p:spPr/>
        <p:txBody>
          <a:bodyPr/>
          <a:lstStyle/>
          <a:p>
            <a:fld id="{A4FCB889-8A7B-4BBF-B652-6828A84DE4E9}" type="slidenum">
              <a:rPr lang="en-US" smtClean="0"/>
              <a:t>28</a:t>
            </a:fld>
            <a:endParaRPr lang="en-US"/>
          </a:p>
        </p:txBody>
      </p:sp>
    </p:spTree>
    <p:extLst>
      <p:ext uri="{BB962C8B-B14F-4D97-AF65-F5344CB8AC3E}">
        <p14:creationId xmlns:p14="http://schemas.microsoft.com/office/powerpoint/2010/main" val="5532435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536569"/>
            <a:ext cx="12192000" cy="4640394"/>
          </a:xfrm>
        </p:spPr>
        <p:txBody>
          <a:bodyPr>
            <a:normAutofit/>
          </a:bodyPr>
          <a:lstStyle/>
          <a:p>
            <a:pPr marL="0" indent="0">
              <a:buNone/>
            </a:pPr>
            <a:r>
              <a:rPr lang="en-US" sz="5400" b="1" dirty="0">
                <a:solidFill>
                  <a:srgbClr val="FF0000"/>
                </a:solidFill>
              </a:rPr>
              <a:t>Technical Communication Competencies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58358" y="2571749"/>
            <a:ext cx="6994689" cy="3921126"/>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6" name="Slide Number Placeholder 5"/>
          <p:cNvSpPr>
            <a:spLocks noGrp="1"/>
          </p:cNvSpPr>
          <p:nvPr>
            <p:ph type="sldNum" sz="quarter" idx="12"/>
          </p:nvPr>
        </p:nvSpPr>
        <p:spPr/>
        <p:txBody>
          <a:bodyPr/>
          <a:lstStyle/>
          <a:p>
            <a:fld id="{A4FCB889-8A7B-4BBF-B652-6828A84DE4E9}" type="slidenum">
              <a:rPr lang="en-US" smtClean="0"/>
              <a:t>29</a:t>
            </a:fld>
            <a:endParaRPr lang="en-US"/>
          </a:p>
        </p:txBody>
      </p:sp>
    </p:spTree>
    <p:extLst>
      <p:ext uri="{BB962C8B-B14F-4D97-AF65-F5344CB8AC3E}">
        <p14:creationId xmlns:p14="http://schemas.microsoft.com/office/powerpoint/2010/main" val="16396826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latin typeface="Times New Roman" panose="02020603050405020304" pitchFamily="18" charset="0"/>
                <a:cs typeface="Times New Roman" panose="02020603050405020304" pitchFamily="18" charset="0"/>
              </a:rPr>
              <a:t>Contents</a:t>
            </a:r>
          </a:p>
        </p:txBody>
      </p:sp>
      <p:sp>
        <p:nvSpPr>
          <p:cNvPr id="3" name="Content Placeholder 2"/>
          <p:cNvSpPr>
            <a:spLocks noGrp="1"/>
          </p:cNvSpPr>
          <p:nvPr>
            <p:ph idx="1"/>
          </p:nvPr>
        </p:nvSpPr>
        <p:spPr/>
        <p:txBody>
          <a:bodyPr/>
          <a:lstStyle/>
          <a:p>
            <a:pPr marL="0" indent="0">
              <a:buNone/>
            </a:pPr>
            <a:r>
              <a:rPr lang="en-US" b="1" dirty="0"/>
              <a:t>4.1 Defining Competency</a:t>
            </a:r>
          </a:p>
          <a:p>
            <a:pPr marL="0" indent="0">
              <a:buNone/>
            </a:pPr>
            <a:r>
              <a:rPr lang="en-US" b="1" dirty="0"/>
              <a:t>4.2 Attitude, Values and Personality</a:t>
            </a:r>
          </a:p>
          <a:p>
            <a:pPr marL="0" indent="0">
              <a:buNone/>
            </a:pPr>
            <a:r>
              <a:rPr lang="en-US" b="1" dirty="0"/>
              <a:t>4.3 Core Competencies in Technical Communication</a:t>
            </a:r>
          </a:p>
          <a:p>
            <a:pPr marL="0" indent="0">
              <a:buNone/>
            </a:pPr>
            <a:r>
              <a:rPr lang="en-US" b="1" dirty="0"/>
              <a:t>4.4 Skill Sets for Technical Writers</a:t>
            </a:r>
          </a:p>
          <a:p>
            <a:pPr marL="0" indent="0">
              <a:buNone/>
            </a:pPr>
            <a:r>
              <a:rPr lang="en-US" b="1" dirty="0"/>
              <a:t>4.5 </a:t>
            </a:r>
            <a:r>
              <a:rPr lang="en-US" b="1" dirty="0">
                <a:solidFill>
                  <a:srgbClr val="FF0000"/>
                </a:solidFill>
              </a:rPr>
              <a:t>Assessing Competencies</a:t>
            </a:r>
          </a:p>
          <a:p>
            <a:pPr marL="0" indent="0">
              <a:buNone/>
            </a:pPr>
            <a:r>
              <a:rPr lang="en-US" b="1" dirty="0">
                <a:solidFill>
                  <a:srgbClr val="FF0000"/>
                </a:solidFill>
              </a:rPr>
              <a:t>4.6 Occupational Outlook</a:t>
            </a:r>
          </a:p>
        </p:txBody>
      </p:sp>
      <p:sp>
        <p:nvSpPr>
          <p:cNvPr id="5" name="Slide Number Placeholder 4"/>
          <p:cNvSpPr>
            <a:spLocks noGrp="1"/>
          </p:cNvSpPr>
          <p:nvPr>
            <p:ph type="sldNum" sz="quarter" idx="12"/>
          </p:nvPr>
        </p:nvSpPr>
        <p:spPr/>
        <p:txBody>
          <a:bodyPr/>
          <a:lstStyle/>
          <a:p>
            <a:fld id="{A4FCB889-8A7B-4BBF-B652-6828A84DE4E9}" type="slidenum">
              <a:rPr lang="en-US" smtClean="0"/>
              <a:t>30</a:t>
            </a:fld>
            <a:endParaRPr lang="en-US"/>
          </a:p>
        </p:txBody>
      </p:sp>
    </p:spTree>
    <p:extLst>
      <p:ext uri="{BB962C8B-B14F-4D97-AF65-F5344CB8AC3E}">
        <p14:creationId xmlns:p14="http://schemas.microsoft.com/office/powerpoint/2010/main" val="16514085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b="1" dirty="0">
                <a:solidFill>
                  <a:srgbClr val="C00000"/>
                </a:solidFill>
                <a:latin typeface="Times New Roman" panose="02020603050405020304" pitchFamily="18" charset="0"/>
                <a:cs typeface="Times New Roman" panose="02020603050405020304" pitchFamily="18" charset="0"/>
              </a:rPr>
              <a:t>Meaning of competency</a:t>
            </a:r>
          </a:p>
        </p:txBody>
      </p:sp>
      <p:sp>
        <p:nvSpPr>
          <p:cNvPr id="3" name="Content Placeholder 2"/>
          <p:cNvSpPr>
            <a:spLocks noGrp="1"/>
          </p:cNvSpPr>
          <p:nvPr>
            <p:ph idx="1"/>
          </p:nvPr>
        </p:nvSpPr>
        <p:spPr>
          <a:xfrm>
            <a:off x="367645" y="2102177"/>
            <a:ext cx="11576116" cy="4506012"/>
          </a:xfrm>
        </p:spPr>
        <p:txBody>
          <a:bodyPr>
            <a:normAutofit/>
          </a:bodyPr>
          <a:lstStyle/>
          <a:p>
            <a:r>
              <a:rPr lang="en-US" b="1" dirty="0">
                <a:solidFill>
                  <a:srgbClr val="C00000"/>
                </a:solidFill>
              </a:rPr>
              <a:t>On the basic level</a:t>
            </a:r>
            <a:r>
              <a:rPr lang="en-US" b="1" dirty="0"/>
              <a:t>, competencies are </a:t>
            </a:r>
            <a:r>
              <a:rPr lang="en-US" b="1" dirty="0">
                <a:solidFill>
                  <a:srgbClr val="C00000"/>
                </a:solidFill>
              </a:rPr>
              <a:t>certain abilities coupled with knowledge and experience.</a:t>
            </a:r>
          </a:p>
          <a:p>
            <a:r>
              <a:rPr lang="en-US" b="1" dirty="0">
                <a:solidFill>
                  <a:srgbClr val="C00000"/>
                </a:solidFill>
                <a:latin typeface="Söhne"/>
              </a:rPr>
              <a:t>C</a:t>
            </a:r>
            <a:r>
              <a:rPr lang="en-US" b="1" i="0" dirty="0" smtClean="0">
                <a:solidFill>
                  <a:srgbClr val="C00000"/>
                </a:solidFill>
                <a:effectLst/>
                <a:latin typeface="Söhne"/>
              </a:rPr>
              <a:t>ombination </a:t>
            </a:r>
            <a:r>
              <a:rPr lang="en-US" b="1" i="0" dirty="0">
                <a:solidFill>
                  <a:srgbClr val="C00000"/>
                </a:solidFill>
                <a:effectLst/>
                <a:latin typeface="Söhne"/>
              </a:rPr>
              <a:t>of knowledge, skills, </a:t>
            </a:r>
            <a:r>
              <a:rPr lang="en-US" b="1" i="0" dirty="0" smtClean="0">
                <a:solidFill>
                  <a:srgbClr val="C00000"/>
                </a:solidFill>
                <a:effectLst/>
                <a:latin typeface="Söhne"/>
              </a:rPr>
              <a:t>abilities </a:t>
            </a:r>
            <a:r>
              <a:rPr lang="en-US" b="1" i="0" dirty="0">
                <a:solidFill>
                  <a:srgbClr val="C00000"/>
                </a:solidFill>
                <a:effectLst/>
                <a:latin typeface="Söhne"/>
              </a:rPr>
              <a:t>and behaviors that enable </a:t>
            </a:r>
            <a:r>
              <a:rPr lang="en-US" b="1" i="0" dirty="0" smtClean="0">
                <a:solidFill>
                  <a:srgbClr val="C00000"/>
                </a:solidFill>
                <a:effectLst/>
                <a:latin typeface="Söhne"/>
              </a:rPr>
              <a:t>individual to </a:t>
            </a:r>
            <a:r>
              <a:rPr lang="en-US" b="1" i="0" dirty="0">
                <a:solidFill>
                  <a:srgbClr val="C00000"/>
                </a:solidFill>
                <a:effectLst/>
                <a:latin typeface="Söhne"/>
              </a:rPr>
              <a:t>perform specific </a:t>
            </a:r>
            <a:r>
              <a:rPr lang="en-US" b="1" i="0" dirty="0" smtClean="0">
                <a:solidFill>
                  <a:srgbClr val="C00000"/>
                </a:solidFill>
                <a:effectLst/>
                <a:latin typeface="Söhne"/>
              </a:rPr>
              <a:t>tasks/ roles effectively</a:t>
            </a:r>
            <a:r>
              <a:rPr lang="en-US" b="1" i="0" dirty="0">
                <a:solidFill>
                  <a:srgbClr val="C00000"/>
                </a:solidFill>
                <a:effectLst/>
                <a:latin typeface="Söhne"/>
              </a:rPr>
              <a:t>.</a:t>
            </a:r>
            <a:endParaRPr lang="en-US" b="1" dirty="0">
              <a:solidFill>
                <a:srgbClr val="C00000"/>
              </a:solidFill>
            </a:endParaRPr>
          </a:p>
          <a:p>
            <a:r>
              <a:rPr lang="en-US" b="1" dirty="0"/>
              <a:t>Skills grow and develop with understanding</a:t>
            </a:r>
            <a:r>
              <a:rPr lang="en-US" b="1" dirty="0" smtClean="0"/>
              <a:t>, </a:t>
            </a:r>
            <a:r>
              <a:rPr lang="en-US" b="1" dirty="0"/>
              <a:t>opportunities to articulate and demonstrate the acquired knowledge and put it into practice.</a:t>
            </a:r>
          </a:p>
          <a:p>
            <a:r>
              <a:rPr lang="en-US" b="1" dirty="0">
                <a:solidFill>
                  <a:srgbClr val="C00000"/>
                </a:solidFill>
              </a:rPr>
              <a:t>Competency pyramid shows, competence is a specific knowledge transformed into action to address a specific problem.</a:t>
            </a:r>
          </a:p>
          <a:p>
            <a:endParaRPr lang="en-US" dirty="0"/>
          </a:p>
        </p:txBody>
      </p:sp>
      <p:sp>
        <p:nvSpPr>
          <p:cNvPr id="5" name="Slide Number Placeholder 4"/>
          <p:cNvSpPr>
            <a:spLocks noGrp="1"/>
          </p:cNvSpPr>
          <p:nvPr>
            <p:ph type="sldNum" sz="quarter" idx="12"/>
          </p:nvPr>
        </p:nvSpPr>
        <p:spPr/>
        <p:txBody>
          <a:bodyPr/>
          <a:lstStyle/>
          <a:p>
            <a:fld id="{A4FCB889-8A7B-4BBF-B652-6828A84DE4E9}" type="slidenum">
              <a:rPr lang="en-US" smtClean="0"/>
              <a:t>31</a:t>
            </a:fld>
            <a:endParaRPr lang="en-US"/>
          </a:p>
        </p:txBody>
      </p:sp>
    </p:spTree>
    <p:extLst>
      <p:ext uri="{BB962C8B-B14F-4D97-AF65-F5344CB8AC3E}">
        <p14:creationId xmlns:p14="http://schemas.microsoft.com/office/powerpoint/2010/main" val="2413518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6817"/>
            <a:ext cx="10515600" cy="970684"/>
          </a:xfrm>
        </p:spPr>
        <p:txBody>
          <a:bodyPr/>
          <a:lstStyle/>
          <a:p>
            <a:r>
              <a:rPr lang="en-US" b="1" dirty="0">
                <a:solidFill>
                  <a:srgbClr val="C00000"/>
                </a:solidFill>
              </a:rPr>
              <a:t>Competency Pyramid</a:t>
            </a:r>
          </a:p>
        </p:txBody>
      </p:sp>
      <p:sp>
        <p:nvSpPr>
          <p:cNvPr id="3" name="Content Placeholder 2"/>
          <p:cNvSpPr>
            <a:spLocks noGrp="1"/>
          </p:cNvSpPr>
          <p:nvPr>
            <p:ph idx="1"/>
          </p:nvPr>
        </p:nvSpPr>
        <p:spPr/>
        <p:txBody>
          <a:bodyPr/>
          <a:lstStyle/>
          <a:p>
            <a:pPr marL="0" indent="0">
              <a:buNone/>
            </a:pPr>
            <a:r>
              <a:rPr lang="en-US" dirty="0"/>
              <a:t>.</a:t>
            </a:r>
          </a:p>
        </p:txBody>
      </p:sp>
      <p:sp>
        <p:nvSpPr>
          <p:cNvPr id="4" name="Isosceles Triangle 3"/>
          <p:cNvSpPr/>
          <p:nvPr/>
        </p:nvSpPr>
        <p:spPr>
          <a:xfrm>
            <a:off x="3120272" y="1366887"/>
            <a:ext cx="7013542" cy="5354588"/>
          </a:xfrm>
          <a:prstGeom prst="triangle">
            <a:avLst>
              <a:gd name="adj" fmla="val 477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4419600" y="5410200"/>
            <a:ext cx="38100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KNOWLEDGE</a:t>
            </a:r>
          </a:p>
        </p:txBody>
      </p:sp>
      <p:sp>
        <p:nvSpPr>
          <p:cNvPr id="7" name="Rectangle 6"/>
          <p:cNvSpPr/>
          <p:nvPr/>
        </p:nvSpPr>
        <p:spPr>
          <a:xfrm>
            <a:off x="4724400" y="4572000"/>
            <a:ext cx="35052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UNDERSTANDING</a:t>
            </a:r>
          </a:p>
        </p:txBody>
      </p:sp>
      <p:sp>
        <p:nvSpPr>
          <p:cNvPr id="8" name="Rectangle 7"/>
          <p:cNvSpPr/>
          <p:nvPr/>
        </p:nvSpPr>
        <p:spPr>
          <a:xfrm>
            <a:off x="5105400" y="3962400"/>
            <a:ext cx="2819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DEMONSTRATION</a:t>
            </a:r>
          </a:p>
        </p:txBody>
      </p:sp>
      <p:sp>
        <p:nvSpPr>
          <p:cNvPr id="9" name="Rectangle 8"/>
          <p:cNvSpPr/>
          <p:nvPr/>
        </p:nvSpPr>
        <p:spPr>
          <a:xfrm>
            <a:off x="5715000" y="3048000"/>
            <a:ext cx="1524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ACTION</a:t>
            </a:r>
          </a:p>
        </p:txBody>
      </p:sp>
      <p:sp>
        <p:nvSpPr>
          <p:cNvPr id="10" name="Slide Number Placeholder 9"/>
          <p:cNvSpPr>
            <a:spLocks noGrp="1"/>
          </p:cNvSpPr>
          <p:nvPr>
            <p:ph type="sldNum" sz="quarter" idx="12"/>
          </p:nvPr>
        </p:nvSpPr>
        <p:spPr/>
        <p:txBody>
          <a:bodyPr/>
          <a:lstStyle/>
          <a:p>
            <a:fld id="{A4FCB889-8A7B-4BBF-B652-6828A84DE4E9}" type="slidenum">
              <a:rPr lang="en-US" smtClean="0"/>
              <a:t>32</a:t>
            </a:fld>
            <a:endParaRPr lang="en-US"/>
          </a:p>
        </p:txBody>
      </p:sp>
    </p:spTree>
    <p:extLst>
      <p:ext uri="{BB962C8B-B14F-4D97-AF65-F5344CB8AC3E}">
        <p14:creationId xmlns:p14="http://schemas.microsoft.com/office/powerpoint/2010/main" val="1989251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latin typeface="Times New Roman" panose="02020603050405020304" pitchFamily="18" charset="0"/>
                <a:cs typeface="Times New Roman" panose="02020603050405020304" pitchFamily="18" charset="0"/>
              </a:rPr>
              <a:t>4.1 Defining Competency</a:t>
            </a:r>
            <a:r>
              <a:rPr lang="en-US" b="1" dirty="0">
                <a:solidFill>
                  <a:srgbClr val="FF0000"/>
                </a:solidFill>
              </a:rPr>
              <a:t/>
            </a:r>
            <a:br>
              <a:rPr lang="en-US" b="1" dirty="0">
                <a:solidFill>
                  <a:srgbClr val="FF0000"/>
                </a:solidFill>
              </a:rPr>
            </a:br>
            <a:endParaRPr lang="en-US" dirty="0"/>
          </a:p>
        </p:txBody>
      </p:sp>
      <p:sp>
        <p:nvSpPr>
          <p:cNvPr id="3" name="Content Placeholder 2"/>
          <p:cNvSpPr>
            <a:spLocks noGrp="1"/>
          </p:cNvSpPr>
          <p:nvPr>
            <p:ph idx="1"/>
          </p:nvPr>
        </p:nvSpPr>
        <p:spPr>
          <a:xfrm>
            <a:off x="838199" y="1825625"/>
            <a:ext cx="10917025" cy="4351338"/>
          </a:xfrm>
        </p:spPr>
        <p:txBody>
          <a:bodyPr>
            <a:normAutofit lnSpcReduction="10000"/>
          </a:bodyPr>
          <a:lstStyle/>
          <a:p>
            <a:r>
              <a:rPr lang="en-US" b="1" dirty="0" smtClean="0">
                <a:solidFill>
                  <a:srgbClr val="FF0000"/>
                </a:solidFill>
              </a:rPr>
              <a:t>“Sufficiency </a:t>
            </a:r>
            <a:r>
              <a:rPr lang="en-US" b="1" dirty="0">
                <a:solidFill>
                  <a:srgbClr val="FF0000"/>
                </a:solidFill>
              </a:rPr>
              <a:t>of qualification; capacity to deal adequately with a subject.” </a:t>
            </a:r>
          </a:p>
          <a:p>
            <a:r>
              <a:rPr lang="en-US" b="1" dirty="0"/>
              <a:t>The root word here is ‘competence’ meaning </a:t>
            </a:r>
            <a:r>
              <a:rPr lang="en-US" b="1" dirty="0">
                <a:solidFill>
                  <a:srgbClr val="FF0000"/>
                </a:solidFill>
              </a:rPr>
              <a:t>‘ ability to do something successfully or efficiently.’</a:t>
            </a:r>
          </a:p>
          <a:p>
            <a:r>
              <a:rPr lang="en-US" b="1" dirty="0"/>
              <a:t>Michael </a:t>
            </a:r>
            <a:r>
              <a:rPr lang="en-US" b="1" dirty="0" err="1"/>
              <a:t>Eraut</a:t>
            </a:r>
            <a:r>
              <a:rPr lang="en-US" b="1" dirty="0"/>
              <a:t> (1994) explains that competence refers to </a:t>
            </a:r>
            <a:r>
              <a:rPr lang="en-US" b="1" dirty="0">
                <a:solidFill>
                  <a:srgbClr val="FF0000"/>
                </a:solidFill>
              </a:rPr>
              <a:t>specific capabilities, meeting people’s expectations.</a:t>
            </a:r>
          </a:p>
          <a:p>
            <a:r>
              <a:rPr lang="en-US" b="1" dirty="0"/>
              <a:t>Competency is either performance capability or a piece of useful knowledge or skill.</a:t>
            </a:r>
          </a:p>
          <a:p>
            <a:r>
              <a:rPr lang="en-US" b="1" dirty="0">
                <a:solidFill>
                  <a:srgbClr val="FF0000"/>
                </a:solidFill>
              </a:rPr>
              <a:t>Technical communication competency- the ability to communicate technical information competently.</a:t>
            </a:r>
          </a:p>
          <a:p>
            <a:pPr marL="0" indent="0">
              <a:buNone/>
            </a:pPr>
            <a:endParaRPr lang="en-US" dirty="0"/>
          </a:p>
        </p:txBody>
      </p:sp>
      <p:sp>
        <p:nvSpPr>
          <p:cNvPr id="5" name="Slide Number Placeholder 4"/>
          <p:cNvSpPr>
            <a:spLocks noGrp="1"/>
          </p:cNvSpPr>
          <p:nvPr>
            <p:ph type="sldNum" sz="quarter" idx="12"/>
          </p:nvPr>
        </p:nvSpPr>
        <p:spPr/>
        <p:txBody>
          <a:bodyPr/>
          <a:lstStyle/>
          <a:p>
            <a:fld id="{A4FCB889-8A7B-4BBF-B652-6828A84DE4E9}" type="slidenum">
              <a:rPr lang="en-US" smtClean="0"/>
              <a:t>33</a:t>
            </a:fld>
            <a:endParaRPr lang="en-US"/>
          </a:p>
        </p:txBody>
      </p:sp>
    </p:spTree>
    <p:extLst>
      <p:ext uri="{BB962C8B-B14F-4D97-AF65-F5344CB8AC3E}">
        <p14:creationId xmlns:p14="http://schemas.microsoft.com/office/powerpoint/2010/main" val="2745076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t>
            </a:r>
          </a:p>
        </p:txBody>
      </p:sp>
      <p:sp>
        <p:nvSpPr>
          <p:cNvPr id="3" name="Content Placeholder 2"/>
          <p:cNvSpPr>
            <a:spLocks noGrp="1"/>
          </p:cNvSpPr>
          <p:nvPr>
            <p:ph idx="1"/>
          </p:nvPr>
        </p:nvSpPr>
        <p:spPr>
          <a:xfrm>
            <a:off x="395927" y="1489435"/>
            <a:ext cx="11623248" cy="5232039"/>
          </a:xfrm>
        </p:spPr>
        <p:txBody>
          <a:bodyPr>
            <a:normAutofit/>
          </a:bodyPr>
          <a:lstStyle/>
          <a:p>
            <a:r>
              <a:rPr lang="en-US" b="1" dirty="0" err="1"/>
              <a:t>Prerez</a:t>
            </a:r>
            <a:r>
              <a:rPr lang="en-US" b="1" dirty="0"/>
              <a:t> and </a:t>
            </a:r>
            <a:r>
              <a:rPr lang="en-US" b="1" dirty="0" err="1"/>
              <a:t>Temporada</a:t>
            </a:r>
            <a:r>
              <a:rPr lang="en-US" b="1" dirty="0"/>
              <a:t> (2010) describe competencies as </a:t>
            </a:r>
            <a:r>
              <a:rPr lang="en-US" b="1" dirty="0">
                <a:solidFill>
                  <a:srgbClr val="FF0000"/>
                </a:solidFill>
              </a:rPr>
              <a:t>‘ the underlying and broad-based characteristics and grouping of knowledge, skills, behaviors, </a:t>
            </a:r>
            <a:r>
              <a:rPr lang="en-US" b="1" dirty="0" smtClean="0">
                <a:solidFill>
                  <a:srgbClr val="FF0000"/>
                </a:solidFill>
              </a:rPr>
              <a:t>attributes and </a:t>
            </a:r>
            <a:r>
              <a:rPr lang="en-US" b="1" dirty="0">
                <a:solidFill>
                  <a:srgbClr val="FF0000"/>
                </a:solidFill>
              </a:rPr>
              <a:t>values in an individual that cause or predict superior performance.’</a:t>
            </a:r>
          </a:p>
          <a:p>
            <a:r>
              <a:rPr lang="en-US" b="1" dirty="0">
                <a:solidFill>
                  <a:srgbClr val="C00000"/>
                </a:solidFill>
              </a:rPr>
              <a:t>Conclusion-</a:t>
            </a:r>
            <a:r>
              <a:rPr lang="en-US" b="1" dirty="0"/>
              <a:t> </a:t>
            </a:r>
            <a:r>
              <a:rPr lang="en-US" b="1" i="1" dirty="0">
                <a:solidFill>
                  <a:srgbClr val="002060"/>
                </a:solidFill>
              </a:rPr>
              <a:t>competencies are the abilities to perform specific real-world tasks. </a:t>
            </a:r>
            <a:endParaRPr lang="en-US" b="1" i="1" dirty="0" smtClean="0">
              <a:solidFill>
                <a:srgbClr val="002060"/>
              </a:solidFill>
            </a:endParaRPr>
          </a:p>
          <a:p>
            <a:r>
              <a:rPr lang="en-US" b="1" i="1" dirty="0" smtClean="0">
                <a:solidFill>
                  <a:srgbClr val="002060"/>
                </a:solidFill>
              </a:rPr>
              <a:t>They </a:t>
            </a:r>
            <a:r>
              <a:rPr lang="en-US" b="1" i="1" dirty="0">
                <a:solidFill>
                  <a:srgbClr val="002060"/>
                </a:solidFill>
              </a:rPr>
              <a:t>are primarily gained through doing, learning, training etc. </a:t>
            </a:r>
            <a:endParaRPr lang="en-US" b="1" i="1" dirty="0" smtClean="0">
              <a:solidFill>
                <a:srgbClr val="002060"/>
              </a:solidFill>
            </a:endParaRPr>
          </a:p>
          <a:p>
            <a:r>
              <a:rPr lang="en-US" b="1" i="1" dirty="0" smtClean="0">
                <a:solidFill>
                  <a:srgbClr val="002060"/>
                </a:solidFill>
              </a:rPr>
              <a:t>They </a:t>
            </a:r>
            <a:r>
              <a:rPr lang="en-US" b="1" i="1" dirty="0">
                <a:solidFill>
                  <a:srgbClr val="002060"/>
                </a:solidFill>
              </a:rPr>
              <a:t>are important in human resource management to assess the skills needed for specific jobs and their performance standards</a:t>
            </a:r>
            <a:r>
              <a:rPr lang="en-US" b="1" i="1" dirty="0" smtClean="0">
                <a:solidFill>
                  <a:srgbClr val="002060"/>
                </a:solidFill>
              </a:rPr>
              <a:t>.</a:t>
            </a:r>
          </a:p>
          <a:p>
            <a:r>
              <a:rPr lang="en-US" b="1" i="1" dirty="0" smtClean="0">
                <a:solidFill>
                  <a:srgbClr val="002060"/>
                </a:solidFill>
              </a:rPr>
              <a:t> </a:t>
            </a:r>
            <a:r>
              <a:rPr lang="en-US" b="1" i="1" dirty="0">
                <a:solidFill>
                  <a:srgbClr val="002060"/>
                </a:solidFill>
              </a:rPr>
              <a:t>The present need is competent technical communicators who can contribute to both internal and external operations of the business organizations.</a:t>
            </a:r>
          </a:p>
          <a:p>
            <a:endParaRPr lang="en-US" dirty="0"/>
          </a:p>
        </p:txBody>
      </p:sp>
      <p:sp>
        <p:nvSpPr>
          <p:cNvPr id="5" name="Slide Number Placeholder 4"/>
          <p:cNvSpPr>
            <a:spLocks noGrp="1"/>
          </p:cNvSpPr>
          <p:nvPr>
            <p:ph type="sldNum" sz="quarter" idx="12"/>
          </p:nvPr>
        </p:nvSpPr>
        <p:spPr/>
        <p:txBody>
          <a:bodyPr/>
          <a:lstStyle/>
          <a:p>
            <a:fld id="{A4FCB889-8A7B-4BBF-B652-6828A84DE4E9}" type="slidenum">
              <a:rPr lang="en-US" smtClean="0"/>
              <a:t>34</a:t>
            </a:fld>
            <a:endParaRPr lang="en-US"/>
          </a:p>
        </p:txBody>
      </p:sp>
    </p:spTree>
    <p:extLst>
      <p:ext uri="{BB962C8B-B14F-4D97-AF65-F5344CB8AC3E}">
        <p14:creationId xmlns:p14="http://schemas.microsoft.com/office/powerpoint/2010/main" val="4261592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8536" y="603315"/>
            <a:ext cx="11274458" cy="5938887"/>
          </a:xfrm>
        </p:spPr>
        <p:txBody>
          <a:bodyPr>
            <a:normAutofit/>
          </a:bodyPr>
          <a:lstStyle/>
          <a:p>
            <a:pPr>
              <a:buNone/>
            </a:pPr>
            <a:r>
              <a:rPr lang="en-US" sz="3100" b="1" i="1" dirty="0"/>
              <a:t> </a:t>
            </a:r>
            <a:r>
              <a:rPr lang="en-US" sz="3100" b="1" i="1" dirty="0">
                <a:solidFill>
                  <a:srgbClr val="C00000"/>
                </a:solidFill>
              </a:rPr>
              <a:t>Core Competencies in Technical Communication</a:t>
            </a:r>
          </a:p>
          <a:p>
            <a:pPr>
              <a:buFont typeface="Arial" pitchFamily="34" charset="0"/>
              <a:buChar char="•"/>
            </a:pPr>
            <a:r>
              <a:rPr lang="en-US" dirty="0"/>
              <a:t> Each task involves specific, targeted skills and knowledge.</a:t>
            </a:r>
          </a:p>
          <a:p>
            <a:pPr>
              <a:buFont typeface="Arial" pitchFamily="34" charset="0"/>
              <a:buChar char="•"/>
            </a:pPr>
            <a:r>
              <a:rPr lang="en-US" dirty="0"/>
              <a:t>In the business or organizational context, the required sets of skills and knowledge are often referred to as “core competencies</a:t>
            </a:r>
            <a:r>
              <a:rPr lang="en-US" dirty="0" smtClean="0"/>
              <a:t>.”</a:t>
            </a:r>
            <a:endParaRPr lang="en-US" dirty="0"/>
          </a:p>
          <a:p>
            <a:r>
              <a:rPr lang="en-US" dirty="0">
                <a:solidFill>
                  <a:srgbClr val="FF0000"/>
                </a:solidFill>
              </a:rPr>
              <a:t>Society for technical communication </a:t>
            </a:r>
            <a:r>
              <a:rPr lang="en-US" dirty="0"/>
              <a:t>identified the following competencies</a:t>
            </a:r>
            <a:endParaRPr lang="en-US" sz="3100" dirty="0"/>
          </a:p>
          <a:p>
            <a:r>
              <a:rPr lang="en-US" sz="3100" b="1" dirty="0"/>
              <a:t>Advocacy: </a:t>
            </a:r>
            <a:r>
              <a:rPr lang="en-US" dirty="0"/>
              <a:t>Ability and willingness to be an </a:t>
            </a:r>
            <a:r>
              <a:rPr lang="en-US" dirty="0" smtClean="0"/>
              <a:t>advocate/activist </a:t>
            </a:r>
            <a:r>
              <a:rPr lang="en-US" dirty="0"/>
              <a:t>for the user.</a:t>
            </a:r>
            <a:endParaRPr lang="en-US" sz="3100" b="1" dirty="0"/>
          </a:p>
          <a:p>
            <a:r>
              <a:rPr lang="en-US" sz="3100" b="1" dirty="0"/>
              <a:t>Design:</a:t>
            </a:r>
            <a:r>
              <a:rPr lang="en-US" dirty="0"/>
              <a:t> knowledge of information design, presentation of data, language conventions, communication principles and theory.</a:t>
            </a:r>
          </a:p>
          <a:p>
            <a:r>
              <a:rPr lang="en-US" sz="3100" b="1" dirty="0"/>
              <a:t>Execution: </a:t>
            </a:r>
            <a:r>
              <a:rPr lang="en-US" dirty="0"/>
              <a:t>Ability and willingness to apply information design, language, and communication models, theories, rules, and standards.</a:t>
            </a:r>
          </a:p>
          <a:p>
            <a:r>
              <a:rPr lang="en-US" sz="3100" b="1" dirty="0"/>
              <a:t>Innovation: </a:t>
            </a:r>
            <a:r>
              <a:rPr lang="en-US" dirty="0"/>
              <a:t>Ability and Willingness to be open to new ideas without sacrificing usability or accuracy.</a:t>
            </a:r>
          </a:p>
          <a:p>
            <a:pPr>
              <a:buNone/>
            </a:pPr>
            <a:endParaRPr lang="en-US" dirty="0"/>
          </a:p>
          <a:p>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0767" y="838199"/>
            <a:ext cx="10821971" cy="5506039"/>
          </a:xfrm>
        </p:spPr>
        <p:txBody>
          <a:bodyPr>
            <a:normAutofit/>
          </a:bodyPr>
          <a:lstStyle/>
          <a:p>
            <a:r>
              <a:rPr lang="en-US" b="1" dirty="0"/>
              <a:t>Use of media:</a:t>
            </a:r>
            <a:r>
              <a:rPr lang="en-US" dirty="0"/>
              <a:t> Ability and willingness to understand the requirements and uses of different media and to apply them appropriately</a:t>
            </a:r>
            <a:r>
              <a:rPr lang="en-US" b="1" dirty="0"/>
              <a:t>.</a:t>
            </a:r>
          </a:p>
          <a:p>
            <a:r>
              <a:rPr lang="en-US" b="1" dirty="0"/>
              <a:t>Research skills: </a:t>
            </a:r>
            <a:r>
              <a:rPr lang="en-US" dirty="0"/>
              <a:t>Ability and willingness to gather relevant and accurate information and analyze it for appropriateness.</a:t>
            </a:r>
          </a:p>
          <a:p>
            <a:r>
              <a:rPr lang="en-US" b="1" dirty="0"/>
              <a:t>Use of </a:t>
            </a:r>
            <a:r>
              <a:rPr lang="en-US" b="1" dirty="0" smtClean="0"/>
              <a:t>supporting </a:t>
            </a:r>
            <a:r>
              <a:rPr lang="en-US" b="1" dirty="0"/>
              <a:t>tools: </a:t>
            </a:r>
            <a:r>
              <a:rPr lang="en-US" dirty="0"/>
              <a:t>Ability and willingness to use appropriate </a:t>
            </a:r>
            <a:r>
              <a:rPr lang="en-US" dirty="0" smtClean="0"/>
              <a:t>supporting </a:t>
            </a:r>
            <a:r>
              <a:rPr lang="en-US" dirty="0"/>
              <a:t>tools, including computer application </a:t>
            </a:r>
            <a:r>
              <a:rPr lang="en-US" dirty="0" smtClean="0"/>
              <a:t>software etc.</a:t>
            </a:r>
            <a:endParaRPr lang="en-US" dirty="0"/>
          </a:p>
          <a:p>
            <a:r>
              <a:rPr lang="en-US" b="1" dirty="0"/>
              <a:t> Usability_ </a:t>
            </a:r>
            <a:r>
              <a:rPr lang="en-US" dirty="0"/>
              <a:t>Understanding of usability, skill in user and task analysis, and the ability and willingness to provide value to users of the information.</a:t>
            </a:r>
          </a:p>
          <a:p>
            <a:endParaRPr lang="en-US" dirty="0"/>
          </a:p>
          <a:p>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01278" y="335279"/>
            <a:ext cx="10784264" cy="6376605"/>
          </a:xfrm>
        </p:spPr>
        <p:txBody>
          <a:bodyPr>
            <a:noAutofit/>
          </a:bodyPr>
          <a:lstStyle/>
          <a:p>
            <a:pPr>
              <a:buNone/>
            </a:pPr>
            <a:endParaRPr lang="en-US" b="1" dirty="0"/>
          </a:p>
          <a:p>
            <a:pPr>
              <a:buNone/>
            </a:pPr>
            <a:r>
              <a:rPr lang="en-US" b="1" dirty="0"/>
              <a:t> </a:t>
            </a:r>
            <a:r>
              <a:rPr lang="en-US" b="1" dirty="0">
                <a:solidFill>
                  <a:srgbClr val="C00000"/>
                </a:solidFill>
              </a:rPr>
              <a:t>George </a:t>
            </a:r>
            <a:r>
              <a:rPr lang="en-US" b="1" dirty="0" err="1">
                <a:solidFill>
                  <a:srgbClr val="C00000"/>
                </a:solidFill>
              </a:rPr>
              <a:t>Hayhoe</a:t>
            </a:r>
            <a:r>
              <a:rPr lang="en-US" b="1" dirty="0">
                <a:solidFill>
                  <a:srgbClr val="C00000"/>
                </a:solidFill>
              </a:rPr>
              <a:t> identified four areas of core competencies.</a:t>
            </a:r>
            <a:endParaRPr lang="en-US" sz="2400" b="1" dirty="0">
              <a:solidFill>
                <a:srgbClr val="C00000"/>
              </a:solidFill>
            </a:endParaRPr>
          </a:p>
          <a:p>
            <a:r>
              <a:rPr lang="en-US" sz="2400" b="1" dirty="0"/>
              <a:t>Creating and managing knowledge: </a:t>
            </a:r>
            <a:r>
              <a:rPr lang="en-US" sz="2400" dirty="0"/>
              <a:t>Technical communicators must be more than “packagers of information for the technically </a:t>
            </a:r>
            <a:r>
              <a:rPr lang="en-US" sz="2400" dirty="0" smtClean="0"/>
              <a:t>unskilled.” </a:t>
            </a:r>
            <a:r>
              <a:rPr lang="en-US" sz="2400" dirty="0"/>
              <a:t>Instead, they must be </a:t>
            </a:r>
            <a:r>
              <a:rPr lang="en-US" sz="2400" dirty="0">
                <a:solidFill>
                  <a:srgbClr val="00B0F0"/>
                </a:solidFill>
              </a:rPr>
              <a:t>masters of the technical domains they write about</a:t>
            </a:r>
            <a:r>
              <a:rPr lang="en-US" sz="2400" b="1" dirty="0"/>
              <a:t>.</a:t>
            </a:r>
          </a:p>
          <a:p>
            <a:r>
              <a:rPr lang="en-US" sz="2400" b="1" dirty="0"/>
              <a:t>Designing information that readers need:</a:t>
            </a:r>
            <a:r>
              <a:rPr lang="en-US" sz="2400" dirty="0"/>
              <a:t> Technical communicators must “provide information that users need by carefully selecting the </a:t>
            </a:r>
            <a:r>
              <a:rPr lang="en-US" sz="2400" dirty="0">
                <a:solidFill>
                  <a:srgbClr val="00B0F0"/>
                </a:solidFill>
              </a:rPr>
              <a:t>right mix of content and then developing,  arranging and presenting it effectively for the audience.</a:t>
            </a:r>
          </a:p>
          <a:p>
            <a:r>
              <a:rPr lang="en-US" sz="2400" b="1" dirty="0"/>
              <a:t>Communicating fluently in various media: </a:t>
            </a:r>
            <a:r>
              <a:rPr lang="en-US" sz="2400" dirty="0"/>
              <a:t> Technical communicators must be </a:t>
            </a:r>
            <a:r>
              <a:rPr lang="en-US" sz="2400" dirty="0">
                <a:solidFill>
                  <a:srgbClr val="00B0F0"/>
                </a:solidFill>
              </a:rPr>
              <a:t>fluent not only in writing but in Video, animation, photography, or illustration.</a:t>
            </a:r>
          </a:p>
          <a:p>
            <a:r>
              <a:rPr lang="en-US" sz="2400" b="1" dirty="0"/>
              <a:t>Being part of a learning community:</a:t>
            </a:r>
            <a:r>
              <a:rPr lang="en-US" sz="2400" dirty="0"/>
              <a:t> Technical Communicators </a:t>
            </a:r>
            <a:r>
              <a:rPr lang="en-US" sz="2400" dirty="0">
                <a:solidFill>
                  <a:srgbClr val="00B0F0"/>
                </a:solidFill>
              </a:rPr>
              <a:t>associate with like-minded academic or professional groups. </a:t>
            </a:r>
            <a:endParaRPr lang="en-US" sz="2400" dirty="0" smtClean="0">
              <a:solidFill>
                <a:srgbClr val="00B0F0"/>
              </a:solidFill>
            </a:endParaRPr>
          </a:p>
          <a:p>
            <a:r>
              <a:rPr lang="en-US" sz="2400" dirty="0" err="1" smtClean="0"/>
              <a:t>STC</a:t>
            </a:r>
            <a:r>
              <a:rPr lang="en-US" sz="2400" dirty="0" smtClean="0"/>
              <a:t> enables </a:t>
            </a:r>
            <a:r>
              <a:rPr lang="en-US" sz="2400" dirty="0"/>
              <a:t>technical communicators to acquire and maintain essential skills and knowledge in the profession.</a:t>
            </a:r>
          </a:p>
          <a:p>
            <a:endParaRPr lang="en-US" sz="2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0767" y="838199"/>
            <a:ext cx="11076495" cy="5647441"/>
          </a:xfrm>
        </p:spPr>
        <p:txBody>
          <a:bodyPr>
            <a:normAutofit/>
          </a:bodyPr>
          <a:lstStyle/>
          <a:p>
            <a:r>
              <a:rPr lang="en-US" dirty="0"/>
              <a:t>David Dayton, Kenneth T. Rainey and Roy K Turner identified core competencies for technical communicators are:</a:t>
            </a:r>
          </a:p>
          <a:p>
            <a:r>
              <a:rPr lang="en-US" b="1" dirty="0"/>
              <a:t>Collaborative skills:</a:t>
            </a:r>
            <a:r>
              <a:rPr lang="en-US" dirty="0"/>
              <a:t> Skill in collaborating with both subject-matter experts and coworkers.</a:t>
            </a:r>
          </a:p>
          <a:p>
            <a:r>
              <a:rPr lang="en-US" b="1" dirty="0"/>
              <a:t>Writing skills:</a:t>
            </a:r>
            <a:r>
              <a:rPr lang="en-US" dirty="0"/>
              <a:t> Ability to write clearly for specific audiences directed by clearly defined purposes</a:t>
            </a:r>
            <a:r>
              <a:rPr lang="en-US" b="1" dirty="0"/>
              <a:t>.</a:t>
            </a:r>
          </a:p>
          <a:p>
            <a:r>
              <a:rPr lang="en-US" b="1" dirty="0"/>
              <a:t>Technical skills: </a:t>
            </a:r>
            <a:r>
              <a:rPr lang="en-US" dirty="0"/>
              <a:t>Ability to assess and learn to use technologies.</a:t>
            </a:r>
          </a:p>
          <a:p>
            <a:r>
              <a:rPr lang="en-US" dirty="0"/>
              <a:t> </a:t>
            </a:r>
            <a:r>
              <a:rPr lang="en-US" b="1" dirty="0"/>
              <a:t>Self–activation/evaluation skills: </a:t>
            </a:r>
            <a:r>
              <a:rPr lang="en-US" dirty="0"/>
              <a:t>to evaluate one’s own work and the work of others.</a:t>
            </a:r>
          </a:p>
          <a:p>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0511" y="596317"/>
            <a:ext cx="11359299" cy="6193410"/>
          </a:xfrm>
        </p:spPr>
        <p:txBody>
          <a:bodyPr>
            <a:normAutofit fontScale="25000" lnSpcReduction="20000"/>
          </a:bodyPr>
          <a:lstStyle/>
          <a:p>
            <a:pPr>
              <a:buNone/>
            </a:pPr>
            <a:r>
              <a:rPr lang="en-US" sz="9600" b="1" dirty="0"/>
              <a:t>      </a:t>
            </a:r>
            <a:r>
              <a:rPr lang="en-US" sz="14400" b="1" dirty="0">
                <a:solidFill>
                  <a:srgbClr val="C00000"/>
                </a:solidFill>
              </a:rPr>
              <a:t>Technical Writer: Which Skills Are Important?</a:t>
            </a:r>
            <a:endParaRPr lang="en-US" sz="14400" dirty="0">
              <a:solidFill>
                <a:srgbClr val="C00000"/>
              </a:solidFill>
            </a:endParaRPr>
          </a:p>
          <a:p>
            <a:r>
              <a:rPr lang="en-US" sz="9600" dirty="0"/>
              <a:t>Technical writer requires a </a:t>
            </a:r>
            <a:r>
              <a:rPr lang="en-US" sz="9600" dirty="0">
                <a:solidFill>
                  <a:srgbClr val="00B0F0"/>
                </a:solidFill>
              </a:rPr>
              <a:t>mastery of a certain set of skills</a:t>
            </a:r>
            <a:r>
              <a:rPr lang="en-US" sz="9600" dirty="0"/>
              <a:t>. </a:t>
            </a:r>
          </a:p>
          <a:p>
            <a:r>
              <a:rPr lang="en-US" sz="9600" dirty="0"/>
              <a:t>These skills involve primarily </a:t>
            </a:r>
            <a:r>
              <a:rPr lang="en-US" sz="9600" dirty="0">
                <a:solidFill>
                  <a:srgbClr val="00B0F0"/>
                </a:solidFill>
              </a:rPr>
              <a:t>writing and illustration skills</a:t>
            </a:r>
            <a:r>
              <a:rPr lang="en-US" sz="9600" dirty="0"/>
              <a:t>, as large manuals for print publication, standard in the profession</a:t>
            </a:r>
            <a:r>
              <a:rPr lang="en-US" sz="9600" b="1" dirty="0"/>
              <a:t>.</a:t>
            </a:r>
            <a:endParaRPr lang="en-US" sz="9600" dirty="0"/>
          </a:p>
          <a:p>
            <a:r>
              <a:rPr lang="en-US" sz="9600" b="1" dirty="0"/>
              <a:t>Writing Skills: </a:t>
            </a:r>
            <a:r>
              <a:rPr lang="en-US" sz="9600" dirty="0"/>
              <a:t>Needs to write in a </a:t>
            </a:r>
            <a:r>
              <a:rPr lang="en-US" sz="9600" dirty="0">
                <a:solidFill>
                  <a:srgbClr val="00B0F0"/>
                </a:solidFill>
              </a:rPr>
              <a:t>clear and concise manner </a:t>
            </a:r>
            <a:r>
              <a:rPr lang="en-US" sz="9600" dirty="0"/>
              <a:t>and to be able to</a:t>
            </a:r>
            <a:r>
              <a:rPr lang="en-US" sz="9600" dirty="0">
                <a:solidFill>
                  <a:srgbClr val="00B0F0"/>
                </a:solidFill>
              </a:rPr>
              <a:t> convey </a:t>
            </a:r>
            <a:r>
              <a:rPr lang="en-US" sz="9600" dirty="0"/>
              <a:t>information appropriately for a variety of audiences.</a:t>
            </a:r>
          </a:p>
          <a:p>
            <a:r>
              <a:rPr lang="en-US" sz="9600" b="1" dirty="0"/>
              <a:t>Technical skills: </a:t>
            </a:r>
            <a:r>
              <a:rPr lang="en-US" sz="9600" dirty="0"/>
              <a:t>The technical skill depends greatly on the subject matter, product or service that requires </a:t>
            </a:r>
            <a:r>
              <a:rPr lang="en-US" sz="9600" dirty="0">
                <a:solidFill>
                  <a:srgbClr val="00B0F0"/>
                </a:solidFill>
              </a:rPr>
              <a:t>documentation. </a:t>
            </a:r>
          </a:p>
          <a:p>
            <a:r>
              <a:rPr lang="en-US" sz="9600" dirty="0"/>
              <a:t>Pharmaceuticals and other manufacturing industries have specific requirements </a:t>
            </a:r>
            <a:r>
              <a:rPr lang="en-US" sz="9600" dirty="0" smtClean="0"/>
              <a:t>of transmitting technical </a:t>
            </a:r>
            <a:r>
              <a:rPr lang="en-US" sz="9600" dirty="0"/>
              <a:t>knowledge </a:t>
            </a:r>
          </a:p>
          <a:p>
            <a:r>
              <a:rPr lang="en-US" sz="9600" b="1" dirty="0"/>
              <a:t>Tools skills: </a:t>
            </a:r>
            <a:r>
              <a:rPr lang="en-US" sz="9600" dirty="0"/>
              <a:t>a technical writer needs to know about </a:t>
            </a:r>
            <a:r>
              <a:rPr lang="en-US" sz="9600" dirty="0">
                <a:solidFill>
                  <a:srgbClr val="00B0F0"/>
                </a:solidFill>
              </a:rPr>
              <a:t>computer systems</a:t>
            </a:r>
            <a:r>
              <a:rPr lang="en-US" sz="9600" dirty="0"/>
              <a:t> since they are used to produce documentation in a variety of formats. </a:t>
            </a:r>
          </a:p>
          <a:p>
            <a:r>
              <a:rPr lang="en-US" sz="9600" b="1" dirty="0"/>
              <a:t>Specific tool knowledge</a:t>
            </a:r>
            <a:r>
              <a:rPr lang="en-US" sz="9600" dirty="0"/>
              <a:t>, such as Adobe </a:t>
            </a:r>
            <a:r>
              <a:rPr lang="en-US" sz="9600" dirty="0" err="1"/>
              <a:t>FrameMaker</a:t>
            </a:r>
            <a:r>
              <a:rPr lang="en-US" sz="9600" dirty="0"/>
              <a:t>, MS Word, </a:t>
            </a:r>
            <a:r>
              <a:rPr lang="en-US" sz="9600" dirty="0" err="1"/>
              <a:t>MadCap</a:t>
            </a:r>
            <a:r>
              <a:rPr lang="en-US" sz="9600" dirty="0"/>
              <a:t> Flare, </a:t>
            </a:r>
            <a:r>
              <a:rPr lang="en-US" sz="9600" dirty="0" err="1"/>
              <a:t>RoboHelp</a:t>
            </a:r>
            <a:r>
              <a:rPr lang="en-US" sz="9600" dirty="0"/>
              <a:t>, and even PageMaker and Quark really depends on the tools the organization has come to rely on in order to produce its technical documentation</a:t>
            </a:r>
            <a:r>
              <a:rPr lang="en-US" sz="9600" b="1" dirty="0"/>
              <a:t>.</a:t>
            </a:r>
            <a:endParaRPr lang="en-US" sz="9600" dirty="0"/>
          </a:p>
          <a:p>
            <a:pPr>
              <a:buNone/>
            </a:pPr>
            <a:endParaRPr lang="en-US" sz="8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10705" y="838199"/>
            <a:ext cx="11161336" cy="5553173"/>
          </a:xfrm>
        </p:spPr>
        <p:txBody>
          <a:bodyPr>
            <a:noAutofit/>
          </a:bodyPr>
          <a:lstStyle/>
          <a:p>
            <a:r>
              <a:rPr lang="en-US" b="1" dirty="0"/>
              <a:t>Interviewing and listening skills: </a:t>
            </a:r>
            <a:r>
              <a:rPr lang="en-US" dirty="0"/>
              <a:t>Technical writers need to know </a:t>
            </a:r>
            <a:r>
              <a:rPr lang="en-US" dirty="0">
                <a:solidFill>
                  <a:srgbClr val="00B0F0"/>
                </a:solidFill>
              </a:rPr>
              <a:t>how to ask questions. </a:t>
            </a:r>
          </a:p>
          <a:p>
            <a:r>
              <a:rPr lang="en-US" dirty="0"/>
              <a:t>Strong </a:t>
            </a:r>
            <a:r>
              <a:rPr lang="en-US" dirty="0">
                <a:solidFill>
                  <a:srgbClr val="00B0F0"/>
                </a:solidFill>
              </a:rPr>
              <a:t>listening skills</a:t>
            </a:r>
            <a:r>
              <a:rPr lang="en-US" dirty="0"/>
              <a:t> will be required to capture the necessary information, and need to consider the varying personalities and preferences of the people to know how best to approach them as well as which follow-up questions need to be answered.</a:t>
            </a:r>
          </a:p>
          <a:p>
            <a:r>
              <a:rPr lang="en-US" b="1" dirty="0"/>
              <a:t>Design skills: </a:t>
            </a:r>
            <a:r>
              <a:rPr lang="en-US" dirty="0"/>
              <a:t>An appreciation for the </a:t>
            </a:r>
            <a:r>
              <a:rPr lang="en-US" dirty="0">
                <a:solidFill>
                  <a:srgbClr val="00B0F0"/>
                </a:solidFill>
              </a:rPr>
              <a:t>visual </a:t>
            </a:r>
            <a:r>
              <a:rPr lang="en-US" dirty="0"/>
              <a:t>can be an important part of the skill set of a technical writer.</a:t>
            </a:r>
          </a:p>
          <a:p>
            <a:r>
              <a:rPr lang="en-US" dirty="0"/>
              <a:t>To a growing extent the technical writer needs an appreciation for </a:t>
            </a:r>
            <a:r>
              <a:rPr lang="en-US" dirty="0">
                <a:solidFill>
                  <a:srgbClr val="00B0F0"/>
                </a:solidFill>
              </a:rPr>
              <a:t>graphics and formatting as well as illustration skills</a:t>
            </a:r>
            <a:r>
              <a:rPr lang="en-US" b="1" dirty="0">
                <a:solidFill>
                  <a:srgbClr val="00B0F0"/>
                </a:solidFill>
              </a:rPr>
              <a:t>.</a:t>
            </a:r>
            <a:endParaRPr lang="en-US" dirty="0">
              <a:solidFill>
                <a:srgbClr val="00B0F0"/>
              </a:solidFill>
            </a:endParaRPr>
          </a:p>
          <a:p>
            <a:r>
              <a:rPr lang="en-US" b="1" dirty="0"/>
              <a:t>Usability and testing skills: </a:t>
            </a:r>
            <a:r>
              <a:rPr lang="en-US" dirty="0"/>
              <a:t>The technical writer knows that validation of the documentation is important-</a:t>
            </a:r>
            <a:r>
              <a:rPr lang="en-US" dirty="0">
                <a:solidFill>
                  <a:srgbClr val="00B0F0"/>
                </a:solidFill>
              </a:rPr>
              <a:t>the confirmation that the product works the way it is documented to work</a:t>
            </a:r>
            <a:r>
              <a:rPr lang="en-US" dirty="0"/>
              <a:t>.</a:t>
            </a:r>
          </a:p>
          <a:p>
            <a:endParaRPr lang="en-US" sz="2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4.2 Attitude, Values and Personality</a:t>
            </a:r>
            <a:br>
              <a:rPr lang="en-US" b="1" dirty="0">
                <a:solidFill>
                  <a:srgbClr val="FF0000"/>
                </a:solidFill>
              </a:rPr>
            </a:br>
            <a:endParaRPr lang="en-US" b="1" dirty="0">
              <a:solidFill>
                <a:srgbClr val="FF0000"/>
              </a:solidFill>
            </a:endParaRPr>
          </a:p>
        </p:txBody>
      </p:sp>
      <p:sp>
        <p:nvSpPr>
          <p:cNvPr id="3" name="Content Placeholder 2"/>
          <p:cNvSpPr>
            <a:spLocks noGrp="1"/>
          </p:cNvSpPr>
          <p:nvPr>
            <p:ph idx="1"/>
          </p:nvPr>
        </p:nvSpPr>
        <p:spPr>
          <a:xfrm>
            <a:off x="509047" y="1366888"/>
            <a:ext cx="11151909" cy="5491112"/>
          </a:xfrm>
        </p:spPr>
        <p:txBody>
          <a:bodyPr>
            <a:normAutofit/>
          </a:bodyPr>
          <a:lstStyle/>
          <a:p>
            <a:pPr marL="0" indent="0">
              <a:buNone/>
            </a:pPr>
            <a:r>
              <a:rPr lang="en-US" sz="3600" b="1" dirty="0">
                <a:solidFill>
                  <a:srgbClr val="C00000"/>
                </a:solidFill>
              </a:rPr>
              <a:t>Attitude</a:t>
            </a:r>
          </a:p>
          <a:p>
            <a:r>
              <a:rPr lang="en-US" b="1" dirty="0"/>
              <a:t>Attitude is a </a:t>
            </a:r>
            <a:r>
              <a:rPr lang="en-US" b="1" dirty="0">
                <a:solidFill>
                  <a:srgbClr val="00B0F0"/>
                </a:solidFill>
              </a:rPr>
              <a:t>state of mind, </a:t>
            </a:r>
            <a:r>
              <a:rPr lang="en-US" b="1" dirty="0" smtClean="0">
                <a:solidFill>
                  <a:srgbClr val="00B0F0"/>
                </a:solidFill>
              </a:rPr>
              <a:t>feelings or </a:t>
            </a:r>
            <a:r>
              <a:rPr lang="en-US" b="1" dirty="0">
                <a:solidFill>
                  <a:srgbClr val="00B0F0"/>
                </a:solidFill>
              </a:rPr>
              <a:t>beliefs </a:t>
            </a:r>
            <a:r>
              <a:rPr lang="en-US" b="1" dirty="0"/>
              <a:t>directed at a specific person, institution, </a:t>
            </a:r>
            <a:r>
              <a:rPr lang="en-US" b="1" dirty="0" smtClean="0"/>
              <a:t>object or </a:t>
            </a:r>
            <a:r>
              <a:rPr lang="en-US" b="1" dirty="0"/>
              <a:t>policy.</a:t>
            </a:r>
          </a:p>
          <a:p>
            <a:r>
              <a:rPr lang="en-US" b="1" dirty="0"/>
              <a:t>It is evaluative in nature.</a:t>
            </a:r>
          </a:p>
          <a:p>
            <a:r>
              <a:rPr lang="en-US" b="1" dirty="0">
                <a:solidFill>
                  <a:srgbClr val="00B0F0"/>
                </a:solidFill>
              </a:rPr>
              <a:t>It is a mental outlook, frame of mind, point of view, </a:t>
            </a:r>
            <a:r>
              <a:rPr lang="en-US" b="1" dirty="0" smtClean="0">
                <a:solidFill>
                  <a:srgbClr val="00B0F0"/>
                </a:solidFill>
              </a:rPr>
              <a:t>perspective and </a:t>
            </a:r>
            <a:r>
              <a:rPr lang="en-US" b="1" dirty="0">
                <a:solidFill>
                  <a:srgbClr val="00B0F0"/>
                </a:solidFill>
              </a:rPr>
              <a:t>way of looking at things.</a:t>
            </a:r>
          </a:p>
          <a:p>
            <a:r>
              <a:rPr lang="en-US" b="1" dirty="0"/>
              <a:t>It may be positive, </a:t>
            </a:r>
            <a:r>
              <a:rPr lang="en-US" b="1" dirty="0" smtClean="0"/>
              <a:t>negative or </a:t>
            </a:r>
            <a:r>
              <a:rPr lang="en-US" b="1" dirty="0"/>
              <a:t>neutral.</a:t>
            </a:r>
          </a:p>
          <a:p>
            <a:r>
              <a:rPr lang="en-US" b="1" dirty="0"/>
              <a:t>It is a </a:t>
            </a:r>
            <a:r>
              <a:rPr lang="en-US" b="1" dirty="0" smtClean="0"/>
              <a:t>established </a:t>
            </a:r>
            <a:r>
              <a:rPr lang="en-US" b="1" dirty="0"/>
              <a:t>way of thinking or feeling about something.</a:t>
            </a:r>
          </a:p>
        </p:txBody>
      </p:sp>
      <p:sp>
        <p:nvSpPr>
          <p:cNvPr id="5" name="Slide Number Placeholder 4"/>
          <p:cNvSpPr>
            <a:spLocks noGrp="1"/>
          </p:cNvSpPr>
          <p:nvPr>
            <p:ph type="sldNum" sz="quarter" idx="12"/>
          </p:nvPr>
        </p:nvSpPr>
        <p:spPr/>
        <p:txBody>
          <a:bodyPr/>
          <a:lstStyle/>
          <a:p>
            <a:fld id="{A4FCB889-8A7B-4BBF-B652-6828A84DE4E9}" type="slidenum">
              <a:rPr lang="en-US" smtClean="0"/>
              <a:t>41</a:t>
            </a:fld>
            <a:endParaRPr lang="en-US"/>
          </a:p>
        </p:txBody>
      </p:sp>
    </p:spTree>
    <p:extLst>
      <p:ext uri="{BB962C8B-B14F-4D97-AF65-F5344CB8AC3E}">
        <p14:creationId xmlns:p14="http://schemas.microsoft.com/office/powerpoint/2010/main" val="1069482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B341CAA-01B4-CD62-040B-07AC632C0C59}"/>
              </a:ext>
            </a:extLst>
          </p:cNvPr>
          <p:cNvSpPr>
            <a:spLocks noGrp="1"/>
          </p:cNvSpPr>
          <p:nvPr>
            <p:ph type="title"/>
          </p:nvPr>
        </p:nvSpPr>
        <p:spPr/>
        <p:txBody>
          <a:bodyPr/>
          <a:lstStyle/>
          <a:p>
            <a:r>
              <a:rPr lang="en-US" dirty="0" smtClean="0"/>
              <a:t>…</a:t>
            </a:r>
            <a:endParaRPr lang="en-US" dirty="0"/>
          </a:p>
        </p:txBody>
      </p:sp>
      <p:sp>
        <p:nvSpPr>
          <p:cNvPr id="3" name="Content Placeholder 2">
            <a:extLst>
              <a:ext uri="{FF2B5EF4-FFF2-40B4-BE49-F238E27FC236}">
                <a16:creationId xmlns:a16="http://schemas.microsoft.com/office/drawing/2014/main" xmlns="" id="{C704873C-BEBB-4EB8-44D5-22C49B33F149}"/>
              </a:ext>
            </a:extLst>
          </p:cNvPr>
          <p:cNvSpPr>
            <a:spLocks noGrp="1"/>
          </p:cNvSpPr>
          <p:nvPr>
            <p:ph idx="1"/>
          </p:nvPr>
        </p:nvSpPr>
        <p:spPr>
          <a:xfrm>
            <a:off x="838199" y="1825625"/>
            <a:ext cx="11086707" cy="4667250"/>
          </a:xfrm>
        </p:spPr>
        <p:txBody>
          <a:bodyPr/>
          <a:lstStyle/>
          <a:p>
            <a:r>
              <a:rPr lang="en-US" sz="3200" b="1" i="1" dirty="0">
                <a:solidFill>
                  <a:srgbClr val="002060"/>
                </a:solidFill>
              </a:rPr>
              <a:t>In psychology, attitude is a psychological construct, a mental and emotional entity that </a:t>
            </a:r>
            <a:r>
              <a:rPr lang="en-US" sz="3200" b="1" i="1" dirty="0" smtClean="0">
                <a:solidFill>
                  <a:srgbClr val="002060"/>
                </a:solidFill>
              </a:rPr>
              <a:t>inheres in</a:t>
            </a:r>
            <a:r>
              <a:rPr lang="en-US" sz="3200" b="1" i="1" dirty="0">
                <a:solidFill>
                  <a:srgbClr val="002060"/>
                </a:solidFill>
              </a:rPr>
              <a:t>, or characterizes a person.</a:t>
            </a:r>
          </a:p>
          <a:p>
            <a:r>
              <a:rPr lang="en-US" sz="3200" b="1" i="1" dirty="0">
                <a:solidFill>
                  <a:srgbClr val="002060"/>
                </a:solidFill>
              </a:rPr>
              <a:t> It is complex and acquired through experiences. </a:t>
            </a:r>
          </a:p>
          <a:p>
            <a:r>
              <a:rPr lang="en-US" sz="3200" b="1" i="1" dirty="0">
                <a:solidFill>
                  <a:srgbClr val="002060"/>
                </a:solidFill>
              </a:rPr>
              <a:t>It is an individual's predisposed (inclined) state of mind regarding a value and it is precipitated (caused) through a responsive expression toward a person, place, </a:t>
            </a:r>
            <a:r>
              <a:rPr lang="en-US" sz="3200" b="1" i="1" dirty="0" smtClean="0">
                <a:solidFill>
                  <a:srgbClr val="002060"/>
                </a:solidFill>
              </a:rPr>
              <a:t>thing </a:t>
            </a:r>
            <a:r>
              <a:rPr lang="en-US" sz="3200" b="1" i="1" dirty="0">
                <a:solidFill>
                  <a:srgbClr val="002060"/>
                </a:solidFill>
              </a:rPr>
              <a:t>or event (the attitude object) which in turn influences the individual's thought and action.</a:t>
            </a:r>
          </a:p>
          <a:p>
            <a:endParaRPr lang="en-US" dirty="0"/>
          </a:p>
        </p:txBody>
      </p:sp>
      <p:sp>
        <p:nvSpPr>
          <p:cNvPr id="5" name="Slide Number Placeholder 4">
            <a:extLst>
              <a:ext uri="{FF2B5EF4-FFF2-40B4-BE49-F238E27FC236}">
                <a16:creationId xmlns:a16="http://schemas.microsoft.com/office/drawing/2014/main" xmlns="" id="{D6A57F3D-A93C-EE81-AA83-F1B562AB68E3}"/>
              </a:ext>
            </a:extLst>
          </p:cNvPr>
          <p:cNvSpPr>
            <a:spLocks noGrp="1"/>
          </p:cNvSpPr>
          <p:nvPr>
            <p:ph type="sldNum" sz="quarter" idx="12"/>
          </p:nvPr>
        </p:nvSpPr>
        <p:spPr/>
        <p:txBody>
          <a:bodyPr/>
          <a:lstStyle/>
          <a:p>
            <a:fld id="{A4FCB889-8A7B-4BBF-B652-6828A84DE4E9}" type="slidenum">
              <a:rPr lang="en-US" smtClean="0"/>
              <a:t>42</a:t>
            </a:fld>
            <a:endParaRPr lang="en-US"/>
          </a:p>
        </p:txBody>
      </p:sp>
    </p:spTree>
    <p:extLst>
      <p:ext uri="{BB962C8B-B14F-4D97-AF65-F5344CB8AC3E}">
        <p14:creationId xmlns:p14="http://schemas.microsoft.com/office/powerpoint/2010/main" val="256593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t>Cont</a:t>
            </a:r>
            <a:r>
              <a:rPr lang="en-US" b="1" dirty="0"/>
              <a:t>…</a:t>
            </a:r>
          </a:p>
        </p:txBody>
      </p:sp>
      <p:sp>
        <p:nvSpPr>
          <p:cNvPr id="3" name="Content Placeholder 2"/>
          <p:cNvSpPr>
            <a:spLocks noGrp="1"/>
          </p:cNvSpPr>
          <p:nvPr>
            <p:ph idx="1"/>
          </p:nvPr>
        </p:nvSpPr>
        <p:spPr>
          <a:xfrm>
            <a:off x="838199" y="1825625"/>
            <a:ext cx="11039573" cy="4667250"/>
          </a:xfrm>
        </p:spPr>
        <p:txBody>
          <a:bodyPr/>
          <a:lstStyle/>
          <a:p>
            <a:r>
              <a:rPr lang="en-US" b="1" dirty="0"/>
              <a:t>Attitudes are not behaviors, although they may influence others.</a:t>
            </a:r>
          </a:p>
          <a:p>
            <a:r>
              <a:rPr lang="en-US" b="1" dirty="0"/>
              <a:t>It can be </a:t>
            </a:r>
            <a:r>
              <a:rPr lang="en-US" b="1" dirty="0" smtClean="0"/>
              <a:t>flexible </a:t>
            </a:r>
            <a:r>
              <a:rPr lang="en-US" b="1" dirty="0"/>
              <a:t>and may not be as stable as competencies.</a:t>
            </a:r>
          </a:p>
          <a:p>
            <a:r>
              <a:rPr lang="en-US" b="1" dirty="0"/>
              <a:t>They may change over time.</a:t>
            </a:r>
          </a:p>
          <a:p>
            <a:pPr>
              <a:buNone/>
            </a:pPr>
            <a:r>
              <a:rPr lang="en-US" b="1" dirty="0">
                <a:solidFill>
                  <a:srgbClr val="C00000"/>
                </a:solidFill>
              </a:rPr>
              <a:t>Types-</a:t>
            </a:r>
          </a:p>
          <a:p>
            <a:pPr>
              <a:buFontTx/>
              <a:buChar char="-"/>
            </a:pPr>
            <a:r>
              <a:rPr lang="en-US" b="1" dirty="0">
                <a:solidFill>
                  <a:srgbClr val="FF0000"/>
                </a:solidFill>
              </a:rPr>
              <a:t>Cognitive</a:t>
            </a:r>
            <a:r>
              <a:rPr lang="en-US" b="1" dirty="0"/>
              <a:t> (how an individual perceives facts) </a:t>
            </a:r>
          </a:p>
          <a:p>
            <a:pPr>
              <a:buFontTx/>
              <a:buChar char="-"/>
            </a:pPr>
            <a:r>
              <a:rPr lang="en-US" b="1" dirty="0">
                <a:solidFill>
                  <a:srgbClr val="FF0000"/>
                </a:solidFill>
              </a:rPr>
              <a:t>Affective</a:t>
            </a:r>
            <a:r>
              <a:rPr lang="en-US" b="1" dirty="0"/>
              <a:t> (feelings and emotions)</a:t>
            </a:r>
          </a:p>
          <a:p>
            <a:pPr>
              <a:buFontTx/>
              <a:buChar char="-"/>
            </a:pPr>
            <a:r>
              <a:rPr lang="en-US" b="1" dirty="0">
                <a:solidFill>
                  <a:srgbClr val="FF0000"/>
                </a:solidFill>
              </a:rPr>
              <a:t>Evaluative</a:t>
            </a:r>
            <a:r>
              <a:rPr lang="en-US" b="1" dirty="0"/>
              <a:t> (positive or negative towards an object or task)</a:t>
            </a:r>
          </a:p>
          <a:p>
            <a:pPr>
              <a:buFontTx/>
              <a:buChar char="-"/>
            </a:pPr>
            <a:r>
              <a:rPr lang="en-US" b="1" dirty="0">
                <a:solidFill>
                  <a:srgbClr val="FF0000"/>
                </a:solidFill>
              </a:rPr>
              <a:t>Behavioral</a:t>
            </a:r>
            <a:r>
              <a:rPr lang="en-US" b="1" dirty="0"/>
              <a:t> (intentions or desires regarding the performance of a task)</a:t>
            </a:r>
          </a:p>
        </p:txBody>
      </p:sp>
      <p:sp>
        <p:nvSpPr>
          <p:cNvPr id="5" name="Slide Number Placeholder 4"/>
          <p:cNvSpPr>
            <a:spLocks noGrp="1"/>
          </p:cNvSpPr>
          <p:nvPr>
            <p:ph type="sldNum" sz="quarter" idx="12"/>
          </p:nvPr>
        </p:nvSpPr>
        <p:spPr/>
        <p:txBody>
          <a:bodyPr/>
          <a:lstStyle/>
          <a:p>
            <a:fld id="{A4FCB889-8A7B-4BBF-B652-6828A84DE4E9}" type="slidenum">
              <a:rPr lang="en-US" smtClean="0"/>
              <a:t>43</a:t>
            </a:fld>
            <a:endParaRPr lang="en-US"/>
          </a:p>
        </p:txBody>
      </p:sp>
    </p:spTree>
    <p:extLst>
      <p:ext uri="{BB962C8B-B14F-4D97-AF65-F5344CB8AC3E}">
        <p14:creationId xmlns:p14="http://schemas.microsoft.com/office/powerpoint/2010/main" val="2528293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838200" y="0"/>
            <a:ext cx="10515600" cy="365125"/>
          </a:xfrm>
        </p:spPr>
        <p:txBody>
          <a:bodyPr>
            <a:normAutofit fontScale="90000"/>
          </a:bodyPr>
          <a:lstStyle/>
          <a:p>
            <a:r>
              <a:rPr lang="en-US" dirty="0"/>
              <a:t>.</a:t>
            </a:r>
          </a:p>
        </p:txBody>
      </p:sp>
      <p:sp>
        <p:nvSpPr>
          <p:cNvPr id="3" name="Content Placeholder 2"/>
          <p:cNvSpPr>
            <a:spLocks noGrp="1"/>
          </p:cNvSpPr>
          <p:nvPr>
            <p:ph idx="1"/>
          </p:nvPr>
        </p:nvSpPr>
        <p:spPr>
          <a:xfrm>
            <a:off x="838199" y="365124"/>
            <a:ext cx="11133841" cy="6271345"/>
          </a:xfrm>
        </p:spPr>
        <p:txBody>
          <a:bodyPr>
            <a:normAutofit/>
          </a:bodyPr>
          <a:lstStyle/>
          <a:p>
            <a:pPr marL="0" indent="0">
              <a:buNone/>
            </a:pPr>
            <a:r>
              <a:rPr lang="en-US" sz="3600" b="1" dirty="0">
                <a:solidFill>
                  <a:srgbClr val="FF0000"/>
                </a:solidFill>
              </a:rPr>
              <a:t>Values</a:t>
            </a:r>
          </a:p>
          <a:p>
            <a:r>
              <a:rPr lang="en-US" b="1" i="0" dirty="0">
                <a:solidFill>
                  <a:srgbClr val="C00000"/>
                </a:solidFill>
                <a:effectLst/>
                <a:latin typeface="Söhne"/>
              </a:rPr>
              <a:t>Values are beliefs or principles that guide behavior and decision-making.</a:t>
            </a:r>
          </a:p>
          <a:p>
            <a:r>
              <a:rPr lang="en-US" b="1" i="0" dirty="0">
                <a:solidFill>
                  <a:srgbClr val="C00000"/>
                </a:solidFill>
                <a:effectLst/>
                <a:latin typeface="Söhne"/>
              </a:rPr>
              <a:t> They have deeply held convictions about what is important and meaningful in life.</a:t>
            </a:r>
          </a:p>
          <a:p>
            <a:r>
              <a:rPr lang="en-US" b="1" i="0" dirty="0">
                <a:solidFill>
                  <a:srgbClr val="374151"/>
                </a:solidFill>
                <a:effectLst/>
                <a:latin typeface="Söhne"/>
              </a:rPr>
              <a:t> Values can be individual or collective and are shaped </a:t>
            </a:r>
            <a:r>
              <a:rPr lang="en-US" b="1" i="0" dirty="0" smtClean="0">
                <a:solidFill>
                  <a:srgbClr val="374151"/>
                </a:solidFill>
                <a:effectLst/>
                <a:latin typeface="Söhne"/>
              </a:rPr>
              <a:t>by </a:t>
            </a:r>
            <a:r>
              <a:rPr lang="en-US" b="1" i="0" dirty="0">
                <a:solidFill>
                  <a:srgbClr val="374151"/>
                </a:solidFill>
                <a:effectLst/>
                <a:latin typeface="Söhne"/>
              </a:rPr>
              <a:t>factors, such as family, culture, religion, </a:t>
            </a:r>
            <a:r>
              <a:rPr lang="en-US" b="1" i="0" dirty="0" smtClean="0">
                <a:solidFill>
                  <a:srgbClr val="374151"/>
                </a:solidFill>
                <a:effectLst/>
                <a:latin typeface="Söhne"/>
              </a:rPr>
              <a:t>education </a:t>
            </a:r>
            <a:r>
              <a:rPr lang="en-US" b="1" i="0" dirty="0">
                <a:solidFill>
                  <a:srgbClr val="374151"/>
                </a:solidFill>
                <a:effectLst/>
                <a:latin typeface="Söhne"/>
              </a:rPr>
              <a:t>and personal experiences.</a:t>
            </a:r>
            <a:endParaRPr lang="en-US" b="1" dirty="0"/>
          </a:p>
          <a:p>
            <a:r>
              <a:rPr lang="en-US" b="1" dirty="0"/>
              <a:t>Influence our judgments, </a:t>
            </a:r>
            <a:r>
              <a:rPr lang="en-US" b="1" dirty="0" smtClean="0"/>
              <a:t>preferences and </a:t>
            </a:r>
            <a:r>
              <a:rPr lang="en-US" b="1" dirty="0"/>
              <a:t>choices in life.</a:t>
            </a:r>
          </a:p>
          <a:p>
            <a:r>
              <a:rPr lang="en-US" b="1" dirty="0"/>
              <a:t>Values shape our decisions.</a:t>
            </a:r>
          </a:p>
          <a:p>
            <a:r>
              <a:rPr lang="en-US" b="1" dirty="0"/>
              <a:t>Compared to attitudes, values are stable beliefs, consistent across time and context.</a:t>
            </a:r>
          </a:p>
          <a:p>
            <a:endParaRPr lang="en-US" dirty="0"/>
          </a:p>
          <a:p>
            <a:endParaRPr lang="en-US" dirty="0"/>
          </a:p>
        </p:txBody>
      </p:sp>
      <p:sp>
        <p:nvSpPr>
          <p:cNvPr id="5" name="Slide Number Placeholder 4"/>
          <p:cNvSpPr>
            <a:spLocks noGrp="1"/>
          </p:cNvSpPr>
          <p:nvPr>
            <p:ph type="sldNum" sz="quarter" idx="12"/>
          </p:nvPr>
        </p:nvSpPr>
        <p:spPr/>
        <p:txBody>
          <a:bodyPr/>
          <a:lstStyle/>
          <a:p>
            <a:fld id="{A4FCB889-8A7B-4BBF-B652-6828A84DE4E9}" type="slidenum">
              <a:rPr lang="en-US" smtClean="0"/>
              <a:t>44</a:t>
            </a:fld>
            <a:endParaRPr lang="en-US"/>
          </a:p>
        </p:txBody>
      </p:sp>
    </p:spTree>
    <p:extLst>
      <p:ext uri="{BB962C8B-B14F-4D97-AF65-F5344CB8AC3E}">
        <p14:creationId xmlns:p14="http://schemas.microsoft.com/office/powerpoint/2010/main" val="2460651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4E8DE67-7875-6003-D941-40F63ABB2AAF}"/>
              </a:ext>
            </a:extLst>
          </p:cNvPr>
          <p:cNvSpPr>
            <a:spLocks noGrp="1"/>
          </p:cNvSpPr>
          <p:nvPr>
            <p:ph type="title"/>
          </p:nvPr>
        </p:nvSpPr>
        <p:spPr/>
        <p:txBody>
          <a:bodyPr/>
          <a:lstStyle/>
          <a:p>
            <a:r>
              <a:rPr lang="en-US" b="1" dirty="0">
                <a:solidFill>
                  <a:srgbClr val="C00000"/>
                </a:solidFill>
              </a:rPr>
              <a:t>Types </a:t>
            </a:r>
          </a:p>
        </p:txBody>
      </p:sp>
      <p:sp>
        <p:nvSpPr>
          <p:cNvPr id="3" name="Content Placeholder 2">
            <a:extLst>
              <a:ext uri="{FF2B5EF4-FFF2-40B4-BE49-F238E27FC236}">
                <a16:creationId xmlns:a16="http://schemas.microsoft.com/office/drawing/2014/main" xmlns="" id="{EFBEE2DE-F24E-C67B-E0C1-39075439E68A}"/>
              </a:ext>
            </a:extLst>
          </p:cNvPr>
          <p:cNvSpPr>
            <a:spLocks noGrp="1"/>
          </p:cNvSpPr>
          <p:nvPr>
            <p:ph idx="1"/>
          </p:nvPr>
        </p:nvSpPr>
        <p:spPr/>
        <p:txBody>
          <a:bodyPr/>
          <a:lstStyle/>
          <a:p>
            <a:r>
              <a:rPr lang="en-US" b="1" dirty="0">
                <a:solidFill>
                  <a:srgbClr val="C00000"/>
                </a:solidFill>
              </a:rPr>
              <a:t>Personal values </a:t>
            </a:r>
            <a:r>
              <a:rPr lang="en-US" b="1" dirty="0"/>
              <a:t>(personal principles of everyday life)</a:t>
            </a:r>
          </a:p>
          <a:p>
            <a:r>
              <a:rPr lang="en-US" b="1" dirty="0">
                <a:solidFill>
                  <a:srgbClr val="C00000"/>
                </a:solidFill>
              </a:rPr>
              <a:t>Work values </a:t>
            </a:r>
            <a:r>
              <a:rPr lang="en-US" b="1" dirty="0"/>
              <a:t>(standards of work outcome or job satisfaction)</a:t>
            </a:r>
          </a:p>
          <a:p>
            <a:r>
              <a:rPr lang="en-US" b="1" dirty="0">
                <a:solidFill>
                  <a:srgbClr val="C00000"/>
                </a:solidFill>
              </a:rPr>
              <a:t>Social values </a:t>
            </a:r>
            <a:r>
              <a:rPr lang="en-US" b="1" dirty="0"/>
              <a:t>(norms, customs, cultures of people or communities, organizations)</a:t>
            </a:r>
          </a:p>
          <a:p>
            <a:r>
              <a:rPr lang="en-US" b="1" dirty="0">
                <a:solidFill>
                  <a:srgbClr val="C00000"/>
                </a:solidFill>
              </a:rPr>
              <a:t>Life values </a:t>
            </a:r>
            <a:r>
              <a:rPr lang="en-US" b="1" dirty="0"/>
              <a:t>(ultimate </a:t>
            </a:r>
            <a:r>
              <a:rPr lang="en-US" b="1" dirty="0" smtClean="0"/>
              <a:t>aspirations/goals)</a:t>
            </a:r>
            <a:endParaRPr lang="en-US" b="1" dirty="0"/>
          </a:p>
          <a:p>
            <a:endParaRPr lang="en-US" dirty="0"/>
          </a:p>
          <a:p>
            <a:endParaRPr lang="en-US" dirty="0"/>
          </a:p>
        </p:txBody>
      </p:sp>
      <p:sp>
        <p:nvSpPr>
          <p:cNvPr id="5" name="Slide Number Placeholder 4">
            <a:extLst>
              <a:ext uri="{FF2B5EF4-FFF2-40B4-BE49-F238E27FC236}">
                <a16:creationId xmlns:a16="http://schemas.microsoft.com/office/drawing/2014/main" xmlns="" id="{F6F3FBD3-3F3D-52C3-9A85-5E72AAECFFB4}"/>
              </a:ext>
            </a:extLst>
          </p:cNvPr>
          <p:cNvSpPr>
            <a:spLocks noGrp="1"/>
          </p:cNvSpPr>
          <p:nvPr>
            <p:ph type="sldNum" sz="quarter" idx="12"/>
          </p:nvPr>
        </p:nvSpPr>
        <p:spPr/>
        <p:txBody>
          <a:bodyPr/>
          <a:lstStyle/>
          <a:p>
            <a:fld id="{A4FCB889-8A7B-4BBF-B652-6828A84DE4E9}" type="slidenum">
              <a:rPr lang="en-US" smtClean="0"/>
              <a:t>45</a:t>
            </a:fld>
            <a:endParaRPr lang="en-US"/>
          </a:p>
        </p:txBody>
      </p:sp>
    </p:spTree>
    <p:extLst>
      <p:ext uri="{BB962C8B-B14F-4D97-AF65-F5344CB8AC3E}">
        <p14:creationId xmlns:p14="http://schemas.microsoft.com/office/powerpoint/2010/main" val="2471264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62923"/>
            <a:ext cx="10515600" cy="5286244"/>
          </a:xfrm>
        </p:spPr>
        <p:txBody>
          <a:bodyPr>
            <a:normAutofit/>
          </a:bodyPr>
          <a:lstStyle/>
          <a:p>
            <a:pPr marL="0" indent="0">
              <a:buNone/>
            </a:pPr>
            <a:r>
              <a:rPr lang="en-US" sz="3600" b="1" dirty="0">
                <a:solidFill>
                  <a:srgbClr val="C00000"/>
                </a:solidFill>
              </a:rPr>
              <a:t>Personality</a:t>
            </a:r>
          </a:p>
          <a:p>
            <a:r>
              <a:rPr lang="en-US" b="1" i="0" dirty="0">
                <a:solidFill>
                  <a:srgbClr val="374151"/>
                </a:solidFill>
                <a:effectLst/>
                <a:latin typeface="Söhne"/>
              </a:rPr>
              <a:t>Personality refers to </a:t>
            </a:r>
            <a:r>
              <a:rPr lang="en-US" b="1" i="0" dirty="0">
                <a:solidFill>
                  <a:srgbClr val="FF0000"/>
                </a:solidFill>
                <a:effectLst/>
                <a:latin typeface="Söhne"/>
              </a:rPr>
              <a:t>a unique set of psychological traits, </a:t>
            </a:r>
            <a:r>
              <a:rPr lang="en-US" b="1" i="0" dirty="0" smtClean="0">
                <a:solidFill>
                  <a:srgbClr val="FF0000"/>
                </a:solidFill>
                <a:effectLst/>
                <a:latin typeface="Söhne"/>
              </a:rPr>
              <a:t>patterns </a:t>
            </a:r>
            <a:r>
              <a:rPr lang="en-US" b="1" i="0" dirty="0">
                <a:solidFill>
                  <a:srgbClr val="FF0000"/>
                </a:solidFill>
                <a:effectLst/>
                <a:latin typeface="Söhne"/>
              </a:rPr>
              <a:t>and characteristics that define an individual's behavior, </a:t>
            </a:r>
            <a:r>
              <a:rPr lang="en-US" b="1" i="0" dirty="0" smtClean="0">
                <a:solidFill>
                  <a:srgbClr val="FF0000"/>
                </a:solidFill>
                <a:effectLst/>
                <a:latin typeface="Söhne"/>
              </a:rPr>
              <a:t>thoughts </a:t>
            </a:r>
            <a:r>
              <a:rPr lang="en-US" b="1" i="0" dirty="0">
                <a:solidFill>
                  <a:srgbClr val="FF0000"/>
                </a:solidFill>
                <a:effectLst/>
                <a:latin typeface="Söhne"/>
              </a:rPr>
              <a:t>and emotions.</a:t>
            </a:r>
            <a:endParaRPr lang="en-US" b="1" dirty="0">
              <a:solidFill>
                <a:srgbClr val="FF0000"/>
              </a:solidFill>
            </a:endParaRPr>
          </a:p>
          <a:p>
            <a:r>
              <a:rPr lang="en-US" b="1" dirty="0">
                <a:solidFill>
                  <a:srgbClr val="FF0000"/>
                </a:solidFill>
              </a:rPr>
              <a:t>A set of qualities that makes a person distinct from others.</a:t>
            </a:r>
          </a:p>
          <a:p>
            <a:r>
              <a:rPr lang="en-US" b="1" dirty="0"/>
              <a:t>A person’s patterns of traits are characteristics such as being helpful, </a:t>
            </a:r>
            <a:r>
              <a:rPr lang="en-US" b="1" dirty="0" smtClean="0"/>
              <a:t>sociable </a:t>
            </a:r>
            <a:r>
              <a:rPr lang="en-US" b="1" dirty="0"/>
              <a:t>and independent.</a:t>
            </a:r>
          </a:p>
          <a:p>
            <a:r>
              <a:rPr lang="en-US" b="1" dirty="0"/>
              <a:t>These patterns are generally distinguishable, separating one person from another.</a:t>
            </a:r>
          </a:p>
          <a:p>
            <a:r>
              <a:rPr lang="en-US" b="1" dirty="0"/>
              <a:t>They are not necessarily evaluative.</a:t>
            </a:r>
          </a:p>
          <a:p>
            <a:r>
              <a:rPr lang="en-US" b="1" dirty="0"/>
              <a:t>They are innate, not necessarily learned on the job.</a:t>
            </a:r>
          </a:p>
          <a:p>
            <a:endParaRPr lang="en-US" b="1" dirty="0"/>
          </a:p>
          <a:p>
            <a:endParaRPr lang="en-US" dirty="0"/>
          </a:p>
          <a:p>
            <a:endParaRPr lang="en-US" dirty="0"/>
          </a:p>
        </p:txBody>
      </p:sp>
      <p:sp>
        <p:nvSpPr>
          <p:cNvPr id="5" name="Slide Number Placeholder 4"/>
          <p:cNvSpPr>
            <a:spLocks noGrp="1"/>
          </p:cNvSpPr>
          <p:nvPr>
            <p:ph type="sldNum" sz="quarter" idx="12"/>
          </p:nvPr>
        </p:nvSpPr>
        <p:spPr/>
        <p:txBody>
          <a:bodyPr/>
          <a:lstStyle/>
          <a:p>
            <a:fld id="{A4FCB889-8A7B-4BBF-B652-6828A84DE4E9}" type="slidenum">
              <a:rPr lang="en-US" smtClean="0"/>
              <a:t>46</a:t>
            </a:fld>
            <a:endParaRPr lang="en-US"/>
          </a:p>
        </p:txBody>
      </p:sp>
    </p:spTree>
    <p:extLst>
      <p:ext uri="{BB962C8B-B14F-4D97-AF65-F5344CB8AC3E}">
        <p14:creationId xmlns:p14="http://schemas.microsoft.com/office/powerpoint/2010/main" val="2553427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t>
            </a:r>
          </a:p>
        </p:txBody>
      </p:sp>
      <p:sp>
        <p:nvSpPr>
          <p:cNvPr id="3" name="Content Placeholder 2"/>
          <p:cNvSpPr>
            <a:spLocks noGrp="1"/>
          </p:cNvSpPr>
          <p:nvPr>
            <p:ph idx="1"/>
          </p:nvPr>
        </p:nvSpPr>
        <p:spPr>
          <a:xfrm>
            <a:off x="838200" y="1825624"/>
            <a:ext cx="10515600" cy="4829699"/>
          </a:xfrm>
        </p:spPr>
        <p:txBody>
          <a:bodyPr>
            <a:normAutofit lnSpcReduction="10000"/>
          </a:bodyPr>
          <a:lstStyle/>
          <a:p>
            <a:pPr marL="0" indent="0">
              <a:buNone/>
            </a:pPr>
            <a:r>
              <a:rPr lang="en-US" b="1" dirty="0" err="1">
                <a:solidFill>
                  <a:srgbClr val="C00000"/>
                </a:solidFill>
              </a:rPr>
              <a:t>Icek</a:t>
            </a:r>
            <a:r>
              <a:rPr lang="en-US" b="1" dirty="0">
                <a:solidFill>
                  <a:srgbClr val="C00000"/>
                </a:solidFill>
              </a:rPr>
              <a:t> Ajzen (2005) identifies nine personality traits.</a:t>
            </a:r>
          </a:p>
          <a:p>
            <a:pPr>
              <a:buFontTx/>
              <a:buChar char="-"/>
            </a:pPr>
            <a:r>
              <a:rPr lang="en-US" b="1" dirty="0"/>
              <a:t>Dominance</a:t>
            </a:r>
          </a:p>
          <a:p>
            <a:pPr>
              <a:buFontTx/>
              <a:buChar char="-"/>
            </a:pPr>
            <a:r>
              <a:rPr lang="en-US" b="1" dirty="0"/>
              <a:t>Sociability</a:t>
            </a:r>
          </a:p>
          <a:p>
            <a:pPr>
              <a:buFontTx/>
              <a:buChar char="-"/>
            </a:pPr>
            <a:r>
              <a:rPr lang="en-US" b="1" dirty="0"/>
              <a:t>Independence</a:t>
            </a:r>
          </a:p>
          <a:p>
            <a:pPr>
              <a:buFontTx/>
              <a:buChar char="-"/>
            </a:pPr>
            <a:r>
              <a:rPr lang="en-US" b="1" dirty="0"/>
              <a:t>Conscientiousness/ Careful</a:t>
            </a:r>
          </a:p>
          <a:p>
            <a:pPr>
              <a:buFontTx/>
              <a:buChar char="-"/>
            </a:pPr>
            <a:r>
              <a:rPr lang="en-US" b="1" dirty="0"/>
              <a:t>Hostility/unfriendly or aggressive</a:t>
            </a:r>
          </a:p>
          <a:p>
            <a:pPr>
              <a:buFontTx/>
              <a:buChar char="-"/>
            </a:pPr>
            <a:r>
              <a:rPr lang="en-US" b="1" dirty="0"/>
              <a:t>Helpfulness</a:t>
            </a:r>
          </a:p>
          <a:p>
            <a:pPr>
              <a:buFontTx/>
              <a:buChar char="-"/>
            </a:pPr>
            <a:r>
              <a:rPr lang="en-US" b="1" dirty="0"/>
              <a:t>Self-esteem</a:t>
            </a:r>
          </a:p>
          <a:p>
            <a:pPr>
              <a:buFontTx/>
              <a:buChar char="-"/>
            </a:pPr>
            <a:r>
              <a:rPr lang="en-US" b="1" dirty="0"/>
              <a:t>Emotional stability</a:t>
            </a:r>
          </a:p>
          <a:p>
            <a:pPr>
              <a:buFontTx/>
              <a:buChar char="-"/>
            </a:pPr>
            <a:r>
              <a:rPr lang="en-US" b="1" dirty="0"/>
              <a:t>Ambitiousness</a:t>
            </a:r>
          </a:p>
          <a:p>
            <a:endParaRPr lang="en-US" dirty="0"/>
          </a:p>
        </p:txBody>
      </p:sp>
      <p:sp>
        <p:nvSpPr>
          <p:cNvPr id="5" name="Slide Number Placeholder 4"/>
          <p:cNvSpPr>
            <a:spLocks noGrp="1"/>
          </p:cNvSpPr>
          <p:nvPr>
            <p:ph type="sldNum" sz="quarter" idx="12"/>
          </p:nvPr>
        </p:nvSpPr>
        <p:spPr/>
        <p:txBody>
          <a:bodyPr/>
          <a:lstStyle/>
          <a:p>
            <a:fld id="{A4FCB889-8A7B-4BBF-B652-6828A84DE4E9}" type="slidenum">
              <a:rPr lang="en-US" smtClean="0"/>
              <a:t>47</a:t>
            </a:fld>
            <a:endParaRPr lang="en-US"/>
          </a:p>
        </p:txBody>
      </p:sp>
    </p:spTree>
    <p:extLst>
      <p:ext uri="{BB962C8B-B14F-4D97-AF65-F5344CB8AC3E}">
        <p14:creationId xmlns:p14="http://schemas.microsoft.com/office/powerpoint/2010/main" val="3541402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110F66F-8FF5-C8CF-0373-1FA6EC02DA44}"/>
              </a:ext>
            </a:extLst>
          </p:cNvPr>
          <p:cNvSpPr>
            <a:spLocks noGrp="1"/>
          </p:cNvSpPr>
          <p:nvPr>
            <p:ph type="title"/>
          </p:nvPr>
        </p:nvSpPr>
        <p:spPr/>
        <p:txBody>
          <a:bodyPr/>
          <a:lstStyle/>
          <a:p>
            <a:r>
              <a:rPr lang="en-US" dirty="0" smtClean="0"/>
              <a:t>…</a:t>
            </a:r>
            <a:endParaRPr lang="en-US" dirty="0"/>
          </a:p>
        </p:txBody>
      </p:sp>
      <p:sp>
        <p:nvSpPr>
          <p:cNvPr id="3" name="Content Placeholder 2">
            <a:extLst>
              <a:ext uri="{FF2B5EF4-FFF2-40B4-BE49-F238E27FC236}">
                <a16:creationId xmlns:a16="http://schemas.microsoft.com/office/drawing/2014/main" xmlns="" id="{7BB91108-58BB-4C11-4961-042792090D79}"/>
              </a:ext>
            </a:extLst>
          </p:cNvPr>
          <p:cNvSpPr>
            <a:spLocks noGrp="1"/>
          </p:cNvSpPr>
          <p:nvPr>
            <p:ph idx="1"/>
          </p:nvPr>
        </p:nvSpPr>
        <p:spPr>
          <a:xfrm>
            <a:off x="838200" y="1825624"/>
            <a:ext cx="10515600" cy="4433773"/>
          </a:xfrm>
        </p:spPr>
        <p:txBody>
          <a:bodyPr/>
          <a:lstStyle/>
          <a:p>
            <a:r>
              <a:rPr lang="en-US" sz="3200" b="1" dirty="0"/>
              <a:t>Some have made the distinction between</a:t>
            </a:r>
            <a:r>
              <a:rPr lang="en-US" sz="3200" b="1" dirty="0">
                <a:solidFill>
                  <a:srgbClr val="FF0000"/>
                </a:solidFill>
              </a:rPr>
              <a:t> introvert and extrovert personality, or stable and unstable personality.</a:t>
            </a:r>
          </a:p>
          <a:p>
            <a:r>
              <a:rPr lang="en-US" sz="3200" b="1" dirty="0"/>
              <a:t>For others personalities are </a:t>
            </a:r>
            <a:r>
              <a:rPr lang="en-US" sz="3200" b="1" dirty="0">
                <a:solidFill>
                  <a:srgbClr val="FF0000"/>
                </a:solidFill>
              </a:rPr>
              <a:t>realistic, investigative, artistic, social, </a:t>
            </a:r>
            <a:r>
              <a:rPr lang="en-US" sz="3200" b="1" dirty="0" smtClean="0">
                <a:solidFill>
                  <a:srgbClr val="FF0000"/>
                </a:solidFill>
              </a:rPr>
              <a:t>creative, </a:t>
            </a:r>
            <a:r>
              <a:rPr lang="en-US" sz="3200" b="1" dirty="0">
                <a:solidFill>
                  <a:srgbClr val="FF0000"/>
                </a:solidFill>
              </a:rPr>
              <a:t>conventional, etc</a:t>
            </a:r>
            <a:r>
              <a:rPr lang="en-US" sz="3200" b="1" dirty="0" smtClean="0">
                <a:solidFill>
                  <a:srgbClr val="FF0000"/>
                </a:solidFill>
              </a:rPr>
              <a:t>.</a:t>
            </a:r>
          </a:p>
          <a:p>
            <a:endParaRPr lang="en-US" sz="3200" b="1" dirty="0">
              <a:solidFill>
                <a:srgbClr val="FF0000"/>
              </a:solidFill>
            </a:endParaRPr>
          </a:p>
          <a:p>
            <a:endParaRPr lang="en-US" dirty="0"/>
          </a:p>
        </p:txBody>
      </p:sp>
      <p:sp>
        <p:nvSpPr>
          <p:cNvPr id="5" name="Slide Number Placeholder 4">
            <a:extLst>
              <a:ext uri="{FF2B5EF4-FFF2-40B4-BE49-F238E27FC236}">
                <a16:creationId xmlns:a16="http://schemas.microsoft.com/office/drawing/2014/main" xmlns="" id="{2FA07519-C638-E330-6F8D-D83BF9D9AB6D}"/>
              </a:ext>
            </a:extLst>
          </p:cNvPr>
          <p:cNvSpPr>
            <a:spLocks noGrp="1"/>
          </p:cNvSpPr>
          <p:nvPr>
            <p:ph type="sldNum" sz="quarter" idx="12"/>
          </p:nvPr>
        </p:nvSpPr>
        <p:spPr/>
        <p:txBody>
          <a:bodyPr/>
          <a:lstStyle/>
          <a:p>
            <a:fld id="{A4FCB889-8A7B-4BBF-B652-6828A84DE4E9}" type="slidenum">
              <a:rPr lang="en-US" smtClean="0"/>
              <a:t>48</a:t>
            </a:fld>
            <a:endParaRPr lang="en-US"/>
          </a:p>
        </p:txBody>
      </p:sp>
    </p:spTree>
    <p:extLst>
      <p:ext uri="{BB962C8B-B14F-4D97-AF65-F5344CB8AC3E}">
        <p14:creationId xmlns:p14="http://schemas.microsoft.com/office/powerpoint/2010/main" val="313984372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862696"/>
            <a:ext cx="10515600" cy="4351338"/>
          </a:xfrm>
        </p:spPr>
        <p:txBody>
          <a:bodyPr>
            <a:normAutofit/>
          </a:bodyPr>
          <a:lstStyle/>
          <a:p>
            <a:pPr marL="0" indent="0" algn="ctr">
              <a:buNone/>
            </a:pPr>
            <a:r>
              <a:rPr lang="en-US" sz="6000" b="1" dirty="0" smtClean="0">
                <a:solidFill>
                  <a:srgbClr val="00B0F0"/>
                </a:solidFill>
              </a:rPr>
              <a:t>THANK YOU</a:t>
            </a:r>
            <a:endParaRPr lang="en-US" sz="6000" b="1" dirty="0">
              <a:solidFill>
                <a:srgbClr val="00B0F0"/>
              </a:solidFill>
            </a:endParaRPr>
          </a:p>
        </p:txBody>
      </p:sp>
      <p:sp>
        <p:nvSpPr>
          <p:cNvPr id="4" name="Footer Placeholder 3"/>
          <p:cNvSpPr>
            <a:spLocks noGrp="1"/>
          </p:cNvSpPr>
          <p:nvPr>
            <p:ph type="ftr" sz="quarter" idx="11"/>
          </p:nvPr>
        </p:nvSpPr>
        <p:spPr/>
        <p:txBody>
          <a:bodyPr/>
          <a:lstStyle/>
          <a:p>
            <a:r>
              <a:rPr lang="en-US" smtClean="0"/>
              <a:t>mnrmaniram12@gmail.com</a:t>
            </a:r>
            <a:endParaRPr lang="en-US"/>
          </a:p>
        </p:txBody>
      </p:sp>
      <p:sp>
        <p:nvSpPr>
          <p:cNvPr id="5" name="Slide Number Placeholder 4"/>
          <p:cNvSpPr>
            <a:spLocks noGrp="1"/>
          </p:cNvSpPr>
          <p:nvPr>
            <p:ph type="sldNum" sz="quarter" idx="12"/>
          </p:nvPr>
        </p:nvSpPr>
        <p:spPr/>
        <p:txBody>
          <a:bodyPr/>
          <a:lstStyle/>
          <a:p>
            <a:fld id="{A4FCB889-8A7B-4BBF-B652-6828A84DE4E9}" type="slidenum">
              <a:rPr lang="en-US" smtClean="0"/>
              <a:t>49</a:t>
            </a:fld>
            <a:endParaRPr lang="en-US"/>
          </a:p>
        </p:txBody>
      </p:sp>
    </p:spTree>
    <p:extLst>
      <p:ext uri="{BB962C8B-B14F-4D97-AF65-F5344CB8AC3E}">
        <p14:creationId xmlns:p14="http://schemas.microsoft.com/office/powerpoint/2010/main" val="14438622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7880</TotalTime>
  <Words>3275</Words>
  <Application>Microsoft Office PowerPoint</Application>
  <PresentationFormat>Custom</PresentationFormat>
  <Paragraphs>306</Paragraphs>
  <Slides>49</Slides>
  <Notes>1</Notes>
  <HiddenSlides>0</HiddenSlides>
  <MMClips>0</MMClips>
  <ScaleCrop>false</ScaleCrop>
  <HeadingPairs>
    <vt:vector size="4" baseType="variant">
      <vt:variant>
        <vt:lpstr>Theme</vt:lpstr>
      </vt:variant>
      <vt:variant>
        <vt:i4>1</vt:i4>
      </vt:variant>
      <vt:variant>
        <vt:lpstr>Slide Titles</vt:lpstr>
      </vt:variant>
      <vt:variant>
        <vt:i4>49</vt:i4>
      </vt:variant>
    </vt:vector>
  </HeadingPairs>
  <TitlesOfParts>
    <vt:vector size="50" baseType="lpstr">
      <vt:lpstr>Office Theme</vt:lpstr>
      <vt:lpstr>Chapter – 2 </vt:lpstr>
      <vt:lpstr>Contents </vt:lpstr>
      <vt:lpstr>Background information on TECHNICAL COMMUNICATION</vt:lpstr>
      <vt:lpstr>…</vt:lpstr>
      <vt:lpstr>Examples </vt:lpstr>
      <vt:lpstr>2.1 Defining Technical Communication</vt:lpstr>
      <vt:lpstr>Cont …</vt:lpstr>
      <vt:lpstr>2.7 Importance of Technical Communication</vt:lpstr>
      <vt:lpstr>Personal value </vt:lpstr>
      <vt:lpstr>…</vt:lpstr>
      <vt:lpstr>Workplace Communication</vt:lpstr>
      <vt:lpstr>…</vt:lpstr>
      <vt:lpstr>Complex Environment</vt:lpstr>
      <vt:lpstr>…</vt:lpstr>
      <vt:lpstr>2.3 FORMS OF TECHNICAL COMMUNICATION</vt:lpstr>
      <vt:lpstr>…</vt:lpstr>
      <vt:lpstr>…</vt:lpstr>
      <vt:lpstr>…</vt:lpstr>
      <vt:lpstr>2.5 TYPES OF TECHNICAL COMMUNICATION</vt:lpstr>
      <vt:lpstr>PowerPoint Presentation</vt:lpstr>
      <vt:lpstr>2.2 Evolution of Technical Communication </vt:lpstr>
      <vt:lpstr>Cont…</vt:lpstr>
      <vt:lpstr>Cont… </vt:lpstr>
      <vt:lpstr>Cont…</vt:lpstr>
      <vt:lpstr>Cont…</vt:lpstr>
      <vt:lpstr>In Nepal</vt:lpstr>
      <vt:lpstr>Cont…</vt:lpstr>
      <vt:lpstr>Cont…</vt:lpstr>
      <vt:lpstr>PowerPoint Presentation</vt:lpstr>
      <vt:lpstr>Contents</vt:lpstr>
      <vt:lpstr>Meaning of competency</vt:lpstr>
      <vt:lpstr>Competency Pyramid</vt:lpstr>
      <vt:lpstr>4.1 Defining Competency </vt:lpstr>
      <vt:lpstr>Cont..</vt:lpstr>
      <vt:lpstr>PowerPoint Presentation</vt:lpstr>
      <vt:lpstr>PowerPoint Presentation</vt:lpstr>
      <vt:lpstr>PowerPoint Presentation</vt:lpstr>
      <vt:lpstr>PowerPoint Presentation</vt:lpstr>
      <vt:lpstr>PowerPoint Presentation</vt:lpstr>
      <vt:lpstr>PowerPoint Presentation</vt:lpstr>
      <vt:lpstr>4.2 Attitude, Values and Personality </vt:lpstr>
      <vt:lpstr>…</vt:lpstr>
      <vt:lpstr>Cont…</vt:lpstr>
      <vt:lpstr>.</vt:lpstr>
      <vt:lpstr>Types </vt:lpstr>
      <vt:lpstr>PowerPoint Presentation</vt:lpstr>
      <vt:lpstr>Cont..</vt:lpstr>
      <vt:lpstr>…</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 201 Business Communication - I</dc:title>
  <dc:creator>MANI  PANDEY</dc:creator>
  <cp:lastModifiedBy>lenovo</cp:lastModifiedBy>
  <cp:revision>615</cp:revision>
  <dcterms:created xsi:type="dcterms:W3CDTF">2020-01-11T16:38:53Z</dcterms:created>
  <dcterms:modified xsi:type="dcterms:W3CDTF">2025-05-05T15:15:44Z</dcterms:modified>
</cp:coreProperties>
</file>