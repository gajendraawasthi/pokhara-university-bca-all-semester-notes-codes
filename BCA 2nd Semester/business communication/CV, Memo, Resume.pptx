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1" r:id="rId2"/>
    <p:sldId id="334" r:id="rId3"/>
    <p:sldId id="335" r:id="rId4"/>
    <p:sldId id="336" r:id="rId5"/>
    <p:sldId id="337" r:id="rId6"/>
    <p:sldId id="338" r:id="rId7"/>
    <p:sldId id="339" r:id="rId8"/>
    <p:sldId id="340" r:id="rId9"/>
    <p:sldId id="341" r:id="rId10"/>
    <p:sldId id="342" r:id="rId11"/>
    <p:sldId id="343" r:id="rId12"/>
    <p:sldId id="344" r:id="rId13"/>
    <p:sldId id="345" r:id="rId14"/>
    <p:sldId id="346" r:id="rId15"/>
    <p:sldId id="347" r:id="rId16"/>
    <p:sldId id="34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462"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20103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50443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2C2EC6-F5D4-4EB2-B55F-04434BE7B208}" type="datetimeFigureOut">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2183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2C2EC6-F5D4-4EB2-B55F-04434BE7B208}" type="datetimeFigureOut">
              <a:rPr lang="en-US" smtClean="0"/>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779606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2C2EC6-F5D4-4EB2-B55F-04434BE7B208}" type="datetimeFigureOut">
              <a:rPr lang="en-US" smtClean="0"/>
              <a:t>5/19/2025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02158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2C2EC6-F5D4-4EB2-B55F-04434BE7B208}" type="datetimeFigureOut">
              <a:rPr lang="en-US" smtClean="0"/>
              <a:t>5/19/2025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1100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2C2EC6-F5D4-4EB2-B55F-04434BE7B208}" type="datetimeFigureOut">
              <a:rPr lang="en-US" smtClean="0"/>
              <a:t>5/19/2025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1853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423415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895449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160370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731122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2C2EC6-F5D4-4EB2-B55F-04434BE7B208}" type="datetimeFigureOut">
              <a:rPr lang="en-US" smtClean="0"/>
              <a:t>5/19/2025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977A39-988E-47BA-AE30-E5DEF8B6BD4E}" type="slidenum">
              <a:rPr lang="en-US" smtClean="0"/>
              <a:t>‹#›</a:t>
            </a:fld>
            <a:endParaRPr lang="en-US"/>
          </a:p>
        </p:txBody>
      </p:sp>
    </p:spTree>
    <p:extLst>
      <p:ext uri="{BB962C8B-B14F-4D97-AF65-F5344CB8AC3E}">
        <p14:creationId xmlns:p14="http://schemas.microsoft.com/office/powerpoint/2010/main" val="3767375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mailto:dawadiminprasad@gmail.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C00000"/>
                </a:solidFill>
              </a:rPr>
              <a:t> </a:t>
            </a:r>
            <a:r>
              <a:rPr lang="en-GB" b="1" dirty="0">
                <a:solidFill>
                  <a:srgbClr val="C00000"/>
                </a:solidFill>
              </a:rPr>
              <a:t>Memo</a:t>
            </a:r>
          </a:p>
        </p:txBody>
      </p:sp>
      <p:sp>
        <p:nvSpPr>
          <p:cNvPr id="3" name="Content Placeholder 2"/>
          <p:cNvSpPr>
            <a:spLocks noGrp="1"/>
          </p:cNvSpPr>
          <p:nvPr>
            <p:ph idx="1"/>
          </p:nvPr>
        </p:nvSpPr>
        <p:spPr>
          <a:xfrm>
            <a:off x="1178351" y="1344707"/>
            <a:ext cx="7239785" cy="5263484"/>
          </a:xfrm>
        </p:spPr>
        <p:txBody>
          <a:bodyPr>
            <a:normAutofit/>
          </a:bodyPr>
          <a:lstStyle/>
          <a:p>
            <a:endParaRPr lang="en-GB" dirty="0"/>
          </a:p>
          <a:p>
            <a:r>
              <a:rPr lang="en-GB" sz="2400" b="1" dirty="0"/>
              <a:t>The word ‘memo’ is an abbreviation of ‘memorandum’ (meaning ‘reminder’)</a:t>
            </a:r>
          </a:p>
          <a:p>
            <a:r>
              <a:rPr lang="en-GB" sz="2400" b="1" dirty="0"/>
              <a:t>A formal, typed paper note sent to a co-worker or a colleague within the same </a:t>
            </a:r>
            <a:r>
              <a:rPr lang="en-GB" sz="2400" b="1" dirty="0" smtClean="0"/>
              <a:t>organization</a:t>
            </a:r>
          </a:p>
          <a:p>
            <a:r>
              <a:rPr lang="en-GB" sz="2400" b="1" dirty="0" smtClean="0"/>
              <a:t>Memos </a:t>
            </a:r>
            <a:r>
              <a:rPr lang="en-GB" sz="2400" b="1" dirty="0"/>
              <a:t>are concise, they use brief sentences, and paragraphs</a:t>
            </a:r>
          </a:p>
          <a:p>
            <a:r>
              <a:rPr lang="en-GB" sz="2400" b="1" dirty="0"/>
              <a:t>They are direct  to the point</a:t>
            </a:r>
          </a:p>
          <a:p>
            <a:r>
              <a:rPr lang="en-GB" sz="2400" b="1" dirty="0" smtClean="0"/>
              <a:t>Not </a:t>
            </a:r>
            <a:r>
              <a:rPr lang="en-GB" sz="2400" b="1" dirty="0"/>
              <a:t>suitable for sending long, complex and confidential </a:t>
            </a:r>
            <a:r>
              <a:rPr lang="en-GB" sz="2400" b="1" dirty="0" smtClean="0"/>
              <a:t>information</a:t>
            </a:r>
            <a:endParaRPr lang="en-GB" sz="2400" b="1" dirty="0"/>
          </a:p>
        </p:txBody>
      </p:sp>
      <p:pic>
        <p:nvPicPr>
          <p:cNvPr id="4" name="Picture 4" descr="See the source image">
            <a:extLst>
              <a:ext uri="{FF2B5EF4-FFF2-40B4-BE49-F238E27FC236}">
                <a16:creationId xmlns="" xmlns:a16="http://schemas.microsoft.com/office/drawing/2014/main" id="{63F0747C-7DC0-4A4E-900A-077D8D883A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87" t="12304" r="6083" b="5593"/>
          <a:stretch/>
        </p:blipFill>
        <p:spPr bwMode="auto">
          <a:xfrm>
            <a:off x="8020084" y="1478160"/>
            <a:ext cx="3996966" cy="32711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432903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F84ADD-A35F-499D-A49B-E058DED1B46E}"/>
              </a:ext>
            </a:extLst>
          </p:cNvPr>
          <p:cNvSpPr>
            <a:spLocks noGrp="1"/>
          </p:cNvSpPr>
          <p:nvPr>
            <p:ph type="title"/>
          </p:nvPr>
        </p:nvSpPr>
        <p:spPr>
          <a:xfrm>
            <a:off x="1981200" y="264700"/>
            <a:ext cx="8229600" cy="573501"/>
          </a:xfrm>
        </p:spPr>
        <p:txBody>
          <a:bodyPr>
            <a:normAutofit fontScale="90000"/>
          </a:bodyPr>
          <a:lstStyle/>
          <a:p>
            <a:r>
              <a:rPr lang="en-GB" b="1" dirty="0">
                <a:solidFill>
                  <a:srgbClr val="FF0000"/>
                </a:solidFill>
              </a:rPr>
              <a:t>Format </a:t>
            </a:r>
          </a:p>
        </p:txBody>
      </p:sp>
      <p:sp>
        <p:nvSpPr>
          <p:cNvPr id="3" name="Content Placeholder 2">
            <a:extLst>
              <a:ext uri="{FF2B5EF4-FFF2-40B4-BE49-F238E27FC236}">
                <a16:creationId xmlns="" xmlns:a16="http://schemas.microsoft.com/office/drawing/2014/main" id="{159C6A0D-5CA8-48C9-A5D0-0C9F77DC4593}"/>
              </a:ext>
            </a:extLst>
          </p:cNvPr>
          <p:cNvSpPr>
            <a:spLocks noGrp="1"/>
          </p:cNvSpPr>
          <p:nvPr>
            <p:ph idx="1"/>
          </p:nvPr>
        </p:nvSpPr>
        <p:spPr>
          <a:xfrm>
            <a:off x="708212" y="1066800"/>
            <a:ext cx="10924464" cy="5562600"/>
          </a:xfrm>
        </p:spPr>
        <p:txBody>
          <a:bodyPr>
            <a:normAutofit fontScale="92500" lnSpcReduction="10000"/>
          </a:bodyPr>
          <a:lstStyle/>
          <a:p>
            <a:pPr marL="0" indent="0">
              <a:buNone/>
            </a:pPr>
            <a:r>
              <a:rPr lang="en-GB" dirty="0" smtClean="0"/>
              <a:t>	</a:t>
            </a:r>
            <a:r>
              <a:rPr lang="en-GB" dirty="0"/>
              <a:t>			</a:t>
            </a:r>
            <a:r>
              <a:rPr lang="en-GB" b="1" dirty="0" smtClean="0"/>
              <a:t>MEMO</a:t>
            </a:r>
            <a:endParaRPr lang="en-GB" b="1" dirty="0"/>
          </a:p>
          <a:p>
            <a:pPr marL="0" indent="0">
              <a:buNone/>
            </a:pPr>
            <a:r>
              <a:rPr lang="en-GB" b="1" dirty="0"/>
              <a:t>TO:</a:t>
            </a:r>
          </a:p>
          <a:p>
            <a:pPr marL="0" indent="0">
              <a:buNone/>
            </a:pPr>
            <a:r>
              <a:rPr lang="en-GB" b="1" dirty="0"/>
              <a:t>FROM:</a:t>
            </a:r>
          </a:p>
          <a:p>
            <a:pPr marL="0" indent="0">
              <a:buNone/>
            </a:pPr>
            <a:r>
              <a:rPr lang="en-GB" b="1" dirty="0"/>
              <a:t>DATE:</a:t>
            </a:r>
          </a:p>
          <a:p>
            <a:pPr marL="0" indent="0">
              <a:buNone/>
            </a:pPr>
            <a:r>
              <a:rPr lang="en-GB" b="1" dirty="0"/>
              <a:t>SUBJECT:</a:t>
            </a:r>
          </a:p>
          <a:p>
            <a:pPr marL="0" indent="0">
              <a:buNone/>
            </a:pPr>
            <a:endParaRPr lang="en-GB" b="1" dirty="0"/>
          </a:p>
          <a:p>
            <a:pPr marL="0" indent="0">
              <a:buNone/>
            </a:pPr>
            <a:r>
              <a:rPr lang="en-GB" b="1" dirty="0"/>
              <a:t>(BODY)…………………………………………………………………………………………………………………………………………………………………………………………………………………………………………………………………………………………………………………………………………………………..</a:t>
            </a:r>
          </a:p>
          <a:p>
            <a:pPr marL="0" indent="0">
              <a:buNone/>
            </a:pPr>
            <a:endParaRPr lang="en-GB" b="1" dirty="0"/>
          </a:p>
          <a:p>
            <a:pPr marL="0" indent="0">
              <a:buNone/>
            </a:pPr>
            <a:r>
              <a:rPr lang="en-GB" b="1" dirty="0"/>
              <a:t>Name in short</a:t>
            </a:r>
          </a:p>
          <a:p>
            <a:pPr marL="0" indent="0">
              <a:buNone/>
            </a:pPr>
            <a:r>
              <a:rPr lang="en-GB" b="1" dirty="0"/>
              <a:t>CC:</a:t>
            </a:r>
          </a:p>
          <a:p>
            <a:pPr marL="0" indent="0">
              <a:buNone/>
            </a:pPr>
            <a:r>
              <a:rPr lang="en-GB" b="1" dirty="0"/>
              <a:t>Attachment:</a:t>
            </a:r>
          </a:p>
        </p:txBody>
      </p:sp>
    </p:spTree>
    <p:extLst>
      <p:ext uri="{BB962C8B-B14F-4D97-AF65-F5344CB8AC3E}">
        <p14:creationId xmlns:p14="http://schemas.microsoft.com/office/powerpoint/2010/main" val="38863980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EB09EC-A45D-4DCB-9E62-D37CA53D19BB}"/>
              </a:ext>
            </a:extLst>
          </p:cNvPr>
          <p:cNvSpPr>
            <a:spLocks noGrp="1"/>
          </p:cNvSpPr>
          <p:nvPr>
            <p:ph type="title"/>
          </p:nvPr>
        </p:nvSpPr>
        <p:spPr>
          <a:xfrm>
            <a:off x="4138366" y="274638"/>
            <a:ext cx="6072433" cy="792162"/>
          </a:xfrm>
        </p:spPr>
        <p:txBody>
          <a:bodyPr/>
          <a:lstStyle/>
          <a:p>
            <a:r>
              <a:rPr lang="en-GB" b="1" dirty="0">
                <a:solidFill>
                  <a:srgbClr val="FF0000"/>
                </a:solidFill>
              </a:rPr>
              <a:t>MEMO</a:t>
            </a:r>
          </a:p>
        </p:txBody>
      </p:sp>
      <p:sp>
        <p:nvSpPr>
          <p:cNvPr id="3" name="Content Placeholder 2">
            <a:extLst>
              <a:ext uri="{FF2B5EF4-FFF2-40B4-BE49-F238E27FC236}">
                <a16:creationId xmlns="" xmlns:a16="http://schemas.microsoft.com/office/drawing/2014/main" id="{A4303BC7-8644-4A97-9082-3C446F48A89A}"/>
              </a:ext>
            </a:extLst>
          </p:cNvPr>
          <p:cNvSpPr>
            <a:spLocks noGrp="1"/>
          </p:cNvSpPr>
          <p:nvPr>
            <p:ph idx="1"/>
          </p:nvPr>
        </p:nvSpPr>
        <p:spPr>
          <a:xfrm>
            <a:off x="717177" y="1225486"/>
            <a:ext cx="11245438" cy="5357876"/>
          </a:xfrm>
        </p:spPr>
        <p:txBody>
          <a:bodyPr>
            <a:normAutofit fontScale="77500" lnSpcReduction="20000"/>
          </a:bodyPr>
          <a:lstStyle/>
          <a:p>
            <a:pPr marL="0" indent="0">
              <a:buNone/>
            </a:pPr>
            <a:r>
              <a:rPr lang="en-GB" b="1" dirty="0"/>
              <a:t>TO: All Staff</a:t>
            </a:r>
          </a:p>
          <a:p>
            <a:pPr marL="0" indent="0">
              <a:buNone/>
            </a:pPr>
            <a:r>
              <a:rPr lang="en-GB" b="1" dirty="0"/>
              <a:t>FROM: Ravi </a:t>
            </a:r>
            <a:r>
              <a:rPr lang="en-GB" b="1" dirty="0" err="1"/>
              <a:t>Chitrakar</a:t>
            </a:r>
            <a:r>
              <a:rPr lang="en-GB" b="1" dirty="0"/>
              <a:t>, General Manager</a:t>
            </a:r>
          </a:p>
          <a:p>
            <a:pPr marL="0" indent="0">
              <a:buNone/>
            </a:pPr>
            <a:r>
              <a:rPr lang="en-GB" b="1" dirty="0"/>
              <a:t>Date: May 10, 2018</a:t>
            </a:r>
          </a:p>
          <a:p>
            <a:pPr marL="0" indent="0">
              <a:buNone/>
            </a:pPr>
            <a:r>
              <a:rPr lang="en-GB" b="1" dirty="0"/>
              <a:t>Subject: Participating in upcoming book fair</a:t>
            </a:r>
          </a:p>
          <a:p>
            <a:pPr marL="0" indent="0">
              <a:buNone/>
            </a:pPr>
            <a:endParaRPr lang="en-GB" b="1" dirty="0"/>
          </a:p>
          <a:p>
            <a:pPr marL="0" indent="0">
              <a:buNone/>
            </a:pPr>
            <a:r>
              <a:rPr lang="en-GB" b="1" dirty="0"/>
              <a:t>Our company will be participating in the Nepal Education and Book Fair 2018, from May 15 to 22 at </a:t>
            </a:r>
            <a:r>
              <a:rPr lang="en-GB" b="1" dirty="0" err="1"/>
              <a:t>Bhrikuti</a:t>
            </a:r>
            <a:r>
              <a:rPr lang="en-GB" b="1" dirty="0"/>
              <a:t> Mandap, Exhibition Hall, Kathmandu. We will set up our stall in the early morning of May 10 and we will be involved in this big event in a big way this year.</a:t>
            </a:r>
          </a:p>
          <a:p>
            <a:pPr marL="0" indent="0">
              <a:buNone/>
            </a:pPr>
            <a:r>
              <a:rPr lang="en-GB" b="1" dirty="0"/>
              <a:t>Except for some staff in the sales department, everyone has been assigned specific tasks at the fair. They should report directly to our stall at </a:t>
            </a:r>
            <a:r>
              <a:rPr lang="en-GB" b="1" dirty="0" err="1"/>
              <a:t>Bhrikuti</a:t>
            </a:r>
            <a:r>
              <a:rPr lang="en-GB" b="1" dirty="0"/>
              <a:t> Mandap during the period of the fair.</a:t>
            </a:r>
          </a:p>
          <a:p>
            <a:pPr marL="0" indent="0">
              <a:buNone/>
            </a:pPr>
            <a:r>
              <a:rPr lang="en-GB" b="1" dirty="0"/>
              <a:t>Please review the attachment for your role in the fair.</a:t>
            </a:r>
          </a:p>
          <a:p>
            <a:pPr marL="0" indent="0">
              <a:buNone/>
            </a:pPr>
            <a:r>
              <a:rPr lang="en-GB" b="1" dirty="0" err="1"/>
              <a:t>rc</a:t>
            </a:r>
            <a:endParaRPr lang="en-GB" b="1" dirty="0"/>
          </a:p>
          <a:p>
            <a:pPr marL="0" indent="0">
              <a:buNone/>
            </a:pPr>
            <a:r>
              <a:rPr lang="en-GB" b="1" dirty="0"/>
              <a:t>CC: Staff members</a:t>
            </a:r>
          </a:p>
          <a:p>
            <a:pPr marL="0" indent="0">
              <a:buNone/>
            </a:pPr>
            <a:r>
              <a:rPr lang="en-GB" b="1" dirty="0"/>
              <a:t>Attachment: Book fair task for individual staff</a:t>
            </a:r>
          </a:p>
          <a:p>
            <a:pPr marL="0" indent="0">
              <a:buNone/>
            </a:pPr>
            <a:endParaRPr lang="en-GB" dirty="0"/>
          </a:p>
        </p:txBody>
      </p:sp>
    </p:spTree>
    <p:extLst>
      <p:ext uri="{BB962C8B-B14F-4D97-AF65-F5344CB8AC3E}">
        <p14:creationId xmlns:p14="http://schemas.microsoft.com/office/powerpoint/2010/main" val="2065923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751BF7-4405-4FA5-B129-FA76FE194417}"/>
              </a:ext>
            </a:extLst>
          </p:cNvPr>
          <p:cNvSpPr>
            <a:spLocks noGrp="1"/>
          </p:cNvSpPr>
          <p:nvPr>
            <p:ph type="title"/>
          </p:nvPr>
        </p:nvSpPr>
        <p:spPr>
          <a:xfrm>
            <a:off x="1981200" y="-62753"/>
            <a:ext cx="8229600" cy="842682"/>
          </a:xfrm>
        </p:spPr>
        <p:txBody>
          <a:bodyPr>
            <a:noAutofit/>
          </a:bodyPr>
          <a:lstStyle/>
          <a:p>
            <a:pPr algn="ctr"/>
            <a:r>
              <a:rPr lang="en-US" sz="2800" b="1" dirty="0">
                <a:solidFill>
                  <a:srgbClr val="FF0000"/>
                </a:solidFill>
              </a:rPr>
              <a:t>Memo</a:t>
            </a:r>
            <a:br>
              <a:rPr lang="en-US" sz="2800" b="1" dirty="0">
                <a:solidFill>
                  <a:srgbClr val="FF0000"/>
                </a:solidFill>
              </a:rPr>
            </a:br>
            <a:endParaRPr lang="en-GB" sz="2800" b="1" dirty="0">
              <a:solidFill>
                <a:srgbClr val="FF0000"/>
              </a:solidFill>
            </a:endParaRPr>
          </a:p>
        </p:txBody>
      </p:sp>
      <p:sp>
        <p:nvSpPr>
          <p:cNvPr id="3" name="Content Placeholder 2">
            <a:extLst>
              <a:ext uri="{FF2B5EF4-FFF2-40B4-BE49-F238E27FC236}">
                <a16:creationId xmlns="" xmlns:a16="http://schemas.microsoft.com/office/drawing/2014/main" id="{DD657699-77E6-4BAB-A845-FE1D82BA5C78}"/>
              </a:ext>
            </a:extLst>
          </p:cNvPr>
          <p:cNvSpPr>
            <a:spLocks noGrp="1"/>
          </p:cNvSpPr>
          <p:nvPr>
            <p:ph idx="1"/>
          </p:nvPr>
        </p:nvSpPr>
        <p:spPr>
          <a:xfrm>
            <a:off x="896471" y="685800"/>
            <a:ext cx="10632141" cy="5897562"/>
          </a:xfrm>
        </p:spPr>
        <p:txBody>
          <a:bodyPr>
            <a:normAutofit fontScale="55000" lnSpcReduction="20000"/>
          </a:bodyPr>
          <a:lstStyle/>
          <a:p>
            <a:pPr>
              <a:buNone/>
            </a:pPr>
            <a:r>
              <a:rPr lang="en-US" dirty="0"/>
              <a:t>	</a:t>
            </a:r>
            <a:r>
              <a:rPr lang="en-US" sz="2900" b="1" dirty="0" smtClean="0"/>
              <a:t>To</a:t>
            </a:r>
            <a:r>
              <a:rPr lang="en-US" sz="2900" b="1" dirty="0"/>
              <a:t>: all staff</a:t>
            </a:r>
          </a:p>
          <a:p>
            <a:pPr>
              <a:buNone/>
            </a:pPr>
            <a:r>
              <a:rPr lang="en-US" sz="2900" b="1" dirty="0"/>
              <a:t>	From: The Manager</a:t>
            </a:r>
          </a:p>
          <a:p>
            <a:pPr>
              <a:buNone/>
            </a:pPr>
            <a:r>
              <a:rPr lang="en-US" sz="2900" b="1" dirty="0"/>
              <a:t>	Date: may 27, 2010</a:t>
            </a:r>
          </a:p>
          <a:p>
            <a:pPr>
              <a:buNone/>
            </a:pPr>
            <a:r>
              <a:rPr lang="en-US" sz="2900" b="1" dirty="0"/>
              <a:t>	</a:t>
            </a:r>
          </a:p>
          <a:p>
            <a:pPr>
              <a:buNone/>
            </a:pPr>
            <a:r>
              <a:rPr lang="en-US" sz="2900" b="1" dirty="0"/>
              <a:t>	Subject: Suggestions to Economize the Operating Cost</a:t>
            </a:r>
          </a:p>
          <a:p>
            <a:pPr>
              <a:buNone/>
            </a:pPr>
            <a:r>
              <a:rPr lang="en-US" sz="2900" b="1" dirty="0"/>
              <a:t>	</a:t>
            </a:r>
          </a:p>
          <a:p>
            <a:pPr>
              <a:buNone/>
            </a:pPr>
            <a:r>
              <a:rPr lang="en-US" sz="2900" b="1" dirty="0"/>
              <a:t>	It has come to my attention that there has been unwise use of paper, electricity and other office materials in our company resulting the high operating cost. In order to bring about a balance between market price and the operating cost of the company, We have to minimize in using paper and electricity. Unless we bring a perfect balance, we have to decrease the number of staff in the office.</a:t>
            </a:r>
          </a:p>
          <a:p>
            <a:pPr>
              <a:buNone/>
            </a:pPr>
            <a:r>
              <a:rPr lang="en-US" sz="2900" b="1" dirty="0"/>
              <a:t>	Saving electricity can also help us manage the office to a larger extent. Similarly, we should be more economical in using printing papers. While printing the documents we can use both side and with small fonts as well.</a:t>
            </a:r>
          </a:p>
          <a:p>
            <a:pPr>
              <a:buNone/>
            </a:pPr>
            <a:r>
              <a:rPr lang="en-US" sz="2900" b="1" dirty="0"/>
              <a:t>	By the same token, we can also be economical in using stationary items. When the office is off, it is imperative to switch off the mains. Instead of dispatching letters and memo, it is better to send messages through email and other electronic mediums. It will also help us to save paper and ink to some extent.</a:t>
            </a:r>
          </a:p>
          <a:p>
            <a:pPr>
              <a:buNone/>
            </a:pPr>
            <a:r>
              <a:rPr lang="en-US" sz="2900" b="1" dirty="0"/>
              <a:t>	My point is that we should use the materials and electricity wisely to bring about positive outputs. I thank conscious use of resource may help to minimize the operating cost.</a:t>
            </a:r>
          </a:p>
          <a:p>
            <a:pPr>
              <a:buNone/>
            </a:pPr>
            <a:r>
              <a:rPr lang="en-US" sz="2900" b="1" dirty="0"/>
              <a:t>	</a:t>
            </a:r>
          </a:p>
          <a:p>
            <a:pPr>
              <a:buNone/>
            </a:pPr>
            <a:r>
              <a:rPr lang="en-US" sz="2900" b="1" dirty="0"/>
              <a:t>	Regards,</a:t>
            </a:r>
          </a:p>
          <a:p>
            <a:pPr>
              <a:buNone/>
            </a:pPr>
            <a:r>
              <a:rPr lang="en-US" sz="2900" b="1" dirty="0"/>
              <a:t> 	</a:t>
            </a:r>
            <a:r>
              <a:rPr lang="en-US" sz="2900" b="1" dirty="0" err="1"/>
              <a:t>S.K.Adhikari</a:t>
            </a:r>
            <a:endParaRPr lang="en-US" sz="2900" b="1" dirty="0"/>
          </a:p>
          <a:p>
            <a:pPr>
              <a:buNone/>
            </a:pPr>
            <a:r>
              <a:rPr lang="en-US" dirty="0"/>
              <a:t/>
            </a:r>
            <a:br>
              <a:rPr lang="en-US" dirty="0"/>
            </a:br>
            <a:endParaRPr lang="en-US" dirty="0"/>
          </a:p>
          <a:p>
            <a:endParaRPr lang="en-GB" dirty="0"/>
          </a:p>
        </p:txBody>
      </p:sp>
    </p:spTree>
    <p:extLst>
      <p:ext uri="{BB962C8B-B14F-4D97-AF65-F5344CB8AC3E}">
        <p14:creationId xmlns:p14="http://schemas.microsoft.com/office/powerpoint/2010/main" val="24523347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latin typeface="Times New Roman" panose="02020603050405020304" pitchFamily="18" charset="0"/>
                <a:cs typeface="Times New Roman" panose="02020603050405020304" pitchFamily="18" charset="0"/>
              </a:rPr>
              <a:t>Job application letter</a:t>
            </a:r>
          </a:p>
        </p:txBody>
      </p:sp>
      <p:sp>
        <p:nvSpPr>
          <p:cNvPr id="3" name="Content Placeholder 2"/>
          <p:cNvSpPr>
            <a:spLocks noGrp="1"/>
          </p:cNvSpPr>
          <p:nvPr>
            <p:ph idx="1"/>
          </p:nvPr>
        </p:nvSpPr>
        <p:spPr/>
        <p:txBody>
          <a:bodyPr/>
          <a:lstStyle/>
          <a:p>
            <a:r>
              <a:rPr lang="en-US" b="1" dirty="0"/>
              <a:t>Be specific</a:t>
            </a:r>
          </a:p>
          <a:p>
            <a:r>
              <a:rPr lang="en-US" b="1" dirty="0"/>
              <a:t>Follow standard format</a:t>
            </a:r>
          </a:p>
          <a:p>
            <a:r>
              <a:rPr lang="en-US" b="1" dirty="0"/>
              <a:t>Grab attention</a:t>
            </a:r>
          </a:p>
          <a:p>
            <a:r>
              <a:rPr lang="en-US" b="1" dirty="0"/>
              <a:t>Sell your skills and qualification</a:t>
            </a:r>
          </a:p>
          <a:p>
            <a:r>
              <a:rPr lang="en-US" b="1" dirty="0"/>
              <a:t>Never volunteer salary information unless an employer asks for it.</a:t>
            </a:r>
          </a:p>
          <a:p>
            <a:r>
              <a:rPr lang="en-US" b="1" dirty="0"/>
              <a:t>Keep it short—and keep e-mail cover letters even shorter.</a:t>
            </a:r>
          </a:p>
          <a:p>
            <a:r>
              <a:rPr lang="en-US" b="1" dirty="0"/>
              <a:t>Show some personality</a:t>
            </a:r>
          </a:p>
          <a:p>
            <a:r>
              <a:rPr lang="en-US" b="1" dirty="0"/>
              <a:t>Aim for high quality</a:t>
            </a:r>
            <a:endParaRPr lang="en-US" dirty="0"/>
          </a:p>
          <a:p>
            <a:endParaRPr lang="en-GB" dirty="0"/>
          </a:p>
        </p:txBody>
      </p:sp>
    </p:spTree>
    <p:extLst>
      <p:ext uri="{BB962C8B-B14F-4D97-AF65-F5344CB8AC3E}">
        <p14:creationId xmlns:p14="http://schemas.microsoft.com/office/powerpoint/2010/main" val="14431070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BBFD26-C647-4FA8-A56A-AD1DE4A32298}"/>
              </a:ext>
            </a:extLst>
          </p:cNvPr>
          <p:cNvSpPr>
            <a:spLocks noGrp="1"/>
          </p:cNvSpPr>
          <p:nvPr>
            <p:ph type="title"/>
          </p:nvPr>
        </p:nvSpPr>
        <p:spPr>
          <a:xfrm>
            <a:off x="838200" y="317991"/>
            <a:ext cx="10515600" cy="1325563"/>
          </a:xfrm>
        </p:spPr>
        <p:txBody>
          <a:bodyPr/>
          <a:lstStyle/>
          <a:p>
            <a:r>
              <a:rPr lang="en-GB" b="1" dirty="0">
                <a:solidFill>
                  <a:srgbClr val="0070C0"/>
                </a:solidFill>
                <a:latin typeface="Times New Roman" panose="02020603050405020304" pitchFamily="18" charset="0"/>
                <a:cs typeface="Times New Roman" panose="02020603050405020304" pitchFamily="18" charset="0"/>
              </a:rPr>
              <a:t>Format</a:t>
            </a:r>
          </a:p>
        </p:txBody>
      </p:sp>
      <p:sp>
        <p:nvSpPr>
          <p:cNvPr id="3" name="Content Placeholder 2">
            <a:extLst>
              <a:ext uri="{FF2B5EF4-FFF2-40B4-BE49-F238E27FC236}">
                <a16:creationId xmlns:a16="http://schemas.microsoft.com/office/drawing/2014/main" xmlns="" id="{E8130F33-E433-4E86-BF89-931668738D8A}"/>
              </a:ext>
            </a:extLst>
          </p:cNvPr>
          <p:cNvSpPr>
            <a:spLocks noGrp="1"/>
          </p:cNvSpPr>
          <p:nvPr>
            <p:ph idx="1"/>
          </p:nvPr>
        </p:nvSpPr>
        <p:spPr>
          <a:xfrm>
            <a:off x="358219" y="1825625"/>
            <a:ext cx="11519554" cy="4351338"/>
          </a:xfrm>
        </p:spPr>
        <p:txBody>
          <a:bodyPr>
            <a:normAutofit fontScale="85000" lnSpcReduction="20000"/>
          </a:bodyPr>
          <a:lstStyle/>
          <a:p>
            <a:pPr>
              <a:buNone/>
            </a:pPr>
            <a:r>
              <a:rPr lang="en-US" dirty="0">
                <a:latin typeface="Times New Roman" panose="02020603050405020304" pitchFamily="18" charset="0"/>
                <a:cs typeface="Times New Roman" panose="02020603050405020304" pitchFamily="18" charset="0"/>
              </a:rPr>
              <a:t>Sender’s address</a:t>
            </a:r>
          </a:p>
          <a:p>
            <a:pPr>
              <a:buNone/>
            </a:pPr>
            <a:r>
              <a:rPr lang="en-US" dirty="0">
                <a:latin typeface="Times New Roman" panose="02020603050405020304" pitchFamily="18" charset="0"/>
                <a:cs typeface="Times New Roman" panose="02020603050405020304" pitchFamily="18" charset="0"/>
              </a:rPr>
              <a:t>Date</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Receiver</a:t>
            </a:r>
          </a:p>
          <a:p>
            <a:pPr>
              <a:buNone/>
            </a:pPr>
            <a:r>
              <a:rPr lang="en-US" dirty="0">
                <a:latin typeface="Times New Roman" panose="02020603050405020304" pitchFamily="18" charset="0"/>
                <a:cs typeface="Times New Roman" panose="02020603050405020304" pitchFamily="18" charset="0"/>
              </a:rPr>
              <a:t>Organization </a:t>
            </a:r>
          </a:p>
          <a:p>
            <a:pPr>
              <a:buNone/>
            </a:pPr>
            <a:r>
              <a:rPr lang="en-US" dirty="0" smtClean="0">
                <a:latin typeface="Times New Roman" panose="02020603050405020304" pitchFamily="18" charset="0"/>
                <a:cs typeface="Times New Roman" panose="02020603050405020304" pitchFamily="18" charset="0"/>
              </a:rPr>
              <a:t>Address</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Subject :</a:t>
            </a:r>
          </a:p>
          <a:p>
            <a:pPr>
              <a:buNone/>
            </a:pPr>
            <a:r>
              <a:rPr lang="en-US" dirty="0">
                <a:latin typeface="Times New Roman" panose="02020603050405020304" pitchFamily="18" charset="0"/>
                <a:cs typeface="Times New Roman" panose="02020603050405020304" pitchFamily="18" charset="0"/>
              </a:rPr>
              <a:t>Dear sir/ madam,</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pPr>
              <a:buNone/>
            </a:pPr>
            <a:endParaRPr lang="en-US" dirty="0"/>
          </a:p>
          <a:p>
            <a:endParaRPr lang="en-US" dirty="0"/>
          </a:p>
          <a:p>
            <a:endParaRPr lang="en-GB" dirty="0"/>
          </a:p>
        </p:txBody>
      </p:sp>
    </p:spTree>
    <p:extLst>
      <p:ext uri="{BB962C8B-B14F-4D97-AF65-F5344CB8AC3E}">
        <p14:creationId xmlns:p14="http://schemas.microsoft.com/office/powerpoint/2010/main" val="11723017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787FDE-8EA6-4D04-871E-83FF7E71B2CD}"/>
              </a:ext>
            </a:extLst>
          </p:cNvPr>
          <p:cNvSpPr>
            <a:spLocks noGrp="1"/>
          </p:cNvSpPr>
          <p:nvPr>
            <p:ph type="title"/>
          </p:nvPr>
        </p:nvSpPr>
        <p:spPr>
          <a:xfrm>
            <a:off x="838200" y="365125"/>
            <a:ext cx="10515600" cy="662397"/>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45925EA1-CF62-488B-BBDA-4B732002D0B3}"/>
              </a:ext>
            </a:extLst>
          </p:cNvPr>
          <p:cNvSpPr>
            <a:spLocks noGrp="1"/>
          </p:cNvSpPr>
          <p:nvPr>
            <p:ph idx="1"/>
          </p:nvPr>
        </p:nvSpPr>
        <p:spPr>
          <a:xfrm>
            <a:off x="443059" y="1131216"/>
            <a:ext cx="11528981" cy="5561815"/>
          </a:xfrm>
        </p:spPr>
        <p:txBody>
          <a:bodyPr>
            <a:normAutofit lnSpcReduction="10000"/>
          </a:bodyPr>
          <a:lstStyle/>
          <a:p>
            <a:pPr>
              <a:buNone/>
            </a:pPr>
            <a:r>
              <a:rPr lang="en-US" dirty="0"/>
              <a:t>	</a:t>
            </a:r>
            <a:r>
              <a:rPr lang="en-US" dirty="0">
                <a:latin typeface="Times New Roman" panose="02020603050405020304" pitchFamily="18" charset="0"/>
                <a:cs typeface="Times New Roman" panose="02020603050405020304" pitchFamily="18" charset="0"/>
              </a:rPr>
              <a:t>I am writing to express my interest in…/ With reference to/ In response to the advertisement../ I wish to apply………………. .Since I meet all required qualification and experience condition, I have </a:t>
            </a:r>
            <a:r>
              <a:rPr lang="en-US" dirty="0" smtClean="0">
                <a:latin typeface="Times New Roman" panose="02020603050405020304" pitchFamily="18" charset="0"/>
                <a:cs typeface="Times New Roman" panose="02020603050405020304" pitchFamily="18" charset="0"/>
              </a:rPr>
              <a:t>presented my candidacy for </a:t>
            </a:r>
            <a:r>
              <a:rPr lang="en-US" dirty="0">
                <a:latin typeface="Times New Roman" panose="02020603050405020304" pitchFamily="18" charset="0"/>
                <a:cs typeface="Times New Roman" panose="02020603050405020304" pitchFamily="18" charset="0"/>
              </a:rPr>
              <a:t>this post. I am a young, energetic, dynamic and dedicated candidate having sound academic background and work experience in this field. I have passed…………………………. I have been working in ……….as ………….for…... My work experience includes…………………… I possess sound command in both spoken and written English. I have attached my resume and other testimonials along with this letter.</a:t>
            </a:r>
          </a:p>
          <a:p>
            <a:pPr>
              <a:buNone/>
            </a:pPr>
            <a:r>
              <a:rPr lang="en-US" dirty="0">
                <a:latin typeface="Times New Roman" panose="02020603050405020304" pitchFamily="18" charset="0"/>
                <a:cs typeface="Times New Roman" panose="02020603050405020304" pitchFamily="18" charset="0"/>
              </a:rPr>
              <a:t> 	If I am given an opportunity to work in your company, I will discharge my duties and responsibilities most sincerely.</a:t>
            </a:r>
          </a:p>
          <a:p>
            <a:pPr>
              <a:buNone/>
            </a:pPr>
            <a:r>
              <a:rPr lang="en-US" dirty="0">
                <a:latin typeface="Times New Roman" panose="02020603050405020304" pitchFamily="18" charset="0"/>
                <a:cs typeface="Times New Roman" panose="02020603050405020304" pitchFamily="18" charset="0"/>
              </a:rPr>
              <a:t>	Looking forward to hearing from you soon.</a:t>
            </a:r>
          </a:p>
          <a:p>
            <a:pPr>
              <a:buNone/>
            </a:pPr>
            <a:r>
              <a:rPr lang="en-US" dirty="0">
                <a:latin typeface="Times New Roman" panose="02020603050405020304" pitchFamily="18" charset="0"/>
                <a:cs typeface="Times New Roman" panose="02020603050405020304" pitchFamily="18" charset="0"/>
              </a:rPr>
              <a:t>	Yours sincerely</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pPr>
              <a:buNone/>
            </a:pPr>
            <a:endParaRPr lang="en-US" dirty="0"/>
          </a:p>
          <a:p>
            <a:endParaRPr lang="en-US" dirty="0"/>
          </a:p>
          <a:p>
            <a:endParaRPr lang="en-GB" dirty="0"/>
          </a:p>
        </p:txBody>
      </p:sp>
    </p:spTree>
    <p:extLst>
      <p:ext uri="{BB962C8B-B14F-4D97-AF65-F5344CB8AC3E}">
        <p14:creationId xmlns:p14="http://schemas.microsoft.com/office/powerpoint/2010/main" val="19631165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2C54B7-7462-4159-97EC-CAB5C387B761}"/>
              </a:ext>
            </a:extLst>
          </p:cNvPr>
          <p:cNvSpPr>
            <a:spLocks noGrp="1"/>
          </p:cNvSpPr>
          <p:nvPr>
            <p:ph type="title"/>
          </p:nvPr>
        </p:nvSpPr>
        <p:spPr>
          <a:xfrm>
            <a:off x="1981200" y="274639"/>
            <a:ext cx="8229600" cy="457199"/>
          </a:xfrm>
        </p:spPr>
        <p:txBody>
          <a:bodyPr>
            <a:normAutofit fontScale="90000"/>
          </a:bodyPr>
          <a:lstStyle/>
          <a:p>
            <a:r>
              <a:rPr lang="en-GB" b="1" dirty="0">
                <a:solidFill>
                  <a:srgbClr val="002060"/>
                </a:solidFill>
              </a:rPr>
              <a:t>A sample</a:t>
            </a:r>
          </a:p>
        </p:txBody>
      </p:sp>
      <p:sp>
        <p:nvSpPr>
          <p:cNvPr id="3" name="Content Placeholder 2">
            <a:extLst>
              <a:ext uri="{FF2B5EF4-FFF2-40B4-BE49-F238E27FC236}">
                <a16:creationId xmlns:a16="http://schemas.microsoft.com/office/drawing/2014/main" xmlns="" id="{80E85407-C388-42F8-A13A-E66522D15FBA}"/>
              </a:ext>
            </a:extLst>
          </p:cNvPr>
          <p:cNvSpPr>
            <a:spLocks noGrp="1"/>
          </p:cNvSpPr>
          <p:nvPr>
            <p:ph idx="1"/>
          </p:nvPr>
        </p:nvSpPr>
        <p:spPr>
          <a:xfrm>
            <a:off x="603315" y="838200"/>
            <a:ext cx="11189617" cy="5745162"/>
          </a:xfrm>
        </p:spPr>
        <p:txBody>
          <a:bodyPr>
            <a:normAutofit fontScale="85000" lnSpcReduction="20000"/>
          </a:bodyPr>
          <a:lstStyle/>
          <a:p>
            <a:pPr>
              <a:buNone/>
            </a:pPr>
            <a:r>
              <a:rPr lang="en-US" dirty="0"/>
              <a:t>	</a:t>
            </a:r>
            <a:r>
              <a:rPr lang="en-US" dirty="0" err="1">
                <a:latin typeface="Times New Roman" panose="02020603050405020304" pitchFamily="18" charset="0"/>
                <a:cs typeface="Times New Roman" panose="02020603050405020304" pitchFamily="18" charset="0"/>
              </a:rPr>
              <a:t>Mahendranagar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Kanchanpur</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May 20 , </a:t>
            </a:r>
            <a:r>
              <a:rPr lang="en-US" dirty="0" smtClean="0">
                <a:latin typeface="Times New Roman" panose="02020603050405020304" pitchFamily="18" charset="0"/>
                <a:cs typeface="Times New Roman" panose="02020603050405020304" pitchFamily="18" charset="0"/>
              </a:rPr>
              <a:t>20….</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The Human Resource Manager</a:t>
            </a:r>
          </a:p>
          <a:p>
            <a:pPr>
              <a:buNone/>
            </a:pPr>
            <a:r>
              <a:rPr lang="en-US" dirty="0">
                <a:latin typeface="Times New Roman" panose="02020603050405020304" pitchFamily="18" charset="0"/>
                <a:cs typeface="Times New Roman" panose="02020603050405020304" pitchFamily="18" charset="0"/>
              </a:rPr>
              <a:t>	 The Food and Agriculture Organization (UNO)</a:t>
            </a:r>
          </a:p>
          <a:p>
            <a:pPr>
              <a:buNone/>
            </a:pPr>
            <a:r>
              <a:rPr lang="en-US" dirty="0">
                <a:latin typeface="Times New Roman" panose="02020603050405020304" pitchFamily="18" charset="0"/>
                <a:cs typeface="Times New Roman" panose="02020603050405020304" pitchFamily="18" charset="0"/>
              </a:rPr>
              <a:t>	 Kathmandu, Nepal</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Subject : A job application</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Sir/ Madam,</a:t>
            </a:r>
          </a:p>
          <a:p>
            <a:pPr>
              <a:buNone/>
            </a:pP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I am writing to express my interest in acquiring a position of</a:t>
            </a:r>
            <a:r>
              <a:rPr lang="en-US" dirty="0">
                <a:latin typeface="Times New Roman" panose="02020603050405020304" pitchFamily="18" charset="0"/>
                <a:cs typeface="Times New Roman" panose="02020603050405020304" pitchFamily="18" charset="0"/>
              </a:rPr>
              <a:t> Senior National Administrative Officer in your organization. I am very familiar with your organization’s excellent reputation </a:t>
            </a: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the field of agriculture and food supply in Nepal and abroad. </a:t>
            </a:r>
            <a:r>
              <a:rPr lang="en-US" dirty="0">
                <a:solidFill>
                  <a:srgbClr val="FF0000"/>
                </a:solidFill>
                <a:latin typeface="Times New Roman" panose="02020603050405020304" pitchFamily="18" charset="0"/>
                <a:cs typeface="Times New Roman" panose="02020603050405020304" pitchFamily="18" charset="0"/>
              </a:rPr>
              <a:t>Since I meet all required qualification and experience conditions, I have preferred this job.</a:t>
            </a:r>
          </a:p>
          <a:p>
            <a:endParaRPr lang="en-US" dirty="0">
              <a:solidFill>
                <a:srgbClr val="FF0000"/>
              </a:solidFill>
            </a:endParaRPr>
          </a:p>
          <a:p>
            <a:endParaRPr lang="en-US" dirty="0"/>
          </a:p>
          <a:p>
            <a:endParaRPr lang="en-GB" dirty="0"/>
          </a:p>
        </p:txBody>
      </p:sp>
    </p:spTree>
    <p:extLst>
      <p:ext uri="{BB962C8B-B14F-4D97-AF65-F5344CB8AC3E}">
        <p14:creationId xmlns:p14="http://schemas.microsoft.com/office/powerpoint/2010/main" val="29408045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9C4C4A-FBDB-4817-85F8-980D4A2C2454}"/>
              </a:ext>
            </a:extLst>
          </p:cNvPr>
          <p:cNvSpPr>
            <a:spLocks noGrp="1"/>
          </p:cNvSpPr>
          <p:nvPr>
            <p:ph type="title"/>
          </p:nvPr>
        </p:nvSpPr>
        <p:spPr>
          <a:xfrm>
            <a:off x="838200" y="365125"/>
            <a:ext cx="10515600" cy="643543"/>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CE00B867-15A8-431D-805A-5D16751434A2}"/>
              </a:ext>
            </a:extLst>
          </p:cNvPr>
          <p:cNvSpPr>
            <a:spLocks noGrp="1"/>
          </p:cNvSpPr>
          <p:nvPr>
            <p:ph idx="1"/>
          </p:nvPr>
        </p:nvSpPr>
        <p:spPr>
          <a:xfrm>
            <a:off x="622169" y="1008668"/>
            <a:ext cx="11312165" cy="5646656"/>
          </a:xfrm>
        </p:spPr>
        <p:txBody>
          <a:bodyPr>
            <a:normAutofit/>
          </a:bodyPr>
          <a:lstStyle/>
          <a:p>
            <a:pPr>
              <a:buNone/>
            </a:pPr>
            <a:r>
              <a:rPr lang="en-US" dirty="0"/>
              <a:t>	</a:t>
            </a:r>
            <a:r>
              <a:rPr lang="en-US" dirty="0">
                <a:solidFill>
                  <a:srgbClr val="FF0000"/>
                </a:solidFill>
                <a:latin typeface="Times New Roman" panose="02020603050405020304" pitchFamily="18" charset="0"/>
                <a:cs typeface="Times New Roman" panose="02020603050405020304" pitchFamily="18" charset="0"/>
              </a:rPr>
              <a:t>My experience encompasses </a:t>
            </a:r>
            <a:r>
              <a:rPr lang="en-US" dirty="0">
                <a:latin typeface="Times New Roman" panose="02020603050405020304" pitchFamily="18" charset="0"/>
                <a:cs typeface="Times New Roman" panose="02020603050405020304" pitchFamily="18" charset="0"/>
              </a:rPr>
              <a:t>5 years in the field of supply and marketing  in UNDP. I possess excellent persuasive communication skills and I am able to communicate with people at all job levels. </a:t>
            </a:r>
            <a:r>
              <a:rPr lang="en-US" dirty="0">
                <a:solidFill>
                  <a:srgbClr val="FF0000"/>
                </a:solidFill>
                <a:latin typeface="Times New Roman" panose="02020603050405020304" pitchFamily="18" charset="0"/>
                <a:cs typeface="Times New Roman" panose="02020603050405020304" pitchFamily="18" charset="0"/>
              </a:rPr>
              <a:t>I am experienced in </a:t>
            </a:r>
            <a:r>
              <a:rPr lang="en-US" dirty="0">
                <a:latin typeface="Times New Roman" panose="02020603050405020304" pitchFamily="18" charset="0"/>
                <a:cs typeface="Times New Roman" panose="02020603050405020304" pitchFamily="18" charset="0"/>
              </a:rPr>
              <a:t>administrative and logistic skills at both national and international level. I hold M. Phil. degree in business management from TU, Nepal. I am extremely detail oriented, highly motivated and my work ethic is second to </a:t>
            </a:r>
            <a:r>
              <a:rPr lang="en-US" dirty="0" err="1">
                <a:latin typeface="Times New Roman" panose="02020603050405020304" pitchFamily="18" charset="0"/>
                <a:cs typeface="Times New Roman" panose="02020603050405020304" pitchFamily="18" charset="0"/>
              </a:rPr>
              <a:t>none.I</a:t>
            </a:r>
            <a:r>
              <a:rPr lang="en-US" dirty="0">
                <a:latin typeface="Times New Roman" panose="02020603050405020304" pitchFamily="18" charset="0"/>
                <a:cs typeface="Times New Roman" panose="02020603050405020304" pitchFamily="18" charset="0"/>
              </a:rPr>
              <a:t> possess sound command in both spoken and written English. I have attached my resume and other testimonials along with this letter.</a:t>
            </a:r>
          </a:p>
          <a:p>
            <a:pPr>
              <a:buNone/>
            </a:pP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If I am given an opportunity to work in your company, I will discharge my duties and responsibilities most sincerely.</a:t>
            </a:r>
          </a:p>
          <a:p>
            <a:pPr>
              <a:buNone/>
            </a:pPr>
            <a:r>
              <a:rPr lang="en-US" dirty="0">
                <a:solidFill>
                  <a:srgbClr val="FF0000"/>
                </a:solidFill>
                <a:latin typeface="Times New Roman" panose="02020603050405020304" pitchFamily="18" charset="0"/>
                <a:cs typeface="Times New Roman" panose="02020603050405020304" pitchFamily="18" charset="0"/>
              </a:rPr>
              <a:t>	Looking forward to hearing from you soon.</a:t>
            </a:r>
          </a:p>
          <a:p>
            <a:pPr>
              <a:buNone/>
            </a:pPr>
            <a:r>
              <a:rPr lang="en-US" dirty="0">
                <a:solidFill>
                  <a:srgbClr val="FF0000"/>
                </a:solidFill>
                <a:latin typeface="Times New Roman" panose="02020603050405020304" pitchFamily="18" charset="0"/>
                <a:cs typeface="Times New Roman" panose="02020603050405020304" pitchFamily="18" charset="0"/>
              </a:rPr>
              <a:t>	Yours sincerely</a:t>
            </a:r>
          </a:p>
          <a:p>
            <a:pPr>
              <a:buNone/>
            </a:pPr>
            <a:r>
              <a:rPr lang="en-US" dirty="0">
                <a:solidFill>
                  <a:srgbClr val="FF0000"/>
                </a:solidFill>
                <a:latin typeface="Times New Roman" panose="02020603050405020304" pitchFamily="18" charset="0"/>
                <a:cs typeface="Times New Roman" panose="02020603050405020304" pitchFamily="18" charset="0"/>
              </a:rPr>
              <a:t>	…………….</a:t>
            </a:r>
          </a:p>
          <a:p>
            <a:pPr>
              <a:buNone/>
            </a:pPr>
            <a:endParaRPr lang="en-US" dirty="0"/>
          </a:p>
          <a:p>
            <a:endParaRPr lang="en-US" dirty="0"/>
          </a:p>
          <a:p>
            <a:endParaRPr lang="en-GB" dirty="0"/>
          </a:p>
        </p:txBody>
      </p:sp>
    </p:spTree>
    <p:extLst>
      <p:ext uri="{BB962C8B-B14F-4D97-AF65-F5344CB8AC3E}">
        <p14:creationId xmlns:p14="http://schemas.microsoft.com/office/powerpoint/2010/main" val="2611745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7D4014-75FF-4068-8ED0-6DC7CF9FCFE6}"/>
              </a:ext>
            </a:extLst>
          </p:cNvPr>
          <p:cNvSpPr>
            <a:spLocks noGrp="1"/>
          </p:cNvSpPr>
          <p:nvPr>
            <p:ph type="title"/>
          </p:nvPr>
        </p:nvSpPr>
        <p:spPr>
          <a:xfrm>
            <a:off x="433633" y="274637"/>
            <a:ext cx="9777167" cy="1045115"/>
          </a:xfrm>
        </p:spPr>
        <p:txBody>
          <a:bodyPr>
            <a:normAutofit fontScale="90000"/>
          </a:bodyPr>
          <a:lstStyle/>
          <a:p>
            <a:r>
              <a:rPr lang="en-GB" dirty="0"/>
              <a:t/>
            </a:r>
            <a:br>
              <a:rPr lang="en-GB" dirty="0"/>
            </a:br>
            <a:r>
              <a:rPr lang="en-US" sz="3100" b="1" dirty="0">
                <a:solidFill>
                  <a:srgbClr val="0070C0"/>
                </a:solidFill>
              </a:rPr>
              <a:t>Sample Cover Letter - Entry Level Finance Position</a:t>
            </a:r>
            <a:r>
              <a:rPr lang="en-US" dirty="0"/>
              <a:t/>
            </a:r>
            <a:br>
              <a:rPr lang="en-US" dirty="0"/>
            </a:br>
            <a:endParaRPr lang="en-GB" dirty="0"/>
          </a:p>
        </p:txBody>
      </p:sp>
      <p:sp>
        <p:nvSpPr>
          <p:cNvPr id="3" name="Content Placeholder 2">
            <a:extLst>
              <a:ext uri="{FF2B5EF4-FFF2-40B4-BE49-F238E27FC236}">
                <a16:creationId xmlns:a16="http://schemas.microsoft.com/office/drawing/2014/main" xmlns="" id="{077D556D-9219-4E73-BF1F-9EF1BB9B56BA}"/>
              </a:ext>
            </a:extLst>
          </p:cNvPr>
          <p:cNvSpPr>
            <a:spLocks noGrp="1"/>
          </p:cNvSpPr>
          <p:nvPr>
            <p:ph idx="1"/>
          </p:nvPr>
        </p:nvSpPr>
        <p:spPr>
          <a:xfrm>
            <a:off x="575035" y="914400"/>
            <a:ext cx="11029361" cy="5715000"/>
          </a:xfrm>
        </p:spPr>
        <p:txBody>
          <a:bodyPr>
            <a:normAutofit fontScale="92500" lnSpcReduction="20000"/>
          </a:bodyPr>
          <a:lstStyle/>
          <a:p>
            <a:pPr>
              <a:buNone/>
            </a:pPr>
            <a:r>
              <a:rPr lang="en-US" dirty="0"/>
              <a:t>	</a:t>
            </a:r>
            <a:r>
              <a:rPr lang="en-US" b="1" dirty="0"/>
              <a:t>	</a:t>
            </a:r>
          </a:p>
          <a:p>
            <a:pPr>
              <a:buNone/>
            </a:pPr>
            <a:r>
              <a:rPr lang="en-US" b="1" dirty="0">
                <a:latin typeface="Times New Roman" panose="02020603050405020304" pitchFamily="18" charset="0"/>
                <a:cs typeface="Times New Roman" panose="02020603050405020304" pitchFamily="18" charset="0"/>
              </a:rPr>
              <a:t>Your Contact Information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Address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City, State, Zip Code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Phone Number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Cell Phone Number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Email</a:t>
            </a:r>
          </a:p>
          <a:p>
            <a:pPr>
              <a:buNone/>
            </a:pPr>
            <a:r>
              <a:rPr lang="en-US" b="1" dirty="0">
                <a:latin typeface="Times New Roman" panose="02020603050405020304" pitchFamily="18" charset="0"/>
                <a:cs typeface="Times New Roman" panose="02020603050405020304" pitchFamily="18" charset="0"/>
              </a:rPr>
              <a:t>	Employer Contact Information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Name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Title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Company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Address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City, State, Zip Code</a:t>
            </a:r>
          </a:p>
          <a:p>
            <a:pPr>
              <a:buNone/>
            </a:pPr>
            <a:r>
              <a:rPr lang="en-US" dirty="0">
                <a:latin typeface="Times New Roman" panose="02020603050405020304" pitchFamily="18" charset="0"/>
                <a:cs typeface="Times New Roman" panose="02020603050405020304" pitchFamily="18" charset="0"/>
              </a:rPr>
              <a:t>	Date</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Subject:</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endParaRPr lang="en-GB" dirty="0"/>
          </a:p>
        </p:txBody>
      </p:sp>
    </p:spTree>
    <p:extLst>
      <p:ext uri="{BB962C8B-B14F-4D97-AF65-F5344CB8AC3E}">
        <p14:creationId xmlns:p14="http://schemas.microsoft.com/office/powerpoint/2010/main" val="2179882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B659F1-8E8B-456F-B4C6-F687B24ACEC4}"/>
              </a:ext>
            </a:extLst>
          </p:cNvPr>
          <p:cNvSpPr>
            <a:spLocks noGrp="1"/>
          </p:cNvSpPr>
          <p:nvPr>
            <p:ph type="title"/>
          </p:nvPr>
        </p:nvSpPr>
        <p:spPr>
          <a:xfrm>
            <a:off x="1981200" y="274638"/>
            <a:ext cx="8229600" cy="182562"/>
          </a:xfrm>
        </p:spPr>
        <p:txBody>
          <a:bodyPr>
            <a:normAutofit fontScale="90000"/>
          </a:bodyPr>
          <a:lstStyle/>
          <a:p>
            <a:r>
              <a:rPr lang="en-GB" dirty="0"/>
              <a:t>Contd..</a:t>
            </a:r>
          </a:p>
        </p:txBody>
      </p:sp>
      <p:sp>
        <p:nvSpPr>
          <p:cNvPr id="3" name="Content Placeholder 2">
            <a:extLst>
              <a:ext uri="{FF2B5EF4-FFF2-40B4-BE49-F238E27FC236}">
                <a16:creationId xmlns:a16="http://schemas.microsoft.com/office/drawing/2014/main" xmlns="" id="{18E943A6-78E4-4168-86C6-9040E1706CB2}"/>
              </a:ext>
            </a:extLst>
          </p:cNvPr>
          <p:cNvSpPr>
            <a:spLocks noGrp="1"/>
          </p:cNvSpPr>
          <p:nvPr>
            <p:ph idx="1"/>
          </p:nvPr>
        </p:nvSpPr>
        <p:spPr>
          <a:xfrm>
            <a:off x="612742" y="838199"/>
            <a:ext cx="10991654" cy="5949099"/>
          </a:xfrm>
        </p:spPr>
        <p:txBody>
          <a:bodyPr>
            <a:normAutofit fontScale="77500" lnSpcReduction="20000"/>
          </a:bodyPr>
          <a:lstStyle/>
          <a:p>
            <a:pPr>
              <a:buNone/>
            </a:pPr>
            <a:r>
              <a:rPr lang="en-US" dirty="0">
                <a:latin typeface="Times New Roman" panose="02020603050405020304" pitchFamily="18" charset="0"/>
                <a:cs typeface="Times New Roman" panose="02020603050405020304" pitchFamily="18" charset="0"/>
              </a:rPr>
              <a:t>Dear Mr./Ms. </a:t>
            </a:r>
            <a:r>
              <a:rPr lang="en-US" dirty="0" err="1">
                <a:latin typeface="Times New Roman" panose="02020603050405020304" pitchFamily="18" charset="0"/>
                <a:cs typeface="Times New Roman" panose="02020603050405020304" pitchFamily="18" charset="0"/>
              </a:rPr>
              <a:t>LastName</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	I am very interested in the entry-level position that is available at ABC Investment Partners. I recently graduated from XYZ University College and am actively seeking employment with firms in the San Francisco area.</a:t>
            </a:r>
          </a:p>
          <a:p>
            <a:pPr>
              <a:buNone/>
            </a:pPr>
            <a:r>
              <a:rPr lang="en-US" dirty="0">
                <a:latin typeface="Times New Roman" panose="02020603050405020304" pitchFamily="18" charset="0"/>
                <a:cs typeface="Times New Roman" panose="02020603050405020304" pitchFamily="18" charset="0"/>
              </a:rPr>
              <a:t>	My courses in investments, finance, and business have given me a solid base upon which I plan to build my career.</a:t>
            </a:r>
          </a:p>
          <a:p>
            <a:pPr>
              <a:buNone/>
            </a:pPr>
            <a:r>
              <a:rPr lang="en-US" dirty="0">
                <a:latin typeface="Times New Roman" panose="02020603050405020304" pitchFamily="18" charset="0"/>
                <a:cs typeface="Times New Roman" panose="02020603050405020304" pitchFamily="18" charset="0"/>
              </a:rPr>
              <a:t>	During my college internships, I dealt with a variety of budgets and conducted market research while handling numerous administrative duties. The experience allowed me to learn important skills and to develop the confidence needed to succeed in a competitive environment.</a:t>
            </a:r>
          </a:p>
          <a:p>
            <a:pPr>
              <a:buNone/>
            </a:pPr>
            <a:r>
              <a:rPr lang="en-US" dirty="0">
                <a:latin typeface="Times New Roman" panose="02020603050405020304" pitchFamily="18" charset="0"/>
                <a:cs typeface="Times New Roman" panose="02020603050405020304" pitchFamily="18" charset="0"/>
              </a:rPr>
              <a:t>	I have enclosed my resume for your review. Thank you for your time and consideration.</a:t>
            </a:r>
          </a:p>
          <a:p>
            <a:pPr>
              <a:buNone/>
            </a:pPr>
            <a:r>
              <a:rPr lang="en-US" dirty="0">
                <a:latin typeface="Times New Roman" panose="02020603050405020304" pitchFamily="18" charset="0"/>
                <a:cs typeface="Times New Roman" panose="02020603050405020304" pitchFamily="18" charset="0"/>
              </a:rPr>
              <a:t>	It would be a pleasure to interview with you and I look forward to hearing from you soon.</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Sincerely,</a:t>
            </a:r>
          </a:p>
          <a:p>
            <a:pPr>
              <a:buNone/>
            </a:pPr>
            <a:r>
              <a:rPr lang="en-US" i="1" dirty="0">
                <a:latin typeface="Times New Roman" panose="02020603050405020304" pitchFamily="18" charset="0"/>
                <a:cs typeface="Times New Roman" panose="02020603050405020304" pitchFamily="18" charset="0"/>
              </a:rPr>
              <a:t>	Your Signature </a:t>
            </a:r>
            <a:r>
              <a:rPr lang="en-US" dirty="0">
                <a:latin typeface="Times New Roman" panose="02020603050405020304" pitchFamily="18" charset="0"/>
                <a:cs typeface="Times New Roman" panose="02020603050405020304" pitchFamily="18" charset="0"/>
              </a:rPr>
              <a:t>(hard copy letter)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Your Typed Name</a:t>
            </a:r>
          </a:p>
          <a:p>
            <a:endParaRPr lang="en-GB" dirty="0"/>
          </a:p>
        </p:txBody>
      </p:sp>
    </p:spTree>
    <p:extLst>
      <p:ext uri="{BB962C8B-B14F-4D97-AF65-F5344CB8AC3E}">
        <p14:creationId xmlns:p14="http://schemas.microsoft.com/office/powerpoint/2010/main" val="1801833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54241E-78B6-4C02-8867-C086BBC5B6E4}"/>
              </a:ext>
            </a:extLst>
          </p:cNvPr>
          <p:cNvSpPr>
            <a:spLocks noGrp="1"/>
          </p:cNvSpPr>
          <p:nvPr>
            <p:ph type="title"/>
          </p:nvPr>
        </p:nvSpPr>
        <p:spPr/>
        <p:txBody>
          <a:bodyPr/>
          <a:lstStyle/>
          <a:p>
            <a:r>
              <a:rPr lang="en-GB" b="1" dirty="0">
                <a:solidFill>
                  <a:srgbClr val="002060"/>
                </a:solidFill>
                <a:latin typeface="Times New Roman" panose="02020603050405020304" pitchFamily="18" charset="0"/>
                <a:cs typeface="Times New Roman" panose="02020603050405020304" pitchFamily="18" charset="0"/>
              </a:rPr>
              <a:t>Resume/CV</a:t>
            </a:r>
          </a:p>
        </p:txBody>
      </p:sp>
      <p:sp>
        <p:nvSpPr>
          <p:cNvPr id="3" name="Content Placeholder 2">
            <a:extLst>
              <a:ext uri="{FF2B5EF4-FFF2-40B4-BE49-F238E27FC236}">
                <a16:creationId xmlns:a16="http://schemas.microsoft.com/office/drawing/2014/main" xmlns="" id="{A12802F4-AB56-4278-97A9-1CEB084B69B1}"/>
              </a:ext>
            </a:extLst>
          </p:cNvPr>
          <p:cNvSpPr>
            <a:spLocks noGrp="1"/>
          </p:cNvSpPr>
          <p:nvPr>
            <p:ph idx="1"/>
          </p:nvPr>
        </p:nvSpPr>
        <p:spPr>
          <a:xfrm>
            <a:off x="292231" y="1825625"/>
            <a:ext cx="11632676" cy="4820272"/>
          </a:xfrm>
        </p:spPr>
        <p:txBody>
          <a:bodyPr>
            <a:normAutofit lnSpcReduction="10000"/>
          </a:bodyPr>
          <a:lstStyle/>
          <a:p>
            <a:pPr marL="0" indent="0">
              <a:buNone/>
            </a:pPr>
            <a:r>
              <a:rPr lang="en-GB" dirty="0"/>
              <a:t>			</a:t>
            </a:r>
            <a:endParaRPr lang="en-GB" b="1" dirty="0"/>
          </a:p>
          <a:p>
            <a:r>
              <a:rPr lang="en-GB" b="1" dirty="0"/>
              <a:t>Heading</a:t>
            </a:r>
          </a:p>
          <a:p>
            <a:r>
              <a:rPr lang="en-GB" b="1" dirty="0"/>
              <a:t>Career objective</a:t>
            </a:r>
          </a:p>
          <a:p>
            <a:r>
              <a:rPr lang="en-GB" b="1" dirty="0"/>
              <a:t>Summary of </a:t>
            </a:r>
            <a:r>
              <a:rPr lang="en-GB" b="1" dirty="0" smtClean="0"/>
              <a:t>qualification/Education </a:t>
            </a:r>
            <a:endParaRPr lang="en-GB" b="1" dirty="0"/>
          </a:p>
          <a:p>
            <a:r>
              <a:rPr lang="en-GB" b="1" dirty="0"/>
              <a:t>Work experience</a:t>
            </a:r>
          </a:p>
          <a:p>
            <a:r>
              <a:rPr lang="en-GB" b="1" dirty="0"/>
              <a:t>Trainings</a:t>
            </a:r>
          </a:p>
          <a:p>
            <a:r>
              <a:rPr lang="en-GB" b="1" dirty="0" smtClean="0"/>
              <a:t>Capabilities/strengths </a:t>
            </a:r>
            <a:r>
              <a:rPr lang="en-GB" b="1" dirty="0"/>
              <a:t>and skills</a:t>
            </a:r>
          </a:p>
          <a:p>
            <a:r>
              <a:rPr lang="en-GB" b="1" dirty="0"/>
              <a:t>Awards, honours and activities</a:t>
            </a:r>
          </a:p>
          <a:p>
            <a:r>
              <a:rPr lang="en-GB" b="1" dirty="0"/>
              <a:t>Hobbies and interests</a:t>
            </a:r>
          </a:p>
          <a:p>
            <a:r>
              <a:rPr lang="en-GB" b="1" dirty="0"/>
              <a:t>References</a:t>
            </a:r>
          </a:p>
          <a:p>
            <a:pPr marL="0" indent="0">
              <a:buNone/>
            </a:pPr>
            <a:endParaRPr lang="en-GB" dirty="0"/>
          </a:p>
        </p:txBody>
      </p:sp>
    </p:spTree>
    <p:extLst>
      <p:ext uri="{BB962C8B-B14F-4D97-AF65-F5344CB8AC3E}">
        <p14:creationId xmlns:p14="http://schemas.microsoft.com/office/powerpoint/2010/main" val="2758252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417F8C-1D21-4827-9009-E712EE51D9C9}"/>
              </a:ext>
            </a:extLst>
          </p:cNvPr>
          <p:cNvSpPr>
            <a:spLocks noGrp="1"/>
          </p:cNvSpPr>
          <p:nvPr>
            <p:ph type="title"/>
          </p:nvPr>
        </p:nvSpPr>
        <p:spPr>
          <a:xfrm>
            <a:off x="1981200" y="1"/>
            <a:ext cx="8229600" cy="152400"/>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84A2EC0C-CBA3-4409-B7A8-F3F025DC48E6}"/>
              </a:ext>
            </a:extLst>
          </p:cNvPr>
          <p:cNvSpPr>
            <a:spLocks noGrp="1"/>
          </p:cNvSpPr>
          <p:nvPr>
            <p:ph idx="1"/>
          </p:nvPr>
        </p:nvSpPr>
        <p:spPr>
          <a:xfrm>
            <a:off x="367645" y="424206"/>
            <a:ext cx="11528982" cy="6281394"/>
          </a:xfrm>
        </p:spPr>
        <p:txBody>
          <a:bodyPr>
            <a:normAutofit fontScale="62500" lnSpcReduction="20000"/>
          </a:bodyPr>
          <a:lstStyle/>
          <a:p>
            <a:pPr>
              <a:buNone/>
            </a:pPr>
            <a:r>
              <a:rPr lang="en-US" dirty="0"/>
              <a:t>				</a:t>
            </a:r>
            <a:r>
              <a:rPr lang="en-US" b="1" dirty="0">
                <a:latin typeface="Times New Roman" panose="02020603050405020304" pitchFamily="18" charset="0"/>
                <a:cs typeface="Times New Roman" panose="02020603050405020304" pitchFamily="18" charset="0"/>
              </a:rPr>
              <a:t>Min Prasad Dawadi</a:t>
            </a:r>
          </a:p>
          <a:p>
            <a:pPr>
              <a:buNone/>
            </a:pP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Dudhpokhari</a:t>
            </a:r>
            <a:r>
              <a:rPr lang="en-US"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Lamjung</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Phone- 9848727039, office- 099418131</a:t>
            </a:r>
          </a:p>
          <a:p>
            <a:pPr>
              <a:buNone/>
            </a:pPr>
            <a:r>
              <a:rPr lang="en-US" dirty="0">
                <a:latin typeface="Times New Roman" panose="02020603050405020304" pitchFamily="18" charset="0"/>
                <a:cs typeface="Times New Roman" panose="02020603050405020304" pitchFamily="18" charset="0"/>
              </a:rPr>
              <a:t>			         Email- </a:t>
            </a:r>
            <a:r>
              <a:rPr lang="en-US" dirty="0">
                <a:latin typeface="Times New Roman" panose="02020603050405020304" pitchFamily="18" charset="0"/>
                <a:cs typeface="Times New Roman" panose="02020603050405020304" pitchFamily="18" charset="0"/>
                <a:hlinkClick r:id="rId2"/>
              </a:rPr>
              <a:t>dawadiminprasad@gmail.com</a:t>
            </a: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Objective:</a:t>
            </a:r>
            <a:r>
              <a:rPr lang="en-US" dirty="0">
                <a:latin typeface="Times New Roman" panose="02020603050405020304" pitchFamily="18" charset="0"/>
                <a:cs typeface="Times New Roman" panose="02020603050405020304" pitchFamily="18" charset="0"/>
              </a:rPr>
              <a:t> To gain excellence in the field of teaching language and literature</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Academic Qualification:</a:t>
            </a:r>
          </a:p>
          <a:p>
            <a:r>
              <a:rPr lang="en-US" dirty="0">
                <a:latin typeface="Times New Roman" panose="02020603050405020304" pitchFamily="18" charset="0"/>
                <a:cs typeface="Times New Roman" panose="02020603050405020304" pitchFamily="18" charset="0"/>
              </a:rPr>
              <a:t>M.Phil.in English ( Running)</a:t>
            </a:r>
          </a:p>
          <a:p>
            <a:r>
              <a:rPr lang="en-US" dirty="0">
                <a:latin typeface="Times New Roman" panose="02020603050405020304" pitchFamily="18" charset="0"/>
                <a:cs typeface="Times New Roman" panose="02020603050405020304" pitchFamily="18" charset="0"/>
              </a:rPr>
              <a:t>M. Ed., in English from TU, 2011</a:t>
            </a:r>
          </a:p>
          <a:p>
            <a:r>
              <a:rPr lang="en-US" dirty="0">
                <a:latin typeface="Times New Roman" panose="02020603050405020304" pitchFamily="18" charset="0"/>
                <a:cs typeface="Times New Roman" panose="02020603050405020304" pitchFamily="18" charset="0"/>
              </a:rPr>
              <a:t>M. A.,  in English from TU, 2003</a:t>
            </a:r>
          </a:p>
          <a:p>
            <a:r>
              <a:rPr lang="en-US" dirty="0">
                <a:latin typeface="Times New Roman" panose="02020603050405020304" pitchFamily="18" charset="0"/>
                <a:cs typeface="Times New Roman" panose="02020603050405020304" pitchFamily="18" charset="0"/>
              </a:rPr>
              <a:t>B. Ed. in English, from TU, 2003</a:t>
            </a:r>
          </a:p>
          <a:p>
            <a:r>
              <a:rPr lang="en-US" dirty="0">
                <a:latin typeface="Times New Roman" panose="02020603050405020304" pitchFamily="18" charset="0"/>
                <a:cs typeface="Times New Roman" panose="02020603050405020304" pitchFamily="18" charset="0"/>
              </a:rPr>
              <a:t>B.A. in English from TU, 2001</a:t>
            </a:r>
          </a:p>
          <a:p>
            <a:r>
              <a:rPr lang="en-US" dirty="0">
                <a:latin typeface="Times New Roman" panose="02020603050405020304" pitchFamily="18" charset="0"/>
                <a:cs typeface="Times New Roman" panose="02020603050405020304" pitchFamily="18" charset="0"/>
              </a:rPr>
              <a:t>Intermediate  in Mgmt. from TU, 1998</a:t>
            </a:r>
          </a:p>
          <a:p>
            <a:r>
              <a:rPr lang="en-US" dirty="0">
                <a:latin typeface="Times New Roman" panose="02020603050405020304" pitchFamily="18" charset="0"/>
                <a:cs typeface="Times New Roman" panose="02020603050405020304" pitchFamily="18" charset="0"/>
              </a:rPr>
              <a:t>SLC, from HMG Board Nepal, 1996</a:t>
            </a:r>
          </a:p>
          <a:p>
            <a:pPr>
              <a:buNone/>
            </a:pPr>
            <a:endParaRPr lang="en-US" dirty="0">
              <a:latin typeface="Times New Roman" panose="02020603050405020304" pitchFamily="18" charset="0"/>
              <a:cs typeface="Times New Roman" panose="02020603050405020304" pitchFamily="18" charset="0"/>
            </a:endParaRPr>
          </a:p>
          <a:p>
            <a:pPr>
              <a:buNone/>
            </a:pPr>
            <a:endParaRPr lang="en-US" sz="1800" dirty="0"/>
          </a:p>
          <a:p>
            <a:pPr>
              <a:buNone/>
            </a:pPr>
            <a:endParaRPr lang="en-US" b="1" dirty="0"/>
          </a:p>
          <a:p>
            <a:pPr>
              <a:buNone/>
            </a:pPr>
            <a:r>
              <a:rPr lang="en-US" b="1" dirty="0"/>
              <a:t>				</a:t>
            </a:r>
          </a:p>
          <a:p>
            <a:pPr>
              <a:buNone/>
            </a:pPr>
            <a:endParaRPr lang="en-US" b="1" dirty="0"/>
          </a:p>
          <a:p>
            <a:endParaRPr lang="en-GB" dirty="0"/>
          </a:p>
        </p:txBody>
      </p:sp>
    </p:spTree>
    <p:extLst>
      <p:ext uri="{BB962C8B-B14F-4D97-AF65-F5344CB8AC3E}">
        <p14:creationId xmlns:p14="http://schemas.microsoft.com/office/powerpoint/2010/main" val="3329021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464396-7B7C-47DE-A1A4-965612567018}"/>
              </a:ext>
            </a:extLst>
          </p:cNvPr>
          <p:cNvSpPr>
            <a:spLocks noGrp="1"/>
          </p:cNvSpPr>
          <p:nvPr>
            <p:ph type="title"/>
          </p:nvPr>
        </p:nvSpPr>
        <p:spPr/>
        <p:txBody>
          <a:bodyPr/>
          <a:lstStyle/>
          <a:p>
            <a:r>
              <a:rPr lang="en-GB" dirty="0" err="1"/>
              <a:t>Contd</a:t>
            </a:r>
            <a:r>
              <a:rPr lang="en-GB" dirty="0"/>
              <a:t>…</a:t>
            </a:r>
          </a:p>
        </p:txBody>
      </p:sp>
      <p:sp>
        <p:nvSpPr>
          <p:cNvPr id="3" name="Content Placeholder 2">
            <a:extLst>
              <a:ext uri="{FF2B5EF4-FFF2-40B4-BE49-F238E27FC236}">
                <a16:creationId xmlns:a16="http://schemas.microsoft.com/office/drawing/2014/main" xmlns="" id="{C93ACDBF-F12A-4C1D-9CCA-1D21B3FE151C}"/>
              </a:ext>
            </a:extLst>
          </p:cNvPr>
          <p:cNvSpPr>
            <a:spLocks noGrp="1"/>
          </p:cNvSpPr>
          <p:nvPr>
            <p:ph idx="1"/>
          </p:nvPr>
        </p:nvSpPr>
        <p:spPr>
          <a:xfrm>
            <a:off x="838199" y="1825625"/>
            <a:ext cx="10992439" cy="4351338"/>
          </a:xfrm>
        </p:spPr>
        <p:txBody>
          <a:bodyPr>
            <a:normAutofit fontScale="77500" lnSpcReduction="20000"/>
          </a:bodyPr>
          <a:lstStyle/>
          <a:p>
            <a:pPr>
              <a:buNone/>
            </a:pPr>
            <a:r>
              <a:rPr lang="en-US" b="1" dirty="0">
                <a:latin typeface="Times New Roman" panose="02020603050405020304" pitchFamily="18" charset="0"/>
                <a:cs typeface="Times New Roman" panose="02020603050405020304" pitchFamily="18" charset="0"/>
              </a:rPr>
              <a:t>Work Experience:</a:t>
            </a:r>
          </a:p>
          <a:p>
            <a:r>
              <a:rPr lang="en-US" dirty="0">
                <a:latin typeface="Times New Roman" panose="02020603050405020304" pitchFamily="18" charset="0"/>
                <a:cs typeface="Times New Roman" panose="02020603050405020304" pitchFamily="18" charset="0"/>
              </a:rPr>
              <a:t>Working as PGT English at SAMV </a:t>
            </a:r>
            <a:r>
              <a:rPr lang="en-US" dirty="0" err="1">
                <a:latin typeface="Times New Roman" panose="02020603050405020304" pitchFamily="18" charset="0"/>
                <a:cs typeface="Times New Roman" panose="02020603050405020304" pitchFamily="18" charset="0"/>
              </a:rPr>
              <a:t>Chitwan</a:t>
            </a:r>
            <a:r>
              <a:rPr lang="en-US" dirty="0">
                <a:latin typeface="Times New Roman" panose="02020603050405020304" pitchFamily="18" charset="0"/>
                <a:cs typeface="Times New Roman" panose="02020603050405020304" pitchFamily="18" charset="0"/>
              </a:rPr>
              <a:t> since 2076, </a:t>
            </a:r>
            <a:r>
              <a:rPr lang="en-US" dirty="0" err="1">
                <a:latin typeface="Times New Roman" panose="02020603050405020304" pitchFamily="18" charset="0"/>
                <a:cs typeface="Times New Roman" panose="02020603050405020304" pitchFamily="18" charset="0"/>
              </a:rPr>
              <a:t>Bhadra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Working as a lecturer at </a:t>
            </a:r>
            <a:r>
              <a:rPr lang="en-US" dirty="0" err="1">
                <a:latin typeface="Times New Roman" panose="02020603050405020304" pitchFamily="18" charset="0"/>
                <a:cs typeface="Times New Roman" panose="02020603050405020304" pitchFamily="18" charset="0"/>
              </a:rPr>
              <a:t>Bhuwanishankar</a:t>
            </a:r>
            <a:r>
              <a:rPr lang="en-US" dirty="0">
                <a:latin typeface="Times New Roman" panose="02020603050405020304" pitchFamily="18" charset="0"/>
                <a:cs typeface="Times New Roman" panose="02020603050405020304" pitchFamily="18" charset="0"/>
              </a:rPr>
              <a:t> Multiple college, </a:t>
            </a:r>
            <a:r>
              <a:rPr lang="en-US" dirty="0" err="1">
                <a:latin typeface="Times New Roman" panose="02020603050405020304" pitchFamily="18" charset="0"/>
                <a:cs typeface="Times New Roman" panose="02020603050405020304" pitchFamily="18" charset="0"/>
              </a:rPr>
              <a:t>Chitwan</a:t>
            </a:r>
            <a:r>
              <a:rPr lang="en-US" dirty="0">
                <a:latin typeface="Times New Roman" panose="02020603050405020304" pitchFamily="18" charset="0"/>
                <a:cs typeface="Times New Roman" panose="02020603050405020304" pitchFamily="18" charset="0"/>
              </a:rPr>
              <a:t> since 2076 </a:t>
            </a:r>
            <a:r>
              <a:rPr lang="en-US" dirty="0" err="1">
                <a:latin typeface="Times New Roman" panose="02020603050405020304" pitchFamily="18" charset="0"/>
                <a:cs typeface="Times New Roman" panose="02020603050405020304" pitchFamily="18" charset="0"/>
              </a:rPr>
              <a:t>Mansir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Worked as an Assistant Professor at </a:t>
            </a:r>
            <a:r>
              <a:rPr lang="en-US" dirty="0" err="1">
                <a:latin typeface="Times New Roman" panose="02020603050405020304" pitchFamily="18" charset="0"/>
                <a:cs typeface="Times New Roman" panose="02020603050405020304" pitchFamily="18" charset="0"/>
              </a:rPr>
              <a:t>Janajyoti</a:t>
            </a:r>
            <a:r>
              <a:rPr lang="en-US" dirty="0">
                <a:latin typeface="Times New Roman" panose="02020603050405020304" pitchFamily="18" charset="0"/>
                <a:cs typeface="Times New Roman" panose="02020603050405020304" pitchFamily="18" charset="0"/>
              </a:rPr>
              <a:t> Multiple Campus, </a:t>
            </a:r>
            <a:r>
              <a:rPr lang="en-US" dirty="0" err="1">
                <a:latin typeface="Times New Roman" panose="02020603050405020304" pitchFamily="18" charset="0"/>
                <a:cs typeface="Times New Roman" panose="02020603050405020304" pitchFamily="18" charset="0"/>
              </a:rPr>
              <a:t>Kanchanpur</a:t>
            </a:r>
            <a:r>
              <a:rPr lang="en-US" dirty="0">
                <a:latin typeface="Times New Roman" panose="02020603050405020304" pitchFamily="18" charset="0"/>
                <a:cs typeface="Times New Roman" panose="02020603050405020304" pitchFamily="18" charset="0"/>
              </a:rPr>
              <a:t> since 2063 B.S.</a:t>
            </a:r>
          </a:p>
          <a:p>
            <a:r>
              <a:rPr lang="en-US" dirty="0">
                <a:latin typeface="Times New Roman" panose="02020603050405020304" pitchFamily="18" charset="0"/>
                <a:cs typeface="Times New Roman" panose="02020603050405020304" pitchFamily="18" charset="0"/>
              </a:rPr>
              <a:t>Worked as an Assistant Professor at Amity College, </a:t>
            </a:r>
            <a:r>
              <a:rPr lang="en-US" dirty="0" err="1">
                <a:latin typeface="Times New Roman" panose="02020603050405020304" pitchFamily="18" charset="0"/>
                <a:cs typeface="Times New Roman" panose="02020603050405020304" pitchFamily="18" charset="0"/>
              </a:rPr>
              <a:t>Kanchanpur</a:t>
            </a:r>
            <a:r>
              <a:rPr lang="en-US" dirty="0">
                <a:latin typeface="Times New Roman" panose="02020603050405020304" pitchFamily="18" charset="0"/>
                <a:cs typeface="Times New Roman" panose="02020603050405020304" pitchFamily="18" charset="0"/>
              </a:rPr>
              <a:t> since 2066 B. S.</a:t>
            </a:r>
          </a:p>
          <a:p>
            <a:r>
              <a:rPr lang="en-US" dirty="0">
                <a:latin typeface="Times New Roman" panose="02020603050405020304" pitchFamily="18" charset="0"/>
                <a:cs typeface="Times New Roman" panose="02020603050405020304" pitchFamily="18" charset="0"/>
              </a:rPr>
              <a:t>Worked as an English language instructor of Hospitality English at Far-western Educational Foundation, </a:t>
            </a:r>
            <a:r>
              <a:rPr lang="en-US" dirty="0" err="1">
                <a:latin typeface="Times New Roman" panose="02020603050405020304" pitchFamily="18" charset="0"/>
                <a:cs typeface="Times New Roman" panose="02020603050405020304" pitchFamily="18" charset="0"/>
              </a:rPr>
              <a:t>Kanchanpur</a:t>
            </a:r>
            <a:r>
              <a:rPr lang="en-US" dirty="0">
                <a:latin typeface="Times New Roman" panose="02020603050405020304" pitchFamily="18" charset="0"/>
                <a:cs typeface="Times New Roman" panose="02020603050405020304" pitchFamily="18" charset="0"/>
              </a:rPr>
              <a:t> since 2072 B.S.</a:t>
            </a:r>
          </a:p>
          <a:p>
            <a:r>
              <a:rPr lang="en-US" dirty="0">
                <a:latin typeface="Times New Roman" panose="02020603050405020304" pitchFamily="18" charset="0"/>
                <a:cs typeface="Times New Roman" panose="02020603050405020304" pitchFamily="18" charset="0"/>
              </a:rPr>
              <a:t>Worked as the campus Chief of </a:t>
            </a:r>
            <a:r>
              <a:rPr lang="en-US" dirty="0" err="1">
                <a:latin typeface="Times New Roman" panose="02020603050405020304" pitchFamily="18" charset="0"/>
                <a:cs typeface="Times New Roman" panose="02020603050405020304" pitchFamily="18" charset="0"/>
              </a:rPr>
              <a:t>Janajyoti</a:t>
            </a:r>
            <a:r>
              <a:rPr lang="en-US" dirty="0">
                <a:latin typeface="Times New Roman" panose="02020603050405020304" pitchFamily="18" charset="0"/>
                <a:cs typeface="Times New Roman" panose="02020603050405020304" pitchFamily="18" charset="0"/>
              </a:rPr>
              <a:t> Multiple Campus from 2071 to 2073 B.S.</a:t>
            </a:r>
          </a:p>
          <a:p>
            <a:r>
              <a:rPr lang="en-US" dirty="0">
                <a:latin typeface="Times New Roman" panose="02020603050405020304" pitchFamily="18" charset="0"/>
                <a:cs typeface="Times New Roman" panose="02020603050405020304" pitchFamily="18" charset="0"/>
              </a:rPr>
              <a:t>Worked  as Higher Secondary English Teacher at Jaycees Higher Secondary School, </a:t>
            </a:r>
            <a:r>
              <a:rPr lang="en-US" dirty="0" err="1">
                <a:latin typeface="Times New Roman" panose="02020603050405020304" pitchFamily="18" charset="0"/>
                <a:cs typeface="Times New Roman" panose="02020603050405020304" pitchFamily="18" charset="0"/>
              </a:rPr>
              <a:t>Kanchanpur</a:t>
            </a:r>
            <a:r>
              <a:rPr lang="en-US" dirty="0">
                <a:latin typeface="Times New Roman" panose="02020603050405020304" pitchFamily="18" charset="0"/>
                <a:cs typeface="Times New Roman" panose="02020603050405020304" pitchFamily="18" charset="0"/>
              </a:rPr>
              <a:t> from 2068 to 2070 B.S.</a:t>
            </a:r>
          </a:p>
          <a:p>
            <a:r>
              <a:rPr lang="en-US" dirty="0">
                <a:latin typeface="Times New Roman" panose="02020603050405020304" pitchFamily="18" charset="0"/>
                <a:cs typeface="Times New Roman" panose="02020603050405020304" pitchFamily="18" charset="0"/>
              </a:rPr>
              <a:t>Worked as secondary level English Instructor at Newton High School Kathmandu from 2060 to 2063 B.S.</a:t>
            </a:r>
          </a:p>
          <a:p>
            <a:endParaRPr lang="en-US" sz="2400" dirty="0"/>
          </a:p>
          <a:p>
            <a:endParaRPr lang="en-GB" dirty="0"/>
          </a:p>
        </p:txBody>
      </p:sp>
    </p:spTree>
    <p:extLst>
      <p:ext uri="{BB962C8B-B14F-4D97-AF65-F5344CB8AC3E}">
        <p14:creationId xmlns:p14="http://schemas.microsoft.com/office/powerpoint/2010/main" val="1792125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A43F41-1901-48BC-A498-058F58056DBA}"/>
              </a:ext>
            </a:extLst>
          </p:cNvPr>
          <p:cNvSpPr>
            <a:spLocks noGrp="1"/>
          </p:cNvSpPr>
          <p:nvPr>
            <p:ph type="title"/>
          </p:nvPr>
        </p:nvSpPr>
        <p:spPr>
          <a:xfrm flipV="1">
            <a:off x="1981200" y="228600"/>
            <a:ext cx="8229600" cy="46038"/>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61F47C0B-2F71-4B40-BD10-C5129B6C4D5B}"/>
              </a:ext>
            </a:extLst>
          </p:cNvPr>
          <p:cNvSpPr>
            <a:spLocks noGrp="1"/>
          </p:cNvSpPr>
          <p:nvPr>
            <p:ph idx="1"/>
          </p:nvPr>
        </p:nvSpPr>
        <p:spPr>
          <a:xfrm>
            <a:off x="358219" y="412752"/>
            <a:ext cx="11736371" cy="6094410"/>
          </a:xfrm>
        </p:spPr>
        <p:txBody>
          <a:bodyPr>
            <a:normAutofit fontScale="85000" lnSpcReduction="20000"/>
          </a:bodyPr>
          <a:lstStyle/>
          <a:p>
            <a:pPr>
              <a:buNone/>
            </a:pPr>
            <a:r>
              <a:rPr lang="en-US" b="1" dirty="0">
                <a:latin typeface="Times New Roman" panose="02020603050405020304" pitchFamily="18" charset="0"/>
                <a:cs typeface="Times New Roman" panose="02020603050405020304" pitchFamily="18" charset="0"/>
              </a:rPr>
              <a:t>TRAINING AND PARTICIPATION</a:t>
            </a:r>
          </a:p>
          <a:p>
            <a:r>
              <a:rPr lang="en-US" dirty="0">
                <a:latin typeface="Times New Roman" panose="02020603050405020304" pitchFamily="18" charset="0"/>
                <a:cs typeface="Times New Roman" panose="02020603050405020304" pitchFamily="18" charset="0"/>
              </a:rPr>
              <a:t>Advanced English language course from Instituto d’ Alberta, Kathmandu</a:t>
            </a:r>
          </a:p>
          <a:p>
            <a:r>
              <a:rPr lang="en-US" dirty="0">
                <a:latin typeface="Times New Roman" panose="02020603050405020304" pitchFamily="18" charset="0"/>
                <a:cs typeface="Times New Roman" panose="02020603050405020304" pitchFamily="18" charset="0"/>
              </a:rPr>
              <a:t>English Conversation and Proficiency Course from American Language Centre , Kathmandu</a:t>
            </a:r>
          </a:p>
          <a:p>
            <a:r>
              <a:rPr lang="en-US" dirty="0">
                <a:latin typeface="Times New Roman" panose="02020603050405020304" pitchFamily="18" charset="0"/>
                <a:cs typeface="Times New Roman" panose="02020603050405020304" pitchFamily="18" charset="0"/>
              </a:rPr>
              <a:t>Paper presentation on 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NELTA </a:t>
            </a:r>
            <a:r>
              <a:rPr lang="en-US" dirty="0" err="1">
                <a:latin typeface="Times New Roman" panose="02020603050405020304" pitchFamily="18" charset="0"/>
                <a:cs typeface="Times New Roman" panose="02020603050405020304" pitchFamily="18" charset="0"/>
              </a:rPr>
              <a:t>Coference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Kanchanpur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Participation in two day training on Research and Report Writing conducted by </a:t>
            </a:r>
            <a:r>
              <a:rPr lang="en-US" dirty="0" err="1">
                <a:latin typeface="Times New Roman" panose="02020603050405020304" pitchFamily="18" charset="0"/>
                <a:cs typeface="Times New Roman" panose="02020603050405020304" pitchFamily="18" charset="0"/>
              </a:rPr>
              <a:t>FoM</a:t>
            </a:r>
            <a:r>
              <a:rPr lang="en-US" dirty="0">
                <a:latin typeface="Times New Roman" panose="02020603050405020304" pitchFamily="18" charset="0"/>
                <a:cs typeface="Times New Roman" panose="02020603050405020304" pitchFamily="18" charset="0"/>
              </a:rPr>
              <a:t>, TU</a:t>
            </a:r>
          </a:p>
          <a:p>
            <a:r>
              <a:rPr lang="en-US" dirty="0">
                <a:latin typeface="Times New Roman" panose="02020603050405020304" pitchFamily="18" charset="0"/>
                <a:cs typeface="Times New Roman" panose="02020603050405020304" pitchFamily="18" charset="0"/>
              </a:rPr>
              <a:t>Participation in dissemination program on semester system of MBS and M.Ed. Conducted by TU</a:t>
            </a:r>
          </a:p>
          <a:p>
            <a:r>
              <a:rPr lang="en-US" dirty="0">
                <a:latin typeface="Times New Roman" panose="02020603050405020304" pitchFamily="18" charset="0"/>
                <a:cs typeface="Times New Roman" panose="02020603050405020304" pitchFamily="18" charset="0"/>
              </a:rPr>
              <a:t>Participation in an orientation program on Evaluation system conducted by PU</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HONOR:</a:t>
            </a:r>
          </a:p>
          <a:p>
            <a:pPr>
              <a:buNone/>
            </a:pPr>
            <a:r>
              <a:rPr lang="en-US" dirty="0">
                <a:latin typeface="Times New Roman" panose="02020603050405020304" pitchFamily="18" charset="0"/>
                <a:cs typeface="Times New Roman" panose="02020603050405020304" pitchFamily="18" charset="0"/>
              </a:rPr>
              <a:t>	Received letters of appreciation for 100% result in 2067 B.S., 2070 B.S., 2071 B.S. and 2073 B.S. from </a:t>
            </a:r>
            <a:r>
              <a:rPr lang="en-US" dirty="0" err="1">
                <a:latin typeface="Times New Roman" panose="02020603050405020304" pitchFamily="18" charset="0"/>
                <a:cs typeface="Times New Roman" panose="02020603050405020304" pitchFamily="18" charset="0"/>
              </a:rPr>
              <a:t>Janajyoti</a:t>
            </a:r>
            <a:r>
              <a:rPr lang="en-US" dirty="0">
                <a:latin typeface="Times New Roman" panose="02020603050405020304" pitchFamily="18" charset="0"/>
                <a:cs typeface="Times New Roman" panose="02020603050405020304" pitchFamily="18" charset="0"/>
              </a:rPr>
              <a:t> Multiple College, </a:t>
            </a:r>
            <a:r>
              <a:rPr lang="en-US" dirty="0" err="1">
                <a:latin typeface="Times New Roman" panose="02020603050405020304" pitchFamily="18" charset="0"/>
                <a:cs typeface="Times New Roman" panose="02020603050405020304" pitchFamily="18" charset="0"/>
              </a:rPr>
              <a:t>Kanchanpur</a:t>
            </a:r>
            <a:endParaRPr lang="en-US"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Affiliation:</a:t>
            </a:r>
          </a:p>
          <a:p>
            <a:pPr>
              <a:buNone/>
            </a:pPr>
            <a:r>
              <a:rPr lang="en-US" dirty="0">
                <a:latin typeface="Times New Roman" panose="02020603050405020304" pitchFamily="18" charset="0"/>
                <a:cs typeface="Times New Roman" panose="02020603050405020304" pitchFamily="18" charset="0"/>
              </a:rPr>
              <a:t>	Life member of NELTA</a:t>
            </a:r>
          </a:p>
          <a:p>
            <a:pPr>
              <a:buNone/>
            </a:pPr>
            <a:r>
              <a:rPr lang="en-US" dirty="0">
                <a:latin typeface="Times New Roman" panose="02020603050405020304" pitchFamily="18" charset="0"/>
                <a:cs typeface="Times New Roman" panose="02020603050405020304" pitchFamily="18" charset="0"/>
              </a:rPr>
              <a:t>	Life member of Scholars’ Association of Nepal</a:t>
            </a:r>
          </a:p>
          <a:p>
            <a:pPr>
              <a:buNone/>
            </a:pPr>
            <a:endParaRPr lang="en-US" b="1" dirty="0"/>
          </a:p>
          <a:p>
            <a:pPr>
              <a:buNone/>
            </a:pPr>
            <a:endParaRPr lang="en-US" b="1" dirty="0"/>
          </a:p>
          <a:p>
            <a:pPr marL="0" indent="0">
              <a:buNone/>
            </a:pPr>
            <a:endParaRPr lang="en-GB" dirty="0"/>
          </a:p>
        </p:txBody>
      </p:sp>
    </p:spTree>
    <p:extLst>
      <p:ext uri="{BB962C8B-B14F-4D97-AF65-F5344CB8AC3E}">
        <p14:creationId xmlns:p14="http://schemas.microsoft.com/office/powerpoint/2010/main" val="2194539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AAB838-4F43-4830-9D23-07D65C5CCC96}"/>
              </a:ext>
            </a:extLst>
          </p:cNvPr>
          <p:cNvSpPr>
            <a:spLocks noGrp="1"/>
          </p:cNvSpPr>
          <p:nvPr>
            <p:ph type="title"/>
          </p:nvPr>
        </p:nvSpPr>
        <p:spPr/>
        <p:txBody>
          <a:bodyPr/>
          <a:lstStyle/>
          <a:p>
            <a:r>
              <a:rPr lang="en-GB" dirty="0" err="1"/>
              <a:t>Contd</a:t>
            </a:r>
            <a:r>
              <a:rPr lang="en-GB" dirty="0"/>
              <a:t>…</a:t>
            </a:r>
          </a:p>
        </p:txBody>
      </p:sp>
      <p:sp>
        <p:nvSpPr>
          <p:cNvPr id="3" name="Content Placeholder 2">
            <a:extLst>
              <a:ext uri="{FF2B5EF4-FFF2-40B4-BE49-F238E27FC236}">
                <a16:creationId xmlns:a16="http://schemas.microsoft.com/office/drawing/2014/main" xmlns="" id="{3D3DBDBB-35D1-46E3-9010-B4356A4A6579}"/>
              </a:ext>
            </a:extLst>
          </p:cNvPr>
          <p:cNvSpPr>
            <a:spLocks noGrp="1"/>
          </p:cNvSpPr>
          <p:nvPr>
            <p:ph idx="1"/>
          </p:nvPr>
        </p:nvSpPr>
        <p:spPr>
          <a:xfrm>
            <a:off x="395927" y="1825625"/>
            <a:ext cx="11387578" cy="4351338"/>
          </a:xfrm>
        </p:spPr>
        <p:txBody>
          <a:bodyPr>
            <a:normAutofit fontScale="85000" lnSpcReduction="20000"/>
          </a:bodyPr>
          <a:lstStyle/>
          <a:p>
            <a:pPr>
              <a:buNone/>
            </a:pPr>
            <a:r>
              <a:rPr lang="en-US" b="1" dirty="0">
                <a:latin typeface="Times New Roman" panose="02020603050405020304" pitchFamily="18" charset="0"/>
                <a:cs typeface="Times New Roman" panose="02020603050405020304" pitchFamily="18" charset="0"/>
              </a:rPr>
              <a:t>TEACHING SPECIALIZATIONS:</a:t>
            </a:r>
          </a:p>
          <a:p>
            <a:r>
              <a:rPr lang="en-US" dirty="0">
                <a:latin typeface="Times New Roman" panose="02020603050405020304" pitchFamily="18" charset="0"/>
                <a:cs typeface="Times New Roman" panose="02020603050405020304" pitchFamily="18" charset="0"/>
              </a:rPr>
              <a:t>General English</a:t>
            </a:r>
          </a:p>
          <a:p>
            <a:r>
              <a:rPr lang="en-US" dirty="0">
                <a:latin typeface="Times New Roman" panose="02020603050405020304" pitchFamily="18" charset="0"/>
                <a:cs typeface="Times New Roman" panose="02020603050405020304" pitchFamily="18" charset="0"/>
              </a:rPr>
              <a:t>ELT and Linguistics</a:t>
            </a:r>
          </a:p>
          <a:p>
            <a:r>
              <a:rPr lang="en-US" dirty="0">
                <a:latin typeface="Times New Roman" panose="02020603050405020304" pitchFamily="18" charset="0"/>
                <a:cs typeface="Times New Roman" panose="02020603050405020304" pitchFamily="18" charset="0"/>
              </a:rPr>
              <a:t>Sociolinguistics, SLA and Applied Linguistics</a:t>
            </a:r>
          </a:p>
          <a:p>
            <a:r>
              <a:rPr lang="en-US" dirty="0">
                <a:latin typeface="Times New Roman" panose="02020603050405020304" pitchFamily="18" charset="0"/>
                <a:cs typeface="Times New Roman" panose="02020603050405020304" pitchFamily="18" charset="0"/>
              </a:rPr>
              <a:t>Literature and Critical Thinking</a:t>
            </a:r>
          </a:p>
          <a:p>
            <a:r>
              <a:rPr lang="en-US" dirty="0">
                <a:latin typeface="Times New Roman" panose="02020603050405020304" pitchFamily="18" charset="0"/>
                <a:cs typeface="Times New Roman" panose="02020603050405020304" pitchFamily="18" charset="0"/>
              </a:rPr>
              <a:t>Business and Managerial Communication</a:t>
            </a:r>
          </a:p>
          <a:p>
            <a:r>
              <a:rPr lang="en-US" dirty="0">
                <a:latin typeface="Times New Roman" panose="02020603050405020304" pitchFamily="18" charset="0"/>
                <a:cs typeface="Times New Roman" panose="02020603050405020304" pitchFamily="18" charset="0"/>
              </a:rPr>
              <a:t>Hospitality English</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RERERENCES:</a:t>
            </a:r>
          </a:p>
          <a:p>
            <a:pPr>
              <a:buNone/>
            </a:pPr>
            <a:r>
              <a:rPr lang="en-US" dirty="0">
                <a:latin typeface="Times New Roman" panose="02020603050405020304" pitchFamily="18" charset="0"/>
                <a:cs typeface="Times New Roman" panose="02020603050405020304" pitchFamily="18" charset="0"/>
              </a:rPr>
              <a:t>Mr. </a:t>
            </a:r>
            <a:r>
              <a:rPr lang="en-US" dirty="0" err="1">
                <a:latin typeface="Times New Roman" panose="02020603050405020304" pitchFamily="18" charset="0"/>
                <a:cs typeface="Times New Roman" panose="02020603050405020304" pitchFamily="18" charset="0"/>
              </a:rPr>
              <a:t>Bholanath</a:t>
            </a:r>
            <a:r>
              <a:rPr lang="en-US" dirty="0">
                <a:latin typeface="Times New Roman" panose="02020603050405020304" pitchFamily="18" charset="0"/>
                <a:cs typeface="Times New Roman" panose="02020603050405020304" pitchFamily="18" charset="0"/>
              </a:rPr>
              <a:t> Sharma, Campus Chief, </a:t>
            </a:r>
            <a:r>
              <a:rPr lang="en-US" dirty="0" err="1">
                <a:latin typeface="Times New Roman" panose="02020603050405020304" pitchFamily="18" charset="0"/>
                <a:cs typeface="Times New Roman" panose="02020603050405020304" pitchFamily="18" charset="0"/>
              </a:rPr>
              <a:t>Janajyoti</a:t>
            </a:r>
            <a:r>
              <a:rPr lang="en-US" dirty="0">
                <a:latin typeface="Times New Roman" panose="02020603050405020304" pitchFamily="18" charset="0"/>
                <a:cs typeface="Times New Roman" panose="02020603050405020304" pitchFamily="18" charset="0"/>
              </a:rPr>
              <a:t> Multiple Campus, </a:t>
            </a:r>
            <a:r>
              <a:rPr lang="en-US" dirty="0" err="1">
                <a:latin typeface="Times New Roman" panose="02020603050405020304" pitchFamily="18" charset="0"/>
                <a:cs typeface="Times New Roman" panose="02020603050405020304" pitchFamily="18" charset="0"/>
              </a:rPr>
              <a:t>Kanchanpur</a:t>
            </a:r>
            <a:endParaRPr lang="en-US" dirty="0">
              <a:latin typeface="Times New Roman" panose="02020603050405020304" pitchFamily="18" charset="0"/>
              <a:cs typeface="Times New Roman" panose="02020603050405020304" pitchFamily="18" charset="0"/>
            </a:endParaRPr>
          </a:p>
          <a:p>
            <a:pPr>
              <a:buNone/>
            </a:pPr>
            <a:r>
              <a:rPr lang="en-US" dirty="0" err="1">
                <a:latin typeface="Times New Roman" panose="02020603050405020304" pitchFamily="18" charset="0"/>
                <a:cs typeface="Times New Roman" panose="02020603050405020304" pitchFamily="18" charset="0"/>
              </a:rPr>
              <a:t>Mr.Rabindra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Awasti</a:t>
            </a:r>
            <a:r>
              <a:rPr lang="en-US" dirty="0">
                <a:latin typeface="Times New Roman" panose="02020603050405020304" pitchFamily="18" charset="0"/>
                <a:cs typeface="Times New Roman" panose="02020603050405020304" pitchFamily="18" charset="0"/>
              </a:rPr>
              <a:t>, Principal, Amity College, </a:t>
            </a:r>
            <a:r>
              <a:rPr lang="en-US" dirty="0" err="1">
                <a:latin typeface="Times New Roman" panose="02020603050405020304" pitchFamily="18" charset="0"/>
                <a:cs typeface="Times New Roman" panose="02020603050405020304" pitchFamily="18" charset="0"/>
              </a:rPr>
              <a:t>Kanchanpur</a:t>
            </a:r>
            <a:endParaRPr lang="en-US"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48813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2100</TotalTime>
  <Words>536</Words>
  <Application>Microsoft Office PowerPoint</Application>
  <PresentationFormat>Custom</PresentationFormat>
  <Paragraphs>184</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 Memo</vt:lpstr>
      <vt:lpstr>Format </vt:lpstr>
      <vt:lpstr>MEMO</vt:lpstr>
      <vt:lpstr>Memo </vt:lpstr>
      <vt:lpstr>Job application letter</vt:lpstr>
      <vt:lpstr>Format</vt:lpstr>
      <vt:lpstr>…</vt:lpstr>
      <vt:lpstr>A sample</vt:lpstr>
      <vt:lpstr>.</vt:lpstr>
      <vt:lpstr> Sample Cover Letter - Entry Level Finance Position </vt:lpstr>
      <vt:lpstr>Contd..</vt:lpstr>
      <vt:lpstr>Resume/CV</vt:lpstr>
      <vt:lpstr>.</vt:lpstr>
      <vt:lpstr>Contd…</vt:lpstr>
      <vt:lpstr>.</vt:lpstr>
      <vt:lpstr>Contd…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Techniques</dc:title>
  <dc:creator>Microsoft account</dc:creator>
  <cp:lastModifiedBy>lenovo</cp:lastModifiedBy>
  <cp:revision>357</cp:revision>
  <dcterms:created xsi:type="dcterms:W3CDTF">2023-01-05T15:29:22Z</dcterms:created>
  <dcterms:modified xsi:type="dcterms:W3CDTF">2025-05-19T14:48:30Z</dcterms:modified>
</cp:coreProperties>
</file>