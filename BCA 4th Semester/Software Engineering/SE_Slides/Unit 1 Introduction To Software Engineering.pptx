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83" r:id="rId5"/>
    <p:sldId id="417" r:id="rId6"/>
    <p:sldId id="421" r:id="rId7"/>
    <p:sldId id="420" r:id="rId8"/>
    <p:sldId id="422" r:id="rId9"/>
    <p:sldId id="418" r:id="rId10"/>
    <p:sldId id="419" r:id="rId11"/>
    <p:sldId id="416" r:id="rId12"/>
    <p:sldId id="315" r:id="rId13"/>
    <p:sldId id="316" r:id="rId14"/>
    <p:sldId id="317" r:id="rId15"/>
    <p:sldId id="318" r:id="rId16"/>
    <p:sldId id="405" r:id="rId17"/>
    <p:sldId id="406" r:id="rId18"/>
    <p:sldId id="407" r:id="rId19"/>
    <p:sldId id="413" r:id="rId20"/>
    <p:sldId id="423" r:id="rId21"/>
    <p:sldId id="425" r:id="rId22"/>
    <p:sldId id="303" r:id="rId23"/>
    <p:sldId id="304" r:id="rId24"/>
    <p:sldId id="305" r:id="rId25"/>
    <p:sldId id="306" r:id="rId26"/>
    <p:sldId id="307" r:id="rId27"/>
    <p:sldId id="308" r:id="rId28"/>
    <p:sldId id="424" r:id="rId29"/>
    <p:sldId id="263" r:id="rId30"/>
    <p:sldId id="41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31"/>
    <p:restoredTop sz="94291" autoAdjust="0"/>
  </p:normalViewPr>
  <p:slideViewPr>
    <p:cSldViewPr snapToGrid="0">
      <p:cViewPr varScale="1">
        <p:scale>
          <a:sx n="100" d="100"/>
          <a:sy n="100" d="100"/>
        </p:scale>
        <p:origin x="1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2575"/>
            <a:ext cx="12084050" cy="2010410"/>
          </a:xfrm>
        </p:spPr>
        <p:txBody>
          <a:bodyPr>
            <a:noAutofit/>
          </a:bodyPr>
          <a:lstStyle/>
          <a:p>
            <a:pPr marL="228600">
              <a:lnSpc>
                <a:spcPct val="107000"/>
              </a:lnSpc>
            </a:pP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ENGINEERING                                                                                      </a:t>
            </a:r>
            <a:r>
              <a:rPr lang="en-US" sz="3600" b="1" dirty="0">
                <a:latin typeface="Times New Roman" panose="02020603050405020304" pitchFamily="18" charset="0"/>
                <a:sym typeface="+mn-ea"/>
              </a:rPr>
              <a:t>			                 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074" y="3256721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</a:p>
          <a:p>
            <a:r>
              <a:rPr lang="en-US" altLang="en-GB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911840" y="2223770"/>
            <a:ext cx="958917" cy="3994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(5 Hrs)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DAE23-DD16-6AA0-4219-763AF79A6F3B}"/>
              </a:ext>
            </a:extLst>
          </p:cNvPr>
          <p:cNvSpPr txBox="1"/>
          <p:nvPr/>
        </p:nvSpPr>
        <p:spPr>
          <a:xfrm>
            <a:off x="463952" y="1612270"/>
            <a:ext cx="11264095" cy="261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Overview of Software Engineering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Definition and characteristics of software.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engineering as a discipline and its challenges.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Professional Practices in Software Engineering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Attributes of good software.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development life cycle (SDLC) and ethical practices. 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238125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Overview of Software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DFA8C-CEC9-AF95-13F8-2317F044A40B}"/>
              </a:ext>
            </a:extLst>
          </p:cNvPr>
          <p:cNvSpPr txBox="1"/>
          <p:nvPr/>
        </p:nvSpPr>
        <p:spPr>
          <a:xfrm>
            <a:off x="0" y="1112828"/>
            <a:ext cx="804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designing, developing, testing, and maintaining software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4FAAC-EA14-DD7B-3AF9-BFABDCF1B3A2}"/>
              </a:ext>
            </a:extLst>
          </p:cNvPr>
          <p:cNvSpPr txBox="1"/>
          <p:nvPr/>
        </p:nvSpPr>
        <p:spPr>
          <a:xfrm>
            <a:off x="0" y="1636773"/>
            <a:ext cx="1219200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Software Engineering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methodologies</a:t>
            </a:r>
          </a:p>
          <a:p>
            <a:pPr algn="l" fontAlgn="base"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8.Continuous Integration &amp;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635E-CBE4-41D1-6FCD-5D137410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C59ADE-56E1-7176-34F3-E841399D8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808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fontAlgn="base">
              <a:buNone/>
            </a:pP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B9251-F424-3F33-C8ED-1FC3E2D1D619}"/>
              </a:ext>
            </a:extLst>
          </p:cNvPr>
          <p:cNvSpPr txBox="1"/>
          <p:nvPr/>
        </p:nvSpPr>
        <p:spPr>
          <a:xfrm>
            <a:off x="270457" y="932457"/>
            <a:ext cx="804929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</a:p>
        </p:txBody>
      </p:sp>
    </p:spTree>
    <p:extLst>
      <p:ext uri="{BB962C8B-B14F-4D97-AF65-F5344CB8AC3E}">
        <p14:creationId xmlns:p14="http://schemas.microsoft.com/office/powerpoint/2010/main" val="91631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3CAB-01B8-D90C-4443-B64A36F3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031191-5F0B-9659-424B-2C2BA6F8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808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fontAlgn="base">
              <a:buNone/>
            </a:pPr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Software Engineering</a:t>
            </a:r>
          </a:p>
        </p:txBody>
      </p:sp>
      <p:pic>
        <p:nvPicPr>
          <p:cNvPr id="2050" name="Picture 2" descr="Need of Software Engineering">
            <a:extLst>
              <a:ext uri="{FF2B5EF4-FFF2-40B4-BE49-F238E27FC236}">
                <a16:creationId xmlns:a16="http://schemas.microsoft.com/office/drawing/2014/main" id="{97F0D7A3-DE8D-2464-0F89-4D2F5E136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40158"/>
            <a:ext cx="7893050" cy="524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20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1B85-F275-84F8-2F2D-F0CECCFC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DDD4A6-C08A-32AF-2565-8EC01D790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808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fontAlgn="base">
              <a:buNone/>
            </a:pP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BA29F-9BCE-FED4-86C2-6E80E01F914F}"/>
              </a:ext>
            </a:extLst>
          </p:cNvPr>
          <p:cNvSpPr txBox="1"/>
          <p:nvPr/>
        </p:nvSpPr>
        <p:spPr>
          <a:xfrm>
            <a:off x="425002" y="1137443"/>
            <a:ext cx="5048519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Productivity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Maintainability: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Costs: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Satisfaction: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Team Collaboration: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Security: </a:t>
            </a:r>
          </a:p>
        </p:txBody>
      </p:sp>
    </p:spTree>
    <p:extLst>
      <p:ext uri="{BB962C8B-B14F-4D97-AF65-F5344CB8AC3E}">
        <p14:creationId xmlns:p14="http://schemas.microsoft.com/office/powerpoint/2010/main" val="302031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E4FF5-2EE4-6DBB-F683-DE6D1E86A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123C2-6ACA-C42E-9D10-C7AAD8F09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808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fontAlgn="base">
              <a:buNone/>
            </a:pP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Software Engineering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E90DC6-8ED2-83E6-0ABC-69AEAF9E6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73135"/>
              </p:ext>
            </p:extLst>
          </p:nvPr>
        </p:nvGraphicFramePr>
        <p:xfrm>
          <a:off x="158839" y="709726"/>
          <a:ext cx="11874321" cy="5748633"/>
        </p:xfrm>
        <a:graphic>
          <a:graphicData uri="http://schemas.openxmlformats.org/drawingml/2006/table">
            <a:tbl>
              <a:tblPr/>
              <a:tblGrid>
                <a:gridCol w="755561">
                  <a:extLst>
                    <a:ext uri="{9D8B030D-6E8A-4147-A177-3AD203B41FA5}">
                      <a16:colId xmlns:a16="http://schemas.microsoft.com/office/drawing/2014/main" val="3179802252"/>
                    </a:ext>
                  </a:extLst>
                </a:gridCol>
                <a:gridCol w="3219718">
                  <a:extLst>
                    <a:ext uri="{9D8B030D-6E8A-4147-A177-3AD203B41FA5}">
                      <a16:colId xmlns:a16="http://schemas.microsoft.com/office/drawing/2014/main" val="3431227849"/>
                    </a:ext>
                  </a:extLst>
                </a:gridCol>
                <a:gridCol w="7899042">
                  <a:extLst>
                    <a:ext uri="{9D8B030D-6E8A-4147-A177-3AD203B41FA5}">
                      <a16:colId xmlns:a16="http://schemas.microsoft.com/office/drawing/2014/main" val="3585366605"/>
                    </a:ext>
                  </a:extLst>
                </a:gridCol>
              </a:tblGrid>
              <a:tr h="493247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GB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GB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GB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Issue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166351"/>
                  </a:ext>
                </a:extLst>
              </a:tr>
              <a:tr h="442502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Evolving Tech Landscape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Staying updated with constantly changing tech stacks and tools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62345"/>
                  </a:ext>
                </a:extLst>
              </a:tr>
              <a:tr h="440902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Balancing Quality &amp; Speed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Managing the trade-off between fast delivery and high code quality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359739"/>
                  </a:ext>
                </a:extLst>
              </a:tr>
              <a:tr h="402319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System Debugging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Diagnosing issues in microservices and distributed systems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381770"/>
                  </a:ext>
                </a:extLst>
              </a:tr>
              <a:tr h="450708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Managing Tech Debt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accumulated shortcuts that hinder future development.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201914"/>
                  </a:ext>
                </a:extLst>
              </a:tr>
              <a:tr h="425003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Burnout &amp; Stress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Dealing with mental fatigue from high-pressure work environments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83816"/>
                  </a:ext>
                </a:extLst>
              </a:tr>
              <a:tr h="399245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Systems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Designing systems that handle growing user load efficiently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282306"/>
                  </a:ext>
                </a:extLst>
              </a:tr>
              <a:tr h="437882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Teams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Coordinating across time zones and remote communication barriers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595339"/>
                  </a:ext>
                </a:extLst>
              </a:tr>
              <a:tr h="373487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 &amp; Security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Protecting user data from breaches and ensuring compliance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632218"/>
                  </a:ext>
                </a:extLst>
              </a:tr>
              <a:tr h="373488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Legacy Systems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 with outdated systems that are hard to maintain or upgrade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337503"/>
                  </a:ext>
                </a:extLst>
              </a:tr>
              <a:tr h="540913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Adapting to Methodologies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Transitioning between agile, scrum, or waterfall workflows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132049"/>
                  </a:ext>
                </a:extLst>
              </a:tr>
              <a:tr h="502276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Maintainability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Writing code that's easy to read, maintain, and scale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89030"/>
                  </a:ext>
                </a:extLst>
              </a:tr>
              <a:tr h="466661"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 Conflicts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350"/>
                        </a:lnSpc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Resolving code merge issues in team environments</a:t>
                      </a:r>
                    </a:p>
                  </a:txBody>
                  <a:tcPr marL="45985" marR="45985" marT="45985" marB="45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9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02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3EAF-8CB1-54FE-92AE-ED073C52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DDF80C-509E-2A42-2F12-E3AA9E670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808"/>
            <a:ext cx="12192000" cy="62553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rtl="0" fontAlgn="base">
              <a:spcAft>
                <a:spcPts val="750"/>
              </a:spcAft>
              <a:buNone/>
            </a:pPr>
            <a:r>
              <a:rPr lang="en-GB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choices in 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5A0E8-E9E3-9FAF-9494-D2D38118C0F5}"/>
              </a:ext>
            </a:extLst>
          </p:cNvPr>
          <p:cNvSpPr txBox="1"/>
          <p:nvPr/>
        </p:nvSpPr>
        <p:spPr>
          <a:xfrm>
            <a:off x="911180" y="1040196"/>
            <a:ext cx="609814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 (Software Engineer)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SDE ( Software Development Engineer)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Assurance Engineer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Designer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 Test Engineer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 Engineer ·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Developer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Developer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Engineer.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Engineer.</a:t>
            </a:r>
          </a:p>
        </p:txBody>
      </p:sp>
    </p:spTree>
    <p:extLst>
      <p:ext uri="{BB962C8B-B14F-4D97-AF65-F5344CB8AC3E}">
        <p14:creationId xmlns:p14="http://schemas.microsoft.com/office/powerpoint/2010/main" val="92610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FF06-B40B-5D10-61F6-297D3F4E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41463B-4814-A4DA-E6D1-6BAF9892A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83722"/>
              </p:ext>
            </p:extLst>
          </p:nvPr>
        </p:nvGraphicFramePr>
        <p:xfrm>
          <a:off x="193183" y="1037678"/>
          <a:ext cx="11307650" cy="5377701"/>
        </p:xfrm>
        <a:graphic>
          <a:graphicData uri="http://schemas.openxmlformats.org/drawingml/2006/table">
            <a:tbl>
              <a:tblPr/>
              <a:tblGrid>
                <a:gridCol w="1715664">
                  <a:extLst>
                    <a:ext uri="{9D8B030D-6E8A-4147-A177-3AD203B41FA5}">
                      <a16:colId xmlns:a16="http://schemas.microsoft.com/office/drawing/2014/main" val="3623585085"/>
                    </a:ext>
                  </a:extLst>
                </a:gridCol>
                <a:gridCol w="2003957">
                  <a:extLst>
                    <a:ext uri="{9D8B030D-6E8A-4147-A177-3AD203B41FA5}">
                      <a16:colId xmlns:a16="http://schemas.microsoft.com/office/drawing/2014/main" val="4159604110"/>
                    </a:ext>
                  </a:extLst>
                </a:gridCol>
                <a:gridCol w="2529343">
                  <a:extLst>
                    <a:ext uri="{9D8B030D-6E8A-4147-A177-3AD203B41FA5}">
                      <a16:colId xmlns:a16="http://schemas.microsoft.com/office/drawing/2014/main" val="2207370899"/>
                    </a:ext>
                  </a:extLst>
                </a:gridCol>
                <a:gridCol w="2529343">
                  <a:extLst>
                    <a:ext uri="{9D8B030D-6E8A-4147-A177-3AD203B41FA5}">
                      <a16:colId xmlns:a16="http://schemas.microsoft.com/office/drawing/2014/main" val="1562356667"/>
                    </a:ext>
                  </a:extLst>
                </a:gridCol>
                <a:gridCol w="2529343">
                  <a:extLst>
                    <a:ext uri="{9D8B030D-6E8A-4147-A177-3AD203B41FA5}">
                      <a16:colId xmlns:a16="http://schemas.microsoft.com/office/drawing/2014/main" val="3606973550"/>
                    </a:ext>
                  </a:extLst>
                </a:gridCol>
              </a:tblGrid>
              <a:tr h="441893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marL="35657" marR="35657" marT="89143" marB="891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Salary in USA</a:t>
                      </a:r>
                    </a:p>
                  </a:txBody>
                  <a:tcPr marL="89143" marR="89143" marT="89143" marB="891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Salary in Australia</a:t>
                      </a:r>
                    </a:p>
                  </a:txBody>
                  <a:tcPr marL="89143" marR="89143" marT="89143" marB="891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Salary in India</a:t>
                      </a:r>
                    </a:p>
                  </a:txBody>
                  <a:tcPr marL="89143" marR="89143" marT="89143" marB="891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Salary in Germany</a:t>
                      </a:r>
                    </a:p>
                  </a:txBody>
                  <a:tcPr marL="89143" marR="89143" marT="89143" marB="891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683593"/>
                  </a:ext>
                </a:extLst>
              </a:tr>
              <a:tr h="1069152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$124,200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€67,260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₹9,00,000</a:t>
                      </a:r>
                      <a:endParaRPr lang="en-GB" sz="1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€56,787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52811"/>
                  </a:ext>
                </a:extLst>
              </a:tr>
              <a:tr h="768999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$157,602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€72,354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₹9,61,589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€60,100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79761"/>
                  </a:ext>
                </a:extLst>
              </a:tr>
              <a:tr h="768999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Dev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$113,249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€69,173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₹6,50,000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€49,380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36138"/>
                  </a:ext>
                </a:extLst>
              </a:tr>
              <a:tr h="768999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Stack Dev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$123,809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€72,286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 9,20,000</a:t>
                      </a:r>
                      <a:endParaRPr lang="en-GB" sz="1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€51,074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11688"/>
                  </a:ext>
                </a:extLst>
              </a:tr>
              <a:tr h="505627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Dev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$92,565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€70,958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₹7,36,651</a:t>
                      </a:r>
                      <a:endParaRPr lang="en-GB" sz="1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€50,635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587932"/>
                  </a:ext>
                </a:extLst>
              </a:tr>
              <a:tr h="768999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7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Dev</a:t>
                      </a:r>
                    </a:p>
                  </a:txBody>
                  <a:tcPr marL="35657" marR="35657" marT="72144" marB="72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$123,663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€84,296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₹5,50,000</a:t>
                      </a:r>
                      <a:endParaRPr lang="en-GB" sz="1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€55,235</a:t>
                      </a:r>
                    </a:p>
                  </a:txBody>
                  <a:tcPr marL="89143" marR="89143" marT="124800" marB="124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7527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4CB36DB-04DE-2059-3435-B9EB430B8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919" y="51515"/>
            <a:ext cx="628133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Salaries for Careers with a Software Engineering Degree: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8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901B-5CEB-82C8-0096-701548F8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51F3DC12-99FC-12C3-D9F2-B161AA6B1913}"/>
              </a:ext>
            </a:extLst>
          </p:cNvPr>
          <p:cNvSpPr txBox="1"/>
          <p:nvPr/>
        </p:nvSpPr>
        <p:spPr>
          <a:xfrm>
            <a:off x="0" y="958215"/>
            <a:ext cx="121926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Collection of computer programs, procedures, rules, and data is software.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Process of designing, developing, testing, and maintaining software is software Engineering.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947959-8BFF-D1DF-1C35-3018A8BB1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8125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Nature and Characteristics of Software</a:t>
            </a:r>
            <a:endParaRPr lang="en-US" sz="4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92AADDA-3128-170A-CEF3-6937612377A0}"/>
              </a:ext>
            </a:extLst>
          </p:cNvPr>
          <p:cNvSpPr txBox="1"/>
          <p:nvPr/>
        </p:nvSpPr>
        <p:spPr>
          <a:xfrm>
            <a:off x="2102485" y="1887220"/>
            <a:ext cx="74129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4F7653-6EE1-3F49-2AFA-81F0CC97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260" y="2554605"/>
            <a:ext cx="67722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2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t="9668" b="10010"/>
          <a:stretch>
            <a:fillRect/>
          </a:stretch>
        </p:blipFill>
        <p:spPr>
          <a:xfrm>
            <a:off x="3115310" y="857250"/>
            <a:ext cx="5438775" cy="25323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3122" b="20705"/>
          <a:stretch>
            <a:fillRect/>
          </a:stretch>
        </p:blipFill>
        <p:spPr>
          <a:xfrm>
            <a:off x="3049905" y="3912235"/>
            <a:ext cx="5504815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32" t="24149" r="4041" b="22075"/>
          <a:stretch>
            <a:fillRect/>
          </a:stretch>
        </p:blipFill>
        <p:spPr>
          <a:xfrm>
            <a:off x="3300095" y="970915"/>
            <a:ext cx="5058410" cy="1695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004" t="24491" r="3806" b="21732"/>
          <a:stretch>
            <a:fillRect/>
          </a:stretch>
        </p:blipFill>
        <p:spPr>
          <a:xfrm>
            <a:off x="3300095" y="3363595"/>
            <a:ext cx="5177155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203" t="23102" r="3993" b="20705"/>
          <a:stretch>
            <a:fillRect/>
          </a:stretch>
        </p:blipFill>
        <p:spPr>
          <a:xfrm>
            <a:off x="3365500" y="1236980"/>
            <a:ext cx="5156200" cy="1771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401" t="24149" r="4005" b="21732"/>
          <a:stretch>
            <a:fillRect/>
          </a:stretch>
        </p:blipFill>
        <p:spPr>
          <a:xfrm>
            <a:off x="3376930" y="4100195"/>
            <a:ext cx="5144770" cy="1706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45795" y="0"/>
            <a:ext cx="11207115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Engineering versus System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191101"/>
              </p:ext>
            </p:extLst>
          </p:nvPr>
        </p:nvGraphicFramePr>
        <p:xfrm>
          <a:off x="92764" y="943728"/>
          <a:ext cx="12006471" cy="4756625"/>
        </p:xfrm>
        <a:graphic>
          <a:graphicData uri="http://schemas.openxmlformats.org/drawingml/2006/table">
            <a:tbl>
              <a:tblPr/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Engineering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software development and processes.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designing and managing complex systems.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86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Narrower 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Broader 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8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 software applications or systems to meet specific requirements.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multiple components (hardware, software, processes) to achieve system goals.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software design, coding, testing, and maintenance.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system architecture, integration, and optimization.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118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Lifecycle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Follows SDLC methodologies.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Involves system lifecycle management from conception to retirement.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91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Disciplines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disciplines like requirements engineering, software design, and quality assurance.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disciplines such as system architecture, system integration, and system testing.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8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strong programming skills, knowledge of algorithms, and software design patterns.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systems thinking, problem-solving skills, and understanding of interdisciplinary concepts.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099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development, web development, and mobile app development.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 </a:t>
                      </a:r>
                      <a:r>
                        <a:rPr lang="en-US" alt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aerospace systems, transportation systems, and healthcare systems.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21E6-36DF-824F-A7D3-749DEF76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5A331264-8A61-CDED-2851-133D59CC31B6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1C386-185D-6266-BE68-A57F698A50AF}"/>
              </a:ext>
            </a:extLst>
          </p:cNvPr>
          <p:cNvSpPr txBox="1"/>
          <p:nvPr/>
        </p:nvSpPr>
        <p:spPr>
          <a:xfrm>
            <a:off x="-1" y="689444"/>
            <a:ext cx="123495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a code of conduct for professional software engineers to make software engineering a beneficial and respected profession.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﻿Joint Effort by </a:t>
            </a:r>
            <a:r>
              <a:rPr lang="en-GB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lEEE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-Computer Society and Association of Computing MachineryACM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72702-6AB2-E201-B8FC-B83B85788E3E}"/>
              </a:ext>
            </a:extLst>
          </p:cNvPr>
          <p:cNvSpPr txBox="1"/>
          <p:nvPr/>
        </p:nvSpPr>
        <p:spPr>
          <a:xfrm>
            <a:off x="208050" y="1840553"/>
            <a:ext cx="11155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are those who contribute either by direct participation or by</a:t>
            </a:r>
          </a:p>
          <a:p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﻿teaching,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﻿analysing,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﻿Specification generating,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﻿designing,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﻿developing,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﻿certifying,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﻿Maintaining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﻿testing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software system</a:t>
            </a:r>
          </a:p>
        </p:txBody>
      </p:sp>
    </p:spTree>
    <p:extLst>
      <p:ext uri="{BB962C8B-B14F-4D97-AF65-F5344CB8AC3E}">
        <p14:creationId xmlns:p14="http://schemas.microsoft.com/office/powerpoint/2010/main" val="324628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7F0C-99B4-2931-D198-87C48E7D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9D45A52C-15DF-E322-741A-7AE471C983D0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69CC1-567C-91AA-7EFD-DC5F921E4605}"/>
              </a:ext>
            </a:extLst>
          </p:cNvPr>
          <p:cNvSpPr txBox="1"/>
          <p:nvPr/>
        </p:nvSpPr>
        <p:spPr>
          <a:xfrm>
            <a:off x="295381" y="905806"/>
            <a:ext cx="1189661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Roles of Engineers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"Professional Software Engineers" include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Practitioners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makers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Trainees and Students of the Profession</a:t>
            </a:r>
          </a:p>
        </p:txBody>
      </p:sp>
    </p:spTree>
    <p:extLst>
      <p:ext uri="{BB962C8B-B14F-4D97-AF65-F5344CB8AC3E}">
        <p14:creationId xmlns:p14="http://schemas.microsoft.com/office/powerpoint/2010/main" val="745008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DAD8-726C-E819-9B37-915A9718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C50F1668-5B4C-781F-9E63-48834FFE475B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C4E45-FEB1-CF38-6F66-C6AED0910FE4}"/>
              </a:ext>
            </a:extLst>
          </p:cNvPr>
          <p:cNvSpPr txBox="1"/>
          <p:nvPr/>
        </p:nvSpPr>
        <p:spPr>
          <a:xfrm>
            <a:off x="0" y="461665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act consistently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AND EMPLOYER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act in a manner that is in the best interests of their client and employer, consistent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ensure that their products and related modifications meet the highest professional standards possible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maintain integrity and independence in their professional judgment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engineering managers and leaders shall subscribe to and promote an ethical approach to the management of software development and maintenance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advance the integrity and reputation of the profession consistent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COLLEAGUES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﻿﻿Software engineers shall be fair to and supportive of their colleagues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participate in lifelong learning regarding the practice of their profession and shall promote an ethical approach to the practice of the profession</a:t>
            </a:r>
          </a:p>
        </p:txBody>
      </p:sp>
    </p:spTree>
    <p:extLst>
      <p:ext uri="{BB962C8B-B14F-4D97-AF65-F5344CB8AC3E}">
        <p14:creationId xmlns:p14="http://schemas.microsoft.com/office/powerpoint/2010/main" val="377842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99A2-C35F-881F-78BD-28D1A0A4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2FC93979-3CF3-94B3-608C-BC9FE89F7239}"/>
              </a:ext>
            </a:extLst>
          </p:cNvPr>
          <p:cNvSpPr txBox="1"/>
          <p:nvPr/>
        </p:nvSpPr>
        <p:spPr>
          <a:xfrm>
            <a:off x="4126134" y="0"/>
            <a:ext cx="3939732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9C646-7B77-6594-BFE2-B8C749F431D9}"/>
              </a:ext>
            </a:extLst>
          </p:cNvPr>
          <p:cNvSpPr txBox="1"/>
          <p:nvPr/>
        </p:nvSpPr>
        <p:spPr>
          <a:xfrm>
            <a:off x="0" y="461665"/>
            <a:ext cx="1219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Practices: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Communication: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Accountability: . 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Teamwork: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Adherence to Standards:  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Challenges in Software Engineering: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and Discrimination: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Responsibility:</a:t>
            </a:r>
          </a:p>
        </p:txBody>
      </p:sp>
    </p:spTree>
    <p:extLst>
      <p:ext uri="{BB962C8B-B14F-4D97-AF65-F5344CB8AC3E}">
        <p14:creationId xmlns:p14="http://schemas.microsoft.com/office/powerpoint/2010/main" val="279449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49EC-FADA-DF26-3DDC-0388CBEB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BF2BCD10-865A-7E55-0129-9ADD2207BA59}"/>
              </a:ext>
            </a:extLst>
          </p:cNvPr>
          <p:cNvSpPr txBox="1"/>
          <p:nvPr/>
        </p:nvSpPr>
        <p:spPr>
          <a:xfrm>
            <a:off x="4138162" y="0"/>
            <a:ext cx="3915687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Attributes of Good Software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098" name="Picture 2" descr="What Are The Attributes of Good Software in Software Engineering?">
            <a:extLst>
              <a:ext uri="{FF2B5EF4-FFF2-40B4-BE49-F238E27FC236}">
                <a16:creationId xmlns:a16="http://schemas.microsoft.com/office/drawing/2014/main" id="{874616A7-2B56-5000-223F-B08E383DC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03" y="461665"/>
            <a:ext cx="8225441" cy="627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160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3205"/>
          </a:xfrm>
        </p:spPr>
        <p:txBody>
          <a:bodyPr>
            <a:normAutofit/>
          </a:bodyPr>
          <a:lstStyle/>
          <a:p>
            <a:pPr marL="228600">
              <a:lnSpc>
                <a:spcPct val="107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Life Cycle[SDLC]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320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the process of designing, creating, deploying, and maintaining software applications or systems.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a systematic approach to building software that meets specific requirements and objectives.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oftware Development Life Cycle (SDLC)">
            <a:extLst>
              <a:ext uri="{FF2B5EF4-FFF2-40B4-BE49-F238E27FC236}">
                <a16:creationId xmlns:a16="http://schemas.microsoft.com/office/drawing/2014/main" id="{36C4B7B4-3F72-96DD-0754-7564228C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21177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70FB-3B04-754F-5F1D-BF102AB3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tage 1">
            <a:extLst>
              <a:ext uri="{FF2B5EF4-FFF2-40B4-BE49-F238E27FC236}">
                <a16:creationId xmlns:a16="http://schemas.microsoft.com/office/drawing/2014/main" id="{1B692E90-5E39-081C-7F83-8C0E295E52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0"/>
          <a:stretch/>
        </p:blipFill>
        <p:spPr bwMode="auto">
          <a:xfrm>
            <a:off x="0" y="381000"/>
            <a:ext cx="12192000" cy="559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220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1678-F682-8F38-0159-8F58CD06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tage-2: Defining Requirements">
            <a:extLst>
              <a:ext uri="{FF2B5EF4-FFF2-40B4-BE49-F238E27FC236}">
                <a16:creationId xmlns:a16="http://schemas.microsoft.com/office/drawing/2014/main" id="{B7413072-1749-B0A8-E5DD-CE2A89336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86"/>
          <a:stretch/>
        </p:blipFill>
        <p:spPr bwMode="auto">
          <a:xfrm>
            <a:off x="0" y="381000"/>
            <a:ext cx="12192000" cy="558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337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3195-BC45-8AC3-38B7-98AB7E8D2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ightbox">
            <a:extLst>
              <a:ext uri="{FF2B5EF4-FFF2-40B4-BE49-F238E27FC236}">
                <a16:creationId xmlns:a16="http://schemas.microsoft.com/office/drawing/2014/main" id="{5F4DA26B-0EFF-4E7B-DE3C-09D104D52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0"/>
          <a:stretch/>
        </p:blipFill>
        <p:spPr bwMode="auto">
          <a:xfrm>
            <a:off x="0" y="381000"/>
            <a:ext cx="12192000" cy="552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208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C754-57F3-8931-3FD3-040E9EEE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tage-4: Developing Product">
            <a:extLst>
              <a:ext uri="{FF2B5EF4-FFF2-40B4-BE49-F238E27FC236}">
                <a16:creationId xmlns:a16="http://schemas.microsoft.com/office/drawing/2014/main" id="{9ED7727E-2C2D-27EF-BDF4-D8ED0FA8FD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66"/>
          <a:stretch/>
        </p:blipFill>
        <p:spPr bwMode="auto">
          <a:xfrm>
            <a:off x="0" y="381000"/>
            <a:ext cx="12192000" cy="556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89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E458-58F3-43F4-DE85-24FE01C6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Lightbox">
            <a:extLst>
              <a:ext uri="{FF2B5EF4-FFF2-40B4-BE49-F238E27FC236}">
                <a16:creationId xmlns:a16="http://schemas.microsoft.com/office/drawing/2014/main" id="{421E30BE-C482-E338-3BDC-47376844E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34"/>
          <a:stretch/>
        </p:blipFill>
        <p:spPr bwMode="auto">
          <a:xfrm>
            <a:off x="0" y="381000"/>
            <a:ext cx="12192000" cy="555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37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DD91-41F2-5BC3-39CD-3C8BE2CE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ightbox">
            <a:extLst>
              <a:ext uri="{FF2B5EF4-FFF2-40B4-BE49-F238E27FC236}">
                <a16:creationId xmlns:a16="http://schemas.microsoft.com/office/drawing/2014/main" id="{E35895AF-B50D-16D7-02D0-8E9EC6995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1"/>
          <a:stretch/>
        </p:blipFill>
        <p:spPr bwMode="auto">
          <a:xfrm>
            <a:off x="0" y="381000"/>
            <a:ext cx="12192000" cy="546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206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60C7-9C5B-0C1E-BF8D-9506AA5D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F7D006F9-262B-D004-9783-AE38929D3E4F}"/>
              </a:ext>
            </a:extLst>
          </p:cNvPr>
          <p:cNvSpPr txBox="1"/>
          <p:nvPr/>
        </p:nvSpPr>
        <p:spPr>
          <a:xfrm>
            <a:off x="5592502" y="0"/>
            <a:ext cx="1007007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SDLC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148" name="Picture 4" descr="Lightbox">
            <a:extLst>
              <a:ext uri="{FF2B5EF4-FFF2-40B4-BE49-F238E27FC236}">
                <a16:creationId xmlns:a16="http://schemas.microsoft.com/office/drawing/2014/main" id="{FA260513-68DD-55A7-FDEF-3F58923D3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81"/>
          <a:stretch/>
        </p:blipFill>
        <p:spPr bwMode="auto">
          <a:xfrm>
            <a:off x="0" y="381000"/>
            <a:ext cx="12192000" cy="585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096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249970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F01A-5FA9-097C-1091-7110BF8D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B654D1-164E-58FF-2392-17D964D9E5A1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1033</Words>
  <Application>Microsoft Macintosh PowerPoint</Application>
  <PresentationFormat>Widescreen</PresentationFormat>
  <Paragraphs>231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Times New Roman Bold</vt:lpstr>
      <vt:lpstr>Times New Roman Regular</vt:lpstr>
      <vt:lpstr>Wingdings</vt:lpstr>
      <vt:lpstr>Office Theme</vt:lpstr>
      <vt:lpstr>1_Office Theme</vt:lpstr>
      <vt:lpstr>Unit 1 INTRODUCTION TO SOFTWARE ENGINEERING                                                                                                           </vt:lpstr>
      <vt:lpstr>OUTLINES</vt:lpstr>
      <vt:lpstr>Overview of Software Engineering</vt:lpstr>
      <vt:lpstr>Objectives of Software Engineering</vt:lpstr>
      <vt:lpstr>Purpose of Software Engineering</vt:lpstr>
      <vt:lpstr>Advantages of Software Engineering</vt:lpstr>
      <vt:lpstr>Challenges of Software Engineering</vt:lpstr>
      <vt:lpstr>Job choices in software engineering</vt:lpstr>
      <vt:lpstr>PowerPoint Presentation</vt:lpstr>
      <vt:lpstr>Nature and Characteristics of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Development Life Cycle[SDLC]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Harendra Bikram Shah</cp:lastModifiedBy>
  <cp:revision>329</cp:revision>
  <dcterms:created xsi:type="dcterms:W3CDTF">2024-09-24T16:02:49Z</dcterms:created>
  <dcterms:modified xsi:type="dcterms:W3CDTF">2025-04-24T16:12:09Z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