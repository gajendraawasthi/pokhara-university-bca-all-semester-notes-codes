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319" r:id="rId4"/>
    <p:sldId id="320" r:id="rId5"/>
    <p:sldId id="321" r:id="rId6"/>
    <p:sldId id="322" r:id="rId7"/>
    <p:sldId id="324" r:id="rId8"/>
    <p:sldId id="323" r:id="rId9"/>
    <p:sldId id="325" r:id="rId10"/>
    <p:sldId id="326" r:id="rId11"/>
    <p:sldId id="327" r:id="rId12"/>
    <p:sldId id="328" r:id="rId13"/>
    <p:sldId id="329" r:id="rId14"/>
    <p:sldId id="330" r:id="rId15"/>
    <p:sldId id="332" r:id="rId16"/>
    <p:sldId id="333" r:id="rId17"/>
    <p:sldId id="331" r:id="rId18"/>
    <p:sldId id="334" r:id="rId19"/>
    <p:sldId id="335" r:id="rId20"/>
    <p:sldId id="336" r:id="rId21"/>
    <p:sldId id="337" r:id="rId22"/>
    <p:sldId id="338" r:id="rId23"/>
    <p:sldId id="339" r:id="rId24"/>
    <p:sldId id="341" r:id="rId25"/>
    <p:sldId id="340" r:id="rId26"/>
    <p:sldId id="342" r:id="rId27"/>
    <p:sldId id="343" r:id="rId28"/>
    <p:sldId id="344" r:id="rId29"/>
    <p:sldId id="345" r:id="rId30"/>
    <p:sldId id="346" r:id="rId31"/>
    <p:sldId id="347" r:id="rId32"/>
    <p:sldId id="348" r:id="rId33"/>
    <p:sldId id="314" r:id="rId34"/>
    <p:sldId id="318" r:id="rId35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364" autoAdjust="0"/>
    <p:restoredTop sz="93969" autoAdjust="0"/>
  </p:normalViewPr>
  <p:slideViewPr>
    <p:cSldViewPr snapToGrid="0">
      <p:cViewPr varScale="1">
        <p:scale>
          <a:sx n="121" d="100"/>
          <a:sy n="121" d="100"/>
        </p:scale>
        <p:origin x="176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26/05/25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26/05/25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26/05/25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26/05/25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26/05/25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26/05/25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26/05/25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26/05/25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26/05/25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26/05/25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26/05/25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0DFAFD-11C0-45D7-9479-D1E78EB3123D}" type="datetimeFigureOut">
              <a:rPr lang="en-IN" smtClean="0"/>
              <a:t>26/05/25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095" y="0"/>
            <a:ext cx="12066905" cy="1433945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Unit 3 </a:t>
            </a:r>
            <a:br>
              <a:rPr lang="en-US" sz="4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</a:br>
            <a:r>
              <a:rPr lang="en-US" sz="4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    System Analysis in OOAD 		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5987" y="3212061"/>
            <a:ext cx="9224010" cy="2606675"/>
          </a:xfrm>
        </p:spPr>
        <p:txBody>
          <a:bodyPr>
            <a:noAutofit/>
          </a:bodyPr>
          <a:lstStyle/>
          <a:p>
            <a:pPr algn="l"/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</a:t>
            </a:r>
            <a:r>
              <a:rPr lang="en-US" alt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sented 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l"/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GB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Er.Harendra Bikram Shah </a:t>
            </a:r>
            <a:br>
              <a:rPr 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alt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(Lecturer)</a:t>
            </a:r>
          </a:p>
          <a:p>
            <a:pPr algn="l"/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alt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GB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</a:t>
            </a:r>
            <a:r>
              <a:rPr lang="en-US" altLang="en-GB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BCA</a:t>
            </a:r>
            <a:r>
              <a:rPr lang="en-GB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GB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			          </a:t>
            </a:r>
            <a:r>
              <a:rPr lang="en-US" altLang="en-GB" b="1" dirty="0">
                <a:solidFill>
                  <a:srgbClr val="00B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				      NAST</a:t>
            </a:r>
            <a:r>
              <a:rPr lang="en-GB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GB" b="1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GB" b="1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9467098" y="2211427"/>
            <a:ext cx="22204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Hour: 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hour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3785" y="271145"/>
            <a:ext cx="5836285" cy="634365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5F5EDD-047B-317E-FF09-527F63E990A8}"/>
              </a:ext>
            </a:extLst>
          </p:cNvPr>
          <p:cNvSpPr txBox="1"/>
          <p:nvPr/>
        </p:nvSpPr>
        <p:spPr>
          <a:xfrm>
            <a:off x="0" y="1030014"/>
            <a:ext cx="11309131" cy="1834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Requirements in Object-Oriented Systems</a:t>
            </a:r>
            <a:endParaRPr lang="en-GB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Identifying functional and non-functional requirements in object-oriented systems.</a:t>
            </a:r>
            <a:endParaRPr lang="en-GB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Use of Use Case Diagrams to model system requirements. </a:t>
            </a:r>
            <a:endParaRPr lang="en-GB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Requirement Modeling in OOAD</a:t>
            </a:r>
            <a:endParaRPr lang="en-GB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Creating Use Case Descriptions and Use Case Diagrams in UML for capturing functional requirements.</a:t>
            </a:r>
            <a:r>
              <a:rPr lang="en-GB" sz="2000" dirty="0">
                <a:effectLst/>
              </a:rPr>
              <a:t> 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4E1D5-5D46-A6C0-2E2F-5BC417D29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AB577E5-0A15-78AE-8BDA-885281A0F534}"/>
              </a:ext>
            </a:extLst>
          </p:cNvPr>
          <p:cNvSpPr txBox="1"/>
          <p:nvPr/>
        </p:nvSpPr>
        <p:spPr>
          <a:xfrm>
            <a:off x="1051034" y="0"/>
            <a:ext cx="10499835" cy="622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5000"/>
              </a:lnSpc>
            </a:pPr>
            <a:r>
              <a:rPr lang="en-US" sz="32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INTRODUCTION TO OOAD</a:t>
            </a:r>
            <a:endParaRPr lang="en-GB" sz="3200" b="1" dirty="0">
              <a:solidFill>
                <a:srgbClr val="00B0F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pic>
        <p:nvPicPr>
          <p:cNvPr id="1026" name="Picture 2" descr="Object--oriented-">
            <a:extLst>
              <a:ext uri="{FF2B5EF4-FFF2-40B4-BE49-F238E27FC236}">
                <a16:creationId xmlns:a16="http://schemas.microsoft.com/office/drawing/2014/main" id="{581BCD0B-A8F5-8617-7D69-AEFA95BD9C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19" t="21665" b="12903"/>
          <a:stretch>
            <a:fillRect/>
          </a:stretch>
        </p:blipFill>
        <p:spPr bwMode="auto">
          <a:xfrm>
            <a:off x="1660634" y="1975944"/>
            <a:ext cx="8187559" cy="3174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6FED1D-3B34-158B-779C-D74908F6480E}"/>
              </a:ext>
            </a:extLst>
          </p:cNvPr>
          <p:cNvSpPr txBox="1"/>
          <p:nvPr/>
        </p:nvSpPr>
        <p:spPr>
          <a:xfrm>
            <a:off x="0" y="622799"/>
            <a:ext cx="1219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Combination of OOA and OOD 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Way to design software by thinking of everything as objects similar to real-life things.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make software easier to manage, reuse, and grow.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8379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B4F5B-D0B1-1FE9-63B4-F11B34F20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C91AFEC-F4A2-91A1-EFE1-F029143FB782}"/>
              </a:ext>
            </a:extLst>
          </p:cNvPr>
          <p:cNvSpPr txBox="1"/>
          <p:nvPr/>
        </p:nvSpPr>
        <p:spPr>
          <a:xfrm>
            <a:off x="1051034" y="0"/>
            <a:ext cx="1049983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buNone/>
            </a:pPr>
            <a:r>
              <a:rPr lang="en-GB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Important Aspects of OOAD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0DFBBC-DFE9-4AC8-4AAE-01DCBD6B3633}"/>
              </a:ext>
            </a:extLst>
          </p:cNvPr>
          <p:cNvSpPr txBox="1"/>
          <p:nvPr/>
        </p:nvSpPr>
        <p:spPr>
          <a:xfrm>
            <a:off x="0" y="1259175"/>
            <a:ext cx="12192000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Object-Oriented Programming: 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items are mapped as software objects with attributes and methods that relate to their actions. </a:t>
            </a:r>
          </a:p>
          <a:p>
            <a:pPr algn="just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patterns : U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sed by OOAD to help developers in building software systems that are more efficient and maintainable.</a:t>
            </a:r>
          </a:p>
          <a:p>
            <a:pPr algn="just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 diagrams: U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sed in OOAD to represent the different components and interactions of a software system.</a:t>
            </a:r>
          </a:p>
          <a:p>
            <a:pPr algn="just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cases: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developers to understand the requirements of a system and to design software systems that meet those requirements.</a:t>
            </a:r>
          </a:p>
        </p:txBody>
      </p:sp>
    </p:spTree>
    <p:extLst>
      <p:ext uri="{BB962C8B-B14F-4D97-AF65-F5344CB8AC3E}">
        <p14:creationId xmlns:p14="http://schemas.microsoft.com/office/powerpoint/2010/main" val="3925314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2DA9A-32CE-2901-DA20-3E21EC974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196B01F-9897-0DA7-E856-7EB40C298270}"/>
              </a:ext>
            </a:extLst>
          </p:cNvPr>
          <p:cNvSpPr txBox="1"/>
          <p:nvPr/>
        </p:nvSpPr>
        <p:spPr>
          <a:xfrm>
            <a:off x="1051034" y="0"/>
            <a:ext cx="1049983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buNone/>
            </a:pPr>
            <a:r>
              <a:rPr lang="en-GB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Object Oriented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3446BE-6D76-F9DA-EC60-9CBBF3152F4F}"/>
              </a:ext>
            </a:extLst>
          </p:cNvPr>
          <p:cNvSpPr txBox="1"/>
          <p:nvPr/>
        </p:nvSpPr>
        <p:spPr>
          <a:xfrm>
            <a:off x="0" y="584775"/>
            <a:ext cx="1219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 fontAlgn="base"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of understanding and analyzing the system requirements by looking at the problem scenario in terms of objects. </a:t>
            </a:r>
          </a:p>
          <a:p>
            <a:pPr marL="285750" indent="-285750" algn="l" fontAlgn="base"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objects represent real-world entities that are relevant to the system being developed. </a:t>
            </a:r>
          </a:p>
          <a:p>
            <a:pPr marL="285750" indent="-285750" algn="l" fontAlgn="base"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goal is to identify the objects, their attributes, behaviors, and relationships, without focusing on how the system will be implemented.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E6BE79-4D87-9127-9561-4CA195B4F107}"/>
              </a:ext>
            </a:extLst>
          </p:cNvPr>
          <p:cNvSpPr txBox="1"/>
          <p:nvPr/>
        </p:nvSpPr>
        <p:spPr>
          <a:xfrm>
            <a:off x="1" y="1839310"/>
            <a:ext cx="12191999" cy="40831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buNone/>
            </a:pPr>
            <a:r>
              <a:rPr lang="en-GB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Object-Oriented Design</a:t>
            </a:r>
          </a:p>
          <a:p>
            <a:pPr marL="285750" indent="-285750" algn="l" rtl="0" fontAlgn="base">
              <a:spcAft>
                <a:spcPts val="750"/>
              </a:spcAft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of implementation of the conceptual model developed in OOA.</a:t>
            </a:r>
          </a:p>
          <a:p>
            <a:pPr algn="l" rtl="0" fontAlgn="base">
              <a:spcAft>
                <a:spcPts val="750"/>
              </a:spcAft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specific aspects of OOD are: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Organization of Attributes:</a:t>
            </a:r>
          </a:p>
          <a:p>
            <a:pPr marL="742950" lvl="1" indent="-285750" algn="l" fontAlgn="base">
              <a:spcBef>
                <a:spcPts val="375"/>
              </a:spcBef>
              <a:spcAft>
                <a:spcPts val="375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specifies how data attributes are organized within the objects. </a:t>
            </a:r>
          </a:p>
          <a:p>
            <a:pPr marL="742950" lvl="1" indent="-285750" algn="l" fontAlgn="base">
              <a:spcBef>
                <a:spcPts val="375"/>
              </a:spcBef>
              <a:spcAft>
                <a:spcPts val="375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determines the types of data each object will hold and how they relate to one another.</a:t>
            </a:r>
          </a:p>
          <a:p>
            <a:pPr lvl="1" algn="l" fontAlgn="base">
              <a:spcBef>
                <a:spcPts val="375"/>
              </a:spcBef>
              <a:spcAft>
                <a:spcPts val="375"/>
              </a:spcAft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Procedural Description of Operations:</a:t>
            </a:r>
          </a:p>
          <a:p>
            <a:pPr marL="742950" lvl="1" indent="-285750" algn="l" fontAlgn="base">
              <a:spcBef>
                <a:spcPts val="375"/>
              </a:spcBef>
              <a:spcAft>
                <a:spcPts val="375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OOD requires a procedural description for each operation that an object can perform. </a:t>
            </a:r>
          </a:p>
          <a:p>
            <a:pPr marL="742950" lvl="1" indent="-285750" algn="l" fontAlgn="base">
              <a:spcBef>
                <a:spcPts val="375"/>
              </a:spcBef>
              <a:spcAft>
                <a:spcPts val="375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involves detailing the steps or processes involved in carrying out specific tasks.</a:t>
            </a:r>
          </a:p>
        </p:txBody>
      </p:sp>
    </p:spTree>
    <p:extLst>
      <p:ext uri="{BB962C8B-B14F-4D97-AF65-F5344CB8AC3E}">
        <p14:creationId xmlns:p14="http://schemas.microsoft.com/office/powerpoint/2010/main" val="3788095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D4F5F-09F8-63EE-E60B-ABB26201C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C9B0305-4336-C1C7-AC1F-96036D3B5E14}"/>
              </a:ext>
            </a:extLst>
          </p:cNvPr>
          <p:cNvSpPr txBox="1"/>
          <p:nvPr/>
        </p:nvSpPr>
        <p:spPr>
          <a:xfrm>
            <a:off x="1051034" y="0"/>
            <a:ext cx="1049983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buNone/>
            </a:pPr>
            <a:r>
              <a:rPr lang="en-GB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Object Oriented Design</a:t>
            </a:r>
          </a:p>
        </p:txBody>
      </p:sp>
      <p:pic>
        <p:nvPicPr>
          <p:cNvPr id="4098" name="Picture 2" descr="The-Object-Oriented-Design-Pyramid-(1)">
            <a:extLst>
              <a:ext uri="{FF2B5EF4-FFF2-40B4-BE49-F238E27FC236}">
                <a16:creationId xmlns:a16="http://schemas.microsoft.com/office/drawing/2014/main" id="{8A56EB60-DE02-8AC6-2DDC-BF5D85C6C5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033" y="461908"/>
            <a:ext cx="10499835" cy="610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6715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7DA80-9129-BFAF-77EA-19C231F8E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79C4B74-A8B3-2542-351C-B25EE41CB54F}"/>
              </a:ext>
            </a:extLst>
          </p:cNvPr>
          <p:cNvSpPr txBox="1"/>
          <p:nvPr/>
        </p:nvSpPr>
        <p:spPr>
          <a:xfrm>
            <a:off x="1051034" y="0"/>
            <a:ext cx="1049983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buNone/>
            </a:pPr>
            <a:r>
              <a:rPr lang="en-GB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 of Object-Oriented Analysis  and Design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2D0EA9-FC76-2FAA-0783-7F747F9426F4}"/>
              </a:ext>
            </a:extLst>
          </p:cNvPr>
          <p:cNvSpPr txBox="1"/>
          <p:nvPr/>
        </p:nvSpPr>
        <p:spPr>
          <a:xfrm>
            <a:off x="204951" y="955707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E-commerce Application (e.g., Amazon)</a:t>
            </a: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 Rental System (e.g., Hertz)</a:t>
            </a: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 Management System</a:t>
            </a: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Library Management System</a:t>
            </a:r>
          </a:p>
          <a:p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College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3630167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5E83B-A4C7-B12D-64EA-62F707E71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F95B20-12CD-0F18-857E-3CB25A816332}"/>
              </a:ext>
            </a:extLst>
          </p:cNvPr>
          <p:cNvSpPr txBox="1"/>
          <p:nvPr/>
        </p:nvSpPr>
        <p:spPr>
          <a:xfrm>
            <a:off x="1051034" y="0"/>
            <a:ext cx="1049983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buNone/>
            </a:pPr>
            <a:r>
              <a:rPr lang="en-GB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System Analysis and Design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3A4989-64E7-13F0-D95A-9027FF57002F}"/>
              </a:ext>
            </a:extLst>
          </p:cNvPr>
          <p:cNvSpPr txBox="1"/>
          <p:nvPr/>
        </p:nvSpPr>
        <p:spPr>
          <a:xfrm>
            <a:off x="0" y="683624"/>
            <a:ext cx="1219200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itchFamily="2" charset="2"/>
              <a:buChar char="Ø"/>
            </a:pPr>
            <a:r>
              <a:rPr lang="en-GB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rocess of collecting and interpreting facts, identifying the problems, and decomposition of a system into its components.</a:t>
            </a:r>
          </a:p>
          <a:p>
            <a:pPr marL="285750" indent="-285750" algn="l">
              <a:buFont typeface="Wingdings" pitchFamily="2" charset="2"/>
              <a:buChar char="Ø"/>
            </a:pPr>
            <a:r>
              <a:rPr lang="en-GB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onducted for the purpose of studying a system or its parts in order to identify its objectives.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specifies 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the system should do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ctr"/>
            <a:r>
              <a:rPr lang="en-GB" sz="2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Systems Design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 focuses on 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accomplish the objective of the system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GB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 descr="system_analysis_150">
            <a:extLst>
              <a:ext uri="{FF2B5EF4-FFF2-40B4-BE49-F238E27FC236}">
                <a16:creationId xmlns:a16="http://schemas.microsoft.com/office/drawing/2014/main" id="{B952F2C2-57D7-17FC-8012-269AC9D1FF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5" t="17922" r="6293" b="15424"/>
          <a:stretch>
            <a:fillRect/>
          </a:stretch>
        </p:blipFill>
        <p:spPr bwMode="auto">
          <a:xfrm>
            <a:off x="567558" y="2355521"/>
            <a:ext cx="10636469" cy="4067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4861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67EEB-89DF-59D0-074E-129B30188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96A0152-C86B-AC01-5923-1573CCF35D6A}"/>
              </a:ext>
            </a:extLst>
          </p:cNvPr>
          <p:cNvSpPr txBox="1"/>
          <p:nvPr/>
        </p:nvSpPr>
        <p:spPr>
          <a:xfrm>
            <a:off x="1051034" y="0"/>
            <a:ext cx="1049983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buNone/>
            </a:pPr>
            <a:r>
              <a:rPr lang="en-GB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System Analysis and Design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816688-BA93-C43D-0CE0-1686585D8CAA}"/>
              </a:ext>
            </a:extLst>
          </p:cNvPr>
          <p:cNvSpPr txBox="1"/>
          <p:nvPr/>
        </p:nvSpPr>
        <p:spPr>
          <a:xfrm>
            <a:off x="0" y="584775"/>
            <a:ext cx="12192000" cy="2780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>
              <a:spcAft>
                <a:spcPts val="750"/>
              </a:spcAft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aspects of system analysis are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Identification: 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 Gathering: 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study: 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and modeling: 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Definition: </a:t>
            </a:r>
          </a:p>
        </p:txBody>
      </p:sp>
      <p:pic>
        <p:nvPicPr>
          <p:cNvPr id="8194" name="Picture 2" descr="System-Analysis-(System-Analysis--System-Design)">
            <a:extLst>
              <a:ext uri="{FF2B5EF4-FFF2-40B4-BE49-F238E27FC236}">
                <a16:creationId xmlns:a16="http://schemas.microsoft.com/office/drawing/2014/main" id="{1E021B9C-55F4-A873-0A2B-4245083764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1269" y="987973"/>
            <a:ext cx="8534400" cy="5194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23653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59CAE-DBC8-CFFE-2ECB-C12D83D9D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E521180-6582-F2CD-0D77-1108E0E11750}"/>
              </a:ext>
            </a:extLst>
          </p:cNvPr>
          <p:cNvSpPr txBox="1"/>
          <p:nvPr/>
        </p:nvSpPr>
        <p:spPr>
          <a:xfrm>
            <a:off x="1051034" y="0"/>
            <a:ext cx="1049983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buNone/>
            </a:pPr>
            <a:r>
              <a:rPr lang="en-GB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System Analysis and Design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57E3CF-53A1-7EBF-C7D4-0F27CF5B7D2D}"/>
              </a:ext>
            </a:extLst>
          </p:cNvPr>
          <p:cNvSpPr txBox="1"/>
          <p:nvPr/>
        </p:nvSpPr>
        <p:spPr>
          <a:xfrm>
            <a:off x="0" y="584776"/>
            <a:ext cx="12192000" cy="3795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spcAft>
                <a:spcPts val="750"/>
              </a:spcAft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components of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as follows: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design: 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configuration: 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 startAt="2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system: 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 startAt="4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Design: 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 startAt="4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Security: 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 startAt="5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and Maintenance: 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 startAt="6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Documentation:</a:t>
            </a:r>
          </a:p>
        </p:txBody>
      </p:sp>
    </p:spTree>
    <p:extLst>
      <p:ext uri="{BB962C8B-B14F-4D97-AF65-F5344CB8AC3E}">
        <p14:creationId xmlns:p14="http://schemas.microsoft.com/office/powerpoint/2010/main" val="24900500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C6983-9FC5-D50B-EB2A-E69463902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3C668A2-AF6B-19A3-C115-40B48467A771}"/>
              </a:ext>
            </a:extLst>
          </p:cNvPr>
          <p:cNvSpPr txBox="1"/>
          <p:nvPr/>
        </p:nvSpPr>
        <p:spPr>
          <a:xfrm>
            <a:off x="1051034" y="0"/>
            <a:ext cx="1049983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buNone/>
            </a:pPr>
            <a:r>
              <a:rPr lang="en-GB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System Analysis in OOAD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59BDCC-C807-342E-F129-EA0606ADCA27}"/>
              </a:ext>
            </a:extLst>
          </p:cNvPr>
          <p:cNvSpPr txBox="1"/>
          <p:nvPr/>
        </p:nvSpPr>
        <p:spPr>
          <a:xfrm>
            <a:off x="0" y="767706"/>
            <a:ext cx="1219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itchFamily="2" charset="2"/>
              <a:buChar char="Ø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first major phase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in the Object-Oriented Analysis and Design (OOAD) process. </a:t>
            </a:r>
          </a:p>
          <a:p>
            <a:pPr marL="285750" indent="-285750" algn="just">
              <a:buFont typeface="Wingdings" pitchFamily="2" charset="2"/>
              <a:buChar char="Ø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the OOAD context,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 Analysis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focuses on understanding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the system should do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by analyzing the problem domain through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object-oriented concepts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like classes, objects, use cases, and interactions.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6C29A5-DE7E-74EE-7C3A-657645F012F6}"/>
              </a:ext>
            </a:extLst>
          </p:cNvPr>
          <p:cNvSpPr txBox="1"/>
          <p:nvPr/>
        </p:nvSpPr>
        <p:spPr>
          <a:xfrm>
            <a:off x="-39414" y="1873967"/>
            <a:ext cx="12192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Objectives of System Analysis in OOAD:</a:t>
            </a:r>
          </a:p>
          <a:p>
            <a:pPr marL="342900" lvl="0" indent="-342900" algn="l">
              <a:buFont typeface="+mj-lt"/>
              <a:buAutoNum type="arabicPeriod"/>
              <a:tabLst>
                <a:tab pos="457200" algn="l"/>
              </a:tabLst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 Problem Domain:</a:t>
            </a:r>
          </a:p>
          <a:p>
            <a:pPr marL="342900" lvl="0" indent="-342900" algn="l">
              <a:buFont typeface="+mj-lt"/>
              <a:buAutoNum type="arabicPeriod"/>
              <a:tabLst>
                <a:tab pos="457200" algn="l"/>
              </a:tabLst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Objects and Classes:</a:t>
            </a:r>
          </a:p>
          <a:p>
            <a:pPr marL="342900" lvl="0" indent="-342900" algn="l">
              <a:buFont typeface="+mj-lt"/>
              <a:buAutoNum type="arabicPeriod"/>
              <a:tabLst>
                <a:tab pos="457200" algn="l"/>
              </a:tabLst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Use Cases:</a:t>
            </a:r>
          </a:p>
          <a:p>
            <a:pPr marL="342900" lvl="0" indent="-342900" algn="l">
              <a:buFont typeface="+mj-lt"/>
              <a:buAutoNum type="arabicPeriod"/>
              <a:tabLst>
                <a:tab pos="457200" algn="l"/>
              </a:tabLst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System Behavior:</a:t>
            </a:r>
          </a:p>
          <a:p>
            <a:pPr marL="342900" lvl="0" indent="-342900" algn="l">
              <a:buFont typeface="+mj-lt"/>
              <a:buAutoNum type="arabicPeriod"/>
              <a:tabLst>
                <a:tab pos="457200" algn="l"/>
              </a:tabLst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Establish System Boundaries:</a:t>
            </a:r>
          </a:p>
        </p:txBody>
      </p:sp>
    </p:spTree>
    <p:extLst>
      <p:ext uri="{BB962C8B-B14F-4D97-AF65-F5344CB8AC3E}">
        <p14:creationId xmlns:p14="http://schemas.microsoft.com/office/powerpoint/2010/main" val="3839225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BC767-C273-5179-0D2C-8F742FC27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28DC9B0-BA6A-90FC-D49E-346AE937A9CE}"/>
              </a:ext>
            </a:extLst>
          </p:cNvPr>
          <p:cNvSpPr txBox="1"/>
          <p:nvPr/>
        </p:nvSpPr>
        <p:spPr>
          <a:xfrm>
            <a:off x="1051034" y="0"/>
            <a:ext cx="1049983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buNone/>
            </a:pPr>
            <a:r>
              <a:rPr lang="en-GB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Object Oriented System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B1C104-C936-879B-CD52-B0797952E2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84775"/>
            <a:ext cx="12192000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OOS ,software developer focuses on the task, not on the tools and it organizes the application on the basis of OO Concepts.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behavior of the System depends on the collaboration between different Objects.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Phases of Object-Oriented Software Development</a:t>
            </a:r>
          </a:p>
        </p:txBody>
      </p:sp>
      <p:pic>
        <p:nvPicPr>
          <p:cNvPr id="11266" name="Picture 2" descr="350px-Waterfall_model_revisedsvg">
            <a:extLst>
              <a:ext uri="{FF2B5EF4-FFF2-40B4-BE49-F238E27FC236}">
                <a16:creationId xmlns:a16="http://schemas.microsoft.com/office/drawing/2014/main" id="{945A53EC-F135-63AC-F47D-F2E9B703F5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3736" y="2277546"/>
            <a:ext cx="5454430" cy="3597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37689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F63B9-2DA3-6D5D-5BA8-6DEE4E767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2B0D8D4-2947-0AAF-1DA1-C8644DF0A8F2}"/>
              </a:ext>
            </a:extLst>
          </p:cNvPr>
          <p:cNvSpPr txBox="1"/>
          <p:nvPr/>
        </p:nvSpPr>
        <p:spPr>
          <a:xfrm>
            <a:off x="1051034" y="0"/>
            <a:ext cx="1049983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buNone/>
            </a:pPr>
            <a:r>
              <a:rPr lang="en-GB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Requirements in Object Oriented System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CA3B30-3BF7-96BE-A1EE-3E91FAE6061D}"/>
              </a:ext>
            </a:extLst>
          </p:cNvPr>
          <p:cNvSpPr txBox="1"/>
          <p:nvPr/>
        </p:nvSpPr>
        <p:spPr>
          <a:xfrm>
            <a:off x="0" y="780080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itchFamily="2" charset="2"/>
              <a:buChar char="Ø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Requirements in Object-Oriented Systems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are the functional and non-functional needs of a software application </a:t>
            </a:r>
          </a:p>
          <a:p>
            <a:pPr marL="285750" indent="-285750" algn="just">
              <a:buFont typeface="Wingdings" pitchFamily="2" charset="2"/>
              <a:buChar char="Ø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described and modelled using object-oriented concepts like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classes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inheritance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encapsulation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polymorphism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53DA87-BC71-1351-3A68-DA56B56B77C3}"/>
              </a:ext>
            </a:extLst>
          </p:cNvPr>
          <p:cNvSpPr txBox="1"/>
          <p:nvPr/>
        </p:nvSpPr>
        <p:spPr>
          <a:xfrm>
            <a:off x="105103" y="1620100"/>
            <a:ext cx="992176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Purpose of Requirements in OOS: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Clarify the system's goals and boundaries.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Guide the design 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 classes, methods, and object interactions.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 alignment 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with business objectives.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 maintainability and reusability 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through proper OO structure.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ABEB85C-C76D-45E3-D212-41529CD8A0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9970490"/>
              </p:ext>
            </p:extLst>
          </p:nvPr>
        </p:nvGraphicFramePr>
        <p:xfrm>
          <a:off x="270642" y="3640842"/>
          <a:ext cx="5257800" cy="256032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8116616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8280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Understanding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33452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Traceability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29168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Reusability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6642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Better Communication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22191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Change Management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06528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Maintainability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46066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95599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3A69E-350D-6D4C-A82A-3AFAEDB38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DC1701F-1E8F-176B-57B1-502B24509601}"/>
              </a:ext>
            </a:extLst>
          </p:cNvPr>
          <p:cNvSpPr txBox="1"/>
          <p:nvPr/>
        </p:nvSpPr>
        <p:spPr>
          <a:xfrm>
            <a:off x="0" y="0"/>
            <a:ext cx="12192000" cy="49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5000"/>
              </a:lnSpc>
            </a:pPr>
            <a:r>
              <a:rPr lang="en-US" sz="2400" b="1" dirty="0">
                <a:solidFill>
                  <a:srgbClr val="00B0F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FUNCTIONAL REQUIREMENTS IN OBJECT-ORIENTED SYSTEMS.</a:t>
            </a:r>
            <a:endParaRPr lang="en-GB" sz="2400" b="1" dirty="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88FE5A0-40F7-0003-56D9-7965E22FB2F6}"/>
              </a:ext>
            </a:extLst>
          </p:cNvPr>
          <p:cNvSpPr txBox="1"/>
          <p:nvPr/>
        </p:nvSpPr>
        <p:spPr>
          <a:xfrm>
            <a:off x="-1" y="612844"/>
            <a:ext cx="12191999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describe the specific 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functions, features, and behavior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that a software system must perform.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define ”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 the system should do”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lang="en-GB" sz="2000" b="1" i="0" u="sng" strike="noStrike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Characteristics of Functional Requirements: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Describe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 behavior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and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interactions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Are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user- and system-focused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 be captured using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cases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stories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or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detailed descriptions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Directly map to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and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to be implemented in code.</a:t>
            </a:r>
          </a:p>
        </p:txBody>
      </p:sp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B275E6DC-06D9-BA16-407F-5EBE053739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8987755"/>
              </p:ext>
            </p:extLst>
          </p:nvPr>
        </p:nvGraphicFramePr>
        <p:xfrm>
          <a:off x="396765" y="3200406"/>
          <a:ext cx="10515600" cy="29565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73453491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1662327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Functional Area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83380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Authentication</a:t>
                      </a:r>
                      <a:endParaRPr lang="en-GB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Login, logout, password reset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5015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Management</a:t>
                      </a:r>
                      <a:endParaRPr lang="en-GB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Create, Read, Update, Delete (CRUD) operations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03643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Report Generation</a:t>
                      </a:r>
                      <a:endParaRPr lang="en-GB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Generate invoices, reports, statistics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16406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Business Rules</a:t>
                      </a:r>
                      <a:endParaRPr lang="en-GB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Discount calculations, tax application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60065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Communication</a:t>
                      </a:r>
                      <a:endParaRPr lang="en-GB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Send emails, notifications, alerts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07164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Search &amp; Filter</a:t>
                      </a:r>
                      <a:endParaRPr lang="en-GB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Search database records, apply filters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79717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Transactions</a:t>
                      </a:r>
                      <a:endParaRPr lang="en-GB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Bank transfers, e-commerce checkouts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30034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33838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E069A-F81C-8815-BE27-A808DEB00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794C659-F4C5-2E80-5239-0764FDCDFDC2}"/>
              </a:ext>
            </a:extLst>
          </p:cNvPr>
          <p:cNvSpPr txBox="1"/>
          <p:nvPr/>
        </p:nvSpPr>
        <p:spPr>
          <a:xfrm>
            <a:off x="0" y="0"/>
            <a:ext cx="12192000" cy="49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5000"/>
              </a:lnSpc>
            </a:pPr>
            <a:r>
              <a:rPr lang="en-US" sz="2400" b="1" dirty="0">
                <a:solidFill>
                  <a:srgbClr val="00B0F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NON-FUNCTIONAL REQUIREMENTS IN OBJECT-ORIENTED SYSTEMS.</a:t>
            </a:r>
            <a:endParaRPr lang="en-GB" sz="2400" b="1" dirty="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EA96CD-6015-F03B-EE7B-C32C165F7664}"/>
              </a:ext>
            </a:extLst>
          </p:cNvPr>
          <p:cNvSpPr txBox="1"/>
          <p:nvPr/>
        </p:nvSpPr>
        <p:spPr>
          <a:xfrm>
            <a:off x="0" y="576994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Non-Functional Requirements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specify ”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how a system performs its functions” 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rather than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it does.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They define the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quality attributes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of a system such as performance, reliability, security, scalability, and usability.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DC8879-3811-1F2E-50FC-6FDCEADB7396}"/>
              </a:ext>
            </a:extLst>
          </p:cNvPr>
          <p:cNvSpPr txBox="1"/>
          <p:nvPr/>
        </p:nvSpPr>
        <p:spPr>
          <a:xfrm>
            <a:off x="-1" y="1397675"/>
            <a:ext cx="977462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b="1" i="0" u="none" strike="noStrike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Characteristics: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Define </a:t>
            </a: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 qualities or constraints.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Often apply</a:t>
            </a: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system-wide rather than to individual functions.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Measured by </a:t>
            </a: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metrics (e.g., response time, uptime percentage).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 determine </a:t>
            </a: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satisfaction, system acceptance, and success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624424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7F4AA-6E44-0475-E4DE-A14FCFDD2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2CA3167-44AD-BE28-80FD-78F4539F12CC}"/>
              </a:ext>
            </a:extLst>
          </p:cNvPr>
          <p:cNvSpPr txBox="1"/>
          <p:nvPr/>
        </p:nvSpPr>
        <p:spPr>
          <a:xfrm>
            <a:off x="0" y="0"/>
            <a:ext cx="12192000" cy="49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5000"/>
              </a:lnSpc>
            </a:pPr>
            <a:r>
              <a:rPr lang="en-US" sz="2400" b="1" dirty="0">
                <a:solidFill>
                  <a:srgbClr val="00B0F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NON-FUNCTIONAL REQUIREMENTS IN OBJECT-ORIENTED SYSTEMS.</a:t>
            </a:r>
            <a:endParaRPr lang="en-GB" sz="2400" b="1" dirty="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C23B1BA-FE82-FBA6-2A98-C10B8686BC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2358474"/>
              </p:ext>
            </p:extLst>
          </p:nvPr>
        </p:nvGraphicFramePr>
        <p:xfrm>
          <a:off x="0" y="882869"/>
          <a:ext cx="12192000" cy="4460003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279551266"/>
                    </a:ext>
                  </a:extLst>
                </a:gridCol>
                <a:gridCol w="4635062">
                  <a:extLst>
                    <a:ext uri="{9D8B030D-6E8A-4147-A177-3AD203B41FA5}">
                      <a16:colId xmlns:a16="http://schemas.microsoft.com/office/drawing/2014/main" val="2488582639"/>
                    </a:ext>
                  </a:extLst>
                </a:gridCol>
                <a:gridCol w="6032938">
                  <a:extLst>
                    <a:ext uri="{9D8B030D-6E8A-4147-A177-3AD203B41FA5}">
                      <a16:colId xmlns:a16="http://schemas.microsoft.com/office/drawing/2014/main" val="1107215462"/>
                    </a:ext>
                  </a:extLst>
                </a:gridCol>
              </a:tblGrid>
              <a:tr h="391182">
                <a:tc>
                  <a:txBody>
                    <a:bodyPr/>
                    <a:lstStyle/>
                    <a:p>
                      <a:pPr algn="ctr"/>
                      <a:r>
                        <a:rPr lang="en-GB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3571799"/>
                  </a:ext>
                </a:extLst>
              </a:tr>
              <a:tr h="391182">
                <a:tc>
                  <a:txBody>
                    <a:bodyPr/>
                    <a:lstStyle/>
                    <a:p>
                      <a:r>
                        <a:rPr lang="en-GB" sz="13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</a:t>
                      </a:r>
                      <a:endParaRPr lang="en-GB" sz="1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Speed, response time, throughput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"Page must load within 2 seconds."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8169533"/>
                  </a:ext>
                </a:extLst>
              </a:tr>
              <a:tr h="258160">
                <a:tc>
                  <a:txBody>
                    <a:bodyPr/>
                    <a:lstStyle/>
                    <a:p>
                      <a:r>
                        <a:rPr lang="en-GB" sz="13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Scalability</a:t>
                      </a:r>
                      <a:endParaRPr lang="en-GB" sz="1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Ability to grow and handle increasing loads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"System should support 10,000 users simultaneously."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2117123"/>
                  </a:ext>
                </a:extLst>
              </a:tr>
              <a:tr h="486036">
                <a:tc>
                  <a:txBody>
                    <a:bodyPr/>
                    <a:lstStyle/>
                    <a:p>
                      <a:r>
                        <a:rPr lang="en-GB" sz="13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Security</a:t>
                      </a:r>
                      <a:endParaRPr lang="en-GB" sz="1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Protection against unauthorized access, data integrity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"Users must log in using two-factor authentication."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7124751"/>
                  </a:ext>
                </a:extLst>
              </a:tr>
              <a:tr h="388883">
                <a:tc>
                  <a:txBody>
                    <a:bodyPr/>
                    <a:lstStyle/>
                    <a:p>
                      <a:r>
                        <a:rPr lang="en-GB" sz="13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Availability</a:t>
                      </a:r>
                      <a:endParaRPr lang="en-GB" sz="1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 uptime and fault tolerance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"System must be available 99.9% of the time."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4452829"/>
                  </a:ext>
                </a:extLst>
              </a:tr>
              <a:tr h="504496">
                <a:tc>
                  <a:txBody>
                    <a:bodyPr/>
                    <a:lstStyle/>
                    <a:p>
                      <a:r>
                        <a:rPr lang="en-GB" sz="13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Usability</a:t>
                      </a:r>
                      <a:endParaRPr lang="en-GB" sz="1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Ease of use and learnability for users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"New users should learn to use the system within 30 mins."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798579"/>
                  </a:ext>
                </a:extLst>
              </a:tr>
              <a:tr h="357352">
                <a:tc>
                  <a:txBody>
                    <a:bodyPr/>
                    <a:lstStyle/>
                    <a:p>
                      <a:r>
                        <a:rPr lang="en-GB" sz="13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Maintainability</a:t>
                      </a:r>
                      <a:endParaRPr lang="en-GB" sz="1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Ease of fixing bugs and updating system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"Code should be modular and documented for easy updates."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437346"/>
                  </a:ext>
                </a:extLst>
              </a:tr>
              <a:tr h="357352">
                <a:tc>
                  <a:txBody>
                    <a:bodyPr/>
                    <a:lstStyle/>
                    <a:p>
                      <a:r>
                        <a:rPr lang="en-GB" sz="13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Portability</a:t>
                      </a:r>
                      <a:endParaRPr lang="en-GB" sz="1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Ability to run on different platforms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"System must run on Windows, Linux, and macOS."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3624175"/>
                  </a:ext>
                </a:extLst>
              </a:tr>
              <a:tr h="493986">
                <a:tc>
                  <a:txBody>
                    <a:bodyPr/>
                    <a:lstStyle/>
                    <a:p>
                      <a:r>
                        <a:rPr lang="en-GB" sz="13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Reliability</a:t>
                      </a:r>
                      <a:endParaRPr lang="en-GB" sz="1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Ability to operate consistently and correctly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"System must operate without failure for 1,000 hours."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2364297"/>
                  </a:ext>
                </a:extLst>
              </a:tr>
              <a:tr h="346841">
                <a:tc>
                  <a:txBody>
                    <a:bodyPr/>
                    <a:lstStyle/>
                    <a:p>
                      <a:r>
                        <a:rPr lang="en-GB" sz="13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Compliance</a:t>
                      </a:r>
                      <a:endParaRPr lang="en-GB" sz="1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Adherence to legal, regulatory, or standards requirements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"Must comply with GDPR and ISO 27001."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5963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84654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1B950-ADF7-EC34-EDEA-E285B61D7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48A1DD2-6765-FA6A-C405-F8A201949D4B}"/>
              </a:ext>
            </a:extLst>
          </p:cNvPr>
          <p:cNvSpPr txBox="1"/>
          <p:nvPr/>
        </p:nvSpPr>
        <p:spPr>
          <a:xfrm>
            <a:off x="0" y="0"/>
            <a:ext cx="12192000" cy="49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5000"/>
              </a:lnSpc>
            </a:pPr>
            <a:r>
              <a:rPr lang="en-US" sz="2400" b="1" dirty="0">
                <a:solidFill>
                  <a:srgbClr val="00B0F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Identifying functional and non-functional requirements in object-oriented systems.</a:t>
            </a:r>
            <a:endParaRPr lang="en-GB" sz="2400" b="1" dirty="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pic>
        <p:nvPicPr>
          <p:cNvPr id="4098" name="Picture 2" descr="Functional and Nonfunctional Requirements Specification">
            <a:extLst>
              <a:ext uri="{FF2B5EF4-FFF2-40B4-BE49-F238E27FC236}">
                <a16:creationId xmlns:a16="http://schemas.microsoft.com/office/drawing/2014/main" id="{1B44DDD9-B774-79CD-B95A-E6047067D17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298"/>
          <a:stretch>
            <a:fillRect/>
          </a:stretch>
        </p:blipFill>
        <p:spPr bwMode="auto">
          <a:xfrm>
            <a:off x="1089299" y="490199"/>
            <a:ext cx="9515639" cy="6089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33927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67F19-C062-80AE-1846-AD5D985AF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B16DB27-1618-6244-490A-F93A44DA6BB0}"/>
              </a:ext>
            </a:extLst>
          </p:cNvPr>
          <p:cNvSpPr txBox="1"/>
          <p:nvPr/>
        </p:nvSpPr>
        <p:spPr>
          <a:xfrm>
            <a:off x="0" y="0"/>
            <a:ext cx="12192000" cy="556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5000"/>
              </a:lnSpc>
            </a:pPr>
            <a:r>
              <a:rPr lang="en-US" sz="2800" b="1" dirty="0">
                <a:solidFill>
                  <a:srgbClr val="00B0F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Use Case Diagrams</a:t>
            </a:r>
            <a:endParaRPr lang="en-GB" sz="2800" b="1" dirty="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FDB286-D580-A9C1-F743-E636360A07F0}"/>
              </a:ext>
            </a:extLst>
          </p:cNvPr>
          <p:cNvSpPr txBox="1"/>
          <p:nvPr/>
        </p:nvSpPr>
        <p:spPr>
          <a:xfrm>
            <a:off x="0" y="556434"/>
            <a:ext cx="1219200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illustrates the interactions between users (actors) and a system.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are crucial for defining system scope and requirements.</a:t>
            </a:r>
          </a:p>
          <a:p>
            <a:endParaRPr lang="en-GB" b="1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b="1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b="1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b="1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b="1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b="1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b="1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b="1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Purpose of Use Case Diagrams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Identify system functionalities (what the system should do)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Define interactions between users (actors) and the system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Serve as a blueprint during requirements gathering and system design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 a clear and visual representation of system behavior</a:t>
            </a:r>
          </a:p>
        </p:txBody>
      </p:sp>
      <p:pic>
        <p:nvPicPr>
          <p:cNvPr id="1026" name="Picture 2" descr="use-case-diagram-">
            <a:extLst>
              <a:ext uri="{FF2B5EF4-FFF2-40B4-BE49-F238E27FC236}">
                <a16:creationId xmlns:a16="http://schemas.microsoft.com/office/drawing/2014/main" id="{EF08E35E-F1B1-394F-2CCE-AAE61B7C07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40" t="33636" r="6165"/>
          <a:stretch>
            <a:fillRect/>
          </a:stretch>
        </p:blipFill>
        <p:spPr bwMode="auto">
          <a:xfrm>
            <a:off x="2576945" y="1580459"/>
            <a:ext cx="6609174" cy="2483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18888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0DA72-20C7-842D-1840-0E6CD72F2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CCEB7C3-BBC7-1891-90BE-5982562B4C3D}"/>
              </a:ext>
            </a:extLst>
          </p:cNvPr>
          <p:cNvSpPr txBox="1"/>
          <p:nvPr/>
        </p:nvSpPr>
        <p:spPr>
          <a:xfrm>
            <a:off x="0" y="0"/>
            <a:ext cx="12192000" cy="556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5000"/>
              </a:lnSpc>
            </a:pPr>
            <a:r>
              <a:rPr lang="en-US" sz="2800" b="1" dirty="0">
                <a:solidFill>
                  <a:srgbClr val="00B0F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Use Case Diagrams</a:t>
            </a:r>
            <a:endParaRPr lang="en-GB" sz="2800" b="1" dirty="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pic>
        <p:nvPicPr>
          <p:cNvPr id="3074" name="Picture 2" descr="Use-Case-Diagram-Notations">
            <a:extLst>
              <a:ext uri="{FF2B5EF4-FFF2-40B4-BE49-F238E27FC236}">
                <a16:creationId xmlns:a16="http://schemas.microsoft.com/office/drawing/2014/main" id="{A2C0505B-843A-0B95-1857-6F3BDB1E18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318"/>
          <a:stretch>
            <a:fillRect/>
          </a:stretch>
        </p:blipFill>
        <p:spPr bwMode="auto">
          <a:xfrm>
            <a:off x="997528" y="556434"/>
            <a:ext cx="11055927" cy="610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94904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1EB9E-5FE1-7303-326F-0928A7920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D5218BF-3C94-8FE8-7A7D-90280A300676}"/>
              </a:ext>
            </a:extLst>
          </p:cNvPr>
          <p:cNvSpPr txBox="1"/>
          <p:nvPr/>
        </p:nvSpPr>
        <p:spPr>
          <a:xfrm>
            <a:off x="0" y="0"/>
            <a:ext cx="12192000" cy="556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5000"/>
              </a:lnSpc>
            </a:pPr>
            <a:r>
              <a:rPr lang="en-US" sz="2800" b="1" dirty="0">
                <a:solidFill>
                  <a:srgbClr val="00B0F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Use Case Diagrams</a:t>
            </a:r>
            <a:endParaRPr lang="en-GB" sz="2800" b="1" dirty="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B60553-3259-8847-D44F-4319CBA48C4E}"/>
              </a:ext>
            </a:extLst>
          </p:cNvPr>
          <p:cNvSpPr txBox="1"/>
          <p:nvPr/>
        </p:nvSpPr>
        <p:spPr>
          <a:xfrm>
            <a:off x="72736" y="415637"/>
            <a:ext cx="12119264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to apply Use Case Diagram?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you need to gather and clarify user requirements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you’re working with non-technical stakeholders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the system design phase, use case diagrams helps to outline user interactions and plans the features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defining what is included in the system versus what is external.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B8C96A-D147-69ED-F75B-A4195EAE90C6}"/>
              </a:ext>
            </a:extLst>
          </p:cNvPr>
          <p:cNvSpPr txBox="1"/>
          <p:nvPr/>
        </p:nvSpPr>
        <p:spPr>
          <a:xfrm>
            <a:off x="3049732" y="3223552"/>
            <a:ext cx="60994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 fontAlgn="base"/>
            <a:r>
              <a:rPr lang="en-GB" sz="2400" b="1" i="0" u="none" strike="noStrike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Case Diagram Relationships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AF0C9A-6D98-3D43-10C3-D8E0969B1890}"/>
              </a:ext>
            </a:extLst>
          </p:cNvPr>
          <p:cNvSpPr txBox="1"/>
          <p:nvPr/>
        </p:nvSpPr>
        <p:spPr>
          <a:xfrm>
            <a:off x="72736" y="3685217"/>
            <a:ext cx="114663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 Association Relationship represents a communication or interaction between an actor and a use </a:t>
            </a:r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case.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 descr="Association-(1)">
            <a:extLst>
              <a:ext uri="{FF2B5EF4-FFF2-40B4-BE49-F238E27FC236}">
                <a16:creationId xmlns:a16="http://schemas.microsoft.com/office/drawing/2014/main" id="{E6CE3288-E19E-0D71-38E8-864042A861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06" r="10256"/>
          <a:stretch>
            <a:fillRect/>
          </a:stretch>
        </p:blipFill>
        <p:spPr bwMode="auto">
          <a:xfrm>
            <a:off x="3451514" y="4054549"/>
            <a:ext cx="5089813" cy="2705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30341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322BB-A80A-EE1D-DCE2-8A7BD75C4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2F70CAD-8078-0CDE-B176-08B30977812C}"/>
              </a:ext>
            </a:extLst>
          </p:cNvPr>
          <p:cNvSpPr txBox="1"/>
          <p:nvPr/>
        </p:nvSpPr>
        <p:spPr>
          <a:xfrm>
            <a:off x="0" y="0"/>
            <a:ext cx="12192000" cy="556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5000"/>
              </a:lnSpc>
            </a:pPr>
            <a:r>
              <a:rPr lang="en-US" sz="2800" b="1" dirty="0">
                <a:solidFill>
                  <a:srgbClr val="00B0F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Use Case Diagrams</a:t>
            </a:r>
            <a:endParaRPr lang="en-GB" sz="2800" b="1" dirty="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1EEBD4-5497-2035-8064-0D947C6472EB}"/>
              </a:ext>
            </a:extLst>
          </p:cNvPr>
          <p:cNvSpPr txBox="1"/>
          <p:nvPr/>
        </p:nvSpPr>
        <p:spPr>
          <a:xfrm>
            <a:off x="0" y="556434"/>
            <a:ext cx="12192000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spcBef>
                <a:spcPts val="1800"/>
              </a:spcBef>
              <a:spcAft>
                <a:spcPts val="1800"/>
              </a:spcAft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Include Relationship</a:t>
            </a:r>
          </a:p>
          <a:p>
            <a:pPr algn="l" rtl="0" fontAlgn="base">
              <a:spcAft>
                <a:spcPts val="750"/>
              </a:spcAft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Include Relationship indicates that a use case includes the functionality of another use case.</a:t>
            </a:r>
          </a:p>
        </p:txBody>
      </p:sp>
      <p:pic>
        <p:nvPicPr>
          <p:cNvPr id="6146" name="Picture 2" descr="Include">
            <a:extLst>
              <a:ext uri="{FF2B5EF4-FFF2-40B4-BE49-F238E27FC236}">
                <a16:creationId xmlns:a16="http://schemas.microsoft.com/office/drawing/2014/main" id="{786B9FF4-0D95-166F-7503-53FABE7D6A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39" r="8721"/>
          <a:stretch>
            <a:fillRect/>
          </a:stretch>
        </p:blipFill>
        <p:spPr bwMode="auto">
          <a:xfrm>
            <a:off x="1849581" y="1684760"/>
            <a:ext cx="8821882" cy="4535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17336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F7252-5DD1-C083-9808-14E597ACC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55F4B64-A82A-A6B3-2C9E-D7805C514C75}"/>
              </a:ext>
            </a:extLst>
          </p:cNvPr>
          <p:cNvSpPr txBox="1"/>
          <p:nvPr/>
        </p:nvSpPr>
        <p:spPr>
          <a:xfrm>
            <a:off x="0" y="0"/>
            <a:ext cx="12192000" cy="556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5000"/>
              </a:lnSpc>
            </a:pPr>
            <a:r>
              <a:rPr lang="en-US" sz="2800" b="1" dirty="0">
                <a:solidFill>
                  <a:srgbClr val="00B0F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Use Case Diagrams</a:t>
            </a:r>
            <a:endParaRPr lang="en-GB" sz="2800" b="1" dirty="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553702-0536-D2FD-76C5-BF66A8C37060}"/>
              </a:ext>
            </a:extLst>
          </p:cNvPr>
          <p:cNvSpPr txBox="1"/>
          <p:nvPr/>
        </p:nvSpPr>
        <p:spPr>
          <a:xfrm>
            <a:off x="0" y="389273"/>
            <a:ext cx="12192000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spcBef>
                <a:spcPts val="1800"/>
              </a:spcBef>
              <a:spcAft>
                <a:spcPts val="1800"/>
              </a:spcAft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Extend Relationship</a:t>
            </a:r>
          </a:p>
          <a:p>
            <a:pPr algn="l" rtl="0" fontAlgn="base">
              <a:spcAft>
                <a:spcPts val="750"/>
              </a:spcAft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Extend Relationship illustrates that a use case can be extended by another use case under specific conditions. </a:t>
            </a:r>
          </a:p>
        </p:txBody>
      </p:sp>
      <p:pic>
        <p:nvPicPr>
          <p:cNvPr id="7170" name="Picture 2" descr="Extend">
            <a:extLst>
              <a:ext uri="{FF2B5EF4-FFF2-40B4-BE49-F238E27FC236}">
                <a16:creationId xmlns:a16="http://schemas.microsoft.com/office/drawing/2014/main" id="{6A898619-B70E-4298-2D08-2327DC0A6E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273"/>
          <a:stretch>
            <a:fillRect/>
          </a:stretch>
        </p:blipFill>
        <p:spPr bwMode="auto">
          <a:xfrm>
            <a:off x="1672936" y="1600308"/>
            <a:ext cx="9019309" cy="4868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65557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40920-2F9D-F851-3398-55A4CF77E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06510DC-DB21-505F-1A44-3011C3BB2C90}"/>
              </a:ext>
            </a:extLst>
          </p:cNvPr>
          <p:cNvSpPr txBox="1"/>
          <p:nvPr/>
        </p:nvSpPr>
        <p:spPr>
          <a:xfrm>
            <a:off x="0" y="0"/>
            <a:ext cx="12192000" cy="556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5000"/>
              </a:lnSpc>
            </a:pPr>
            <a:r>
              <a:rPr lang="en-US" sz="2800" b="1" dirty="0">
                <a:solidFill>
                  <a:srgbClr val="00B0F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Use Case Diagrams</a:t>
            </a:r>
            <a:endParaRPr lang="en-GB" sz="2800" b="1" dirty="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B8B56F-7FBD-A23E-AE35-37567ED619C1}"/>
              </a:ext>
            </a:extLst>
          </p:cNvPr>
          <p:cNvSpPr txBox="1"/>
          <p:nvPr/>
        </p:nvSpPr>
        <p:spPr>
          <a:xfrm>
            <a:off x="0" y="556434"/>
            <a:ext cx="12192000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spcBef>
                <a:spcPts val="1800"/>
              </a:spcBef>
              <a:spcAft>
                <a:spcPts val="1800"/>
              </a:spcAft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Generalization Relationship</a:t>
            </a:r>
          </a:p>
          <a:p>
            <a:pPr algn="l" rtl="0" fontAlgn="base">
              <a:spcAft>
                <a:spcPts val="750"/>
              </a:spcAft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Generalization Relationship establishes an "is-a" connection between two use cases, indicating that one use case is a specialized version of another.</a:t>
            </a:r>
          </a:p>
        </p:txBody>
      </p:sp>
      <p:pic>
        <p:nvPicPr>
          <p:cNvPr id="8194" name="Picture 2" descr="use_case_optimized_100">
            <a:extLst>
              <a:ext uri="{FF2B5EF4-FFF2-40B4-BE49-F238E27FC236}">
                <a16:creationId xmlns:a16="http://schemas.microsoft.com/office/drawing/2014/main" id="{667241B8-6B2C-5DA4-5AD7-A542AF2A35C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449"/>
          <a:stretch>
            <a:fillRect/>
          </a:stretch>
        </p:blipFill>
        <p:spPr bwMode="auto">
          <a:xfrm>
            <a:off x="2088573" y="1884542"/>
            <a:ext cx="8645236" cy="4886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79477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AF178-86A9-0228-6A9C-FCBA25812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2F5C78C-A0CE-E220-8072-CECAC3F3DBD3}"/>
              </a:ext>
            </a:extLst>
          </p:cNvPr>
          <p:cNvSpPr txBox="1"/>
          <p:nvPr/>
        </p:nvSpPr>
        <p:spPr>
          <a:xfrm>
            <a:off x="0" y="0"/>
            <a:ext cx="12192000" cy="556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5000"/>
              </a:lnSpc>
            </a:pPr>
            <a:r>
              <a:rPr lang="en-US" sz="2800" b="1" dirty="0">
                <a:solidFill>
                  <a:srgbClr val="00B0F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Benefits of Using Use Case Diagrams</a:t>
            </a:r>
            <a:endParaRPr lang="en-GB" sz="2800" b="1" dirty="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A53A720-B84A-46BE-44F7-1124A4B57D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8928555"/>
              </p:ext>
            </p:extLst>
          </p:nvPr>
        </p:nvGraphicFramePr>
        <p:xfrm>
          <a:off x="838200" y="1530336"/>
          <a:ext cx="10515600" cy="22250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37513162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6394021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Benefit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11929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Clarifies Functional Requirements</a:t>
                      </a:r>
                      <a:endParaRPr lang="en-GB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Shows what users can do and how the system responds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74547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Stakeholder Communication</a:t>
                      </a:r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Easy for non-technical users to understand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02988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Scope Definition</a:t>
                      </a:r>
                      <a:endParaRPr lang="en-GB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Helps define what the system </a:t>
                      </a:r>
                      <a:r>
                        <a:rPr lang="en-GB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will</a:t>
                      </a:r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and </a:t>
                      </a:r>
                      <a:r>
                        <a:rPr lang="en-GB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won’t</a:t>
                      </a:r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do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36621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Basis for Test Cases</a:t>
                      </a:r>
                      <a:endParaRPr lang="en-GB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Each use case can become a </a:t>
                      </a:r>
                      <a:r>
                        <a:rPr lang="en-GB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 scenario</a:t>
                      </a:r>
                      <a:endParaRPr lang="en-GB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47117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Foundation for Design</a:t>
                      </a:r>
                      <a:endParaRPr lang="en-GB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Guides class diagrams, sequence diagrams, etc.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15139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42490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51BA0-DC5F-61DA-D224-54502DF04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C168756-BCA7-50F7-8A82-4FF375459338}"/>
              </a:ext>
            </a:extLst>
          </p:cNvPr>
          <p:cNvSpPr txBox="1"/>
          <p:nvPr/>
        </p:nvSpPr>
        <p:spPr>
          <a:xfrm>
            <a:off x="0" y="0"/>
            <a:ext cx="12192000" cy="556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5000"/>
              </a:lnSpc>
            </a:pPr>
            <a:r>
              <a:rPr lang="en-US" sz="2800" b="1" dirty="0">
                <a:solidFill>
                  <a:srgbClr val="00B0F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Example of Use Case Diagrams</a:t>
            </a:r>
            <a:endParaRPr lang="en-GB" sz="2800" b="1" dirty="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pic>
        <p:nvPicPr>
          <p:cNvPr id="9218" name="Picture 2" descr="Lightbox">
            <a:extLst>
              <a:ext uri="{FF2B5EF4-FFF2-40B4-BE49-F238E27FC236}">
                <a16:creationId xmlns:a16="http://schemas.microsoft.com/office/drawing/2014/main" id="{3066ED44-36D5-0DE6-31E8-005574FF4DF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357"/>
          <a:stretch>
            <a:fillRect/>
          </a:stretch>
        </p:blipFill>
        <p:spPr bwMode="auto">
          <a:xfrm>
            <a:off x="0" y="693853"/>
            <a:ext cx="12192000" cy="5470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27328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4018D-9D36-ABF5-9359-6A7E48837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D07F4B4-B8ED-93AB-8815-7D46ED48A712}"/>
              </a:ext>
            </a:extLst>
          </p:cNvPr>
          <p:cNvSpPr txBox="1"/>
          <p:nvPr/>
        </p:nvSpPr>
        <p:spPr>
          <a:xfrm>
            <a:off x="0" y="0"/>
            <a:ext cx="12192000" cy="556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5000"/>
              </a:lnSpc>
            </a:pPr>
            <a:r>
              <a:rPr lang="en-US" sz="2800" b="1" dirty="0">
                <a:solidFill>
                  <a:srgbClr val="00B0F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Requirement Modeling in OOAD</a:t>
            </a:r>
            <a:endParaRPr lang="en-GB" sz="2800" b="1" dirty="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D9EB51-6CF4-F7C8-9AB1-BC6E0D717A87}"/>
              </a:ext>
            </a:extLst>
          </p:cNvPr>
          <p:cNvSpPr txBox="1"/>
          <p:nvPr/>
        </p:nvSpPr>
        <p:spPr>
          <a:xfrm>
            <a:off x="0" y="556434"/>
            <a:ext cx="12192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itchFamily="2" charset="2"/>
              <a:buChar char="Ø"/>
            </a:pPr>
            <a:r>
              <a:rPr lang="en-GB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 the process of capturing, analyzing, and representing what the system is supposed to do (functional) and how it should behave (non-functional), using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object-oriented concepts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/>
            <a:endParaRPr lang="en-GB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Purpose of Requirement Modeling in OOAD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Understand what the system should do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Identify system functionalities and constraints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Discover and define user roles, system boundaries, and interactions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Prepare for object-oriented design by identifying classes, objects, and relationships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2AA72E1-4488-D28C-F62C-0F5AF497F3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726697"/>
              </p:ext>
            </p:extLst>
          </p:nvPr>
        </p:nvGraphicFramePr>
        <p:xfrm>
          <a:off x="287480" y="4405745"/>
          <a:ext cx="11069784" cy="2194560"/>
        </p:xfrm>
        <a:graphic>
          <a:graphicData uri="http://schemas.openxmlformats.org/drawingml/2006/table">
            <a:tbl>
              <a:tblPr/>
              <a:tblGrid>
                <a:gridCol w="3557156">
                  <a:extLst>
                    <a:ext uri="{9D8B030D-6E8A-4147-A177-3AD203B41FA5}">
                      <a16:colId xmlns:a16="http://schemas.microsoft.com/office/drawing/2014/main" val="1081146833"/>
                    </a:ext>
                  </a:extLst>
                </a:gridCol>
                <a:gridCol w="7512628">
                  <a:extLst>
                    <a:ext uri="{9D8B030D-6E8A-4147-A177-3AD203B41FA5}">
                      <a16:colId xmlns:a16="http://schemas.microsoft.com/office/drawing/2014/main" val="35328340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772533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 Case Diagrams</a:t>
                      </a:r>
                      <a:endParaRPr lang="en-GB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 actors and system interactions (functional behavior)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931683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 Diagrams</a:t>
                      </a:r>
                      <a:endParaRPr lang="en-GB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Identify entities (objects/classes), attributes, and relationships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93215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Activity Diagrams</a:t>
                      </a:r>
                      <a:endParaRPr lang="en-GB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the workflow or business processes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762593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Sequence Diagrams</a:t>
                      </a:r>
                      <a:endParaRPr lang="en-GB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 how objects interact over time for a specific scenario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37898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State Diagrams</a:t>
                      </a:r>
                      <a:endParaRPr lang="en-GB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 object states and transitions based on events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157578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E717D91-2BE0-1803-D3ED-CEB43E2F2DEB}"/>
              </a:ext>
            </a:extLst>
          </p:cNvPr>
          <p:cNvSpPr txBox="1"/>
          <p:nvPr/>
        </p:nvSpPr>
        <p:spPr>
          <a:xfrm>
            <a:off x="0" y="3716244"/>
            <a:ext cx="6125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i="0" u="none" strike="noStrike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Requirement Modeling Techniques in OOAD</a:t>
            </a:r>
            <a:endParaRPr lang="en-US" sz="24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33381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87B87-392C-2D58-4465-598D368DC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9440A89-3649-71DF-1B70-067FE9BBA011}"/>
              </a:ext>
            </a:extLst>
          </p:cNvPr>
          <p:cNvSpPr txBox="1"/>
          <p:nvPr/>
        </p:nvSpPr>
        <p:spPr>
          <a:xfrm>
            <a:off x="0" y="0"/>
            <a:ext cx="12192000" cy="1051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</a:pPr>
            <a:r>
              <a:rPr lang="en-US" sz="2800" dirty="0">
                <a:solidFill>
                  <a:srgbClr val="00B0F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Creating Use Case Descriptions and Use Case Diagrams in UML for capturing functional requirements.</a:t>
            </a:r>
            <a:r>
              <a:rPr lang="en-GB" sz="2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8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24C251-EBE7-32D9-C77F-A6635A0CB3EF}"/>
              </a:ext>
            </a:extLst>
          </p:cNvPr>
          <p:cNvSpPr txBox="1"/>
          <p:nvPr/>
        </p:nvSpPr>
        <p:spPr>
          <a:xfrm>
            <a:off x="0" y="1135118"/>
            <a:ext cx="12192000" cy="3924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 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 Description 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detailed, structured narrative that explains how a system interacts with users (actors) to achieve a specific goal. </a:t>
            </a:r>
          </a:p>
          <a:p>
            <a:pPr marL="285750" indent="-285750" algn="l"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outlines the steps, interactions, and possible variations in a scenario where a user engages with the system.</a:t>
            </a:r>
          </a:p>
          <a:p>
            <a:pPr algn="l"/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lang="en-GB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Components of a Use Case Description</a:t>
            </a:r>
          </a:p>
          <a:p>
            <a:pPr algn="l">
              <a:buFont typeface="+mj-lt"/>
              <a:buAutoNum type="arabicPeriod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 Name 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A clear, action-oriented title (e.g., "Place Order").</a:t>
            </a:r>
          </a:p>
          <a:p>
            <a:pPr algn="l">
              <a:spcBef>
                <a:spcPts val="300"/>
              </a:spcBef>
              <a:buFont typeface="+mj-lt"/>
              <a:buAutoNum type="arabicPeriod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Actor(s) 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Who interacts with the system (e.g., Customer, Admin).</a:t>
            </a:r>
          </a:p>
          <a:p>
            <a:pPr algn="l">
              <a:spcBef>
                <a:spcPts val="300"/>
              </a:spcBef>
              <a:buFont typeface="+mj-lt"/>
              <a:buAutoNum type="arabicPeriod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A brief summary of the use case.</a:t>
            </a:r>
          </a:p>
          <a:p>
            <a:pPr algn="l">
              <a:spcBef>
                <a:spcPts val="300"/>
              </a:spcBef>
              <a:buFont typeface="+mj-lt"/>
              <a:buAutoNum type="arabicPeriod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Preconditions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Conditions that must be true before the use case starts.</a:t>
            </a:r>
          </a:p>
          <a:p>
            <a:pPr algn="l">
              <a:spcBef>
                <a:spcPts val="300"/>
              </a:spcBef>
              <a:buFont typeface="+mj-lt"/>
              <a:buAutoNum type="arabicPeriod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Flow (Main Success Scenario) 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Step-by-step normal execution path.</a:t>
            </a:r>
          </a:p>
          <a:p>
            <a:pPr algn="l">
              <a:spcBef>
                <a:spcPts val="300"/>
              </a:spcBef>
              <a:buFont typeface="+mj-lt"/>
              <a:buAutoNum type="arabicPeriod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Alternative Flows 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Variations or exceptions (e.g., "Payment fails").</a:t>
            </a:r>
          </a:p>
          <a:p>
            <a:pPr algn="l">
              <a:spcBef>
                <a:spcPts val="300"/>
              </a:spcBef>
              <a:buFont typeface="+mj-lt"/>
              <a:buAutoNum type="arabicPeriod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Postconditions 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The state of the system after the use case completes.</a:t>
            </a:r>
          </a:p>
        </p:txBody>
      </p:sp>
    </p:spTree>
    <p:extLst>
      <p:ext uri="{BB962C8B-B14F-4D97-AF65-F5344CB8AC3E}">
        <p14:creationId xmlns:p14="http://schemas.microsoft.com/office/powerpoint/2010/main" val="7545635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9A723-8EB3-F2F1-FA9F-5A259918F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521F734-41F4-952D-9B9B-90BA2979F917}"/>
              </a:ext>
            </a:extLst>
          </p:cNvPr>
          <p:cNvSpPr txBox="1"/>
          <p:nvPr/>
        </p:nvSpPr>
        <p:spPr>
          <a:xfrm>
            <a:off x="0" y="0"/>
            <a:ext cx="12192000" cy="1051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</a:pPr>
            <a:r>
              <a:rPr lang="en-US" sz="2800" dirty="0">
                <a:solidFill>
                  <a:srgbClr val="00B0F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Creating Use Case Descriptions and Use Case Diagrams in UML for capturing functional requirements.</a:t>
            </a:r>
            <a:r>
              <a:rPr lang="en-GB" sz="2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8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2EE663-BFD0-E0C9-96E8-8D9E82B52550}"/>
              </a:ext>
            </a:extLst>
          </p:cNvPr>
          <p:cNvSpPr txBox="1"/>
          <p:nvPr/>
        </p:nvSpPr>
        <p:spPr>
          <a:xfrm>
            <a:off x="0" y="1233650"/>
            <a:ext cx="11351172" cy="1592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Use case Descriptions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Clarify system behavior for developers, testers, and stakeholders.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requirements and potential errors early.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testing by defining expected flows and exceptions.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communication between business and technical teams.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428EB0-AF97-9641-765E-5D4BCCEAA144}"/>
              </a:ext>
            </a:extLst>
          </p:cNvPr>
          <p:cNvSpPr txBox="1"/>
          <p:nvPr/>
        </p:nvSpPr>
        <p:spPr>
          <a:xfrm>
            <a:off x="0" y="3429000"/>
            <a:ext cx="8933793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 to Create Use Case Descriptions &amp; Diagrams</a:t>
            </a:r>
          </a:p>
          <a:p>
            <a:pPr algn="l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Actors (Who interacts with the system?)</a:t>
            </a:r>
          </a:p>
          <a:p>
            <a:pPr algn="l">
              <a:spcBef>
                <a:spcPts val="300"/>
              </a:spcBef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 Use Cases (What functionalities are needed?)</a:t>
            </a:r>
          </a:p>
          <a:p>
            <a:pPr algn="l">
              <a:spcBef>
                <a:spcPts val="300"/>
              </a:spcBef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Use Case Descriptions (Detail steps, exceptions)</a:t>
            </a:r>
          </a:p>
          <a:p>
            <a:pPr algn="l">
              <a:spcBef>
                <a:spcPts val="300"/>
              </a:spcBef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 Use Case Diagram (Visualize interactions)</a:t>
            </a:r>
          </a:p>
          <a:p>
            <a:pPr algn="l">
              <a:spcBef>
                <a:spcPts val="300"/>
              </a:spcBef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with Stakeholders (Ensure accuracy)</a:t>
            </a:r>
          </a:p>
        </p:txBody>
      </p:sp>
    </p:spTree>
    <p:extLst>
      <p:ext uri="{BB962C8B-B14F-4D97-AF65-F5344CB8AC3E}">
        <p14:creationId xmlns:p14="http://schemas.microsoft.com/office/powerpoint/2010/main" val="6897520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83799-F3E0-D821-5EED-432667257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A68F9CC-F66F-70BE-B8BA-8A820B125E5E}"/>
              </a:ext>
            </a:extLst>
          </p:cNvPr>
          <p:cNvSpPr txBox="1"/>
          <p:nvPr/>
        </p:nvSpPr>
        <p:spPr>
          <a:xfrm>
            <a:off x="0" y="0"/>
            <a:ext cx="12192000" cy="1051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</a:pPr>
            <a:r>
              <a:rPr lang="en-US" sz="2800" dirty="0">
                <a:solidFill>
                  <a:srgbClr val="00B0F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Creating Use Case Descriptions and Use Case Diagrams in UML for capturing functional requirements.</a:t>
            </a:r>
            <a:r>
              <a:rPr lang="en-GB" sz="2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8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0E3B4A-9360-894D-363F-9B3185699140}"/>
              </a:ext>
            </a:extLst>
          </p:cNvPr>
          <p:cNvSpPr txBox="1"/>
          <p:nvPr/>
        </p:nvSpPr>
        <p:spPr>
          <a:xfrm>
            <a:off x="0" y="989813"/>
            <a:ext cx="12192000" cy="5624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GB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Purposes/Application of Use Case Diagrams</a:t>
            </a:r>
          </a:p>
          <a:p>
            <a:pPr algn="just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 Functional Requirements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 </a:t>
            </a:r>
            <a:r>
              <a:rPr lang="en-GB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the system should do 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the user’s perspective.</a:t>
            </a:r>
          </a:p>
          <a:p>
            <a:pPr algn="just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742950" lvl="1" indent="-285750" algn="just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an Online Shopping System, use cases include:</a:t>
            </a:r>
          </a:p>
          <a:p>
            <a:pPr marL="1143000" lvl="2" indent="-228600" algn="just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Browse Products</a:t>
            </a:r>
          </a:p>
          <a:p>
            <a:pPr marL="1143000" lvl="2" indent="-228600" algn="just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to Cart</a:t>
            </a:r>
          </a:p>
          <a:p>
            <a:pPr marL="1143000" lvl="2" indent="-228600" algn="just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Checkout</a:t>
            </a:r>
          </a:p>
          <a:p>
            <a:pPr algn="just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System Scope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 system boundary (rectangle) separates internal functionality from external actors.</a:t>
            </a:r>
          </a:p>
          <a:p>
            <a:pPr algn="just"/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Actors &amp; Their Roles</a:t>
            </a:r>
          </a:p>
          <a:p>
            <a:pPr algn="just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Actors: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Directly interact with the system (e.g., Customer, Admin).</a:t>
            </a:r>
          </a:p>
          <a:p>
            <a:pPr algn="just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Secondary Actors: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the system (e.g., Payment Gateway, Email Service).</a:t>
            </a:r>
          </a:p>
          <a:p>
            <a:pPr algn="just"/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Interactions &amp; Relationships</a:t>
            </a:r>
          </a:p>
          <a:p>
            <a:pPr algn="just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Association: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Links actors to use cases.</a:t>
            </a:r>
          </a:p>
          <a:p>
            <a:pPr algn="just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«Include»: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Mandatory dependency </a:t>
            </a:r>
          </a:p>
          <a:p>
            <a:pPr algn="just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«Extend»: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Optional behavior</a:t>
            </a:r>
          </a:p>
        </p:txBody>
      </p:sp>
    </p:spTree>
    <p:extLst>
      <p:ext uri="{BB962C8B-B14F-4D97-AF65-F5344CB8AC3E}">
        <p14:creationId xmlns:p14="http://schemas.microsoft.com/office/powerpoint/2010/main" val="1142425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11725-244A-2A32-B9C2-CD8805567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B09F833-8602-C6EB-0357-443AB0017F99}"/>
              </a:ext>
            </a:extLst>
          </p:cNvPr>
          <p:cNvSpPr txBox="1"/>
          <p:nvPr/>
        </p:nvSpPr>
        <p:spPr>
          <a:xfrm>
            <a:off x="0" y="0"/>
            <a:ext cx="12192000" cy="1051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</a:pPr>
            <a:r>
              <a:rPr lang="en-US" sz="2800" dirty="0">
                <a:solidFill>
                  <a:srgbClr val="00B0F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Creating Use Case Descriptions and Use Case Diagrams in UML for capturing functional requirements.</a:t>
            </a:r>
            <a:r>
              <a:rPr lang="en-GB" sz="2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8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43AAD2-1F9B-8B02-3726-3C42FEBDDC37}"/>
              </a:ext>
            </a:extLst>
          </p:cNvPr>
          <p:cNvSpPr txBox="1"/>
          <p:nvPr/>
        </p:nvSpPr>
        <p:spPr>
          <a:xfrm>
            <a:off x="0" y="1410542"/>
            <a:ext cx="12192000" cy="21467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Requirement Analysis &amp; Validation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 stakeholders (business analysts, developers, testers) understand system behavior.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 no missing functionalities before development starts.</a:t>
            </a:r>
          </a:p>
          <a:p>
            <a:pPr algn="l">
              <a:spcBef>
                <a:spcPts val="300"/>
              </a:spcBef>
            </a:pP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Guide System Design &amp; Testing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Developers use it to design classes and methods.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Testers derive test cases from use case flows.</a:t>
            </a:r>
          </a:p>
        </p:txBody>
      </p:sp>
    </p:spTree>
    <p:extLst>
      <p:ext uri="{BB962C8B-B14F-4D97-AF65-F5344CB8AC3E}">
        <p14:creationId xmlns:p14="http://schemas.microsoft.com/office/powerpoint/2010/main" val="38279588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31CCA-FB29-B3DB-7355-B9060EF78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4AFBC89-9802-EA80-4737-D1484984422A}"/>
              </a:ext>
            </a:extLst>
          </p:cNvPr>
          <p:cNvSpPr txBox="1"/>
          <p:nvPr/>
        </p:nvSpPr>
        <p:spPr>
          <a:xfrm>
            <a:off x="0" y="0"/>
            <a:ext cx="12192000" cy="548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</a:pPr>
            <a:r>
              <a:rPr lang="en-US" sz="2800" b="1" dirty="0">
                <a:solidFill>
                  <a:srgbClr val="00B0F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of Use Case Diagrams</a:t>
            </a:r>
            <a:endParaRPr lang="en-US" sz="28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Use Case Diagram for Library Management System | GeeksforGeeks">
            <a:extLst>
              <a:ext uri="{FF2B5EF4-FFF2-40B4-BE49-F238E27FC236}">
                <a16:creationId xmlns:a16="http://schemas.microsoft.com/office/drawing/2014/main" id="{2FCE8244-F4FC-10A8-CAC0-65EC4578B6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1" t="8276" r="4071"/>
          <a:stretch>
            <a:fillRect/>
          </a:stretch>
        </p:blipFill>
        <p:spPr bwMode="auto">
          <a:xfrm>
            <a:off x="1713186" y="567558"/>
            <a:ext cx="8786648" cy="6290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43271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A15CB-8D49-0A5D-2FDD-2791B7E9C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BFBF3BF-1EC8-0B75-0A67-1D08FB1A163C}"/>
              </a:ext>
            </a:extLst>
          </p:cNvPr>
          <p:cNvSpPr txBox="1"/>
          <p:nvPr/>
        </p:nvSpPr>
        <p:spPr>
          <a:xfrm>
            <a:off x="0" y="0"/>
            <a:ext cx="12192000" cy="548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</a:pPr>
            <a:r>
              <a:rPr lang="en-US" sz="2800" b="1" dirty="0">
                <a:solidFill>
                  <a:srgbClr val="00B0F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of Use Case Diagrams</a:t>
            </a:r>
            <a:endParaRPr lang="en-US" sz="28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Use Case Diagram for Restaurant Ordering System">
            <a:extLst>
              <a:ext uri="{FF2B5EF4-FFF2-40B4-BE49-F238E27FC236}">
                <a16:creationId xmlns:a16="http://schemas.microsoft.com/office/drawing/2014/main" id="{7788709E-3609-1057-D95C-AD8F4811C5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88" t="13169" r="15442" b="15720"/>
          <a:stretch>
            <a:fillRect/>
          </a:stretch>
        </p:blipFill>
        <p:spPr bwMode="auto">
          <a:xfrm>
            <a:off x="1466193" y="554421"/>
            <a:ext cx="9096704" cy="5749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60862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63090" y="2694892"/>
            <a:ext cx="7301345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of The Unit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EE5D1-E652-09AA-1DF8-F9BF3D654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E36F15-270F-DAAA-C879-D8F8F053D899}"/>
              </a:ext>
            </a:extLst>
          </p:cNvPr>
          <p:cNvSpPr txBox="1"/>
          <p:nvPr/>
        </p:nvSpPr>
        <p:spPr>
          <a:xfrm>
            <a:off x="2563090" y="2694892"/>
            <a:ext cx="7301345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504921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483</TotalTime>
  <Words>2092</Words>
  <Application>Microsoft Macintosh PowerPoint</Application>
  <PresentationFormat>Widescreen</PresentationFormat>
  <Paragraphs>289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Arial</vt:lpstr>
      <vt:lpstr>Calibri</vt:lpstr>
      <vt:lpstr>Calibri Light</vt:lpstr>
      <vt:lpstr>Times New Roman</vt:lpstr>
      <vt:lpstr>Wingdings</vt:lpstr>
      <vt:lpstr>Office Theme</vt:lpstr>
      <vt:lpstr>Unit 3        System Analysis in OOAD   </vt:lpstr>
      <vt:lpstr>OUTLINES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8 Representation and Descriptors</dc:title>
  <dc:creator>Harendra Bikram Shah</dc:creator>
  <cp:lastModifiedBy>Harendra Bikram Shah</cp:lastModifiedBy>
  <cp:revision>337</cp:revision>
  <dcterms:created xsi:type="dcterms:W3CDTF">2024-09-18T03:14:27Z</dcterms:created>
  <dcterms:modified xsi:type="dcterms:W3CDTF">2025-05-26T16:44:21Z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1033-5.7.1.8093</vt:lpwstr>
  </property>
</Properties>
</file>