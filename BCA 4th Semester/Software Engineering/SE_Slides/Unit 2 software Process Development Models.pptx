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32" r:id="rId23"/>
    <p:sldId id="333" r:id="rId24"/>
    <p:sldId id="334" r:id="rId25"/>
    <p:sldId id="335" r:id="rId26"/>
    <p:sldId id="339" r:id="rId27"/>
    <p:sldId id="338" r:id="rId28"/>
    <p:sldId id="337" r:id="rId29"/>
    <p:sldId id="340" r:id="rId30"/>
    <p:sldId id="336" r:id="rId31"/>
    <p:sldId id="341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6" r:id="rId47"/>
    <p:sldId id="327" r:id="rId48"/>
    <p:sldId id="328" r:id="rId49"/>
    <p:sldId id="331" r:id="rId50"/>
    <p:sldId id="342" r:id="rId51"/>
    <p:sldId id="343" r:id="rId52"/>
    <p:sldId id="346" r:id="rId53"/>
    <p:sldId id="345" r:id="rId54"/>
    <p:sldId id="347" r:id="rId55"/>
    <p:sldId id="348" r:id="rId56"/>
    <p:sldId id="344" r:id="rId57"/>
    <p:sldId id="263" r:id="rId58"/>
    <p:sldId id="33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4291" autoAdjust="0"/>
  </p:normalViewPr>
  <p:slideViewPr>
    <p:cSldViewPr snapToGrid="0">
      <p:cViewPr varScale="1">
        <p:scale>
          <a:sx n="124" d="100"/>
          <a:sy n="124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17/05/25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What-is-Extreme-Programming-(XP).webp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Good-Practices-in-Extreme-Programming.web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air-programming/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Life-Cycle-of-Extreme-Programming-(XP).webp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Values-of-Extreme-Programming-(XP).webp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75" y="460824"/>
            <a:ext cx="12084148" cy="1206589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</a:rPr>
              <a:t>Chapter 2</a:t>
            </a:r>
            <a:b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DEVELOPMENT PROCESS MODELS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4861" y="2861159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BCA</a:t>
            </a:r>
            <a:endParaRPr lang="en-US" altLang="en-GB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3260" y="166741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Hour:6hrs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E5AF2-0BFA-70E2-BD9D-FB36138F4505}"/>
              </a:ext>
            </a:extLst>
          </p:cNvPr>
          <p:cNvSpPr txBox="1"/>
          <p:nvPr/>
        </p:nvSpPr>
        <p:spPr>
          <a:xfrm>
            <a:off x="0" y="1315093"/>
            <a:ext cx="12192000" cy="1978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Models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Waterfall Model, Evolutionary Development, Component Based Software Engineering(CBSE), Process Iteration, Incremental Delivery, Spiral Development, Rapid Software Development, Agile Methods, Extreme Programming, Rapid Application Development and Rational Unified Process (RUP).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and classification of CASE tools.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of CASE tools in modern software engineering practices.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11045"/>
          <a:stretch>
            <a:fillRect/>
          </a:stretch>
        </p:blipFill>
        <p:spPr>
          <a:xfrm>
            <a:off x="2038985" y="1111885"/>
            <a:ext cx="7751445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7170" name="Picture 2" descr="waterf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713" y="1102201"/>
            <a:ext cx="8401880" cy="506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1027430"/>
            <a:ext cx="1180719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When To Use this Model??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When the requirements are constant and not changed regularly.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A project is short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Where the tools and technology used is consistent and is not changing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When resources are well prepared and are available to use.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2778760"/>
            <a:ext cx="121138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en-GB" b="1">
                <a:latin typeface=".AppleSystemUIFont Regular" charset="0"/>
                <a:cs typeface=".AppleSystemUIFont Regular" charset="0"/>
                <a:sym typeface="+mn-ea"/>
              </a:rPr>
              <a:t>Advantages:</a:t>
            </a:r>
            <a:endParaRPr lang="en-GB" b="1">
              <a:latin typeface=".AppleSystemUIFont Regular" charset="0"/>
              <a:cs typeface=".AppleSystemUIFont Regular" charset="0"/>
              <a:sym typeface="+mn-e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Simple and easy to understand and use.</a:t>
            </a:r>
            <a:endParaRPr>
              <a:latin typeface=".AppleSystemUIFont Regular" charset="0"/>
              <a:cs typeface=".AppleSystemUIFont Regular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Phases do not overlap.</a:t>
            </a:r>
            <a:endParaRPr>
              <a:latin typeface=".AppleSystemUIFont Regular" charset="0"/>
              <a:cs typeface=".AppleSystemUIFont Regular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Waterfall model works well for smaller projects where requirements are very well understood.</a:t>
            </a:r>
            <a:endParaRPr lang="en-US">
              <a:latin typeface=".AppleSystemUIFont Regular" charset="0"/>
              <a:cs typeface=".AppleSystemUIFont Regular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740" y="4431030"/>
            <a:ext cx="121132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en-GB" b="1">
                <a:sym typeface="+mn-ea"/>
              </a:rPr>
              <a:t>Disadvantages:</a:t>
            </a:r>
            <a:endParaRPr lang="en-GB" b="1">
              <a:sym typeface="+mn-e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High amounts of risk and uncertainty.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Not a good model for complex projects.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Poor model for long and ongoing projects.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Not suitable for the projects where requirements are at a moderate to high risk of changing.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95" y="572770"/>
            <a:ext cx="9544050" cy="6153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34620" y="441325"/>
            <a:ext cx="1205738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V-Model?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 is well defined and not ambiguous.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V-shaped model should be used for small to medium-sized projects where requirements are clearly defined and fixed.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V-shaped model should be chosen when sample technical resources are available with essential technical expertise.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 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Easy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Testing Methods like planning, test designing happens well before coding.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saves a lot of time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Avoids the downward flow of the defects.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Works well for small plans where requirements are easily understood.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 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Very rigid and least flexible.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Not a good for a complex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Software is developed during the implementation stage, so no early prototypes of the software are produced.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If any changes happen in the midway, then the test documents along with the required documents, has to be updated.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1026" name="Picture 2" descr="incremental model">
            <a:extLst>
              <a:ext uri="{FF2B5EF4-FFF2-40B4-BE49-F238E27FC236}">
                <a16:creationId xmlns:a16="http://schemas.microsoft.com/office/drawing/2014/main" id="{57548301-092B-4598-AD7D-76F6CC19C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25599"/>
            <a:ext cx="10934700" cy="457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082675"/>
            <a:ext cx="1212469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the Incremental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requirements are superior.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project has a lengthy development schedule.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Software team are not very well skilled or trained.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customer demands a quick release of the product.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You can develop prioritized requirements first.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Errors are easy to be recognized.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Easier to test and debug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More flexible.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Simple to manage risk because it handled during its iteration.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Client gets important functionality early.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Need for good planning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Total Cost is high.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Well defined module interfaces are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2050" name="Picture 2" descr="Rapid Application Development-rad">
            <a:extLst>
              <a:ext uri="{FF2B5EF4-FFF2-40B4-BE49-F238E27FC236}">
                <a16:creationId xmlns:a16="http://schemas.microsoft.com/office/drawing/2014/main" id="{EEB07EB3-17ED-1077-C146-1A513A8D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30" y="1913775"/>
            <a:ext cx="10983431" cy="326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672465"/>
            <a:ext cx="1111504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RAD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system should need to create the project that modularizes in a short span time (2-3 months).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requirements are well-known.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technical risk is limited.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there's a necessity to make a system, which modularized in 2-3 months of period.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should be used only if the budget allows the use of automatic code generating tools.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 of RAD Model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model is flexible for change.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 this model, changes are adoptable.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reduced development time.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increases the reusability of features.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 of RAD Model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required highly skilled designers.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For smaller projects, we cannot use the RAD model.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On the high technical risk, it's not suitable.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Required user involvement.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074" name="Picture 2" descr="iteractive model">
            <a:extLst>
              <a:ext uri="{FF2B5EF4-FFF2-40B4-BE49-F238E27FC236}">
                <a16:creationId xmlns:a16="http://schemas.microsoft.com/office/drawing/2014/main" id="{E95DFC54-3971-D635-E08F-4EA66A33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148" y="1235040"/>
            <a:ext cx="9108540" cy="475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462280"/>
            <a:ext cx="1219263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the Iterative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defined clearly and easy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software application is large.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there is a requirement of changes in future.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Testing and debugging during smaller iteration is easy.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Parallel development can plan.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easily acceptable to ever-changing needs of the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Risks are identified and resolved during iteration.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Limited time spent on documentation and extra time on designing.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not suitable for smaller projects.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More Resources may be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Design can be changed again and again because of imperfect requirements.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Requirement changes can cause over budget.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Project completion date not confirmed because of changing requirements.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piral model">
            <a:extLst>
              <a:ext uri="{FF2B5EF4-FFF2-40B4-BE49-F238E27FC236}">
                <a16:creationId xmlns:a16="http://schemas.microsoft.com/office/drawing/2014/main" id="{10549A1D-0D8C-D8D1-2E28-79AFDA5EA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555" y="277402"/>
            <a:ext cx="7366571" cy="641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-34290" y="1049020"/>
            <a:ext cx="1226058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Spiral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deliverance is required to be frequent.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project is large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unclear and complex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changes may require at any time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Large and high budget projects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High amount of risk analysis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Useful for large and mission-critical projects.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Can be a costly model to use.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Risk analysis needed highly particular expertise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Doesn't work well for smaller projects.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89" y="160534"/>
            <a:ext cx="5601335" cy="64765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613410"/>
            <a:ext cx="12192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Prototyping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Changing product requirements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feasibility of the product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product requires continuous user interactions</a:t>
            </a:r>
          </a:p>
          <a:p>
            <a:pPr marL="285750" indent="-285750">
              <a:buFont typeface="Wingdings" panose="05000000000000000000" charset="0"/>
              <a:buChar char=""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Reduce the risk of incorrect user requirement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Good where requirement are changing/uncommitted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Regular visible process aids management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Support early product marketing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Reduce Maintenance cost.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Errors can be detected much earlier as the system is made side by side.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Needs committed customer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Difficult to finish if customer withdraw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Difficult to know how long the project will last.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Prototyping tools are expensive.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a time-consuming process.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1132840"/>
            <a:ext cx="6819265" cy="4864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202565"/>
            <a:ext cx="12192635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When to use the Agile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frequent changes are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a highly qualified and experienced team is available.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a customer is ready to have a meeting with a software team all the time.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project size is small.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Frequent Delivery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Face-to-Face Communication with clients.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Efficient design and fulfils the business requirement.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Anytime changes are acceptable.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It reduces total development time.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dirty="0" err="1">
                <a:latin typeface="Times New Roman Regular" panose="02020603050405020304" charset="0"/>
                <a:cs typeface="Times New Roman Regular" panose="02020603050405020304" charset="0"/>
              </a:rPr>
              <a:t>LAck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of complete formal documents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Due to the lack of proper documentation, once the project completes and the developers allotted to another project, maintenance of the finished project can become a difficulty.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16386" name="Picture 2" descr="Big Bang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017" y="768626"/>
            <a:ext cx="8958469" cy="564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196340"/>
            <a:ext cx="12192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Big Bang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project is small like an academic project or a practical project.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method is also used when the size of the developer team is small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not defined, and the release date is not confirmed or given by the customer.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is no planning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Simple Model.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Few resources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Easy to manage.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Flexible for developers.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are high risk and uncertainty.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Not acceptable for a large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If requirements are not clear that can cause very expensive.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70A0-86DF-02DF-1AB0-F4BB0CDC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5FB8F69E-4472-4E0D-AE34-04DD29233D08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EVOLUTIONARY MODEL IN SOFTWARE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ED0BA-5AFC-4FBF-BE9B-6653D77A12CD}"/>
              </a:ext>
            </a:extLst>
          </p:cNvPr>
          <p:cNvSpPr txBox="1"/>
          <p:nvPr/>
        </p:nvSpPr>
        <p:spPr>
          <a:xfrm>
            <a:off x="-1" y="586299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the Iterative and Incremental waterfall model of the software development life cycle.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that divides the development cycle into smaller, incremental waterfall models in which users can get access to the product at the end of each cycle.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Evolutionary Model">
            <a:extLst>
              <a:ext uri="{FF2B5EF4-FFF2-40B4-BE49-F238E27FC236}">
                <a16:creationId xmlns:a16="http://schemas.microsoft.com/office/drawing/2014/main" id="{5DD949CF-6189-CC49-D390-205DF4FF6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1582220"/>
            <a:ext cx="10647202" cy="527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06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09AD-3972-B0BA-10E2-679FBE1F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D89C70A9-9DC1-E50B-B989-AA35C49879A4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EVOLUTIONARY MODEL IN 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7E698-FE83-075C-58BD-A084FCF87911}"/>
              </a:ext>
            </a:extLst>
          </p:cNvPr>
          <p:cNvSpPr txBox="1"/>
          <p:nvPr/>
        </p:nvSpPr>
        <p:spPr>
          <a:xfrm>
            <a:off x="0" y="400110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Evolutionary Model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large projects where the customer wants to start using the core features instead of waiting for the full software.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object oriented software development because the system can be easily portioned into units in terms of objects.</a:t>
            </a:r>
          </a:p>
          <a:p>
            <a:pPr algn="just" fontAlgn="base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Conditions for Implementing this Model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needs are clear and been explained in deep to the developer team.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might be small changes required in separate parts but not a major change.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requires time, so there must be some time left for the market constraints.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is high and continuous targets to achieve and report to customer repeatedly.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working on a technology is new and requires time to learn.</a:t>
            </a:r>
          </a:p>
        </p:txBody>
      </p:sp>
    </p:spTree>
    <p:extLst>
      <p:ext uri="{BB962C8B-B14F-4D97-AF65-F5344CB8AC3E}">
        <p14:creationId xmlns:p14="http://schemas.microsoft.com/office/powerpoint/2010/main" val="2170550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605D-527D-DB2E-7E96-C5502985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73E0DE0D-0CC9-886D-8D7A-22FE73DE99A6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EVOLUTIONARY MODEL IN SOFTWARE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1128F-2ADF-7687-5EAB-5EE9B09E997E}"/>
              </a:ext>
            </a:extLst>
          </p:cNvPr>
          <p:cNvSpPr txBox="1"/>
          <p:nvPr/>
        </p:nvSpPr>
        <p:spPr>
          <a:xfrm>
            <a:off x="0" y="646691"/>
            <a:ext cx="121919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Evolutionary Model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to Changing Requirements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Gradual Distribution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Commentary and Involvement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Handling of Difficult Projects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Evolutionary Model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Difficulties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an Expert Group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Management Complexity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Initial Expenditure</a:t>
            </a:r>
          </a:p>
        </p:txBody>
      </p:sp>
    </p:spTree>
    <p:extLst>
      <p:ext uri="{BB962C8B-B14F-4D97-AF65-F5344CB8AC3E}">
        <p14:creationId xmlns:p14="http://schemas.microsoft.com/office/powerpoint/2010/main" val="3694783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F30C-29A3-6552-B0CE-E11B357A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0D69B9B9-0BFA-5522-41E8-A6D9BD830DA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BASED SOFTWARE ENGINEERING</a:t>
            </a:r>
          </a:p>
        </p:txBody>
      </p:sp>
      <p:pic>
        <p:nvPicPr>
          <p:cNvPr id="1026" name="Picture 2" descr="Key Principles of Component-Based Software Engineering: Modularity, Reusability, Composability, Interoperability&#10;">
            <a:extLst>
              <a:ext uri="{FF2B5EF4-FFF2-40B4-BE49-F238E27FC236}">
                <a16:creationId xmlns:a16="http://schemas.microsoft.com/office/drawing/2014/main" id="{910F3365-B7EA-6910-5CF2-27EC6B29A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3" t="10267" r="17595" b="9119"/>
          <a:stretch/>
        </p:blipFill>
        <p:spPr bwMode="auto">
          <a:xfrm>
            <a:off x="2638096" y="809296"/>
            <a:ext cx="6915807" cy="552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888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FDE5-91E7-EEF8-5947-A7C1D824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436C1031-638B-7DED-FE86-0EC4AC1BC7E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COMPONENT BASED SOFTWARE ENGINEERING??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C6DC3-2AFD-6848-7294-DD81CB1C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8" y="1481960"/>
            <a:ext cx="9974317" cy="32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8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32C8-E87C-B745-D1D1-912A50BB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C40CF8AA-E7CF-ABE1-6A3F-E395B508AA1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PHASES OF COMPONENT BASED SOFTWARE ENGINEERING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6ABCAA1-6798-D7B7-FC02-4C7F9639A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447" y="1011620"/>
            <a:ext cx="9417269" cy="515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521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80F04-199B-20E2-D98B-FF6C1E96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8E9F947B-BD00-91C7-29FC-E38EF5E143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COMPONENT BASED SOFTWARE ENGINEERING</a:t>
            </a:r>
          </a:p>
        </p:txBody>
      </p:sp>
      <p:pic>
        <p:nvPicPr>
          <p:cNvPr id="3076" name="Picture 4" descr="Disadvantages of component based software engineering | talromennau1981's  Ownd">
            <a:extLst>
              <a:ext uri="{FF2B5EF4-FFF2-40B4-BE49-F238E27FC236}">
                <a16:creationId xmlns:a16="http://schemas.microsoft.com/office/drawing/2014/main" id="{56547E31-7E7B-C7A4-91C2-AFA4AB35E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12" b="40195"/>
          <a:stretch/>
        </p:blipFill>
        <p:spPr bwMode="auto">
          <a:xfrm>
            <a:off x="0" y="1566832"/>
            <a:ext cx="8102600" cy="22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74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2D1C-8B8D-DFD7-553B-198F57C2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39F2CC13-BDA6-D94D-0D13-508C8CC426B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COMPONENT BASED SOFTWARE ENGINEERING</a:t>
            </a:r>
          </a:p>
        </p:txBody>
      </p:sp>
      <p:pic>
        <p:nvPicPr>
          <p:cNvPr id="8194" name="Picture 2" descr="Component Based Software Engineering - ppt download">
            <a:extLst>
              <a:ext uri="{FF2B5EF4-FFF2-40B4-BE49-F238E27FC236}">
                <a16:creationId xmlns:a16="http://schemas.microsoft.com/office/drawing/2014/main" id="{B4F9494B-4EDD-8FC1-D330-457EA6E85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33" b="29809"/>
          <a:stretch/>
        </p:blipFill>
        <p:spPr bwMode="auto">
          <a:xfrm>
            <a:off x="1524000" y="1271752"/>
            <a:ext cx="9144000" cy="293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746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0B57-9CBF-F131-4E9A-61AF84D1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D9775665-13DC-F79C-8785-3FD5B7B541B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 Unified Process (RUP)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9F48E-6A40-8BF4-AADE-8F5BDE6AF0F9}"/>
              </a:ext>
            </a:extLst>
          </p:cNvPr>
          <p:cNvSpPr txBox="1"/>
          <p:nvPr/>
        </p:nvSpPr>
        <p:spPr>
          <a:xfrm>
            <a:off x="-1" y="566483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framework for software engineering processes.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 is an Iterative and incremental approach to improving problem knowledge through consecutive revisions.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 is proposed by Ivar Jacobson, Grady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Bootch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James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Rambaugh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8EC4AD3-6BF4-9DEE-922D-C146FE49D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1489812"/>
            <a:ext cx="7613869" cy="536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67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6ACF-3989-7AE7-816B-6458F9E2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7E5B0035-F232-E924-E652-E09DC09EF57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rtl="0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 Unified Process (RUP)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123A4-9CB5-2DDE-8A29-52492143CEF3}"/>
              </a:ext>
            </a:extLst>
          </p:cNvPr>
          <p:cNvSpPr txBox="1"/>
          <p:nvPr/>
        </p:nvSpPr>
        <p:spPr>
          <a:xfrm>
            <a:off x="2" y="671871"/>
            <a:ext cx="11487806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Rational Unified Process (RUP)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 provides good documentation, it completes the process in itself.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 provides risk-management support.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 reuses the components, and hence total time duration is less.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online support is available in the form of tutorials and training.</a:t>
            </a:r>
          </a:p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Rational Unified Process (RUP)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of expert professional is required, as the process is complex.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and not properly organized process.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dependency on risk management.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integrate again and again.</a:t>
            </a:r>
          </a:p>
        </p:txBody>
      </p:sp>
    </p:spTree>
    <p:extLst>
      <p:ext uri="{BB962C8B-B14F-4D97-AF65-F5344CB8AC3E}">
        <p14:creationId xmlns:p14="http://schemas.microsoft.com/office/powerpoint/2010/main" val="2320989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0079-8BD7-B88B-7306-D30C1AB1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450040-2C6C-A06F-2D9F-7F6DA1B5F211}"/>
              </a:ext>
            </a:extLst>
          </p:cNvPr>
          <p:cNvSpPr txBox="1"/>
          <p:nvPr/>
        </p:nvSpPr>
        <p:spPr>
          <a:xfrm>
            <a:off x="3675580" y="0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Agile Software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FED96-ACBA-97D1-4907-4EC2E5B24685}"/>
              </a:ext>
            </a:extLst>
          </p:cNvPr>
          <p:cNvSpPr txBox="1"/>
          <p:nvPr/>
        </p:nvSpPr>
        <p:spPr>
          <a:xfrm>
            <a:off x="0" y="566834"/>
            <a:ext cx="12192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is an iterative and incremental approach to Software development that emphasizes the importance of delivering a working product quickly and frequently. </a:t>
            </a:r>
          </a:p>
          <a:p>
            <a:pPr marL="285750" indent="-28575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close collaboration between the development team and the customer to ensure that the product meets their needs and expectations.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F0296-3046-ED44-37B3-0BB0CE303DEA}"/>
              </a:ext>
            </a:extLst>
          </p:cNvPr>
          <p:cNvSpPr txBox="1"/>
          <p:nvPr/>
        </p:nvSpPr>
        <p:spPr>
          <a:xfrm>
            <a:off x="166956" y="2095458"/>
            <a:ext cx="1168599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Agile is Used?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Tangible Value: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 on Value-Added Work: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as a Mindset: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 to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Demonstrations: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Teams: </a:t>
            </a:r>
          </a:p>
        </p:txBody>
      </p:sp>
    </p:spTree>
    <p:extLst>
      <p:ext uri="{BB962C8B-B14F-4D97-AF65-F5344CB8AC3E}">
        <p14:creationId xmlns:p14="http://schemas.microsoft.com/office/powerpoint/2010/main" val="3771620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A68E-2531-DA69-AB94-2EE6BB4B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27B6E5-FC0C-9D04-3226-96F52A769EF3}"/>
              </a:ext>
            </a:extLst>
          </p:cNvPr>
          <p:cNvSpPr txBox="1"/>
          <p:nvPr/>
        </p:nvSpPr>
        <p:spPr>
          <a:xfrm>
            <a:off x="3408452" y="0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Core Values of Agile Software Development</a:t>
            </a:r>
          </a:p>
        </p:txBody>
      </p:sp>
      <p:pic>
        <p:nvPicPr>
          <p:cNvPr id="14338" name="Picture 2" descr="Lightbox">
            <a:extLst>
              <a:ext uri="{FF2B5EF4-FFF2-40B4-BE49-F238E27FC236}">
                <a16:creationId xmlns:a16="http://schemas.microsoft.com/office/drawing/2014/main" id="{BFF0B22D-0A43-130E-E92D-DEFB0D0D7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2" t="3863" r="24663" b="15576"/>
          <a:stretch/>
        </p:blipFill>
        <p:spPr bwMode="auto">
          <a:xfrm>
            <a:off x="2083941" y="572784"/>
            <a:ext cx="8024118" cy="571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877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F5CD-7E2E-E6CF-60A2-4D6ECFA4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3F829-11CF-5EA0-95D2-3A412436E5CE}"/>
              </a:ext>
            </a:extLst>
          </p:cNvPr>
          <p:cNvSpPr txBox="1"/>
          <p:nvPr/>
        </p:nvSpPr>
        <p:spPr>
          <a:xfrm>
            <a:off x="3244065" y="128427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Principles of Agile Software Development</a:t>
            </a:r>
          </a:p>
        </p:txBody>
      </p:sp>
      <p:pic>
        <p:nvPicPr>
          <p:cNvPr id="16386" name="Picture 2" descr="Lightbox">
            <a:extLst>
              <a:ext uri="{FF2B5EF4-FFF2-40B4-BE49-F238E27FC236}">
                <a16:creationId xmlns:a16="http://schemas.microsoft.com/office/drawing/2014/main" id="{4C019CDB-732F-D604-D16D-F94194CF7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5" b="8497"/>
          <a:stretch/>
        </p:blipFill>
        <p:spPr bwMode="auto">
          <a:xfrm>
            <a:off x="-1712" y="922105"/>
            <a:ext cx="12192000" cy="580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209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3543-FA90-3A08-951C-E657F722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22793-C281-3320-2DD1-019DEC200DA2}"/>
              </a:ext>
            </a:extLst>
          </p:cNvPr>
          <p:cNvSpPr txBox="1"/>
          <p:nvPr/>
        </p:nvSpPr>
        <p:spPr>
          <a:xfrm>
            <a:off x="3244065" y="128427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Process</a:t>
            </a:r>
          </a:p>
        </p:txBody>
      </p:sp>
      <p:pic>
        <p:nvPicPr>
          <p:cNvPr id="18434" name="Picture 2" descr="Lightbox">
            <a:extLst>
              <a:ext uri="{FF2B5EF4-FFF2-40B4-BE49-F238E27FC236}">
                <a16:creationId xmlns:a16="http://schemas.microsoft.com/office/drawing/2014/main" id="{28E004DF-DF6F-D595-BD98-B5723DA08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33500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443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78E5-D137-51DA-5035-461376E4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AE3A2-FE71-EB23-EE7E-4CF420925BCF}"/>
              </a:ext>
            </a:extLst>
          </p:cNvPr>
          <p:cNvSpPr txBox="1"/>
          <p:nvPr/>
        </p:nvSpPr>
        <p:spPr>
          <a:xfrm>
            <a:off x="3244065" y="128427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22D95-16A2-A143-3CEE-E3EF8D20E013}"/>
              </a:ext>
            </a:extLst>
          </p:cNvPr>
          <p:cNvSpPr txBox="1"/>
          <p:nvPr/>
        </p:nvSpPr>
        <p:spPr>
          <a:xfrm>
            <a:off x="305656" y="955725"/>
            <a:ext cx="11591818" cy="328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philosophy.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iteration/construction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retirement</a:t>
            </a:r>
          </a:p>
        </p:txBody>
      </p:sp>
      <p:pic>
        <p:nvPicPr>
          <p:cNvPr id="20482" name="Picture 2" descr="Lightbox">
            <a:extLst>
              <a:ext uri="{FF2B5EF4-FFF2-40B4-BE49-F238E27FC236}">
                <a16:creationId xmlns:a16="http://schemas.microsoft.com/office/drawing/2014/main" id="{EF4885AC-6246-41C3-696C-DADCEAF55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533" y="4025479"/>
            <a:ext cx="9447944" cy="242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58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9819-265F-8F25-4A7B-9C884FD8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68E84A-24CB-DF93-86D5-2E019D514A58}"/>
              </a:ext>
            </a:extLst>
          </p:cNvPr>
          <p:cNvSpPr txBox="1"/>
          <p:nvPr/>
        </p:nvSpPr>
        <p:spPr>
          <a:xfrm>
            <a:off x="1" y="0"/>
            <a:ext cx="1209268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Agile Software Development over traditional software development approaches</a:t>
            </a:r>
          </a:p>
          <a:p>
            <a:pPr algn="ctr" fontAlgn="base"/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satisfaction: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time-to-market: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 collaboration: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to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quality software: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transparency: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productivity: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control:</a:t>
            </a:r>
          </a:p>
        </p:txBody>
      </p:sp>
    </p:spTree>
    <p:extLst>
      <p:ext uri="{BB962C8B-B14F-4D97-AF65-F5344CB8AC3E}">
        <p14:creationId xmlns:p14="http://schemas.microsoft.com/office/powerpoint/2010/main" val="3364734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90B6-C1A1-D6B4-7948-9551BA09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754150-6088-C6CF-62BF-44B74E50EFD8}"/>
              </a:ext>
            </a:extLst>
          </p:cNvPr>
          <p:cNvSpPr txBox="1"/>
          <p:nvPr/>
        </p:nvSpPr>
        <p:spPr>
          <a:xfrm>
            <a:off x="0" y="12357"/>
            <a:ext cx="1219200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Agile Methodology</a:t>
            </a:r>
          </a:p>
          <a:p>
            <a:pPr algn="ctr" fontAlgn="base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1.Scrum: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that involves iterative cycles called sprints, daily stand-up meetings, and a product backlog that is prioritized by the customer.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2.Kanban: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visual system that helps teams manage their work and improve their processes. It involves using a board with columns to represent different stages of the development process, and cards or sticky notes to represent work items.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3.Extreme Programming (XP):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technical practices and rapid delivery. 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Project Framework (APF):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for projects where things can change unexpectedly. 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5.Dynamic Systems Development Method (DSDM):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structured and covers the entire project lifecycle. 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Feature Driven Development (FDD):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developing specific features.</a:t>
            </a:r>
          </a:p>
        </p:txBody>
      </p:sp>
    </p:spTree>
    <p:extLst>
      <p:ext uri="{BB962C8B-B14F-4D97-AF65-F5344CB8AC3E}">
        <p14:creationId xmlns:p14="http://schemas.microsoft.com/office/powerpoint/2010/main" val="799588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93C6-3586-B2A2-3D99-41BCF827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F8740E6-07E4-0BF8-534B-73DAD313D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5033"/>
            <a:ext cx="121029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delivering high-quality software through frequent and continuous feedback, collaboration, and adaptation.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 emphasizes a close working relationship between the development team, the customer, and stakeholders, with an emphasis on rapid, iterative development and deployment.</a:t>
            </a:r>
          </a:p>
        </p:txBody>
      </p:sp>
      <p:pic>
        <p:nvPicPr>
          <p:cNvPr id="1025" name="Picture 48" descr="Extreme Programming (XP)">
            <a:extLst>
              <a:ext uri="{FF2B5EF4-FFF2-40B4-BE49-F238E27FC236}">
                <a16:creationId xmlns:a16="http://schemas.microsoft.com/office/drawing/2014/main" id="{4304AE08-2116-394A-A03C-842C6D496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7"/>
          <a:stretch/>
        </p:blipFill>
        <p:spPr bwMode="auto">
          <a:xfrm>
            <a:off x="2576244" y="1600200"/>
            <a:ext cx="8078056" cy="465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6C654E-74FD-65F5-0E2E-AD958D6962BD}"/>
              </a:ext>
            </a:extLst>
          </p:cNvPr>
          <p:cNvSpPr txBox="1"/>
          <p:nvPr/>
        </p:nvSpPr>
        <p:spPr>
          <a:xfrm>
            <a:off x="1232899" y="0"/>
            <a:ext cx="9185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PROGRAMMING (XP) 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534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7547-A461-E6E3-72E3-763C1EE1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248AF2-79CA-2E25-4C58-2783A7B12306}"/>
              </a:ext>
            </a:extLst>
          </p:cNvPr>
          <p:cNvSpPr txBox="1"/>
          <p:nvPr/>
        </p:nvSpPr>
        <p:spPr>
          <a:xfrm>
            <a:off x="1232899" y="0"/>
            <a:ext cx="9185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Practices in Extreme Programming</a:t>
            </a:r>
            <a:r>
              <a:rPr lang="en-US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EC2F0-2EEC-7118-F128-B5C63F45B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47" descr="Good-Practices-in-Extreme-Programming">
            <a:extLst>
              <a:ext uri="{FF2B5EF4-FFF2-40B4-BE49-F238E27FC236}">
                <a16:creationId xmlns:a16="http://schemas.microsoft.com/office/drawing/2014/main" id="{3C9E0BFE-ECA2-341A-44E0-0D050C058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0"/>
          <a:stretch>
            <a:fillRect/>
          </a:stretch>
        </p:blipFill>
        <p:spPr bwMode="auto">
          <a:xfrm>
            <a:off x="2301411" y="1181532"/>
            <a:ext cx="7952198" cy="53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786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2192-9329-2183-4492-D51E94AA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5CB02-F410-0A6B-C709-E6816D56E9E0}"/>
              </a:ext>
            </a:extLst>
          </p:cNvPr>
          <p:cNvSpPr txBox="1"/>
          <p:nvPr/>
        </p:nvSpPr>
        <p:spPr>
          <a:xfrm>
            <a:off x="1335641" y="-35478"/>
            <a:ext cx="9185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Principles of Extreme Programming</a:t>
            </a: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0916D-79C7-C642-A9D7-1D891B6C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D2562-F172-05DE-2859-30D18AFFA361}"/>
              </a:ext>
            </a:extLst>
          </p:cNvPr>
          <p:cNvSpPr txBox="1"/>
          <p:nvPr/>
        </p:nvSpPr>
        <p:spPr>
          <a:xfrm>
            <a:off x="0" y="394692"/>
            <a:ext cx="1219199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drawing diagrams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that will be transformed into code, scripting a web-based system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XP model gives high importance to testing and considers it to be the primary factor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Listening: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developers need to carefully listen to the customers if they have to develop good quality software.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 good design results elimination of complex dependencies within a system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Feedback: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gain feedback to understand the exact customer needs.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Simplicity: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main principle of the XP model is to develop a simple system that will work efficiently in the present time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Pair Programming: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XP encourages </a:t>
            </a:r>
            <a:r>
              <a:rPr lang="en-GB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pair programming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where two developers work together at the same workstation.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Integration: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XP, developers integrate their code into a shared repository several times a day.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Refactoring: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XP encourages the process of restructuring existing code to make it more efficient and maintainable.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Collective Code Ownership: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entire team is responsible for the codebase.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Planning Game: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customer and the development team collaborate to prioritize and plan development tasks.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On-site Customer: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XP requires an on-site customer who works closely with the development team throughout the project. </a:t>
            </a:r>
          </a:p>
        </p:txBody>
      </p:sp>
    </p:spTree>
    <p:extLst>
      <p:ext uri="{BB962C8B-B14F-4D97-AF65-F5344CB8AC3E}">
        <p14:creationId xmlns:p14="http://schemas.microsoft.com/office/powerpoint/2010/main" val="3258324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9F06-90D8-2133-46FA-5793BE1B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A89CC8-A514-9670-AC33-904183EBF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3C255-E889-8B4F-5CC5-C4DDCAED7E24}"/>
              </a:ext>
            </a:extLst>
          </p:cNvPr>
          <p:cNvSpPr txBox="1"/>
          <p:nvPr/>
        </p:nvSpPr>
        <p:spPr>
          <a:xfrm>
            <a:off x="357027" y="1006883"/>
            <a:ext cx="1183497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Extreme Programming (XP)</a:t>
            </a:r>
          </a:p>
          <a:p>
            <a:pPr algn="ctr"/>
            <a:endParaRPr lang="en-GB" sz="20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 of the projects that are suitable to develop using the XP model are given below: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Small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involving new technology or Research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development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Collaborative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with tight deadlines: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with rapidly changing requirements: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where quality is a high priority: </a:t>
            </a:r>
          </a:p>
        </p:txBody>
      </p:sp>
    </p:spTree>
    <p:extLst>
      <p:ext uri="{BB962C8B-B14F-4D97-AF65-F5344CB8AC3E}">
        <p14:creationId xmlns:p14="http://schemas.microsoft.com/office/powerpoint/2010/main" val="3353233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66E5-E5C8-F7F0-95C2-5662B6F0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B5F4E6-8787-B379-0334-B3A4B69CF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E22E1A3-9EFA-769B-8949-261410CA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46" descr="Life Cycle of Extreme Programming (XP)">
            <a:extLst>
              <a:ext uri="{FF2B5EF4-FFF2-40B4-BE49-F238E27FC236}">
                <a16:creationId xmlns:a16="http://schemas.microsoft.com/office/drawing/2014/main" id="{274600DD-477E-D060-74C2-148391AAB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0"/>
          <a:stretch>
            <a:fillRect/>
          </a:stretch>
        </p:blipFill>
        <p:spPr bwMode="auto">
          <a:xfrm>
            <a:off x="565078" y="164399"/>
            <a:ext cx="10870058" cy="64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993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0D33-A6A2-7FF2-4527-56FB8E47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717505-E69F-E6A9-E258-927CCBAE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7231E90-BBF8-14FA-ADF9-C06F899AD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2463B1-7DC4-7B5A-71AB-A2BF82794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45" descr="Values-of-Extreme-Programming-(XP)">
            <a:extLst>
              <a:ext uri="{FF2B5EF4-FFF2-40B4-BE49-F238E27FC236}">
                <a16:creationId xmlns:a16="http://schemas.microsoft.com/office/drawing/2014/main" id="{717A5D5A-C29A-BC09-FD7E-FE47EEE39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31" y="390432"/>
            <a:ext cx="8157680" cy="590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98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32FB-F5D8-FAC9-E9B3-FD344CF4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4622F1-0B42-4154-CCC0-EC73DC879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FFF132-24D8-822D-D55C-0E0A477D5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EE43B7-5EBF-E942-35C7-27A05149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40C6E-5E6C-ACE6-4276-0A67FAF8545B}"/>
              </a:ext>
            </a:extLst>
          </p:cNvPr>
          <p:cNvSpPr txBox="1"/>
          <p:nvPr/>
        </p:nvSpPr>
        <p:spPr>
          <a:xfrm>
            <a:off x="82192" y="476913"/>
            <a:ext cx="1210980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Extreme Programming (XP)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Slipped schedules: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Misunderstanding the business and/or domain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Cancelled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Staff turnover: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Costs incurred in changes: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changes: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Production and post-delivery defects: </a:t>
            </a:r>
          </a:p>
        </p:txBody>
      </p:sp>
    </p:spTree>
    <p:extLst>
      <p:ext uri="{BB962C8B-B14F-4D97-AF65-F5344CB8AC3E}">
        <p14:creationId xmlns:p14="http://schemas.microsoft.com/office/powerpoint/2010/main" val="1913697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58B2-1357-6092-D94A-4712A673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2DAFED-D597-3E93-45EB-BB51B0674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D59D5C1-7D8F-7F65-8E7E-A7F2527B8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1D2C975-FC02-77DA-0027-83036A72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C0102-1CCF-859D-858F-B9CE0B93CA1B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38925-8892-55E1-500A-5A1F0E058F04}"/>
              </a:ext>
            </a:extLst>
          </p:cNvPr>
          <p:cNvSpPr txBox="1"/>
          <p:nvPr/>
        </p:nvSpPr>
        <p:spPr>
          <a:xfrm>
            <a:off x="44520" y="586120"/>
            <a:ext cx="1193857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n-US" sz="20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iterative and flexible approach to managing projects, initially popularized in software development but now used across various industries. </a:t>
            </a: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emphasizes delivering value quickly, adapting to changes, and continuously improving through collaboration among cross-functional teams.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3FAC0-4F97-A6F6-8805-5192B18DB4D7}"/>
              </a:ext>
            </a:extLst>
          </p:cNvPr>
          <p:cNvSpPr txBox="1"/>
          <p:nvPr/>
        </p:nvSpPr>
        <p:spPr>
          <a:xfrm>
            <a:off x="44520" y="2423669"/>
            <a:ext cx="120276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 Principles of Agile Project Management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Agile approach is built on principles outlined in the Agile Manifesto, which emphasizes: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Individuals and interactions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processes and tools.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 software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(or product) over comprehensive documentation.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collaboration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contract negotiation.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Responding to change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following a fixed plan.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 of Agile Project Management: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Faster time to market: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customer satisfaction: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flexibility: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Higher quality: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Enhanced team morale:  </a:t>
            </a:r>
          </a:p>
        </p:txBody>
      </p:sp>
    </p:spTree>
    <p:extLst>
      <p:ext uri="{BB962C8B-B14F-4D97-AF65-F5344CB8AC3E}">
        <p14:creationId xmlns:p14="http://schemas.microsoft.com/office/powerpoint/2010/main" val="1562905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C925-DFE1-87A8-856E-16D1B14D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A80BCD-B04A-3490-11F0-83DC7B549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08C4D6F-0DAF-47D1-731A-BE8133CA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3A0665-2F06-595F-8E37-1B3825E90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094A0-822A-927C-11F7-AE7AFA347F84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 and Scaling Agile Methods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56362-4B0A-DB0F-E8C5-7DA8648CFBD5}"/>
              </a:ext>
            </a:extLst>
          </p:cNvPr>
          <p:cNvSpPr txBox="1"/>
          <p:nvPr/>
        </p:nvSpPr>
        <p:spPr>
          <a:xfrm>
            <a:off x="264559" y="791109"/>
            <a:ext cx="111397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of Agile: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 shift: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Adopting Agile requires a change in mindset and organizational culture.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development: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Teams need training and coaching to effectively implement Agile practices.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Measuring success: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Traditional metrics may not be suitable for Agile projects.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Managing dependencies: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In large-scale projects, coordinating dependencies can be complex.</a:t>
            </a:r>
          </a:p>
        </p:txBody>
      </p:sp>
    </p:spTree>
    <p:extLst>
      <p:ext uri="{BB962C8B-B14F-4D97-AF65-F5344CB8AC3E}">
        <p14:creationId xmlns:p14="http://schemas.microsoft.com/office/powerpoint/2010/main" val="4013191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3206-F268-F833-9015-BF3A68E5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7751E6-67A2-0B4E-B8B5-013C80A40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65FEA5B-7C87-F521-309C-F3D6550B9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69319A-4E79-8F21-DCC3-0AF07A36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1A301-08CB-0A21-0F23-461CF4911FD7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 and Cons of Process Models and their Applicability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6F74A-AB76-AB4F-9BE1-273AC5926760}"/>
              </a:ext>
            </a:extLst>
          </p:cNvPr>
          <p:cNvSpPr txBox="1"/>
          <p:nvPr/>
        </p:nvSpPr>
        <p:spPr>
          <a:xfrm>
            <a:off x="244011" y="636998"/>
            <a:ext cx="117836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 and Cons of Process Models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Structure and Organization: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Management: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 Assurance: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Collaboration: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Satisfaction:</a:t>
            </a:r>
          </a:p>
          <a:p>
            <a:pPr algn="just"/>
            <a:r>
              <a:rPr lang="en-GB" sz="18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Rigidity: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Overemphasis on Documentation: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Limited Adaptability: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129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9ED5-07E9-F492-A735-5D33D0B9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0A03ED-4BAB-2034-2C65-2CFDF4C99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3104B19-994E-3D78-C2A1-ABB7CC793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08C5A1-660E-1C74-7BFE-E7ABA133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02920-FB02-426F-0902-7D4DE3D7072A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Applicability of Process Models 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B96D1-7D3D-6EE5-E2FD-FEE2630AC310}"/>
              </a:ext>
            </a:extLst>
          </p:cNvPr>
          <p:cNvSpPr txBox="1"/>
          <p:nvPr/>
        </p:nvSpPr>
        <p:spPr>
          <a:xfrm>
            <a:off x="-1" y="686323"/>
            <a:ext cx="120276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Applicability of Process Models: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choice of a process model depends on various factors, including:</a:t>
            </a:r>
          </a:p>
          <a:p>
            <a:pPr indent="457200" algn="just"/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Size and Complexity: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Certainty: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Involvement: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Tolerance: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Experience and Maturity: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65339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722F-42C6-6D57-AB96-BDBF1BD2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48E53E-2B9C-9618-834C-1A2A9A166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A582227-FB7D-96E2-12C3-666956200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373C662-EE8C-96E1-D8D0-2F5EB162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678CC-437F-917B-67AA-5B781079EE87}"/>
              </a:ext>
            </a:extLst>
          </p:cNvPr>
          <p:cNvSpPr txBox="1"/>
          <p:nvPr/>
        </p:nvSpPr>
        <p:spPr>
          <a:xfrm>
            <a:off x="0" y="0"/>
            <a:ext cx="12027613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AND CLASSIFICATION OF CASE TOOLS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01EAA-7E92-6AE7-CC0D-657821685085}"/>
              </a:ext>
            </a:extLst>
          </p:cNvPr>
          <p:cNvSpPr txBox="1"/>
          <p:nvPr/>
        </p:nvSpPr>
        <p:spPr>
          <a:xfrm>
            <a:off x="0" y="548099"/>
            <a:ext cx="11942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stands for Computer Aided Software Engineering which is software that supports one or more software engineering activities within a software development process.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Tools are In-built programs can help to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developing systems in order to enhance quality and provide better outcomes.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C95EB-B40C-2DB0-CF49-C82333DC5D37}"/>
              </a:ext>
            </a:extLst>
          </p:cNvPr>
          <p:cNvSpPr txBox="1"/>
          <p:nvPr/>
        </p:nvSpPr>
        <p:spPr>
          <a:xfrm>
            <a:off x="30574" y="1481984"/>
            <a:ext cx="11942378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CASE tools: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generation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meta-data for data warehouse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generation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 analysis and design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scheduling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</a:t>
            </a:r>
          </a:p>
        </p:txBody>
      </p:sp>
    </p:spTree>
    <p:extLst>
      <p:ext uri="{BB962C8B-B14F-4D97-AF65-F5344CB8AC3E}">
        <p14:creationId xmlns:p14="http://schemas.microsoft.com/office/powerpoint/2010/main" val="11778721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2FD5-77C0-AFC7-4E86-33072CAB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6E37-EBE4-1C8D-4B36-D8FC3E45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404A52-14E9-C405-D7AA-C79E1FEDF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499E0E-76C9-4A5E-85C0-E5EF07829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FA59D-8B2E-F698-A813-52958E49CCF6}"/>
              </a:ext>
            </a:extLst>
          </p:cNvPr>
          <p:cNvSpPr txBox="1"/>
          <p:nvPr/>
        </p:nvSpPr>
        <p:spPr>
          <a:xfrm>
            <a:off x="0" y="0"/>
            <a:ext cx="12027613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CASE Tool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8" name="Picture 4" descr="Case Tools">
            <a:extLst>
              <a:ext uri="{FF2B5EF4-FFF2-40B4-BE49-F238E27FC236}">
                <a16:creationId xmlns:a16="http://schemas.microsoft.com/office/drawing/2014/main" id="{86FD85F5-6DC7-515B-DA02-184A5C3C9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904" y="1226863"/>
            <a:ext cx="4331357" cy="372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217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C287-B24C-BE5F-A460-B7640F12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EE59B-3A43-E5EE-6690-7A32313B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9ABC1F1-2464-B782-F8D6-7474DE57B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718D47-6250-76D1-F928-6BE6010AD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76163-8DE8-12BA-FB1B-FB8FA04E8E66}"/>
              </a:ext>
            </a:extLst>
          </p:cNvPr>
          <p:cNvSpPr txBox="1"/>
          <p:nvPr/>
        </p:nvSpPr>
        <p:spPr>
          <a:xfrm>
            <a:off x="0" y="0"/>
            <a:ext cx="12027613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CASE Tool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56B9B-AC88-3B07-DD33-7BF57DD4F4BC}"/>
              </a:ext>
            </a:extLst>
          </p:cNvPr>
          <p:cNvSpPr txBox="1"/>
          <p:nvPr/>
        </p:nvSpPr>
        <p:spPr>
          <a:xfrm>
            <a:off x="0" y="548099"/>
            <a:ext cx="12191999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Diagramming Tools: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diagrammatic and graphical representations of the data and system processes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Display and Report Generators: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help in understanding the data requirements and the relationships involved.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Tools: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Repository: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single point of storage for data diagrams, reports, and documents related to project management.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Generators: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generating user and technical documentation as per standards.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Generators: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aids in the auto-generation of code, including definitions, with the help of designs, documents, and diagrams.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7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Requirement Management: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gathering, evaluating, and managing software needs easier.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8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Analysis and Design: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instruments for modelling system architecture and behaviour, which helps throughout the analysis and design stages of software development.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9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Database Management: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facilitates database construction, design, and administration.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10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Documentation: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the process of creating, organizing, and maintaining project documentation easier.</a:t>
            </a:r>
          </a:p>
        </p:txBody>
      </p:sp>
    </p:spTree>
    <p:extLst>
      <p:ext uri="{BB962C8B-B14F-4D97-AF65-F5344CB8AC3E}">
        <p14:creationId xmlns:p14="http://schemas.microsoft.com/office/powerpoint/2010/main" val="40306184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3FF9-EBEF-5781-D21D-F5B3539E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B4EABE-D44E-6299-E25C-01AB5B5A7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8A62A54-BA99-C313-93CA-0AE85588B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C90EAC-C2C2-3FA2-961B-D910FB0E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A9B4-9424-6595-EEB8-462FB804E1B6}"/>
              </a:ext>
            </a:extLst>
          </p:cNvPr>
          <p:cNvSpPr txBox="1"/>
          <p:nvPr/>
        </p:nvSpPr>
        <p:spPr>
          <a:xfrm>
            <a:off x="0" y="0"/>
            <a:ext cx="12027613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GB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successful CASE Tool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C1FF5-C7AF-0DAD-B268-ED3BB34C7EBD}"/>
              </a:ext>
            </a:extLst>
          </p:cNvPr>
          <p:cNvSpPr txBox="1"/>
          <p:nvPr/>
        </p:nvSpPr>
        <p:spPr>
          <a:xfrm>
            <a:off x="147441" y="663290"/>
            <a:ext cx="12027613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methodology: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Integration: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testing software: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reverse engineering: 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On-line help: </a:t>
            </a:r>
          </a:p>
        </p:txBody>
      </p:sp>
    </p:spTree>
    <p:extLst>
      <p:ext uri="{BB962C8B-B14F-4D97-AF65-F5344CB8AC3E}">
        <p14:creationId xmlns:p14="http://schemas.microsoft.com/office/powerpoint/2010/main" val="34552608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0B66-CA24-C29C-985E-4151F299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D1C1D6-211A-0106-F23A-B36C2E86B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8642D6-A66E-CC11-2BA0-564C81736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7EDCC3E-A37B-1584-6B43-F291E8E0F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D2A0A-4372-64BF-CF81-4554DCFBC000}"/>
              </a:ext>
            </a:extLst>
          </p:cNvPr>
          <p:cNvSpPr txBox="1"/>
          <p:nvPr/>
        </p:nvSpPr>
        <p:spPr>
          <a:xfrm>
            <a:off x="0" y="-94529"/>
            <a:ext cx="12027613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CASE approach: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Documentation: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Reusing Components: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Quicker Cycles of Development: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Results: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uniformity and standardization: </a:t>
            </a:r>
          </a:p>
          <a:p>
            <a:pPr algn="ctr" fontAlgn="base">
              <a:spcAft>
                <a:spcPts val="1800"/>
              </a:spcAft>
            </a:pPr>
            <a:endParaRPr lang="en-GB" sz="20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>
              <a:spcAft>
                <a:spcPts val="1800"/>
              </a:spcAft>
            </a:pPr>
            <a:r>
              <a:rPr lang="en-GB" sz="20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CASE approach: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Mix:</a:t>
            </a:r>
          </a:p>
        </p:txBody>
      </p:sp>
    </p:spTree>
    <p:extLst>
      <p:ext uri="{BB962C8B-B14F-4D97-AF65-F5344CB8AC3E}">
        <p14:creationId xmlns:p14="http://schemas.microsoft.com/office/powerpoint/2010/main" val="28529774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ACDF-D9A6-3F55-53C1-AC85B2D3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24191-396B-44BB-4019-1DF9CBD07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BA258CF-A53F-D10C-00E4-BFD6A999B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6B6BC8-02E2-CF54-1CDA-05FE8973B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81F44C-121C-27FB-B938-72E87AF0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026276"/>
              </p:ext>
            </p:extLst>
          </p:nvPr>
        </p:nvGraphicFramePr>
        <p:xfrm>
          <a:off x="764627" y="3305509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227456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05549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63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 DOORS, Jama Connect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77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 and Diagramming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Lucidchart</a:t>
                      </a:r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Draw.io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7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GenMyModel, Codebots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592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Subversion (SVN)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24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Jira, Trello, Asana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275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Selenium, TestComplete, LoadRunner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378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Doxygen</a:t>
                      </a:r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Sphinx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1198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BBBD84-077D-FAD4-7BE0-3B7A295B7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430987"/>
              </p:ext>
            </p:extLst>
          </p:nvPr>
        </p:nvGraphicFramePr>
        <p:xfrm>
          <a:off x="764627" y="1383572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372927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50443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03229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Tool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22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 and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 Rose, Lucidchart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59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Coding, Testing,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Selenium, JUnit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0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SDLC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Studio, </a:t>
                      </a:r>
                      <a:r>
                        <a:rPr lang="en-GB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OutSystems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063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301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C2A8-E062-F5E4-220E-AC9C7815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FD1B17-DCBF-0A8B-27FC-7824560FA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336C201-88FE-2A63-5D2E-BF03532BC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CCB3DEB-D843-9B40-1EE6-CE6693A0B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2F510-38F3-FDED-2921-01C35F2D1236}"/>
              </a:ext>
            </a:extLst>
          </p:cNvPr>
          <p:cNvSpPr txBox="1"/>
          <p:nvPr/>
        </p:nvSpPr>
        <p:spPr>
          <a:xfrm>
            <a:off x="0" y="0"/>
            <a:ext cx="12027613" cy="104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OF CASE TOOLS IN MODERN SOFTWARE ENGINEERING PRACTICES.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2BD9C-A5CE-F394-02B2-0841F3AA0642}"/>
              </a:ext>
            </a:extLst>
          </p:cNvPr>
          <p:cNvSpPr txBox="1"/>
          <p:nvPr/>
        </p:nvSpPr>
        <p:spPr>
          <a:xfrm>
            <a:off x="117502" y="1330646"/>
            <a:ext cx="117926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Enhancing Productivity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Improving Software Quality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Standardization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Supporting Project Management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Facilitating Better Communication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Assisting in Requirements Management</a:t>
            </a:r>
          </a:p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Boosting Reusability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Supporting Maintenance and Evolution</a:t>
            </a:r>
          </a:p>
        </p:txBody>
      </p:sp>
    </p:spTree>
    <p:extLst>
      <p:ext uri="{BB962C8B-B14F-4D97-AF65-F5344CB8AC3E}">
        <p14:creationId xmlns:p14="http://schemas.microsoft.com/office/powerpoint/2010/main" val="2033898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2171" y="2633268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End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E325-8993-0CFD-D300-BA9B9334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808669-DCD9-1606-2853-3B63C89BA58C}"/>
              </a:ext>
            </a:extLst>
          </p:cNvPr>
          <p:cNvSpPr txBox="1"/>
          <p:nvPr/>
        </p:nvSpPr>
        <p:spPr>
          <a:xfrm>
            <a:off x="918751" y="272111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5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2942</Words>
  <Application>Microsoft Macintosh PowerPoint</Application>
  <PresentationFormat>Widescreen</PresentationFormat>
  <Paragraphs>434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.AppleSystemUIFont Regular</vt:lpstr>
      <vt:lpstr>Arial</vt:lpstr>
      <vt:lpstr>Calibri</vt:lpstr>
      <vt:lpstr>Calibri Light</vt:lpstr>
      <vt:lpstr>Symbol</vt:lpstr>
      <vt:lpstr>Times New Roman</vt:lpstr>
      <vt:lpstr>Times New Roman Bold</vt:lpstr>
      <vt:lpstr>Times New Roman Regular</vt:lpstr>
      <vt:lpstr>Wingdings</vt:lpstr>
      <vt:lpstr>Office Theme</vt:lpstr>
      <vt:lpstr> Chapter 2 SOFTWARE DEVELOPMENT PROCESS MODELS</vt:lpstr>
      <vt:lpstr>OUTLINES</vt:lpstr>
      <vt:lpstr>Software Development Models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Harendra Bikram Shah</cp:lastModifiedBy>
  <cp:revision>233</cp:revision>
  <dcterms:created xsi:type="dcterms:W3CDTF">2024-09-23T14:11:53Z</dcterms:created>
  <dcterms:modified xsi:type="dcterms:W3CDTF">2025-05-17T10:53:39Z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