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65" r:id="rId4"/>
    <p:sldId id="266" r:id="rId5"/>
    <p:sldId id="267" r:id="rId6"/>
    <p:sldId id="285" r:id="rId7"/>
    <p:sldId id="273" r:id="rId8"/>
    <p:sldId id="268" r:id="rId9"/>
    <p:sldId id="275" r:id="rId10"/>
    <p:sldId id="289" r:id="rId11"/>
    <p:sldId id="276" r:id="rId12"/>
    <p:sldId id="287" r:id="rId13"/>
    <p:sldId id="281" r:id="rId14"/>
    <p:sldId id="279" r:id="rId15"/>
    <p:sldId id="290" r:id="rId16"/>
    <p:sldId id="291" r:id="rId17"/>
    <p:sldId id="292" r:id="rId18"/>
    <p:sldId id="280" r:id="rId19"/>
    <p:sldId id="282" r:id="rId20"/>
    <p:sldId id="283" r:id="rId21"/>
    <p:sldId id="284" r:id="rId22"/>
    <p:sldId id="286" r:id="rId23"/>
    <p:sldId id="294" r:id="rId24"/>
    <p:sldId id="295" r:id="rId25"/>
    <p:sldId id="296" r:id="rId26"/>
    <p:sldId id="297" r:id="rId27"/>
    <p:sldId id="301" r:id="rId28"/>
    <p:sldId id="302" r:id="rId29"/>
    <p:sldId id="300" r:id="rId30"/>
    <p:sldId id="298" r:id="rId31"/>
    <p:sldId id="299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426" r:id="rId48"/>
    <p:sldId id="427" r:id="rId49"/>
    <p:sldId id="428" r:id="rId50"/>
    <p:sldId id="429" r:id="rId51"/>
    <p:sldId id="430" r:id="rId52"/>
    <p:sldId id="431" r:id="rId53"/>
    <p:sldId id="432" r:id="rId54"/>
    <p:sldId id="433" r:id="rId55"/>
    <p:sldId id="434" r:id="rId56"/>
    <p:sldId id="306" r:id="rId57"/>
    <p:sldId id="307" r:id="rId58"/>
    <p:sldId id="435" r:id="rId59"/>
    <p:sldId id="436" r:id="rId60"/>
    <p:sldId id="354" r:id="rId61"/>
    <p:sldId id="264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18"/>
    <p:restoredTop sz="94291" autoAdjust="0"/>
  </p:normalViewPr>
  <p:slideViewPr>
    <p:cSldViewPr snapToGrid="0">
      <p:cViewPr varScale="1">
        <p:scale>
          <a:sx n="112" d="100"/>
          <a:sy n="112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24316-9500-5445-8E09-9A36CFBFCD6C}" type="datetimeFigureOut">
              <a:rPr lang="en-US" smtClean="0"/>
              <a:t>6/20/25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9CB4F-2CA6-7447-AEE1-E0F28E902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6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20/06/25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opensta.org/" TargetMode="External"/><Relationship Id="rId2" Type="http://schemas.openxmlformats.org/officeDocument/2006/relationships/hyperlink" Target="http://jmeter.apach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hyperlink" Target="http://www.radview.com/" TargetMode="External"/><Relationship Id="rId4" Type="http://schemas.openxmlformats.org/officeDocument/2006/relationships/hyperlink" Target="http://www.hp.com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94675"/>
            <a:ext cx="12084148" cy="1172738"/>
          </a:xfrm>
        </p:spPr>
        <p:txBody>
          <a:bodyPr>
            <a:noAutofit/>
          </a:bodyPr>
          <a:lstStyle/>
          <a:p>
            <a:pPr marL="228600">
              <a:lnSpc>
                <a:spcPct val="107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5:</a:t>
            </a:r>
            <a:br>
              <a:rPr lang="en-US" sz="3600" b="1" dirty="0">
                <a:latin typeface="Times New Roman" panose="02020603050405020304" pitchFamily="18" charset="0"/>
                <a:sym typeface="+mn-ea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and Quality Assurance                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</a:p>
          <a:p>
            <a:r>
              <a:rPr lang="en-US" altLang="en-GB" sz="2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3260" y="1667413"/>
            <a:ext cx="1961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Hour:9hrs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9484"/>
            <a:ext cx="9144000" cy="558968"/>
          </a:xfrm>
        </p:spPr>
        <p:txBody>
          <a:bodyPr>
            <a:noAutofit/>
          </a:bodyPr>
          <a:lstStyle/>
          <a:p>
            <a:r>
              <a:rPr lang="en-GB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sz="4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70F38-4985-1585-7EC5-AAA51532477D}"/>
              </a:ext>
            </a:extLst>
          </p:cNvPr>
          <p:cNvSpPr txBox="1"/>
          <p:nvPr/>
        </p:nvSpPr>
        <p:spPr>
          <a:xfrm>
            <a:off x="0" y="1063099"/>
            <a:ext cx="11140068" cy="29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Testing Techniques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Unit testing, integration testing, and system testing.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Black-box and white-box testing techniques.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Verification and Validation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importance of software testing in the development life cycle.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Software Quality Assurance (SQA)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Overview of software quality standards (ISO, CMM).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Importance of software quality assurance (SQA) processes</a:t>
            </a:r>
            <a:r>
              <a:rPr lang="en-US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Risk Categories, The RMM Plan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1EC-4386-9ED8-A75C-D06AE482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A891-DAC3-C5C0-5819-35122C99D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rmAutofit fontScale="90000"/>
          </a:bodyPr>
          <a:lstStyle/>
          <a:p>
            <a:r>
              <a:rPr lang="en-GB" sz="6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Why Software Testing is important? - GeeksforGeeks">
            <a:extLst>
              <a:ext uri="{FF2B5EF4-FFF2-40B4-BE49-F238E27FC236}">
                <a16:creationId xmlns:a16="http://schemas.microsoft.com/office/drawing/2014/main" id="{FFCC260C-9F63-2461-EA25-76E7BB93B2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65" b="7004"/>
          <a:stretch/>
        </p:blipFill>
        <p:spPr bwMode="auto">
          <a:xfrm>
            <a:off x="1301750" y="842481"/>
            <a:ext cx="9588500" cy="566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29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A941-1366-A0D3-32BD-84EB5DD3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2355-3096-736A-91AC-82A27773B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Autofit/>
          </a:bodyPr>
          <a:lstStyle/>
          <a:p>
            <a:r>
              <a:rPr lang="en-GB" sz="4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VALIDATION</a:t>
            </a:r>
            <a:endParaRPr lang="en-IN" sz="4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Verification and Validation">
            <a:extLst>
              <a:ext uri="{FF2B5EF4-FFF2-40B4-BE49-F238E27FC236}">
                <a16:creationId xmlns:a16="http://schemas.microsoft.com/office/drawing/2014/main" id="{F5CDB8F8-392B-79CC-23B8-AAB468F0D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9753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87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163D-DABD-0620-B401-A134BDD6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A56D-A3D9-5BC8-C1EE-9D773FF3D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PHASES</a:t>
            </a:r>
          </a:p>
        </p:txBody>
      </p:sp>
      <p:pic>
        <p:nvPicPr>
          <p:cNvPr id="4098" name="Picture 2" descr="stlc">
            <a:extLst>
              <a:ext uri="{FF2B5EF4-FFF2-40B4-BE49-F238E27FC236}">
                <a16:creationId xmlns:a16="http://schemas.microsoft.com/office/drawing/2014/main" id="{29FDB9A4-0BB3-62CD-D9CD-D4C0A70D9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8020"/>
            <a:ext cx="12192000" cy="571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95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417" y="1020417"/>
            <a:ext cx="7076661" cy="5035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70991" y="0"/>
            <a:ext cx="10336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3600" b="1" i="0" u="none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11 STEPS OF TESTING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26" y="646331"/>
            <a:ext cx="9157251" cy="59002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3D10-BBED-343C-41AA-6EA4BCCA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ypes of Software Testing - GeeksforGeeks">
            <a:extLst>
              <a:ext uri="{FF2B5EF4-FFF2-40B4-BE49-F238E27FC236}">
                <a16:creationId xmlns:a16="http://schemas.microsoft.com/office/drawing/2014/main" id="{A08E0BDF-F4AE-BBB4-6041-201D42CEE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744" y="136424"/>
            <a:ext cx="8956675" cy="672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4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19130" y="0"/>
            <a:ext cx="8017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MANUAL TESTING</a:t>
            </a:r>
          </a:p>
        </p:txBody>
      </p:sp>
      <p:pic>
        <p:nvPicPr>
          <p:cNvPr id="2050" name="Picture 2" descr="Types of Software T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130" y="647908"/>
            <a:ext cx="8017564" cy="187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2690336"/>
            <a:ext cx="117613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will inspect every line of code before handing it over to the testing team or the concerned test engineers.</a:t>
            </a:r>
          </a:p>
        </p:txBody>
      </p:sp>
      <p:pic>
        <p:nvPicPr>
          <p:cNvPr id="2054" name="Picture 6" descr="Types of Software Tes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130" y="3325882"/>
            <a:ext cx="7805531" cy="288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6094586"/>
            <a:ext cx="12102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highlight>
                  <a:srgbClr val="FFFFFF"/>
                </a:highlight>
                <a:latin typeface="inter-regular"/>
              </a:rPr>
              <a:t>White box testing is also known as </a:t>
            </a:r>
            <a:r>
              <a:rPr lang="en-GB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bold"/>
              </a:rPr>
              <a:t>open box testing, glass box testing, structural testing, clear box testing, and transparent box testing</a:t>
            </a:r>
            <a:r>
              <a:rPr lang="en-GB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regular"/>
              </a:rPr>
              <a:t>.</a:t>
            </a:r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913" y="0"/>
            <a:ext cx="10515600" cy="933588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WHITE BOX TESTING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 descr="White box testing examples in software engineering">
            <a:extLst>
              <a:ext uri="{FF2B5EF4-FFF2-40B4-BE49-F238E27FC236}">
                <a16:creationId xmlns:a16="http://schemas.microsoft.com/office/drawing/2014/main" id="{1EE2145F-6881-89FA-A6F2-9FB24589EC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5" b="12122"/>
          <a:stretch/>
        </p:blipFill>
        <p:spPr bwMode="auto">
          <a:xfrm>
            <a:off x="0" y="1313727"/>
            <a:ext cx="12192000" cy="452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7504" r="11198" b="12114"/>
          <a:stretch>
            <a:fillRect/>
          </a:stretch>
        </p:blipFill>
        <p:spPr>
          <a:xfrm>
            <a:off x="1152938" y="1136374"/>
            <a:ext cx="10508975" cy="4585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60983" y="0"/>
            <a:ext cx="78700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BLACK BOX TESTING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9663" t="11570" r="21968" b="3792"/>
          <a:stretch>
            <a:fillRect/>
          </a:stretch>
        </p:blipFill>
        <p:spPr>
          <a:xfrm>
            <a:off x="3763617" y="793450"/>
            <a:ext cx="4664765" cy="58044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552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BOX TESTING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Black-Box vs White-Box Testing: The Pros and Cons of Each | Solv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9" r="3479" b="12930"/>
          <a:stretch>
            <a:fillRect/>
          </a:stretch>
        </p:blipFill>
        <p:spPr bwMode="auto">
          <a:xfrm>
            <a:off x="424070" y="1129747"/>
            <a:ext cx="11767930" cy="459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287" y="0"/>
            <a:ext cx="116221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Black Box Testing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5294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all the components systematically against requirement specifications is known as functional testing.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 is also known as Component testing.</a:t>
            </a:r>
          </a:p>
        </p:txBody>
      </p:sp>
      <p:pic>
        <p:nvPicPr>
          <p:cNvPr id="6148" name="Picture 4" descr="Types of Software T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457" y="2076270"/>
            <a:ext cx="5735086" cy="421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287" y="0"/>
            <a:ext cx="11622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" y="617738"/>
            <a:ext cx="11622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technique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using individual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is defined as a type of software testing where individual components of a software are tested.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5287" y="1264069"/>
            <a:ext cx="988612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Unit Testing</a:t>
            </a:r>
          </a:p>
          <a:p>
            <a:pPr algn="l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isolate a section of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the correctness of the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every function and procedure.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fix bugs early in the development cycle and to save costs.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the developers understand the code base and enable them to make changes quickly.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with code reuse.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3603171"/>
            <a:ext cx="7629525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287" y="0"/>
            <a:ext cx="11622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59636" y="584465"/>
            <a:ext cx="123444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Techniques</a:t>
            </a:r>
          </a:p>
          <a:p>
            <a:pPr algn="l" rtl="0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There are 3 types of Unit Testing Techniques. </a:t>
            </a:r>
          </a:p>
          <a:p>
            <a:pPr algn="l" fontAlgn="base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 Testing: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testing technique is used in covering the unit tests for input, user interface, and output parts.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in testing the functional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system by giving the input.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Box Testing: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executing the relevant test cases, test methods, and test functions, and analyzing the code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8583" y="3135944"/>
            <a:ext cx="619539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Tools</a:t>
            </a:r>
          </a:p>
          <a:p>
            <a:pPr algn="l" fontAlgn="base">
              <a:buFont typeface="+mj-lt"/>
              <a:buAutoNum type="arabicPeriod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Jtest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 </a:t>
            </a:r>
          </a:p>
          <a:p>
            <a:pPr algn="l" fontAlgn="base">
              <a:buFont typeface="+mj-lt"/>
              <a:buAutoNum type="arabicPeriod" startAt="3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NUnit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</a:t>
            </a:r>
          </a:p>
          <a:p>
            <a:pPr algn="l" fontAlgn="base">
              <a:buFont typeface="+mj-lt"/>
              <a:buAutoNum type="arabicPeriod" startAt="5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PHPUnit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287" y="0"/>
            <a:ext cx="11622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3096" y="932122"/>
            <a:ext cx="105619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Unit Testing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Issues: 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Code Quality: 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Confidence: 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Development: 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Documentation:</a:t>
            </a:r>
          </a:p>
          <a:p>
            <a:pPr marL="342900" indent="-342900" algn="l" fontAlgn="base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Time and Cost: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9112" y="2902226"/>
            <a:ext cx="1134386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Unit Testing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Effort: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Developers: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Testing Complex Units: 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Testing Interactions: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Testing User Interfaces: </a:t>
            </a:r>
          </a:p>
          <a:p>
            <a:pPr marL="342900" indent="-342900" algn="l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Over-reliance on Automation: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ypes of Software T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35" y="0"/>
            <a:ext cx="7096539" cy="293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ypes of Software Tes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05" y="3284263"/>
            <a:ext cx="7222434" cy="327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9322" y="0"/>
            <a:ext cx="333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30" y="523220"/>
            <a:ext cx="11555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different type of tests with the purpose to exercise and examine the full working of an integrated software computer system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against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a fully integrated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software system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end-to-end flow of an application or the software as a user is known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as System testing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ystem-Testing-Proc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2" y="2246769"/>
            <a:ext cx="12192000" cy="424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70189" y="1785104"/>
            <a:ext cx="3205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Process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6383" y="0"/>
            <a:ext cx="5161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SYSTEM TESTING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System T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323" y="543753"/>
            <a:ext cx="6138137" cy="577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6383" y="0"/>
            <a:ext cx="5161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SYSTEM TESTING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026" y="371586"/>
            <a:ext cx="1127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testing: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performed under system testing to confirm and identify that if there's any defect in the system due to modification in any other part of the system.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429166"/>
            <a:ext cx="12032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Testing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is performed under system testing to clarify whether the system can work under real-time loads or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04591"/>
            <a:ext cx="12032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Recovery Testing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testing of a system is performed under system testing to confirm reliability, trustworthiness, accountability of the system and all are lying on recouping skills of the system.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227921"/>
            <a:ext cx="120329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Migration Testing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testing is performed to ensure that if the system needs to be modified in new infrastructure so it should be modified without any issue.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Usability Testing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testing to make sure that the system is well familiar with the user and it meets its objective for what it supposed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105668"/>
            <a:ext cx="11440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6.Functional Testing: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testing that seeks to establish whether each application feature works as per the 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6155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 FOR SYSTEM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653" y="135705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JMeter</a:t>
            </a:r>
          </a:p>
          <a:p>
            <a:pPr algn="l" fontAlgn="base">
              <a:buFont typeface="+mj-lt"/>
              <a:buAutoNum type="arabicPeriod" startAt="2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Gallen Framework</a:t>
            </a:r>
          </a:p>
          <a:p>
            <a:pPr algn="l" fontAlgn="base">
              <a:buFont typeface="+mj-lt"/>
              <a:buAutoNum type="arabicPeriod" startAt="3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</a:p>
          <a:p>
            <a:pPr algn="l" fontAlgn="base">
              <a:buFont typeface="+mj-lt"/>
              <a:buAutoNum type="arabicPeriod" startAt="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 Quality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/ALM</a:t>
            </a:r>
          </a:p>
          <a:p>
            <a:pPr algn="l" fontAlgn="base">
              <a:buFont typeface="+mj-lt"/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Rational Quality Manager</a:t>
            </a:r>
          </a:p>
          <a:p>
            <a:pPr algn="l" fontAlgn="base">
              <a:buFont typeface="+mj-lt"/>
              <a:buAutoNum type="arabicPeriod" startAt="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Test Manager</a:t>
            </a:r>
          </a:p>
          <a:p>
            <a:pPr algn="l" fontAlgn="base">
              <a:buFont typeface="+mj-lt"/>
              <a:buAutoNum type="arabicPeriod" startAt="7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</a:p>
          <a:p>
            <a:pPr algn="l" fontAlgn="base">
              <a:buFont typeface="+mj-lt"/>
              <a:buAutoNum type="arabicPeriod" startAt="8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Appium</a:t>
            </a:r>
          </a:p>
          <a:p>
            <a:pPr algn="l" fontAlgn="base">
              <a:buFont typeface="+mj-lt"/>
              <a:buAutoNum type="arabicPeriod" startAt="9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LoadRunner</a:t>
            </a:r>
          </a:p>
          <a:p>
            <a:pPr algn="l" fontAlgn="base">
              <a:buFont typeface="+mj-lt"/>
              <a:buAutoNum type="arabicPeriod" startAt="1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Gatling</a:t>
            </a:r>
          </a:p>
          <a:p>
            <a:pPr algn="l" fontAlgn="base">
              <a:buFont typeface="+mj-lt"/>
              <a:buAutoNum type="arabicPeriod" startAt="11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JMeter</a:t>
            </a:r>
          </a:p>
          <a:p>
            <a:pPr algn="l" fontAlgn="base">
              <a:buFont typeface="+mj-lt"/>
              <a:buAutoNum type="arabicPeriod" startAt="12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JServ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 startAt="13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SoapUI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6155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 of SYSTEM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538" y="848140"/>
            <a:ext cx="10515599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the overall functionality of a system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detects the bugs and finds defects.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detect real-time bugs.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because it checks the full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for large and complex systems.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6155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48140"/>
            <a:ext cx="11158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testing is a software testing technique that checks the non-functional attributes of the system.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Types of Non-Functional Testing:</a:t>
            </a:r>
          </a:p>
          <a:p>
            <a:pPr marL="342900" indent="-34290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</a:p>
          <a:p>
            <a:pPr marL="342900" indent="-34290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</a:t>
            </a:r>
          </a:p>
          <a:p>
            <a:pPr marL="342900" indent="-34290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Compatibility Testing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6616" y="2710171"/>
            <a:ext cx="6115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Non-functional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6616" y="3458285"/>
            <a:ext cx="95448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usability: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production risk: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installation: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metrics: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knowledge of product: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615536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Testing Parameters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15" y="1051312"/>
            <a:ext cx="8401878" cy="53130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615536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Testing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16" y="920852"/>
            <a:ext cx="1208598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</a:p>
          <a:p>
            <a:pPr marL="285750" indent="-285750" algn="l" rtl="0" fontAlgn="base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software testing that ensures software applications perform properly under their expected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05" y="1793783"/>
            <a:ext cx="102141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Attributes: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5105" y="3494558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Performance Testing: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05" y="3956223"/>
            <a:ext cx="8610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performance congestion.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product before launch in the market.</a:t>
            </a:r>
          </a:p>
          <a:p>
            <a:pPr algn="l" fontAlgn="base"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software rapid.</a:t>
            </a:r>
          </a:p>
          <a:p>
            <a:pPr algn="l" fontAlgn="base"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software stable and reliable.</a:t>
            </a:r>
          </a:p>
          <a:p>
            <a:pPr algn="l" fontAlgn="base"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and scalability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008" y="0"/>
            <a:ext cx="1208598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Process</a:t>
            </a:r>
          </a:p>
          <a:p>
            <a:pPr algn="ctr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69" y="1273393"/>
            <a:ext cx="8780460" cy="431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008" y="0"/>
            <a:ext cx="12085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  <a:endParaRPr lang="en-GB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08" y="261610"/>
            <a:ext cx="826935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Tools:</a:t>
            </a:r>
          </a:p>
          <a:p>
            <a:pPr algn="l" fontAlgn="base">
              <a:buFont typeface="+mj-lt"/>
              <a:buAutoNum type="arabicPeriod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Jmeter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Open STA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Load Runner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Web Load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Performance Testing 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bottlenecks: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scalability: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Preparation: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24939" y="862230"/>
            <a:ext cx="646706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Performance Testing 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 in the real-time environment.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proficiency in debugging the test cases or test scripts.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Resource-intensive: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testing scope: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results: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simulating real-world usage: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analysing the results: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280" y="4371339"/>
            <a:ext cx="7209790" cy="24866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615536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17" y="920852"/>
            <a:ext cx="11529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</a:t>
            </a:r>
          </a:p>
          <a:p>
            <a:pPr marL="285750" indent="-285750" algn="l" rtl="0" fontAlgn="base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determines the behaviour of the application when multiple users use it at the same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17" y="1567183"/>
            <a:ext cx="1167516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Load Testing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Scalability: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for Capacity: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bottlenecks: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Response Time: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Memory Leaks: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17" y="3429000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Load Testing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bottlenecks: 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scalability: 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reliability: 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risk: 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 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713" y="3152001"/>
            <a:ext cx="461175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Load Testing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Resource-intensive: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testing scope: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results: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simulating real-world usage: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analysing the results: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947" y="954156"/>
            <a:ext cx="5457636" cy="54267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67310" y="828040"/>
            <a:ext cx="128352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 software testing type that determines the robustness of software by testing beyond the limits of normal operation.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1212215"/>
            <a:ext cx="100869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Objective of Stress Testing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Analyze the behavior of the application after failure: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System recovers after failure: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Uncover Hardware issues: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Uncover Security Weakness: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Ensures data integrity: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2981325"/>
            <a:ext cx="1087818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times" charset="0"/>
                <a:cs typeface="times" charset="0"/>
              </a:rPr>
              <a:t>Benefits of Stress Testing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Determines the behavior of the system: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Ensure failure does not cause security issues: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Makes system function in every situation: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Improving Decision Making: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Increasing Stakeholder confidence: </a:t>
            </a:r>
          </a:p>
          <a:p>
            <a:pPr indent="0">
              <a:buFont typeface="Wingdings" panose="05000000000000000000" charset="0"/>
              <a:buNone/>
            </a:pPr>
            <a:r>
              <a:rPr lang="en-US" sz="2000" b="1">
                <a:latin typeface="times" charset="0"/>
                <a:cs typeface="times" charset="0"/>
              </a:rPr>
              <a:t>Limitations of Stress Testing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Manual stress testing is complicated: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Good scripting knowledge required: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Need for external resources: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Constantly licensed tool: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Additional tool required in case of open-source stress testing tool: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Improper test script implementation results in wastage: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690" y="925830"/>
            <a:ext cx="6110605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35" y="886460"/>
            <a:ext cx="12120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Scalability Testing is defined as the ability of a network, system, application, product or a process to perform the function correctly when changes are made in the size or volume of the system to meet a growing need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82245" y="2016125"/>
            <a:ext cx="1108138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Objective of Scalability Testing: </a:t>
            </a:r>
            <a:endParaRPr lang="en-US">
              <a:latin typeface="times" charset="0"/>
              <a:cs typeface="times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determine how the application scales with increasing workload.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determine the user limit for the software product.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determine client-side degradation and end user experience under load.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assess the system’s performance under various network circumstances,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determine whether the system is capable of withstanding scenarios of high usage,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guarantee that the system’s scalability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determine server-side robustness and degradation.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help developers improve the system design or code by pointing out </a:t>
            </a:r>
            <a:r>
              <a:rPr lang="en-US">
                <a:latin typeface="times" charset="0"/>
                <a:cs typeface="times" charset="0"/>
                <a:sym typeface="+mn-ea"/>
              </a:rPr>
              <a:t>bottlenecks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evaluate the effective use of system resources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" charset="0"/>
                <a:cs typeface="times" charset="0"/>
              </a:rPr>
              <a:t>To make that the system satisfies performance criteria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726440"/>
            <a:ext cx="1155509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" charset="0"/>
                <a:cs typeface="tim" charset="0"/>
              </a:rPr>
              <a:t>Steps of Scalability Testing: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Define a process that is repeatable for executing scalability test.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Determine the criteria for scalability test.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Determine the software tools required to carry out the test.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Set the testing environment and configure the hardware required to execute a scalability test.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Create and verify visual script.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Create and verify the load test scenarios.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Execute the test.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Evaluate the result.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" charset="0"/>
                <a:cs typeface="tim" charset="0"/>
              </a:rPr>
              <a:t>Generate required report.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8580" y="949960"/>
            <a:ext cx="1219136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imesy)" charset="0"/>
                <a:cs typeface="imesy)" charset="0"/>
              </a:rPr>
              <a:t>Advantages of Scalability Testing: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It provides more accessibility to the product.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It detects issues with web page loading and other performance issues.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It finds and fixes the issues earlier in the product which saves a lot of time.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It ensures the end user experience under the specific load. It provides customer satisfaction.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It helps in effective tool utilization tracking.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imesy)" charset="0"/>
              <a:cs typeface="imesy)" charset="0"/>
            </a:endParaRPr>
          </a:p>
          <a:p>
            <a:r>
              <a:rPr lang="en-US" b="1">
                <a:latin typeface="imesy)" charset="0"/>
                <a:cs typeface="imesy)" charset="0"/>
              </a:rPr>
              <a:t>Disadvantages of Scalability Testing: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Sometimes, it fails to find the functional errors or issues in the product.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Some automation tools used for Scalability testing is costlier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Team members involve in this testing technique should have high level of testing skills.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The time spent on testing some parts of product may consume more time than expected time.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imesy)" charset="0"/>
                <a:cs typeface="imesy)" charset="0"/>
              </a:rPr>
              <a:t>Unexpected results may also be raised after launching the product in the customer environment.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35" y="899160"/>
            <a:ext cx="121913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Type of Software Testing to check the quality and behavior of the software in different environmental parameters.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It is defined as the ability of the product to continue to function over time without failure.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35" y="1825625"/>
            <a:ext cx="118802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Objective of the Stability Testing: 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To yield confidence in the stability of the system or software application under test.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To ensure the system handling big programs.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To operate the effectiveness of the system or software application.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To check the stability of the system under stress.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b="9673"/>
          <a:stretch>
            <a:fillRect/>
          </a:stretch>
        </p:blipFill>
        <p:spPr>
          <a:xfrm>
            <a:off x="3244850" y="1035050"/>
            <a:ext cx="5701665" cy="55975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96545" y="828040"/>
            <a:ext cx="102019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Advantages of Stability Testing:</a:t>
            </a:r>
          </a:p>
          <a:p>
            <a:r>
              <a:rPr lang="en-US"/>
              <a:t>It gives the limit of the data that a system can handle practically.</a:t>
            </a:r>
          </a:p>
          <a:p>
            <a:r>
              <a:rPr lang="en-US"/>
              <a:t>It provides the confidence on the performance of the system.</a:t>
            </a:r>
          </a:p>
          <a:p>
            <a:r>
              <a:rPr lang="en-US"/>
              <a:t>It determines the stability and robustness of the system under load.</a:t>
            </a:r>
          </a:p>
          <a:p>
            <a:r>
              <a:rPr lang="en-US"/>
              <a:t>Stability testing leads to a better end user experience.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7635" y="2304415"/>
            <a:ext cx="1101344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Disadvantages of Stability Testing</a:t>
            </a:r>
          </a:p>
          <a:p>
            <a:endParaRPr lang="en-US">
              <a:latin typeface="times" charset="0"/>
              <a:cs typeface="times" charset="0"/>
            </a:endParaRP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the system might fail due to additional load on the CPU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The System fails shortly without implementing the stability testing and slows down the speed.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It works unusually when it goes to the changing environments.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2.Usability </a:t>
            </a:r>
            <a:r>
              <a:rPr lang="en-GB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726440"/>
            <a:ext cx="11981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Checking the user-friendliness, efficiency, and accuracy of the application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04775" y="1183640"/>
            <a:ext cx="1198181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 features of usability testing are as follows: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Black-box testing technique in software testing.</a:t>
            </a:r>
          </a:p>
          <a:p>
            <a:pPr marL="342900" indent="-342900">
              <a:buAutoNum type="arabicPeriod"/>
            </a:pPr>
            <a:r>
              <a:rPr lang="en-US"/>
              <a:t>Usability testing is performed throughout the system and acceptance testing levels.</a:t>
            </a:r>
          </a:p>
          <a:p>
            <a:pPr marL="342900" indent="-342900">
              <a:buAutoNum type="arabicPeriod"/>
            </a:pPr>
            <a:r>
              <a:rPr lang="en-US"/>
              <a:t>Usability testing is implemented in the early stage of the Software Development Life Cycle (SDLC).</a:t>
            </a:r>
          </a:p>
          <a:p>
            <a:pPr marL="342900" indent="-342900">
              <a:buAutoNum type="arabicPeriod"/>
            </a:pPr>
            <a:r>
              <a:rPr lang="en-US"/>
              <a:t>The execution of usability testing offers more visibility on the prospects of the end-users.</a:t>
            </a:r>
          </a:p>
          <a:p>
            <a:pPr marL="342900" indent="-342900">
              <a:buAutoNum type="arabicPeriod"/>
            </a:pPr>
            <a:r>
              <a:rPr lang="en-US"/>
              <a:t>The usability testing makes sure that the software product meets its planned purpose.</a:t>
            </a:r>
          </a:p>
          <a:p>
            <a:pPr marL="342900" indent="-342900">
              <a:buAutoNum type="arabicPeriod"/>
            </a:pPr>
            <a:r>
              <a:rPr lang="en-US"/>
              <a:t>It also helps us to find many usability errors in the specified software product.</a:t>
            </a:r>
          </a:p>
          <a:p>
            <a:pPr marL="342900" indent="-342900">
              <a:buAutoNum type="arabicPeriod"/>
            </a:pPr>
            <a:r>
              <a:rPr lang="en-US"/>
              <a:t>tests the user-friendliness, usefulness, traceability, usability, and desirability of the final product.</a:t>
            </a:r>
          </a:p>
          <a:p>
            <a:pPr marL="342900" indent="-342900">
              <a:buAutoNum type="arabicPeriod"/>
            </a:pPr>
            <a:r>
              <a:rPr lang="en-US"/>
              <a:t>It offers direct input on how real-users use the software/application.</a:t>
            </a:r>
          </a:p>
          <a:p>
            <a:pPr marL="342900" indent="-342900">
              <a:buAutoNum type="arabicPeriod"/>
            </a:pPr>
            <a:r>
              <a:rPr lang="en-US"/>
              <a:t>Includes the systematic executions of the product's usability under a measured environment.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897"/>
            <a:ext cx="10515600" cy="702363"/>
          </a:xfrm>
        </p:spPr>
        <p:txBody>
          <a:bodyPr>
            <a:noAutofit/>
          </a:bodyPr>
          <a:lstStyle/>
          <a:p>
            <a:pPr algn="ctr" fontAlgn="base"/>
            <a:r>
              <a:rPr lang="en-US" altLang="en-GB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2.Usability </a:t>
            </a:r>
            <a:r>
              <a:rPr lang="en-GB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40" y="1079500"/>
            <a:ext cx="8821420" cy="530796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492760"/>
            <a:ext cx="10988040" cy="54559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519241"/>
            <a:ext cx="11715115" cy="18466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latin typeface="times" charset="0"/>
                <a:cs typeface="times" charset="0"/>
              </a:rPr>
              <a:t>The Advantages of Usability Testing</a:t>
            </a:r>
            <a:endParaRPr lang="en-US" dirty="0">
              <a:latin typeface="times" charset="0"/>
              <a:cs typeface="times" charset="0"/>
            </a:endParaRP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Helps us to validate the usability of the software.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Its enhanced user satisfaction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Discover the usability issues before delivering the final product.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The end-user is always eager to use the application.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It improves the adequacy and consistency of the software product.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0019" y="3429000"/>
            <a:ext cx="113950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" charset="0"/>
                <a:cs typeface="times" charset="0"/>
              </a:rPr>
              <a:t>The Disadvantage of Usability Testing</a:t>
            </a:r>
            <a:endParaRPr lang="en-US" dirty="0">
              <a:latin typeface="times" charset="0"/>
              <a:cs typeface="times" charset="0"/>
            </a:endParaRP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Costly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harder to identify the volunteers who can work as test engineers.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Primarily, usability testing is not 100% representative of the actual condition.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485140"/>
            <a:ext cx="1219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Checking the functionality of an application on different software, hardware platforms, network, and browsers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448175" y="24765"/>
            <a:ext cx="35191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sz="2400" b="1">
                <a:solidFill>
                  <a:srgbClr val="00B0F0"/>
                </a:solidFill>
                <a:latin typeface="times" charset="0"/>
                <a:cs typeface="times" charset="0"/>
                <a:sym typeface="+mn-ea"/>
              </a:rPr>
              <a:t>3. compatibility testing.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276985"/>
            <a:ext cx="10069195" cy="40786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448175" y="24765"/>
            <a:ext cx="35191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sz="2400" b="1">
                <a:solidFill>
                  <a:srgbClr val="00B0F0"/>
                </a:solidFill>
                <a:latin typeface="times" charset="0"/>
                <a:cs typeface="times" charset="0"/>
                <a:sym typeface="+mn-ea"/>
              </a:rPr>
              <a:t>3. compatibility testing.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35" y="720725"/>
            <a:ext cx="960755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Types of Compatibility testing</a:t>
            </a:r>
            <a:endParaRPr lang="en-US">
              <a:latin typeface="times" charset="0"/>
              <a:cs typeface="times" charset="0"/>
            </a:endParaRPr>
          </a:p>
          <a:p>
            <a:r>
              <a:rPr lang="en-US">
                <a:latin typeface="times" charset="0"/>
                <a:cs typeface="times" charset="0"/>
              </a:rPr>
              <a:t>Software</a:t>
            </a:r>
          </a:p>
          <a:p>
            <a:r>
              <a:rPr lang="en-US">
                <a:latin typeface="times" charset="0"/>
                <a:cs typeface="times" charset="0"/>
              </a:rPr>
              <a:t>Hardware</a:t>
            </a:r>
          </a:p>
          <a:p>
            <a:r>
              <a:rPr lang="en-US">
                <a:latin typeface="times" charset="0"/>
                <a:cs typeface="times" charset="0"/>
              </a:rPr>
              <a:t>Network</a:t>
            </a:r>
          </a:p>
          <a:p>
            <a:r>
              <a:rPr lang="en-US">
                <a:latin typeface="times" charset="0"/>
                <a:cs typeface="times" charset="0"/>
              </a:rPr>
              <a:t>Mobile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205" y="1329055"/>
            <a:ext cx="6384290" cy="51790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448175" y="24765"/>
            <a:ext cx="475424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sz="2400" b="1">
                <a:solidFill>
                  <a:srgbClr val="00B0F0"/>
                </a:solidFill>
                <a:latin typeface="times" charset="0"/>
                <a:cs typeface="times" charset="0"/>
                <a:sym typeface="+mn-ea"/>
              </a:rPr>
              <a:t>3. compatibility testing Process.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505"/>
            <a:ext cx="12192000" cy="63734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448175" y="24765"/>
            <a:ext cx="354012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sz="2400" b="1">
                <a:solidFill>
                  <a:srgbClr val="00B0F0"/>
                </a:solidFill>
                <a:latin typeface="times" charset="0"/>
                <a:cs typeface="times" charset="0"/>
                <a:sym typeface="+mn-ea"/>
              </a:rPr>
              <a:t>3. compatibility testing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1755" y="620395"/>
            <a:ext cx="1198181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" charset="0"/>
                <a:cs typeface="times" charset="0"/>
              </a:rPr>
              <a:t>Why compatibility testing is important?</a:t>
            </a:r>
          </a:p>
          <a:p>
            <a:r>
              <a:rPr lang="en-US">
                <a:latin typeface="times" charset="0"/>
                <a:cs typeface="times" charset="0"/>
              </a:rPr>
              <a:t>It ensures complete customer satisfaction.</a:t>
            </a:r>
          </a:p>
          <a:p>
            <a:r>
              <a:rPr lang="en-US">
                <a:latin typeface="times" charset="0"/>
                <a:cs typeface="times" charset="0"/>
              </a:rPr>
              <a:t>It provides service across multiple platforms.</a:t>
            </a:r>
          </a:p>
          <a:p>
            <a:r>
              <a:rPr lang="en-US">
                <a:latin typeface="times" charset="0"/>
                <a:cs typeface="times" charset="0"/>
              </a:rPr>
              <a:t>Identifying bugs during development process.</a:t>
            </a:r>
          </a:p>
          <a:p>
            <a:endParaRPr lang="en-US">
              <a:latin typeface="times" charset="0"/>
              <a:cs typeface="times" charset="0"/>
            </a:endParaRPr>
          </a:p>
          <a:p>
            <a:r>
              <a:rPr lang="en-US" b="1">
                <a:latin typeface="times" charset="0"/>
                <a:cs typeface="times" charset="0"/>
              </a:rPr>
              <a:t>Limitations</a:t>
            </a:r>
          </a:p>
          <a:p>
            <a:r>
              <a:rPr lang="en-US">
                <a:latin typeface="times" charset="0"/>
                <a:cs typeface="times" charset="0"/>
              </a:rPr>
              <a:t>Variety of user interface.</a:t>
            </a:r>
          </a:p>
          <a:p>
            <a:r>
              <a:rPr lang="en-US">
                <a:latin typeface="times" charset="0"/>
                <a:cs typeface="times" charset="0"/>
              </a:rPr>
              <a:t>Changes with respect to font size.</a:t>
            </a:r>
          </a:p>
          <a:p>
            <a:r>
              <a:rPr lang="en-US">
                <a:latin typeface="times" charset="0"/>
                <a:cs typeface="times" charset="0"/>
              </a:rPr>
              <a:t>Alignment issues.</a:t>
            </a:r>
          </a:p>
          <a:p>
            <a:r>
              <a:rPr lang="en-US">
                <a:latin typeface="times" charset="0"/>
                <a:cs typeface="times" charset="0"/>
              </a:rPr>
              <a:t>Issues related to existence of broken frames.</a:t>
            </a:r>
          </a:p>
          <a:p>
            <a:r>
              <a:rPr lang="en-US">
                <a:latin typeface="times" charset="0"/>
                <a:cs typeface="times" charset="0"/>
              </a:rPr>
              <a:t>Issues related to overlapping of content.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91BF-FEFA-B166-0DF1-674B3DF9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F762-7108-24F2-2C94-AEBA2D88D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613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GB" sz="4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Quality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61900-EB8C-B9C9-3D8E-73C074A0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1966595"/>
            <a:ext cx="8211820" cy="4497705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0D0AB363-EEBA-36F5-CEE3-5B6143622421}"/>
              </a:ext>
            </a:extLst>
          </p:cNvPr>
          <p:cNvSpPr txBox="1"/>
          <p:nvPr/>
        </p:nvSpPr>
        <p:spPr>
          <a:xfrm>
            <a:off x="635" y="1044575"/>
            <a:ext cx="1219136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degree to which a software product meets specified requirements and user expectations.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shows how good and reliable a product is</a:t>
            </a:r>
          </a:p>
        </p:txBody>
      </p:sp>
    </p:spTree>
    <p:extLst>
      <p:ext uri="{BB962C8B-B14F-4D97-AF65-F5344CB8AC3E}">
        <p14:creationId xmlns:p14="http://schemas.microsoft.com/office/powerpoint/2010/main" val="2790376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1E67D-0348-004E-0A23-AC88AADB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630D-A11A-4EDF-FBB1-6D9E841E4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613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GB" sz="4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Quality Assurance (SQA)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7C6634F-0255-57F8-1B5F-1B43DA5C345A}"/>
              </a:ext>
            </a:extLst>
          </p:cNvPr>
          <p:cNvSpPr txBox="1"/>
          <p:nvPr/>
        </p:nvSpPr>
        <p:spPr>
          <a:xfrm>
            <a:off x="-635" y="961390"/>
            <a:ext cx="1219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defines to any measurable characteristics such as correctness, maintainability, portability, testability, usability, reliability, efficiency, integrity, reusability, and interoperability.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A46EB-D0CF-C471-7F26-B159D012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610" y="2969895"/>
            <a:ext cx="6978650" cy="2957195"/>
          </a:xfrm>
          <a:prstGeom prst="rect">
            <a:avLst/>
          </a:prstGeom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63769E8A-399D-D6FE-3BFE-BB668584F9EE}"/>
              </a:ext>
            </a:extLst>
          </p:cNvPr>
          <p:cNvSpPr txBox="1"/>
          <p:nvPr/>
        </p:nvSpPr>
        <p:spPr>
          <a:xfrm>
            <a:off x="-635" y="1682115"/>
            <a:ext cx="1219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Design: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characteristics that designers specify for an item.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conformance: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degree to which the design specifications are followed during manufacturing.  </a:t>
            </a:r>
          </a:p>
        </p:txBody>
      </p:sp>
    </p:spTree>
    <p:extLst>
      <p:ext uri="{BB962C8B-B14F-4D97-AF65-F5344CB8AC3E}">
        <p14:creationId xmlns:p14="http://schemas.microsoft.com/office/powerpoint/2010/main" val="1082722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7BB8-03A6-4C5E-22B5-6F2AF6CE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B237-28C9-7A86-2BB0-177E72A65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613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GB" sz="4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Quality Assurance (SQA)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81E09AF-F32C-BD67-7C4D-C066FC24FD66}"/>
              </a:ext>
            </a:extLst>
          </p:cNvPr>
          <p:cNvSpPr txBox="1"/>
          <p:nvPr/>
        </p:nvSpPr>
        <p:spPr>
          <a:xfrm>
            <a:off x="89535" y="961390"/>
            <a:ext cx="121018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"/>
            </a:pPr>
            <a:r>
              <a:rPr lang="en-US" b="1">
                <a:latin typeface="times)" charset="0"/>
                <a:cs typeface="times)" charset="0"/>
              </a:rPr>
              <a:t>Software quality assurance</a:t>
            </a:r>
            <a:r>
              <a:rPr lang="en-US">
                <a:latin typeface="times)" charset="0"/>
                <a:cs typeface="times)" charset="0"/>
              </a:rPr>
              <a:t> is a systematic plan of all actions necessary to provide adequate confidence that an item or product conforms to establish technical requirements.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b="1">
                <a:latin typeface="times)" charset="0"/>
                <a:cs typeface="times)" charset="0"/>
              </a:rPr>
              <a:t>Software Quality Assurance (SQA) </a:t>
            </a:r>
            <a:r>
              <a:rPr lang="en-US">
                <a:latin typeface="times)" charset="0"/>
                <a:cs typeface="times)" charset="0"/>
              </a:rPr>
              <a:t>is simply a way to assure quality in the software.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)" charset="0"/>
                <a:cs typeface="times)" charset="0"/>
              </a:rPr>
              <a:t>It is the set of activities which ensure processes, procedures as well as standards are suitable for the project and implemented correctly. 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00F4A15-62B8-346D-6FB8-BBED15C05320}"/>
              </a:ext>
            </a:extLst>
          </p:cNvPr>
          <p:cNvSpPr txBox="1"/>
          <p:nvPr/>
        </p:nvSpPr>
        <p:spPr>
          <a:xfrm>
            <a:off x="236855" y="2668270"/>
            <a:ext cx="8307070" cy="38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times" charset="0"/>
                <a:cs typeface="times" charset="0"/>
              </a:rPr>
              <a:t>Software Quality Assurance (SQA) focuses on</a:t>
            </a:r>
          </a:p>
          <a:p>
            <a:r>
              <a:rPr lang="en-US">
                <a:latin typeface="times" charset="0"/>
                <a:cs typeface="times" charset="0"/>
              </a:rPr>
              <a:t>software’s portability</a:t>
            </a:r>
          </a:p>
          <a:p>
            <a:r>
              <a:rPr lang="en-US">
                <a:latin typeface="times" charset="0"/>
                <a:cs typeface="times" charset="0"/>
              </a:rPr>
              <a:t>software’s usability</a:t>
            </a:r>
          </a:p>
          <a:p>
            <a:r>
              <a:rPr lang="en-US">
                <a:latin typeface="times" charset="0"/>
                <a:cs typeface="times" charset="0"/>
              </a:rPr>
              <a:t>software’s reusability</a:t>
            </a:r>
          </a:p>
          <a:p>
            <a:r>
              <a:rPr lang="en-US">
                <a:latin typeface="times" charset="0"/>
                <a:cs typeface="times" charset="0"/>
              </a:rPr>
              <a:t>software’s correctness</a:t>
            </a:r>
          </a:p>
          <a:p>
            <a:r>
              <a:rPr lang="en-US">
                <a:latin typeface="times" charset="0"/>
                <a:cs typeface="times" charset="0"/>
              </a:rPr>
              <a:t>software’s maintainability</a:t>
            </a:r>
          </a:p>
          <a:p>
            <a:r>
              <a:rPr lang="en-US">
                <a:latin typeface="times" charset="0"/>
                <a:cs typeface="times" charset="0"/>
              </a:rPr>
              <a:t>software’s error control</a:t>
            </a:r>
          </a:p>
          <a:p>
            <a:r>
              <a:rPr lang="en-US" sz="2400" b="1">
                <a:latin typeface="times" charset="0"/>
                <a:cs typeface="times" charset="0"/>
              </a:rPr>
              <a:t>Software Quality Assurance (SQA) has</a:t>
            </a:r>
          </a:p>
          <a:p>
            <a:r>
              <a:rPr lang="en-US">
                <a:latin typeface="times" charset="0"/>
                <a:cs typeface="times" charset="0"/>
              </a:rPr>
              <a:t>A quality management approach.</a:t>
            </a:r>
          </a:p>
          <a:p>
            <a:r>
              <a:rPr lang="en-US">
                <a:latin typeface="times" charset="0"/>
                <a:cs typeface="times" charset="0"/>
              </a:rPr>
              <a:t>Formal technical reviews.</a:t>
            </a:r>
          </a:p>
          <a:p>
            <a:r>
              <a:rPr lang="en-US">
                <a:latin typeface="times" charset="0"/>
                <a:cs typeface="times" charset="0"/>
              </a:rPr>
              <a:t>Multi testing strategy. </a:t>
            </a:r>
          </a:p>
          <a:p>
            <a:r>
              <a:rPr lang="en-US">
                <a:latin typeface="times" charset="0"/>
                <a:cs typeface="times" charset="0"/>
              </a:rPr>
              <a:t>Effective software engineering technology. </a:t>
            </a:r>
          </a:p>
          <a:p>
            <a:r>
              <a:rPr lang="en-US">
                <a:latin typeface="times" charset="0"/>
                <a:cs typeface="times" charset="0"/>
              </a:rPr>
              <a:t>Measurement and reporting mechanism.  </a:t>
            </a:r>
          </a:p>
        </p:txBody>
      </p:sp>
    </p:spTree>
    <p:extLst>
      <p:ext uri="{BB962C8B-B14F-4D97-AF65-F5344CB8AC3E}">
        <p14:creationId xmlns:p14="http://schemas.microsoft.com/office/powerpoint/2010/main" val="135958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DB9D-D843-4D16-CD61-5F4FE2B5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DD81-DEF6-D100-6A85-BE4B04266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613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4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" charset="0"/>
                <a:cs typeface="times" charset="0"/>
                <a:sym typeface="+mn-ea"/>
              </a:rPr>
              <a:t>Major (SQA) Activities/Process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12CADDC-B74E-CDAB-D570-09A3DAE09D5B}"/>
              </a:ext>
            </a:extLst>
          </p:cNvPr>
          <p:cNvSpPr txBox="1"/>
          <p:nvPr/>
        </p:nvSpPr>
        <p:spPr>
          <a:xfrm>
            <a:off x="203835" y="961390"/>
            <a:ext cx="53721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SQA Management Plan: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Check Points: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Change Impact: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testing Strategy: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Good Relations: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records and reports 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software engineering activities :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Formalize deviation handling : </a:t>
            </a:r>
          </a:p>
        </p:txBody>
      </p:sp>
    </p:spTree>
    <p:extLst>
      <p:ext uri="{BB962C8B-B14F-4D97-AF65-F5344CB8AC3E}">
        <p14:creationId xmlns:p14="http://schemas.microsoft.com/office/powerpoint/2010/main" val="20254009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7005-408A-95B1-9A8C-28CA9A9B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75F6483F-ECD0-C307-AD80-53517FFE5B8E}"/>
              </a:ext>
            </a:extLst>
          </p:cNvPr>
          <p:cNvSpPr txBox="1"/>
          <p:nvPr/>
        </p:nvSpPr>
        <p:spPr>
          <a:xfrm>
            <a:off x="146050" y="168910"/>
            <a:ext cx="11466195" cy="36625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Benefits of Software Quality Assurance (SQA)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SQA produces high quality software.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High quality application saves time and cost.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SQA is beneficial for better reliability.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Improving the process of creating software. </a:t>
            </a: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 dirty="0">
                <a:latin typeface="times" charset="0"/>
                <a:cs typeface="times" charset="0"/>
              </a:rPr>
              <a:t>Improves the quality of the software. </a:t>
            </a:r>
          </a:p>
          <a:p>
            <a:endParaRPr lang="en-US" dirty="0">
              <a:latin typeface="times" charset="0"/>
              <a:cs typeface="times" charset="0"/>
            </a:endParaRPr>
          </a:p>
          <a:p>
            <a:pPr algn="ctr"/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Disadvantage of Software Quality Assurance (SQA)</a:t>
            </a:r>
          </a:p>
          <a:p>
            <a:endParaRPr lang="en-US" dirty="0">
              <a:latin typeface="times" charset="0"/>
              <a:cs typeface="times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" charset="0"/>
                <a:cs typeface="times" charset="0"/>
              </a:rPr>
              <a:t>Cost: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" charset="0"/>
                <a:cs typeface="times" charset="0"/>
              </a:rPr>
              <a:t>Time Consuming: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" charset="0"/>
                <a:cs typeface="times" charset="0"/>
              </a:rPr>
              <a:t>Overhead: </a:t>
            </a:r>
          </a:p>
        </p:txBody>
      </p:sp>
    </p:spTree>
    <p:extLst>
      <p:ext uri="{BB962C8B-B14F-4D97-AF65-F5344CB8AC3E}">
        <p14:creationId xmlns:p14="http://schemas.microsoft.com/office/powerpoint/2010/main" val="6465891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190B-2386-47D5-6BD7-B3670ECF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FF817-4512-FBD6-2595-AA4572B39F17}"/>
              </a:ext>
            </a:extLst>
          </p:cNvPr>
          <p:cNvSpPr txBox="1"/>
          <p:nvPr/>
        </p:nvSpPr>
        <p:spPr>
          <a:xfrm>
            <a:off x="0" y="1405851"/>
            <a:ext cx="120990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Improves Software Quality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Saves Time &amp; Cost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Enhances Customer Satisfaction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Increases Security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Boosts Efficiency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Ensures Compliance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Reduces Risks</a:t>
            </a:r>
          </a:p>
          <a:p>
            <a:pPr algn="l"/>
            <a:r>
              <a:rPr lang="en-GB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Ensures Long-Term Success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C68847-5BFB-C6F8-C7FC-47894E963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70232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4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" charset="0"/>
                <a:cs typeface="times" charset="0"/>
                <a:sym typeface="+mn-ea"/>
              </a:rPr>
              <a:t>Importance of SQA Process</a:t>
            </a:r>
          </a:p>
        </p:txBody>
      </p:sp>
    </p:spTree>
    <p:extLst>
      <p:ext uri="{BB962C8B-B14F-4D97-AF65-F5344CB8AC3E}">
        <p14:creationId xmlns:p14="http://schemas.microsoft.com/office/powerpoint/2010/main" val="8461640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931132"/>
            <a:ext cx="1207960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25000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International Organization for Standardization (ISO) and the International Electrotechnical Commission (IEC) developed the ISO/IEC 25000 series, also known as the Software Product Quality Requirements and Evaluation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standards. 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9126: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standard, which has been superseded by ISO/IEC 25010, focused on software quality characteristics and metrics. 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12207: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ISO/IEC 12207 standard outlines the Software Life Cycle Processes, providing guidelines for the development, maintenance, and management of software products.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CMMI (Capability Maturity Model Integration):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by the Software Engineering Institute (SEI) at Carnegie Mellon University, CMMI is a process improvement framework that helps organizations optimize their software development processes. 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730: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standard, titled "IEEE Standard for Software Quality Assurance Plans," provides guidelines for developing and documenting software quality assurance plans.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1061: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"IEEE Standard for Software Quality Metrics Methodology" establishes a framework for defining and applying software quality metrics. </a:t>
            </a:r>
          </a:p>
          <a:p>
            <a:pPr marL="285750" indent="-285750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9000 series: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not specifically focused on software, the ISO 9000 series provides general quality management principles and guidelines that can be applied to software development processes.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CBFAA9-AA13-E93D-46B3-F4E3B0D63205}"/>
              </a:ext>
            </a:extLst>
          </p:cNvPr>
          <p:cNvSpPr txBox="1"/>
          <p:nvPr/>
        </p:nvSpPr>
        <p:spPr>
          <a:xfrm>
            <a:off x="1460810" y="0"/>
            <a:ext cx="8560011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Overview of software quality standards (ISO, CMM)</a:t>
            </a:r>
            <a:endParaRPr lang="en-GB" sz="24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533975" y="635"/>
            <a:ext cx="4331570" cy="52322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dist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quality standards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594360"/>
            <a:ext cx="73894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Standards in Software Engineering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-635" y="1078885"/>
            <a:ext cx="12192635" cy="5446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ISO standards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9000: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2000: contains Quality management systems, fundamentals, and vocabulary.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9000-1: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Quality management systems and Quality assurance standards.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9000-2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:includes Quality management systems and Quality assurance standards.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9000-3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:contains Quality management systems, Quality assurance standards and also includes guidelines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Quality systems and a Quality assurance model.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Quality management systems.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some Quality systems.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some Quality systems.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9004: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some Quality management systems.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9039: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some Optics and Optical Instruments.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9126-1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:Includes some software products, quality models.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9040:I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ncludes open system interconnection and Virtual terminal basic class service.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9041-1: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open system interconnection, Virtual terminal basic class service protocol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9041-2: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information technology, open system interconnection, Virtual terminal basic class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9075-9: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Has information technology, Database languages, and SQL/MED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9075-10: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information technology, Database languages, and SQL/OLB (Object Language Bindings).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9075-13: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information technology, Database languages, SQL routines, and Java Programming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64795" y="635"/>
            <a:ext cx="1120902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dist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SEI [Software Engineering Institute] Software quality standards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-635" y="838291"/>
            <a:ext cx="12192635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1.Capability Maturity Model Integration (CMMI):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CMMI is one of the most well-known and widely adopted SEI standards.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framework for organizations to assess and improve their software development processes.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Capability Maturity Model (CMM):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predecessors to CMMI used  for assessing and improving software development processes </a:t>
            </a:r>
          </a:p>
          <a:p>
            <a:pPr indent="0">
              <a:buFont typeface="Wingdings" panose="05000000000000000000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3.Team Software Process (TSP):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building high-performance teams and managing the development of software-intensive systems.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TSP emphasizes disciplined team-based practices and focuses on improving both individual and team performance throughout the software development lifecycle.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Personal Software Process (PSP):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(PSP) is a set of software engineering practices designed to help individual developers improve their personal productivity and software quality.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PSP provides developers with a structured approach to planning, tracking, and managing their work, with an emphasis on defect prevention and measurement.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Software Product Line Engineering (SPLE):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(SPLE) is an approach to software development that emphasizes systematic reuse of software assets across multiple products within a product line.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510405" y="0"/>
            <a:ext cx="3806825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</a:t>
            </a:r>
            <a:r>
              <a:rPr lang="en-IN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Risk Management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0" y="618490"/>
            <a:ext cx="120002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specifically on identifying, assessing, and mitigating risks associated with developing, deploying, and maintaining software systems.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0" y="1263650"/>
            <a:ext cx="109816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classes/ Categories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risks that may affect a computer code project: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Risks: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Risks: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Risks: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56845" y="2925445"/>
            <a:ext cx="932624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risk management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protect against potential losses.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by considering risks.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unexpected expenses.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resilience against unexpected challenges.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Risk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focus on risk can lead to missed opportunities.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risk management can be expensive.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models can be overly complex and hard to understand.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risks can take a lot of time and resources.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510405" y="0"/>
            <a:ext cx="3806825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</a:t>
            </a:r>
            <a:r>
              <a:rPr 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Risk Management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10" y="671830"/>
            <a:ext cx="7350760" cy="584263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784A-2962-E468-6BA8-8B3C9577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ED9C33E0-DF4C-F3F8-D23F-CDB9FCF8B317}"/>
              </a:ext>
            </a:extLst>
          </p:cNvPr>
          <p:cNvSpPr txBox="1"/>
          <p:nvPr/>
        </p:nvSpPr>
        <p:spPr>
          <a:xfrm>
            <a:off x="4510405" y="0"/>
            <a:ext cx="2526654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RMMM plan</a:t>
            </a:r>
            <a:endParaRPr lang="en-IN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29EA5-C09B-AF37-627D-276898191840}"/>
              </a:ext>
            </a:extLst>
          </p:cNvPr>
          <p:cNvSpPr txBox="1"/>
          <p:nvPr/>
        </p:nvSpPr>
        <p:spPr>
          <a:xfrm>
            <a:off x="-3716" y="379089"/>
            <a:ext cx="12195716" cy="6345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 : 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activity used to avoid problems (Risk Avoidance). 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for mitigating the risks as follows.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out the risk.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causes that are the reason for risk creation.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the corresponding documents from time to time.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Conducting timely reviews to speed up the work.</a:t>
            </a:r>
          </a:p>
          <a:p>
            <a:pPr algn="l" fontAlgn="base">
              <a:spcAft>
                <a:spcPts val="750"/>
              </a:spcAft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Monitoring : 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activity used for project tracking. 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the following primary objectives as follows. 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if predicted risks occur or not.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proper application of risk aversion steps defined for risk.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data for future risk analysis.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allocate what problems are caused by which risks throughout the project.</a:t>
            </a:r>
          </a:p>
        </p:txBody>
      </p:sp>
    </p:spTree>
    <p:extLst>
      <p:ext uri="{BB962C8B-B14F-4D97-AF65-F5344CB8AC3E}">
        <p14:creationId xmlns:p14="http://schemas.microsoft.com/office/powerpoint/2010/main" val="2147330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CF34-834D-CB3E-8ABA-5C97FB48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5C602E54-F191-9ECF-E6CC-45140E6978C8}"/>
              </a:ext>
            </a:extLst>
          </p:cNvPr>
          <p:cNvSpPr txBox="1"/>
          <p:nvPr/>
        </p:nvSpPr>
        <p:spPr>
          <a:xfrm>
            <a:off x="4510405" y="0"/>
            <a:ext cx="2526654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RMMM plan</a:t>
            </a:r>
            <a:endParaRPr lang="en-IN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8DE89-8156-CD2E-4E8E-332707A1FEE8}"/>
              </a:ext>
            </a:extLst>
          </p:cNvPr>
          <p:cNvSpPr txBox="1"/>
          <p:nvPr/>
        </p:nvSpPr>
        <p:spPr>
          <a:xfrm>
            <a:off x="0" y="461665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 and planning : 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assumes that the mitigation activity failed and the risk is a reality.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is done by Project manager when risk becomes reality and causes severe problems.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project manager effectively uses project mitigation to remove risks successfully then it is easier to manage the risks.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the response that will be taken for each risk by a manager.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the risk management plan is the risk register.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risk register describes and focuses on the predicted threats to a software project.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EA0A6-AF89-6C85-46FC-E3BB7B0142CF}"/>
              </a:ext>
            </a:extLst>
          </p:cNvPr>
          <p:cNvSpPr txBox="1"/>
          <p:nvPr/>
        </p:nvSpPr>
        <p:spPr>
          <a:xfrm>
            <a:off x="0" y="3330410"/>
            <a:ext cx="1219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RMMM</a:t>
            </a:r>
            <a:endParaRPr lang="en-GB" sz="2000" b="1" i="0" u="none" strike="noStrike" dirty="0">
              <a:solidFill>
                <a:srgbClr val="3434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raises the cost of the project. 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will be needed more. 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larger project's implementation of an RMMM could prove to be a time-consuming process in and of itself.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RMMM cannot guarantee a project will be risk-free; in fact, hazards could materialise after the project has been delivered.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All Organisations Should Use RMMM.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is an issue for RMMM.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Loss from Automation</a:t>
            </a:r>
            <a:endParaRPr lang="en-GB" b="0" i="0" u="none" strike="noStrike" dirty="0">
              <a:solidFill>
                <a:srgbClr val="7F7F7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0407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63771-8EFB-2341-3CFB-93D76468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8C2BE1-BBFD-71AE-F601-EE1C3A7EDB18}"/>
              </a:ext>
            </a:extLst>
          </p:cNvPr>
          <p:cNvSpPr txBox="1"/>
          <p:nvPr/>
        </p:nvSpPr>
        <p:spPr>
          <a:xfrm>
            <a:off x="1216701" y="272111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921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7505-778A-3E27-9A6A-14DCF59B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97BFFC-8CE2-0FEF-16E1-EF85C770ADCC}"/>
              </a:ext>
            </a:extLst>
          </p:cNvPr>
          <p:cNvSpPr txBox="1"/>
          <p:nvPr/>
        </p:nvSpPr>
        <p:spPr>
          <a:xfrm>
            <a:off x="1216701" y="272111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0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3579</Words>
  <Application>Microsoft Macintosh PowerPoint</Application>
  <PresentationFormat>Widescreen</PresentationFormat>
  <Paragraphs>469</Paragraphs>
  <Slides>61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5" baseType="lpstr">
      <vt:lpstr>Aptos</vt:lpstr>
      <vt:lpstr>Arial</vt:lpstr>
      <vt:lpstr>Calibri</vt:lpstr>
      <vt:lpstr>Calibri Light</vt:lpstr>
      <vt:lpstr>imesy)</vt:lpstr>
      <vt:lpstr>inter-bold</vt:lpstr>
      <vt:lpstr>inter-regular</vt:lpstr>
      <vt:lpstr>tim</vt:lpstr>
      <vt:lpstr>times</vt:lpstr>
      <vt:lpstr>Times New Roman</vt:lpstr>
      <vt:lpstr>Times New Roman Bold</vt:lpstr>
      <vt:lpstr>times)</vt:lpstr>
      <vt:lpstr>Wingdings</vt:lpstr>
      <vt:lpstr>Office Theme</vt:lpstr>
      <vt:lpstr>Unit 5: Software Testing and Quality Assurance                </vt:lpstr>
      <vt:lpstr>OUTLINES</vt:lpstr>
      <vt:lpstr>INTRODUCTION</vt:lpstr>
      <vt:lpstr>VERIFICATION and VALIDATION</vt:lpstr>
      <vt:lpstr>TESTING PHASES</vt:lpstr>
      <vt:lpstr>PowerPoint Presentation</vt:lpstr>
      <vt:lpstr>PowerPoint Presentation</vt:lpstr>
      <vt:lpstr>PowerPoint Presentation</vt:lpstr>
      <vt:lpstr>PowerPoint Presentation</vt:lpstr>
      <vt:lpstr>STEPS IN WHITE BOX TESTING</vt:lpstr>
      <vt:lpstr>PowerPoint Presentation</vt:lpstr>
      <vt:lpstr>PowerPoint Presentation</vt:lpstr>
      <vt:lpstr>BLACK BOX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USED FOR SYSTEM TESTING</vt:lpstr>
      <vt:lpstr>PROS and CONS of SYSTEM TESTING</vt:lpstr>
      <vt:lpstr>NON-FUNCTIONAL TESTING</vt:lpstr>
      <vt:lpstr>Non-functional Testing Parameters</vt:lpstr>
      <vt:lpstr>Non-functional Testing Types</vt:lpstr>
      <vt:lpstr>PowerPoint Presentation</vt:lpstr>
      <vt:lpstr>PowerPoint Presentation</vt:lpstr>
      <vt:lpstr>Performance Testing Types</vt:lpstr>
      <vt:lpstr>Load Testing Process</vt:lpstr>
      <vt:lpstr>Stress Testing Process</vt:lpstr>
      <vt:lpstr>Stress Testing Process</vt:lpstr>
      <vt:lpstr>Scalability Testing </vt:lpstr>
      <vt:lpstr>Scalability Testing Process</vt:lpstr>
      <vt:lpstr>Scalability Testing </vt:lpstr>
      <vt:lpstr>Stability Testing </vt:lpstr>
      <vt:lpstr>Stability Testing Process</vt:lpstr>
      <vt:lpstr>Stability Testing </vt:lpstr>
      <vt:lpstr>2.Usability  Testing </vt:lpstr>
      <vt:lpstr>2.Usability  Testing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Quality Concepts</vt:lpstr>
      <vt:lpstr>Software Quality Assurance (SQA)</vt:lpstr>
      <vt:lpstr>Software Quality Assurance (SQA)</vt:lpstr>
      <vt:lpstr>Major (SQA) Activities/Process</vt:lpstr>
      <vt:lpstr>PowerPoint Presentation</vt:lpstr>
      <vt:lpstr>Importance of SQA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Harendra Bikram Shah</cp:lastModifiedBy>
  <cp:revision>343</cp:revision>
  <dcterms:created xsi:type="dcterms:W3CDTF">2024-09-23T14:11:53Z</dcterms:created>
  <dcterms:modified xsi:type="dcterms:W3CDTF">2025-06-20T10:01:51Z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