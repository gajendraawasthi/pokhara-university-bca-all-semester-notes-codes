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15" r:id="rId4"/>
    <p:sldId id="318" r:id="rId5"/>
    <p:sldId id="319" r:id="rId6"/>
    <p:sldId id="320" r:id="rId7"/>
    <p:sldId id="350" r:id="rId8"/>
    <p:sldId id="352" r:id="rId9"/>
    <p:sldId id="353" r:id="rId10"/>
    <p:sldId id="356" r:id="rId11"/>
    <p:sldId id="357" r:id="rId12"/>
    <p:sldId id="358" r:id="rId13"/>
    <p:sldId id="359" r:id="rId14"/>
    <p:sldId id="415" r:id="rId15"/>
    <p:sldId id="416" r:id="rId16"/>
    <p:sldId id="417" r:id="rId17"/>
    <p:sldId id="418" r:id="rId18"/>
    <p:sldId id="419" r:id="rId19"/>
    <p:sldId id="420" r:id="rId20"/>
    <p:sldId id="421" r:id="rId21"/>
    <p:sldId id="422" r:id="rId22"/>
    <p:sldId id="423" r:id="rId23"/>
    <p:sldId id="424" r:id="rId24"/>
    <p:sldId id="314" r:id="rId25"/>
    <p:sldId id="426" r:id="rId26"/>
    <p:sldId id="317" r:id="rId27"/>
    <p:sldId id="316" r:id="rId28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64" autoAdjust="0"/>
    <p:restoredTop sz="93969" autoAdjust="0"/>
  </p:normalViewPr>
  <p:slideViewPr>
    <p:cSldViewPr snapToGrid="0">
      <p:cViewPr varScale="1">
        <p:scale>
          <a:sx n="121" d="100"/>
          <a:sy n="121" d="100"/>
        </p:scale>
        <p:origin x="17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10/07/25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10/07/25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10/07/25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10/07/25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10/07/25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10/07/25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10/07/25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10/07/25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10/07/25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10/07/25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10/07/25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DFAFD-11C0-45D7-9479-D1E78EB3123D}" type="datetimeFigureOut">
              <a:rPr lang="en-IN" smtClean="0"/>
              <a:t>10/07/25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6542" y="3315970"/>
            <a:ext cx="9224010" cy="2606675"/>
          </a:xfrm>
        </p:spPr>
        <p:txBody>
          <a:bodyPr>
            <a:noAutofit/>
          </a:bodyPr>
          <a:lstStyle/>
          <a:p>
            <a:pPr algn="l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en-US" alt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sented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 </a:t>
            </a:r>
            <a:b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(Lecturer)</a:t>
            </a:r>
          </a:p>
          <a:p>
            <a:pPr algn="l"/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BCA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</a:t>
            </a:r>
            <a:r>
              <a:rPr lang="en-US" altLang="en-GB" b="1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				      NAST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415145" y="2159000"/>
            <a:ext cx="2198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Hours: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Hrs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7DF15F-6B5A-6834-0D9F-F10BAC2C2BF6}"/>
              </a:ext>
            </a:extLst>
          </p:cNvPr>
          <p:cNvSpPr txBox="1"/>
          <p:nvPr/>
        </p:nvSpPr>
        <p:spPr>
          <a:xfrm>
            <a:off x="0" y="653354"/>
            <a:ext cx="12192000" cy="1363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7 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           SOFTWARE MAINTENANCE AND EVOLUTION                 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3785" y="271145"/>
            <a:ext cx="583628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922F7-7F04-019F-4DCE-1FF58196471F}"/>
              </a:ext>
            </a:extLst>
          </p:cNvPr>
          <p:cNvSpPr txBox="1"/>
          <p:nvPr/>
        </p:nvSpPr>
        <p:spPr>
          <a:xfrm>
            <a:off x="0" y="1132346"/>
            <a:ext cx="12192000" cy="2296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Maintenance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Evolving Nature of Software, 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software maintenance: corrective, adaptive, perfective, preventive.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Re-engineering and Configuration Management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 of software re-engineering and version control.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configuration management in large-scale software systems.</a:t>
            </a:r>
            <a:endParaRPr lang="en-GB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  <a:buNone/>
            </a:pPr>
            <a:endParaRPr lang="en-GB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0264F-91EB-1FA0-D072-1E6C15506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4EE69-0C75-5E6F-1004-145C7B3D4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785" y="271145"/>
            <a:ext cx="5836285" cy="634365"/>
          </a:xfrm>
        </p:spPr>
        <p:txBody>
          <a:bodyPr>
            <a:norm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MAINTENANCE</a:t>
            </a:r>
            <a:endParaRPr lang="en-GB" sz="28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82E6A-A95D-8FD1-561C-3F095D5B097A}"/>
              </a:ext>
            </a:extLst>
          </p:cNvPr>
          <p:cNvSpPr txBox="1"/>
          <p:nvPr/>
        </p:nvSpPr>
        <p:spPr>
          <a:xfrm>
            <a:off x="0" y="1000797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process of modifying and updating a software system after it has been delivered to the customer.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involves fixing bugs, adding new features, and adapting to new hardware or software environments.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27D0B9-5CA4-2F80-8DE4-B25A6955EA75}"/>
              </a:ext>
            </a:extLst>
          </p:cNvPr>
          <p:cNvSpPr txBox="1"/>
          <p:nvPr/>
        </p:nvSpPr>
        <p:spPr>
          <a:xfrm>
            <a:off x="40268" y="1765056"/>
            <a:ext cx="12151732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Aspects of Software Maintenance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Bug Fixing: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Enhancements: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Optimization: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Porting and Migration: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Re-Engineering: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6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Documentation: </a:t>
            </a:r>
          </a:p>
        </p:txBody>
      </p:sp>
    </p:spTree>
    <p:extLst>
      <p:ext uri="{BB962C8B-B14F-4D97-AF65-F5344CB8AC3E}">
        <p14:creationId xmlns:p14="http://schemas.microsoft.com/office/powerpoint/2010/main" val="2008497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39C87-22AE-552E-CB04-99F108912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EFC80-5D46-2189-245A-2301493A0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785" y="271145"/>
            <a:ext cx="5836285" cy="634365"/>
          </a:xfrm>
        </p:spPr>
        <p:txBody>
          <a:bodyPr>
            <a:norm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MAINTENANCE</a:t>
            </a:r>
            <a:endParaRPr lang="en-GB" sz="28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A0A89E-6989-7A7D-8FA8-16D784E4C587}"/>
              </a:ext>
            </a:extLst>
          </p:cNvPr>
          <p:cNvSpPr txBox="1"/>
          <p:nvPr/>
        </p:nvSpPr>
        <p:spPr>
          <a:xfrm>
            <a:off x="0" y="1051034"/>
            <a:ext cx="1219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Types /Categories of Software Maintenance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Corrective Maintenance: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Patching: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Maintenance: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Perfective Maintenance: 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Preventive Maintenance: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D48B08-18FF-091C-7B97-C3C80D6CDCDB}"/>
              </a:ext>
            </a:extLst>
          </p:cNvPr>
          <p:cNvSpPr txBox="1"/>
          <p:nvPr/>
        </p:nvSpPr>
        <p:spPr>
          <a:xfrm>
            <a:off x="5720255" y="944285"/>
            <a:ext cx="6122276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Maintenance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faults.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design.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enhancements.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Migrate legacy software.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code fast</a:t>
            </a:r>
          </a:p>
        </p:txBody>
      </p:sp>
    </p:spTree>
    <p:extLst>
      <p:ext uri="{BB962C8B-B14F-4D97-AF65-F5344CB8AC3E}">
        <p14:creationId xmlns:p14="http://schemas.microsoft.com/office/powerpoint/2010/main" val="925258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E4F04-CB4A-AD57-89CA-C4930189D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482DF-6209-DCBB-C3BA-13967FBE0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254" y="0"/>
            <a:ext cx="5836285" cy="634365"/>
          </a:xfrm>
        </p:spPr>
        <p:txBody>
          <a:bodyPr>
            <a:norm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MAINTENANCE</a:t>
            </a:r>
            <a:endParaRPr lang="en-GB" sz="28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3DAA1F-B755-A491-5F24-DC579C3C33BB}"/>
              </a:ext>
            </a:extLst>
          </p:cNvPr>
          <p:cNvSpPr txBox="1"/>
          <p:nvPr/>
        </p:nvSpPr>
        <p:spPr>
          <a:xfrm>
            <a:off x="0" y="777765"/>
            <a:ext cx="12192000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Software Maintenance</a:t>
            </a:r>
          </a:p>
          <a:p>
            <a:pPr algn="l" fontAlgn="base">
              <a:buNone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documentation: 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Legacy code: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Changing requirements: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Interoperability issues: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High-Cost: </a:t>
            </a:r>
          </a:p>
        </p:txBody>
      </p:sp>
    </p:spTree>
    <p:extLst>
      <p:ext uri="{BB962C8B-B14F-4D97-AF65-F5344CB8AC3E}">
        <p14:creationId xmlns:p14="http://schemas.microsoft.com/office/powerpoint/2010/main" val="3332158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FEA98-F531-7943-A398-A89173791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9943-06F4-B482-3A77-CE790C943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254" y="0"/>
            <a:ext cx="5836285" cy="634365"/>
          </a:xfrm>
        </p:spPr>
        <p:txBody>
          <a:bodyPr>
            <a:normAutofit/>
          </a:bodyPr>
          <a:lstStyle/>
          <a:p>
            <a:pPr marL="457200" lvl="1" algn="ctr">
              <a:lnSpc>
                <a:spcPct val="115000"/>
              </a:lnSpc>
            </a:pPr>
            <a:r>
              <a:rPr lang="en-US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MAINTENANCE</a:t>
            </a:r>
            <a:endParaRPr lang="en-GB" sz="28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52888-FF2D-CF07-87BA-888E29BE212C}"/>
              </a:ext>
            </a:extLst>
          </p:cNvPr>
          <p:cNvSpPr txBox="1"/>
          <p:nvPr/>
        </p:nvSpPr>
        <p:spPr>
          <a:xfrm>
            <a:off x="136635" y="634365"/>
            <a:ext cx="4183118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Software Maintenance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Software Quality: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Security: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User Satisfaction: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Software Life: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Savings: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Alignment with business goals: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 Advantage: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with Regulations: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Downtime: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Scalability: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447A91-D81E-3A40-9B12-BB4F8247F15E}"/>
              </a:ext>
            </a:extLst>
          </p:cNvPr>
          <p:cNvSpPr txBox="1"/>
          <p:nvPr/>
        </p:nvSpPr>
        <p:spPr>
          <a:xfrm>
            <a:off x="5213131" y="634365"/>
            <a:ext cx="6096000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Software Maintenance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disruptions: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introducing new bugs: 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resistance: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 issues: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documentation: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gaps: </a:t>
            </a:r>
          </a:p>
        </p:txBody>
      </p:sp>
    </p:spTree>
    <p:extLst>
      <p:ext uri="{BB962C8B-B14F-4D97-AF65-F5344CB8AC3E}">
        <p14:creationId xmlns:p14="http://schemas.microsoft.com/office/powerpoint/2010/main" val="2940292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E41C6-2E6D-938E-EA0E-4E21A2787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850888-895B-C802-1045-1F6B1E654B52}"/>
              </a:ext>
            </a:extLst>
          </p:cNvPr>
          <p:cNvSpPr txBox="1"/>
          <p:nvPr/>
        </p:nvSpPr>
        <p:spPr>
          <a:xfrm>
            <a:off x="891024" y="0"/>
            <a:ext cx="107707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EVOLUTION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CAA72-53C6-54C0-F85D-CB65E54E310C}"/>
              </a:ext>
            </a:extLst>
          </p:cNvPr>
          <p:cNvSpPr txBox="1"/>
          <p:nvPr/>
        </p:nvSpPr>
        <p:spPr>
          <a:xfrm>
            <a:off x="0" y="1096398"/>
            <a:ext cx="11822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v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process of developing software initially, and then timely updating it for various reasons.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Lightbox">
            <a:extLst>
              <a:ext uri="{FF2B5EF4-FFF2-40B4-BE49-F238E27FC236}">
                <a16:creationId xmlns:a16="http://schemas.microsoft.com/office/drawing/2014/main" id="{929B5455-609E-A16E-3F01-BE6B340C5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300" y="1733739"/>
            <a:ext cx="8661400" cy="485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8947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AD7D8-64BB-DF42-3429-0858DB8FD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2C7EA23-503E-87EC-8CC2-6A2FA14E2431}"/>
              </a:ext>
            </a:extLst>
          </p:cNvPr>
          <p:cNvSpPr txBox="1"/>
          <p:nvPr/>
        </p:nvSpPr>
        <p:spPr>
          <a:xfrm>
            <a:off x="891024" y="0"/>
            <a:ext cx="107707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EVOLUTION</a:t>
            </a:r>
            <a:endParaRPr lang="en-IN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3D7B58-814A-98F5-AEAE-43FD2BF18261}"/>
              </a:ext>
            </a:extLst>
          </p:cNvPr>
          <p:cNvSpPr txBox="1"/>
          <p:nvPr/>
        </p:nvSpPr>
        <p:spPr>
          <a:xfrm>
            <a:off x="0" y="945880"/>
            <a:ext cx="1219200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Necessity of Software Evolution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in requirement with time: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change: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and bugs: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having new functionality and features:</a:t>
            </a:r>
          </a:p>
        </p:txBody>
      </p:sp>
    </p:spTree>
    <p:extLst>
      <p:ext uri="{BB962C8B-B14F-4D97-AF65-F5344CB8AC3E}">
        <p14:creationId xmlns:p14="http://schemas.microsoft.com/office/powerpoint/2010/main" val="2543256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4D87-F99D-0D4D-500E-63915CDAB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AB3495-1E04-74A8-7EE0-2FC70B6D791F}"/>
              </a:ext>
            </a:extLst>
          </p:cNvPr>
          <p:cNvSpPr txBox="1"/>
          <p:nvPr/>
        </p:nvSpPr>
        <p:spPr>
          <a:xfrm>
            <a:off x="0" y="0"/>
            <a:ext cx="1219200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LAWS USED FOR SOFTWARE EVOLUTION</a:t>
            </a:r>
          </a:p>
          <a:p>
            <a:pPr algn="just" fontAlgn="base">
              <a:spcBef>
                <a:spcPts val="1800"/>
              </a:spcBef>
              <a:spcAft>
                <a:spcPts val="180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 of Continuing Change</a:t>
            </a:r>
          </a:p>
          <a:p>
            <a:pPr algn="just" rtl="0" fontAlgn="base">
              <a:spcAft>
                <a:spcPts val="75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software system that represents some real-world reality undergoes continuous change or become progressively less useful in that environment.</a:t>
            </a:r>
          </a:p>
          <a:p>
            <a:pPr algn="just" fontAlgn="base">
              <a:spcBef>
                <a:spcPts val="1800"/>
              </a:spcBef>
              <a:spcAft>
                <a:spcPts val="180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Law of Increasing Complexity</a:t>
            </a:r>
          </a:p>
          <a:p>
            <a:pPr algn="just" rtl="0" fontAlgn="base">
              <a:spcAft>
                <a:spcPts val="75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an evolving program changes, its structure becomes more complex unless effective efforts are made to avoid this phenomenon.</a:t>
            </a:r>
          </a:p>
          <a:p>
            <a:pPr algn="just" fontAlgn="base">
              <a:spcBef>
                <a:spcPts val="1800"/>
              </a:spcBef>
              <a:spcAft>
                <a:spcPts val="180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 of Conservation of Organization Stability</a:t>
            </a:r>
          </a:p>
          <a:p>
            <a:pPr algn="just" rtl="0" fontAlgn="base">
              <a:spcAft>
                <a:spcPts val="75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rate of development of the program is approximately constant and independent of the resource devoted to system development.</a:t>
            </a:r>
          </a:p>
          <a:p>
            <a:pPr algn="just" fontAlgn="base">
              <a:spcBef>
                <a:spcPts val="1800"/>
              </a:spcBef>
              <a:spcAft>
                <a:spcPts val="1800"/>
              </a:spcAf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Law of Conservation of Familiarity</a:t>
            </a:r>
          </a:p>
          <a:p>
            <a:pPr algn="just" rtl="0" fontAlgn="base">
              <a:spcAft>
                <a:spcPts val="75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law states that during the active lifetime of the program, changes made in the successive release are almost constant. </a:t>
            </a:r>
          </a:p>
        </p:txBody>
      </p:sp>
    </p:spTree>
    <p:extLst>
      <p:ext uri="{BB962C8B-B14F-4D97-AF65-F5344CB8AC3E}">
        <p14:creationId xmlns:p14="http://schemas.microsoft.com/office/powerpoint/2010/main" val="4419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D3BBE-6D68-F62B-8BC0-717E1C9BB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9CF087-5E58-40BC-38C9-F31F75CE9013}"/>
              </a:ext>
            </a:extLst>
          </p:cNvPr>
          <p:cNvSpPr txBox="1"/>
          <p:nvPr/>
        </p:nvSpPr>
        <p:spPr>
          <a:xfrm>
            <a:off x="2636728" y="273044"/>
            <a:ext cx="7384093" cy="397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RE-ENGINEERING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AECDA-D9A8-BE3E-CA3B-00C41F94FF17}"/>
              </a:ext>
            </a:extLst>
          </p:cNvPr>
          <p:cNvSpPr txBox="1"/>
          <p:nvPr/>
        </p:nvSpPr>
        <p:spPr>
          <a:xfrm>
            <a:off x="-4174" y="713603"/>
            <a:ext cx="12196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0" fontAlgn="base">
              <a:spcAft>
                <a:spcPts val="750"/>
              </a:spcAft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analyzing, designing, and modifying existing software systems to improve their quality, performance, and maintainability.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3A139C-3EEE-7FF6-04CD-FA6AA696F177}"/>
              </a:ext>
            </a:extLst>
          </p:cNvPr>
          <p:cNvSpPr txBox="1"/>
          <p:nvPr/>
        </p:nvSpPr>
        <p:spPr>
          <a:xfrm>
            <a:off x="184758" y="2199668"/>
            <a:ext cx="1200724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Re-engineering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describe a cost-effective option for system evolution.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describe the activities involved in the software maintenance process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distinguish between software and data re-engineering and to explain the problems of data re-engineering.</a:t>
            </a:r>
          </a:p>
        </p:txBody>
      </p:sp>
    </p:spTree>
    <p:extLst>
      <p:ext uri="{BB962C8B-B14F-4D97-AF65-F5344CB8AC3E}">
        <p14:creationId xmlns:p14="http://schemas.microsoft.com/office/powerpoint/2010/main" val="3277732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B1043-31B7-5AC1-0B78-8CFAF45AD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71B5D5-0A73-86F7-B3CB-978C75AA8A96}"/>
              </a:ext>
            </a:extLst>
          </p:cNvPr>
          <p:cNvSpPr txBox="1"/>
          <p:nvPr/>
        </p:nvSpPr>
        <p:spPr>
          <a:xfrm>
            <a:off x="2636728" y="125260"/>
            <a:ext cx="7384093" cy="397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IN SOFTWARE RE-ENGINEERING</a:t>
            </a:r>
          </a:p>
        </p:txBody>
      </p:sp>
      <p:pic>
        <p:nvPicPr>
          <p:cNvPr id="6146" name="Picture 2" descr="Lightbox">
            <a:extLst>
              <a:ext uri="{FF2B5EF4-FFF2-40B4-BE49-F238E27FC236}">
                <a16:creationId xmlns:a16="http://schemas.microsoft.com/office/drawing/2014/main" id="{EBF36743-489C-575B-0A82-4EEBAE3D7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060" y="522932"/>
            <a:ext cx="9117165" cy="6335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2426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072CC-71FC-3FCF-FFAE-E277EF0C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4B00ED-B504-0C72-9470-E0629D07378C}"/>
              </a:ext>
            </a:extLst>
          </p:cNvPr>
          <p:cNvSpPr txBox="1"/>
          <p:nvPr/>
        </p:nvSpPr>
        <p:spPr>
          <a:xfrm>
            <a:off x="2636728" y="125260"/>
            <a:ext cx="7384093" cy="397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SOFTWARE RE-ENGINEERING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B25BB-648D-D098-6228-B391FC1E106A}"/>
              </a:ext>
            </a:extLst>
          </p:cNvPr>
          <p:cNvSpPr txBox="1"/>
          <p:nvPr/>
        </p:nvSpPr>
        <p:spPr>
          <a:xfrm>
            <a:off x="313151" y="917446"/>
            <a:ext cx="7240044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software’s performance and scalability: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 new features: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new platforms: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maintainability: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meet new regulations and compliance: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6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software quality: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6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technology: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8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functionality: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9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Resolving issues:</a:t>
            </a:r>
          </a:p>
        </p:txBody>
      </p:sp>
    </p:spTree>
    <p:extLst>
      <p:ext uri="{BB962C8B-B14F-4D97-AF65-F5344CB8AC3E}">
        <p14:creationId xmlns:p14="http://schemas.microsoft.com/office/powerpoint/2010/main" val="1863966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99F1C-C654-20B3-8624-89DCECB48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992D2B-79C5-178D-37A7-BD01BB6526F9}"/>
              </a:ext>
            </a:extLst>
          </p:cNvPr>
          <p:cNvSpPr txBox="1"/>
          <p:nvPr/>
        </p:nvSpPr>
        <p:spPr>
          <a:xfrm>
            <a:off x="246058" y="296626"/>
            <a:ext cx="47473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RE-ENGINEERING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91AF26-D0AC-8188-2227-99DC074B7EB8}"/>
              </a:ext>
            </a:extLst>
          </p:cNvPr>
          <p:cNvSpPr txBox="1"/>
          <p:nvPr/>
        </p:nvSpPr>
        <p:spPr>
          <a:xfrm>
            <a:off x="343213" y="678000"/>
            <a:ext cx="3770334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Risk: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Cost: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use of Existing Staff: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efficiency: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flexibility: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customer service: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8D1614-59B7-57F0-16D1-86DEF140D00F}"/>
              </a:ext>
            </a:extLst>
          </p:cNvPr>
          <p:cNvSpPr txBox="1"/>
          <p:nvPr/>
        </p:nvSpPr>
        <p:spPr>
          <a:xfrm>
            <a:off x="5873297" y="270196"/>
            <a:ext cx="5458217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</a:t>
            </a:r>
            <a:r>
              <a:rPr lang="en-GB" sz="2000" b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RE-ENGINEERING</a:t>
            </a:r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costs: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Disruption to business operations: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Resistance to change: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failure: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employee involvement: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measuring success: 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maintaining continuity: </a:t>
            </a:r>
          </a:p>
        </p:txBody>
      </p:sp>
    </p:spTree>
    <p:extLst>
      <p:ext uri="{BB962C8B-B14F-4D97-AF65-F5344CB8AC3E}">
        <p14:creationId xmlns:p14="http://schemas.microsoft.com/office/powerpoint/2010/main" val="2522161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C20EB-3C5C-982B-2BE5-E027E4D22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9EDC-8CAB-9D3F-B728-0DADBBB86E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840828"/>
          </a:xfrm>
        </p:spPr>
        <p:txBody>
          <a:bodyPr>
            <a:noAutofit/>
          </a:bodyPr>
          <a:lstStyle/>
          <a:p>
            <a:r>
              <a:rPr lang="en-GB" sz="32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Configuration Management(SCM) </a:t>
            </a:r>
            <a:endParaRPr lang="en-IN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F7E90-01CA-3337-7C52-CC5BD321ABF2}"/>
              </a:ext>
            </a:extLst>
          </p:cNvPr>
          <p:cNvSpPr txBox="1"/>
          <p:nvPr/>
        </p:nvSpPr>
        <p:spPr>
          <a:xfrm>
            <a:off x="0" y="844955"/>
            <a:ext cx="12118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a process to systematically manage, organize, and control the changes in the documents, codes, and other entities during the Software Development Life Cycle.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1DB075-508A-BB49-7B2E-D2D0430391AA}"/>
              </a:ext>
            </a:extLst>
          </p:cNvPr>
          <p:cNvSpPr txBox="1"/>
          <p:nvPr/>
        </p:nvSpPr>
        <p:spPr>
          <a:xfrm>
            <a:off x="3342289" y="1561335"/>
            <a:ext cx="61170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Processes/Task involved in SCM</a:t>
            </a:r>
            <a:endParaRPr lang="en-US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C8AA60-D9B3-A60A-286C-6C85FD2D511A}"/>
              </a:ext>
            </a:extLst>
          </p:cNvPr>
          <p:cNvSpPr txBox="1"/>
          <p:nvPr/>
        </p:nvSpPr>
        <p:spPr>
          <a:xfrm>
            <a:off x="0" y="2216159"/>
            <a:ext cx="45194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Identification and Establishment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Version control 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Change control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Configuration auditing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Reporting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Software Engineering | SCM Process - javatpoint">
            <a:extLst>
              <a:ext uri="{FF2B5EF4-FFF2-40B4-BE49-F238E27FC236}">
                <a16:creationId xmlns:a16="http://schemas.microsoft.com/office/drawing/2014/main" id="{86FBF344-5473-5201-ACE7-2D187B42B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689" y="2185461"/>
            <a:ext cx="5247729" cy="4196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6758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87B50-C3A2-E243-98E6-59D03ABD6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D7C476-E7E6-F77E-4088-4B721D457AEA}"/>
              </a:ext>
            </a:extLst>
          </p:cNvPr>
          <p:cNvSpPr txBox="1"/>
          <p:nvPr/>
        </p:nvSpPr>
        <p:spPr>
          <a:xfrm>
            <a:off x="0" y="44211"/>
            <a:ext cx="12192000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Software Configuration Management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Bug Tracking: 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Deployment and Integration: 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management: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Big Projects: 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Reproducibility: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6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Development: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96E5CF-22E0-C19F-1E1E-3E60B2F04F28}"/>
              </a:ext>
            </a:extLst>
          </p:cNvPr>
          <p:cNvSpPr txBox="1"/>
          <p:nvPr/>
        </p:nvSpPr>
        <p:spPr>
          <a:xfrm>
            <a:off x="0" y="3397469"/>
            <a:ext cx="1219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System configuration management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Replicability: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Configuration: 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Process of Development:</a:t>
            </a:r>
          </a:p>
        </p:txBody>
      </p:sp>
    </p:spTree>
    <p:extLst>
      <p:ext uri="{BB962C8B-B14F-4D97-AF65-F5344CB8AC3E}">
        <p14:creationId xmlns:p14="http://schemas.microsoft.com/office/powerpoint/2010/main" val="3405803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A0A98-C329-DB55-D946-56BE9525D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CB2A33-20F2-69AC-59EA-A81C56F96AB0}"/>
              </a:ext>
            </a:extLst>
          </p:cNvPr>
          <p:cNvSpPr txBox="1"/>
          <p:nvPr/>
        </p:nvSpPr>
        <p:spPr>
          <a:xfrm>
            <a:off x="-1" y="-94593"/>
            <a:ext cx="121920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objectives of SCM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the evolution of software systems: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collaboration and coordination: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version control: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 replication and distribution: 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SCM is a critical component of software Development.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C4ACC3-BECC-D4D7-274D-C02957A03278}"/>
              </a:ext>
            </a:extLst>
          </p:cNvPr>
          <p:cNvSpPr txBox="1"/>
          <p:nvPr/>
        </p:nvSpPr>
        <p:spPr>
          <a:xfrm>
            <a:off x="-1" y="2640844"/>
            <a:ext cx="12191999" cy="42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advantages of SCM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productivity and efficiency 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risk of errors and defects 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collaboration and communication among team members 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quality and stability of software systems </a:t>
            </a:r>
          </a:p>
          <a:p>
            <a:pPr algn="ctr" fontAlgn="base">
              <a:spcAft>
                <a:spcPts val="1800"/>
              </a:spcAft>
            </a:pPr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disadvantages of SCM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complexity and overhead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managing dependencies and ensuring that all changes are properly integrated.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for conflicts and delays.</a:t>
            </a:r>
          </a:p>
        </p:txBody>
      </p:sp>
    </p:spTree>
    <p:extLst>
      <p:ext uri="{BB962C8B-B14F-4D97-AF65-F5344CB8AC3E}">
        <p14:creationId xmlns:p14="http://schemas.microsoft.com/office/powerpoint/2010/main" val="2196290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13CD3-151E-1677-DBA2-F9B717CFF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1EF80F-7720-605E-4DFF-8C1F131B0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61" y="1647058"/>
            <a:ext cx="7380232" cy="32822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3B917D-6EA9-66A2-B6C9-5133532EBBB3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Configuration Items</a:t>
            </a:r>
            <a:endParaRPr lang="en-US" sz="2800" b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718203-B935-75FF-36A6-C26AF3FDD68E}"/>
              </a:ext>
            </a:extLst>
          </p:cNvPr>
          <p:cNvSpPr txBox="1"/>
          <p:nvPr/>
        </p:nvSpPr>
        <p:spPr>
          <a:xfrm>
            <a:off x="73571" y="954550"/>
            <a:ext cx="106364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sz="1800" b="1" dirty="0">
                <a:solidFill>
                  <a:srgbClr val="EF41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Configuration Item is information that is created as part of the software engineering process.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169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0FA02-2A3B-7E2B-25F8-24BBCED6B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1DB9F9-77A8-F1B5-D0EB-761E9F8F2AFA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Management</a:t>
            </a:r>
            <a:endParaRPr lang="en-US" sz="2800" b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16F60E-902B-6676-9FD2-3170EB8832B5}"/>
              </a:ext>
            </a:extLst>
          </p:cNvPr>
          <p:cNvSpPr txBox="1"/>
          <p:nvPr/>
        </p:nvSpPr>
        <p:spPr>
          <a:xfrm>
            <a:off x="0" y="680232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 of identifying organizing and controlling Modifications to the software being built by a programming team. 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maximize productivity by minimizing mistakes</a:t>
            </a:r>
          </a:p>
        </p:txBody>
      </p:sp>
      <p:pic>
        <p:nvPicPr>
          <p:cNvPr id="1026" name="Picture 2" descr="Configuration Management: What and Why?">
            <a:extLst>
              <a:ext uri="{FF2B5EF4-FFF2-40B4-BE49-F238E27FC236}">
                <a16:creationId xmlns:a16="http://schemas.microsoft.com/office/drawing/2014/main" id="{8AFF7AAD-5C38-3029-36E2-F905B46F55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8" b="50000"/>
          <a:stretch/>
        </p:blipFill>
        <p:spPr bwMode="auto">
          <a:xfrm>
            <a:off x="360362" y="1918481"/>
            <a:ext cx="11471275" cy="3021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153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9033D-AB6D-9555-FA0C-9D46E4212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B2FD59-36E5-1C25-458F-997F3C8AB82B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Management Activities</a:t>
            </a:r>
            <a:endParaRPr lang="en-US" sz="2800" b="1" dirty="0">
              <a:solidFill>
                <a:srgbClr val="00B0F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C063F3-8FDB-4E0F-8D01-B4E7FCFF99C4}"/>
              </a:ext>
            </a:extLst>
          </p:cNvPr>
          <p:cNvSpPr txBox="1"/>
          <p:nvPr/>
        </p:nvSpPr>
        <p:spPr>
          <a:xfrm>
            <a:off x="0" y="523220"/>
            <a:ext cx="12192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Change Management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that all changes to a system are controlled, evaluated, and tracked to maintain stability and traceability.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Recording change requests and assigning priorities.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Impact analysis to assess potential consequences of changes.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Approving or rejecting changes based on the analysis.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approved changes while minimizing disruptions.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Maintaining documentation to track all changes and their effects.</a:t>
            </a:r>
          </a:p>
          <a:p>
            <a:pPr lvl="1" algn="l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Version Management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versions of software artifacts (e.g., source code, documentation) to avoid conflicts and ensure consistency.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Assigning version identifiers to each release or update.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Maintaining a repository to store and track versions of files.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Supporting branching and merging for parallel development efforts.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Providing version history to enable rollback if necessary.</a:t>
            </a:r>
          </a:p>
        </p:txBody>
      </p:sp>
    </p:spTree>
    <p:extLst>
      <p:ext uri="{BB962C8B-B14F-4D97-AF65-F5344CB8AC3E}">
        <p14:creationId xmlns:p14="http://schemas.microsoft.com/office/powerpoint/2010/main" val="3543828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2876A-CD92-FD7C-629A-76CBE9A0F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481D84-B311-D028-2F08-7CC3C42CFCDA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Management Activities</a:t>
            </a:r>
            <a:endParaRPr lang="en-US" sz="2800" b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DEEE85-0230-F553-A64E-C2911B89F83B}"/>
              </a:ext>
            </a:extLst>
          </p:cNvPr>
          <p:cNvSpPr txBox="1"/>
          <p:nvPr/>
        </p:nvSpPr>
        <p:spPr>
          <a:xfrm>
            <a:off x="0" y="734575"/>
            <a:ext cx="12192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 System Building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 the process of compiling, linking, and integrating system components to create a working system.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Defining build scripts and tools to automate the build process.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Integrating modules and ensuring compatibility between components.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Running automated tests during the build process to verify system functionality.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Detecting and resolving build errors early in development.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System Release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Plan, package, and deliver a stable system version to users or customers.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Preparing release documentation, including release notes and user guides.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Creating installation packages or deploying the system to production.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Ensuring the system meets quality assurance standards.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Managing the release schedule and coordinating with stakeholders.</a:t>
            </a:r>
          </a:p>
        </p:txBody>
      </p:sp>
    </p:spTree>
    <p:extLst>
      <p:ext uri="{BB962C8B-B14F-4D97-AF65-F5344CB8AC3E}">
        <p14:creationId xmlns:p14="http://schemas.microsoft.com/office/powerpoint/2010/main" val="3874369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9B850-8E30-9F80-CE08-1A4232265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FF7AB8-958E-F754-A7A7-036312ADFB0F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</a:t>
            </a:r>
            <a:endParaRPr lang="en-US" sz="2800" b="1" dirty="0">
              <a:solidFill>
                <a:srgbClr val="00B0F0"/>
              </a:solidFill>
            </a:endParaRPr>
          </a:p>
        </p:txBody>
      </p:sp>
      <p:pic>
        <p:nvPicPr>
          <p:cNvPr id="1026" name="Picture 2" descr="reverse-engineering">
            <a:extLst>
              <a:ext uri="{FF2B5EF4-FFF2-40B4-BE49-F238E27FC236}">
                <a16:creationId xmlns:a16="http://schemas.microsoft.com/office/drawing/2014/main" id="{5F5C99E1-F448-A9A5-80F1-5B130238D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353" y="1024181"/>
            <a:ext cx="5217564" cy="5667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A543B3-A63B-546E-14E7-689A96A19E72}"/>
              </a:ext>
            </a:extLst>
          </p:cNvPr>
          <p:cNvSpPr txBox="1"/>
          <p:nvPr/>
        </p:nvSpPr>
        <p:spPr>
          <a:xfrm>
            <a:off x="0" y="500961"/>
            <a:ext cx="1192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recovering the design, requirement specifications, and functions of a product from an analysis of its code.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482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BD5E0-BCCA-1DAE-3BCA-A89931D49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70C25A-7A84-E1E5-D293-71B2EDA3F13D}"/>
              </a:ext>
            </a:extLst>
          </p:cNvPr>
          <p:cNvSpPr txBox="1"/>
          <p:nvPr/>
        </p:nvSpPr>
        <p:spPr>
          <a:xfrm>
            <a:off x="3573517" y="0"/>
            <a:ext cx="6096000" cy="548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15000"/>
              </a:lnSpc>
            </a:pPr>
            <a:r>
              <a:rPr lang="en-US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</a:t>
            </a:r>
            <a:endParaRPr lang="en-GB" sz="28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2B68-4571-BF03-1C17-E6696B95282C}"/>
              </a:ext>
            </a:extLst>
          </p:cNvPr>
          <p:cNvSpPr txBox="1"/>
          <p:nvPr/>
        </p:nvSpPr>
        <p:spPr>
          <a:xfrm>
            <a:off x="0" y="548099"/>
            <a:ext cx="1219200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0" fontAlgn="base">
              <a:spcAft>
                <a:spcPts val="750"/>
              </a:spcAft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that helps track and manage changes to a project's codebase over time. </a:t>
            </a:r>
          </a:p>
          <a:p>
            <a:pPr marL="285750" indent="-285750" algn="just" rtl="0" fontAlgn="base">
              <a:spcAft>
                <a:spcPts val="750"/>
              </a:spcAft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 multiple developers to work on the same project simultaneously without conflicts, maintains a history of all changes, and enables easy rollback to previous versions if needed. </a:t>
            </a:r>
          </a:p>
          <a:p>
            <a:pPr marL="285750" indent="-285750" algn="just" rtl="0" fontAlgn="base">
              <a:spcAft>
                <a:spcPts val="750"/>
              </a:spcAft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 ensures collaboration, code integrity, and efficient management of software development.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1BD9B1-7B89-0CB9-EA4F-C20533213B23}"/>
              </a:ext>
            </a:extLst>
          </p:cNvPr>
          <p:cNvSpPr txBox="1"/>
          <p:nvPr/>
        </p:nvSpPr>
        <p:spPr>
          <a:xfrm>
            <a:off x="-47296" y="1953612"/>
            <a:ext cx="1219200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Version Control </a:t>
            </a:r>
          </a:p>
          <a:p>
            <a:pPr algn="just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Changes Over Time: </a:t>
            </a:r>
          </a:p>
          <a:p>
            <a:pPr algn="just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Collaboration: </a:t>
            </a:r>
          </a:p>
          <a:p>
            <a:pPr algn="just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History and Audit Trails: </a:t>
            </a:r>
          </a:p>
          <a:p>
            <a:pPr algn="just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and Recovery:</a:t>
            </a:r>
          </a:p>
          <a:p>
            <a:pPr algn="just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Branching and Merging: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CAF6A5-2B0A-5782-E174-7BA0219B1696}"/>
              </a:ext>
            </a:extLst>
          </p:cNvPr>
          <p:cNvSpPr txBox="1"/>
          <p:nvPr/>
        </p:nvSpPr>
        <p:spPr>
          <a:xfrm>
            <a:off x="0" y="4149085"/>
            <a:ext cx="1214470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Popular Version Control Systems</a:t>
            </a:r>
          </a:p>
          <a:p>
            <a:pPr algn="just" fontAlgn="base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Git </a:t>
            </a:r>
          </a:p>
          <a:p>
            <a:pPr algn="just" fontAlgn="base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most widely used Distributed Version Control System, developed by Linus Torvalds in 2005 for managing the Linux kernel. </a:t>
            </a:r>
          </a:p>
          <a:p>
            <a:pPr algn="just" fontAlgn="base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Subversion (SVN) </a:t>
            </a:r>
          </a:p>
          <a:p>
            <a:pPr algn="just" fontAlgn="base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Subversion is a popular centralized version control system</a:t>
            </a:r>
          </a:p>
          <a:p>
            <a:pPr fontAlgn="base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Mercurial </a:t>
            </a:r>
          </a:p>
          <a:p>
            <a:pPr fontAlgn="base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Mercurial is another distributed version control system similar to Git but with a simpler interface.</a:t>
            </a:r>
          </a:p>
        </p:txBody>
      </p:sp>
    </p:spTree>
    <p:extLst>
      <p:ext uri="{BB962C8B-B14F-4D97-AF65-F5344CB8AC3E}">
        <p14:creationId xmlns:p14="http://schemas.microsoft.com/office/powerpoint/2010/main" val="2940004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01E37-E770-CFF2-D3C6-E9CA10758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DEAB34-9132-68B4-FBF2-FD6E6217A02D}"/>
              </a:ext>
            </a:extLst>
          </p:cNvPr>
          <p:cNvSpPr txBox="1"/>
          <p:nvPr/>
        </p:nvSpPr>
        <p:spPr>
          <a:xfrm>
            <a:off x="3573517" y="0"/>
            <a:ext cx="6096000" cy="548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15000"/>
              </a:lnSpc>
            </a:pPr>
            <a:r>
              <a:rPr lang="en-US" sz="2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</a:t>
            </a:r>
            <a:endParaRPr lang="en-GB" sz="2800" b="1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AE1E6C-6E77-DC73-3AF6-7A262D9E10D0}"/>
              </a:ext>
            </a:extLst>
          </p:cNvPr>
          <p:cNvSpPr txBox="1"/>
          <p:nvPr/>
        </p:nvSpPr>
        <p:spPr>
          <a:xfrm>
            <a:off x="0" y="4407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GB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Version Control Systems</a:t>
            </a:r>
          </a:p>
        </p:txBody>
      </p:sp>
      <p:pic>
        <p:nvPicPr>
          <p:cNvPr id="3074" name="Picture 2" descr="cvcs">
            <a:extLst>
              <a:ext uri="{FF2B5EF4-FFF2-40B4-BE49-F238E27FC236}">
                <a16:creationId xmlns:a16="http://schemas.microsoft.com/office/drawing/2014/main" id="{0A0545A2-9F9D-F4B0-4005-6296F598A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988798"/>
            <a:ext cx="6095999" cy="4750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Lightbox">
            <a:extLst>
              <a:ext uri="{FF2B5EF4-FFF2-40B4-BE49-F238E27FC236}">
                <a16:creationId xmlns:a16="http://schemas.microsoft.com/office/drawing/2014/main" id="{19290B92-49AC-2FB6-A266-0C2EB6385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497" y="902365"/>
            <a:ext cx="5381952" cy="4750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24465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0541F8-5C9E-93F1-D1ED-37932C59F1CD}"/>
              </a:ext>
            </a:extLst>
          </p:cNvPr>
          <p:cNvSpPr txBox="1"/>
          <p:nvPr/>
        </p:nvSpPr>
        <p:spPr>
          <a:xfrm>
            <a:off x="115613" y="0"/>
            <a:ext cx="5559973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buNone/>
            </a:pPr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THE VERSION CONTROL SYSTEM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Collaboration: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Changes: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Branching &amp; Merging: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&amp; Recovery: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Code Quality: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Remote Collaboration: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Integration: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Project Management: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 </a:t>
            </a:r>
          </a:p>
          <a:p>
            <a:pPr algn="l" fontAlgn="base">
              <a:spcAft>
                <a:spcPts val="1800"/>
              </a:spcAft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4604EA-586D-2696-6A6C-2C23A47AE9A9}"/>
              </a:ext>
            </a:extLst>
          </p:cNvPr>
          <p:cNvSpPr txBox="1"/>
          <p:nvPr/>
        </p:nvSpPr>
        <p:spPr>
          <a:xfrm>
            <a:off x="5843752" y="12680"/>
            <a:ext cx="446689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1800"/>
              </a:spcAft>
            </a:pPr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OF VERSION CONTROL SYSTEM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Changes: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 Resolution: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and Recovery: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Without Risk: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Integration: 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E04AB-EF24-1BDE-74A2-D17E6F80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E100ED-4C61-129F-6392-39E3B860F0B6}"/>
              </a:ext>
            </a:extLst>
          </p:cNvPr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The Unit</a:t>
            </a:r>
          </a:p>
        </p:txBody>
      </p:sp>
    </p:spTree>
    <p:extLst>
      <p:ext uri="{BB962C8B-B14F-4D97-AF65-F5344CB8AC3E}">
        <p14:creationId xmlns:p14="http://schemas.microsoft.com/office/powerpoint/2010/main" val="34402477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76961-86ED-009E-B66B-463D3D120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17431A-9A67-7D66-C431-8506A73FFF7B}"/>
              </a:ext>
            </a:extLst>
          </p:cNvPr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Syllabus</a:t>
            </a:r>
          </a:p>
        </p:txBody>
      </p:sp>
    </p:spTree>
    <p:extLst>
      <p:ext uri="{BB962C8B-B14F-4D97-AF65-F5344CB8AC3E}">
        <p14:creationId xmlns:p14="http://schemas.microsoft.com/office/powerpoint/2010/main" val="22590667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5ADB1-B7AF-1B01-4B0A-43DE46F2F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86031A-214C-D89E-199F-2F5515FC7DBF}"/>
              </a:ext>
            </a:extLst>
          </p:cNvPr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34036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1380</Words>
  <Application>Microsoft Macintosh PowerPoint</Application>
  <PresentationFormat>Widescreen</PresentationFormat>
  <Paragraphs>233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OUTLINES</vt:lpstr>
      <vt:lpstr>SOFTWARE MAINTENANCE</vt:lpstr>
      <vt:lpstr>SOFTWARE MAINTENANCE</vt:lpstr>
      <vt:lpstr>SOFTWARE MAINTENANCE</vt:lpstr>
      <vt:lpstr>SOFTWARE MAINTENANCE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Configuration Management(SCM)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8 Representation and Descriptors</dc:title>
  <dc:creator>Harendra Bikram Shah</dc:creator>
  <cp:lastModifiedBy>Harendra Bikram Shah</cp:lastModifiedBy>
  <cp:revision>211</cp:revision>
  <dcterms:created xsi:type="dcterms:W3CDTF">2024-09-18T03:14:27Z</dcterms:created>
  <dcterms:modified xsi:type="dcterms:W3CDTF">2025-07-10T04:31:15Z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