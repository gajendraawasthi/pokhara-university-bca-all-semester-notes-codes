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5" r:id="rId12"/>
    <p:sldId id="326" r:id="rId13"/>
    <p:sldId id="327" r:id="rId14"/>
    <p:sldId id="328" r:id="rId15"/>
    <p:sldId id="329" r:id="rId16"/>
    <p:sldId id="324" r:id="rId17"/>
    <p:sldId id="330" r:id="rId18"/>
    <p:sldId id="331" r:id="rId19"/>
    <p:sldId id="332" r:id="rId20"/>
    <p:sldId id="314" r:id="rId21"/>
    <p:sldId id="315" r:id="rId2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3969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09/07/25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923" y="3326361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				 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2499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Hours: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hours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AC8EC-43EB-2C31-DEA2-80C33B557C01}"/>
              </a:ext>
            </a:extLst>
          </p:cNvPr>
          <p:cNvSpPr txBox="1"/>
          <p:nvPr/>
        </p:nvSpPr>
        <p:spPr>
          <a:xfrm>
            <a:off x="0" y="488374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6</a:t>
            </a:r>
          </a:p>
          <a:p>
            <a:pPr algn="ctr"/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PRACTICES AND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633FB-238D-F914-5A0C-E9AC7E53DB25}"/>
              </a:ext>
            </a:extLst>
          </p:cNvPr>
          <p:cNvSpPr txBox="1"/>
          <p:nvPr/>
        </p:nvSpPr>
        <p:spPr>
          <a:xfrm>
            <a:off x="0" y="1129913"/>
            <a:ext cx="12192000" cy="1666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and Development Tools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Selecting programming languages and tools for software development.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in Coding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code practices, code readability, and refactoring.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development environments and integrated development environments (IDEs).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87A8-F383-87E4-8B37-B0A52A7C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E554-1359-BDDA-24CA-3B41B18C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rmAutofit fontScale="90000"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AND DEVELOPMENT TOOLS</a:t>
            </a:r>
            <a:endParaRPr lang="en-GB" sz="32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Types of programming language with examples - Readersnepal">
            <a:extLst>
              <a:ext uri="{FF2B5EF4-FFF2-40B4-BE49-F238E27FC236}">
                <a16:creationId xmlns:a16="http://schemas.microsoft.com/office/drawing/2014/main" id="{D4815989-546A-2868-9E10-9358077B3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587" y="768928"/>
            <a:ext cx="9786505" cy="550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069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A7AA-357F-F78F-CC72-8769C3BB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9175-6156-28B4-B231-FE62CAA2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rmAutofit fontScale="90000"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  <a:endParaRPr lang="en-GB" sz="32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op 10 Software Development Tools to Maximize Productivity in 2025">
            <a:extLst>
              <a:ext uri="{FF2B5EF4-FFF2-40B4-BE49-F238E27FC236}">
                <a16:creationId xmlns:a16="http://schemas.microsoft.com/office/drawing/2014/main" id="{A1B62CBA-48B1-10E4-25D0-595DA2BE3E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8" b="9586"/>
          <a:stretch>
            <a:fillRect/>
          </a:stretch>
        </p:blipFill>
        <p:spPr bwMode="auto">
          <a:xfrm>
            <a:off x="1398011" y="1106632"/>
            <a:ext cx="8930553" cy="464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51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7E9D-9B73-7221-76DE-5805832F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DC61-611D-E766-87CC-3B8CC8CD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SELECTING PROGRAMMING LANGUAGES AND TOOLS FOR SOFTWARE DEVELOPMENT.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2452A-30FF-76D2-16E0-CA5809058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881" y="488372"/>
            <a:ext cx="5476009" cy="624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39AAA-9DE0-17E8-A7DE-B00E910AD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0EF5-4CF9-AE9B-C250-B00ACA68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SELECTING PROGRAMMING LANGUAGES AND TOOLS FOR SOFTWARE DEVELOPMENT.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E33EC0-03BA-CB47-F9D8-16FD4A1F7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593390"/>
              </p:ext>
            </p:extLst>
          </p:nvPr>
        </p:nvGraphicFramePr>
        <p:xfrm>
          <a:off x="755073" y="1287189"/>
          <a:ext cx="10515600" cy="27889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102427">
                  <a:extLst>
                    <a:ext uri="{9D8B030D-6E8A-4147-A177-3AD203B41FA5}">
                      <a16:colId xmlns:a16="http://schemas.microsoft.com/office/drawing/2014/main" val="2039988534"/>
                    </a:ext>
                  </a:extLst>
                </a:gridCol>
                <a:gridCol w="4197928">
                  <a:extLst>
                    <a:ext uri="{9D8B030D-6E8A-4147-A177-3AD203B41FA5}">
                      <a16:colId xmlns:a16="http://schemas.microsoft.com/office/drawing/2014/main" val="3244077881"/>
                    </a:ext>
                  </a:extLst>
                </a:gridCol>
                <a:gridCol w="4215245">
                  <a:extLst>
                    <a:ext uri="{9D8B030D-6E8A-4147-A177-3AD203B41FA5}">
                      <a16:colId xmlns:a16="http://schemas.microsoft.com/office/drawing/2014/main" val="829274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Use Case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656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AI/ML, Web Dev, Scripting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syntax, vast libraries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498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Frontend/Backend (Node.js)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Universal in browsers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196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Enterprise, Android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typing, JVM ecosystem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9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 Dev, Embedded Systems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performance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25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(Golang)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Services, CLI Tools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compilation, concurrency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26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997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2D565-F300-D52C-979F-43F86315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4948-0881-942F-36D4-6FED1D11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FOR SOFTWARE DEVELOPMENT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792FC5-F084-339B-C2B9-B0EC2CE6C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569043"/>
              </p:ext>
            </p:extLst>
          </p:nvPr>
        </p:nvGraphicFramePr>
        <p:xfrm>
          <a:off x="838200" y="2374424"/>
          <a:ext cx="10515600" cy="28803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242955">
                  <a:extLst>
                    <a:ext uri="{9D8B030D-6E8A-4147-A177-3AD203B41FA5}">
                      <a16:colId xmlns:a16="http://schemas.microsoft.com/office/drawing/2014/main" val="110105899"/>
                    </a:ext>
                  </a:extLst>
                </a:gridCol>
                <a:gridCol w="6272645">
                  <a:extLst>
                    <a:ext uri="{9D8B030D-6E8A-4147-A177-3AD203B41FA5}">
                      <a16:colId xmlns:a16="http://schemas.microsoft.com/office/drawing/2014/main" val="2002789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Phase</a:t>
                      </a: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 Tools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2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Coding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Code, IntelliJ, PyCharm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48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Git, GitHub, GitLab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70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Management</a:t>
                      </a:r>
                      <a:endParaRPr lang="en-GB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npm, pip, Maven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923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Jest, pytest, Selenium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366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en-GB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Docker, Kubernetes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19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87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3EEF-4657-93F9-58C6-62A7276B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1954-02ED-0735-5947-024FBC1B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FOR SOFTWARE DEVELOPMENT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Coding best practices">
            <a:extLst>
              <a:ext uri="{FF2B5EF4-FFF2-40B4-BE49-F238E27FC236}">
                <a16:creationId xmlns:a16="http://schemas.microsoft.com/office/drawing/2014/main" id="{D5383D16-1D57-5F4B-0063-3D8E749B2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391" y="602673"/>
            <a:ext cx="10328564" cy="580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83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01A5-FD3F-FE66-89CA-D95F1850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F97A-F5A9-D519-3B35-D1DDE9C1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CODE PRACTICES, CODE READABILITY, AND REFACTORING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8765D-81E5-81AB-945D-2F042485821B}"/>
              </a:ext>
            </a:extLst>
          </p:cNvPr>
          <p:cNvSpPr txBox="1"/>
          <p:nvPr/>
        </p:nvSpPr>
        <p:spPr>
          <a:xfrm>
            <a:off x="-1" y="715926"/>
            <a:ext cx="10941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1809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code is a term used to refer to code that is easy to read, understand, and maintain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03550-308F-4216-81AA-8426594BD89C}"/>
              </a:ext>
            </a:extLst>
          </p:cNvPr>
          <p:cNvSpPr txBox="1"/>
          <p:nvPr/>
        </p:nvSpPr>
        <p:spPr>
          <a:xfrm>
            <a:off x="-1" y="1198511"/>
            <a:ext cx="12191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Readability and maintenance: </a:t>
            </a:r>
            <a:endParaRPr lang="en-GB" i="0" u="none" strike="noStrike" dirty="0">
              <a:solidFill>
                <a:srgbClr val="18092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collaboration: </a:t>
            </a:r>
            <a:endParaRPr lang="en-GB" i="0" u="none" strike="noStrike" dirty="0">
              <a:solidFill>
                <a:srgbClr val="18092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and issue resolution: </a:t>
            </a:r>
            <a:endParaRPr lang="en-GB" i="0" u="none" strike="noStrike" dirty="0">
              <a:solidFill>
                <a:srgbClr val="18092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 and reliability:</a:t>
            </a:r>
            <a:endParaRPr lang="en-GB" i="0" u="none" strike="noStrike" dirty="0">
              <a:solidFill>
                <a:srgbClr val="18092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1E96C-8F9A-E808-F022-F5FAA545C767}"/>
              </a:ext>
            </a:extLst>
          </p:cNvPr>
          <p:cNvSpPr txBox="1"/>
          <p:nvPr/>
        </p:nvSpPr>
        <p:spPr>
          <a:xfrm>
            <a:off x="167118" y="3034974"/>
            <a:ext cx="106073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Clean Code</a:t>
            </a:r>
          </a:p>
          <a:p>
            <a:pPr algn="l"/>
            <a:endParaRPr lang="en-GB" b="0" i="0" u="none" strike="noStrike" dirty="0">
              <a:solidFill>
                <a:srgbClr val="43434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AutoNum type="arabicPeriod"/>
            </a:pPr>
            <a:r>
              <a:rPr lang="en-GB" b="0" i="0" u="none" strike="noStrike" dirty="0">
                <a:solidFill>
                  <a:srgbClr val="43434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 Hard-Coded Numbers</a:t>
            </a:r>
          </a:p>
          <a:p>
            <a:pPr marL="342900" indent="-342900" algn="l"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Meaningful and Descriptive Names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Comments Sparingly, and When You Do, Make Them Meaningful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Short Functions That Only Do One Thing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the DRY (Don't Repeat Yourself) Principle and Avoid Duplicating Code or Logic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Established Code-Writing Standards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 Nested Conditionals into Functions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 Continuously</a:t>
            </a:r>
          </a:p>
          <a:p>
            <a:pPr marL="342900" indent="-342900">
              <a:buFontTx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Version Control</a:t>
            </a:r>
          </a:p>
          <a:p>
            <a:pPr marL="342900" indent="-342900" algn="l"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0" i="0" u="none" strike="noStrike" dirty="0">
              <a:solidFill>
                <a:srgbClr val="18092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70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D4E3-24BC-29AA-7994-2E71D8FD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54AF-56F6-EA77-BC12-7AFBEA503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READABILITY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3EBF5-C06D-9E81-ED45-0E4A24356059}"/>
              </a:ext>
            </a:extLst>
          </p:cNvPr>
          <p:cNvSpPr txBox="1"/>
          <p:nvPr/>
        </p:nvSpPr>
        <p:spPr>
          <a:xfrm>
            <a:off x="2" y="1205346"/>
            <a:ext cx="37627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75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code readability important?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Bugs: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Development:</a:t>
            </a: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Code Quality: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60006-0BE8-D5F3-0DC8-9B04DBE41284}"/>
              </a:ext>
            </a:extLst>
          </p:cNvPr>
          <p:cNvSpPr txBox="1"/>
          <p:nvPr/>
        </p:nvSpPr>
        <p:spPr>
          <a:xfrm>
            <a:off x="-21021" y="602673"/>
            <a:ext cx="11267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efers to how easily a human reader can understand the purpose, logic, and structure of source 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13C62-4B2D-39ED-46D4-E37A9FFA486D}"/>
              </a:ext>
            </a:extLst>
          </p:cNvPr>
          <p:cNvSpPr txBox="1"/>
          <p:nvPr/>
        </p:nvSpPr>
        <p:spPr>
          <a:xfrm>
            <a:off x="6095999" y="1205346"/>
            <a:ext cx="3568262" cy="35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75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improve code readability: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Names: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Style: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Structure: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Reviews: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Adhere to Standards: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Refactor: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79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78BB-1164-FAD0-D284-8C549409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66EFC-EE9B-9C91-A63A-B8B4744C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REFACTORING</a:t>
            </a:r>
            <a:endParaRPr lang="en-GB" sz="20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4FD38-2F46-9E7E-D754-FC1A2BFD905B}"/>
              </a:ext>
            </a:extLst>
          </p:cNvPr>
          <p:cNvSpPr txBox="1"/>
          <p:nvPr/>
        </p:nvSpPr>
        <p:spPr>
          <a:xfrm>
            <a:off x="-1" y="1747999"/>
            <a:ext cx="5885793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Objectives/Goals of Refactoring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Code Quality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Complexity: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Redundancies: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Performance: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 and Rectify Bugs: </a:t>
            </a:r>
          </a:p>
        </p:txBody>
      </p:sp>
      <p:pic>
        <p:nvPicPr>
          <p:cNvPr id="1026" name="Picture 2" descr="refactoring in software engineering&#10;">
            <a:extLst>
              <a:ext uri="{FF2B5EF4-FFF2-40B4-BE49-F238E27FC236}">
                <a16:creationId xmlns:a16="http://schemas.microsoft.com/office/drawing/2014/main" id="{517F9324-EB86-255D-5A08-FDB3DEEC1E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1" t="3832" r="24138" b="5747"/>
          <a:stretch>
            <a:fillRect/>
          </a:stretch>
        </p:blipFill>
        <p:spPr bwMode="auto">
          <a:xfrm>
            <a:off x="7147036" y="1488467"/>
            <a:ext cx="4225158" cy="41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449228-95C2-EBC2-0645-85832C88B8E2}"/>
              </a:ext>
            </a:extLst>
          </p:cNvPr>
          <p:cNvSpPr txBox="1"/>
          <p:nvPr/>
        </p:nvSpPr>
        <p:spPr>
          <a:xfrm>
            <a:off x="-1" y="582694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systematic and disciplined process of improving the internal structure of code without altering its external behavior.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540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799-272C-A806-DAB7-C4DCD52E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2301-AC7F-07C0-DDC5-2CB4B7B0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 rtl="0"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CODE REFACTORING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D785C-481C-03CF-2C4B-B174AAF5D1A9}"/>
              </a:ext>
            </a:extLst>
          </p:cNvPr>
          <p:cNvSpPr txBox="1"/>
          <p:nvPr/>
        </p:nvSpPr>
        <p:spPr>
          <a:xfrm>
            <a:off x="0" y="6026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Red-Green Refactoring</a:t>
            </a:r>
          </a:p>
        </p:txBody>
      </p:sp>
      <p:pic>
        <p:nvPicPr>
          <p:cNvPr id="3074" name="Picture 2" descr="Red-Green-Refactoring">
            <a:extLst>
              <a:ext uri="{FF2B5EF4-FFF2-40B4-BE49-F238E27FC236}">
                <a16:creationId xmlns:a16="http://schemas.microsoft.com/office/drawing/2014/main" id="{2CEC74B5-1983-F66E-274C-49856CB4D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676" y="428406"/>
            <a:ext cx="6191175" cy="304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D34869-7F6C-C1C9-F199-49D29193D371}"/>
              </a:ext>
            </a:extLst>
          </p:cNvPr>
          <p:cNvSpPr txBox="1"/>
          <p:nvPr/>
        </p:nvSpPr>
        <p:spPr>
          <a:xfrm>
            <a:off x="0" y="4381892"/>
            <a:ext cx="6122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Refactoring By Abstraction</a:t>
            </a:r>
          </a:p>
        </p:txBody>
      </p:sp>
      <p:pic>
        <p:nvPicPr>
          <p:cNvPr id="3076" name="Picture 4" descr="Refactoring-By-Abstraction">
            <a:extLst>
              <a:ext uri="{FF2B5EF4-FFF2-40B4-BE49-F238E27FC236}">
                <a16:creationId xmlns:a16="http://schemas.microsoft.com/office/drawing/2014/main" id="{67A42D15-5D00-C830-614C-62A1C0041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641" y="3897367"/>
            <a:ext cx="6042108" cy="296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21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96AE-BEC2-9750-0AA6-0D1B827D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3CFE-3010-AAF2-CB69-6C80F50B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 rtl="0"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CODE REFACTORING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D2C3D-6D8A-98BA-51ED-92A87BC86337}"/>
              </a:ext>
            </a:extLst>
          </p:cNvPr>
          <p:cNvSpPr txBox="1"/>
          <p:nvPr/>
        </p:nvSpPr>
        <p:spPr>
          <a:xfrm>
            <a:off x="0" y="595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Composing 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4EE6B-DC12-1DBC-4A98-DC904FCDA370}"/>
              </a:ext>
            </a:extLst>
          </p:cNvPr>
          <p:cNvSpPr txBox="1"/>
          <p:nvPr/>
        </p:nvSpPr>
        <p:spPr>
          <a:xfrm>
            <a:off x="5254" y="1596689"/>
            <a:ext cx="6122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Simplifying 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BC66FF-5847-1261-48A3-0EF8923A81D3}"/>
              </a:ext>
            </a:extLst>
          </p:cNvPr>
          <p:cNvSpPr txBox="1"/>
          <p:nvPr/>
        </p:nvSpPr>
        <p:spPr>
          <a:xfrm>
            <a:off x="0" y="1013753"/>
            <a:ext cx="6127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streamline methods to reduce duplication in our code.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C948E-9565-12EE-A147-AA145ED5EB6D}"/>
              </a:ext>
            </a:extLst>
          </p:cNvPr>
          <p:cNvSpPr txBox="1"/>
          <p:nvPr/>
        </p:nvSpPr>
        <p:spPr>
          <a:xfrm>
            <a:off x="0" y="2051224"/>
            <a:ext cx="12191998" cy="15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techniques involved in this approach.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Simplifying Conditional Expressions Refactoring: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 in programming becomes more logical and complicated over time</a:t>
            </a:r>
          </a:p>
          <a:p>
            <a:pPr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Simplifying Method Calls Refactoring: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this approach, we make method calls simpler and easier to understand.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3A7D8-0FDC-5104-2088-F7DF7627EDE0}"/>
              </a:ext>
            </a:extLst>
          </p:cNvPr>
          <p:cNvSpPr txBox="1"/>
          <p:nvPr/>
        </p:nvSpPr>
        <p:spPr>
          <a:xfrm>
            <a:off x="0" y="3799701"/>
            <a:ext cx="12205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Moving Features Between Objects: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we create new classes, and we move the functionality safely between old and new classes.</a:t>
            </a:r>
          </a:p>
        </p:txBody>
      </p:sp>
    </p:spTree>
    <p:extLst>
      <p:ext uri="{BB962C8B-B14F-4D97-AF65-F5344CB8AC3E}">
        <p14:creationId xmlns:p14="http://schemas.microsoft.com/office/powerpoint/2010/main" val="1158581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74D1-FA99-5258-0C46-2AC121EA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ECA7-EAF7-671C-6969-58AB41A1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 rtl="0"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COMMON CODE REFACTORING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9185D-EAE0-72BC-33CC-841E4F68FAFB}"/>
              </a:ext>
            </a:extLst>
          </p:cNvPr>
          <p:cNvSpPr txBox="1"/>
          <p:nvPr/>
        </p:nvSpPr>
        <p:spPr>
          <a:xfrm>
            <a:off x="0" y="6026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Preparatory Refactoring</a:t>
            </a:r>
          </a:p>
        </p:txBody>
      </p:sp>
      <p:pic>
        <p:nvPicPr>
          <p:cNvPr id="6146" name="Picture 2" descr="Preparatory-Refactoring">
            <a:extLst>
              <a:ext uri="{FF2B5EF4-FFF2-40B4-BE49-F238E27FC236}">
                <a16:creationId xmlns:a16="http://schemas.microsoft.com/office/drawing/2014/main" id="{B6359DC1-A31A-019A-BCFF-ADDDBEDBD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234" y="861848"/>
            <a:ext cx="8475725" cy="416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C4E635-F2D3-E800-8202-71167FA5E9A1}"/>
              </a:ext>
            </a:extLst>
          </p:cNvPr>
          <p:cNvSpPr txBox="1"/>
          <p:nvPr/>
        </p:nvSpPr>
        <p:spPr>
          <a:xfrm>
            <a:off x="-26278" y="5023562"/>
            <a:ext cx="1219199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User Interface Refactoring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simple changes in UI and refactor the code. For example: align entry field, apply font, reword in active voice indicate the format, apply common button size, and increase </a:t>
            </a:r>
            <a:r>
              <a:rPr lang="en-GB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contrast, etc.</a:t>
            </a:r>
          </a:p>
        </p:txBody>
      </p:sp>
    </p:spTree>
    <p:extLst>
      <p:ext uri="{BB962C8B-B14F-4D97-AF65-F5344CB8AC3E}">
        <p14:creationId xmlns:p14="http://schemas.microsoft.com/office/powerpoint/2010/main" val="4036589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7610-B69C-25E9-AA3C-AF439EAD4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A815-94C3-8AEB-2175-B6CDD25F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 rtl="0">
              <a:lnSpc>
                <a:spcPct val="115000"/>
              </a:lnSpc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REFACTORING PROCESS</a:t>
            </a:r>
          </a:p>
        </p:txBody>
      </p:sp>
      <p:pic>
        <p:nvPicPr>
          <p:cNvPr id="3" name="Picture 4" descr="refactoring-in-software-engineering-1">
            <a:extLst>
              <a:ext uri="{FF2B5EF4-FFF2-40B4-BE49-F238E27FC236}">
                <a16:creationId xmlns:a16="http://schemas.microsoft.com/office/drawing/2014/main" id="{04441A81-C57A-5161-7FC0-F0AFD9A30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8" b="30132"/>
          <a:stretch>
            <a:fillRect/>
          </a:stretch>
        </p:blipFill>
        <p:spPr bwMode="auto">
          <a:xfrm>
            <a:off x="893378" y="1397876"/>
            <a:ext cx="10405242" cy="357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396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6081-B82A-1462-B346-F1502DB66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7D66-A9CF-A67D-9B11-8A7C081D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1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DEVELOPMENT ENVIRONMENTS AND INTEGRATED DEVELOPMENT ENVIRONMENTS (IDES).</a:t>
            </a:r>
            <a:endParaRPr lang="en-GB" sz="1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576B2-C697-F6D4-48F4-6B82895147F8}"/>
              </a:ext>
            </a:extLst>
          </p:cNvPr>
          <p:cNvSpPr txBox="1"/>
          <p:nvPr/>
        </p:nvSpPr>
        <p:spPr>
          <a:xfrm>
            <a:off x="-126125" y="687352"/>
            <a:ext cx="12318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Environment (SDE)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complete set of tools, processes, and infrastructure used by developers to create, test, debug, and maintain software applications.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2EF8C-6457-3060-2CE8-CDC7E52C9CB5}"/>
              </a:ext>
            </a:extLst>
          </p:cNvPr>
          <p:cNvSpPr txBox="1"/>
          <p:nvPr/>
        </p:nvSpPr>
        <p:spPr>
          <a:xfrm>
            <a:off x="-1" y="1475337"/>
            <a:ext cx="1179260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Software Development Environment: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Compilers/Interpreters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Automate the process of compiling and linking code (e.g., Maven, Gradle, Make).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Systems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Tools to track changes and collaborate (e.g., Git).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Automate testing to ensure code quality (e.g., JUnit, Selenium).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Tools to find and fix bugs (e.g., GDB,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WinDbg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Reusable code components (e.g., .NET, React, TensorFlow).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storing and retrieving application data (e.g., MySQL, MongoDB).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Help document the system (e.g.,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Javadoc).</a:t>
            </a:r>
          </a:p>
        </p:txBody>
      </p:sp>
    </p:spTree>
    <p:extLst>
      <p:ext uri="{BB962C8B-B14F-4D97-AF65-F5344CB8AC3E}">
        <p14:creationId xmlns:p14="http://schemas.microsoft.com/office/powerpoint/2010/main" val="1542303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0AE5-A7D6-1D67-54A8-B5E91435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38FB-974B-5A46-2BAF-EFF9F228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1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DEVELOPMENT ENVIRONMENTS AND INTEGRATED DEVELOPMENT ENVIRONMENTS (IDES).</a:t>
            </a:r>
            <a:endParaRPr lang="en-GB" sz="1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ich are Different Environments in Software Development?">
            <a:extLst>
              <a:ext uri="{FF2B5EF4-FFF2-40B4-BE49-F238E27FC236}">
                <a16:creationId xmlns:a16="http://schemas.microsoft.com/office/drawing/2014/main" id="{0E209360-ECC2-0076-5DF8-CF1AB679B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6" t="6336" r="5862" b="11078"/>
          <a:stretch>
            <a:fillRect/>
          </a:stretch>
        </p:blipFill>
        <p:spPr bwMode="auto">
          <a:xfrm>
            <a:off x="1907626" y="997289"/>
            <a:ext cx="8823435" cy="466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589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5293F-01A8-664C-E8F7-EE0A377B2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62AD-13BF-1527-58CD-AC022C4B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DEVELOPMENT ENVIRONMENTS (IDES).</a:t>
            </a:r>
            <a:endParaRPr lang="en-GB" sz="32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Brief About IDE (Integrated Development Environments)">
            <a:extLst>
              <a:ext uri="{FF2B5EF4-FFF2-40B4-BE49-F238E27FC236}">
                <a16:creationId xmlns:a16="http://schemas.microsoft.com/office/drawing/2014/main" id="{3875B27F-30D6-3977-0BD7-598D103FB6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6" r="1293"/>
          <a:stretch>
            <a:fillRect/>
          </a:stretch>
        </p:blipFill>
        <p:spPr bwMode="auto">
          <a:xfrm>
            <a:off x="7987860" y="2042668"/>
            <a:ext cx="4204139" cy="441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A2598-6382-2189-0A57-D939FD589D66}"/>
              </a:ext>
            </a:extLst>
          </p:cNvPr>
          <p:cNvSpPr txBox="1"/>
          <p:nvPr/>
        </p:nvSpPr>
        <p:spPr>
          <a:xfrm>
            <a:off x="0" y="1065206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software app that offers complete features for software development.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source code editor, build automation tools, and a debugger is typically included in an IDE.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A873E-BD6D-283C-BB0B-D5808F3FC706}"/>
              </a:ext>
            </a:extLst>
          </p:cNvPr>
          <p:cNvSpPr txBox="1"/>
          <p:nvPr/>
        </p:nvSpPr>
        <p:spPr>
          <a:xfrm>
            <a:off x="-1" y="2042668"/>
            <a:ext cx="788275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IDEs: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Editor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Syntax highlighting, auto-completion, and error detection.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Compiler/Interpreter Integration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Directly compile or run code.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Set breakpoints, inspect variables, and step through code.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Automation 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Integration with tools like Gradle or Maven.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Project/File Management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Organize and manage project files easily.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Integration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Git integration within the IDE.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 Design Tools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Visual tools for UI/UX development (e.g., Android Studio).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Plugin Support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Add new tools/features (e.g.,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ESLint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Docker plugins).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Terminal Access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Built-in terminal for CLI-based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187616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9DED-74FE-5363-E4AB-D95E777A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E48D-2959-D20D-84D7-52BA91E2C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02673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DEVELOPMENT ENVIRONMENTS (IDES).</a:t>
            </a:r>
            <a:endParaRPr lang="en-GB" sz="32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82EC22-6B70-A0F0-BC8F-DBC26B11A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60754"/>
              </p:ext>
            </p:extLst>
          </p:nvPr>
        </p:nvGraphicFramePr>
        <p:xfrm>
          <a:off x="701565" y="1697427"/>
          <a:ext cx="10515600" cy="29260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584291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086136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404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79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&amp; extensible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JavaScript, Python, C++,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3433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IntelliJ IDEA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Enterprise Java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Kotlin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800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Eclipse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Versatile open-source 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C++, PHP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83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69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NetBeans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PHP, C++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78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Studio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app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Kotlin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252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Xcode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 ecosystem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Swift, Objective-C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26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797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End of the Unit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DF7D-17C0-BD95-6B86-11FEF4B2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D545D-89BF-8A5E-8566-2C3DB036D7A4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917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1030</Words>
  <Application>Microsoft Macintosh PowerPoint</Application>
  <PresentationFormat>Widescreen</PresentationFormat>
  <Paragraphs>159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OUTLINES</vt:lpstr>
      <vt:lpstr>PROGRAMMING LANGUAGES AND DEVELOPMENT TOOLS</vt:lpstr>
      <vt:lpstr>DEVELOPMENT TOOLS</vt:lpstr>
      <vt:lpstr>SELECTING PROGRAMMING LANGUAGES AND TOOLS FOR SOFTWARE DEVELOPMENT.</vt:lpstr>
      <vt:lpstr>SELECTING PROGRAMMING LANGUAGES AND TOOLS FOR SOFTWARE DEVELOPMENT.</vt:lpstr>
      <vt:lpstr>TOOLS FOR SOFTWARE DEVELOPMENT</vt:lpstr>
      <vt:lpstr>TOOLS FOR SOFTWARE DEVELOPMENT</vt:lpstr>
      <vt:lpstr>CLEAN CODE PRACTICES, CODE READABILITY, AND REFACTORING</vt:lpstr>
      <vt:lpstr>CODE READABILITY</vt:lpstr>
      <vt:lpstr>REFACTORING</vt:lpstr>
      <vt:lpstr>MOST COMMON CODE REFACTORING TECHNIQUES</vt:lpstr>
      <vt:lpstr>MOST COMMON CODE REFACTORING TECHNIQUES</vt:lpstr>
      <vt:lpstr>MOST COMMON CODE REFACTORING TECHNIQUES</vt:lpstr>
      <vt:lpstr>CODE REFACTORING PROCESS</vt:lpstr>
      <vt:lpstr>INTRODUCTION TO SOFTWARE DEVELOPMENT ENVIRONMENTS AND INTEGRATED DEVELOPMENT ENVIRONMENTS (IDES).</vt:lpstr>
      <vt:lpstr>INTRODUCTION TO SOFTWARE DEVELOPMENT ENVIRONMENTS AND INTEGRATED DEVELOPMENT ENVIRONMENTS (IDES).</vt:lpstr>
      <vt:lpstr>INTEGRATED DEVELOPMENT ENVIRONMENTS (IDES).</vt:lpstr>
      <vt:lpstr>INTEGRATED DEVELOPMENT ENVIRONMENTS (IDES).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233</cp:revision>
  <dcterms:created xsi:type="dcterms:W3CDTF">2024-09-18T03:14:27Z</dcterms:created>
  <dcterms:modified xsi:type="dcterms:W3CDTF">2025-07-08T18:48:49Z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