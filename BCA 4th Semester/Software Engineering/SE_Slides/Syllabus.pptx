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6" r:id="rId4"/>
    <p:sldId id="317" r:id="rId5"/>
    <p:sldId id="322" r:id="rId6"/>
    <p:sldId id="330" r:id="rId7"/>
    <p:sldId id="323" r:id="rId8"/>
    <p:sldId id="325" r:id="rId9"/>
    <p:sldId id="314" r:id="rId1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3969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07/07/25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95" y="1087755"/>
            <a:ext cx="12066905" cy="699135"/>
          </a:xfrm>
        </p:spPr>
        <p:txBody>
          <a:bodyPr>
            <a:noAutofit/>
          </a:bodyPr>
          <a:lstStyle/>
          <a:p>
            <a:r>
              <a:rPr lang="en-US" sz="4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Software Engineering </a:t>
            </a:r>
            <a:endParaRPr lang="en-US" altLang="en-GB" sz="1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6542" y="3315970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				 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2199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Semester: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26745" y="1361440"/>
            <a:ext cx="27863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charset="0"/>
              <a:buChar char="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Works</a:t>
            </a:r>
          </a:p>
          <a:p>
            <a:pPr marL="285750" indent="-285750">
              <a:buFont typeface="Wingdings" panose="05000000000000000000" charset="0"/>
              <a:buChar char="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0" y="754380"/>
            <a:ext cx="12192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 Bold" panose="02020603050405020304" charset="0"/>
                <a:cs typeface="Times New Roman Bold" panose="02020603050405020304" charset="0"/>
              </a:rPr>
              <a:t>Course Code : </a:t>
            </a:r>
            <a:r>
              <a:rPr lang="en-US" sz="28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CMP 323</a:t>
            </a:r>
            <a:r>
              <a:rPr lang="en-US" sz="2800" dirty="0">
                <a:solidFill>
                  <a:srgbClr val="00B05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					</a:t>
            </a:r>
            <a:r>
              <a:rPr lang="en-US" sz="2800" b="1" dirty="0">
                <a:solidFill>
                  <a:srgbClr val="00B050"/>
                </a:solidFill>
                <a:latin typeface="Times New Roman Bold" panose="02020603050405020304" charset="0"/>
                <a:cs typeface="Times New Roman Bold" panose="02020603050405020304" charset="0"/>
              </a:rPr>
              <a:t>Total Hour:</a:t>
            </a:r>
            <a:r>
              <a:rPr lang="en-US" sz="2800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48 Hrs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46050" y="1762760"/>
            <a:ext cx="12045950" cy="246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1: Introduction to Software Engineering                                                                                         5 hours</a:t>
            </a: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Overview of Software Engineering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Definition and characteristics of software.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Software engineering as a discipline and its challenges.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Professional Practices in Software Engineering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Attributes of good software.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Software development life cycle (SDLC) and ethical practices.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563F2-BFE7-E31F-F34A-10B9F8F3D9AC}"/>
              </a:ext>
            </a:extLst>
          </p:cNvPr>
          <p:cNvSpPr txBox="1"/>
          <p:nvPr/>
        </p:nvSpPr>
        <p:spPr>
          <a:xfrm>
            <a:off x="0" y="0"/>
            <a:ext cx="12192000" cy="2431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  <a:tabLst>
                <a:tab pos="6289675" algn="r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2: Software Development Process Models                                                                                       	</a:t>
            </a:r>
            <a:r>
              <a:rPr lang="en-US" sz="18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800" b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hours</a:t>
            </a: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Process Models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Waterfall Model, Evolutionary Development, Component Based Software Engineering(CBSE), Process Iteration, Incremental Delivery, Spiral Development, Rapid Software Development, Agile Methods, Extreme Programming, Rapid Application Development and Rational Unified Process (RUP).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and classification of CASE tools.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of CASE tools in modern software engineering practices.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EDB4A-2FF0-C4E7-C173-C611E0A4E6E0}"/>
              </a:ext>
            </a:extLst>
          </p:cNvPr>
          <p:cNvSpPr txBox="1"/>
          <p:nvPr/>
        </p:nvSpPr>
        <p:spPr>
          <a:xfrm>
            <a:off x="0" y="2619731"/>
            <a:ext cx="12191999" cy="194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Unit 3: System Analysis in OOAD                                                                                                            		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6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hours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Requirements in Object-Oriented Systems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Identifying functional and non-functional requirements in object-oriented systems.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Use of Use Case Diagrams to model system requirements.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Requirement Modeling in OOAD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Creating Use Case Descriptions and Use Case Diagrams in UML for capturing functional requirements.</a:t>
            </a:r>
            <a:r>
              <a:rPr lang="en-GB" dirty="0">
                <a:effectLst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B0A4A2-14EA-C894-DDFC-0697519C0B32}"/>
              </a:ext>
            </a:extLst>
          </p:cNvPr>
          <p:cNvSpPr txBox="1"/>
          <p:nvPr/>
        </p:nvSpPr>
        <p:spPr>
          <a:xfrm>
            <a:off x="0" y="91336"/>
            <a:ext cx="12192000" cy="306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4: Object-Oriented Design (OOD) with UML                                                                             		 12 hours</a:t>
            </a: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OOD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Concept; Abstraction, Architecture, Patterns, Modularity Cohesion, Coupling Information Hiding, Functional Independence , Refinement 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principles: abstraction, encapsulation, inheritance, polymorphism.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OOAD in software engineering. 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diagrams, object diagrams, and sequence diagrams, State machine diagrams, component diagrams, and deployment diagrams.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common design patterns such as Singleton, Factory, Observer.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Procedural Design Using Structural Methods, User Interface Design, Human Computer Interaction, Information Presentation, Interface Evaluation, Design Notation</a:t>
            </a:r>
            <a:endParaRPr lang="en-GB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60B6C-F5D2-6AAD-12B4-EC4295D88DCF}"/>
              </a:ext>
            </a:extLst>
          </p:cNvPr>
          <p:cNvSpPr txBox="1"/>
          <p:nvPr/>
        </p:nvSpPr>
        <p:spPr>
          <a:xfrm>
            <a:off x="0" y="3156149"/>
            <a:ext cx="11905593" cy="338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5: Software Testing and Quality Assurance                                                                               		9 hours</a:t>
            </a: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Testing Techniques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Unit testing, integration testing, and system testing.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Black-box and white-box testing techniques.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Verification and Validation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The importance of software testing in the development life cycle.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Software Quality Assurance (SQA)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Overview of software quality standards (ISO, CMM).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Importance of software quality assurance (SQA) processes</a:t>
            </a:r>
            <a:r>
              <a:rPr lang="en-US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 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4"/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Risk Categories, The RMM Plan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534CAF-70AC-1B9C-9C23-80385ECE4320}"/>
              </a:ext>
            </a:extLst>
          </p:cNvPr>
          <p:cNvSpPr txBox="1"/>
          <p:nvPr/>
        </p:nvSpPr>
        <p:spPr>
          <a:xfrm>
            <a:off x="0" y="0"/>
            <a:ext cx="12192000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6: Coding Practices and Programming                                                                                     			 4 hours</a:t>
            </a:r>
            <a:endParaRPr lang="en-GB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10E301-C309-AFB5-270B-7B95A0D381DC}"/>
              </a:ext>
            </a:extLst>
          </p:cNvPr>
          <p:cNvSpPr txBox="1"/>
          <p:nvPr/>
        </p:nvSpPr>
        <p:spPr>
          <a:xfrm>
            <a:off x="0" y="392159"/>
            <a:ext cx="12192000" cy="1666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and Development Tools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Selecting programming languages and tools for software development.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in Coding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code practices, code readability, and refactoring.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software development environments and integrated development environments (IDEs).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50901-A08E-4519-B00F-A77FED5B0679}"/>
              </a:ext>
            </a:extLst>
          </p:cNvPr>
          <p:cNvSpPr txBox="1"/>
          <p:nvPr/>
        </p:nvSpPr>
        <p:spPr>
          <a:xfrm>
            <a:off x="0" y="2115372"/>
            <a:ext cx="12192000" cy="274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7: Software Maintenance and Evolution                                                                                  			6 hours</a:t>
            </a: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Evolving Nature of Software, 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maintenance: corrective, adaptive, perfective, preventive.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Re-engineering and Configuration Management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of software re-engineering and version control.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configuration management in large-scale software systems.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endParaRPr lang="en-GB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D3646-7919-DD3B-4429-EFB03FBDF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6" r="1074" b="2125"/>
          <a:stretch/>
        </p:blipFill>
        <p:spPr>
          <a:xfrm>
            <a:off x="2209800" y="420914"/>
            <a:ext cx="7688943" cy="629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E9E78F-632B-0E86-B8E6-25BF90AF9AFE}"/>
              </a:ext>
            </a:extLst>
          </p:cNvPr>
          <p:cNvSpPr txBox="1"/>
          <p:nvPr/>
        </p:nvSpPr>
        <p:spPr>
          <a:xfrm>
            <a:off x="6096000" y="0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5615" y="-48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Evaluation System </a:t>
            </a:r>
          </a:p>
        </p:txBody>
      </p:sp>
      <p:graphicFrame>
        <p:nvGraphicFramePr>
          <p:cNvPr id="2" name="Table 1"/>
          <p:cNvGraphicFramePr/>
          <p:nvPr/>
        </p:nvGraphicFramePr>
        <p:xfrm>
          <a:off x="338455" y="1123315"/>
          <a:ext cx="1151572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7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5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7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InternalEvaluation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ExternalEvaluation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Marks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Theory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Semester-Endexamination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1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66666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Attendance&amp;ClassParticipation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Assignments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Presentations/Quizzes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InternalAssessment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Attendance&amp;ClassParticipation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35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LabReport/ProjectReport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PracticalExam/ProjectWork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Viva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30%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Internal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2400" b="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940">
                <a:tc gridSpan="5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FullMarks: 50 +50 = 100</a:t>
                      </a:r>
                      <a:endParaRPr lang="en-US" sz="2400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025" marR="73025" marT="0" marB="0">
                    <a:lnL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99999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602</Words>
  <Application>Microsoft Macintosh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Times New Roman Bold</vt:lpstr>
      <vt:lpstr>Times New Roman Regular</vt:lpstr>
      <vt:lpstr>Wingdings</vt:lpstr>
      <vt:lpstr>Office Theme</vt:lpstr>
      <vt:lpstr>Software Engineering </vt:lpstr>
      <vt:lpstr>OUTLINES</vt:lpstr>
      <vt:lpstr>SYLLABUS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191</cp:revision>
  <dcterms:created xsi:type="dcterms:W3CDTF">2024-09-18T03:14:27Z</dcterms:created>
  <dcterms:modified xsi:type="dcterms:W3CDTF">2025-07-07T04:17:58Z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