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3" r:id="rId13"/>
    <p:sldId id="334" r:id="rId14"/>
    <p:sldId id="335" r:id="rId15"/>
    <p:sldId id="336" r:id="rId16"/>
    <p:sldId id="337" r:id="rId17"/>
    <p:sldId id="332" r:id="rId18"/>
    <p:sldId id="345" r:id="rId19"/>
    <p:sldId id="346" r:id="rId20"/>
    <p:sldId id="338" r:id="rId21"/>
    <p:sldId id="339" r:id="rId22"/>
    <p:sldId id="340" r:id="rId23"/>
    <p:sldId id="341" r:id="rId24"/>
    <p:sldId id="342" r:id="rId25"/>
    <p:sldId id="343" r:id="rId26"/>
    <p:sldId id="347" r:id="rId27"/>
    <p:sldId id="348" r:id="rId28"/>
    <p:sldId id="344" r:id="rId29"/>
    <p:sldId id="349" r:id="rId30"/>
    <p:sldId id="350" r:id="rId31"/>
    <p:sldId id="351" r:id="rId32"/>
    <p:sldId id="352" r:id="rId33"/>
    <p:sldId id="353" r:id="rId34"/>
    <p:sldId id="354" r:id="rId35"/>
    <p:sldId id="355" r:id="rId36"/>
    <p:sldId id="356" r:id="rId37"/>
    <p:sldId id="357" r:id="rId38"/>
    <p:sldId id="358" r:id="rId39"/>
    <p:sldId id="314" r:id="rId4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06" autoAdjust="0"/>
    <p:restoredTop sz="93969" autoAdjust="0"/>
  </p:normalViewPr>
  <p:slideViewPr>
    <p:cSldViewPr snapToGrid="0">
      <p:cViewPr varScale="1">
        <p:scale>
          <a:sx n="118" d="100"/>
          <a:sy n="118" d="100"/>
        </p:scale>
        <p:origin x="24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17/06/25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094" y="349529"/>
            <a:ext cx="12066905" cy="1957253"/>
          </a:xfrm>
        </p:spPr>
        <p:txBody>
          <a:bodyPr>
            <a:noAutofit/>
          </a:bodyPr>
          <a:lstStyle/>
          <a:p>
            <a:pPr marL="457200">
              <a:lnSpc>
                <a:spcPct val="115000"/>
              </a:lnSpc>
              <a:spcAft>
                <a:spcPts val="1000"/>
              </a:spcAft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4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Design (OOD) with UML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64222" y="3452648"/>
            <a:ext cx="7441323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sented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 </a:t>
            </a:r>
            <a:b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lang="en-US" altLang="en-GB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				      				NAST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415145" y="2159000"/>
            <a:ext cx="2525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Time: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12 hours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27114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A3D2E-8583-3D2E-28F5-96B83F33E7D8}"/>
              </a:ext>
            </a:extLst>
          </p:cNvPr>
          <p:cNvSpPr txBox="1"/>
          <p:nvPr/>
        </p:nvSpPr>
        <p:spPr>
          <a:xfrm>
            <a:off x="0" y="987136"/>
            <a:ext cx="12192000" cy="3252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OOD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Concept: Abstraction, Architecture, Patterns, Modularity, Cohesion, Coupling ,Information Hiding, Functional Independence , Refinement 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principles: abstraction, encapsulation, inheritance, polymorphism.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Benefits of OOAD in software engineering. 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diagrams, object diagrams, and sequence diagrams, State machine diagrams, component diagrams, and deployment diagrams.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common design patterns such as Singleton, Factory, Observer.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Procedural Design Using Structural Methods, User Interface Design, Human Computer Interaction, Information Presentation, Interface Evaluation, Design Notation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7D63-01BA-07B7-A397-F8869D7A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15FE-3A87-AA09-89E9-2205CAE3E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0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OOD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6335525A-EE1A-833C-B90B-BD87629432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47" t="10880" r="8381" b="6714"/>
          <a:stretch>
            <a:fillRect/>
          </a:stretch>
        </p:blipFill>
        <p:spPr bwMode="auto">
          <a:xfrm>
            <a:off x="3947188" y="1726561"/>
            <a:ext cx="5169478" cy="422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2B16CF-CFDC-612D-460D-5CE2063B20CC}"/>
              </a:ext>
            </a:extLst>
          </p:cNvPr>
          <p:cNvSpPr txBox="1"/>
          <p:nvPr/>
        </p:nvSpPr>
        <p:spPr>
          <a:xfrm>
            <a:off x="77931" y="718798"/>
            <a:ext cx="121140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OOD is a programming technique that solves software problems by building a system of interrelated objects.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use of the concepts of classes and objects, encapsulation, inheritance, and polymorphism to model real-world entities and their interactions.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705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7D62-5E95-D7D7-68F1-925479B8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6732-9A9E-54C2-A304-772A63020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0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OOD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85B25-3AFF-594B-CC7B-F59B291EA27D}"/>
              </a:ext>
            </a:extLst>
          </p:cNvPr>
          <p:cNvSpPr txBox="1"/>
          <p:nvPr/>
        </p:nvSpPr>
        <p:spPr>
          <a:xfrm>
            <a:off x="0" y="634365"/>
            <a:ext cx="12192000" cy="6109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Mapping to Real-World Problems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 and Extensibility</a:t>
            </a:r>
          </a:p>
          <a:p>
            <a:pPr algn="ctr" fontAlgn="base">
              <a:spcAft>
                <a:spcPts val="1800"/>
              </a:spcAft>
            </a:pPr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Principles of OOD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Polymorphism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360700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C14CC-B222-33F2-D2D5-64CC46278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175E-3650-6760-FD01-5F722CAE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0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 Principles of OOD</a:t>
            </a:r>
          </a:p>
        </p:txBody>
      </p:sp>
      <p:pic>
        <p:nvPicPr>
          <p:cNvPr id="3074" name="Picture 2" descr="Lightbox">
            <a:extLst>
              <a:ext uri="{FF2B5EF4-FFF2-40B4-BE49-F238E27FC236}">
                <a16:creationId xmlns:a16="http://schemas.microsoft.com/office/drawing/2014/main" id="{EEFF609B-667F-4FF1-0CD3-05CD7918C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8371"/>
            <a:ext cx="3851203" cy="275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ightbox">
            <a:extLst>
              <a:ext uri="{FF2B5EF4-FFF2-40B4-BE49-F238E27FC236}">
                <a16:creationId xmlns:a16="http://schemas.microsoft.com/office/drawing/2014/main" id="{CE524511-02EE-7DD1-9097-466539114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429" y="543194"/>
            <a:ext cx="3429751" cy="278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Lightbox">
            <a:extLst>
              <a:ext uri="{FF2B5EF4-FFF2-40B4-BE49-F238E27FC236}">
                <a16:creationId xmlns:a16="http://schemas.microsoft.com/office/drawing/2014/main" id="{982A01BC-DDAC-7297-D0F2-B5A7C0779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398" y="634365"/>
            <a:ext cx="3851204" cy="262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olymorphism">
            <a:extLst>
              <a:ext uri="{FF2B5EF4-FFF2-40B4-BE49-F238E27FC236}">
                <a16:creationId xmlns:a16="http://schemas.microsoft.com/office/drawing/2014/main" id="{9FB5A095-86BD-02C8-BF60-CF28B7887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30333"/>
            <a:ext cx="3888543" cy="301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Composition-(1)">
            <a:extLst>
              <a:ext uri="{FF2B5EF4-FFF2-40B4-BE49-F238E27FC236}">
                <a16:creationId xmlns:a16="http://schemas.microsoft.com/office/drawing/2014/main" id="{E880961E-13A7-F436-8D3B-6917654CA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4591" y="3599415"/>
            <a:ext cx="4217409" cy="301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31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D57AD-1A5D-1521-FB43-4C6C1CBD2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F9E71-D804-6A9D-0F07-212F6F53D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64" y="0"/>
            <a:ext cx="1149234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OOAD in software engineering</a:t>
            </a: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DA2A91A2-6FDE-5E2C-FB86-47857C1A8E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75" b="28788"/>
          <a:stretch>
            <a:fillRect/>
          </a:stretch>
        </p:blipFill>
        <p:spPr bwMode="auto">
          <a:xfrm>
            <a:off x="1524000" y="1101436"/>
            <a:ext cx="9144000" cy="402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47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E021-58AD-6B18-6E8E-863B8EC2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38D64-92BC-C8DB-597D-CD26E83C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64" y="0"/>
            <a:ext cx="1149234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VS OOAD</a:t>
            </a: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BA439ED-3309-7CD6-4E2F-E53A6392A5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98" b="20909"/>
          <a:stretch>
            <a:fillRect/>
          </a:stretch>
        </p:blipFill>
        <p:spPr bwMode="auto">
          <a:xfrm>
            <a:off x="1524000" y="1240220"/>
            <a:ext cx="9144000" cy="4011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383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53EFA-FC66-5D7E-E6A6-36D805ED6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15598-F5D6-B04D-D033-AD3203EF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64" y="0"/>
            <a:ext cx="1149234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</a:t>
            </a: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612608-91D3-1ECE-665F-9E030CEC3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11" t="1673" r="37359" b="65011"/>
          <a:stretch>
            <a:fillRect/>
          </a:stretch>
        </p:blipFill>
        <p:spPr>
          <a:xfrm>
            <a:off x="3226085" y="634365"/>
            <a:ext cx="6544639" cy="622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19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6B145-F963-537D-2069-B654E735A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A4DD-8D8F-3B12-A5AA-371BE3C6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64" y="0"/>
            <a:ext cx="1149234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</a:t>
            </a: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CAF077-99D6-80C2-506A-1FE4396087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93" t="35025" r="37147" b="29883"/>
          <a:stretch>
            <a:fillRect/>
          </a:stretch>
        </p:blipFill>
        <p:spPr>
          <a:xfrm>
            <a:off x="3029164" y="634365"/>
            <a:ext cx="6133672" cy="608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79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0CE94-89A9-FDAE-024B-E99AFBE5D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75990-941A-45EC-7A92-8C5D9BD1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64" y="0"/>
            <a:ext cx="1149234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Concept</a:t>
            </a: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C3A0BB-2CBC-3B58-89B0-C7066B3E3D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93" t="70117" r="33612" b="5647"/>
          <a:stretch>
            <a:fillRect/>
          </a:stretch>
        </p:blipFill>
        <p:spPr>
          <a:xfrm>
            <a:off x="2699534" y="634365"/>
            <a:ext cx="6792931" cy="622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40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9510D-2206-1B13-9A3C-9E0B2638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D5F54-40DC-045A-4CB2-E43C0FB94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4365"/>
          </a:xfrm>
        </p:spPr>
        <p:txBody>
          <a:bodyPr>
            <a:norm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UML DIAGRAM</a:t>
            </a:r>
            <a:endParaRPr lang="en-GB" sz="24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Unified Modeling Language (UML) Diagrams - GeeksforGeeks">
            <a:extLst>
              <a:ext uri="{FF2B5EF4-FFF2-40B4-BE49-F238E27FC236}">
                <a16:creationId xmlns:a16="http://schemas.microsoft.com/office/drawing/2014/main" id="{777089B8-FFC2-A898-350F-D1B7E13C23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2" r="4310" b="10216"/>
          <a:stretch>
            <a:fillRect/>
          </a:stretch>
        </p:blipFill>
        <p:spPr bwMode="auto">
          <a:xfrm>
            <a:off x="462455" y="634365"/>
            <a:ext cx="11477297" cy="547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811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BD31D-E1BF-40D5-039B-1DCFD253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424B-4662-B641-918A-55068E0D0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4365"/>
          </a:xfrm>
        </p:spPr>
        <p:txBody>
          <a:bodyPr>
            <a:norm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UML DIAGRAM</a:t>
            </a:r>
            <a:endParaRPr lang="en-GB" sz="24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CACB1-B21F-DD25-A989-F1203CB8E570}"/>
              </a:ext>
            </a:extLst>
          </p:cNvPr>
          <p:cNvSpPr txBox="1"/>
          <p:nvPr/>
        </p:nvSpPr>
        <p:spPr>
          <a:xfrm>
            <a:off x="0" y="634365"/>
            <a:ext cx="1237067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UML diagrams:</a:t>
            </a:r>
          </a:p>
          <a:p>
            <a:pPr marL="285750" indent="-285750" algn="l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visual representations that depict the static aspects of a system, including its classes, objects, components, and their relationships, providing a clear view of the system's architecture. </a:t>
            </a:r>
          </a:p>
          <a:p>
            <a:pPr algn="l"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Types:</a:t>
            </a:r>
          </a:p>
          <a:p>
            <a:pPr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Class diagrams</a:t>
            </a: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Class-Diagram-example">
            <a:extLst>
              <a:ext uri="{FF2B5EF4-FFF2-40B4-BE49-F238E27FC236}">
                <a16:creationId xmlns:a16="http://schemas.microsoft.com/office/drawing/2014/main" id="{3F4F16FB-0A76-89AC-5808-CD87C92878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" t="7242" r="5086" b="16113"/>
          <a:stretch>
            <a:fillRect/>
          </a:stretch>
        </p:blipFill>
        <p:spPr bwMode="auto">
          <a:xfrm>
            <a:off x="530772" y="2142470"/>
            <a:ext cx="11130456" cy="4677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083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51788-2664-4A4E-8387-2468D158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F42E-774F-722A-F542-B55A1565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743"/>
            <a:ext cx="12192000" cy="634365"/>
          </a:xfrm>
        </p:spPr>
        <p:txBody>
          <a:bodyPr>
            <a:norm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UML DIAGRAM</a:t>
            </a:r>
            <a:endParaRPr lang="en-GB" sz="24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E591A-0FC0-2D4B-1EB2-2FA507C3A858}"/>
              </a:ext>
            </a:extLst>
          </p:cNvPr>
          <p:cNvSpPr txBox="1"/>
          <p:nvPr/>
        </p:nvSpPr>
        <p:spPr>
          <a:xfrm>
            <a:off x="0" y="634365"/>
            <a:ext cx="120448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Object diagrams</a:t>
            </a:r>
          </a:p>
          <a:p>
            <a:pPr marL="285750" indent="-285750" fontAlgn="base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referred to as a screenshot of the instances in a system and the relationship that exists between them.</a:t>
            </a:r>
            <a:endParaRPr lang="en-GB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n-object-diagram">
            <a:extLst>
              <a:ext uri="{FF2B5EF4-FFF2-40B4-BE49-F238E27FC236}">
                <a16:creationId xmlns:a16="http://schemas.microsoft.com/office/drawing/2014/main" id="{98781ADD-CF59-38EB-FA99-D6A626E53F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4" b="13702"/>
          <a:stretch>
            <a:fillRect/>
          </a:stretch>
        </p:blipFill>
        <p:spPr bwMode="auto">
          <a:xfrm>
            <a:off x="0" y="1559276"/>
            <a:ext cx="12192000" cy="500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276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30638-A868-E776-74A7-A596BA469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D064-68B7-D02F-44DB-78717425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4365"/>
          </a:xfrm>
        </p:spPr>
        <p:txBody>
          <a:bodyPr>
            <a:normAutofit fontScale="90000"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sequence diagrams</a:t>
            </a:r>
            <a:endParaRPr lang="en-GB" sz="36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E9632-C4B5-1677-1A03-9AED84CF022C}"/>
              </a:ext>
            </a:extLst>
          </p:cNvPr>
          <p:cNvSpPr txBox="1"/>
          <p:nvPr/>
        </p:nvSpPr>
        <p:spPr>
          <a:xfrm>
            <a:off x="0" y="54485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 diagram simply depicts interaction between objects in a sequential order i.e. the order in which these interactions take place. </a:t>
            </a:r>
          </a:p>
        </p:txBody>
      </p:sp>
      <p:pic>
        <p:nvPicPr>
          <p:cNvPr id="3074" name="Picture 2" descr="Example-sequence-diagram-2">
            <a:extLst>
              <a:ext uri="{FF2B5EF4-FFF2-40B4-BE49-F238E27FC236}">
                <a16:creationId xmlns:a16="http://schemas.microsoft.com/office/drawing/2014/main" id="{1B99456E-B325-F120-FE81-F8FDAEF014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43"/>
          <a:stretch>
            <a:fillRect/>
          </a:stretch>
        </p:blipFill>
        <p:spPr bwMode="auto">
          <a:xfrm>
            <a:off x="0" y="1130751"/>
            <a:ext cx="12192000" cy="548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089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571E7-F550-DCCA-F427-9C633E20B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7115-9B25-8DE9-8108-A5C6916E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4365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State machine diagrams</a:t>
            </a: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0D4BB-26B8-4A64-BDEC-2042EA91D4D2}"/>
              </a:ext>
            </a:extLst>
          </p:cNvPr>
          <p:cNvSpPr txBox="1"/>
          <p:nvPr/>
        </p:nvSpPr>
        <p:spPr>
          <a:xfrm>
            <a:off x="0" y="63436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state diagram is used to represent the condition of the system or part of the system at finite instances of time.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 behavioral diagram and it represents the behavior using finite state transitions.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A-State-Machine-Diagram-for-user-verification">
            <a:extLst>
              <a:ext uri="{FF2B5EF4-FFF2-40B4-BE49-F238E27FC236}">
                <a16:creationId xmlns:a16="http://schemas.microsoft.com/office/drawing/2014/main" id="{849CEC28-704E-AE27-1F45-1D9F56D6B8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79" b="13492"/>
          <a:stretch>
            <a:fillRect/>
          </a:stretch>
        </p:blipFill>
        <p:spPr bwMode="auto">
          <a:xfrm>
            <a:off x="493987" y="1358462"/>
            <a:ext cx="11414234" cy="527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698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891DA-C440-1135-1D05-5DDDEC49E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48CED-E18A-075B-EDA2-EADB704E3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4365"/>
          </a:xfrm>
        </p:spPr>
        <p:txBody>
          <a:bodyPr>
            <a:normAutofit fontScale="90000"/>
          </a:bodyPr>
          <a:lstStyle/>
          <a:p>
            <a:pPr algn="ctr" fontAlgn="base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component diagrams:</a:t>
            </a:r>
            <a:endParaRPr lang="en-GB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89ADB-D303-A2D3-C9B0-8F8EF942A18A}"/>
              </a:ext>
            </a:extLst>
          </p:cNvPr>
          <p:cNvSpPr txBox="1"/>
          <p:nvPr/>
        </p:nvSpPr>
        <p:spPr>
          <a:xfrm>
            <a:off x="-1" y="634365"/>
            <a:ext cx="11624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diagrams are used to represent how the physical components in a system have been organized.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Component">
            <a:extLst>
              <a:ext uri="{FF2B5EF4-FFF2-40B4-BE49-F238E27FC236}">
                <a16:creationId xmlns:a16="http://schemas.microsoft.com/office/drawing/2014/main" id="{B8647E4A-9F3D-175B-BB50-161EDBAEF3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49"/>
          <a:stretch>
            <a:fillRect/>
          </a:stretch>
        </p:blipFill>
        <p:spPr bwMode="auto">
          <a:xfrm>
            <a:off x="1295400" y="1268730"/>
            <a:ext cx="9601200" cy="5407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820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A830-0189-CCF2-E6D1-E7C044FE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3AC5-1C0E-D17B-5370-539079B7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4365"/>
          </a:xfrm>
        </p:spPr>
        <p:txBody>
          <a:bodyPr>
            <a:norm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D</a:t>
            </a:r>
            <a:r>
              <a:rPr lang="en-US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eployment diagrams</a:t>
            </a:r>
            <a:endParaRPr lang="en-GB" sz="32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eployment Diagram in Unified Modeling Language(UML) - GeeksforGeeks">
            <a:extLst>
              <a:ext uri="{FF2B5EF4-FFF2-40B4-BE49-F238E27FC236}">
                <a16:creationId xmlns:a16="http://schemas.microsoft.com/office/drawing/2014/main" id="{4314AD27-19AD-B4A2-C4AA-DB1DB0813E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3" t="6070" r="9433" b="9399"/>
          <a:stretch>
            <a:fillRect/>
          </a:stretch>
        </p:blipFill>
        <p:spPr bwMode="auto">
          <a:xfrm>
            <a:off x="1955514" y="1826166"/>
            <a:ext cx="8280971" cy="449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D10613-405C-6A45-2F50-679F701DE600}"/>
              </a:ext>
            </a:extLst>
          </p:cNvPr>
          <p:cNvSpPr txBox="1"/>
          <p:nvPr/>
        </p:nvSpPr>
        <p:spPr>
          <a:xfrm>
            <a:off x="-1" y="907100"/>
            <a:ext cx="10573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Diagrams are used to represent system hardware and its software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662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BA525-28E0-FB05-09F0-41B1F43F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62193F-32DA-A0BD-1F2B-5575F5FF9040}"/>
              </a:ext>
            </a:extLst>
          </p:cNvPr>
          <p:cNvSpPr txBox="1"/>
          <p:nvPr/>
        </p:nvSpPr>
        <p:spPr>
          <a:xfrm>
            <a:off x="0" y="474345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Class Diagrams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the overall structure of the system.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planning object-oriented code.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design.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Generating code skeletons for applications.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Object Diagrams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visualize how data looks during execution.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testing and debugging.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Exploring object relationships during runtime.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Validating class diagrams with real data examples.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Sequence Diagrams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communication between objects easy to understand.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 identify the order of operations in a system.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Designing user interactions or workflows.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Documenting use case scenarios.</a:t>
            </a:r>
          </a:p>
        </p:txBody>
      </p:sp>
    </p:spTree>
    <p:extLst>
      <p:ext uri="{BB962C8B-B14F-4D97-AF65-F5344CB8AC3E}">
        <p14:creationId xmlns:p14="http://schemas.microsoft.com/office/powerpoint/2010/main" val="1126451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A6C6D-4108-B5B9-8E6C-E8380AD6F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560C75-B9D3-D643-38C2-23AE232E68C7}"/>
              </a:ext>
            </a:extLst>
          </p:cNvPr>
          <p:cNvSpPr txBox="1"/>
          <p:nvPr/>
        </p:nvSpPr>
        <p:spPr>
          <a:xfrm>
            <a:off x="-1" y="0"/>
            <a:ext cx="1210791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State Machine Diagrams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Clarify behavior in event-driven systems.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object lifecycle.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Modeling control systems or UI states.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Designing embedded systems or </a:t>
            </a:r>
            <a:r>
              <a:rPr lang="en-GB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workflows.</a:t>
            </a:r>
          </a:p>
          <a:p>
            <a:pPr lvl="1"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Component Diagrams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manage large systems by breaking them into smaller parts.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Good for understanding system dependencies.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Planning modular software design.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external libraries or services used in software.</a:t>
            </a:r>
          </a:p>
          <a:p>
            <a:pPr lvl="1"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Deployment Diagrams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visualizing physical system setup.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plan resource distribution.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Designing network or cloud-based systems.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Showing how software will be deployed across hardware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546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A4578-28F6-00E2-98DF-21BE14B45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3BAE9-FD82-001A-8D5A-E94FDEBD5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4365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common design patterns such as Singleton, Factory, Observer</a:t>
            </a:r>
            <a:endParaRPr lang="en-GB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CA7CFB-EDAE-4409-3668-966B0A3F6883}"/>
              </a:ext>
            </a:extLst>
          </p:cNvPr>
          <p:cNvSpPr txBox="1"/>
          <p:nvPr/>
        </p:nvSpPr>
        <p:spPr>
          <a:xfrm>
            <a:off x="0" y="540208"/>
            <a:ext cx="11193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simplest design patterns.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a class only has one instance, and provides a global point of access to it.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D76114-8339-A4ED-EAFD-911892185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762" y="1532759"/>
            <a:ext cx="9271000" cy="43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5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5340F-C14F-951D-518A-69829021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2E63-266F-8A2D-0B4F-FB3AD0359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4365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Singleton Design Pattern</a:t>
            </a:r>
            <a:endParaRPr lang="en-GB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2CE44-99E4-0BD4-0FAB-2D7DD47A7148}"/>
              </a:ext>
            </a:extLst>
          </p:cNvPr>
          <p:cNvSpPr txBox="1"/>
          <p:nvPr/>
        </p:nvSpPr>
        <p:spPr>
          <a:xfrm>
            <a:off x="73572" y="554748"/>
            <a:ext cx="1228659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buNone/>
            </a:pPr>
            <a:r>
              <a:rPr lang="en-GB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 Design Pattern Principles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Instance: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that only one instance of the class exists throughout the application.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Access: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global point of access to that instance.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Lazy or Eager Initialization: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creating the instance either when needed (lazy) or when the class is loaded (eager).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Safety: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mechanisms to prevent multiple threads from creating separate instances simultaneously.</a:t>
            </a:r>
          </a:p>
          <a:p>
            <a:pPr algn="just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Constructor: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direct instantiation by making the constructor private, forcing the use of the access point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A2374-75C9-671E-B0E6-572DDCAF5D49}"/>
              </a:ext>
            </a:extLst>
          </p:cNvPr>
          <p:cNvSpPr txBox="1"/>
          <p:nvPr/>
        </p:nvSpPr>
        <p:spPr>
          <a:xfrm>
            <a:off x="73572" y="3625597"/>
            <a:ext cx="11267090" cy="2172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250"/>
              </a:lnSpc>
              <a:buNone/>
            </a:pPr>
            <a:r>
              <a:rPr lang="en-GB" sz="2400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of Singleton</a:t>
            </a:r>
          </a:p>
          <a:p>
            <a:pPr algn="just">
              <a:lnSpc>
                <a:spcPts val="2400"/>
              </a:lnSpc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 Static Instance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static field that holds the single instance of the class.</a:t>
            </a:r>
          </a:p>
          <a:p>
            <a:pPr algn="just">
              <a:lnSpc>
                <a:spcPts val="2400"/>
              </a:lnSpc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 Constructor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Ensures that no other class can create a new instance.</a:t>
            </a:r>
          </a:p>
          <a:p>
            <a:pPr algn="just">
              <a:lnSpc>
                <a:spcPts val="2400"/>
              </a:lnSpc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Method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Returns the single instance, creating it if it doesn’t already exist.</a:t>
            </a:r>
          </a:p>
          <a:p>
            <a:pPr algn="just">
              <a:lnSpc>
                <a:spcPts val="2400"/>
              </a:lnSpc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Lazy Initialization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instance is created only when it is first needed, saving resources.</a:t>
            </a:r>
          </a:p>
          <a:p>
            <a:pPr algn="just">
              <a:buNone/>
            </a:pP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467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64266-8C21-FF8F-6A9E-0CCFC83EF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2D10-157B-D850-E7FC-1B9124AE8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939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Singleton Design Pattern</a:t>
            </a:r>
            <a:endParaRPr lang="en-GB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Key-Component-of-Singleton-Method-Design-Pattern-(1)">
            <a:extLst>
              <a:ext uri="{FF2B5EF4-FFF2-40B4-BE49-F238E27FC236}">
                <a16:creationId xmlns:a16="http://schemas.microsoft.com/office/drawing/2014/main" id="{73047C84-4ACB-DD37-6668-D5C8AB384E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5" t="6250" r="8879"/>
          <a:stretch>
            <a:fillRect/>
          </a:stretch>
        </p:blipFill>
        <p:spPr bwMode="auto">
          <a:xfrm>
            <a:off x="756745" y="571499"/>
            <a:ext cx="10678510" cy="57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933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741C7-E109-1371-AB0E-5580BA079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328F-B438-F034-95C6-15061715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939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Singleton Design Pattern</a:t>
            </a:r>
            <a:endParaRPr lang="en-GB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0E305-8D8C-17F9-7F12-E8873A79B720}"/>
              </a:ext>
            </a:extLst>
          </p:cNvPr>
          <p:cNvSpPr txBox="1"/>
          <p:nvPr/>
        </p:nvSpPr>
        <p:spPr>
          <a:xfrm>
            <a:off x="0" y="378373"/>
            <a:ext cx="6695091" cy="6561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buNone/>
            </a:pPr>
            <a:r>
              <a:rPr lang="en-GB" sz="20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Implementation</a:t>
            </a:r>
          </a:p>
          <a:p>
            <a:pPr>
              <a:lnSpc>
                <a:spcPts val="2250"/>
              </a:lnSpc>
              <a:buNone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Code: Singleton Class</a:t>
            </a:r>
          </a:p>
          <a:p>
            <a:pPr>
              <a:lnSpc>
                <a:spcPts val="2250"/>
              </a:lnSpc>
              <a:buNone/>
            </a:pP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Singleton;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singleton {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74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Step 1: Create a private static instance of the class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singleton instance;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74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Step 2: Make the constructor private to prevent instantiation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singleton</a:t>
            </a:r>
            <a:r>
              <a:rPr lang="en-GB" b="0" i="0" dirty="0">
                <a:solidFill>
                  <a:srgbClr val="5C2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250"/>
              </a:lnSpc>
              <a:buNone/>
            </a:pP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b="0" i="0" dirty="0">
                <a:solidFill>
                  <a:srgbClr val="C41A1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"Singleton instance created!"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);}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74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Step 3: Provide a public static method to access the instance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singleton </a:t>
            </a:r>
            <a:r>
              <a:rPr lang="en-GB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getInstance</a:t>
            </a:r>
            <a:r>
              <a:rPr lang="en-GB" b="0" i="0" dirty="0">
                <a:solidFill>
                  <a:srgbClr val="5C2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ts val="2250"/>
              </a:lnSpc>
              <a:buNone/>
            </a:pP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(instance == </a:t>
            </a: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ts val="2250"/>
              </a:lnSpc>
              <a:buNone/>
            </a:pP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instance = </a:t>
            </a: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singleton();</a:t>
            </a:r>
          </a:p>
          <a:p>
            <a:pPr>
              <a:lnSpc>
                <a:spcPts val="2250"/>
              </a:lnSpc>
              <a:buNone/>
            </a:pP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instance;}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74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Example method to demonstrate singleton functionality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showMessage</a:t>
            </a:r>
            <a:r>
              <a:rPr lang="en-GB" b="0" i="0" dirty="0">
                <a:solidFill>
                  <a:srgbClr val="5C2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b="0" i="0" dirty="0">
                <a:solidFill>
                  <a:srgbClr val="C41A1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"Hello from Singleton!"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E8993-0C52-9430-EDB2-A841026C5CE1}"/>
              </a:ext>
            </a:extLst>
          </p:cNvPr>
          <p:cNvSpPr txBox="1"/>
          <p:nvPr/>
        </p:nvSpPr>
        <p:spPr>
          <a:xfrm>
            <a:off x="6169573" y="643622"/>
            <a:ext cx="6022428" cy="5096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buNone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Code: Client Class (Main)</a:t>
            </a:r>
          </a:p>
          <a:p>
            <a:pPr>
              <a:buNone/>
            </a:pP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Singleton;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 {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>
                <a:solidFill>
                  <a:srgbClr val="AA0D9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</a:t>
            </a:r>
            <a:r>
              <a:rPr lang="en-GB" b="0" i="0" dirty="0">
                <a:solidFill>
                  <a:srgbClr val="5C2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(String[] </a:t>
            </a:r>
            <a:r>
              <a:rPr lang="en-GB" b="0" i="0" dirty="0" err="1">
                <a:solidFill>
                  <a:srgbClr val="5C2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GB" b="0" i="0" dirty="0">
                <a:solidFill>
                  <a:srgbClr val="5C2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74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Access singleton instance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5C2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>
                <a:solidFill>
                  <a:srgbClr val="3F6E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singleton1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singleton.getInstance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singleton1.showMessage();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74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Attempt to create another instance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5C2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singleton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0" i="0" dirty="0">
                <a:solidFill>
                  <a:srgbClr val="3F6E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singleton2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singleton.getInstance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singleton2.showMessage();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solidFill>
                  <a:srgbClr val="0074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Verify if both instances are the same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b="0" i="0" dirty="0">
                <a:solidFill>
                  <a:srgbClr val="C41A1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"Are both instances the same? "</a:t>
            </a: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(singleton1 == singleton2));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28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71A3E-2D9E-7D68-980F-F25AF31D7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A5083-67F2-819F-DF58-2C934A679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939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Singleton Design Pattern</a:t>
            </a:r>
            <a:endParaRPr lang="en-GB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77E2A-FDB6-748D-2D71-97641E38919B}"/>
              </a:ext>
            </a:extLst>
          </p:cNvPr>
          <p:cNvSpPr txBox="1"/>
          <p:nvPr/>
        </p:nvSpPr>
        <p:spPr>
          <a:xfrm>
            <a:off x="0" y="493987"/>
            <a:ext cx="12192000" cy="5237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  <a:buNone/>
            </a:pPr>
            <a:r>
              <a:rPr lang="en-GB" sz="20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Examples</a:t>
            </a:r>
          </a:p>
          <a:p>
            <a:pPr algn="l">
              <a:lnSpc>
                <a:spcPts val="1800"/>
              </a:lnSpc>
              <a:buNone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Logging Service</a:t>
            </a:r>
          </a:p>
          <a:p>
            <a:pPr algn="l">
              <a:lnSpc>
                <a:spcPts val="1800"/>
              </a:lnSpc>
              <a:buNone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Configuration Manager</a:t>
            </a:r>
          </a:p>
          <a:p>
            <a:pPr algn="l">
              <a:lnSpc>
                <a:spcPts val="1800"/>
              </a:lnSpc>
              <a:buNone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Database Connection Pool</a:t>
            </a:r>
          </a:p>
          <a:p>
            <a:pPr algn="l">
              <a:lnSpc>
                <a:spcPts val="1800"/>
              </a:lnSpc>
              <a:buNone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Operating System Printer Spooler</a:t>
            </a:r>
          </a:p>
          <a:p>
            <a:pPr algn="l">
              <a:lnSpc>
                <a:spcPts val="2250"/>
              </a:lnSpc>
              <a:buNone/>
            </a:pPr>
            <a:endParaRPr lang="en-GB" b="1" i="0" u="none" strike="noStrike" dirty="0">
              <a:solidFill>
                <a:srgbClr val="2424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250"/>
              </a:lnSpc>
              <a:buNone/>
            </a:pPr>
            <a:r>
              <a:rPr lang="en-GB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to Use Singleton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you need </a:t>
            </a: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exactly one instance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a class (e.g., database connections, logging, configuration).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the class must provide a </a:t>
            </a: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point of access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ts val="2400"/>
              </a:lnSpc>
            </a:pPr>
            <a:endParaRPr lang="en-GB" b="0" i="0" u="none" strike="noStrike" dirty="0">
              <a:solidFill>
                <a:srgbClr val="2424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250"/>
              </a:lnSpc>
              <a:buNone/>
            </a:pPr>
            <a:r>
              <a:rPr lang="en-GB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Singleton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Controlled Access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Only one instance exists, simplifying resource management.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Lazy Initialization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Saves memory and resources by creating the instance only when needed.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Access Point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single instance is accessible globally.</a:t>
            </a:r>
          </a:p>
          <a:p>
            <a:pPr algn="ctr">
              <a:lnSpc>
                <a:spcPts val="2250"/>
              </a:lnSpc>
              <a:buNone/>
            </a:pPr>
            <a:r>
              <a:rPr lang="en-GB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Singleton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Tight Coupling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Components that rely on the Singleton are tightly coupled to it.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 Testing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Mocking the Singleton for unit testing can be challenging.</a:t>
            </a:r>
          </a:p>
          <a:p>
            <a:pPr algn="l">
              <a:lnSpc>
                <a:spcPts val="2400"/>
              </a:lnSpc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Thread-Safety Issues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 multithreaded environments, multiple instances might be created without proper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1154363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BDD84-0833-131F-50B8-03BAC04F6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A5B03-80CB-2326-678F-33BA5B25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939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Factory Design Pattern</a:t>
            </a:r>
            <a:endParaRPr lang="en-GB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Factory-Method-Design-Pattern-">
            <a:extLst>
              <a:ext uri="{FF2B5EF4-FFF2-40B4-BE49-F238E27FC236}">
                <a16:creationId xmlns:a16="http://schemas.microsoft.com/office/drawing/2014/main" id="{C8C6CB79-424D-2892-59E2-BE3F81D131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86" t="18302" r="5776" b="15254"/>
          <a:stretch>
            <a:fillRect/>
          </a:stretch>
        </p:blipFill>
        <p:spPr bwMode="auto">
          <a:xfrm>
            <a:off x="2764220" y="977463"/>
            <a:ext cx="6905297" cy="381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AEFA49-9B18-5DD7-2CA6-3E26D4210296}"/>
              </a:ext>
            </a:extLst>
          </p:cNvPr>
          <p:cNvSpPr txBox="1"/>
          <p:nvPr/>
        </p:nvSpPr>
        <p:spPr>
          <a:xfrm>
            <a:off x="0" y="5276194"/>
            <a:ext cx="12191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interface for creating objects in a superclass, allowing subclasses to alter the type of objects that will be created.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pattern is particularly useful when the exact types of objects to be created may vary or need to be determined at runtime, enabling flexibility and extensibility in object creation.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388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CFE0C-BBEE-2307-25BB-B2ECE291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EA8B7-9E7A-4B24-EC3D-D18B6EA4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939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Factory Design Pattern</a:t>
            </a:r>
            <a:endParaRPr lang="en-GB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A8064-CE01-1456-BD6C-B8F182D8CC6F}"/>
              </a:ext>
            </a:extLst>
          </p:cNvPr>
          <p:cNvSpPr txBox="1"/>
          <p:nvPr/>
        </p:nvSpPr>
        <p:spPr>
          <a:xfrm>
            <a:off x="-1" y="493987"/>
            <a:ext cx="1219199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to Use: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the code needs to create objects without knowing the exact class/type in advance.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the object creation is complex or involves logic (e.g., selecting between multiple types).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you want to decouple the instantiation process from the client code.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FF1F8-9B7C-4865-F444-E55B4FF6B3E4}"/>
              </a:ext>
            </a:extLst>
          </p:cNvPr>
          <p:cNvSpPr txBox="1"/>
          <p:nvPr/>
        </p:nvSpPr>
        <p:spPr>
          <a:xfrm>
            <a:off x="0" y="2044373"/>
            <a:ext cx="111619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the common interface or abstract class for all objects the factory creates.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Concrete Product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the actual classes implementing the Product interface.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Creator (Factory)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defines the factory method to return Product objects.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Concrete Creator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overrides the factory method to return specific Concrete Products.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9233F9-6458-DC4C-C532-51073BD58DA4}"/>
              </a:ext>
            </a:extLst>
          </p:cNvPr>
          <p:cNvSpPr txBox="1"/>
          <p:nvPr/>
        </p:nvSpPr>
        <p:spPr>
          <a:xfrm>
            <a:off x="0" y="3800446"/>
            <a:ext cx="116717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Loose coupling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between client code and the actual object creation.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becomes more maintainable and scalable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it easier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new types of products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without changing existing code.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 lead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lots of classes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 larger projects.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Slightly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complexity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compared to simple instantiation (new keyword).</a:t>
            </a:r>
          </a:p>
        </p:txBody>
      </p:sp>
    </p:spTree>
    <p:extLst>
      <p:ext uri="{BB962C8B-B14F-4D97-AF65-F5344CB8AC3E}">
        <p14:creationId xmlns:p14="http://schemas.microsoft.com/office/powerpoint/2010/main" val="1660125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06C1B-444A-22DD-C6D0-CB116CC9F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4531A-597A-5DE3-4C88-95FDD63A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939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Factory Design Pattern</a:t>
            </a:r>
            <a:endParaRPr lang="en-GB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65193-CC34-F17A-1FF0-5749A3D8BA2D}"/>
              </a:ext>
            </a:extLst>
          </p:cNvPr>
          <p:cNvSpPr txBox="1"/>
          <p:nvPr/>
        </p:nvSpPr>
        <p:spPr>
          <a:xfrm>
            <a:off x="0" y="246994"/>
            <a:ext cx="644284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</a:t>
            </a:r>
            <a:r>
              <a:rPr lang="en-US" b="1" dirty="0"/>
              <a:t>Product interface</a:t>
            </a:r>
          </a:p>
          <a:p>
            <a:r>
              <a:rPr lang="en-US" dirty="0"/>
              <a:t>interface Shape {</a:t>
            </a:r>
          </a:p>
          <a:p>
            <a:r>
              <a:rPr lang="en-US" dirty="0"/>
              <a:t>    void draw();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// </a:t>
            </a:r>
            <a:r>
              <a:rPr lang="en-US" b="1" dirty="0"/>
              <a:t>Concrete Products</a:t>
            </a:r>
          </a:p>
          <a:p>
            <a:r>
              <a:rPr lang="en-US" dirty="0"/>
              <a:t>class Circle implements Shape {</a:t>
            </a:r>
          </a:p>
          <a:p>
            <a:r>
              <a:rPr lang="en-US" dirty="0"/>
              <a:t>    public void draw() { </a:t>
            </a:r>
            <a:r>
              <a:rPr lang="en-US" dirty="0" err="1"/>
              <a:t>System.out.println</a:t>
            </a:r>
            <a:r>
              <a:rPr lang="en-US" dirty="0"/>
              <a:t>("Drawing Circle");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Square implements Shape {</a:t>
            </a:r>
          </a:p>
          <a:p>
            <a:r>
              <a:rPr lang="en-US" dirty="0"/>
              <a:t>    public void draw() { </a:t>
            </a:r>
            <a:r>
              <a:rPr lang="en-US" dirty="0" err="1"/>
              <a:t>System.out.println</a:t>
            </a:r>
            <a:r>
              <a:rPr lang="en-US" dirty="0"/>
              <a:t>("Drawing Square"); }</a:t>
            </a:r>
          </a:p>
          <a:p>
            <a:r>
              <a:rPr lang="en-US" dirty="0"/>
              <a:t>}</a:t>
            </a:r>
          </a:p>
          <a:p>
            <a:r>
              <a:rPr lang="en-US" b="1" dirty="0"/>
              <a:t>// Factory Class</a:t>
            </a:r>
          </a:p>
          <a:p>
            <a:r>
              <a:rPr lang="en-US" dirty="0"/>
              <a:t>class </a:t>
            </a:r>
            <a:r>
              <a:rPr lang="en-US" dirty="0" err="1"/>
              <a:t>ShapeFactory</a:t>
            </a:r>
            <a:r>
              <a:rPr lang="en-US" dirty="0"/>
              <a:t> {</a:t>
            </a:r>
          </a:p>
          <a:p>
            <a:r>
              <a:rPr lang="en-US" dirty="0"/>
              <a:t>    public Shape </a:t>
            </a:r>
            <a:r>
              <a:rPr lang="en-US" dirty="0" err="1"/>
              <a:t>getShape</a:t>
            </a:r>
            <a:r>
              <a:rPr lang="en-US" dirty="0"/>
              <a:t>(String type) {</a:t>
            </a:r>
          </a:p>
          <a:p>
            <a:r>
              <a:rPr lang="en-US" dirty="0"/>
              <a:t>        if (</a:t>
            </a:r>
            <a:r>
              <a:rPr lang="en-US" dirty="0" err="1"/>
              <a:t>type.equalsIgnoreCase</a:t>
            </a:r>
            <a:r>
              <a:rPr lang="en-US" dirty="0"/>
              <a:t>("CIRCLE")) {</a:t>
            </a:r>
          </a:p>
          <a:p>
            <a:r>
              <a:rPr lang="en-US" dirty="0"/>
              <a:t>            return new Circle();</a:t>
            </a:r>
          </a:p>
          <a:p>
            <a:r>
              <a:rPr lang="en-US" dirty="0"/>
              <a:t>        } else if (</a:t>
            </a:r>
            <a:r>
              <a:rPr lang="en-US" dirty="0" err="1"/>
              <a:t>type.equalsIgnoreCase</a:t>
            </a:r>
            <a:r>
              <a:rPr lang="en-US" dirty="0"/>
              <a:t>("SQUARE")) {</a:t>
            </a:r>
          </a:p>
          <a:p>
            <a:r>
              <a:rPr lang="en-US" dirty="0"/>
              <a:t>            return new Square();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return null;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3E838-850C-96A9-7CE9-E9D432CCA847}"/>
              </a:ext>
            </a:extLst>
          </p:cNvPr>
          <p:cNvSpPr txBox="1"/>
          <p:nvPr/>
        </p:nvSpPr>
        <p:spPr>
          <a:xfrm>
            <a:off x="6096000" y="3673477"/>
            <a:ext cx="61222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// </a:t>
            </a:r>
            <a:r>
              <a:rPr lang="en-US" b="1" dirty="0"/>
              <a:t>Client Code</a:t>
            </a:r>
          </a:p>
          <a:p>
            <a:r>
              <a:rPr lang="en-US" dirty="0"/>
              <a:t>public class Main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</a:t>
            </a:r>
            <a:r>
              <a:rPr lang="en-US" dirty="0" err="1"/>
              <a:t>ShapeFactory</a:t>
            </a:r>
            <a:r>
              <a:rPr lang="en-US" dirty="0"/>
              <a:t> factory = new </a:t>
            </a:r>
            <a:r>
              <a:rPr lang="en-US" dirty="0" err="1"/>
              <a:t>ShapeFactory</a:t>
            </a:r>
            <a:r>
              <a:rPr lang="en-US" dirty="0"/>
              <a:t>();</a:t>
            </a:r>
          </a:p>
          <a:p>
            <a:r>
              <a:rPr lang="en-US" dirty="0"/>
              <a:t>        Shape shape1 = </a:t>
            </a:r>
            <a:r>
              <a:rPr lang="en-US" dirty="0" err="1"/>
              <a:t>factory.getShape</a:t>
            </a:r>
            <a:r>
              <a:rPr lang="en-US" dirty="0"/>
              <a:t>("CIRCLE");</a:t>
            </a:r>
          </a:p>
          <a:p>
            <a:r>
              <a:rPr lang="en-US" dirty="0"/>
              <a:t>        shape1.draw(); // Output: Drawing Circle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854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DB391-346A-CEEB-B1F5-8001AD54E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02F7-A845-CDBB-5B27-C6C9EDDAF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939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 Design Pattern</a:t>
            </a:r>
            <a:endParaRPr lang="en-GB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37B2D-5A7E-870D-8ECC-E0ADC490B6F6}"/>
              </a:ext>
            </a:extLst>
          </p:cNvPr>
          <p:cNvSpPr txBox="1"/>
          <p:nvPr/>
        </p:nvSpPr>
        <p:spPr>
          <a:xfrm>
            <a:off x="-1" y="493987"/>
            <a:ext cx="12191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Observer Design Pattern is a behavioural design pattern that defines a one-to-many dependency between objects.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one object (the subject) changes state, all its dependents (observers) are notified and updated automatically.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observers">
            <a:extLst>
              <a:ext uri="{FF2B5EF4-FFF2-40B4-BE49-F238E27FC236}">
                <a16:creationId xmlns:a16="http://schemas.microsoft.com/office/drawing/2014/main" id="{C4A265DA-7204-14E4-A846-1A67BB712E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41" t="12495" r="7931" b="9568"/>
          <a:stretch>
            <a:fillRect/>
          </a:stretch>
        </p:blipFill>
        <p:spPr bwMode="auto">
          <a:xfrm>
            <a:off x="3794235" y="1140318"/>
            <a:ext cx="4246180" cy="475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288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58760-E5D9-A2BD-02A3-5015D0F51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AF754-00F8-442B-27A0-63B45A2AA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939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 Design Pattern</a:t>
            </a:r>
            <a:endParaRPr lang="en-GB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Observer-(1)">
            <a:extLst>
              <a:ext uri="{FF2B5EF4-FFF2-40B4-BE49-F238E27FC236}">
                <a16:creationId xmlns:a16="http://schemas.microsoft.com/office/drawing/2014/main" id="{EE3EAF34-BF31-215A-A141-1AE7DA65DD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1" r="21896"/>
          <a:stretch>
            <a:fillRect/>
          </a:stretch>
        </p:blipFill>
        <p:spPr bwMode="auto">
          <a:xfrm>
            <a:off x="2081048" y="493987"/>
            <a:ext cx="7252138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806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99783-1AFA-0DC9-1468-BF92DFE6E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C5CBA-17BD-6100-91DA-E8BD49292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939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 Design Pattern</a:t>
            </a:r>
            <a:endParaRPr lang="en-GB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Lightbox">
            <a:extLst>
              <a:ext uri="{FF2B5EF4-FFF2-40B4-BE49-F238E27FC236}">
                <a16:creationId xmlns:a16="http://schemas.microsoft.com/office/drawing/2014/main" id="{80381DDD-6213-63C8-CD7D-3F67B3EF19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0"/>
          <a:stretch>
            <a:fillRect/>
          </a:stretch>
        </p:blipFill>
        <p:spPr bwMode="auto">
          <a:xfrm>
            <a:off x="0" y="641131"/>
            <a:ext cx="12192000" cy="583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397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EDCC-BC40-E558-0230-D76015AC8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C7E9-E955-843D-E235-D6DDEBB62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939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 Design Pattern</a:t>
            </a:r>
            <a:endParaRPr lang="en-GB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DAFEC-75F1-B16E-525B-A5490D5A3529}"/>
              </a:ext>
            </a:extLst>
          </p:cNvPr>
          <p:cNvSpPr txBox="1"/>
          <p:nvPr/>
        </p:nvSpPr>
        <p:spPr>
          <a:xfrm>
            <a:off x="0" y="493987"/>
            <a:ext cx="120763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loose coupling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between subject and observers.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broadcast communication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(subject notifies all observers).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to add new observers without changing subject code.</a:t>
            </a:r>
          </a:p>
          <a:p>
            <a:pPr algn="just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lead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unexpected updates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if not handled carefully.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Potential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leaks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if observers are not removed properly.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can become harder with many observers.</a:t>
            </a:r>
          </a:p>
        </p:txBody>
      </p:sp>
    </p:spTree>
    <p:extLst>
      <p:ext uri="{BB962C8B-B14F-4D97-AF65-F5344CB8AC3E}">
        <p14:creationId xmlns:p14="http://schemas.microsoft.com/office/powerpoint/2010/main" val="2274214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F12C-E593-BA4A-AE26-D00E1AEA8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08603-A4C2-791F-D05A-B0873191B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939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Observer Design Pattern</a:t>
            </a:r>
            <a:endParaRPr lang="en-GB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78D39-06D2-A0A2-64BA-2F247EC3E470}"/>
              </a:ext>
            </a:extLst>
          </p:cNvPr>
          <p:cNvSpPr txBox="1"/>
          <p:nvPr/>
        </p:nvSpPr>
        <p:spPr>
          <a:xfrm>
            <a:off x="0" y="0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Observer interface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Observer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update(String message);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interface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Subject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attach(Observer o);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detach(Observer o);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notifyObservers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Subject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NewsAgency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Subject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List&lt;Observer&gt; observers =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&lt;&gt;();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news;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setNews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news)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this.news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news;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notifyObservers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D4C58-1C1A-AE33-E198-8266C487AEE0}"/>
              </a:ext>
            </a:extLst>
          </p:cNvPr>
          <p:cNvSpPr txBox="1"/>
          <p:nvPr/>
        </p:nvSpPr>
        <p:spPr>
          <a:xfrm>
            <a:off x="6172200" y="236244"/>
            <a:ext cx="612227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Observer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NewsChannel implements Observer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String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channelNews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update(String news)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this.channelNews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news;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("NewsChannel received: " + news);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Main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NewsAgency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agency = new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NewsAgency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NewsChannel channel1 = new NewsChannel();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NewsChannel channel2 = new NewsChannel();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agency.attach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(channel1);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agency.attach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(channel2);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agency.setNews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("New Drone Policy Announced!");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61A56-11E7-DEA4-C67C-F22500F4594A}"/>
              </a:ext>
            </a:extLst>
          </p:cNvPr>
          <p:cNvSpPr txBox="1"/>
          <p:nvPr/>
        </p:nvSpPr>
        <p:spPr>
          <a:xfrm>
            <a:off x="76200" y="4945226"/>
            <a:ext cx="57044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void attach(Observer o)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observers.add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(o);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detach(Observer o) {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observers.remove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(o); }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notifyObservers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(Observer o : observers)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o.update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(news);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}}}</a:t>
            </a:r>
          </a:p>
        </p:txBody>
      </p:sp>
    </p:spTree>
    <p:extLst>
      <p:ext uri="{BB962C8B-B14F-4D97-AF65-F5344CB8AC3E}">
        <p14:creationId xmlns:p14="http://schemas.microsoft.com/office/powerpoint/2010/main" val="27865785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FCF53-A63F-8C17-70CE-28324AB34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BA4B3-0876-0A23-1445-33B878311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0827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Procedural Design Using Structural Methods, User Interface Design, Human Computer Interaction, Information Presentation, Interface Evaluation, Design Notation</a:t>
            </a:r>
            <a:endParaRPr lang="en-GB" sz="24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8BB844-3C9E-FBE5-AD5F-815FCD3F5B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" r="9335" b="1180"/>
          <a:stretch>
            <a:fillRect/>
          </a:stretch>
        </p:blipFill>
        <p:spPr>
          <a:xfrm>
            <a:off x="1567543" y="840826"/>
            <a:ext cx="7424057" cy="601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344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4A68-8215-6E6C-0E0C-2C051B31E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667E-2DBF-9A2B-BB63-482BC7E34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442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Design</a:t>
            </a:r>
            <a:endParaRPr lang="en-GB" sz="24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CF6FBA-B177-22FC-2D31-0CCECD920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44287"/>
            <a:ext cx="7772400" cy="631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68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18A2C-0D53-D939-178D-3092A4C01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C358-0BC1-F189-92D1-85ADA28E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370114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Computer Interaction</a:t>
            </a:r>
            <a:endParaRPr lang="en-GB" sz="32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E8ABE3-CF66-20B8-339D-A14F271A5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9" y="484413"/>
            <a:ext cx="9949542" cy="637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214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54625-D151-9185-D371-6ACEF594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42035-0C4C-91A0-1B17-637E4BAC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468086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Presentation</a:t>
            </a:r>
            <a:endParaRPr lang="en-GB" sz="24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8C02A4-9341-4C8A-AAE9-BFE4FD805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6" y="468087"/>
            <a:ext cx="10363200" cy="638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77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8EF62-6872-7A20-F882-B9330F3CA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F8CD-26DE-A351-AD68-827CC9B88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78971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 Evaluation</a:t>
            </a:r>
            <a:endParaRPr lang="en-GB" sz="24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51A133-FEBA-9297-2F2E-4A2064350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478971"/>
            <a:ext cx="10570028" cy="637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52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FD169-D623-A05E-641A-9C4AC9FB9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C0DC-08AF-8F99-7741-5C9E056F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359229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Notation</a:t>
            </a:r>
            <a:endParaRPr lang="en-GB" sz="24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8BE63-5FDD-E44C-5116-D27F7AEA6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57" y="359229"/>
            <a:ext cx="9535885" cy="649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548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2020</Words>
  <Application>Microsoft Macintosh PowerPoint</Application>
  <PresentationFormat>Widescreen</PresentationFormat>
  <Paragraphs>265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Times New Roman</vt:lpstr>
      <vt:lpstr>Wingdings</vt:lpstr>
      <vt:lpstr>Office Theme</vt:lpstr>
      <vt:lpstr>Unit 4  Object-Oriented Design (OOD) with UML                                                                              </vt:lpstr>
      <vt:lpstr>OUTLINES</vt:lpstr>
      <vt:lpstr>Introduction To OOD</vt:lpstr>
      <vt:lpstr>Importance of OOD</vt:lpstr>
      <vt:lpstr>OO Principles of OOD</vt:lpstr>
      <vt:lpstr>Benefits of OOAD in software engineering</vt:lpstr>
      <vt:lpstr>Traditional VS OOAD</vt:lpstr>
      <vt:lpstr>Design Concept</vt:lpstr>
      <vt:lpstr>Design Concept</vt:lpstr>
      <vt:lpstr>Design Concept</vt:lpstr>
      <vt:lpstr>TYPES OF UML DIAGRAM</vt:lpstr>
      <vt:lpstr>TYPES OF UML DIAGRAM</vt:lpstr>
      <vt:lpstr>TYPES OF UML DIAGRAM</vt:lpstr>
      <vt:lpstr>3. sequence diagrams</vt:lpstr>
      <vt:lpstr>4. State machine diagrams</vt:lpstr>
      <vt:lpstr>5. component diagrams:</vt:lpstr>
      <vt:lpstr>6. Deployment diagrams</vt:lpstr>
      <vt:lpstr>PowerPoint Presentation</vt:lpstr>
      <vt:lpstr>PowerPoint Presentation</vt:lpstr>
      <vt:lpstr>Introduction to common design patterns such as Singleton, Factory, Observer</vt:lpstr>
      <vt:lpstr>Singleton Design Pattern</vt:lpstr>
      <vt:lpstr>Singleton Design Pattern</vt:lpstr>
      <vt:lpstr>Singleton Design Pattern</vt:lpstr>
      <vt:lpstr>Singleton Design Pattern</vt:lpstr>
      <vt:lpstr>Factory Design Pattern</vt:lpstr>
      <vt:lpstr>Factory Design Pattern</vt:lpstr>
      <vt:lpstr>Factory Design Pattern</vt:lpstr>
      <vt:lpstr>Observer Design Pattern</vt:lpstr>
      <vt:lpstr>Observer Design Pattern</vt:lpstr>
      <vt:lpstr>Observer Design Pattern</vt:lpstr>
      <vt:lpstr>Observer Design Pattern</vt:lpstr>
      <vt:lpstr>Observer Design Pattern</vt:lpstr>
      <vt:lpstr>Procedural Design Using Structural Methods, User Interface Design, Human Computer Interaction, Information Presentation, Interface Evaluation, Design Notation</vt:lpstr>
      <vt:lpstr>User Interface Design</vt:lpstr>
      <vt:lpstr>Human Computer Interaction</vt:lpstr>
      <vt:lpstr>Information Presentation</vt:lpstr>
      <vt:lpstr>Interface Evaluation</vt:lpstr>
      <vt:lpstr>Design Notation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Harendra Bikram Shah</cp:lastModifiedBy>
  <cp:revision>272</cp:revision>
  <dcterms:created xsi:type="dcterms:W3CDTF">2024-09-18T03:14:27Z</dcterms:created>
  <dcterms:modified xsi:type="dcterms:W3CDTF">2025-06-17T09:01:06Z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