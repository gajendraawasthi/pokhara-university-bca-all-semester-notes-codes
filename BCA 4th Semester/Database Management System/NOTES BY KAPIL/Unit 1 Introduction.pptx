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33"/>
  </p:notesMasterIdLst>
  <p:sldIdLst>
    <p:sldId id="256" r:id="rId2"/>
    <p:sldId id="257" r:id="rId3"/>
    <p:sldId id="286" r:id="rId4"/>
    <p:sldId id="287" r:id="rId5"/>
    <p:sldId id="258" r:id="rId6"/>
    <p:sldId id="259" r:id="rId7"/>
    <p:sldId id="278" r:id="rId8"/>
    <p:sldId id="260" r:id="rId9"/>
    <p:sldId id="261" r:id="rId10"/>
    <p:sldId id="273" r:id="rId11"/>
    <p:sldId id="274" r:id="rId12"/>
    <p:sldId id="262" r:id="rId13"/>
    <p:sldId id="263" r:id="rId14"/>
    <p:sldId id="264" r:id="rId15"/>
    <p:sldId id="265" r:id="rId16"/>
    <p:sldId id="266" r:id="rId17"/>
    <p:sldId id="279" r:id="rId18"/>
    <p:sldId id="267" r:id="rId19"/>
    <p:sldId id="268" r:id="rId20"/>
    <p:sldId id="275" r:id="rId21"/>
    <p:sldId id="280" r:id="rId22"/>
    <p:sldId id="276" r:id="rId23"/>
    <p:sldId id="282" r:id="rId24"/>
    <p:sldId id="277" r:id="rId25"/>
    <p:sldId id="269" r:id="rId26"/>
    <p:sldId id="283" r:id="rId27"/>
    <p:sldId id="284" r:id="rId28"/>
    <p:sldId id="285" r:id="rId29"/>
    <p:sldId id="270" r:id="rId30"/>
    <p:sldId id="271" r:id="rId31"/>
    <p:sldId id="27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325" autoAdjust="0"/>
  </p:normalViewPr>
  <p:slideViewPr>
    <p:cSldViewPr snapToGrid="0">
      <p:cViewPr varScale="1">
        <p:scale>
          <a:sx n="41" d="100"/>
          <a:sy n="41" d="100"/>
        </p:scale>
        <p:origin x="10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D40D43-D0CA-44B5-8918-C234F955DB25}"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ED260-D111-491D-AB9F-FC8569A2A916}" type="slidenum">
              <a:rPr lang="en-US" smtClean="0"/>
              <a:t>‹#›</a:t>
            </a:fld>
            <a:endParaRPr lang="en-US"/>
          </a:p>
        </p:txBody>
      </p:sp>
    </p:spTree>
    <p:extLst>
      <p:ext uri="{BB962C8B-B14F-4D97-AF65-F5344CB8AC3E}">
        <p14:creationId xmlns:p14="http://schemas.microsoft.com/office/powerpoint/2010/main" val="1933685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database is an organized collection of structured information, or data, typically stored electronically in a computer system.</a:t>
            </a:r>
          </a:p>
          <a:p>
            <a:r>
              <a:rPr lang="en-US" dirty="0"/>
              <a:t>A database-management system (DBMS) is a collection of interrelated data and a set of programs to access those data. Together, the data and the DBMS, along with the applications that are associated with them, are referred to as a database system. The primary goal of a DBMS is to provide a way to store and retrieve database information that is both convenient and efficient.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4</a:t>
            </a:fld>
            <a:endParaRPr lang="en-US"/>
          </a:p>
        </p:txBody>
      </p:sp>
    </p:spTree>
    <p:extLst>
      <p:ext uri="{BB962C8B-B14F-4D97-AF65-F5344CB8AC3E}">
        <p14:creationId xmlns:p14="http://schemas.microsoft.com/office/powerpoint/2010/main" val="2207439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457200" indent="-457200" algn="l">
              <a:buClr>
                <a:schemeClr val="tx1"/>
              </a:buClr>
              <a:buSzPct val="71000"/>
              <a:buFont typeface="Wingdings" panose="05000000000000000000" pitchFamily="2" charset="2"/>
              <a:buChar char="v"/>
            </a:pPr>
            <a:r>
              <a:rPr lang="en-US" sz="1200" b="1" dirty="0">
                <a:solidFill>
                  <a:srgbClr val="222222"/>
                </a:solidFill>
                <a:latin typeface="arial" panose="020B0604020202020204" pitchFamily="34" charset="0"/>
              </a:rPr>
              <a:t>D</a:t>
            </a:r>
            <a:r>
              <a:rPr lang="en-US" sz="1200" b="1" i="0" dirty="0">
                <a:solidFill>
                  <a:srgbClr val="222222"/>
                </a:solidFill>
                <a:effectLst/>
                <a:latin typeface="arial" panose="020B0604020202020204" pitchFamily="34" charset="0"/>
              </a:rPr>
              <a:t>atabase Management System</a:t>
            </a:r>
            <a:r>
              <a:rPr lang="en-US" sz="1200" i="0" dirty="0">
                <a:solidFill>
                  <a:srgbClr val="222222"/>
                </a:solidFill>
                <a:effectLst/>
                <a:latin typeface="arial" panose="020B0604020202020204" pitchFamily="34" charset="0"/>
              </a:rPr>
              <a:t> is a software application used to access, create, and manage databases.</a:t>
            </a:r>
          </a:p>
          <a:p>
            <a:pPr marL="457200" indent="-457200" algn="l">
              <a:buClr>
                <a:schemeClr val="tx1"/>
              </a:buClr>
              <a:buSzPct val="71000"/>
              <a:buFont typeface="Wingdings" panose="05000000000000000000" pitchFamily="2" charset="2"/>
              <a:buChar char="v"/>
            </a:pPr>
            <a:r>
              <a:rPr lang="en-US" sz="1200" dirty="0">
                <a:solidFill>
                  <a:schemeClr val="tx1"/>
                </a:solidFill>
              </a:rPr>
              <a:t>A DBMS consists of a group of commands to manipulate the database and acts as an interface between the end-users and the database. </a:t>
            </a:r>
          </a:p>
          <a:p>
            <a:pPr marL="457200" indent="-457200" algn="l">
              <a:buClr>
                <a:schemeClr val="tx1"/>
              </a:buClr>
              <a:buSzPct val="71000"/>
              <a:buFont typeface="Wingdings" panose="05000000000000000000" pitchFamily="2" charset="2"/>
              <a:buChar char="v"/>
            </a:pPr>
            <a:r>
              <a:rPr lang="en-US" sz="1200" dirty="0">
                <a:solidFill>
                  <a:schemeClr val="tx1"/>
                </a:solidFill>
              </a:rPr>
              <a:t>Provides a way to store and retrieve data in both convenient and efficient manner.</a:t>
            </a:r>
          </a:p>
          <a:p>
            <a:pPr marL="457200" indent="-457200" algn="l">
              <a:buClr>
                <a:schemeClr val="tx1"/>
              </a:buClr>
              <a:buSzPct val="71000"/>
              <a:buFont typeface="Wingdings" panose="05000000000000000000" pitchFamily="2" charset="2"/>
              <a:buChar char="v"/>
            </a:pPr>
            <a:r>
              <a:rPr lang="en-US" sz="1200" dirty="0">
                <a:solidFill>
                  <a:schemeClr val="tx1"/>
                </a:solidFill>
              </a:rPr>
              <a:t>Examples: Oracle, SQL Server, MySQL etc.</a:t>
            </a:r>
          </a:p>
          <a:p>
            <a:pPr marL="457200" indent="-457200" algn="l">
              <a:buClr>
                <a:schemeClr val="tx1"/>
              </a:buClr>
              <a:buSzPct val="71000"/>
              <a:buFont typeface="Wingdings" panose="05000000000000000000" pitchFamily="2" charset="2"/>
              <a:buChar char="v"/>
            </a:pPr>
            <a:endParaRPr lang="en-US" sz="1200" dirty="0">
              <a:solidFill>
                <a:schemeClr val="tx1"/>
              </a:solidFill>
            </a:endParaRPr>
          </a:p>
          <a:p>
            <a:pPr algn="l">
              <a:buClr>
                <a:schemeClr val="tx1"/>
              </a:buClr>
              <a:buSzPct val="71000"/>
            </a:pPr>
            <a:r>
              <a:rPr lang="en-US" sz="1200" dirty="0">
                <a:solidFill>
                  <a:schemeClr val="tx1"/>
                </a:solidFill>
              </a:rPr>
              <a:t>Database Management Systems allows users to do the following:</a:t>
            </a:r>
          </a:p>
          <a:p>
            <a:pPr marL="457200" indent="-457200" algn="l">
              <a:buClr>
                <a:schemeClr val="tx1"/>
              </a:buClr>
              <a:buSzPct val="71000"/>
              <a:buFont typeface="Wingdings" panose="05000000000000000000" pitchFamily="2" charset="2"/>
              <a:buChar char="v"/>
            </a:pPr>
            <a:r>
              <a:rPr lang="en-US" sz="1200" b="1" dirty="0">
                <a:solidFill>
                  <a:schemeClr val="tx1"/>
                </a:solidFill>
              </a:rPr>
              <a:t>Define Data </a:t>
            </a:r>
            <a:r>
              <a:rPr lang="en-US" sz="1200" dirty="0">
                <a:solidFill>
                  <a:schemeClr val="tx1"/>
                </a:solidFill>
              </a:rPr>
              <a:t>– Allows the users to create, modify and delete the definitions which define the organization of the database.</a:t>
            </a:r>
          </a:p>
          <a:p>
            <a:pPr marL="457200" indent="-457200" algn="l">
              <a:buClr>
                <a:schemeClr val="tx1"/>
              </a:buClr>
              <a:buSzPct val="71000"/>
              <a:buFont typeface="Wingdings" panose="05000000000000000000" pitchFamily="2" charset="2"/>
              <a:buChar char="v"/>
            </a:pPr>
            <a:r>
              <a:rPr lang="en-US" sz="1200" b="1" dirty="0">
                <a:solidFill>
                  <a:schemeClr val="tx1"/>
                </a:solidFill>
              </a:rPr>
              <a:t>Update Data </a:t>
            </a:r>
            <a:r>
              <a:rPr lang="en-US" sz="1200" dirty="0">
                <a:solidFill>
                  <a:schemeClr val="tx1"/>
                </a:solidFill>
              </a:rPr>
              <a:t>– Provides access to the users to insert, modify and delete data from the database.</a:t>
            </a:r>
          </a:p>
          <a:p>
            <a:pPr marL="457200" indent="-457200" algn="l">
              <a:buClr>
                <a:schemeClr val="tx1"/>
              </a:buClr>
              <a:buSzPct val="71000"/>
              <a:buFont typeface="Wingdings" panose="05000000000000000000" pitchFamily="2" charset="2"/>
              <a:buChar char="v"/>
            </a:pPr>
            <a:r>
              <a:rPr lang="en-US" sz="1200" b="1" dirty="0">
                <a:solidFill>
                  <a:schemeClr val="tx1"/>
                </a:solidFill>
              </a:rPr>
              <a:t>Retrieve Data </a:t>
            </a:r>
            <a:r>
              <a:rPr lang="en-US" sz="1200" dirty="0">
                <a:solidFill>
                  <a:schemeClr val="tx1"/>
                </a:solidFill>
              </a:rPr>
              <a:t>– Allows the users to retrieve data from the database based on the requirement.</a:t>
            </a:r>
          </a:p>
          <a:p>
            <a:pPr marL="457200" indent="-457200" algn="l">
              <a:buClr>
                <a:schemeClr val="tx1"/>
              </a:buClr>
              <a:buSzPct val="71000"/>
              <a:buFont typeface="Wingdings" panose="05000000000000000000" pitchFamily="2" charset="2"/>
              <a:buChar char="v"/>
            </a:pPr>
            <a:r>
              <a:rPr lang="en-US" sz="1200" b="1" dirty="0">
                <a:solidFill>
                  <a:schemeClr val="tx1"/>
                </a:solidFill>
              </a:rPr>
              <a:t>Administration of users </a:t>
            </a:r>
            <a:r>
              <a:rPr lang="en-US" sz="1200" dirty="0">
                <a:solidFill>
                  <a:schemeClr val="tx1"/>
                </a:solidFill>
              </a:rPr>
              <a:t>– Registers the users and monitors their action, enforces data security, maintains data integrity, monitors performance and deals with concurrency control.</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5</a:t>
            </a:fld>
            <a:endParaRPr lang="en-US"/>
          </a:p>
        </p:txBody>
      </p:sp>
    </p:spTree>
    <p:extLst>
      <p:ext uri="{BB962C8B-B14F-4D97-AF65-F5344CB8AC3E}">
        <p14:creationId xmlns:p14="http://schemas.microsoft.com/office/powerpoint/2010/main" val="3206843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a:t>
            </a:fld>
            <a:endParaRPr lang="en-US"/>
          </a:p>
        </p:txBody>
      </p:sp>
    </p:spTree>
    <p:extLst>
      <p:ext uri="{BB962C8B-B14F-4D97-AF65-F5344CB8AC3E}">
        <p14:creationId xmlns:p14="http://schemas.microsoft.com/office/powerpoint/2010/main" val="2231326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Banking Systems</a:t>
            </a:r>
          </a:p>
          <a:p>
            <a:r>
              <a:rPr lang="en-US" b="1" dirty="0"/>
              <a:t>Role of DBMS in Banking</a:t>
            </a:r>
          </a:p>
          <a:p>
            <a:r>
              <a:rPr lang="en-US" dirty="0"/>
              <a:t>Banks handle millions of customer transactions daily. A DBMS helps manage customer accounts, transactions, loans, and financial records securely.</a:t>
            </a:r>
          </a:p>
          <a:p>
            <a:r>
              <a:rPr lang="en-US" b="1" dirty="0"/>
              <a:t>Major Applications</a:t>
            </a:r>
          </a:p>
          <a:p>
            <a:r>
              <a:rPr lang="en-US" dirty="0"/>
              <a:t>Customer account management </a:t>
            </a:r>
          </a:p>
          <a:p>
            <a:r>
              <a:rPr lang="en-US" dirty="0"/>
              <a:t>ATM transaction processing </a:t>
            </a:r>
          </a:p>
          <a:p>
            <a:r>
              <a:rPr lang="en-US" dirty="0"/>
              <a:t>Online banking services </a:t>
            </a:r>
          </a:p>
          <a:p>
            <a:r>
              <a:rPr lang="en-US" dirty="0"/>
              <a:t>Loan and credit management </a:t>
            </a:r>
          </a:p>
          <a:p>
            <a:r>
              <a:rPr lang="en-US" dirty="0"/>
              <a:t>Fund transfer systems </a:t>
            </a:r>
          </a:p>
          <a:p>
            <a:r>
              <a:rPr lang="en-US" dirty="0"/>
              <a:t>Fraud detection systems </a:t>
            </a:r>
          </a:p>
          <a:p>
            <a:r>
              <a:rPr lang="en-US" b="1" dirty="0"/>
              <a:t>Features Used</a:t>
            </a:r>
          </a:p>
          <a:p>
            <a:r>
              <a:rPr lang="en-US" dirty="0"/>
              <a:t>Data security </a:t>
            </a:r>
          </a:p>
          <a:p>
            <a:r>
              <a:rPr lang="en-US" dirty="0"/>
              <a:t>Transaction management </a:t>
            </a:r>
          </a:p>
          <a:p>
            <a:r>
              <a:rPr lang="en-US" dirty="0"/>
              <a:t>Backup and recovery </a:t>
            </a:r>
          </a:p>
          <a:p>
            <a:r>
              <a:rPr lang="en-US" dirty="0"/>
              <a:t>Multi-user access </a:t>
            </a:r>
          </a:p>
          <a:p>
            <a:r>
              <a:rPr lang="en-US" dirty="0"/>
              <a:t>Concurrency control </a:t>
            </a:r>
          </a:p>
          <a:p>
            <a:r>
              <a:rPr lang="en-US" b="1" dirty="0"/>
              <a:t>Example</a:t>
            </a:r>
          </a:p>
          <a:p>
            <a:r>
              <a:rPr lang="en-US" dirty="0"/>
              <a:t>When a customer withdraws money from an ATM:</a:t>
            </a:r>
          </a:p>
          <a:p>
            <a:r>
              <a:rPr lang="en-US" dirty="0"/>
              <a:t>DBMS checks account balance </a:t>
            </a:r>
          </a:p>
          <a:p>
            <a:r>
              <a:rPr lang="en-US" dirty="0"/>
              <a:t>Deducts amount </a:t>
            </a:r>
          </a:p>
          <a:p>
            <a:r>
              <a:rPr lang="en-US" dirty="0"/>
              <a:t>Updates account records </a:t>
            </a:r>
          </a:p>
          <a:p>
            <a:r>
              <a:rPr lang="en-US" dirty="0"/>
              <a:t>Stores transaction history </a:t>
            </a:r>
          </a:p>
          <a:p>
            <a:r>
              <a:rPr lang="en-US" b="1" dirty="0"/>
              <a:t>Benefits</a:t>
            </a:r>
          </a:p>
          <a:p>
            <a:r>
              <a:rPr lang="en-US" dirty="0"/>
              <a:t>Fast transaction processing </a:t>
            </a:r>
          </a:p>
          <a:p>
            <a:r>
              <a:rPr lang="en-US" dirty="0"/>
              <a:t>Reduced errors </a:t>
            </a:r>
          </a:p>
          <a:p>
            <a:r>
              <a:rPr lang="en-US" dirty="0"/>
              <a:t>Secure financial data </a:t>
            </a:r>
          </a:p>
          <a:p>
            <a:r>
              <a:rPr lang="en-US" dirty="0"/>
              <a:t>Real-time updates </a:t>
            </a:r>
          </a:p>
          <a:p>
            <a:br>
              <a:rPr lang="en-US" dirty="0"/>
            </a:br>
            <a:endParaRPr lang="en-US" dirty="0"/>
          </a:p>
          <a:p>
            <a:r>
              <a:rPr lang="en-US" b="1" dirty="0"/>
              <a:t>2. Airline Reservation Systems</a:t>
            </a:r>
          </a:p>
          <a:p>
            <a:r>
              <a:rPr lang="en-US" b="1" dirty="0"/>
              <a:t>Role of DBMS in Airlines</a:t>
            </a:r>
          </a:p>
          <a:p>
            <a:r>
              <a:rPr lang="en-US" dirty="0"/>
              <a:t>Airline systems use DBMS to manage ticket booking, flight schedules, passenger information, and seat availability.</a:t>
            </a:r>
          </a:p>
          <a:p>
            <a:r>
              <a:rPr lang="en-US" b="1" dirty="0"/>
              <a:t>Major Applications</a:t>
            </a:r>
          </a:p>
          <a:p>
            <a:r>
              <a:rPr lang="en-US" dirty="0"/>
              <a:t>Ticket reservation </a:t>
            </a:r>
          </a:p>
          <a:p>
            <a:r>
              <a:rPr lang="en-US" dirty="0"/>
              <a:t>Flight scheduling </a:t>
            </a:r>
          </a:p>
          <a:p>
            <a:r>
              <a:rPr lang="en-US" dirty="0"/>
              <a:t>Passenger record management </a:t>
            </a:r>
          </a:p>
          <a:p>
            <a:r>
              <a:rPr lang="en-US" dirty="0"/>
              <a:t>Online check-in </a:t>
            </a:r>
          </a:p>
          <a:p>
            <a:r>
              <a:rPr lang="en-US" dirty="0"/>
              <a:t>Fare management </a:t>
            </a:r>
          </a:p>
          <a:p>
            <a:r>
              <a:rPr lang="en-US" dirty="0"/>
              <a:t>Crew scheduling </a:t>
            </a:r>
          </a:p>
          <a:p>
            <a:r>
              <a:rPr lang="en-US" b="1" dirty="0"/>
              <a:t>Features Used</a:t>
            </a:r>
          </a:p>
          <a:p>
            <a:r>
              <a:rPr lang="en-US" dirty="0"/>
              <a:t>Real-time database updates </a:t>
            </a:r>
          </a:p>
          <a:p>
            <a:r>
              <a:rPr lang="en-US" dirty="0"/>
              <a:t>Distributed databases </a:t>
            </a:r>
          </a:p>
          <a:p>
            <a:r>
              <a:rPr lang="en-US" dirty="0"/>
              <a:t>High availability </a:t>
            </a:r>
          </a:p>
          <a:p>
            <a:r>
              <a:rPr lang="en-US" dirty="0"/>
              <a:t>Multi-user transaction support </a:t>
            </a:r>
          </a:p>
          <a:p>
            <a:r>
              <a:rPr lang="en-US" b="1" dirty="0"/>
              <a:t>Example</a:t>
            </a:r>
          </a:p>
          <a:p>
            <a:r>
              <a:rPr lang="en-US" dirty="0"/>
              <a:t>When a passenger books a seat online:</a:t>
            </a:r>
          </a:p>
          <a:p>
            <a:r>
              <a:rPr lang="en-US" dirty="0"/>
              <a:t>DBMS checks seat availability </a:t>
            </a:r>
          </a:p>
          <a:p>
            <a:r>
              <a:rPr lang="en-US" dirty="0"/>
              <a:t>Reserves the seat </a:t>
            </a:r>
          </a:p>
          <a:p>
            <a:r>
              <a:rPr lang="en-US" dirty="0"/>
              <a:t>Processes payment </a:t>
            </a:r>
          </a:p>
          <a:p>
            <a:r>
              <a:rPr lang="en-US" dirty="0"/>
              <a:t>Updates passenger records instantly </a:t>
            </a:r>
          </a:p>
          <a:p>
            <a:r>
              <a:rPr lang="en-US" b="1" dirty="0"/>
              <a:t>Benefits</a:t>
            </a:r>
          </a:p>
          <a:p>
            <a:r>
              <a:rPr lang="en-US" dirty="0"/>
              <a:t>Prevents double booking </a:t>
            </a:r>
          </a:p>
          <a:p>
            <a:r>
              <a:rPr lang="en-US" dirty="0"/>
              <a:t>Fast reservation process </a:t>
            </a:r>
          </a:p>
          <a:p>
            <a:r>
              <a:rPr lang="en-US" dirty="0"/>
              <a:t>Accurate scheduling </a:t>
            </a:r>
          </a:p>
          <a:p>
            <a:r>
              <a:rPr lang="en-US" dirty="0"/>
              <a:t>Global access to booking systems </a:t>
            </a:r>
          </a:p>
          <a:p>
            <a:br>
              <a:rPr lang="en-US" dirty="0"/>
            </a:br>
            <a:endParaRPr lang="en-US" dirty="0"/>
          </a:p>
          <a:p>
            <a:r>
              <a:rPr lang="en-US" b="1" dirty="0"/>
              <a:t>3. E-Commerce Platforms</a:t>
            </a:r>
          </a:p>
          <a:p>
            <a:r>
              <a:rPr lang="en-US" b="1" dirty="0"/>
              <a:t>Role of DBMS in E-Commerce</a:t>
            </a:r>
          </a:p>
          <a:p>
            <a:r>
              <a:rPr lang="en-US" dirty="0"/>
              <a:t>E-commerce websites store large amounts of customer, product, and order data. DBMS helps manage online shopping efficiently.</a:t>
            </a:r>
          </a:p>
          <a:p>
            <a:r>
              <a:rPr lang="en-US" b="1" dirty="0"/>
              <a:t>Major Applications</a:t>
            </a:r>
          </a:p>
          <a:p>
            <a:r>
              <a:rPr lang="en-US" dirty="0"/>
              <a:t>Product catalog management </a:t>
            </a:r>
          </a:p>
          <a:p>
            <a:r>
              <a:rPr lang="en-US" dirty="0"/>
              <a:t>Customer account management </a:t>
            </a:r>
          </a:p>
          <a:p>
            <a:r>
              <a:rPr lang="en-US" dirty="0"/>
              <a:t>Shopping cart systems </a:t>
            </a:r>
          </a:p>
          <a:p>
            <a:r>
              <a:rPr lang="en-US" dirty="0"/>
              <a:t>Payment processing </a:t>
            </a:r>
          </a:p>
          <a:p>
            <a:r>
              <a:rPr lang="en-US" dirty="0"/>
              <a:t>Inventory management </a:t>
            </a:r>
          </a:p>
          <a:p>
            <a:r>
              <a:rPr lang="en-US" dirty="0"/>
              <a:t>Order tracking </a:t>
            </a:r>
          </a:p>
          <a:p>
            <a:r>
              <a:rPr lang="en-US" b="1" dirty="0"/>
              <a:t>Features Used</a:t>
            </a:r>
          </a:p>
          <a:p>
            <a:r>
              <a:rPr lang="en-US" dirty="0"/>
              <a:t>Data consistency </a:t>
            </a:r>
          </a:p>
          <a:p>
            <a:r>
              <a:rPr lang="en-US" dirty="0"/>
              <a:t>Scalability </a:t>
            </a:r>
          </a:p>
          <a:p>
            <a:r>
              <a:rPr lang="en-US" dirty="0"/>
              <a:t>Security </a:t>
            </a:r>
          </a:p>
          <a:p>
            <a:r>
              <a:rPr lang="en-US" dirty="0"/>
              <a:t>High-speed querying </a:t>
            </a:r>
          </a:p>
          <a:p>
            <a:r>
              <a:rPr lang="en-US" b="1" dirty="0"/>
              <a:t>Example</a:t>
            </a:r>
          </a:p>
          <a:p>
            <a:r>
              <a:rPr lang="en-US" dirty="0"/>
              <a:t>In an online shopping website:</a:t>
            </a:r>
          </a:p>
          <a:p>
            <a:r>
              <a:rPr lang="en-US" dirty="0"/>
              <a:t>Customer searches products </a:t>
            </a:r>
          </a:p>
          <a:p>
            <a:r>
              <a:rPr lang="en-US" dirty="0"/>
              <a:t>DBMS retrieves product details </a:t>
            </a:r>
          </a:p>
          <a:p>
            <a:r>
              <a:rPr lang="en-US" dirty="0"/>
              <a:t>Order is placed </a:t>
            </a:r>
          </a:p>
          <a:p>
            <a:r>
              <a:rPr lang="en-US" dirty="0"/>
              <a:t>Inventory is updated automatically </a:t>
            </a:r>
          </a:p>
          <a:p>
            <a:r>
              <a:rPr lang="en-US" b="1" dirty="0"/>
              <a:t>Benefits</a:t>
            </a:r>
          </a:p>
          <a:p>
            <a:r>
              <a:rPr lang="en-US" dirty="0"/>
              <a:t>Faster online transactions </a:t>
            </a:r>
          </a:p>
          <a:p>
            <a:r>
              <a:rPr lang="en-US" dirty="0"/>
              <a:t>Personalized recommendations </a:t>
            </a:r>
          </a:p>
          <a:p>
            <a:r>
              <a:rPr lang="en-US" dirty="0"/>
              <a:t>Efficient inventory control </a:t>
            </a:r>
          </a:p>
          <a:p>
            <a:r>
              <a:rPr lang="en-US" dirty="0"/>
              <a:t>Secure customer information </a:t>
            </a:r>
          </a:p>
          <a:p>
            <a:br>
              <a:rPr lang="en-US" dirty="0"/>
            </a:br>
            <a:endParaRPr lang="en-US" dirty="0"/>
          </a:p>
          <a:p>
            <a:r>
              <a:rPr lang="en-US" b="1" dirty="0"/>
              <a:t>4. University Systems</a:t>
            </a:r>
          </a:p>
          <a:p>
            <a:r>
              <a:rPr lang="en-US" b="1" dirty="0"/>
              <a:t>Role of DBMS in Universities</a:t>
            </a:r>
          </a:p>
          <a:p>
            <a:r>
              <a:rPr lang="en-US" dirty="0"/>
              <a:t>Educational institutions use DBMS to manage student, faculty, course, and examination records.</a:t>
            </a:r>
          </a:p>
          <a:p>
            <a:r>
              <a:rPr lang="en-US" b="1" dirty="0"/>
              <a:t>Major Applications</a:t>
            </a:r>
          </a:p>
          <a:p>
            <a:r>
              <a:rPr lang="en-US" dirty="0"/>
              <a:t>Student registration systems </a:t>
            </a:r>
          </a:p>
          <a:p>
            <a:r>
              <a:rPr lang="en-US" dirty="0"/>
              <a:t>Examination management </a:t>
            </a:r>
          </a:p>
          <a:p>
            <a:r>
              <a:rPr lang="en-US" dirty="0"/>
              <a:t>Attendance management </a:t>
            </a:r>
          </a:p>
          <a:p>
            <a:r>
              <a:rPr lang="en-US" dirty="0"/>
              <a:t>Library management </a:t>
            </a:r>
          </a:p>
          <a:p>
            <a:r>
              <a:rPr lang="en-US" dirty="0"/>
              <a:t>Course enrollment </a:t>
            </a:r>
          </a:p>
          <a:p>
            <a:r>
              <a:rPr lang="en-US" dirty="0"/>
              <a:t>Result processing </a:t>
            </a:r>
          </a:p>
          <a:p>
            <a:r>
              <a:rPr lang="en-US" b="1" dirty="0"/>
              <a:t>Features Used</a:t>
            </a:r>
          </a:p>
          <a:p>
            <a:r>
              <a:rPr lang="en-US" dirty="0"/>
              <a:t>Data sharing </a:t>
            </a:r>
          </a:p>
          <a:p>
            <a:r>
              <a:rPr lang="en-US" dirty="0"/>
              <a:t>Centralized storage </a:t>
            </a:r>
          </a:p>
          <a:p>
            <a:r>
              <a:rPr lang="en-US" dirty="0"/>
              <a:t>Multi-user access </a:t>
            </a:r>
          </a:p>
          <a:p>
            <a:r>
              <a:rPr lang="en-US" dirty="0"/>
              <a:t>Report generation </a:t>
            </a:r>
          </a:p>
          <a:p>
            <a:r>
              <a:rPr lang="en-US" b="1" dirty="0"/>
              <a:t>Example</a:t>
            </a:r>
          </a:p>
          <a:p>
            <a:r>
              <a:rPr lang="en-US" dirty="0"/>
              <a:t>During course registration:</a:t>
            </a:r>
          </a:p>
          <a:p>
            <a:r>
              <a:rPr lang="en-US" dirty="0"/>
              <a:t>Student logs into portal </a:t>
            </a:r>
          </a:p>
          <a:p>
            <a:r>
              <a:rPr lang="en-US" dirty="0"/>
              <a:t>DBMS checks course availability </a:t>
            </a:r>
          </a:p>
          <a:p>
            <a:r>
              <a:rPr lang="en-US" dirty="0"/>
              <a:t>Registers student </a:t>
            </a:r>
          </a:p>
          <a:p>
            <a:r>
              <a:rPr lang="en-US" dirty="0"/>
              <a:t>Updates class records </a:t>
            </a:r>
          </a:p>
          <a:p>
            <a:r>
              <a:rPr lang="en-US" b="1" dirty="0"/>
              <a:t>Benefits</a:t>
            </a:r>
          </a:p>
          <a:p>
            <a:r>
              <a:rPr lang="en-US" dirty="0"/>
              <a:t>Easy record management </a:t>
            </a:r>
          </a:p>
          <a:p>
            <a:r>
              <a:rPr lang="en-US" dirty="0"/>
              <a:t>Reduced paperwork </a:t>
            </a:r>
          </a:p>
          <a:p>
            <a:r>
              <a:rPr lang="en-US" dirty="0"/>
              <a:t>Faster result generation </a:t>
            </a:r>
          </a:p>
          <a:p>
            <a:r>
              <a:rPr lang="en-US" dirty="0"/>
              <a:t>Better academic management </a:t>
            </a:r>
          </a:p>
          <a:p>
            <a:br>
              <a:rPr lang="en-US" dirty="0"/>
            </a:br>
            <a:endParaRPr lang="en-US" dirty="0"/>
          </a:p>
          <a:p>
            <a:r>
              <a:rPr lang="en-US" b="1" dirty="0"/>
              <a:t>5. Social Media Platforms</a:t>
            </a:r>
          </a:p>
          <a:p>
            <a:r>
              <a:rPr lang="en-US" b="1" dirty="0"/>
              <a:t>Role of DBMS in Social Media</a:t>
            </a:r>
          </a:p>
          <a:p>
            <a:r>
              <a:rPr lang="en-US" dirty="0"/>
              <a:t>Social media applications handle huge volumes of user-generated content and interactions.</a:t>
            </a:r>
          </a:p>
          <a:p>
            <a:r>
              <a:rPr lang="en-US" b="1" dirty="0"/>
              <a:t>Major Applications</a:t>
            </a:r>
          </a:p>
          <a:p>
            <a:r>
              <a:rPr lang="en-US" dirty="0"/>
              <a:t>User profile management </a:t>
            </a:r>
          </a:p>
          <a:p>
            <a:r>
              <a:rPr lang="en-US" dirty="0"/>
              <a:t>Friend/follower systems </a:t>
            </a:r>
          </a:p>
          <a:p>
            <a:r>
              <a:rPr lang="en-US" dirty="0"/>
              <a:t>Messaging systems </a:t>
            </a:r>
          </a:p>
          <a:p>
            <a:r>
              <a:rPr lang="en-US" dirty="0"/>
              <a:t>Post and media storage </a:t>
            </a:r>
          </a:p>
          <a:p>
            <a:r>
              <a:rPr lang="en-US" dirty="0"/>
              <a:t>Advertisement management </a:t>
            </a:r>
          </a:p>
          <a:p>
            <a:r>
              <a:rPr lang="en-US" dirty="0"/>
              <a:t>Recommendation systems </a:t>
            </a:r>
          </a:p>
          <a:p>
            <a:r>
              <a:rPr lang="en-US" b="1" dirty="0"/>
              <a:t>Features Used</a:t>
            </a:r>
          </a:p>
          <a:p>
            <a:r>
              <a:rPr lang="en-US" dirty="0"/>
              <a:t>Big data handling </a:t>
            </a:r>
          </a:p>
          <a:p>
            <a:r>
              <a:rPr lang="en-US" dirty="0"/>
              <a:t>Real-time processing </a:t>
            </a:r>
          </a:p>
          <a:p>
            <a:r>
              <a:rPr lang="en-US" dirty="0"/>
              <a:t>Distributed databases </a:t>
            </a:r>
          </a:p>
          <a:p>
            <a:r>
              <a:rPr lang="en-US" dirty="0"/>
              <a:t>Data indexing </a:t>
            </a:r>
          </a:p>
          <a:p>
            <a:r>
              <a:rPr lang="en-US" b="1" dirty="0"/>
              <a:t>Example</a:t>
            </a:r>
          </a:p>
          <a:p>
            <a:r>
              <a:rPr lang="en-US" dirty="0"/>
              <a:t>When a user uploads a photo:</a:t>
            </a:r>
          </a:p>
          <a:p>
            <a:r>
              <a:rPr lang="en-US" dirty="0"/>
              <a:t>DBMS stores image metadata </a:t>
            </a:r>
          </a:p>
          <a:p>
            <a:r>
              <a:rPr lang="en-US" dirty="0"/>
              <a:t>Updates user profile </a:t>
            </a:r>
          </a:p>
          <a:p>
            <a:r>
              <a:rPr lang="en-US" dirty="0"/>
              <a:t>Notifies followers </a:t>
            </a:r>
          </a:p>
          <a:p>
            <a:r>
              <a:rPr lang="en-US" dirty="0"/>
              <a:t>Maintains activity logs </a:t>
            </a:r>
          </a:p>
          <a:p>
            <a:r>
              <a:rPr lang="en-US" b="1" dirty="0"/>
              <a:t>Benefits</a:t>
            </a:r>
          </a:p>
          <a:p>
            <a:r>
              <a:rPr lang="en-US" dirty="0"/>
              <a:t>Fast content retrieval </a:t>
            </a:r>
          </a:p>
          <a:p>
            <a:r>
              <a:rPr lang="en-US" dirty="0"/>
              <a:t>Personalized user experience </a:t>
            </a:r>
          </a:p>
          <a:p>
            <a:r>
              <a:rPr lang="en-US" dirty="0"/>
              <a:t>Efficient data management </a:t>
            </a:r>
          </a:p>
          <a:p>
            <a:r>
              <a:rPr lang="en-US" dirty="0"/>
              <a:t>Real-time communication </a:t>
            </a:r>
          </a:p>
          <a:p>
            <a:br>
              <a:rPr lang="en-US" dirty="0"/>
            </a:br>
            <a:endParaRPr lang="en-US" dirty="0"/>
          </a:p>
          <a:p>
            <a:r>
              <a:rPr lang="en-US" b="1" dirty="0"/>
              <a:t>6. Healthcare Systems</a:t>
            </a:r>
          </a:p>
          <a:p>
            <a:r>
              <a:rPr lang="en-US" b="1" dirty="0"/>
              <a:t>Role of DBMS in Healthcare</a:t>
            </a:r>
          </a:p>
          <a:p>
            <a:r>
              <a:rPr lang="en-US" dirty="0"/>
              <a:t>Hospitals and healthcare organizations use DBMS to manage patient records and medical operations.</a:t>
            </a:r>
          </a:p>
          <a:p>
            <a:r>
              <a:rPr lang="en-US" b="1" dirty="0"/>
              <a:t>Major Applications</a:t>
            </a:r>
          </a:p>
          <a:p>
            <a:r>
              <a:rPr lang="en-US" dirty="0"/>
              <a:t>Electronic Health Records (EHR) </a:t>
            </a:r>
          </a:p>
          <a:p>
            <a:r>
              <a:rPr lang="en-US" dirty="0"/>
              <a:t>Appointment scheduling </a:t>
            </a:r>
          </a:p>
          <a:p>
            <a:r>
              <a:rPr lang="en-US" dirty="0"/>
              <a:t>Laboratory management </a:t>
            </a:r>
          </a:p>
          <a:p>
            <a:r>
              <a:rPr lang="en-US" dirty="0"/>
              <a:t>Pharmacy management </a:t>
            </a:r>
          </a:p>
          <a:p>
            <a:r>
              <a:rPr lang="en-US" dirty="0"/>
              <a:t>Billing systems </a:t>
            </a:r>
          </a:p>
          <a:p>
            <a:r>
              <a:rPr lang="en-US" dirty="0"/>
              <a:t>Patient monitoring </a:t>
            </a:r>
          </a:p>
          <a:p>
            <a:r>
              <a:rPr lang="en-US" b="1" dirty="0"/>
              <a:t>Features Used</a:t>
            </a:r>
          </a:p>
          <a:p>
            <a:r>
              <a:rPr lang="en-US" dirty="0"/>
              <a:t>Data privacy and security </a:t>
            </a:r>
          </a:p>
          <a:p>
            <a:r>
              <a:rPr lang="en-US" dirty="0"/>
              <a:t>Backup and recovery </a:t>
            </a:r>
          </a:p>
          <a:p>
            <a:r>
              <a:rPr lang="en-US" dirty="0"/>
              <a:t>High reliability </a:t>
            </a:r>
          </a:p>
          <a:p>
            <a:r>
              <a:rPr lang="en-US" dirty="0"/>
              <a:t>Access control </a:t>
            </a:r>
          </a:p>
          <a:p>
            <a:r>
              <a:rPr lang="en-US" b="1" dirty="0"/>
              <a:t>Example</a:t>
            </a:r>
          </a:p>
          <a:p>
            <a:r>
              <a:rPr lang="en-US" dirty="0"/>
              <a:t>When a doctor accesses patient history:</a:t>
            </a:r>
          </a:p>
          <a:p>
            <a:r>
              <a:rPr lang="en-US" dirty="0"/>
              <a:t>DBMS retrieves medical records </a:t>
            </a:r>
          </a:p>
          <a:p>
            <a:r>
              <a:rPr lang="en-US" dirty="0"/>
              <a:t>Displays diagnosis and prescriptions </a:t>
            </a:r>
          </a:p>
          <a:p>
            <a:r>
              <a:rPr lang="en-US" dirty="0"/>
              <a:t>Updates treatment details </a:t>
            </a:r>
          </a:p>
          <a:p>
            <a:r>
              <a:rPr lang="en-US" dirty="0"/>
              <a:t>Saves new reports securely </a:t>
            </a:r>
          </a:p>
          <a:p>
            <a:r>
              <a:rPr lang="en-US" b="1" dirty="0"/>
              <a:t>Benefits</a:t>
            </a:r>
          </a:p>
          <a:p>
            <a:r>
              <a:rPr lang="en-US" dirty="0"/>
              <a:t>Improved patient care </a:t>
            </a:r>
          </a:p>
          <a:p>
            <a:r>
              <a:rPr lang="en-US" dirty="0"/>
              <a:t>Faster diagnosis </a:t>
            </a:r>
          </a:p>
          <a:p>
            <a:r>
              <a:rPr lang="en-US" dirty="0"/>
              <a:t>Reduced paperwork </a:t>
            </a:r>
          </a:p>
          <a:p>
            <a:r>
              <a:rPr lang="en-US" dirty="0"/>
              <a:t>Better hospital management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8</a:t>
            </a:fld>
            <a:endParaRPr lang="en-US"/>
          </a:p>
        </p:txBody>
      </p:sp>
    </p:spTree>
    <p:extLst>
      <p:ext uri="{BB962C8B-B14F-4D97-AF65-F5344CB8AC3E}">
        <p14:creationId xmlns:p14="http://schemas.microsoft.com/office/powerpoint/2010/main" val="4163389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Drawbacks of File system </a:t>
            </a:r>
          </a:p>
          <a:p>
            <a:r>
              <a:rPr lang="en-US" dirty="0"/>
              <a:t>• Data redundancy: Data redundancy refers to the duplication of data, let's say we are managing the data of a college where a student is enrolled for two courses, the same student details in such case will be stored twice, which will take more storage than needed. Data redundancy often leads to higher storage costs and poor access time. </a:t>
            </a:r>
          </a:p>
          <a:p>
            <a:r>
              <a:rPr lang="en-US" dirty="0"/>
              <a:t>• Data inconsistency: Data redundancy leads to data inconsistency, lets take the same example that we have taken above, a student is enrolled for two courses and we have student address stored twice, now let's say student requests to change his address, if the address is changed at one place and not on all the records then this can lead to data inconsistency. </a:t>
            </a:r>
          </a:p>
          <a:p>
            <a:r>
              <a:rPr lang="en-US" dirty="0"/>
              <a:t>• Data Isolation: Because data are scattered in various files, and files may be in different formats, writing new application programs to retrieve the appropriate data is difficult. </a:t>
            </a:r>
          </a:p>
          <a:p>
            <a:r>
              <a:rPr lang="en-US" dirty="0"/>
              <a:t>• Dependency on application programs: Changing files would lead to change in application programs. </a:t>
            </a:r>
          </a:p>
          <a:p>
            <a:r>
              <a:rPr lang="en-US" dirty="0"/>
              <a:t>• Atomicity issues: Atomicity of a transaction refers to “All or nothing”, which means either all the operations in a transaction executes or none. </a:t>
            </a:r>
          </a:p>
          <a:p>
            <a:r>
              <a:rPr lang="en-US" dirty="0"/>
              <a:t>• Data Security: Data should be secured from unauthorized access, for example a student in a college should not be able to see the payroll details of the teachers, such kind of security constraints are difficult to apply in file processing systems.</a:t>
            </a:r>
          </a:p>
        </p:txBody>
      </p:sp>
      <p:sp>
        <p:nvSpPr>
          <p:cNvPr id="4" name="Slide Number Placeholder 3"/>
          <p:cNvSpPr>
            <a:spLocks noGrp="1"/>
          </p:cNvSpPr>
          <p:nvPr>
            <p:ph type="sldNum" sz="quarter" idx="5"/>
          </p:nvPr>
        </p:nvSpPr>
        <p:spPr/>
        <p:txBody>
          <a:bodyPr/>
          <a:lstStyle/>
          <a:p>
            <a:fld id="{532ED260-D111-491D-AB9F-FC8569A2A916}" type="slidenum">
              <a:rPr lang="en-US" smtClean="0"/>
              <a:t>9</a:t>
            </a:fld>
            <a:endParaRPr lang="en-US"/>
          </a:p>
        </p:txBody>
      </p:sp>
    </p:spTree>
    <p:extLst>
      <p:ext uri="{BB962C8B-B14F-4D97-AF65-F5344CB8AC3E}">
        <p14:creationId xmlns:p14="http://schemas.microsoft.com/office/powerpoint/2010/main" val="3781099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redundant data: Redundancy removed by data normalization . No data duplication saves storage and improves access time. </a:t>
            </a:r>
          </a:p>
          <a:p>
            <a:r>
              <a:rPr lang="en-US" dirty="0"/>
              <a:t>• Data Consistency and Integrity: As we discussed earlier the root cause of data inconsistency is data redundancy, since data normalization takes care of the data redundancy, data inconsistency also been taken care of as part of it </a:t>
            </a:r>
          </a:p>
          <a:p>
            <a:r>
              <a:rPr lang="en-US" dirty="0"/>
              <a:t>• Data Security: It is easier to apply access constraints in database systems so that only authorized user is able to access the data. Each user has a different set of access thus data is secured from the issues such as identity theft, data leaks and misuse of data. </a:t>
            </a:r>
          </a:p>
          <a:p>
            <a:r>
              <a:rPr lang="en-US" dirty="0"/>
              <a:t>• Privacy: Limited access means privacy of data. </a:t>
            </a:r>
          </a:p>
          <a:p>
            <a:r>
              <a:rPr lang="en-US" dirty="0"/>
              <a:t>• Easy access to data– Database systems manages data in such a way so that the data is easily accessible with fast response times. </a:t>
            </a:r>
          </a:p>
          <a:p>
            <a:r>
              <a:rPr lang="en-US" dirty="0"/>
              <a:t>• Easy recovery: Since database systems keeps the backup of data, it is easier to do a full recovery of data in case of a failure.</a:t>
            </a:r>
          </a:p>
          <a:p>
            <a:r>
              <a:rPr lang="en-US" dirty="0"/>
              <a:t>• Flexible: Database systems are more flexible than file processing systems.</a:t>
            </a:r>
          </a:p>
        </p:txBody>
      </p:sp>
      <p:sp>
        <p:nvSpPr>
          <p:cNvPr id="4" name="Slide Number Placeholder 3"/>
          <p:cNvSpPr>
            <a:spLocks noGrp="1"/>
          </p:cNvSpPr>
          <p:nvPr>
            <p:ph type="sldNum" sz="quarter" idx="5"/>
          </p:nvPr>
        </p:nvSpPr>
        <p:spPr/>
        <p:txBody>
          <a:bodyPr/>
          <a:lstStyle/>
          <a:p>
            <a:fld id="{532ED260-D111-491D-AB9F-FC8569A2A916}" type="slidenum">
              <a:rPr lang="en-US" smtClean="0"/>
              <a:t>11</a:t>
            </a:fld>
            <a:endParaRPr lang="en-US"/>
          </a:p>
        </p:txBody>
      </p:sp>
    </p:spTree>
    <p:extLst>
      <p:ext uri="{BB962C8B-B14F-4D97-AF65-F5344CB8AC3E}">
        <p14:creationId xmlns:p14="http://schemas.microsoft.com/office/powerpoint/2010/main" val="3268628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14</a:t>
            </a:fld>
            <a:endParaRPr lang="en-US"/>
          </a:p>
        </p:txBody>
      </p:sp>
    </p:spTree>
    <p:extLst>
      <p:ext uri="{BB962C8B-B14F-4D97-AF65-F5344CB8AC3E}">
        <p14:creationId xmlns:p14="http://schemas.microsoft.com/office/powerpoint/2010/main" val="556422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Clr>
                <a:schemeClr val="tx1"/>
              </a:buClr>
              <a:buSzPct val="71000"/>
            </a:pPr>
            <a:r>
              <a:rPr lang="en-US" sz="1200" b="1" dirty="0">
                <a:solidFill>
                  <a:schemeClr val="tx1"/>
                </a:solidFill>
                <a:latin typeface="Times New Roman" panose="02020603050405020304" pitchFamily="18" charset="0"/>
                <a:cs typeface="Times New Roman" panose="02020603050405020304" pitchFamily="18" charset="0"/>
              </a:rPr>
              <a:t>Example: </a:t>
            </a:r>
            <a:r>
              <a:rPr lang="en-US" sz="1200" dirty="0">
                <a:solidFill>
                  <a:schemeClr val="tx1"/>
                </a:solidFill>
                <a:latin typeface="Times New Roman" panose="02020603050405020304" pitchFamily="18" charset="0"/>
                <a:cs typeface="Times New Roman" panose="02020603050405020304" pitchFamily="18" charset="0"/>
              </a:rPr>
              <a:t>Let’s say we are storing customer information in a customer table. </a:t>
            </a:r>
          </a:p>
          <a:p>
            <a:pPr marL="457200" indent="-457200" algn="l">
              <a:buClr>
                <a:schemeClr val="tx1"/>
              </a:buClr>
              <a:buSzPct val="71000"/>
              <a:buFont typeface="Wingdings" panose="05000000000000000000" pitchFamily="2" charset="2"/>
              <a:buChar char="v"/>
            </a:pPr>
            <a:r>
              <a:rPr lang="en-US" sz="1200" b="1" dirty="0">
                <a:solidFill>
                  <a:schemeClr val="tx1"/>
                </a:solidFill>
                <a:latin typeface="Times New Roman" panose="02020603050405020304" pitchFamily="18" charset="0"/>
                <a:cs typeface="Times New Roman" panose="02020603050405020304" pitchFamily="18" charset="0"/>
              </a:rPr>
              <a:t>At the physical level, </a:t>
            </a:r>
            <a:r>
              <a:rPr lang="en-US" sz="1200" dirty="0">
                <a:solidFill>
                  <a:schemeClr val="tx1"/>
                </a:solidFill>
                <a:latin typeface="Times New Roman" panose="02020603050405020304" pitchFamily="18" charset="0"/>
                <a:cs typeface="Times New Roman" panose="02020603050405020304" pitchFamily="18" charset="0"/>
              </a:rPr>
              <a:t>these records can be described as blocks of storage (bytes, gigabytes, terabytes, etc.) in memory. These details are often hidden from the programmers.</a:t>
            </a:r>
          </a:p>
          <a:p>
            <a:pPr marL="457200" indent="-457200" algn="just">
              <a:buClr>
                <a:schemeClr val="tx1"/>
              </a:buClr>
              <a:buSzPct val="71000"/>
              <a:buFont typeface="Wingdings" panose="05000000000000000000" pitchFamily="2" charset="2"/>
              <a:buChar char="v"/>
            </a:pPr>
            <a:r>
              <a:rPr lang="en-US" sz="1200" b="1" dirty="0">
                <a:solidFill>
                  <a:schemeClr val="tx1"/>
                </a:solidFill>
                <a:latin typeface="Times New Roman" panose="02020603050405020304" pitchFamily="18" charset="0"/>
                <a:cs typeface="Times New Roman" panose="02020603050405020304" pitchFamily="18" charset="0"/>
              </a:rPr>
              <a:t>At the logical level, </a:t>
            </a:r>
            <a:r>
              <a:rPr lang="en-US" sz="1200" dirty="0">
                <a:solidFill>
                  <a:schemeClr val="tx1"/>
                </a:solidFill>
                <a:latin typeface="Times New Roman" panose="02020603050405020304" pitchFamily="18" charset="0"/>
                <a:cs typeface="Times New Roman" panose="02020603050405020304" pitchFamily="18" charset="0"/>
              </a:rPr>
              <a:t>these records can be described as fields and attributes along with their data types, and their relationship among each other can be logically implemented. The programmers generally work at this level because they are aware of such things about database systems.</a:t>
            </a:r>
          </a:p>
          <a:p>
            <a:pPr marL="457200" indent="-457200" algn="just">
              <a:buClr>
                <a:schemeClr val="tx1"/>
              </a:buClr>
              <a:buSzPct val="71000"/>
              <a:buFont typeface="Wingdings" panose="05000000000000000000" pitchFamily="2" charset="2"/>
              <a:buChar char="v"/>
            </a:pPr>
            <a:r>
              <a:rPr lang="en-US" sz="1200" b="1" dirty="0">
                <a:solidFill>
                  <a:schemeClr val="tx1"/>
                </a:solidFill>
                <a:latin typeface="Times New Roman" panose="02020603050405020304" pitchFamily="18" charset="0"/>
                <a:cs typeface="Times New Roman" panose="02020603050405020304" pitchFamily="18" charset="0"/>
              </a:rPr>
              <a:t>At the view level, </a:t>
            </a:r>
            <a:r>
              <a:rPr lang="en-US" sz="1200" dirty="0">
                <a:solidFill>
                  <a:schemeClr val="tx1"/>
                </a:solidFill>
                <a:latin typeface="Times New Roman" panose="02020603050405020304" pitchFamily="18" charset="0"/>
                <a:cs typeface="Times New Roman" panose="02020603050405020304" pitchFamily="18" charset="0"/>
              </a:rPr>
              <a:t>users just interact with the system with the help of a GUI and enter the details on the screen, they are not aware of how the data is stored and what data is stored; such details are hidden from them.</a:t>
            </a:r>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15</a:t>
            </a:fld>
            <a:endParaRPr lang="en-US"/>
          </a:p>
        </p:txBody>
      </p:sp>
    </p:spTree>
    <p:extLst>
      <p:ext uri="{BB962C8B-B14F-4D97-AF65-F5344CB8AC3E}">
        <p14:creationId xmlns:p14="http://schemas.microsoft.com/office/powerpoint/2010/main" val="2298900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16</a:t>
            </a:fld>
            <a:endParaRPr lang="en-US"/>
          </a:p>
        </p:txBody>
      </p:sp>
    </p:spTree>
    <p:extLst>
      <p:ext uri="{BB962C8B-B14F-4D97-AF65-F5344CB8AC3E}">
        <p14:creationId xmlns:p14="http://schemas.microsoft.com/office/powerpoint/2010/main" val="3734421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new </a:t>
            </a:r>
            <a:r>
              <a:rPr lang="en-US" b="1" dirty="0"/>
              <a:t>bookshelf</a:t>
            </a:r>
            <a:r>
              <a:rPr lang="en-US" dirty="0"/>
              <a:t> → </a:t>
            </a:r>
            <a:r>
              <a:rPr lang="en-US" sz="1200" kern="1200" dirty="0">
                <a:solidFill>
                  <a:schemeClr val="tx1"/>
                </a:solidFill>
                <a:latin typeface="+mn-lt"/>
                <a:ea typeface="+mn-ea"/>
                <a:cs typeface="+mn-cs"/>
              </a:rPr>
              <a:t>CREATE TABLE</a:t>
            </a:r>
            <a:r>
              <a:rPr lang="en-US" dirty="0"/>
              <a:t> </a:t>
            </a:r>
          </a:p>
          <a:p>
            <a:r>
              <a:rPr lang="en-US" dirty="0"/>
              <a:t>Adding a new </a:t>
            </a:r>
            <a:r>
              <a:rPr lang="en-US" b="1" dirty="0"/>
              <a:t>section (e.g., Science)</a:t>
            </a:r>
            <a:r>
              <a:rPr lang="en-US" dirty="0"/>
              <a:t> → </a:t>
            </a:r>
            <a:r>
              <a:rPr lang="en-US" sz="1200" kern="1200" dirty="0">
                <a:solidFill>
                  <a:schemeClr val="tx1"/>
                </a:solidFill>
                <a:latin typeface="+mn-lt"/>
                <a:ea typeface="+mn-ea"/>
                <a:cs typeface="+mn-cs"/>
              </a:rPr>
              <a:t>ALTER TABLE</a:t>
            </a:r>
            <a:r>
              <a:rPr lang="en-US" dirty="0"/>
              <a:t> </a:t>
            </a:r>
          </a:p>
          <a:p>
            <a:r>
              <a:rPr lang="en-US" dirty="0"/>
              <a:t>Removing a bookshelf → </a:t>
            </a:r>
            <a:r>
              <a:rPr lang="en-US" sz="1200" kern="1200" dirty="0">
                <a:solidFill>
                  <a:schemeClr val="tx1"/>
                </a:solidFill>
                <a:latin typeface="+mn-lt"/>
                <a:ea typeface="+mn-ea"/>
                <a:cs typeface="+mn-cs"/>
              </a:rPr>
              <a:t>DROP TABLE</a:t>
            </a:r>
            <a:r>
              <a:rPr lang="en-US" dirty="0"/>
              <a:t> </a:t>
            </a:r>
          </a:p>
          <a:p>
            <a:r>
              <a:rPr lang="en-US" dirty="0"/>
              <a:t>Clearing all books but keeping the shelf → </a:t>
            </a:r>
            <a:r>
              <a:rPr lang="en-US" sz="1200" kern="1200" dirty="0">
                <a:solidFill>
                  <a:schemeClr val="tx1"/>
                </a:solidFill>
                <a:latin typeface="+mn-lt"/>
                <a:ea typeface="+mn-ea"/>
                <a:cs typeface="+mn-cs"/>
              </a:rPr>
              <a:t>TRUNCATE</a:t>
            </a:r>
            <a:r>
              <a:rPr lang="en-US" dirty="0"/>
              <a:t> </a:t>
            </a:r>
          </a:p>
          <a:p>
            <a:r>
              <a:rPr lang="en-US" dirty="0"/>
              <a:t>You are designing the </a:t>
            </a:r>
            <a:r>
              <a:rPr lang="en-US" b="1" dirty="0"/>
              <a:t>infrastructure</a:t>
            </a:r>
            <a:r>
              <a:rPr lang="en-US" dirty="0"/>
              <a:t>, not handling individual books.</a:t>
            </a:r>
          </a:p>
          <a:p>
            <a:endParaRPr lang="en-US" dirty="0"/>
          </a:p>
          <a:p>
            <a:endParaRPr lang="en-US" dirty="0"/>
          </a:p>
          <a:p>
            <a:r>
              <a:rPr lang="en-US" b="1" dirty="0"/>
              <a:t>Excel Analogy</a:t>
            </a:r>
          </a:p>
          <a:p>
            <a:r>
              <a:rPr lang="en-US" dirty="0"/>
              <a:t>Creating a new sheet → </a:t>
            </a:r>
            <a:r>
              <a:rPr lang="en-US" sz="1200" kern="1200" dirty="0">
                <a:solidFill>
                  <a:schemeClr val="tx1"/>
                </a:solidFill>
                <a:latin typeface="+mn-lt"/>
                <a:ea typeface="+mn-ea"/>
                <a:cs typeface="+mn-cs"/>
              </a:rPr>
              <a:t>CREATE</a:t>
            </a:r>
            <a:r>
              <a:rPr lang="en-US" dirty="0"/>
              <a:t> </a:t>
            </a:r>
          </a:p>
          <a:p>
            <a:r>
              <a:rPr lang="en-US" dirty="0"/>
              <a:t>Adding/removing columns → </a:t>
            </a:r>
            <a:r>
              <a:rPr lang="en-US" sz="1200" kern="1200" dirty="0">
                <a:solidFill>
                  <a:schemeClr val="tx1"/>
                </a:solidFill>
                <a:latin typeface="+mn-lt"/>
                <a:ea typeface="+mn-ea"/>
                <a:cs typeface="+mn-cs"/>
              </a:rPr>
              <a:t>ALTER</a:t>
            </a:r>
            <a:r>
              <a:rPr lang="en-US" dirty="0"/>
              <a:t> </a:t>
            </a:r>
          </a:p>
          <a:p>
            <a:r>
              <a:rPr lang="en-US" dirty="0"/>
              <a:t>Deleting a sheet → </a:t>
            </a:r>
            <a:r>
              <a:rPr lang="en-US" sz="1200" kern="1200" dirty="0">
                <a:solidFill>
                  <a:schemeClr val="tx1"/>
                </a:solidFill>
                <a:latin typeface="+mn-lt"/>
                <a:ea typeface="+mn-ea"/>
                <a:cs typeface="+mn-cs"/>
              </a:rPr>
              <a:t>DROP</a:t>
            </a:r>
            <a:r>
              <a:rPr lang="en-US" dirty="0"/>
              <a:t> </a:t>
            </a:r>
          </a:p>
          <a:p>
            <a:r>
              <a:rPr lang="en-US" dirty="0"/>
              <a:t>Clearing all rows → </a:t>
            </a:r>
            <a:r>
              <a:rPr lang="en-US" sz="1200" kern="1200" dirty="0">
                <a:solidFill>
                  <a:schemeClr val="tx1"/>
                </a:solidFill>
                <a:latin typeface="+mn-lt"/>
                <a:ea typeface="+mn-ea"/>
                <a:cs typeface="+mn-cs"/>
              </a:rPr>
              <a:t>TRUNCATE</a:t>
            </a:r>
            <a:r>
              <a:rPr lang="en-US" dirty="0"/>
              <a:t> </a:t>
            </a:r>
          </a:p>
          <a:p>
            <a:r>
              <a:rPr lang="en-US" dirty="0"/>
              <a:t>You are modifying the </a:t>
            </a:r>
            <a:r>
              <a:rPr lang="en-US" b="1" dirty="0"/>
              <a:t>layout of the sheet</a:t>
            </a:r>
            <a:r>
              <a:rPr lang="en-US" dirty="0"/>
              <a: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20</a:t>
            </a:fld>
            <a:endParaRPr lang="en-US"/>
          </a:p>
        </p:txBody>
      </p:sp>
    </p:spTree>
    <p:extLst>
      <p:ext uri="{BB962C8B-B14F-4D97-AF65-F5344CB8AC3E}">
        <p14:creationId xmlns:p14="http://schemas.microsoft.com/office/powerpoint/2010/main" val="3943577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CREATE</a:t>
            </a:r>
          </a:p>
          <a:p>
            <a:r>
              <a:rPr lang="en-US" dirty="0"/>
              <a:t>Used to create database objects like tables, schemas, indexes.</a:t>
            </a:r>
          </a:p>
          <a:p>
            <a:r>
              <a:rPr lang="en-US" b="1" dirty="0"/>
              <a:t>2. ALTER</a:t>
            </a:r>
          </a:p>
          <a:p>
            <a:r>
              <a:rPr lang="en-US" dirty="0"/>
              <a:t>Used to modify an existing table structure (add, modify, delete columns).</a:t>
            </a:r>
          </a:p>
          <a:p>
            <a:r>
              <a:rPr lang="en-US" b="1" dirty="0"/>
              <a:t>3. DROP</a:t>
            </a:r>
          </a:p>
          <a:p>
            <a:r>
              <a:rPr lang="en-US" dirty="0"/>
              <a:t>Used to delete an entire database object permanently.</a:t>
            </a:r>
          </a:p>
          <a:p>
            <a:r>
              <a:rPr lang="en-US" b="1" dirty="0"/>
              <a:t>4. TRUNCATE</a:t>
            </a:r>
          </a:p>
          <a:p>
            <a:r>
              <a:rPr lang="en-US" dirty="0"/>
              <a:t>Used to remove all records from a table quickly (faster than DELETE, no rollback in many DBMS).</a:t>
            </a:r>
          </a:p>
          <a:p>
            <a:r>
              <a:rPr lang="en-US" b="1" dirty="0"/>
              <a:t>5. RENAME</a:t>
            </a:r>
          </a:p>
          <a:p>
            <a:r>
              <a:rPr lang="en-US" dirty="0"/>
              <a:t>Used to rename a database object.</a:t>
            </a:r>
          </a:p>
          <a:p>
            <a:r>
              <a:rPr lang="en-US" b="1" dirty="0"/>
              <a:t>Syntax (varies by DBMS):</a:t>
            </a:r>
          </a:p>
          <a:p>
            <a:r>
              <a:rPr lang="en-US" b="1" dirty="0"/>
              <a:t>MySQL / Oracle:</a:t>
            </a:r>
            <a:endParaRPr lang="en-US" dirty="0"/>
          </a:p>
          <a:p>
            <a:r>
              <a:rPr lang="en-US" dirty="0"/>
              <a:t>RENAME TABLE </a:t>
            </a:r>
            <a:r>
              <a:rPr lang="en-US" dirty="0" err="1"/>
              <a:t>old_name</a:t>
            </a:r>
            <a:r>
              <a:rPr lang="en-US" dirty="0"/>
              <a:t> TO </a:t>
            </a:r>
            <a:r>
              <a:rPr lang="en-US" dirty="0" err="1"/>
              <a:t>new_name</a:t>
            </a:r>
            <a:r>
              <a:rPr lang="en-US" dirty="0"/>
              <a:t>;</a:t>
            </a:r>
          </a:p>
          <a:p>
            <a:endParaRPr lang="en-US" dirty="0"/>
          </a:p>
          <a:p>
            <a:r>
              <a:rPr lang="en-US" dirty="0"/>
              <a:t>SQL Server:</a:t>
            </a:r>
          </a:p>
          <a:p>
            <a:r>
              <a:rPr lang="en-US" dirty="0"/>
              <a:t>EXEC </a:t>
            </a:r>
            <a:r>
              <a:rPr lang="en-US" dirty="0" err="1"/>
              <a:t>sp_rename</a:t>
            </a:r>
            <a:r>
              <a:rPr lang="en-US" dirty="0"/>
              <a:t> '</a:t>
            </a:r>
            <a:r>
              <a:rPr lang="en-US" dirty="0" err="1"/>
              <a:t>old_name</a:t>
            </a:r>
            <a:r>
              <a:rPr lang="en-US" dirty="0"/>
              <a:t>', '</a:t>
            </a:r>
            <a:r>
              <a:rPr lang="en-US" dirty="0" err="1"/>
              <a:t>new_name</a:t>
            </a:r>
            <a:r>
              <a:rPr lang="en-US" dirty="0"/>
              <a:t>';</a:t>
            </a:r>
          </a:p>
        </p:txBody>
      </p:sp>
      <p:sp>
        <p:nvSpPr>
          <p:cNvPr id="4" name="Slide Number Placeholder 3"/>
          <p:cNvSpPr>
            <a:spLocks noGrp="1"/>
          </p:cNvSpPr>
          <p:nvPr>
            <p:ph type="sldNum" sz="quarter" idx="5"/>
          </p:nvPr>
        </p:nvSpPr>
        <p:spPr/>
        <p:txBody>
          <a:bodyPr/>
          <a:lstStyle/>
          <a:p>
            <a:fld id="{532ED260-D111-491D-AB9F-FC8569A2A916}" type="slidenum">
              <a:rPr lang="en-US" smtClean="0"/>
              <a:t>21</a:t>
            </a:fld>
            <a:endParaRPr lang="en-US"/>
          </a:p>
        </p:txBody>
      </p:sp>
    </p:spTree>
    <p:extLst>
      <p:ext uri="{BB962C8B-B14F-4D97-AF65-F5344CB8AC3E}">
        <p14:creationId xmlns:p14="http://schemas.microsoft.com/office/powerpoint/2010/main" val="1268683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Library Analogy</a:t>
            </a:r>
          </a:p>
          <a:p>
            <a:r>
              <a:rPr lang="en-US" dirty="0"/>
              <a:t>Adding a new book → </a:t>
            </a:r>
            <a:r>
              <a:rPr lang="en-US" sz="1200" kern="1200" dirty="0">
                <a:solidFill>
                  <a:schemeClr val="tx1"/>
                </a:solidFill>
                <a:latin typeface="+mn-lt"/>
                <a:ea typeface="+mn-ea"/>
                <a:cs typeface="+mn-cs"/>
              </a:rPr>
              <a:t>INSERT</a:t>
            </a:r>
            <a:r>
              <a:rPr lang="en-US" dirty="0"/>
              <a:t> </a:t>
            </a:r>
          </a:p>
          <a:p>
            <a:r>
              <a:rPr lang="en-US" dirty="0"/>
              <a:t>Searching for books → </a:t>
            </a:r>
            <a:r>
              <a:rPr lang="en-US" sz="1200" kern="1200" dirty="0">
                <a:solidFill>
                  <a:schemeClr val="tx1"/>
                </a:solidFill>
                <a:latin typeface="+mn-lt"/>
                <a:ea typeface="+mn-ea"/>
                <a:cs typeface="+mn-cs"/>
              </a:rPr>
              <a:t>SELECT</a:t>
            </a:r>
            <a:r>
              <a:rPr lang="en-US" dirty="0"/>
              <a:t> </a:t>
            </a:r>
          </a:p>
          <a:p>
            <a:r>
              <a:rPr lang="en-US" dirty="0"/>
              <a:t>Updating book details → </a:t>
            </a:r>
            <a:r>
              <a:rPr lang="en-US" sz="1200" kern="1200" dirty="0">
                <a:solidFill>
                  <a:schemeClr val="tx1"/>
                </a:solidFill>
                <a:latin typeface="+mn-lt"/>
                <a:ea typeface="+mn-ea"/>
                <a:cs typeface="+mn-cs"/>
              </a:rPr>
              <a:t>UPDATE</a:t>
            </a:r>
            <a:r>
              <a:rPr lang="en-US" dirty="0"/>
              <a:t> </a:t>
            </a:r>
          </a:p>
          <a:p>
            <a:r>
              <a:rPr lang="en-US" dirty="0"/>
              <a:t>Removing a book → </a:t>
            </a:r>
            <a:r>
              <a:rPr lang="en-US" sz="1200" kern="1200" dirty="0">
                <a:solidFill>
                  <a:schemeClr val="tx1"/>
                </a:solidFill>
                <a:latin typeface="+mn-lt"/>
                <a:ea typeface="+mn-ea"/>
                <a:cs typeface="+mn-cs"/>
              </a:rPr>
              <a:t>DELETE</a:t>
            </a:r>
            <a:r>
              <a:rPr lang="en-US" dirty="0"/>
              <a:t> </a:t>
            </a:r>
          </a:p>
          <a:p>
            <a:r>
              <a:rPr lang="en-US" dirty="0"/>
              <a:t>You are interacting with </a:t>
            </a:r>
            <a:r>
              <a:rPr lang="en-US" b="1" dirty="0"/>
              <a:t>books (data)</a:t>
            </a:r>
            <a:r>
              <a:rPr lang="en-US" dirty="0"/>
              <a:t>, not shelves.</a:t>
            </a:r>
          </a:p>
          <a:p>
            <a:endParaRPr lang="en-US" dirty="0"/>
          </a:p>
          <a:p>
            <a:r>
              <a:rPr lang="en-US" b="1" dirty="0"/>
              <a:t>Excel Analogy</a:t>
            </a:r>
          </a:p>
          <a:p>
            <a:r>
              <a:rPr lang="en-US" dirty="0"/>
              <a:t>Entering data in rows → </a:t>
            </a:r>
            <a:r>
              <a:rPr lang="en-US" sz="1200" kern="1200" dirty="0">
                <a:solidFill>
                  <a:schemeClr val="tx1"/>
                </a:solidFill>
                <a:latin typeface="+mn-lt"/>
                <a:ea typeface="+mn-ea"/>
                <a:cs typeface="+mn-cs"/>
              </a:rPr>
              <a:t>INSERT</a:t>
            </a:r>
            <a:r>
              <a:rPr lang="en-US" dirty="0"/>
              <a:t> </a:t>
            </a:r>
          </a:p>
          <a:p>
            <a:r>
              <a:rPr lang="en-US" dirty="0"/>
              <a:t>Filtering/searching rows → </a:t>
            </a:r>
            <a:r>
              <a:rPr lang="en-US" sz="1200" kern="1200" dirty="0">
                <a:solidFill>
                  <a:schemeClr val="tx1"/>
                </a:solidFill>
                <a:latin typeface="+mn-lt"/>
                <a:ea typeface="+mn-ea"/>
                <a:cs typeface="+mn-cs"/>
              </a:rPr>
              <a:t>SELECT</a:t>
            </a:r>
            <a:r>
              <a:rPr lang="en-US" dirty="0"/>
              <a:t> </a:t>
            </a:r>
          </a:p>
          <a:p>
            <a:r>
              <a:rPr lang="en-US" dirty="0"/>
              <a:t>Editing a cell → </a:t>
            </a:r>
            <a:r>
              <a:rPr lang="en-US" sz="1200" kern="1200" dirty="0">
                <a:solidFill>
                  <a:schemeClr val="tx1"/>
                </a:solidFill>
                <a:latin typeface="+mn-lt"/>
                <a:ea typeface="+mn-ea"/>
                <a:cs typeface="+mn-cs"/>
              </a:rPr>
              <a:t>UPDATE</a:t>
            </a:r>
            <a:r>
              <a:rPr lang="en-US" dirty="0"/>
              <a:t> </a:t>
            </a:r>
          </a:p>
          <a:p>
            <a:r>
              <a:rPr lang="en-US" dirty="0"/>
              <a:t>Deleting a row → </a:t>
            </a:r>
            <a:r>
              <a:rPr lang="en-US" sz="1200" kern="1200" dirty="0">
                <a:solidFill>
                  <a:schemeClr val="tx1"/>
                </a:solidFill>
                <a:latin typeface="+mn-lt"/>
                <a:ea typeface="+mn-ea"/>
                <a:cs typeface="+mn-cs"/>
              </a:rPr>
              <a:t>DELETE</a:t>
            </a:r>
            <a:r>
              <a:rPr lang="en-US" dirty="0"/>
              <a:t> </a:t>
            </a:r>
          </a:p>
          <a:p>
            <a:r>
              <a:rPr lang="en-US" dirty="0"/>
              <a:t>You are working with </a:t>
            </a:r>
            <a:r>
              <a:rPr lang="en-US" b="1" dirty="0"/>
              <a:t>cell values</a:t>
            </a:r>
            <a:r>
              <a:rPr lang="en-US" dirty="0"/>
              <a: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22</a:t>
            </a:fld>
            <a:endParaRPr lang="en-US"/>
          </a:p>
        </p:txBody>
      </p:sp>
    </p:spTree>
    <p:extLst>
      <p:ext uri="{BB962C8B-B14F-4D97-AF65-F5344CB8AC3E}">
        <p14:creationId xmlns:p14="http://schemas.microsoft.com/office/powerpoint/2010/main" val="336769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7D8F-7DC0-6ABE-9852-2399A6320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E4EB3-3969-7594-67C0-CBFC501F4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3B1B1-775C-7829-2183-C6A54200BA2B}"/>
              </a:ext>
            </a:extLst>
          </p:cNvPr>
          <p:cNvSpPr>
            <a:spLocks noGrp="1"/>
          </p:cNvSpPr>
          <p:nvPr>
            <p:ph type="body" idx="1"/>
          </p:nvPr>
        </p:nvSpPr>
        <p:spPr/>
        <p:txBody>
          <a:bodyPr/>
          <a:lstStyle/>
          <a:p>
            <a:r>
              <a:rPr lang="en-US" b="1" dirty="0"/>
              <a:t>5. MERGE (Advanced / DBMS-specific)</a:t>
            </a:r>
          </a:p>
          <a:p>
            <a:r>
              <a:rPr lang="en-US" dirty="0"/>
              <a:t>Used to perform </a:t>
            </a:r>
            <a:r>
              <a:rPr lang="en-US" b="1" dirty="0"/>
              <a:t>INSERT + UPDATE</a:t>
            </a:r>
            <a:r>
              <a:rPr lang="en-US" dirty="0"/>
              <a:t> in a single statement (commonly in Oracle, SQL Server).</a:t>
            </a:r>
          </a:p>
          <a:p>
            <a:endParaRPr lang="en-US" dirty="0"/>
          </a:p>
          <a:p>
            <a:r>
              <a:rPr lang="en-US" dirty="0"/>
              <a:t>MERGE INTO </a:t>
            </a:r>
            <a:r>
              <a:rPr lang="en-US" dirty="0" err="1"/>
              <a:t>target_table</a:t>
            </a:r>
            <a:r>
              <a:rPr lang="en-US" dirty="0"/>
              <a:t> t</a:t>
            </a:r>
          </a:p>
          <a:p>
            <a:r>
              <a:rPr lang="en-US" dirty="0"/>
              <a:t>USING </a:t>
            </a:r>
            <a:r>
              <a:rPr lang="en-US" dirty="0" err="1"/>
              <a:t>source_table</a:t>
            </a:r>
            <a:r>
              <a:rPr lang="en-US" dirty="0"/>
              <a:t> s</a:t>
            </a:r>
          </a:p>
          <a:p>
            <a:r>
              <a:rPr lang="en-US" dirty="0"/>
              <a:t>ON (condition)</a:t>
            </a:r>
          </a:p>
          <a:p>
            <a:r>
              <a:rPr lang="en-US" dirty="0"/>
              <a:t>WHEN MATCHED THEN</a:t>
            </a:r>
          </a:p>
          <a:p>
            <a:r>
              <a:rPr lang="en-US" dirty="0"/>
              <a:t>    UPDATE SET </a:t>
            </a:r>
            <a:r>
              <a:rPr lang="en-US" dirty="0" err="1"/>
              <a:t>t.column</a:t>
            </a:r>
            <a:r>
              <a:rPr lang="en-US" dirty="0"/>
              <a:t> = </a:t>
            </a:r>
            <a:r>
              <a:rPr lang="en-US" dirty="0" err="1"/>
              <a:t>s.column</a:t>
            </a:r>
            <a:endParaRPr lang="en-US" dirty="0"/>
          </a:p>
          <a:p>
            <a:r>
              <a:rPr lang="en-US" dirty="0"/>
              <a:t>WHEN NOT MATCHED THEN</a:t>
            </a:r>
          </a:p>
          <a:p>
            <a:r>
              <a:rPr lang="en-US" dirty="0"/>
              <a:t>    INSERT (columns) VALUES (values);</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ACABE0F-49A8-D958-16A7-4A2101369944}"/>
              </a:ext>
            </a:extLst>
          </p:cNvPr>
          <p:cNvSpPr>
            <a:spLocks noGrp="1"/>
          </p:cNvSpPr>
          <p:nvPr>
            <p:ph type="sldNum" sz="quarter" idx="5"/>
          </p:nvPr>
        </p:nvSpPr>
        <p:spPr/>
        <p:txBody>
          <a:bodyPr/>
          <a:lstStyle/>
          <a:p>
            <a:fld id="{532ED260-D111-491D-AB9F-FC8569A2A916}" type="slidenum">
              <a:rPr lang="en-US" smtClean="0"/>
              <a:t>23</a:t>
            </a:fld>
            <a:endParaRPr lang="en-US"/>
          </a:p>
        </p:txBody>
      </p:sp>
    </p:spTree>
    <p:extLst>
      <p:ext uri="{BB962C8B-B14F-4D97-AF65-F5344CB8AC3E}">
        <p14:creationId xmlns:p14="http://schemas.microsoft.com/office/powerpoint/2010/main" val="695681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Excel Analogy</a:t>
            </a:r>
          </a:p>
          <a:p>
            <a:r>
              <a:rPr lang="en-US" dirty="0"/>
              <a:t>Entering data in rows → </a:t>
            </a:r>
            <a:r>
              <a:rPr lang="en-US" sz="1200" kern="1200" dirty="0">
                <a:solidFill>
                  <a:schemeClr val="tx1"/>
                </a:solidFill>
                <a:latin typeface="+mn-lt"/>
                <a:ea typeface="+mn-ea"/>
                <a:cs typeface="+mn-cs"/>
              </a:rPr>
              <a:t>INSERT</a:t>
            </a:r>
            <a:r>
              <a:rPr lang="en-US" dirty="0"/>
              <a:t> </a:t>
            </a:r>
          </a:p>
          <a:p>
            <a:r>
              <a:rPr lang="en-US" dirty="0"/>
              <a:t>Filtering/searching rows → </a:t>
            </a:r>
            <a:r>
              <a:rPr lang="en-US" sz="1200" kern="1200" dirty="0">
                <a:solidFill>
                  <a:schemeClr val="tx1"/>
                </a:solidFill>
                <a:latin typeface="+mn-lt"/>
                <a:ea typeface="+mn-ea"/>
                <a:cs typeface="+mn-cs"/>
              </a:rPr>
              <a:t>SELECT</a:t>
            </a:r>
            <a:r>
              <a:rPr lang="en-US" dirty="0"/>
              <a:t> </a:t>
            </a:r>
          </a:p>
          <a:p>
            <a:r>
              <a:rPr lang="en-US" dirty="0"/>
              <a:t>Editing a cell → </a:t>
            </a:r>
            <a:r>
              <a:rPr lang="en-US" sz="1200" kern="1200" dirty="0">
                <a:solidFill>
                  <a:schemeClr val="tx1"/>
                </a:solidFill>
                <a:latin typeface="+mn-lt"/>
                <a:ea typeface="+mn-ea"/>
                <a:cs typeface="+mn-cs"/>
              </a:rPr>
              <a:t>UPDATE</a:t>
            </a:r>
            <a:r>
              <a:rPr lang="en-US" dirty="0"/>
              <a:t> </a:t>
            </a:r>
          </a:p>
          <a:p>
            <a:r>
              <a:rPr lang="en-US" dirty="0"/>
              <a:t>Deleting a row → </a:t>
            </a:r>
            <a:r>
              <a:rPr lang="en-US" sz="1200" kern="1200" dirty="0">
                <a:solidFill>
                  <a:schemeClr val="tx1"/>
                </a:solidFill>
                <a:latin typeface="+mn-lt"/>
                <a:ea typeface="+mn-ea"/>
                <a:cs typeface="+mn-cs"/>
              </a:rPr>
              <a:t>DELETE</a:t>
            </a:r>
            <a:r>
              <a:rPr lang="en-US" dirty="0"/>
              <a:t> </a:t>
            </a:r>
          </a:p>
          <a:p>
            <a:r>
              <a:rPr lang="en-US" dirty="0"/>
              <a:t> You are working with </a:t>
            </a:r>
            <a:r>
              <a:rPr lang="en-US" b="1" dirty="0"/>
              <a:t>cell values</a:t>
            </a:r>
            <a:r>
              <a:rPr lang="en-US" dirty="0"/>
              <a:t>.</a:t>
            </a:r>
          </a:p>
          <a:p>
            <a:endParaRPr lang="en-US" dirty="0"/>
          </a:p>
          <a:p>
            <a:r>
              <a:rPr lang="en-US" b="1" dirty="0"/>
              <a:t>Excel Analogy</a:t>
            </a:r>
          </a:p>
          <a:p>
            <a:r>
              <a:rPr lang="en-US" dirty="0"/>
              <a:t>Giving someone </a:t>
            </a:r>
            <a:r>
              <a:rPr lang="en-US" b="1" dirty="0"/>
              <a:t>edit/view access</a:t>
            </a:r>
            <a:r>
              <a:rPr lang="en-US" dirty="0"/>
              <a:t> → </a:t>
            </a:r>
            <a:r>
              <a:rPr lang="en-US" sz="1200" kern="1200" dirty="0">
                <a:solidFill>
                  <a:schemeClr val="tx1"/>
                </a:solidFill>
                <a:latin typeface="+mn-lt"/>
                <a:ea typeface="+mn-ea"/>
                <a:cs typeface="+mn-cs"/>
              </a:rPr>
              <a:t>GRANT</a:t>
            </a:r>
            <a:r>
              <a:rPr lang="en-US" dirty="0"/>
              <a:t> </a:t>
            </a:r>
          </a:p>
          <a:p>
            <a:r>
              <a:rPr lang="en-US" dirty="0"/>
              <a:t>Removing access → </a:t>
            </a:r>
            <a:r>
              <a:rPr lang="en-US" sz="1200" kern="1200" dirty="0">
                <a:solidFill>
                  <a:schemeClr val="tx1"/>
                </a:solidFill>
                <a:latin typeface="+mn-lt"/>
                <a:ea typeface="+mn-ea"/>
                <a:cs typeface="+mn-cs"/>
              </a:rPr>
              <a:t>REVOKE</a:t>
            </a:r>
            <a:r>
              <a:rPr lang="en-US" dirty="0"/>
              <a:t> </a:t>
            </a:r>
          </a:p>
          <a:p>
            <a:r>
              <a:rPr lang="en-US" dirty="0"/>
              <a:t>Restricting editing → </a:t>
            </a:r>
            <a:r>
              <a:rPr lang="en-US" sz="1200" kern="1200" dirty="0">
                <a:solidFill>
                  <a:schemeClr val="tx1"/>
                </a:solidFill>
                <a:latin typeface="+mn-lt"/>
                <a:ea typeface="+mn-ea"/>
                <a:cs typeface="+mn-cs"/>
              </a:rPr>
              <a:t>DENY</a:t>
            </a:r>
            <a:r>
              <a:rPr lang="en-US" dirty="0"/>
              <a:t> </a:t>
            </a:r>
          </a:p>
          <a:p>
            <a:r>
              <a:rPr lang="en-US" dirty="0"/>
              <a:t> Think of </a:t>
            </a:r>
            <a:r>
              <a:rPr lang="en-US" b="1" dirty="0"/>
              <a:t>sharing permissions</a:t>
            </a:r>
            <a:r>
              <a:rPr lang="en-US" dirty="0"/>
              <a:t> in Google Sheets/Excel.</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TCL (Transaction Control Language)</a:t>
            </a:r>
          </a:p>
          <a:p>
            <a:endParaRPr lang="en-US" dirty="0"/>
          </a:p>
          <a:p>
            <a:r>
              <a:rPr lang="en-US" b="1" dirty="0"/>
              <a:t>Library Analogy</a:t>
            </a:r>
          </a:p>
          <a:p>
            <a:r>
              <a:rPr lang="en-US" dirty="0"/>
              <a:t>Issuing multiple books and confirming → </a:t>
            </a:r>
            <a:r>
              <a:rPr lang="en-US" sz="1200" kern="1200" dirty="0">
                <a:solidFill>
                  <a:schemeClr val="tx1"/>
                </a:solidFill>
                <a:latin typeface="+mn-lt"/>
                <a:ea typeface="+mn-ea"/>
                <a:cs typeface="+mn-cs"/>
              </a:rPr>
              <a:t>COMMIT</a:t>
            </a:r>
            <a:r>
              <a:rPr lang="en-US" dirty="0"/>
              <a:t> </a:t>
            </a:r>
          </a:p>
          <a:p>
            <a:r>
              <a:rPr lang="en-US" dirty="0"/>
              <a:t>Canceling the transaction → </a:t>
            </a:r>
            <a:r>
              <a:rPr lang="en-US" sz="1200" kern="1200" dirty="0">
                <a:solidFill>
                  <a:schemeClr val="tx1"/>
                </a:solidFill>
                <a:latin typeface="+mn-lt"/>
                <a:ea typeface="+mn-ea"/>
                <a:cs typeface="+mn-cs"/>
              </a:rPr>
              <a:t>ROLLBACK</a:t>
            </a:r>
            <a:r>
              <a:rPr lang="en-US" dirty="0"/>
              <a:t> </a:t>
            </a:r>
          </a:p>
          <a:p>
            <a:r>
              <a:rPr lang="en-US" dirty="0"/>
              <a:t>Holding a checkpoint during issuing → </a:t>
            </a:r>
            <a:r>
              <a:rPr lang="en-US" sz="1200" kern="1200" dirty="0">
                <a:solidFill>
                  <a:schemeClr val="tx1"/>
                </a:solidFill>
                <a:latin typeface="+mn-lt"/>
                <a:ea typeface="+mn-ea"/>
                <a:cs typeface="+mn-cs"/>
              </a:rPr>
              <a:t>SAVEPOINT</a:t>
            </a:r>
            <a:r>
              <a:rPr lang="en-US" dirty="0"/>
              <a:t> </a:t>
            </a:r>
          </a:p>
          <a:p>
            <a:r>
              <a:rPr lang="en-US" dirty="0"/>
              <a:t>Like saying: “Finalize all issued books” or “Cancel everything.”</a:t>
            </a:r>
          </a:p>
          <a:p>
            <a:br>
              <a:rPr lang="en-US" dirty="0"/>
            </a:br>
            <a:endParaRPr lang="en-US" dirty="0"/>
          </a:p>
          <a:p>
            <a:r>
              <a:rPr lang="en-US" b="1" dirty="0"/>
              <a:t> Excel Analogy</a:t>
            </a:r>
          </a:p>
          <a:p>
            <a:r>
              <a:rPr lang="en-US" dirty="0"/>
              <a:t>Saving the file → </a:t>
            </a:r>
            <a:r>
              <a:rPr lang="en-US" sz="1200" kern="1200" dirty="0">
                <a:solidFill>
                  <a:schemeClr val="tx1"/>
                </a:solidFill>
                <a:latin typeface="+mn-lt"/>
                <a:ea typeface="+mn-ea"/>
                <a:cs typeface="+mn-cs"/>
              </a:rPr>
              <a:t>COMMIT</a:t>
            </a:r>
            <a:r>
              <a:rPr lang="en-US" dirty="0"/>
              <a:t> </a:t>
            </a:r>
          </a:p>
          <a:p>
            <a:r>
              <a:rPr lang="en-US" dirty="0"/>
              <a:t>Undo (Ctrl + Z) → </a:t>
            </a:r>
            <a:r>
              <a:rPr lang="en-US" sz="1200" kern="1200" dirty="0">
                <a:solidFill>
                  <a:schemeClr val="tx1"/>
                </a:solidFill>
                <a:latin typeface="+mn-lt"/>
                <a:ea typeface="+mn-ea"/>
                <a:cs typeface="+mn-cs"/>
              </a:rPr>
              <a:t>ROLLBACK</a:t>
            </a:r>
            <a:r>
              <a:rPr lang="en-US" dirty="0"/>
              <a:t> </a:t>
            </a:r>
          </a:p>
          <a:p>
            <a:r>
              <a:rPr lang="en-US" dirty="0"/>
              <a:t>Creating a restore point/version → </a:t>
            </a:r>
            <a:r>
              <a:rPr lang="en-US" sz="1200" kern="1200" dirty="0">
                <a:solidFill>
                  <a:schemeClr val="tx1"/>
                </a:solidFill>
                <a:latin typeface="+mn-lt"/>
                <a:ea typeface="+mn-ea"/>
                <a:cs typeface="+mn-cs"/>
              </a:rPr>
              <a:t>SAVEPOINT</a:t>
            </a:r>
            <a:r>
              <a:rPr lang="en-US" dirty="0"/>
              <a:t> </a:t>
            </a:r>
          </a:p>
          <a:p>
            <a:r>
              <a:rPr lang="en-US" dirty="0"/>
              <a:t> Controls </a:t>
            </a:r>
            <a:r>
              <a:rPr lang="en-US" b="1" dirty="0"/>
              <a:t>when changes become permanent</a:t>
            </a:r>
            <a:r>
              <a:rPr lang="en-US" dirty="0"/>
              <a: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24</a:t>
            </a:fld>
            <a:endParaRPr lang="en-US"/>
          </a:p>
        </p:txBody>
      </p:sp>
    </p:spTree>
    <p:extLst>
      <p:ext uri="{BB962C8B-B14F-4D97-AF65-F5344CB8AC3E}">
        <p14:creationId xmlns:p14="http://schemas.microsoft.com/office/powerpoint/2010/main" val="2027313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br>
              <a:rPr lang="en-US" dirty="0"/>
            </a:br>
            <a:endParaRPr lang="en-US" dirty="0"/>
          </a:p>
          <a:p>
            <a:r>
              <a:rPr lang="en-US" b="1" dirty="0"/>
              <a:t>Real-Life Analogy</a:t>
            </a:r>
          </a:p>
          <a:p>
            <a:r>
              <a:rPr lang="en-US" dirty="0"/>
              <a:t>DBMS           		Real Life</a:t>
            </a:r>
          </a:p>
          <a:p>
            <a:r>
              <a:rPr lang="en-US" dirty="0"/>
              <a:t>Disk Storage		Warehouse</a:t>
            </a:r>
          </a:p>
          <a:p>
            <a:r>
              <a:rPr lang="en-US" dirty="0"/>
              <a:t>RAM Buffer		Study table</a:t>
            </a:r>
          </a:p>
          <a:p>
            <a:r>
              <a:rPr lang="en-US" dirty="0"/>
              <a:t>Buffer Manager	Person bringing books from warehouse to table</a:t>
            </a:r>
          </a:p>
          <a:p>
            <a:br>
              <a:rPr lang="en-US" dirty="0"/>
            </a:br>
            <a:endParaRPr lang="en-US" dirty="0"/>
          </a:p>
          <a:p>
            <a:r>
              <a:rPr lang="en-US" b="1" dirty="0"/>
              <a:t>2. File Manager</a:t>
            </a:r>
          </a:p>
          <a:p>
            <a:r>
              <a:rPr lang="en-US" b="1" dirty="0"/>
              <a:t>Definition</a:t>
            </a:r>
          </a:p>
          <a:p>
            <a:r>
              <a:rPr lang="en-US" dirty="0"/>
              <a:t>The </a:t>
            </a:r>
            <a:r>
              <a:rPr lang="en-US" b="1" dirty="0"/>
              <a:t>File Manager</a:t>
            </a:r>
            <a:r>
              <a:rPr lang="en-US" dirty="0"/>
              <a:t> manages:</a:t>
            </a:r>
          </a:p>
          <a:p>
            <a:r>
              <a:rPr lang="en-US" dirty="0"/>
              <a:t>files </a:t>
            </a:r>
          </a:p>
          <a:p>
            <a:r>
              <a:rPr lang="en-US" dirty="0"/>
              <a:t>records </a:t>
            </a:r>
          </a:p>
          <a:p>
            <a:r>
              <a:rPr lang="en-US" dirty="0"/>
              <a:t>disk space allocation </a:t>
            </a:r>
          </a:p>
          <a:p>
            <a:r>
              <a:rPr lang="en-US" dirty="0"/>
              <a:t>physical organization of data </a:t>
            </a:r>
          </a:p>
          <a:p>
            <a:r>
              <a:rPr lang="en-US" dirty="0"/>
              <a:t>It controls how data is physically stored on storage devices.</a:t>
            </a:r>
          </a:p>
          <a:p>
            <a:br>
              <a:rPr lang="en-US" dirty="0"/>
            </a:br>
            <a:endParaRPr lang="en-US" dirty="0"/>
          </a:p>
          <a:p>
            <a:r>
              <a:rPr lang="en-US" b="1" dirty="0"/>
              <a:t>Responsibilities of File Manager</a:t>
            </a:r>
          </a:p>
          <a:p>
            <a:r>
              <a:rPr lang="en-US" b="1" dirty="0"/>
              <a:t>1. File Organization</a:t>
            </a:r>
          </a:p>
          <a:p>
            <a:r>
              <a:rPr lang="en-US" dirty="0"/>
              <a:t>Determines how records are stored:</a:t>
            </a:r>
          </a:p>
          <a:p>
            <a:r>
              <a:rPr lang="en-US" dirty="0"/>
              <a:t>Sequential </a:t>
            </a:r>
          </a:p>
          <a:p>
            <a:r>
              <a:rPr lang="en-US" dirty="0"/>
              <a:t>Heap </a:t>
            </a:r>
          </a:p>
          <a:p>
            <a:r>
              <a:rPr lang="en-US" dirty="0"/>
              <a:t>Hashed </a:t>
            </a:r>
          </a:p>
          <a:p>
            <a:br>
              <a:rPr lang="en-US" dirty="0"/>
            </a:br>
            <a:endParaRPr lang="en-US" dirty="0"/>
          </a:p>
          <a:p>
            <a:r>
              <a:rPr lang="en-US" b="1" dirty="0"/>
              <a:t>2. Disk Space Allocation</a:t>
            </a:r>
          </a:p>
          <a:p>
            <a:r>
              <a:rPr lang="en-US" dirty="0"/>
              <a:t>Allocates space for:</a:t>
            </a:r>
          </a:p>
          <a:p>
            <a:r>
              <a:rPr lang="en-US" dirty="0"/>
              <a:t>tables </a:t>
            </a:r>
          </a:p>
          <a:p>
            <a:r>
              <a:rPr lang="en-US" dirty="0"/>
              <a:t>indexes </a:t>
            </a:r>
          </a:p>
          <a:p>
            <a:r>
              <a:rPr lang="en-US" dirty="0"/>
              <a:t>logs </a:t>
            </a:r>
          </a:p>
          <a:p>
            <a:br>
              <a:rPr lang="en-US" dirty="0"/>
            </a:br>
            <a:endParaRPr lang="en-US" dirty="0"/>
          </a:p>
          <a:p>
            <a:r>
              <a:rPr lang="en-US" b="1" dirty="0"/>
              <a:t>3. Record Management</a:t>
            </a:r>
          </a:p>
          <a:p>
            <a:r>
              <a:rPr lang="en-US" dirty="0"/>
              <a:t>Handles:</a:t>
            </a:r>
          </a:p>
          <a:p>
            <a:r>
              <a:rPr lang="en-US" dirty="0"/>
              <a:t>insertion </a:t>
            </a:r>
          </a:p>
          <a:p>
            <a:r>
              <a:rPr lang="en-US" dirty="0"/>
              <a:t>deletion </a:t>
            </a:r>
          </a:p>
          <a:p>
            <a:r>
              <a:rPr lang="en-US" dirty="0"/>
              <a:t>updating </a:t>
            </a:r>
          </a:p>
          <a:p>
            <a:r>
              <a:rPr lang="en-US" dirty="0"/>
              <a:t>retrieval </a:t>
            </a:r>
          </a:p>
          <a:p>
            <a:br>
              <a:rPr lang="en-US" dirty="0"/>
            </a:br>
            <a:endParaRPr lang="en-US" dirty="0"/>
          </a:p>
          <a:p>
            <a:r>
              <a:rPr lang="en-US" b="1" dirty="0"/>
              <a:t>4. Page Management</a:t>
            </a:r>
          </a:p>
          <a:p>
            <a:r>
              <a:rPr lang="en-US" dirty="0"/>
              <a:t>Data is stored in units called:</a:t>
            </a:r>
          </a:p>
          <a:p>
            <a:r>
              <a:rPr lang="en-US" b="1" dirty="0"/>
              <a:t>Pages or Blocks</a:t>
            </a:r>
          </a:p>
          <a:p>
            <a:r>
              <a:rPr lang="en-US" dirty="0"/>
              <a:t>File manager organizes these pages.</a:t>
            </a:r>
          </a:p>
          <a:p>
            <a:br>
              <a:rPr lang="en-US" dirty="0"/>
            </a:br>
            <a:endParaRPr lang="en-US" dirty="0"/>
          </a:p>
          <a:p>
            <a:r>
              <a:rPr lang="en-US" b="1" dirty="0"/>
              <a:t>5. Maintaining Index Files</a:t>
            </a:r>
          </a:p>
          <a:p>
            <a:r>
              <a:rPr lang="en-US" dirty="0"/>
              <a:t>Coordinates storage of:</a:t>
            </a:r>
          </a:p>
          <a:p>
            <a:r>
              <a:rPr lang="en-US" dirty="0"/>
              <a:t>B-tree indexes </a:t>
            </a:r>
          </a:p>
          <a:p>
            <a:r>
              <a:rPr lang="en-US" dirty="0"/>
              <a:t>Hash indexes </a:t>
            </a:r>
          </a:p>
          <a:p>
            <a:br>
              <a:rPr lang="en-US" dirty="0"/>
            </a:br>
            <a:endParaRPr lang="en-US" dirty="0"/>
          </a:p>
          <a:p>
            <a:r>
              <a:rPr lang="en-US" b="1" dirty="0"/>
              <a:t>Real-Life Analogy</a:t>
            </a:r>
          </a:p>
          <a:p>
            <a:r>
              <a:rPr lang="en-US" dirty="0" err="1"/>
              <a:t>DBMSReal</a:t>
            </a:r>
            <a:r>
              <a:rPr lang="en-US" dirty="0"/>
              <a:t> </a:t>
            </a:r>
            <a:r>
              <a:rPr lang="en-US" dirty="0" err="1"/>
              <a:t>LifeFile</a:t>
            </a:r>
            <a:r>
              <a:rPr lang="en-US" dirty="0"/>
              <a:t> </a:t>
            </a:r>
            <a:r>
              <a:rPr lang="en-US" dirty="0" err="1"/>
              <a:t>ManagerLibrarian</a:t>
            </a:r>
            <a:r>
              <a:rPr lang="en-US" dirty="0"/>
              <a:t> organizing </a:t>
            </a:r>
            <a:r>
              <a:rPr lang="en-US" dirty="0" err="1"/>
              <a:t>bookshelvesFilesBooksPagesBook</a:t>
            </a:r>
            <a:r>
              <a:rPr lang="en-US" dirty="0"/>
              <a:t> pages</a:t>
            </a:r>
          </a:p>
          <a:p>
            <a:br>
              <a:rPr lang="en-US" dirty="0"/>
            </a:br>
            <a:endParaRPr lang="en-US" dirty="0"/>
          </a:p>
          <a:p>
            <a:r>
              <a:rPr lang="en-US" b="1" dirty="0"/>
              <a:t>3. Transaction Manager</a:t>
            </a:r>
          </a:p>
          <a:p>
            <a:r>
              <a:rPr lang="en-US" b="1" dirty="0"/>
              <a:t>Definition</a:t>
            </a:r>
          </a:p>
          <a:p>
            <a:r>
              <a:rPr lang="en-US" dirty="0"/>
              <a:t>The </a:t>
            </a:r>
            <a:r>
              <a:rPr lang="en-US" b="1" dirty="0"/>
              <a:t>Transaction Manager</a:t>
            </a:r>
            <a:r>
              <a:rPr lang="en-US" dirty="0"/>
              <a:t> ensures that database transactions are:</a:t>
            </a:r>
          </a:p>
          <a:p>
            <a:r>
              <a:rPr lang="en-US" dirty="0"/>
              <a:t>safe </a:t>
            </a:r>
          </a:p>
          <a:p>
            <a:r>
              <a:rPr lang="en-US" dirty="0"/>
              <a:t>consistent </a:t>
            </a:r>
          </a:p>
          <a:p>
            <a:r>
              <a:rPr lang="en-US" dirty="0"/>
              <a:t>reliable </a:t>
            </a:r>
          </a:p>
          <a:p>
            <a:r>
              <a:rPr lang="en-US" dirty="0"/>
              <a:t>Especially when:</a:t>
            </a:r>
          </a:p>
          <a:p>
            <a:r>
              <a:rPr lang="en-US" dirty="0"/>
              <a:t>multiple users access data simultaneously </a:t>
            </a:r>
          </a:p>
          <a:p>
            <a:r>
              <a:rPr lang="en-US" dirty="0"/>
              <a:t>system crashes occur </a:t>
            </a:r>
          </a:p>
          <a:p>
            <a:br>
              <a:rPr lang="en-US" dirty="0"/>
            </a:br>
            <a:endParaRPr lang="en-US" dirty="0"/>
          </a:p>
          <a:p>
            <a:r>
              <a:rPr lang="en-US" b="1" dirty="0"/>
              <a:t>What is a Transaction?</a:t>
            </a:r>
          </a:p>
          <a:p>
            <a:r>
              <a:rPr lang="en-US" dirty="0"/>
              <a:t>A transaction is a logical unit of work.</a:t>
            </a:r>
          </a:p>
          <a:p>
            <a:r>
              <a:rPr lang="en-US" dirty="0"/>
              <a:t>Example:</a:t>
            </a:r>
          </a:p>
          <a:p>
            <a:pPr rtl="0"/>
            <a:r>
              <a:rPr lang="en-US" sz="1200" kern="1200" dirty="0">
                <a:solidFill>
                  <a:schemeClr val="tx1"/>
                </a:solidFill>
                <a:latin typeface="+mn-lt"/>
                <a:ea typeface="+mn-ea"/>
                <a:cs typeface="+mn-cs"/>
              </a:rPr>
              <a:t>Transfer Rs. 500 from A to B</a:t>
            </a:r>
          </a:p>
          <a:p>
            <a:r>
              <a:rPr lang="en-US" dirty="0"/>
              <a:t>Steps:</a:t>
            </a:r>
          </a:p>
          <a:p>
            <a:r>
              <a:rPr lang="en-US" dirty="0"/>
              <a:t>Deduct from A </a:t>
            </a:r>
          </a:p>
          <a:p>
            <a:r>
              <a:rPr lang="en-US" dirty="0"/>
              <a:t>Add to B </a:t>
            </a:r>
          </a:p>
          <a:p>
            <a:r>
              <a:rPr lang="en-US" dirty="0"/>
              <a:t>Both must happen completely.</a:t>
            </a:r>
          </a:p>
          <a:p>
            <a:br>
              <a:rPr lang="en-US" dirty="0"/>
            </a:br>
            <a:endParaRPr lang="en-US" dirty="0"/>
          </a:p>
          <a:p>
            <a:r>
              <a:rPr lang="en-US" b="1" dirty="0"/>
              <a:t>Responsibilities of Transaction Manager</a:t>
            </a:r>
          </a:p>
          <a:p>
            <a:r>
              <a:rPr lang="en-US" b="1" dirty="0"/>
              <a:t>1. Ensuring ACID Properties</a:t>
            </a:r>
          </a:p>
          <a:p>
            <a:r>
              <a:rPr lang="en-US" b="1" dirty="0"/>
              <a:t>ACID Properties</a:t>
            </a:r>
          </a:p>
          <a:p>
            <a:r>
              <a:rPr lang="en-US" dirty="0" err="1"/>
              <a:t>PropertyMeaningAtomicityAll</a:t>
            </a:r>
            <a:r>
              <a:rPr lang="en-US" dirty="0"/>
              <a:t> or </a:t>
            </a:r>
            <a:r>
              <a:rPr lang="en-US" dirty="0" err="1"/>
              <a:t>nothingConsistencyDatabase</a:t>
            </a:r>
            <a:r>
              <a:rPr lang="en-US" dirty="0"/>
              <a:t> remains </a:t>
            </a:r>
            <a:r>
              <a:rPr lang="en-US" dirty="0" err="1"/>
              <a:t>validIsolationTransactions</a:t>
            </a:r>
            <a:r>
              <a:rPr lang="en-US" dirty="0"/>
              <a:t> don't </a:t>
            </a:r>
            <a:r>
              <a:rPr lang="en-US" dirty="0" err="1"/>
              <a:t>interfereDurabilityChanges</a:t>
            </a:r>
            <a:r>
              <a:rPr lang="en-US" dirty="0"/>
              <a:t> persist permanently</a:t>
            </a:r>
          </a:p>
          <a:p>
            <a:br>
              <a:rPr lang="en-US" dirty="0"/>
            </a:br>
            <a:endParaRPr lang="en-US" dirty="0"/>
          </a:p>
          <a:p>
            <a:r>
              <a:rPr lang="en-US" b="1" dirty="0"/>
              <a:t>2. Concurrency Control</a:t>
            </a:r>
          </a:p>
          <a:p>
            <a:r>
              <a:rPr lang="en-US" dirty="0"/>
              <a:t>Many users may access same data simultaneously.</a:t>
            </a:r>
          </a:p>
          <a:p>
            <a:r>
              <a:rPr lang="en-US" dirty="0"/>
              <a:t>Transaction manager prevents:</a:t>
            </a:r>
          </a:p>
          <a:p>
            <a:r>
              <a:rPr lang="en-US" dirty="0"/>
              <a:t>lost updates </a:t>
            </a:r>
          </a:p>
          <a:p>
            <a:r>
              <a:rPr lang="en-US" dirty="0"/>
              <a:t>inconsistent reads </a:t>
            </a:r>
          </a:p>
          <a:p>
            <a:r>
              <a:rPr lang="en-US" dirty="0"/>
              <a:t>Uses:</a:t>
            </a:r>
          </a:p>
          <a:p>
            <a:r>
              <a:rPr lang="en-US" dirty="0"/>
              <a:t>locking </a:t>
            </a:r>
          </a:p>
          <a:p>
            <a:r>
              <a:rPr lang="en-US" dirty="0"/>
              <a:t>timestamps </a:t>
            </a:r>
          </a:p>
          <a:p>
            <a:r>
              <a:rPr lang="en-US" dirty="0"/>
              <a:t>scheduling </a:t>
            </a:r>
          </a:p>
          <a:p>
            <a:br>
              <a:rPr lang="en-US" dirty="0"/>
            </a:br>
            <a:endParaRPr lang="en-US" dirty="0"/>
          </a:p>
          <a:p>
            <a:r>
              <a:rPr lang="en-US" b="1" dirty="0"/>
              <a:t>3. Recovery Management</a:t>
            </a:r>
          </a:p>
          <a:p>
            <a:r>
              <a:rPr lang="en-US" dirty="0"/>
              <a:t>If system crashes:</a:t>
            </a:r>
          </a:p>
          <a:p>
            <a:r>
              <a:rPr lang="en-US" dirty="0"/>
              <a:t>rollback incomplete transactions </a:t>
            </a:r>
          </a:p>
          <a:p>
            <a:r>
              <a:rPr lang="en-US" dirty="0"/>
              <a:t>restore correct database state </a:t>
            </a:r>
          </a:p>
          <a:p>
            <a:r>
              <a:rPr lang="en-US" dirty="0"/>
              <a:t>Uses:</a:t>
            </a:r>
          </a:p>
          <a:p>
            <a:r>
              <a:rPr lang="en-US" dirty="0"/>
              <a:t>logs </a:t>
            </a:r>
          </a:p>
          <a:p>
            <a:r>
              <a:rPr lang="en-US" dirty="0"/>
              <a:t>checkpoints </a:t>
            </a:r>
          </a:p>
          <a:p>
            <a:br>
              <a:rPr lang="en-US" dirty="0"/>
            </a:br>
            <a:endParaRPr lang="en-US" dirty="0"/>
          </a:p>
          <a:p>
            <a:r>
              <a:rPr lang="en-US" b="1" dirty="0"/>
              <a:t>4. Commit and Rollback</a:t>
            </a:r>
          </a:p>
          <a:p>
            <a:r>
              <a:rPr lang="en-US" b="1" dirty="0"/>
              <a:t>Commit</a:t>
            </a:r>
          </a:p>
          <a:p>
            <a:r>
              <a:rPr lang="en-US" dirty="0"/>
              <a:t>Makes changes permanent.</a:t>
            </a:r>
          </a:p>
          <a:p>
            <a:r>
              <a:rPr lang="en-US" b="1" dirty="0"/>
              <a:t>Rollback</a:t>
            </a:r>
          </a:p>
          <a:p>
            <a:r>
              <a:rPr lang="en-US" dirty="0"/>
              <a:t>Undoes changes if error occurs.</a:t>
            </a:r>
          </a:p>
          <a:p>
            <a:br>
              <a:rPr lang="en-US" dirty="0"/>
            </a:br>
            <a:endParaRPr lang="en-US" dirty="0"/>
          </a:p>
          <a:p>
            <a:r>
              <a:rPr lang="en-US" b="1" dirty="0"/>
              <a:t>Real-Life Analogy</a:t>
            </a:r>
          </a:p>
          <a:p>
            <a:r>
              <a:rPr lang="en-US" dirty="0" err="1"/>
              <a:t>DBMSReal</a:t>
            </a:r>
            <a:r>
              <a:rPr lang="en-US" dirty="0"/>
              <a:t> </a:t>
            </a:r>
            <a:r>
              <a:rPr lang="en-US" dirty="0" err="1"/>
              <a:t>LifeTransaction</a:t>
            </a:r>
            <a:r>
              <a:rPr lang="en-US" dirty="0"/>
              <a:t> </a:t>
            </a:r>
            <a:r>
              <a:rPr lang="en-US" dirty="0" err="1"/>
              <a:t>ManagerBank</a:t>
            </a:r>
            <a:r>
              <a:rPr lang="en-US" dirty="0"/>
              <a:t> </a:t>
            </a:r>
            <a:r>
              <a:rPr lang="en-US" dirty="0" err="1"/>
              <a:t>supervisorTransactionMoney</a:t>
            </a:r>
            <a:r>
              <a:rPr lang="en-US" dirty="0"/>
              <a:t> </a:t>
            </a:r>
            <a:r>
              <a:rPr lang="en-US" dirty="0" err="1"/>
              <a:t>transferRollbackCancel</a:t>
            </a:r>
            <a:r>
              <a:rPr lang="en-US" dirty="0"/>
              <a:t> failed transfer</a:t>
            </a:r>
          </a:p>
          <a:p>
            <a:br>
              <a:rPr lang="en-US" dirty="0"/>
            </a:br>
            <a:endParaRPr lang="en-US" dirty="0"/>
          </a:p>
          <a:p>
            <a:r>
              <a:rPr lang="en-US" b="1" dirty="0"/>
              <a:t>4. Authorization and Integrity Manager</a:t>
            </a:r>
          </a:p>
          <a:p>
            <a:r>
              <a:rPr lang="en-US" b="1" dirty="0"/>
              <a:t>Definition</a:t>
            </a:r>
          </a:p>
          <a:p>
            <a:r>
              <a:rPr lang="en-US" dirty="0"/>
              <a:t>This component ensures:</a:t>
            </a:r>
          </a:p>
          <a:p>
            <a:r>
              <a:rPr lang="en-US" dirty="0"/>
              <a:t>Only authorized users access data </a:t>
            </a:r>
          </a:p>
          <a:p>
            <a:r>
              <a:rPr lang="en-US" dirty="0"/>
              <a:t>Database rules remain valid </a:t>
            </a:r>
          </a:p>
          <a:p>
            <a:r>
              <a:rPr lang="en-US" dirty="0"/>
              <a:t>It handles:</a:t>
            </a:r>
          </a:p>
          <a:p>
            <a:r>
              <a:rPr lang="en-US" dirty="0"/>
              <a:t>security </a:t>
            </a:r>
          </a:p>
          <a:p>
            <a:r>
              <a:rPr lang="en-US" dirty="0"/>
              <a:t>permissions </a:t>
            </a:r>
          </a:p>
          <a:p>
            <a:r>
              <a:rPr lang="en-US" dirty="0"/>
              <a:t>integrity constraints </a:t>
            </a:r>
          </a:p>
          <a:p>
            <a:br>
              <a:rPr lang="en-US" dirty="0"/>
            </a:br>
            <a:endParaRPr lang="en-US" dirty="0"/>
          </a:p>
          <a:p>
            <a:r>
              <a:rPr lang="en-US" b="1" dirty="0"/>
              <a:t>Responsibilities</a:t>
            </a:r>
          </a:p>
          <a:p>
            <a:r>
              <a:rPr lang="en-US" b="1" dirty="0"/>
              <a:t>1. User Authorization</a:t>
            </a:r>
          </a:p>
          <a:p>
            <a:r>
              <a:rPr lang="en-US" dirty="0"/>
              <a:t>Controls:</a:t>
            </a:r>
          </a:p>
          <a:p>
            <a:r>
              <a:rPr lang="en-US" dirty="0"/>
              <a:t>who can access data </a:t>
            </a:r>
          </a:p>
          <a:p>
            <a:r>
              <a:rPr lang="en-US" dirty="0"/>
              <a:t>what operations are allowed </a:t>
            </a:r>
          </a:p>
          <a:p>
            <a:r>
              <a:rPr lang="en-US" dirty="0"/>
              <a:t>Example:</a:t>
            </a:r>
          </a:p>
          <a:p>
            <a:r>
              <a:rPr lang="en-US" dirty="0"/>
              <a:t>Teacher can enter attendance </a:t>
            </a:r>
          </a:p>
          <a:p>
            <a:r>
              <a:rPr lang="en-US" dirty="0"/>
              <a:t>Student can only view attendance </a:t>
            </a:r>
          </a:p>
          <a:p>
            <a:br>
              <a:rPr lang="en-US" dirty="0"/>
            </a:br>
            <a:endParaRPr lang="en-US" dirty="0"/>
          </a:p>
          <a:p>
            <a:r>
              <a:rPr lang="en-US" b="1" dirty="0"/>
              <a:t>2. Access Control</a:t>
            </a:r>
          </a:p>
          <a:p>
            <a:r>
              <a:rPr lang="en-US" dirty="0"/>
              <a:t>Manages privileges like:</a:t>
            </a:r>
          </a:p>
          <a:p>
            <a:pPr rtl="0"/>
            <a:r>
              <a:rPr lang="en-US" sz="1200" kern="1200" dirty="0">
                <a:solidFill>
                  <a:schemeClr val="tx1"/>
                </a:solidFill>
                <a:latin typeface="+mn-lt"/>
                <a:ea typeface="+mn-ea"/>
                <a:cs typeface="+mn-cs"/>
              </a:rPr>
              <a:t>SELECT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INSERT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UPDATE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DELETE</a:t>
            </a:r>
          </a:p>
          <a:p>
            <a:br>
              <a:rPr lang="en-US" dirty="0"/>
            </a:br>
            <a:endParaRPr lang="en-US" dirty="0"/>
          </a:p>
          <a:p>
            <a:r>
              <a:rPr lang="en-US" b="1" dirty="0"/>
              <a:t>3. Authentication</a:t>
            </a:r>
          </a:p>
          <a:p>
            <a:r>
              <a:rPr lang="en-US" dirty="0"/>
              <a:t>Verifies user identity using:</a:t>
            </a:r>
          </a:p>
          <a:p>
            <a:r>
              <a:rPr lang="en-US" dirty="0"/>
              <a:t>username/password </a:t>
            </a:r>
          </a:p>
          <a:p>
            <a:r>
              <a:rPr lang="en-US" dirty="0"/>
              <a:t>tokens </a:t>
            </a:r>
          </a:p>
          <a:p>
            <a:r>
              <a:rPr lang="en-US" dirty="0"/>
              <a:t>authentication systems </a:t>
            </a:r>
          </a:p>
          <a:p>
            <a:br>
              <a:rPr lang="en-US" dirty="0"/>
            </a:br>
            <a:endParaRPr lang="en-US" dirty="0"/>
          </a:p>
          <a:p>
            <a:r>
              <a:rPr lang="en-US" b="1" dirty="0"/>
              <a:t>4. Integrity Constraint Enforcement</a:t>
            </a:r>
          </a:p>
          <a:p>
            <a:r>
              <a:rPr lang="en-US" dirty="0"/>
              <a:t>Ensures database correctness.</a:t>
            </a:r>
          </a:p>
          <a:p>
            <a:br>
              <a:rPr lang="en-US" dirty="0"/>
            </a:br>
            <a:endParaRPr lang="en-US" dirty="0"/>
          </a:p>
          <a:p>
            <a:r>
              <a:rPr lang="en-US" b="1" dirty="0"/>
              <a:t>Types of Integrity Constraints</a:t>
            </a:r>
          </a:p>
          <a:p>
            <a:r>
              <a:rPr lang="en-US" b="1" dirty="0"/>
              <a:t>Entity Integrity</a:t>
            </a:r>
          </a:p>
          <a:p>
            <a:r>
              <a:rPr lang="en-US" dirty="0"/>
              <a:t>Primary key cannot be NULL.</a:t>
            </a:r>
          </a:p>
          <a:p>
            <a:br>
              <a:rPr lang="en-US" dirty="0"/>
            </a:br>
            <a:endParaRPr lang="en-US" dirty="0"/>
          </a:p>
          <a:p>
            <a:r>
              <a:rPr lang="en-US" b="1" dirty="0"/>
              <a:t>Referential Integrity</a:t>
            </a:r>
          </a:p>
          <a:p>
            <a:r>
              <a:rPr lang="en-US" dirty="0"/>
              <a:t>Foreign key must reference valid row.</a:t>
            </a:r>
          </a:p>
          <a:p>
            <a:br>
              <a:rPr lang="en-US" dirty="0"/>
            </a:br>
            <a:endParaRPr lang="en-US" dirty="0"/>
          </a:p>
          <a:p>
            <a:r>
              <a:rPr lang="en-US" b="1" dirty="0"/>
              <a:t>Domain Integrity</a:t>
            </a:r>
          </a:p>
          <a:p>
            <a:r>
              <a:rPr lang="en-US" dirty="0"/>
              <a:t>Values must stay within allowed range.</a:t>
            </a:r>
          </a:p>
          <a:p>
            <a:r>
              <a:rPr lang="en-US" dirty="0"/>
              <a:t>Example:</a:t>
            </a:r>
          </a:p>
          <a:p>
            <a:pPr rtl="0"/>
            <a:r>
              <a:rPr lang="en-US" sz="1200" kern="1200" dirty="0">
                <a:solidFill>
                  <a:schemeClr val="tx1"/>
                </a:solidFill>
                <a:latin typeface="+mn-lt"/>
                <a:ea typeface="+mn-ea"/>
                <a:cs typeface="+mn-cs"/>
              </a:rPr>
              <a:t>Marks BETWEEN 0 AND 100</a:t>
            </a:r>
          </a:p>
          <a:p>
            <a:br>
              <a:rPr lang="en-US" dirty="0"/>
            </a:br>
            <a:endParaRPr lang="en-US" dirty="0"/>
          </a:p>
          <a:p>
            <a:r>
              <a:rPr lang="en-US" b="1" dirty="0"/>
              <a:t>5. Preventing Unauthorized Modifications</a:t>
            </a:r>
          </a:p>
          <a:p>
            <a:r>
              <a:rPr lang="en-US" dirty="0"/>
              <a:t>Protects against:</a:t>
            </a:r>
          </a:p>
          <a:p>
            <a:r>
              <a:rPr lang="en-US" dirty="0"/>
              <a:t>accidental corruption </a:t>
            </a:r>
          </a:p>
          <a:p>
            <a:r>
              <a:rPr lang="en-US" dirty="0"/>
              <a:t>malicious changes</a:t>
            </a:r>
          </a:p>
          <a:p>
            <a:endParaRPr lang="en-US" dirty="0"/>
          </a:p>
          <a:p>
            <a:endParaRPr lang="en-US" dirty="0"/>
          </a:p>
          <a:p>
            <a:endParaRPr lang="en-US" dirty="0"/>
          </a:p>
          <a:p>
            <a:r>
              <a:rPr lang="en-US" b="1" dirty="0"/>
              <a:t>Buffer Manager</a:t>
            </a:r>
          </a:p>
          <a:p>
            <a:r>
              <a:rPr lang="en-US" dirty="0"/>
              <a:t>The buffer manager manages temporary storage of database pages in main memory to reduce disk access time.</a:t>
            </a:r>
          </a:p>
          <a:p>
            <a:r>
              <a:rPr lang="en-US" b="1" dirty="0"/>
              <a:t>File Manager</a:t>
            </a:r>
          </a:p>
          <a:p>
            <a:r>
              <a:rPr lang="en-US" dirty="0"/>
              <a:t>The file manager handles physical storage organization, disk allocation, and record management in the database.</a:t>
            </a:r>
          </a:p>
          <a:p>
            <a:r>
              <a:rPr lang="en-US" b="1" dirty="0"/>
              <a:t>Transaction Manager</a:t>
            </a:r>
          </a:p>
          <a:p>
            <a:r>
              <a:rPr lang="en-US" dirty="0"/>
              <a:t>The transaction manager ensures reliable execution of transactions while maintaining ACID properties.</a:t>
            </a:r>
          </a:p>
          <a:p>
            <a:r>
              <a:rPr lang="en-US" b="1" dirty="0"/>
              <a:t>Authorization and Integrity Manager</a:t>
            </a:r>
          </a:p>
          <a:p>
            <a:r>
              <a:rPr lang="en-US" dirty="0"/>
              <a:t>This manager controls user access permissions and enforces integrity constraints to maintain database security and correctness</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25</a:t>
            </a:fld>
            <a:endParaRPr lang="en-US"/>
          </a:p>
        </p:txBody>
      </p:sp>
    </p:spTree>
    <p:extLst>
      <p:ext uri="{BB962C8B-B14F-4D97-AF65-F5344CB8AC3E}">
        <p14:creationId xmlns:p14="http://schemas.microsoft.com/office/powerpoint/2010/main" val="909246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Responsibilities of Buffer Manager</a:t>
            </a:r>
          </a:p>
          <a:p>
            <a:r>
              <a:rPr lang="en-US" b="1" dirty="0"/>
              <a:t>1. Bringing Data from Disk to Memory</a:t>
            </a:r>
          </a:p>
          <a:p>
            <a:r>
              <a:rPr lang="en-US" dirty="0"/>
              <a:t>When data is needed:</a:t>
            </a:r>
          </a:p>
          <a:p>
            <a:r>
              <a:rPr lang="en-US" dirty="0"/>
              <a:t>Buffer manager loads required blocks/pages into RAM. </a:t>
            </a:r>
          </a:p>
          <a:p>
            <a:r>
              <a:rPr lang="en-US" dirty="0"/>
              <a:t>Example:</a:t>
            </a:r>
          </a:p>
          <a:p>
            <a:r>
              <a:rPr lang="en-US" dirty="0">
                <a:solidFill>
                  <a:schemeClr val="tx1"/>
                </a:solidFill>
              </a:rPr>
              <a:t>SELECT * FROM Student;</a:t>
            </a:r>
          </a:p>
          <a:p>
            <a:r>
              <a:rPr lang="en-US" dirty="0"/>
              <a:t>Required pages are fetched into memory.</a:t>
            </a:r>
          </a:p>
          <a:p>
            <a:br>
              <a:rPr lang="en-US" dirty="0"/>
            </a:br>
            <a:endParaRPr lang="en-US" dirty="0"/>
          </a:p>
          <a:p>
            <a:r>
              <a:rPr lang="en-US" b="1" dirty="0"/>
              <a:t>2. Managing Buffer Pool</a:t>
            </a:r>
          </a:p>
          <a:p>
            <a:r>
              <a:rPr lang="en-US" dirty="0"/>
              <a:t>A </a:t>
            </a:r>
            <a:r>
              <a:rPr lang="en-US" b="1" dirty="0"/>
              <a:t>buffer pool</a:t>
            </a:r>
            <a:r>
              <a:rPr lang="en-US" dirty="0"/>
              <a:t> is a collection of memory pages reserved for DBMS.</a:t>
            </a:r>
          </a:p>
          <a:p>
            <a:r>
              <a:rPr lang="en-US" dirty="0"/>
              <a:t>The buffer manager:</a:t>
            </a:r>
          </a:p>
          <a:p>
            <a:r>
              <a:rPr lang="en-US" dirty="0"/>
              <a:t>Allocates memory pages </a:t>
            </a:r>
          </a:p>
          <a:p>
            <a:r>
              <a:rPr lang="en-US" dirty="0"/>
              <a:t>Frees unused pages </a:t>
            </a:r>
          </a:p>
          <a:p>
            <a:r>
              <a:rPr lang="en-US" dirty="0"/>
              <a:t>Reuses memory efficiently </a:t>
            </a:r>
          </a:p>
          <a:p>
            <a:br>
              <a:rPr lang="en-US" dirty="0"/>
            </a:br>
            <a:endParaRPr lang="en-US" dirty="0"/>
          </a:p>
          <a:p>
            <a:r>
              <a:rPr lang="en-US" b="1" dirty="0"/>
              <a:t>3. Replacing Old Pages</a:t>
            </a:r>
          </a:p>
          <a:p>
            <a:r>
              <a:rPr lang="en-US" dirty="0"/>
              <a:t>If memory becomes full:</a:t>
            </a:r>
          </a:p>
          <a:p>
            <a:r>
              <a:rPr lang="en-US" dirty="0"/>
              <a:t>some pages must be removed. </a:t>
            </a:r>
          </a:p>
          <a:p>
            <a:r>
              <a:rPr lang="en-US" dirty="0"/>
              <a:t>Uses algorithms like:</a:t>
            </a:r>
          </a:p>
          <a:p>
            <a:r>
              <a:rPr lang="en-US" dirty="0"/>
              <a:t>FIFO </a:t>
            </a:r>
          </a:p>
          <a:p>
            <a:r>
              <a:rPr lang="en-US" dirty="0"/>
              <a:t>LRU (Least Recently Used) </a:t>
            </a:r>
          </a:p>
          <a:p>
            <a:br>
              <a:rPr lang="en-US" dirty="0"/>
            </a:br>
            <a:endParaRPr lang="en-US" dirty="0"/>
          </a:p>
          <a:p>
            <a:r>
              <a:rPr lang="en-US" b="1" dirty="0"/>
              <a:t>4. Writing Modified Data Back to Disk</a:t>
            </a:r>
          </a:p>
          <a:p>
            <a:r>
              <a:rPr lang="en-US" dirty="0"/>
              <a:t>If data changes in memory:</a:t>
            </a:r>
          </a:p>
          <a:p>
            <a:r>
              <a:rPr lang="en-US" dirty="0"/>
              <a:t>it must eventually be saved permanently. </a:t>
            </a:r>
          </a:p>
          <a:p>
            <a:r>
              <a:rPr lang="en-US" dirty="0"/>
              <a:t>This is called:</a:t>
            </a:r>
          </a:p>
          <a:p>
            <a:r>
              <a:rPr lang="en-US" b="1" dirty="0"/>
              <a:t>Dirty Page Writing</a:t>
            </a:r>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26</a:t>
            </a:fld>
            <a:endParaRPr lang="en-US"/>
          </a:p>
        </p:txBody>
      </p:sp>
    </p:spTree>
    <p:extLst>
      <p:ext uri="{BB962C8B-B14F-4D97-AF65-F5344CB8AC3E}">
        <p14:creationId xmlns:p14="http://schemas.microsoft.com/office/powerpoint/2010/main" val="2433021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3DEA-DAB3-6E42-EAB5-DC99FAA51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AAF95-6B94-6559-6D7E-A36133732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110A3-36D2-89E1-FDB9-16F1EBE36DF9}"/>
              </a:ext>
            </a:extLst>
          </p:cNvPr>
          <p:cNvSpPr>
            <a:spLocks noGrp="1"/>
          </p:cNvSpPr>
          <p:nvPr>
            <p:ph type="body" idx="1"/>
          </p:nvPr>
        </p:nvSpPr>
        <p:spPr/>
        <p:txBody>
          <a:bodyPr/>
          <a:lstStyle/>
          <a:p>
            <a:r>
              <a:rPr lang="en-US" b="1" dirty="0"/>
              <a:t>Responsibilities of File Manager</a:t>
            </a:r>
          </a:p>
          <a:p>
            <a:r>
              <a:rPr lang="en-US" b="1" dirty="0"/>
              <a:t>1. File Organization</a:t>
            </a:r>
          </a:p>
          <a:p>
            <a:r>
              <a:rPr lang="en-US" dirty="0"/>
              <a:t>Determines how records are stored:</a:t>
            </a:r>
          </a:p>
          <a:p>
            <a:r>
              <a:rPr lang="en-US" dirty="0"/>
              <a:t>Sequential </a:t>
            </a:r>
          </a:p>
          <a:p>
            <a:r>
              <a:rPr lang="en-US" dirty="0"/>
              <a:t>Heap </a:t>
            </a:r>
          </a:p>
          <a:p>
            <a:r>
              <a:rPr lang="en-US" dirty="0"/>
              <a:t>Hashed </a:t>
            </a:r>
          </a:p>
          <a:p>
            <a:br>
              <a:rPr lang="en-US" dirty="0"/>
            </a:br>
            <a:endParaRPr lang="en-US" dirty="0"/>
          </a:p>
          <a:p>
            <a:r>
              <a:rPr lang="en-US" b="1" dirty="0"/>
              <a:t>2. Disk Space Allocation</a:t>
            </a:r>
          </a:p>
          <a:p>
            <a:r>
              <a:rPr lang="en-US" dirty="0"/>
              <a:t>Allocates space for:</a:t>
            </a:r>
          </a:p>
          <a:p>
            <a:r>
              <a:rPr lang="en-US" dirty="0"/>
              <a:t>tables </a:t>
            </a:r>
          </a:p>
          <a:p>
            <a:r>
              <a:rPr lang="en-US" dirty="0"/>
              <a:t>indexes </a:t>
            </a:r>
          </a:p>
          <a:p>
            <a:r>
              <a:rPr lang="en-US" dirty="0"/>
              <a:t>logs </a:t>
            </a:r>
          </a:p>
          <a:p>
            <a:br>
              <a:rPr lang="en-US" dirty="0"/>
            </a:br>
            <a:endParaRPr lang="en-US" dirty="0"/>
          </a:p>
          <a:p>
            <a:r>
              <a:rPr lang="en-US" b="1" dirty="0"/>
              <a:t>3. Record Management</a:t>
            </a:r>
          </a:p>
          <a:p>
            <a:r>
              <a:rPr lang="en-US" dirty="0"/>
              <a:t>Handles:</a:t>
            </a:r>
          </a:p>
          <a:p>
            <a:r>
              <a:rPr lang="en-US" dirty="0"/>
              <a:t>insertion </a:t>
            </a:r>
          </a:p>
          <a:p>
            <a:r>
              <a:rPr lang="en-US" dirty="0"/>
              <a:t>deletion </a:t>
            </a:r>
          </a:p>
          <a:p>
            <a:r>
              <a:rPr lang="en-US" dirty="0"/>
              <a:t>updating </a:t>
            </a:r>
          </a:p>
          <a:p>
            <a:r>
              <a:rPr lang="en-US" dirty="0"/>
              <a:t>retrieval </a:t>
            </a:r>
          </a:p>
          <a:p>
            <a:br>
              <a:rPr lang="en-US" dirty="0"/>
            </a:br>
            <a:endParaRPr lang="en-US" dirty="0"/>
          </a:p>
          <a:p>
            <a:r>
              <a:rPr lang="en-US" b="1" dirty="0"/>
              <a:t>4. Page Management</a:t>
            </a:r>
          </a:p>
          <a:p>
            <a:r>
              <a:rPr lang="en-US" dirty="0"/>
              <a:t>Data is stored in units called:</a:t>
            </a:r>
          </a:p>
          <a:p>
            <a:r>
              <a:rPr lang="en-US" b="1" dirty="0"/>
              <a:t>Pages or Blocks</a:t>
            </a:r>
          </a:p>
          <a:p>
            <a:r>
              <a:rPr lang="en-US" dirty="0"/>
              <a:t>File manager organizes these pages.</a:t>
            </a:r>
          </a:p>
          <a:p>
            <a:br>
              <a:rPr lang="en-US" dirty="0"/>
            </a:br>
            <a:endParaRPr lang="en-US" dirty="0"/>
          </a:p>
          <a:p>
            <a:r>
              <a:rPr lang="en-US" b="1" dirty="0"/>
              <a:t>5. Maintaining Index Files</a:t>
            </a:r>
          </a:p>
          <a:p>
            <a:r>
              <a:rPr lang="en-US" dirty="0"/>
              <a:t>Coordinates storage of:</a:t>
            </a:r>
          </a:p>
          <a:p>
            <a:r>
              <a:rPr lang="en-US" dirty="0"/>
              <a:t>B-tree indexes </a:t>
            </a:r>
          </a:p>
          <a:p>
            <a:r>
              <a:rPr lang="en-US" dirty="0"/>
              <a:t>Hash indexes</a:t>
            </a:r>
          </a:p>
        </p:txBody>
      </p:sp>
      <p:sp>
        <p:nvSpPr>
          <p:cNvPr id="4" name="Slide Number Placeholder 3">
            <a:extLst>
              <a:ext uri="{FF2B5EF4-FFF2-40B4-BE49-F238E27FC236}">
                <a16:creationId xmlns:a16="http://schemas.microsoft.com/office/drawing/2014/main" id="{8FE1EF11-A9EC-6DFC-0C23-1D9C30759D74}"/>
              </a:ext>
            </a:extLst>
          </p:cNvPr>
          <p:cNvSpPr>
            <a:spLocks noGrp="1"/>
          </p:cNvSpPr>
          <p:nvPr>
            <p:ph type="sldNum" sz="quarter" idx="5"/>
          </p:nvPr>
        </p:nvSpPr>
        <p:spPr/>
        <p:txBody>
          <a:bodyPr/>
          <a:lstStyle/>
          <a:p>
            <a:fld id="{532ED260-D111-491D-AB9F-FC8569A2A916}" type="slidenum">
              <a:rPr lang="en-US" smtClean="0"/>
              <a:t>27</a:t>
            </a:fld>
            <a:endParaRPr lang="en-US"/>
          </a:p>
        </p:txBody>
      </p:sp>
    </p:spTree>
    <p:extLst>
      <p:ext uri="{BB962C8B-B14F-4D97-AF65-F5344CB8AC3E}">
        <p14:creationId xmlns:p14="http://schemas.microsoft.com/office/powerpoint/2010/main" val="37461351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9DC05-1917-CBE3-8086-DCD7FE52E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931B-B503-0C41-2CE1-B669218CD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957DD-9C55-C6B7-5755-A361ED051CCE}"/>
              </a:ext>
            </a:extLst>
          </p:cNvPr>
          <p:cNvSpPr>
            <a:spLocks noGrp="1"/>
          </p:cNvSpPr>
          <p:nvPr>
            <p:ph type="body" idx="1"/>
          </p:nvPr>
        </p:nvSpPr>
        <p:spPr/>
        <p:txBody>
          <a:bodyPr/>
          <a:lstStyle/>
          <a:p>
            <a:r>
              <a:rPr lang="en-US" b="1" dirty="0"/>
              <a:t>Responsibilities of Transaction Manager</a:t>
            </a:r>
          </a:p>
          <a:p>
            <a:r>
              <a:rPr lang="en-US" b="1" dirty="0"/>
              <a:t>1. Ensuring ACID Properties</a:t>
            </a:r>
          </a:p>
          <a:p>
            <a:r>
              <a:rPr lang="en-US" b="1" dirty="0"/>
              <a:t>ACID Properties</a:t>
            </a:r>
          </a:p>
          <a:p>
            <a:r>
              <a:rPr lang="en-US" dirty="0"/>
              <a:t>Property		Meaning</a:t>
            </a:r>
          </a:p>
          <a:p>
            <a:r>
              <a:rPr lang="en-US" dirty="0"/>
              <a:t>Atomicity		All or nothing</a:t>
            </a:r>
          </a:p>
          <a:p>
            <a:r>
              <a:rPr lang="en-US" dirty="0"/>
              <a:t>Consistency		Database remains valid</a:t>
            </a:r>
          </a:p>
          <a:p>
            <a:r>
              <a:rPr lang="en-US" dirty="0"/>
              <a:t>Isolation		Transactions don't interfere</a:t>
            </a:r>
          </a:p>
          <a:p>
            <a:r>
              <a:rPr lang="en-US" dirty="0"/>
              <a:t>Durability		Changes persist permanently</a:t>
            </a:r>
          </a:p>
          <a:p>
            <a:br>
              <a:rPr lang="en-US" dirty="0"/>
            </a:br>
            <a:endParaRPr lang="en-US" dirty="0"/>
          </a:p>
          <a:p>
            <a:r>
              <a:rPr lang="en-US" b="1" dirty="0"/>
              <a:t>2. Concurrency Control</a:t>
            </a:r>
          </a:p>
          <a:p>
            <a:r>
              <a:rPr lang="en-US" dirty="0"/>
              <a:t>Many users may access same data simultaneously.</a:t>
            </a:r>
          </a:p>
          <a:p>
            <a:r>
              <a:rPr lang="en-US" dirty="0"/>
              <a:t>Transaction manager prevents:</a:t>
            </a:r>
          </a:p>
          <a:p>
            <a:r>
              <a:rPr lang="en-US" dirty="0"/>
              <a:t>lost updates </a:t>
            </a:r>
          </a:p>
          <a:p>
            <a:r>
              <a:rPr lang="en-US" dirty="0"/>
              <a:t>inconsistent reads </a:t>
            </a:r>
          </a:p>
          <a:p>
            <a:r>
              <a:rPr lang="en-US" dirty="0"/>
              <a:t>Uses:</a:t>
            </a:r>
          </a:p>
          <a:p>
            <a:r>
              <a:rPr lang="en-US" dirty="0"/>
              <a:t>locking </a:t>
            </a:r>
          </a:p>
          <a:p>
            <a:r>
              <a:rPr lang="en-US" dirty="0"/>
              <a:t>timestamps </a:t>
            </a:r>
          </a:p>
          <a:p>
            <a:r>
              <a:rPr lang="en-US" dirty="0"/>
              <a:t>scheduling </a:t>
            </a:r>
          </a:p>
          <a:p>
            <a:br>
              <a:rPr lang="en-US" dirty="0"/>
            </a:br>
            <a:endParaRPr lang="en-US" dirty="0"/>
          </a:p>
          <a:p>
            <a:r>
              <a:rPr lang="en-US" b="1" dirty="0"/>
              <a:t>3. Recovery Management</a:t>
            </a:r>
          </a:p>
          <a:p>
            <a:r>
              <a:rPr lang="en-US" dirty="0"/>
              <a:t>If system crashes:</a:t>
            </a:r>
          </a:p>
          <a:p>
            <a:r>
              <a:rPr lang="en-US" dirty="0"/>
              <a:t>rollback incomplete transactions </a:t>
            </a:r>
          </a:p>
          <a:p>
            <a:r>
              <a:rPr lang="en-US" dirty="0"/>
              <a:t>restore correct database state </a:t>
            </a:r>
          </a:p>
          <a:p>
            <a:r>
              <a:rPr lang="en-US" dirty="0"/>
              <a:t>Uses:</a:t>
            </a:r>
          </a:p>
          <a:p>
            <a:r>
              <a:rPr lang="en-US" dirty="0"/>
              <a:t>logs </a:t>
            </a:r>
          </a:p>
          <a:p>
            <a:r>
              <a:rPr lang="en-US" dirty="0"/>
              <a:t>checkpoints </a:t>
            </a:r>
          </a:p>
          <a:p>
            <a:br>
              <a:rPr lang="en-US" dirty="0"/>
            </a:br>
            <a:endParaRPr lang="en-US" dirty="0"/>
          </a:p>
          <a:p>
            <a:r>
              <a:rPr lang="en-US" b="1" dirty="0"/>
              <a:t>4. Commit and Rollback</a:t>
            </a:r>
          </a:p>
          <a:p>
            <a:r>
              <a:rPr lang="en-US" b="1" dirty="0"/>
              <a:t>Commit</a:t>
            </a:r>
          </a:p>
          <a:p>
            <a:r>
              <a:rPr lang="en-US" dirty="0"/>
              <a:t>Makes changes permanent.</a:t>
            </a:r>
          </a:p>
          <a:p>
            <a:r>
              <a:rPr lang="en-US" b="1" dirty="0"/>
              <a:t>Rollback</a:t>
            </a:r>
          </a:p>
          <a:p>
            <a:r>
              <a:rPr lang="en-US" dirty="0"/>
              <a:t>Undoes changes if error occurs</a:t>
            </a:r>
          </a:p>
        </p:txBody>
      </p:sp>
      <p:sp>
        <p:nvSpPr>
          <p:cNvPr id="4" name="Slide Number Placeholder 3">
            <a:extLst>
              <a:ext uri="{FF2B5EF4-FFF2-40B4-BE49-F238E27FC236}">
                <a16:creationId xmlns:a16="http://schemas.microsoft.com/office/drawing/2014/main" id="{037A5830-3EA9-E545-B887-913A7A3D2CA3}"/>
              </a:ext>
            </a:extLst>
          </p:cNvPr>
          <p:cNvSpPr>
            <a:spLocks noGrp="1"/>
          </p:cNvSpPr>
          <p:nvPr>
            <p:ph type="sldNum" sz="quarter" idx="5"/>
          </p:nvPr>
        </p:nvSpPr>
        <p:spPr/>
        <p:txBody>
          <a:bodyPr/>
          <a:lstStyle/>
          <a:p>
            <a:fld id="{532ED260-D111-491D-AB9F-FC8569A2A916}" type="slidenum">
              <a:rPr lang="en-US" smtClean="0"/>
              <a:t>28</a:t>
            </a:fld>
            <a:endParaRPr lang="en-US"/>
          </a:p>
        </p:txBody>
      </p:sp>
    </p:spTree>
    <p:extLst>
      <p:ext uri="{BB962C8B-B14F-4D97-AF65-F5344CB8AC3E}">
        <p14:creationId xmlns:p14="http://schemas.microsoft.com/office/powerpoint/2010/main" val="2953015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12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1200" b="1" dirty="0">
                <a:solidFill>
                  <a:srgbClr val="222222"/>
                </a:solidFill>
                <a:latin typeface="Times New Roman" panose="02020603050405020304" pitchFamily="18" charset="0"/>
                <a:cs typeface="Times New Roman" panose="02020603050405020304" pitchFamily="18" charset="0"/>
              </a:rPr>
              <a:t>2-Tier Architecture</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2-Tier architecture is same as basic client-server. In the two-tier architecture, applications on the client end can directly communicate with the database at the server side. For this interaction, API's like: ODBC, JDBC are used.</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user interfaces and application programs are run on the client-side.</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server side is responsible to provide the functionalities like: query processing and transaction management.</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To communicate with the DBMS, client-side application establishes a connection with the server side.</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30</a:t>
            </a:fld>
            <a:endParaRPr lang="en-US"/>
          </a:p>
        </p:txBody>
      </p:sp>
    </p:spTree>
    <p:extLst>
      <p:ext uri="{BB962C8B-B14F-4D97-AF65-F5344CB8AC3E}">
        <p14:creationId xmlns:p14="http://schemas.microsoft.com/office/powerpoint/2010/main" val="979396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12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1200" b="1" dirty="0">
                <a:solidFill>
                  <a:srgbClr val="222222"/>
                </a:solidFill>
                <a:latin typeface="Times New Roman" panose="02020603050405020304" pitchFamily="18" charset="0"/>
                <a:cs typeface="Times New Roman" panose="02020603050405020304" pitchFamily="18" charset="0"/>
              </a:rPr>
              <a:t>3-Tier Architecture</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3-Tier architecture contains another layer between the client and server. In this architecture, client can't directly communicate with the server.</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application on the client-end interacts with an application server which further communicates with the database system.</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End user has no idea about the existence of the database beyond the application server. The database also has no idea about any other user beyond the application.</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3-Tier architecture is used in case of large web application.</a:t>
            </a:r>
          </a:p>
          <a:p>
            <a:pPr marL="457200" marR="0" lvl="0" indent="-457200" algn="just">
              <a:buClr>
                <a:schemeClr val="tx1"/>
              </a:buClr>
              <a:buSzPct val="71000"/>
              <a:buFont typeface="Wingdings" panose="05000000000000000000" pitchFamily="2" charset="2"/>
              <a:buChar char="v"/>
              <a:tabLst>
                <a:tab pos="457200" algn="l"/>
              </a:tabLst>
            </a:pPr>
            <a:endParaRPr lang="en-US" sz="1200" dirty="0">
              <a:solidFill>
                <a:srgbClr val="222222"/>
              </a:solidFill>
              <a:latin typeface="Times New Roman" panose="02020603050405020304" pitchFamily="18" charset="0"/>
              <a:cs typeface="Times New Roman" panose="02020603050405020304" pitchFamily="18" charset="0"/>
            </a:endParaRPr>
          </a:p>
          <a:p>
            <a:pPr marL="457200" marR="0" lvl="0" indent="-457200" algn="just">
              <a:buClr>
                <a:schemeClr val="tx1"/>
              </a:buClr>
              <a:buSzPct val="71000"/>
              <a:buFont typeface="Wingdings" panose="05000000000000000000" pitchFamily="2" charset="2"/>
              <a:buChar char="v"/>
              <a:tabLst>
                <a:tab pos="457200" algn="l"/>
              </a:tabLst>
            </a:pPr>
            <a:endParaRPr lang="en-US" sz="12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endParaRPr lang="en-US" sz="1200" b="1"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1200" b="1" dirty="0">
                <a:solidFill>
                  <a:srgbClr val="222222"/>
                </a:solidFill>
                <a:latin typeface="Times New Roman" panose="02020603050405020304" pitchFamily="18" charset="0"/>
                <a:cs typeface="Times New Roman" panose="02020603050405020304" pitchFamily="18" charset="0"/>
              </a:rPr>
              <a:t>Presentation tier</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presentation tier is the user interface and communication layer of the application, where the end user interacts with the application.</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Its main purpose is to display information to and collect information from the user. This top-level tier can run on a web browser, as desktop application, or a graphical user interface (GUI), for example. </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Web presentation tiers are usually developed using HTML, CSS and JavaScript. Desktop applications can be written in a variety of languages depending on the platform.</a:t>
            </a:r>
          </a:p>
          <a:p>
            <a:pPr marL="0" marR="0" lvl="0" indent="0" algn="just">
              <a:buClr>
                <a:schemeClr val="tx1"/>
              </a:buClr>
              <a:buSzPct val="71000"/>
              <a:buFont typeface="Wingdings" panose="05000000000000000000" pitchFamily="2" charset="2"/>
              <a:buNone/>
              <a:tabLst>
                <a:tab pos="457200" algn="l"/>
              </a:tabLst>
            </a:pPr>
            <a:endParaRPr lang="en-US" sz="12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endParaRPr lang="en-US" sz="1200" b="1"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1200" b="1" dirty="0">
                <a:solidFill>
                  <a:srgbClr val="222222"/>
                </a:solidFill>
                <a:latin typeface="Times New Roman" panose="02020603050405020304" pitchFamily="18" charset="0"/>
                <a:cs typeface="Times New Roman" panose="02020603050405020304" pitchFamily="18" charset="0"/>
              </a:rPr>
              <a:t>Application tier</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application tier, also known as the logic tier or middle tier, is the heart of the application. In this tier, information collected in the presentation tier is processed - sometimes against other information in the data tier - using business logic, a specific set of business rules. </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application tier can also add, delete or modify data in the data tier. </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application tier is typically developed using Python, Java, Perl, PHP or Ruby, and communicates with the data tier using API calls. </a:t>
            </a:r>
          </a:p>
          <a:p>
            <a:endParaRPr lang="en-US" dirty="0"/>
          </a:p>
          <a:p>
            <a:endParaRPr lang="en-US" dirty="0"/>
          </a:p>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12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endParaRPr lang="en-US" sz="1200" b="1"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1200" b="1" dirty="0">
                <a:solidFill>
                  <a:srgbClr val="222222"/>
                </a:solidFill>
                <a:latin typeface="Times New Roman" panose="02020603050405020304" pitchFamily="18" charset="0"/>
                <a:cs typeface="Times New Roman" panose="02020603050405020304" pitchFamily="18" charset="0"/>
              </a:rPr>
              <a:t>Data tier</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The data tier, sometimes called database tier, data access tier or back-end, is where the information processed by the application is stored and managed. </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This can be a relational database management system such as PostgreSQL, MySQL, MariaDB, Oracle, DB2, Informix or Microsoft SQL Server, or in a NoSQL Database server such as Cassandra, CouchDB or MongoDB. </a:t>
            </a:r>
          </a:p>
          <a:p>
            <a:pPr marL="457200" marR="0" lvl="0" indent="-457200" algn="just">
              <a:buClr>
                <a:schemeClr val="tx1"/>
              </a:buClr>
              <a:buSzPct val="71000"/>
              <a:buFont typeface="Wingdings" panose="05000000000000000000" pitchFamily="2" charset="2"/>
              <a:buChar char="v"/>
              <a:tabLst>
                <a:tab pos="457200" algn="l"/>
              </a:tabLst>
            </a:pPr>
            <a:r>
              <a:rPr lang="en-US" sz="1200" dirty="0">
                <a:solidFill>
                  <a:srgbClr val="222222"/>
                </a:solidFill>
                <a:latin typeface="Times New Roman" panose="02020603050405020304" pitchFamily="18" charset="0"/>
                <a:cs typeface="Times New Roman" panose="02020603050405020304" pitchFamily="18" charset="0"/>
              </a:rPr>
              <a:t>In a three-tier application, all communication goes through the application tier. The presentation tier and the data tier cannot communicate directly with one another.</a:t>
            </a:r>
          </a:p>
          <a:p>
            <a:endParaRPr lang="en-US" dirty="0"/>
          </a:p>
          <a:p>
            <a:endParaRPr lang="en-US" dirty="0"/>
          </a:p>
          <a:p>
            <a:r>
              <a:rPr lang="en-US" sz="1200" b="1" i="0" kern="1200" dirty="0">
                <a:solidFill>
                  <a:schemeClr val="tx1"/>
                </a:solidFill>
                <a:effectLst/>
                <a:latin typeface="+mn-lt"/>
                <a:ea typeface="+mn-ea"/>
                <a:cs typeface="+mn-cs"/>
              </a:rPr>
              <a:t>Advantages of Three-Level DBMS Architecture</a:t>
            </a:r>
          </a:p>
          <a:p>
            <a:r>
              <a:rPr lang="en-US" sz="1200" b="1" i="0" kern="1200" dirty="0">
                <a:solidFill>
                  <a:schemeClr val="tx1"/>
                </a:solidFill>
                <a:effectLst/>
                <a:latin typeface="+mn-lt"/>
                <a:ea typeface="+mn-ea"/>
                <a:cs typeface="+mn-cs"/>
              </a:rPr>
              <a:t>Data Independence: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Changes in physical storage or logical schema don’t affect user views and applications.</a:t>
            </a:r>
          </a:p>
          <a:p>
            <a:r>
              <a:rPr lang="en-US" sz="1200" b="1" i="0" kern="1200" dirty="0">
                <a:solidFill>
                  <a:schemeClr val="tx1"/>
                </a:solidFill>
                <a:effectLst/>
                <a:latin typeface="+mn-lt"/>
                <a:ea typeface="+mn-ea"/>
                <a:cs typeface="+mn-cs"/>
              </a:rPr>
              <a:t>Enhanced Security: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Users access only the data relevant to them, reducing exposure of sensitive information.</a:t>
            </a:r>
          </a:p>
          <a:p>
            <a:r>
              <a:rPr lang="en-US" sz="1200" b="1" i="0" kern="1200" dirty="0">
                <a:solidFill>
                  <a:schemeClr val="tx1"/>
                </a:solidFill>
                <a:effectLst/>
                <a:latin typeface="+mn-lt"/>
                <a:ea typeface="+mn-ea"/>
                <a:cs typeface="+mn-cs"/>
              </a:rPr>
              <a:t>Flexibility: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Multiple customized views can be created for different users without changing the underlying schema.</a:t>
            </a:r>
          </a:p>
          <a:p>
            <a:r>
              <a:rPr lang="en-US" sz="1200" b="1" i="0" kern="1200" dirty="0">
                <a:solidFill>
                  <a:schemeClr val="tx1"/>
                </a:solidFill>
                <a:effectLst/>
                <a:latin typeface="+mn-lt"/>
                <a:ea typeface="+mn-ea"/>
                <a:cs typeface="+mn-cs"/>
              </a:rPr>
              <a:t>Simplified Design and Maintenance: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Logical and physical designs are separated, making the system easier to manage and evolve.</a:t>
            </a:r>
          </a:p>
          <a:p>
            <a:r>
              <a:rPr lang="en-US" sz="1200" b="1" i="0" kern="1200" dirty="0">
                <a:solidFill>
                  <a:schemeClr val="tx1"/>
                </a:solidFill>
                <a:effectLst/>
                <a:latin typeface="+mn-lt"/>
                <a:ea typeface="+mn-ea"/>
                <a:cs typeface="+mn-cs"/>
              </a:rPr>
              <a:t>Scalability: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Structural changes at the internal level (like storage upgrades) don’t disrupt the overall system.</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Disadvantages of Three-Level DBMS Architecture</a:t>
            </a:r>
          </a:p>
          <a:p>
            <a:r>
              <a:rPr lang="en-US" sz="1200" b="1" i="0" kern="1200" dirty="0">
                <a:solidFill>
                  <a:schemeClr val="tx1"/>
                </a:solidFill>
                <a:effectLst/>
                <a:latin typeface="+mn-lt"/>
                <a:ea typeface="+mn-ea"/>
                <a:cs typeface="+mn-cs"/>
              </a:rPr>
              <a:t>Increased Complexity: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Designing and managing three layers adds architectural complexity.</a:t>
            </a:r>
          </a:p>
          <a:p>
            <a:r>
              <a:rPr lang="en-US" sz="1200" b="1" i="0" kern="1200" dirty="0">
                <a:solidFill>
                  <a:schemeClr val="tx1"/>
                </a:solidFill>
                <a:effectLst/>
                <a:latin typeface="+mn-lt"/>
                <a:ea typeface="+mn-ea"/>
                <a:cs typeface="+mn-cs"/>
              </a:rPr>
              <a:t>Performance Overhead: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Multiple abstraction layers may introduce latency in data retrieval.</a:t>
            </a:r>
          </a:p>
          <a:p>
            <a:r>
              <a:rPr lang="en-US" sz="1200" b="1" i="0" kern="1200" dirty="0">
                <a:solidFill>
                  <a:schemeClr val="tx1"/>
                </a:solidFill>
                <a:effectLst/>
                <a:latin typeface="+mn-lt"/>
                <a:ea typeface="+mn-ea"/>
                <a:cs typeface="+mn-cs"/>
              </a:rPr>
              <a:t>Higher Development Cost: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More time and resources are needed to implement and maintain all three layers.</a:t>
            </a:r>
          </a:p>
          <a:p>
            <a:r>
              <a:rPr lang="en-US" sz="1200" b="1" i="0" kern="1200" dirty="0">
                <a:solidFill>
                  <a:schemeClr val="tx1"/>
                </a:solidFill>
                <a:effectLst/>
                <a:latin typeface="+mn-lt"/>
                <a:ea typeface="+mn-ea"/>
                <a:cs typeface="+mn-cs"/>
              </a:rPr>
              <a:t>Not Ideal for Simple Applications: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For small-scale systems, this architecture may be excessive and unnecessary</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31</a:t>
            </a:fld>
            <a:endParaRPr lang="en-US"/>
          </a:p>
        </p:txBody>
      </p:sp>
    </p:spTree>
    <p:extLst>
      <p:ext uri="{BB962C8B-B14F-4D97-AF65-F5344CB8AC3E}">
        <p14:creationId xmlns:p14="http://schemas.microsoft.com/office/powerpoint/2010/main" val="47416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915980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717378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2380301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E69D54-FA1C-4D9A-AFB3-4E944F34CC0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3228615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E69D54-FA1C-4D9A-AFB3-4E944F34CC09}"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353205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E69D54-FA1C-4D9A-AFB3-4E944F34CC09}"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289097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E69D54-FA1C-4D9A-AFB3-4E944F34CC09}"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034284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E69D54-FA1C-4D9A-AFB3-4E944F34CC09}"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313202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D5CB-4213-4614-B9B5-778CED923BCA}" type="slidenum">
              <a:rPr lang="en-US" smtClean="0"/>
              <a:t>‹#›</a:t>
            </a:fld>
            <a:endParaRPr lang="en-US"/>
          </a:p>
        </p:txBody>
      </p:sp>
      <p:sp>
        <p:nvSpPr>
          <p:cNvPr id="5" name="Date Placeholder 4"/>
          <p:cNvSpPr>
            <a:spLocks noGrp="1"/>
          </p:cNvSpPr>
          <p:nvPr>
            <p:ph type="dt" sz="half" idx="10"/>
          </p:nvPr>
        </p:nvSpPr>
        <p:spPr/>
        <p:txBody>
          <a:bodyPr/>
          <a:lstStyle/>
          <a:p>
            <a:fld id="{BFE69D54-FA1C-4D9A-AFB3-4E944F34CC09}" type="datetimeFigureOut">
              <a:rPr lang="en-US" smtClean="0"/>
              <a:t>5/11/2026</a:t>
            </a:fld>
            <a:endParaRPr lang="en-US"/>
          </a:p>
        </p:txBody>
      </p:sp>
    </p:spTree>
    <p:extLst>
      <p:ext uri="{BB962C8B-B14F-4D97-AF65-F5344CB8AC3E}">
        <p14:creationId xmlns:p14="http://schemas.microsoft.com/office/powerpoint/2010/main" val="4252954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260052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59840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2037749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77316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67457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2105411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54361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FE69D54-FA1C-4D9A-AFB3-4E944F34CC09}" type="datetimeFigureOut">
              <a:rPr lang="en-US" smtClean="0"/>
              <a:t>5/11/2026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F5D5CB-4213-4614-B9B5-778CED923BCA}" type="slidenum">
              <a:rPr lang="en-US" smtClean="0"/>
              <a:t>‹#›</a:t>
            </a:fld>
            <a:endParaRPr lang="en-US"/>
          </a:p>
        </p:txBody>
      </p:sp>
    </p:spTree>
    <p:extLst>
      <p:ext uri="{BB962C8B-B14F-4D97-AF65-F5344CB8AC3E}">
        <p14:creationId xmlns:p14="http://schemas.microsoft.com/office/powerpoint/2010/main" val="393807534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8eYmdW9PBZ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92FD-177D-09D1-F99D-F97142F5255D}"/>
              </a:ext>
            </a:extLst>
          </p:cNvPr>
          <p:cNvSpPr>
            <a:spLocks noGrp="1"/>
          </p:cNvSpPr>
          <p:nvPr>
            <p:ph type="ctrTitle"/>
          </p:nvPr>
        </p:nvSpPr>
        <p:spPr/>
        <p:txBody>
          <a:bodyPr/>
          <a:lstStyle/>
          <a:p>
            <a:r>
              <a:rPr lang="en-US" dirty="0"/>
              <a:t>Unit 1 Introduction</a:t>
            </a:r>
          </a:p>
        </p:txBody>
      </p:sp>
      <p:sp>
        <p:nvSpPr>
          <p:cNvPr id="3" name="Subtitle 2">
            <a:extLst>
              <a:ext uri="{FF2B5EF4-FFF2-40B4-BE49-F238E27FC236}">
                <a16:creationId xmlns:a16="http://schemas.microsoft.com/office/drawing/2014/main" id="{226880BC-5E15-C96D-53C8-42C54B9E05F4}"/>
              </a:ext>
            </a:extLst>
          </p:cNvPr>
          <p:cNvSpPr>
            <a:spLocks noGrp="1"/>
          </p:cNvSpPr>
          <p:nvPr>
            <p:ph type="subTitle" idx="1"/>
          </p:nvPr>
        </p:nvSpPr>
        <p:spPr/>
        <p:txBody>
          <a:bodyPr/>
          <a:lstStyle/>
          <a:p>
            <a:r>
              <a:rPr lang="en-US" dirty="0"/>
              <a:t>Kapil@nast.edu.np</a:t>
            </a:r>
          </a:p>
        </p:txBody>
      </p:sp>
    </p:spTree>
    <p:extLst>
      <p:ext uri="{BB962C8B-B14F-4D97-AF65-F5344CB8AC3E}">
        <p14:creationId xmlns:p14="http://schemas.microsoft.com/office/powerpoint/2010/main" val="3769756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E064-23E7-CF00-BA02-E0567AF0075B}"/>
              </a:ext>
            </a:extLst>
          </p:cNvPr>
          <p:cNvSpPr>
            <a:spLocks noGrp="1"/>
          </p:cNvSpPr>
          <p:nvPr>
            <p:ph type="title"/>
          </p:nvPr>
        </p:nvSpPr>
        <p:spPr/>
        <p:txBody>
          <a:bodyPr/>
          <a:lstStyle/>
          <a:p>
            <a:r>
              <a:rPr lang="en-US" dirty="0"/>
              <a:t>Contents </a:t>
            </a:r>
          </a:p>
        </p:txBody>
      </p:sp>
      <p:sp>
        <p:nvSpPr>
          <p:cNvPr id="3" name="Content Placeholder 2">
            <a:extLst>
              <a:ext uri="{FF2B5EF4-FFF2-40B4-BE49-F238E27FC236}">
                <a16:creationId xmlns:a16="http://schemas.microsoft.com/office/drawing/2014/main" id="{35D99880-F3BF-CC5A-AB68-1F9B9297DC0B}"/>
              </a:ext>
            </a:extLst>
          </p:cNvPr>
          <p:cNvSpPr>
            <a:spLocks noGrp="1"/>
          </p:cNvSpPr>
          <p:nvPr>
            <p:ph idx="1"/>
          </p:nvPr>
        </p:nvSpPr>
        <p:spPr>
          <a:xfrm>
            <a:off x="677334" y="2160589"/>
            <a:ext cx="6957906" cy="3880773"/>
          </a:xfrm>
        </p:spPr>
        <p:txBody>
          <a:bodyPr/>
          <a:lstStyle/>
          <a:p>
            <a:pPr marL="457200" indent="-457200">
              <a:buFont typeface="+mj-lt"/>
              <a:buAutoNum type="arabicPeriod"/>
            </a:pPr>
            <a:r>
              <a:rPr lang="en-US" dirty="0"/>
              <a:t>Database Management System purpose and applications,</a:t>
            </a:r>
          </a:p>
          <a:p>
            <a:pPr marL="457200" indent="-457200">
              <a:buFont typeface="+mj-lt"/>
              <a:buAutoNum type="arabicPeriod"/>
            </a:pPr>
            <a:r>
              <a:rPr lang="en-US" dirty="0"/>
              <a:t>Database Systems vs File Systems, Storage Management and Indexing</a:t>
            </a:r>
          </a:p>
          <a:p>
            <a:pPr marL="457200" indent="-457200">
              <a:buFont typeface="+mj-lt"/>
              <a:buAutoNum type="arabicPeriod"/>
            </a:pPr>
            <a:r>
              <a:rPr lang="en-US" dirty="0"/>
              <a:t>View of Data- Data Abstraction (Physical, logical and view level, Data Independence)</a:t>
            </a:r>
          </a:p>
          <a:p>
            <a:pPr marL="457200" indent="-457200">
              <a:buFont typeface="+mj-lt"/>
              <a:buAutoNum type="arabicPeriod"/>
            </a:pPr>
            <a:r>
              <a:rPr lang="en-US" dirty="0"/>
              <a:t>Instances and Schemas,</a:t>
            </a:r>
          </a:p>
          <a:p>
            <a:pPr marL="457200" indent="-457200">
              <a:buFont typeface="+mj-lt"/>
              <a:buAutoNum type="arabicPeriod"/>
            </a:pPr>
            <a:r>
              <a:rPr lang="en-US" dirty="0"/>
              <a:t>Database Languages (DDL, DML and DCL)</a:t>
            </a:r>
          </a:p>
          <a:p>
            <a:pPr marL="457200" indent="-457200">
              <a:buFont typeface="+mj-lt"/>
              <a:buAutoNum type="arabicPeriod"/>
            </a:pPr>
            <a:r>
              <a:rPr lang="en-US" dirty="0"/>
              <a:t>Database and Application Architecture- Database System Architecture and Database Application Architecture (two-tier and three-tier)</a:t>
            </a:r>
          </a:p>
          <a:p>
            <a:pPr marL="0" indent="0">
              <a:buNone/>
            </a:pPr>
            <a:endParaRPr lang="en-US" dirty="0"/>
          </a:p>
        </p:txBody>
      </p:sp>
    </p:spTree>
    <p:extLst>
      <p:ext uri="{BB962C8B-B14F-4D97-AF65-F5344CB8AC3E}">
        <p14:creationId xmlns:p14="http://schemas.microsoft.com/office/powerpoint/2010/main" val="1937362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B6102-47D7-869A-4A1D-7195B5A1E24A}"/>
              </a:ext>
            </a:extLst>
          </p:cNvPr>
          <p:cNvSpPr>
            <a:spLocks noGrp="1"/>
          </p:cNvSpPr>
          <p:nvPr>
            <p:ph type="title"/>
          </p:nvPr>
        </p:nvSpPr>
        <p:spPr/>
        <p:txBody>
          <a:bodyPr/>
          <a:lstStyle/>
          <a:p>
            <a:r>
              <a:rPr lang="en-US" dirty="0"/>
              <a:t>Concept and Application</a:t>
            </a:r>
          </a:p>
        </p:txBody>
      </p:sp>
      <p:sp>
        <p:nvSpPr>
          <p:cNvPr id="3" name="Content Placeholder 2">
            <a:extLst>
              <a:ext uri="{FF2B5EF4-FFF2-40B4-BE49-F238E27FC236}">
                <a16:creationId xmlns:a16="http://schemas.microsoft.com/office/drawing/2014/main" id="{AEA19A6F-B3E3-6B56-6A28-861567B6A913}"/>
              </a:ext>
            </a:extLst>
          </p:cNvPr>
          <p:cNvSpPr>
            <a:spLocks noGrp="1"/>
          </p:cNvSpPr>
          <p:nvPr>
            <p:ph idx="1"/>
          </p:nvPr>
        </p:nvSpPr>
        <p:spPr/>
        <p:txBody>
          <a:bodyPr/>
          <a:lstStyle/>
          <a:p>
            <a:r>
              <a:rPr lang="en-US" dirty="0"/>
              <a:t>Data : Collection of facts, such as numbers, words, measurements, observations or just descriptions of things.</a:t>
            </a:r>
          </a:p>
          <a:p>
            <a:r>
              <a:rPr lang="en-US" dirty="0"/>
              <a:t>Data are raw facts.</a:t>
            </a:r>
          </a:p>
          <a:p>
            <a:r>
              <a:rPr lang="en-US" dirty="0"/>
              <a:t>They are meaningless until they are sorted.</a:t>
            </a:r>
          </a:p>
          <a:p>
            <a:r>
              <a:rPr lang="en-US" dirty="0"/>
              <a:t>After data processing, we get meaningful facts is called Information.</a:t>
            </a:r>
          </a:p>
          <a:p>
            <a:r>
              <a:rPr lang="en-US" dirty="0"/>
              <a:t>Talking in terms of computing, data is basically information that can be translated into a particular form for efficient movement and processing.</a:t>
            </a:r>
          </a:p>
          <a:p>
            <a:r>
              <a:rPr lang="en-US" dirty="0"/>
              <a:t>Example: Name, age, weight, height, etc.</a:t>
            </a:r>
          </a:p>
        </p:txBody>
      </p:sp>
    </p:spTree>
    <p:extLst>
      <p:ext uri="{BB962C8B-B14F-4D97-AF65-F5344CB8AC3E}">
        <p14:creationId xmlns:p14="http://schemas.microsoft.com/office/powerpoint/2010/main" val="2878353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Database - Information Technology">
            <a:extLst>
              <a:ext uri="{FF2B5EF4-FFF2-40B4-BE49-F238E27FC236}">
                <a16:creationId xmlns:a16="http://schemas.microsoft.com/office/drawing/2014/main" id="{54C0ED8C-5241-7ADF-A567-17C316142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3309" y="3429000"/>
            <a:ext cx="5841385" cy="36182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41B37E0-45CC-8C55-7657-07411F298594}"/>
              </a:ext>
            </a:extLst>
          </p:cNvPr>
          <p:cNvSpPr>
            <a:spLocks noGrp="1"/>
          </p:cNvSpPr>
          <p:nvPr>
            <p:ph type="title"/>
          </p:nvPr>
        </p:nvSpPr>
        <p:spPr/>
        <p:txBody>
          <a:bodyPr/>
          <a:lstStyle/>
          <a:p>
            <a:r>
              <a:rPr lang="en-US" dirty="0"/>
              <a:t>Database</a:t>
            </a:r>
          </a:p>
        </p:txBody>
      </p:sp>
      <p:sp>
        <p:nvSpPr>
          <p:cNvPr id="8" name="Content Placeholder 7">
            <a:extLst>
              <a:ext uri="{FF2B5EF4-FFF2-40B4-BE49-F238E27FC236}">
                <a16:creationId xmlns:a16="http://schemas.microsoft.com/office/drawing/2014/main" id="{C2BA4BB5-4DFA-29DD-4C12-1DC3E122762A}"/>
              </a:ext>
            </a:extLst>
          </p:cNvPr>
          <p:cNvSpPr>
            <a:spLocks noGrp="1"/>
          </p:cNvSpPr>
          <p:nvPr>
            <p:ph idx="1"/>
          </p:nvPr>
        </p:nvSpPr>
        <p:spPr>
          <a:xfrm>
            <a:off x="677334" y="2160589"/>
            <a:ext cx="6520635" cy="3880773"/>
          </a:xfrm>
        </p:spPr>
        <p:txBody>
          <a:bodyPr/>
          <a:lstStyle/>
          <a:p>
            <a:r>
              <a:rPr lang="en-US" dirty="0"/>
              <a:t>Database is an organized collection of structured data to make it easily accessible, manageable and update.</a:t>
            </a:r>
          </a:p>
          <a:p>
            <a:r>
              <a:rPr lang="en-US" dirty="0"/>
              <a:t>In simple words, you can say, a database in a place where the data is stored.</a:t>
            </a:r>
          </a:p>
          <a:p>
            <a:r>
              <a:rPr lang="en-US" dirty="0"/>
              <a:t>Database is collection of related data.</a:t>
            </a:r>
          </a:p>
          <a:p>
            <a:r>
              <a:rPr lang="en-US" dirty="0"/>
              <a:t>Example: Library</a:t>
            </a:r>
          </a:p>
          <a:p>
            <a:r>
              <a:rPr lang="en-US" dirty="0"/>
              <a:t>The library contains a huge collection of books of different genres, here the library is database and books are the data.</a:t>
            </a:r>
          </a:p>
          <a:p>
            <a:endParaRPr lang="en-US" dirty="0"/>
          </a:p>
        </p:txBody>
      </p:sp>
    </p:spTree>
    <p:extLst>
      <p:ext uri="{BB962C8B-B14F-4D97-AF65-F5344CB8AC3E}">
        <p14:creationId xmlns:p14="http://schemas.microsoft.com/office/powerpoint/2010/main" val="2391077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D0CA19AF-1BCC-C94D-E639-8C868FDAFF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8536" y="609600"/>
            <a:ext cx="8123464" cy="6065520"/>
          </a:xfrm>
          <a:prstGeom prst="rect">
            <a:avLst/>
          </a:prstGeom>
        </p:spPr>
      </p:pic>
      <p:sp>
        <p:nvSpPr>
          <p:cNvPr id="2" name="Title 1">
            <a:extLst>
              <a:ext uri="{FF2B5EF4-FFF2-40B4-BE49-F238E27FC236}">
                <a16:creationId xmlns:a16="http://schemas.microsoft.com/office/drawing/2014/main" id="{E91F56FE-EE50-31CC-9895-6DCB91BD0EFD}"/>
              </a:ext>
            </a:extLst>
          </p:cNvPr>
          <p:cNvSpPr>
            <a:spLocks noGrp="1"/>
          </p:cNvSpPr>
          <p:nvPr>
            <p:ph type="title"/>
          </p:nvPr>
        </p:nvSpPr>
        <p:spPr/>
        <p:txBody>
          <a:bodyPr/>
          <a:lstStyle/>
          <a:p>
            <a:r>
              <a:rPr lang="en-US" dirty="0"/>
              <a:t>Introduction to DBMS</a:t>
            </a:r>
          </a:p>
        </p:txBody>
      </p:sp>
      <p:sp>
        <p:nvSpPr>
          <p:cNvPr id="3" name="Content Placeholder 2">
            <a:extLst>
              <a:ext uri="{FF2B5EF4-FFF2-40B4-BE49-F238E27FC236}">
                <a16:creationId xmlns:a16="http://schemas.microsoft.com/office/drawing/2014/main" id="{80A72895-5022-B7B2-AB58-6A989A77ECDE}"/>
              </a:ext>
            </a:extLst>
          </p:cNvPr>
          <p:cNvSpPr>
            <a:spLocks noGrp="1"/>
          </p:cNvSpPr>
          <p:nvPr>
            <p:ph idx="1"/>
          </p:nvPr>
        </p:nvSpPr>
        <p:spPr>
          <a:xfrm>
            <a:off x="677334" y="2794347"/>
            <a:ext cx="4717626" cy="3880773"/>
          </a:xfrm>
        </p:spPr>
        <p:txBody>
          <a:bodyPr/>
          <a:lstStyle/>
          <a:p>
            <a:r>
              <a:rPr lang="en-US" dirty="0"/>
              <a:t>A </a:t>
            </a:r>
            <a:r>
              <a:rPr lang="en-US" b="1" dirty="0"/>
              <a:t>DBMS (Database Management System)</a:t>
            </a:r>
            <a:r>
              <a:rPr lang="en-US" dirty="0"/>
              <a:t> is software that enables: </a:t>
            </a:r>
          </a:p>
          <a:p>
            <a:r>
              <a:rPr lang="en-US" dirty="0"/>
              <a:t>Storage </a:t>
            </a:r>
          </a:p>
          <a:p>
            <a:r>
              <a:rPr lang="en-US" dirty="0"/>
              <a:t>Retrieval </a:t>
            </a:r>
          </a:p>
          <a:p>
            <a:r>
              <a:rPr lang="en-US" dirty="0"/>
              <a:t>Management of data </a:t>
            </a:r>
          </a:p>
          <a:p>
            <a:r>
              <a:rPr lang="en-US" dirty="0"/>
              <a:t>Examples: MySQL , Oracle Database , MongoDB, </a:t>
            </a:r>
            <a:r>
              <a:rPr lang="en-US" dirty="0" err="1"/>
              <a:t>etc</a:t>
            </a:r>
            <a:endParaRPr lang="en-US" dirty="0"/>
          </a:p>
          <a:p>
            <a:endParaRPr lang="en-US" dirty="0"/>
          </a:p>
        </p:txBody>
      </p:sp>
    </p:spTree>
    <p:extLst>
      <p:ext uri="{BB962C8B-B14F-4D97-AF65-F5344CB8AC3E}">
        <p14:creationId xmlns:p14="http://schemas.microsoft.com/office/powerpoint/2010/main" val="280960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02AD-3805-E62F-EFED-0C7D85D4D259}"/>
              </a:ext>
            </a:extLst>
          </p:cNvPr>
          <p:cNvSpPr>
            <a:spLocks noGrp="1"/>
          </p:cNvSpPr>
          <p:nvPr>
            <p:ph type="title"/>
          </p:nvPr>
        </p:nvSpPr>
        <p:spPr/>
        <p:txBody>
          <a:bodyPr/>
          <a:lstStyle/>
          <a:p>
            <a:r>
              <a:rPr lang="en-US" dirty="0"/>
              <a:t>Purpose of DBMS</a:t>
            </a:r>
          </a:p>
        </p:txBody>
      </p:sp>
      <p:sp>
        <p:nvSpPr>
          <p:cNvPr id="3" name="Content Placeholder 2">
            <a:extLst>
              <a:ext uri="{FF2B5EF4-FFF2-40B4-BE49-F238E27FC236}">
                <a16:creationId xmlns:a16="http://schemas.microsoft.com/office/drawing/2014/main" id="{5F5478A2-A4F4-B1E5-D668-95648318DED8}"/>
              </a:ext>
            </a:extLst>
          </p:cNvPr>
          <p:cNvSpPr>
            <a:spLocks noGrp="1"/>
          </p:cNvSpPr>
          <p:nvPr>
            <p:ph idx="1"/>
          </p:nvPr>
        </p:nvSpPr>
        <p:spPr>
          <a:xfrm>
            <a:off x="677334" y="1930401"/>
            <a:ext cx="8596668" cy="4110962"/>
          </a:xfrm>
        </p:spPr>
        <p:txBody>
          <a:bodyPr>
            <a:normAutofit/>
          </a:bodyPr>
          <a:lstStyle/>
          <a:p>
            <a:r>
              <a:rPr lang="en-US" dirty="0"/>
              <a:t>To manage large volumes of data efficiently </a:t>
            </a:r>
          </a:p>
          <a:p>
            <a:r>
              <a:rPr lang="en-US" dirty="0"/>
              <a:t>Ensure: </a:t>
            </a:r>
          </a:p>
          <a:p>
            <a:pPr lvl="1"/>
            <a:r>
              <a:rPr lang="en-US" dirty="0"/>
              <a:t>Data consistency </a:t>
            </a:r>
          </a:p>
          <a:p>
            <a:pPr lvl="1"/>
            <a:r>
              <a:rPr lang="en-US" dirty="0"/>
              <a:t>Data security </a:t>
            </a:r>
          </a:p>
          <a:p>
            <a:pPr lvl="1"/>
            <a:r>
              <a:rPr lang="en-US" dirty="0"/>
              <a:t>Data integrity </a:t>
            </a:r>
          </a:p>
          <a:p>
            <a:r>
              <a:rPr lang="en-US" dirty="0"/>
              <a:t>Reduce redundancy Support multi-user environment</a:t>
            </a:r>
          </a:p>
          <a:p>
            <a:r>
              <a:rPr lang="en-US" dirty="0"/>
              <a:t>Efficient memory management and indexing</a:t>
            </a:r>
          </a:p>
          <a:p>
            <a:r>
              <a:rPr lang="en-US" dirty="0"/>
              <a:t>Concurrency control and transaction management</a:t>
            </a:r>
          </a:p>
          <a:p>
            <a:r>
              <a:rPr lang="en-US" dirty="0"/>
              <a:t>Access Control and ease in accessing data</a:t>
            </a:r>
          </a:p>
          <a:p>
            <a:r>
              <a:rPr lang="en-US" dirty="0"/>
              <a:t>Processing Queries and Object Management</a:t>
            </a:r>
          </a:p>
          <a:p>
            <a:endParaRPr lang="en-US" dirty="0"/>
          </a:p>
        </p:txBody>
      </p:sp>
    </p:spTree>
    <p:extLst>
      <p:ext uri="{BB962C8B-B14F-4D97-AF65-F5344CB8AC3E}">
        <p14:creationId xmlns:p14="http://schemas.microsoft.com/office/powerpoint/2010/main" val="1202378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91CD-FB35-BC1D-0429-F833E9F72ACF}"/>
              </a:ext>
            </a:extLst>
          </p:cNvPr>
          <p:cNvSpPr>
            <a:spLocks noGrp="1"/>
          </p:cNvSpPr>
          <p:nvPr>
            <p:ph type="title"/>
          </p:nvPr>
        </p:nvSpPr>
        <p:spPr/>
        <p:txBody>
          <a:bodyPr/>
          <a:lstStyle/>
          <a:p>
            <a:r>
              <a:rPr lang="en-US" dirty="0"/>
              <a:t>Objectives and Evolution</a:t>
            </a:r>
          </a:p>
        </p:txBody>
      </p:sp>
      <p:sp>
        <p:nvSpPr>
          <p:cNvPr id="3" name="Content Placeholder 2">
            <a:extLst>
              <a:ext uri="{FF2B5EF4-FFF2-40B4-BE49-F238E27FC236}">
                <a16:creationId xmlns:a16="http://schemas.microsoft.com/office/drawing/2014/main" id="{21C95FA2-D84C-5E3C-0EC9-9C52818DF0BC}"/>
              </a:ext>
            </a:extLst>
          </p:cNvPr>
          <p:cNvSpPr>
            <a:spLocks noGrp="1"/>
          </p:cNvSpPr>
          <p:nvPr>
            <p:ph idx="1"/>
          </p:nvPr>
        </p:nvSpPr>
        <p:spPr>
          <a:xfrm>
            <a:off x="677334" y="2160589"/>
            <a:ext cx="5997786" cy="3880773"/>
          </a:xfrm>
        </p:spPr>
        <p:txBody>
          <a:bodyPr/>
          <a:lstStyle/>
          <a:p>
            <a:r>
              <a:rPr lang="en-US" dirty="0"/>
              <a:t>Provide for mass storage of relevant data,</a:t>
            </a:r>
          </a:p>
          <a:p>
            <a:r>
              <a:rPr lang="en-US" dirty="0"/>
              <a:t>Make access to the data easy for the user,</a:t>
            </a:r>
          </a:p>
          <a:p>
            <a:r>
              <a:rPr lang="en-US" dirty="0"/>
              <a:t>Provide prompt response to user requests for data,</a:t>
            </a:r>
          </a:p>
          <a:p>
            <a:r>
              <a:rPr lang="en-US" dirty="0"/>
              <a:t>Make the latest modifications to the database available immediately,</a:t>
            </a:r>
          </a:p>
          <a:p>
            <a:r>
              <a:rPr lang="en-US" dirty="0"/>
              <a:t>Eliminate redundant data,</a:t>
            </a:r>
          </a:p>
          <a:p>
            <a:r>
              <a:rPr lang="en-US" dirty="0"/>
              <a:t>Allow for multiple users to be active at one time,</a:t>
            </a:r>
          </a:p>
          <a:p>
            <a:r>
              <a:rPr lang="en-US" dirty="0"/>
              <a:t>Allow for growth in the database system,</a:t>
            </a:r>
          </a:p>
          <a:p>
            <a:r>
              <a:rPr lang="en-US" dirty="0"/>
              <a:t>Protect the data from physical harm and unauthorized access.</a:t>
            </a:r>
          </a:p>
          <a:p>
            <a:endParaRPr lang="en-US" dirty="0"/>
          </a:p>
          <a:p>
            <a:endParaRPr lang="en-US" dirty="0"/>
          </a:p>
        </p:txBody>
      </p:sp>
      <p:sp>
        <p:nvSpPr>
          <p:cNvPr id="4" name="Content Placeholder 2">
            <a:extLst>
              <a:ext uri="{FF2B5EF4-FFF2-40B4-BE49-F238E27FC236}">
                <a16:creationId xmlns:a16="http://schemas.microsoft.com/office/drawing/2014/main" id="{024F2EA3-95D7-6453-383A-C1011EF5799C}"/>
              </a:ext>
            </a:extLst>
          </p:cNvPr>
          <p:cNvSpPr txBox="1">
            <a:spLocks/>
          </p:cNvSpPr>
          <p:nvPr/>
        </p:nvSpPr>
        <p:spPr>
          <a:xfrm>
            <a:off x="6275109" y="2160589"/>
            <a:ext cx="5997786"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u="sng" dirty="0"/>
              <a:t>Evolution of DBMS:</a:t>
            </a:r>
          </a:p>
          <a:p>
            <a:r>
              <a:rPr lang="en-US" dirty="0"/>
              <a:t>Year 1968: File based system</a:t>
            </a:r>
          </a:p>
          <a:p>
            <a:r>
              <a:rPr lang="en-US" dirty="0"/>
              <a:t>Year 1968 – 1980 : Hierarchical Database</a:t>
            </a:r>
          </a:p>
          <a:p>
            <a:r>
              <a:rPr lang="en-US" dirty="0"/>
              <a:t>Year 1960s : Network Data Model</a:t>
            </a:r>
          </a:p>
          <a:p>
            <a:r>
              <a:rPr lang="en-US" dirty="0"/>
              <a:t>Year 1970 – Present : Relational Database Management System, Object – based Database</a:t>
            </a:r>
          </a:p>
          <a:p>
            <a:pPr marL="0" indent="0">
              <a:buNone/>
            </a:pPr>
            <a:r>
              <a:rPr lang="en-US" dirty="0"/>
              <a:t>For brief history, Go to the link below:</a:t>
            </a:r>
          </a:p>
          <a:p>
            <a:pPr marL="0" indent="0">
              <a:buNone/>
            </a:pPr>
            <a:r>
              <a:rPr lang="en-US" dirty="0">
                <a:solidFill>
                  <a:schemeClr val="accent5">
                    <a:lumMod val="75000"/>
                  </a:schemeClr>
                </a:solidFill>
                <a:hlinkClick r:id="rId2">
                  <a:extLst>
                    <a:ext uri="{A12FA001-AC4F-418D-AE19-62706E023703}">
                      <ahyp:hlinkClr xmlns:ahyp="http://schemas.microsoft.com/office/drawing/2018/hyperlinkcolor" val="tx"/>
                    </a:ext>
                  </a:extLst>
                </a:hlinkClick>
              </a:rPr>
              <a:t>https://www.youtube.com/watch?v=8eYmdW9PBZc</a:t>
            </a:r>
            <a:endParaRPr lang="en-US" dirty="0">
              <a:solidFill>
                <a:schemeClr val="accent5">
                  <a:lumMod val="75000"/>
                </a:schemeClr>
              </a:solidFill>
            </a:endParaRPr>
          </a:p>
          <a:p>
            <a:endParaRPr lang="en-US" dirty="0"/>
          </a:p>
        </p:txBody>
      </p:sp>
    </p:spTree>
    <p:extLst>
      <p:ext uri="{BB962C8B-B14F-4D97-AF65-F5344CB8AC3E}">
        <p14:creationId xmlns:p14="http://schemas.microsoft.com/office/powerpoint/2010/main" val="1969261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C948-AF3C-6BE0-B86A-E03814CB575D}"/>
              </a:ext>
            </a:extLst>
          </p:cNvPr>
          <p:cNvSpPr>
            <a:spLocks noGrp="1"/>
          </p:cNvSpPr>
          <p:nvPr>
            <p:ph type="title"/>
          </p:nvPr>
        </p:nvSpPr>
        <p:spPr/>
        <p:txBody>
          <a:bodyPr/>
          <a:lstStyle/>
          <a:p>
            <a:r>
              <a:rPr lang="en-US" dirty="0"/>
              <a:t>Application of DBMS</a:t>
            </a:r>
          </a:p>
        </p:txBody>
      </p:sp>
      <p:pic>
        <p:nvPicPr>
          <p:cNvPr id="8" name="Content Placeholder 7">
            <a:extLst>
              <a:ext uri="{FF2B5EF4-FFF2-40B4-BE49-F238E27FC236}">
                <a16:creationId xmlns:a16="http://schemas.microsoft.com/office/drawing/2014/main" id="{C31B5DB8-FC26-D2FA-AD26-0C18E4EF674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95349" y="1270000"/>
            <a:ext cx="9531924" cy="5320144"/>
          </a:xfrm>
          <a:prstGeom prst="rect">
            <a:avLst/>
          </a:prstGeom>
        </p:spPr>
      </p:pic>
    </p:spTree>
    <p:extLst>
      <p:ext uri="{BB962C8B-B14F-4D97-AF65-F5344CB8AC3E}">
        <p14:creationId xmlns:p14="http://schemas.microsoft.com/office/powerpoint/2010/main" val="2648354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410A4-AE8D-A02F-E241-25F280D57390}"/>
              </a:ext>
            </a:extLst>
          </p:cNvPr>
          <p:cNvSpPr>
            <a:spLocks noGrp="1"/>
          </p:cNvSpPr>
          <p:nvPr>
            <p:ph type="title"/>
          </p:nvPr>
        </p:nvSpPr>
        <p:spPr/>
        <p:txBody>
          <a:bodyPr/>
          <a:lstStyle/>
          <a:p>
            <a:r>
              <a:rPr lang="en-US" dirty="0"/>
              <a:t>Database System vs File System</a:t>
            </a:r>
          </a:p>
        </p:txBody>
      </p:sp>
      <p:sp>
        <p:nvSpPr>
          <p:cNvPr id="3" name="Content Placeholder 2">
            <a:extLst>
              <a:ext uri="{FF2B5EF4-FFF2-40B4-BE49-F238E27FC236}">
                <a16:creationId xmlns:a16="http://schemas.microsoft.com/office/drawing/2014/main" id="{D1D5DB4E-A26F-4CA1-B03B-35B01370F597}"/>
              </a:ext>
            </a:extLst>
          </p:cNvPr>
          <p:cNvSpPr>
            <a:spLocks noGrp="1"/>
          </p:cNvSpPr>
          <p:nvPr>
            <p:ph idx="1"/>
          </p:nvPr>
        </p:nvSpPr>
        <p:spPr/>
        <p:txBody>
          <a:bodyPr/>
          <a:lstStyle/>
          <a:p>
            <a:pPr marL="0" indent="0">
              <a:buNone/>
            </a:pPr>
            <a:r>
              <a:rPr lang="en-US" b="1" dirty="0"/>
              <a:t>File System:</a:t>
            </a:r>
          </a:p>
          <a:p>
            <a:r>
              <a:rPr lang="en-US" dirty="0"/>
              <a:t>Data stored in files </a:t>
            </a:r>
          </a:p>
          <a:p>
            <a:r>
              <a:rPr lang="en-US" dirty="0"/>
              <a:t>No centralized control </a:t>
            </a:r>
          </a:p>
          <a:p>
            <a:r>
              <a:rPr lang="en-US" dirty="0"/>
              <a:t>High redundancy </a:t>
            </a:r>
          </a:p>
          <a:p>
            <a:pPr marL="0" indent="0">
              <a:buNone/>
            </a:pPr>
            <a:r>
              <a:rPr lang="en-US" b="1" dirty="0"/>
              <a:t>Database System:</a:t>
            </a:r>
          </a:p>
          <a:p>
            <a:r>
              <a:rPr lang="en-US" dirty="0"/>
              <a:t>Structured data storage </a:t>
            </a:r>
          </a:p>
          <a:p>
            <a:r>
              <a:rPr lang="en-US" dirty="0"/>
              <a:t>Centralized control </a:t>
            </a:r>
          </a:p>
          <a:p>
            <a:r>
              <a:rPr lang="en-US" dirty="0"/>
              <a:t>Reduced redundancy</a:t>
            </a:r>
          </a:p>
          <a:p>
            <a:endParaRPr lang="en-US" dirty="0"/>
          </a:p>
        </p:txBody>
      </p:sp>
      <p:sp>
        <p:nvSpPr>
          <p:cNvPr id="6" name="Content Placeholder 2">
            <a:extLst>
              <a:ext uri="{FF2B5EF4-FFF2-40B4-BE49-F238E27FC236}">
                <a16:creationId xmlns:a16="http://schemas.microsoft.com/office/drawing/2014/main" id="{311119E7-D573-BC68-1D96-126D47C52C53}"/>
              </a:ext>
            </a:extLst>
          </p:cNvPr>
          <p:cNvSpPr txBox="1">
            <a:spLocks/>
          </p:cNvSpPr>
          <p:nvPr/>
        </p:nvSpPr>
        <p:spPr>
          <a:xfrm>
            <a:off x="4784514" y="2160589"/>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Drawbacks of filesystem ? </a:t>
            </a:r>
          </a:p>
        </p:txBody>
      </p:sp>
    </p:spTree>
    <p:extLst>
      <p:ext uri="{BB962C8B-B14F-4D97-AF65-F5344CB8AC3E}">
        <p14:creationId xmlns:p14="http://schemas.microsoft.com/office/powerpoint/2010/main" val="3339868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1E38E59-CA49-195E-6F53-81A98C0BDDFD}"/>
              </a:ext>
            </a:extLst>
          </p:cNvPr>
          <p:cNvGraphicFramePr>
            <a:graphicFrameLocks noGrp="1"/>
          </p:cNvGraphicFramePr>
          <p:nvPr>
            <p:ph idx="1"/>
            <p:extLst>
              <p:ext uri="{D42A27DB-BD31-4B8C-83A1-F6EECF244321}">
                <p14:modId xmlns:p14="http://schemas.microsoft.com/office/powerpoint/2010/main" val="3443443723"/>
              </p:ext>
            </p:extLst>
          </p:nvPr>
        </p:nvGraphicFramePr>
        <p:xfrm>
          <a:off x="699611" y="862649"/>
          <a:ext cx="10792778" cy="5246721"/>
        </p:xfrm>
        <a:graphic>
          <a:graphicData uri="http://schemas.openxmlformats.org/drawingml/2006/table">
            <a:tbl>
              <a:tblPr firstRow="1" bandRow="1">
                <a:tableStyleId>{5C22544A-7EE6-4342-B048-85BDC9FD1C3A}</a:tableStyleId>
              </a:tblPr>
              <a:tblGrid>
                <a:gridCol w="5396389">
                  <a:extLst>
                    <a:ext uri="{9D8B030D-6E8A-4147-A177-3AD203B41FA5}">
                      <a16:colId xmlns:a16="http://schemas.microsoft.com/office/drawing/2014/main" val="1255690120"/>
                    </a:ext>
                  </a:extLst>
                </a:gridCol>
                <a:gridCol w="5396389">
                  <a:extLst>
                    <a:ext uri="{9D8B030D-6E8A-4147-A177-3AD203B41FA5}">
                      <a16:colId xmlns:a16="http://schemas.microsoft.com/office/drawing/2014/main" val="3448902882"/>
                    </a:ext>
                  </a:extLst>
                </a:gridCol>
              </a:tblGrid>
              <a:tr h="472305">
                <a:tc>
                  <a:txBody>
                    <a:bodyPr/>
                    <a:lstStyle/>
                    <a:p>
                      <a:r>
                        <a:rPr lang="en-US" dirty="0"/>
                        <a:t>File Management System</a:t>
                      </a:r>
                    </a:p>
                  </a:txBody>
                  <a:tcPr/>
                </a:tc>
                <a:tc>
                  <a:txBody>
                    <a:bodyPr/>
                    <a:lstStyle/>
                    <a:p>
                      <a:r>
                        <a:rPr lang="en-US" dirty="0"/>
                        <a:t>Database management system </a:t>
                      </a:r>
                    </a:p>
                  </a:txBody>
                  <a:tcPr/>
                </a:tc>
                <a:extLst>
                  <a:ext uri="{0D108BD9-81ED-4DB2-BD59-A6C34878D82A}">
                    <a16:rowId xmlns:a16="http://schemas.microsoft.com/office/drawing/2014/main" val="4133518378"/>
                  </a:ext>
                </a:extLst>
              </a:tr>
              <a:tr h="859606">
                <a:tc>
                  <a:txBody>
                    <a:bodyPr/>
                    <a:lstStyle/>
                    <a:p>
                      <a:r>
                        <a:rPr lang="en-US" dirty="0"/>
                        <a:t>Easy-to-use system to store general files which require less security and constraints.</a:t>
                      </a:r>
                    </a:p>
                  </a:txBody>
                  <a:tcPr/>
                </a:tc>
                <a:tc>
                  <a:txBody>
                    <a:bodyPr/>
                    <a:lstStyle/>
                    <a:p>
                      <a:r>
                        <a:rPr lang="en-US" dirty="0"/>
                        <a:t>Is used when security constraints are high. </a:t>
                      </a:r>
                    </a:p>
                  </a:txBody>
                  <a:tcPr/>
                </a:tc>
                <a:extLst>
                  <a:ext uri="{0D108BD9-81ED-4DB2-BD59-A6C34878D82A}">
                    <a16:rowId xmlns:a16="http://schemas.microsoft.com/office/drawing/2014/main" val="1026781340"/>
                  </a:ext>
                </a:extLst>
              </a:tr>
              <a:tr h="601618">
                <a:tc>
                  <a:txBody>
                    <a:bodyPr/>
                    <a:lstStyle/>
                    <a:p>
                      <a:r>
                        <a:rPr lang="en-US" dirty="0"/>
                        <a:t>Data Redundancy is more in FMS</a:t>
                      </a:r>
                    </a:p>
                  </a:txBody>
                  <a:tcPr/>
                </a:tc>
                <a:tc>
                  <a:txBody>
                    <a:bodyPr/>
                    <a:lstStyle/>
                    <a:p>
                      <a:r>
                        <a:rPr lang="en-US" dirty="0"/>
                        <a:t>Data Redundancy is less in DBMS</a:t>
                      </a:r>
                    </a:p>
                  </a:txBody>
                  <a:tcPr/>
                </a:tc>
                <a:extLst>
                  <a:ext uri="{0D108BD9-81ED-4DB2-BD59-A6C34878D82A}">
                    <a16:rowId xmlns:a16="http://schemas.microsoft.com/office/drawing/2014/main" val="1473492560"/>
                  </a:ext>
                </a:extLst>
              </a:tr>
              <a:tr h="601618">
                <a:tc>
                  <a:txBody>
                    <a:bodyPr/>
                    <a:lstStyle/>
                    <a:p>
                      <a:r>
                        <a:rPr lang="en-US" dirty="0"/>
                        <a:t>Data Inconsistency is more in file system. </a:t>
                      </a:r>
                    </a:p>
                  </a:txBody>
                  <a:tcPr/>
                </a:tc>
                <a:tc>
                  <a:txBody>
                    <a:bodyPr/>
                    <a:lstStyle/>
                    <a:p>
                      <a:r>
                        <a:rPr lang="en-US" dirty="0"/>
                        <a:t>Data Inconsistency is less in DBMS</a:t>
                      </a:r>
                      <a:endParaRPr lang="en-US" b="1" dirty="0"/>
                    </a:p>
                  </a:txBody>
                  <a:tcPr/>
                </a:tc>
                <a:extLst>
                  <a:ext uri="{0D108BD9-81ED-4DB2-BD59-A6C34878D82A}">
                    <a16:rowId xmlns:a16="http://schemas.microsoft.com/office/drawing/2014/main" val="2577849060"/>
                  </a:ext>
                </a:extLst>
              </a:tr>
              <a:tr h="564604">
                <a:tc>
                  <a:txBody>
                    <a:bodyPr/>
                    <a:lstStyle/>
                    <a:p>
                      <a:r>
                        <a:rPr lang="en-US" dirty="0"/>
                        <a:t>Centralization is hard to get when it comes to FMS</a:t>
                      </a:r>
                    </a:p>
                  </a:txBody>
                  <a:tcPr/>
                </a:tc>
                <a:tc>
                  <a:txBody>
                    <a:bodyPr/>
                    <a:lstStyle/>
                    <a:p>
                      <a:r>
                        <a:rPr lang="en-US" dirty="0"/>
                        <a:t>Centralization is achieved in DBMS.</a:t>
                      </a:r>
                    </a:p>
                  </a:txBody>
                  <a:tcPr/>
                </a:tc>
                <a:extLst>
                  <a:ext uri="{0D108BD9-81ED-4DB2-BD59-A6C34878D82A}">
                    <a16:rowId xmlns:a16="http://schemas.microsoft.com/office/drawing/2014/main" val="11995156"/>
                  </a:ext>
                </a:extLst>
              </a:tr>
              <a:tr h="815211">
                <a:tc>
                  <a:txBody>
                    <a:bodyPr/>
                    <a:lstStyle/>
                    <a:p>
                      <a:r>
                        <a:rPr lang="en-US" dirty="0"/>
                        <a:t>User locates the physical address of the files to access data in FMS.</a:t>
                      </a:r>
                    </a:p>
                  </a:txBody>
                  <a:tcPr/>
                </a:tc>
                <a:tc>
                  <a:txBody>
                    <a:bodyPr/>
                    <a:lstStyle/>
                    <a:p>
                      <a:r>
                        <a:rPr lang="en-US" dirty="0"/>
                        <a:t> In DBMS, user is unaware of physical address where data is stored. </a:t>
                      </a:r>
                    </a:p>
                  </a:txBody>
                  <a:tcPr/>
                </a:tc>
                <a:extLst>
                  <a:ext uri="{0D108BD9-81ED-4DB2-BD59-A6C34878D82A}">
                    <a16:rowId xmlns:a16="http://schemas.microsoft.com/office/drawing/2014/main" val="2866988480"/>
                  </a:ext>
                </a:extLst>
              </a:tr>
              <a:tr h="472305">
                <a:tc>
                  <a:txBody>
                    <a:bodyPr/>
                    <a:lstStyle/>
                    <a:p>
                      <a:r>
                        <a:rPr lang="en-US" dirty="0"/>
                        <a:t>Security is low in FMS.</a:t>
                      </a:r>
                    </a:p>
                  </a:txBody>
                  <a:tcPr/>
                </a:tc>
                <a:tc>
                  <a:txBody>
                    <a:bodyPr/>
                    <a:lstStyle/>
                    <a:p>
                      <a:r>
                        <a:rPr lang="en-US" dirty="0"/>
                        <a:t>Security is high in DBMS.</a:t>
                      </a:r>
                    </a:p>
                  </a:txBody>
                  <a:tcPr/>
                </a:tc>
                <a:extLst>
                  <a:ext uri="{0D108BD9-81ED-4DB2-BD59-A6C34878D82A}">
                    <a16:rowId xmlns:a16="http://schemas.microsoft.com/office/drawing/2014/main" val="2761930925"/>
                  </a:ext>
                </a:extLst>
              </a:tr>
              <a:tr h="859454">
                <a:tc>
                  <a:txBody>
                    <a:bodyPr/>
                    <a:lstStyle/>
                    <a:p>
                      <a:r>
                        <a:rPr lang="en-US" dirty="0"/>
                        <a:t>FMS stores unstructured data as isolated data files/entities.</a:t>
                      </a:r>
                    </a:p>
                  </a:txBody>
                  <a:tcPr/>
                </a:tc>
                <a:tc>
                  <a:txBody>
                    <a:bodyPr/>
                    <a:lstStyle/>
                    <a:p>
                      <a:r>
                        <a:rPr lang="en-US" dirty="0"/>
                        <a:t> DBMS stores structured data which have well defined constraints and interrelation</a:t>
                      </a:r>
                    </a:p>
                  </a:txBody>
                  <a:tcPr/>
                </a:tc>
                <a:extLst>
                  <a:ext uri="{0D108BD9-81ED-4DB2-BD59-A6C34878D82A}">
                    <a16:rowId xmlns:a16="http://schemas.microsoft.com/office/drawing/2014/main" val="2940568423"/>
                  </a:ext>
                </a:extLst>
              </a:tr>
            </a:tbl>
          </a:graphicData>
        </a:graphic>
      </p:graphicFrame>
    </p:spTree>
    <p:extLst>
      <p:ext uri="{BB962C8B-B14F-4D97-AF65-F5344CB8AC3E}">
        <p14:creationId xmlns:p14="http://schemas.microsoft.com/office/powerpoint/2010/main" val="2444822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2741-0AFB-5FF7-119A-BB1802D881F4}"/>
              </a:ext>
            </a:extLst>
          </p:cNvPr>
          <p:cNvSpPr>
            <a:spLocks noGrp="1"/>
          </p:cNvSpPr>
          <p:nvPr>
            <p:ph type="title"/>
          </p:nvPr>
        </p:nvSpPr>
        <p:spPr/>
        <p:txBody>
          <a:bodyPr/>
          <a:lstStyle/>
          <a:p>
            <a:r>
              <a:rPr lang="en-US" dirty="0"/>
              <a:t>Advantage of DBMS over file system</a:t>
            </a:r>
          </a:p>
        </p:txBody>
      </p:sp>
      <p:sp>
        <p:nvSpPr>
          <p:cNvPr id="3" name="Content Placeholder 2">
            <a:extLst>
              <a:ext uri="{FF2B5EF4-FFF2-40B4-BE49-F238E27FC236}">
                <a16:creationId xmlns:a16="http://schemas.microsoft.com/office/drawing/2014/main" id="{BA50E947-F5E2-09AC-953F-8F93E311CBDD}"/>
              </a:ext>
            </a:extLst>
          </p:cNvPr>
          <p:cNvSpPr>
            <a:spLocks noGrp="1"/>
          </p:cNvSpPr>
          <p:nvPr>
            <p:ph idx="1"/>
          </p:nvPr>
        </p:nvSpPr>
        <p:spPr/>
        <p:txBody>
          <a:bodyPr>
            <a:normAutofit/>
          </a:bodyPr>
          <a:lstStyle/>
          <a:p>
            <a:r>
              <a:rPr lang="en-US" dirty="0"/>
              <a:t>No redundant data</a:t>
            </a:r>
          </a:p>
          <a:p>
            <a:r>
              <a:rPr lang="en-US" dirty="0"/>
              <a:t>Data Consistency and Integrity</a:t>
            </a:r>
          </a:p>
          <a:p>
            <a:r>
              <a:rPr lang="en-US" dirty="0"/>
              <a:t>Data Security</a:t>
            </a:r>
          </a:p>
          <a:p>
            <a:r>
              <a:rPr lang="en-US" dirty="0"/>
              <a:t>Privacy</a:t>
            </a:r>
          </a:p>
          <a:p>
            <a:r>
              <a:rPr lang="en-US" dirty="0"/>
              <a:t>Easy access to data</a:t>
            </a:r>
          </a:p>
          <a:p>
            <a:r>
              <a:rPr lang="en-US" dirty="0"/>
              <a:t>Easy recovery</a:t>
            </a:r>
          </a:p>
          <a:p>
            <a:r>
              <a:rPr lang="en-US" dirty="0"/>
              <a:t>Flexible</a:t>
            </a:r>
          </a:p>
        </p:txBody>
      </p:sp>
      <p:sp>
        <p:nvSpPr>
          <p:cNvPr id="5" name="TextBox 4">
            <a:extLst>
              <a:ext uri="{FF2B5EF4-FFF2-40B4-BE49-F238E27FC236}">
                <a16:creationId xmlns:a16="http://schemas.microsoft.com/office/drawing/2014/main" id="{7D899C55-72C6-9D6F-A23F-E83A984E5433}"/>
              </a:ext>
            </a:extLst>
          </p:cNvPr>
          <p:cNvSpPr txBox="1"/>
          <p:nvPr/>
        </p:nvSpPr>
        <p:spPr>
          <a:xfrm>
            <a:off x="5592888" y="2946813"/>
            <a:ext cx="6115050" cy="369332"/>
          </a:xfrm>
          <a:prstGeom prst="rect">
            <a:avLst/>
          </a:prstGeom>
          <a:noFill/>
        </p:spPr>
        <p:txBody>
          <a:bodyPr wrap="square">
            <a:spAutoFi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So, what are disadvantages ?</a:t>
            </a:r>
            <a:endParaRPr lang="en-US" dirty="0">
              <a:solidFill>
                <a:schemeClr val="tx1">
                  <a:lumMod val="75000"/>
                  <a:lumOff val="25000"/>
                </a:schemeClr>
              </a:solidFill>
            </a:endParaRPr>
          </a:p>
        </p:txBody>
      </p:sp>
      <p:sp>
        <p:nvSpPr>
          <p:cNvPr id="6" name="TextBox 5">
            <a:extLst>
              <a:ext uri="{FF2B5EF4-FFF2-40B4-BE49-F238E27FC236}">
                <a16:creationId xmlns:a16="http://schemas.microsoft.com/office/drawing/2014/main" id="{B988FB5B-18E0-76CE-2440-3B0B15C916AE}"/>
              </a:ext>
            </a:extLst>
          </p:cNvPr>
          <p:cNvSpPr txBox="1"/>
          <p:nvPr/>
        </p:nvSpPr>
        <p:spPr>
          <a:xfrm>
            <a:off x="5592888" y="3616924"/>
            <a:ext cx="6115050" cy="2031325"/>
          </a:xfrm>
          <a:prstGeom prst="rect">
            <a:avLst/>
          </a:prstGeom>
          <a:noFill/>
        </p:spPr>
        <p:txBody>
          <a:bodyPr wrap="square">
            <a:spAutoFit/>
          </a:bodyPr>
          <a:lstStyle/>
          <a:p>
            <a:pPr marL="342900" indent="-342900">
              <a:buFont typeface="+mj-lt"/>
              <a:buAutoNum type="arabicPeriod"/>
            </a:pPr>
            <a:r>
              <a:rPr lang="en-US" dirty="0">
                <a:solidFill>
                  <a:schemeClr val="tx1">
                    <a:lumMod val="75000"/>
                    <a:lumOff val="25000"/>
                  </a:schemeClr>
                </a:solidFill>
              </a:rPr>
              <a:t>DBMS implementation cost is high compared to the file system</a:t>
            </a:r>
          </a:p>
          <a:p>
            <a:pPr marL="342900" indent="-342900">
              <a:buFont typeface="+mj-lt"/>
              <a:buAutoNum type="arabicPeriod"/>
            </a:pPr>
            <a:r>
              <a:rPr lang="en-US" dirty="0">
                <a:solidFill>
                  <a:schemeClr val="tx1">
                    <a:lumMod val="75000"/>
                    <a:lumOff val="25000"/>
                  </a:schemeClr>
                </a:solidFill>
              </a:rPr>
              <a:t>Complexity: Database systems are complex to understand</a:t>
            </a:r>
          </a:p>
          <a:p>
            <a:pPr marL="342900" indent="-342900">
              <a:buFont typeface="+mj-lt"/>
              <a:buAutoNum type="arabicPeriod"/>
            </a:pPr>
            <a:r>
              <a:rPr lang="en-US" dirty="0">
                <a:solidFill>
                  <a:schemeClr val="tx1">
                    <a:lumMod val="75000"/>
                    <a:lumOff val="25000"/>
                  </a:schemeClr>
                </a:solidFill>
              </a:rPr>
              <a:t>Performance: Database systems are generic, making them suitable for various applications. However, this feature affect their performance for some application</a:t>
            </a:r>
          </a:p>
        </p:txBody>
      </p:sp>
    </p:spTree>
    <p:extLst>
      <p:ext uri="{BB962C8B-B14F-4D97-AF65-F5344CB8AC3E}">
        <p14:creationId xmlns:p14="http://schemas.microsoft.com/office/powerpoint/2010/main" val="32907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500" fill="hold"/>
                                        <p:tgtEl>
                                          <p:spTgt spid="6"/>
                                        </p:tgtEl>
                                        <p:attrNameLst>
                                          <p:attrName>ppt_x</p:attrName>
                                        </p:attrNameLst>
                                      </p:cBhvr>
                                      <p:tavLst>
                                        <p:tav tm="0">
                                          <p:val>
                                            <p:strVal val="#ppt_x"/>
                                          </p:val>
                                        </p:tav>
                                        <p:tav tm="100000">
                                          <p:val>
                                            <p:strVal val="#ppt_x"/>
                                          </p:val>
                                        </p:tav>
                                      </p:tavLst>
                                    </p:anim>
                                    <p:anim calcmode="lin" valueType="num">
                                      <p:cBhvr additive="base">
                                        <p:cTn id="4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AE2D-2219-E350-EF78-B564505DA490}"/>
              </a:ext>
            </a:extLst>
          </p:cNvPr>
          <p:cNvSpPr>
            <a:spLocks noGrp="1"/>
          </p:cNvSpPr>
          <p:nvPr>
            <p:ph type="title"/>
          </p:nvPr>
        </p:nvSpPr>
        <p:spPr/>
        <p:txBody>
          <a:bodyPr/>
          <a:lstStyle/>
          <a:p>
            <a:r>
              <a:rPr lang="en-US" dirty="0"/>
              <a:t>Storage Management</a:t>
            </a:r>
          </a:p>
        </p:txBody>
      </p:sp>
      <p:sp>
        <p:nvSpPr>
          <p:cNvPr id="3" name="Content Placeholder 2">
            <a:extLst>
              <a:ext uri="{FF2B5EF4-FFF2-40B4-BE49-F238E27FC236}">
                <a16:creationId xmlns:a16="http://schemas.microsoft.com/office/drawing/2014/main" id="{D9347C2C-7246-D9CF-0F41-7B0814BF85C9}"/>
              </a:ext>
            </a:extLst>
          </p:cNvPr>
          <p:cNvSpPr>
            <a:spLocks noGrp="1"/>
          </p:cNvSpPr>
          <p:nvPr>
            <p:ph idx="1"/>
          </p:nvPr>
        </p:nvSpPr>
        <p:spPr/>
        <p:txBody>
          <a:bodyPr/>
          <a:lstStyle/>
          <a:p>
            <a:r>
              <a:rPr lang="en-US" dirty="0"/>
              <a:t>DBMS manages how data is stored on disk Components: </a:t>
            </a:r>
          </a:p>
          <a:p>
            <a:r>
              <a:rPr lang="en-US" dirty="0"/>
              <a:t>File organization </a:t>
            </a:r>
          </a:p>
          <a:p>
            <a:r>
              <a:rPr lang="en-US" dirty="0"/>
              <a:t>Buffer management </a:t>
            </a:r>
          </a:p>
          <a:p>
            <a:r>
              <a:rPr lang="en-US" dirty="0"/>
              <a:t>Disk space management </a:t>
            </a:r>
          </a:p>
          <a:p>
            <a:r>
              <a:rPr lang="en-US" dirty="0"/>
              <a:t>Goal: Efficient data retrieval</a:t>
            </a:r>
          </a:p>
          <a:p>
            <a:endParaRPr lang="en-US" dirty="0"/>
          </a:p>
        </p:txBody>
      </p:sp>
    </p:spTree>
    <p:extLst>
      <p:ext uri="{BB962C8B-B14F-4D97-AF65-F5344CB8AC3E}">
        <p14:creationId xmlns:p14="http://schemas.microsoft.com/office/powerpoint/2010/main" val="4056891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FDA9-99BD-EF11-8296-FFC0A574E941}"/>
              </a:ext>
            </a:extLst>
          </p:cNvPr>
          <p:cNvSpPr>
            <a:spLocks noGrp="1"/>
          </p:cNvSpPr>
          <p:nvPr>
            <p:ph type="title"/>
          </p:nvPr>
        </p:nvSpPr>
        <p:spPr/>
        <p:txBody>
          <a:bodyPr/>
          <a:lstStyle/>
          <a:p>
            <a:r>
              <a:rPr lang="en-US" dirty="0"/>
              <a:t>Indexing</a:t>
            </a:r>
          </a:p>
        </p:txBody>
      </p:sp>
      <p:sp>
        <p:nvSpPr>
          <p:cNvPr id="3" name="Content Placeholder 2">
            <a:extLst>
              <a:ext uri="{FF2B5EF4-FFF2-40B4-BE49-F238E27FC236}">
                <a16:creationId xmlns:a16="http://schemas.microsoft.com/office/drawing/2014/main" id="{E78ED188-02A9-AA91-CA8F-5058349FE63A}"/>
              </a:ext>
            </a:extLst>
          </p:cNvPr>
          <p:cNvSpPr>
            <a:spLocks noGrp="1"/>
          </p:cNvSpPr>
          <p:nvPr>
            <p:ph idx="1"/>
          </p:nvPr>
        </p:nvSpPr>
        <p:spPr/>
        <p:txBody>
          <a:bodyPr/>
          <a:lstStyle/>
          <a:p>
            <a:r>
              <a:rPr lang="en-US" dirty="0"/>
              <a:t>Index improves speed of data retrieval Works like a book index Types: </a:t>
            </a:r>
          </a:p>
          <a:p>
            <a:pPr lvl="1"/>
            <a:r>
              <a:rPr lang="en-US" dirty="0"/>
              <a:t>Primary index </a:t>
            </a:r>
          </a:p>
          <a:p>
            <a:pPr lvl="1"/>
            <a:r>
              <a:rPr lang="en-US" dirty="0"/>
              <a:t>Secondary index </a:t>
            </a:r>
          </a:p>
          <a:p>
            <a:pPr lvl="1"/>
            <a:r>
              <a:rPr lang="en-US" dirty="0"/>
              <a:t>Hash index</a:t>
            </a:r>
          </a:p>
          <a:p>
            <a:endParaRPr lang="en-US" dirty="0"/>
          </a:p>
        </p:txBody>
      </p:sp>
    </p:spTree>
    <p:extLst>
      <p:ext uri="{BB962C8B-B14F-4D97-AF65-F5344CB8AC3E}">
        <p14:creationId xmlns:p14="http://schemas.microsoft.com/office/powerpoint/2010/main" val="1674496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73AB-0F13-EF53-8ECC-36D1A95AC825}"/>
              </a:ext>
            </a:extLst>
          </p:cNvPr>
          <p:cNvSpPr>
            <a:spLocks noGrp="1"/>
          </p:cNvSpPr>
          <p:nvPr>
            <p:ph type="title"/>
          </p:nvPr>
        </p:nvSpPr>
        <p:spPr/>
        <p:txBody>
          <a:bodyPr/>
          <a:lstStyle/>
          <a:p>
            <a:r>
              <a:rPr lang="en-US" dirty="0"/>
              <a:t>View of the data</a:t>
            </a:r>
          </a:p>
        </p:txBody>
      </p:sp>
      <p:sp>
        <p:nvSpPr>
          <p:cNvPr id="3" name="Content Placeholder 2">
            <a:extLst>
              <a:ext uri="{FF2B5EF4-FFF2-40B4-BE49-F238E27FC236}">
                <a16:creationId xmlns:a16="http://schemas.microsoft.com/office/drawing/2014/main" id="{E9CFD054-B1F4-CBE5-7740-B0506F4171D1}"/>
              </a:ext>
            </a:extLst>
          </p:cNvPr>
          <p:cNvSpPr>
            <a:spLocks noGrp="1"/>
          </p:cNvSpPr>
          <p:nvPr>
            <p:ph idx="1"/>
          </p:nvPr>
        </p:nvSpPr>
        <p:spPr>
          <a:xfrm>
            <a:off x="677334" y="1930400"/>
            <a:ext cx="8596668" cy="3880773"/>
          </a:xfrm>
        </p:spPr>
        <p:txBody>
          <a:bodyPr/>
          <a:lstStyle/>
          <a:p>
            <a:r>
              <a:rPr lang="en-US" dirty="0"/>
              <a:t>DBMS hides complexity of data Provides multiple views to users</a:t>
            </a:r>
          </a:p>
        </p:txBody>
      </p:sp>
      <p:pic>
        <p:nvPicPr>
          <p:cNvPr id="4" name="Picture 4">
            <a:extLst>
              <a:ext uri="{FF2B5EF4-FFF2-40B4-BE49-F238E27FC236}">
                <a16:creationId xmlns:a16="http://schemas.microsoft.com/office/drawing/2014/main" id="{F4397750-47F1-4A32-8B4B-D5E7BFE7D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219" y="2537707"/>
            <a:ext cx="6769781" cy="39333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ABF4EC-F6EA-4626-CEBA-FB832304E839}"/>
              </a:ext>
            </a:extLst>
          </p:cNvPr>
          <p:cNvSpPr txBox="1"/>
          <p:nvPr/>
        </p:nvSpPr>
        <p:spPr>
          <a:xfrm>
            <a:off x="951654" y="5547707"/>
            <a:ext cx="6115050" cy="923330"/>
          </a:xfrm>
          <a:prstGeom prst="rect">
            <a:avLst/>
          </a:prstGeom>
          <a:noFill/>
        </p:spPr>
        <p:txBody>
          <a:bodyPr wrap="square">
            <a:spAutoFit/>
          </a:bodyPr>
          <a:lstStyle/>
          <a:p>
            <a:pPr algn="just">
              <a:buClr>
                <a:schemeClr val="tx1"/>
              </a:buClr>
              <a:buSzPct val="71000"/>
            </a:pPr>
            <a:r>
              <a:rPr lang="en-US" dirty="0">
                <a:solidFill>
                  <a:schemeClr val="tx1">
                    <a:lumMod val="75000"/>
                    <a:lumOff val="25000"/>
                  </a:schemeClr>
                </a:solidFill>
              </a:rPr>
              <a:t>Lowest level of data abstraction; describes how data is actually stored in database. You can get the complex data structure details at this level.</a:t>
            </a:r>
          </a:p>
        </p:txBody>
      </p:sp>
      <p:sp>
        <p:nvSpPr>
          <p:cNvPr id="8" name="TextBox 7">
            <a:extLst>
              <a:ext uri="{FF2B5EF4-FFF2-40B4-BE49-F238E27FC236}">
                <a16:creationId xmlns:a16="http://schemas.microsoft.com/office/drawing/2014/main" id="{388AF4FD-A3BE-B389-6B70-B8E3A8D9293D}"/>
              </a:ext>
            </a:extLst>
          </p:cNvPr>
          <p:cNvSpPr txBox="1"/>
          <p:nvPr/>
        </p:nvSpPr>
        <p:spPr>
          <a:xfrm>
            <a:off x="951654" y="4519374"/>
            <a:ext cx="6115050" cy="646331"/>
          </a:xfrm>
          <a:prstGeom prst="rect">
            <a:avLst/>
          </a:prstGeom>
          <a:noFill/>
        </p:spPr>
        <p:txBody>
          <a:bodyPr wrap="square">
            <a:spAutoFit/>
          </a:bodyPr>
          <a:lstStyle/>
          <a:p>
            <a:pPr algn="just">
              <a:buClr>
                <a:schemeClr val="tx1"/>
              </a:buClr>
              <a:buSzPct val="71000"/>
            </a:pPr>
            <a:r>
              <a:rPr lang="en-US" dirty="0">
                <a:solidFill>
                  <a:schemeClr val="accent5">
                    <a:lumMod val="75000"/>
                  </a:schemeClr>
                </a:solidFill>
              </a:rPr>
              <a:t>Middle level of 3-level data abstraction architecture; describes what data is stored in database.</a:t>
            </a:r>
          </a:p>
        </p:txBody>
      </p:sp>
      <p:sp>
        <p:nvSpPr>
          <p:cNvPr id="12" name="TextBox 11">
            <a:extLst>
              <a:ext uri="{FF2B5EF4-FFF2-40B4-BE49-F238E27FC236}">
                <a16:creationId xmlns:a16="http://schemas.microsoft.com/office/drawing/2014/main" id="{9730A83D-26E4-7EFD-AD43-3BBB764F8DF7}"/>
              </a:ext>
            </a:extLst>
          </p:cNvPr>
          <p:cNvSpPr txBox="1"/>
          <p:nvPr/>
        </p:nvSpPr>
        <p:spPr>
          <a:xfrm>
            <a:off x="547755" y="2782669"/>
            <a:ext cx="4740486" cy="646331"/>
          </a:xfrm>
          <a:prstGeom prst="rect">
            <a:avLst/>
          </a:prstGeom>
          <a:noFill/>
        </p:spPr>
        <p:txBody>
          <a:bodyPr wrap="square">
            <a:spAutoFit/>
          </a:bodyPr>
          <a:lstStyle/>
          <a:p>
            <a:r>
              <a:rPr lang="en-US" dirty="0">
                <a:solidFill>
                  <a:schemeClr val="tx1">
                    <a:lumMod val="75000"/>
                    <a:lumOff val="25000"/>
                  </a:schemeClr>
                </a:solidFill>
              </a:rPr>
              <a:t>Highest level of data abstraction; describes the user interaction with database system.</a:t>
            </a:r>
          </a:p>
        </p:txBody>
      </p:sp>
    </p:spTree>
    <p:extLst>
      <p:ext uri="{BB962C8B-B14F-4D97-AF65-F5344CB8AC3E}">
        <p14:creationId xmlns:p14="http://schemas.microsoft.com/office/powerpoint/2010/main" val="3932256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9EFE0E-AF3E-7C35-9DBB-B7CFCC07AEA4}"/>
              </a:ext>
            </a:extLst>
          </p:cNvPr>
          <p:cNvPicPr>
            <a:picLocks noChangeAspect="1"/>
          </p:cNvPicPr>
          <p:nvPr/>
        </p:nvPicPr>
        <p:blipFill>
          <a:blip r:embed="rId3"/>
          <a:stretch>
            <a:fillRect/>
          </a:stretch>
        </p:blipFill>
        <p:spPr>
          <a:xfrm>
            <a:off x="1797011" y="1930400"/>
            <a:ext cx="8118255" cy="4020172"/>
          </a:xfrm>
          <a:prstGeom prst="rect">
            <a:avLst/>
          </a:prstGeom>
        </p:spPr>
      </p:pic>
      <p:sp>
        <p:nvSpPr>
          <p:cNvPr id="2" name="Title 1">
            <a:extLst>
              <a:ext uri="{FF2B5EF4-FFF2-40B4-BE49-F238E27FC236}">
                <a16:creationId xmlns:a16="http://schemas.microsoft.com/office/drawing/2014/main" id="{D3A7CB2B-5EB4-06E4-D465-0FFCB14AB3B2}"/>
              </a:ext>
            </a:extLst>
          </p:cNvPr>
          <p:cNvSpPr>
            <a:spLocks noGrp="1"/>
          </p:cNvSpPr>
          <p:nvPr>
            <p:ph type="title"/>
          </p:nvPr>
        </p:nvSpPr>
        <p:spPr/>
        <p:txBody>
          <a:bodyPr/>
          <a:lstStyle/>
          <a:p>
            <a:r>
              <a:rPr lang="en-US" dirty="0"/>
              <a:t>Data Abstraction Levels</a:t>
            </a:r>
          </a:p>
        </p:txBody>
      </p:sp>
      <p:sp>
        <p:nvSpPr>
          <p:cNvPr id="3" name="Content Placeholder 2">
            <a:extLst>
              <a:ext uri="{FF2B5EF4-FFF2-40B4-BE49-F238E27FC236}">
                <a16:creationId xmlns:a16="http://schemas.microsoft.com/office/drawing/2014/main" id="{061BBEB7-223A-69EB-1B86-B037E6DC75CA}"/>
              </a:ext>
            </a:extLst>
          </p:cNvPr>
          <p:cNvSpPr>
            <a:spLocks noGrp="1"/>
          </p:cNvSpPr>
          <p:nvPr>
            <p:ph idx="1"/>
          </p:nvPr>
        </p:nvSpPr>
        <p:spPr>
          <a:xfrm>
            <a:off x="677334" y="3529006"/>
            <a:ext cx="8596668" cy="3880773"/>
          </a:xfrm>
        </p:spPr>
        <p:txBody>
          <a:bodyPr/>
          <a:lstStyle/>
          <a:p>
            <a:r>
              <a:rPr lang="en-US" b="1" dirty="0"/>
              <a:t>Physical Level</a:t>
            </a:r>
          </a:p>
          <a:p>
            <a:pPr marL="457200" lvl="1" indent="0">
              <a:buNone/>
            </a:pPr>
            <a:r>
              <a:rPr lang="en-US" dirty="0"/>
              <a:t>How data is stored (lowest level) </a:t>
            </a:r>
          </a:p>
          <a:p>
            <a:r>
              <a:rPr lang="en-US" b="1" dirty="0"/>
              <a:t>2. Logical Level</a:t>
            </a:r>
          </a:p>
          <a:p>
            <a:pPr marL="457200" lvl="1" indent="0">
              <a:buNone/>
            </a:pPr>
            <a:r>
              <a:rPr lang="en-US" dirty="0"/>
              <a:t>What data is stored </a:t>
            </a:r>
          </a:p>
          <a:p>
            <a:r>
              <a:rPr lang="en-US" b="1" dirty="0"/>
              <a:t>3. View Level</a:t>
            </a:r>
          </a:p>
          <a:p>
            <a:pPr marL="457200" lvl="1" indent="0">
              <a:buNone/>
            </a:pPr>
            <a:r>
              <a:rPr lang="en-US" dirty="0"/>
              <a:t>What the user sees</a:t>
            </a:r>
          </a:p>
          <a:p>
            <a:endParaRPr lang="en-US" dirty="0"/>
          </a:p>
        </p:txBody>
      </p:sp>
    </p:spTree>
    <p:extLst>
      <p:ext uri="{BB962C8B-B14F-4D97-AF65-F5344CB8AC3E}">
        <p14:creationId xmlns:p14="http://schemas.microsoft.com/office/powerpoint/2010/main" val="3272057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29A6-4FEC-41F2-C2F0-6ABE7E2E9D6B}"/>
              </a:ext>
            </a:extLst>
          </p:cNvPr>
          <p:cNvSpPr>
            <a:spLocks noGrp="1"/>
          </p:cNvSpPr>
          <p:nvPr>
            <p:ph type="title"/>
          </p:nvPr>
        </p:nvSpPr>
        <p:spPr/>
        <p:txBody>
          <a:bodyPr/>
          <a:lstStyle/>
          <a:p>
            <a:r>
              <a:rPr lang="en-US" dirty="0"/>
              <a:t>Data Independence</a:t>
            </a:r>
          </a:p>
        </p:txBody>
      </p:sp>
      <p:sp>
        <p:nvSpPr>
          <p:cNvPr id="3" name="Content Placeholder 2">
            <a:extLst>
              <a:ext uri="{FF2B5EF4-FFF2-40B4-BE49-F238E27FC236}">
                <a16:creationId xmlns:a16="http://schemas.microsoft.com/office/drawing/2014/main" id="{44AB9F36-D830-4991-7BCB-9D5260406B94}"/>
              </a:ext>
            </a:extLst>
          </p:cNvPr>
          <p:cNvSpPr>
            <a:spLocks noGrp="1"/>
          </p:cNvSpPr>
          <p:nvPr>
            <p:ph idx="1"/>
          </p:nvPr>
        </p:nvSpPr>
        <p:spPr>
          <a:xfrm>
            <a:off x="677334" y="1714501"/>
            <a:ext cx="8596668" cy="4326862"/>
          </a:xfrm>
        </p:spPr>
        <p:txBody>
          <a:bodyPr>
            <a:normAutofit fontScale="92500" lnSpcReduction="10000"/>
          </a:bodyPr>
          <a:lstStyle/>
          <a:p>
            <a:r>
              <a:rPr lang="en-US" dirty="0"/>
              <a:t>Ability to modify schema without affecting applications </a:t>
            </a:r>
          </a:p>
          <a:p>
            <a:r>
              <a:rPr lang="en-US" dirty="0"/>
              <a:t>The main purpose of data abstraction is achieving data independence in order to save time and cost required when the database is modified or altered.</a:t>
            </a:r>
          </a:p>
          <a:p>
            <a:r>
              <a:rPr lang="en-US" dirty="0"/>
              <a:t>Data Independency can be defined as the capacity to change the schema at one level of a database system without having to change schema at the next higher level. </a:t>
            </a:r>
          </a:p>
          <a:p>
            <a:r>
              <a:rPr lang="en-US" dirty="0"/>
              <a:t>Both data abstraction and data independence hide implementation details from users.</a:t>
            </a:r>
          </a:p>
          <a:p>
            <a:r>
              <a:rPr lang="en-US" dirty="0"/>
              <a:t>This allow user to focus on the general structure rather than low-level implementation.</a:t>
            </a:r>
          </a:p>
          <a:p>
            <a:pPr marL="0" indent="0">
              <a:buNone/>
            </a:pPr>
            <a:r>
              <a:rPr lang="en-US" b="1" u="sng" dirty="0"/>
              <a:t>Types:</a:t>
            </a:r>
          </a:p>
          <a:p>
            <a:r>
              <a:rPr lang="en-US" dirty="0"/>
              <a:t>Physical Data Independence </a:t>
            </a:r>
          </a:p>
          <a:p>
            <a:r>
              <a:rPr lang="en-US" dirty="0"/>
              <a:t>Logical Data Independence</a:t>
            </a:r>
          </a:p>
          <a:p>
            <a:endParaRPr lang="en-US" dirty="0"/>
          </a:p>
        </p:txBody>
      </p:sp>
    </p:spTree>
    <p:extLst>
      <p:ext uri="{BB962C8B-B14F-4D97-AF65-F5344CB8AC3E}">
        <p14:creationId xmlns:p14="http://schemas.microsoft.com/office/powerpoint/2010/main" val="895438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7B14-25CA-2DB4-E0AD-7D07D900770A}"/>
              </a:ext>
            </a:extLst>
          </p:cNvPr>
          <p:cNvSpPr>
            <a:spLocks noGrp="1"/>
          </p:cNvSpPr>
          <p:nvPr>
            <p:ph type="title"/>
          </p:nvPr>
        </p:nvSpPr>
        <p:spPr/>
        <p:txBody>
          <a:bodyPr/>
          <a:lstStyle/>
          <a:p>
            <a:r>
              <a:rPr lang="en-US" dirty="0"/>
              <a:t>Data Independence</a:t>
            </a:r>
          </a:p>
        </p:txBody>
      </p:sp>
      <p:sp>
        <p:nvSpPr>
          <p:cNvPr id="3" name="Content Placeholder 2">
            <a:extLst>
              <a:ext uri="{FF2B5EF4-FFF2-40B4-BE49-F238E27FC236}">
                <a16:creationId xmlns:a16="http://schemas.microsoft.com/office/drawing/2014/main" id="{FC9AD080-3429-EE17-C8D3-C89DDD8C9C79}"/>
              </a:ext>
            </a:extLst>
          </p:cNvPr>
          <p:cNvSpPr>
            <a:spLocks noGrp="1"/>
          </p:cNvSpPr>
          <p:nvPr>
            <p:ph idx="1"/>
          </p:nvPr>
        </p:nvSpPr>
        <p:spPr>
          <a:xfrm>
            <a:off x="677333" y="1930400"/>
            <a:ext cx="9219701" cy="4347787"/>
          </a:xfrm>
        </p:spPr>
        <p:txBody>
          <a:bodyPr>
            <a:normAutofit/>
          </a:bodyPr>
          <a:lstStyle/>
          <a:p>
            <a:pPr marL="0" indent="0">
              <a:buNone/>
            </a:pPr>
            <a:r>
              <a:rPr lang="en-US" b="1" u="sng" dirty="0"/>
              <a:t>Logical data independence: </a:t>
            </a:r>
          </a:p>
          <a:p>
            <a:r>
              <a:rPr lang="en-US" dirty="0"/>
              <a:t>Ability to change the logical (conceptual) schema without changing the External schema (User View)</a:t>
            </a:r>
          </a:p>
          <a:p>
            <a:r>
              <a:rPr lang="en-US" dirty="0"/>
              <a:t>For example, the addition or removal of new entities, attributes, or relationships to the conceptual schema should be possible without having to change existing external schemas or having to rewrite existing application programs.</a:t>
            </a:r>
          </a:p>
          <a:p>
            <a:pPr marL="0" indent="0">
              <a:buNone/>
            </a:pPr>
            <a:r>
              <a:rPr lang="en-US" b="1" u="sng" dirty="0"/>
              <a:t>Physical data independence: </a:t>
            </a:r>
          </a:p>
          <a:p>
            <a:r>
              <a:rPr lang="en-US" dirty="0"/>
              <a:t>Ability to change the physical schema without changing the logical schema </a:t>
            </a:r>
          </a:p>
          <a:p>
            <a:r>
              <a:rPr lang="en-US" dirty="0"/>
              <a:t>For example, a change to the internal schema, such as using different file organization or storage structures, storage devices, or indexing strategy, should be possible without having to change the conceptual or external schemas.</a:t>
            </a:r>
          </a:p>
          <a:p>
            <a:endParaRPr lang="en-US" dirty="0"/>
          </a:p>
        </p:txBody>
      </p:sp>
    </p:spTree>
    <p:extLst>
      <p:ext uri="{BB962C8B-B14F-4D97-AF65-F5344CB8AC3E}">
        <p14:creationId xmlns:p14="http://schemas.microsoft.com/office/powerpoint/2010/main" val="3862577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7EC3D4-0E77-654D-D2C0-7C35786F9A7A}"/>
              </a:ext>
            </a:extLst>
          </p:cNvPr>
          <p:cNvPicPr>
            <a:picLocks noChangeAspect="1"/>
          </p:cNvPicPr>
          <p:nvPr/>
        </p:nvPicPr>
        <p:blipFill>
          <a:blip r:embed="rId2"/>
          <a:stretch>
            <a:fillRect/>
          </a:stretch>
        </p:blipFill>
        <p:spPr>
          <a:xfrm>
            <a:off x="677334" y="3068163"/>
            <a:ext cx="5932531" cy="3203388"/>
          </a:xfrm>
          <a:prstGeom prst="rect">
            <a:avLst/>
          </a:prstGeom>
        </p:spPr>
      </p:pic>
      <p:sp>
        <p:nvSpPr>
          <p:cNvPr id="2" name="Title 1">
            <a:extLst>
              <a:ext uri="{FF2B5EF4-FFF2-40B4-BE49-F238E27FC236}">
                <a16:creationId xmlns:a16="http://schemas.microsoft.com/office/drawing/2014/main" id="{B5A9FD59-CF87-D827-EE59-18928FB10A84}"/>
              </a:ext>
            </a:extLst>
          </p:cNvPr>
          <p:cNvSpPr>
            <a:spLocks noGrp="1"/>
          </p:cNvSpPr>
          <p:nvPr>
            <p:ph type="title"/>
          </p:nvPr>
        </p:nvSpPr>
        <p:spPr/>
        <p:txBody>
          <a:bodyPr/>
          <a:lstStyle/>
          <a:p>
            <a:r>
              <a:rPr lang="en-US" dirty="0"/>
              <a:t>Instances and Schemas</a:t>
            </a:r>
          </a:p>
        </p:txBody>
      </p:sp>
      <p:sp>
        <p:nvSpPr>
          <p:cNvPr id="3" name="Content Placeholder 2">
            <a:extLst>
              <a:ext uri="{FF2B5EF4-FFF2-40B4-BE49-F238E27FC236}">
                <a16:creationId xmlns:a16="http://schemas.microsoft.com/office/drawing/2014/main" id="{4A6FF2B2-7B9E-B6D1-849E-5DD5074AACC2}"/>
              </a:ext>
            </a:extLst>
          </p:cNvPr>
          <p:cNvSpPr>
            <a:spLocks noGrp="1"/>
          </p:cNvSpPr>
          <p:nvPr>
            <p:ph idx="1"/>
          </p:nvPr>
        </p:nvSpPr>
        <p:spPr/>
        <p:txBody>
          <a:bodyPr/>
          <a:lstStyle/>
          <a:p>
            <a:r>
              <a:rPr lang="en-US" b="1" dirty="0"/>
              <a:t>Instance:</a:t>
            </a:r>
            <a:r>
              <a:rPr lang="en-US" dirty="0"/>
              <a:t> Snapshot of database at a given time </a:t>
            </a:r>
          </a:p>
          <a:p>
            <a:r>
              <a:rPr lang="en-US" b="1" dirty="0"/>
              <a:t>Schema:</a:t>
            </a:r>
            <a:r>
              <a:rPr lang="en-US" dirty="0"/>
              <a:t> Structure/design of database</a:t>
            </a:r>
          </a:p>
          <a:p>
            <a:endParaRPr lang="en-US" dirty="0"/>
          </a:p>
        </p:txBody>
      </p:sp>
      <p:pic>
        <p:nvPicPr>
          <p:cNvPr id="7" name="Picture 6">
            <a:extLst>
              <a:ext uri="{FF2B5EF4-FFF2-40B4-BE49-F238E27FC236}">
                <a16:creationId xmlns:a16="http://schemas.microsoft.com/office/drawing/2014/main" id="{DC79D56C-5909-0C83-EDA2-A3ED8E828619}"/>
              </a:ext>
            </a:extLst>
          </p:cNvPr>
          <p:cNvPicPr>
            <a:picLocks noChangeAspect="1"/>
          </p:cNvPicPr>
          <p:nvPr/>
        </p:nvPicPr>
        <p:blipFill>
          <a:blip r:embed="rId3"/>
          <a:stretch>
            <a:fillRect/>
          </a:stretch>
        </p:blipFill>
        <p:spPr>
          <a:xfrm>
            <a:off x="6609865" y="2160589"/>
            <a:ext cx="3396970" cy="2016553"/>
          </a:xfrm>
          <a:prstGeom prst="rect">
            <a:avLst/>
          </a:prstGeom>
        </p:spPr>
      </p:pic>
    </p:spTree>
    <p:extLst>
      <p:ext uri="{BB962C8B-B14F-4D97-AF65-F5344CB8AC3E}">
        <p14:creationId xmlns:p14="http://schemas.microsoft.com/office/powerpoint/2010/main" val="655748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C7ED-09B7-8269-70C5-396FEC3C740C}"/>
              </a:ext>
            </a:extLst>
          </p:cNvPr>
          <p:cNvSpPr>
            <a:spLocks noGrp="1"/>
          </p:cNvSpPr>
          <p:nvPr>
            <p:ph type="title"/>
          </p:nvPr>
        </p:nvSpPr>
        <p:spPr/>
        <p:txBody>
          <a:bodyPr/>
          <a:lstStyle/>
          <a:p>
            <a:r>
              <a:rPr lang="en-US" dirty="0"/>
              <a:t>Database Languages</a:t>
            </a:r>
          </a:p>
        </p:txBody>
      </p:sp>
      <p:sp>
        <p:nvSpPr>
          <p:cNvPr id="3" name="Content Placeholder 2">
            <a:extLst>
              <a:ext uri="{FF2B5EF4-FFF2-40B4-BE49-F238E27FC236}">
                <a16:creationId xmlns:a16="http://schemas.microsoft.com/office/drawing/2014/main" id="{B880D6CC-9FCC-D5D7-9B6C-9DD2C62D725C}"/>
              </a:ext>
            </a:extLst>
          </p:cNvPr>
          <p:cNvSpPr>
            <a:spLocks noGrp="1"/>
          </p:cNvSpPr>
          <p:nvPr>
            <p:ph idx="1"/>
          </p:nvPr>
        </p:nvSpPr>
        <p:spPr/>
        <p:txBody>
          <a:bodyPr/>
          <a:lstStyle/>
          <a:p>
            <a:pPr>
              <a:buFont typeface="+mj-lt"/>
              <a:buAutoNum type="arabicPeriod"/>
            </a:pPr>
            <a:r>
              <a:rPr lang="en-US" b="1" dirty="0"/>
              <a:t>DDL (Data Definition Language)</a:t>
            </a:r>
          </a:p>
          <a:p>
            <a:pPr marL="0" indent="0">
              <a:buNone/>
            </a:pPr>
            <a:r>
              <a:rPr lang="en-US" dirty="0"/>
              <a:t>Defines structure </a:t>
            </a:r>
          </a:p>
          <a:p>
            <a:pPr marL="0" indent="0">
              <a:buNone/>
            </a:pPr>
            <a:r>
              <a:rPr lang="en-US" dirty="0"/>
              <a:t>Commands: CREATE, ALTER, DROP </a:t>
            </a:r>
          </a:p>
          <a:p>
            <a:pPr>
              <a:buFont typeface="+mj-lt"/>
              <a:buAutoNum type="arabicPeriod"/>
            </a:pPr>
            <a:r>
              <a:rPr lang="en-US" b="1" dirty="0"/>
              <a:t>DML (Data Manipulation Language)</a:t>
            </a:r>
          </a:p>
          <a:p>
            <a:pPr marL="0" indent="0">
              <a:buNone/>
            </a:pPr>
            <a:r>
              <a:rPr lang="en-US" dirty="0"/>
              <a:t>Manipulates data </a:t>
            </a:r>
          </a:p>
          <a:p>
            <a:pPr marL="0" indent="0">
              <a:buNone/>
            </a:pPr>
            <a:r>
              <a:rPr lang="en-US" dirty="0"/>
              <a:t>Commands: INSERT, UPDATE, DELETE, SELECT </a:t>
            </a:r>
          </a:p>
          <a:p>
            <a:pPr>
              <a:buFont typeface="+mj-lt"/>
              <a:buAutoNum type="arabicPeriod"/>
            </a:pPr>
            <a:r>
              <a:rPr lang="en-US" b="1" dirty="0"/>
              <a:t>DCL (Data Control Language)</a:t>
            </a:r>
          </a:p>
          <a:p>
            <a:pPr marL="0" indent="0">
              <a:buNone/>
            </a:pPr>
            <a:r>
              <a:rPr lang="en-US" dirty="0"/>
              <a:t>Controls access </a:t>
            </a:r>
          </a:p>
          <a:p>
            <a:pPr marL="0" indent="0">
              <a:buNone/>
            </a:pPr>
            <a:r>
              <a:rPr lang="en-US" dirty="0"/>
              <a:t>Commands: GRANT, REVOKE</a:t>
            </a:r>
          </a:p>
          <a:p>
            <a:pPr>
              <a:buFont typeface="+mj-lt"/>
              <a:buAutoNum type="arabicPeriod"/>
            </a:pPr>
            <a:endParaRPr lang="en-US" dirty="0"/>
          </a:p>
        </p:txBody>
      </p:sp>
      <p:sp>
        <p:nvSpPr>
          <p:cNvPr id="5" name="TextBox 4">
            <a:extLst>
              <a:ext uri="{FF2B5EF4-FFF2-40B4-BE49-F238E27FC236}">
                <a16:creationId xmlns:a16="http://schemas.microsoft.com/office/drawing/2014/main" id="{10F9ABCE-D507-313C-C86D-E80D9D431206}"/>
              </a:ext>
            </a:extLst>
          </p:cNvPr>
          <p:cNvSpPr txBox="1"/>
          <p:nvPr/>
        </p:nvSpPr>
        <p:spPr>
          <a:xfrm>
            <a:off x="6646545" y="3429000"/>
            <a:ext cx="6115050" cy="1323439"/>
          </a:xfrm>
          <a:prstGeom prst="rect">
            <a:avLst/>
          </a:prstGeom>
          <a:noFill/>
        </p:spPr>
        <p:txBody>
          <a:bodyPr wrap="square">
            <a:spAutoFit/>
          </a:bodyPr>
          <a:lstStyle/>
          <a:p>
            <a:r>
              <a:rPr lang="en-US" sz="2000" b="1" dirty="0">
                <a:solidFill>
                  <a:srgbClr val="FF0000"/>
                </a:solidFill>
              </a:rPr>
              <a:t>DDL → Structure (Shelves / Sheet design)</a:t>
            </a:r>
          </a:p>
          <a:p>
            <a:r>
              <a:rPr lang="en-US" sz="2000" b="1" dirty="0">
                <a:solidFill>
                  <a:srgbClr val="FF0000"/>
                </a:solidFill>
              </a:rPr>
              <a:t>DML → Data (Books / Cell values) </a:t>
            </a:r>
          </a:p>
          <a:p>
            <a:r>
              <a:rPr lang="en-US" sz="2000" b="1" dirty="0">
                <a:solidFill>
                  <a:srgbClr val="FF0000"/>
                </a:solidFill>
              </a:rPr>
              <a:t>DCL → Access (Who can use it)</a:t>
            </a:r>
          </a:p>
          <a:p>
            <a:r>
              <a:rPr lang="en-US" sz="2000" b="1" dirty="0">
                <a:solidFill>
                  <a:srgbClr val="FF0000"/>
                </a:solidFill>
              </a:rPr>
              <a:t>TCL → Safety (Save or Undo)</a:t>
            </a:r>
          </a:p>
        </p:txBody>
      </p:sp>
    </p:spTree>
    <p:extLst>
      <p:ext uri="{BB962C8B-B14F-4D97-AF65-F5344CB8AC3E}">
        <p14:creationId xmlns:p14="http://schemas.microsoft.com/office/powerpoint/2010/main" val="3371415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FCAC-ECD7-9673-3252-B6E7AA148757}"/>
              </a:ext>
            </a:extLst>
          </p:cNvPr>
          <p:cNvSpPr>
            <a:spLocks noGrp="1"/>
          </p:cNvSpPr>
          <p:nvPr>
            <p:ph type="title"/>
          </p:nvPr>
        </p:nvSpPr>
        <p:spPr/>
        <p:txBody>
          <a:bodyPr/>
          <a:lstStyle/>
          <a:p>
            <a:r>
              <a:rPr lang="en-US" dirty="0"/>
              <a:t>DDL (Data Definition Language)</a:t>
            </a:r>
          </a:p>
        </p:txBody>
      </p:sp>
      <p:sp>
        <p:nvSpPr>
          <p:cNvPr id="3" name="Content Placeholder 2">
            <a:extLst>
              <a:ext uri="{FF2B5EF4-FFF2-40B4-BE49-F238E27FC236}">
                <a16:creationId xmlns:a16="http://schemas.microsoft.com/office/drawing/2014/main" id="{1EE8DE85-BF68-72CF-61FE-A2657A4F6185}"/>
              </a:ext>
            </a:extLst>
          </p:cNvPr>
          <p:cNvSpPr>
            <a:spLocks noGrp="1"/>
          </p:cNvSpPr>
          <p:nvPr>
            <p:ph idx="1"/>
          </p:nvPr>
        </p:nvSpPr>
        <p:spPr>
          <a:xfrm>
            <a:off x="677334" y="2160589"/>
            <a:ext cx="9266766" cy="3880773"/>
          </a:xfrm>
        </p:spPr>
        <p:txBody>
          <a:bodyPr>
            <a:normAutofit/>
          </a:bodyPr>
          <a:lstStyle/>
          <a:p>
            <a:r>
              <a:rPr lang="en-US" sz="2000" dirty="0"/>
              <a:t>DDL is the short name of Data Definition Language, which deals with database schemas and descriptions of how the data should reside in the database. </a:t>
            </a:r>
          </a:p>
          <a:p>
            <a:r>
              <a:rPr lang="en-US" sz="2000" dirty="0"/>
              <a:t>CREATE - to create a database and its objects like (table, index, views, store procedure, functions, and triggers) </a:t>
            </a:r>
          </a:p>
          <a:p>
            <a:r>
              <a:rPr lang="en-US" sz="2000" dirty="0"/>
              <a:t>ALTER - alters the structure of the existing database </a:t>
            </a:r>
          </a:p>
          <a:p>
            <a:r>
              <a:rPr lang="en-US" sz="2000" dirty="0"/>
              <a:t>DROP - delete objects from the database </a:t>
            </a:r>
          </a:p>
          <a:p>
            <a:r>
              <a:rPr lang="en-US" sz="2000" dirty="0"/>
              <a:t>TRUNCATE - remove all records from a table, including all spaces allocated for the records</a:t>
            </a:r>
          </a:p>
          <a:p>
            <a:r>
              <a:rPr lang="en-US" sz="2000" dirty="0"/>
              <a:t>RENAME - rename an object</a:t>
            </a:r>
          </a:p>
        </p:txBody>
      </p:sp>
      <p:sp>
        <p:nvSpPr>
          <p:cNvPr id="5" name="TextBox 4">
            <a:extLst>
              <a:ext uri="{FF2B5EF4-FFF2-40B4-BE49-F238E27FC236}">
                <a16:creationId xmlns:a16="http://schemas.microsoft.com/office/drawing/2014/main" id="{1ECE8A0E-20E0-569A-58AA-B41035315439}"/>
              </a:ext>
            </a:extLst>
          </p:cNvPr>
          <p:cNvSpPr txBox="1"/>
          <p:nvPr/>
        </p:nvSpPr>
        <p:spPr>
          <a:xfrm>
            <a:off x="5399616" y="5348221"/>
            <a:ext cx="6115050" cy="923330"/>
          </a:xfrm>
          <a:prstGeom prst="rect">
            <a:avLst/>
          </a:prstGeom>
          <a:noFill/>
        </p:spPr>
        <p:txBody>
          <a:bodyPr wrap="square">
            <a:spAutoFit/>
          </a:bodyPr>
          <a:lstStyle/>
          <a:p>
            <a:r>
              <a:rPr lang="en-US" dirty="0">
                <a:solidFill>
                  <a:srgbClr val="FF0000"/>
                </a:solidFill>
              </a:rPr>
              <a:t>DDL commands are </a:t>
            </a:r>
            <a:r>
              <a:rPr lang="en-US" b="1" dirty="0">
                <a:solidFill>
                  <a:srgbClr val="FF0000"/>
                </a:solidFill>
              </a:rPr>
              <a:t>auto-commit</a:t>
            </a:r>
            <a:r>
              <a:rPr lang="en-US" dirty="0">
                <a:solidFill>
                  <a:srgbClr val="FF0000"/>
                </a:solidFill>
              </a:rPr>
              <a:t> (cannot be rolled back in most systems). They deal with </a:t>
            </a:r>
            <a:r>
              <a:rPr lang="en-US" b="1" dirty="0">
                <a:solidFill>
                  <a:srgbClr val="FF0000"/>
                </a:solidFill>
              </a:rPr>
              <a:t>structure</a:t>
            </a:r>
            <a:r>
              <a:rPr lang="en-US" dirty="0">
                <a:solidFill>
                  <a:srgbClr val="FF0000"/>
                </a:solidFill>
              </a:rPr>
              <a:t>, not data. Changes are </a:t>
            </a:r>
            <a:r>
              <a:rPr lang="en-US" b="1" dirty="0">
                <a:solidFill>
                  <a:srgbClr val="FF0000"/>
                </a:solidFill>
              </a:rPr>
              <a:t>permanent</a:t>
            </a:r>
            <a:r>
              <a:rPr lang="en-US" dirty="0">
                <a:solidFill>
                  <a:srgbClr val="FF0000"/>
                </a:solidFill>
              </a:rPr>
              <a:t> once executed.</a:t>
            </a:r>
          </a:p>
        </p:txBody>
      </p:sp>
    </p:spTree>
    <p:extLst>
      <p:ext uri="{BB962C8B-B14F-4D97-AF65-F5344CB8AC3E}">
        <p14:creationId xmlns:p14="http://schemas.microsoft.com/office/powerpoint/2010/main" val="1073675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68C29-6A5A-7527-D7B9-56EA239DBC7E}"/>
              </a:ext>
            </a:extLst>
          </p:cNvPr>
          <p:cNvSpPr>
            <a:spLocks noGrp="1"/>
          </p:cNvSpPr>
          <p:nvPr>
            <p:ph type="title"/>
          </p:nvPr>
        </p:nvSpPr>
        <p:spPr/>
        <p:txBody>
          <a:bodyPr/>
          <a:lstStyle/>
          <a:p>
            <a:r>
              <a:rPr lang="en-US" dirty="0"/>
              <a:t>DDL</a:t>
            </a:r>
          </a:p>
        </p:txBody>
      </p:sp>
      <p:sp>
        <p:nvSpPr>
          <p:cNvPr id="3" name="Content Placeholder 2">
            <a:extLst>
              <a:ext uri="{FF2B5EF4-FFF2-40B4-BE49-F238E27FC236}">
                <a16:creationId xmlns:a16="http://schemas.microsoft.com/office/drawing/2014/main" id="{EFFED815-6CA9-1719-5302-A59DAC2D576D}"/>
              </a:ext>
            </a:extLst>
          </p:cNvPr>
          <p:cNvSpPr>
            <a:spLocks noGrp="1"/>
          </p:cNvSpPr>
          <p:nvPr>
            <p:ph idx="1"/>
          </p:nvPr>
        </p:nvSpPr>
        <p:spPr>
          <a:xfrm>
            <a:off x="1026370" y="1879658"/>
            <a:ext cx="2818555" cy="879791"/>
          </a:xfrm>
        </p:spPr>
        <p:txBody>
          <a:bodyPr>
            <a:normAutofit/>
          </a:bodyPr>
          <a:lstStyle/>
          <a:p>
            <a:r>
              <a:rPr lang="en-US" sz="3200" b="1" dirty="0">
                <a:solidFill>
                  <a:schemeClr val="accent2">
                    <a:lumMod val="50000"/>
                  </a:schemeClr>
                </a:solidFill>
              </a:rPr>
              <a:t>CREATE</a:t>
            </a:r>
          </a:p>
          <a:p>
            <a:pPr marL="0" indent="0">
              <a:buNone/>
            </a:pPr>
            <a:endParaRPr lang="en-US" sz="3200" b="1" dirty="0">
              <a:solidFill>
                <a:schemeClr val="accent2">
                  <a:lumMod val="50000"/>
                </a:schemeClr>
              </a:solidFill>
            </a:endParaRPr>
          </a:p>
        </p:txBody>
      </p:sp>
      <p:sp>
        <p:nvSpPr>
          <p:cNvPr id="5" name="TextBox 4">
            <a:extLst>
              <a:ext uri="{FF2B5EF4-FFF2-40B4-BE49-F238E27FC236}">
                <a16:creationId xmlns:a16="http://schemas.microsoft.com/office/drawing/2014/main" id="{AB3C511A-91D6-71BF-CE2B-7E293B139A8E}"/>
              </a:ext>
            </a:extLst>
          </p:cNvPr>
          <p:cNvSpPr txBox="1"/>
          <p:nvPr/>
        </p:nvSpPr>
        <p:spPr>
          <a:xfrm>
            <a:off x="3994785" y="1749109"/>
            <a:ext cx="6115050" cy="1477328"/>
          </a:xfrm>
          <a:prstGeom prst="rect">
            <a:avLst/>
          </a:prstGeom>
          <a:noFill/>
        </p:spPr>
        <p:txBody>
          <a:bodyPr wrap="square">
            <a:spAutoFit/>
          </a:bodyPr>
          <a:lstStyle/>
          <a:p>
            <a:r>
              <a:rPr lang="en-US" dirty="0">
                <a:solidFill>
                  <a:schemeClr val="accent2">
                    <a:lumMod val="50000"/>
                  </a:schemeClr>
                </a:solidFill>
              </a:rPr>
              <a:t>CREATE TABLE </a:t>
            </a:r>
            <a:r>
              <a:rPr lang="en-US" dirty="0" err="1">
                <a:solidFill>
                  <a:schemeClr val="accent2">
                    <a:lumMod val="50000"/>
                  </a:schemeClr>
                </a:solidFill>
              </a:rPr>
              <a:t>table_name</a:t>
            </a:r>
            <a:r>
              <a:rPr lang="en-US" dirty="0">
                <a:solidFill>
                  <a:schemeClr val="accent2">
                    <a:lumMod val="50000"/>
                  </a:schemeClr>
                </a:solidFill>
              </a:rPr>
              <a:t> (</a:t>
            </a:r>
          </a:p>
          <a:p>
            <a:r>
              <a:rPr lang="en-US" dirty="0">
                <a:solidFill>
                  <a:schemeClr val="accent2">
                    <a:lumMod val="50000"/>
                  </a:schemeClr>
                </a:solidFill>
              </a:rPr>
              <a:t>    column1 datatype [constraint],</a:t>
            </a:r>
          </a:p>
          <a:p>
            <a:r>
              <a:rPr lang="en-US" dirty="0">
                <a:solidFill>
                  <a:schemeClr val="accent2">
                    <a:lumMod val="50000"/>
                  </a:schemeClr>
                </a:solidFill>
              </a:rPr>
              <a:t>    column2 datatype [constraint],</a:t>
            </a:r>
          </a:p>
          <a:p>
            <a:r>
              <a:rPr lang="en-US" dirty="0">
                <a:solidFill>
                  <a:schemeClr val="accent2">
                    <a:lumMod val="50000"/>
                  </a:schemeClr>
                </a:solidFill>
              </a:rPr>
              <a:t>    ...</a:t>
            </a:r>
          </a:p>
          <a:p>
            <a:r>
              <a:rPr lang="en-US" dirty="0">
                <a:solidFill>
                  <a:schemeClr val="accent2">
                    <a:lumMod val="50000"/>
                  </a:schemeClr>
                </a:solidFill>
              </a:rPr>
              <a:t>);</a:t>
            </a:r>
          </a:p>
        </p:txBody>
      </p:sp>
      <p:sp>
        <p:nvSpPr>
          <p:cNvPr id="7" name="TextBox 6">
            <a:extLst>
              <a:ext uri="{FF2B5EF4-FFF2-40B4-BE49-F238E27FC236}">
                <a16:creationId xmlns:a16="http://schemas.microsoft.com/office/drawing/2014/main" id="{07964F1C-E508-A76C-4DE4-956C34E371A9}"/>
              </a:ext>
            </a:extLst>
          </p:cNvPr>
          <p:cNvSpPr txBox="1"/>
          <p:nvPr/>
        </p:nvSpPr>
        <p:spPr>
          <a:xfrm>
            <a:off x="7977081" y="1749109"/>
            <a:ext cx="6115050" cy="1477328"/>
          </a:xfrm>
          <a:prstGeom prst="rect">
            <a:avLst/>
          </a:prstGeom>
          <a:noFill/>
        </p:spPr>
        <p:txBody>
          <a:bodyPr wrap="square">
            <a:spAutoFit/>
          </a:bodyPr>
          <a:lstStyle/>
          <a:p>
            <a:r>
              <a:rPr lang="en-US" dirty="0">
                <a:solidFill>
                  <a:schemeClr val="accent2">
                    <a:lumMod val="50000"/>
                  </a:schemeClr>
                </a:solidFill>
              </a:rPr>
              <a:t>CREATE TABLE students (</a:t>
            </a:r>
          </a:p>
          <a:p>
            <a:r>
              <a:rPr lang="en-US" dirty="0">
                <a:solidFill>
                  <a:schemeClr val="accent2">
                    <a:lumMod val="50000"/>
                  </a:schemeClr>
                </a:solidFill>
              </a:rPr>
              <a:t>    id INT PRIMARY KEY,</a:t>
            </a:r>
          </a:p>
          <a:p>
            <a:r>
              <a:rPr lang="en-US" dirty="0">
                <a:solidFill>
                  <a:schemeClr val="accent2">
                    <a:lumMod val="50000"/>
                  </a:schemeClr>
                </a:solidFill>
              </a:rPr>
              <a:t>    name VARCHAR(50),</a:t>
            </a:r>
          </a:p>
          <a:p>
            <a:r>
              <a:rPr lang="en-US" dirty="0">
                <a:solidFill>
                  <a:schemeClr val="accent2">
                    <a:lumMod val="50000"/>
                  </a:schemeClr>
                </a:solidFill>
              </a:rPr>
              <a:t>    age INT</a:t>
            </a:r>
          </a:p>
          <a:p>
            <a:r>
              <a:rPr lang="en-US" dirty="0">
                <a:solidFill>
                  <a:schemeClr val="accent2">
                    <a:lumMod val="50000"/>
                  </a:schemeClr>
                </a:solidFill>
              </a:rPr>
              <a:t>);</a:t>
            </a:r>
          </a:p>
        </p:txBody>
      </p:sp>
      <p:sp>
        <p:nvSpPr>
          <p:cNvPr id="9" name="TextBox 8">
            <a:extLst>
              <a:ext uri="{FF2B5EF4-FFF2-40B4-BE49-F238E27FC236}">
                <a16:creationId xmlns:a16="http://schemas.microsoft.com/office/drawing/2014/main" id="{8A4612D9-7242-5B25-A374-38AA35A9F266}"/>
              </a:ext>
            </a:extLst>
          </p:cNvPr>
          <p:cNvSpPr txBox="1"/>
          <p:nvPr/>
        </p:nvSpPr>
        <p:spPr>
          <a:xfrm>
            <a:off x="3994785" y="3230063"/>
            <a:ext cx="3526155" cy="646331"/>
          </a:xfrm>
          <a:prstGeom prst="rect">
            <a:avLst/>
          </a:prstGeom>
          <a:noFill/>
        </p:spPr>
        <p:txBody>
          <a:bodyPr wrap="square">
            <a:spAutoFit/>
          </a:bodyPr>
          <a:lstStyle/>
          <a:p>
            <a:r>
              <a:rPr lang="en-US" dirty="0">
                <a:solidFill>
                  <a:schemeClr val="accent5">
                    <a:lumMod val="50000"/>
                  </a:schemeClr>
                </a:solidFill>
              </a:rPr>
              <a:t>ALTER TABLE </a:t>
            </a:r>
            <a:r>
              <a:rPr lang="en-US" dirty="0" err="1">
                <a:solidFill>
                  <a:schemeClr val="accent5">
                    <a:lumMod val="50000"/>
                  </a:schemeClr>
                </a:solidFill>
              </a:rPr>
              <a:t>table_name</a:t>
            </a:r>
            <a:endParaRPr lang="en-US" dirty="0">
              <a:solidFill>
                <a:schemeClr val="accent5">
                  <a:lumMod val="50000"/>
                </a:schemeClr>
              </a:solidFill>
            </a:endParaRPr>
          </a:p>
          <a:p>
            <a:r>
              <a:rPr lang="en-US" dirty="0">
                <a:solidFill>
                  <a:schemeClr val="accent5">
                    <a:lumMod val="50000"/>
                  </a:schemeClr>
                </a:solidFill>
              </a:rPr>
              <a:t>ADD </a:t>
            </a:r>
            <a:r>
              <a:rPr lang="en-US" dirty="0" err="1">
                <a:solidFill>
                  <a:schemeClr val="accent5">
                    <a:lumMod val="50000"/>
                  </a:schemeClr>
                </a:solidFill>
              </a:rPr>
              <a:t>column_name</a:t>
            </a:r>
            <a:r>
              <a:rPr lang="en-US" dirty="0">
                <a:solidFill>
                  <a:schemeClr val="accent5">
                    <a:lumMod val="50000"/>
                  </a:schemeClr>
                </a:solidFill>
              </a:rPr>
              <a:t> datatype;</a:t>
            </a:r>
          </a:p>
        </p:txBody>
      </p:sp>
      <p:sp>
        <p:nvSpPr>
          <p:cNvPr id="11" name="TextBox 10">
            <a:extLst>
              <a:ext uri="{FF2B5EF4-FFF2-40B4-BE49-F238E27FC236}">
                <a16:creationId xmlns:a16="http://schemas.microsoft.com/office/drawing/2014/main" id="{DD8776D8-8454-CFE7-0783-886E634F0C56}"/>
              </a:ext>
            </a:extLst>
          </p:cNvPr>
          <p:cNvSpPr txBox="1"/>
          <p:nvPr/>
        </p:nvSpPr>
        <p:spPr>
          <a:xfrm>
            <a:off x="3994785" y="4054549"/>
            <a:ext cx="3823335" cy="646331"/>
          </a:xfrm>
          <a:prstGeom prst="rect">
            <a:avLst/>
          </a:prstGeom>
          <a:noFill/>
        </p:spPr>
        <p:txBody>
          <a:bodyPr wrap="square">
            <a:spAutoFit/>
          </a:bodyPr>
          <a:lstStyle/>
          <a:p>
            <a:r>
              <a:rPr lang="en-US" dirty="0">
                <a:solidFill>
                  <a:schemeClr val="accent5">
                    <a:lumMod val="50000"/>
                  </a:schemeClr>
                </a:solidFill>
              </a:rPr>
              <a:t>ALTER TABLE </a:t>
            </a:r>
            <a:r>
              <a:rPr lang="en-US" dirty="0" err="1">
                <a:solidFill>
                  <a:schemeClr val="accent5">
                    <a:lumMod val="50000"/>
                  </a:schemeClr>
                </a:solidFill>
              </a:rPr>
              <a:t>table_name</a:t>
            </a:r>
            <a:endParaRPr lang="en-US" dirty="0">
              <a:solidFill>
                <a:schemeClr val="accent5">
                  <a:lumMod val="50000"/>
                </a:schemeClr>
              </a:solidFill>
            </a:endParaRPr>
          </a:p>
          <a:p>
            <a:r>
              <a:rPr lang="en-US" dirty="0">
                <a:solidFill>
                  <a:schemeClr val="accent5">
                    <a:lumMod val="50000"/>
                  </a:schemeClr>
                </a:solidFill>
              </a:rPr>
              <a:t>MODIFY </a:t>
            </a:r>
            <a:r>
              <a:rPr lang="en-US" dirty="0" err="1">
                <a:solidFill>
                  <a:schemeClr val="accent5">
                    <a:lumMod val="50000"/>
                  </a:schemeClr>
                </a:solidFill>
              </a:rPr>
              <a:t>column_name</a:t>
            </a:r>
            <a:r>
              <a:rPr lang="en-US" dirty="0">
                <a:solidFill>
                  <a:schemeClr val="accent5">
                    <a:lumMod val="50000"/>
                  </a:schemeClr>
                </a:solidFill>
              </a:rPr>
              <a:t> datatype;</a:t>
            </a:r>
          </a:p>
        </p:txBody>
      </p:sp>
      <p:sp>
        <p:nvSpPr>
          <p:cNvPr id="13" name="TextBox 12">
            <a:extLst>
              <a:ext uri="{FF2B5EF4-FFF2-40B4-BE49-F238E27FC236}">
                <a16:creationId xmlns:a16="http://schemas.microsoft.com/office/drawing/2014/main" id="{E6459B15-7562-E551-8D83-18E605D0D0A2}"/>
              </a:ext>
            </a:extLst>
          </p:cNvPr>
          <p:cNvSpPr txBox="1"/>
          <p:nvPr/>
        </p:nvSpPr>
        <p:spPr>
          <a:xfrm>
            <a:off x="7977081" y="4020721"/>
            <a:ext cx="7863840" cy="646331"/>
          </a:xfrm>
          <a:prstGeom prst="rect">
            <a:avLst/>
          </a:prstGeom>
          <a:noFill/>
        </p:spPr>
        <p:txBody>
          <a:bodyPr wrap="square">
            <a:spAutoFit/>
          </a:bodyPr>
          <a:lstStyle/>
          <a:p>
            <a:r>
              <a:rPr lang="en-US" dirty="0">
                <a:solidFill>
                  <a:schemeClr val="accent5">
                    <a:lumMod val="50000"/>
                  </a:schemeClr>
                </a:solidFill>
              </a:rPr>
              <a:t>ALTER TABLE </a:t>
            </a:r>
            <a:r>
              <a:rPr lang="en-US" dirty="0" err="1">
                <a:solidFill>
                  <a:schemeClr val="accent5">
                    <a:lumMod val="50000"/>
                  </a:schemeClr>
                </a:solidFill>
              </a:rPr>
              <a:t>table_name</a:t>
            </a:r>
            <a:endParaRPr lang="en-US" dirty="0">
              <a:solidFill>
                <a:schemeClr val="accent5">
                  <a:lumMod val="50000"/>
                </a:schemeClr>
              </a:solidFill>
            </a:endParaRPr>
          </a:p>
          <a:p>
            <a:r>
              <a:rPr lang="en-US" dirty="0">
                <a:solidFill>
                  <a:schemeClr val="accent5">
                    <a:lumMod val="50000"/>
                  </a:schemeClr>
                </a:solidFill>
              </a:rPr>
              <a:t>DROP COLUMN </a:t>
            </a:r>
            <a:r>
              <a:rPr lang="en-US" dirty="0" err="1">
                <a:solidFill>
                  <a:schemeClr val="accent5">
                    <a:lumMod val="50000"/>
                  </a:schemeClr>
                </a:solidFill>
              </a:rPr>
              <a:t>column_name</a:t>
            </a:r>
            <a:r>
              <a:rPr lang="en-US" dirty="0">
                <a:solidFill>
                  <a:schemeClr val="accent5">
                    <a:lumMod val="50000"/>
                  </a:schemeClr>
                </a:solidFill>
              </a:rPr>
              <a:t>;</a:t>
            </a:r>
          </a:p>
        </p:txBody>
      </p:sp>
      <p:sp>
        <p:nvSpPr>
          <p:cNvPr id="15" name="TextBox 14">
            <a:extLst>
              <a:ext uri="{FF2B5EF4-FFF2-40B4-BE49-F238E27FC236}">
                <a16:creationId xmlns:a16="http://schemas.microsoft.com/office/drawing/2014/main" id="{42A23E6B-A505-55B9-436E-218018437CEC}"/>
              </a:ext>
            </a:extLst>
          </p:cNvPr>
          <p:cNvSpPr txBox="1"/>
          <p:nvPr/>
        </p:nvSpPr>
        <p:spPr>
          <a:xfrm>
            <a:off x="7977081" y="3216631"/>
            <a:ext cx="7863840" cy="646331"/>
          </a:xfrm>
          <a:prstGeom prst="rect">
            <a:avLst/>
          </a:prstGeom>
          <a:noFill/>
        </p:spPr>
        <p:txBody>
          <a:bodyPr wrap="square">
            <a:spAutoFit/>
          </a:bodyPr>
          <a:lstStyle/>
          <a:p>
            <a:r>
              <a:rPr lang="en-US" dirty="0">
                <a:solidFill>
                  <a:schemeClr val="accent5">
                    <a:lumMod val="50000"/>
                  </a:schemeClr>
                </a:solidFill>
              </a:rPr>
              <a:t>ALTER TABLE students</a:t>
            </a:r>
          </a:p>
          <a:p>
            <a:r>
              <a:rPr lang="en-US" dirty="0">
                <a:solidFill>
                  <a:schemeClr val="accent5">
                    <a:lumMod val="50000"/>
                  </a:schemeClr>
                </a:solidFill>
              </a:rPr>
              <a:t>ADD email VARCHAR(100);</a:t>
            </a:r>
          </a:p>
        </p:txBody>
      </p:sp>
      <p:sp>
        <p:nvSpPr>
          <p:cNvPr id="17" name="TextBox 16">
            <a:extLst>
              <a:ext uri="{FF2B5EF4-FFF2-40B4-BE49-F238E27FC236}">
                <a16:creationId xmlns:a16="http://schemas.microsoft.com/office/drawing/2014/main" id="{0651D015-AC7C-0183-7A50-DF996F25F873}"/>
              </a:ext>
            </a:extLst>
          </p:cNvPr>
          <p:cNvSpPr txBox="1"/>
          <p:nvPr/>
        </p:nvSpPr>
        <p:spPr>
          <a:xfrm>
            <a:off x="3994785" y="5110830"/>
            <a:ext cx="3160395" cy="369332"/>
          </a:xfrm>
          <a:prstGeom prst="rect">
            <a:avLst/>
          </a:prstGeom>
          <a:noFill/>
        </p:spPr>
        <p:txBody>
          <a:bodyPr wrap="square">
            <a:spAutoFit/>
          </a:bodyPr>
          <a:lstStyle/>
          <a:p>
            <a:r>
              <a:rPr lang="en-US" dirty="0">
                <a:solidFill>
                  <a:srgbClr val="FF0000"/>
                </a:solidFill>
              </a:rPr>
              <a:t>DROP TABLE </a:t>
            </a:r>
            <a:r>
              <a:rPr lang="en-US" dirty="0" err="1">
                <a:solidFill>
                  <a:srgbClr val="FF0000"/>
                </a:solidFill>
              </a:rPr>
              <a:t>table_name</a:t>
            </a:r>
            <a:r>
              <a:rPr lang="en-US" dirty="0">
                <a:solidFill>
                  <a:srgbClr val="FF0000"/>
                </a:solidFill>
              </a:rPr>
              <a:t>;</a:t>
            </a:r>
          </a:p>
        </p:txBody>
      </p:sp>
      <p:sp>
        <p:nvSpPr>
          <p:cNvPr id="19" name="TextBox 18">
            <a:extLst>
              <a:ext uri="{FF2B5EF4-FFF2-40B4-BE49-F238E27FC236}">
                <a16:creationId xmlns:a16="http://schemas.microsoft.com/office/drawing/2014/main" id="{83D2FF8D-766B-1F70-49F4-20082181FDC3}"/>
              </a:ext>
            </a:extLst>
          </p:cNvPr>
          <p:cNvSpPr txBox="1"/>
          <p:nvPr/>
        </p:nvSpPr>
        <p:spPr>
          <a:xfrm>
            <a:off x="7977081" y="5077002"/>
            <a:ext cx="8161020" cy="369332"/>
          </a:xfrm>
          <a:prstGeom prst="rect">
            <a:avLst/>
          </a:prstGeom>
          <a:noFill/>
        </p:spPr>
        <p:txBody>
          <a:bodyPr wrap="square">
            <a:spAutoFit/>
          </a:bodyPr>
          <a:lstStyle/>
          <a:p>
            <a:r>
              <a:rPr lang="en-US" dirty="0"/>
              <a:t>DROP TABLE students;</a:t>
            </a:r>
          </a:p>
        </p:txBody>
      </p:sp>
      <p:sp>
        <p:nvSpPr>
          <p:cNvPr id="21" name="TextBox 20">
            <a:extLst>
              <a:ext uri="{FF2B5EF4-FFF2-40B4-BE49-F238E27FC236}">
                <a16:creationId xmlns:a16="http://schemas.microsoft.com/office/drawing/2014/main" id="{5CB8C56E-5E78-F996-1800-0FD11190518B}"/>
              </a:ext>
            </a:extLst>
          </p:cNvPr>
          <p:cNvSpPr txBox="1"/>
          <p:nvPr/>
        </p:nvSpPr>
        <p:spPr>
          <a:xfrm>
            <a:off x="3994785" y="5730254"/>
            <a:ext cx="3526155" cy="369332"/>
          </a:xfrm>
          <a:prstGeom prst="rect">
            <a:avLst/>
          </a:prstGeom>
          <a:noFill/>
        </p:spPr>
        <p:txBody>
          <a:bodyPr wrap="square">
            <a:spAutoFit/>
          </a:bodyPr>
          <a:lstStyle/>
          <a:p>
            <a:r>
              <a:rPr lang="en-US" dirty="0">
                <a:solidFill>
                  <a:schemeClr val="accent6">
                    <a:lumMod val="75000"/>
                  </a:schemeClr>
                </a:solidFill>
              </a:rPr>
              <a:t>TRUNCATE TABLE </a:t>
            </a:r>
            <a:r>
              <a:rPr lang="en-US" dirty="0" err="1">
                <a:solidFill>
                  <a:schemeClr val="accent6">
                    <a:lumMod val="75000"/>
                  </a:schemeClr>
                </a:solidFill>
              </a:rPr>
              <a:t>table_name</a:t>
            </a:r>
            <a:r>
              <a:rPr lang="en-US" dirty="0">
                <a:solidFill>
                  <a:schemeClr val="accent6">
                    <a:lumMod val="75000"/>
                  </a:schemeClr>
                </a:solidFill>
              </a:rPr>
              <a:t>;</a:t>
            </a:r>
          </a:p>
        </p:txBody>
      </p:sp>
      <p:sp>
        <p:nvSpPr>
          <p:cNvPr id="23" name="TextBox 22">
            <a:extLst>
              <a:ext uri="{FF2B5EF4-FFF2-40B4-BE49-F238E27FC236}">
                <a16:creationId xmlns:a16="http://schemas.microsoft.com/office/drawing/2014/main" id="{4ECFCBD7-5D53-8C43-58F2-FDB3D52884CF}"/>
              </a:ext>
            </a:extLst>
          </p:cNvPr>
          <p:cNvSpPr txBox="1"/>
          <p:nvPr/>
        </p:nvSpPr>
        <p:spPr>
          <a:xfrm>
            <a:off x="7977081" y="5696426"/>
            <a:ext cx="8309610" cy="369332"/>
          </a:xfrm>
          <a:prstGeom prst="rect">
            <a:avLst/>
          </a:prstGeom>
          <a:noFill/>
        </p:spPr>
        <p:txBody>
          <a:bodyPr wrap="square">
            <a:spAutoFit/>
          </a:bodyPr>
          <a:lstStyle/>
          <a:p>
            <a:r>
              <a:rPr lang="en-US" dirty="0">
                <a:solidFill>
                  <a:schemeClr val="accent6">
                    <a:lumMod val="75000"/>
                  </a:schemeClr>
                </a:solidFill>
              </a:rPr>
              <a:t>TRUNCATE TABLE students;</a:t>
            </a:r>
          </a:p>
        </p:txBody>
      </p:sp>
      <p:sp>
        <p:nvSpPr>
          <p:cNvPr id="24" name="Content Placeholder 2">
            <a:extLst>
              <a:ext uri="{FF2B5EF4-FFF2-40B4-BE49-F238E27FC236}">
                <a16:creationId xmlns:a16="http://schemas.microsoft.com/office/drawing/2014/main" id="{0928D6D3-CB02-D5DB-7A21-9F7B8230B53C}"/>
              </a:ext>
            </a:extLst>
          </p:cNvPr>
          <p:cNvSpPr txBox="1">
            <a:spLocks/>
          </p:cNvSpPr>
          <p:nvPr/>
        </p:nvSpPr>
        <p:spPr>
          <a:xfrm>
            <a:off x="1026368" y="4850463"/>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rgbClr val="FF0000"/>
                </a:solidFill>
              </a:rPr>
              <a:t>DROP</a:t>
            </a:r>
          </a:p>
          <a:p>
            <a:pPr marL="0" indent="0">
              <a:buFont typeface="Wingdings 3" charset="2"/>
              <a:buNone/>
            </a:pPr>
            <a:endParaRPr lang="en-US" sz="3200" b="1" dirty="0">
              <a:solidFill>
                <a:srgbClr val="FF0000"/>
              </a:solidFill>
            </a:endParaRPr>
          </a:p>
        </p:txBody>
      </p:sp>
      <p:sp>
        <p:nvSpPr>
          <p:cNvPr id="25" name="Content Placeholder 2">
            <a:extLst>
              <a:ext uri="{FF2B5EF4-FFF2-40B4-BE49-F238E27FC236}">
                <a16:creationId xmlns:a16="http://schemas.microsoft.com/office/drawing/2014/main" id="{018BF230-F8EE-3DAF-995B-AE8F5761191E}"/>
              </a:ext>
            </a:extLst>
          </p:cNvPr>
          <p:cNvSpPr txBox="1">
            <a:spLocks/>
          </p:cNvSpPr>
          <p:nvPr/>
        </p:nvSpPr>
        <p:spPr>
          <a:xfrm>
            <a:off x="1026369" y="3407730"/>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chemeClr val="accent5">
                    <a:lumMod val="50000"/>
                  </a:schemeClr>
                </a:solidFill>
              </a:rPr>
              <a:t>ALTER</a:t>
            </a:r>
          </a:p>
          <a:p>
            <a:pPr marL="0" indent="0">
              <a:buFont typeface="Wingdings 3" charset="2"/>
              <a:buNone/>
            </a:pPr>
            <a:endParaRPr lang="en-US" sz="3200" b="1" dirty="0">
              <a:solidFill>
                <a:schemeClr val="accent5">
                  <a:lumMod val="50000"/>
                </a:schemeClr>
              </a:solidFill>
            </a:endParaRPr>
          </a:p>
        </p:txBody>
      </p:sp>
      <p:sp>
        <p:nvSpPr>
          <p:cNvPr id="26" name="Content Placeholder 2">
            <a:extLst>
              <a:ext uri="{FF2B5EF4-FFF2-40B4-BE49-F238E27FC236}">
                <a16:creationId xmlns:a16="http://schemas.microsoft.com/office/drawing/2014/main" id="{DFD3F346-7DC7-0CBC-D8A7-A929D4D6B020}"/>
              </a:ext>
            </a:extLst>
          </p:cNvPr>
          <p:cNvSpPr txBox="1">
            <a:spLocks/>
          </p:cNvSpPr>
          <p:nvPr/>
        </p:nvSpPr>
        <p:spPr>
          <a:xfrm>
            <a:off x="1026368" y="5608320"/>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chemeClr val="accent6">
                    <a:lumMod val="75000"/>
                  </a:schemeClr>
                </a:solidFill>
              </a:rPr>
              <a:t>TRUNCATE</a:t>
            </a:r>
          </a:p>
          <a:p>
            <a:pPr marL="0" indent="0">
              <a:buFont typeface="Wingdings 3" charset="2"/>
              <a:buNone/>
            </a:pPr>
            <a:endParaRPr lang="en-US" sz="3200" b="1" dirty="0">
              <a:solidFill>
                <a:schemeClr val="accent6">
                  <a:lumMod val="75000"/>
                </a:schemeClr>
              </a:solidFill>
            </a:endParaRPr>
          </a:p>
        </p:txBody>
      </p:sp>
    </p:spTree>
    <p:extLst>
      <p:ext uri="{BB962C8B-B14F-4D97-AF65-F5344CB8AC3E}">
        <p14:creationId xmlns:p14="http://schemas.microsoft.com/office/powerpoint/2010/main" val="928397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1644-5FB3-B53B-0D14-524282AFDF73}"/>
              </a:ext>
            </a:extLst>
          </p:cNvPr>
          <p:cNvSpPr>
            <a:spLocks noGrp="1"/>
          </p:cNvSpPr>
          <p:nvPr>
            <p:ph type="title"/>
          </p:nvPr>
        </p:nvSpPr>
        <p:spPr/>
        <p:txBody>
          <a:bodyPr/>
          <a:lstStyle/>
          <a:p>
            <a:r>
              <a:rPr lang="en-US" dirty="0"/>
              <a:t>DML (Data Manipulation Language)</a:t>
            </a:r>
          </a:p>
        </p:txBody>
      </p:sp>
      <p:sp>
        <p:nvSpPr>
          <p:cNvPr id="3" name="Content Placeholder 2">
            <a:extLst>
              <a:ext uri="{FF2B5EF4-FFF2-40B4-BE49-F238E27FC236}">
                <a16:creationId xmlns:a16="http://schemas.microsoft.com/office/drawing/2014/main" id="{F236459C-BAA1-2679-B17F-B36936FBAA10}"/>
              </a:ext>
            </a:extLst>
          </p:cNvPr>
          <p:cNvSpPr>
            <a:spLocks noGrp="1"/>
          </p:cNvSpPr>
          <p:nvPr>
            <p:ph idx="1"/>
          </p:nvPr>
        </p:nvSpPr>
        <p:spPr/>
        <p:txBody>
          <a:bodyPr>
            <a:normAutofit/>
          </a:bodyPr>
          <a:lstStyle/>
          <a:p>
            <a:r>
              <a:rPr lang="en-US" sz="2000" dirty="0"/>
              <a:t>deals with data manipulation and includes most common SQL statements such SELECT, INSERT, UPDATE, DELETE, etc., and it is used to store, modify, retrieve, delete and update data in a database.</a:t>
            </a:r>
          </a:p>
          <a:p>
            <a:r>
              <a:rPr lang="en-US" sz="2000" dirty="0"/>
              <a:t>SELECT - retrieve data from a database </a:t>
            </a:r>
          </a:p>
          <a:p>
            <a:r>
              <a:rPr lang="en-US" sz="2000" dirty="0"/>
              <a:t>INSERT - insert data into a table </a:t>
            </a:r>
          </a:p>
          <a:p>
            <a:r>
              <a:rPr lang="en-US" sz="2000" dirty="0"/>
              <a:t>UPDATE - updates existing data within a table </a:t>
            </a:r>
          </a:p>
          <a:p>
            <a:r>
              <a:rPr lang="en-US" sz="2000" dirty="0"/>
              <a:t>DELETE - Delete all records from a database table </a:t>
            </a:r>
          </a:p>
          <a:p>
            <a:r>
              <a:rPr lang="en-US" sz="2000" dirty="0"/>
              <a:t>MERGE - UPSERT operation (insert or update)</a:t>
            </a:r>
          </a:p>
        </p:txBody>
      </p:sp>
    </p:spTree>
    <p:extLst>
      <p:ext uri="{BB962C8B-B14F-4D97-AF65-F5344CB8AC3E}">
        <p14:creationId xmlns:p14="http://schemas.microsoft.com/office/powerpoint/2010/main" val="250272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7B3A-3760-028C-73C6-209528160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7E63-D09C-C1DB-B3E2-47290FBA37D6}"/>
              </a:ext>
            </a:extLst>
          </p:cNvPr>
          <p:cNvSpPr>
            <a:spLocks noGrp="1"/>
          </p:cNvSpPr>
          <p:nvPr>
            <p:ph type="title"/>
          </p:nvPr>
        </p:nvSpPr>
        <p:spPr/>
        <p:txBody>
          <a:bodyPr/>
          <a:lstStyle/>
          <a:p>
            <a:r>
              <a:rPr lang="en-US" dirty="0"/>
              <a:t>DML</a:t>
            </a:r>
          </a:p>
        </p:txBody>
      </p:sp>
      <p:sp>
        <p:nvSpPr>
          <p:cNvPr id="3" name="Content Placeholder 2">
            <a:extLst>
              <a:ext uri="{FF2B5EF4-FFF2-40B4-BE49-F238E27FC236}">
                <a16:creationId xmlns:a16="http://schemas.microsoft.com/office/drawing/2014/main" id="{C398376C-1063-A687-F4FA-41FB630970E9}"/>
              </a:ext>
            </a:extLst>
          </p:cNvPr>
          <p:cNvSpPr>
            <a:spLocks noGrp="1"/>
          </p:cNvSpPr>
          <p:nvPr>
            <p:ph idx="1"/>
          </p:nvPr>
        </p:nvSpPr>
        <p:spPr>
          <a:xfrm>
            <a:off x="1026370" y="1879658"/>
            <a:ext cx="2818555" cy="879791"/>
          </a:xfrm>
        </p:spPr>
        <p:txBody>
          <a:bodyPr>
            <a:normAutofit/>
          </a:bodyPr>
          <a:lstStyle/>
          <a:p>
            <a:r>
              <a:rPr lang="en-US" sz="3200" b="1" dirty="0">
                <a:solidFill>
                  <a:schemeClr val="accent2">
                    <a:lumMod val="50000"/>
                  </a:schemeClr>
                </a:solidFill>
              </a:rPr>
              <a:t>INSERT</a:t>
            </a:r>
          </a:p>
          <a:p>
            <a:pPr marL="0" indent="0">
              <a:buNone/>
            </a:pPr>
            <a:endParaRPr lang="en-US" sz="3200" b="1" dirty="0">
              <a:solidFill>
                <a:schemeClr val="accent2">
                  <a:lumMod val="50000"/>
                </a:schemeClr>
              </a:solidFill>
            </a:endParaRPr>
          </a:p>
        </p:txBody>
      </p:sp>
      <p:sp>
        <p:nvSpPr>
          <p:cNvPr id="5" name="TextBox 4">
            <a:extLst>
              <a:ext uri="{FF2B5EF4-FFF2-40B4-BE49-F238E27FC236}">
                <a16:creationId xmlns:a16="http://schemas.microsoft.com/office/drawing/2014/main" id="{1BDB99FC-00E4-E3E0-C674-9FFEA02E07B4}"/>
              </a:ext>
            </a:extLst>
          </p:cNvPr>
          <p:cNvSpPr txBox="1"/>
          <p:nvPr/>
        </p:nvSpPr>
        <p:spPr>
          <a:xfrm>
            <a:off x="3994785" y="1749109"/>
            <a:ext cx="6115050" cy="646331"/>
          </a:xfrm>
          <a:prstGeom prst="rect">
            <a:avLst/>
          </a:prstGeom>
          <a:noFill/>
        </p:spPr>
        <p:txBody>
          <a:bodyPr wrap="square">
            <a:spAutoFit/>
          </a:bodyPr>
          <a:lstStyle/>
          <a:p>
            <a:r>
              <a:rPr lang="en-US" dirty="0">
                <a:solidFill>
                  <a:schemeClr val="accent2">
                    <a:lumMod val="50000"/>
                  </a:schemeClr>
                </a:solidFill>
              </a:rPr>
              <a:t>INSERT INTO </a:t>
            </a:r>
            <a:r>
              <a:rPr lang="en-US" dirty="0" err="1">
                <a:solidFill>
                  <a:schemeClr val="accent2">
                    <a:lumMod val="50000"/>
                  </a:schemeClr>
                </a:solidFill>
              </a:rPr>
              <a:t>table_name</a:t>
            </a:r>
            <a:r>
              <a:rPr lang="en-US" dirty="0">
                <a:solidFill>
                  <a:schemeClr val="accent2">
                    <a:lumMod val="50000"/>
                  </a:schemeClr>
                </a:solidFill>
              </a:rPr>
              <a:t> (column1, column2, ...)</a:t>
            </a:r>
          </a:p>
          <a:p>
            <a:r>
              <a:rPr lang="en-US" dirty="0">
                <a:solidFill>
                  <a:schemeClr val="accent2">
                    <a:lumMod val="50000"/>
                  </a:schemeClr>
                </a:solidFill>
              </a:rPr>
              <a:t>VALUES (value1, value2, ...);</a:t>
            </a:r>
          </a:p>
        </p:txBody>
      </p:sp>
      <p:sp>
        <p:nvSpPr>
          <p:cNvPr id="7" name="TextBox 6">
            <a:extLst>
              <a:ext uri="{FF2B5EF4-FFF2-40B4-BE49-F238E27FC236}">
                <a16:creationId xmlns:a16="http://schemas.microsoft.com/office/drawing/2014/main" id="{931D0A1E-D61B-0186-1D34-5159807F966E}"/>
              </a:ext>
            </a:extLst>
          </p:cNvPr>
          <p:cNvSpPr txBox="1"/>
          <p:nvPr/>
        </p:nvSpPr>
        <p:spPr>
          <a:xfrm>
            <a:off x="7155180" y="2230033"/>
            <a:ext cx="6115050" cy="646331"/>
          </a:xfrm>
          <a:prstGeom prst="rect">
            <a:avLst/>
          </a:prstGeom>
          <a:noFill/>
        </p:spPr>
        <p:txBody>
          <a:bodyPr wrap="square">
            <a:spAutoFit/>
          </a:bodyPr>
          <a:lstStyle/>
          <a:p>
            <a:r>
              <a:rPr lang="en-US" dirty="0">
                <a:solidFill>
                  <a:schemeClr val="accent2">
                    <a:lumMod val="50000"/>
                  </a:schemeClr>
                </a:solidFill>
              </a:rPr>
              <a:t>INSERT INTO students (id, name, age)</a:t>
            </a:r>
          </a:p>
          <a:p>
            <a:r>
              <a:rPr lang="en-US" dirty="0">
                <a:solidFill>
                  <a:schemeClr val="accent2">
                    <a:lumMod val="50000"/>
                  </a:schemeClr>
                </a:solidFill>
              </a:rPr>
              <a:t>VALUES (1, 'Kapil', 22);</a:t>
            </a:r>
          </a:p>
        </p:txBody>
      </p:sp>
      <p:sp>
        <p:nvSpPr>
          <p:cNvPr id="9" name="TextBox 8">
            <a:extLst>
              <a:ext uri="{FF2B5EF4-FFF2-40B4-BE49-F238E27FC236}">
                <a16:creationId xmlns:a16="http://schemas.microsoft.com/office/drawing/2014/main" id="{B7979CB0-EEA2-C86B-A4B2-A50C7AC988A1}"/>
              </a:ext>
            </a:extLst>
          </p:cNvPr>
          <p:cNvSpPr txBox="1"/>
          <p:nvPr/>
        </p:nvSpPr>
        <p:spPr>
          <a:xfrm>
            <a:off x="3994785" y="3230063"/>
            <a:ext cx="3526155" cy="646331"/>
          </a:xfrm>
          <a:prstGeom prst="rect">
            <a:avLst/>
          </a:prstGeom>
          <a:noFill/>
        </p:spPr>
        <p:txBody>
          <a:bodyPr wrap="square">
            <a:spAutoFit/>
          </a:bodyPr>
          <a:lstStyle/>
          <a:p>
            <a:r>
              <a:rPr lang="en-US" dirty="0">
                <a:solidFill>
                  <a:schemeClr val="accent5">
                    <a:lumMod val="50000"/>
                  </a:schemeClr>
                </a:solidFill>
              </a:rPr>
              <a:t>SELECT column1, column2, ...</a:t>
            </a:r>
          </a:p>
          <a:p>
            <a:r>
              <a:rPr lang="en-US" dirty="0">
                <a:solidFill>
                  <a:schemeClr val="accent5">
                    <a:lumMod val="50000"/>
                  </a:schemeClr>
                </a:solidFill>
              </a:rPr>
              <a:t>FROM </a:t>
            </a:r>
            <a:r>
              <a:rPr lang="en-US" dirty="0" err="1">
                <a:solidFill>
                  <a:schemeClr val="accent5">
                    <a:lumMod val="50000"/>
                  </a:schemeClr>
                </a:solidFill>
              </a:rPr>
              <a:t>table_name</a:t>
            </a:r>
            <a:r>
              <a:rPr lang="en-US" dirty="0">
                <a:solidFill>
                  <a:schemeClr val="accent5">
                    <a:lumMod val="50000"/>
                  </a:schemeClr>
                </a:solidFill>
              </a:rPr>
              <a:t>;</a:t>
            </a:r>
          </a:p>
        </p:txBody>
      </p:sp>
      <p:sp>
        <p:nvSpPr>
          <p:cNvPr id="11" name="TextBox 10">
            <a:extLst>
              <a:ext uri="{FF2B5EF4-FFF2-40B4-BE49-F238E27FC236}">
                <a16:creationId xmlns:a16="http://schemas.microsoft.com/office/drawing/2014/main" id="{9B9E2DC5-9158-8346-781A-EDC39802AB5C}"/>
              </a:ext>
            </a:extLst>
          </p:cNvPr>
          <p:cNvSpPr txBox="1"/>
          <p:nvPr/>
        </p:nvSpPr>
        <p:spPr>
          <a:xfrm>
            <a:off x="3994785" y="4054549"/>
            <a:ext cx="3823335" cy="369332"/>
          </a:xfrm>
          <a:prstGeom prst="rect">
            <a:avLst/>
          </a:prstGeom>
          <a:noFill/>
        </p:spPr>
        <p:txBody>
          <a:bodyPr wrap="square">
            <a:spAutoFit/>
          </a:bodyPr>
          <a:lstStyle/>
          <a:p>
            <a:r>
              <a:rPr lang="en-US" dirty="0">
                <a:solidFill>
                  <a:schemeClr val="accent5">
                    <a:lumMod val="50000"/>
                  </a:schemeClr>
                </a:solidFill>
              </a:rPr>
              <a:t>SELECT * FROM </a:t>
            </a:r>
            <a:r>
              <a:rPr lang="en-US" dirty="0" err="1">
                <a:solidFill>
                  <a:schemeClr val="accent5">
                    <a:lumMod val="50000"/>
                  </a:schemeClr>
                </a:solidFill>
              </a:rPr>
              <a:t>table_name</a:t>
            </a:r>
            <a:r>
              <a:rPr lang="en-US" dirty="0">
                <a:solidFill>
                  <a:schemeClr val="accent5">
                    <a:lumMod val="50000"/>
                  </a:schemeClr>
                </a:solidFill>
              </a:rPr>
              <a:t>;</a:t>
            </a:r>
          </a:p>
        </p:txBody>
      </p:sp>
      <p:sp>
        <p:nvSpPr>
          <p:cNvPr id="13" name="TextBox 12">
            <a:extLst>
              <a:ext uri="{FF2B5EF4-FFF2-40B4-BE49-F238E27FC236}">
                <a16:creationId xmlns:a16="http://schemas.microsoft.com/office/drawing/2014/main" id="{1252F14A-9BE9-37C4-7744-5340DF15C09C}"/>
              </a:ext>
            </a:extLst>
          </p:cNvPr>
          <p:cNvSpPr txBox="1"/>
          <p:nvPr/>
        </p:nvSpPr>
        <p:spPr>
          <a:xfrm>
            <a:off x="7977081" y="4139961"/>
            <a:ext cx="7863840" cy="923330"/>
          </a:xfrm>
          <a:prstGeom prst="rect">
            <a:avLst/>
          </a:prstGeom>
          <a:noFill/>
        </p:spPr>
        <p:txBody>
          <a:bodyPr wrap="square">
            <a:spAutoFit/>
          </a:bodyPr>
          <a:lstStyle/>
          <a:p>
            <a:r>
              <a:rPr lang="en-US" dirty="0">
                <a:solidFill>
                  <a:schemeClr val="accent5">
                    <a:lumMod val="50000"/>
                  </a:schemeClr>
                </a:solidFill>
              </a:rPr>
              <a:t>SELECT name, age</a:t>
            </a:r>
          </a:p>
          <a:p>
            <a:r>
              <a:rPr lang="en-US" dirty="0">
                <a:solidFill>
                  <a:schemeClr val="accent5">
                    <a:lumMod val="50000"/>
                  </a:schemeClr>
                </a:solidFill>
              </a:rPr>
              <a:t>FROM students</a:t>
            </a:r>
          </a:p>
          <a:p>
            <a:r>
              <a:rPr lang="en-US" dirty="0">
                <a:solidFill>
                  <a:schemeClr val="accent5">
                    <a:lumMod val="50000"/>
                  </a:schemeClr>
                </a:solidFill>
              </a:rPr>
              <a:t>WHERE age &gt; 20;</a:t>
            </a:r>
          </a:p>
        </p:txBody>
      </p:sp>
      <p:sp>
        <p:nvSpPr>
          <p:cNvPr id="15" name="TextBox 14">
            <a:extLst>
              <a:ext uri="{FF2B5EF4-FFF2-40B4-BE49-F238E27FC236}">
                <a16:creationId xmlns:a16="http://schemas.microsoft.com/office/drawing/2014/main" id="{7A207FC1-65E4-24D1-D0C6-56E143D522BE}"/>
              </a:ext>
            </a:extLst>
          </p:cNvPr>
          <p:cNvSpPr txBox="1"/>
          <p:nvPr/>
        </p:nvSpPr>
        <p:spPr>
          <a:xfrm>
            <a:off x="7977081" y="3148051"/>
            <a:ext cx="7863840" cy="923330"/>
          </a:xfrm>
          <a:prstGeom prst="rect">
            <a:avLst/>
          </a:prstGeom>
          <a:noFill/>
        </p:spPr>
        <p:txBody>
          <a:bodyPr wrap="square">
            <a:spAutoFit/>
          </a:bodyPr>
          <a:lstStyle/>
          <a:p>
            <a:r>
              <a:rPr lang="en-US" dirty="0">
                <a:solidFill>
                  <a:schemeClr val="accent5">
                    <a:lumMod val="50000"/>
                  </a:schemeClr>
                </a:solidFill>
              </a:rPr>
              <a:t>SELECT column1, column2</a:t>
            </a:r>
          </a:p>
          <a:p>
            <a:r>
              <a:rPr lang="en-US" dirty="0">
                <a:solidFill>
                  <a:schemeClr val="accent5">
                    <a:lumMod val="50000"/>
                  </a:schemeClr>
                </a:solidFill>
              </a:rPr>
              <a:t>FROM </a:t>
            </a:r>
            <a:r>
              <a:rPr lang="en-US" dirty="0" err="1">
                <a:solidFill>
                  <a:schemeClr val="accent5">
                    <a:lumMod val="50000"/>
                  </a:schemeClr>
                </a:solidFill>
              </a:rPr>
              <a:t>table_name</a:t>
            </a:r>
            <a:endParaRPr lang="en-US" dirty="0">
              <a:solidFill>
                <a:schemeClr val="accent5">
                  <a:lumMod val="50000"/>
                </a:schemeClr>
              </a:solidFill>
            </a:endParaRPr>
          </a:p>
          <a:p>
            <a:r>
              <a:rPr lang="en-US" dirty="0">
                <a:solidFill>
                  <a:schemeClr val="accent5">
                    <a:lumMod val="50000"/>
                  </a:schemeClr>
                </a:solidFill>
              </a:rPr>
              <a:t>WHERE condition;</a:t>
            </a:r>
          </a:p>
        </p:txBody>
      </p:sp>
      <p:sp>
        <p:nvSpPr>
          <p:cNvPr id="17" name="TextBox 16">
            <a:extLst>
              <a:ext uri="{FF2B5EF4-FFF2-40B4-BE49-F238E27FC236}">
                <a16:creationId xmlns:a16="http://schemas.microsoft.com/office/drawing/2014/main" id="{5B7F7360-8567-0BB3-162D-0E1A62D12ADE}"/>
              </a:ext>
            </a:extLst>
          </p:cNvPr>
          <p:cNvSpPr txBox="1"/>
          <p:nvPr/>
        </p:nvSpPr>
        <p:spPr>
          <a:xfrm>
            <a:off x="3994785" y="4601626"/>
            <a:ext cx="3160395" cy="1200329"/>
          </a:xfrm>
          <a:prstGeom prst="rect">
            <a:avLst/>
          </a:prstGeom>
          <a:noFill/>
        </p:spPr>
        <p:txBody>
          <a:bodyPr wrap="square">
            <a:spAutoFit/>
          </a:bodyPr>
          <a:lstStyle/>
          <a:p>
            <a:r>
              <a:rPr lang="en-US" dirty="0">
                <a:solidFill>
                  <a:srgbClr val="0070C0"/>
                </a:solidFill>
              </a:rPr>
              <a:t>UPDATE </a:t>
            </a:r>
            <a:r>
              <a:rPr lang="en-US" dirty="0" err="1">
                <a:solidFill>
                  <a:srgbClr val="0070C0"/>
                </a:solidFill>
              </a:rPr>
              <a:t>table_name</a:t>
            </a:r>
            <a:endParaRPr lang="en-US" dirty="0">
              <a:solidFill>
                <a:srgbClr val="0070C0"/>
              </a:solidFill>
            </a:endParaRPr>
          </a:p>
          <a:p>
            <a:r>
              <a:rPr lang="en-US" dirty="0">
                <a:solidFill>
                  <a:srgbClr val="0070C0"/>
                </a:solidFill>
              </a:rPr>
              <a:t>SET column1 = value1,</a:t>
            </a:r>
          </a:p>
          <a:p>
            <a:r>
              <a:rPr lang="en-US" dirty="0">
                <a:solidFill>
                  <a:srgbClr val="0070C0"/>
                </a:solidFill>
              </a:rPr>
              <a:t>    column2 = value2</a:t>
            </a:r>
          </a:p>
          <a:p>
            <a:r>
              <a:rPr lang="en-US" dirty="0">
                <a:solidFill>
                  <a:srgbClr val="0070C0"/>
                </a:solidFill>
              </a:rPr>
              <a:t>WHERE condition;</a:t>
            </a:r>
          </a:p>
        </p:txBody>
      </p:sp>
      <p:sp>
        <p:nvSpPr>
          <p:cNvPr id="19" name="TextBox 18">
            <a:extLst>
              <a:ext uri="{FF2B5EF4-FFF2-40B4-BE49-F238E27FC236}">
                <a16:creationId xmlns:a16="http://schemas.microsoft.com/office/drawing/2014/main" id="{AB8CCC1E-DE69-12B5-C43F-7FFA84477593}"/>
              </a:ext>
            </a:extLst>
          </p:cNvPr>
          <p:cNvSpPr txBox="1"/>
          <p:nvPr/>
        </p:nvSpPr>
        <p:spPr>
          <a:xfrm>
            <a:off x="7977081" y="5077002"/>
            <a:ext cx="8161020" cy="923330"/>
          </a:xfrm>
          <a:prstGeom prst="rect">
            <a:avLst/>
          </a:prstGeom>
          <a:noFill/>
        </p:spPr>
        <p:txBody>
          <a:bodyPr wrap="square">
            <a:spAutoFit/>
          </a:bodyPr>
          <a:lstStyle/>
          <a:p>
            <a:r>
              <a:rPr lang="en-US" dirty="0">
                <a:solidFill>
                  <a:srgbClr val="0070C0"/>
                </a:solidFill>
              </a:rPr>
              <a:t>UPDATE students</a:t>
            </a:r>
          </a:p>
          <a:p>
            <a:r>
              <a:rPr lang="en-US" dirty="0">
                <a:solidFill>
                  <a:srgbClr val="0070C0"/>
                </a:solidFill>
              </a:rPr>
              <a:t>SET age = 23</a:t>
            </a:r>
          </a:p>
          <a:p>
            <a:r>
              <a:rPr lang="en-US" dirty="0">
                <a:solidFill>
                  <a:srgbClr val="0070C0"/>
                </a:solidFill>
              </a:rPr>
              <a:t>WHERE id = 1;</a:t>
            </a:r>
          </a:p>
        </p:txBody>
      </p:sp>
      <p:sp>
        <p:nvSpPr>
          <p:cNvPr id="21" name="TextBox 20">
            <a:extLst>
              <a:ext uri="{FF2B5EF4-FFF2-40B4-BE49-F238E27FC236}">
                <a16:creationId xmlns:a16="http://schemas.microsoft.com/office/drawing/2014/main" id="{E426DEA4-6E6E-1D96-62FB-AF3A7F7DD08C}"/>
              </a:ext>
            </a:extLst>
          </p:cNvPr>
          <p:cNvSpPr txBox="1"/>
          <p:nvPr/>
        </p:nvSpPr>
        <p:spPr>
          <a:xfrm>
            <a:off x="3994785" y="5979700"/>
            <a:ext cx="3526155" cy="646331"/>
          </a:xfrm>
          <a:prstGeom prst="rect">
            <a:avLst/>
          </a:prstGeom>
          <a:noFill/>
        </p:spPr>
        <p:txBody>
          <a:bodyPr wrap="square">
            <a:spAutoFit/>
          </a:bodyPr>
          <a:lstStyle/>
          <a:p>
            <a:r>
              <a:rPr lang="en-US" dirty="0">
                <a:solidFill>
                  <a:srgbClr val="FF0000"/>
                </a:solidFill>
              </a:rPr>
              <a:t>DELETE FROM </a:t>
            </a:r>
            <a:r>
              <a:rPr lang="en-US" dirty="0" err="1">
                <a:solidFill>
                  <a:srgbClr val="FF0000"/>
                </a:solidFill>
              </a:rPr>
              <a:t>table_name</a:t>
            </a:r>
            <a:endParaRPr lang="en-US" dirty="0">
              <a:solidFill>
                <a:srgbClr val="FF0000"/>
              </a:solidFill>
            </a:endParaRPr>
          </a:p>
          <a:p>
            <a:r>
              <a:rPr lang="en-US" dirty="0">
                <a:solidFill>
                  <a:srgbClr val="FF0000"/>
                </a:solidFill>
              </a:rPr>
              <a:t>WHERE condition;</a:t>
            </a:r>
          </a:p>
        </p:txBody>
      </p:sp>
      <p:sp>
        <p:nvSpPr>
          <p:cNvPr id="23" name="TextBox 22">
            <a:extLst>
              <a:ext uri="{FF2B5EF4-FFF2-40B4-BE49-F238E27FC236}">
                <a16:creationId xmlns:a16="http://schemas.microsoft.com/office/drawing/2014/main" id="{FC34121B-D465-790B-014E-7628F464AC7E}"/>
              </a:ext>
            </a:extLst>
          </p:cNvPr>
          <p:cNvSpPr txBox="1"/>
          <p:nvPr/>
        </p:nvSpPr>
        <p:spPr>
          <a:xfrm>
            <a:off x="7977081" y="6015586"/>
            <a:ext cx="8309610" cy="646331"/>
          </a:xfrm>
          <a:prstGeom prst="rect">
            <a:avLst/>
          </a:prstGeom>
          <a:noFill/>
        </p:spPr>
        <p:txBody>
          <a:bodyPr wrap="square">
            <a:spAutoFit/>
          </a:bodyPr>
          <a:lstStyle/>
          <a:p>
            <a:r>
              <a:rPr lang="en-US" dirty="0">
                <a:solidFill>
                  <a:srgbClr val="FF0000"/>
                </a:solidFill>
              </a:rPr>
              <a:t>DELETE FROM students</a:t>
            </a:r>
          </a:p>
          <a:p>
            <a:r>
              <a:rPr lang="en-US" dirty="0">
                <a:solidFill>
                  <a:srgbClr val="FF0000"/>
                </a:solidFill>
              </a:rPr>
              <a:t>WHERE id = 1;</a:t>
            </a:r>
          </a:p>
        </p:txBody>
      </p:sp>
      <p:sp>
        <p:nvSpPr>
          <p:cNvPr id="24" name="Content Placeholder 2">
            <a:extLst>
              <a:ext uri="{FF2B5EF4-FFF2-40B4-BE49-F238E27FC236}">
                <a16:creationId xmlns:a16="http://schemas.microsoft.com/office/drawing/2014/main" id="{CEDFCF49-FCF2-F167-7B29-BD07484C66CA}"/>
              </a:ext>
            </a:extLst>
          </p:cNvPr>
          <p:cNvSpPr txBox="1">
            <a:spLocks/>
          </p:cNvSpPr>
          <p:nvPr/>
        </p:nvSpPr>
        <p:spPr>
          <a:xfrm>
            <a:off x="1026368" y="4850463"/>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rgbClr val="0070C0"/>
                </a:solidFill>
              </a:rPr>
              <a:t>UPDATE</a:t>
            </a:r>
          </a:p>
          <a:p>
            <a:pPr marL="0" indent="0">
              <a:buFont typeface="Wingdings 3" charset="2"/>
              <a:buNone/>
            </a:pPr>
            <a:endParaRPr lang="en-US" sz="3200" b="1" dirty="0">
              <a:solidFill>
                <a:srgbClr val="FF0000"/>
              </a:solidFill>
            </a:endParaRPr>
          </a:p>
        </p:txBody>
      </p:sp>
      <p:sp>
        <p:nvSpPr>
          <p:cNvPr id="25" name="Content Placeholder 2">
            <a:extLst>
              <a:ext uri="{FF2B5EF4-FFF2-40B4-BE49-F238E27FC236}">
                <a16:creationId xmlns:a16="http://schemas.microsoft.com/office/drawing/2014/main" id="{DC5CD284-FB9B-B9F0-0C22-D36D26A6182F}"/>
              </a:ext>
            </a:extLst>
          </p:cNvPr>
          <p:cNvSpPr txBox="1">
            <a:spLocks/>
          </p:cNvSpPr>
          <p:nvPr/>
        </p:nvSpPr>
        <p:spPr>
          <a:xfrm>
            <a:off x="1026369" y="3407730"/>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chemeClr val="accent5">
                    <a:lumMod val="50000"/>
                  </a:schemeClr>
                </a:solidFill>
              </a:rPr>
              <a:t>SELECT</a:t>
            </a:r>
          </a:p>
          <a:p>
            <a:pPr marL="0" indent="0">
              <a:buFont typeface="Wingdings 3" charset="2"/>
              <a:buNone/>
            </a:pPr>
            <a:endParaRPr lang="en-US" sz="3200" b="1" dirty="0">
              <a:solidFill>
                <a:schemeClr val="accent5">
                  <a:lumMod val="50000"/>
                </a:schemeClr>
              </a:solidFill>
            </a:endParaRPr>
          </a:p>
        </p:txBody>
      </p:sp>
      <p:sp>
        <p:nvSpPr>
          <p:cNvPr id="26" name="Content Placeholder 2">
            <a:extLst>
              <a:ext uri="{FF2B5EF4-FFF2-40B4-BE49-F238E27FC236}">
                <a16:creationId xmlns:a16="http://schemas.microsoft.com/office/drawing/2014/main" id="{B53D7830-7D10-9A9D-D0FC-55F136908BEC}"/>
              </a:ext>
            </a:extLst>
          </p:cNvPr>
          <p:cNvSpPr txBox="1">
            <a:spLocks/>
          </p:cNvSpPr>
          <p:nvPr/>
        </p:nvSpPr>
        <p:spPr>
          <a:xfrm>
            <a:off x="1026368" y="5608320"/>
            <a:ext cx="2818555" cy="8797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3200" b="1" dirty="0">
                <a:solidFill>
                  <a:srgbClr val="FF0000"/>
                </a:solidFill>
              </a:rPr>
              <a:t>DELETE</a:t>
            </a:r>
          </a:p>
          <a:p>
            <a:pPr marL="0" indent="0">
              <a:buFont typeface="Wingdings 3" charset="2"/>
              <a:buNone/>
            </a:pPr>
            <a:endParaRPr lang="en-US" sz="3200" b="1" dirty="0">
              <a:solidFill>
                <a:schemeClr val="accent6">
                  <a:lumMod val="75000"/>
                </a:schemeClr>
              </a:solidFill>
            </a:endParaRPr>
          </a:p>
        </p:txBody>
      </p:sp>
    </p:spTree>
    <p:extLst>
      <p:ext uri="{BB962C8B-B14F-4D97-AF65-F5344CB8AC3E}">
        <p14:creationId xmlns:p14="http://schemas.microsoft.com/office/powerpoint/2010/main" val="411427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8C39-246D-D2D9-6F43-594AFADAD030}"/>
              </a:ext>
            </a:extLst>
          </p:cNvPr>
          <p:cNvSpPr>
            <a:spLocks noGrp="1"/>
          </p:cNvSpPr>
          <p:nvPr>
            <p:ph type="title"/>
          </p:nvPr>
        </p:nvSpPr>
        <p:spPr/>
        <p:txBody>
          <a:bodyPr/>
          <a:lstStyle/>
          <a:p>
            <a:r>
              <a:rPr lang="en-US" dirty="0"/>
              <a:t>DCL (Data Control Language) and TCL (Transaction Control Language )</a:t>
            </a:r>
          </a:p>
        </p:txBody>
      </p:sp>
      <p:sp>
        <p:nvSpPr>
          <p:cNvPr id="3" name="Content Placeholder 2">
            <a:extLst>
              <a:ext uri="{FF2B5EF4-FFF2-40B4-BE49-F238E27FC236}">
                <a16:creationId xmlns:a16="http://schemas.microsoft.com/office/drawing/2014/main" id="{4F0D0F82-CBEF-E326-3EA0-16C53E268C0B}"/>
              </a:ext>
            </a:extLst>
          </p:cNvPr>
          <p:cNvSpPr>
            <a:spLocks noGrp="1"/>
          </p:cNvSpPr>
          <p:nvPr>
            <p:ph idx="1"/>
          </p:nvPr>
        </p:nvSpPr>
        <p:spPr/>
        <p:txBody>
          <a:bodyPr>
            <a:noAutofit/>
          </a:bodyPr>
          <a:lstStyle/>
          <a:p>
            <a:r>
              <a:rPr lang="en-US" sz="2000" dirty="0"/>
              <a:t>DCL includes commands such as GRANT and mostly concerned with rights, permissions and other controls of the database system.</a:t>
            </a:r>
          </a:p>
          <a:p>
            <a:pPr lvl="1"/>
            <a:r>
              <a:rPr lang="en-US" sz="1800" dirty="0"/>
              <a:t>GRANT - allow users access privileges to the database</a:t>
            </a:r>
          </a:p>
          <a:p>
            <a:pPr lvl="1"/>
            <a:r>
              <a:rPr lang="en-US" sz="2000" dirty="0"/>
              <a:t>REVOKE - withdraw users access privileges given by using the GRANT command </a:t>
            </a:r>
          </a:p>
          <a:p>
            <a:r>
              <a:rPr lang="en-US" sz="2000" dirty="0"/>
              <a:t>TCL deals with a transaction within a database.</a:t>
            </a:r>
          </a:p>
          <a:p>
            <a:pPr lvl="1"/>
            <a:r>
              <a:rPr lang="en-US" sz="1800" dirty="0"/>
              <a:t>COMMIT - commits a Transaction</a:t>
            </a:r>
          </a:p>
          <a:p>
            <a:pPr lvl="1"/>
            <a:r>
              <a:rPr lang="en-US" sz="2000" dirty="0"/>
              <a:t>ROLLBACK - rollback a transaction in case of any error occurs</a:t>
            </a:r>
          </a:p>
          <a:p>
            <a:pPr lvl="1"/>
            <a:r>
              <a:rPr lang="en-US" sz="2000" dirty="0"/>
              <a:t>SAVEPOINT - to roll back the transaction making points within groups</a:t>
            </a:r>
          </a:p>
        </p:txBody>
      </p:sp>
    </p:spTree>
    <p:extLst>
      <p:ext uri="{BB962C8B-B14F-4D97-AF65-F5344CB8AC3E}">
        <p14:creationId xmlns:p14="http://schemas.microsoft.com/office/powerpoint/2010/main" val="3327348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997B2-BC65-39EA-5341-F0237F1E8D2A}"/>
              </a:ext>
            </a:extLst>
          </p:cNvPr>
          <p:cNvSpPr>
            <a:spLocks noGrp="1"/>
          </p:cNvSpPr>
          <p:nvPr>
            <p:ph type="title"/>
          </p:nvPr>
        </p:nvSpPr>
        <p:spPr>
          <a:xfrm>
            <a:off x="677334" y="320548"/>
            <a:ext cx="8596668" cy="1320800"/>
          </a:xfrm>
        </p:spPr>
        <p:txBody>
          <a:bodyPr/>
          <a:lstStyle/>
          <a:p>
            <a:r>
              <a:rPr lang="en-US" dirty="0"/>
              <a:t>Database System Architecture</a:t>
            </a:r>
          </a:p>
        </p:txBody>
      </p:sp>
      <p:sp>
        <p:nvSpPr>
          <p:cNvPr id="3" name="Content Placeholder 2">
            <a:extLst>
              <a:ext uri="{FF2B5EF4-FFF2-40B4-BE49-F238E27FC236}">
                <a16:creationId xmlns:a16="http://schemas.microsoft.com/office/drawing/2014/main" id="{8B3E4553-1CEE-7C4B-4EF8-0122C977E9E2}"/>
              </a:ext>
            </a:extLst>
          </p:cNvPr>
          <p:cNvSpPr>
            <a:spLocks noGrp="1"/>
          </p:cNvSpPr>
          <p:nvPr>
            <p:ph idx="1"/>
          </p:nvPr>
        </p:nvSpPr>
        <p:spPr>
          <a:xfrm>
            <a:off x="164378" y="1641348"/>
            <a:ext cx="3721822" cy="4405450"/>
          </a:xfrm>
        </p:spPr>
        <p:txBody>
          <a:bodyPr>
            <a:normAutofit fontScale="85000" lnSpcReduction="20000"/>
          </a:bodyPr>
          <a:lstStyle/>
          <a:p>
            <a:pPr marL="0" indent="0">
              <a:buNone/>
            </a:pPr>
            <a:r>
              <a:rPr lang="en-US" dirty="0"/>
              <a:t>User Query</a:t>
            </a:r>
          </a:p>
          <a:p>
            <a:pPr marL="0" indent="0">
              <a:buNone/>
            </a:pPr>
            <a:r>
              <a:rPr lang="en-US" dirty="0"/>
              <a:t>   ↓</a:t>
            </a:r>
          </a:p>
          <a:p>
            <a:pPr marL="0" indent="0">
              <a:buNone/>
            </a:pPr>
            <a:r>
              <a:rPr lang="en-US" dirty="0"/>
              <a:t>Query Processor</a:t>
            </a:r>
          </a:p>
          <a:p>
            <a:pPr marL="0" indent="0">
              <a:buNone/>
            </a:pPr>
            <a:r>
              <a:rPr lang="en-US" dirty="0"/>
              <a:t>   ↓</a:t>
            </a:r>
          </a:p>
          <a:p>
            <a:pPr marL="0" indent="0">
              <a:buNone/>
            </a:pPr>
            <a:r>
              <a:rPr lang="en-US" dirty="0"/>
              <a:t>Storage Manager</a:t>
            </a:r>
          </a:p>
          <a:p>
            <a:pPr marL="0" indent="0">
              <a:buNone/>
            </a:pPr>
            <a:r>
              <a:rPr lang="en-US" dirty="0"/>
              <a:t>   ├Buffer Manager → Loads data into RAM</a:t>
            </a:r>
          </a:p>
          <a:p>
            <a:pPr marL="0" indent="0">
              <a:buNone/>
            </a:pPr>
            <a:r>
              <a:rPr lang="en-US" dirty="0"/>
              <a:t>   ├File Manager → Finds physical files/pages</a:t>
            </a:r>
          </a:p>
          <a:p>
            <a:pPr marL="0" indent="0">
              <a:buNone/>
            </a:pPr>
            <a:r>
              <a:rPr lang="en-US" dirty="0"/>
              <a:t>   ├Transaction Manager → Ensures safe execution</a:t>
            </a:r>
          </a:p>
          <a:p>
            <a:pPr marL="0" indent="0">
              <a:buNone/>
            </a:pPr>
            <a:r>
              <a:rPr lang="en-US" dirty="0"/>
              <a:t>   └ Authorization &amp; Integrity Manager → Checks permissions/rules</a:t>
            </a:r>
          </a:p>
          <a:p>
            <a:pPr marL="0" indent="0">
              <a:buNone/>
            </a:pPr>
            <a:r>
              <a:rPr lang="en-US" dirty="0"/>
              <a:t>   ↓</a:t>
            </a:r>
          </a:p>
          <a:p>
            <a:pPr marL="0" indent="0">
              <a:buNone/>
            </a:pPr>
            <a:r>
              <a:rPr lang="en-US" dirty="0"/>
              <a:t>Disk Storage</a:t>
            </a:r>
          </a:p>
        </p:txBody>
      </p:sp>
      <p:pic>
        <p:nvPicPr>
          <p:cNvPr id="6" name="Picture 5">
            <a:extLst>
              <a:ext uri="{FF2B5EF4-FFF2-40B4-BE49-F238E27FC236}">
                <a16:creationId xmlns:a16="http://schemas.microsoft.com/office/drawing/2014/main" id="{A4D27C8C-4A7C-E9A8-E153-27E2B4B90E11}"/>
              </a:ext>
            </a:extLst>
          </p:cNvPr>
          <p:cNvPicPr>
            <a:picLocks noChangeAspect="1"/>
          </p:cNvPicPr>
          <p:nvPr/>
        </p:nvPicPr>
        <p:blipFill>
          <a:blip r:embed="rId3"/>
          <a:stretch>
            <a:fillRect/>
          </a:stretch>
        </p:blipFill>
        <p:spPr>
          <a:xfrm>
            <a:off x="4399156" y="229354"/>
            <a:ext cx="7590366" cy="6399291"/>
          </a:xfrm>
          <a:prstGeom prst="rect">
            <a:avLst/>
          </a:prstGeom>
        </p:spPr>
      </p:pic>
    </p:spTree>
    <p:extLst>
      <p:ext uri="{BB962C8B-B14F-4D97-AF65-F5344CB8AC3E}">
        <p14:creationId xmlns:p14="http://schemas.microsoft.com/office/powerpoint/2010/main" val="3761294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158B-3714-2C2F-3A26-78084686B2DD}"/>
              </a:ext>
            </a:extLst>
          </p:cNvPr>
          <p:cNvSpPr>
            <a:spLocks noGrp="1"/>
          </p:cNvSpPr>
          <p:nvPr>
            <p:ph type="title"/>
          </p:nvPr>
        </p:nvSpPr>
        <p:spPr/>
        <p:txBody>
          <a:bodyPr/>
          <a:lstStyle/>
          <a:p>
            <a:r>
              <a:rPr lang="en-US" dirty="0"/>
              <a:t>Buffer manager</a:t>
            </a:r>
          </a:p>
        </p:txBody>
      </p:sp>
      <p:sp>
        <p:nvSpPr>
          <p:cNvPr id="3" name="Content Placeholder 2">
            <a:extLst>
              <a:ext uri="{FF2B5EF4-FFF2-40B4-BE49-F238E27FC236}">
                <a16:creationId xmlns:a16="http://schemas.microsoft.com/office/drawing/2014/main" id="{C23E696F-B193-5630-E8EB-EACDFFF3FD3E}"/>
              </a:ext>
            </a:extLst>
          </p:cNvPr>
          <p:cNvSpPr>
            <a:spLocks noGrp="1"/>
          </p:cNvSpPr>
          <p:nvPr>
            <p:ph idx="1"/>
          </p:nvPr>
        </p:nvSpPr>
        <p:spPr>
          <a:xfrm>
            <a:off x="677334" y="1930400"/>
            <a:ext cx="6731651" cy="4427780"/>
          </a:xfrm>
        </p:spPr>
        <p:txBody>
          <a:bodyPr>
            <a:normAutofit/>
          </a:bodyPr>
          <a:lstStyle/>
          <a:p>
            <a:r>
              <a:rPr lang="en-US" dirty="0"/>
              <a:t>The </a:t>
            </a:r>
            <a:r>
              <a:rPr lang="en-US" b="1" dirty="0"/>
              <a:t>Buffer Manager</a:t>
            </a:r>
            <a:r>
              <a:rPr lang="en-US" dirty="0"/>
              <a:t> manages the movement of data between: Disk storage (slow) </a:t>
            </a:r>
          </a:p>
          <a:p>
            <a:pPr marL="0" indent="0">
              <a:buNone/>
            </a:pPr>
            <a:r>
              <a:rPr lang="en-US" dirty="0"/>
              <a:t>And Main memory/RAM (fast) </a:t>
            </a:r>
          </a:p>
          <a:p>
            <a:r>
              <a:rPr lang="en-US" dirty="0"/>
              <a:t>It uses a temporary memory area called the </a:t>
            </a:r>
            <a:r>
              <a:rPr lang="en-US" b="1" dirty="0"/>
              <a:t>buffer</a:t>
            </a:r>
            <a:r>
              <a:rPr lang="en-US" dirty="0"/>
              <a:t>.</a:t>
            </a:r>
            <a:br>
              <a:rPr lang="en-US" dirty="0"/>
            </a:br>
            <a:endParaRPr lang="en-US" dirty="0"/>
          </a:p>
          <a:p>
            <a:pPr marL="0" indent="0">
              <a:buNone/>
            </a:pPr>
            <a:r>
              <a:rPr lang="en-US" b="1" u="sng" dirty="0"/>
              <a:t>Why It Is Needed</a:t>
            </a:r>
          </a:p>
          <a:p>
            <a:r>
              <a:rPr lang="en-US" dirty="0"/>
              <a:t>Accessing HDD/SSD repeatedly is slow.</a:t>
            </a:r>
          </a:p>
          <a:p>
            <a:r>
              <a:rPr lang="en-US" dirty="0"/>
              <a:t>So DBMS:</a:t>
            </a:r>
          </a:p>
          <a:p>
            <a:pPr lvl="1"/>
            <a:r>
              <a:rPr lang="en-US" dirty="0"/>
              <a:t>Loads frequently used data into RAM </a:t>
            </a:r>
          </a:p>
          <a:p>
            <a:pPr lvl="1"/>
            <a:r>
              <a:rPr lang="en-US" dirty="0"/>
              <a:t>Keeps it temporarily </a:t>
            </a:r>
          </a:p>
          <a:p>
            <a:pPr lvl="1"/>
            <a:r>
              <a:rPr lang="en-US" dirty="0"/>
              <a:t>Reuses it when needed </a:t>
            </a:r>
          </a:p>
          <a:p>
            <a:pPr lvl="1"/>
            <a:r>
              <a:rPr lang="en-US" dirty="0"/>
              <a:t>This greatly improves performance.</a:t>
            </a:r>
          </a:p>
          <a:p>
            <a:endParaRPr lang="en-US" dirty="0"/>
          </a:p>
        </p:txBody>
      </p:sp>
      <p:sp>
        <p:nvSpPr>
          <p:cNvPr id="7" name="Content Placeholder 2">
            <a:extLst>
              <a:ext uri="{FF2B5EF4-FFF2-40B4-BE49-F238E27FC236}">
                <a16:creationId xmlns:a16="http://schemas.microsoft.com/office/drawing/2014/main" id="{8B61A6E5-91D2-EEE9-E7CC-4ACF1322D039}"/>
              </a:ext>
            </a:extLst>
          </p:cNvPr>
          <p:cNvSpPr txBox="1">
            <a:spLocks/>
          </p:cNvSpPr>
          <p:nvPr/>
        </p:nvSpPr>
        <p:spPr>
          <a:xfrm>
            <a:off x="6057573" y="4144290"/>
            <a:ext cx="10914185" cy="67802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Responsibilities of Buffer Manager</a:t>
            </a:r>
          </a:p>
          <a:p>
            <a:pPr marL="800100" lvl="1" indent="-342900">
              <a:buAutoNum type="arabicPeriod"/>
            </a:pPr>
            <a:r>
              <a:rPr lang="en-US" b="1" dirty="0"/>
              <a:t>Bringing Data from Disk to Memory</a:t>
            </a:r>
          </a:p>
          <a:p>
            <a:pPr marL="800100" lvl="1" indent="-342900">
              <a:buAutoNum type="arabicPeriod"/>
            </a:pPr>
            <a:r>
              <a:rPr lang="en-US" b="1" dirty="0"/>
              <a:t>Managing Buffer Pool</a:t>
            </a:r>
          </a:p>
          <a:p>
            <a:pPr marL="800100" lvl="1" indent="-342900">
              <a:buAutoNum type="arabicPeriod"/>
            </a:pPr>
            <a:r>
              <a:rPr lang="en-US" b="1" dirty="0"/>
              <a:t>Replacing Old Pages</a:t>
            </a:r>
          </a:p>
          <a:p>
            <a:pPr marL="800100" lvl="1" indent="-342900">
              <a:buAutoNum type="arabicPeriod"/>
            </a:pPr>
            <a:r>
              <a:rPr lang="en-US" b="1" dirty="0"/>
              <a:t>Writing Modified Data Back to Disk</a:t>
            </a:r>
          </a:p>
        </p:txBody>
      </p:sp>
    </p:spTree>
    <p:extLst>
      <p:ext uri="{BB962C8B-B14F-4D97-AF65-F5344CB8AC3E}">
        <p14:creationId xmlns:p14="http://schemas.microsoft.com/office/powerpoint/2010/main" val="3867133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469F-4109-F034-364E-EFDE69646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40A21-0CE1-A75A-DE0C-1C29A90C2B78}"/>
              </a:ext>
            </a:extLst>
          </p:cNvPr>
          <p:cNvSpPr>
            <a:spLocks noGrp="1"/>
          </p:cNvSpPr>
          <p:nvPr>
            <p:ph type="title"/>
          </p:nvPr>
        </p:nvSpPr>
        <p:spPr/>
        <p:txBody>
          <a:bodyPr/>
          <a:lstStyle/>
          <a:p>
            <a:r>
              <a:rPr lang="en-US" dirty="0"/>
              <a:t>File manager</a:t>
            </a:r>
          </a:p>
        </p:txBody>
      </p:sp>
      <p:sp>
        <p:nvSpPr>
          <p:cNvPr id="3" name="Content Placeholder 2">
            <a:extLst>
              <a:ext uri="{FF2B5EF4-FFF2-40B4-BE49-F238E27FC236}">
                <a16:creationId xmlns:a16="http://schemas.microsoft.com/office/drawing/2014/main" id="{EB0C30A2-48C1-1DAD-12EE-B55118CE1599}"/>
              </a:ext>
            </a:extLst>
          </p:cNvPr>
          <p:cNvSpPr>
            <a:spLocks noGrp="1"/>
          </p:cNvSpPr>
          <p:nvPr>
            <p:ph idx="1"/>
          </p:nvPr>
        </p:nvSpPr>
        <p:spPr>
          <a:xfrm>
            <a:off x="677334" y="1930400"/>
            <a:ext cx="6731651" cy="4427780"/>
          </a:xfrm>
        </p:spPr>
        <p:txBody>
          <a:bodyPr>
            <a:normAutofit lnSpcReduction="10000"/>
          </a:bodyPr>
          <a:lstStyle/>
          <a:p>
            <a:r>
              <a:rPr lang="en-US" dirty="0"/>
              <a:t>The </a:t>
            </a:r>
            <a:r>
              <a:rPr lang="en-US" b="1" dirty="0"/>
              <a:t>File Manager</a:t>
            </a:r>
            <a:r>
              <a:rPr lang="en-US" dirty="0"/>
              <a:t> manages:</a:t>
            </a:r>
          </a:p>
          <a:p>
            <a:pPr lvl="1"/>
            <a:r>
              <a:rPr lang="en-US" dirty="0"/>
              <a:t>files </a:t>
            </a:r>
          </a:p>
          <a:p>
            <a:pPr lvl="1"/>
            <a:r>
              <a:rPr lang="en-US" dirty="0"/>
              <a:t>records </a:t>
            </a:r>
          </a:p>
          <a:p>
            <a:pPr lvl="1"/>
            <a:r>
              <a:rPr lang="en-US" dirty="0"/>
              <a:t>disk space allocation </a:t>
            </a:r>
          </a:p>
          <a:p>
            <a:pPr lvl="1"/>
            <a:r>
              <a:rPr lang="en-US" dirty="0"/>
              <a:t>physical organization of data </a:t>
            </a:r>
          </a:p>
          <a:p>
            <a:r>
              <a:rPr lang="en-US" dirty="0"/>
              <a:t>It controls how data is physically stored on storage devices.</a:t>
            </a:r>
            <a:br>
              <a:rPr lang="en-US" dirty="0"/>
            </a:br>
            <a:endParaRPr lang="en-US" dirty="0"/>
          </a:p>
          <a:p>
            <a:pPr marL="0" indent="0">
              <a:buNone/>
            </a:pPr>
            <a:r>
              <a:rPr lang="en-US" b="1" u="sng" dirty="0"/>
              <a:t>Real life analogy</a:t>
            </a:r>
          </a:p>
          <a:p>
            <a:pPr fontAlgn="ctr"/>
            <a:r>
              <a:rPr lang="en-US" dirty="0"/>
              <a:t>DBMS			Real Life</a:t>
            </a:r>
          </a:p>
          <a:p>
            <a:pPr fontAlgn="ctr"/>
            <a:r>
              <a:rPr lang="en-US" dirty="0"/>
              <a:t>File Manager	Librarian organizing bookshelves</a:t>
            </a:r>
          </a:p>
          <a:p>
            <a:pPr fontAlgn="ctr"/>
            <a:r>
              <a:rPr lang="en-US" dirty="0"/>
              <a:t>Files			Books</a:t>
            </a:r>
          </a:p>
          <a:p>
            <a:pPr fontAlgn="ctr"/>
            <a:r>
              <a:rPr lang="en-US" dirty="0"/>
              <a:t>Pages			Book pages</a:t>
            </a:r>
          </a:p>
          <a:p>
            <a:endParaRPr lang="en-US" dirty="0"/>
          </a:p>
        </p:txBody>
      </p:sp>
      <p:sp>
        <p:nvSpPr>
          <p:cNvPr id="7" name="Content Placeholder 2">
            <a:extLst>
              <a:ext uri="{FF2B5EF4-FFF2-40B4-BE49-F238E27FC236}">
                <a16:creationId xmlns:a16="http://schemas.microsoft.com/office/drawing/2014/main" id="{2A6E1982-95F9-E2AC-50C5-32D24A087BD3}"/>
              </a:ext>
            </a:extLst>
          </p:cNvPr>
          <p:cNvSpPr txBox="1">
            <a:spLocks/>
          </p:cNvSpPr>
          <p:nvPr/>
        </p:nvSpPr>
        <p:spPr>
          <a:xfrm>
            <a:off x="6734907" y="4288874"/>
            <a:ext cx="10914185" cy="67802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Responsibilities of File Manager</a:t>
            </a:r>
          </a:p>
          <a:p>
            <a:pPr marL="457200" lvl="1" indent="0">
              <a:buNone/>
            </a:pPr>
            <a:r>
              <a:rPr lang="en-US" dirty="0"/>
              <a:t>1. File Organization</a:t>
            </a:r>
          </a:p>
          <a:p>
            <a:pPr marL="457200" lvl="1" indent="0">
              <a:buNone/>
            </a:pPr>
            <a:r>
              <a:rPr lang="en-US" dirty="0"/>
              <a:t>2. Disk Space Allocation</a:t>
            </a:r>
          </a:p>
          <a:p>
            <a:pPr marL="457200" lvl="1" indent="0">
              <a:buNone/>
            </a:pPr>
            <a:r>
              <a:rPr lang="en-US" dirty="0"/>
              <a:t>3. Record Management</a:t>
            </a:r>
          </a:p>
          <a:p>
            <a:pPr marL="457200" lvl="1" indent="0">
              <a:buNone/>
            </a:pPr>
            <a:r>
              <a:rPr lang="en-US" dirty="0"/>
              <a:t>4. Page Management</a:t>
            </a:r>
          </a:p>
          <a:p>
            <a:pPr marL="457200" lvl="1" indent="0">
              <a:buNone/>
            </a:pPr>
            <a:r>
              <a:rPr lang="en-US" dirty="0"/>
              <a:t>5. Maintaining Index Files</a:t>
            </a:r>
          </a:p>
        </p:txBody>
      </p:sp>
    </p:spTree>
    <p:extLst>
      <p:ext uri="{BB962C8B-B14F-4D97-AF65-F5344CB8AC3E}">
        <p14:creationId xmlns:p14="http://schemas.microsoft.com/office/powerpoint/2010/main" val="298004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A82E-EA8E-E3AF-ED9C-0CB8A27AE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01819-334B-9EBF-4A74-9A076E3A5F7E}"/>
              </a:ext>
            </a:extLst>
          </p:cNvPr>
          <p:cNvSpPr>
            <a:spLocks noGrp="1"/>
          </p:cNvSpPr>
          <p:nvPr>
            <p:ph type="title"/>
          </p:nvPr>
        </p:nvSpPr>
        <p:spPr/>
        <p:txBody>
          <a:bodyPr/>
          <a:lstStyle/>
          <a:p>
            <a:r>
              <a:rPr lang="en-US" dirty="0"/>
              <a:t>Transaction manager</a:t>
            </a:r>
          </a:p>
        </p:txBody>
      </p:sp>
      <p:sp>
        <p:nvSpPr>
          <p:cNvPr id="3" name="Content Placeholder 2">
            <a:extLst>
              <a:ext uri="{FF2B5EF4-FFF2-40B4-BE49-F238E27FC236}">
                <a16:creationId xmlns:a16="http://schemas.microsoft.com/office/drawing/2014/main" id="{B949AE42-C23D-61EA-AD56-E9861B3BC09A}"/>
              </a:ext>
            </a:extLst>
          </p:cNvPr>
          <p:cNvSpPr>
            <a:spLocks noGrp="1"/>
          </p:cNvSpPr>
          <p:nvPr>
            <p:ph idx="1"/>
          </p:nvPr>
        </p:nvSpPr>
        <p:spPr>
          <a:xfrm>
            <a:off x="677334" y="1930400"/>
            <a:ext cx="6731651" cy="4427780"/>
          </a:xfrm>
        </p:spPr>
        <p:txBody>
          <a:bodyPr>
            <a:normAutofit fontScale="85000" lnSpcReduction="20000"/>
          </a:bodyPr>
          <a:lstStyle/>
          <a:p>
            <a:r>
              <a:rPr lang="en-US" dirty="0"/>
              <a:t>The </a:t>
            </a:r>
            <a:r>
              <a:rPr lang="en-US" b="1" dirty="0"/>
              <a:t>Transaction Manager</a:t>
            </a:r>
            <a:r>
              <a:rPr lang="en-US" dirty="0"/>
              <a:t> ensures that database transactions are:</a:t>
            </a:r>
          </a:p>
          <a:p>
            <a:pPr lvl="1"/>
            <a:r>
              <a:rPr lang="en-US" dirty="0"/>
              <a:t>safe </a:t>
            </a:r>
          </a:p>
          <a:p>
            <a:pPr lvl="1"/>
            <a:r>
              <a:rPr lang="en-US" dirty="0"/>
              <a:t>consistent </a:t>
            </a:r>
          </a:p>
          <a:p>
            <a:pPr lvl="1"/>
            <a:r>
              <a:rPr lang="en-US" dirty="0"/>
              <a:t>reliable </a:t>
            </a:r>
          </a:p>
          <a:p>
            <a:r>
              <a:rPr lang="en-US" dirty="0"/>
              <a:t>Especially when:</a:t>
            </a:r>
          </a:p>
          <a:p>
            <a:pPr lvl="1"/>
            <a:r>
              <a:rPr lang="en-US" dirty="0"/>
              <a:t>multiple users access data simultaneously </a:t>
            </a:r>
          </a:p>
          <a:p>
            <a:pPr lvl="1"/>
            <a:r>
              <a:rPr lang="en-US" dirty="0"/>
              <a:t>system crashes occur.</a:t>
            </a:r>
          </a:p>
          <a:p>
            <a:pPr marL="0" indent="0">
              <a:buNone/>
            </a:pPr>
            <a:r>
              <a:rPr lang="en-US" b="1" u="sng" dirty="0"/>
              <a:t>What is a Transaction?</a:t>
            </a:r>
          </a:p>
          <a:p>
            <a:r>
              <a:rPr lang="en-US" dirty="0"/>
              <a:t>A transaction is a logical unit of work.</a:t>
            </a:r>
          </a:p>
          <a:p>
            <a:r>
              <a:rPr lang="en-US" dirty="0"/>
              <a:t>Example:  </a:t>
            </a:r>
            <a:r>
              <a:rPr lang="en-US" i="1" dirty="0"/>
              <a:t>Transfer Rs. 500 from A to B</a:t>
            </a:r>
          </a:p>
          <a:p>
            <a:r>
              <a:rPr lang="en-US" dirty="0"/>
              <a:t>Steps:</a:t>
            </a:r>
          </a:p>
          <a:p>
            <a:pPr lvl="1"/>
            <a:r>
              <a:rPr lang="en-US" dirty="0"/>
              <a:t>Deduct from A </a:t>
            </a:r>
          </a:p>
          <a:p>
            <a:pPr lvl="1"/>
            <a:r>
              <a:rPr lang="en-US" dirty="0"/>
              <a:t>Add to B </a:t>
            </a:r>
          </a:p>
          <a:p>
            <a:r>
              <a:rPr lang="en-US" dirty="0"/>
              <a:t>Both must happen completely.</a:t>
            </a:r>
          </a:p>
        </p:txBody>
      </p:sp>
      <p:sp>
        <p:nvSpPr>
          <p:cNvPr id="7" name="Content Placeholder 2">
            <a:extLst>
              <a:ext uri="{FF2B5EF4-FFF2-40B4-BE49-F238E27FC236}">
                <a16:creationId xmlns:a16="http://schemas.microsoft.com/office/drawing/2014/main" id="{A0FDD679-A7C9-1494-AFF9-5441E7F67283}"/>
              </a:ext>
            </a:extLst>
          </p:cNvPr>
          <p:cNvSpPr txBox="1">
            <a:spLocks/>
          </p:cNvSpPr>
          <p:nvPr/>
        </p:nvSpPr>
        <p:spPr>
          <a:xfrm>
            <a:off x="6734907" y="4288874"/>
            <a:ext cx="10914185" cy="67802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Responsibilities of File Manager</a:t>
            </a:r>
          </a:p>
          <a:p>
            <a:pPr marL="457200" lvl="1" indent="0">
              <a:buNone/>
            </a:pPr>
            <a:r>
              <a:rPr lang="en-US" dirty="0"/>
              <a:t>1. File Organization</a:t>
            </a:r>
          </a:p>
          <a:p>
            <a:pPr marL="457200" lvl="1" indent="0">
              <a:buNone/>
            </a:pPr>
            <a:r>
              <a:rPr lang="en-US" dirty="0"/>
              <a:t>2. Disk Space Allocation</a:t>
            </a:r>
          </a:p>
          <a:p>
            <a:pPr marL="457200" lvl="1" indent="0">
              <a:buNone/>
            </a:pPr>
            <a:r>
              <a:rPr lang="en-US" dirty="0"/>
              <a:t>3. Record Management</a:t>
            </a:r>
          </a:p>
          <a:p>
            <a:pPr marL="457200" lvl="1" indent="0">
              <a:buNone/>
            </a:pPr>
            <a:r>
              <a:rPr lang="en-US" dirty="0"/>
              <a:t>4. Page Management</a:t>
            </a:r>
          </a:p>
          <a:p>
            <a:pPr marL="457200" lvl="1" indent="0">
              <a:buNone/>
            </a:pPr>
            <a:r>
              <a:rPr lang="en-US" dirty="0"/>
              <a:t>5. Maintaining Index Files</a:t>
            </a:r>
          </a:p>
        </p:txBody>
      </p:sp>
    </p:spTree>
    <p:extLst>
      <p:ext uri="{BB962C8B-B14F-4D97-AF65-F5344CB8AC3E}">
        <p14:creationId xmlns:p14="http://schemas.microsoft.com/office/powerpoint/2010/main" val="3063979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D5188-8AD4-4D2C-48A9-B72DB11EBB15}"/>
              </a:ext>
            </a:extLst>
          </p:cNvPr>
          <p:cNvSpPr>
            <a:spLocks noGrp="1"/>
          </p:cNvSpPr>
          <p:nvPr>
            <p:ph type="title"/>
          </p:nvPr>
        </p:nvSpPr>
        <p:spPr/>
        <p:txBody>
          <a:bodyPr/>
          <a:lstStyle/>
          <a:p>
            <a:r>
              <a:rPr lang="en-US" dirty="0"/>
              <a:t>Database Application Architecture</a:t>
            </a:r>
          </a:p>
        </p:txBody>
      </p:sp>
      <p:sp>
        <p:nvSpPr>
          <p:cNvPr id="3" name="Content Placeholder 2">
            <a:extLst>
              <a:ext uri="{FF2B5EF4-FFF2-40B4-BE49-F238E27FC236}">
                <a16:creationId xmlns:a16="http://schemas.microsoft.com/office/drawing/2014/main" id="{FDA61745-2A84-2177-D3EF-3D7E16C357C8}"/>
              </a:ext>
            </a:extLst>
          </p:cNvPr>
          <p:cNvSpPr>
            <a:spLocks noGrp="1"/>
          </p:cNvSpPr>
          <p:nvPr>
            <p:ph idx="1"/>
          </p:nvPr>
        </p:nvSpPr>
        <p:spPr/>
        <p:txBody>
          <a:bodyPr/>
          <a:lstStyle/>
          <a:p>
            <a:pPr marL="0" indent="0">
              <a:lnSpc>
                <a:spcPts val="1440"/>
              </a:lnSpc>
              <a:buClr>
                <a:schemeClr val="tx1"/>
              </a:buClr>
              <a:buSzPct val="71000"/>
              <a:buNone/>
              <a:tabLst>
                <a:tab pos="457200" algn="l"/>
              </a:tabLst>
            </a:pPr>
            <a:endParaRPr lang="en-GB" dirty="0">
              <a:solidFill>
                <a:srgbClr val="222222"/>
              </a:solidFill>
              <a:latin typeface="Times New Roman" panose="02020603050405020304" pitchFamily="18" charset="0"/>
              <a:cs typeface="Times New Roman" panose="02020603050405020304" pitchFamily="18" charset="0"/>
            </a:endParaRPr>
          </a:p>
          <a:p>
            <a:pPr marL="0" indent="0" algn="just">
              <a:buClr>
                <a:schemeClr val="tx1"/>
              </a:buClr>
              <a:buSzPct val="71000"/>
              <a:buNone/>
              <a:tabLst>
                <a:tab pos="457200" algn="l"/>
              </a:tabLst>
            </a:pPr>
            <a:r>
              <a:rPr lang="en-GB" dirty="0"/>
              <a:t>The DBMS design depends upon its architecture. The basic client/server architecture is used to deal with a large number of PCs, web servers, database servers and other components that are connected with networks.</a:t>
            </a:r>
            <a:endParaRPr lang="en-US" dirty="0"/>
          </a:p>
          <a:p>
            <a:pPr marL="0" indent="0" algn="just">
              <a:buClr>
                <a:schemeClr val="tx1"/>
              </a:buClr>
              <a:buSzPct val="71000"/>
              <a:buNone/>
              <a:tabLst>
                <a:tab pos="457200" algn="l"/>
              </a:tabLst>
            </a:pPr>
            <a:r>
              <a:rPr lang="en-GB" dirty="0"/>
              <a:t>The client/server architecture consists of many PCs and a workstation which are connected via the network.</a:t>
            </a:r>
            <a:endParaRPr lang="en-US" dirty="0"/>
          </a:p>
          <a:p>
            <a:pPr marL="0" indent="0" algn="just">
              <a:buClr>
                <a:schemeClr val="tx1"/>
              </a:buClr>
              <a:buSzPct val="71000"/>
              <a:buNone/>
              <a:tabLst>
                <a:tab pos="457200" algn="l"/>
              </a:tabLst>
            </a:pPr>
            <a:r>
              <a:rPr lang="en-GB" dirty="0"/>
              <a:t>DBMS architecture depends upon how users are connected to the database to get their request done.</a:t>
            </a:r>
            <a:endParaRPr lang="en-US" dirty="0"/>
          </a:p>
        </p:txBody>
      </p:sp>
    </p:spTree>
    <p:extLst>
      <p:ext uri="{BB962C8B-B14F-4D97-AF65-F5344CB8AC3E}">
        <p14:creationId xmlns:p14="http://schemas.microsoft.com/office/powerpoint/2010/main" val="23313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282AD-9B82-79FE-8C59-94162B6DE8C9}"/>
              </a:ext>
            </a:extLst>
          </p:cNvPr>
          <p:cNvSpPr>
            <a:spLocks noGrp="1"/>
          </p:cNvSpPr>
          <p:nvPr>
            <p:ph type="title"/>
          </p:nvPr>
        </p:nvSpPr>
        <p:spPr/>
        <p:txBody>
          <a:bodyPr/>
          <a:lstStyle/>
          <a:p>
            <a:r>
              <a:rPr lang="en-US" dirty="0"/>
              <a:t>Two-Tier Architecture</a:t>
            </a:r>
          </a:p>
        </p:txBody>
      </p:sp>
      <p:sp>
        <p:nvSpPr>
          <p:cNvPr id="3" name="Content Placeholder 2">
            <a:extLst>
              <a:ext uri="{FF2B5EF4-FFF2-40B4-BE49-F238E27FC236}">
                <a16:creationId xmlns:a16="http://schemas.microsoft.com/office/drawing/2014/main" id="{2BC38955-FAEA-EA93-318F-1E85C44E3CD0}"/>
              </a:ext>
            </a:extLst>
          </p:cNvPr>
          <p:cNvSpPr>
            <a:spLocks noGrp="1"/>
          </p:cNvSpPr>
          <p:nvPr>
            <p:ph idx="1"/>
          </p:nvPr>
        </p:nvSpPr>
        <p:spPr/>
        <p:txBody>
          <a:bodyPr/>
          <a:lstStyle/>
          <a:p>
            <a:r>
              <a:rPr lang="en-US" dirty="0"/>
              <a:t>Client directly communicates with database server </a:t>
            </a:r>
          </a:p>
          <a:p>
            <a:r>
              <a:rPr lang="en-US" dirty="0"/>
              <a:t>Example: </a:t>
            </a:r>
          </a:p>
          <a:p>
            <a:pPr lvl="1"/>
            <a:r>
              <a:rPr lang="en-US" dirty="0"/>
              <a:t>Desktop application </a:t>
            </a:r>
          </a:p>
          <a:p>
            <a:r>
              <a:rPr lang="en-US" b="1" dirty="0"/>
              <a:t>Advantages:</a:t>
            </a:r>
          </a:p>
          <a:p>
            <a:r>
              <a:rPr lang="en-US" dirty="0"/>
              <a:t>Simple </a:t>
            </a:r>
          </a:p>
          <a:p>
            <a:r>
              <a:rPr lang="en-US" b="1" dirty="0"/>
              <a:t>Disadvantages:</a:t>
            </a:r>
          </a:p>
          <a:p>
            <a:r>
              <a:rPr lang="en-US" dirty="0"/>
              <a:t>Less secure </a:t>
            </a:r>
          </a:p>
          <a:p>
            <a:r>
              <a:rPr lang="en-US" dirty="0"/>
              <a:t>Not scalable</a:t>
            </a:r>
          </a:p>
          <a:p>
            <a:endParaRPr lang="en-US" dirty="0"/>
          </a:p>
        </p:txBody>
      </p:sp>
      <p:pic>
        <p:nvPicPr>
          <p:cNvPr id="4" name="Picture 3" descr="DBMS Architecture">
            <a:extLst>
              <a:ext uri="{FF2B5EF4-FFF2-40B4-BE49-F238E27FC236}">
                <a16:creationId xmlns:a16="http://schemas.microsoft.com/office/drawing/2014/main" id="{A00E765D-8726-376A-33C1-DBC6A635FCBA}"/>
              </a:ext>
            </a:extLst>
          </p:cNvPr>
          <p:cNvPicPr>
            <a:picLocks noChangeAspect="1"/>
          </p:cNvPicPr>
          <p:nvPr/>
        </p:nvPicPr>
        <p:blipFill>
          <a:blip r:embed="rId3"/>
          <a:srcRect/>
          <a:stretch>
            <a:fillRect/>
          </a:stretch>
        </p:blipFill>
        <p:spPr bwMode="auto">
          <a:xfrm>
            <a:off x="6802755" y="2067560"/>
            <a:ext cx="4220625" cy="3901123"/>
          </a:xfrm>
          <a:prstGeom prst="rect">
            <a:avLst/>
          </a:prstGeom>
          <a:noFill/>
          <a:ln w="9525">
            <a:noFill/>
            <a:miter lim="800000"/>
            <a:headEnd/>
            <a:tailEnd/>
          </a:ln>
        </p:spPr>
      </p:pic>
    </p:spTree>
    <p:extLst>
      <p:ext uri="{BB962C8B-B14F-4D97-AF65-F5344CB8AC3E}">
        <p14:creationId xmlns:p14="http://schemas.microsoft.com/office/powerpoint/2010/main" val="557762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7F5E-4E48-CDB9-F598-C98C09291D1E}"/>
              </a:ext>
            </a:extLst>
          </p:cNvPr>
          <p:cNvSpPr>
            <a:spLocks noGrp="1"/>
          </p:cNvSpPr>
          <p:nvPr>
            <p:ph type="title"/>
          </p:nvPr>
        </p:nvSpPr>
        <p:spPr/>
        <p:txBody>
          <a:bodyPr/>
          <a:lstStyle/>
          <a:p>
            <a:r>
              <a:rPr lang="en-US" dirty="0"/>
              <a:t>Three-Tier Architecture</a:t>
            </a:r>
          </a:p>
        </p:txBody>
      </p:sp>
      <p:sp>
        <p:nvSpPr>
          <p:cNvPr id="3" name="Content Placeholder 2">
            <a:extLst>
              <a:ext uri="{FF2B5EF4-FFF2-40B4-BE49-F238E27FC236}">
                <a16:creationId xmlns:a16="http://schemas.microsoft.com/office/drawing/2014/main" id="{1537D36B-8EFA-115D-DF19-3788DD35F9A3}"/>
              </a:ext>
            </a:extLst>
          </p:cNvPr>
          <p:cNvSpPr>
            <a:spLocks noGrp="1"/>
          </p:cNvSpPr>
          <p:nvPr>
            <p:ph idx="1"/>
          </p:nvPr>
        </p:nvSpPr>
        <p:spPr/>
        <p:txBody>
          <a:bodyPr/>
          <a:lstStyle/>
          <a:p>
            <a:r>
              <a:rPr lang="en-US" dirty="0"/>
              <a:t>Layers: </a:t>
            </a:r>
          </a:p>
          <a:p>
            <a:pPr lvl="1"/>
            <a:r>
              <a:rPr lang="en-US" dirty="0"/>
              <a:t>Presentation layer (UI) </a:t>
            </a:r>
          </a:p>
          <a:p>
            <a:pPr lvl="1"/>
            <a:r>
              <a:rPr lang="en-US" dirty="0"/>
              <a:t>Application layer (logic/ conceptual) </a:t>
            </a:r>
          </a:p>
          <a:p>
            <a:pPr lvl="1"/>
            <a:r>
              <a:rPr lang="en-US" dirty="0"/>
              <a:t>Database layer  (physical layer)</a:t>
            </a:r>
          </a:p>
          <a:p>
            <a:r>
              <a:rPr lang="en-US" b="1" dirty="0"/>
              <a:t>Advantages:</a:t>
            </a:r>
          </a:p>
          <a:p>
            <a:r>
              <a:rPr lang="en-US" dirty="0"/>
              <a:t>More secure </a:t>
            </a:r>
          </a:p>
          <a:p>
            <a:r>
              <a:rPr lang="en-US" dirty="0"/>
              <a:t>Scalable </a:t>
            </a:r>
          </a:p>
          <a:p>
            <a:r>
              <a:rPr lang="en-US" dirty="0"/>
              <a:t>Better performance</a:t>
            </a:r>
          </a:p>
          <a:p>
            <a:endParaRPr lang="en-US" dirty="0"/>
          </a:p>
        </p:txBody>
      </p:sp>
      <p:pic>
        <p:nvPicPr>
          <p:cNvPr id="6" name="Picture 5">
            <a:extLst>
              <a:ext uri="{FF2B5EF4-FFF2-40B4-BE49-F238E27FC236}">
                <a16:creationId xmlns:a16="http://schemas.microsoft.com/office/drawing/2014/main" id="{947AD905-7AB9-C17A-BFA0-F1714837A2D4}"/>
              </a:ext>
            </a:extLst>
          </p:cNvPr>
          <p:cNvPicPr>
            <a:picLocks noChangeAspect="1"/>
          </p:cNvPicPr>
          <p:nvPr/>
        </p:nvPicPr>
        <p:blipFill>
          <a:blip r:embed="rId3"/>
          <a:stretch>
            <a:fillRect/>
          </a:stretch>
        </p:blipFill>
        <p:spPr>
          <a:xfrm>
            <a:off x="5307980" y="1925987"/>
            <a:ext cx="6564909" cy="4264723"/>
          </a:xfrm>
          <a:prstGeom prst="rect">
            <a:avLst/>
          </a:prstGeom>
        </p:spPr>
      </p:pic>
    </p:spTree>
    <p:extLst>
      <p:ext uri="{BB962C8B-B14F-4D97-AF65-F5344CB8AC3E}">
        <p14:creationId xmlns:p14="http://schemas.microsoft.com/office/powerpoint/2010/main" val="406151463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481</TotalTime>
  <Words>5455</Words>
  <Application>Microsoft Office PowerPoint</Application>
  <PresentationFormat>Widescreen</PresentationFormat>
  <Paragraphs>910</Paragraphs>
  <Slides>31</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ADLaM Display</vt:lpstr>
      <vt:lpstr>Arial</vt:lpstr>
      <vt:lpstr>Arial</vt:lpstr>
      <vt:lpstr>Calibri</vt:lpstr>
      <vt:lpstr>Times New Roman</vt:lpstr>
      <vt:lpstr>Trebuchet MS</vt:lpstr>
      <vt:lpstr>Wingdings</vt:lpstr>
      <vt:lpstr>Wingdings 3</vt:lpstr>
      <vt:lpstr>Facet</vt:lpstr>
      <vt:lpstr>Unit 1 Introduction</vt:lpstr>
      <vt:lpstr>Contents </vt:lpstr>
      <vt:lpstr>Concept and Application</vt:lpstr>
      <vt:lpstr>Database</vt:lpstr>
      <vt:lpstr>Introduction to DBMS</vt:lpstr>
      <vt:lpstr>Purpose of DBMS</vt:lpstr>
      <vt:lpstr>Objectives and Evolution</vt:lpstr>
      <vt:lpstr>Application of DBMS</vt:lpstr>
      <vt:lpstr>Database System vs File System</vt:lpstr>
      <vt:lpstr>PowerPoint Presentation</vt:lpstr>
      <vt:lpstr>Advantage of DBMS over file system</vt:lpstr>
      <vt:lpstr>Storage Management</vt:lpstr>
      <vt:lpstr>Indexing</vt:lpstr>
      <vt:lpstr>View of the data</vt:lpstr>
      <vt:lpstr>Data Abstraction Levels</vt:lpstr>
      <vt:lpstr>Data Independence</vt:lpstr>
      <vt:lpstr>Data Independence</vt:lpstr>
      <vt:lpstr>Instances and Schemas</vt:lpstr>
      <vt:lpstr>Database Languages</vt:lpstr>
      <vt:lpstr>DDL (Data Definition Language)</vt:lpstr>
      <vt:lpstr>DDL</vt:lpstr>
      <vt:lpstr>DML (Data Manipulation Language)</vt:lpstr>
      <vt:lpstr>DML</vt:lpstr>
      <vt:lpstr>DCL (Data Control Language) and TCL (Transaction Control Language )</vt:lpstr>
      <vt:lpstr>Database System Architecture</vt:lpstr>
      <vt:lpstr>Buffer manager</vt:lpstr>
      <vt:lpstr>File manager</vt:lpstr>
      <vt:lpstr>Transaction manager</vt:lpstr>
      <vt:lpstr>Database Application Architecture</vt:lpstr>
      <vt:lpstr>Two-Tier Architecture</vt:lpstr>
      <vt:lpstr>Three-Tier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118</cp:revision>
  <dcterms:created xsi:type="dcterms:W3CDTF">2026-04-28T00:12:22Z</dcterms:created>
  <dcterms:modified xsi:type="dcterms:W3CDTF">2026-05-11T05:52:11Z</dcterms:modified>
</cp:coreProperties>
</file>