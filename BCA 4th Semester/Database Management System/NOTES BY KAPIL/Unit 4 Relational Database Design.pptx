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8" r:id="rId1"/>
  </p:sldMasterIdLst>
  <p:notesMasterIdLst>
    <p:notesMasterId r:id="rId82"/>
  </p:notesMasterIdLst>
  <p:sldIdLst>
    <p:sldId id="256" r:id="rId2"/>
    <p:sldId id="257" r:id="rId3"/>
    <p:sldId id="258" r:id="rId4"/>
    <p:sldId id="259" r:id="rId5"/>
    <p:sldId id="264" r:id="rId6"/>
    <p:sldId id="260" r:id="rId7"/>
    <p:sldId id="262" r:id="rId8"/>
    <p:sldId id="261" r:id="rId9"/>
    <p:sldId id="263" r:id="rId10"/>
    <p:sldId id="265" r:id="rId11"/>
    <p:sldId id="266" r:id="rId12"/>
    <p:sldId id="267" r:id="rId13"/>
    <p:sldId id="268" r:id="rId14"/>
    <p:sldId id="269" r:id="rId15"/>
    <p:sldId id="270" r:id="rId16"/>
    <p:sldId id="271" r:id="rId17"/>
    <p:sldId id="272" r:id="rId18"/>
    <p:sldId id="273" r:id="rId19"/>
    <p:sldId id="274" r:id="rId20"/>
    <p:sldId id="277" r:id="rId21"/>
    <p:sldId id="275" r:id="rId22"/>
    <p:sldId id="276" r:id="rId23"/>
    <p:sldId id="278" r:id="rId24"/>
    <p:sldId id="279" r:id="rId25"/>
    <p:sldId id="285" r:id="rId26"/>
    <p:sldId id="286" r:id="rId27"/>
    <p:sldId id="288" r:id="rId28"/>
    <p:sldId id="280" r:id="rId29"/>
    <p:sldId id="287" r:id="rId30"/>
    <p:sldId id="283" r:id="rId31"/>
    <p:sldId id="281" r:id="rId32"/>
    <p:sldId id="289" r:id="rId33"/>
    <p:sldId id="300" r:id="rId34"/>
    <p:sldId id="295" r:id="rId35"/>
    <p:sldId id="301" r:id="rId36"/>
    <p:sldId id="296" r:id="rId37"/>
    <p:sldId id="297" r:id="rId38"/>
    <p:sldId id="298" r:id="rId39"/>
    <p:sldId id="299" r:id="rId40"/>
    <p:sldId id="302" r:id="rId41"/>
    <p:sldId id="304" r:id="rId42"/>
    <p:sldId id="305" r:id="rId43"/>
    <p:sldId id="294" r:id="rId44"/>
    <p:sldId id="306" r:id="rId45"/>
    <p:sldId id="293" r:id="rId46"/>
    <p:sldId id="307" r:id="rId47"/>
    <p:sldId id="315" r:id="rId48"/>
    <p:sldId id="309" r:id="rId49"/>
    <p:sldId id="316" r:id="rId50"/>
    <p:sldId id="308" r:id="rId51"/>
    <p:sldId id="312" r:id="rId52"/>
    <p:sldId id="313" r:id="rId53"/>
    <p:sldId id="314" r:id="rId54"/>
    <p:sldId id="310" r:id="rId55"/>
    <p:sldId id="311" r:id="rId56"/>
    <p:sldId id="290" r:id="rId57"/>
    <p:sldId id="318" r:id="rId58"/>
    <p:sldId id="319" r:id="rId59"/>
    <p:sldId id="317" r:id="rId60"/>
    <p:sldId id="329" r:id="rId61"/>
    <p:sldId id="328" r:id="rId62"/>
    <p:sldId id="330" r:id="rId63"/>
    <p:sldId id="331" r:id="rId64"/>
    <p:sldId id="332" r:id="rId65"/>
    <p:sldId id="291" r:id="rId66"/>
    <p:sldId id="303" r:id="rId67"/>
    <p:sldId id="321" r:id="rId68"/>
    <p:sldId id="325" r:id="rId69"/>
    <p:sldId id="320" r:id="rId70"/>
    <p:sldId id="322" r:id="rId71"/>
    <p:sldId id="323" r:id="rId72"/>
    <p:sldId id="327" r:id="rId73"/>
    <p:sldId id="326" r:id="rId74"/>
    <p:sldId id="333" r:id="rId75"/>
    <p:sldId id="334" r:id="rId76"/>
    <p:sldId id="335" r:id="rId77"/>
    <p:sldId id="337" r:id="rId78"/>
    <p:sldId id="338" r:id="rId79"/>
    <p:sldId id="336" r:id="rId80"/>
    <p:sldId id="292" r:id="rId8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8906" autoAdjust="0"/>
  </p:normalViewPr>
  <p:slideViewPr>
    <p:cSldViewPr snapToGrid="0">
      <p:cViewPr varScale="1">
        <p:scale>
          <a:sx n="54" d="100"/>
          <a:sy n="54" d="100"/>
        </p:scale>
        <p:origin x="1356" y="72"/>
      </p:cViewPr>
      <p:guideLst/>
    </p:cSldViewPr>
  </p:slideViewPr>
  <p:notesTextViewPr>
    <p:cViewPr>
      <p:scale>
        <a:sx n="125" d="100"/>
        <a:sy n="125" d="100"/>
      </p:scale>
      <p:origin x="0" y="-288"/>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6D40D43-D0CA-44B5-8918-C234F955DB25}" type="datetimeFigureOut">
              <a:rPr lang="en-US" smtClean="0"/>
              <a:t>6/11/2026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2ED260-D111-491D-AB9F-FC8569A2A916}" type="slidenum">
              <a:rPr lang="en-US" smtClean="0"/>
              <a:t>‹#›</a:t>
            </a:fld>
            <a:endParaRPr lang="en-US"/>
          </a:p>
        </p:txBody>
      </p:sp>
    </p:spTree>
    <p:extLst>
      <p:ext uri="{BB962C8B-B14F-4D97-AF65-F5344CB8AC3E}">
        <p14:creationId xmlns:p14="http://schemas.microsoft.com/office/powerpoint/2010/main" val="19336856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www.upgrad.com/blog/integrity-constraints-in-dbms/" TargetMode="External"/><Relationship Id="rId2" Type="http://schemas.openxmlformats.org/officeDocument/2006/relationships/slide" Target="../slides/slide10.xml"/><Relationship Id="rId1" Type="http://schemas.openxmlformats.org/officeDocument/2006/relationships/notesMaster" Target="../notesMasters/notesMaster1.xml"/><Relationship Id="rId4" Type="http://schemas.openxmlformats.org/officeDocument/2006/relationships/hyperlink" Target="https://www.alooba.com/skills/concepts/database-design-160/data-integrity-constraints/" TargetMode="Externa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www.theknowledgeacademy.com/blog/integrity-constraints-in-dbms/" TargetMode="External"/><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Integrity constraints are rules that maintain the correctness and consistency of data stored in a database.</a:t>
            </a:r>
          </a:p>
        </p:txBody>
      </p:sp>
      <p:sp>
        <p:nvSpPr>
          <p:cNvPr id="4" name="Slide Number Placeholder 3"/>
          <p:cNvSpPr>
            <a:spLocks noGrp="1"/>
          </p:cNvSpPr>
          <p:nvPr>
            <p:ph type="sldNum" sz="quarter" idx="5"/>
          </p:nvPr>
        </p:nvSpPr>
        <p:spPr/>
        <p:txBody>
          <a:bodyPr/>
          <a:lstStyle/>
          <a:p>
            <a:fld id="{532ED260-D111-491D-AB9F-FC8569A2A916}" type="slidenum">
              <a:rPr lang="en-US" smtClean="0"/>
              <a:t>4</a:t>
            </a:fld>
            <a:endParaRPr lang="en-US"/>
          </a:p>
        </p:txBody>
      </p:sp>
    </p:spTree>
    <p:extLst>
      <p:ext uri="{BB962C8B-B14F-4D97-AF65-F5344CB8AC3E}">
        <p14:creationId xmlns:p14="http://schemas.microsoft.com/office/powerpoint/2010/main" val="36104015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domain constraint is a database rule that restricts the values that can be stored in an attribute to a predefined set, range, format, or data type. It ensures that only valid and meaningful data is entered into the database.</a:t>
            </a:r>
          </a:p>
          <a:p>
            <a:r>
              <a:rPr lang="en-US" dirty="0"/>
              <a:t>In other words, a domain constraint defines the </a:t>
            </a:r>
            <a:r>
              <a:rPr lang="en-US" b="1" dirty="0"/>
              <a:t>valid range, type, format, and permissible values</a:t>
            </a:r>
            <a:r>
              <a:rPr lang="en-US" dirty="0"/>
              <a:t> for an attribute.</a:t>
            </a:r>
          </a:p>
          <a:p>
            <a:endParaRPr lang="en-US" sz="1200" b="1" u="none" strike="noStrike" kern="1200" dirty="0">
              <a:solidFill>
                <a:schemeClr val="tx1"/>
              </a:solidFill>
              <a:effectLst/>
              <a:latin typeface="+mn-lt"/>
              <a:ea typeface="+mn-ea"/>
              <a:cs typeface="+mn-cs"/>
            </a:endParaRPr>
          </a:p>
          <a:p>
            <a:r>
              <a:rPr lang="en-US" sz="1200" b="1" u="none" strike="noStrike" kern="1200" dirty="0">
                <a:solidFill>
                  <a:schemeClr val="tx1"/>
                </a:solidFill>
                <a:effectLst/>
                <a:latin typeface="+mn-lt"/>
                <a:ea typeface="+mn-ea"/>
                <a:cs typeface="+mn-cs"/>
              </a:rPr>
              <a:t>Core Requirements of Domain Constraints</a:t>
            </a:r>
          </a:p>
          <a:p>
            <a:r>
              <a:rPr lang="en-US" sz="1200" b="1" u="none" strike="noStrike" kern="1200" dirty="0">
                <a:solidFill>
                  <a:schemeClr val="tx1"/>
                </a:solidFill>
                <a:effectLst/>
                <a:latin typeface="+mn-lt"/>
                <a:ea typeface="+mn-ea"/>
                <a:cs typeface="+mn-cs"/>
              </a:rPr>
              <a:t>Atomicity</a:t>
            </a:r>
            <a:r>
              <a:rPr lang="en-US" sz="1200" b="0" u="none" strike="noStrike" kern="1200" dirty="0">
                <a:solidFill>
                  <a:schemeClr val="tx1"/>
                </a:solidFill>
                <a:effectLst/>
                <a:latin typeface="+mn-lt"/>
                <a:ea typeface="+mn-ea"/>
                <a:cs typeface="+mn-cs"/>
              </a:rPr>
              <a:t>: Values must be indivisible or atomic units. Composite or multi-valued entries (like storing two phone numbers or a full address in a single field) violate domain constraints.</a:t>
            </a:r>
          </a:p>
          <a:p>
            <a:r>
              <a:rPr lang="en-US" sz="1200" b="1" u="none" strike="noStrike" kern="1200" dirty="0">
                <a:solidFill>
                  <a:schemeClr val="tx1"/>
                </a:solidFill>
                <a:effectLst/>
                <a:latin typeface="+mn-lt"/>
                <a:ea typeface="+mn-ea"/>
                <a:cs typeface="+mn-cs"/>
              </a:rPr>
              <a:t>Data Type Compliance</a:t>
            </a:r>
            <a:r>
              <a:rPr lang="en-US" sz="1200" b="0" u="none" strike="noStrike" kern="1200" dirty="0">
                <a:solidFill>
                  <a:schemeClr val="tx1"/>
                </a:solidFill>
                <a:effectLst/>
                <a:latin typeface="+mn-lt"/>
                <a:ea typeface="+mn-ea"/>
                <a:cs typeface="+mn-cs"/>
              </a:rPr>
              <a:t>: Every value must match the predetermined system data type (e.g., INT, VARCHAR, DATE) assigned to that specific column. </a:t>
            </a:r>
          </a:p>
          <a:p>
            <a:endParaRPr lang="en-US" sz="1200" b="1" u="none" strike="noStrike" kern="1200" dirty="0">
              <a:solidFill>
                <a:schemeClr val="tx1"/>
              </a:solidFill>
              <a:effectLst/>
              <a:latin typeface="+mn-lt"/>
              <a:ea typeface="+mn-ea"/>
              <a:cs typeface="+mn-cs"/>
            </a:endParaRPr>
          </a:p>
          <a:p>
            <a:endParaRPr lang="en-US" sz="1200" b="1" u="none" strike="noStrike" kern="1200" dirty="0">
              <a:solidFill>
                <a:schemeClr val="tx1"/>
              </a:solidFill>
              <a:effectLst/>
              <a:latin typeface="+mn-lt"/>
              <a:ea typeface="+mn-ea"/>
              <a:cs typeface="+mn-cs"/>
            </a:endParaRPr>
          </a:p>
          <a:p>
            <a:r>
              <a:rPr lang="en-US" sz="1200" b="1" u="none" strike="noStrike" kern="1200" dirty="0">
                <a:solidFill>
                  <a:schemeClr val="tx1"/>
                </a:solidFill>
                <a:effectLst/>
                <a:latin typeface="+mn-lt"/>
                <a:ea typeface="+mn-ea"/>
                <a:cs typeface="+mn-cs"/>
              </a:rPr>
              <a:t>Primary Types of Domain Constraints</a:t>
            </a:r>
          </a:p>
          <a:p>
            <a:r>
              <a:rPr lang="en-US" sz="1200" b="0" u="none" strike="noStrike" kern="1200" dirty="0">
                <a:solidFill>
                  <a:schemeClr val="tx1"/>
                </a:solidFill>
                <a:effectLst/>
                <a:latin typeface="+mn-lt"/>
                <a:ea typeface="+mn-ea"/>
                <a:cs typeface="+mn-cs"/>
              </a:rPr>
              <a:t>The database management system enforces specific attributes using a combination of data types and explicit constraints: </a:t>
            </a:r>
          </a:p>
          <a:p>
            <a:r>
              <a:rPr lang="en-US" sz="1200" b="1" u="none" strike="noStrike" kern="1200" dirty="0">
                <a:solidFill>
                  <a:schemeClr val="tx1"/>
                </a:solidFill>
                <a:effectLst/>
                <a:latin typeface="+mn-lt"/>
                <a:ea typeface="+mn-ea"/>
                <a:cs typeface="+mn-cs"/>
              </a:rPr>
              <a:t>Data Type Declarations</a:t>
            </a:r>
            <a:r>
              <a:rPr lang="en-US" sz="1200" b="0" u="none" strike="noStrike" kern="1200" dirty="0">
                <a:solidFill>
                  <a:schemeClr val="tx1"/>
                </a:solidFill>
                <a:effectLst/>
                <a:latin typeface="+mn-lt"/>
                <a:ea typeface="+mn-ea"/>
                <a:cs typeface="+mn-cs"/>
              </a:rPr>
              <a:t>: Formally defines the category of data. Setting an Age attribute to INT blocks any character string input.</a:t>
            </a:r>
          </a:p>
          <a:p>
            <a:r>
              <a:rPr lang="en-US" sz="1200" b="1" u="none" strike="noStrike" kern="1200" dirty="0">
                <a:solidFill>
                  <a:schemeClr val="tx1"/>
                </a:solidFill>
                <a:effectLst/>
                <a:latin typeface="+mn-lt"/>
                <a:ea typeface="+mn-ea"/>
                <a:cs typeface="+mn-cs"/>
              </a:rPr>
              <a:t>NOT NULL</a:t>
            </a:r>
            <a:r>
              <a:rPr lang="en-US" sz="1200" b="0" u="none" strike="noStrike" kern="1200" dirty="0">
                <a:solidFill>
                  <a:schemeClr val="tx1"/>
                </a:solidFill>
                <a:effectLst/>
                <a:latin typeface="+mn-lt"/>
                <a:ea typeface="+mn-ea"/>
                <a:cs typeface="+mn-cs"/>
              </a:rPr>
              <a:t>: Prevents a column from accepting empty or missing values. Essential fields like </a:t>
            </a:r>
            <a:r>
              <a:rPr lang="en-US" sz="1200" b="0" u="none" strike="noStrike" kern="1200" dirty="0" err="1">
                <a:solidFill>
                  <a:schemeClr val="tx1"/>
                </a:solidFill>
                <a:effectLst/>
                <a:latin typeface="+mn-lt"/>
                <a:ea typeface="+mn-ea"/>
                <a:cs typeface="+mn-cs"/>
              </a:rPr>
              <a:t>customer_name</a:t>
            </a:r>
            <a:r>
              <a:rPr lang="en-US" sz="1200" b="0" u="none" strike="noStrike" kern="1200" dirty="0">
                <a:solidFill>
                  <a:schemeClr val="tx1"/>
                </a:solidFill>
                <a:effectLst/>
                <a:latin typeface="+mn-lt"/>
                <a:ea typeface="+mn-ea"/>
                <a:cs typeface="+mn-cs"/>
              </a:rPr>
              <a:t> or </a:t>
            </a:r>
            <a:r>
              <a:rPr lang="en-US" sz="1200" b="0" u="none" strike="noStrike" kern="1200" dirty="0" err="1">
                <a:solidFill>
                  <a:schemeClr val="tx1"/>
                </a:solidFill>
                <a:effectLst/>
                <a:latin typeface="+mn-lt"/>
                <a:ea typeface="+mn-ea"/>
                <a:cs typeface="+mn-cs"/>
              </a:rPr>
              <a:t>employee_id</a:t>
            </a:r>
            <a:r>
              <a:rPr lang="en-US" sz="1200" b="0" u="none" strike="noStrike" kern="1200" dirty="0">
                <a:solidFill>
                  <a:schemeClr val="tx1"/>
                </a:solidFill>
                <a:effectLst/>
                <a:latin typeface="+mn-lt"/>
                <a:ea typeface="+mn-ea"/>
                <a:cs typeface="+mn-cs"/>
              </a:rPr>
              <a:t> rely on this to maintain completeness.</a:t>
            </a:r>
          </a:p>
          <a:p>
            <a:r>
              <a:rPr lang="en-US" sz="1200" b="1" u="none" strike="noStrike" kern="1200" dirty="0">
                <a:solidFill>
                  <a:schemeClr val="tx1"/>
                </a:solidFill>
                <a:effectLst/>
                <a:latin typeface="+mn-lt"/>
                <a:ea typeface="+mn-ea"/>
                <a:cs typeface="+mn-cs"/>
              </a:rPr>
              <a:t>CHECK Constraints</a:t>
            </a:r>
            <a:r>
              <a:rPr lang="en-US" sz="1200" b="0" u="none" strike="noStrike" kern="1200" dirty="0">
                <a:solidFill>
                  <a:schemeClr val="tx1"/>
                </a:solidFill>
                <a:effectLst/>
                <a:latin typeface="+mn-lt"/>
                <a:ea typeface="+mn-ea"/>
                <a:cs typeface="+mn-cs"/>
              </a:rPr>
              <a:t>: Limits values across specific ranges or sets using a condition. For instance, restricting an Age column to only accept integers between 18 and 65 (CHECK (Age BETWEEN 18 AND 65)).</a:t>
            </a:r>
          </a:p>
          <a:p>
            <a:r>
              <a:rPr lang="en-US" sz="1200" b="1" u="none" strike="noStrike" kern="1200" dirty="0">
                <a:solidFill>
                  <a:schemeClr val="tx1"/>
                </a:solidFill>
                <a:effectLst/>
                <a:latin typeface="+mn-lt"/>
                <a:ea typeface="+mn-ea"/>
                <a:cs typeface="+mn-cs"/>
              </a:rPr>
              <a:t>UNIQUE</a:t>
            </a:r>
            <a:r>
              <a:rPr lang="en-US" sz="1200" b="0" u="none" strike="noStrike" kern="1200" dirty="0">
                <a:solidFill>
                  <a:schemeClr val="tx1"/>
                </a:solidFill>
                <a:effectLst/>
                <a:latin typeface="+mn-lt"/>
                <a:ea typeface="+mn-ea"/>
                <a:cs typeface="+mn-cs"/>
              </a:rPr>
              <a:t>: Ensures all values within the specified column are completely distinct from one another, preventing duplicate records.</a:t>
            </a:r>
          </a:p>
          <a:p>
            <a:r>
              <a:rPr lang="en-US" sz="1200" b="1" u="none" strike="noStrike" kern="1200" dirty="0">
                <a:solidFill>
                  <a:schemeClr val="tx1"/>
                </a:solidFill>
                <a:effectLst/>
                <a:latin typeface="+mn-lt"/>
                <a:ea typeface="+mn-ea"/>
                <a:cs typeface="+mn-cs"/>
              </a:rPr>
              <a:t>DEFAULT</a:t>
            </a:r>
            <a:r>
              <a:rPr lang="en-US" sz="1200" b="0" u="none" strike="noStrike" kern="1200" dirty="0">
                <a:solidFill>
                  <a:schemeClr val="tx1"/>
                </a:solidFill>
                <a:effectLst/>
                <a:latin typeface="+mn-lt"/>
                <a:ea typeface="+mn-ea"/>
                <a:cs typeface="+mn-cs"/>
              </a:rPr>
              <a:t>: Automatically populates a predefined value if the user provides no explicit entry during a row insertion. </a:t>
            </a:r>
          </a:p>
          <a:p>
            <a:r>
              <a:rPr lang="en-US" sz="1200" b="1" u="none" strike="noStrike" kern="1200" dirty="0">
                <a:solidFill>
                  <a:schemeClr val="tx1"/>
                </a:solidFill>
                <a:effectLst/>
                <a:latin typeface="+mn-lt"/>
                <a:ea typeface="+mn-ea"/>
                <a:cs typeface="+mn-cs"/>
              </a:rPr>
              <a:t>Implementing Domain Constraints in SQL</a:t>
            </a:r>
          </a:p>
          <a:p>
            <a:r>
              <a:rPr lang="en-US" sz="1200" b="0" u="none" strike="noStrike" kern="1200" dirty="0">
                <a:solidFill>
                  <a:schemeClr val="tx1"/>
                </a:solidFill>
                <a:effectLst/>
                <a:latin typeface="+mn-lt"/>
                <a:ea typeface="+mn-ea"/>
                <a:cs typeface="+mn-cs"/>
              </a:rPr>
              <a:t>Developers can view and implement domain constraints directly via SQL syntax during table definition. The following technical structure shows how domain restrictions are mapped to attributes</a:t>
            </a:r>
          </a:p>
          <a:p>
            <a:endParaRPr lang="en-US" dirty="0"/>
          </a:p>
        </p:txBody>
      </p:sp>
      <p:sp>
        <p:nvSpPr>
          <p:cNvPr id="4" name="Slide Number Placeholder 3"/>
          <p:cNvSpPr>
            <a:spLocks noGrp="1"/>
          </p:cNvSpPr>
          <p:nvPr>
            <p:ph type="sldNum" sz="quarter" idx="5"/>
          </p:nvPr>
        </p:nvSpPr>
        <p:spPr/>
        <p:txBody>
          <a:bodyPr/>
          <a:lstStyle/>
          <a:p>
            <a:fld id="{532ED260-D111-491D-AB9F-FC8569A2A916}" type="slidenum">
              <a:rPr lang="en-US" smtClean="0"/>
              <a:t>6</a:t>
            </a:fld>
            <a:endParaRPr lang="en-US"/>
          </a:p>
        </p:txBody>
      </p:sp>
    </p:spTree>
    <p:extLst>
      <p:ext uri="{BB962C8B-B14F-4D97-AF65-F5344CB8AC3E}">
        <p14:creationId xmlns:p14="http://schemas.microsoft.com/office/powerpoint/2010/main" val="41300516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a:t>
            </a:r>
            <a:r>
              <a:rPr lang="en-US" b="1" dirty="0"/>
              <a:t>1. Data Type: </a:t>
            </a:r>
            <a:r>
              <a:rPr lang="en-US" dirty="0"/>
              <a:t>Specifies the kind of value.</a:t>
            </a:r>
          </a:p>
          <a:p>
            <a:r>
              <a:rPr lang="en-US" dirty="0"/>
              <a:t>Examples:</a:t>
            </a:r>
          </a:p>
          <a:p>
            <a:pPr rtl="0"/>
            <a:r>
              <a:rPr lang="en-US" sz="1200" kern="1200" dirty="0">
                <a:solidFill>
                  <a:schemeClr val="tx1"/>
                </a:solidFill>
                <a:latin typeface="+mn-lt"/>
                <a:ea typeface="+mn-ea"/>
                <a:cs typeface="+mn-cs"/>
              </a:rPr>
              <a:t>Age INT</a:t>
            </a:r>
            <a:br>
              <a:rPr lang="en-US" sz="1200" kern="1200" dirty="0">
                <a:solidFill>
                  <a:schemeClr val="tx1"/>
                </a:solidFill>
                <a:latin typeface="+mn-lt"/>
                <a:ea typeface="+mn-ea"/>
                <a:cs typeface="+mn-cs"/>
              </a:rPr>
            </a:br>
            <a:r>
              <a:rPr lang="en-US" sz="1200" kern="1200" dirty="0">
                <a:solidFill>
                  <a:schemeClr val="tx1"/>
                </a:solidFill>
                <a:latin typeface="+mn-lt"/>
                <a:ea typeface="+mn-ea"/>
                <a:cs typeface="+mn-cs"/>
              </a:rPr>
              <a:t>Name VARCHAR(50)</a:t>
            </a:r>
            <a:br>
              <a:rPr lang="en-US" sz="1200" kern="1200" dirty="0">
                <a:solidFill>
                  <a:schemeClr val="tx1"/>
                </a:solidFill>
                <a:latin typeface="+mn-lt"/>
                <a:ea typeface="+mn-ea"/>
                <a:cs typeface="+mn-cs"/>
              </a:rPr>
            </a:br>
            <a:r>
              <a:rPr lang="en-US" sz="1200" kern="1200" dirty="0">
                <a:solidFill>
                  <a:schemeClr val="tx1"/>
                </a:solidFill>
                <a:latin typeface="+mn-lt"/>
                <a:ea typeface="+mn-ea"/>
                <a:cs typeface="+mn-cs"/>
              </a:rPr>
              <a:t>Salary DECIMAL(10,2)</a:t>
            </a:r>
          </a:p>
          <a:p>
            <a:r>
              <a:rPr lang="en-US" dirty="0"/>
              <a:t>Valid:</a:t>
            </a:r>
          </a:p>
          <a:p>
            <a:pPr rtl="0"/>
            <a:r>
              <a:rPr lang="en-US" sz="1200" kern="1200" dirty="0">
                <a:solidFill>
                  <a:schemeClr val="tx1"/>
                </a:solidFill>
                <a:latin typeface="+mn-lt"/>
                <a:ea typeface="+mn-ea"/>
                <a:cs typeface="+mn-cs"/>
              </a:rPr>
              <a:t>Age = 25</a:t>
            </a:r>
          </a:p>
          <a:p>
            <a:r>
              <a:rPr lang="en-US" dirty="0"/>
              <a:t>Invalid:</a:t>
            </a:r>
          </a:p>
          <a:p>
            <a:pPr rtl="0"/>
            <a:r>
              <a:rPr lang="en-US" sz="1200" kern="1200" dirty="0">
                <a:solidFill>
                  <a:schemeClr val="tx1"/>
                </a:solidFill>
                <a:latin typeface="+mn-lt"/>
                <a:ea typeface="+mn-ea"/>
                <a:cs typeface="+mn-cs"/>
              </a:rPr>
              <a:t>Age = 'Twenty Five'</a:t>
            </a:r>
          </a:p>
          <a:p>
            <a:br>
              <a:rPr lang="en-US" dirty="0"/>
            </a:br>
            <a:endParaRPr lang="en-US" dirty="0"/>
          </a:p>
          <a:p>
            <a:r>
              <a:rPr lang="en-US" b="1" dirty="0"/>
              <a:t>2. Range of Values: </a:t>
            </a:r>
            <a:r>
              <a:rPr lang="en-US" dirty="0"/>
              <a:t>Restricts values within a specified interval.</a:t>
            </a:r>
          </a:p>
          <a:p>
            <a:r>
              <a:rPr lang="en-US" dirty="0"/>
              <a:t>Example:</a:t>
            </a:r>
          </a:p>
          <a:p>
            <a:pPr rtl="0"/>
            <a:r>
              <a:rPr lang="en-US" sz="1200" kern="1200" dirty="0">
                <a:solidFill>
                  <a:schemeClr val="tx1"/>
                </a:solidFill>
                <a:latin typeface="+mn-lt"/>
                <a:ea typeface="+mn-ea"/>
                <a:cs typeface="+mn-cs"/>
              </a:rPr>
              <a:t>Age INT CHECK(Age BETWEEN 18 AND 60)</a:t>
            </a:r>
          </a:p>
          <a:p>
            <a:r>
              <a:rPr lang="en-US" dirty="0"/>
              <a:t>Valid:</a:t>
            </a:r>
          </a:p>
          <a:p>
            <a:pPr rtl="0"/>
            <a:r>
              <a:rPr lang="en-US" sz="1200" kern="1200" dirty="0">
                <a:solidFill>
                  <a:schemeClr val="tx1"/>
                </a:solidFill>
                <a:latin typeface="+mn-lt"/>
                <a:ea typeface="+mn-ea"/>
                <a:cs typeface="+mn-cs"/>
              </a:rPr>
              <a:t>18</a:t>
            </a:r>
            <a:br>
              <a:rPr lang="en-US" sz="1200" kern="1200" dirty="0">
                <a:solidFill>
                  <a:schemeClr val="tx1"/>
                </a:solidFill>
                <a:latin typeface="+mn-lt"/>
                <a:ea typeface="+mn-ea"/>
                <a:cs typeface="+mn-cs"/>
              </a:rPr>
            </a:br>
            <a:r>
              <a:rPr lang="en-US" sz="1200" kern="1200" dirty="0">
                <a:solidFill>
                  <a:schemeClr val="tx1"/>
                </a:solidFill>
                <a:latin typeface="+mn-lt"/>
                <a:ea typeface="+mn-ea"/>
                <a:cs typeface="+mn-cs"/>
              </a:rPr>
              <a:t>25</a:t>
            </a:r>
            <a:br>
              <a:rPr lang="en-US" sz="1200" kern="1200" dirty="0">
                <a:solidFill>
                  <a:schemeClr val="tx1"/>
                </a:solidFill>
                <a:latin typeface="+mn-lt"/>
                <a:ea typeface="+mn-ea"/>
                <a:cs typeface="+mn-cs"/>
              </a:rPr>
            </a:br>
            <a:r>
              <a:rPr lang="en-US" sz="1200" kern="1200" dirty="0">
                <a:solidFill>
                  <a:schemeClr val="tx1"/>
                </a:solidFill>
                <a:latin typeface="+mn-lt"/>
                <a:ea typeface="+mn-ea"/>
                <a:cs typeface="+mn-cs"/>
              </a:rPr>
              <a:t>60</a:t>
            </a:r>
          </a:p>
          <a:p>
            <a:r>
              <a:rPr lang="en-US" dirty="0"/>
              <a:t>Invalid:</a:t>
            </a:r>
          </a:p>
          <a:p>
            <a:pPr rtl="0"/>
            <a:r>
              <a:rPr lang="en-US" sz="1200" kern="1200" dirty="0">
                <a:solidFill>
                  <a:schemeClr val="tx1"/>
                </a:solidFill>
                <a:latin typeface="+mn-lt"/>
                <a:ea typeface="+mn-ea"/>
                <a:cs typeface="+mn-cs"/>
              </a:rPr>
              <a:t>10</a:t>
            </a:r>
            <a:br>
              <a:rPr lang="en-US" sz="1200" kern="1200" dirty="0">
                <a:solidFill>
                  <a:schemeClr val="tx1"/>
                </a:solidFill>
                <a:latin typeface="+mn-lt"/>
                <a:ea typeface="+mn-ea"/>
                <a:cs typeface="+mn-cs"/>
              </a:rPr>
            </a:br>
            <a:r>
              <a:rPr lang="en-US" sz="1200" kern="1200" dirty="0">
                <a:solidFill>
                  <a:schemeClr val="tx1"/>
                </a:solidFill>
                <a:latin typeface="+mn-lt"/>
                <a:ea typeface="+mn-ea"/>
                <a:cs typeface="+mn-cs"/>
              </a:rPr>
              <a:t>75</a:t>
            </a:r>
          </a:p>
          <a:p>
            <a:br>
              <a:rPr lang="en-US" dirty="0"/>
            </a:br>
            <a:endParaRPr lang="en-US" dirty="0"/>
          </a:p>
          <a:p>
            <a:r>
              <a:rPr lang="en-US" b="1" dirty="0"/>
              <a:t>3. Set of Allowed Values: </a:t>
            </a:r>
            <a:r>
              <a:rPr lang="en-US" dirty="0"/>
              <a:t>Only predefined values are accepted.</a:t>
            </a:r>
          </a:p>
          <a:p>
            <a:r>
              <a:rPr lang="en-US" dirty="0"/>
              <a:t>Example:</a:t>
            </a:r>
          </a:p>
          <a:p>
            <a:pPr rtl="0"/>
            <a:r>
              <a:rPr lang="en-US" sz="1200" kern="1200" dirty="0">
                <a:solidFill>
                  <a:schemeClr val="tx1"/>
                </a:solidFill>
                <a:latin typeface="+mn-lt"/>
                <a:ea typeface="+mn-ea"/>
                <a:cs typeface="+mn-cs"/>
              </a:rPr>
              <a:t>Gender VARCHAR(10)</a:t>
            </a:r>
            <a:br>
              <a:rPr lang="en-US" sz="1200" kern="1200" dirty="0">
                <a:solidFill>
                  <a:schemeClr val="tx1"/>
                </a:solidFill>
                <a:latin typeface="+mn-lt"/>
                <a:ea typeface="+mn-ea"/>
                <a:cs typeface="+mn-cs"/>
              </a:rPr>
            </a:br>
            <a:r>
              <a:rPr lang="en-US" sz="1200" kern="1200" dirty="0">
                <a:solidFill>
                  <a:schemeClr val="tx1"/>
                </a:solidFill>
                <a:latin typeface="+mn-lt"/>
                <a:ea typeface="+mn-ea"/>
                <a:cs typeface="+mn-cs"/>
              </a:rPr>
              <a:t>CHECK(Gender IN ('</a:t>
            </a:r>
            <a:r>
              <a:rPr lang="en-US" sz="1200" kern="1200" dirty="0" err="1">
                <a:solidFill>
                  <a:schemeClr val="tx1"/>
                </a:solidFill>
                <a:latin typeface="+mn-lt"/>
                <a:ea typeface="+mn-ea"/>
                <a:cs typeface="+mn-cs"/>
              </a:rPr>
              <a:t>Male','Female','Other</a:t>
            </a:r>
            <a:r>
              <a:rPr lang="en-US" sz="1200" kern="1200" dirty="0">
                <a:solidFill>
                  <a:schemeClr val="tx1"/>
                </a:solidFill>
                <a:latin typeface="+mn-lt"/>
                <a:ea typeface="+mn-ea"/>
                <a:cs typeface="+mn-cs"/>
              </a:rPr>
              <a:t>'))</a:t>
            </a:r>
          </a:p>
          <a:p>
            <a:r>
              <a:rPr lang="en-US" dirty="0"/>
              <a:t>Valid:</a:t>
            </a:r>
          </a:p>
          <a:p>
            <a:pPr rtl="0"/>
            <a:r>
              <a:rPr lang="en-US" sz="1200" kern="1200" dirty="0">
                <a:solidFill>
                  <a:schemeClr val="tx1"/>
                </a:solidFill>
                <a:latin typeface="+mn-lt"/>
                <a:ea typeface="+mn-ea"/>
                <a:cs typeface="+mn-cs"/>
              </a:rPr>
              <a:t>Male</a:t>
            </a:r>
            <a:br>
              <a:rPr lang="en-US" sz="1200" kern="1200" dirty="0">
                <a:solidFill>
                  <a:schemeClr val="tx1"/>
                </a:solidFill>
                <a:latin typeface="+mn-lt"/>
                <a:ea typeface="+mn-ea"/>
                <a:cs typeface="+mn-cs"/>
              </a:rPr>
            </a:br>
            <a:r>
              <a:rPr lang="en-US" sz="1200" kern="1200" dirty="0">
                <a:solidFill>
                  <a:schemeClr val="tx1"/>
                </a:solidFill>
                <a:latin typeface="+mn-lt"/>
                <a:ea typeface="+mn-ea"/>
                <a:cs typeface="+mn-cs"/>
              </a:rPr>
              <a:t>Female</a:t>
            </a:r>
            <a:br>
              <a:rPr lang="en-US" sz="1200" kern="1200" dirty="0">
                <a:solidFill>
                  <a:schemeClr val="tx1"/>
                </a:solidFill>
                <a:latin typeface="+mn-lt"/>
                <a:ea typeface="+mn-ea"/>
                <a:cs typeface="+mn-cs"/>
              </a:rPr>
            </a:br>
            <a:r>
              <a:rPr lang="en-US" sz="1200" kern="1200" dirty="0">
                <a:solidFill>
                  <a:schemeClr val="tx1"/>
                </a:solidFill>
                <a:latin typeface="+mn-lt"/>
                <a:ea typeface="+mn-ea"/>
                <a:cs typeface="+mn-cs"/>
              </a:rPr>
              <a:t>Other</a:t>
            </a:r>
          </a:p>
          <a:p>
            <a:r>
              <a:rPr lang="en-US" dirty="0"/>
              <a:t>Invalid:</a:t>
            </a:r>
          </a:p>
          <a:p>
            <a:pPr rtl="0"/>
            <a:r>
              <a:rPr lang="en-US" sz="1200" kern="1200" dirty="0">
                <a:solidFill>
                  <a:schemeClr val="tx1"/>
                </a:solidFill>
                <a:latin typeface="+mn-lt"/>
                <a:ea typeface="+mn-ea"/>
                <a:cs typeface="+mn-cs"/>
              </a:rPr>
              <a:t>M</a:t>
            </a:r>
            <a:br>
              <a:rPr lang="en-US" sz="1200" kern="1200" dirty="0">
                <a:solidFill>
                  <a:schemeClr val="tx1"/>
                </a:solidFill>
                <a:latin typeface="+mn-lt"/>
                <a:ea typeface="+mn-ea"/>
                <a:cs typeface="+mn-cs"/>
              </a:rPr>
            </a:br>
            <a:r>
              <a:rPr lang="en-US" sz="1200" kern="1200" dirty="0">
                <a:solidFill>
                  <a:schemeClr val="tx1"/>
                </a:solidFill>
                <a:latin typeface="+mn-lt"/>
                <a:ea typeface="+mn-ea"/>
                <a:cs typeface="+mn-cs"/>
              </a:rPr>
              <a:t>Boy</a:t>
            </a:r>
            <a:br>
              <a:rPr lang="en-US" sz="1200" kern="1200" dirty="0">
                <a:solidFill>
                  <a:schemeClr val="tx1"/>
                </a:solidFill>
                <a:latin typeface="+mn-lt"/>
                <a:ea typeface="+mn-ea"/>
                <a:cs typeface="+mn-cs"/>
              </a:rPr>
            </a:br>
            <a:r>
              <a:rPr lang="en-US" sz="1200" kern="1200" dirty="0">
                <a:solidFill>
                  <a:schemeClr val="tx1"/>
                </a:solidFill>
                <a:latin typeface="+mn-lt"/>
                <a:ea typeface="+mn-ea"/>
                <a:cs typeface="+mn-cs"/>
              </a:rPr>
              <a:t>Unknown</a:t>
            </a:r>
          </a:p>
          <a:p>
            <a:br>
              <a:rPr lang="en-US" dirty="0"/>
            </a:br>
            <a:endParaRPr lang="en-US" dirty="0"/>
          </a:p>
          <a:p>
            <a:r>
              <a:rPr lang="en-US" b="1" dirty="0"/>
              <a:t>4. Format Restrictions: </a:t>
            </a:r>
            <a:r>
              <a:rPr lang="en-US" dirty="0"/>
              <a:t>Values must follow a specific pattern.</a:t>
            </a:r>
          </a:p>
          <a:p>
            <a:r>
              <a:rPr lang="en-US" dirty="0"/>
              <a:t>Example:</a:t>
            </a:r>
          </a:p>
          <a:p>
            <a:r>
              <a:rPr lang="en-US" dirty="0"/>
              <a:t>Phone number should contain exactly 10 digits.</a:t>
            </a:r>
          </a:p>
          <a:p>
            <a:pPr rtl="0"/>
            <a:r>
              <a:rPr lang="en-US" sz="1200" kern="1200" dirty="0">
                <a:solidFill>
                  <a:schemeClr val="tx1"/>
                </a:solidFill>
                <a:latin typeface="+mn-lt"/>
                <a:ea typeface="+mn-ea"/>
                <a:cs typeface="+mn-cs"/>
              </a:rPr>
              <a:t>Phone CHAR(10)</a:t>
            </a:r>
          </a:p>
          <a:p>
            <a:r>
              <a:rPr lang="en-US" dirty="0"/>
              <a:t>Possible validation:</a:t>
            </a:r>
          </a:p>
          <a:p>
            <a:pPr rtl="0"/>
            <a:r>
              <a:rPr lang="en-US" sz="1200" kern="1200" dirty="0">
                <a:solidFill>
                  <a:schemeClr val="tx1"/>
                </a:solidFill>
                <a:latin typeface="+mn-lt"/>
                <a:ea typeface="+mn-ea"/>
                <a:cs typeface="+mn-cs"/>
              </a:rPr>
              <a:t>CHECK(LENGTH(Phone)=10)</a:t>
            </a:r>
          </a:p>
          <a:p>
            <a:br>
              <a:rPr lang="en-US" dirty="0"/>
            </a:br>
            <a:endParaRPr lang="en-US" dirty="0"/>
          </a:p>
          <a:p>
            <a:r>
              <a:rPr lang="en-US" b="1" dirty="0"/>
              <a:t>5. NULL Restrictions: </a:t>
            </a:r>
            <a:r>
              <a:rPr lang="en-US" dirty="0"/>
              <a:t>A domain may prohibit missing values.</a:t>
            </a:r>
          </a:p>
          <a:p>
            <a:r>
              <a:rPr lang="en-US" dirty="0"/>
              <a:t>Example:</a:t>
            </a:r>
          </a:p>
          <a:p>
            <a:pPr rtl="0"/>
            <a:r>
              <a:rPr lang="en-US" sz="1200" kern="1200" dirty="0">
                <a:solidFill>
                  <a:schemeClr val="tx1"/>
                </a:solidFill>
                <a:latin typeface="+mn-lt"/>
                <a:ea typeface="+mn-ea"/>
                <a:cs typeface="+mn-cs"/>
              </a:rPr>
              <a:t>Name VARCHAR(50) NOT NULL</a:t>
            </a:r>
          </a:p>
          <a:p>
            <a:r>
              <a:rPr lang="en-US" dirty="0"/>
              <a:t>Valid:</a:t>
            </a:r>
          </a:p>
          <a:p>
            <a:pPr rtl="0"/>
            <a:r>
              <a:rPr lang="en-US" sz="1200" kern="1200" dirty="0">
                <a:solidFill>
                  <a:schemeClr val="tx1"/>
                </a:solidFill>
                <a:latin typeface="+mn-lt"/>
                <a:ea typeface="+mn-ea"/>
                <a:cs typeface="+mn-cs"/>
              </a:rPr>
              <a:t>Ram</a:t>
            </a:r>
          </a:p>
          <a:p>
            <a:r>
              <a:rPr lang="en-US" dirty="0"/>
              <a:t>Invalid:</a:t>
            </a:r>
          </a:p>
          <a:p>
            <a:pPr rtl="0"/>
            <a:r>
              <a:rPr lang="en-US" sz="1200" kern="1200" dirty="0">
                <a:solidFill>
                  <a:schemeClr val="tx1"/>
                </a:solidFill>
                <a:latin typeface="+mn-lt"/>
                <a:ea typeface="+mn-ea"/>
                <a:cs typeface="+mn-cs"/>
              </a:rPr>
              <a:t>NULL</a:t>
            </a:r>
          </a:p>
          <a:p>
            <a:endParaRPr lang="en-US" dirty="0"/>
          </a:p>
        </p:txBody>
      </p:sp>
      <p:sp>
        <p:nvSpPr>
          <p:cNvPr id="4" name="Slide Number Placeholder 3"/>
          <p:cNvSpPr>
            <a:spLocks noGrp="1"/>
          </p:cNvSpPr>
          <p:nvPr>
            <p:ph type="sldNum" sz="quarter" idx="5"/>
          </p:nvPr>
        </p:nvSpPr>
        <p:spPr/>
        <p:txBody>
          <a:bodyPr/>
          <a:lstStyle/>
          <a:p>
            <a:fld id="{532ED260-D111-491D-AB9F-FC8569A2A916}" type="slidenum">
              <a:rPr lang="en-US" smtClean="0"/>
              <a:t>7</a:t>
            </a:fld>
            <a:endParaRPr lang="en-US"/>
          </a:p>
        </p:txBody>
      </p:sp>
    </p:spTree>
    <p:extLst>
      <p:ext uri="{BB962C8B-B14F-4D97-AF65-F5344CB8AC3E}">
        <p14:creationId xmlns:p14="http://schemas.microsoft.com/office/powerpoint/2010/main" val="2903067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AttributeDomainRoll_NoPositive</a:t>
            </a:r>
            <a:r>
              <a:rPr lang="en-US" dirty="0"/>
              <a:t> </a:t>
            </a:r>
            <a:r>
              <a:rPr lang="en-US" dirty="0" err="1"/>
              <a:t>IntegerNameMaximum</a:t>
            </a:r>
            <a:r>
              <a:rPr lang="en-US" dirty="0"/>
              <a:t> 50 CharactersSemester1–8CGPA0–4EmailValid Email Format</a:t>
            </a:r>
          </a:p>
          <a:p>
            <a:endParaRPr lang="en-US" dirty="0"/>
          </a:p>
          <a:p>
            <a:r>
              <a:rPr lang="en-US" dirty="0"/>
              <a:t>CREATE TABLE Student(</a:t>
            </a:r>
          </a:p>
          <a:p>
            <a:r>
              <a:rPr lang="en-US" dirty="0"/>
              <a:t>    </a:t>
            </a:r>
            <a:r>
              <a:rPr lang="en-US" dirty="0" err="1"/>
              <a:t>Roll_No</a:t>
            </a:r>
            <a:r>
              <a:rPr lang="en-US" dirty="0"/>
              <a:t> INT,</a:t>
            </a:r>
          </a:p>
          <a:p>
            <a:r>
              <a:rPr lang="en-US" dirty="0"/>
              <a:t>    Name VARCHAR(50),</a:t>
            </a:r>
          </a:p>
          <a:p>
            <a:r>
              <a:rPr lang="en-US" dirty="0"/>
              <a:t>    Semester INT CHECK(Semester BETWEEN 1 AND 8),</a:t>
            </a:r>
          </a:p>
          <a:p>
            <a:r>
              <a:rPr lang="en-US" dirty="0"/>
              <a:t>    CGPA DECIMAL(3,2)</a:t>
            </a:r>
          </a:p>
          <a:p>
            <a:r>
              <a:rPr lang="en-US" dirty="0"/>
              <a:t>    CHECK(CGPA BETWEEN 0 AND 4)</a:t>
            </a:r>
          </a:p>
          <a:p>
            <a:r>
              <a:rPr lang="en-US" dirty="0"/>
              <a:t>);</a:t>
            </a:r>
          </a:p>
          <a:p>
            <a:endParaRPr lang="en-US" dirty="0"/>
          </a:p>
          <a:p>
            <a:endParaRPr lang="en-US" dirty="0"/>
          </a:p>
        </p:txBody>
      </p:sp>
      <p:sp>
        <p:nvSpPr>
          <p:cNvPr id="4" name="Slide Number Placeholder 3"/>
          <p:cNvSpPr>
            <a:spLocks noGrp="1"/>
          </p:cNvSpPr>
          <p:nvPr>
            <p:ph type="sldNum" sz="quarter" idx="5"/>
          </p:nvPr>
        </p:nvSpPr>
        <p:spPr/>
        <p:txBody>
          <a:bodyPr/>
          <a:lstStyle/>
          <a:p>
            <a:fld id="{532ED260-D111-491D-AB9F-FC8569A2A916}" type="slidenum">
              <a:rPr lang="en-US" smtClean="0"/>
              <a:t>8</a:t>
            </a:fld>
            <a:endParaRPr lang="en-US"/>
          </a:p>
        </p:txBody>
      </p:sp>
    </p:spTree>
    <p:extLst>
      <p:ext uri="{BB962C8B-B14F-4D97-AF65-F5344CB8AC3E}">
        <p14:creationId xmlns:p14="http://schemas.microsoft.com/office/powerpoint/2010/main" val="32432134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u="none" strike="noStrike" kern="1200" dirty="0">
                <a:solidFill>
                  <a:schemeClr val="tx1"/>
                </a:solidFill>
                <a:effectLst/>
                <a:latin typeface="+mn-lt"/>
                <a:ea typeface="+mn-ea"/>
                <a:cs typeface="+mn-cs"/>
              </a:rPr>
              <a:t>An </a:t>
            </a:r>
            <a:r>
              <a:rPr lang="en-US" sz="1200" b="1" u="none" strike="noStrike" kern="1200" dirty="0">
                <a:solidFill>
                  <a:schemeClr val="tx1"/>
                </a:solidFill>
                <a:effectLst/>
                <a:latin typeface="+mn-lt"/>
                <a:ea typeface="+mn-ea"/>
                <a:cs typeface="+mn-cs"/>
              </a:rPr>
              <a:t>Entity Integrity Constraint</a:t>
            </a:r>
            <a:r>
              <a:rPr lang="en-US" dirty="0"/>
              <a:t> is a fundamental rule in a Database Management System (DBMS) stating that </a:t>
            </a:r>
            <a:r>
              <a:rPr lang="en-US" sz="1200" b="1" u="none" strike="noStrike" kern="1200" dirty="0">
                <a:solidFill>
                  <a:schemeClr val="tx1"/>
                </a:solidFill>
                <a:effectLst/>
                <a:latin typeface="+mn-lt"/>
                <a:ea typeface="+mn-ea"/>
                <a:cs typeface="+mn-cs"/>
              </a:rPr>
              <a:t>the primary key of a table must be entirely unique and cannot contain any NULL values</a:t>
            </a:r>
            <a:r>
              <a:rPr lang="en-US" dirty="0"/>
              <a:t>. Because a primary key uniquely identifies individual rows (entities) in a relational table, a </a:t>
            </a:r>
            <a:r>
              <a:rPr lang="en-US" sz="1200" b="0" u="none" strike="noStrike" kern="1200" dirty="0">
                <a:solidFill>
                  <a:schemeClr val="tx1"/>
                </a:solidFill>
                <a:effectLst/>
                <a:latin typeface="+mn-lt"/>
                <a:ea typeface="+mn-ea"/>
                <a:cs typeface="+mn-cs"/>
              </a:rPr>
              <a:t>NULL</a:t>
            </a:r>
            <a:r>
              <a:rPr lang="en-US" dirty="0"/>
              <a:t> or duplicate entry would make it impossible for the database to accurately locate or distinguish specific records</a:t>
            </a:r>
          </a:p>
          <a:p>
            <a:endParaRPr lang="en-US" dirty="0"/>
          </a:p>
          <a:p>
            <a:endParaRPr lang="en-US" dirty="0"/>
          </a:p>
          <a:p>
            <a:r>
              <a:rPr lang="en-US" sz="1200" b="1" u="none" strike="noStrike" kern="1200" dirty="0">
                <a:solidFill>
                  <a:schemeClr val="tx1"/>
                </a:solidFill>
                <a:effectLst/>
                <a:latin typeface="+mn-lt"/>
                <a:ea typeface="+mn-ea"/>
                <a:cs typeface="+mn-cs"/>
              </a:rPr>
              <a:t>Core Requirements</a:t>
            </a:r>
          </a:p>
          <a:p>
            <a:r>
              <a:rPr lang="en-US" sz="1200" b="0" u="none" strike="noStrike" kern="1200" dirty="0">
                <a:solidFill>
                  <a:schemeClr val="tx1"/>
                </a:solidFill>
                <a:effectLst/>
                <a:latin typeface="+mn-lt"/>
                <a:ea typeface="+mn-ea"/>
                <a:cs typeface="+mn-cs"/>
              </a:rPr>
              <a:t>To satisfy entity integrity, the designated primary key column(s) must meet two strict conditions</a:t>
            </a:r>
          </a:p>
          <a:p>
            <a:r>
              <a:rPr lang="en-US" sz="1200" b="1" u="none" strike="noStrike" kern="1200" dirty="0">
                <a:solidFill>
                  <a:schemeClr val="tx1"/>
                </a:solidFill>
                <a:effectLst/>
                <a:latin typeface="+mn-lt"/>
                <a:ea typeface="+mn-ea"/>
                <a:cs typeface="+mn-cs"/>
              </a:rPr>
              <a:t>Uniqueness</a:t>
            </a:r>
            <a:r>
              <a:rPr lang="en-US" sz="1200" b="0" u="none" strike="noStrike" kern="1200" dirty="0">
                <a:solidFill>
                  <a:schemeClr val="tx1"/>
                </a:solidFill>
                <a:effectLst/>
                <a:latin typeface="+mn-lt"/>
                <a:ea typeface="+mn-ea"/>
                <a:cs typeface="+mn-cs"/>
              </a:rPr>
              <a:t>: No two rows in the table can share the exact same primary key value.</a:t>
            </a:r>
          </a:p>
          <a:p>
            <a:r>
              <a:rPr lang="en-US" sz="1200" b="1" u="none" strike="noStrike" kern="1200" dirty="0">
                <a:solidFill>
                  <a:schemeClr val="tx1"/>
                </a:solidFill>
                <a:effectLst/>
                <a:latin typeface="+mn-lt"/>
                <a:ea typeface="+mn-ea"/>
                <a:cs typeface="+mn-cs"/>
              </a:rPr>
              <a:t>NOT NULL Property</a:t>
            </a:r>
            <a:r>
              <a:rPr lang="en-US" sz="1200" b="0" u="none" strike="noStrike" kern="1200" dirty="0">
                <a:solidFill>
                  <a:schemeClr val="tx1"/>
                </a:solidFill>
                <a:effectLst/>
                <a:latin typeface="+mn-lt"/>
                <a:ea typeface="+mn-ea"/>
                <a:cs typeface="+mn-cs"/>
              </a:rPr>
              <a:t>: The primary key field cannot be left blank or contain NULL, as a missing value cannot serve as a reliable identifier</a:t>
            </a:r>
          </a:p>
          <a:p>
            <a:endParaRPr lang="en-US" dirty="0"/>
          </a:p>
          <a:p>
            <a:endParaRPr lang="en-US" dirty="0"/>
          </a:p>
          <a:p>
            <a:r>
              <a:rPr lang="en-US" sz="1200" b="1" u="none" strike="noStrike" kern="1200" dirty="0">
                <a:solidFill>
                  <a:schemeClr val="tx1"/>
                </a:solidFill>
                <a:effectLst/>
                <a:latin typeface="+mn-lt"/>
                <a:ea typeface="+mn-ea"/>
                <a:cs typeface="+mn-cs"/>
              </a:rPr>
              <a:t>Why Entity Integrity Matters</a:t>
            </a:r>
          </a:p>
          <a:p>
            <a:r>
              <a:rPr lang="en-US" sz="1200" b="0" u="none" strike="noStrike" kern="1200" dirty="0">
                <a:solidFill>
                  <a:schemeClr val="tx1"/>
                </a:solidFill>
                <a:effectLst/>
                <a:latin typeface="+mn-lt"/>
                <a:ea typeface="+mn-ea"/>
                <a:cs typeface="+mn-cs"/>
              </a:rPr>
              <a:t>Implementing these constraints provides critical foundational benefits to database management: [</a:t>
            </a:r>
            <a:r>
              <a:rPr lang="en-US" sz="1200" b="0" u="none" strike="noStrike" kern="1200" dirty="0">
                <a:solidFill>
                  <a:schemeClr val="tx1"/>
                </a:solidFill>
                <a:effectLst/>
                <a:latin typeface="+mn-lt"/>
                <a:ea typeface="+mn-ea"/>
                <a:cs typeface="+mn-cs"/>
                <a:hlinkClick r:id="rId3"/>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4"/>
              </a:rPr>
              <a:t>2</a:t>
            </a:r>
            <a:r>
              <a:rPr lang="en-US" sz="1200" b="0" u="none" strike="noStrike" kern="1200" dirty="0">
                <a:solidFill>
                  <a:schemeClr val="tx1"/>
                </a:solidFill>
                <a:effectLst/>
                <a:latin typeface="+mn-lt"/>
                <a:ea typeface="+mn-ea"/>
                <a:cs typeface="+mn-cs"/>
              </a:rPr>
              <a:t>]</a:t>
            </a:r>
          </a:p>
          <a:p>
            <a:r>
              <a:rPr lang="en-US" sz="1200" b="1" u="none" strike="noStrike" kern="1200" dirty="0">
                <a:solidFill>
                  <a:schemeClr val="tx1"/>
                </a:solidFill>
                <a:effectLst/>
                <a:latin typeface="+mn-lt"/>
                <a:ea typeface="+mn-ea"/>
                <a:cs typeface="+mn-cs"/>
              </a:rPr>
              <a:t>Unique Identification</a:t>
            </a:r>
            <a:r>
              <a:rPr lang="en-US" sz="1200" b="0" u="none" strike="noStrike" kern="1200" dirty="0">
                <a:solidFill>
                  <a:schemeClr val="tx1"/>
                </a:solidFill>
                <a:effectLst/>
                <a:latin typeface="+mn-lt"/>
                <a:ea typeface="+mn-ea"/>
                <a:cs typeface="+mn-cs"/>
              </a:rPr>
              <a:t>: Guarantees a reliable method to fetch, update, or delete any specific record without affecting other rows.</a:t>
            </a:r>
          </a:p>
          <a:p>
            <a:r>
              <a:rPr lang="en-US" sz="1200" b="1" u="none" strike="noStrike" kern="1200" dirty="0">
                <a:solidFill>
                  <a:schemeClr val="tx1"/>
                </a:solidFill>
                <a:effectLst/>
                <a:latin typeface="+mn-lt"/>
                <a:ea typeface="+mn-ea"/>
                <a:cs typeface="+mn-cs"/>
              </a:rPr>
              <a:t>Elimination of Duplicates</a:t>
            </a:r>
            <a:r>
              <a:rPr lang="en-US" sz="1200" b="0" u="none" strike="noStrike" kern="1200" dirty="0">
                <a:solidFill>
                  <a:schemeClr val="tx1"/>
                </a:solidFill>
                <a:effectLst/>
                <a:latin typeface="+mn-lt"/>
                <a:ea typeface="+mn-ea"/>
                <a:cs typeface="+mn-cs"/>
              </a:rPr>
              <a:t>: Prevents redundant data entries, ensuring the overall database remains clean and trustworthy.</a:t>
            </a:r>
          </a:p>
          <a:p>
            <a:r>
              <a:rPr lang="en-US" sz="1200" b="1" u="none" strike="noStrike" kern="1200" dirty="0">
                <a:solidFill>
                  <a:schemeClr val="tx1"/>
                </a:solidFill>
                <a:effectLst/>
                <a:latin typeface="+mn-lt"/>
                <a:ea typeface="+mn-ea"/>
                <a:cs typeface="+mn-cs"/>
              </a:rPr>
              <a:t>Enables Relationships</a:t>
            </a:r>
            <a:r>
              <a:rPr lang="en-US" sz="1200" b="0" u="none" strike="noStrike" kern="1200" dirty="0">
                <a:solidFill>
                  <a:schemeClr val="tx1"/>
                </a:solidFill>
                <a:effectLst/>
                <a:latin typeface="+mn-lt"/>
                <a:ea typeface="+mn-ea"/>
                <a:cs typeface="+mn-cs"/>
              </a:rPr>
              <a:t>: Serves as the foundation for referential integrity, since foreign keys in other tables rely on a stable, predictable primary key to link data accurately</a:t>
            </a:r>
          </a:p>
          <a:p>
            <a:endParaRPr lang="en-US" dirty="0"/>
          </a:p>
        </p:txBody>
      </p:sp>
      <p:sp>
        <p:nvSpPr>
          <p:cNvPr id="4" name="Slide Number Placeholder 3"/>
          <p:cNvSpPr>
            <a:spLocks noGrp="1"/>
          </p:cNvSpPr>
          <p:nvPr>
            <p:ph type="sldNum" sz="quarter" idx="5"/>
          </p:nvPr>
        </p:nvSpPr>
        <p:spPr/>
        <p:txBody>
          <a:bodyPr/>
          <a:lstStyle/>
          <a:p>
            <a:fld id="{532ED260-D111-491D-AB9F-FC8569A2A916}" type="slidenum">
              <a:rPr lang="en-US" smtClean="0"/>
              <a:t>10</a:t>
            </a:fld>
            <a:endParaRPr lang="en-US"/>
          </a:p>
        </p:txBody>
      </p:sp>
    </p:spTree>
    <p:extLst>
      <p:ext uri="{BB962C8B-B14F-4D97-AF65-F5344CB8AC3E}">
        <p14:creationId xmlns:p14="http://schemas.microsoft.com/office/powerpoint/2010/main" val="41649352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constraint maintains valid relationships between tables and prevents the existence of invalid references.</a:t>
            </a:r>
          </a:p>
        </p:txBody>
      </p:sp>
      <p:sp>
        <p:nvSpPr>
          <p:cNvPr id="4" name="Slide Number Placeholder 3"/>
          <p:cNvSpPr>
            <a:spLocks noGrp="1"/>
          </p:cNvSpPr>
          <p:nvPr>
            <p:ph type="sldNum" sz="quarter" idx="5"/>
          </p:nvPr>
        </p:nvSpPr>
        <p:spPr/>
        <p:txBody>
          <a:bodyPr/>
          <a:lstStyle/>
          <a:p>
            <a:fld id="{532ED260-D111-491D-AB9F-FC8569A2A916}" type="slidenum">
              <a:rPr lang="en-US" smtClean="0"/>
              <a:t>13</a:t>
            </a:fld>
            <a:endParaRPr lang="en-US"/>
          </a:p>
        </p:txBody>
      </p:sp>
    </p:spTree>
    <p:extLst>
      <p:ext uri="{BB962C8B-B14F-4D97-AF65-F5344CB8AC3E}">
        <p14:creationId xmlns:p14="http://schemas.microsoft.com/office/powerpoint/2010/main" val="7773436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u="none" strike="noStrike" kern="1200" dirty="0">
                <a:solidFill>
                  <a:schemeClr val="tx1"/>
                </a:solidFill>
                <a:effectLst/>
                <a:latin typeface="+mn-lt"/>
                <a:ea typeface="+mn-ea"/>
                <a:cs typeface="+mn-cs"/>
              </a:rPr>
              <a:t>A Database Management System (DBMS) automatically monitors data modifications to intercept actions that break this constraint: </a:t>
            </a:r>
          </a:p>
          <a:p>
            <a:endParaRPr lang="en-US" sz="1200" b="1" u="none" strike="noStrike" kern="1200" dirty="0">
              <a:solidFill>
                <a:schemeClr val="tx1"/>
              </a:solidFill>
              <a:effectLst/>
              <a:latin typeface="+mn-lt"/>
              <a:ea typeface="+mn-ea"/>
              <a:cs typeface="+mn-cs"/>
            </a:endParaRPr>
          </a:p>
          <a:p>
            <a:r>
              <a:rPr lang="en-US" sz="1200" b="1" u="none" strike="noStrike" kern="1200" dirty="0">
                <a:solidFill>
                  <a:schemeClr val="tx1"/>
                </a:solidFill>
                <a:effectLst/>
                <a:latin typeface="+mn-lt"/>
                <a:ea typeface="+mn-ea"/>
                <a:cs typeface="+mn-cs"/>
              </a:rPr>
              <a:t>Insert (on Child Table):</a:t>
            </a:r>
            <a:r>
              <a:rPr lang="en-US" sz="1200" b="0" u="none" strike="noStrike" kern="1200" dirty="0">
                <a:solidFill>
                  <a:schemeClr val="tx1"/>
                </a:solidFill>
                <a:effectLst/>
                <a:latin typeface="+mn-lt"/>
                <a:ea typeface="+mn-ea"/>
                <a:cs typeface="+mn-cs"/>
              </a:rPr>
              <a:t> Trying to add an order with a </a:t>
            </a:r>
            <a:r>
              <a:rPr lang="en-US" sz="1200" b="0" u="none" strike="noStrike" kern="1200" dirty="0" err="1">
                <a:solidFill>
                  <a:schemeClr val="tx1"/>
                </a:solidFill>
                <a:effectLst/>
                <a:latin typeface="+mn-lt"/>
                <a:ea typeface="+mn-ea"/>
                <a:cs typeface="+mn-cs"/>
              </a:rPr>
              <a:t>Customer_ID</a:t>
            </a:r>
            <a:r>
              <a:rPr lang="en-US" sz="1200" b="0" u="none" strike="noStrike" kern="1200" dirty="0">
                <a:solidFill>
                  <a:schemeClr val="tx1"/>
                </a:solidFill>
                <a:effectLst/>
                <a:latin typeface="+mn-lt"/>
                <a:ea typeface="+mn-ea"/>
                <a:cs typeface="+mn-cs"/>
              </a:rPr>
              <a:t> that does not exist in the parent table.</a:t>
            </a:r>
          </a:p>
          <a:p>
            <a:endParaRPr lang="en-US" sz="1200" b="1" u="none" strike="noStrike" kern="1200" dirty="0">
              <a:solidFill>
                <a:schemeClr val="tx1"/>
              </a:solidFill>
              <a:effectLst/>
              <a:latin typeface="+mn-lt"/>
              <a:ea typeface="+mn-ea"/>
              <a:cs typeface="+mn-cs"/>
            </a:endParaRPr>
          </a:p>
          <a:p>
            <a:r>
              <a:rPr lang="en-US" sz="1200" b="1" u="none" strike="noStrike" kern="1200" dirty="0">
                <a:solidFill>
                  <a:schemeClr val="tx1"/>
                </a:solidFill>
                <a:effectLst/>
                <a:latin typeface="+mn-lt"/>
                <a:ea typeface="+mn-ea"/>
                <a:cs typeface="+mn-cs"/>
              </a:rPr>
              <a:t>Update (on Child Table):</a:t>
            </a:r>
            <a:r>
              <a:rPr lang="en-US" sz="1200" b="0" u="none" strike="noStrike" kern="1200" dirty="0">
                <a:solidFill>
                  <a:schemeClr val="tx1"/>
                </a:solidFill>
                <a:effectLst/>
                <a:latin typeface="+mn-lt"/>
                <a:ea typeface="+mn-ea"/>
                <a:cs typeface="+mn-cs"/>
              </a:rPr>
              <a:t> Modifying a foreign key value to something that does not exist in the parent table.</a:t>
            </a:r>
          </a:p>
          <a:p>
            <a:endParaRPr lang="en-US" sz="1200" b="1" u="none" strike="noStrike" kern="1200" dirty="0">
              <a:solidFill>
                <a:schemeClr val="tx1"/>
              </a:solidFill>
              <a:effectLst/>
              <a:latin typeface="+mn-lt"/>
              <a:ea typeface="+mn-ea"/>
              <a:cs typeface="+mn-cs"/>
            </a:endParaRPr>
          </a:p>
          <a:p>
            <a:r>
              <a:rPr lang="en-US" sz="1200" b="1" u="none" strike="noStrike" kern="1200" dirty="0">
                <a:solidFill>
                  <a:schemeClr val="tx1"/>
                </a:solidFill>
                <a:effectLst/>
                <a:latin typeface="+mn-lt"/>
                <a:ea typeface="+mn-ea"/>
                <a:cs typeface="+mn-cs"/>
              </a:rPr>
              <a:t>Delete (on Parent Table):</a:t>
            </a:r>
            <a:r>
              <a:rPr lang="en-US" sz="1200" b="0" u="none" strike="noStrike" kern="1200" dirty="0">
                <a:solidFill>
                  <a:schemeClr val="tx1"/>
                </a:solidFill>
                <a:effectLst/>
                <a:latin typeface="+mn-lt"/>
                <a:ea typeface="+mn-ea"/>
                <a:cs typeface="+mn-cs"/>
              </a:rPr>
              <a:t> Deleting a customer who already has orders linked to their ID.</a:t>
            </a:r>
          </a:p>
          <a:p>
            <a:r>
              <a:rPr lang="en-US" sz="1200" b="1" u="none" strike="noStrike" kern="1200" dirty="0">
                <a:solidFill>
                  <a:schemeClr val="tx1"/>
                </a:solidFill>
                <a:effectLst/>
                <a:latin typeface="+mn-lt"/>
                <a:ea typeface="+mn-ea"/>
                <a:cs typeface="+mn-cs"/>
              </a:rPr>
              <a:t>Update (on Parent Table):</a:t>
            </a:r>
            <a:r>
              <a:rPr lang="en-US" sz="1200" b="0" u="none" strike="noStrike" kern="1200" dirty="0">
                <a:solidFill>
                  <a:schemeClr val="tx1"/>
                </a:solidFill>
                <a:effectLst/>
                <a:latin typeface="+mn-lt"/>
                <a:ea typeface="+mn-ea"/>
                <a:cs typeface="+mn-cs"/>
              </a:rPr>
              <a:t> Altering a customer's primary key while child rows are actively pointing to it.</a:t>
            </a:r>
          </a:p>
          <a:p>
            <a:endParaRPr lang="en-US" dirty="0"/>
          </a:p>
          <a:p>
            <a:endParaRPr lang="en-US" dirty="0"/>
          </a:p>
          <a:p>
            <a:endParaRPr lang="en-US" dirty="0"/>
          </a:p>
          <a:p>
            <a:r>
              <a:rPr lang="en-US" sz="1200" b="1" u="none" strike="noStrike" kern="1200" dirty="0">
                <a:solidFill>
                  <a:schemeClr val="tx1"/>
                </a:solidFill>
                <a:effectLst/>
                <a:latin typeface="+mn-lt"/>
                <a:ea typeface="+mn-ea"/>
                <a:cs typeface="+mn-cs"/>
              </a:rPr>
              <a:t>Handling Violations: Cascading Actions [</a:t>
            </a:r>
            <a:r>
              <a:rPr lang="en-US" sz="1200" b="1" u="none" strike="noStrike" kern="1200" dirty="0">
                <a:solidFill>
                  <a:schemeClr val="tx1"/>
                </a:solidFill>
                <a:effectLst/>
                <a:latin typeface="+mn-lt"/>
                <a:ea typeface="+mn-ea"/>
                <a:cs typeface="+mn-cs"/>
                <a:hlinkClick r:id="rId3"/>
              </a:rPr>
              <a:t>1</a:t>
            </a:r>
            <a:r>
              <a:rPr lang="en-US" sz="1200" b="1" u="none" strike="noStrike" kern="1200" dirty="0">
                <a:solidFill>
                  <a:schemeClr val="tx1"/>
                </a:solidFill>
                <a:effectLst/>
                <a:latin typeface="+mn-lt"/>
                <a:ea typeface="+mn-ea"/>
                <a:cs typeface="+mn-cs"/>
              </a:rPr>
              <a:t>]</a:t>
            </a:r>
          </a:p>
          <a:p>
            <a:r>
              <a:rPr lang="en-US" sz="1200" b="0" u="none" strike="noStrike" kern="1200" dirty="0">
                <a:solidFill>
                  <a:schemeClr val="tx1"/>
                </a:solidFill>
                <a:effectLst/>
                <a:latin typeface="+mn-lt"/>
                <a:ea typeface="+mn-ea"/>
                <a:cs typeface="+mn-cs"/>
              </a:rPr>
              <a:t>When a user tries to modify or delete a primary key in a parent table, the database can handle the dependent child records using specific rules:</a:t>
            </a:r>
          </a:p>
          <a:p>
            <a:endParaRPr lang="en-US" sz="1200" b="1" u="none" strike="noStrike" kern="1200" dirty="0">
              <a:solidFill>
                <a:schemeClr val="tx1"/>
              </a:solidFill>
              <a:effectLst/>
              <a:latin typeface="+mn-lt"/>
              <a:ea typeface="+mn-ea"/>
              <a:cs typeface="+mn-cs"/>
            </a:endParaRPr>
          </a:p>
          <a:p>
            <a:r>
              <a:rPr lang="en-US" sz="1200" b="1" u="none" strike="noStrike" kern="1200" dirty="0">
                <a:solidFill>
                  <a:schemeClr val="tx1"/>
                </a:solidFill>
                <a:effectLst/>
                <a:latin typeface="+mn-lt"/>
                <a:ea typeface="+mn-ea"/>
                <a:cs typeface="+mn-cs"/>
              </a:rPr>
              <a:t>RESTRICT / NO ACTION (Default):</a:t>
            </a:r>
            <a:r>
              <a:rPr lang="en-US" sz="1200" b="0" u="none" strike="noStrike" kern="1200" dirty="0">
                <a:solidFill>
                  <a:schemeClr val="tx1"/>
                </a:solidFill>
                <a:effectLst/>
                <a:latin typeface="+mn-lt"/>
                <a:ea typeface="+mn-ea"/>
                <a:cs typeface="+mn-cs"/>
              </a:rPr>
              <a:t> The DBMS completely rejects the deletion or update of the parent row until the dependent child rows are manually deleted or altered first.</a:t>
            </a:r>
          </a:p>
          <a:p>
            <a:endParaRPr lang="en-US" sz="1200" b="0" u="none" strike="noStrike" kern="1200" dirty="0">
              <a:solidFill>
                <a:schemeClr val="tx1"/>
              </a:solidFill>
              <a:effectLst/>
              <a:latin typeface="+mn-lt"/>
              <a:ea typeface="+mn-ea"/>
              <a:cs typeface="+mn-cs"/>
            </a:endParaRPr>
          </a:p>
          <a:p>
            <a:r>
              <a:rPr lang="en-US" sz="1200" b="1" u="none" strike="noStrike" kern="1200" dirty="0">
                <a:solidFill>
                  <a:schemeClr val="tx1"/>
                </a:solidFill>
                <a:effectLst/>
                <a:latin typeface="+mn-lt"/>
                <a:ea typeface="+mn-ea"/>
                <a:cs typeface="+mn-cs"/>
              </a:rPr>
              <a:t>CASCADE (ON DELETE CASCADE / ON UPDATE CASCADE):</a:t>
            </a:r>
            <a:r>
              <a:rPr lang="en-US" sz="1200" b="0" u="none" strike="noStrike" kern="1200" dirty="0">
                <a:solidFill>
                  <a:schemeClr val="tx1"/>
                </a:solidFill>
                <a:effectLst/>
                <a:latin typeface="+mn-lt"/>
                <a:ea typeface="+mn-ea"/>
                <a:cs typeface="+mn-cs"/>
              </a:rPr>
              <a:t> If a parent row is deleted or modified, all corresponding rows in the child table are automatically deleted or modified alongside it.</a:t>
            </a:r>
          </a:p>
          <a:p>
            <a:r>
              <a:rPr lang="en-US" sz="1200" b="0" u="none" strike="noStrike" kern="1200" dirty="0" err="1">
                <a:solidFill>
                  <a:schemeClr val="tx1"/>
                </a:solidFill>
                <a:effectLst/>
                <a:latin typeface="+mn-lt"/>
                <a:ea typeface="+mn-ea"/>
                <a:cs typeface="+mn-cs"/>
              </a:rPr>
              <a:t>Sql</a:t>
            </a:r>
            <a:r>
              <a:rPr lang="en-US" sz="1200" b="0" u="none" strike="noStrike" kern="1200" dirty="0">
                <a:solidFill>
                  <a:schemeClr val="tx1"/>
                </a:solidFill>
                <a:effectLst/>
                <a:latin typeface="+mn-lt"/>
                <a:ea typeface="+mn-ea"/>
                <a:cs typeface="+mn-cs"/>
              </a:rPr>
              <a:t> :  </a:t>
            </a:r>
            <a:r>
              <a:rPr lang="en-US" dirty="0"/>
              <a:t>FOREIGN KEY(</a:t>
            </a:r>
            <a:r>
              <a:rPr lang="en-US" dirty="0" err="1"/>
              <a:t>Dept_ID</a:t>
            </a:r>
            <a:r>
              <a:rPr lang="en-US" dirty="0"/>
              <a:t>)</a:t>
            </a:r>
            <a:br>
              <a:rPr lang="en-US" dirty="0"/>
            </a:br>
            <a:r>
              <a:rPr lang="en-US" dirty="0"/>
              <a:t>REFERENCES Department(</a:t>
            </a:r>
            <a:r>
              <a:rPr lang="en-US" dirty="0" err="1"/>
              <a:t>Dept_ID</a:t>
            </a:r>
            <a:r>
              <a:rPr lang="en-US" dirty="0"/>
              <a:t>)</a:t>
            </a:r>
            <a:br>
              <a:rPr lang="en-US" dirty="0"/>
            </a:br>
            <a:r>
              <a:rPr lang="en-US" dirty="0"/>
              <a:t>ON UPDATE CASCADE</a:t>
            </a:r>
            <a:endParaRPr lang="en-US" sz="1200" b="0" u="none" strike="noStrike" kern="1200" dirty="0">
              <a:solidFill>
                <a:schemeClr val="tx1"/>
              </a:solidFill>
              <a:effectLst/>
              <a:latin typeface="+mn-lt"/>
              <a:ea typeface="+mn-ea"/>
              <a:cs typeface="+mn-cs"/>
            </a:endParaRPr>
          </a:p>
          <a:p>
            <a:endParaRPr lang="en-US" sz="1200" b="0" u="none" strike="noStrike" kern="1200" dirty="0">
              <a:solidFill>
                <a:schemeClr val="tx1"/>
              </a:solidFill>
              <a:effectLst/>
              <a:latin typeface="+mn-lt"/>
              <a:ea typeface="+mn-ea"/>
              <a:cs typeface="+mn-cs"/>
            </a:endParaRPr>
          </a:p>
          <a:p>
            <a:r>
              <a:rPr lang="en-US" sz="1200" b="0" u="none" strike="noStrike" kern="1200" dirty="0">
                <a:solidFill>
                  <a:schemeClr val="tx1"/>
                </a:solidFill>
                <a:effectLst/>
                <a:latin typeface="+mn-lt"/>
                <a:ea typeface="+mn-ea"/>
                <a:cs typeface="+mn-cs"/>
              </a:rPr>
              <a:t> </a:t>
            </a:r>
          </a:p>
          <a:p>
            <a:endParaRPr lang="en-US" sz="1200" b="1" u="none" strike="noStrike" kern="1200" dirty="0">
              <a:solidFill>
                <a:schemeClr val="tx1"/>
              </a:solidFill>
              <a:effectLst/>
              <a:latin typeface="+mn-lt"/>
              <a:ea typeface="+mn-ea"/>
              <a:cs typeface="+mn-cs"/>
            </a:endParaRPr>
          </a:p>
          <a:p>
            <a:r>
              <a:rPr lang="en-US" sz="1200" b="1" u="none" strike="noStrike" kern="1200" dirty="0">
                <a:solidFill>
                  <a:schemeClr val="tx1"/>
                </a:solidFill>
                <a:effectLst/>
                <a:latin typeface="+mn-lt"/>
                <a:ea typeface="+mn-ea"/>
                <a:cs typeface="+mn-cs"/>
              </a:rPr>
              <a:t>SET NULL:</a:t>
            </a:r>
            <a:r>
              <a:rPr lang="en-US" sz="1200" b="0" u="none" strike="noStrike" kern="1200" dirty="0">
                <a:solidFill>
                  <a:schemeClr val="tx1"/>
                </a:solidFill>
                <a:effectLst/>
                <a:latin typeface="+mn-lt"/>
                <a:ea typeface="+mn-ea"/>
                <a:cs typeface="+mn-cs"/>
              </a:rPr>
              <a:t> If a parent row is deleted, the matching foreign key fields in the child rows are immediately wiped and set to NULL.</a:t>
            </a:r>
          </a:p>
          <a:p>
            <a:endParaRPr lang="en-US" sz="1200" b="1" u="none" strike="noStrike" kern="1200" dirty="0">
              <a:solidFill>
                <a:schemeClr val="tx1"/>
              </a:solidFill>
              <a:effectLst/>
              <a:latin typeface="+mn-lt"/>
              <a:ea typeface="+mn-ea"/>
              <a:cs typeface="+mn-cs"/>
            </a:endParaRPr>
          </a:p>
          <a:p>
            <a:r>
              <a:rPr lang="en-US" sz="1200" b="1" u="none" strike="noStrike" kern="1200" dirty="0">
                <a:solidFill>
                  <a:schemeClr val="tx1"/>
                </a:solidFill>
                <a:effectLst/>
                <a:latin typeface="+mn-lt"/>
                <a:ea typeface="+mn-ea"/>
                <a:cs typeface="+mn-cs"/>
              </a:rPr>
              <a:t>SET DEFAULT:</a:t>
            </a:r>
            <a:r>
              <a:rPr lang="en-US" sz="1200" b="0" u="none" strike="noStrike" kern="1200" dirty="0">
                <a:solidFill>
                  <a:schemeClr val="tx1"/>
                </a:solidFill>
                <a:effectLst/>
                <a:latin typeface="+mn-lt"/>
                <a:ea typeface="+mn-ea"/>
                <a:cs typeface="+mn-cs"/>
              </a:rPr>
              <a:t> If a parent row is deleted, the foreign key fields in the child rows revert to a predefined default value.</a:t>
            </a:r>
          </a:p>
          <a:p>
            <a:endParaRPr lang="en-US" dirty="0"/>
          </a:p>
        </p:txBody>
      </p:sp>
      <p:sp>
        <p:nvSpPr>
          <p:cNvPr id="4" name="Slide Number Placeholder 3"/>
          <p:cNvSpPr>
            <a:spLocks noGrp="1"/>
          </p:cNvSpPr>
          <p:nvPr>
            <p:ph type="sldNum" sz="quarter" idx="5"/>
          </p:nvPr>
        </p:nvSpPr>
        <p:spPr/>
        <p:txBody>
          <a:bodyPr/>
          <a:lstStyle/>
          <a:p>
            <a:fld id="{532ED260-D111-491D-AB9F-FC8569A2A916}" type="slidenum">
              <a:rPr lang="en-US" smtClean="0"/>
              <a:t>15</a:t>
            </a:fld>
            <a:endParaRPr lang="en-US"/>
          </a:p>
        </p:txBody>
      </p:sp>
    </p:spTree>
    <p:extLst>
      <p:ext uri="{BB962C8B-B14F-4D97-AF65-F5344CB8AC3E}">
        <p14:creationId xmlns:p14="http://schemas.microsoft.com/office/powerpoint/2010/main" val="37227720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Unlike constraints such as </a:t>
            </a:r>
            <a:r>
              <a:rPr lang="en-US" b="1" dirty="0"/>
              <a:t>PRIMARY KEY</a:t>
            </a:r>
            <a:r>
              <a:rPr lang="en-US" dirty="0"/>
              <a:t>, </a:t>
            </a:r>
            <a:r>
              <a:rPr lang="en-US" b="1" dirty="0"/>
              <a:t>FOREIGN KEY</a:t>
            </a:r>
            <a:r>
              <a:rPr lang="en-US" dirty="0"/>
              <a:t>, or </a:t>
            </a:r>
            <a:r>
              <a:rPr lang="en-US" b="1" dirty="0"/>
              <a:t>CHECK</a:t>
            </a:r>
            <a:r>
              <a:rPr lang="en-US" dirty="0"/>
              <a:t>, which are applied to a specific table or column, an assertion can involve </a:t>
            </a:r>
            <a:r>
              <a:rPr lang="en-US" b="1" dirty="0"/>
              <a:t>multiple tables</a:t>
            </a:r>
            <a:r>
              <a:rPr lang="en-US" dirty="0"/>
              <a:t> and enforce complex business rules.</a:t>
            </a:r>
          </a:p>
          <a:p>
            <a:endParaRPr lang="en-US" dirty="0"/>
          </a:p>
          <a:p>
            <a:r>
              <a:rPr lang="en-US" dirty="0"/>
              <a:t>CREATE ASSERTION </a:t>
            </a:r>
            <a:r>
              <a:rPr lang="en-US" dirty="0" err="1"/>
              <a:t>Age_Check</a:t>
            </a:r>
            <a:endParaRPr lang="en-US" dirty="0"/>
          </a:p>
          <a:p>
            <a:r>
              <a:rPr lang="en-US" dirty="0"/>
              <a:t>CHECK(</a:t>
            </a:r>
          </a:p>
          <a:p>
            <a:r>
              <a:rPr lang="en-US" dirty="0"/>
              <a:t>NOT EXISTS(</a:t>
            </a:r>
          </a:p>
          <a:p>
            <a:r>
              <a:rPr lang="en-US" dirty="0"/>
              <a:t>SELECT *</a:t>
            </a:r>
          </a:p>
          <a:p>
            <a:r>
              <a:rPr lang="en-US" dirty="0"/>
              <a:t>FROM Student</a:t>
            </a:r>
          </a:p>
          <a:p>
            <a:r>
              <a:rPr lang="en-US" dirty="0"/>
              <a:t>WHERE Age &lt; 18</a:t>
            </a:r>
          </a:p>
          <a:p>
            <a:r>
              <a:rPr lang="en-US" dirty="0"/>
              <a:t>)</a:t>
            </a:r>
          </a:p>
          <a:p>
            <a:r>
              <a:rPr lang="en-US" dirty="0"/>
              <a:t>);</a:t>
            </a:r>
          </a:p>
          <a:p>
            <a:endParaRPr lang="en-US" dirty="0"/>
          </a:p>
          <a:p>
            <a:r>
              <a:rPr lang="en-US" dirty="0"/>
              <a:t>Maintains global database consistency.</a:t>
            </a:r>
          </a:p>
        </p:txBody>
      </p:sp>
      <p:sp>
        <p:nvSpPr>
          <p:cNvPr id="4" name="Slide Number Placeholder 3"/>
          <p:cNvSpPr>
            <a:spLocks noGrp="1"/>
          </p:cNvSpPr>
          <p:nvPr>
            <p:ph type="sldNum" sz="quarter" idx="5"/>
          </p:nvPr>
        </p:nvSpPr>
        <p:spPr/>
        <p:txBody>
          <a:bodyPr/>
          <a:lstStyle/>
          <a:p>
            <a:fld id="{532ED260-D111-491D-AB9F-FC8569A2A916}" type="slidenum">
              <a:rPr lang="en-US" smtClean="0"/>
              <a:t>17</a:t>
            </a:fld>
            <a:endParaRPr lang="en-US"/>
          </a:p>
        </p:txBody>
      </p:sp>
    </p:spTree>
    <p:extLst>
      <p:ext uri="{BB962C8B-B14F-4D97-AF65-F5344CB8AC3E}">
        <p14:creationId xmlns:p14="http://schemas.microsoft.com/office/powerpoint/2010/main" val="21914162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Query</a:t>
            </a:r>
          </a:p>
          <a:p>
            <a:pPr rtl="0"/>
            <a:r>
              <a:rPr lang="en-US" sz="1200" kern="1200" dirty="0">
                <a:solidFill>
                  <a:schemeClr val="tx1"/>
                </a:solidFill>
                <a:latin typeface="+mn-lt"/>
                <a:ea typeface="+mn-ea"/>
                <a:cs typeface="+mn-cs"/>
              </a:rPr>
              <a:t>SELECT *</a:t>
            </a:r>
            <a:br>
              <a:rPr lang="en-US" sz="1200" kern="1200" dirty="0">
                <a:solidFill>
                  <a:schemeClr val="tx1"/>
                </a:solidFill>
                <a:latin typeface="+mn-lt"/>
                <a:ea typeface="+mn-ea"/>
                <a:cs typeface="+mn-cs"/>
              </a:rPr>
            </a:br>
            <a:r>
              <a:rPr lang="en-US" sz="1200" kern="1200" dirty="0">
                <a:solidFill>
                  <a:schemeClr val="tx1"/>
                </a:solidFill>
                <a:latin typeface="+mn-lt"/>
                <a:ea typeface="+mn-ea"/>
                <a:cs typeface="+mn-cs"/>
              </a:rPr>
              <a:t>FROM Student</a:t>
            </a:r>
            <a:br>
              <a:rPr lang="en-US" sz="1200" kern="1200" dirty="0">
                <a:solidFill>
                  <a:schemeClr val="tx1"/>
                </a:solidFill>
                <a:latin typeface="+mn-lt"/>
                <a:ea typeface="+mn-ea"/>
                <a:cs typeface="+mn-cs"/>
              </a:rPr>
            </a:br>
            <a:r>
              <a:rPr lang="en-US" sz="1200" kern="1200" dirty="0">
                <a:solidFill>
                  <a:schemeClr val="tx1"/>
                </a:solidFill>
                <a:latin typeface="+mn-lt"/>
                <a:ea typeface="+mn-ea"/>
                <a:cs typeface="+mn-cs"/>
              </a:rPr>
              <a:t>WHERE Age &lt; 18</a:t>
            </a:r>
          </a:p>
          <a:p>
            <a:r>
              <a:rPr lang="en-US" dirty="0"/>
              <a:t>Finds students younger than 18.</a:t>
            </a:r>
          </a:p>
          <a:p>
            <a:r>
              <a:rPr lang="en-US" b="1" dirty="0"/>
              <a:t>NOT EXISTS</a:t>
            </a:r>
          </a:p>
          <a:p>
            <a:r>
              <a:rPr lang="en-US" dirty="0"/>
              <a:t>Means:</a:t>
            </a:r>
          </a:p>
          <a:p>
            <a:r>
              <a:rPr lang="en-US" dirty="0"/>
              <a:t>"There should be no such students."</a:t>
            </a:r>
          </a:p>
          <a:p>
            <a:endParaRPr lang="en-US" b="1" dirty="0"/>
          </a:p>
          <a:p>
            <a:endParaRPr lang="en-US" b="1" dirty="0"/>
          </a:p>
          <a:p>
            <a:endParaRPr lang="en-US" b="1" dirty="0"/>
          </a:p>
          <a:p>
            <a:endParaRPr lang="en-US" b="1" dirty="0"/>
          </a:p>
          <a:p>
            <a:r>
              <a:rPr lang="en-US" dirty="0"/>
              <a:t>If a student aged 16 is inserted:</a:t>
            </a:r>
          </a:p>
          <a:p>
            <a:pPr rtl="0"/>
            <a:r>
              <a:rPr lang="en-US" sz="1200" kern="1200" dirty="0">
                <a:solidFill>
                  <a:schemeClr val="tx1"/>
                </a:solidFill>
                <a:latin typeface="+mn-lt"/>
                <a:ea typeface="+mn-ea"/>
                <a:cs typeface="+mn-cs"/>
              </a:rPr>
              <a:t>INSERT INTO Student</a:t>
            </a:r>
            <a:br>
              <a:rPr lang="en-US" sz="1200" kern="1200" dirty="0">
                <a:solidFill>
                  <a:schemeClr val="tx1"/>
                </a:solidFill>
                <a:latin typeface="+mn-lt"/>
                <a:ea typeface="+mn-ea"/>
                <a:cs typeface="+mn-cs"/>
              </a:rPr>
            </a:br>
            <a:r>
              <a:rPr lang="en-US" sz="1200" kern="1200" dirty="0">
                <a:solidFill>
                  <a:schemeClr val="tx1"/>
                </a:solidFill>
                <a:latin typeface="+mn-lt"/>
                <a:ea typeface="+mn-ea"/>
                <a:cs typeface="+mn-cs"/>
              </a:rPr>
              <a:t>VALUES(103,'Hari',16);</a:t>
            </a:r>
          </a:p>
          <a:p>
            <a:r>
              <a:rPr lang="en-US" dirty="0"/>
              <a:t>The assertion becomes FALSE.</a:t>
            </a:r>
          </a:p>
          <a:p>
            <a:r>
              <a:rPr lang="en-US" dirty="0"/>
              <a:t>Result:</a:t>
            </a:r>
          </a:p>
          <a:p>
            <a:r>
              <a:rPr lang="en-US" dirty="0"/>
              <a:t>❌ Insertion rejected.</a:t>
            </a:r>
          </a:p>
          <a:p>
            <a:endParaRPr lang="en-US" b="1" dirty="0"/>
          </a:p>
          <a:p>
            <a:endParaRPr lang="en-US" b="1" dirty="0"/>
          </a:p>
          <a:p>
            <a:endParaRPr lang="en-US" b="1" dirty="0"/>
          </a:p>
          <a:p>
            <a:endParaRPr lang="en-US" b="1" dirty="0"/>
          </a:p>
          <a:p>
            <a:r>
              <a:rPr lang="en-US" b="1" dirty="0"/>
              <a:t>Example 2: Department Capacity</a:t>
            </a:r>
          </a:p>
          <a:p>
            <a:r>
              <a:rPr lang="en-US" dirty="0"/>
              <a:t>Suppose a department can have a maximum of 100 students.</a:t>
            </a:r>
          </a:p>
          <a:p>
            <a:r>
              <a:rPr lang="en-US" dirty="0"/>
              <a:t>CREATE ASSERTION </a:t>
            </a:r>
            <a:r>
              <a:rPr lang="en-US" dirty="0" err="1"/>
              <a:t>Max_Students</a:t>
            </a:r>
            <a:endParaRPr lang="en-US" dirty="0"/>
          </a:p>
          <a:p>
            <a:r>
              <a:rPr lang="en-US" dirty="0"/>
              <a:t>CHECK (</a:t>
            </a:r>
          </a:p>
          <a:p>
            <a:r>
              <a:rPr lang="en-US" dirty="0"/>
              <a:t>NOT EXISTS(</a:t>
            </a:r>
          </a:p>
          <a:p>
            <a:r>
              <a:rPr lang="en-US" dirty="0"/>
              <a:t>SELECT </a:t>
            </a:r>
            <a:r>
              <a:rPr lang="en-US" dirty="0" err="1"/>
              <a:t>Dept_ID</a:t>
            </a:r>
            <a:endParaRPr lang="en-US" dirty="0"/>
          </a:p>
          <a:p>
            <a:r>
              <a:rPr lang="en-US" dirty="0"/>
              <a:t>FROM Student</a:t>
            </a:r>
          </a:p>
          <a:p>
            <a:r>
              <a:rPr lang="en-US" dirty="0"/>
              <a:t>GROUP BY </a:t>
            </a:r>
            <a:r>
              <a:rPr lang="en-US" dirty="0" err="1"/>
              <a:t>Dept_ID</a:t>
            </a:r>
            <a:endParaRPr lang="en-US" dirty="0"/>
          </a:p>
          <a:p>
            <a:r>
              <a:rPr lang="en-US" dirty="0"/>
              <a:t>HAVING COUNT(*) &gt; 100</a:t>
            </a:r>
          </a:p>
          <a:p>
            <a:r>
              <a:rPr lang="en-US" dirty="0"/>
              <a:t>)</a:t>
            </a:r>
          </a:p>
          <a:p>
            <a:r>
              <a:rPr lang="en-US" dirty="0"/>
              <a:t>);</a:t>
            </a:r>
          </a:p>
          <a:p>
            <a:endParaRPr lang="en-US" dirty="0"/>
          </a:p>
          <a:p>
            <a:endParaRPr lang="en-US" dirty="0"/>
          </a:p>
          <a:p>
            <a:endParaRPr lang="en-US" dirty="0"/>
          </a:p>
          <a:p>
            <a:r>
              <a:rPr lang="en-US" b="1" dirty="0"/>
              <a:t>Explanation</a:t>
            </a:r>
          </a:p>
          <a:p>
            <a:r>
              <a:rPr lang="en-US" dirty="0"/>
              <a:t>The assertion checks:</a:t>
            </a:r>
          </a:p>
          <a:p>
            <a:r>
              <a:rPr lang="en-US" dirty="0"/>
              <a:t>Count students in each department. </a:t>
            </a:r>
          </a:p>
          <a:p>
            <a:r>
              <a:rPr lang="en-US" dirty="0"/>
              <a:t>If any department has more than 100 students,</a:t>
            </a:r>
            <a:br>
              <a:rPr lang="en-US" dirty="0"/>
            </a:br>
            <a:r>
              <a:rPr lang="en-US" dirty="0"/>
              <a:t>the assertion fails. </a:t>
            </a:r>
          </a:p>
          <a:p>
            <a:r>
              <a:rPr lang="en-US" dirty="0"/>
              <a:t>Result:</a:t>
            </a:r>
          </a:p>
          <a:p>
            <a:r>
              <a:rPr lang="en-US" dirty="0"/>
              <a:t>❌ Further insertions are blocked.</a:t>
            </a:r>
          </a:p>
          <a:p>
            <a:endParaRPr lang="en-US" b="1" dirty="0"/>
          </a:p>
          <a:p>
            <a:endParaRPr lang="en-US" b="1" dirty="0"/>
          </a:p>
          <a:p>
            <a:endParaRPr lang="en-US" b="1" dirty="0"/>
          </a:p>
          <a:p>
            <a:r>
              <a:rPr lang="en-US" b="1" dirty="0"/>
              <a:t>t</a:t>
            </a:r>
          </a:p>
          <a:p>
            <a:r>
              <a:rPr lang="en-US" b="1" dirty="0"/>
              <a:t>Example 3: Salary Rule</a:t>
            </a:r>
          </a:p>
          <a:p>
            <a:r>
              <a:rPr lang="en-US" dirty="0"/>
              <a:t>Business Rule:</a:t>
            </a:r>
          </a:p>
          <a:p>
            <a:r>
              <a:rPr lang="en-US" dirty="0"/>
              <a:t>No employee should have a salary less than Rs. 15,000.</a:t>
            </a:r>
          </a:p>
          <a:p>
            <a:pPr rtl="0"/>
            <a:r>
              <a:rPr lang="en-US" sz="1200" kern="1200" dirty="0">
                <a:solidFill>
                  <a:schemeClr val="tx1"/>
                </a:solidFill>
                <a:latin typeface="+mn-lt"/>
                <a:ea typeface="+mn-ea"/>
                <a:cs typeface="+mn-cs"/>
              </a:rPr>
              <a:t>CREATE ASSERTION </a:t>
            </a:r>
            <a:r>
              <a:rPr lang="en-US" sz="1200" kern="1200" dirty="0" err="1">
                <a:solidFill>
                  <a:schemeClr val="tx1"/>
                </a:solidFill>
                <a:latin typeface="+mn-lt"/>
                <a:ea typeface="+mn-ea"/>
                <a:cs typeface="+mn-cs"/>
              </a:rPr>
              <a:t>Salary_Check</a:t>
            </a:r>
            <a:br>
              <a:rPr lang="en-US" sz="1200" kern="1200" dirty="0">
                <a:solidFill>
                  <a:schemeClr val="tx1"/>
                </a:solidFill>
                <a:latin typeface="+mn-lt"/>
                <a:ea typeface="+mn-ea"/>
                <a:cs typeface="+mn-cs"/>
              </a:rPr>
            </a:br>
            <a:r>
              <a:rPr lang="en-US" sz="1200" kern="1200" dirty="0">
                <a:solidFill>
                  <a:schemeClr val="tx1"/>
                </a:solidFill>
                <a:latin typeface="+mn-lt"/>
                <a:ea typeface="+mn-ea"/>
                <a:cs typeface="+mn-cs"/>
              </a:rPr>
              <a:t>CHECK(</a:t>
            </a:r>
            <a:br>
              <a:rPr lang="en-US" sz="1200" kern="1200" dirty="0">
                <a:solidFill>
                  <a:schemeClr val="tx1"/>
                </a:solidFill>
                <a:latin typeface="+mn-lt"/>
                <a:ea typeface="+mn-ea"/>
                <a:cs typeface="+mn-cs"/>
              </a:rPr>
            </a:br>
            <a:r>
              <a:rPr lang="en-US" sz="1200" kern="1200" dirty="0">
                <a:solidFill>
                  <a:schemeClr val="tx1"/>
                </a:solidFill>
                <a:latin typeface="+mn-lt"/>
                <a:ea typeface="+mn-ea"/>
                <a:cs typeface="+mn-cs"/>
              </a:rPr>
              <a:t>NOT EXISTS(</a:t>
            </a:r>
            <a:br>
              <a:rPr lang="en-US" sz="1200" kern="1200" dirty="0">
                <a:solidFill>
                  <a:schemeClr val="tx1"/>
                </a:solidFill>
                <a:latin typeface="+mn-lt"/>
                <a:ea typeface="+mn-ea"/>
                <a:cs typeface="+mn-cs"/>
              </a:rPr>
            </a:br>
            <a:r>
              <a:rPr lang="en-US" sz="1200" kern="1200" dirty="0">
                <a:solidFill>
                  <a:schemeClr val="tx1"/>
                </a:solidFill>
                <a:latin typeface="+mn-lt"/>
                <a:ea typeface="+mn-ea"/>
                <a:cs typeface="+mn-cs"/>
              </a:rPr>
              <a:t>SELECT *</a:t>
            </a:r>
            <a:br>
              <a:rPr lang="en-US" sz="1200" kern="1200" dirty="0">
                <a:solidFill>
                  <a:schemeClr val="tx1"/>
                </a:solidFill>
                <a:latin typeface="+mn-lt"/>
                <a:ea typeface="+mn-ea"/>
                <a:cs typeface="+mn-cs"/>
              </a:rPr>
            </a:br>
            <a:r>
              <a:rPr lang="en-US" sz="1200" kern="1200" dirty="0">
                <a:solidFill>
                  <a:schemeClr val="tx1"/>
                </a:solidFill>
                <a:latin typeface="+mn-lt"/>
                <a:ea typeface="+mn-ea"/>
                <a:cs typeface="+mn-cs"/>
              </a:rPr>
              <a:t>FROM Employee</a:t>
            </a:r>
            <a:br>
              <a:rPr lang="en-US" sz="1200" kern="1200" dirty="0">
                <a:solidFill>
                  <a:schemeClr val="tx1"/>
                </a:solidFill>
                <a:latin typeface="+mn-lt"/>
                <a:ea typeface="+mn-ea"/>
                <a:cs typeface="+mn-cs"/>
              </a:rPr>
            </a:br>
            <a:r>
              <a:rPr lang="en-US" sz="1200" kern="1200" dirty="0">
                <a:solidFill>
                  <a:schemeClr val="tx1"/>
                </a:solidFill>
                <a:latin typeface="+mn-lt"/>
                <a:ea typeface="+mn-ea"/>
                <a:cs typeface="+mn-cs"/>
              </a:rPr>
              <a:t>WHERE Salary &lt; 15000</a:t>
            </a:r>
            <a:br>
              <a:rPr lang="en-US" sz="1200" kern="1200" dirty="0">
                <a:solidFill>
                  <a:schemeClr val="tx1"/>
                </a:solidFill>
                <a:latin typeface="+mn-lt"/>
                <a:ea typeface="+mn-ea"/>
                <a:cs typeface="+mn-cs"/>
              </a:rPr>
            </a:br>
            <a:r>
              <a:rPr lang="en-US" sz="1200" kern="1200" dirty="0">
                <a:solidFill>
                  <a:schemeClr val="tx1"/>
                </a:solidFill>
                <a:latin typeface="+mn-lt"/>
                <a:ea typeface="+mn-ea"/>
                <a:cs typeface="+mn-cs"/>
              </a:rPr>
              <a:t>)</a:t>
            </a:r>
            <a:br>
              <a:rPr lang="en-US" sz="1200" kern="1200" dirty="0">
                <a:solidFill>
                  <a:schemeClr val="tx1"/>
                </a:solidFill>
                <a:latin typeface="+mn-lt"/>
                <a:ea typeface="+mn-ea"/>
                <a:cs typeface="+mn-cs"/>
              </a:rPr>
            </a:br>
            <a:r>
              <a:rPr lang="en-US" sz="1200" kern="1200" dirty="0">
                <a:solidFill>
                  <a:schemeClr val="tx1"/>
                </a:solidFill>
                <a:latin typeface="+mn-lt"/>
                <a:ea typeface="+mn-ea"/>
                <a:cs typeface="+mn-cs"/>
              </a:rPr>
              <a:t>);</a:t>
            </a:r>
          </a:p>
          <a:p>
            <a:br>
              <a:rPr lang="en-US" dirty="0"/>
            </a:br>
            <a:endParaRPr lang="en-US" dirty="0"/>
          </a:p>
          <a:p>
            <a:r>
              <a:rPr lang="en-US" b="1" dirty="0"/>
              <a:t>Valid Data</a:t>
            </a:r>
          </a:p>
          <a:p>
            <a:r>
              <a:rPr lang="en-US" dirty="0" err="1"/>
              <a:t>Emp_ID</a:t>
            </a:r>
            <a:r>
              <a:rPr lang="en-US" dirty="0"/>
              <a:t>		Salary</a:t>
            </a:r>
          </a:p>
          <a:p>
            <a:r>
              <a:rPr lang="en-US" dirty="0"/>
              <a:t>101		25000</a:t>
            </a:r>
          </a:p>
          <a:p>
            <a:r>
              <a:rPr lang="en-US" dirty="0"/>
              <a:t>102 		30000</a:t>
            </a:r>
          </a:p>
          <a:p>
            <a:r>
              <a:rPr lang="en-US" b="1" dirty="0"/>
              <a:t>Invalid Data</a:t>
            </a:r>
          </a:p>
          <a:p>
            <a:r>
              <a:rPr lang="en-US" dirty="0" err="1"/>
              <a:t>Emp_ID</a:t>
            </a:r>
            <a:r>
              <a:rPr lang="en-US" dirty="0"/>
              <a:t>		Salary</a:t>
            </a:r>
          </a:p>
          <a:p>
            <a:r>
              <a:rPr lang="en-US" dirty="0"/>
              <a:t>103 		10000</a:t>
            </a:r>
          </a:p>
          <a:p>
            <a:r>
              <a:rPr lang="en-US" dirty="0"/>
              <a:t>Result:</a:t>
            </a:r>
          </a:p>
          <a:p>
            <a:r>
              <a:rPr lang="en-US" dirty="0"/>
              <a:t>❌ Rejected</a:t>
            </a:r>
          </a:p>
          <a:p>
            <a:br>
              <a:rPr lang="en-US" dirty="0"/>
            </a:br>
            <a:endParaRPr lang="en-US" dirty="0"/>
          </a:p>
          <a:p>
            <a:r>
              <a:rPr lang="en-US" b="1" dirty="0"/>
              <a:t>Example 4: Bank Balance Rule</a:t>
            </a:r>
          </a:p>
          <a:p>
            <a:r>
              <a:rPr lang="en-US" dirty="0"/>
              <a:t>Rule:</a:t>
            </a:r>
          </a:p>
          <a:p>
            <a:r>
              <a:rPr lang="en-US" dirty="0"/>
              <a:t>Every account balance must remain positive.</a:t>
            </a:r>
          </a:p>
          <a:p>
            <a:pPr rtl="0"/>
            <a:r>
              <a:rPr lang="en-US" sz="1200" kern="1200" dirty="0">
                <a:solidFill>
                  <a:schemeClr val="tx1"/>
                </a:solidFill>
                <a:latin typeface="+mn-lt"/>
                <a:ea typeface="+mn-ea"/>
                <a:cs typeface="+mn-cs"/>
              </a:rPr>
              <a:t>CREATE ASSERTION </a:t>
            </a:r>
            <a:r>
              <a:rPr lang="en-US" sz="1200" kern="1200" dirty="0" err="1">
                <a:solidFill>
                  <a:schemeClr val="tx1"/>
                </a:solidFill>
                <a:latin typeface="+mn-lt"/>
                <a:ea typeface="+mn-ea"/>
                <a:cs typeface="+mn-cs"/>
              </a:rPr>
              <a:t>Positive_Balance</a:t>
            </a:r>
            <a:br>
              <a:rPr lang="en-US" sz="1200" kern="1200" dirty="0">
                <a:solidFill>
                  <a:schemeClr val="tx1"/>
                </a:solidFill>
                <a:latin typeface="+mn-lt"/>
                <a:ea typeface="+mn-ea"/>
                <a:cs typeface="+mn-cs"/>
              </a:rPr>
            </a:br>
            <a:r>
              <a:rPr lang="en-US" sz="1200" kern="1200" dirty="0">
                <a:solidFill>
                  <a:schemeClr val="tx1"/>
                </a:solidFill>
                <a:latin typeface="+mn-lt"/>
                <a:ea typeface="+mn-ea"/>
                <a:cs typeface="+mn-cs"/>
              </a:rPr>
              <a:t>CHECK(</a:t>
            </a:r>
            <a:br>
              <a:rPr lang="en-US" sz="1200" kern="1200" dirty="0">
                <a:solidFill>
                  <a:schemeClr val="tx1"/>
                </a:solidFill>
                <a:latin typeface="+mn-lt"/>
                <a:ea typeface="+mn-ea"/>
                <a:cs typeface="+mn-cs"/>
              </a:rPr>
            </a:br>
            <a:r>
              <a:rPr lang="en-US" sz="1200" kern="1200" dirty="0">
                <a:solidFill>
                  <a:schemeClr val="tx1"/>
                </a:solidFill>
                <a:latin typeface="+mn-lt"/>
                <a:ea typeface="+mn-ea"/>
                <a:cs typeface="+mn-cs"/>
              </a:rPr>
              <a:t>NOT EXISTS(</a:t>
            </a:r>
            <a:br>
              <a:rPr lang="en-US" sz="1200" kern="1200" dirty="0">
                <a:solidFill>
                  <a:schemeClr val="tx1"/>
                </a:solidFill>
                <a:latin typeface="+mn-lt"/>
                <a:ea typeface="+mn-ea"/>
                <a:cs typeface="+mn-cs"/>
              </a:rPr>
            </a:br>
            <a:r>
              <a:rPr lang="en-US" sz="1200" kern="1200" dirty="0">
                <a:solidFill>
                  <a:schemeClr val="tx1"/>
                </a:solidFill>
                <a:latin typeface="+mn-lt"/>
                <a:ea typeface="+mn-ea"/>
                <a:cs typeface="+mn-cs"/>
              </a:rPr>
              <a:t>SELECT *</a:t>
            </a:r>
            <a:br>
              <a:rPr lang="en-US" sz="1200" kern="1200" dirty="0">
                <a:solidFill>
                  <a:schemeClr val="tx1"/>
                </a:solidFill>
                <a:latin typeface="+mn-lt"/>
                <a:ea typeface="+mn-ea"/>
                <a:cs typeface="+mn-cs"/>
              </a:rPr>
            </a:br>
            <a:r>
              <a:rPr lang="en-US" sz="1200" kern="1200" dirty="0">
                <a:solidFill>
                  <a:schemeClr val="tx1"/>
                </a:solidFill>
                <a:latin typeface="+mn-lt"/>
                <a:ea typeface="+mn-ea"/>
                <a:cs typeface="+mn-cs"/>
              </a:rPr>
              <a:t>FROM Account</a:t>
            </a:r>
            <a:br>
              <a:rPr lang="en-US" sz="1200" kern="1200" dirty="0">
                <a:solidFill>
                  <a:schemeClr val="tx1"/>
                </a:solidFill>
                <a:latin typeface="+mn-lt"/>
                <a:ea typeface="+mn-ea"/>
                <a:cs typeface="+mn-cs"/>
              </a:rPr>
            </a:br>
            <a:r>
              <a:rPr lang="en-US" sz="1200" kern="1200" dirty="0">
                <a:solidFill>
                  <a:schemeClr val="tx1"/>
                </a:solidFill>
                <a:latin typeface="+mn-lt"/>
                <a:ea typeface="+mn-ea"/>
                <a:cs typeface="+mn-cs"/>
              </a:rPr>
              <a:t>WHERE Balance &lt; 0</a:t>
            </a:r>
            <a:br>
              <a:rPr lang="en-US" sz="1200" kern="1200" dirty="0">
                <a:solidFill>
                  <a:schemeClr val="tx1"/>
                </a:solidFill>
                <a:latin typeface="+mn-lt"/>
                <a:ea typeface="+mn-ea"/>
                <a:cs typeface="+mn-cs"/>
              </a:rPr>
            </a:br>
            <a:r>
              <a:rPr lang="en-US" sz="1200" kern="1200" dirty="0">
                <a:solidFill>
                  <a:schemeClr val="tx1"/>
                </a:solidFill>
                <a:latin typeface="+mn-lt"/>
                <a:ea typeface="+mn-ea"/>
                <a:cs typeface="+mn-cs"/>
              </a:rPr>
              <a:t>)</a:t>
            </a:r>
            <a:br>
              <a:rPr lang="en-US" sz="1200" kern="1200" dirty="0">
                <a:solidFill>
                  <a:schemeClr val="tx1"/>
                </a:solidFill>
                <a:latin typeface="+mn-lt"/>
                <a:ea typeface="+mn-ea"/>
                <a:cs typeface="+mn-cs"/>
              </a:rPr>
            </a:br>
            <a:r>
              <a:rPr lang="en-US" sz="1200" kern="1200" dirty="0">
                <a:solidFill>
                  <a:schemeClr val="tx1"/>
                </a:solidFill>
                <a:latin typeface="+mn-lt"/>
                <a:ea typeface="+mn-ea"/>
                <a:cs typeface="+mn-cs"/>
              </a:rPr>
              <a:t>);</a:t>
            </a:r>
          </a:p>
          <a:p>
            <a:br>
              <a:rPr lang="en-US" dirty="0"/>
            </a:br>
            <a:endParaRPr lang="en-US" dirty="0"/>
          </a:p>
          <a:p>
            <a:r>
              <a:rPr lang="en-US" b="1" dirty="0"/>
              <a:t>Valid</a:t>
            </a:r>
          </a:p>
          <a:p>
            <a:r>
              <a:rPr lang="en-US" dirty="0" err="1"/>
              <a:t>Account_No</a:t>
            </a:r>
            <a:r>
              <a:rPr lang="en-US" dirty="0"/>
              <a:t>		Balance</a:t>
            </a:r>
          </a:p>
          <a:p>
            <a:r>
              <a:rPr lang="en-US" dirty="0"/>
              <a:t>A101		5000</a:t>
            </a:r>
          </a:p>
          <a:p>
            <a:r>
              <a:rPr lang="en-US" dirty="0"/>
              <a:t>A102		10000</a:t>
            </a:r>
          </a:p>
          <a:p>
            <a:r>
              <a:rPr lang="en-US" b="1" dirty="0"/>
              <a:t>Invalid</a:t>
            </a:r>
          </a:p>
          <a:p>
            <a:r>
              <a:rPr lang="en-US" dirty="0" err="1"/>
              <a:t>Account_No</a:t>
            </a:r>
            <a:r>
              <a:rPr lang="en-US" dirty="0"/>
              <a:t>		Balance</a:t>
            </a:r>
          </a:p>
          <a:p>
            <a:r>
              <a:rPr lang="en-US" dirty="0"/>
              <a:t>A103		-500</a:t>
            </a:r>
          </a:p>
          <a:p>
            <a:r>
              <a:rPr lang="en-US" dirty="0"/>
              <a:t>Result:</a:t>
            </a:r>
          </a:p>
          <a:p>
            <a:r>
              <a:rPr lang="en-US" dirty="0"/>
              <a:t>❌ Transaction rejected</a:t>
            </a:r>
          </a:p>
          <a:p>
            <a:endParaRPr lang="en-US" b="1" dirty="0"/>
          </a:p>
        </p:txBody>
      </p:sp>
      <p:sp>
        <p:nvSpPr>
          <p:cNvPr id="4" name="Slide Number Placeholder 3"/>
          <p:cNvSpPr>
            <a:spLocks noGrp="1"/>
          </p:cNvSpPr>
          <p:nvPr>
            <p:ph type="sldNum" sz="quarter" idx="5"/>
          </p:nvPr>
        </p:nvSpPr>
        <p:spPr/>
        <p:txBody>
          <a:bodyPr/>
          <a:lstStyle/>
          <a:p>
            <a:fld id="{532ED260-D111-491D-AB9F-FC8569A2A916}" type="slidenum">
              <a:rPr lang="en-US" smtClean="0"/>
              <a:t>19</a:t>
            </a:fld>
            <a:endParaRPr lang="en-US"/>
          </a:p>
        </p:txBody>
      </p:sp>
    </p:spTree>
    <p:extLst>
      <p:ext uri="{BB962C8B-B14F-4D97-AF65-F5344CB8AC3E}">
        <p14:creationId xmlns:p14="http://schemas.microsoft.com/office/powerpoint/2010/main" val="19661918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b="1" dirty="0"/>
              <a:t>What it Means</a:t>
            </a:r>
          </a:p>
          <a:p>
            <a:r>
              <a:rPr lang="en-US" dirty="0"/>
              <a:t>"There should NOT exist any department whose total project cost exceeds its budget."</a:t>
            </a:r>
          </a:p>
          <a:p>
            <a:endParaRPr lang="en-US" dirty="0"/>
          </a:p>
          <a:p>
            <a:r>
              <a:rPr lang="en-US" dirty="0"/>
              <a:t>Total Project Cost = 450000</a:t>
            </a:r>
          </a:p>
          <a:p>
            <a:r>
              <a:rPr lang="en-US" dirty="0"/>
              <a:t>Budget = 500000</a:t>
            </a:r>
          </a:p>
          <a:p>
            <a:r>
              <a:rPr lang="en-US" dirty="0"/>
              <a:t>Since:</a:t>
            </a:r>
          </a:p>
          <a:p>
            <a:pPr rtl="0"/>
            <a:r>
              <a:rPr lang="en-US" sz="1200" kern="1200" dirty="0">
                <a:solidFill>
                  <a:schemeClr val="tx1"/>
                </a:solidFill>
                <a:latin typeface="+mn-lt"/>
                <a:ea typeface="+mn-ea"/>
                <a:cs typeface="+mn-cs"/>
              </a:rPr>
              <a:t>450000 ≤ 500000</a:t>
            </a:r>
          </a:p>
          <a:p>
            <a:r>
              <a:rPr lang="en-US" dirty="0"/>
              <a:t>✅ Condition satisfied</a:t>
            </a:r>
          </a:p>
          <a:p>
            <a:endParaRPr lang="en-US" dirty="0"/>
          </a:p>
          <a:p>
            <a:endParaRPr lang="en-US" dirty="0"/>
          </a:p>
          <a:p>
            <a:r>
              <a:rPr lang="en-US" dirty="0"/>
              <a:t>If another project is added:</a:t>
            </a:r>
          </a:p>
          <a:p>
            <a:r>
              <a:rPr lang="en-US" dirty="0" err="1"/>
              <a:t>Project_ID</a:t>
            </a:r>
            <a:r>
              <a:rPr lang="en-US" dirty="0"/>
              <a:t>		</a:t>
            </a:r>
            <a:r>
              <a:rPr lang="en-US" dirty="0" err="1"/>
              <a:t>Dept_ID</a:t>
            </a:r>
            <a:r>
              <a:rPr lang="en-US" dirty="0"/>
              <a:t>	Cost</a:t>
            </a:r>
          </a:p>
          <a:p>
            <a:r>
              <a:rPr lang="en-US" dirty="0"/>
              <a:t>P3 		D1 	100000</a:t>
            </a:r>
          </a:p>
          <a:p>
            <a:r>
              <a:rPr lang="en-US" dirty="0"/>
              <a:t>Total Cost = </a:t>
            </a:r>
            <a:r>
              <a:rPr lang="en-US" sz="1200" kern="1200" dirty="0">
                <a:solidFill>
                  <a:schemeClr val="tx1"/>
                </a:solidFill>
                <a:latin typeface="+mn-lt"/>
                <a:ea typeface="+mn-ea"/>
                <a:cs typeface="+mn-cs"/>
              </a:rPr>
              <a:t>200000 + 250000 + 100000 = 550000</a:t>
            </a:r>
          </a:p>
          <a:p>
            <a:r>
              <a:rPr lang="en-US" dirty="0"/>
              <a:t>Now:</a:t>
            </a:r>
          </a:p>
          <a:p>
            <a:pPr rtl="0"/>
            <a:r>
              <a:rPr lang="en-US" sz="1200" kern="1200" dirty="0">
                <a:solidFill>
                  <a:schemeClr val="tx1"/>
                </a:solidFill>
                <a:latin typeface="+mn-lt"/>
                <a:ea typeface="+mn-ea"/>
                <a:cs typeface="+mn-cs"/>
              </a:rPr>
              <a:t>550000 &gt; 500000</a:t>
            </a:r>
          </a:p>
          <a:p>
            <a:r>
              <a:rPr lang="en-US" dirty="0"/>
              <a:t>❌ Assertion fails</a:t>
            </a:r>
          </a:p>
          <a:p>
            <a:endParaRPr lang="en-US" dirty="0"/>
          </a:p>
          <a:p>
            <a:endParaRPr lang="en-US" dirty="0"/>
          </a:p>
          <a:p>
            <a:endParaRPr lang="en-US" dirty="0"/>
          </a:p>
          <a:p>
            <a:endParaRPr lang="en-US" dirty="0"/>
          </a:p>
          <a:p>
            <a:r>
              <a:rPr lang="en-US" dirty="0"/>
              <a:t>CREATE ASSERTION </a:t>
            </a:r>
            <a:r>
              <a:rPr lang="en-US" dirty="0" err="1"/>
              <a:t>Budget_Check</a:t>
            </a:r>
            <a:endParaRPr lang="en-US" dirty="0"/>
          </a:p>
          <a:p>
            <a:r>
              <a:rPr lang="en-US" dirty="0"/>
              <a:t>CHECK(</a:t>
            </a:r>
          </a:p>
          <a:p>
            <a:r>
              <a:rPr lang="en-US" dirty="0"/>
              <a:t>NOT EXISTS(</a:t>
            </a:r>
          </a:p>
          <a:p>
            <a:r>
              <a:rPr lang="en-US" dirty="0"/>
              <a:t>SELECT *</a:t>
            </a:r>
          </a:p>
          <a:p>
            <a:r>
              <a:rPr lang="en-US" dirty="0"/>
              <a:t>FROM Department D</a:t>
            </a:r>
          </a:p>
          <a:p>
            <a:r>
              <a:rPr lang="en-US" dirty="0"/>
              <a:t>WHERE </a:t>
            </a:r>
            <a:r>
              <a:rPr lang="en-US" dirty="0" err="1"/>
              <a:t>D.Budget</a:t>
            </a:r>
            <a:r>
              <a:rPr lang="en-US" dirty="0"/>
              <a:t> &lt;</a:t>
            </a:r>
          </a:p>
          <a:p>
            <a:r>
              <a:rPr lang="en-US" dirty="0"/>
              <a:t>(</a:t>
            </a:r>
          </a:p>
          <a:p>
            <a:r>
              <a:rPr lang="en-US" dirty="0"/>
              <a:t>SELECT SUM(</a:t>
            </a:r>
            <a:r>
              <a:rPr lang="en-US" dirty="0" err="1"/>
              <a:t>P.Cost</a:t>
            </a:r>
            <a:r>
              <a:rPr lang="en-US" dirty="0"/>
              <a:t>)</a:t>
            </a:r>
          </a:p>
          <a:p>
            <a:r>
              <a:rPr lang="en-US" dirty="0"/>
              <a:t>FROM Project P</a:t>
            </a:r>
          </a:p>
          <a:p>
            <a:r>
              <a:rPr lang="en-US" dirty="0"/>
              <a:t>WHERE </a:t>
            </a:r>
            <a:r>
              <a:rPr lang="en-US" dirty="0" err="1"/>
              <a:t>P.Dept_ID</a:t>
            </a:r>
            <a:r>
              <a:rPr lang="en-US" dirty="0"/>
              <a:t> = </a:t>
            </a:r>
            <a:r>
              <a:rPr lang="en-US" dirty="0" err="1"/>
              <a:t>D.Dept_ID</a:t>
            </a:r>
            <a:endParaRPr lang="en-US" dirty="0"/>
          </a:p>
          <a:p>
            <a:r>
              <a:rPr lang="en-US" dirty="0"/>
              <a:t>)</a:t>
            </a:r>
          </a:p>
          <a:p>
            <a:r>
              <a:rPr lang="en-US" dirty="0"/>
              <a:t>)</a:t>
            </a:r>
          </a:p>
          <a:p>
            <a:r>
              <a:rPr lang="en-US" dirty="0"/>
              <a:t>);</a:t>
            </a:r>
          </a:p>
          <a:p>
            <a:endParaRPr lang="en-US" dirty="0"/>
          </a:p>
          <a:p>
            <a:endParaRPr lang="en-US" dirty="0"/>
          </a:p>
          <a:p>
            <a:endParaRPr lang="en-US" dirty="0"/>
          </a:p>
          <a:p>
            <a:r>
              <a:rPr lang="en-US" b="1" dirty="0"/>
              <a:t>Why use Assertion here instead of CHECK?"</a:t>
            </a:r>
            <a:endParaRPr lang="en-US" dirty="0"/>
          </a:p>
          <a:p>
            <a:r>
              <a:rPr lang="en-US" dirty="0"/>
              <a:t>Answer:</a:t>
            </a:r>
          </a:p>
          <a:p>
            <a:r>
              <a:rPr lang="en-US" dirty="0"/>
              <a:t>Because the rule involves </a:t>
            </a:r>
            <a:r>
              <a:rPr lang="en-US" b="1" dirty="0"/>
              <a:t>multiple rows (SUM of costs)</a:t>
            </a:r>
            <a:r>
              <a:rPr lang="en-US" dirty="0"/>
              <a:t> and </a:t>
            </a:r>
            <a:r>
              <a:rPr lang="en-US" b="1" dirty="0"/>
              <a:t>two tables (Project and Department)</a:t>
            </a:r>
            <a:r>
              <a:rPr lang="en-US" dirty="0"/>
              <a:t>. A CHECK constraint can only validate individual row values, whereas an ASSERTION can validate conditions involving multiple rows and tables.</a:t>
            </a:r>
          </a:p>
          <a:p>
            <a:endParaRPr lang="en-US" dirty="0"/>
          </a:p>
        </p:txBody>
      </p:sp>
      <p:sp>
        <p:nvSpPr>
          <p:cNvPr id="4" name="Slide Number Placeholder 3"/>
          <p:cNvSpPr>
            <a:spLocks noGrp="1"/>
          </p:cNvSpPr>
          <p:nvPr>
            <p:ph type="sldNum" sz="quarter" idx="5"/>
          </p:nvPr>
        </p:nvSpPr>
        <p:spPr/>
        <p:txBody>
          <a:bodyPr/>
          <a:lstStyle/>
          <a:p>
            <a:fld id="{532ED260-D111-491D-AB9F-FC8569A2A916}" type="slidenum">
              <a:rPr lang="en-US" smtClean="0"/>
              <a:t>20</a:t>
            </a:fld>
            <a:endParaRPr lang="en-US"/>
          </a:p>
        </p:txBody>
      </p:sp>
    </p:spTree>
    <p:extLst>
      <p:ext uri="{BB962C8B-B14F-4D97-AF65-F5344CB8AC3E}">
        <p14:creationId xmlns:p14="http://schemas.microsoft.com/office/powerpoint/2010/main" val="13926092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32ED260-D111-491D-AB9F-FC8569A2A916}" type="slidenum">
              <a:rPr lang="en-US" smtClean="0"/>
              <a:t>22</a:t>
            </a:fld>
            <a:endParaRPr lang="en-US"/>
          </a:p>
        </p:txBody>
      </p:sp>
    </p:spTree>
    <p:extLst>
      <p:ext uri="{BB962C8B-B14F-4D97-AF65-F5344CB8AC3E}">
        <p14:creationId xmlns:p14="http://schemas.microsoft.com/office/powerpoint/2010/main" val="39753991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What is Used Instead?</a:t>
            </a:r>
          </a:p>
          <a:p>
            <a:r>
              <a:rPr lang="en-US" dirty="0"/>
              <a:t>In real projects, developers use:</a:t>
            </a:r>
          </a:p>
          <a:p>
            <a:r>
              <a:rPr lang="en-US" b="1" dirty="0"/>
              <a:t>1. CHECK Constraints</a:t>
            </a:r>
          </a:p>
          <a:p>
            <a:r>
              <a:rPr lang="en-US" dirty="0"/>
              <a:t>For simple row-level rules.</a:t>
            </a:r>
          </a:p>
          <a:p>
            <a:pPr rtl="0"/>
            <a:r>
              <a:rPr lang="en-US" sz="1200" kern="1200" dirty="0">
                <a:solidFill>
                  <a:schemeClr val="tx1"/>
                </a:solidFill>
                <a:latin typeface="+mn-lt"/>
                <a:ea typeface="+mn-ea"/>
                <a:cs typeface="+mn-cs"/>
              </a:rPr>
              <a:t>Age &gt;= 18</a:t>
            </a:r>
            <a:br>
              <a:rPr lang="en-US" sz="1200" kern="1200" dirty="0">
                <a:solidFill>
                  <a:schemeClr val="tx1"/>
                </a:solidFill>
                <a:latin typeface="+mn-lt"/>
                <a:ea typeface="+mn-ea"/>
                <a:cs typeface="+mn-cs"/>
              </a:rPr>
            </a:br>
            <a:r>
              <a:rPr lang="en-US" sz="1200" kern="1200" dirty="0">
                <a:solidFill>
                  <a:schemeClr val="tx1"/>
                </a:solidFill>
                <a:latin typeface="+mn-lt"/>
                <a:ea typeface="+mn-ea"/>
                <a:cs typeface="+mn-cs"/>
              </a:rPr>
              <a:t>Salary &gt; 0</a:t>
            </a:r>
            <a:br>
              <a:rPr lang="en-US" sz="1200" kern="1200" dirty="0">
                <a:solidFill>
                  <a:schemeClr val="tx1"/>
                </a:solidFill>
                <a:latin typeface="+mn-lt"/>
                <a:ea typeface="+mn-ea"/>
                <a:cs typeface="+mn-cs"/>
              </a:rPr>
            </a:br>
            <a:r>
              <a:rPr lang="en-US" sz="1200" kern="1200" dirty="0">
                <a:solidFill>
                  <a:schemeClr val="tx1"/>
                </a:solidFill>
                <a:latin typeface="+mn-lt"/>
                <a:ea typeface="+mn-ea"/>
                <a:cs typeface="+mn-cs"/>
              </a:rPr>
              <a:t>CGPA &lt;= 4</a:t>
            </a:r>
          </a:p>
          <a:p>
            <a:r>
              <a:rPr lang="en-US" b="1" dirty="0"/>
              <a:t>2. Triggers</a:t>
            </a:r>
          </a:p>
          <a:p>
            <a:r>
              <a:rPr lang="en-US" dirty="0"/>
              <a:t>For complex business rules.</a:t>
            </a:r>
          </a:p>
          <a:p>
            <a:r>
              <a:rPr lang="en-US" dirty="0"/>
              <a:t>Example:</a:t>
            </a:r>
          </a:p>
          <a:p>
            <a:pPr rtl="0"/>
            <a:r>
              <a:rPr lang="en-US" sz="1200" kern="1200" dirty="0">
                <a:solidFill>
                  <a:schemeClr val="tx1"/>
                </a:solidFill>
                <a:latin typeface="+mn-lt"/>
                <a:ea typeface="+mn-ea"/>
                <a:cs typeface="+mn-cs"/>
              </a:rPr>
              <a:t>Maximum 100 students per department</a:t>
            </a:r>
          </a:p>
          <a:p>
            <a:r>
              <a:rPr lang="en-US" dirty="0"/>
              <a:t>implemented through a BEFORE INSERT trigger.</a:t>
            </a:r>
          </a:p>
          <a:p>
            <a:r>
              <a:rPr lang="en-US" b="1" dirty="0"/>
              <a:t>3. Stored Procedures / Application Logic</a:t>
            </a:r>
          </a:p>
          <a:p>
            <a:r>
              <a:rPr lang="en-US" dirty="0"/>
              <a:t>Sometimes validation is performed in:</a:t>
            </a:r>
          </a:p>
          <a:p>
            <a:r>
              <a:rPr lang="en-US" dirty="0"/>
              <a:t>Java </a:t>
            </a:r>
          </a:p>
          <a:p>
            <a:r>
              <a:rPr lang="en-US" dirty="0"/>
              <a:t>Python </a:t>
            </a:r>
          </a:p>
          <a:p>
            <a:r>
              <a:rPr lang="en-US" dirty="0"/>
              <a:t>PHP </a:t>
            </a:r>
          </a:p>
          <a:p>
            <a:r>
              <a:rPr lang="en-US" dirty="0"/>
              <a:t>Django </a:t>
            </a:r>
          </a:p>
          <a:p>
            <a:r>
              <a:rPr lang="en-US" dirty="0"/>
              <a:t>.NET </a:t>
            </a:r>
          </a:p>
          <a:p>
            <a:r>
              <a:rPr lang="en-US" dirty="0"/>
              <a:t>before data reaches the database.</a:t>
            </a:r>
          </a:p>
          <a:p>
            <a:endParaRPr lang="en-US" dirty="0"/>
          </a:p>
          <a:p>
            <a:endParaRPr lang="en-US" dirty="0"/>
          </a:p>
          <a:p>
            <a:endParaRPr lang="en-US" dirty="0"/>
          </a:p>
          <a:p>
            <a:r>
              <a:rPr lang="en-US" dirty="0"/>
              <a:t>Assertions are database-level integrity constraints used to enforce conditions involving multiple rows or tables. Although they are part of the SQL standard, most modern DBMSs do not support them directly. In practical systems, triggers and application logic are commonly used to achieve the same functionality.</a:t>
            </a:r>
          </a:p>
          <a:p>
            <a:endParaRPr lang="en-US" b="1" dirty="0"/>
          </a:p>
          <a:p>
            <a:r>
              <a:rPr lang="en-US" b="1" dirty="0"/>
              <a:t>For Exams</a:t>
            </a:r>
          </a:p>
          <a:p>
            <a:r>
              <a:rPr lang="en-US" dirty="0"/>
              <a:t>You should still study Assertions because:</a:t>
            </a:r>
          </a:p>
          <a:p>
            <a:r>
              <a:rPr lang="en-US" dirty="0"/>
              <a:t>They are part of the relational model and SQL standard. </a:t>
            </a:r>
          </a:p>
          <a:p>
            <a:r>
              <a:rPr lang="en-US" dirty="0"/>
              <a:t>Universities (including DBMS courses like Pokhara University) ask them in theory exams. </a:t>
            </a:r>
          </a:p>
          <a:p>
            <a:r>
              <a:rPr lang="en-US" dirty="0"/>
              <a:t>They explain why triggers are needed in practice.</a:t>
            </a:r>
          </a:p>
          <a:p>
            <a:endParaRPr lang="en-US" dirty="0"/>
          </a:p>
        </p:txBody>
      </p:sp>
      <p:sp>
        <p:nvSpPr>
          <p:cNvPr id="4" name="Slide Number Placeholder 3"/>
          <p:cNvSpPr>
            <a:spLocks noGrp="1"/>
          </p:cNvSpPr>
          <p:nvPr>
            <p:ph type="sldNum" sz="quarter" idx="5"/>
          </p:nvPr>
        </p:nvSpPr>
        <p:spPr/>
        <p:txBody>
          <a:bodyPr/>
          <a:lstStyle/>
          <a:p>
            <a:fld id="{532ED260-D111-491D-AB9F-FC8569A2A916}" type="slidenum">
              <a:rPr lang="en-US" smtClean="0"/>
              <a:t>23</a:t>
            </a:fld>
            <a:endParaRPr lang="en-US"/>
          </a:p>
        </p:txBody>
      </p:sp>
    </p:spTree>
    <p:extLst>
      <p:ext uri="{BB962C8B-B14F-4D97-AF65-F5344CB8AC3E}">
        <p14:creationId xmlns:p14="http://schemas.microsoft.com/office/powerpoint/2010/main" val="21422181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Trigger is a database action that automatically runs in response to changes made to data.</a:t>
            </a:r>
          </a:p>
          <a:p>
            <a:endParaRPr lang="en-US" dirty="0"/>
          </a:p>
          <a:p>
            <a:r>
              <a:rPr lang="en-US" b="1" dirty="0"/>
              <a:t>Types of Triggers</a:t>
            </a:r>
          </a:p>
          <a:p>
            <a:endParaRPr lang="en-US" dirty="0"/>
          </a:p>
          <a:p>
            <a:r>
              <a:rPr lang="en-US" dirty="0"/>
              <a:t>Based on timing:</a:t>
            </a:r>
          </a:p>
          <a:p>
            <a:r>
              <a:rPr lang="en-US" dirty="0"/>
              <a:t>BEFORE Trigger </a:t>
            </a:r>
          </a:p>
          <a:p>
            <a:r>
              <a:rPr lang="en-US" dirty="0"/>
              <a:t>AFTER Trigger </a:t>
            </a:r>
          </a:p>
          <a:p>
            <a:endParaRPr lang="en-US" dirty="0"/>
          </a:p>
          <a:p>
            <a:endParaRPr lang="en-US" dirty="0"/>
          </a:p>
          <a:p>
            <a:r>
              <a:rPr lang="en-US" dirty="0"/>
              <a:t>Based on event:</a:t>
            </a:r>
          </a:p>
          <a:p>
            <a:r>
              <a:rPr lang="en-US" dirty="0"/>
              <a:t>INSERT Trigger </a:t>
            </a:r>
          </a:p>
          <a:p>
            <a:r>
              <a:rPr lang="en-US" dirty="0"/>
              <a:t>UPDATE Trigger </a:t>
            </a:r>
          </a:p>
          <a:p>
            <a:r>
              <a:rPr lang="en-US" dirty="0"/>
              <a:t>DELETE Trigger</a:t>
            </a:r>
          </a:p>
          <a:p>
            <a:endParaRPr lang="en-US" dirty="0"/>
          </a:p>
          <a:p>
            <a:endParaRPr lang="en-US" dirty="0"/>
          </a:p>
          <a:p>
            <a:endParaRPr lang="en-US" dirty="0"/>
          </a:p>
          <a:p>
            <a:endParaRPr lang="en-US" dirty="0"/>
          </a:p>
          <a:p>
            <a:endParaRPr lang="en-US" dirty="0"/>
          </a:p>
          <a:p>
            <a:r>
              <a:rPr lang="en-US" b="1" dirty="0"/>
              <a:t>Real-Life Example</a:t>
            </a:r>
          </a:p>
          <a:p>
            <a:r>
              <a:rPr lang="en-US" dirty="0"/>
              <a:t>Suppose a bank has an Account table.</a:t>
            </a:r>
          </a:p>
          <a:p>
            <a:pPr lvl="1"/>
            <a:r>
              <a:rPr lang="en-US" dirty="0"/>
              <a:t>If money is withdrawn, the bank wants to record the transaction in a log table automatically.</a:t>
            </a:r>
          </a:p>
          <a:p>
            <a:pPr lvl="1"/>
            <a:r>
              <a:rPr lang="en-US" dirty="0"/>
              <a:t>Instead of asking programmers to write code every time, a trigger can do it automatically.</a:t>
            </a:r>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532ED260-D111-491D-AB9F-FC8569A2A916}" type="slidenum">
              <a:rPr lang="en-US" smtClean="0"/>
              <a:t>24</a:t>
            </a:fld>
            <a:endParaRPr lang="en-US"/>
          </a:p>
        </p:txBody>
      </p:sp>
    </p:spTree>
    <p:extLst>
      <p:ext uri="{BB962C8B-B14F-4D97-AF65-F5344CB8AC3E}">
        <p14:creationId xmlns:p14="http://schemas.microsoft.com/office/powerpoint/2010/main" val="34936064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u="none" strike="noStrike" kern="1200" dirty="0">
                <a:solidFill>
                  <a:schemeClr val="tx1"/>
                </a:solidFill>
                <a:effectLst/>
                <a:latin typeface="+mn-lt"/>
                <a:ea typeface="+mn-ea"/>
                <a:cs typeface="+mn-cs"/>
              </a:rPr>
              <a:t>By the Firing Operation</a:t>
            </a:r>
          </a:p>
          <a:p>
            <a:r>
              <a:rPr lang="en-US" sz="1200" b="1" u="none" strike="noStrike" kern="1200" dirty="0">
                <a:solidFill>
                  <a:schemeClr val="tx1"/>
                </a:solidFill>
                <a:effectLst/>
                <a:latin typeface="+mn-lt"/>
                <a:ea typeface="+mn-ea"/>
                <a:cs typeface="+mn-cs"/>
              </a:rPr>
              <a:t>DML Triggers</a:t>
            </a:r>
            <a:r>
              <a:rPr lang="en-US" sz="1200" b="0" u="none" strike="noStrike" kern="1200" dirty="0">
                <a:solidFill>
                  <a:schemeClr val="tx1"/>
                </a:solidFill>
                <a:effectLst/>
                <a:latin typeface="+mn-lt"/>
                <a:ea typeface="+mn-ea"/>
                <a:cs typeface="+mn-cs"/>
              </a:rPr>
              <a:t>: Fire in response to Data Manipulation Language events like INSERT, UPDATE, and DELETE.</a:t>
            </a:r>
          </a:p>
          <a:p>
            <a:r>
              <a:rPr lang="en-US" sz="1200" b="1" u="none" strike="noStrike" kern="1200" dirty="0">
                <a:solidFill>
                  <a:schemeClr val="tx1"/>
                </a:solidFill>
                <a:effectLst/>
                <a:latin typeface="+mn-lt"/>
                <a:ea typeface="+mn-ea"/>
                <a:cs typeface="+mn-cs"/>
              </a:rPr>
              <a:t>DDL Triggers</a:t>
            </a:r>
            <a:r>
              <a:rPr lang="en-US" sz="1200" b="0" u="none" strike="noStrike" kern="1200" dirty="0">
                <a:solidFill>
                  <a:schemeClr val="tx1"/>
                </a:solidFill>
                <a:effectLst/>
                <a:latin typeface="+mn-lt"/>
                <a:ea typeface="+mn-ea"/>
                <a:cs typeface="+mn-cs"/>
              </a:rPr>
              <a:t>: Execute during Data Definition Language structural changes like CREATE, ALTER, or DROP.</a:t>
            </a:r>
          </a:p>
          <a:p>
            <a:r>
              <a:rPr lang="en-US" sz="1200" b="1" u="none" strike="noStrike" kern="1200" dirty="0">
                <a:solidFill>
                  <a:schemeClr val="tx1"/>
                </a:solidFill>
                <a:effectLst/>
                <a:latin typeface="+mn-lt"/>
                <a:ea typeface="+mn-ea"/>
                <a:cs typeface="+mn-cs"/>
              </a:rPr>
              <a:t>Logon Triggers</a:t>
            </a:r>
            <a:r>
              <a:rPr lang="en-US" sz="1200" b="0" u="none" strike="noStrike" kern="1200" dirty="0">
                <a:solidFill>
                  <a:schemeClr val="tx1"/>
                </a:solidFill>
                <a:effectLst/>
                <a:latin typeface="+mn-lt"/>
                <a:ea typeface="+mn-ea"/>
                <a:cs typeface="+mn-cs"/>
              </a:rPr>
              <a:t>: Activate when a user session or connection is established with the database server.</a:t>
            </a:r>
          </a:p>
          <a:p>
            <a:r>
              <a:rPr lang="en-US" sz="1200" b="1" u="none" strike="noStrike" kern="1200" dirty="0">
                <a:solidFill>
                  <a:schemeClr val="tx1"/>
                </a:solidFill>
                <a:effectLst/>
                <a:latin typeface="+mn-lt"/>
                <a:ea typeface="+mn-ea"/>
                <a:cs typeface="+mn-cs"/>
              </a:rPr>
              <a:t>2. By Firing Time</a:t>
            </a:r>
          </a:p>
          <a:p>
            <a:r>
              <a:rPr lang="en-US" sz="1200" b="1" u="none" strike="noStrike" kern="1200" dirty="0">
                <a:solidFill>
                  <a:schemeClr val="tx1"/>
                </a:solidFill>
                <a:effectLst/>
                <a:latin typeface="+mn-lt"/>
                <a:ea typeface="+mn-ea"/>
                <a:cs typeface="+mn-cs"/>
              </a:rPr>
              <a:t>BEFORE Triggers</a:t>
            </a:r>
            <a:r>
              <a:rPr lang="en-US" sz="1200" b="0" u="none" strike="noStrike" kern="1200" dirty="0">
                <a:solidFill>
                  <a:schemeClr val="tx1"/>
                </a:solidFill>
                <a:effectLst/>
                <a:latin typeface="+mn-lt"/>
                <a:ea typeface="+mn-ea"/>
                <a:cs typeface="+mn-cs"/>
              </a:rPr>
              <a:t>: Run prior to executing the triggering data change. These are ideal for validating or formatting data before it is permanently saved.</a:t>
            </a:r>
          </a:p>
          <a:p>
            <a:r>
              <a:rPr lang="en-US" sz="1200" b="1" u="none" strike="noStrike" kern="1200" dirty="0">
                <a:solidFill>
                  <a:schemeClr val="tx1"/>
                </a:solidFill>
                <a:effectLst/>
                <a:latin typeface="+mn-lt"/>
                <a:ea typeface="+mn-ea"/>
                <a:cs typeface="+mn-cs"/>
              </a:rPr>
              <a:t>AFTER Triggers</a:t>
            </a:r>
            <a:r>
              <a:rPr lang="en-US" sz="1200" b="0" u="none" strike="noStrike" kern="1200" dirty="0">
                <a:solidFill>
                  <a:schemeClr val="tx1"/>
                </a:solidFill>
                <a:effectLst/>
                <a:latin typeface="+mn-lt"/>
                <a:ea typeface="+mn-ea"/>
                <a:cs typeface="+mn-cs"/>
              </a:rPr>
              <a:t>: Execute only after the primary database operation completes successfully. These are widely used to maintain historical logs or cascade changes to unrelated tables.</a:t>
            </a:r>
          </a:p>
          <a:p>
            <a:endParaRPr lang="en-US" sz="1200" b="0" u="none" strike="noStrike" kern="1200" dirty="0">
              <a:solidFill>
                <a:schemeClr val="tx1"/>
              </a:solidFill>
              <a:effectLst/>
              <a:latin typeface="+mn-lt"/>
              <a:ea typeface="+mn-ea"/>
              <a:cs typeface="+mn-cs"/>
            </a:endParaRPr>
          </a:p>
          <a:p>
            <a:r>
              <a:rPr lang="en-US" sz="1200" b="1" u="none" strike="noStrike" kern="1200" dirty="0">
                <a:solidFill>
                  <a:schemeClr val="tx1"/>
                </a:solidFill>
                <a:effectLst/>
                <a:latin typeface="+mn-lt"/>
                <a:ea typeface="+mn-ea"/>
                <a:cs typeface="+mn-cs"/>
              </a:rPr>
              <a:t>INSTEAD OF Triggers</a:t>
            </a:r>
            <a:r>
              <a:rPr lang="en-US" sz="1200" b="0" u="none" strike="noStrike" kern="1200" dirty="0">
                <a:solidFill>
                  <a:schemeClr val="tx1"/>
                </a:solidFill>
                <a:effectLst/>
                <a:latin typeface="+mn-lt"/>
                <a:ea typeface="+mn-ea"/>
                <a:cs typeface="+mn-cs"/>
              </a:rPr>
              <a:t>: Intercept the requested action completely and replace it with custom SQL logic. These are highly critical for allowing updates on non-updatable complex views. </a:t>
            </a:r>
          </a:p>
          <a:p>
            <a:r>
              <a:rPr lang="en-US" sz="1200" b="1" u="none" strike="noStrike" kern="1200" dirty="0">
                <a:solidFill>
                  <a:schemeClr val="tx1"/>
                </a:solidFill>
                <a:effectLst/>
                <a:latin typeface="+mn-lt"/>
                <a:ea typeface="+mn-ea"/>
                <a:cs typeface="+mn-cs"/>
              </a:rPr>
              <a:t>3. By Firing Frequency (Granularity)</a:t>
            </a:r>
          </a:p>
          <a:p>
            <a:r>
              <a:rPr lang="en-US" sz="1200" b="1" u="none" strike="noStrike" kern="1200" dirty="0">
                <a:solidFill>
                  <a:schemeClr val="tx1"/>
                </a:solidFill>
                <a:effectLst/>
                <a:latin typeface="+mn-lt"/>
                <a:ea typeface="+mn-ea"/>
                <a:cs typeface="+mn-cs"/>
              </a:rPr>
              <a:t>Row-Level Triggers</a:t>
            </a:r>
            <a:r>
              <a:rPr lang="en-US" sz="1200" b="0" u="none" strike="noStrike" kern="1200" dirty="0">
                <a:solidFill>
                  <a:schemeClr val="tx1"/>
                </a:solidFill>
                <a:effectLst/>
                <a:latin typeface="+mn-lt"/>
                <a:ea typeface="+mn-ea"/>
                <a:cs typeface="+mn-cs"/>
              </a:rPr>
              <a:t>: Execute independently for every individual row affected by an SQL statement. They use pseudo-records like NEW and OLD to capture runtime column data values. </a:t>
            </a:r>
          </a:p>
          <a:p>
            <a:endParaRPr lang="en-US" sz="1200" b="0" u="none" strike="noStrike" kern="1200" dirty="0">
              <a:solidFill>
                <a:schemeClr val="tx1"/>
              </a:solidFill>
              <a:effectLst/>
              <a:latin typeface="+mn-lt"/>
              <a:ea typeface="+mn-ea"/>
              <a:cs typeface="+mn-cs"/>
            </a:endParaRPr>
          </a:p>
          <a:p>
            <a:r>
              <a:rPr lang="en-US" sz="1200" b="1" u="none" strike="noStrike" kern="1200" dirty="0">
                <a:solidFill>
                  <a:schemeClr val="tx1"/>
                </a:solidFill>
                <a:effectLst/>
                <a:latin typeface="+mn-lt"/>
                <a:ea typeface="+mn-ea"/>
                <a:cs typeface="+mn-cs"/>
              </a:rPr>
              <a:t>Statement-Level Triggers</a:t>
            </a:r>
            <a:r>
              <a:rPr lang="en-US" sz="1200" b="0" u="none" strike="noStrike" kern="1200" dirty="0">
                <a:solidFill>
                  <a:schemeClr val="tx1"/>
                </a:solidFill>
                <a:effectLst/>
                <a:latin typeface="+mn-lt"/>
                <a:ea typeface="+mn-ea"/>
                <a:cs typeface="+mn-cs"/>
              </a:rPr>
              <a:t>: Execute exactly once per SQL statement, regardless of whether that statement modifies zero rows, one row, or millions of rows simultaneously</a:t>
            </a:r>
          </a:p>
          <a:p>
            <a:endParaRPr lang="en-US" dirty="0"/>
          </a:p>
        </p:txBody>
      </p:sp>
      <p:sp>
        <p:nvSpPr>
          <p:cNvPr id="4" name="Slide Number Placeholder 3"/>
          <p:cNvSpPr>
            <a:spLocks noGrp="1"/>
          </p:cNvSpPr>
          <p:nvPr>
            <p:ph type="sldNum" sz="quarter" idx="5"/>
          </p:nvPr>
        </p:nvSpPr>
        <p:spPr/>
        <p:txBody>
          <a:bodyPr/>
          <a:lstStyle/>
          <a:p>
            <a:fld id="{532ED260-D111-491D-AB9F-FC8569A2A916}" type="slidenum">
              <a:rPr lang="en-US" smtClean="0"/>
              <a:t>25</a:t>
            </a:fld>
            <a:endParaRPr lang="en-US"/>
          </a:p>
        </p:txBody>
      </p:sp>
    </p:spTree>
    <p:extLst>
      <p:ext uri="{BB962C8B-B14F-4D97-AF65-F5344CB8AC3E}">
        <p14:creationId xmlns:p14="http://schemas.microsoft.com/office/powerpoint/2010/main" val="34154252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BEFORE INSERT Trigger</a:t>
            </a:r>
          </a:p>
          <a:p>
            <a:r>
              <a:rPr lang="en-US" b="1" dirty="0"/>
              <a:t>Purpose</a:t>
            </a:r>
          </a:p>
          <a:p>
            <a:r>
              <a:rPr lang="en-US" dirty="0"/>
              <a:t>Validates data before insertion.</a:t>
            </a:r>
          </a:p>
          <a:p>
            <a:r>
              <a:rPr lang="en-US" b="1" dirty="0"/>
              <a:t>Example</a:t>
            </a:r>
          </a:p>
          <a:p>
            <a:r>
              <a:rPr lang="en-US" dirty="0"/>
              <a:t>Prevent students younger than 18 from being inserted.</a:t>
            </a:r>
          </a:p>
          <a:p>
            <a:pPr rtl="0"/>
            <a:r>
              <a:rPr lang="en-US" sz="1200" kern="1200" dirty="0">
                <a:solidFill>
                  <a:schemeClr val="tx1"/>
                </a:solidFill>
                <a:latin typeface="+mn-lt"/>
                <a:ea typeface="+mn-ea"/>
                <a:cs typeface="+mn-cs"/>
              </a:rPr>
              <a:t>CREATE TRIGGER </a:t>
            </a:r>
            <a:r>
              <a:rPr lang="en-US" sz="1200" kern="1200" dirty="0" err="1">
                <a:solidFill>
                  <a:schemeClr val="tx1"/>
                </a:solidFill>
                <a:latin typeface="+mn-lt"/>
                <a:ea typeface="+mn-ea"/>
                <a:cs typeface="+mn-cs"/>
              </a:rPr>
              <a:t>Check_Age</a:t>
            </a:r>
            <a:br>
              <a:rPr lang="en-US" sz="1200" kern="1200" dirty="0">
                <a:solidFill>
                  <a:schemeClr val="tx1"/>
                </a:solidFill>
                <a:latin typeface="+mn-lt"/>
                <a:ea typeface="+mn-ea"/>
                <a:cs typeface="+mn-cs"/>
              </a:rPr>
            </a:br>
            <a:r>
              <a:rPr lang="en-US" sz="1200" kern="1200" dirty="0">
                <a:solidFill>
                  <a:schemeClr val="tx1"/>
                </a:solidFill>
                <a:latin typeface="+mn-lt"/>
                <a:ea typeface="+mn-ea"/>
                <a:cs typeface="+mn-cs"/>
              </a:rPr>
              <a:t>BEFORE INSERT</a:t>
            </a:r>
            <a:br>
              <a:rPr lang="en-US" sz="1200" kern="1200" dirty="0">
                <a:solidFill>
                  <a:schemeClr val="tx1"/>
                </a:solidFill>
                <a:latin typeface="+mn-lt"/>
                <a:ea typeface="+mn-ea"/>
                <a:cs typeface="+mn-cs"/>
              </a:rPr>
            </a:br>
            <a:r>
              <a:rPr lang="en-US" sz="1200" kern="1200" dirty="0">
                <a:solidFill>
                  <a:schemeClr val="tx1"/>
                </a:solidFill>
                <a:latin typeface="+mn-lt"/>
                <a:ea typeface="+mn-ea"/>
                <a:cs typeface="+mn-cs"/>
              </a:rPr>
              <a:t>ON Student</a:t>
            </a:r>
            <a:br>
              <a:rPr lang="en-US" sz="1200" kern="1200" dirty="0">
                <a:solidFill>
                  <a:schemeClr val="tx1"/>
                </a:solidFill>
                <a:latin typeface="+mn-lt"/>
                <a:ea typeface="+mn-ea"/>
                <a:cs typeface="+mn-cs"/>
              </a:rPr>
            </a:br>
            <a:r>
              <a:rPr lang="en-US" sz="1200" kern="1200" dirty="0">
                <a:solidFill>
                  <a:schemeClr val="tx1"/>
                </a:solidFill>
                <a:latin typeface="+mn-lt"/>
                <a:ea typeface="+mn-ea"/>
                <a:cs typeface="+mn-cs"/>
              </a:rPr>
              <a:t>FOR EACH ROW</a:t>
            </a:r>
            <a:br>
              <a:rPr lang="en-US" sz="1200" kern="1200" dirty="0">
                <a:solidFill>
                  <a:schemeClr val="tx1"/>
                </a:solidFill>
                <a:latin typeface="+mn-lt"/>
                <a:ea typeface="+mn-ea"/>
                <a:cs typeface="+mn-cs"/>
              </a:rPr>
            </a:br>
            <a:r>
              <a:rPr lang="en-US" sz="1200" kern="1200" dirty="0">
                <a:solidFill>
                  <a:schemeClr val="tx1"/>
                </a:solidFill>
                <a:latin typeface="+mn-lt"/>
                <a:ea typeface="+mn-ea"/>
                <a:cs typeface="+mn-cs"/>
              </a:rPr>
              <a:t>BEGIN</a:t>
            </a:r>
            <a:br>
              <a:rPr lang="en-US" sz="1200" kern="1200" dirty="0">
                <a:solidFill>
                  <a:schemeClr val="tx1"/>
                </a:solidFill>
                <a:latin typeface="+mn-lt"/>
                <a:ea typeface="+mn-ea"/>
                <a:cs typeface="+mn-cs"/>
              </a:rPr>
            </a:br>
            <a:br>
              <a:rPr lang="en-US" sz="1200" kern="1200" dirty="0">
                <a:solidFill>
                  <a:schemeClr val="tx1"/>
                </a:solidFill>
                <a:latin typeface="+mn-lt"/>
                <a:ea typeface="+mn-ea"/>
                <a:cs typeface="+mn-cs"/>
              </a:rPr>
            </a:br>
            <a:r>
              <a:rPr lang="en-US" sz="1200" kern="1200" dirty="0">
                <a:solidFill>
                  <a:schemeClr val="tx1"/>
                </a:solidFill>
                <a:latin typeface="+mn-lt"/>
                <a:ea typeface="+mn-ea"/>
                <a:cs typeface="+mn-cs"/>
              </a:rPr>
              <a:t>    IF </a:t>
            </a:r>
            <a:r>
              <a:rPr lang="en-US" sz="1200" kern="1200" dirty="0" err="1">
                <a:solidFill>
                  <a:schemeClr val="tx1"/>
                </a:solidFill>
                <a:latin typeface="+mn-lt"/>
                <a:ea typeface="+mn-ea"/>
                <a:cs typeface="+mn-cs"/>
              </a:rPr>
              <a:t>NEW.Age</a:t>
            </a:r>
            <a:r>
              <a:rPr lang="en-US" sz="1200" kern="1200" dirty="0">
                <a:solidFill>
                  <a:schemeClr val="tx1"/>
                </a:solidFill>
                <a:latin typeface="+mn-lt"/>
                <a:ea typeface="+mn-ea"/>
                <a:cs typeface="+mn-cs"/>
              </a:rPr>
              <a:t> &lt; 18 THEN</a:t>
            </a:r>
            <a:br>
              <a:rPr lang="en-US" sz="1200" kern="1200" dirty="0">
                <a:solidFill>
                  <a:schemeClr val="tx1"/>
                </a:solidFill>
                <a:latin typeface="+mn-lt"/>
                <a:ea typeface="+mn-ea"/>
                <a:cs typeface="+mn-cs"/>
              </a:rPr>
            </a:br>
            <a:r>
              <a:rPr lang="en-US" sz="1200" kern="1200" dirty="0">
                <a:solidFill>
                  <a:schemeClr val="tx1"/>
                </a:solidFill>
                <a:latin typeface="+mn-lt"/>
                <a:ea typeface="+mn-ea"/>
                <a:cs typeface="+mn-cs"/>
              </a:rPr>
              <a:t>        SIGNAL SQLSTATE '45000'</a:t>
            </a:r>
            <a:br>
              <a:rPr lang="en-US" sz="1200" kern="1200" dirty="0">
                <a:solidFill>
                  <a:schemeClr val="tx1"/>
                </a:solidFill>
                <a:latin typeface="+mn-lt"/>
                <a:ea typeface="+mn-ea"/>
                <a:cs typeface="+mn-cs"/>
              </a:rPr>
            </a:br>
            <a:r>
              <a:rPr lang="en-US" sz="1200" kern="1200" dirty="0">
                <a:solidFill>
                  <a:schemeClr val="tx1"/>
                </a:solidFill>
                <a:latin typeface="+mn-lt"/>
                <a:ea typeface="+mn-ea"/>
                <a:cs typeface="+mn-cs"/>
              </a:rPr>
              <a:t>        SET MESSAGE_TEXT='Age must be 18 or above';</a:t>
            </a:r>
            <a:br>
              <a:rPr lang="en-US" sz="1200" kern="1200" dirty="0">
                <a:solidFill>
                  <a:schemeClr val="tx1"/>
                </a:solidFill>
                <a:latin typeface="+mn-lt"/>
                <a:ea typeface="+mn-ea"/>
                <a:cs typeface="+mn-cs"/>
              </a:rPr>
            </a:br>
            <a:r>
              <a:rPr lang="en-US" sz="1200" kern="1200" dirty="0">
                <a:solidFill>
                  <a:schemeClr val="tx1"/>
                </a:solidFill>
                <a:latin typeface="+mn-lt"/>
                <a:ea typeface="+mn-ea"/>
                <a:cs typeface="+mn-cs"/>
              </a:rPr>
              <a:t>    END IF;</a:t>
            </a:r>
            <a:br>
              <a:rPr lang="en-US" sz="1200" kern="1200" dirty="0">
                <a:solidFill>
                  <a:schemeClr val="tx1"/>
                </a:solidFill>
                <a:latin typeface="+mn-lt"/>
                <a:ea typeface="+mn-ea"/>
                <a:cs typeface="+mn-cs"/>
              </a:rPr>
            </a:br>
            <a:br>
              <a:rPr lang="en-US" sz="1200" kern="1200" dirty="0">
                <a:solidFill>
                  <a:schemeClr val="tx1"/>
                </a:solidFill>
                <a:latin typeface="+mn-lt"/>
                <a:ea typeface="+mn-ea"/>
                <a:cs typeface="+mn-cs"/>
              </a:rPr>
            </a:br>
            <a:r>
              <a:rPr lang="en-US" sz="1200" kern="1200" dirty="0">
                <a:solidFill>
                  <a:schemeClr val="tx1"/>
                </a:solidFill>
                <a:latin typeface="+mn-lt"/>
                <a:ea typeface="+mn-ea"/>
                <a:cs typeface="+mn-cs"/>
              </a:rPr>
              <a:t>END;</a:t>
            </a:r>
          </a:p>
          <a:p>
            <a:br>
              <a:rPr lang="en-US" dirty="0"/>
            </a:br>
            <a:endParaRPr lang="en-US" dirty="0"/>
          </a:p>
          <a:p>
            <a:r>
              <a:rPr lang="en-US" b="1" dirty="0"/>
              <a:t>What Happens?</a:t>
            </a:r>
          </a:p>
          <a:p>
            <a:r>
              <a:rPr lang="en-US" dirty="0"/>
              <a:t>Attempt:</a:t>
            </a:r>
          </a:p>
          <a:p>
            <a:pPr rtl="0"/>
            <a:r>
              <a:rPr lang="en-US" sz="1200" kern="1200" dirty="0">
                <a:solidFill>
                  <a:schemeClr val="tx1"/>
                </a:solidFill>
                <a:latin typeface="+mn-lt"/>
                <a:ea typeface="+mn-ea"/>
                <a:cs typeface="+mn-cs"/>
              </a:rPr>
              <a:t>INSERT INTO Student</a:t>
            </a:r>
            <a:br>
              <a:rPr lang="en-US" sz="1200" kern="1200" dirty="0">
                <a:solidFill>
                  <a:schemeClr val="tx1"/>
                </a:solidFill>
                <a:latin typeface="+mn-lt"/>
                <a:ea typeface="+mn-ea"/>
                <a:cs typeface="+mn-cs"/>
              </a:rPr>
            </a:br>
            <a:r>
              <a:rPr lang="en-US" sz="1200" kern="1200" dirty="0">
                <a:solidFill>
                  <a:schemeClr val="tx1"/>
                </a:solidFill>
                <a:latin typeface="+mn-lt"/>
                <a:ea typeface="+mn-ea"/>
                <a:cs typeface="+mn-cs"/>
              </a:rPr>
              <a:t>VALUES(101,'Ram',16);</a:t>
            </a:r>
          </a:p>
          <a:p>
            <a:r>
              <a:rPr lang="en-US" dirty="0"/>
              <a:t>Trigger fires:</a:t>
            </a:r>
          </a:p>
          <a:p>
            <a:pPr rtl="0"/>
            <a:r>
              <a:rPr lang="en-US" sz="1200" kern="1200" dirty="0">
                <a:solidFill>
                  <a:schemeClr val="tx1"/>
                </a:solidFill>
                <a:latin typeface="+mn-lt"/>
                <a:ea typeface="+mn-ea"/>
                <a:cs typeface="+mn-cs"/>
              </a:rPr>
              <a:t>16 &lt; 18</a:t>
            </a:r>
          </a:p>
          <a:p>
            <a:r>
              <a:rPr lang="en-US" dirty="0"/>
              <a:t>Result:</a:t>
            </a:r>
          </a:p>
          <a:p>
            <a:r>
              <a:rPr lang="en-US" dirty="0"/>
              <a:t>❌ Insert rejected</a:t>
            </a:r>
          </a:p>
          <a:p>
            <a:br>
              <a:rPr lang="en-US" dirty="0"/>
            </a:br>
            <a:endParaRPr lang="en-US" dirty="0"/>
          </a:p>
          <a:p>
            <a:r>
              <a:rPr lang="en-US" b="1" dirty="0"/>
              <a:t>AFTER INSERT Trigger</a:t>
            </a:r>
          </a:p>
          <a:p>
            <a:r>
              <a:rPr lang="en-US" b="1" dirty="0"/>
              <a:t>Purpose</a:t>
            </a:r>
          </a:p>
          <a:p>
            <a:r>
              <a:rPr lang="en-US" dirty="0"/>
              <a:t>Perform actions after insertion.</a:t>
            </a:r>
          </a:p>
          <a:p>
            <a:r>
              <a:rPr lang="en-US" b="1" dirty="0"/>
              <a:t>Example</a:t>
            </a:r>
          </a:p>
          <a:p>
            <a:r>
              <a:rPr lang="en-US" dirty="0"/>
              <a:t>Audit logging.</a:t>
            </a:r>
          </a:p>
          <a:p>
            <a:br>
              <a:rPr lang="en-US" dirty="0"/>
            </a:br>
            <a:endParaRPr lang="en-US" dirty="0"/>
          </a:p>
          <a:p>
            <a:r>
              <a:rPr lang="en-US" b="1" dirty="0"/>
              <a:t>Student Table</a:t>
            </a:r>
          </a:p>
          <a:p>
            <a:r>
              <a:rPr lang="en-US" dirty="0"/>
              <a:t>Roll_NoName101Ram</a:t>
            </a:r>
          </a:p>
          <a:p>
            <a:r>
              <a:rPr lang="en-US" b="1" dirty="0"/>
              <a:t>Audit Table</a:t>
            </a:r>
          </a:p>
          <a:p>
            <a:r>
              <a:rPr lang="en-US" dirty="0" err="1"/>
              <a:t>ActionStudent</a:t>
            </a:r>
            <a:r>
              <a:rPr lang="en-US" dirty="0"/>
              <a:t> Added</a:t>
            </a:r>
          </a:p>
          <a:p>
            <a:r>
              <a:rPr lang="en-US" dirty="0"/>
              <a:t>Trigger:</a:t>
            </a:r>
          </a:p>
          <a:p>
            <a:pPr rtl="0"/>
            <a:r>
              <a:rPr lang="en-US" sz="1200" kern="1200" dirty="0">
                <a:solidFill>
                  <a:schemeClr val="tx1"/>
                </a:solidFill>
                <a:latin typeface="+mn-lt"/>
                <a:ea typeface="+mn-ea"/>
                <a:cs typeface="+mn-cs"/>
              </a:rPr>
              <a:t>CREATE TRIGGER </a:t>
            </a:r>
            <a:r>
              <a:rPr lang="en-US" sz="1200" kern="1200" dirty="0" err="1">
                <a:solidFill>
                  <a:schemeClr val="tx1"/>
                </a:solidFill>
                <a:latin typeface="+mn-lt"/>
                <a:ea typeface="+mn-ea"/>
                <a:cs typeface="+mn-cs"/>
              </a:rPr>
              <a:t>Student_Log</a:t>
            </a:r>
            <a:br>
              <a:rPr lang="en-US" sz="1200" kern="1200" dirty="0">
                <a:solidFill>
                  <a:schemeClr val="tx1"/>
                </a:solidFill>
                <a:latin typeface="+mn-lt"/>
                <a:ea typeface="+mn-ea"/>
                <a:cs typeface="+mn-cs"/>
              </a:rPr>
            </a:br>
            <a:r>
              <a:rPr lang="en-US" sz="1200" kern="1200" dirty="0">
                <a:solidFill>
                  <a:schemeClr val="tx1"/>
                </a:solidFill>
                <a:latin typeface="+mn-lt"/>
                <a:ea typeface="+mn-ea"/>
                <a:cs typeface="+mn-cs"/>
              </a:rPr>
              <a:t>AFTER INSERT</a:t>
            </a:r>
            <a:br>
              <a:rPr lang="en-US" sz="1200" kern="1200" dirty="0">
                <a:solidFill>
                  <a:schemeClr val="tx1"/>
                </a:solidFill>
                <a:latin typeface="+mn-lt"/>
                <a:ea typeface="+mn-ea"/>
                <a:cs typeface="+mn-cs"/>
              </a:rPr>
            </a:br>
            <a:r>
              <a:rPr lang="en-US" sz="1200" kern="1200" dirty="0">
                <a:solidFill>
                  <a:schemeClr val="tx1"/>
                </a:solidFill>
                <a:latin typeface="+mn-lt"/>
                <a:ea typeface="+mn-ea"/>
                <a:cs typeface="+mn-cs"/>
              </a:rPr>
              <a:t>ON Student</a:t>
            </a:r>
            <a:br>
              <a:rPr lang="en-US" sz="1200" kern="1200" dirty="0">
                <a:solidFill>
                  <a:schemeClr val="tx1"/>
                </a:solidFill>
                <a:latin typeface="+mn-lt"/>
                <a:ea typeface="+mn-ea"/>
                <a:cs typeface="+mn-cs"/>
              </a:rPr>
            </a:br>
            <a:r>
              <a:rPr lang="en-US" sz="1200" kern="1200" dirty="0">
                <a:solidFill>
                  <a:schemeClr val="tx1"/>
                </a:solidFill>
                <a:latin typeface="+mn-lt"/>
                <a:ea typeface="+mn-ea"/>
                <a:cs typeface="+mn-cs"/>
              </a:rPr>
              <a:t>FOR EACH ROW</a:t>
            </a:r>
            <a:br>
              <a:rPr lang="en-US" sz="1200" kern="1200" dirty="0">
                <a:solidFill>
                  <a:schemeClr val="tx1"/>
                </a:solidFill>
                <a:latin typeface="+mn-lt"/>
                <a:ea typeface="+mn-ea"/>
                <a:cs typeface="+mn-cs"/>
              </a:rPr>
            </a:br>
            <a:r>
              <a:rPr lang="en-US" sz="1200" kern="1200" dirty="0">
                <a:solidFill>
                  <a:schemeClr val="tx1"/>
                </a:solidFill>
                <a:latin typeface="+mn-lt"/>
                <a:ea typeface="+mn-ea"/>
                <a:cs typeface="+mn-cs"/>
              </a:rPr>
              <a:t>BEGIN</a:t>
            </a:r>
            <a:br>
              <a:rPr lang="en-US" sz="1200" kern="1200" dirty="0">
                <a:solidFill>
                  <a:schemeClr val="tx1"/>
                </a:solidFill>
                <a:latin typeface="+mn-lt"/>
                <a:ea typeface="+mn-ea"/>
                <a:cs typeface="+mn-cs"/>
              </a:rPr>
            </a:br>
            <a:br>
              <a:rPr lang="en-US" sz="1200" kern="1200" dirty="0">
                <a:solidFill>
                  <a:schemeClr val="tx1"/>
                </a:solidFill>
                <a:latin typeface="+mn-lt"/>
                <a:ea typeface="+mn-ea"/>
                <a:cs typeface="+mn-cs"/>
              </a:rPr>
            </a:br>
            <a:r>
              <a:rPr lang="en-US" sz="1200" kern="1200" dirty="0">
                <a:solidFill>
                  <a:schemeClr val="tx1"/>
                </a:solidFill>
                <a:latin typeface="+mn-lt"/>
                <a:ea typeface="+mn-ea"/>
                <a:cs typeface="+mn-cs"/>
              </a:rPr>
              <a:t>    INSERT INTO </a:t>
            </a:r>
            <a:r>
              <a:rPr lang="en-US" sz="1200" kern="1200" dirty="0" err="1">
                <a:solidFill>
                  <a:schemeClr val="tx1"/>
                </a:solidFill>
                <a:latin typeface="+mn-lt"/>
                <a:ea typeface="+mn-ea"/>
                <a:cs typeface="+mn-cs"/>
              </a:rPr>
              <a:t>Audit_Log</a:t>
            </a:r>
            <a:br>
              <a:rPr lang="en-US" sz="1200" kern="1200" dirty="0">
                <a:solidFill>
                  <a:schemeClr val="tx1"/>
                </a:solidFill>
                <a:latin typeface="+mn-lt"/>
                <a:ea typeface="+mn-ea"/>
                <a:cs typeface="+mn-cs"/>
              </a:rPr>
            </a:br>
            <a:r>
              <a:rPr lang="en-US" sz="1200" kern="1200" dirty="0">
                <a:solidFill>
                  <a:schemeClr val="tx1"/>
                </a:solidFill>
                <a:latin typeface="+mn-lt"/>
                <a:ea typeface="+mn-ea"/>
                <a:cs typeface="+mn-cs"/>
              </a:rPr>
              <a:t>    VALUES('Student Added');</a:t>
            </a:r>
            <a:br>
              <a:rPr lang="en-US" sz="1200" kern="1200" dirty="0">
                <a:solidFill>
                  <a:schemeClr val="tx1"/>
                </a:solidFill>
                <a:latin typeface="+mn-lt"/>
                <a:ea typeface="+mn-ea"/>
                <a:cs typeface="+mn-cs"/>
              </a:rPr>
            </a:br>
            <a:br>
              <a:rPr lang="en-US" sz="1200" kern="1200" dirty="0">
                <a:solidFill>
                  <a:schemeClr val="tx1"/>
                </a:solidFill>
                <a:latin typeface="+mn-lt"/>
                <a:ea typeface="+mn-ea"/>
                <a:cs typeface="+mn-cs"/>
              </a:rPr>
            </a:br>
            <a:r>
              <a:rPr lang="en-US" sz="1200" kern="1200" dirty="0">
                <a:solidFill>
                  <a:schemeClr val="tx1"/>
                </a:solidFill>
                <a:latin typeface="+mn-lt"/>
                <a:ea typeface="+mn-ea"/>
                <a:cs typeface="+mn-cs"/>
              </a:rPr>
              <a:t>END;</a:t>
            </a:r>
          </a:p>
          <a:p>
            <a:br>
              <a:rPr lang="en-US" dirty="0"/>
            </a:br>
            <a:endParaRPr lang="en-US" dirty="0"/>
          </a:p>
          <a:p>
            <a:r>
              <a:rPr lang="en-US" b="1" dirty="0"/>
              <a:t>What Happens?</a:t>
            </a:r>
          </a:p>
          <a:p>
            <a:pPr rtl="0"/>
            <a:r>
              <a:rPr lang="en-US" sz="1200" kern="1200" dirty="0">
                <a:solidFill>
                  <a:schemeClr val="tx1"/>
                </a:solidFill>
                <a:latin typeface="+mn-lt"/>
                <a:ea typeface="+mn-ea"/>
                <a:cs typeface="+mn-cs"/>
              </a:rPr>
              <a:t>INSERT INTO Student</a:t>
            </a:r>
            <a:br>
              <a:rPr lang="en-US" sz="1200" kern="1200" dirty="0">
                <a:solidFill>
                  <a:schemeClr val="tx1"/>
                </a:solidFill>
                <a:latin typeface="+mn-lt"/>
                <a:ea typeface="+mn-ea"/>
                <a:cs typeface="+mn-cs"/>
              </a:rPr>
            </a:br>
            <a:r>
              <a:rPr lang="en-US" sz="1200" kern="1200" dirty="0">
                <a:solidFill>
                  <a:schemeClr val="tx1"/>
                </a:solidFill>
                <a:latin typeface="+mn-lt"/>
                <a:ea typeface="+mn-ea"/>
                <a:cs typeface="+mn-cs"/>
              </a:rPr>
              <a:t>VALUES(101,'Ram');</a:t>
            </a:r>
          </a:p>
          <a:p>
            <a:r>
              <a:rPr lang="en-US" dirty="0"/>
              <a:t>Result:</a:t>
            </a:r>
          </a:p>
          <a:p>
            <a:r>
              <a:rPr lang="en-US" b="1" dirty="0"/>
              <a:t>Student</a:t>
            </a:r>
          </a:p>
          <a:p>
            <a:r>
              <a:rPr lang="en-US" dirty="0"/>
              <a:t>Roll_NoName101Ram</a:t>
            </a:r>
          </a:p>
          <a:p>
            <a:r>
              <a:rPr lang="en-US" b="1" dirty="0" err="1"/>
              <a:t>Audit_Log</a:t>
            </a:r>
            <a:endParaRPr lang="en-US" b="1" dirty="0"/>
          </a:p>
          <a:p>
            <a:r>
              <a:rPr lang="en-US" dirty="0" err="1"/>
              <a:t>ActionStudent</a:t>
            </a:r>
            <a:r>
              <a:rPr lang="en-US" dirty="0"/>
              <a:t> Added</a:t>
            </a:r>
          </a:p>
          <a:p>
            <a:r>
              <a:rPr lang="en-US" dirty="0"/>
              <a:t>Automatically inserted.</a:t>
            </a:r>
          </a:p>
          <a:p>
            <a:br>
              <a:rPr lang="en-US" dirty="0"/>
            </a:br>
            <a:endParaRPr lang="en-US" dirty="0"/>
          </a:p>
          <a:p>
            <a:r>
              <a:rPr lang="en-US" b="1" dirty="0"/>
              <a:t>BEFORE UPDATE Trigger</a:t>
            </a:r>
          </a:p>
          <a:p>
            <a:r>
              <a:rPr lang="en-US" b="1" dirty="0"/>
              <a:t>Purpose</a:t>
            </a:r>
          </a:p>
          <a:p>
            <a:r>
              <a:rPr lang="en-US" dirty="0"/>
              <a:t>Validate updates before they occur.</a:t>
            </a:r>
          </a:p>
          <a:p>
            <a:r>
              <a:rPr lang="en-US" dirty="0"/>
              <a:t>Example:</a:t>
            </a:r>
          </a:p>
          <a:p>
            <a:r>
              <a:rPr lang="en-US" dirty="0"/>
              <a:t>Salary cannot be reduced below 15000.</a:t>
            </a:r>
          </a:p>
          <a:p>
            <a:pPr rtl="0"/>
            <a:r>
              <a:rPr lang="en-US" sz="1200" kern="1200" dirty="0">
                <a:solidFill>
                  <a:schemeClr val="tx1"/>
                </a:solidFill>
                <a:latin typeface="+mn-lt"/>
                <a:ea typeface="+mn-ea"/>
                <a:cs typeface="+mn-cs"/>
              </a:rPr>
              <a:t>CREATE TRIGGER </a:t>
            </a:r>
            <a:r>
              <a:rPr lang="en-US" sz="1200" kern="1200" dirty="0" err="1">
                <a:solidFill>
                  <a:schemeClr val="tx1"/>
                </a:solidFill>
                <a:latin typeface="+mn-lt"/>
                <a:ea typeface="+mn-ea"/>
                <a:cs typeface="+mn-cs"/>
              </a:rPr>
              <a:t>Check_Salary</a:t>
            </a:r>
            <a:br>
              <a:rPr lang="en-US" sz="1200" kern="1200" dirty="0">
                <a:solidFill>
                  <a:schemeClr val="tx1"/>
                </a:solidFill>
                <a:latin typeface="+mn-lt"/>
                <a:ea typeface="+mn-ea"/>
                <a:cs typeface="+mn-cs"/>
              </a:rPr>
            </a:br>
            <a:r>
              <a:rPr lang="en-US" sz="1200" kern="1200" dirty="0">
                <a:solidFill>
                  <a:schemeClr val="tx1"/>
                </a:solidFill>
                <a:latin typeface="+mn-lt"/>
                <a:ea typeface="+mn-ea"/>
                <a:cs typeface="+mn-cs"/>
              </a:rPr>
              <a:t>BEFORE UPDATE</a:t>
            </a:r>
            <a:br>
              <a:rPr lang="en-US" sz="1200" kern="1200" dirty="0">
                <a:solidFill>
                  <a:schemeClr val="tx1"/>
                </a:solidFill>
                <a:latin typeface="+mn-lt"/>
                <a:ea typeface="+mn-ea"/>
                <a:cs typeface="+mn-cs"/>
              </a:rPr>
            </a:br>
            <a:r>
              <a:rPr lang="en-US" sz="1200" kern="1200" dirty="0">
                <a:solidFill>
                  <a:schemeClr val="tx1"/>
                </a:solidFill>
                <a:latin typeface="+mn-lt"/>
                <a:ea typeface="+mn-ea"/>
                <a:cs typeface="+mn-cs"/>
              </a:rPr>
              <a:t>ON Employee</a:t>
            </a:r>
            <a:br>
              <a:rPr lang="en-US" sz="1200" kern="1200" dirty="0">
                <a:solidFill>
                  <a:schemeClr val="tx1"/>
                </a:solidFill>
                <a:latin typeface="+mn-lt"/>
                <a:ea typeface="+mn-ea"/>
                <a:cs typeface="+mn-cs"/>
              </a:rPr>
            </a:br>
            <a:r>
              <a:rPr lang="en-US" sz="1200" kern="1200" dirty="0">
                <a:solidFill>
                  <a:schemeClr val="tx1"/>
                </a:solidFill>
                <a:latin typeface="+mn-lt"/>
                <a:ea typeface="+mn-ea"/>
                <a:cs typeface="+mn-cs"/>
              </a:rPr>
              <a:t>FOR EACH ROW</a:t>
            </a:r>
            <a:br>
              <a:rPr lang="en-US" sz="1200" kern="1200" dirty="0">
                <a:solidFill>
                  <a:schemeClr val="tx1"/>
                </a:solidFill>
                <a:latin typeface="+mn-lt"/>
                <a:ea typeface="+mn-ea"/>
                <a:cs typeface="+mn-cs"/>
              </a:rPr>
            </a:br>
            <a:r>
              <a:rPr lang="en-US" sz="1200" kern="1200" dirty="0">
                <a:solidFill>
                  <a:schemeClr val="tx1"/>
                </a:solidFill>
                <a:latin typeface="+mn-lt"/>
                <a:ea typeface="+mn-ea"/>
                <a:cs typeface="+mn-cs"/>
              </a:rPr>
              <a:t>BEGIN</a:t>
            </a:r>
            <a:br>
              <a:rPr lang="en-US" sz="1200" kern="1200" dirty="0">
                <a:solidFill>
                  <a:schemeClr val="tx1"/>
                </a:solidFill>
                <a:latin typeface="+mn-lt"/>
                <a:ea typeface="+mn-ea"/>
                <a:cs typeface="+mn-cs"/>
              </a:rPr>
            </a:br>
            <a:br>
              <a:rPr lang="en-US" sz="1200" kern="1200" dirty="0">
                <a:solidFill>
                  <a:schemeClr val="tx1"/>
                </a:solidFill>
                <a:latin typeface="+mn-lt"/>
                <a:ea typeface="+mn-ea"/>
                <a:cs typeface="+mn-cs"/>
              </a:rPr>
            </a:br>
            <a:r>
              <a:rPr lang="en-US" sz="1200" kern="1200" dirty="0">
                <a:solidFill>
                  <a:schemeClr val="tx1"/>
                </a:solidFill>
                <a:latin typeface="+mn-lt"/>
                <a:ea typeface="+mn-ea"/>
                <a:cs typeface="+mn-cs"/>
              </a:rPr>
              <a:t>    IF </a:t>
            </a:r>
            <a:r>
              <a:rPr lang="en-US" sz="1200" kern="1200" dirty="0" err="1">
                <a:solidFill>
                  <a:schemeClr val="tx1"/>
                </a:solidFill>
                <a:latin typeface="+mn-lt"/>
                <a:ea typeface="+mn-ea"/>
                <a:cs typeface="+mn-cs"/>
              </a:rPr>
              <a:t>NEW.Salary</a:t>
            </a:r>
            <a:r>
              <a:rPr lang="en-US" sz="1200" kern="1200" dirty="0">
                <a:solidFill>
                  <a:schemeClr val="tx1"/>
                </a:solidFill>
                <a:latin typeface="+mn-lt"/>
                <a:ea typeface="+mn-ea"/>
                <a:cs typeface="+mn-cs"/>
              </a:rPr>
              <a:t> &lt; 15000 THEN</a:t>
            </a:r>
            <a:br>
              <a:rPr lang="en-US" sz="1200" kern="1200" dirty="0">
                <a:solidFill>
                  <a:schemeClr val="tx1"/>
                </a:solidFill>
                <a:latin typeface="+mn-lt"/>
                <a:ea typeface="+mn-ea"/>
                <a:cs typeface="+mn-cs"/>
              </a:rPr>
            </a:br>
            <a:br>
              <a:rPr lang="en-US" sz="1200" kern="1200" dirty="0">
                <a:solidFill>
                  <a:schemeClr val="tx1"/>
                </a:solidFill>
                <a:latin typeface="+mn-lt"/>
                <a:ea typeface="+mn-ea"/>
                <a:cs typeface="+mn-cs"/>
              </a:rPr>
            </a:br>
            <a:r>
              <a:rPr lang="en-US" sz="1200" kern="1200" dirty="0">
                <a:solidFill>
                  <a:schemeClr val="tx1"/>
                </a:solidFill>
                <a:latin typeface="+mn-lt"/>
                <a:ea typeface="+mn-ea"/>
                <a:cs typeface="+mn-cs"/>
              </a:rPr>
              <a:t>        SIGNAL SQLSTATE '45000'</a:t>
            </a:r>
            <a:br>
              <a:rPr lang="en-US" sz="1200" kern="1200" dirty="0">
                <a:solidFill>
                  <a:schemeClr val="tx1"/>
                </a:solidFill>
                <a:latin typeface="+mn-lt"/>
                <a:ea typeface="+mn-ea"/>
                <a:cs typeface="+mn-cs"/>
              </a:rPr>
            </a:br>
            <a:r>
              <a:rPr lang="en-US" sz="1200" kern="1200" dirty="0">
                <a:solidFill>
                  <a:schemeClr val="tx1"/>
                </a:solidFill>
                <a:latin typeface="+mn-lt"/>
                <a:ea typeface="+mn-ea"/>
                <a:cs typeface="+mn-cs"/>
              </a:rPr>
              <a:t>        SET MESSAGE_TEXT='Salary too low';</a:t>
            </a:r>
            <a:br>
              <a:rPr lang="en-US" sz="1200" kern="1200" dirty="0">
                <a:solidFill>
                  <a:schemeClr val="tx1"/>
                </a:solidFill>
                <a:latin typeface="+mn-lt"/>
                <a:ea typeface="+mn-ea"/>
                <a:cs typeface="+mn-cs"/>
              </a:rPr>
            </a:br>
            <a:br>
              <a:rPr lang="en-US" sz="1200" kern="1200" dirty="0">
                <a:solidFill>
                  <a:schemeClr val="tx1"/>
                </a:solidFill>
                <a:latin typeface="+mn-lt"/>
                <a:ea typeface="+mn-ea"/>
                <a:cs typeface="+mn-cs"/>
              </a:rPr>
            </a:br>
            <a:r>
              <a:rPr lang="en-US" sz="1200" kern="1200" dirty="0">
                <a:solidFill>
                  <a:schemeClr val="tx1"/>
                </a:solidFill>
                <a:latin typeface="+mn-lt"/>
                <a:ea typeface="+mn-ea"/>
                <a:cs typeface="+mn-cs"/>
              </a:rPr>
              <a:t>    END IF;</a:t>
            </a:r>
            <a:br>
              <a:rPr lang="en-US" sz="1200" kern="1200" dirty="0">
                <a:solidFill>
                  <a:schemeClr val="tx1"/>
                </a:solidFill>
                <a:latin typeface="+mn-lt"/>
                <a:ea typeface="+mn-ea"/>
                <a:cs typeface="+mn-cs"/>
              </a:rPr>
            </a:br>
            <a:br>
              <a:rPr lang="en-US" sz="1200" kern="1200" dirty="0">
                <a:solidFill>
                  <a:schemeClr val="tx1"/>
                </a:solidFill>
                <a:latin typeface="+mn-lt"/>
                <a:ea typeface="+mn-ea"/>
                <a:cs typeface="+mn-cs"/>
              </a:rPr>
            </a:br>
            <a:r>
              <a:rPr lang="en-US" sz="1200" kern="1200" dirty="0">
                <a:solidFill>
                  <a:schemeClr val="tx1"/>
                </a:solidFill>
                <a:latin typeface="+mn-lt"/>
                <a:ea typeface="+mn-ea"/>
                <a:cs typeface="+mn-cs"/>
              </a:rPr>
              <a:t>END;</a:t>
            </a:r>
          </a:p>
          <a:p>
            <a:br>
              <a:rPr lang="en-US" dirty="0"/>
            </a:br>
            <a:endParaRPr lang="en-US" dirty="0"/>
          </a:p>
          <a:p>
            <a:r>
              <a:rPr lang="en-US" b="1" dirty="0"/>
              <a:t>AFTER UPDATE Trigger</a:t>
            </a:r>
          </a:p>
          <a:p>
            <a:r>
              <a:rPr lang="en-US" b="1" dirty="0"/>
              <a:t>Purpose</a:t>
            </a:r>
          </a:p>
          <a:p>
            <a:r>
              <a:rPr lang="en-US" dirty="0"/>
              <a:t>Record changes after updates.</a:t>
            </a:r>
          </a:p>
          <a:p>
            <a:r>
              <a:rPr lang="en-US" dirty="0"/>
              <a:t>Example:</a:t>
            </a:r>
          </a:p>
          <a:p>
            <a:r>
              <a:rPr lang="en-US" dirty="0"/>
              <a:t>Track salary changes.</a:t>
            </a:r>
          </a:p>
          <a:p>
            <a:pPr rtl="0"/>
            <a:r>
              <a:rPr lang="en-US" sz="1200" kern="1200" dirty="0">
                <a:solidFill>
                  <a:schemeClr val="tx1"/>
                </a:solidFill>
                <a:latin typeface="+mn-lt"/>
                <a:ea typeface="+mn-ea"/>
                <a:cs typeface="+mn-cs"/>
              </a:rPr>
              <a:t>CREATE TRIGGER </a:t>
            </a:r>
            <a:r>
              <a:rPr lang="en-US" sz="1200" kern="1200" dirty="0" err="1">
                <a:solidFill>
                  <a:schemeClr val="tx1"/>
                </a:solidFill>
                <a:latin typeface="+mn-lt"/>
                <a:ea typeface="+mn-ea"/>
                <a:cs typeface="+mn-cs"/>
              </a:rPr>
              <a:t>Salary_Audit</a:t>
            </a:r>
            <a:br>
              <a:rPr lang="en-US" sz="1200" kern="1200" dirty="0">
                <a:solidFill>
                  <a:schemeClr val="tx1"/>
                </a:solidFill>
                <a:latin typeface="+mn-lt"/>
                <a:ea typeface="+mn-ea"/>
                <a:cs typeface="+mn-cs"/>
              </a:rPr>
            </a:br>
            <a:r>
              <a:rPr lang="en-US" sz="1200" kern="1200" dirty="0">
                <a:solidFill>
                  <a:schemeClr val="tx1"/>
                </a:solidFill>
                <a:latin typeface="+mn-lt"/>
                <a:ea typeface="+mn-ea"/>
                <a:cs typeface="+mn-cs"/>
              </a:rPr>
              <a:t>AFTER UPDATE</a:t>
            </a:r>
            <a:br>
              <a:rPr lang="en-US" sz="1200" kern="1200" dirty="0">
                <a:solidFill>
                  <a:schemeClr val="tx1"/>
                </a:solidFill>
                <a:latin typeface="+mn-lt"/>
                <a:ea typeface="+mn-ea"/>
                <a:cs typeface="+mn-cs"/>
              </a:rPr>
            </a:br>
            <a:r>
              <a:rPr lang="en-US" sz="1200" kern="1200" dirty="0">
                <a:solidFill>
                  <a:schemeClr val="tx1"/>
                </a:solidFill>
                <a:latin typeface="+mn-lt"/>
                <a:ea typeface="+mn-ea"/>
                <a:cs typeface="+mn-cs"/>
              </a:rPr>
              <a:t>ON Employee</a:t>
            </a:r>
            <a:br>
              <a:rPr lang="en-US" sz="1200" kern="1200" dirty="0">
                <a:solidFill>
                  <a:schemeClr val="tx1"/>
                </a:solidFill>
                <a:latin typeface="+mn-lt"/>
                <a:ea typeface="+mn-ea"/>
                <a:cs typeface="+mn-cs"/>
              </a:rPr>
            </a:br>
            <a:r>
              <a:rPr lang="en-US" sz="1200" kern="1200" dirty="0">
                <a:solidFill>
                  <a:schemeClr val="tx1"/>
                </a:solidFill>
                <a:latin typeface="+mn-lt"/>
                <a:ea typeface="+mn-ea"/>
                <a:cs typeface="+mn-cs"/>
              </a:rPr>
              <a:t>FOR EACH ROW</a:t>
            </a:r>
            <a:br>
              <a:rPr lang="en-US" sz="1200" kern="1200" dirty="0">
                <a:solidFill>
                  <a:schemeClr val="tx1"/>
                </a:solidFill>
                <a:latin typeface="+mn-lt"/>
                <a:ea typeface="+mn-ea"/>
                <a:cs typeface="+mn-cs"/>
              </a:rPr>
            </a:br>
            <a:r>
              <a:rPr lang="en-US" sz="1200" kern="1200" dirty="0">
                <a:solidFill>
                  <a:schemeClr val="tx1"/>
                </a:solidFill>
                <a:latin typeface="+mn-lt"/>
                <a:ea typeface="+mn-ea"/>
                <a:cs typeface="+mn-cs"/>
              </a:rPr>
              <a:t>BEGIN</a:t>
            </a:r>
            <a:br>
              <a:rPr lang="en-US" sz="1200" kern="1200" dirty="0">
                <a:solidFill>
                  <a:schemeClr val="tx1"/>
                </a:solidFill>
                <a:latin typeface="+mn-lt"/>
                <a:ea typeface="+mn-ea"/>
                <a:cs typeface="+mn-cs"/>
              </a:rPr>
            </a:br>
            <a:br>
              <a:rPr lang="en-US" sz="1200" kern="1200" dirty="0">
                <a:solidFill>
                  <a:schemeClr val="tx1"/>
                </a:solidFill>
                <a:latin typeface="+mn-lt"/>
                <a:ea typeface="+mn-ea"/>
                <a:cs typeface="+mn-cs"/>
              </a:rPr>
            </a:br>
            <a:r>
              <a:rPr lang="en-US" sz="1200" kern="1200" dirty="0">
                <a:solidFill>
                  <a:schemeClr val="tx1"/>
                </a:solidFill>
                <a:latin typeface="+mn-lt"/>
                <a:ea typeface="+mn-ea"/>
                <a:cs typeface="+mn-cs"/>
              </a:rPr>
              <a:t>    INSERT INTO </a:t>
            </a:r>
            <a:r>
              <a:rPr lang="en-US" sz="1200" kern="1200" dirty="0" err="1">
                <a:solidFill>
                  <a:schemeClr val="tx1"/>
                </a:solidFill>
                <a:latin typeface="+mn-lt"/>
                <a:ea typeface="+mn-ea"/>
                <a:cs typeface="+mn-cs"/>
              </a:rPr>
              <a:t>Salary_Log</a:t>
            </a:r>
            <a:br>
              <a:rPr lang="en-US" sz="1200" kern="1200" dirty="0">
                <a:solidFill>
                  <a:schemeClr val="tx1"/>
                </a:solidFill>
                <a:latin typeface="+mn-lt"/>
                <a:ea typeface="+mn-ea"/>
                <a:cs typeface="+mn-cs"/>
              </a:rPr>
            </a:br>
            <a:r>
              <a:rPr lang="en-US" sz="1200" kern="1200" dirty="0">
                <a:solidFill>
                  <a:schemeClr val="tx1"/>
                </a:solidFill>
                <a:latin typeface="+mn-lt"/>
                <a:ea typeface="+mn-ea"/>
                <a:cs typeface="+mn-cs"/>
              </a:rPr>
              <a:t>    VALUES(</a:t>
            </a:r>
            <a:br>
              <a:rPr lang="en-US" sz="1200" kern="1200" dirty="0">
                <a:solidFill>
                  <a:schemeClr val="tx1"/>
                </a:solidFill>
                <a:latin typeface="+mn-lt"/>
                <a:ea typeface="+mn-ea"/>
                <a:cs typeface="+mn-cs"/>
              </a:rPr>
            </a:b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OLD.Salary</a:t>
            </a:r>
            <a:r>
              <a:rPr lang="en-US" sz="1200" kern="1200" dirty="0">
                <a:solidFill>
                  <a:schemeClr val="tx1"/>
                </a:solidFill>
                <a:latin typeface="+mn-lt"/>
                <a:ea typeface="+mn-ea"/>
                <a:cs typeface="+mn-cs"/>
              </a:rPr>
              <a:t>,</a:t>
            </a:r>
            <a:br>
              <a:rPr lang="en-US" sz="1200" kern="1200" dirty="0">
                <a:solidFill>
                  <a:schemeClr val="tx1"/>
                </a:solidFill>
                <a:latin typeface="+mn-lt"/>
                <a:ea typeface="+mn-ea"/>
                <a:cs typeface="+mn-cs"/>
              </a:rPr>
            </a:b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NEW.Salary</a:t>
            </a:r>
            <a:br>
              <a:rPr lang="en-US" sz="1200" kern="1200" dirty="0">
                <a:solidFill>
                  <a:schemeClr val="tx1"/>
                </a:solidFill>
                <a:latin typeface="+mn-lt"/>
                <a:ea typeface="+mn-ea"/>
                <a:cs typeface="+mn-cs"/>
              </a:rPr>
            </a:br>
            <a:r>
              <a:rPr lang="en-US" sz="1200" kern="1200" dirty="0">
                <a:solidFill>
                  <a:schemeClr val="tx1"/>
                </a:solidFill>
                <a:latin typeface="+mn-lt"/>
                <a:ea typeface="+mn-ea"/>
                <a:cs typeface="+mn-cs"/>
              </a:rPr>
              <a:t>    );</a:t>
            </a:r>
            <a:br>
              <a:rPr lang="en-US" sz="1200" kern="1200" dirty="0">
                <a:solidFill>
                  <a:schemeClr val="tx1"/>
                </a:solidFill>
                <a:latin typeface="+mn-lt"/>
                <a:ea typeface="+mn-ea"/>
                <a:cs typeface="+mn-cs"/>
              </a:rPr>
            </a:br>
            <a:br>
              <a:rPr lang="en-US" sz="1200" kern="1200" dirty="0">
                <a:solidFill>
                  <a:schemeClr val="tx1"/>
                </a:solidFill>
                <a:latin typeface="+mn-lt"/>
                <a:ea typeface="+mn-ea"/>
                <a:cs typeface="+mn-cs"/>
              </a:rPr>
            </a:br>
            <a:r>
              <a:rPr lang="en-US" sz="1200" kern="1200" dirty="0">
                <a:solidFill>
                  <a:schemeClr val="tx1"/>
                </a:solidFill>
                <a:latin typeface="+mn-lt"/>
                <a:ea typeface="+mn-ea"/>
                <a:cs typeface="+mn-cs"/>
              </a:rPr>
              <a:t>END;</a:t>
            </a:r>
          </a:p>
          <a:p>
            <a:br>
              <a:rPr lang="en-US" dirty="0"/>
            </a:br>
            <a:endParaRPr lang="en-US" dirty="0"/>
          </a:p>
          <a:p>
            <a:r>
              <a:rPr lang="en-US" b="1" dirty="0"/>
              <a:t>BEFORE DELETE Trigger</a:t>
            </a:r>
          </a:p>
          <a:p>
            <a:r>
              <a:rPr lang="en-US" b="1" dirty="0"/>
              <a:t>Purpose</a:t>
            </a:r>
          </a:p>
          <a:p>
            <a:r>
              <a:rPr lang="en-US" dirty="0"/>
              <a:t>Prevent deletion under certain conditions.</a:t>
            </a:r>
          </a:p>
          <a:p>
            <a:r>
              <a:rPr lang="en-US" dirty="0"/>
              <a:t>Example:</a:t>
            </a:r>
          </a:p>
          <a:p>
            <a:r>
              <a:rPr lang="en-US" dirty="0"/>
              <a:t>Do not allow deletion of admin users.</a:t>
            </a:r>
          </a:p>
          <a:p>
            <a:pPr rtl="0"/>
            <a:r>
              <a:rPr lang="en-US" sz="1200" kern="1200" dirty="0">
                <a:solidFill>
                  <a:schemeClr val="tx1"/>
                </a:solidFill>
                <a:latin typeface="+mn-lt"/>
                <a:ea typeface="+mn-ea"/>
                <a:cs typeface="+mn-cs"/>
              </a:rPr>
              <a:t>CREATE TRIGGER </a:t>
            </a:r>
            <a:r>
              <a:rPr lang="en-US" sz="1200" kern="1200" dirty="0" err="1">
                <a:solidFill>
                  <a:schemeClr val="tx1"/>
                </a:solidFill>
                <a:latin typeface="+mn-lt"/>
                <a:ea typeface="+mn-ea"/>
                <a:cs typeface="+mn-cs"/>
              </a:rPr>
              <a:t>Prevent_Admin_Delete</a:t>
            </a:r>
            <a:br>
              <a:rPr lang="en-US" sz="1200" kern="1200" dirty="0">
                <a:solidFill>
                  <a:schemeClr val="tx1"/>
                </a:solidFill>
                <a:latin typeface="+mn-lt"/>
                <a:ea typeface="+mn-ea"/>
                <a:cs typeface="+mn-cs"/>
              </a:rPr>
            </a:br>
            <a:r>
              <a:rPr lang="en-US" sz="1200" kern="1200" dirty="0">
                <a:solidFill>
                  <a:schemeClr val="tx1"/>
                </a:solidFill>
                <a:latin typeface="+mn-lt"/>
                <a:ea typeface="+mn-ea"/>
                <a:cs typeface="+mn-cs"/>
              </a:rPr>
              <a:t>BEFORE DELETE</a:t>
            </a:r>
            <a:br>
              <a:rPr lang="en-US" sz="1200" kern="1200" dirty="0">
                <a:solidFill>
                  <a:schemeClr val="tx1"/>
                </a:solidFill>
                <a:latin typeface="+mn-lt"/>
                <a:ea typeface="+mn-ea"/>
                <a:cs typeface="+mn-cs"/>
              </a:rPr>
            </a:br>
            <a:r>
              <a:rPr lang="en-US" sz="1200" kern="1200" dirty="0">
                <a:solidFill>
                  <a:schemeClr val="tx1"/>
                </a:solidFill>
                <a:latin typeface="+mn-lt"/>
                <a:ea typeface="+mn-ea"/>
                <a:cs typeface="+mn-cs"/>
              </a:rPr>
              <a:t>ON Users</a:t>
            </a:r>
            <a:br>
              <a:rPr lang="en-US" sz="1200" kern="1200" dirty="0">
                <a:solidFill>
                  <a:schemeClr val="tx1"/>
                </a:solidFill>
                <a:latin typeface="+mn-lt"/>
                <a:ea typeface="+mn-ea"/>
                <a:cs typeface="+mn-cs"/>
              </a:rPr>
            </a:br>
            <a:r>
              <a:rPr lang="en-US" sz="1200" kern="1200" dirty="0">
                <a:solidFill>
                  <a:schemeClr val="tx1"/>
                </a:solidFill>
                <a:latin typeface="+mn-lt"/>
                <a:ea typeface="+mn-ea"/>
                <a:cs typeface="+mn-cs"/>
              </a:rPr>
              <a:t>FOR EACH ROW</a:t>
            </a:r>
            <a:br>
              <a:rPr lang="en-US" sz="1200" kern="1200" dirty="0">
                <a:solidFill>
                  <a:schemeClr val="tx1"/>
                </a:solidFill>
                <a:latin typeface="+mn-lt"/>
                <a:ea typeface="+mn-ea"/>
                <a:cs typeface="+mn-cs"/>
              </a:rPr>
            </a:br>
            <a:r>
              <a:rPr lang="en-US" sz="1200" kern="1200" dirty="0">
                <a:solidFill>
                  <a:schemeClr val="tx1"/>
                </a:solidFill>
                <a:latin typeface="+mn-lt"/>
                <a:ea typeface="+mn-ea"/>
                <a:cs typeface="+mn-cs"/>
              </a:rPr>
              <a:t>BEGIN</a:t>
            </a:r>
            <a:br>
              <a:rPr lang="en-US" sz="1200" kern="1200" dirty="0">
                <a:solidFill>
                  <a:schemeClr val="tx1"/>
                </a:solidFill>
                <a:latin typeface="+mn-lt"/>
                <a:ea typeface="+mn-ea"/>
                <a:cs typeface="+mn-cs"/>
              </a:rPr>
            </a:br>
            <a:br>
              <a:rPr lang="en-US" sz="1200" kern="1200" dirty="0">
                <a:solidFill>
                  <a:schemeClr val="tx1"/>
                </a:solidFill>
                <a:latin typeface="+mn-lt"/>
                <a:ea typeface="+mn-ea"/>
                <a:cs typeface="+mn-cs"/>
              </a:rPr>
            </a:br>
            <a:r>
              <a:rPr lang="en-US" sz="1200" kern="1200" dirty="0">
                <a:solidFill>
                  <a:schemeClr val="tx1"/>
                </a:solidFill>
                <a:latin typeface="+mn-lt"/>
                <a:ea typeface="+mn-ea"/>
                <a:cs typeface="+mn-cs"/>
              </a:rPr>
              <a:t>    IF </a:t>
            </a:r>
            <a:r>
              <a:rPr lang="en-US" sz="1200" kern="1200" dirty="0" err="1">
                <a:solidFill>
                  <a:schemeClr val="tx1"/>
                </a:solidFill>
                <a:latin typeface="+mn-lt"/>
                <a:ea typeface="+mn-ea"/>
                <a:cs typeface="+mn-cs"/>
              </a:rPr>
              <a:t>OLD.Role</a:t>
            </a:r>
            <a:r>
              <a:rPr lang="en-US" sz="1200" kern="1200" dirty="0">
                <a:solidFill>
                  <a:schemeClr val="tx1"/>
                </a:solidFill>
                <a:latin typeface="+mn-lt"/>
                <a:ea typeface="+mn-ea"/>
                <a:cs typeface="+mn-cs"/>
              </a:rPr>
              <a:t>='Admin' THEN</a:t>
            </a:r>
            <a:br>
              <a:rPr lang="en-US" sz="1200" kern="1200" dirty="0">
                <a:solidFill>
                  <a:schemeClr val="tx1"/>
                </a:solidFill>
                <a:latin typeface="+mn-lt"/>
                <a:ea typeface="+mn-ea"/>
                <a:cs typeface="+mn-cs"/>
              </a:rPr>
            </a:br>
            <a:br>
              <a:rPr lang="en-US" sz="1200" kern="1200" dirty="0">
                <a:solidFill>
                  <a:schemeClr val="tx1"/>
                </a:solidFill>
                <a:latin typeface="+mn-lt"/>
                <a:ea typeface="+mn-ea"/>
                <a:cs typeface="+mn-cs"/>
              </a:rPr>
            </a:br>
            <a:r>
              <a:rPr lang="en-US" sz="1200" kern="1200" dirty="0">
                <a:solidFill>
                  <a:schemeClr val="tx1"/>
                </a:solidFill>
                <a:latin typeface="+mn-lt"/>
                <a:ea typeface="+mn-ea"/>
                <a:cs typeface="+mn-cs"/>
              </a:rPr>
              <a:t>        SIGNAL SQLSTATE '45000'</a:t>
            </a:r>
            <a:br>
              <a:rPr lang="en-US" sz="1200" kern="1200" dirty="0">
                <a:solidFill>
                  <a:schemeClr val="tx1"/>
                </a:solidFill>
                <a:latin typeface="+mn-lt"/>
                <a:ea typeface="+mn-ea"/>
                <a:cs typeface="+mn-cs"/>
              </a:rPr>
            </a:br>
            <a:r>
              <a:rPr lang="en-US" sz="1200" kern="1200" dirty="0">
                <a:solidFill>
                  <a:schemeClr val="tx1"/>
                </a:solidFill>
                <a:latin typeface="+mn-lt"/>
                <a:ea typeface="+mn-ea"/>
                <a:cs typeface="+mn-cs"/>
              </a:rPr>
              <a:t>        SET MESSAGE_TEXT='Cannot delete admin';</a:t>
            </a:r>
            <a:br>
              <a:rPr lang="en-US" sz="1200" kern="1200" dirty="0">
                <a:solidFill>
                  <a:schemeClr val="tx1"/>
                </a:solidFill>
                <a:latin typeface="+mn-lt"/>
                <a:ea typeface="+mn-ea"/>
                <a:cs typeface="+mn-cs"/>
              </a:rPr>
            </a:br>
            <a:br>
              <a:rPr lang="en-US" sz="1200" kern="1200" dirty="0">
                <a:solidFill>
                  <a:schemeClr val="tx1"/>
                </a:solidFill>
                <a:latin typeface="+mn-lt"/>
                <a:ea typeface="+mn-ea"/>
                <a:cs typeface="+mn-cs"/>
              </a:rPr>
            </a:br>
            <a:r>
              <a:rPr lang="en-US" sz="1200" kern="1200" dirty="0">
                <a:solidFill>
                  <a:schemeClr val="tx1"/>
                </a:solidFill>
                <a:latin typeface="+mn-lt"/>
                <a:ea typeface="+mn-ea"/>
                <a:cs typeface="+mn-cs"/>
              </a:rPr>
              <a:t>    END IF;</a:t>
            </a:r>
            <a:br>
              <a:rPr lang="en-US" sz="1200" kern="1200" dirty="0">
                <a:solidFill>
                  <a:schemeClr val="tx1"/>
                </a:solidFill>
                <a:latin typeface="+mn-lt"/>
                <a:ea typeface="+mn-ea"/>
                <a:cs typeface="+mn-cs"/>
              </a:rPr>
            </a:br>
            <a:br>
              <a:rPr lang="en-US" sz="1200" kern="1200" dirty="0">
                <a:solidFill>
                  <a:schemeClr val="tx1"/>
                </a:solidFill>
                <a:latin typeface="+mn-lt"/>
                <a:ea typeface="+mn-ea"/>
                <a:cs typeface="+mn-cs"/>
              </a:rPr>
            </a:br>
            <a:r>
              <a:rPr lang="en-US" sz="1200" kern="1200" dirty="0">
                <a:solidFill>
                  <a:schemeClr val="tx1"/>
                </a:solidFill>
                <a:latin typeface="+mn-lt"/>
                <a:ea typeface="+mn-ea"/>
                <a:cs typeface="+mn-cs"/>
              </a:rPr>
              <a:t>END;</a:t>
            </a:r>
          </a:p>
          <a:p>
            <a:br>
              <a:rPr lang="en-US" dirty="0"/>
            </a:br>
            <a:endParaRPr lang="en-US" dirty="0"/>
          </a:p>
          <a:p>
            <a:r>
              <a:rPr lang="en-US" b="1" dirty="0"/>
              <a:t>AFTER DELETE Trigger</a:t>
            </a:r>
          </a:p>
          <a:p>
            <a:r>
              <a:rPr lang="en-US" b="1" dirty="0"/>
              <a:t>Purpose</a:t>
            </a:r>
          </a:p>
          <a:p>
            <a:r>
              <a:rPr lang="en-US" dirty="0"/>
              <a:t>Maintain deletion history.</a:t>
            </a:r>
          </a:p>
          <a:p>
            <a:pPr rtl="0"/>
            <a:r>
              <a:rPr lang="en-US" sz="1200" kern="1200" dirty="0">
                <a:solidFill>
                  <a:schemeClr val="tx1"/>
                </a:solidFill>
                <a:latin typeface="+mn-lt"/>
                <a:ea typeface="+mn-ea"/>
                <a:cs typeface="+mn-cs"/>
              </a:rPr>
              <a:t>CREATE TRIGGER </a:t>
            </a:r>
            <a:r>
              <a:rPr lang="en-US" sz="1200" kern="1200" dirty="0" err="1">
                <a:solidFill>
                  <a:schemeClr val="tx1"/>
                </a:solidFill>
                <a:latin typeface="+mn-lt"/>
                <a:ea typeface="+mn-ea"/>
                <a:cs typeface="+mn-cs"/>
              </a:rPr>
              <a:t>Delete_Log</a:t>
            </a:r>
            <a:br>
              <a:rPr lang="en-US" sz="1200" kern="1200" dirty="0">
                <a:solidFill>
                  <a:schemeClr val="tx1"/>
                </a:solidFill>
                <a:latin typeface="+mn-lt"/>
                <a:ea typeface="+mn-ea"/>
                <a:cs typeface="+mn-cs"/>
              </a:rPr>
            </a:br>
            <a:r>
              <a:rPr lang="en-US" sz="1200" kern="1200" dirty="0">
                <a:solidFill>
                  <a:schemeClr val="tx1"/>
                </a:solidFill>
                <a:latin typeface="+mn-lt"/>
                <a:ea typeface="+mn-ea"/>
                <a:cs typeface="+mn-cs"/>
              </a:rPr>
              <a:t>AFTER DELETE</a:t>
            </a:r>
            <a:br>
              <a:rPr lang="en-US" sz="1200" kern="1200" dirty="0">
                <a:solidFill>
                  <a:schemeClr val="tx1"/>
                </a:solidFill>
                <a:latin typeface="+mn-lt"/>
                <a:ea typeface="+mn-ea"/>
                <a:cs typeface="+mn-cs"/>
              </a:rPr>
            </a:br>
            <a:r>
              <a:rPr lang="en-US" sz="1200" kern="1200" dirty="0">
                <a:solidFill>
                  <a:schemeClr val="tx1"/>
                </a:solidFill>
                <a:latin typeface="+mn-lt"/>
                <a:ea typeface="+mn-ea"/>
                <a:cs typeface="+mn-cs"/>
              </a:rPr>
              <a:t>ON Student</a:t>
            </a:r>
            <a:br>
              <a:rPr lang="en-US" sz="1200" kern="1200" dirty="0">
                <a:solidFill>
                  <a:schemeClr val="tx1"/>
                </a:solidFill>
                <a:latin typeface="+mn-lt"/>
                <a:ea typeface="+mn-ea"/>
                <a:cs typeface="+mn-cs"/>
              </a:rPr>
            </a:br>
            <a:r>
              <a:rPr lang="en-US" sz="1200" kern="1200" dirty="0">
                <a:solidFill>
                  <a:schemeClr val="tx1"/>
                </a:solidFill>
                <a:latin typeface="+mn-lt"/>
                <a:ea typeface="+mn-ea"/>
                <a:cs typeface="+mn-cs"/>
              </a:rPr>
              <a:t>FOR EACH ROW</a:t>
            </a:r>
            <a:br>
              <a:rPr lang="en-US" sz="1200" kern="1200" dirty="0">
                <a:solidFill>
                  <a:schemeClr val="tx1"/>
                </a:solidFill>
                <a:latin typeface="+mn-lt"/>
                <a:ea typeface="+mn-ea"/>
                <a:cs typeface="+mn-cs"/>
              </a:rPr>
            </a:br>
            <a:r>
              <a:rPr lang="en-US" sz="1200" kern="1200" dirty="0">
                <a:solidFill>
                  <a:schemeClr val="tx1"/>
                </a:solidFill>
                <a:latin typeface="+mn-lt"/>
                <a:ea typeface="+mn-ea"/>
                <a:cs typeface="+mn-cs"/>
              </a:rPr>
              <a:t>BEGIN</a:t>
            </a:r>
            <a:br>
              <a:rPr lang="en-US" sz="1200" kern="1200" dirty="0">
                <a:solidFill>
                  <a:schemeClr val="tx1"/>
                </a:solidFill>
                <a:latin typeface="+mn-lt"/>
                <a:ea typeface="+mn-ea"/>
                <a:cs typeface="+mn-cs"/>
              </a:rPr>
            </a:br>
            <a:br>
              <a:rPr lang="en-US" sz="1200" kern="1200" dirty="0">
                <a:solidFill>
                  <a:schemeClr val="tx1"/>
                </a:solidFill>
                <a:latin typeface="+mn-lt"/>
                <a:ea typeface="+mn-ea"/>
                <a:cs typeface="+mn-cs"/>
              </a:rPr>
            </a:br>
            <a:r>
              <a:rPr lang="en-US" sz="1200" kern="1200" dirty="0">
                <a:solidFill>
                  <a:schemeClr val="tx1"/>
                </a:solidFill>
                <a:latin typeface="+mn-lt"/>
                <a:ea typeface="+mn-ea"/>
                <a:cs typeface="+mn-cs"/>
              </a:rPr>
              <a:t>    INSERT INTO </a:t>
            </a:r>
            <a:r>
              <a:rPr lang="en-US" sz="1200" kern="1200" dirty="0" err="1">
                <a:solidFill>
                  <a:schemeClr val="tx1"/>
                </a:solidFill>
                <a:latin typeface="+mn-lt"/>
                <a:ea typeface="+mn-ea"/>
                <a:cs typeface="+mn-cs"/>
              </a:rPr>
              <a:t>Deleted_Students</a:t>
            </a:r>
            <a:br>
              <a:rPr lang="en-US" sz="1200" kern="1200" dirty="0">
                <a:solidFill>
                  <a:schemeClr val="tx1"/>
                </a:solidFill>
                <a:latin typeface="+mn-lt"/>
                <a:ea typeface="+mn-ea"/>
                <a:cs typeface="+mn-cs"/>
              </a:rPr>
            </a:br>
            <a:r>
              <a:rPr lang="en-US" sz="1200" kern="1200" dirty="0">
                <a:solidFill>
                  <a:schemeClr val="tx1"/>
                </a:solidFill>
                <a:latin typeface="+mn-lt"/>
                <a:ea typeface="+mn-ea"/>
                <a:cs typeface="+mn-cs"/>
              </a:rPr>
              <a:t>    VALUES(</a:t>
            </a:r>
            <a:br>
              <a:rPr lang="en-US" sz="1200" kern="1200" dirty="0">
                <a:solidFill>
                  <a:schemeClr val="tx1"/>
                </a:solidFill>
                <a:latin typeface="+mn-lt"/>
                <a:ea typeface="+mn-ea"/>
                <a:cs typeface="+mn-cs"/>
              </a:rPr>
            </a:b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OLD.Roll_No</a:t>
            </a:r>
            <a:r>
              <a:rPr lang="en-US" sz="1200" kern="1200" dirty="0">
                <a:solidFill>
                  <a:schemeClr val="tx1"/>
                </a:solidFill>
                <a:latin typeface="+mn-lt"/>
                <a:ea typeface="+mn-ea"/>
                <a:cs typeface="+mn-cs"/>
              </a:rPr>
              <a:t>,</a:t>
            </a:r>
            <a:br>
              <a:rPr lang="en-US" sz="1200" kern="1200" dirty="0">
                <a:solidFill>
                  <a:schemeClr val="tx1"/>
                </a:solidFill>
                <a:latin typeface="+mn-lt"/>
                <a:ea typeface="+mn-ea"/>
                <a:cs typeface="+mn-cs"/>
              </a:rPr>
            </a:b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OLD.Name</a:t>
            </a:r>
            <a:br>
              <a:rPr lang="en-US" sz="1200" kern="1200" dirty="0">
                <a:solidFill>
                  <a:schemeClr val="tx1"/>
                </a:solidFill>
                <a:latin typeface="+mn-lt"/>
                <a:ea typeface="+mn-ea"/>
                <a:cs typeface="+mn-cs"/>
              </a:rPr>
            </a:br>
            <a:r>
              <a:rPr lang="en-US" sz="1200" kern="1200" dirty="0">
                <a:solidFill>
                  <a:schemeClr val="tx1"/>
                </a:solidFill>
                <a:latin typeface="+mn-lt"/>
                <a:ea typeface="+mn-ea"/>
                <a:cs typeface="+mn-cs"/>
              </a:rPr>
              <a:t>    );</a:t>
            </a:r>
            <a:br>
              <a:rPr lang="en-US" sz="1200" kern="1200" dirty="0">
                <a:solidFill>
                  <a:schemeClr val="tx1"/>
                </a:solidFill>
                <a:latin typeface="+mn-lt"/>
                <a:ea typeface="+mn-ea"/>
                <a:cs typeface="+mn-cs"/>
              </a:rPr>
            </a:br>
            <a:br>
              <a:rPr lang="en-US" sz="1200" kern="1200" dirty="0">
                <a:solidFill>
                  <a:schemeClr val="tx1"/>
                </a:solidFill>
                <a:latin typeface="+mn-lt"/>
                <a:ea typeface="+mn-ea"/>
                <a:cs typeface="+mn-cs"/>
              </a:rPr>
            </a:br>
            <a:r>
              <a:rPr lang="en-US" sz="1200" kern="1200" dirty="0">
                <a:solidFill>
                  <a:schemeClr val="tx1"/>
                </a:solidFill>
                <a:latin typeface="+mn-lt"/>
                <a:ea typeface="+mn-ea"/>
                <a:cs typeface="+mn-cs"/>
              </a:rPr>
              <a:t>END;</a:t>
            </a:r>
          </a:p>
          <a:p>
            <a:endParaRPr lang="en-US" dirty="0"/>
          </a:p>
        </p:txBody>
      </p:sp>
      <p:sp>
        <p:nvSpPr>
          <p:cNvPr id="4" name="Slide Number Placeholder 3"/>
          <p:cNvSpPr>
            <a:spLocks noGrp="1"/>
          </p:cNvSpPr>
          <p:nvPr>
            <p:ph type="sldNum" sz="quarter" idx="5"/>
          </p:nvPr>
        </p:nvSpPr>
        <p:spPr/>
        <p:txBody>
          <a:bodyPr/>
          <a:lstStyle/>
          <a:p>
            <a:fld id="{532ED260-D111-491D-AB9F-FC8569A2A916}" type="slidenum">
              <a:rPr lang="en-US" smtClean="0"/>
              <a:t>26</a:t>
            </a:fld>
            <a:endParaRPr lang="en-US"/>
          </a:p>
        </p:txBody>
      </p:sp>
    </p:spTree>
    <p:extLst>
      <p:ext uri="{BB962C8B-B14F-4D97-AF65-F5344CB8AC3E}">
        <p14:creationId xmlns:p14="http://schemas.microsoft.com/office/powerpoint/2010/main" val="26549507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32ED260-D111-491D-AB9F-FC8569A2A916}" type="slidenum">
              <a:rPr lang="en-US" smtClean="0"/>
              <a:t>28</a:t>
            </a:fld>
            <a:endParaRPr lang="en-US"/>
          </a:p>
        </p:txBody>
      </p:sp>
    </p:spTree>
    <p:extLst>
      <p:ext uri="{BB962C8B-B14F-4D97-AF65-F5344CB8AC3E}">
        <p14:creationId xmlns:p14="http://schemas.microsoft.com/office/powerpoint/2010/main" val="415972656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a:p>
            <a:r>
              <a:rPr lang="en-US" b="1" dirty="0"/>
              <a:t>Minimize Data Redundancy</a:t>
            </a:r>
          </a:p>
          <a:p>
            <a:r>
              <a:rPr lang="en-US" b="1" dirty="0"/>
              <a:t>Data Redundancy</a:t>
            </a:r>
          </a:p>
          <a:p>
            <a:r>
              <a:rPr lang="en-US" dirty="0"/>
              <a:t>Repeated storage of the same information.</a:t>
            </a:r>
          </a:p>
          <a:p>
            <a:r>
              <a:rPr lang="en-US" b="1" dirty="0"/>
              <a:t>Bad Design</a:t>
            </a:r>
          </a:p>
          <a:p>
            <a:r>
              <a:rPr lang="en-US" dirty="0"/>
              <a:t>Student	Dept	</a:t>
            </a:r>
            <a:r>
              <a:rPr lang="en-US" dirty="0" err="1"/>
              <a:t>Dept_HOD</a:t>
            </a:r>
            <a:endParaRPr lang="en-US" dirty="0"/>
          </a:p>
          <a:p>
            <a:r>
              <a:rPr lang="en-US" dirty="0"/>
              <a:t>Ram	BCA	Sharma</a:t>
            </a:r>
          </a:p>
          <a:p>
            <a:r>
              <a:rPr lang="en-US" dirty="0"/>
              <a:t>Sita	BCA	Sharma</a:t>
            </a:r>
          </a:p>
          <a:p>
            <a:r>
              <a:rPr lang="en-US" dirty="0"/>
              <a:t>"HOD" is repeated.</a:t>
            </a:r>
          </a:p>
          <a:p>
            <a:r>
              <a:rPr lang="en-US" b="1" dirty="0"/>
              <a:t>Better Design</a:t>
            </a:r>
          </a:p>
          <a:p>
            <a:r>
              <a:rPr lang="en-US" dirty="0"/>
              <a:t>Separate Department table.</a:t>
            </a:r>
          </a:p>
          <a:p>
            <a:r>
              <a:rPr lang="en-US" dirty="0"/>
              <a:t>Benefits:</a:t>
            </a:r>
          </a:p>
          <a:p>
            <a:r>
              <a:rPr lang="en-US" dirty="0"/>
              <a:t>Less storage </a:t>
            </a:r>
          </a:p>
          <a:p>
            <a:r>
              <a:rPr lang="en-US" dirty="0"/>
              <a:t>Easier updates </a:t>
            </a:r>
          </a:p>
          <a:p>
            <a:br>
              <a:rPr lang="en-US" dirty="0"/>
            </a:br>
            <a:endParaRPr lang="en-US" dirty="0"/>
          </a:p>
          <a:p>
            <a:r>
              <a:rPr lang="en-US" b="1" dirty="0"/>
              <a:t>Avoid Update Anomalies</a:t>
            </a:r>
          </a:p>
          <a:p>
            <a:r>
              <a:rPr lang="en-US" b="1" dirty="0"/>
              <a:t>Modification Anomaly</a:t>
            </a:r>
          </a:p>
          <a:p>
            <a:r>
              <a:rPr lang="en-US" dirty="0"/>
              <a:t>Changing a value requires updates in multiple rows.</a:t>
            </a:r>
          </a:p>
          <a:p>
            <a:r>
              <a:rPr lang="en-US" b="1" dirty="0"/>
              <a:t>Example</a:t>
            </a:r>
          </a:p>
          <a:p>
            <a:r>
              <a:rPr lang="en-US" dirty="0"/>
              <a:t>HOD changes from Sharma to Karki.</a:t>
            </a:r>
          </a:p>
          <a:p>
            <a:r>
              <a:rPr lang="en-US" dirty="0"/>
              <a:t>Need to update every BCA record.</a:t>
            </a:r>
          </a:p>
          <a:p>
            <a:r>
              <a:rPr lang="en-US" b="1" dirty="0"/>
              <a:t>Good Design</a:t>
            </a:r>
          </a:p>
          <a:p>
            <a:r>
              <a:rPr lang="en-US" dirty="0"/>
              <a:t>Store HOD information once in Department table.</a:t>
            </a:r>
          </a:p>
          <a:p>
            <a:br>
              <a:rPr lang="en-US" dirty="0"/>
            </a:br>
            <a:endParaRPr lang="en-US" dirty="0"/>
          </a:p>
          <a:p>
            <a:r>
              <a:rPr lang="en-US" b="1" dirty="0"/>
              <a:t>Avoid Insertion Anomalies</a:t>
            </a:r>
          </a:p>
          <a:p>
            <a:r>
              <a:rPr lang="en-US" b="1" dirty="0"/>
              <a:t>Problem</a:t>
            </a:r>
          </a:p>
          <a:p>
            <a:r>
              <a:rPr lang="en-US" dirty="0"/>
              <a:t>Cannot insert department unless a student exists.</a:t>
            </a:r>
          </a:p>
          <a:p>
            <a:r>
              <a:rPr lang="en-US" b="1" dirty="0"/>
              <a:t>Example</a:t>
            </a:r>
          </a:p>
          <a:p>
            <a:r>
              <a:rPr lang="en-US" dirty="0"/>
              <a:t>Cannot add:</a:t>
            </a:r>
          </a:p>
          <a:p>
            <a:r>
              <a:rPr lang="en-US" dirty="0" err="1"/>
              <a:t>Dept_ID</a:t>
            </a:r>
            <a:r>
              <a:rPr lang="en-US" dirty="0"/>
              <a:t>	</a:t>
            </a:r>
            <a:r>
              <a:rPr lang="en-US" dirty="0" err="1"/>
              <a:t>Dept_Name</a:t>
            </a:r>
            <a:endParaRPr lang="en-US" dirty="0"/>
          </a:p>
          <a:p>
            <a:r>
              <a:rPr lang="en-US" dirty="0"/>
              <a:t>D3	Civil</a:t>
            </a:r>
          </a:p>
          <a:p>
            <a:r>
              <a:rPr lang="en-US" dirty="0"/>
              <a:t>if stored only within Student table.</a:t>
            </a:r>
          </a:p>
          <a:p>
            <a:r>
              <a:rPr lang="en-US" b="1" dirty="0"/>
              <a:t>Solution</a:t>
            </a:r>
          </a:p>
          <a:p>
            <a:r>
              <a:rPr lang="en-US" dirty="0"/>
              <a:t>Separate tables.</a:t>
            </a:r>
          </a:p>
          <a:p>
            <a:br>
              <a:rPr lang="en-US" dirty="0"/>
            </a:br>
            <a:endParaRPr lang="en-US" dirty="0"/>
          </a:p>
          <a:p>
            <a:r>
              <a:rPr lang="en-US" b="1" dirty="0"/>
              <a:t>Avoid Deletion Anomalies</a:t>
            </a:r>
          </a:p>
          <a:p>
            <a:r>
              <a:rPr lang="en-US" b="1" dirty="0"/>
              <a:t>Problem</a:t>
            </a:r>
          </a:p>
          <a:p>
            <a:r>
              <a:rPr lang="en-US" dirty="0"/>
              <a:t>Deleting a record causes unintended loss of information.</a:t>
            </a:r>
          </a:p>
          <a:p>
            <a:r>
              <a:rPr lang="en-US" dirty="0"/>
              <a:t>Example:</a:t>
            </a:r>
          </a:p>
          <a:p>
            <a:r>
              <a:rPr lang="en-US" dirty="0"/>
              <a:t>Deleting last BCA student removes department information.</a:t>
            </a:r>
          </a:p>
          <a:p>
            <a:r>
              <a:rPr lang="en-US" b="1" dirty="0"/>
              <a:t>Solution</a:t>
            </a:r>
          </a:p>
          <a:p>
            <a:r>
              <a:rPr lang="en-US" dirty="0"/>
              <a:t>Normalize tables.</a:t>
            </a:r>
          </a:p>
          <a:p>
            <a:br>
              <a:rPr lang="en-US" dirty="0"/>
            </a:br>
            <a:endParaRPr lang="en-US" dirty="0"/>
          </a:p>
          <a:p>
            <a:r>
              <a:rPr lang="en-US" b="1" dirty="0"/>
              <a:t>Consistency and Integrity</a:t>
            </a:r>
          </a:p>
          <a:p>
            <a:r>
              <a:rPr lang="en-US" dirty="0"/>
              <a:t>Good design ensures:</a:t>
            </a:r>
          </a:p>
          <a:p>
            <a:r>
              <a:rPr lang="en-US" dirty="0"/>
              <a:t>✔ Accurate data</a:t>
            </a:r>
          </a:p>
          <a:p>
            <a:r>
              <a:rPr lang="en-US" dirty="0"/>
              <a:t>✔ Consistent relationships</a:t>
            </a:r>
          </a:p>
          <a:p>
            <a:r>
              <a:rPr lang="en-US" dirty="0"/>
              <a:t>✔ Valid references</a:t>
            </a:r>
          </a:p>
          <a:p>
            <a:r>
              <a:rPr lang="en-US" dirty="0"/>
              <a:t>✔ Reliable reporting</a:t>
            </a:r>
          </a:p>
          <a:p>
            <a:endParaRPr lang="en-US" dirty="0"/>
          </a:p>
        </p:txBody>
      </p:sp>
      <p:sp>
        <p:nvSpPr>
          <p:cNvPr id="4" name="Slide Number Placeholder 3"/>
          <p:cNvSpPr>
            <a:spLocks noGrp="1"/>
          </p:cNvSpPr>
          <p:nvPr>
            <p:ph type="sldNum" sz="quarter" idx="5"/>
          </p:nvPr>
        </p:nvSpPr>
        <p:spPr/>
        <p:txBody>
          <a:bodyPr/>
          <a:lstStyle/>
          <a:p>
            <a:fld id="{532ED260-D111-491D-AB9F-FC8569A2A916}" type="slidenum">
              <a:rPr lang="en-US" smtClean="0"/>
              <a:t>31</a:t>
            </a:fld>
            <a:endParaRPr lang="en-US"/>
          </a:p>
        </p:txBody>
      </p:sp>
    </p:spTree>
    <p:extLst>
      <p:ext uri="{BB962C8B-B14F-4D97-AF65-F5344CB8AC3E}">
        <p14:creationId xmlns:p14="http://schemas.microsoft.com/office/powerpoint/2010/main" val="10692770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b="1" dirty="0"/>
                  <a:t>Determinant (X)</a:t>
                </a:r>
                <a:r>
                  <a:rPr lang="en-US" dirty="0"/>
                  <a:t>: The attribute(s) on the left side.</a:t>
                </a:r>
              </a:p>
              <a:p>
                <a:r>
                  <a:rPr lang="en-US" b="1" dirty="0"/>
                  <a:t>Dependent (Y)</a:t>
                </a:r>
                <a:r>
                  <a:rPr lang="en-US" dirty="0"/>
                  <a:t>: The attribute(s) on the right side. </a:t>
                </a:r>
              </a:p>
              <a:p>
                <a:r>
                  <a:rPr lang="en-US" dirty="0"/>
                  <a:t>Functional dependencies describe </a:t>
                </a:r>
                <a:r>
                  <a:rPr lang="en-US" b="1" dirty="0"/>
                  <a:t>constraints</a:t>
                </a:r>
                <a:r>
                  <a:rPr lang="en-US" dirty="0"/>
                  <a:t> in the data.</a:t>
                </a:r>
                <a:br>
                  <a:rPr lang="en-US" dirty="0"/>
                </a:br>
                <a:endParaRPr lang="en-US" dirty="0"/>
              </a:p>
              <a:p>
                <a:r>
                  <a:rPr lang="en-US" b="1" dirty="0"/>
                  <a:t>Types of Functional Dependencies</a:t>
                </a:r>
              </a:p>
              <a:p>
                <a:br>
                  <a:rPr lang="ar-AE" dirty="0"/>
                </a:br>
                <a:endParaRPr lang="ar-AE" dirty="0"/>
              </a:p>
              <a:p>
                <a:r>
                  <a:rPr lang="en-US" b="1" dirty="0"/>
                  <a:t>Non-Trivial Dependency</a:t>
                </a:r>
              </a:p>
              <a:p>
                <a:r>
                  <a:rPr lang="en-US" dirty="0"/>
                  <a:t>Dependency where:</a:t>
                </a:r>
              </a:p>
              <a:p>
                <a:pPr/>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𝑌</m:t>
                      </m:r>
                      <m:r>
                        <a:rPr lang="en-US" sz="1200" i="0" kern="1200">
                          <a:solidFill>
                            <a:schemeClr val="tx1"/>
                          </a:solidFill>
                          <a:latin typeface="Cambria Math" panose="02040503050406030204" pitchFamily="18" charset="0"/>
                          <a:ea typeface="+mn-ea"/>
                          <a:cs typeface="+mn-cs"/>
                        </a:rPr>
                        <m:t>⊈</m:t>
                      </m:r>
                      <m:r>
                        <a:rPr lang="en-US" sz="1200" i="1" kern="1200">
                          <a:solidFill>
                            <a:schemeClr val="tx1"/>
                          </a:solidFill>
                          <a:latin typeface="Cambria Math" panose="02040503050406030204" pitchFamily="18" charset="0"/>
                          <a:ea typeface="+mn-ea"/>
                          <a:cs typeface="+mn-cs"/>
                        </a:rPr>
                        <m:t>𝑋</m:t>
                      </m:r>
                    </m:oMath>
                  </m:oMathPara>
                </a14:m>
                <a:endParaRPr lang="en-US" dirty="0"/>
              </a:p>
              <a:p>
                <a:r>
                  <a:rPr lang="en-US" dirty="0"/>
                  <a:t>Example:</a:t>
                </a:r>
              </a:p>
              <a:p>
                <a:pPr/>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𝑅𝑜𝑙𝑙𝑁𝑜</m:t>
                      </m:r>
                      <m:r>
                        <a:rPr lang="en-US" sz="1200" i="0" kern="1200">
                          <a:solidFill>
                            <a:schemeClr val="tx1"/>
                          </a:solidFill>
                          <a:latin typeface="Cambria Math" panose="02040503050406030204" pitchFamily="18" charset="0"/>
                          <a:ea typeface="+mn-ea"/>
                          <a:cs typeface="+mn-cs"/>
                        </a:rPr>
                        <m:t>→</m:t>
                      </m:r>
                      <m:r>
                        <a:rPr lang="en-US" sz="1200" i="1" kern="1200">
                          <a:solidFill>
                            <a:schemeClr val="tx1"/>
                          </a:solidFill>
                          <a:latin typeface="Cambria Math" panose="02040503050406030204" pitchFamily="18" charset="0"/>
                          <a:ea typeface="+mn-ea"/>
                          <a:cs typeface="+mn-cs"/>
                        </a:rPr>
                        <m:t>𝑁𝑎𝑚𝑒</m:t>
                      </m:r>
                    </m:oMath>
                  </m:oMathPara>
                </a14:m>
                <a:endParaRPr lang="en-US" dirty="0"/>
              </a:p>
              <a:p>
                <a:r>
                  <a:rPr lang="en-US" dirty="0"/>
                  <a:t>Name is not part of </a:t>
                </a:r>
                <a:r>
                  <a:rPr lang="en-US" dirty="0" err="1"/>
                  <a:t>RollNo</a:t>
                </a:r>
                <a:r>
                  <a:rPr lang="en-US" dirty="0"/>
                  <a:t>.</a:t>
                </a:r>
              </a:p>
              <a:p>
                <a:br>
                  <a:rPr lang="en-US" dirty="0"/>
                </a:br>
                <a:endParaRPr lang="en-US" dirty="0"/>
              </a:p>
              <a:p>
                <a:r>
                  <a:rPr lang="en-US" b="1" dirty="0"/>
                  <a:t>Fully Functional Dependency</a:t>
                </a:r>
              </a:p>
              <a:p>
                <a:r>
                  <a:rPr lang="en-US" dirty="0"/>
                  <a:t>Attribute depends on the whole key.</a:t>
                </a:r>
              </a:p>
              <a:p>
                <a:r>
                  <a:rPr lang="en-US" dirty="0"/>
                  <a:t>Example:</a:t>
                </a:r>
              </a:p>
              <a:p>
                <a:pPr/>
                <a14:m>
                  <m:oMathPara xmlns:m="http://schemas.openxmlformats.org/officeDocument/2006/math">
                    <m:oMathParaPr>
                      <m:jc m:val="centerGroup"/>
                    </m:oMathParaPr>
                    <m:oMath xmlns:m="http://schemas.openxmlformats.org/officeDocument/2006/math">
                      <m:d>
                        <m:dPr>
                          <m:sepChr m:val=","/>
                          <m:ctrlPr>
                            <a:rPr lang="ar-AE" sz="1200" i="1" kern="1200">
                              <a:solidFill>
                                <a:schemeClr val="tx1"/>
                              </a:solidFill>
                              <a:latin typeface="Cambria Math" panose="02040503050406030204" pitchFamily="18" charset="0"/>
                              <a:ea typeface="+mn-ea"/>
                              <a:cs typeface="+mn-cs"/>
                            </a:rPr>
                          </m:ctrlPr>
                        </m:dPr>
                        <m:e>
                          <m:r>
                            <a:rPr lang="ar-AE" sz="1200" i="1" kern="1200">
                              <a:solidFill>
                                <a:schemeClr val="tx1"/>
                              </a:solidFill>
                              <a:latin typeface="Cambria Math" panose="02040503050406030204" pitchFamily="18" charset="0"/>
                              <a:ea typeface="+mn-ea"/>
                              <a:cs typeface="+mn-cs"/>
                            </a:rPr>
                            <m:t>𝑆</m:t>
                          </m:r>
                        </m:e>
                        <m:e>
                          <m:r>
                            <a:rPr lang="ar-AE" sz="1200" i="1" kern="1200">
                              <a:solidFill>
                                <a:schemeClr val="tx1"/>
                              </a:solidFill>
                              <a:latin typeface="Cambria Math" panose="02040503050406030204" pitchFamily="18" charset="0"/>
                              <a:ea typeface="+mn-ea"/>
                              <a:cs typeface="+mn-cs"/>
                            </a:rPr>
                            <m:t>𝑡𝑢𝑑𝑒𝑛𝑡𝐼𝐷𝐶𝑜𝑢𝑟𝑠𝑒𝐼𝐷</m:t>
                          </m:r>
                        </m:e>
                      </m:d>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𝐺𝑟𝑎𝑑𝑒</m:t>
                      </m:r>
                    </m:oMath>
                  </m:oMathPara>
                </a14:m>
                <a:endParaRPr lang="ar-AE" dirty="0"/>
              </a:p>
              <a:p>
                <a:r>
                  <a:rPr lang="en-US" dirty="0"/>
                  <a:t>Grade depends on both attributes.</a:t>
                </a:r>
              </a:p>
              <a:p>
                <a:br>
                  <a:rPr lang="en-US" dirty="0"/>
                </a:br>
                <a:r>
                  <a:rPr lang="en-US" b="1" dirty="0"/>
                  <a:t>Partial Dependency</a:t>
                </a:r>
              </a:p>
              <a:p>
                <a:r>
                  <a:rPr lang="en-US" dirty="0"/>
                  <a:t>Attribute depends on part of a composite key.</a:t>
                </a:r>
              </a:p>
              <a:p>
                <a:r>
                  <a:rPr lang="en-US" dirty="0"/>
                  <a:t>Example:</a:t>
                </a:r>
              </a:p>
              <a:p>
                <a:pPr/>
                <a14:m>
                  <m:oMathPara xmlns:m="http://schemas.openxmlformats.org/officeDocument/2006/math">
                    <m:oMathParaPr>
                      <m:jc m:val="centerGroup"/>
                    </m:oMathParaPr>
                    <m:oMath xmlns:m="http://schemas.openxmlformats.org/officeDocument/2006/math">
                      <m:d>
                        <m:dPr>
                          <m:sepChr m:val=","/>
                          <m:ctrlPr>
                            <a:rPr lang="ar-AE" sz="1200" i="1" kern="1200">
                              <a:solidFill>
                                <a:schemeClr val="tx1"/>
                              </a:solidFill>
                              <a:latin typeface="Cambria Math" panose="02040503050406030204" pitchFamily="18" charset="0"/>
                              <a:ea typeface="+mn-ea"/>
                              <a:cs typeface="+mn-cs"/>
                            </a:rPr>
                          </m:ctrlPr>
                        </m:dPr>
                        <m:e>
                          <m:r>
                            <a:rPr lang="ar-AE" sz="1200" i="1" kern="1200">
                              <a:solidFill>
                                <a:schemeClr val="tx1"/>
                              </a:solidFill>
                              <a:latin typeface="Cambria Math" panose="02040503050406030204" pitchFamily="18" charset="0"/>
                              <a:ea typeface="+mn-ea"/>
                              <a:cs typeface="+mn-cs"/>
                            </a:rPr>
                            <m:t>𝑆</m:t>
                          </m:r>
                        </m:e>
                        <m:e>
                          <m:r>
                            <a:rPr lang="ar-AE" sz="1200" i="1" kern="1200">
                              <a:solidFill>
                                <a:schemeClr val="tx1"/>
                              </a:solidFill>
                              <a:latin typeface="Cambria Math" panose="02040503050406030204" pitchFamily="18" charset="0"/>
                              <a:ea typeface="+mn-ea"/>
                              <a:cs typeface="+mn-cs"/>
                            </a:rPr>
                            <m:t>𝑡𝑢𝑑𝑒𝑛𝑡𝐼𝐷𝐶𝑜𝑢𝑟𝑠𝑒𝐼𝐷</m:t>
                          </m:r>
                        </m:e>
                      </m:d>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𝑆𝑡𝑢𝑑𝑒𝑛𝑡𝑁𝑎𝑚𝑒</m:t>
                      </m:r>
                    </m:oMath>
                  </m:oMathPara>
                </a14:m>
                <a:endParaRPr lang="ar-AE" dirty="0"/>
              </a:p>
              <a:p>
                <a:r>
                  <a:rPr lang="en-US" dirty="0" err="1"/>
                  <a:t>StudentName</a:t>
                </a:r>
                <a:r>
                  <a:rPr lang="en-US" dirty="0"/>
                  <a:t> depends only on StudentID.</a:t>
                </a:r>
              </a:p>
              <a:p>
                <a:r>
                  <a:rPr lang="en-US" dirty="0"/>
                  <a:t>This leads to redundancy.</a:t>
                </a:r>
              </a:p>
              <a:p>
                <a:br>
                  <a:rPr lang="en-US" dirty="0"/>
                </a:br>
                <a:endParaRPr lang="en-US" dirty="0"/>
              </a:p>
              <a:p>
                <a:r>
                  <a:rPr lang="en-US" b="1" dirty="0"/>
                  <a:t>Transitive Dependency</a:t>
                </a:r>
              </a:p>
              <a:p>
                <a:r>
                  <a:rPr lang="en-US" dirty="0"/>
                  <a:t>When:</a:t>
                </a:r>
              </a:p>
              <a:p>
                <a:pPr/>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𝐴</m:t>
                      </m:r>
                      <m:r>
                        <a:rPr lang="en-US" sz="1200" i="0" kern="1200">
                          <a:solidFill>
                            <a:schemeClr val="tx1"/>
                          </a:solidFill>
                          <a:latin typeface="Cambria Math" panose="02040503050406030204" pitchFamily="18" charset="0"/>
                          <a:ea typeface="+mn-ea"/>
                          <a:cs typeface="+mn-cs"/>
                        </a:rPr>
                        <m:t>→</m:t>
                      </m:r>
                      <m:r>
                        <a:rPr lang="en-US" sz="1200" i="1" kern="1200">
                          <a:solidFill>
                            <a:schemeClr val="tx1"/>
                          </a:solidFill>
                          <a:latin typeface="Cambria Math" panose="02040503050406030204" pitchFamily="18" charset="0"/>
                          <a:ea typeface="+mn-ea"/>
                          <a:cs typeface="+mn-cs"/>
                        </a:rPr>
                        <m:t>𝐵</m:t>
                      </m:r>
                    </m:oMath>
                  </m:oMathPara>
                </a14:m>
                <a:endParaRPr lang="en-US" dirty="0"/>
              </a:p>
              <a:p>
                <a:r>
                  <a:rPr lang="en-US" dirty="0"/>
                  <a:t>and</a:t>
                </a:r>
              </a:p>
              <a:p>
                <a:pPr/>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𝐵</m:t>
                      </m:r>
                      <m:r>
                        <a:rPr lang="en-US" sz="1200" i="0" kern="1200">
                          <a:solidFill>
                            <a:schemeClr val="tx1"/>
                          </a:solidFill>
                          <a:latin typeface="Cambria Math" panose="02040503050406030204" pitchFamily="18" charset="0"/>
                          <a:ea typeface="+mn-ea"/>
                          <a:cs typeface="+mn-cs"/>
                        </a:rPr>
                        <m:t>→</m:t>
                      </m:r>
                      <m:r>
                        <a:rPr lang="en-US" sz="1200" i="1" kern="1200">
                          <a:solidFill>
                            <a:schemeClr val="tx1"/>
                          </a:solidFill>
                          <a:latin typeface="Cambria Math" panose="02040503050406030204" pitchFamily="18" charset="0"/>
                          <a:ea typeface="+mn-ea"/>
                          <a:cs typeface="+mn-cs"/>
                        </a:rPr>
                        <m:t>𝐶</m:t>
                      </m:r>
                    </m:oMath>
                  </m:oMathPara>
                </a14:m>
                <a:endParaRPr lang="en-US" dirty="0"/>
              </a:p>
              <a:p>
                <a:r>
                  <a:rPr lang="en-US" dirty="0"/>
                  <a:t>then</a:t>
                </a:r>
              </a:p>
              <a:p>
                <a:pPr/>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𝐴</m:t>
                      </m:r>
                      <m:r>
                        <a:rPr lang="en-US" sz="1200" i="0" kern="1200">
                          <a:solidFill>
                            <a:schemeClr val="tx1"/>
                          </a:solidFill>
                          <a:latin typeface="Cambria Math" panose="02040503050406030204" pitchFamily="18" charset="0"/>
                          <a:ea typeface="+mn-ea"/>
                          <a:cs typeface="+mn-cs"/>
                        </a:rPr>
                        <m:t>→</m:t>
                      </m:r>
                      <m:r>
                        <a:rPr lang="en-US" sz="1200" i="1" kern="1200">
                          <a:solidFill>
                            <a:schemeClr val="tx1"/>
                          </a:solidFill>
                          <a:latin typeface="Cambria Math" panose="02040503050406030204" pitchFamily="18" charset="0"/>
                          <a:ea typeface="+mn-ea"/>
                          <a:cs typeface="+mn-cs"/>
                        </a:rPr>
                        <m:t>𝐶</m:t>
                      </m:r>
                    </m:oMath>
                  </m:oMathPara>
                </a14:m>
                <a:endParaRPr lang="en-US" dirty="0"/>
              </a:p>
              <a:p>
                <a:r>
                  <a:rPr lang="en-US" dirty="0"/>
                  <a:t>Example:</a:t>
                </a:r>
              </a:p>
              <a:p>
                <a:pPr/>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𝑆𝑡𝑢𝑑𝑒𝑛𝑡𝐼𝐷</m:t>
                      </m:r>
                      <m:r>
                        <a:rPr lang="en-US" sz="1200" i="0" kern="1200">
                          <a:solidFill>
                            <a:schemeClr val="tx1"/>
                          </a:solidFill>
                          <a:latin typeface="Cambria Math" panose="02040503050406030204" pitchFamily="18" charset="0"/>
                          <a:ea typeface="+mn-ea"/>
                          <a:cs typeface="+mn-cs"/>
                        </a:rPr>
                        <m:t>→</m:t>
                      </m:r>
                      <m:r>
                        <a:rPr lang="en-US" sz="1200" i="1" kern="1200">
                          <a:solidFill>
                            <a:schemeClr val="tx1"/>
                          </a:solidFill>
                          <a:latin typeface="Cambria Math" panose="02040503050406030204" pitchFamily="18" charset="0"/>
                          <a:ea typeface="+mn-ea"/>
                          <a:cs typeface="+mn-cs"/>
                        </a:rPr>
                        <m:t>𝐷𝑒𝑝𝑡𝐼𝐷</m:t>
                      </m:r>
                    </m:oMath>
                  </m:oMathPara>
                </a14:m>
                <a:endParaRPr lang="en-US" dirty="0"/>
              </a:p>
              <a:p>
                <a:pPr/>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𝐷𝑒𝑝𝑡𝐼𝐷</m:t>
                      </m:r>
                      <m:r>
                        <a:rPr lang="en-US" sz="1200" i="0" kern="1200">
                          <a:solidFill>
                            <a:schemeClr val="tx1"/>
                          </a:solidFill>
                          <a:latin typeface="Cambria Math" panose="02040503050406030204" pitchFamily="18" charset="0"/>
                          <a:ea typeface="+mn-ea"/>
                          <a:cs typeface="+mn-cs"/>
                        </a:rPr>
                        <m:t>→</m:t>
                      </m:r>
                      <m:r>
                        <a:rPr lang="en-US" sz="1200" i="1" kern="1200">
                          <a:solidFill>
                            <a:schemeClr val="tx1"/>
                          </a:solidFill>
                          <a:latin typeface="Cambria Math" panose="02040503050406030204" pitchFamily="18" charset="0"/>
                          <a:ea typeface="+mn-ea"/>
                          <a:cs typeface="+mn-cs"/>
                        </a:rPr>
                        <m:t>𝐷𝑒𝑝𝑡𝑁𝑎𝑚𝑒</m:t>
                      </m:r>
                    </m:oMath>
                  </m:oMathPara>
                </a14:m>
                <a:endParaRPr lang="en-US" dirty="0"/>
              </a:p>
              <a:p>
                <a:r>
                  <a:rPr lang="en-US" dirty="0"/>
                  <a:t>Therefore:</a:t>
                </a:r>
              </a:p>
              <a:p>
                <a:pPr/>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𝑆𝑡𝑢𝑑𝑒𝑛𝑡𝐼𝐷</m:t>
                      </m:r>
                      <m:r>
                        <a:rPr lang="en-US" sz="1200" i="0" kern="1200">
                          <a:solidFill>
                            <a:schemeClr val="tx1"/>
                          </a:solidFill>
                          <a:latin typeface="Cambria Math" panose="02040503050406030204" pitchFamily="18" charset="0"/>
                          <a:ea typeface="+mn-ea"/>
                          <a:cs typeface="+mn-cs"/>
                        </a:rPr>
                        <m:t>→</m:t>
                      </m:r>
                      <m:r>
                        <a:rPr lang="en-US" sz="1200" i="1" kern="1200">
                          <a:solidFill>
                            <a:schemeClr val="tx1"/>
                          </a:solidFill>
                          <a:latin typeface="Cambria Math" panose="02040503050406030204" pitchFamily="18" charset="0"/>
                          <a:ea typeface="+mn-ea"/>
                          <a:cs typeface="+mn-cs"/>
                        </a:rPr>
                        <m:t>𝐷𝑒𝑝𝑡𝑁𝑎𝑚𝑒</m:t>
                      </m:r>
                    </m:oMath>
                  </m:oMathPara>
                </a14:m>
                <a:endParaRPr lang="en-US" dirty="0"/>
              </a:p>
              <a:p>
                <a:endParaRPr lang="en-US" dirty="0"/>
              </a:p>
            </p:txBody>
          </p:sp>
        </mc:Choice>
        <mc:Fallback xmlns="">
          <p:sp>
            <p:nvSpPr>
              <p:cNvPr id="3" name="Notes Placeholder 2"/>
              <p:cNvSpPr>
                <a:spLocks noGrp="1"/>
              </p:cNvSpPr>
              <p:nvPr>
                <p:ph type="body" idx="1"/>
              </p:nvPr>
            </p:nvSpPr>
            <p:spPr/>
            <p:txBody>
              <a:bodyPr/>
              <a:lstStyle/>
              <a:p>
                <a:r>
                  <a:rPr lang="en-US" b="1" dirty="0"/>
                  <a:t>FD Example</a:t>
                </a:r>
              </a:p>
              <a:p>
                <a:r>
                  <a:rPr lang="en-US" b="1" dirty="0"/>
                  <a:t>Student Table</a:t>
                </a:r>
              </a:p>
              <a:p>
                <a:r>
                  <a:rPr lang="en-US" dirty="0"/>
                  <a:t>Roll_NoNameAddress101RamKathmandu102SitaPokhara</a:t>
                </a:r>
              </a:p>
              <a:p>
                <a:r>
                  <a:rPr lang="en-US" dirty="0"/>
                  <a:t>Since </a:t>
                </a:r>
                <a:r>
                  <a:rPr lang="en-US" dirty="0" err="1"/>
                  <a:t>Roll_No</a:t>
                </a:r>
                <a:r>
                  <a:rPr lang="en-US" dirty="0"/>
                  <a:t> uniquely identifies students:</a:t>
                </a:r>
              </a:p>
              <a:p>
                <a:r>
                  <a:rPr lang="en-US" sz="1200" i="0" kern="1200">
                    <a:solidFill>
                      <a:schemeClr val="tx1"/>
                    </a:solidFill>
                    <a:latin typeface="+mn-lt"/>
                    <a:ea typeface="+mn-ea"/>
                    <a:cs typeface="+mn-cs"/>
                  </a:rPr>
                  <a:t>𝑅𝑜𝑙𝑙\_𝑁𝑜→𝑁𝑎𝑚𝑒,𝐴𝑑𝑑𝑟𝑒𝑠𝑠</a:t>
                </a:r>
                <a:endParaRPr lang="en-US" dirty="0"/>
              </a:p>
              <a:p>
                <a:r>
                  <a:rPr lang="en-US" dirty="0" err="1"/>
                  <a:t>Roll_No</a:t>
                </a:r>
                <a:r>
                  <a:rPr lang="en-US" dirty="0"/>
                  <a:t> determines Name and Address.</a:t>
                </a:r>
              </a:p>
              <a:p>
                <a:br>
                  <a:rPr lang="en-US" dirty="0"/>
                </a:br>
                <a:endParaRPr lang="en-US" dirty="0"/>
              </a:p>
              <a:p>
                <a:r>
                  <a:rPr lang="en-US" b="1" dirty="0"/>
                  <a:t>Types of Functional Dependencies</a:t>
                </a:r>
              </a:p>
              <a:p>
                <a:r>
                  <a:rPr lang="en-US" b="1" dirty="0"/>
                  <a:t>1. Trivial Dependency</a:t>
                </a:r>
              </a:p>
              <a:p>
                <a:r>
                  <a:rPr lang="en-US" sz="1200" i="0" kern="1200">
                    <a:solidFill>
                      <a:schemeClr val="tx1"/>
                    </a:solidFill>
                    <a:latin typeface="+mn-lt"/>
                    <a:ea typeface="+mn-ea"/>
                    <a:cs typeface="+mn-cs"/>
                  </a:rPr>
                  <a:t>𝐴,𝐵→𝐴</a:t>
                </a:r>
                <a:endParaRPr lang="en-US" dirty="0"/>
              </a:p>
              <a:p>
                <a:r>
                  <a:rPr lang="en-US" dirty="0"/>
                  <a:t>Since A is part of left side.</a:t>
                </a:r>
              </a:p>
              <a:p>
                <a:r>
                  <a:rPr lang="en-US" b="1" dirty="0"/>
                  <a:t>Example</a:t>
                </a:r>
              </a:p>
              <a:p>
                <a:r>
                  <a:rPr lang="ar-AE" sz="1200" i="0" kern="1200">
                    <a:solidFill>
                      <a:schemeClr val="tx1"/>
                    </a:solidFill>
                    <a:latin typeface="+mn-lt"/>
                    <a:ea typeface="+mn-ea"/>
                    <a:cs typeface="+mn-cs"/>
                  </a:rPr>
                  <a:t>(𝑅ⓜ,𝑜𝑙𝑙𝑁𝑜𝑁𝑎𝑚𝑒)→𝑁𝑎𝑚𝑒</a:t>
                </a:r>
                <a:endParaRPr lang="ar-AE" dirty="0"/>
              </a:p>
              <a:p>
                <a:br>
                  <a:rPr lang="ar-AE" dirty="0"/>
                </a:br>
                <a:endParaRPr lang="ar-AE" dirty="0"/>
              </a:p>
              <a:p>
                <a:r>
                  <a:rPr lang="en-US" b="1" dirty="0"/>
                  <a:t>Non-Trivial Dependency</a:t>
                </a:r>
              </a:p>
              <a:p>
                <a:r>
                  <a:rPr lang="en-US" dirty="0"/>
                  <a:t>Dependency where:</a:t>
                </a:r>
              </a:p>
              <a:p>
                <a:r>
                  <a:rPr lang="en-US" sz="1200" i="0" kern="1200">
                    <a:solidFill>
                      <a:schemeClr val="tx1"/>
                    </a:solidFill>
                    <a:latin typeface="+mn-lt"/>
                    <a:ea typeface="+mn-ea"/>
                    <a:cs typeface="+mn-cs"/>
                  </a:rPr>
                  <a:t>𝑌⊈𝑋</a:t>
                </a:r>
                <a:endParaRPr lang="en-US" dirty="0"/>
              </a:p>
              <a:p>
                <a:r>
                  <a:rPr lang="en-US" dirty="0"/>
                  <a:t>Example:</a:t>
                </a:r>
              </a:p>
              <a:p>
                <a:r>
                  <a:rPr lang="en-US" sz="1200" i="0" kern="1200">
                    <a:solidFill>
                      <a:schemeClr val="tx1"/>
                    </a:solidFill>
                    <a:latin typeface="+mn-lt"/>
                    <a:ea typeface="+mn-ea"/>
                    <a:cs typeface="+mn-cs"/>
                  </a:rPr>
                  <a:t>𝑅𝑜𝑙𝑙𝑁𝑜→𝑁𝑎𝑚𝑒</a:t>
                </a:r>
                <a:endParaRPr lang="en-US" dirty="0"/>
              </a:p>
              <a:p>
                <a:r>
                  <a:rPr lang="en-US" dirty="0"/>
                  <a:t>Name is not part of </a:t>
                </a:r>
                <a:r>
                  <a:rPr lang="en-US" dirty="0" err="1"/>
                  <a:t>RollNo</a:t>
                </a:r>
                <a:r>
                  <a:rPr lang="en-US" dirty="0"/>
                  <a:t>.</a:t>
                </a:r>
              </a:p>
              <a:p>
                <a:br>
                  <a:rPr lang="en-US" dirty="0"/>
                </a:br>
                <a:endParaRPr lang="en-US" dirty="0"/>
              </a:p>
              <a:p>
                <a:r>
                  <a:rPr lang="en-US" b="1" dirty="0"/>
                  <a:t>Fully Functional Dependency</a:t>
                </a:r>
              </a:p>
              <a:p>
                <a:r>
                  <a:rPr lang="en-US" dirty="0"/>
                  <a:t>Attribute depends on the whole key.</a:t>
                </a:r>
              </a:p>
              <a:p>
                <a:r>
                  <a:rPr lang="en-US" dirty="0"/>
                  <a:t>Example:</a:t>
                </a:r>
              </a:p>
              <a:p>
                <a:r>
                  <a:rPr lang="ar-AE" sz="1200" i="0" kern="1200">
                    <a:solidFill>
                      <a:schemeClr val="tx1"/>
                    </a:solidFill>
                    <a:latin typeface="+mn-lt"/>
                    <a:ea typeface="+mn-ea"/>
                    <a:cs typeface="+mn-cs"/>
                  </a:rPr>
                  <a:t>(𝑆ⓜ,𝑡𝑢𝑑𝑒𝑛𝑡𝐼𝐷𝐶𝑜𝑢𝑟𝑠𝑒𝐼𝐷)→𝐺𝑟𝑎𝑑𝑒</a:t>
                </a:r>
                <a:endParaRPr lang="ar-AE" dirty="0"/>
              </a:p>
              <a:p>
                <a:r>
                  <a:rPr lang="en-US" dirty="0"/>
                  <a:t>Grade depends on both attributes.</a:t>
                </a:r>
              </a:p>
              <a:p>
                <a:br>
                  <a:rPr lang="en-US" dirty="0"/>
                </a:br>
                <a:r>
                  <a:rPr lang="en-US" b="1" dirty="0"/>
                  <a:t>Partial Dependency</a:t>
                </a:r>
              </a:p>
              <a:p>
                <a:r>
                  <a:rPr lang="en-US" dirty="0"/>
                  <a:t>Attribute depends on part of a composite key.</a:t>
                </a:r>
              </a:p>
              <a:p>
                <a:r>
                  <a:rPr lang="en-US" dirty="0"/>
                  <a:t>Example:</a:t>
                </a:r>
              </a:p>
              <a:p>
                <a:r>
                  <a:rPr lang="ar-AE" sz="1200" i="0" kern="1200">
                    <a:solidFill>
                      <a:schemeClr val="tx1"/>
                    </a:solidFill>
                    <a:latin typeface="+mn-lt"/>
                    <a:ea typeface="+mn-ea"/>
                    <a:cs typeface="+mn-cs"/>
                  </a:rPr>
                  <a:t>(𝑆ⓜ,𝑡𝑢𝑑𝑒𝑛𝑡𝐼𝐷𝐶𝑜𝑢𝑟𝑠𝑒𝐼𝐷)→𝑆𝑡𝑢𝑑𝑒𝑛𝑡𝑁𝑎𝑚𝑒</a:t>
                </a:r>
                <a:endParaRPr lang="ar-AE" dirty="0"/>
              </a:p>
              <a:p>
                <a:r>
                  <a:rPr lang="en-US" dirty="0" err="1"/>
                  <a:t>StudentName</a:t>
                </a:r>
                <a:r>
                  <a:rPr lang="en-US" dirty="0"/>
                  <a:t> depends only on StudentID.</a:t>
                </a:r>
              </a:p>
              <a:p>
                <a:r>
                  <a:rPr lang="en-US" dirty="0"/>
                  <a:t>This leads to redundancy.</a:t>
                </a:r>
              </a:p>
              <a:p>
                <a:br>
                  <a:rPr lang="en-US" dirty="0"/>
                </a:br>
                <a:endParaRPr lang="en-US" dirty="0"/>
              </a:p>
              <a:p>
                <a:r>
                  <a:rPr lang="en-US" b="1" dirty="0"/>
                  <a:t>Transitive Dependency</a:t>
                </a:r>
              </a:p>
              <a:p>
                <a:r>
                  <a:rPr lang="en-US" dirty="0"/>
                  <a:t>When:</a:t>
                </a:r>
              </a:p>
              <a:p>
                <a:r>
                  <a:rPr lang="en-US" sz="1200" i="0" kern="1200">
                    <a:solidFill>
                      <a:schemeClr val="tx1"/>
                    </a:solidFill>
                    <a:latin typeface="+mn-lt"/>
                    <a:ea typeface="+mn-ea"/>
                    <a:cs typeface="+mn-cs"/>
                  </a:rPr>
                  <a:t>𝐴→𝐵</a:t>
                </a:r>
                <a:endParaRPr lang="en-US" dirty="0"/>
              </a:p>
              <a:p>
                <a:r>
                  <a:rPr lang="en-US" dirty="0"/>
                  <a:t>and</a:t>
                </a:r>
              </a:p>
              <a:p>
                <a:r>
                  <a:rPr lang="en-US" sz="1200" i="0" kern="1200">
                    <a:solidFill>
                      <a:schemeClr val="tx1"/>
                    </a:solidFill>
                    <a:latin typeface="+mn-lt"/>
                    <a:ea typeface="+mn-ea"/>
                    <a:cs typeface="+mn-cs"/>
                  </a:rPr>
                  <a:t>𝐵→𝐶</a:t>
                </a:r>
                <a:endParaRPr lang="en-US" dirty="0"/>
              </a:p>
              <a:p>
                <a:r>
                  <a:rPr lang="en-US" dirty="0"/>
                  <a:t>then</a:t>
                </a:r>
              </a:p>
              <a:p>
                <a:r>
                  <a:rPr lang="en-US" sz="1200" i="0" kern="1200">
                    <a:solidFill>
                      <a:schemeClr val="tx1"/>
                    </a:solidFill>
                    <a:latin typeface="+mn-lt"/>
                    <a:ea typeface="+mn-ea"/>
                    <a:cs typeface="+mn-cs"/>
                  </a:rPr>
                  <a:t>𝐴→𝐶</a:t>
                </a:r>
                <a:endParaRPr lang="en-US" dirty="0"/>
              </a:p>
              <a:p>
                <a:r>
                  <a:rPr lang="en-US" dirty="0"/>
                  <a:t>Example:</a:t>
                </a:r>
              </a:p>
              <a:p>
                <a:r>
                  <a:rPr lang="en-US" sz="1200" i="0" kern="1200">
                    <a:solidFill>
                      <a:schemeClr val="tx1"/>
                    </a:solidFill>
                    <a:latin typeface="+mn-lt"/>
                    <a:ea typeface="+mn-ea"/>
                    <a:cs typeface="+mn-cs"/>
                  </a:rPr>
                  <a:t>𝑆𝑡𝑢𝑑𝑒𝑛𝑡𝐼𝐷→𝐷𝑒𝑝𝑡𝐼𝐷</a:t>
                </a:r>
                <a:endParaRPr lang="en-US" dirty="0"/>
              </a:p>
              <a:p>
                <a:r>
                  <a:rPr lang="en-US" sz="1200" i="0" kern="1200">
                    <a:solidFill>
                      <a:schemeClr val="tx1"/>
                    </a:solidFill>
                    <a:latin typeface="+mn-lt"/>
                    <a:ea typeface="+mn-ea"/>
                    <a:cs typeface="+mn-cs"/>
                  </a:rPr>
                  <a:t>𝐷𝑒𝑝𝑡𝐼𝐷→𝐷𝑒𝑝𝑡𝑁𝑎𝑚𝑒</a:t>
                </a:r>
                <a:endParaRPr lang="en-US" dirty="0"/>
              </a:p>
              <a:p>
                <a:r>
                  <a:rPr lang="en-US" dirty="0"/>
                  <a:t>Therefore:</a:t>
                </a:r>
              </a:p>
              <a:p>
                <a:r>
                  <a:rPr lang="en-US" sz="1200" i="0" kern="1200">
                    <a:solidFill>
                      <a:schemeClr val="tx1"/>
                    </a:solidFill>
                    <a:latin typeface="+mn-lt"/>
                    <a:ea typeface="+mn-ea"/>
                    <a:cs typeface="+mn-cs"/>
                  </a:rPr>
                  <a:t>𝑆𝑡𝑢𝑑𝑒𝑛𝑡𝐼𝐷→𝐷𝑒𝑝𝑡𝑁𝑎𝑚𝑒</a:t>
                </a:r>
                <a:endParaRPr lang="en-US" dirty="0"/>
              </a:p>
              <a:p>
                <a:endParaRPr lang="en-US" dirty="0"/>
              </a:p>
            </p:txBody>
          </p:sp>
        </mc:Fallback>
      </mc:AlternateContent>
      <p:sp>
        <p:nvSpPr>
          <p:cNvPr id="4" name="Slide Number Placeholder 3"/>
          <p:cNvSpPr>
            <a:spLocks noGrp="1"/>
          </p:cNvSpPr>
          <p:nvPr>
            <p:ph type="sldNum" sz="quarter" idx="5"/>
          </p:nvPr>
        </p:nvSpPr>
        <p:spPr/>
        <p:txBody>
          <a:bodyPr/>
          <a:lstStyle/>
          <a:p>
            <a:fld id="{532ED260-D111-491D-AB9F-FC8569A2A916}" type="slidenum">
              <a:rPr lang="en-US" smtClean="0"/>
              <a:t>32</a:t>
            </a:fld>
            <a:endParaRPr lang="en-US"/>
          </a:p>
        </p:txBody>
      </p:sp>
    </p:spTree>
    <p:extLst>
      <p:ext uri="{BB962C8B-B14F-4D97-AF65-F5344CB8AC3E}">
        <p14:creationId xmlns:p14="http://schemas.microsoft.com/office/powerpoint/2010/main" val="14670118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Example 2</a:t>
            </a:r>
          </a:p>
          <a:p>
            <a:r>
              <a:rPr lang="en-US" dirty="0"/>
              <a:t>Consider:</a:t>
            </a:r>
          </a:p>
          <a:p>
            <a:r>
              <a:rPr lang="en-US" b="1" dirty="0"/>
              <a:t>(</a:t>
            </a:r>
            <a:r>
              <a:rPr lang="en-US" b="1" dirty="0" err="1"/>
              <a:t>Student_ID</a:t>
            </a:r>
            <a:r>
              <a:rPr lang="en-US" b="1" dirty="0"/>
              <a:t>, </a:t>
            </a:r>
            <a:r>
              <a:rPr lang="en-US" b="1" dirty="0" err="1"/>
              <a:t>Subject_ID</a:t>
            </a:r>
            <a:r>
              <a:rPr lang="en-US" b="1" dirty="0"/>
              <a:t>) → </a:t>
            </a:r>
            <a:r>
              <a:rPr lang="en-US" b="1" dirty="0" err="1"/>
              <a:t>Student_ID</a:t>
            </a:r>
            <a:endParaRPr lang="en-US" dirty="0"/>
          </a:p>
          <a:p>
            <a:r>
              <a:rPr lang="en-US" dirty="0"/>
              <a:t>LHS = {</a:t>
            </a:r>
            <a:r>
              <a:rPr lang="en-US" dirty="0" err="1"/>
              <a:t>Student_ID</a:t>
            </a:r>
            <a:r>
              <a:rPr lang="en-US" dirty="0"/>
              <a:t>, </a:t>
            </a:r>
            <a:r>
              <a:rPr lang="en-US" dirty="0" err="1"/>
              <a:t>Subject_ID</a:t>
            </a:r>
            <a:r>
              <a:rPr lang="en-US" dirty="0"/>
              <a:t>} </a:t>
            </a:r>
          </a:p>
          <a:p>
            <a:r>
              <a:rPr lang="en-US" dirty="0"/>
              <a:t>RHS = {</a:t>
            </a:r>
            <a:r>
              <a:rPr lang="en-US" dirty="0" err="1"/>
              <a:t>Student_ID</a:t>
            </a:r>
            <a:r>
              <a:rPr lang="en-US" dirty="0"/>
              <a:t>} </a:t>
            </a:r>
          </a:p>
          <a:p>
            <a:r>
              <a:rPr lang="en-US" dirty="0"/>
              <a:t>Since </a:t>
            </a:r>
            <a:r>
              <a:rPr lang="en-US" dirty="0" err="1"/>
              <a:t>Student_ID</a:t>
            </a:r>
            <a:r>
              <a:rPr lang="en-US" dirty="0"/>
              <a:t> already exists on the left side, it is a trivial dependency.</a:t>
            </a:r>
          </a:p>
          <a:p>
            <a:br>
              <a:rPr lang="en-US" dirty="0"/>
            </a:br>
            <a:endParaRPr lang="en-US" dirty="0"/>
          </a:p>
          <a:p>
            <a:r>
              <a:rPr lang="en-US" b="1" dirty="0"/>
              <a:t>Example 3</a:t>
            </a:r>
          </a:p>
          <a:p>
            <a:r>
              <a:rPr lang="en-US" b="1" dirty="0"/>
              <a:t>(A, B, C) → (A, C)</a:t>
            </a:r>
            <a:endParaRPr lang="en-US" dirty="0"/>
          </a:p>
          <a:p>
            <a:r>
              <a:rPr lang="en-US" dirty="0"/>
              <a:t>RHS = {A, C} </a:t>
            </a:r>
          </a:p>
          <a:p>
            <a:r>
              <a:rPr lang="en-US" dirty="0"/>
              <a:t>RHS is completely contained in LHS </a:t>
            </a:r>
          </a:p>
          <a:p>
            <a:r>
              <a:rPr lang="en-US" dirty="0"/>
              <a:t>Therefore it is a trivial dependency.</a:t>
            </a:r>
          </a:p>
          <a:p>
            <a:br>
              <a:rPr lang="en-US" dirty="0"/>
            </a:br>
            <a:endParaRPr lang="en-US" dirty="0"/>
          </a:p>
          <a:p>
            <a:r>
              <a:rPr lang="en-US" b="1" dirty="0"/>
              <a:t>Why Is It Called "Trivial"?</a:t>
            </a:r>
          </a:p>
          <a:p>
            <a:r>
              <a:rPr lang="en-US" dirty="0"/>
              <a:t>Because it is always true by definition.</a:t>
            </a:r>
          </a:p>
          <a:p>
            <a:r>
              <a:rPr lang="en-US" dirty="0"/>
              <a:t>If you already know:</a:t>
            </a:r>
          </a:p>
          <a:p>
            <a:r>
              <a:rPr lang="en-US" dirty="0" err="1"/>
              <a:t>Roll_No</a:t>
            </a:r>
            <a:r>
              <a:rPr lang="en-US" dirty="0"/>
              <a:t> = 101 </a:t>
            </a:r>
          </a:p>
          <a:p>
            <a:r>
              <a:rPr lang="en-US" dirty="0"/>
              <a:t>Name = Ram </a:t>
            </a:r>
          </a:p>
          <a:p>
            <a:r>
              <a:rPr lang="en-US" dirty="0"/>
              <a:t>Then asking for </a:t>
            </a:r>
            <a:r>
              <a:rPr lang="en-US" b="1" dirty="0"/>
              <a:t>Name</a:t>
            </a:r>
            <a:r>
              <a:rPr lang="en-US" dirty="0"/>
              <a:t> from </a:t>
            </a:r>
            <a:r>
              <a:rPr lang="en-US" b="1" dirty="0"/>
              <a:t>(</a:t>
            </a:r>
            <a:r>
              <a:rPr lang="en-US" b="1" dirty="0" err="1"/>
              <a:t>Roll_No</a:t>
            </a:r>
            <a:r>
              <a:rPr lang="en-US" b="1" dirty="0"/>
              <a:t>, Name)</a:t>
            </a:r>
            <a:r>
              <a:rPr lang="en-US" dirty="0"/>
              <a:t> doesn't provide any new information.</a:t>
            </a:r>
          </a:p>
        </p:txBody>
      </p:sp>
      <p:sp>
        <p:nvSpPr>
          <p:cNvPr id="4" name="Slide Number Placeholder 3"/>
          <p:cNvSpPr>
            <a:spLocks noGrp="1"/>
          </p:cNvSpPr>
          <p:nvPr>
            <p:ph type="sldNum" sz="quarter" idx="5"/>
          </p:nvPr>
        </p:nvSpPr>
        <p:spPr/>
        <p:txBody>
          <a:bodyPr/>
          <a:lstStyle/>
          <a:p>
            <a:fld id="{532ED260-D111-491D-AB9F-FC8569A2A916}" type="slidenum">
              <a:rPr lang="en-US" smtClean="0"/>
              <a:t>34</a:t>
            </a:fld>
            <a:endParaRPr lang="en-US"/>
          </a:p>
        </p:txBody>
      </p:sp>
    </p:spTree>
    <p:extLst>
      <p:ext uri="{BB962C8B-B14F-4D97-AF65-F5344CB8AC3E}">
        <p14:creationId xmlns:p14="http://schemas.microsoft.com/office/powerpoint/2010/main" val="159675508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b="1" dirty="0"/>
                  <a:t>Example 2</a:t>
                </a:r>
              </a:p>
              <a:p>
                <a:r>
                  <a:rPr lang="en-US" b="1" dirty="0" err="1"/>
                  <a:t>Student_ID</a:t>
                </a:r>
                <a:r>
                  <a:rPr lang="en-US" b="1" dirty="0"/>
                  <a:t> → Department</a:t>
                </a:r>
                <a:endParaRPr lang="en-US" dirty="0"/>
              </a:p>
              <a:p>
                <a:r>
                  <a:rPr lang="en-US" dirty="0"/>
                  <a:t>LHS = {</a:t>
                </a:r>
                <a:r>
                  <a:rPr lang="en-US" dirty="0" err="1"/>
                  <a:t>Student_ID</a:t>
                </a:r>
                <a:r>
                  <a:rPr lang="en-US" dirty="0"/>
                  <a:t>} </a:t>
                </a:r>
              </a:p>
              <a:p>
                <a:r>
                  <a:rPr lang="en-US" dirty="0"/>
                  <a:t>RHS = {Department} </a:t>
                </a:r>
              </a:p>
              <a:p>
                <a:r>
                  <a:rPr lang="en-US" dirty="0"/>
                  <a:t>Since Department is not included in the LHS, it is non-trivial.</a:t>
                </a:r>
              </a:p>
              <a:p>
                <a:br>
                  <a:rPr lang="en-US" dirty="0"/>
                </a:br>
                <a:endParaRPr lang="en-US" dirty="0"/>
              </a:p>
              <a:p>
                <a:r>
                  <a:rPr lang="en-US" b="1" dirty="0"/>
                  <a:t>Example 3</a:t>
                </a:r>
              </a:p>
              <a:p>
                <a:r>
                  <a:rPr lang="en-US" dirty="0"/>
                  <a:t>Consider:</a:t>
                </a:r>
              </a:p>
              <a:p>
                <a:r>
                  <a:rPr lang="en-US" dirty="0" err="1"/>
                  <a:t>Emp_ID</a:t>
                </a:r>
                <a:r>
                  <a:rPr lang="en-US" dirty="0"/>
                  <a:t>	</a:t>
                </a:r>
                <a:r>
                  <a:rPr lang="en-US" dirty="0" err="1"/>
                  <a:t>Emp_Name</a:t>
                </a:r>
                <a:r>
                  <a:rPr lang="en-US" dirty="0"/>
                  <a:t>	Salary</a:t>
                </a:r>
              </a:p>
              <a:p>
                <a:r>
                  <a:rPr lang="en-US" dirty="0"/>
                  <a:t>E101	Hari	50000</a:t>
                </a:r>
              </a:p>
              <a:p>
                <a:r>
                  <a:rPr lang="en-US" dirty="0"/>
                  <a:t>E102	Sita	60000</a:t>
                </a:r>
              </a:p>
              <a:p>
                <a:r>
                  <a:rPr lang="en-US" dirty="0"/>
                  <a:t>Functional Dependencies:</a:t>
                </a:r>
              </a:p>
              <a:p>
                <a:r>
                  <a:rPr lang="en-US" dirty="0" err="1"/>
                  <a:t>Emp_ID</a:t>
                </a:r>
                <a:r>
                  <a:rPr lang="en-US" dirty="0"/>
                  <a:t> → </a:t>
                </a:r>
                <a:r>
                  <a:rPr lang="en-US" dirty="0" err="1"/>
                  <a:t>Emp_Name</a:t>
                </a:r>
                <a:r>
                  <a:rPr lang="en-US" dirty="0"/>
                  <a:t> </a:t>
                </a:r>
              </a:p>
              <a:p>
                <a:r>
                  <a:rPr lang="en-US" dirty="0" err="1"/>
                  <a:t>Emp_ID</a:t>
                </a:r>
                <a:r>
                  <a:rPr lang="en-US" dirty="0"/>
                  <a:t> → Salary </a:t>
                </a:r>
              </a:p>
              <a:p>
                <a:r>
                  <a:rPr lang="en-US" dirty="0"/>
                  <a:t>Both are non-trivial because </a:t>
                </a:r>
                <a:r>
                  <a:rPr lang="en-US" dirty="0" err="1"/>
                  <a:t>Emp_Name</a:t>
                </a:r>
                <a:r>
                  <a:rPr lang="en-US" dirty="0"/>
                  <a:t> and Salary are not part of </a:t>
                </a:r>
                <a:r>
                  <a:rPr lang="en-US" dirty="0" err="1"/>
                  <a:t>Emp_ID</a:t>
                </a:r>
                <a:r>
                  <a:rPr lang="en-US" dirty="0"/>
                  <a:t>.</a:t>
                </a:r>
              </a:p>
              <a:p>
                <a:br>
                  <a:rPr lang="en-US" dirty="0"/>
                </a:br>
                <a:endParaRPr lang="en-US" dirty="0"/>
              </a:p>
              <a:p>
                <a:r>
                  <a:rPr lang="en-US" dirty="0"/>
                  <a:t>Suppose:</a:t>
                </a:r>
              </a:p>
              <a:p>
                <a:r>
                  <a:rPr lang="en-US" dirty="0"/>
                  <a:t>"Knowing a student's Roll Number allows you to determine the student's Name."</a:t>
                </a:r>
              </a:p>
              <a:p>
                <a:r>
                  <a:rPr lang="en-US" b="1" dirty="0" err="1"/>
                  <a:t>Roll_No</a:t>
                </a:r>
                <a:r>
                  <a:rPr lang="en-US" b="1" dirty="0"/>
                  <a:t> → Name</a:t>
                </a:r>
                <a:endParaRPr lang="en-US" dirty="0"/>
              </a:p>
              <a:p>
                <a:r>
                  <a:rPr lang="en-US" dirty="0"/>
                  <a:t>This is non-trivial because Name is new information obtained from </a:t>
                </a:r>
                <a:r>
                  <a:rPr lang="en-US" dirty="0" err="1"/>
                  <a:t>Roll_No</a:t>
                </a:r>
                <a:r>
                  <a:rPr lang="en-US" dirty="0"/>
                  <a:t>.</a:t>
                </a:r>
              </a:p>
              <a:p>
                <a:r>
                  <a:rPr lang="en-US" dirty="0"/>
                  <a:t>Compare with:</a:t>
                </a:r>
              </a:p>
              <a:p>
                <a:r>
                  <a:rPr lang="en-US" dirty="0"/>
                  <a:t>"Knowing Roll Number and Name allows you to know Name."</a:t>
                </a:r>
              </a:p>
              <a:p>
                <a:r>
                  <a:rPr lang="en-US" b="1" dirty="0"/>
                  <a:t>(</a:t>
                </a:r>
                <a:r>
                  <a:rPr lang="en-US" b="1" dirty="0" err="1"/>
                  <a:t>Roll_No</a:t>
                </a:r>
                <a:r>
                  <a:rPr lang="en-US" b="1" dirty="0"/>
                  <a:t>, Name) → Name</a:t>
                </a:r>
                <a:endParaRPr lang="en-US" dirty="0"/>
              </a:p>
              <a:p>
                <a:r>
                  <a:rPr lang="en-US" dirty="0"/>
                  <a:t>This is trivial because Name was already known.</a:t>
                </a:r>
              </a:p>
              <a:p>
                <a:endParaRPr lang="en-US" dirty="0"/>
              </a:p>
              <a:p>
                <a:endParaRPr lang="en-US" dirty="0"/>
              </a:p>
              <a:p>
                <a:endParaRPr lang="en-US" dirty="0"/>
              </a:p>
              <a:p>
                <a:r>
                  <a:rPr lang="en-US" b="1" dirty="0"/>
                  <a:t>Completely Non-Trivial Functional Dependency</a:t>
                </a:r>
              </a:p>
              <a:p>
                <a:r>
                  <a:rPr lang="en-US" dirty="0"/>
                  <a:t>A stronger form is </a:t>
                </a:r>
                <a:r>
                  <a:rPr lang="en-US" b="1" dirty="0"/>
                  <a:t>completely non-trivial dependency</a:t>
                </a:r>
                <a:r>
                  <a:rPr lang="en-US" dirty="0"/>
                  <a:t>.</a:t>
                </a:r>
              </a:p>
              <a:p>
                <a:r>
                  <a:rPr lang="en-US" dirty="0"/>
                  <a:t>A dependency </a:t>
                </a:r>
                <a:r>
                  <a:rPr lang="en-US" b="1" dirty="0"/>
                  <a:t>X → Y</a:t>
                </a:r>
                <a:r>
                  <a:rPr lang="en-US" dirty="0"/>
                  <a:t> is completely non-trivial if:</a:t>
                </a:r>
              </a:p>
              <a:p>
                <a:pPr/>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𝑋</m:t>
                      </m:r>
                      <m:r>
                        <a:rPr lang="en-US" sz="1200" i="0" kern="1200">
                          <a:solidFill>
                            <a:schemeClr val="tx1"/>
                          </a:solidFill>
                          <a:latin typeface="Cambria Math" panose="02040503050406030204" pitchFamily="18" charset="0"/>
                          <a:ea typeface="+mn-ea"/>
                          <a:cs typeface="+mn-cs"/>
                        </a:rPr>
                        <m:t>∩</m:t>
                      </m:r>
                      <m:r>
                        <a:rPr lang="en-US" sz="1200" i="1" kern="1200">
                          <a:solidFill>
                            <a:schemeClr val="tx1"/>
                          </a:solidFill>
                          <a:latin typeface="Cambria Math" panose="02040503050406030204" pitchFamily="18" charset="0"/>
                          <a:ea typeface="+mn-ea"/>
                          <a:cs typeface="+mn-cs"/>
                        </a:rPr>
                        <m:t>𝑌</m:t>
                      </m:r>
                      <m:r>
                        <a:rPr lang="en-US" sz="1200" i="0" kern="1200">
                          <a:solidFill>
                            <a:schemeClr val="tx1"/>
                          </a:solidFill>
                          <a:latin typeface="Cambria Math" panose="02040503050406030204" pitchFamily="18" charset="0"/>
                          <a:ea typeface="+mn-ea"/>
                          <a:cs typeface="+mn-cs"/>
                        </a:rPr>
                        <m:t>=∅</m:t>
                      </m:r>
                    </m:oMath>
                  </m:oMathPara>
                </a14:m>
                <a:endParaRPr lang="en-US" dirty="0"/>
              </a:p>
              <a:p>
                <a:r>
                  <a:rPr lang="en-US" dirty="0"/>
                  <a:t>That means the LHS and RHS share </a:t>
                </a:r>
                <a:r>
                  <a:rPr lang="en-US" b="1" dirty="0"/>
                  <a:t>no common attributes</a:t>
                </a:r>
                <a:r>
                  <a:rPr lang="en-US" dirty="0"/>
                  <a:t>.</a:t>
                </a:r>
              </a:p>
              <a:p>
                <a:r>
                  <a:rPr lang="en-US" b="1" dirty="0"/>
                  <a:t>Example</a:t>
                </a:r>
              </a:p>
              <a:p>
                <a:r>
                  <a:rPr lang="en-US" b="1" dirty="0" err="1"/>
                  <a:t>Student_ID</a:t>
                </a:r>
                <a:r>
                  <a:rPr lang="en-US" b="1" dirty="0"/>
                  <a:t> → Name</a:t>
                </a:r>
                <a:endParaRPr lang="en-US" dirty="0"/>
              </a:p>
              <a:p>
                <a:r>
                  <a:rPr lang="en-US" dirty="0"/>
                  <a:t>X = {</a:t>
                </a:r>
                <a:r>
                  <a:rPr lang="en-US" dirty="0" err="1"/>
                  <a:t>Student_ID</a:t>
                </a:r>
                <a:r>
                  <a:rPr lang="en-US" dirty="0"/>
                  <a:t>} </a:t>
                </a:r>
              </a:p>
              <a:p>
                <a:r>
                  <a:rPr lang="en-US" dirty="0"/>
                  <a:t>Y = {Name} </a:t>
                </a:r>
              </a:p>
              <a:p>
                <a:r>
                  <a:rPr lang="en-US" dirty="0"/>
                  <a:t>No common attribute </a:t>
                </a:r>
              </a:p>
              <a:p>
                <a:r>
                  <a:rPr lang="en-US" dirty="0"/>
                  <a:t>Hence it is </a:t>
                </a:r>
                <a:r>
                  <a:rPr lang="en-US" b="1" dirty="0"/>
                  <a:t>completely non-trivial</a:t>
                </a:r>
                <a:r>
                  <a:rPr lang="en-US" dirty="0"/>
                  <a:t>.</a:t>
                </a:r>
              </a:p>
              <a:p>
                <a:endParaRPr lang="en-US" dirty="0"/>
              </a:p>
            </p:txBody>
          </p:sp>
        </mc:Choice>
        <mc:Fallback xmlns="">
          <p:sp>
            <p:nvSpPr>
              <p:cNvPr id="3" name="Notes Placeholder 2"/>
              <p:cNvSpPr>
                <a:spLocks noGrp="1"/>
              </p:cNvSpPr>
              <p:nvPr>
                <p:ph type="body" idx="1"/>
              </p:nvPr>
            </p:nvSpPr>
            <p:spPr/>
            <p:txBody>
              <a:bodyPr/>
              <a:lstStyle/>
              <a:p>
                <a:r>
                  <a:rPr lang="en-US" b="1" dirty="0"/>
                  <a:t>Example 2</a:t>
                </a:r>
              </a:p>
              <a:p>
                <a:r>
                  <a:rPr lang="en-US" b="1" dirty="0" err="1"/>
                  <a:t>Student_ID</a:t>
                </a:r>
                <a:r>
                  <a:rPr lang="en-US" b="1" dirty="0"/>
                  <a:t> → Department</a:t>
                </a:r>
                <a:endParaRPr lang="en-US" dirty="0"/>
              </a:p>
              <a:p>
                <a:r>
                  <a:rPr lang="en-US" dirty="0"/>
                  <a:t>LHS = {</a:t>
                </a:r>
                <a:r>
                  <a:rPr lang="en-US" dirty="0" err="1"/>
                  <a:t>Student_ID</a:t>
                </a:r>
                <a:r>
                  <a:rPr lang="en-US" dirty="0"/>
                  <a:t>} </a:t>
                </a:r>
              </a:p>
              <a:p>
                <a:r>
                  <a:rPr lang="en-US" dirty="0"/>
                  <a:t>RHS = {Department} </a:t>
                </a:r>
              </a:p>
              <a:p>
                <a:r>
                  <a:rPr lang="en-US" dirty="0"/>
                  <a:t>Since Department is not included in the LHS, it is non-trivial.</a:t>
                </a:r>
              </a:p>
              <a:p>
                <a:br>
                  <a:rPr lang="en-US" dirty="0"/>
                </a:br>
                <a:endParaRPr lang="en-US" dirty="0"/>
              </a:p>
              <a:p>
                <a:r>
                  <a:rPr lang="en-US" b="1" dirty="0"/>
                  <a:t>Example 3</a:t>
                </a:r>
              </a:p>
              <a:p>
                <a:r>
                  <a:rPr lang="en-US" dirty="0"/>
                  <a:t>Consider:</a:t>
                </a:r>
              </a:p>
              <a:p>
                <a:r>
                  <a:rPr lang="en-US" dirty="0" err="1"/>
                  <a:t>Emp_ID</a:t>
                </a:r>
                <a:r>
                  <a:rPr lang="en-US" dirty="0"/>
                  <a:t>	</a:t>
                </a:r>
                <a:r>
                  <a:rPr lang="en-US" dirty="0" err="1"/>
                  <a:t>Emp_Name</a:t>
                </a:r>
                <a:r>
                  <a:rPr lang="en-US" dirty="0"/>
                  <a:t>	Salary</a:t>
                </a:r>
              </a:p>
              <a:p>
                <a:r>
                  <a:rPr lang="en-US" dirty="0"/>
                  <a:t>E101	Hari	50000</a:t>
                </a:r>
              </a:p>
              <a:p>
                <a:r>
                  <a:rPr lang="en-US" dirty="0"/>
                  <a:t>E102	Sita	60000</a:t>
                </a:r>
              </a:p>
              <a:p>
                <a:r>
                  <a:rPr lang="en-US" dirty="0"/>
                  <a:t>Functional Dependencies:</a:t>
                </a:r>
              </a:p>
              <a:p>
                <a:r>
                  <a:rPr lang="en-US" dirty="0" err="1"/>
                  <a:t>Emp_ID</a:t>
                </a:r>
                <a:r>
                  <a:rPr lang="en-US" dirty="0"/>
                  <a:t> → </a:t>
                </a:r>
                <a:r>
                  <a:rPr lang="en-US" dirty="0" err="1"/>
                  <a:t>Emp_Name</a:t>
                </a:r>
                <a:r>
                  <a:rPr lang="en-US" dirty="0"/>
                  <a:t> </a:t>
                </a:r>
              </a:p>
              <a:p>
                <a:r>
                  <a:rPr lang="en-US" dirty="0" err="1"/>
                  <a:t>Emp_ID</a:t>
                </a:r>
                <a:r>
                  <a:rPr lang="en-US" dirty="0"/>
                  <a:t> → Salary </a:t>
                </a:r>
              </a:p>
              <a:p>
                <a:r>
                  <a:rPr lang="en-US" dirty="0"/>
                  <a:t>Both are non-trivial because </a:t>
                </a:r>
                <a:r>
                  <a:rPr lang="en-US" dirty="0" err="1"/>
                  <a:t>Emp_Name</a:t>
                </a:r>
                <a:r>
                  <a:rPr lang="en-US" dirty="0"/>
                  <a:t> and Salary are not part of </a:t>
                </a:r>
                <a:r>
                  <a:rPr lang="en-US" dirty="0" err="1"/>
                  <a:t>Emp_ID</a:t>
                </a:r>
                <a:r>
                  <a:rPr lang="en-US" dirty="0"/>
                  <a:t>.</a:t>
                </a:r>
              </a:p>
              <a:p>
                <a:br>
                  <a:rPr lang="en-US" dirty="0"/>
                </a:br>
                <a:endParaRPr lang="en-US" dirty="0"/>
              </a:p>
              <a:p>
                <a:r>
                  <a:rPr lang="en-US" dirty="0"/>
                  <a:t>Suppose:</a:t>
                </a:r>
              </a:p>
              <a:p>
                <a:r>
                  <a:rPr lang="en-US" dirty="0"/>
                  <a:t>"Knowing a student's Roll Number allows you to determine the student's Name."</a:t>
                </a:r>
              </a:p>
              <a:p>
                <a:r>
                  <a:rPr lang="en-US" b="1" dirty="0" err="1"/>
                  <a:t>Roll_No</a:t>
                </a:r>
                <a:r>
                  <a:rPr lang="en-US" b="1" dirty="0"/>
                  <a:t> → Name</a:t>
                </a:r>
                <a:endParaRPr lang="en-US" dirty="0"/>
              </a:p>
              <a:p>
                <a:r>
                  <a:rPr lang="en-US" dirty="0"/>
                  <a:t>This is non-trivial because Name is new information obtained from </a:t>
                </a:r>
                <a:r>
                  <a:rPr lang="en-US" dirty="0" err="1"/>
                  <a:t>Roll_No</a:t>
                </a:r>
                <a:r>
                  <a:rPr lang="en-US" dirty="0"/>
                  <a:t>.</a:t>
                </a:r>
              </a:p>
              <a:p>
                <a:r>
                  <a:rPr lang="en-US" dirty="0"/>
                  <a:t>Compare with:</a:t>
                </a:r>
              </a:p>
              <a:p>
                <a:r>
                  <a:rPr lang="en-US" dirty="0"/>
                  <a:t>"Knowing Roll Number and Name allows you to know Name."</a:t>
                </a:r>
              </a:p>
              <a:p>
                <a:r>
                  <a:rPr lang="en-US" b="1" dirty="0"/>
                  <a:t>(</a:t>
                </a:r>
                <a:r>
                  <a:rPr lang="en-US" b="1" dirty="0" err="1"/>
                  <a:t>Roll_No</a:t>
                </a:r>
                <a:r>
                  <a:rPr lang="en-US" b="1" dirty="0"/>
                  <a:t>, Name) → Name</a:t>
                </a:r>
                <a:endParaRPr lang="en-US" dirty="0"/>
              </a:p>
              <a:p>
                <a:r>
                  <a:rPr lang="en-US" dirty="0"/>
                  <a:t>This is trivial because Name was already known.</a:t>
                </a:r>
              </a:p>
              <a:p>
                <a:endParaRPr lang="en-US" dirty="0"/>
              </a:p>
              <a:p>
                <a:endParaRPr lang="en-US" dirty="0"/>
              </a:p>
              <a:p>
                <a:endParaRPr lang="en-US" dirty="0"/>
              </a:p>
              <a:p>
                <a:r>
                  <a:rPr lang="en-US" b="1" dirty="0"/>
                  <a:t>Completely Non-Trivial Functional Dependency</a:t>
                </a:r>
              </a:p>
              <a:p>
                <a:r>
                  <a:rPr lang="en-US" dirty="0"/>
                  <a:t>A stronger form is </a:t>
                </a:r>
                <a:r>
                  <a:rPr lang="en-US" b="1" dirty="0"/>
                  <a:t>completely non-trivial dependency</a:t>
                </a:r>
                <a:r>
                  <a:rPr lang="en-US" dirty="0"/>
                  <a:t>.</a:t>
                </a:r>
              </a:p>
              <a:p>
                <a:r>
                  <a:rPr lang="en-US" dirty="0"/>
                  <a:t>A dependency </a:t>
                </a:r>
                <a:r>
                  <a:rPr lang="en-US" b="1" dirty="0"/>
                  <a:t>X → Y</a:t>
                </a:r>
                <a:r>
                  <a:rPr lang="en-US" dirty="0"/>
                  <a:t> is completely non-trivial if:</a:t>
                </a:r>
              </a:p>
              <a:p>
                <a:r>
                  <a:rPr lang="en-US" sz="1200" i="0" kern="1200">
                    <a:solidFill>
                      <a:schemeClr val="tx1"/>
                    </a:solidFill>
                    <a:latin typeface="+mn-lt"/>
                    <a:ea typeface="+mn-ea"/>
                    <a:cs typeface="+mn-cs"/>
                  </a:rPr>
                  <a:t>𝑋∩𝑌=∅</a:t>
                </a:r>
                <a:endParaRPr lang="en-US" dirty="0"/>
              </a:p>
              <a:p>
                <a:r>
                  <a:rPr lang="en-US" dirty="0"/>
                  <a:t>That means the LHS and RHS share </a:t>
                </a:r>
                <a:r>
                  <a:rPr lang="en-US" b="1" dirty="0"/>
                  <a:t>no common attributes</a:t>
                </a:r>
                <a:r>
                  <a:rPr lang="en-US" dirty="0"/>
                  <a:t>.</a:t>
                </a:r>
              </a:p>
              <a:p>
                <a:r>
                  <a:rPr lang="en-US" b="1" dirty="0"/>
                  <a:t>Example</a:t>
                </a:r>
              </a:p>
              <a:p>
                <a:r>
                  <a:rPr lang="en-US" b="1" dirty="0" err="1"/>
                  <a:t>Student_ID</a:t>
                </a:r>
                <a:r>
                  <a:rPr lang="en-US" b="1" dirty="0"/>
                  <a:t> → Name</a:t>
                </a:r>
                <a:endParaRPr lang="en-US" dirty="0"/>
              </a:p>
              <a:p>
                <a:r>
                  <a:rPr lang="en-US" dirty="0"/>
                  <a:t>X = {</a:t>
                </a:r>
                <a:r>
                  <a:rPr lang="en-US" dirty="0" err="1"/>
                  <a:t>Student_ID</a:t>
                </a:r>
                <a:r>
                  <a:rPr lang="en-US" dirty="0"/>
                  <a:t>} </a:t>
                </a:r>
              </a:p>
              <a:p>
                <a:r>
                  <a:rPr lang="en-US" dirty="0"/>
                  <a:t>Y = {Name} </a:t>
                </a:r>
              </a:p>
              <a:p>
                <a:r>
                  <a:rPr lang="en-US" dirty="0"/>
                  <a:t>No common attribute </a:t>
                </a:r>
              </a:p>
              <a:p>
                <a:r>
                  <a:rPr lang="en-US" dirty="0"/>
                  <a:t>Hence it is </a:t>
                </a:r>
                <a:r>
                  <a:rPr lang="en-US" b="1" dirty="0"/>
                  <a:t>completely non-trivial</a:t>
                </a:r>
                <a:r>
                  <a:rPr lang="en-US" dirty="0"/>
                  <a:t>.</a:t>
                </a:r>
              </a:p>
              <a:p>
                <a:endParaRPr lang="en-US" dirty="0"/>
              </a:p>
            </p:txBody>
          </p:sp>
        </mc:Fallback>
      </mc:AlternateContent>
      <p:sp>
        <p:nvSpPr>
          <p:cNvPr id="4" name="Slide Number Placeholder 3"/>
          <p:cNvSpPr>
            <a:spLocks noGrp="1"/>
          </p:cNvSpPr>
          <p:nvPr>
            <p:ph type="sldNum" sz="quarter" idx="5"/>
          </p:nvPr>
        </p:nvSpPr>
        <p:spPr/>
        <p:txBody>
          <a:bodyPr/>
          <a:lstStyle/>
          <a:p>
            <a:fld id="{532ED260-D111-491D-AB9F-FC8569A2A916}" type="slidenum">
              <a:rPr lang="en-US" smtClean="0"/>
              <a:t>36</a:t>
            </a:fld>
            <a:endParaRPr lang="en-US"/>
          </a:p>
        </p:txBody>
      </p:sp>
    </p:spTree>
    <p:extLst>
      <p:ext uri="{BB962C8B-B14F-4D97-AF65-F5344CB8AC3E}">
        <p14:creationId xmlns:p14="http://schemas.microsoft.com/office/powerpoint/2010/main" val="322593016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Consider:</a:t>
                </a:r>
              </a:p>
              <a:p>
                <a:r>
                  <a:rPr lang="en-US" b="1" dirty="0"/>
                  <a:t>(A, B) → (B, C)</a:t>
                </a:r>
                <a:endParaRPr lang="en-US" dirty="0"/>
              </a:p>
              <a:p>
                <a:r>
                  <a:rPr lang="en-US" dirty="0"/>
                  <a:t>RHS contains B (already in LHS) and C (not in LHS) </a:t>
                </a:r>
              </a:p>
              <a:p>
                <a:r>
                  <a:rPr lang="en-US" dirty="0"/>
                  <a:t>Since the entire RHS is not a subset of the LHS:</a:t>
                </a:r>
              </a:p>
              <a:p>
                <a:pPr/>
                <a14:m>
                  <m:oMathPara xmlns:m="http://schemas.openxmlformats.org/officeDocument/2006/math">
                    <m:oMathParaPr>
                      <m:jc m:val="centerGroup"/>
                    </m:oMathParaPr>
                    <m:oMath xmlns:m="http://schemas.openxmlformats.org/officeDocument/2006/math">
                      <m:d>
                        <m:dPr>
                          <m:sepChr m:val=","/>
                          <m:ctrlPr>
                            <a:rPr lang="ar-AE" sz="1200" i="1" kern="1200">
                              <a:solidFill>
                                <a:schemeClr val="tx1"/>
                              </a:solidFill>
                              <a:latin typeface="Cambria Math" panose="02040503050406030204" pitchFamily="18" charset="0"/>
                              <a:ea typeface="+mn-ea"/>
                              <a:cs typeface="+mn-cs"/>
                            </a:rPr>
                          </m:ctrlPr>
                        </m:dPr>
                        <m:e>
                          <m:r>
                            <a:rPr lang="ar-AE" sz="1200" i="1" kern="1200">
                              <a:solidFill>
                                <a:schemeClr val="tx1"/>
                              </a:solidFill>
                              <a:latin typeface="Cambria Math" panose="02040503050406030204" pitchFamily="18" charset="0"/>
                              <a:ea typeface="+mn-ea"/>
                              <a:cs typeface="+mn-cs"/>
                            </a:rPr>
                            <m:t>𝐵</m:t>
                          </m:r>
                        </m:e>
                        <m:e>
                          <m:r>
                            <a:rPr lang="ar-AE" sz="1200" i="1" kern="1200">
                              <a:solidFill>
                                <a:schemeClr val="tx1"/>
                              </a:solidFill>
                              <a:latin typeface="Cambria Math" panose="02040503050406030204" pitchFamily="18" charset="0"/>
                              <a:ea typeface="+mn-ea"/>
                              <a:cs typeface="+mn-cs"/>
                            </a:rPr>
                            <m:t>𝐶</m:t>
                          </m:r>
                        </m:e>
                      </m:d>
                      <m:r>
                        <a:rPr lang="ar-AE" sz="1200" i="0" kern="1200">
                          <a:solidFill>
                            <a:schemeClr val="tx1"/>
                          </a:solidFill>
                          <a:latin typeface="Cambria Math" panose="02040503050406030204" pitchFamily="18" charset="0"/>
                          <a:ea typeface="+mn-ea"/>
                          <a:cs typeface="+mn-cs"/>
                        </a:rPr>
                        <m:t>⊈</m:t>
                      </m:r>
                      <m:d>
                        <m:dPr>
                          <m:sepChr m:val=","/>
                          <m:ctrlPr>
                            <a:rPr lang="ar-AE" sz="1200" i="1" kern="1200">
                              <a:solidFill>
                                <a:schemeClr val="tx1"/>
                              </a:solidFill>
                              <a:latin typeface="Cambria Math" panose="02040503050406030204" pitchFamily="18" charset="0"/>
                              <a:ea typeface="+mn-ea"/>
                              <a:cs typeface="+mn-cs"/>
                            </a:rPr>
                          </m:ctrlPr>
                        </m:dPr>
                        <m:e>
                          <m:r>
                            <a:rPr lang="ar-AE" sz="1200" i="1" kern="1200">
                              <a:solidFill>
                                <a:schemeClr val="tx1"/>
                              </a:solidFill>
                              <a:latin typeface="Cambria Math" panose="02040503050406030204" pitchFamily="18" charset="0"/>
                              <a:ea typeface="+mn-ea"/>
                              <a:cs typeface="+mn-cs"/>
                            </a:rPr>
                            <m:t>𝐴</m:t>
                          </m:r>
                        </m:e>
                        <m:e>
                          <m:r>
                            <a:rPr lang="ar-AE" sz="1200" i="1" kern="1200">
                              <a:solidFill>
                                <a:schemeClr val="tx1"/>
                              </a:solidFill>
                              <a:latin typeface="Cambria Math" panose="02040503050406030204" pitchFamily="18" charset="0"/>
                              <a:ea typeface="+mn-ea"/>
                              <a:cs typeface="+mn-cs"/>
                            </a:rPr>
                            <m:t>𝐵</m:t>
                          </m:r>
                        </m:e>
                      </m:d>
                    </m:oMath>
                  </m:oMathPara>
                </a14:m>
                <a:endParaRPr lang="ar-AE" dirty="0"/>
              </a:p>
              <a:p>
                <a:r>
                  <a:rPr lang="en-US" dirty="0"/>
                  <a:t>This dependency is </a:t>
                </a:r>
                <a:r>
                  <a:rPr lang="en-US" b="1" dirty="0"/>
                  <a:t>non-trivial</a:t>
                </a:r>
                <a:r>
                  <a:rPr lang="en-US" dirty="0"/>
                  <a:t>, but not completely non-trivial because B appears on both sides.</a:t>
                </a:r>
              </a:p>
              <a:p>
                <a:endParaRPr lang="en-US" dirty="0"/>
              </a:p>
            </p:txBody>
          </p:sp>
        </mc:Choice>
        <mc:Fallback xmlns="">
          <p:sp>
            <p:nvSpPr>
              <p:cNvPr id="3" name="Notes Placeholder 2"/>
              <p:cNvSpPr>
                <a:spLocks noGrp="1"/>
              </p:cNvSpPr>
              <p:nvPr>
                <p:ph type="body" idx="1"/>
              </p:nvPr>
            </p:nvSpPr>
            <p:spPr/>
            <p:txBody>
              <a:bodyPr/>
              <a:lstStyle/>
              <a:p>
                <a:r>
                  <a:rPr lang="en-US" dirty="0"/>
                  <a:t>Consider:</a:t>
                </a:r>
              </a:p>
              <a:p>
                <a:r>
                  <a:rPr lang="en-US" b="1" dirty="0"/>
                  <a:t>(A, B) → (B, C)</a:t>
                </a:r>
                <a:endParaRPr lang="en-US" dirty="0"/>
              </a:p>
              <a:p>
                <a:r>
                  <a:rPr lang="en-US" dirty="0"/>
                  <a:t>RHS contains B (already in LHS) and C (not in LHS) </a:t>
                </a:r>
              </a:p>
              <a:p>
                <a:r>
                  <a:rPr lang="en-US" dirty="0"/>
                  <a:t>Since the entire RHS is not a subset of the LHS:</a:t>
                </a:r>
              </a:p>
              <a:p>
                <a:r>
                  <a:rPr lang="ar-AE" sz="1200" i="0" kern="1200">
                    <a:solidFill>
                      <a:schemeClr val="tx1"/>
                    </a:solidFill>
                    <a:latin typeface="+mn-lt"/>
                    <a:ea typeface="+mn-ea"/>
                    <a:cs typeface="+mn-cs"/>
                  </a:rPr>
                  <a:t>(𝐵ⓜ,𝐶)⊈(𝐴ⓜ,𝐵)</a:t>
                </a:r>
                <a:endParaRPr lang="ar-AE" dirty="0"/>
              </a:p>
              <a:p>
                <a:r>
                  <a:rPr lang="en-US" dirty="0"/>
                  <a:t>This dependency is </a:t>
                </a:r>
                <a:r>
                  <a:rPr lang="en-US" b="1" dirty="0"/>
                  <a:t>non-trivial</a:t>
                </a:r>
                <a:r>
                  <a:rPr lang="en-US" dirty="0"/>
                  <a:t>, but not completely non-trivial because B appears on both sides.</a:t>
                </a:r>
              </a:p>
              <a:p>
                <a:endParaRPr lang="en-US" dirty="0"/>
              </a:p>
            </p:txBody>
          </p:sp>
        </mc:Fallback>
      </mc:AlternateContent>
      <p:sp>
        <p:nvSpPr>
          <p:cNvPr id="4" name="Slide Number Placeholder 3"/>
          <p:cNvSpPr>
            <a:spLocks noGrp="1"/>
          </p:cNvSpPr>
          <p:nvPr>
            <p:ph type="sldNum" sz="quarter" idx="5"/>
          </p:nvPr>
        </p:nvSpPr>
        <p:spPr/>
        <p:txBody>
          <a:bodyPr/>
          <a:lstStyle/>
          <a:p>
            <a:fld id="{532ED260-D111-491D-AB9F-FC8569A2A916}" type="slidenum">
              <a:rPr lang="en-US" smtClean="0"/>
              <a:t>37</a:t>
            </a:fld>
            <a:endParaRPr lang="en-US"/>
          </a:p>
        </p:txBody>
      </p:sp>
    </p:spTree>
    <p:extLst>
      <p:ext uri="{BB962C8B-B14F-4D97-AF65-F5344CB8AC3E}">
        <p14:creationId xmlns:p14="http://schemas.microsoft.com/office/powerpoint/2010/main" val="225596749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a:t>
            </a:r>
            <a:r>
              <a:rPr lang="en-US" b="1" dirty="0"/>
              <a:t>partial dependency</a:t>
            </a:r>
            <a:r>
              <a:rPr lang="en-US" dirty="0"/>
              <a:t> occurs when a </a:t>
            </a:r>
            <a:r>
              <a:rPr lang="en-US" b="1" dirty="0"/>
              <a:t>non-key attribute depends on only a part of a composite primary key</a:t>
            </a:r>
            <a:r>
              <a:rPr lang="en-US" dirty="0"/>
              <a:t>, rather than on the entire composite key.</a:t>
            </a:r>
          </a:p>
          <a:p>
            <a:r>
              <a:rPr lang="en-US" dirty="0"/>
              <a:t>Partial dependencies are important because they cause data redundancy and violate </a:t>
            </a:r>
            <a:r>
              <a:rPr lang="en-US" b="1" dirty="0"/>
              <a:t>Second Normal Form (2NF)</a:t>
            </a:r>
            <a:r>
              <a:rPr lang="en-US" dirty="0"/>
              <a:t>.</a:t>
            </a:r>
          </a:p>
          <a:p>
            <a:endParaRPr lang="en-US" dirty="0"/>
          </a:p>
          <a:p>
            <a:r>
              <a:rPr lang="en-US" dirty="0"/>
              <a:t>A functional dependency </a:t>
            </a:r>
            <a:r>
              <a:rPr lang="en-US" b="1" dirty="0"/>
              <a:t>X → Y</a:t>
            </a:r>
            <a:r>
              <a:rPr lang="en-US" dirty="0"/>
              <a:t> is called a </a:t>
            </a:r>
            <a:r>
              <a:rPr lang="en-US" b="1" dirty="0"/>
              <a:t>partial dependency</a:t>
            </a:r>
            <a:r>
              <a:rPr lang="en-US" dirty="0"/>
              <a:t> if:</a:t>
            </a:r>
          </a:p>
          <a:p>
            <a:r>
              <a:rPr lang="en-US" b="1" dirty="0"/>
              <a:t>X is a composite key</a:t>
            </a:r>
            <a:r>
              <a:rPr lang="en-US" dirty="0"/>
              <a:t> (contains more than one attribute). </a:t>
            </a:r>
          </a:p>
          <a:p>
            <a:r>
              <a:rPr lang="en-US" b="1" dirty="0"/>
              <a:t>Y is a non-prime attribute</a:t>
            </a:r>
            <a:r>
              <a:rPr lang="en-US" dirty="0"/>
              <a:t> (not part of any candidate key). </a:t>
            </a:r>
          </a:p>
          <a:p>
            <a:r>
              <a:rPr lang="en-US" dirty="0"/>
              <a:t>Y depends on only a subset of X.</a:t>
            </a:r>
          </a:p>
          <a:p>
            <a:endParaRPr lang="en-US" dirty="0"/>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532ED260-D111-491D-AB9F-FC8569A2A916}" type="slidenum">
              <a:rPr lang="en-US" smtClean="0"/>
              <a:t>39</a:t>
            </a:fld>
            <a:endParaRPr lang="en-US"/>
          </a:p>
        </p:txBody>
      </p:sp>
    </p:spTree>
    <p:extLst>
      <p:ext uri="{BB962C8B-B14F-4D97-AF65-F5344CB8AC3E}">
        <p14:creationId xmlns:p14="http://schemas.microsoft.com/office/powerpoint/2010/main" val="9495929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32ED260-D111-491D-AB9F-FC8569A2A916}" type="slidenum">
              <a:rPr lang="en-US" smtClean="0"/>
              <a:t>40</a:t>
            </a:fld>
            <a:endParaRPr lang="en-US"/>
          </a:p>
        </p:txBody>
      </p:sp>
    </p:spTree>
    <p:extLst>
      <p:ext uri="{BB962C8B-B14F-4D97-AF65-F5344CB8AC3E}">
        <p14:creationId xmlns:p14="http://schemas.microsoft.com/office/powerpoint/2010/main" val="340099395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Dependency			Type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Student_ID</a:t>
            </a:r>
            <a:r>
              <a:rPr lang="en-US" dirty="0"/>
              <a:t> → </a:t>
            </a:r>
            <a:r>
              <a:rPr lang="en-US" dirty="0" err="1"/>
              <a:t>Student_Name</a:t>
            </a:r>
            <a:r>
              <a:rPr lang="en-US" dirty="0"/>
              <a:t>		Partial</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Subject_ID</a:t>
            </a:r>
            <a:r>
              <a:rPr lang="en-US" dirty="0"/>
              <a:t> → </a:t>
            </a:r>
            <a:r>
              <a:rPr lang="en-US" dirty="0" err="1"/>
              <a:t>Subject_Name</a:t>
            </a:r>
            <a:r>
              <a:rPr lang="en-US" dirty="0"/>
              <a:t>		Partial</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t>
            </a:r>
            <a:r>
              <a:rPr lang="en-US" dirty="0" err="1"/>
              <a:t>Student_ID</a:t>
            </a:r>
            <a:r>
              <a:rPr lang="en-US" dirty="0"/>
              <a:t>, </a:t>
            </a:r>
            <a:r>
              <a:rPr lang="en-US" dirty="0" err="1"/>
              <a:t>Subject_ID</a:t>
            </a:r>
            <a:r>
              <a:rPr lang="en-US" dirty="0"/>
              <a:t>) → Marks	Full FD</a:t>
            </a:r>
          </a:p>
          <a:p>
            <a:endParaRPr lang="en-US" dirty="0"/>
          </a:p>
        </p:txBody>
      </p:sp>
      <p:sp>
        <p:nvSpPr>
          <p:cNvPr id="4" name="Slide Number Placeholder 3"/>
          <p:cNvSpPr>
            <a:spLocks noGrp="1"/>
          </p:cNvSpPr>
          <p:nvPr>
            <p:ph type="sldNum" sz="quarter" idx="5"/>
          </p:nvPr>
        </p:nvSpPr>
        <p:spPr/>
        <p:txBody>
          <a:bodyPr/>
          <a:lstStyle/>
          <a:p>
            <a:fld id="{532ED260-D111-491D-AB9F-FC8569A2A916}" type="slidenum">
              <a:rPr lang="en-US" smtClean="0"/>
              <a:t>42</a:t>
            </a:fld>
            <a:endParaRPr lang="en-US"/>
          </a:p>
        </p:txBody>
      </p:sp>
    </p:spTree>
    <p:extLst>
      <p:ext uri="{BB962C8B-B14F-4D97-AF65-F5344CB8AC3E}">
        <p14:creationId xmlns:p14="http://schemas.microsoft.com/office/powerpoint/2010/main" val="170399232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b="1" dirty="0"/>
                  <a:t>Identify Candidate Keys</a:t>
                </a:r>
              </a:p>
              <a:p>
                <a:r>
                  <a:rPr lang="en-US" dirty="0"/>
                  <a:t>A candidate key is an attribute (or set of attributes) that uniquely identifies each row.</a:t>
                </a:r>
              </a:p>
              <a:p>
                <a:r>
                  <a:rPr lang="en-US" b="1" dirty="0"/>
                  <a:t>Example</a:t>
                </a:r>
              </a:p>
              <a:p>
                <a:r>
                  <a:rPr lang="en-US" dirty="0" err="1"/>
                  <a:t>Roll_No</a:t>
                </a:r>
                <a:r>
                  <a:rPr lang="en-US" dirty="0"/>
                  <a:t>	Name	Department</a:t>
                </a:r>
              </a:p>
              <a:p>
                <a:r>
                  <a:rPr lang="en-US" dirty="0"/>
                  <a:t>101	Ram	BCA</a:t>
                </a:r>
              </a:p>
              <a:p>
                <a:r>
                  <a:rPr lang="en-US" dirty="0"/>
                  <a:t>102</a:t>
                </a:r>
                <a:r>
                  <a:rPr lang="en-US"/>
                  <a:t>	Shyam	BBA</a:t>
                </a:r>
                <a:endParaRPr lang="en-US" dirty="0"/>
              </a:p>
              <a:p>
                <a:r>
                  <a:rPr lang="en-US" dirty="0"/>
                  <a:t>Given:</a:t>
                </a:r>
              </a:p>
              <a:p>
                <a:pPr/>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𝑅𝑜𝑙𝑙</m:t>
                      </m:r>
                      <m:r>
                        <m:rPr>
                          <m:lit/>
                        </m:rPr>
                        <a:rPr lang="en-US" sz="1200" i="0" kern="1200">
                          <a:solidFill>
                            <a:schemeClr val="tx1"/>
                          </a:solidFill>
                          <a:latin typeface="Cambria Math" panose="02040503050406030204" pitchFamily="18" charset="0"/>
                          <a:ea typeface="+mn-ea"/>
                          <a:cs typeface="+mn-cs"/>
                        </a:rPr>
                        <m:t>_</m:t>
                      </m:r>
                      <m:r>
                        <a:rPr lang="en-US" sz="1200" i="1" kern="1200">
                          <a:solidFill>
                            <a:schemeClr val="tx1"/>
                          </a:solidFill>
                          <a:latin typeface="Cambria Math" panose="02040503050406030204" pitchFamily="18" charset="0"/>
                          <a:ea typeface="+mn-ea"/>
                          <a:cs typeface="+mn-cs"/>
                        </a:rPr>
                        <m:t>𝑁𝑜</m:t>
                      </m:r>
                      <m:r>
                        <a:rPr lang="en-US" sz="1200" i="0" kern="1200">
                          <a:solidFill>
                            <a:schemeClr val="tx1"/>
                          </a:solidFill>
                          <a:latin typeface="Cambria Math" panose="02040503050406030204" pitchFamily="18" charset="0"/>
                          <a:ea typeface="+mn-ea"/>
                          <a:cs typeface="+mn-cs"/>
                        </a:rPr>
                        <m:t>→</m:t>
                      </m:r>
                      <m:r>
                        <a:rPr lang="en-US" sz="1200" i="1" kern="1200">
                          <a:solidFill>
                            <a:schemeClr val="tx1"/>
                          </a:solidFill>
                          <a:latin typeface="Cambria Math" panose="02040503050406030204" pitchFamily="18" charset="0"/>
                          <a:ea typeface="+mn-ea"/>
                          <a:cs typeface="+mn-cs"/>
                        </a:rPr>
                        <m:t>𝑁𝑎𝑚𝑒</m:t>
                      </m:r>
                      <m:r>
                        <a:rPr lang="en-US" sz="1200" i="0" kern="1200">
                          <a:solidFill>
                            <a:schemeClr val="tx1"/>
                          </a:solidFill>
                          <a:latin typeface="Cambria Math" panose="02040503050406030204" pitchFamily="18" charset="0"/>
                          <a:ea typeface="+mn-ea"/>
                          <a:cs typeface="+mn-cs"/>
                        </a:rPr>
                        <m:t>,</m:t>
                      </m:r>
                      <m:r>
                        <a:rPr lang="en-US" sz="1200" i="1" kern="1200">
                          <a:solidFill>
                            <a:schemeClr val="tx1"/>
                          </a:solidFill>
                          <a:latin typeface="Cambria Math" panose="02040503050406030204" pitchFamily="18" charset="0"/>
                          <a:ea typeface="+mn-ea"/>
                          <a:cs typeface="+mn-cs"/>
                        </a:rPr>
                        <m:t>𝐷𝑒𝑝𝑎𝑟𝑡𝑚𝑒𝑛𝑡</m:t>
                      </m:r>
                    </m:oMath>
                  </m:oMathPara>
                </a14:m>
                <a:endParaRPr lang="en-US" dirty="0"/>
              </a:p>
              <a:p>
                <a:r>
                  <a:rPr lang="en-US" dirty="0"/>
                  <a:t>Since </a:t>
                </a:r>
                <a:r>
                  <a:rPr lang="en-US" dirty="0" err="1"/>
                  <a:t>Roll_No</a:t>
                </a:r>
                <a:r>
                  <a:rPr lang="en-US" dirty="0"/>
                  <a:t> determines all other attributes, </a:t>
                </a:r>
                <a:r>
                  <a:rPr lang="en-US" dirty="0" err="1"/>
                  <a:t>Roll_No</a:t>
                </a:r>
                <a:r>
                  <a:rPr lang="en-US" dirty="0"/>
                  <a:t> is a </a:t>
                </a:r>
                <a:r>
                  <a:rPr lang="en-US" b="1" dirty="0"/>
                  <a:t>candidate key</a:t>
                </a:r>
                <a:r>
                  <a:rPr lang="en-US" dirty="0"/>
                  <a:t>.</a:t>
                </a:r>
              </a:p>
              <a:p>
                <a:r>
                  <a:rPr lang="en-US" dirty="0"/>
                  <a:t>Without functional dependencies, identifying keys would be difficult.</a:t>
                </a:r>
              </a:p>
              <a:p>
                <a:br>
                  <a:rPr lang="en-US" dirty="0"/>
                </a:br>
                <a:endParaRPr lang="en-US" dirty="0"/>
              </a:p>
              <a:p>
                <a:r>
                  <a:rPr lang="en-US" b="1" dirty="0"/>
                  <a:t>2. Reduce Data Redundancy</a:t>
                </a:r>
              </a:p>
              <a:p>
                <a:r>
                  <a:rPr lang="en-US" dirty="0"/>
                  <a:t>Consider:</a:t>
                </a:r>
              </a:p>
              <a:p>
                <a:r>
                  <a:rPr lang="en-US" dirty="0"/>
                  <a:t>Student_IDStudent_NameSubjectTeacherS101RamDBMSHariS101RamOSSitaS101RamCNGita</a:t>
                </a:r>
              </a:p>
              <a:p>
                <a:r>
                  <a:rPr lang="en-US" dirty="0"/>
                  <a:t>Here:</a:t>
                </a:r>
              </a:p>
              <a:p>
                <a:pPr/>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𝑆𝑡𝑢𝑑𝑒𝑛𝑡</m:t>
                      </m:r>
                      <m:r>
                        <m:rPr>
                          <m:lit/>
                        </m:rPr>
                        <a:rPr lang="en-US" sz="1200" i="0" kern="1200">
                          <a:solidFill>
                            <a:schemeClr val="tx1"/>
                          </a:solidFill>
                          <a:latin typeface="Cambria Math" panose="02040503050406030204" pitchFamily="18" charset="0"/>
                          <a:ea typeface="+mn-ea"/>
                          <a:cs typeface="+mn-cs"/>
                        </a:rPr>
                        <m:t>_</m:t>
                      </m:r>
                      <m:r>
                        <a:rPr lang="en-US" sz="1200" i="1" kern="1200">
                          <a:solidFill>
                            <a:schemeClr val="tx1"/>
                          </a:solidFill>
                          <a:latin typeface="Cambria Math" panose="02040503050406030204" pitchFamily="18" charset="0"/>
                          <a:ea typeface="+mn-ea"/>
                          <a:cs typeface="+mn-cs"/>
                        </a:rPr>
                        <m:t>𝐼𝐷</m:t>
                      </m:r>
                      <m:r>
                        <a:rPr lang="en-US" sz="1200" i="0" kern="1200">
                          <a:solidFill>
                            <a:schemeClr val="tx1"/>
                          </a:solidFill>
                          <a:latin typeface="Cambria Math" panose="02040503050406030204" pitchFamily="18" charset="0"/>
                          <a:ea typeface="+mn-ea"/>
                          <a:cs typeface="+mn-cs"/>
                        </a:rPr>
                        <m:t>→</m:t>
                      </m:r>
                      <m:r>
                        <a:rPr lang="en-US" sz="1200" i="1" kern="1200">
                          <a:solidFill>
                            <a:schemeClr val="tx1"/>
                          </a:solidFill>
                          <a:latin typeface="Cambria Math" panose="02040503050406030204" pitchFamily="18" charset="0"/>
                          <a:ea typeface="+mn-ea"/>
                          <a:cs typeface="+mn-cs"/>
                        </a:rPr>
                        <m:t>𝑆𝑡𝑢𝑑𝑒𝑛𝑡</m:t>
                      </m:r>
                      <m:r>
                        <m:rPr>
                          <m:lit/>
                        </m:rPr>
                        <a:rPr lang="en-US" sz="1200" i="0" kern="1200">
                          <a:solidFill>
                            <a:schemeClr val="tx1"/>
                          </a:solidFill>
                          <a:latin typeface="Cambria Math" panose="02040503050406030204" pitchFamily="18" charset="0"/>
                          <a:ea typeface="+mn-ea"/>
                          <a:cs typeface="+mn-cs"/>
                        </a:rPr>
                        <m:t>_</m:t>
                      </m:r>
                      <m:r>
                        <a:rPr lang="en-US" sz="1200" i="1" kern="1200">
                          <a:solidFill>
                            <a:schemeClr val="tx1"/>
                          </a:solidFill>
                          <a:latin typeface="Cambria Math" panose="02040503050406030204" pitchFamily="18" charset="0"/>
                          <a:ea typeface="+mn-ea"/>
                          <a:cs typeface="+mn-cs"/>
                        </a:rPr>
                        <m:t>𝑁𝑎𝑚𝑒</m:t>
                      </m:r>
                    </m:oMath>
                  </m:oMathPara>
                </a14:m>
                <a:endParaRPr lang="en-US" dirty="0"/>
              </a:p>
              <a:p>
                <a:r>
                  <a:rPr lang="en-US" dirty="0"/>
                  <a:t>The student's name is repeated multiple times.</a:t>
                </a:r>
              </a:p>
              <a:p>
                <a:r>
                  <a:rPr lang="en-US" dirty="0"/>
                  <a:t>Functional dependencies help identify such redundancy and guide decomposition into separate tables.</a:t>
                </a:r>
              </a:p>
              <a:p>
                <a:br>
                  <a:rPr lang="en-US" dirty="0"/>
                </a:br>
                <a:endParaRPr lang="en-US" dirty="0"/>
              </a:p>
              <a:p>
                <a:r>
                  <a:rPr lang="en-US" b="1" dirty="0"/>
                  <a:t>3. Prevent Update Anomalies</a:t>
                </a:r>
              </a:p>
              <a:p>
                <a:r>
                  <a:rPr lang="en-US" dirty="0"/>
                  <a:t>Suppose Ram changes his name.</a:t>
                </a:r>
              </a:p>
              <a:p>
                <a:r>
                  <a:rPr lang="en-US" dirty="0"/>
                  <a:t>Without normalization:</a:t>
                </a:r>
              </a:p>
              <a:p>
                <a:r>
                  <a:rPr lang="en-US" dirty="0"/>
                  <a:t>Student_IDStudent_NameS101RamS101RamS101Ram</a:t>
                </a:r>
              </a:p>
              <a:p>
                <a:r>
                  <a:rPr lang="en-US" dirty="0"/>
                  <a:t>Every row must be updated.</a:t>
                </a:r>
              </a:p>
              <a:p>
                <a:r>
                  <a:rPr lang="en-US" dirty="0"/>
                  <a:t>Missing even one update causes inconsistency.</a:t>
                </a:r>
              </a:p>
              <a:p>
                <a:r>
                  <a:rPr lang="en-US" dirty="0"/>
                  <a:t>Functional dependencies help identify these situations and eliminate them through normalization.</a:t>
                </a:r>
              </a:p>
              <a:p>
                <a:br>
                  <a:rPr lang="en-US" dirty="0"/>
                </a:br>
                <a:endParaRPr lang="en-US" dirty="0"/>
              </a:p>
              <a:p>
                <a:r>
                  <a:rPr lang="en-US" b="1" dirty="0"/>
                  <a:t>4. Prevent Insert Anomalies</a:t>
                </a:r>
              </a:p>
              <a:p>
                <a:r>
                  <a:rPr lang="en-US" dirty="0"/>
                  <a:t>Consider:</a:t>
                </a:r>
              </a:p>
              <a:p>
                <a:r>
                  <a:rPr lang="en-US" dirty="0"/>
                  <a:t>Student_IDStudent_NameSubjectS101RamDBMS</a:t>
                </a:r>
              </a:p>
              <a:p>
                <a:r>
                  <a:rPr lang="en-US" dirty="0"/>
                  <a:t>Suppose a new student joins but hasn't selected a subject yet.</a:t>
                </a:r>
              </a:p>
              <a:p>
                <a:r>
                  <a:rPr lang="en-US" dirty="0"/>
                  <a:t>Where do you store the student information?</a:t>
                </a:r>
              </a:p>
              <a:p>
                <a:r>
                  <a:rPr lang="en-US" dirty="0"/>
                  <a:t>This is an insert anomaly.</a:t>
                </a:r>
              </a:p>
              <a:p>
                <a:r>
                  <a:rPr lang="en-US" dirty="0"/>
                  <a:t>Proper decomposition based on functional dependencies solves this problem.</a:t>
                </a:r>
              </a:p>
              <a:p>
                <a:br>
                  <a:rPr lang="en-US" dirty="0"/>
                </a:br>
                <a:endParaRPr lang="en-US" dirty="0"/>
              </a:p>
              <a:p>
                <a:r>
                  <a:rPr lang="en-US" b="1" dirty="0"/>
                  <a:t>5. Prevent Delete Anomalies</a:t>
                </a:r>
              </a:p>
              <a:p>
                <a:r>
                  <a:rPr lang="en-US" dirty="0"/>
                  <a:t>Suppose:</a:t>
                </a:r>
              </a:p>
              <a:p>
                <a:r>
                  <a:rPr lang="en-US" dirty="0"/>
                  <a:t>Student_IDStudent_NameSubjectS101RamDBMS</a:t>
                </a:r>
              </a:p>
              <a:p>
                <a:r>
                  <a:rPr lang="en-US" dirty="0"/>
                  <a:t>If this row is deleted because Ram drops DBMS, student information is also lost.</a:t>
                </a:r>
              </a:p>
              <a:p>
                <a:r>
                  <a:rPr lang="en-US" dirty="0"/>
                  <a:t>This is a delete anomaly.</a:t>
                </a:r>
              </a:p>
              <a:p>
                <a:r>
                  <a:rPr lang="en-US" dirty="0"/>
                  <a:t>Functional dependencies help detect such design flaws.</a:t>
                </a:r>
              </a:p>
              <a:p>
                <a:br>
                  <a:rPr lang="en-US" dirty="0"/>
                </a:br>
                <a:endParaRPr lang="en-US" dirty="0"/>
              </a:p>
              <a:p>
                <a:r>
                  <a:rPr lang="en-US" b="1" dirty="0"/>
                  <a:t>6. Foundation of Normalization</a:t>
                </a:r>
              </a:p>
              <a:p>
                <a:r>
                  <a:rPr lang="en-US" dirty="0"/>
                  <a:t>Functional dependencies are the basis for normalization.</a:t>
                </a:r>
              </a:p>
              <a:p>
                <a:r>
                  <a:rPr lang="en-US" dirty="0"/>
                  <a:t>Normal </a:t>
                </a:r>
                <a:r>
                  <a:rPr lang="en-US" dirty="0" err="1"/>
                  <a:t>FormUses</a:t>
                </a:r>
                <a:r>
                  <a:rPr lang="en-US" dirty="0"/>
                  <a:t> Functional Dependencies?1NFNo (mainly atomic values)2NFYes (remove partial dependencies)3NFYes (remove transitive dependencies)</a:t>
                </a:r>
                <a:r>
                  <a:rPr lang="en-US" dirty="0" err="1"/>
                  <a:t>BCNFYes</a:t>
                </a:r>
                <a:r>
                  <a:rPr lang="en-US" dirty="0"/>
                  <a:t> (every determinant must be a candidate key)</a:t>
                </a:r>
              </a:p>
              <a:p>
                <a:r>
                  <a:rPr lang="en-US" dirty="0"/>
                  <a:t>Without FDs, normalization cannot be performed correctly.</a:t>
                </a:r>
              </a:p>
              <a:p>
                <a:br>
                  <a:rPr lang="en-US" dirty="0"/>
                </a:br>
                <a:endParaRPr lang="en-US" dirty="0"/>
              </a:p>
              <a:p>
                <a:r>
                  <a:rPr lang="en-US" b="1" dirty="0"/>
                  <a:t>7. Improve Database Consistency</a:t>
                </a:r>
              </a:p>
              <a:p>
                <a:r>
                  <a:rPr lang="en-US" dirty="0"/>
                  <a:t>Example:</a:t>
                </a:r>
              </a:p>
              <a:p>
                <a:pPr/>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𝐸𝑚𝑝𝑙𝑜𝑦𝑒𝑒</m:t>
                      </m:r>
                      <m:r>
                        <m:rPr>
                          <m:lit/>
                        </m:rPr>
                        <a:rPr lang="en-US" sz="1200" i="0" kern="1200">
                          <a:solidFill>
                            <a:schemeClr val="tx1"/>
                          </a:solidFill>
                          <a:latin typeface="Cambria Math" panose="02040503050406030204" pitchFamily="18" charset="0"/>
                          <a:ea typeface="+mn-ea"/>
                          <a:cs typeface="+mn-cs"/>
                        </a:rPr>
                        <m:t>_</m:t>
                      </m:r>
                      <m:r>
                        <a:rPr lang="en-US" sz="1200" i="1" kern="1200">
                          <a:solidFill>
                            <a:schemeClr val="tx1"/>
                          </a:solidFill>
                          <a:latin typeface="Cambria Math" panose="02040503050406030204" pitchFamily="18" charset="0"/>
                          <a:ea typeface="+mn-ea"/>
                          <a:cs typeface="+mn-cs"/>
                        </a:rPr>
                        <m:t>𝐼𝐷</m:t>
                      </m:r>
                      <m:r>
                        <a:rPr lang="en-US" sz="1200" i="0" kern="1200">
                          <a:solidFill>
                            <a:schemeClr val="tx1"/>
                          </a:solidFill>
                          <a:latin typeface="Cambria Math" panose="02040503050406030204" pitchFamily="18" charset="0"/>
                          <a:ea typeface="+mn-ea"/>
                          <a:cs typeface="+mn-cs"/>
                        </a:rPr>
                        <m:t>→</m:t>
                      </m:r>
                      <m:r>
                        <a:rPr lang="en-US" sz="1200" i="1" kern="1200">
                          <a:solidFill>
                            <a:schemeClr val="tx1"/>
                          </a:solidFill>
                          <a:latin typeface="Cambria Math" panose="02040503050406030204" pitchFamily="18" charset="0"/>
                          <a:ea typeface="+mn-ea"/>
                          <a:cs typeface="+mn-cs"/>
                        </a:rPr>
                        <m:t>𝑆𝑎𝑙𝑎𝑟𝑦</m:t>
                      </m:r>
                    </m:oMath>
                  </m:oMathPara>
                </a14:m>
                <a:endParaRPr lang="en-US" dirty="0"/>
              </a:p>
              <a:p>
                <a:r>
                  <a:rPr lang="en-US" dirty="0"/>
                  <a:t>If </a:t>
                </a:r>
                <a:r>
                  <a:rPr lang="en-US" dirty="0" err="1"/>
                  <a:t>Employee_ID</a:t>
                </a:r>
                <a:r>
                  <a:rPr lang="en-US" dirty="0"/>
                  <a:t> 101 has two different salaries stored in different rows, the FD is violated.</a:t>
                </a:r>
              </a:p>
              <a:p>
                <a:r>
                  <a:rPr lang="en-US" dirty="0"/>
                  <a:t>FDs define rules that maintain consistency.</a:t>
                </a:r>
              </a:p>
              <a:p>
                <a:br>
                  <a:rPr lang="en-US" dirty="0"/>
                </a:br>
                <a:endParaRPr lang="en-US" dirty="0"/>
              </a:p>
              <a:p>
                <a:r>
                  <a:rPr lang="en-US" b="1" dirty="0"/>
                  <a:t>8. Help in Database Decomposition</a:t>
                </a:r>
              </a:p>
              <a:p>
                <a:r>
                  <a:rPr lang="en-US" dirty="0"/>
                  <a:t>Suppose:</a:t>
                </a:r>
              </a:p>
              <a:p>
                <a:r>
                  <a:rPr lang="en-US" dirty="0" err="1"/>
                  <a:t>Student_IDStudent_NameDept_Name</a:t>
                </a:r>
                <a:endParaRPr lang="en-US" dirty="0"/>
              </a:p>
              <a:p>
                <a:r>
                  <a:rPr lang="en-US" dirty="0"/>
                  <a:t>FDs:</a:t>
                </a:r>
              </a:p>
              <a:p>
                <a:pPr/>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𝑆𝑡𝑢𝑑𝑒𝑛𝑡</m:t>
                      </m:r>
                      <m:r>
                        <m:rPr>
                          <m:lit/>
                        </m:rPr>
                        <a:rPr lang="en-US" sz="1200" i="0" kern="1200">
                          <a:solidFill>
                            <a:schemeClr val="tx1"/>
                          </a:solidFill>
                          <a:latin typeface="Cambria Math" panose="02040503050406030204" pitchFamily="18" charset="0"/>
                          <a:ea typeface="+mn-ea"/>
                          <a:cs typeface="+mn-cs"/>
                        </a:rPr>
                        <m:t>_</m:t>
                      </m:r>
                      <m:r>
                        <a:rPr lang="en-US" sz="1200" i="1" kern="1200">
                          <a:solidFill>
                            <a:schemeClr val="tx1"/>
                          </a:solidFill>
                          <a:latin typeface="Cambria Math" panose="02040503050406030204" pitchFamily="18" charset="0"/>
                          <a:ea typeface="+mn-ea"/>
                          <a:cs typeface="+mn-cs"/>
                        </a:rPr>
                        <m:t>𝐼𝐷</m:t>
                      </m:r>
                      <m:r>
                        <a:rPr lang="en-US" sz="1200" i="0" kern="1200">
                          <a:solidFill>
                            <a:schemeClr val="tx1"/>
                          </a:solidFill>
                          <a:latin typeface="Cambria Math" panose="02040503050406030204" pitchFamily="18" charset="0"/>
                          <a:ea typeface="+mn-ea"/>
                          <a:cs typeface="+mn-cs"/>
                        </a:rPr>
                        <m:t>→</m:t>
                      </m:r>
                      <m:r>
                        <a:rPr lang="en-US" sz="1200" i="1" kern="1200">
                          <a:solidFill>
                            <a:schemeClr val="tx1"/>
                          </a:solidFill>
                          <a:latin typeface="Cambria Math" panose="02040503050406030204" pitchFamily="18" charset="0"/>
                          <a:ea typeface="+mn-ea"/>
                          <a:cs typeface="+mn-cs"/>
                        </a:rPr>
                        <m:t>𝑆𝑡𝑢𝑑𝑒𝑛𝑡</m:t>
                      </m:r>
                      <m:r>
                        <m:rPr>
                          <m:lit/>
                        </m:rPr>
                        <a:rPr lang="en-US" sz="1200" i="0" kern="1200">
                          <a:solidFill>
                            <a:schemeClr val="tx1"/>
                          </a:solidFill>
                          <a:latin typeface="Cambria Math" panose="02040503050406030204" pitchFamily="18" charset="0"/>
                          <a:ea typeface="+mn-ea"/>
                          <a:cs typeface="+mn-cs"/>
                        </a:rPr>
                        <m:t>_</m:t>
                      </m:r>
                      <m:r>
                        <a:rPr lang="en-US" sz="1200" i="1" kern="1200">
                          <a:solidFill>
                            <a:schemeClr val="tx1"/>
                          </a:solidFill>
                          <a:latin typeface="Cambria Math" panose="02040503050406030204" pitchFamily="18" charset="0"/>
                          <a:ea typeface="+mn-ea"/>
                          <a:cs typeface="+mn-cs"/>
                        </a:rPr>
                        <m:t>𝑁𝑎𝑚𝑒</m:t>
                      </m:r>
                    </m:oMath>
                  </m:oMathPara>
                </a14:m>
                <a:endParaRPr lang="en-US" dirty="0"/>
              </a:p>
              <a:p>
                <a:pPr/>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𝐷𝑒𝑝𝑡</m:t>
                      </m:r>
                      <m:r>
                        <m:rPr>
                          <m:lit/>
                        </m:rPr>
                        <a:rPr lang="en-US" sz="1200" i="0" kern="1200">
                          <a:solidFill>
                            <a:schemeClr val="tx1"/>
                          </a:solidFill>
                          <a:latin typeface="Cambria Math" panose="02040503050406030204" pitchFamily="18" charset="0"/>
                          <a:ea typeface="+mn-ea"/>
                          <a:cs typeface="+mn-cs"/>
                        </a:rPr>
                        <m:t>_</m:t>
                      </m:r>
                      <m:r>
                        <a:rPr lang="en-US" sz="1200" i="1" kern="1200">
                          <a:solidFill>
                            <a:schemeClr val="tx1"/>
                          </a:solidFill>
                          <a:latin typeface="Cambria Math" panose="02040503050406030204" pitchFamily="18" charset="0"/>
                          <a:ea typeface="+mn-ea"/>
                          <a:cs typeface="+mn-cs"/>
                        </a:rPr>
                        <m:t>𝐼𝐷</m:t>
                      </m:r>
                      <m:r>
                        <a:rPr lang="en-US" sz="1200" i="0" kern="1200">
                          <a:solidFill>
                            <a:schemeClr val="tx1"/>
                          </a:solidFill>
                          <a:latin typeface="Cambria Math" panose="02040503050406030204" pitchFamily="18" charset="0"/>
                          <a:ea typeface="+mn-ea"/>
                          <a:cs typeface="+mn-cs"/>
                        </a:rPr>
                        <m:t>→</m:t>
                      </m:r>
                      <m:r>
                        <a:rPr lang="en-US" sz="1200" i="1" kern="1200">
                          <a:solidFill>
                            <a:schemeClr val="tx1"/>
                          </a:solidFill>
                          <a:latin typeface="Cambria Math" panose="02040503050406030204" pitchFamily="18" charset="0"/>
                          <a:ea typeface="+mn-ea"/>
                          <a:cs typeface="+mn-cs"/>
                        </a:rPr>
                        <m:t>𝐷𝑒𝑝𝑡</m:t>
                      </m:r>
                      <m:r>
                        <m:rPr>
                          <m:lit/>
                        </m:rPr>
                        <a:rPr lang="en-US" sz="1200" i="0" kern="1200">
                          <a:solidFill>
                            <a:schemeClr val="tx1"/>
                          </a:solidFill>
                          <a:latin typeface="Cambria Math" panose="02040503050406030204" pitchFamily="18" charset="0"/>
                          <a:ea typeface="+mn-ea"/>
                          <a:cs typeface="+mn-cs"/>
                        </a:rPr>
                        <m:t>_</m:t>
                      </m:r>
                      <m:r>
                        <a:rPr lang="en-US" sz="1200" i="1" kern="1200">
                          <a:solidFill>
                            <a:schemeClr val="tx1"/>
                          </a:solidFill>
                          <a:latin typeface="Cambria Math" panose="02040503050406030204" pitchFamily="18" charset="0"/>
                          <a:ea typeface="+mn-ea"/>
                          <a:cs typeface="+mn-cs"/>
                        </a:rPr>
                        <m:t>𝑁𝑎𝑚𝑒</m:t>
                      </m:r>
                    </m:oMath>
                  </m:oMathPara>
                </a14:m>
                <a:endParaRPr lang="en-US" dirty="0"/>
              </a:p>
              <a:p>
                <a:r>
                  <a:rPr lang="en-US" dirty="0"/>
                  <a:t>Using these dependencies, we can decompose the table into:</a:t>
                </a:r>
              </a:p>
              <a:p>
                <a:r>
                  <a:rPr lang="en-US" b="1" dirty="0"/>
                  <a:t>Student</a:t>
                </a:r>
              </a:p>
              <a:p>
                <a:r>
                  <a:rPr lang="en-US" dirty="0"/>
                  <a:t>| </a:t>
                </a:r>
                <a:r>
                  <a:rPr lang="en-US" dirty="0" err="1"/>
                  <a:t>Student_ID</a:t>
                </a:r>
                <a:r>
                  <a:rPr lang="en-US" dirty="0"/>
                  <a:t> | </a:t>
                </a:r>
                <a:r>
                  <a:rPr lang="en-US" dirty="0" err="1"/>
                  <a:t>Student_Name</a:t>
                </a:r>
                <a:r>
                  <a:rPr lang="en-US" dirty="0"/>
                  <a:t> | </a:t>
                </a:r>
                <a:r>
                  <a:rPr lang="en-US" dirty="0" err="1"/>
                  <a:t>Dept_ID</a:t>
                </a:r>
                <a:r>
                  <a:rPr lang="en-US" dirty="0"/>
                  <a:t> |</a:t>
                </a:r>
              </a:p>
              <a:p>
                <a:r>
                  <a:rPr lang="en-US" b="1" dirty="0"/>
                  <a:t>Department</a:t>
                </a:r>
              </a:p>
              <a:p>
                <a:r>
                  <a:rPr lang="en-US" dirty="0"/>
                  <a:t>| </a:t>
                </a:r>
                <a:r>
                  <a:rPr lang="en-US" dirty="0" err="1"/>
                  <a:t>Dept_ID</a:t>
                </a:r>
                <a:r>
                  <a:rPr lang="en-US" dirty="0"/>
                  <a:t> | </a:t>
                </a:r>
                <a:r>
                  <a:rPr lang="en-US" dirty="0" err="1"/>
                  <a:t>Dept_Name</a:t>
                </a:r>
                <a:r>
                  <a:rPr lang="en-US" dirty="0"/>
                  <a:t> |</a:t>
                </a:r>
              </a:p>
              <a:p>
                <a:r>
                  <a:rPr lang="en-US" dirty="0"/>
                  <a:t>This reduces redundancy and improves maintainability.</a:t>
                </a:r>
              </a:p>
              <a:p>
                <a:br>
                  <a:rPr lang="en-US" dirty="0"/>
                </a:br>
                <a:endParaRPr lang="en-US" dirty="0"/>
              </a:p>
              <a:p>
                <a:r>
                  <a:rPr lang="en-US" b="1" dirty="0"/>
                  <a:t>9. Help Query Optimization</a:t>
                </a:r>
              </a:p>
              <a:p>
                <a:r>
                  <a:rPr lang="en-US" dirty="0"/>
                  <a:t>Database designers and query optimizers can use functional dependencies to:</a:t>
                </a:r>
              </a:p>
              <a:p>
                <a:r>
                  <a:rPr lang="en-US" dirty="0"/>
                  <a:t>Eliminate unnecessary joins </a:t>
                </a:r>
              </a:p>
              <a:p>
                <a:r>
                  <a:rPr lang="en-US" dirty="0"/>
                  <a:t>Improve query plans </a:t>
                </a:r>
              </a:p>
              <a:p>
                <a:r>
                  <a:rPr lang="en-US" dirty="0"/>
                  <a:t>Reduce storage requirements </a:t>
                </a:r>
              </a:p>
              <a:p>
                <a:r>
                  <a:rPr lang="en-US" dirty="0"/>
                  <a:t>Although users may not see it directly, DBMS engines often use dependency information internally.</a:t>
                </a:r>
              </a:p>
              <a:p>
                <a:br>
                  <a:rPr lang="en-US" dirty="0"/>
                </a:br>
                <a:endParaRPr lang="en-US" dirty="0"/>
              </a:p>
              <a:p>
                <a:r>
                  <a:rPr lang="en-US" b="1" dirty="0"/>
                  <a:t>Real-World Example</a:t>
                </a:r>
              </a:p>
              <a:p>
                <a:r>
                  <a:rPr lang="en-US" dirty="0"/>
                  <a:t>Consider a college ERP system (similar to the timetable and ERP systems you've been designing):</a:t>
                </a:r>
              </a:p>
              <a:p>
                <a:r>
                  <a:rPr lang="en-US" b="1" dirty="0"/>
                  <a:t>Faculty Table</a:t>
                </a:r>
              </a:p>
              <a:p>
                <a:r>
                  <a:rPr lang="en-US" dirty="0" err="1"/>
                  <a:t>Faculty_IDFaculty_NameEmail</a:t>
                </a:r>
                <a:endParaRPr lang="en-US" dirty="0"/>
              </a:p>
              <a:p>
                <a:r>
                  <a:rPr lang="en-US" dirty="0"/>
                  <a:t>FD:</a:t>
                </a:r>
              </a:p>
              <a:p>
                <a:pPr/>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𝐹𝑎𝑐𝑢𝑙𝑡𝑦</m:t>
                      </m:r>
                      <m:r>
                        <m:rPr>
                          <m:lit/>
                        </m:rPr>
                        <a:rPr lang="en-US" sz="1200" i="0" kern="1200">
                          <a:solidFill>
                            <a:schemeClr val="tx1"/>
                          </a:solidFill>
                          <a:latin typeface="Cambria Math" panose="02040503050406030204" pitchFamily="18" charset="0"/>
                          <a:ea typeface="+mn-ea"/>
                          <a:cs typeface="+mn-cs"/>
                        </a:rPr>
                        <m:t>_</m:t>
                      </m:r>
                      <m:r>
                        <a:rPr lang="en-US" sz="1200" i="1" kern="1200">
                          <a:solidFill>
                            <a:schemeClr val="tx1"/>
                          </a:solidFill>
                          <a:latin typeface="Cambria Math" panose="02040503050406030204" pitchFamily="18" charset="0"/>
                          <a:ea typeface="+mn-ea"/>
                          <a:cs typeface="+mn-cs"/>
                        </a:rPr>
                        <m:t>𝐼𝐷</m:t>
                      </m:r>
                      <m:r>
                        <a:rPr lang="en-US" sz="1200" i="0" kern="1200">
                          <a:solidFill>
                            <a:schemeClr val="tx1"/>
                          </a:solidFill>
                          <a:latin typeface="Cambria Math" panose="02040503050406030204" pitchFamily="18" charset="0"/>
                          <a:ea typeface="+mn-ea"/>
                          <a:cs typeface="+mn-cs"/>
                        </a:rPr>
                        <m:t>→</m:t>
                      </m:r>
                      <m:r>
                        <a:rPr lang="en-US" sz="1200" i="1" kern="1200">
                          <a:solidFill>
                            <a:schemeClr val="tx1"/>
                          </a:solidFill>
                          <a:latin typeface="Cambria Math" panose="02040503050406030204" pitchFamily="18" charset="0"/>
                          <a:ea typeface="+mn-ea"/>
                          <a:cs typeface="+mn-cs"/>
                        </a:rPr>
                        <m:t>𝐹𝑎𝑐𝑢𝑙𝑡𝑦</m:t>
                      </m:r>
                      <m:r>
                        <m:rPr>
                          <m:lit/>
                        </m:rPr>
                        <a:rPr lang="en-US" sz="1200" i="0" kern="1200">
                          <a:solidFill>
                            <a:schemeClr val="tx1"/>
                          </a:solidFill>
                          <a:latin typeface="Cambria Math" panose="02040503050406030204" pitchFamily="18" charset="0"/>
                          <a:ea typeface="+mn-ea"/>
                          <a:cs typeface="+mn-cs"/>
                        </a:rPr>
                        <m:t>_</m:t>
                      </m:r>
                      <m:r>
                        <a:rPr lang="en-US" sz="1200" i="1" kern="1200">
                          <a:solidFill>
                            <a:schemeClr val="tx1"/>
                          </a:solidFill>
                          <a:latin typeface="Cambria Math" panose="02040503050406030204" pitchFamily="18" charset="0"/>
                          <a:ea typeface="+mn-ea"/>
                          <a:cs typeface="+mn-cs"/>
                        </a:rPr>
                        <m:t>𝑁𝑎𝑚𝑒</m:t>
                      </m:r>
                      <m:r>
                        <a:rPr lang="en-US" sz="1200" i="0" kern="1200">
                          <a:solidFill>
                            <a:schemeClr val="tx1"/>
                          </a:solidFill>
                          <a:latin typeface="Cambria Math" panose="02040503050406030204" pitchFamily="18" charset="0"/>
                          <a:ea typeface="+mn-ea"/>
                          <a:cs typeface="+mn-cs"/>
                        </a:rPr>
                        <m:t>,</m:t>
                      </m:r>
                      <m:r>
                        <a:rPr lang="en-US" sz="1200" i="1" kern="1200">
                          <a:solidFill>
                            <a:schemeClr val="tx1"/>
                          </a:solidFill>
                          <a:latin typeface="Cambria Math" panose="02040503050406030204" pitchFamily="18" charset="0"/>
                          <a:ea typeface="+mn-ea"/>
                          <a:cs typeface="+mn-cs"/>
                        </a:rPr>
                        <m:t>𝐸𝑚𝑎𝑖𝑙</m:t>
                      </m:r>
                    </m:oMath>
                  </m:oMathPara>
                </a14:m>
                <a:endParaRPr lang="en-US" dirty="0"/>
              </a:p>
              <a:p>
                <a:r>
                  <a:rPr lang="en-US" dirty="0"/>
                  <a:t>This tells us:</a:t>
                </a:r>
              </a:p>
              <a:p>
                <a:r>
                  <a:rPr lang="en-US" dirty="0" err="1"/>
                  <a:t>Faculty_ID</a:t>
                </a:r>
                <a:r>
                  <a:rPr lang="en-US" dirty="0"/>
                  <a:t> uniquely identifies a faculty member. </a:t>
                </a:r>
              </a:p>
              <a:p>
                <a:r>
                  <a:rPr lang="en-US" dirty="0" err="1"/>
                  <a:t>Faculty_Name</a:t>
                </a:r>
                <a:r>
                  <a:rPr lang="en-US" dirty="0"/>
                  <a:t> and Email should not be repeatedly stored in timetable records. </a:t>
                </a:r>
              </a:p>
              <a:p>
                <a:r>
                  <a:rPr lang="en-US" dirty="0"/>
                  <a:t>Instead, timetable tables should reference </a:t>
                </a:r>
                <a:r>
                  <a:rPr lang="en-US" dirty="0" err="1"/>
                  <a:t>Faculty_ID</a:t>
                </a:r>
                <a:r>
                  <a:rPr lang="en-US" dirty="0"/>
                  <a:t>. </a:t>
                </a:r>
              </a:p>
              <a:p>
                <a:r>
                  <a:rPr lang="en-US" dirty="0"/>
                  <a:t>This leads to a cleaner and more scalable design.</a:t>
                </a:r>
              </a:p>
              <a:p>
                <a:endParaRPr lang="en-US" dirty="0"/>
              </a:p>
            </p:txBody>
          </p:sp>
        </mc:Choice>
        <mc:Fallback xmlns="">
          <p:sp>
            <p:nvSpPr>
              <p:cNvPr id="3" name="Notes Placeholder 2"/>
              <p:cNvSpPr>
                <a:spLocks noGrp="1"/>
              </p:cNvSpPr>
              <p:nvPr>
                <p:ph type="body" idx="1"/>
              </p:nvPr>
            </p:nvSpPr>
            <p:spPr/>
            <p:txBody>
              <a:bodyPr/>
              <a:lstStyle/>
              <a:p>
                <a:r>
                  <a:rPr lang="en-US" b="1" dirty="0"/>
                  <a:t>Identify Candidate Keys</a:t>
                </a:r>
              </a:p>
              <a:p>
                <a:r>
                  <a:rPr lang="en-US" dirty="0"/>
                  <a:t>A candidate key is an attribute (or set of attributes) that uniquely identifies each row.</a:t>
                </a:r>
              </a:p>
              <a:p>
                <a:r>
                  <a:rPr lang="en-US" b="1" dirty="0"/>
                  <a:t>Example</a:t>
                </a:r>
              </a:p>
              <a:p>
                <a:r>
                  <a:rPr lang="en-US" dirty="0"/>
                  <a:t>Roll_NoNameDepartment101RamBCA102ShyamBBA</a:t>
                </a:r>
              </a:p>
              <a:p>
                <a:r>
                  <a:rPr lang="en-US" dirty="0"/>
                  <a:t>Given:</a:t>
                </a:r>
              </a:p>
              <a:p>
                <a:r>
                  <a:rPr lang="en-US" sz="1200" i="0" kern="1200">
                    <a:solidFill>
                      <a:schemeClr val="tx1"/>
                    </a:solidFill>
                    <a:latin typeface="+mn-lt"/>
                    <a:ea typeface="+mn-ea"/>
                    <a:cs typeface="+mn-cs"/>
                  </a:rPr>
                  <a:t>𝑅𝑜𝑙𝑙\_𝑁𝑜→𝑁𝑎𝑚𝑒,𝐷𝑒𝑝𝑎𝑟𝑡𝑚𝑒𝑛𝑡</a:t>
                </a:r>
                <a:endParaRPr lang="en-US" dirty="0"/>
              </a:p>
              <a:p>
                <a:r>
                  <a:rPr lang="en-US" dirty="0"/>
                  <a:t>Since </a:t>
                </a:r>
                <a:r>
                  <a:rPr lang="en-US" dirty="0" err="1"/>
                  <a:t>Roll_No</a:t>
                </a:r>
                <a:r>
                  <a:rPr lang="en-US" dirty="0"/>
                  <a:t> determines all other attributes, </a:t>
                </a:r>
                <a:r>
                  <a:rPr lang="en-US" dirty="0" err="1"/>
                  <a:t>Roll_No</a:t>
                </a:r>
                <a:r>
                  <a:rPr lang="en-US" dirty="0"/>
                  <a:t> is a </a:t>
                </a:r>
                <a:r>
                  <a:rPr lang="en-US" b="1" dirty="0"/>
                  <a:t>candidate key</a:t>
                </a:r>
                <a:r>
                  <a:rPr lang="en-US" dirty="0"/>
                  <a:t>.</a:t>
                </a:r>
              </a:p>
              <a:p>
                <a:r>
                  <a:rPr lang="en-US" dirty="0"/>
                  <a:t>Without functional dependencies, identifying keys would be difficult.</a:t>
                </a:r>
              </a:p>
              <a:p>
                <a:br>
                  <a:rPr lang="en-US" dirty="0"/>
                </a:br>
                <a:endParaRPr lang="en-US" dirty="0"/>
              </a:p>
              <a:p>
                <a:r>
                  <a:rPr lang="en-US" b="1" dirty="0"/>
                  <a:t>2. Reduce Data Redundancy</a:t>
                </a:r>
              </a:p>
              <a:p>
                <a:r>
                  <a:rPr lang="en-US" dirty="0"/>
                  <a:t>Consider:</a:t>
                </a:r>
              </a:p>
              <a:p>
                <a:r>
                  <a:rPr lang="en-US" dirty="0"/>
                  <a:t>Student_IDStudent_NameSubjectTeacherS101RamDBMSHariS101RamOSSitaS101RamCNGita</a:t>
                </a:r>
              </a:p>
              <a:p>
                <a:r>
                  <a:rPr lang="en-US" dirty="0"/>
                  <a:t>Here:</a:t>
                </a:r>
              </a:p>
              <a:p>
                <a:r>
                  <a:rPr lang="en-US" sz="1200" i="0" kern="1200">
                    <a:solidFill>
                      <a:schemeClr val="tx1"/>
                    </a:solidFill>
                    <a:latin typeface="+mn-lt"/>
                    <a:ea typeface="+mn-ea"/>
                    <a:cs typeface="+mn-cs"/>
                  </a:rPr>
                  <a:t>𝑆𝑡𝑢𝑑𝑒𝑛𝑡\_𝐼𝐷→𝑆𝑡𝑢𝑑𝑒𝑛𝑡\_𝑁𝑎𝑚𝑒</a:t>
                </a:r>
                <a:endParaRPr lang="en-US" dirty="0"/>
              </a:p>
              <a:p>
                <a:r>
                  <a:rPr lang="en-US" dirty="0"/>
                  <a:t>The student's name is repeated multiple times.</a:t>
                </a:r>
              </a:p>
              <a:p>
                <a:r>
                  <a:rPr lang="en-US" dirty="0"/>
                  <a:t>Functional dependencies help identify such redundancy and guide decomposition into separate tables.</a:t>
                </a:r>
              </a:p>
              <a:p>
                <a:br>
                  <a:rPr lang="en-US" dirty="0"/>
                </a:br>
                <a:endParaRPr lang="en-US" dirty="0"/>
              </a:p>
              <a:p>
                <a:r>
                  <a:rPr lang="en-US" b="1" dirty="0"/>
                  <a:t>3. Prevent Update Anomalies</a:t>
                </a:r>
              </a:p>
              <a:p>
                <a:r>
                  <a:rPr lang="en-US" dirty="0"/>
                  <a:t>Suppose Ram changes his name.</a:t>
                </a:r>
              </a:p>
              <a:p>
                <a:r>
                  <a:rPr lang="en-US" dirty="0"/>
                  <a:t>Without normalization:</a:t>
                </a:r>
              </a:p>
              <a:p>
                <a:r>
                  <a:rPr lang="en-US" dirty="0"/>
                  <a:t>Student_IDStudent_NameS101RamS101RamS101Ram</a:t>
                </a:r>
              </a:p>
              <a:p>
                <a:r>
                  <a:rPr lang="en-US" dirty="0"/>
                  <a:t>Every row must be updated.</a:t>
                </a:r>
              </a:p>
              <a:p>
                <a:r>
                  <a:rPr lang="en-US" dirty="0"/>
                  <a:t>Missing even one update causes inconsistency.</a:t>
                </a:r>
              </a:p>
              <a:p>
                <a:r>
                  <a:rPr lang="en-US" dirty="0"/>
                  <a:t>Functional dependencies help identify these situations and eliminate them through normalization.</a:t>
                </a:r>
              </a:p>
              <a:p>
                <a:br>
                  <a:rPr lang="en-US" dirty="0"/>
                </a:br>
                <a:endParaRPr lang="en-US" dirty="0"/>
              </a:p>
              <a:p>
                <a:r>
                  <a:rPr lang="en-US" b="1" dirty="0"/>
                  <a:t>4. Prevent Insert Anomalies</a:t>
                </a:r>
              </a:p>
              <a:p>
                <a:r>
                  <a:rPr lang="en-US" dirty="0"/>
                  <a:t>Consider:</a:t>
                </a:r>
              </a:p>
              <a:p>
                <a:r>
                  <a:rPr lang="en-US" dirty="0"/>
                  <a:t>Student_IDStudent_NameSubjectS101RamDBMS</a:t>
                </a:r>
              </a:p>
              <a:p>
                <a:r>
                  <a:rPr lang="en-US" dirty="0"/>
                  <a:t>Suppose a new student joins but hasn't selected a subject yet.</a:t>
                </a:r>
              </a:p>
              <a:p>
                <a:r>
                  <a:rPr lang="en-US" dirty="0"/>
                  <a:t>Where do you store the student information?</a:t>
                </a:r>
              </a:p>
              <a:p>
                <a:r>
                  <a:rPr lang="en-US" dirty="0"/>
                  <a:t>This is an insert anomaly.</a:t>
                </a:r>
              </a:p>
              <a:p>
                <a:r>
                  <a:rPr lang="en-US" dirty="0"/>
                  <a:t>Proper decomposition based on functional dependencies solves this problem.</a:t>
                </a:r>
              </a:p>
              <a:p>
                <a:br>
                  <a:rPr lang="en-US" dirty="0"/>
                </a:br>
                <a:endParaRPr lang="en-US" dirty="0"/>
              </a:p>
              <a:p>
                <a:r>
                  <a:rPr lang="en-US" b="1" dirty="0"/>
                  <a:t>5. Prevent Delete Anomalies</a:t>
                </a:r>
              </a:p>
              <a:p>
                <a:r>
                  <a:rPr lang="en-US" dirty="0"/>
                  <a:t>Suppose:</a:t>
                </a:r>
              </a:p>
              <a:p>
                <a:r>
                  <a:rPr lang="en-US" dirty="0"/>
                  <a:t>Student_IDStudent_NameSubjectS101RamDBMS</a:t>
                </a:r>
              </a:p>
              <a:p>
                <a:r>
                  <a:rPr lang="en-US" dirty="0"/>
                  <a:t>If this row is deleted because Ram drops DBMS, student information is also lost.</a:t>
                </a:r>
              </a:p>
              <a:p>
                <a:r>
                  <a:rPr lang="en-US" dirty="0"/>
                  <a:t>This is a delete anomaly.</a:t>
                </a:r>
              </a:p>
              <a:p>
                <a:r>
                  <a:rPr lang="en-US" dirty="0"/>
                  <a:t>Functional dependencies help detect such design flaws.</a:t>
                </a:r>
              </a:p>
              <a:p>
                <a:br>
                  <a:rPr lang="en-US" dirty="0"/>
                </a:br>
                <a:endParaRPr lang="en-US" dirty="0"/>
              </a:p>
              <a:p>
                <a:r>
                  <a:rPr lang="en-US" b="1" dirty="0"/>
                  <a:t>6. Foundation of Normalization</a:t>
                </a:r>
              </a:p>
              <a:p>
                <a:r>
                  <a:rPr lang="en-US" dirty="0"/>
                  <a:t>Functional dependencies are the basis for normalization.</a:t>
                </a:r>
              </a:p>
              <a:p>
                <a:r>
                  <a:rPr lang="en-US" dirty="0"/>
                  <a:t>Normal </a:t>
                </a:r>
                <a:r>
                  <a:rPr lang="en-US" dirty="0" err="1"/>
                  <a:t>FormUses</a:t>
                </a:r>
                <a:r>
                  <a:rPr lang="en-US" dirty="0"/>
                  <a:t> Functional Dependencies?1NFNo (mainly atomic values)2NFYes (remove partial dependencies)3NFYes (remove transitive dependencies)</a:t>
                </a:r>
                <a:r>
                  <a:rPr lang="en-US" dirty="0" err="1"/>
                  <a:t>BCNFYes</a:t>
                </a:r>
                <a:r>
                  <a:rPr lang="en-US" dirty="0"/>
                  <a:t> (every determinant must be a candidate key)</a:t>
                </a:r>
              </a:p>
              <a:p>
                <a:r>
                  <a:rPr lang="en-US" dirty="0"/>
                  <a:t>Without FDs, normalization cannot be performed correctly.</a:t>
                </a:r>
              </a:p>
              <a:p>
                <a:br>
                  <a:rPr lang="en-US" dirty="0"/>
                </a:br>
                <a:endParaRPr lang="en-US" dirty="0"/>
              </a:p>
              <a:p>
                <a:r>
                  <a:rPr lang="en-US" b="1" dirty="0"/>
                  <a:t>7. Improve Database Consistency</a:t>
                </a:r>
              </a:p>
              <a:p>
                <a:r>
                  <a:rPr lang="en-US" dirty="0"/>
                  <a:t>Example:</a:t>
                </a:r>
              </a:p>
              <a:p>
                <a:r>
                  <a:rPr lang="en-US" sz="1200" i="0" kern="1200">
                    <a:solidFill>
                      <a:schemeClr val="tx1"/>
                    </a:solidFill>
                    <a:latin typeface="+mn-lt"/>
                    <a:ea typeface="+mn-ea"/>
                    <a:cs typeface="+mn-cs"/>
                  </a:rPr>
                  <a:t>𝐸𝑚𝑝𝑙𝑜𝑦𝑒𝑒\_𝐼𝐷→𝑆𝑎𝑙𝑎𝑟𝑦</a:t>
                </a:r>
                <a:endParaRPr lang="en-US" dirty="0"/>
              </a:p>
              <a:p>
                <a:r>
                  <a:rPr lang="en-US" dirty="0"/>
                  <a:t>If </a:t>
                </a:r>
                <a:r>
                  <a:rPr lang="en-US" dirty="0" err="1"/>
                  <a:t>Employee_ID</a:t>
                </a:r>
                <a:r>
                  <a:rPr lang="en-US" dirty="0"/>
                  <a:t> 101 has two different salaries stored in different rows, the FD is violated.</a:t>
                </a:r>
              </a:p>
              <a:p>
                <a:r>
                  <a:rPr lang="en-US" dirty="0"/>
                  <a:t>FDs define rules that maintain consistency.</a:t>
                </a:r>
              </a:p>
              <a:p>
                <a:br>
                  <a:rPr lang="en-US" dirty="0"/>
                </a:br>
                <a:endParaRPr lang="en-US" dirty="0"/>
              </a:p>
              <a:p>
                <a:r>
                  <a:rPr lang="en-US" b="1" dirty="0"/>
                  <a:t>8. Help in Database Decomposition</a:t>
                </a:r>
              </a:p>
              <a:p>
                <a:r>
                  <a:rPr lang="en-US" dirty="0"/>
                  <a:t>Suppose:</a:t>
                </a:r>
              </a:p>
              <a:p>
                <a:r>
                  <a:rPr lang="en-US" dirty="0" err="1"/>
                  <a:t>Student_IDStudent_NameDept_Name</a:t>
                </a:r>
                <a:endParaRPr lang="en-US" dirty="0"/>
              </a:p>
              <a:p>
                <a:r>
                  <a:rPr lang="en-US" dirty="0"/>
                  <a:t>FDs:</a:t>
                </a:r>
              </a:p>
              <a:p>
                <a:r>
                  <a:rPr lang="en-US" sz="1200" i="0" kern="1200">
                    <a:solidFill>
                      <a:schemeClr val="tx1"/>
                    </a:solidFill>
                    <a:latin typeface="+mn-lt"/>
                    <a:ea typeface="+mn-ea"/>
                    <a:cs typeface="+mn-cs"/>
                  </a:rPr>
                  <a:t>𝑆𝑡𝑢𝑑𝑒𝑛𝑡\_𝐼𝐷→𝑆𝑡𝑢𝑑𝑒𝑛𝑡\_𝑁𝑎𝑚𝑒</a:t>
                </a:r>
                <a:endParaRPr lang="en-US" dirty="0"/>
              </a:p>
              <a:p>
                <a:r>
                  <a:rPr lang="en-US" sz="1200" i="0" kern="1200">
                    <a:solidFill>
                      <a:schemeClr val="tx1"/>
                    </a:solidFill>
                    <a:latin typeface="+mn-lt"/>
                    <a:ea typeface="+mn-ea"/>
                    <a:cs typeface="+mn-cs"/>
                  </a:rPr>
                  <a:t>𝐷𝑒𝑝𝑡\_𝐼𝐷→𝐷𝑒𝑝𝑡\_𝑁𝑎𝑚𝑒</a:t>
                </a:r>
                <a:endParaRPr lang="en-US" dirty="0"/>
              </a:p>
              <a:p>
                <a:r>
                  <a:rPr lang="en-US" dirty="0"/>
                  <a:t>Using these dependencies, we can decompose the table into:</a:t>
                </a:r>
              </a:p>
              <a:p>
                <a:r>
                  <a:rPr lang="en-US" b="1" dirty="0"/>
                  <a:t>Student</a:t>
                </a:r>
              </a:p>
              <a:p>
                <a:r>
                  <a:rPr lang="en-US" dirty="0"/>
                  <a:t>| </a:t>
                </a:r>
                <a:r>
                  <a:rPr lang="en-US" dirty="0" err="1"/>
                  <a:t>Student_ID</a:t>
                </a:r>
                <a:r>
                  <a:rPr lang="en-US" dirty="0"/>
                  <a:t> | </a:t>
                </a:r>
                <a:r>
                  <a:rPr lang="en-US" dirty="0" err="1"/>
                  <a:t>Student_Name</a:t>
                </a:r>
                <a:r>
                  <a:rPr lang="en-US" dirty="0"/>
                  <a:t> | </a:t>
                </a:r>
                <a:r>
                  <a:rPr lang="en-US" dirty="0" err="1"/>
                  <a:t>Dept_ID</a:t>
                </a:r>
                <a:r>
                  <a:rPr lang="en-US" dirty="0"/>
                  <a:t> |</a:t>
                </a:r>
              </a:p>
              <a:p>
                <a:r>
                  <a:rPr lang="en-US" b="1" dirty="0"/>
                  <a:t>Department</a:t>
                </a:r>
              </a:p>
              <a:p>
                <a:r>
                  <a:rPr lang="en-US" dirty="0"/>
                  <a:t>| </a:t>
                </a:r>
                <a:r>
                  <a:rPr lang="en-US" dirty="0" err="1"/>
                  <a:t>Dept_ID</a:t>
                </a:r>
                <a:r>
                  <a:rPr lang="en-US" dirty="0"/>
                  <a:t> | </a:t>
                </a:r>
                <a:r>
                  <a:rPr lang="en-US" dirty="0" err="1"/>
                  <a:t>Dept_Name</a:t>
                </a:r>
                <a:r>
                  <a:rPr lang="en-US" dirty="0"/>
                  <a:t> |</a:t>
                </a:r>
              </a:p>
              <a:p>
                <a:r>
                  <a:rPr lang="en-US" dirty="0"/>
                  <a:t>This reduces redundancy and improves maintainability.</a:t>
                </a:r>
              </a:p>
              <a:p>
                <a:br>
                  <a:rPr lang="en-US" dirty="0"/>
                </a:br>
                <a:endParaRPr lang="en-US" dirty="0"/>
              </a:p>
              <a:p>
                <a:r>
                  <a:rPr lang="en-US" b="1" dirty="0"/>
                  <a:t>9. Help Query Optimization</a:t>
                </a:r>
              </a:p>
              <a:p>
                <a:r>
                  <a:rPr lang="en-US" dirty="0"/>
                  <a:t>Database designers and query optimizers can use functional dependencies to:</a:t>
                </a:r>
              </a:p>
              <a:p>
                <a:r>
                  <a:rPr lang="en-US" dirty="0"/>
                  <a:t>Eliminate unnecessary joins </a:t>
                </a:r>
              </a:p>
              <a:p>
                <a:r>
                  <a:rPr lang="en-US" dirty="0"/>
                  <a:t>Improve query plans </a:t>
                </a:r>
              </a:p>
              <a:p>
                <a:r>
                  <a:rPr lang="en-US" dirty="0"/>
                  <a:t>Reduce storage requirements </a:t>
                </a:r>
              </a:p>
              <a:p>
                <a:r>
                  <a:rPr lang="en-US" dirty="0"/>
                  <a:t>Although users may not see it directly, DBMS engines often use dependency information internally.</a:t>
                </a:r>
              </a:p>
              <a:p>
                <a:br>
                  <a:rPr lang="en-US" dirty="0"/>
                </a:br>
                <a:endParaRPr lang="en-US" dirty="0"/>
              </a:p>
              <a:p>
                <a:r>
                  <a:rPr lang="en-US" b="1" dirty="0"/>
                  <a:t>Real-World Example</a:t>
                </a:r>
              </a:p>
              <a:p>
                <a:r>
                  <a:rPr lang="en-US" dirty="0"/>
                  <a:t>Consider a college ERP system (similar to the timetable and ERP systems you've been designing):</a:t>
                </a:r>
              </a:p>
              <a:p>
                <a:r>
                  <a:rPr lang="en-US" b="1" dirty="0"/>
                  <a:t>Faculty Table</a:t>
                </a:r>
              </a:p>
              <a:p>
                <a:r>
                  <a:rPr lang="en-US" dirty="0" err="1"/>
                  <a:t>Faculty_IDFaculty_NameEmail</a:t>
                </a:r>
                <a:endParaRPr lang="en-US" dirty="0"/>
              </a:p>
              <a:p>
                <a:r>
                  <a:rPr lang="en-US" dirty="0"/>
                  <a:t>FD:</a:t>
                </a:r>
              </a:p>
              <a:p>
                <a:r>
                  <a:rPr lang="en-US" sz="1200" i="0" kern="1200">
                    <a:solidFill>
                      <a:schemeClr val="tx1"/>
                    </a:solidFill>
                    <a:latin typeface="+mn-lt"/>
                    <a:ea typeface="+mn-ea"/>
                    <a:cs typeface="+mn-cs"/>
                  </a:rPr>
                  <a:t>𝐹𝑎𝑐𝑢𝑙𝑡𝑦\_𝐼𝐷→𝐹𝑎𝑐𝑢𝑙𝑡𝑦\_𝑁𝑎𝑚𝑒,𝐸𝑚𝑎𝑖𝑙</a:t>
                </a:r>
                <a:endParaRPr lang="en-US" dirty="0"/>
              </a:p>
              <a:p>
                <a:r>
                  <a:rPr lang="en-US" dirty="0"/>
                  <a:t>This tells us:</a:t>
                </a:r>
              </a:p>
              <a:p>
                <a:r>
                  <a:rPr lang="en-US" dirty="0" err="1"/>
                  <a:t>Faculty_ID</a:t>
                </a:r>
                <a:r>
                  <a:rPr lang="en-US" dirty="0"/>
                  <a:t> uniquely identifies a faculty member. </a:t>
                </a:r>
              </a:p>
              <a:p>
                <a:r>
                  <a:rPr lang="en-US" dirty="0" err="1"/>
                  <a:t>Faculty_Name</a:t>
                </a:r>
                <a:r>
                  <a:rPr lang="en-US" dirty="0"/>
                  <a:t> and Email should not be repeatedly stored in timetable records. </a:t>
                </a:r>
              </a:p>
              <a:p>
                <a:r>
                  <a:rPr lang="en-US" dirty="0"/>
                  <a:t>Instead, timetable tables should reference </a:t>
                </a:r>
                <a:r>
                  <a:rPr lang="en-US" dirty="0" err="1"/>
                  <a:t>Faculty_ID</a:t>
                </a:r>
                <a:r>
                  <a:rPr lang="en-US" dirty="0"/>
                  <a:t>. </a:t>
                </a:r>
              </a:p>
              <a:p>
                <a:r>
                  <a:rPr lang="en-US" dirty="0"/>
                  <a:t>This leads to a cleaner and more scalable design.</a:t>
                </a:r>
              </a:p>
              <a:p>
                <a:endParaRPr lang="en-US" dirty="0"/>
              </a:p>
            </p:txBody>
          </p:sp>
        </mc:Fallback>
      </mc:AlternateContent>
      <p:sp>
        <p:nvSpPr>
          <p:cNvPr id="4" name="Slide Number Placeholder 3"/>
          <p:cNvSpPr>
            <a:spLocks noGrp="1"/>
          </p:cNvSpPr>
          <p:nvPr>
            <p:ph type="sldNum" sz="quarter" idx="5"/>
          </p:nvPr>
        </p:nvSpPr>
        <p:spPr/>
        <p:txBody>
          <a:bodyPr/>
          <a:lstStyle/>
          <a:p>
            <a:fld id="{532ED260-D111-491D-AB9F-FC8569A2A916}" type="slidenum">
              <a:rPr lang="en-US" smtClean="0"/>
              <a:t>43</a:t>
            </a:fld>
            <a:endParaRPr lang="en-US"/>
          </a:p>
        </p:txBody>
      </p:sp>
    </p:spTree>
    <p:extLst>
      <p:ext uri="{BB962C8B-B14F-4D97-AF65-F5344CB8AC3E}">
        <p14:creationId xmlns:p14="http://schemas.microsoft.com/office/powerpoint/2010/main" val="174430758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Reasoning</a:t>
            </a:r>
          </a:p>
          <a:p>
            <a:r>
              <a:rPr lang="en-US" dirty="0"/>
              <a:t>StudentID 101 gives:</a:t>
            </a:r>
          </a:p>
          <a:p>
            <a:r>
              <a:rPr lang="en-US" dirty="0"/>
              <a:t>StudentID = 101</a:t>
            </a:r>
          </a:p>
          <a:p>
            <a:r>
              <a:rPr lang="en-US" dirty="0"/>
              <a:t>↓</a:t>
            </a:r>
          </a:p>
          <a:p>
            <a:r>
              <a:rPr lang="en-US" dirty="0" err="1"/>
              <a:t>DeptID</a:t>
            </a:r>
            <a:r>
              <a:rPr lang="en-US" dirty="0"/>
              <a:t> = D01</a:t>
            </a:r>
          </a:p>
          <a:p>
            <a:r>
              <a:rPr lang="en-US" dirty="0"/>
              <a:t>↓</a:t>
            </a:r>
          </a:p>
          <a:p>
            <a:r>
              <a:rPr lang="en-US" dirty="0" err="1"/>
              <a:t>DeptName</a:t>
            </a:r>
            <a:r>
              <a:rPr lang="en-US" dirty="0"/>
              <a:t> = Computer</a:t>
            </a:r>
          </a:p>
          <a:p>
            <a:r>
              <a:rPr lang="en-US" dirty="0"/>
              <a:t>Therefore:</a:t>
            </a:r>
          </a:p>
          <a:p>
            <a:r>
              <a:rPr lang="en-US" dirty="0"/>
              <a:t>StudentID → </a:t>
            </a:r>
            <a:r>
              <a:rPr lang="en-US" dirty="0" err="1"/>
              <a:t>DeptName</a:t>
            </a:r>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532ED260-D111-491D-AB9F-FC8569A2A916}" type="slidenum">
              <a:rPr lang="en-US" smtClean="0"/>
              <a:t>50</a:t>
            </a:fld>
            <a:endParaRPr lang="en-US"/>
          </a:p>
        </p:txBody>
      </p:sp>
    </p:spTree>
    <p:extLst>
      <p:ext uri="{BB962C8B-B14F-4D97-AF65-F5344CB8AC3E}">
        <p14:creationId xmlns:p14="http://schemas.microsoft.com/office/powerpoint/2010/main" val="73442761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XY </a:t>
            </a:r>
            <a:r>
              <a:rPr lang="en-US" dirty="0">
                <a:sym typeface="Wingdings" panose="05000000000000000000" pitchFamily="2" charset="2"/>
              </a:rPr>
              <a:t> z    != XZ ,  YZ</a:t>
            </a:r>
          </a:p>
          <a:p>
            <a:r>
              <a:rPr lang="en-US" dirty="0">
                <a:sym typeface="Wingdings" panose="05000000000000000000" pitchFamily="2" charset="2"/>
              </a:rPr>
              <a:t>We can decompose </a:t>
            </a:r>
            <a:r>
              <a:rPr lang="en-US" dirty="0" err="1">
                <a:sym typeface="Wingdings" panose="05000000000000000000" pitchFamily="2" charset="2"/>
              </a:rPr>
              <a:t>lefet</a:t>
            </a:r>
            <a:r>
              <a:rPr lang="en-US" dirty="0">
                <a:sym typeface="Wingdings" panose="05000000000000000000" pitchFamily="2" charset="2"/>
              </a:rPr>
              <a:t> hand side</a:t>
            </a:r>
            <a:endParaRPr lang="en-US" dirty="0"/>
          </a:p>
        </p:txBody>
      </p:sp>
      <p:sp>
        <p:nvSpPr>
          <p:cNvPr id="4" name="Slide Number Placeholder 3"/>
          <p:cNvSpPr>
            <a:spLocks noGrp="1"/>
          </p:cNvSpPr>
          <p:nvPr>
            <p:ph type="sldNum" sz="quarter" idx="5"/>
          </p:nvPr>
        </p:nvSpPr>
        <p:spPr/>
        <p:txBody>
          <a:bodyPr/>
          <a:lstStyle/>
          <a:p>
            <a:fld id="{532ED260-D111-491D-AB9F-FC8569A2A916}" type="slidenum">
              <a:rPr lang="en-US" smtClean="0"/>
              <a:t>52</a:t>
            </a:fld>
            <a:endParaRPr lang="en-US"/>
          </a:p>
        </p:txBody>
      </p:sp>
    </p:spTree>
    <p:extLst>
      <p:ext uri="{BB962C8B-B14F-4D97-AF65-F5344CB8AC3E}">
        <p14:creationId xmlns:p14="http://schemas.microsoft.com/office/powerpoint/2010/main" val="249690868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Note: </a:t>
                </a:r>
              </a:p>
              <a:p>
                <a:r>
                  <a:rPr lang="en-US" b="1" dirty="0"/>
                  <a:t>Finding attribute closure </a:t>
                </a:r>
                <a14:m>
                  <m:oMath xmlns:m="http://schemas.openxmlformats.org/officeDocument/2006/math">
                    <m:sSup>
                      <m:sSupPr>
                        <m:ctrlPr>
                          <a:rPr lang="en-US" sz="1200" i="1" kern="1200">
                            <a:solidFill>
                              <a:schemeClr val="tx1"/>
                            </a:solidFill>
                            <a:latin typeface="Cambria Math" panose="02040503050406030204" pitchFamily="18" charset="0"/>
                            <a:ea typeface="+mn-ea"/>
                            <a:cs typeface="+mn-cs"/>
                          </a:rPr>
                        </m:ctrlPr>
                      </m:sSupPr>
                      <m:e>
                        <m:r>
                          <a:rPr lang="en-US" sz="1200" i="1" kern="1200">
                            <a:solidFill>
                              <a:schemeClr val="tx1"/>
                            </a:solidFill>
                            <a:latin typeface="Cambria Math" panose="02040503050406030204" pitchFamily="18" charset="0"/>
                            <a:ea typeface="+mn-ea"/>
                            <a:cs typeface="+mn-cs"/>
                          </a:rPr>
                          <m:t>𝑋</m:t>
                        </m:r>
                      </m:e>
                      <m:sup>
                        <m:r>
                          <a:rPr lang="en-US" sz="1200" i="0" kern="1200">
                            <a:solidFill>
                              <a:schemeClr val="tx1"/>
                            </a:solidFill>
                            <a:latin typeface="Cambria Math" panose="02040503050406030204" pitchFamily="18" charset="0"/>
                            <a:ea typeface="+mn-ea"/>
                            <a:cs typeface="+mn-cs"/>
                          </a:rPr>
                          <m:t>+</m:t>
                        </m:r>
                      </m:sup>
                    </m:sSup>
                  </m:oMath>
                </a14:m>
                <a:r>
                  <a:rPr lang="en-US" dirty="0"/>
                  <a:t>→ Usually no need for explicit augmentation. </a:t>
                </a:r>
              </a:p>
              <a:p>
                <a:r>
                  <a:rPr lang="en-US" b="1" dirty="0"/>
                  <a:t>Finding useful FDs in </a:t>
                </a:r>
                <a14:m>
                  <m:oMath xmlns:m="http://schemas.openxmlformats.org/officeDocument/2006/math">
                    <m:sSup>
                      <m:sSupPr>
                        <m:ctrlPr>
                          <a:rPr lang="en-US" sz="1200" i="1" kern="1200">
                            <a:solidFill>
                              <a:schemeClr val="tx1"/>
                            </a:solidFill>
                            <a:latin typeface="Cambria Math" panose="02040503050406030204" pitchFamily="18" charset="0"/>
                            <a:ea typeface="+mn-ea"/>
                            <a:cs typeface="+mn-cs"/>
                          </a:rPr>
                        </m:ctrlPr>
                      </m:sSupPr>
                      <m:e>
                        <m:r>
                          <a:rPr lang="en-US" sz="1200" i="1" kern="1200">
                            <a:solidFill>
                              <a:schemeClr val="tx1"/>
                            </a:solidFill>
                            <a:latin typeface="Cambria Math" panose="02040503050406030204" pitchFamily="18" charset="0"/>
                            <a:ea typeface="+mn-ea"/>
                            <a:cs typeface="+mn-cs"/>
                          </a:rPr>
                          <m:t>𝐹</m:t>
                        </m:r>
                      </m:e>
                      <m:sup>
                        <m:r>
                          <a:rPr lang="en-US" sz="1200" i="0" kern="1200">
                            <a:solidFill>
                              <a:schemeClr val="tx1"/>
                            </a:solidFill>
                            <a:latin typeface="Cambria Math" panose="02040503050406030204" pitchFamily="18" charset="0"/>
                            <a:ea typeface="+mn-ea"/>
                            <a:cs typeface="+mn-cs"/>
                          </a:rPr>
                          <m:t>+</m:t>
                        </m:r>
                      </m:sup>
                    </m:sSup>
                  </m:oMath>
                </a14:m>
                <a:r>
                  <a:rPr lang="en-US" dirty="0"/>
                  <a:t>→ Mostly use reflexivity, transitivity, union, decomposition. </a:t>
                </a:r>
              </a:p>
              <a:p>
                <a:r>
                  <a:rPr lang="en-US" b="1" dirty="0"/>
                  <a:t>Proving a specific FD</a:t>
                </a:r>
                <a:r>
                  <a:rPr lang="en-US" dirty="0"/>
                  <a:t> → Augmentation may become necessary.</a:t>
                </a:r>
              </a:p>
            </p:txBody>
          </p:sp>
        </mc:Choice>
        <mc:Fallback xmlns="">
          <p:sp>
            <p:nvSpPr>
              <p:cNvPr id="3" name="Notes Placeholder 2"/>
              <p:cNvSpPr>
                <a:spLocks noGrp="1"/>
              </p:cNvSpPr>
              <p:nvPr>
                <p:ph type="body" idx="1"/>
              </p:nvPr>
            </p:nvSpPr>
            <p:spPr/>
            <p:txBody>
              <a:bodyPr/>
              <a:lstStyle/>
              <a:p>
                <a:r>
                  <a:rPr lang="en-US" dirty="0"/>
                  <a:t>Note: </a:t>
                </a:r>
              </a:p>
              <a:p>
                <a:r>
                  <a:rPr lang="en-US" b="1" dirty="0"/>
                  <a:t>Finding attribute closure </a:t>
                </a:r>
                <a:r>
                  <a:rPr lang="en-US" sz="1200" i="0" kern="1200">
                    <a:solidFill>
                      <a:schemeClr val="tx1"/>
                    </a:solidFill>
                    <a:latin typeface="+mn-lt"/>
                    <a:ea typeface="+mn-ea"/>
                    <a:cs typeface="+mn-cs"/>
                  </a:rPr>
                  <a:t>𝑋^+</a:t>
                </a:r>
                <a:r>
                  <a:rPr lang="en-US" dirty="0"/>
                  <a:t>→ Usually no need for explicit augmentation. </a:t>
                </a:r>
              </a:p>
              <a:p>
                <a:r>
                  <a:rPr lang="en-US" b="1" dirty="0"/>
                  <a:t>Finding useful FDs in </a:t>
                </a:r>
                <a:r>
                  <a:rPr lang="en-US" sz="1200" i="0" kern="1200">
                    <a:solidFill>
                      <a:schemeClr val="tx1"/>
                    </a:solidFill>
                    <a:latin typeface="+mn-lt"/>
                    <a:ea typeface="+mn-ea"/>
                    <a:cs typeface="+mn-cs"/>
                  </a:rPr>
                  <a:t>𝐹^+</a:t>
                </a:r>
                <a:r>
                  <a:rPr lang="en-US" dirty="0"/>
                  <a:t>→ Mostly use reflexivity, transitivity, union, decomposition. </a:t>
                </a:r>
              </a:p>
              <a:p>
                <a:r>
                  <a:rPr lang="en-US" b="1" dirty="0"/>
                  <a:t>Proving a specific FD</a:t>
                </a:r>
                <a:r>
                  <a:rPr lang="en-US" dirty="0"/>
                  <a:t> → Augmentation may become necessary.</a:t>
                </a:r>
              </a:p>
            </p:txBody>
          </p:sp>
        </mc:Fallback>
      </mc:AlternateContent>
      <p:sp>
        <p:nvSpPr>
          <p:cNvPr id="4" name="Slide Number Placeholder 3"/>
          <p:cNvSpPr>
            <a:spLocks noGrp="1"/>
          </p:cNvSpPr>
          <p:nvPr>
            <p:ph type="sldNum" sz="quarter" idx="5"/>
          </p:nvPr>
        </p:nvSpPr>
        <p:spPr/>
        <p:txBody>
          <a:bodyPr/>
          <a:lstStyle/>
          <a:p>
            <a:fld id="{532ED260-D111-491D-AB9F-FC8569A2A916}" type="slidenum">
              <a:rPr lang="en-US" smtClean="0"/>
              <a:t>58</a:t>
            </a:fld>
            <a:endParaRPr lang="en-US"/>
          </a:p>
        </p:txBody>
      </p:sp>
    </p:spTree>
    <p:extLst>
      <p:ext uri="{BB962C8B-B14F-4D97-AF65-F5344CB8AC3E}">
        <p14:creationId xmlns:p14="http://schemas.microsoft.com/office/powerpoint/2010/main" val="241438566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Attribute closure tells us all the attributes that can be obtained or inferred starting </a:t>
            </a:r>
          </a:p>
          <a:p>
            <a:r>
              <a:rPr lang="en-US" b="1" dirty="0"/>
              <a:t>Why Do We Need Attribute Closure?</a:t>
            </a:r>
          </a:p>
          <a:p>
            <a:pPr lvl="1"/>
            <a:r>
              <a:rPr lang="en-US" dirty="0"/>
              <a:t>Attribute closure is used to:</a:t>
            </a:r>
          </a:p>
          <a:p>
            <a:pPr lvl="1"/>
            <a:r>
              <a:rPr lang="en-US" dirty="0"/>
              <a:t>Find </a:t>
            </a:r>
            <a:r>
              <a:rPr lang="en-US" b="1" dirty="0"/>
              <a:t>Candidate Keys</a:t>
            </a:r>
            <a:r>
              <a:rPr lang="en-US" dirty="0"/>
              <a:t> </a:t>
            </a:r>
          </a:p>
          <a:p>
            <a:pPr lvl="1"/>
            <a:r>
              <a:rPr lang="en-US" dirty="0"/>
              <a:t>Check whether an FD is implied by a set of FDs </a:t>
            </a:r>
          </a:p>
          <a:p>
            <a:pPr lvl="1"/>
            <a:r>
              <a:rPr lang="en-US" dirty="0"/>
              <a:t>Find </a:t>
            </a:r>
            <a:r>
              <a:rPr lang="en-US" b="1" dirty="0"/>
              <a:t>Super Keys</a:t>
            </a:r>
            <a:r>
              <a:rPr lang="en-US" dirty="0"/>
              <a:t> </a:t>
            </a:r>
          </a:p>
          <a:p>
            <a:pPr lvl="1"/>
            <a:r>
              <a:rPr lang="en-US" dirty="0"/>
              <a:t>Perform </a:t>
            </a:r>
            <a:r>
              <a:rPr lang="en-US" b="1" dirty="0"/>
              <a:t>Normalization</a:t>
            </a:r>
            <a:r>
              <a:rPr lang="en-US" dirty="0"/>
              <a:t> </a:t>
            </a:r>
          </a:p>
          <a:p>
            <a:pPr lvl="1"/>
            <a:r>
              <a:rPr lang="en-US" dirty="0"/>
              <a:t>Determine whether a decomposition is lossless</a:t>
            </a:r>
          </a:p>
          <a:p>
            <a:r>
              <a:rPr lang="en-US" dirty="0"/>
              <a:t>from a given attribute set.</a:t>
            </a:r>
          </a:p>
        </p:txBody>
      </p:sp>
      <p:sp>
        <p:nvSpPr>
          <p:cNvPr id="4" name="Slide Number Placeholder 3"/>
          <p:cNvSpPr>
            <a:spLocks noGrp="1"/>
          </p:cNvSpPr>
          <p:nvPr>
            <p:ph type="sldNum" sz="quarter" idx="5"/>
          </p:nvPr>
        </p:nvSpPr>
        <p:spPr/>
        <p:txBody>
          <a:bodyPr/>
          <a:lstStyle/>
          <a:p>
            <a:fld id="{532ED260-D111-491D-AB9F-FC8569A2A916}" type="slidenum">
              <a:rPr lang="en-US" smtClean="0"/>
              <a:t>59</a:t>
            </a:fld>
            <a:endParaRPr lang="en-US"/>
          </a:p>
        </p:txBody>
      </p:sp>
    </p:spTree>
    <p:extLst>
      <p:ext uri="{BB962C8B-B14F-4D97-AF65-F5344CB8AC3E}">
        <p14:creationId xmlns:p14="http://schemas.microsoft.com/office/powerpoint/2010/main" val="51739421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32ED260-D111-491D-AB9F-FC8569A2A916}" type="slidenum">
              <a:rPr lang="en-US" smtClean="0"/>
              <a:t>61</a:t>
            </a:fld>
            <a:endParaRPr lang="en-US"/>
          </a:p>
        </p:txBody>
      </p:sp>
    </p:spTree>
    <p:extLst>
      <p:ext uri="{BB962C8B-B14F-4D97-AF65-F5344CB8AC3E}">
        <p14:creationId xmlns:p14="http://schemas.microsoft.com/office/powerpoint/2010/main" val="293503572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br>
                  <a:rPr lang="en-US" dirty="0"/>
                </a:br>
                <a:endParaRPr lang="en-US" dirty="0"/>
              </a:p>
              <a:p>
                <a:r>
                  <a:rPr lang="en-US" b="1" dirty="0"/>
                  <a:t>Rules for Finding Candidate Keys</a:t>
                </a:r>
              </a:p>
              <a:p>
                <a:r>
                  <a:rPr lang="en-US" b="1" dirty="0"/>
                  <a:t>Rule 1: Attributes Never Appearing on RHS Must Be in Every Candidate Key</a:t>
                </a:r>
              </a:p>
              <a:p>
                <a:r>
                  <a:rPr lang="en-US" dirty="0"/>
                  <a:t>Example:</a:t>
                </a:r>
              </a:p>
              <a:p>
                <a:pPr/>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𝑅</m:t>
                      </m:r>
                      <m:d>
                        <m:dPr>
                          <m:sepChr m:val=","/>
                          <m:ctrlPr>
                            <a:rPr lang="en-US" sz="1200" i="1" kern="1200">
                              <a:solidFill>
                                <a:schemeClr val="tx1"/>
                              </a:solidFill>
                              <a:latin typeface="Cambria Math" panose="02040503050406030204" pitchFamily="18" charset="0"/>
                              <a:ea typeface="+mn-ea"/>
                              <a:cs typeface="+mn-cs"/>
                            </a:rPr>
                          </m:ctrlPr>
                        </m:dPr>
                        <m:e>
                          <m:r>
                            <a:rPr lang="en-US" sz="1200" i="1" kern="1200">
                              <a:solidFill>
                                <a:schemeClr val="tx1"/>
                              </a:solidFill>
                              <a:latin typeface="Cambria Math" panose="02040503050406030204" pitchFamily="18" charset="0"/>
                              <a:ea typeface="+mn-ea"/>
                              <a:cs typeface="+mn-cs"/>
                            </a:rPr>
                            <m:t>𝐴</m:t>
                          </m:r>
                        </m:e>
                        <m:e>
                          <m:r>
                            <a:rPr lang="en-US" sz="1200" i="1" kern="1200">
                              <a:solidFill>
                                <a:schemeClr val="tx1"/>
                              </a:solidFill>
                              <a:latin typeface="Cambria Math" panose="02040503050406030204" pitchFamily="18" charset="0"/>
                              <a:ea typeface="+mn-ea"/>
                              <a:cs typeface="+mn-cs"/>
                            </a:rPr>
                            <m:t>𝐵</m:t>
                          </m:r>
                        </m:e>
                        <m:e>
                          <m:r>
                            <a:rPr lang="en-US" sz="1200" i="1" kern="1200">
                              <a:solidFill>
                                <a:schemeClr val="tx1"/>
                              </a:solidFill>
                              <a:latin typeface="Cambria Math" panose="02040503050406030204" pitchFamily="18" charset="0"/>
                              <a:ea typeface="+mn-ea"/>
                              <a:cs typeface="+mn-cs"/>
                            </a:rPr>
                            <m:t>𝐶</m:t>
                          </m:r>
                        </m:e>
                        <m:e>
                          <m:r>
                            <a:rPr lang="en-US" sz="1200" i="1" kern="1200">
                              <a:solidFill>
                                <a:schemeClr val="tx1"/>
                              </a:solidFill>
                              <a:latin typeface="Cambria Math" panose="02040503050406030204" pitchFamily="18" charset="0"/>
                              <a:ea typeface="+mn-ea"/>
                              <a:cs typeface="+mn-cs"/>
                            </a:rPr>
                            <m:t>𝐷</m:t>
                          </m:r>
                        </m:e>
                      </m:d>
                    </m:oMath>
                  </m:oMathPara>
                </a14:m>
                <a:endParaRPr lang="en-US" dirty="0"/>
              </a:p>
              <a:p>
                <a:r>
                  <a:rPr lang="en-US" dirty="0"/>
                  <a:t>FDs:</a:t>
                </a:r>
              </a:p>
              <a:p>
                <a:pPr/>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𝐴</m:t>
                      </m:r>
                      <m:r>
                        <a:rPr lang="en-US" sz="1200" i="0" kern="1200">
                          <a:solidFill>
                            <a:schemeClr val="tx1"/>
                          </a:solidFill>
                          <a:latin typeface="Cambria Math" panose="02040503050406030204" pitchFamily="18" charset="0"/>
                          <a:ea typeface="+mn-ea"/>
                          <a:cs typeface="+mn-cs"/>
                        </a:rPr>
                        <m:t>→</m:t>
                      </m:r>
                      <m:r>
                        <a:rPr lang="en-US" sz="1200" i="1" kern="1200">
                          <a:solidFill>
                            <a:schemeClr val="tx1"/>
                          </a:solidFill>
                          <a:latin typeface="Cambria Math" panose="02040503050406030204" pitchFamily="18" charset="0"/>
                          <a:ea typeface="+mn-ea"/>
                          <a:cs typeface="+mn-cs"/>
                        </a:rPr>
                        <m:t>𝐵</m:t>
                      </m:r>
                    </m:oMath>
                  </m:oMathPara>
                </a14:m>
                <a:endParaRPr lang="en-US" dirty="0"/>
              </a:p>
              <a:p>
                <a:pPr/>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𝐵</m:t>
                      </m:r>
                      <m:r>
                        <a:rPr lang="en-US" sz="1200" i="0" kern="1200">
                          <a:solidFill>
                            <a:schemeClr val="tx1"/>
                          </a:solidFill>
                          <a:latin typeface="Cambria Math" panose="02040503050406030204" pitchFamily="18" charset="0"/>
                          <a:ea typeface="+mn-ea"/>
                          <a:cs typeface="+mn-cs"/>
                        </a:rPr>
                        <m:t>→</m:t>
                      </m:r>
                      <m:r>
                        <a:rPr lang="en-US" sz="1200" i="1" kern="1200">
                          <a:solidFill>
                            <a:schemeClr val="tx1"/>
                          </a:solidFill>
                          <a:latin typeface="Cambria Math" panose="02040503050406030204" pitchFamily="18" charset="0"/>
                          <a:ea typeface="+mn-ea"/>
                          <a:cs typeface="+mn-cs"/>
                        </a:rPr>
                        <m:t>𝐶</m:t>
                      </m:r>
                    </m:oMath>
                  </m:oMathPara>
                </a14:m>
                <a:endParaRPr lang="en-US" dirty="0"/>
              </a:p>
              <a:p>
                <a:r>
                  <a:rPr lang="en-US" dirty="0"/>
                  <a:t>Notice D never appears on RHS.</a:t>
                </a:r>
              </a:p>
              <a:p>
                <a:r>
                  <a:rPr lang="en-US" dirty="0"/>
                  <a:t>Therefore D cannot be derived from any FD.</a:t>
                </a:r>
              </a:p>
              <a:p>
                <a:r>
                  <a:rPr lang="en-US" dirty="0"/>
                  <a:t>So every Candidate Key must contain D.</a:t>
                </a:r>
              </a:p>
              <a:p>
                <a:br>
                  <a:rPr lang="en-US" dirty="0"/>
                </a:br>
                <a:endParaRPr lang="en-US" dirty="0"/>
              </a:p>
              <a:p>
                <a:r>
                  <a:rPr lang="en-US" b="1" dirty="0"/>
                  <a:t>Rule 2: Find Attribute Closure</a:t>
                </a:r>
              </a:p>
              <a:p>
                <a:r>
                  <a:rPr lang="en-US" dirty="0"/>
                  <a:t>Compute closure of attribute combinations.</a:t>
                </a:r>
              </a:p>
              <a:p>
                <a:r>
                  <a:rPr lang="en-US" dirty="0"/>
                  <a:t>If closure contains all attributes of R, then it is a Super Key.</a:t>
                </a:r>
              </a:p>
              <a:p>
                <a:br>
                  <a:rPr lang="en-US" dirty="0"/>
                </a:br>
                <a:endParaRPr lang="en-US" dirty="0"/>
              </a:p>
              <a:p>
                <a:r>
                  <a:rPr lang="en-US" b="1" dirty="0"/>
                  <a:t>Rule 3: Check Minimality</a:t>
                </a:r>
              </a:p>
              <a:p>
                <a:r>
                  <a:rPr lang="en-US" dirty="0"/>
                  <a:t>Remove one attribute at a time.</a:t>
                </a:r>
              </a:p>
              <a:p>
                <a:r>
                  <a:rPr lang="en-US" dirty="0"/>
                  <a:t>If closure still gives all attributes, the original set is not minimal.</a:t>
                </a:r>
              </a:p>
              <a:p>
                <a:br>
                  <a:rPr lang="en-US" dirty="0"/>
                </a:br>
                <a:endParaRPr lang="en-US" dirty="0"/>
              </a:p>
              <a:p>
                <a:r>
                  <a:rPr lang="en-US" b="1" dirty="0"/>
                  <a:t>Example 1</a:t>
                </a:r>
              </a:p>
              <a:p>
                <a:r>
                  <a:rPr lang="en-US" dirty="0"/>
                  <a:t>Relation:</a:t>
                </a:r>
              </a:p>
              <a:p>
                <a:pPr/>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𝑅</m:t>
                      </m:r>
                      <m:d>
                        <m:dPr>
                          <m:sepChr m:val=","/>
                          <m:ctrlPr>
                            <a:rPr lang="en-US" sz="1200" i="1" kern="1200">
                              <a:solidFill>
                                <a:schemeClr val="tx1"/>
                              </a:solidFill>
                              <a:latin typeface="Cambria Math" panose="02040503050406030204" pitchFamily="18" charset="0"/>
                              <a:ea typeface="+mn-ea"/>
                              <a:cs typeface="+mn-cs"/>
                            </a:rPr>
                          </m:ctrlPr>
                        </m:dPr>
                        <m:e>
                          <m:r>
                            <a:rPr lang="en-US" sz="1200" i="1" kern="1200">
                              <a:solidFill>
                                <a:schemeClr val="tx1"/>
                              </a:solidFill>
                              <a:latin typeface="Cambria Math" panose="02040503050406030204" pitchFamily="18" charset="0"/>
                              <a:ea typeface="+mn-ea"/>
                              <a:cs typeface="+mn-cs"/>
                            </a:rPr>
                            <m:t>𝐴</m:t>
                          </m:r>
                        </m:e>
                        <m:e>
                          <m:r>
                            <a:rPr lang="en-US" sz="1200" i="1" kern="1200">
                              <a:solidFill>
                                <a:schemeClr val="tx1"/>
                              </a:solidFill>
                              <a:latin typeface="Cambria Math" panose="02040503050406030204" pitchFamily="18" charset="0"/>
                              <a:ea typeface="+mn-ea"/>
                              <a:cs typeface="+mn-cs"/>
                            </a:rPr>
                            <m:t>𝐵</m:t>
                          </m:r>
                        </m:e>
                        <m:e>
                          <m:r>
                            <a:rPr lang="en-US" sz="1200" i="1" kern="1200">
                              <a:solidFill>
                                <a:schemeClr val="tx1"/>
                              </a:solidFill>
                              <a:latin typeface="Cambria Math" panose="02040503050406030204" pitchFamily="18" charset="0"/>
                              <a:ea typeface="+mn-ea"/>
                              <a:cs typeface="+mn-cs"/>
                            </a:rPr>
                            <m:t>𝐶</m:t>
                          </m:r>
                        </m:e>
                        <m:e>
                          <m:r>
                            <a:rPr lang="en-US" sz="1200" i="1" kern="1200">
                              <a:solidFill>
                                <a:schemeClr val="tx1"/>
                              </a:solidFill>
                              <a:latin typeface="Cambria Math" panose="02040503050406030204" pitchFamily="18" charset="0"/>
                              <a:ea typeface="+mn-ea"/>
                              <a:cs typeface="+mn-cs"/>
                            </a:rPr>
                            <m:t>𝐷</m:t>
                          </m:r>
                        </m:e>
                      </m:d>
                    </m:oMath>
                  </m:oMathPara>
                </a14:m>
                <a:endParaRPr lang="en-US" dirty="0"/>
              </a:p>
              <a:p>
                <a:r>
                  <a:rPr lang="en-US" dirty="0"/>
                  <a:t>FDs:</a:t>
                </a:r>
              </a:p>
              <a:p>
                <a:pPr/>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𝐴</m:t>
                      </m:r>
                      <m:r>
                        <a:rPr lang="en-US" sz="1200" i="0" kern="1200">
                          <a:solidFill>
                            <a:schemeClr val="tx1"/>
                          </a:solidFill>
                          <a:latin typeface="Cambria Math" panose="02040503050406030204" pitchFamily="18" charset="0"/>
                          <a:ea typeface="+mn-ea"/>
                          <a:cs typeface="+mn-cs"/>
                        </a:rPr>
                        <m:t>→</m:t>
                      </m:r>
                      <m:r>
                        <a:rPr lang="en-US" sz="1200" i="1" kern="1200">
                          <a:solidFill>
                            <a:schemeClr val="tx1"/>
                          </a:solidFill>
                          <a:latin typeface="Cambria Math" panose="02040503050406030204" pitchFamily="18" charset="0"/>
                          <a:ea typeface="+mn-ea"/>
                          <a:cs typeface="+mn-cs"/>
                        </a:rPr>
                        <m:t>𝐵</m:t>
                      </m:r>
                    </m:oMath>
                  </m:oMathPara>
                </a14:m>
                <a:endParaRPr lang="en-US" dirty="0"/>
              </a:p>
              <a:p>
                <a:pPr/>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𝐵</m:t>
                      </m:r>
                      <m:r>
                        <a:rPr lang="en-US" sz="1200" i="0" kern="1200">
                          <a:solidFill>
                            <a:schemeClr val="tx1"/>
                          </a:solidFill>
                          <a:latin typeface="Cambria Math" panose="02040503050406030204" pitchFamily="18" charset="0"/>
                          <a:ea typeface="+mn-ea"/>
                          <a:cs typeface="+mn-cs"/>
                        </a:rPr>
                        <m:t>→</m:t>
                      </m:r>
                      <m:r>
                        <a:rPr lang="en-US" sz="1200" i="1" kern="1200">
                          <a:solidFill>
                            <a:schemeClr val="tx1"/>
                          </a:solidFill>
                          <a:latin typeface="Cambria Math" panose="02040503050406030204" pitchFamily="18" charset="0"/>
                          <a:ea typeface="+mn-ea"/>
                          <a:cs typeface="+mn-cs"/>
                        </a:rPr>
                        <m:t>𝐶</m:t>
                      </m:r>
                    </m:oMath>
                  </m:oMathPara>
                </a14:m>
                <a:endParaRPr lang="en-US" dirty="0"/>
              </a:p>
              <a:p>
                <a:pPr/>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𝐶</m:t>
                      </m:r>
                      <m:r>
                        <a:rPr lang="en-US" sz="1200" i="0" kern="1200">
                          <a:solidFill>
                            <a:schemeClr val="tx1"/>
                          </a:solidFill>
                          <a:latin typeface="Cambria Math" panose="02040503050406030204" pitchFamily="18" charset="0"/>
                          <a:ea typeface="+mn-ea"/>
                          <a:cs typeface="+mn-cs"/>
                        </a:rPr>
                        <m:t>→</m:t>
                      </m:r>
                      <m:r>
                        <a:rPr lang="en-US" sz="1200" i="1" kern="1200">
                          <a:solidFill>
                            <a:schemeClr val="tx1"/>
                          </a:solidFill>
                          <a:latin typeface="Cambria Math" panose="02040503050406030204" pitchFamily="18" charset="0"/>
                          <a:ea typeface="+mn-ea"/>
                          <a:cs typeface="+mn-cs"/>
                        </a:rPr>
                        <m:t>𝐷</m:t>
                      </m:r>
                    </m:oMath>
                  </m:oMathPara>
                </a14:m>
                <a:endParaRPr lang="en-US" dirty="0"/>
              </a:p>
              <a:p>
                <a:br>
                  <a:rPr lang="en-US" dirty="0"/>
                </a:br>
                <a:endParaRPr lang="en-US" dirty="0"/>
              </a:p>
              <a:p>
                <a:r>
                  <a:rPr lang="en-US" b="1" dirty="0"/>
                  <a:t>Find A⁺</a:t>
                </a:r>
              </a:p>
              <a:p>
                <a:pPr/>
                <a14:m>
                  <m:oMathPara xmlns:m="http://schemas.openxmlformats.org/officeDocument/2006/math">
                    <m:oMathParaPr>
                      <m:jc m:val="centerGroup"/>
                    </m:oMathParaPr>
                    <m:oMath xmlns:m="http://schemas.openxmlformats.org/officeDocument/2006/math">
                      <m:sSup>
                        <m:sSupPr>
                          <m:ctrlPr>
                            <a:rPr lang="en-US" sz="1200" i="1" kern="1200">
                              <a:solidFill>
                                <a:schemeClr val="tx1"/>
                              </a:solidFill>
                              <a:latin typeface="Cambria Math" panose="02040503050406030204" pitchFamily="18" charset="0"/>
                              <a:ea typeface="+mn-ea"/>
                              <a:cs typeface="+mn-cs"/>
                            </a:rPr>
                          </m:ctrlPr>
                        </m:sSupPr>
                        <m:e>
                          <m:r>
                            <a:rPr lang="en-US" sz="1200" i="1" kern="1200">
                              <a:solidFill>
                                <a:schemeClr val="tx1"/>
                              </a:solidFill>
                              <a:latin typeface="Cambria Math" panose="02040503050406030204" pitchFamily="18" charset="0"/>
                              <a:ea typeface="+mn-ea"/>
                              <a:cs typeface="+mn-cs"/>
                            </a:rPr>
                            <m:t>𝐴</m:t>
                          </m:r>
                        </m:e>
                        <m:sup>
                          <m:r>
                            <a:rPr lang="en-US" sz="1200" i="0" kern="1200">
                              <a:solidFill>
                                <a:schemeClr val="tx1"/>
                              </a:solidFill>
                              <a:latin typeface="Cambria Math" panose="02040503050406030204" pitchFamily="18" charset="0"/>
                              <a:ea typeface="+mn-ea"/>
                              <a:cs typeface="+mn-cs"/>
                            </a:rPr>
                            <m:t>+</m:t>
                          </m:r>
                        </m:sup>
                      </m:sSup>
                      <m:r>
                        <a:rPr lang="en-US" sz="1200" i="0" kern="1200">
                          <a:solidFill>
                            <a:schemeClr val="tx1"/>
                          </a:solidFill>
                          <a:latin typeface="Cambria Math" panose="02040503050406030204" pitchFamily="18" charset="0"/>
                          <a:ea typeface="+mn-ea"/>
                          <a:cs typeface="+mn-cs"/>
                        </a:rPr>
                        <m:t>=</m:t>
                      </m:r>
                      <m:d>
                        <m:dPr>
                          <m:begChr m:val="{"/>
                          <m:endChr m:val="}"/>
                          <m:sepChr m:val=","/>
                          <m:ctrlPr>
                            <a:rPr lang="en-US" sz="1200" i="1" kern="1200">
                              <a:solidFill>
                                <a:schemeClr val="tx1"/>
                              </a:solidFill>
                              <a:latin typeface="Cambria Math" panose="02040503050406030204" pitchFamily="18" charset="0"/>
                              <a:ea typeface="+mn-ea"/>
                              <a:cs typeface="+mn-cs"/>
                            </a:rPr>
                          </m:ctrlPr>
                        </m:dPr>
                        <m:e>
                          <m:r>
                            <a:rPr lang="en-US" sz="1200" i="1" kern="1200">
                              <a:solidFill>
                                <a:schemeClr val="tx1"/>
                              </a:solidFill>
                              <a:latin typeface="Cambria Math" panose="02040503050406030204" pitchFamily="18" charset="0"/>
                              <a:ea typeface="+mn-ea"/>
                              <a:cs typeface="+mn-cs"/>
                            </a:rPr>
                            <m:t>𝐴</m:t>
                          </m:r>
                        </m:e>
                        <m:e>
                          <m:r>
                            <a:rPr lang="en-US" sz="1200" i="1" kern="1200">
                              <a:solidFill>
                                <a:schemeClr val="tx1"/>
                              </a:solidFill>
                              <a:latin typeface="Cambria Math" panose="02040503050406030204" pitchFamily="18" charset="0"/>
                              <a:ea typeface="+mn-ea"/>
                              <a:cs typeface="+mn-cs"/>
                            </a:rPr>
                            <m:t>𝐵</m:t>
                          </m:r>
                        </m:e>
                        <m:e>
                          <m:r>
                            <a:rPr lang="en-US" sz="1200" i="1" kern="1200">
                              <a:solidFill>
                                <a:schemeClr val="tx1"/>
                              </a:solidFill>
                              <a:latin typeface="Cambria Math" panose="02040503050406030204" pitchFamily="18" charset="0"/>
                              <a:ea typeface="+mn-ea"/>
                              <a:cs typeface="+mn-cs"/>
                            </a:rPr>
                            <m:t>𝐶</m:t>
                          </m:r>
                        </m:e>
                        <m:e>
                          <m:r>
                            <a:rPr lang="en-US" sz="1200" i="1" kern="1200">
                              <a:solidFill>
                                <a:schemeClr val="tx1"/>
                              </a:solidFill>
                              <a:latin typeface="Cambria Math" panose="02040503050406030204" pitchFamily="18" charset="0"/>
                              <a:ea typeface="+mn-ea"/>
                              <a:cs typeface="+mn-cs"/>
                            </a:rPr>
                            <m:t>𝐷</m:t>
                          </m:r>
                        </m:e>
                      </m:d>
                    </m:oMath>
                  </m:oMathPara>
                </a14:m>
                <a:endParaRPr lang="en-US" dirty="0"/>
              </a:p>
              <a:p>
                <a:r>
                  <a:rPr lang="en-US" dirty="0"/>
                  <a:t>Contains all attributes.</a:t>
                </a:r>
              </a:p>
              <a:p>
                <a:r>
                  <a:rPr lang="en-US" dirty="0"/>
                  <a:t>So A is a Super Key.</a:t>
                </a:r>
              </a:p>
              <a:p>
                <a:r>
                  <a:rPr lang="en-US" dirty="0"/>
                  <a:t>Since A has only one attribute, nothing can be removed.</a:t>
                </a:r>
              </a:p>
              <a:p>
                <a:r>
                  <a:rPr lang="en-US" dirty="0"/>
                  <a:t>Therefore:</a:t>
                </a:r>
              </a:p>
              <a:p>
                <a:r>
                  <a:rPr lang="en-US" b="1" dirty="0"/>
                  <a:t>Candidate Key = {A}</a:t>
                </a:r>
                <a:endParaRPr lang="en-US" dirty="0"/>
              </a:p>
              <a:p>
                <a:br>
                  <a:rPr lang="en-US" dirty="0"/>
                </a:br>
                <a:endParaRPr lang="en-US" dirty="0"/>
              </a:p>
              <a:p>
                <a:r>
                  <a:rPr lang="en-US" b="1" dirty="0"/>
                  <a:t>Example 2</a:t>
                </a:r>
              </a:p>
              <a:p>
                <a:r>
                  <a:rPr lang="en-US" dirty="0"/>
                  <a:t>Relation:</a:t>
                </a:r>
              </a:p>
              <a:p>
                <a:pPr/>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𝑅</m:t>
                      </m:r>
                      <m:d>
                        <m:dPr>
                          <m:sepChr m:val=","/>
                          <m:ctrlPr>
                            <a:rPr lang="en-US" sz="1200" i="1" kern="1200">
                              <a:solidFill>
                                <a:schemeClr val="tx1"/>
                              </a:solidFill>
                              <a:latin typeface="Cambria Math" panose="02040503050406030204" pitchFamily="18" charset="0"/>
                              <a:ea typeface="+mn-ea"/>
                              <a:cs typeface="+mn-cs"/>
                            </a:rPr>
                          </m:ctrlPr>
                        </m:dPr>
                        <m:e>
                          <m:r>
                            <a:rPr lang="en-US" sz="1200" i="1" kern="1200">
                              <a:solidFill>
                                <a:schemeClr val="tx1"/>
                              </a:solidFill>
                              <a:latin typeface="Cambria Math" panose="02040503050406030204" pitchFamily="18" charset="0"/>
                              <a:ea typeface="+mn-ea"/>
                              <a:cs typeface="+mn-cs"/>
                            </a:rPr>
                            <m:t>𝐴</m:t>
                          </m:r>
                        </m:e>
                        <m:e>
                          <m:r>
                            <a:rPr lang="en-US" sz="1200" i="1" kern="1200">
                              <a:solidFill>
                                <a:schemeClr val="tx1"/>
                              </a:solidFill>
                              <a:latin typeface="Cambria Math" panose="02040503050406030204" pitchFamily="18" charset="0"/>
                              <a:ea typeface="+mn-ea"/>
                              <a:cs typeface="+mn-cs"/>
                            </a:rPr>
                            <m:t>𝐵</m:t>
                          </m:r>
                        </m:e>
                        <m:e>
                          <m:r>
                            <a:rPr lang="en-US" sz="1200" i="1" kern="1200">
                              <a:solidFill>
                                <a:schemeClr val="tx1"/>
                              </a:solidFill>
                              <a:latin typeface="Cambria Math" panose="02040503050406030204" pitchFamily="18" charset="0"/>
                              <a:ea typeface="+mn-ea"/>
                              <a:cs typeface="+mn-cs"/>
                            </a:rPr>
                            <m:t>𝐶</m:t>
                          </m:r>
                        </m:e>
                        <m:e>
                          <m:r>
                            <a:rPr lang="en-US" sz="1200" i="1" kern="1200">
                              <a:solidFill>
                                <a:schemeClr val="tx1"/>
                              </a:solidFill>
                              <a:latin typeface="Cambria Math" panose="02040503050406030204" pitchFamily="18" charset="0"/>
                              <a:ea typeface="+mn-ea"/>
                              <a:cs typeface="+mn-cs"/>
                            </a:rPr>
                            <m:t>𝐷</m:t>
                          </m:r>
                        </m:e>
                      </m:d>
                    </m:oMath>
                  </m:oMathPara>
                </a14:m>
                <a:endParaRPr lang="en-US" dirty="0"/>
              </a:p>
              <a:p>
                <a:r>
                  <a:rPr lang="en-US" dirty="0"/>
                  <a:t>FDs:</a:t>
                </a:r>
              </a:p>
              <a:p>
                <a:pPr/>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𝐴</m:t>
                      </m:r>
                      <m:r>
                        <a:rPr lang="en-US" sz="1200" i="0" kern="1200">
                          <a:solidFill>
                            <a:schemeClr val="tx1"/>
                          </a:solidFill>
                          <a:latin typeface="Cambria Math" panose="02040503050406030204" pitchFamily="18" charset="0"/>
                          <a:ea typeface="+mn-ea"/>
                          <a:cs typeface="+mn-cs"/>
                        </a:rPr>
                        <m:t>→</m:t>
                      </m:r>
                      <m:r>
                        <a:rPr lang="en-US" sz="1200" i="1" kern="1200">
                          <a:solidFill>
                            <a:schemeClr val="tx1"/>
                          </a:solidFill>
                          <a:latin typeface="Cambria Math" panose="02040503050406030204" pitchFamily="18" charset="0"/>
                          <a:ea typeface="+mn-ea"/>
                          <a:cs typeface="+mn-cs"/>
                        </a:rPr>
                        <m:t>𝐵</m:t>
                      </m:r>
                    </m:oMath>
                  </m:oMathPara>
                </a14:m>
                <a:endParaRPr lang="en-US" dirty="0"/>
              </a:p>
              <a:p>
                <a:pPr/>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𝐶</m:t>
                      </m:r>
                      <m:r>
                        <a:rPr lang="en-US" sz="1200" i="0" kern="1200">
                          <a:solidFill>
                            <a:schemeClr val="tx1"/>
                          </a:solidFill>
                          <a:latin typeface="Cambria Math" panose="02040503050406030204" pitchFamily="18" charset="0"/>
                          <a:ea typeface="+mn-ea"/>
                          <a:cs typeface="+mn-cs"/>
                        </a:rPr>
                        <m:t>→</m:t>
                      </m:r>
                      <m:r>
                        <a:rPr lang="en-US" sz="1200" i="1" kern="1200">
                          <a:solidFill>
                            <a:schemeClr val="tx1"/>
                          </a:solidFill>
                          <a:latin typeface="Cambria Math" panose="02040503050406030204" pitchFamily="18" charset="0"/>
                          <a:ea typeface="+mn-ea"/>
                          <a:cs typeface="+mn-cs"/>
                        </a:rPr>
                        <m:t>𝐷</m:t>
                      </m:r>
                    </m:oMath>
                  </m:oMathPara>
                </a14:m>
                <a:endParaRPr lang="en-US" dirty="0"/>
              </a:p>
              <a:p>
                <a:br>
                  <a:rPr lang="en-US" dirty="0"/>
                </a:br>
                <a:endParaRPr lang="en-US" dirty="0"/>
              </a:p>
              <a:p>
                <a:r>
                  <a:rPr lang="en-US" b="1" dirty="0"/>
                  <a:t>Find AC⁺</a:t>
                </a:r>
              </a:p>
              <a:p>
                <a:r>
                  <a:rPr lang="en-US" dirty="0"/>
                  <a:t>Start:</a:t>
                </a:r>
              </a:p>
              <a:p>
                <a:pPr/>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𝐴</m:t>
                      </m:r>
                      <m:sSup>
                        <m:sSupPr>
                          <m:ctrlPr>
                            <a:rPr lang="en-US" sz="1200" i="1" kern="1200">
                              <a:solidFill>
                                <a:schemeClr val="tx1"/>
                              </a:solidFill>
                              <a:latin typeface="Cambria Math" panose="02040503050406030204" pitchFamily="18" charset="0"/>
                              <a:ea typeface="+mn-ea"/>
                              <a:cs typeface="+mn-cs"/>
                            </a:rPr>
                          </m:ctrlPr>
                        </m:sSupPr>
                        <m:e>
                          <m:r>
                            <a:rPr lang="en-US" sz="1200" i="1" kern="1200">
                              <a:solidFill>
                                <a:schemeClr val="tx1"/>
                              </a:solidFill>
                              <a:latin typeface="Cambria Math" panose="02040503050406030204" pitchFamily="18" charset="0"/>
                              <a:ea typeface="+mn-ea"/>
                              <a:cs typeface="+mn-cs"/>
                            </a:rPr>
                            <m:t>𝐶</m:t>
                          </m:r>
                        </m:e>
                        <m:sup>
                          <m:r>
                            <a:rPr lang="en-US" sz="1200" i="0" kern="1200">
                              <a:solidFill>
                                <a:schemeClr val="tx1"/>
                              </a:solidFill>
                              <a:latin typeface="Cambria Math" panose="02040503050406030204" pitchFamily="18" charset="0"/>
                              <a:ea typeface="+mn-ea"/>
                              <a:cs typeface="+mn-cs"/>
                            </a:rPr>
                            <m:t>+</m:t>
                          </m:r>
                        </m:sup>
                      </m:sSup>
                      <m:r>
                        <a:rPr lang="en-US" sz="1200" i="0" kern="1200">
                          <a:solidFill>
                            <a:schemeClr val="tx1"/>
                          </a:solidFill>
                          <a:latin typeface="Cambria Math" panose="02040503050406030204" pitchFamily="18" charset="0"/>
                          <a:ea typeface="+mn-ea"/>
                          <a:cs typeface="+mn-cs"/>
                        </a:rPr>
                        <m:t>=</m:t>
                      </m:r>
                      <m:d>
                        <m:dPr>
                          <m:begChr m:val="{"/>
                          <m:endChr m:val="}"/>
                          <m:sepChr m:val=","/>
                          <m:ctrlPr>
                            <a:rPr lang="en-US" sz="1200" i="1" kern="1200">
                              <a:solidFill>
                                <a:schemeClr val="tx1"/>
                              </a:solidFill>
                              <a:latin typeface="Cambria Math" panose="02040503050406030204" pitchFamily="18" charset="0"/>
                              <a:ea typeface="+mn-ea"/>
                              <a:cs typeface="+mn-cs"/>
                            </a:rPr>
                          </m:ctrlPr>
                        </m:dPr>
                        <m:e>
                          <m:r>
                            <a:rPr lang="en-US" sz="1200" i="1" kern="1200">
                              <a:solidFill>
                                <a:schemeClr val="tx1"/>
                              </a:solidFill>
                              <a:latin typeface="Cambria Math" panose="02040503050406030204" pitchFamily="18" charset="0"/>
                              <a:ea typeface="+mn-ea"/>
                              <a:cs typeface="+mn-cs"/>
                            </a:rPr>
                            <m:t>𝐴</m:t>
                          </m:r>
                        </m:e>
                        <m:e>
                          <m:r>
                            <a:rPr lang="en-US" sz="1200" i="1" kern="1200">
                              <a:solidFill>
                                <a:schemeClr val="tx1"/>
                              </a:solidFill>
                              <a:latin typeface="Cambria Math" panose="02040503050406030204" pitchFamily="18" charset="0"/>
                              <a:ea typeface="+mn-ea"/>
                              <a:cs typeface="+mn-cs"/>
                            </a:rPr>
                            <m:t>𝐶</m:t>
                          </m:r>
                        </m:e>
                      </m:d>
                    </m:oMath>
                  </m:oMathPara>
                </a14:m>
                <a:endParaRPr lang="en-US" dirty="0"/>
              </a:p>
              <a:p>
                <a:r>
                  <a:rPr lang="en-US" dirty="0"/>
                  <a:t>Apply:</a:t>
                </a:r>
              </a:p>
              <a:p>
                <a:pPr/>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𝐴</m:t>
                      </m:r>
                      <m:r>
                        <a:rPr lang="en-US" sz="1200" i="0" kern="1200">
                          <a:solidFill>
                            <a:schemeClr val="tx1"/>
                          </a:solidFill>
                          <a:latin typeface="Cambria Math" panose="02040503050406030204" pitchFamily="18" charset="0"/>
                          <a:ea typeface="+mn-ea"/>
                          <a:cs typeface="+mn-cs"/>
                        </a:rPr>
                        <m:t>→</m:t>
                      </m:r>
                      <m:r>
                        <a:rPr lang="en-US" sz="1200" i="1" kern="1200">
                          <a:solidFill>
                            <a:schemeClr val="tx1"/>
                          </a:solidFill>
                          <a:latin typeface="Cambria Math" panose="02040503050406030204" pitchFamily="18" charset="0"/>
                          <a:ea typeface="+mn-ea"/>
                          <a:cs typeface="+mn-cs"/>
                        </a:rPr>
                        <m:t>𝐵</m:t>
                      </m:r>
                    </m:oMath>
                  </m:oMathPara>
                </a14:m>
                <a:endParaRPr lang="en-US" dirty="0"/>
              </a:p>
              <a:p>
                <a:pPr/>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𝐴</m:t>
                      </m:r>
                      <m:sSup>
                        <m:sSupPr>
                          <m:ctrlPr>
                            <a:rPr lang="en-US" sz="1200" i="1" kern="1200">
                              <a:solidFill>
                                <a:schemeClr val="tx1"/>
                              </a:solidFill>
                              <a:latin typeface="Cambria Math" panose="02040503050406030204" pitchFamily="18" charset="0"/>
                              <a:ea typeface="+mn-ea"/>
                              <a:cs typeface="+mn-cs"/>
                            </a:rPr>
                          </m:ctrlPr>
                        </m:sSupPr>
                        <m:e>
                          <m:r>
                            <a:rPr lang="en-US" sz="1200" i="1" kern="1200">
                              <a:solidFill>
                                <a:schemeClr val="tx1"/>
                              </a:solidFill>
                              <a:latin typeface="Cambria Math" panose="02040503050406030204" pitchFamily="18" charset="0"/>
                              <a:ea typeface="+mn-ea"/>
                              <a:cs typeface="+mn-cs"/>
                            </a:rPr>
                            <m:t>𝐶</m:t>
                          </m:r>
                        </m:e>
                        <m:sup>
                          <m:r>
                            <a:rPr lang="en-US" sz="1200" i="0" kern="1200">
                              <a:solidFill>
                                <a:schemeClr val="tx1"/>
                              </a:solidFill>
                              <a:latin typeface="Cambria Math" panose="02040503050406030204" pitchFamily="18" charset="0"/>
                              <a:ea typeface="+mn-ea"/>
                              <a:cs typeface="+mn-cs"/>
                            </a:rPr>
                            <m:t>+</m:t>
                          </m:r>
                        </m:sup>
                      </m:sSup>
                      <m:r>
                        <a:rPr lang="en-US" sz="1200" i="0" kern="1200">
                          <a:solidFill>
                            <a:schemeClr val="tx1"/>
                          </a:solidFill>
                          <a:latin typeface="Cambria Math" panose="02040503050406030204" pitchFamily="18" charset="0"/>
                          <a:ea typeface="+mn-ea"/>
                          <a:cs typeface="+mn-cs"/>
                        </a:rPr>
                        <m:t>=</m:t>
                      </m:r>
                      <m:d>
                        <m:dPr>
                          <m:begChr m:val="{"/>
                          <m:endChr m:val="}"/>
                          <m:sepChr m:val=","/>
                          <m:ctrlPr>
                            <a:rPr lang="en-US" sz="1200" i="1" kern="1200">
                              <a:solidFill>
                                <a:schemeClr val="tx1"/>
                              </a:solidFill>
                              <a:latin typeface="Cambria Math" panose="02040503050406030204" pitchFamily="18" charset="0"/>
                              <a:ea typeface="+mn-ea"/>
                              <a:cs typeface="+mn-cs"/>
                            </a:rPr>
                          </m:ctrlPr>
                        </m:dPr>
                        <m:e>
                          <m:r>
                            <a:rPr lang="en-US" sz="1200" i="1" kern="1200">
                              <a:solidFill>
                                <a:schemeClr val="tx1"/>
                              </a:solidFill>
                              <a:latin typeface="Cambria Math" panose="02040503050406030204" pitchFamily="18" charset="0"/>
                              <a:ea typeface="+mn-ea"/>
                              <a:cs typeface="+mn-cs"/>
                            </a:rPr>
                            <m:t>𝐴</m:t>
                          </m:r>
                        </m:e>
                        <m:e>
                          <m:r>
                            <a:rPr lang="en-US" sz="1200" i="1" kern="1200">
                              <a:solidFill>
                                <a:schemeClr val="tx1"/>
                              </a:solidFill>
                              <a:latin typeface="Cambria Math" panose="02040503050406030204" pitchFamily="18" charset="0"/>
                              <a:ea typeface="+mn-ea"/>
                              <a:cs typeface="+mn-cs"/>
                            </a:rPr>
                            <m:t>𝐵</m:t>
                          </m:r>
                        </m:e>
                        <m:e>
                          <m:r>
                            <a:rPr lang="en-US" sz="1200" i="1" kern="1200">
                              <a:solidFill>
                                <a:schemeClr val="tx1"/>
                              </a:solidFill>
                              <a:latin typeface="Cambria Math" panose="02040503050406030204" pitchFamily="18" charset="0"/>
                              <a:ea typeface="+mn-ea"/>
                              <a:cs typeface="+mn-cs"/>
                            </a:rPr>
                            <m:t>𝐶</m:t>
                          </m:r>
                        </m:e>
                      </m:d>
                    </m:oMath>
                  </m:oMathPara>
                </a14:m>
                <a:endParaRPr lang="en-US" dirty="0"/>
              </a:p>
              <a:p>
                <a:r>
                  <a:rPr lang="en-US" dirty="0"/>
                  <a:t>Apply:</a:t>
                </a:r>
              </a:p>
              <a:p>
                <a:pPr/>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𝐶</m:t>
                      </m:r>
                      <m:r>
                        <a:rPr lang="en-US" sz="1200" i="0" kern="1200">
                          <a:solidFill>
                            <a:schemeClr val="tx1"/>
                          </a:solidFill>
                          <a:latin typeface="Cambria Math" panose="02040503050406030204" pitchFamily="18" charset="0"/>
                          <a:ea typeface="+mn-ea"/>
                          <a:cs typeface="+mn-cs"/>
                        </a:rPr>
                        <m:t>→</m:t>
                      </m:r>
                      <m:r>
                        <a:rPr lang="en-US" sz="1200" i="1" kern="1200">
                          <a:solidFill>
                            <a:schemeClr val="tx1"/>
                          </a:solidFill>
                          <a:latin typeface="Cambria Math" panose="02040503050406030204" pitchFamily="18" charset="0"/>
                          <a:ea typeface="+mn-ea"/>
                          <a:cs typeface="+mn-cs"/>
                        </a:rPr>
                        <m:t>𝐷</m:t>
                      </m:r>
                    </m:oMath>
                  </m:oMathPara>
                </a14:m>
                <a:endParaRPr lang="en-US" dirty="0"/>
              </a:p>
              <a:p>
                <a:pPr/>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𝐴</m:t>
                      </m:r>
                      <m:sSup>
                        <m:sSupPr>
                          <m:ctrlPr>
                            <a:rPr lang="en-US" sz="1200" i="1" kern="1200">
                              <a:solidFill>
                                <a:schemeClr val="tx1"/>
                              </a:solidFill>
                              <a:latin typeface="Cambria Math" panose="02040503050406030204" pitchFamily="18" charset="0"/>
                              <a:ea typeface="+mn-ea"/>
                              <a:cs typeface="+mn-cs"/>
                            </a:rPr>
                          </m:ctrlPr>
                        </m:sSupPr>
                        <m:e>
                          <m:r>
                            <a:rPr lang="en-US" sz="1200" i="1" kern="1200">
                              <a:solidFill>
                                <a:schemeClr val="tx1"/>
                              </a:solidFill>
                              <a:latin typeface="Cambria Math" panose="02040503050406030204" pitchFamily="18" charset="0"/>
                              <a:ea typeface="+mn-ea"/>
                              <a:cs typeface="+mn-cs"/>
                            </a:rPr>
                            <m:t>𝐶</m:t>
                          </m:r>
                        </m:e>
                        <m:sup>
                          <m:r>
                            <a:rPr lang="en-US" sz="1200" i="0" kern="1200">
                              <a:solidFill>
                                <a:schemeClr val="tx1"/>
                              </a:solidFill>
                              <a:latin typeface="Cambria Math" panose="02040503050406030204" pitchFamily="18" charset="0"/>
                              <a:ea typeface="+mn-ea"/>
                              <a:cs typeface="+mn-cs"/>
                            </a:rPr>
                            <m:t>+</m:t>
                          </m:r>
                        </m:sup>
                      </m:sSup>
                      <m:r>
                        <a:rPr lang="en-US" sz="1200" i="0" kern="1200">
                          <a:solidFill>
                            <a:schemeClr val="tx1"/>
                          </a:solidFill>
                          <a:latin typeface="Cambria Math" panose="02040503050406030204" pitchFamily="18" charset="0"/>
                          <a:ea typeface="+mn-ea"/>
                          <a:cs typeface="+mn-cs"/>
                        </a:rPr>
                        <m:t>=</m:t>
                      </m:r>
                      <m:d>
                        <m:dPr>
                          <m:begChr m:val="{"/>
                          <m:endChr m:val="}"/>
                          <m:sepChr m:val=","/>
                          <m:ctrlPr>
                            <a:rPr lang="en-US" sz="1200" i="1" kern="1200">
                              <a:solidFill>
                                <a:schemeClr val="tx1"/>
                              </a:solidFill>
                              <a:latin typeface="Cambria Math" panose="02040503050406030204" pitchFamily="18" charset="0"/>
                              <a:ea typeface="+mn-ea"/>
                              <a:cs typeface="+mn-cs"/>
                            </a:rPr>
                          </m:ctrlPr>
                        </m:dPr>
                        <m:e>
                          <m:r>
                            <a:rPr lang="en-US" sz="1200" i="1" kern="1200">
                              <a:solidFill>
                                <a:schemeClr val="tx1"/>
                              </a:solidFill>
                              <a:latin typeface="Cambria Math" panose="02040503050406030204" pitchFamily="18" charset="0"/>
                              <a:ea typeface="+mn-ea"/>
                              <a:cs typeface="+mn-cs"/>
                            </a:rPr>
                            <m:t>𝐴</m:t>
                          </m:r>
                        </m:e>
                        <m:e>
                          <m:r>
                            <a:rPr lang="en-US" sz="1200" i="1" kern="1200">
                              <a:solidFill>
                                <a:schemeClr val="tx1"/>
                              </a:solidFill>
                              <a:latin typeface="Cambria Math" panose="02040503050406030204" pitchFamily="18" charset="0"/>
                              <a:ea typeface="+mn-ea"/>
                              <a:cs typeface="+mn-cs"/>
                            </a:rPr>
                            <m:t>𝐵</m:t>
                          </m:r>
                        </m:e>
                        <m:e>
                          <m:r>
                            <a:rPr lang="en-US" sz="1200" i="1" kern="1200">
                              <a:solidFill>
                                <a:schemeClr val="tx1"/>
                              </a:solidFill>
                              <a:latin typeface="Cambria Math" panose="02040503050406030204" pitchFamily="18" charset="0"/>
                              <a:ea typeface="+mn-ea"/>
                              <a:cs typeface="+mn-cs"/>
                            </a:rPr>
                            <m:t>𝐶</m:t>
                          </m:r>
                        </m:e>
                        <m:e>
                          <m:r>
                            <a:rPr lang="en-US" sz="1200" i="1" kern="1200">
                              <a:solidFill>
                                <a:schemeClr val="tx1"/>
                              </a:solidFill>
                              <a:latin typeface="Cambria Math" panose="02040503050406030204" pitchFamily="18" charset="0"/>
                              <a:ea typeface="+mn-ea"/>
                              <a:cs typeface="+mn-cs"/>
                            </a:rPr>
                            <m:t>𝐷</m:t>
                          </m:r>
                        </m:e>
                      </m:d>
                    </m:oMath>
                  </m:oMathPara>
                </a14:m>
                <a:endParaRPr lang="en-US" dirty="0"/>
              </a:p>
              <a:p>
                <a:r>
                  <a:rPr lang="en-US" dirty="0"/>
                  <a:t>Contains all attributes.</a:t>
                </a:r>
              </a:p>
              <a:p>
                <a:r>
                  <a:rPr lang="en-US" dirty="0"/>
                  <a:t>So AC is a Super Key.</a:t>
                </a:r>
              </a:p>
              <a:p>
                <a:br>
                  <a:rPr lang="en-US" dirty="0"/>
                </a:br>
                <a:endParaRPr lang="en-US" dirty="0"/>
              </a:p>
              <a:p>
                <a:r>
                  <a:rPr lang="en-US" dirty="0"/>
                  <a:t>Check subsets:</a:t>
                </a:r>
              </a:p>
              <a:p>
                <a:pPr/>
                <a14:m>
                  <m:oMathPara xmlns:m="http://schemas.openxmlformats.org/officeDocument/2006/math">
                    <m:oMathParaPr>
                      <m:jc m:val="centerGroup"/>
                    </m:oMathParaPr>
                    <m:oMath xmlns:m="http://schemas.openxmlformats.org/officeDocument/2006/math">
                      <m:sSup>
                        <m:sSupPr>
                          <m:ctrlPr>
                            <a:rPr lang="en-US" sz="1200" i="1" kern="1200">
                              <a:solidFill>
                                <a:schemeClr val="tx1"/>
                              </a:solidFill>
                              <a:latin typeface="Cambria Math" panose="02040503050406030204" pitchFamily="18" charset="0"/>
                              <a:ea typeface="+mn-ea"/>
                              <a:cs typeface="+mn-cs"/>
                            </a:rPr>
                          </m:ctrlPr>
                        </m:sSupPr>
                        <m:e>
                          <m:r>
                            <a:rPr lang="en-US" sz="1200" i="1" kern="1200">
                              <a:solidFill>
                                <a:schemeClr val="tx1"/>
                              </a:solidFill>
                              <a:latin typeface="Cambria Math" panose="02040503050406030204" pitchFamily="18" charset="0"/>
                              <a:ea typeface="+mn-ea"/>
                              <a:cs typeface="+mn-cs"/>
                            </a:rPr>
                            <m:t>𝐴</m:t>
                          </m:r>
                        </m:e>
                        <m:sup>
                          <m:r>
                            <a:rPr lang="en-US" sz="1200" i="0" kern="1200">
                              <a:solidFill>
                                <a:schemeClr val="tx1"/>
                              </a:solidFill>
                              <a:latin typeface="Cambria Math" panose="02040503050406030204" pitchFamily="18" charset="0"/>
                              <a:ea typeface="+mn-ea"/>
                              <a:cs typeface="+mn-cs"/>
                            </a:rPr>
                            <m:t>+</m:t>
                          </m:r>
                        </m:sup>
                      </m:sSup>
                      <m:r>
                        <a:rPr lang="en-US" sz="1200" i="0" kern="1200">
                          <a:solidFill>
                            <a:schemeClr val="tx1"/>
                          </a:solidFill>
                          <a:latin typeface="Cambria Math" panose="02040503050406030204" pitchFamily="18" charset="0"/>
                          <a:ea typeface="+mn-ea"/>
                          <a:cs typeface="+mn-cs"/>
                        </a:rPr>
                        <m:t>=</m:t>
                      </m:r>
                      <m:d>
                        <m:dPr>
                          <m:begChr m:val="{"/>
                          <m:endChr m:val="}"/>
                          <m:sepChr m:val=","/>
                          <m:ctrlPr>
                            <a:rPr lang="en-US" sz="1200" i="1" kern="1200">
                              <a:solidFill>
                                <a:schemeClr val="tx1"/>
                              </a:solidFill>
                              <a:latin typeface="Cambria Math" panose="02040503050406030204" pitchFamily="18" charset="0"/>
                              <a:ea typeface="+mn-ea"/>
                              <a:cs typeface="+mn-cs"/>
                            </a:rPr>
                          </m:ctrlPr>
                        </m:dPr>
                        <m:e>
                          <m:r>
                            <a:rPr lang="en-US" sz="1200" i="1" kern="1200">
                              <a:solidFill>
                                <a:schemeClr val="tx1"/>
                              </a:solidFill>
                              <a:latin typeface="Cambria Math" panose="02040503050406030204" pitchFamily="18" charset="0"/>
                              <a:ea typeface="+mn-ea"/>
                              <a:cs typeface="+mn-cs"/>
                            </a:rPr>
                            <m:t>𝐴</m:t>
                          </m:r>
                        </m:e>
                        <m:e>
                          <m:r>
                            <a:rPr lang="en-US" sz="1200" i="1" kern="1200">
                              <a:solidFill>
                                <a:schemeClr val="tx1"/>
                              </a:solidFill>
                              <a:latin typeface="Cambria Math" panose="02040503050406030204" pitchFamily="18" charset="0"/>
                              <a:ea typeface="+mn-ea"/>
                              <a:cs typeface="+mn-cs"/>
                            </a:rPr>
                            <m:t>𝐵</m:t>
                          </m:r>
                        </m:e>
                      </m:d>
                    </m:oMath>
                  </m:oMathPara>
                </a14:m>
                <a:endParaRPr lang="en-US" dirty="0"/>
              </a:p>
              <a:p>
                <a:r>
                  <a:rPr lang="en-US" dirty="0"/>
                  <a:t>Not all attributes.</a:t>
                </a:r>
              </a:p>
              <a:p>
                <a:pPr/>
                <a14:m>
                  <m:oMathPara xmlns:m="http://schemas.openxmlformats.org/officeDocument/2006/math">
                    <m:oMathParaPr>
                      <m:jc m:val="centerGroup"/>
                    </m:oMathParaPr>
                    <m:oMath xmlns:m="http://schemas.openxmlformats.org/officeDocument/2006/math">
                      <m:sSup>
                        <m:sSupPr>
                          <m:ctrlPr>
                            <a:rPr lang="en-US" sz="1200" i="1" kern="1200">
                              <a:solidFill>
                                <a:schemeClr val="tx1"/>
                              </a:solidFill>
                              <a:latin typeface="Cambria Math" panose="02040503050406030204" pitchFamily="18" charset="0"/>
                              <a:ea typeface="+mn-ea"/>
                              <a:cs typeface="+mn-cs"/>
                            </a:rPr>
                          </m:ctrlPr>
                        </m:sSupPr>
                        <m:e>
                          <m:r>
                            <a:rPr lang="en-US" sz="1200" i="1" kern="1200">
                              <a:solidFill>
                                <a:schemeClr val="tx1"/>
                              </a:solidFill>
                              <a:latin typeface="Cambria Math" panose="02040503050406030204" pitchFamily="18" charset="0"/>
                              <a:ea typeface="+mn-ea"/>
                              <a:cs typeface="+mn-cs"/>
                            </a:rPr>
                            <m:t>𝐶</m:t>
                          </m:r>
                        </m:e>
                        <m:sup>
                          <m:r>
                            <a:rPr lang="en-US" sz="1200" i="0" kern="1200">
                              <a:solidFill>
                                <a:schemeClr val="tx1"/>
                              </a:solidFill>
                              <a:latin typeface="Cambria Math" panose="02040503050406030204" pitchFamily="18" charset="0"/>
                              <a:ea typeface="+mn-ea"/>
                              <a:cs typeface="+mn-cs"/>
                            </a:rPr>
                            <m:t>+</m:t>
                          </m:r>
                        </m:sup>
                      </m:sSup>
                      <m:r>
                        <a:rPr lang="en-US" sz="1200" i="0" kern="1200">
                          <a:solidFill>
                            <a:schemeClr val="tx1"/>
                          </a:solidFill>
                          <a:latin typeface="Cambria Math" panose="02040503050406030204" pitchFamily="18" charset="0"/>
                          <a:ea typeface="+mn-ea"/>
                          <a:cs typeface="+mn-cs"/>
                        </a:rPr>
                        <m:t>=</m:t>
                      </m:r>
                      <m:d>
                        <m:dPr>
                          <m:begChr m:val="{"/>
                          <m:endChr m:val="}"/>
                          <m:sepChr m:val=","/>
                          <m:ctrlPr>
                            <a:rPr lang="en-US" sz="1200" i="1" kern="1200">
                              <a:solidFill>
                                <a:schemeClr val="tx1"/>
                              </a:solidFill>
                              <a:latin typeface="Cambria Math" panose="02040503050406030204" pitchFamily="18" charset="0"/>
                              <a:ea typeface="+mn-ea"/>
                              <a:cs typeface="+mn-cs"/>
                            </a:rPr>
                          </m:ctrlPr>
                        </m:dPr>
                        <m:e>
                          <m:r>
                            <a:rPr lang="en-US" sz="1200" i="1" kern="1200">
                              <a:solidFill>
                                <a:schemeClr val="tx1"/>
                              </a:solidFill>
                              <a:latin typeface="Cambria Math" panose="02040503050406030204" pitchFamily="18" charset="0"/>
                              <a:ea typeface="+mn-ea"/>
                              <a:cs typeface="+mn-cs"/>
                            </a:rPr>
                            <m:t>𝐶</m:t>
                          </m:r>
                        </m:e>
                        <m:e>
                          <m:r>
                            <a:rPr lang="en-US" sz="1200" i="1" kern="1200">
                              <a:solidFill>
                                <a:schemeClr val="tx1"/>
                              </a:solidFill>
                              <a:latin typeface="Cambria Math" panose="02040503050406030204" pitchFamily="18" charset="0"/>
                              <a:ea typeface="+mn-ea"/>
                              <a:cs typeface="+mn-cs"/>
                            </a:rPr>
                            <m:t>𝐷</m:t>
                          </m:r>
                        </m:e>
                      </m:d>
                    </m:oMath>
                  </m:oMathPara>
                </a14:m>
                <a:endParaRPr lang="en-US" dirty="0"/>
              </a:p>
              <a:p>
                <a:r>
                  <a:rPr lang="en-US" dirty="0"/>
                  <a:t>Not all attributes.</a:t>
                </a:r>
              </a:p>
              <a:p>
                <a:r>
                  <a:rPr lang="en-US" dirty="0"/>
                  <a:t>Therefore neither A nor C alone is sufficient.</a:t>
                </a:r>
              </a:p>
              <a:p>
                <a:r>
                  <a:rPr lang="en-US" dirty="0"/>
                  <a:t>Hence:</a:t>
                </a:r>
              </a:p>
              <a:p>
                <a:r>
                  <a:rPr lang="en-US" b="1" dirty="0"/>
                  <a:t>Candidate Key = {AC}</a:t>
                </a:r>
                <a:endParaRPr lang="en-US" dirty="0"/>
              </a:p>
              <a:p>
                <a:br>
                  <a:rPr lang="en-US" dirty="0"/>
                </a:br>
                <a:endParaRPr lang="en-US" dirty="0"/>
              </a:p>
              <a:p>
                <a:r>
                  <a:rPr lang="en-US" b="1" dirty="0"/>
                  <a:t>Example 3</a:t>
                </a:r>
              </a:p>
              <a:p>
                <a:r>
                  <a:rPr lang="en-US" dirty="0"/>
                  <a:t>Relation:</a:t>
                </a:r>
              </a:p>
              <a:p>
                <a:pPr/>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𝑅</m:t>
                      </m:r>
                      <m:d>
                        <m:dPr>
                          <m:sepChr m:val=","/>
                          <m:ctrlPr>
                            <a:rPr lang="en-US" sz="1200" i="1" kern="1200">
                              <a:solidFill>
                                <a:schemeClr val="tx1"/>
                              </a:solidFill>
                              <a:latin typeface="Cambria Math" panose="02040503050406030204" pitchFamily="18" charset="0"/>
                              <a:ea typeface="+mn-ea"/>
                              <a:cs typeface="+mn-cs"/>
                            </a:rPr>
                          </m:ctrlPr>
                        </m:dPr>
                        <m:e>
                          <m:r>
                            <a:rPr lang="en-US" sz="1200" i="1" kern="1200">
                              <a:solidFill>
                                <a:schemeClr val="tx1"/>
                              </a:solidFill>
                              <a:latin typeface="Cambria Math" panose="02040503050406030204" pitchFamily="18" charset="0"/>
                              <a:ea typeface="+mn-ea"/>
                              <a:cs typeface="+mn-cs"/>
                            </a:rPr>
                            <m:t>𝐴</m:t>
                          </m:r>
                        </m:e>
                        <m:e>
                          <m:r>
                            <a:rPr lang="en-US" sz="1200" i="1" kern="1200">
                              <a:solidFill>
                                <a:schemeClr val="tx1"/>
                              </a:solidFill>
                              <a:latin typeface="Cambria Math" panose="02040503050406030204" pitchFamily="18" charset="0"/>
                              <a:ea typeface="+mn-ea"/>
                              <a:cs typeface="+mn-cs"/>
                            </a:rPr>
                            <m:t>𝐵</m:t>
                          </m:r>
                        </m:e>
                        <m:e>
                          <m:r>
                            <a:rPr lang="en-US" sz="1200" i="1" kern="1200">
                              <a:solidFill>
                                <a:schemeClr val="tx1"/>
                              </a:solidFill>
                              <a:latin typeface="Cambria Math" panose="02040503050406030204" pitchFamily="18" charset="0"/>
                              <a:ea typeface="+mn-ea"/>
                              <a:cs typeface="+mn-cs"/>
                            </a:rPr>
                            <m:t>𝐶</m:t>
                          </m:r>
                        </m:e>
                        <m:e>
                          <m:r>
                            <a:rPr lang="en-US" sz="1200" i="1" kern="1200">
                              <a:solidFill>
                                <a:schemeClr val="tx1"/>
                              </a:solidFill>
                              <a:latin typeface="Cambria Math" panose="02040503050406030204" pitchFamily="18" charset="0"/>
                              <a:ea typeface="+mn-ea"/>
                              <a:cs typeface="+mn-cs"/>
                            </a:rPr>
                            <m:t>𝐷</m:t>
                          </m:r>
                        </m:e>
                        <m:e>
                          <m:r>
                            <a:rPr lang="en-US" sz="1200" i="1" kern="1200">
                              <a:solidFill>
                                <a:schemeClr val="tx1"/>
                              </a:solidFill>
                              <a:latin typeface="Cambria Math" panose="02040503050406030204" pitchFamily="18" charset="0"/>
                              <a:ea typeface="+mn-ea"/>
                              <a:cs typeface="+mn-cs"/>
                            </a:rPr>
                            <m:t>𝐸</m:t>
                          </m:r>
                        </m:e>
                        <m:e>
                          <m:r>
                            <a:rPr lang="en-US" sz="1200" i="1" kern="1200">
                              <a:solidFill>
                                <a:schemeClr val="tx1"/>
                              </a:solidFill>
                              <a:latin typeface="Cambria Math" panose="02040503050406030204" pitchFamily="18" charset="0"/>
                              <a:ea typeface="+mn-ea"/>
                              <a:cs typeface="+mn-cs"/>
                            </a:rPr>
                            <m:t>𝐹</m:t>
                          </m:r>
                        </m:e>
                      </m:d>
                    </m:oMath>
                  </m:oMathPara>
                </a14:m>
                <a:endParaRPr lang="en-US" dirty="0"/>
              </a:p>
              <a:p>
                <a:r>
                  <a:rPr lang="en-US" dirty="0"/>
                  <a:t>FDs:</a:t>
                </a:r>
              </a:p>
              <a:p>
                <a:pPr/>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𝐴</m:t>
                      </m:r>
                      <m:r>
                        <a:rPr lang="en-US" sz="1200" i="0" kern="1200">
                          <a:solidFill>
                            <a:schemeClr val="tx1"/>
                          </a:solidFill>
                          <a:latin typeface="Cambria Math" panose="02040503050406030204" pitchFamily="18" charset="0"/>
                          <a:ea typeface="+mn-ea"/>
                          <a:cs typeface="+mn-cs"/>
                        </a:rPr>
                        <m:t>→</m:t>
                      </m:r>
                      <m:r>
                        <a:rPr lang="en-US" sz="1200" i="1" kern="1200">
                          <a:solidFill>
                            <a:schemeClr val="tx1"/>
                          </a:solidFill>
                          <a:latin typeface="Cambria Math" panose="02040503050406030204" pitchFamily="18" charset="0"/>
                          <a:ea typeface="+mn-ea"/>
                          <a:cs typeface="+mn-cs"/>
                        </a:rPr>
                        <m:t>𝐵𝐶</m:t>
                      </m:r>
                    </m:oMath>
                  </m:oMathPara>
                </a14:m>
                <a:endParaRPr lang="en-US" dirty="0"/>
              </a:p>
              <a:p>
                <a:pPr/>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𝐵</m:t>
                      </m:r>
                      <m:r>
                        <a:rPr lang="en-US" sz="1200" i="0" kern="1200">
                          <a:solidFill>
                            <a:schemeClr val="tx1"/>
                          </a:solidFill>
                          <a:latin typeface="Cambria Math" panose="02040503050406030204" pitchFamily="18" charset="0"/>
                          <a:ea typeface="+mn-ea"/>
                          <a:cs typeface="+mn-cs"/>
                        </a:rPr>
                        <m:t>→</m:t>
                      </m:r>
                      <m:r>
                        <a:rPr lang="en-US" sz="1200" i="1" kern="1200">
                          <a:solidFill>
                            <a:schemeClr val="tx1"/>
                          </a:solidFill>
                          <a:latin typeface="Cambria Math" panose="02040503050406030204" pitchFamily="18" charset="0"/>
                          <a:ea typeface="+mn-ea"/>
                          <a:cs typeface="+mn-cs"/>
                        </a:rPr>
                        <m:t>𝐸</m:t>
                      </m:r>
                    </m:oMath>
                  </m:oMathPara>
                </a14:m>
                <a:endParaRPr lang="en-US" dirty="0"/>
              </a:p>
              <a:p>
                <a:pPr/>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𝐶</m:t>
                      </m:r>
                      <m:r>
                        <a:rPr lang="en-US" sz="1200" i="0" kern="1200">
                          <a:solidFill>
                            <a:schemeClr val="tx1"/>
                          </a:solidFill>
                          <a:latin typeface="Cambria Math" panose="02040503050406030204" pitchFamily="18" charset="0"/>
                          <a:ea typeface="+mn-ea"/>
                          <a:cs typeface="+mn-cs"/>
                        </a:rPr>
                        <m:t>→</m:t>
                      </m:r>
                      <m:r>
                        <a:rPr lang="en-US" sz="1200" i="1" kern="1200">
                          <a:solidFill>
                            <a:schemeClr val="tx1"/>
                          </a:solidFill>
                          <a:latin typeface="Cambria Math" panose="02040503050406030204" pitchFamily="18" charset="0"/>
                          <a:ea typeface="+mn-ea"/>
                          <a:cs typeface="+mn-cs"/>
                        </a:rPr>
                        <m:t>𝐸𝐹</m:t>
                      </m:r>
                    </m:oMath>
                  </m:oMathPara>
                </a14:m>
                <a:endParaRPr lang="en-US" dirty="0"/>
              </a:p>
              <a:p>
                <a:pPr/>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𝐸</m:t>
                      </m:r>
                      <m:r>
                        <a:rPr lang="en-US" sz="1200" i="0" kern="1200">
                          <a:solidFill>
                            <a:schemeClr val="tx1"/>
                          </a:solidFill>
                          <a:latin typeface="Cambria Math" panose="02040503050406030204" pitchFamily="18" charset="0"/>
                          <a:ea typeface="+mn-ea"/>
                          <a:cs typeface="+mn-cs"/>
                        </a:rPr>
                        <m:t>→</m:t>
                      </m:r>
                      <m:r>
                        <a:rPr lang="en-US" sz="1200" i="1" kern="1200">
                          <a:solidFill>
                            <a:schemeClr val="tx1"/>
                          </a:solidFill>
                          <a:latin typeface="Cambria Math" panose="02040503050406030204" pitchFamily="18" charset="0"/>
                          <a:ea typeface="+mn-ea"/>
                          <a:cs typeface="+mn-cs"/>
                        </a:rPr>
                        <m:t>𝐶𝐹</m:t>
                      </m:r>
                    </m:oMath>
                  </m:oMathPara>
                </a14:m>
                <a:endParaRPr lang="en-US" dirty="0"/>
              </a:p>
              <a:p>
                <a:br>
                  <a:rPr lang="en-US" dirty="0"/>
                </a:br>
                <a:endParaRPr lang="en-US" dirty="0"/>
              </a:p>
              <a:p>
                <a:r>
                  <a:rPr lang="en-US" b="1" dirty="0"/>
                  <a:t>Step 1: Find attributes not on RHS</a:t>
                </a:r>
              </a:p>
              <a:p>
                <a:r>
                  <a:rPr lang="en-US" dirty="0"/>
                  <a:t>RHS contains:</a:t>
                </a:r>
              </a:p>
              <a:p>
                <a:pPr/>
                <a14:m>
                  <m:oMathPara xmlns:m="http://schemas.openxmlformats.org/officeDocument/2006/math">
                    <m:oMathParaPr>
                      <m:jc m:val="centerGroup"/>
                    </m:oMathParaPr>
                    <m:oMath xmlns:m="http://schemas.openxmlformats.org/officeDocument/2006/math">
                      <m:d>
                        <m:dPr>
                          <m:begChr m:val="{"/>
                          <m:endChr m:val="}"/>
                          <m:sepChr m:val=","/>
                          <m:ctrlPr>
                            <a:rPr lang="en-US" sz="1200" i="1" kern="1200">
                              <a:solidFill>
                                <a:schemeClr val="tx1"/>
                              </a:solidFill>
                              <a:latin typeface="Cambria Math" panose="02040503050406030204" pitchFamily="18" charset="0"/>
                              <a:ea typeface="+mn-ea"/>
                              <a:cs typeface="+mn-cs"/>
                            </a:rPr>
                          </m:ctrlPr>
                        </m:dPr>
                        <m:e>
                          <m:r>
                            <a:rPr lang="en-US" sz="1200" i="1" kern="1200">
                              <a:solidFill>
                                <a:schemeClr val="tx1"/>
                              </a:solidFill>
                              <a:latin typeface="Cambria Math" panose="02040503050406030204" pitchFamily="18" charset="0"/>
                              <a:ea typeface="+mn-ea"/>
                              <a:cs typeface="+mn-cs"/>
                            </a:rPr>
                            <m:t>𝐵</m:t>
                          </m:r>
                        </m:e>
                        <m:e>
                          <m:r>
                            <a:rPr lang="en-US" sz="1200" i="1" kern="1200">
                              <a:solidFill>
                                <a:schemeClr val="tx1"/>
                              </a:solidFill>
                              <a:latin typeface="Cambria Math" panose="02040503050406030204" pitchFamily="18" charset="0"/>
                              <a:ea typeface="+mn-ea"/>
                              <a:cs typeface="+mn-cs"/>
                            </a:rPr>
                            <m:t>𝐶</m:t>
                          </m:r>
                        </m:e>
                        <m:e>
                          <m:r>
                            <a:rPr lang="en-US" sz="1200" i="1" kern="1200">
                              <a:solidFill>
                                <a:schemeClr val="tx1"/>
                              </a:solidFill>
                              <a:latin typeface="Cambria Math" panose="02040503050406030204" pitchFamily="18" charset="0"/>
                              <a:ea typeface="+mn-ea"/>
                              <a:cs typeface="+mn-cs"/>
                            </a:rPr>
                            <m:t>𝐸</m:t>
                          </m:r>
                        </m:e>
                        <m:e>
                          <m:r>
                            <a:rPr lang="en-US" sz="1200" i="1" kern="1200">
                              <a:solidFill>
                                <a:schemeClr val="tx1"/>
                              </a:solidFill>
                              <a:latin typeface="Cambria Math" panose="02040503050406030204" pitchFamily="18" charset="0"/>
                              <a:ea typeface="+mn-ea"/>
                              <a:cs typeface="+mn-cs"/>
                            </a:rPr>
                            <m:t>𝐹</m:t>
                          </m:r>
                        </m:e>
                      </m:d>
                    </m:oMath>
                  </m:oMathPara>
                </a14:m>
                <a:endParaRPr lang="en-US" dirty="0"/>
              </a:p>
              <a:p>
                <a:r>
                  <a:rPr lang="en-US" dirty="0"/>
                  <a:t>Attributes not on RHS:</a:t>
                </a:r>
              </a:p>
              <a:p>
                <a:pPr/>
                <a14:m>
                  <m:oMathPara xmlns:m="http://schemas.openxmlformats.org/officeDocument/2006/math">
                    <m:oMathParaPr>
                      <m:jc m:val="centerGroup"/>
                    </m:oMathParaPr>
                    <m:oMath xmlns:m="http://schemas.openxmlformats.org/officeDocument/2006/math">
                      <m:d>
                        <m:dPr>
                          <m:begChr m:val="{"/>
                          <m:endChr m:val="}"/>
                          <m:sepChr m:val=","/>
                          <m:ctrlPr>
                            <a:rPr lang="en-US" sz="1200" i="1" kern="1200">
                              <a:solidFill>
                                <a:schemeClr val="tx1"/>
                              </a:solidFill>
                              <a:latin typeface="Cambria Math" panose="02040503050406030204" pitchFamily="18" charset="0"/>
                              <a:ea typeface="+mn-ea"/>
                              <a:cs typeface="+mn-cs"/>
                            </a:rPr>
                          </m:ctrlPr>
                        </m:dPr>
                        <m:e>
                          <m:r>
                            <a:rPr lang="en-US" sz="1200" i="1" kern="1200">
                              <a:solidFill>
                                <a:schemeClr val="tx1"/>
                              </a:solidFill>
                              <a:latin typeface="Cambria Math" panose="02040503050406030204" pitchFamily="18" charset="0"/>
                              <a:ea typeface="+mn-ea"/>
                              <a:cs typeface="+mn-cs"/>
                            </a:rPr>
                            <m:t>𝐴</m:t>
                          </m:r>
                        </m:e>
                        <m:e>
                          <m:r>
                            <a:rPr lang="en-US" sz="1200" i="1" kern="1200">
                              <a:solidFill>
                                <a:schemeClr val="tx1"/>
                              </a:solidFill>
                              <a:latin typeface="Cambria Math" panose="02040503050406030204" pitchFamily="18" charset="0"/>
                              <a:ea typeface="+mn-ea"/>
                              <a:cs typeface="+mn-cs"/>
                            </a:rPr>
                            <m:t>𝐷</m:t>
                          </m:r>
                        </m:e>
                      </m:d>
                    </m:oMath>
                  </m:oMathPara>
                </a14:m>
                <a:endParaRPr lang="en-US" dirty="0"/>
              </a:p>
              <a:p>
                <a:r>
                  <a:rPr lang="en-US" dirty="0"/>
                  <a:t>Therefore every Candidate Key must contain A and D.</a:t>
                </a:r>
              </a:p>
              <a:p>
                <a:br>
                  <a:rPr lang="en-US" dirty="0"/>
                </a:br>
                <a:endParaRPr lang="en-US" dirty="0"/>
              </a:p>
              <a:p>
                <a:r>
                  <a:rPr lang="en-US" b="1" dirty="0"/>
                  <a:t>Step 2: Find (AD)⁺</a:t>
                </a:r>
              </a:p>
              <a:p>
                <a:r>
                  <a:rPr lang="en-US" dirty="0"/>
                  <a:t>Start:</a:t>
                </a:r>
              </a:p>
              <a:p>
                <a:pPr/>
                <a14:m>
                  <m:oMathPara xmlns:m="http://schemas.openxmlformats.org/officeDocument/2006/math">
                    <m:oMathParaPr>
                      <m:jc m:val="centerGroup"/>
                    </m:oMathParaPr>
                    <m:oMath xmlns:m="http://schemas.openxmlformats.org/officeDocument/2006/math">
                      <m:sSup>
                        <m:sSupPr>
                          <m:ctrlPr>
                            <a:rPr lang="en-US" sz="1200" i="1" kern="1200">
                              <a:solidFill>
                                <a:schemeClr val="tx1"/>
                              </a:solidFill>
                              <a:latin typeface="Cambria Math" panose="02040503050406030204" pitchFamily="18" charset="0"/>
                              <a:ea typeface="+mn-ea"/>
                              <a:cs typeface="+mn-cs"/>
                            </a:rPr>
                          </m:ctrlPr>
                        </m:sSupPr>
                        <m:e>
                          <m:d>
                            <m:dPr>
                              <m:ctrlPr>
                                <a:rPr lang="en-US" sz="1200" i="1" kern="1200">
                                  <a:solidFill>
                                    <a:schemeClr val="tx1"/>
                                  </a:solidFill>
                                  <a:latin typeface="Cambria Math" panose="02040503050406030204" pitchFamily="18" charset="0"/>
                                  <a:ea typeface="+mn-ea"/>
                                  <a:cs typeface="+mn-cs"/>
                                </a:rPr>
                              </m:ctrlPr>
                            </m:dPr>
                            <m:e>
                              <m:r>
                                <a:rPr lang="en-US" sz="1200" i="1" kern="1200">
                                  <a:solidFill>
                                    <a:schemeClr val="tx1"/>
                                  </a:solidFill>
                                  <a:latin typeface="Cambria Math" panose="02040503050406030204" pitchFamily="18" charset="0"/>
                                  <a:ea typeface="+mn-ea"/>
                                  <a:cs typeface="+mn-cs"/>
                                </a:rPr>
                                <m:t>𝐴𝐷</m:t>
                              </m:r>
                            </m:e>
                          </m:d>
                        </m:e>
                        <m:sup>
                          <m:r>
                            <a:rPr lang="en-US" sz="1200" i="0" kern="1200">
                              <a:solidFill>
                                <a:schemeClr val="tx1"/>
                              </a:solidFill>
                              <a:latin typeface="Cambria Math" panose="02040503050406030204" pitchFamily="18" charset="0"/>
                              <a:ea typeface="+mn-ea"/>
                              <a:cs typeface="+mn-cs"/>
                            </a:rPr>
                            <m:t>+</m:t>
                          </m:r>
                        </m:sup>
                      </m:sSup>
                      <m:r>
                        <a:rPr lang="en-US" sz="1200" i="0" kern="1200">
                          <a:solidFill>
                            <a:schemeClr val="tx1"/>
                          </a:solidFill>
                          <a:latin typeface="Cambria Math" panose="02040503050406030204" pitchFamily="18" charset="0"/>
                          <a:ea typeface="+mn-ea"/>
                          <a:cs typeface="+mn-cs"/>
                        </a:rPr>
                        <m:t>=</m:t>
                      </m:r>
                      <m:d>
                        <m:dPr>
                          <m:begChr m:val="{"/>
                          <m:endChr m:val="}"/>
                          <m:sepChr m:val=","/>
                          <m:ctrlPr>
                            <a:rPr lang="en-US" sz="1200" i="1" kern="1200">
                              <a:solidFill>
                                <a:schemeClr val="tx1"/>
                              </a:solidFill>
                              <a:latin typeface="Cambria Math" panose="02040503050406030204" pitchFamily="18" charset="0"/>
                              <a:ea typeface="+mn-ea"/>
                              <a:cs typeface="+mn-cs"/>
                            </a:rPr>
                          </m:ctrlPr>
                        </m:dPr>
                        <m:e>
                          <m:r>
                            <a:rPr lang="en-US" sz="1200" i="1" kern="1200">
                              <a:solidFill>
                                <a:schemeClr val="tx1"/>
                              </a:solidFill>
                              <a:latin typeface="Cambria Math" panose="02040503050406030204" pitchFamily="18" charset="0"/>
                              <a:ea typeface="+mn-ea"/>
                              <a:cs typeface="+mn-cs"/>
                            </a:rPr>
                            <m:t>𝐴</m:t>
                          </m:r>
                        </m:e>
                        <m:e>
                          <m:r>
                            <a:rPr lang="en-US" sz="1200" i="1" kern="1200">
                              <a:solidFill>
                                <a:schemeClr val="tx1"/>
                              </a:solidFill>
                              <a:latin typeface="Cambria Math" panose="02040503050406030204" pitchFamily="18" charset="0"/>
                              <a:ea typeface="+mn-ea"/>
                              <a:cs typeface="+mn-cs"/>
                            </a:rPr>
                            <m:t>𝐷</m:t>
                          </m:r>
                        </m:e>
                      </m:d>
                    </m:oMath>
                  </m:oMathPara>
                </a14:m>
                <a:endParaRPr lang="en-US" dirty="0"/>
              </a:p>
              <a:p>
                <a:r>
                  <a:rPr lang="en-US" dirty="0"/>
                  <a:t>Using</a:t>
                </a:r>
              </a:p>
              <a:p>
                <a:pPr/>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𝐴</m:t>
                      </m:r>
                      <m:r>
                        <a:rPr lang="en-US" sz="1200" i="0" kern="1200">
                          <a:solidFill>
                            <a:schemeClr val="tx1"/>
                          </a:solidFill>
                          <a:latin typeface="Cambria Math" panose="02040503050406030204" pitchFamily="18" charset="0"/>
                          <a:ea typeface="+mn-ea"/>
                          <a:cs typeface="+mn-cs"/>
                        </a:rPr>
                        <m:t>→</m:t>
                      </m:r>
                      <m:r>
                        <a:rPr lang="en-US" sz="1200" i="1" kern="1200">
                          <a:solidFill>
                            <a:schemeClr val="tx1"/>
                          </a:solidFill>
                          <a:latin typeface="Cambria Math" panose="02040503050406030204" pitchFamily="18" charset="0"/>
                          <a:ea typeface="+mn-ea"/>
                          <a:cs typeface="+mn-cs"/>
                        </a:rPr>
                        <m:t>𝐵𝐶</m:t>
                      </m:r>
                    </m:oMath>
                  </m:oMathPara>
                </a14:m>
                <a:endParaRPr lang="en-US" dirty="0"/>
              </a:p>
              <a:p>
                <a:pPr/>
                <a14:m>
                  <m:oMathPara xmlns:m="http://schemas.openxmlformats.org/officeDocument/2006/math">
                    <m:oMathParaPr>
                      <m:jc m:val="centerGroup"/>
                    </m:oMathParaPr>
                    <m:oMath xmlns:m="http://schemas.openxmlformats.org/officeDocument/2006/math">
                      <m:d>
                        <m:dPr>
                          <m:begChr m:val="{"/>
                          <m:endChr m:val="}"/>
                          <m:sepChr m:val=","/>
                          <m:ctrlPr>
                            <a:rPr lang="en-US" sz="1200" i="1" kern="1200">
                              <a:solidFill>
                                <a:schemeClr val="tx1"/>
                              </a:solidFill>
                              <a:latin typeface="Cambria Math" panose="02040503050406030204" pitchFamily="18" charset="0"/>
                              <a:ea typeface="+mn-ea"/>
                              <a:cs typeface="+mn-cs"/>
                            </a:rPr>
                          </m:ctrlPr>
                        </m:dPr>
                        <m:e>
                          <m:r>
                            <a:rPr lang="en-US" sz="1200" i="1" kern="1200">
                              <a:solidFill>
                                <a:schemeClr val="tx1"/>
                              </a:solidFill>
                              <a:latin typeface="Cambria Math" panose="02040503050406030204" pitchFamily="18" charset="0"/>
                              <a:ea typeface="+mn-ea"/>
                              <a:cs typeface="+mn-cs"/>
                            </a:rPr>
                            <m:t>𝐴</m:t>
                          </m:r>
                        </m:e>
                        <m:e>
                          <m:r>
                            <a:rPr lang="en-US" sz="1200" i="1" kern="1200">
                              <a:solidFill>
                                <a:schemeClr val="tx1"/>
                              </a:solidFill>
                              <a:latin typeface="Cambria Math" panose="02040503050406030204" pitchFamily="18" charset="0"/>
                              <a:ea typeface="+mn-ea"/>
                              <a:cs typeface="+mn-cs"/>
                            </a:rPr>
                            <m:t>𝐵</m:t>
                          </m:r>
                        </m:e>
                        <m:e>
                          <m:r>
                            <a:rPr lang="en-US" sz="1200" i="1" kern="1200">
                              <a:solidFill>
                                <a:schemeClr val="tx1"/>
                              </a:solidFill>
                              <a:latin typeface="Cambria Math" panose="02040503050406030204" pitchFamily="18" charset="0"/>
                              <a:ea typeface="+mn-ea"/>
                              <a:cs typeface="+mn-cs"/>
                            </a:rPr>
                            <m:t>𝐶</m:t>
                          </m:r>
                        </m:e>
                        <m:e>
                          <m:r>
                            <a:rPr lang="en-US" sz="1200" i="1" kern="1200">
                              <a:solidFill>
                                <a:schemeClr val="tx1"/>
                              </a:solidFill>
                              <a:latin typeface="Cambria Math" panose="02040503050406030204" pitchFamily="18" charset="0"/>
                              <a:ea typeface="+mn-ea"/>
                              <a:cs typeface="+mn-cs"/>
                            </a:rPr>
                            <m:t>𝐷</m:t>
                          </m:r>
                        </m:e>
                      </m:d>
                    </m:oMath>
                  </m:oMathPara>
                </a14:m>
                <a:endParaRPr lang="en-US" dirty="0"/>
              </a:p>
              <a:p>
                <a:r>
                  <a:rPr lang="en-US" dirty="0"/>
                  <a:t>Using</a:t>
                </a:r>
              </a:p>
              <a:p>
                <a:pPr/>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𝐵</m:t>
                      </m:r>
                      <m:r>
                        <a:rPr lang="en-US" sz="1200" i="0" kern="1200">
                          <a:solidFill>
                            <a:schemeClr val="tx1"/>
                          </a:solidFill>
                          <a:latin typeface="Cambria Math" panose="02040503050406030204" pitchFamily="18" charset="0"/>
                          <a:ea typeface="+mn-ea"/>
                          <a:cs typeface="+mn-cs"/>
                        </a:rPr>
                        <m:t>→</m:t>
                      </m:r>
                      <m:r>
                        <a:rPr lang="en-US" sz="1200" i="1" kern="1200">
                          <a:solidFill>
                            <a:schemeClr val="tx1"/>
                          </a:solidFill>
                          <a:latin typeface="Cambria Math" panose="02040503050406030204" pitchFamily="18" charset="0"/>
                          <a:ea typeface="+mn-ea"/>
                          <a:cs typeface="+mn-cs"/>
                        </a:rPr>
                        <m:t>𝐸</m:t>
                      </m:r>
                    </m:oMath>
                  </m:oMathPara>
                </a14:m>
                <a:endParaRPr lang="en-US" dirty="0"/>
              </a:p>
              <a:p>
                <a:pPr/>
                <a14:m>
                  <m:oMathPara xmlns:m="http://schemas.openxmlformats.org/officeDocument/2006/math">
                    <m:oMathParaPr>
                      <m:jc m:val="centerGroup"/>
                    </m:oMathParaPr>
                    <m:oMath xmlns:m="http://schemas.openxmlformats.org/officeDocument/2006/math">
                      <m:d>
                        <m:dPr>
                          <m:begChr m:val="{"/>
                          <m:endChr m:val="}"/>
                          <m:sepChr m:val=","/>
                          <m:ctrlPr>
                            <a:rPr lang="en-US" sz="1200" i="1" kern="1200">
                              <a:solidFill>
                                <a:schemeClr val="tx1"/>
                              </a:solidFill>
                              <a:latin typeface="Cambria Math" panose="02040503050406030204" pitchFamily="18" charset="0"/>
                              <a:ea typeface="+mn-ea"/>
                              <a:cs typeface="+mn-cs"/>
                            </a:rPr>
                          </m:ctrlPr>
                        </m:dPr>
                        <m:e>
                          <m:r>
                            <a:rPr lang="en-US" sz="1200" i="1" kern="1200">
                              <a:solidFill>
                                <a:schemeClr val="tx1"/>
                              </a:solidFill>
                              <a:latin typeface="Cambria Math" panose="02040503050406030204" pitchFamily="18" charset="0"/>
                              <a:ea typeface="+mn-ea"/>
                              <a:cs typeface="+mn-cs"/>
                            </a:rPr>
                            <m:t>𝐴</m:t>
                          </m:r>
                        </m:e>
                        <m:e>
                          <m:r>
                            <a:rPr lang="en-US" sz="1200" i="1" kern="1200">
                              <a:solidFill>
                                <a:schemeClr val="tx1"/>
                              </a:solidFill>
                              <a:latin typeface="Cambria Math" panose="02040503050406030204" pitchFamily="18" charset="0"/>
                              <a:ea typeface="+mn-ea"/>
                              <a:cs typeface="+mn-cs"/>
                            </a:rPr>
                            <m:t>𝐵</m:t>
                          </m:r>
                        </m:e>
                        <m:e>
                          <m:r>
                            <a:rPr lang="en-US" sz="1200" i="1" kern="1200">
                              <a:solidFill>
                                <a:schemeClr val="tx1"/>
                              </a:solidFill>
                              <a:latin typeface="Cambria Math" panose="02040503050406030204" pitchFamily="18" charset="0"/>
                              <a:ea typeface="+mn-ea"/>
                              <a:cs typeface="+mn-cs"/>
                            </a:rPr>
                            <m:t>𝐶</m:t>
                          </m:r>
                        </m:e>
                        <m:e>
                          <m:r>
                            <a:rPr lang="en-US" sz="1200" i="1" kern="1200">
                              <a:solidFill>
                                <a:schemeClr val="tx1"/>
                              </a:solidFill>
                              <a:latin typeface="Cambria Math" panose="02040503050406030204" pitchFamily="18" charset="0"/>
                              <a:ea typeface="+mn-ea"/>
                              <a:cs typeface="+mn-cs"/>
                            </a:rPr>
                            <m:t>𝐷</m:t>
                          </m:r>
                        </m:e>
                        <m:e>
                          <m:r>
                            <a:rPr lang="en-US" sz="1200" i="1" kern="1200">
                              <a:solidFill>
                                <a:schemeClr val="tx1"/>
                              </a:solidFill>
                              <a:latin typeface="Cambria Math" panose="02040503050406030204" pitchFamily="18" charset="0"/>
                              <a:ea typeface="+mn-ea"/>
                              <a:cs typeface="+mn-cs"/>
                            </a:rPr>
                            <m:t>𝐸</m:t>
                          </m:r>
                        </m:e>
                      </m:d>
                    </m:oMath>
                  </m:oMathPara>
                </a14:m>
                <a:endParaRPr lang="en-US" dirty="0"/>
              </a:p>
              <a:p>
                <a:r>
                  <a:rPr lang="en-US" dirty="0"/>
                  <a:t>Using</a:t>
                </a:r>
              </a:p>
              <a:p>
                <a:pPr/>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𝐶</m:t>
                      </m:r>
                      <m:r>
                        <a:rPr lang="en-US" sz="1200" i="0" kern="1200">
                          <a:solidFill>
                            <a:schemeClr val="tx1"/>
                          </a:solidFill>
                          <a:latin typeface="Cambria Math" panose="02040503050406030204" pitchFamily="18" charset="0"/>
                          <a:ea typeface="+mn-ea"/>
                          <a:cs typeface="+mn-cs"/>
                        </a:rPr>
                        <m:t>→</m:t>
                      </m:r>
                      <m:r>
                        <a:rPr lang="en-US" sz="1200" i="1" kern="1200">
                          <a:solidFill>
                            <a:schemeClr val="tx1"/>
                          </a:solidFill>
                          <a:latin typeface="Cambria Math" panose="02040503050406030204" pitchFamily="18" charset="0"/>
                          <a:ea typeface="+mn-ea"/>
                          <a:cs typeface="+mn-cs"/>
                        </a:rPr>
                        <m:t>𝐹</m:t>
                      </m:r>
                    </m:oMath>
                  </m:oMathPara>
                </a14:m>
                <a:endParaRPr lang="en-US" dirty="0"/>
              </a:p>
              <a:p>
                <a:pPr/>
                <a14:m>
                  <m:oMathPara xmlns:m="http://schemas.openxmlformats.org/officeDocument/2006/math">
                    <m:oMathParaPr>
                      <m:jc m:val="centerGroup"/>
                    </m:oMathParaPr>
                    <m:oMath xmlns:m="http://schemas.openxmlformats.org/officeDocument/2006/math">
                      <m:d>
                        <m:dPr>
                          <m:begChr m:val="{"/>
                          <m:endChr m:val="}"/>
                          <m:sepChr m:val=","/>
                          <m:ctrlPr>
                            <a:rPr lang="en-US" sz="1200" i="1" kern="1200">
                              <a:solidFill>
                                <a:schemeClr val="tx1"/>
                              </a:solidFill>
                              <a:latin typeface="Cambria Math" panose="02040503050406030204" pitchFamily="18" charset="0"/>
                              <a:ea typeface="+mn-ea"/>
                              <a:cs typeface="+mn-cs"/>
                            </a:rPr>
                          </m:ctrlPr>
                        </m:dPr>
                        <m:e>
                          <m:r>
                            <a:rPr lang="en-US" sz="1200" i="1" kern="1200">
                              <a:solidFill>
                                <a:schemeClr val="tx1"/>
                              </a:solidFill>
                              <a:latin typeface="Cambria Math" panose="02040503050406030204" pitchFamily="18" charset="0"/>
                              <a:ea typeface="+mn-ea"/>
                              <a:cs typeface="+mn-cs"/>
                            </a:rPr>
                            <m:t>𝐴</m:t>
                          </m:r>
                        </m:e>
                        <m:e>
                          <m:r>
                            <a:rPr lang="en-US" sz="1200" i="1" kern="1200">
                              <a:solidFill>
                                <a:schemeClr val="tx1"/>
                              </a:solidFill>
                              <a:latin typeface="Cambria Math" panose="02040503050406030204" pitchFamily="18" charset="0"/>
                              <a:ea typeface="+mn-ea"/>
                              <a:cs typeface="+mn-cs"/>
                            </a:rPr>
                            <m:t>𝐵</m:t>
                          </m:r>
                        </m:e>
                        <m:e>
                          <m:r>
                            <a:rPr lang="en-US" sz="1200" i="1" kern="1200">
                              <a:solidFill>
                                <a:schemeClr val="tx1"/>
                              </a:solidFill>
                              <a:latin typeface="Cambria Math" panose="02040503050406030204" pitchFamily="18" charset="0"/>
                              <a:ea typeface="+mn-ea"/>
                              <a:cs typeface="+mn-cs"/>
                            </a:rPr>
                            <m:t>𝐶</m:t>
                          </m:r>
                        </m:e>
                        <m:e>
                          <m:r>
                            <a:rPr lang="en-US" sz="1200" i="1" kern="1200">
                              <a:solidFill>
                                <a:schemeClr val="tx1"/>
                              </a:solidFill>
                              <a:latin typeface="Cambria Math" panose="02040503050406030204" pitchFamily="18" charset="0"/>
                              <a:ea typeface="+mn-ea"/>
                              <a:cs typeface="+mn-cs"/>
                            </a:rPr>
                            <m:t>𝐷</m:t>
                          </m:r>
                        </m:e>
                        <m:e>
                          <m:r>
                            <a:rPr lang="en-US" sz="1200" i="1" kern="1200">
                              <a:solidFill>
                                <a:schemeClr val="tx1"/>
                              </a:solidFill>
                              <a:latin typeface="Cambria Math" panose="02040503050406030204" pitchFamily="18" charset="0"/>
                              <a:ea typeface="+mn-ea"/>
                              <a:cs typeface="+mn-cs"/>
                            </a:rPr>
                            <m:t>𝐸</m:t>
                          </m:r>
                        </m:e>
                        <m:e>
                          <m:r>
                            <a:rPr lang="en-US" sz="1200" i="1" kern="1200">
                              <a:solidFill>
                                <a:schemeClr val="tx1"/>
                              </a:solidFill>
                              <a:latin typeface="Cambria Math" panose="02040503050406030204" pitchFamily="18" charset="0"/>
                              <a:ea typeface="+mn-ea"/>
                              <a:cs typeface="+mn-cs"/>
                            </a:rPr>
                            <m:t>𝐹</m:t>
                          </m:r>
                        </m:e>
                      </m:d>
                    </m:oMath>
                  </m:oMathPara>
                </a14:m>
                <a:endParaRPr lang="en-US" dirty="0"/>
              </a:p>
              <a:p>
                <a:r>
                  <a:rPr lang="en-US" dirty="0"/>
                  <a:t>All attributes obtained.</a:t>
                </a:r>
              </a:p>
              <a:p>
                <a:r>
                  <a:rPr lang="en-US" dirty="0"/>
                  <a:t>Therefore:</a:t>
                </a:r>
              </a:p>
              <a:p>
                <a:pPr/>
                <a14:m>
                  <m:oMathPara xmlns:m="http://schemas.openxmlformats.org/officeDocument/2006/math">
                    <m:oMathParaPr>
                      <m:jc m:val="centerGroup"/>
                    </m:oMathParaPr>
                    <m:oMath xmlns:m="http://schemas.openxmlformats.org/officeDocument/2006/math">
                      <m:sSup>
                        <m:sSupPr>
                          <m:ctrlPr>
                            <a:rPr lang="en-US" sz="1200" i="1" kern="1200">
                              <a:solidFill>
                                <a:schemeClr val="tx1"/>
                              </a:solidFill>
                              <a:latin typeface="Cambria Math" panose="02040503050406030204" pitchFamily="18" charset="0"/>
                              <a:ea typeface="+mn-ea"/>
                              <a:cs typeface="+mn-cs"/>
                            </a:rPr>
                          </m:ctrlPr>
                        </m:sSupPr>
                        <m:e>
                          <m:d>
                            <m:dPr>
                              <m:ctrlPr>
                                <a:rPr lang="en-US" sz="1200" i="1" kern="1200">
                                  <a:solidFill>
                                    <a:schemeClr val="tx1"/>
                                  </a:solidFill>
                                  <a:latin typeface="Cambria Math" panose="02040503050406030204" pitchFamily="18" charset="0"/>
                                  <a:ea typeface="+mn-ea"/>
                                  <a:cs typeface="+mn-cs"/>
                                </a:rPr>
                              </m:ctrlPr>
                            </m:dPr>
                            <m:e>
                              <m:r>
                                <a:rPr lang="en-US" sz="1200" i="1" kern="1200">
                                  <a:solidFill>
                                    <a:schemeClr val="tx1"/>
                                  </a:solidFill>
                                  <a:latin typeface="Cambria Math" panose="02040503050406030204" pitchFamily="18" charset="0"/>
                                  <a:ea typeface="+mn-ea"/>
                                  <a:cs typeface="+mn-cs"/>
                                </a:rPr>
                                <m:t>𝐴𝐷</m:t>
                              </m:r>
                            </m:e>
                          </m:d>
                        </m:e>
                        <m:sup>
                          <m:r>
                            <a:rPr lang="en-US" sz="1200" i="0" kern="1200">
                              <a:solidFill>
                                <a:schemeClr val="tx1"/>
                              </a:solidFill>
                              <a:latin typeface="Cambria Math" panose="02040503050406030204" pitchFamily="18" charset="0"/>
                              <a:ea typeface="+mn-ea"/>
                              <a:cs typeface="+mn-cs"/>
                            </a:rPr>
                            <m:t>+</m:t>
                          </m:r>
                        </m:sup>
                      </m:sSup>
                      <m:r>
                        <a:rPr lang="en-US" sz="1200" i="0" kern="1200">
                          <a:solidFill>
                            <a:schemeClr val="tx1"/>
                          </a:solidFill>
                          <a:latin typeface="Cambria Math" panose="02040503050406030204" pitchFamily="18" charset="0"/>
                          <a:ea typeface="+mn-ea"/>
                          <a:cs typeface="+mn-cs"/>
                        </a:rPr>
                        <m:t>=</m:t>
                      </m:r>
                      <m:r>
                        <a:rPr lang="en-US" sz="1200" i="1" kern="1200">
                          <a:solidFill>
                            <a:schemeClr val="tx1"/>
                          </a:solidFill>
                          <a:latin typeface="Cambria Math" panose="02040503050406030204" pitchFamily="18" charset="0"/>
                          <a:ea typeface="+mn-ea"/>
                          <a:cs typeface="+mn-cs"/>
                        </a:rPr>
                        <m:t>𝑅</m:t>
                      </m:r>
                    </m:oMath>
                  </m:oMathPara>
                </a14:m>
                <a:endParaRPr lang="en-US" dirty="0"/>
              </a:p>
              <a:p>
                <a:r>
                  <a:rPr lang="en-US" dirty="0"/>
                  <a:t>So AD is a Super Key.</a:t>
                </a:r>
              </a:p>
              <a:p>
                <a:br>
                  <a:rPr lang="en-US" dirty="0"/>
                </a:br>
                <a:endParaRPr lang="en-US" dirty="0"/>
              </a:p>
              <a:p>
                <a:r>
                  <a:rPr lang="en-US" b="1" dirty="0"/>
                  <a:t>Step 3: Check Minimality</a:t>
                </a:r>
              </a:p>
              <a:p>
                <a:pPr/>
                <a14:m>
                  <m:oMathPara xmlns:m="http://schemas.openxmlformats.org/officeDocument/2006/math">
                    <m:oMathParaPr>
                      <m:jc m:val="centerGroup"/>
                    </m:oMathParaPr>
                    <m:oMath xmlns:m="http://schemas.openxmlformats.org/officeDocument/2006/math">
                      <m:sSup>
                        <m:sSupPr>
                          <m:ctrlPr>
                            <a:rPr lang="en-US" sz="1200" i="1" kern="1200">
                              <a:solidFill>
                                <a:schemeClr val="tx1"/>
                              </a:solidFill>
                              <a:latin typeface="Cambria Math" panose="02040503050406030204" pitchFamily="18" charset="0"/>
                              <a:ea typeface="+mn-ea"/>
                              <a:cs typeface="+mn-cs"/>
                            </a:rPr>
                          </m:ctrlPr>
                        </m:sSupPr>
                        <m:e>
                          <m:r>
                            <a:rPr lang="en-US" sz="1200" i="1" kern="1200">
                              <a:solidFill>
                                <a:schemeClr val="tx1"/>
                              </a:solidFill>
                              <a:latin typeface="Cambria Math" panose="02040503050406030204" pitchFamily="18" charset="0"/>
                              <a:ea typeface="+mn-ea"/>
                              <a:cs typeface="+mn-cs"/>
                            </a:rPr>
                            <m:t>𝐴</m:t>
                          </m:r>
                        </m:e>
                        <m:sup>
                          <m:r>
                            <a:rPr lang="en-US" sz="1200" i="0" kern="1200">
                              <a:solidFill>
                                <a:schemeClr val="tx1"/>
                              </a:solidFill>
                              <a:latin typeface="Cambria Math" panose="02040503050406030204" pitchFamily="18" charset="0"/>
                              <a:ea typeface="+mn-ea"/>
                              <a:cs typeface="+mn-cs"/>
                            </a:rPr>
                            <m:t>+</m:t>
                          </m:r>
                        </m:sup>
                      </m:sSup>
                      <m:r>
                        <a:rPr lang="en-US" sz="1200" i="0" kern="1200">
                          <a:solidFill>
                            <a:schemeClr val="tx1"/>
                          </a:solidFill>
                          <a:latin typeface="Cambria Math" panose="02040503050406030204" pitchFamily="18" charset="0"/>
                          <a:ea typeface="+mn-ea"/>
                          <a:cs typeface="+mn-cs"/>
                        </a:rPr>
                        <m:t>=</m:t>
                      </m:r>
                      <m:d>
                        <m:dPr>
                          <m:begChr m:val="{"/>
                          <m:endChr m:val="}"/>
                          <m:sepChr m:val=","/>
                          <m:ctrlPr>
                            <a:rPr lang="en-US" sz="1200" i="1" kern="1200">
                              <a:solidFill>
                                <a:schemeClr val="tx1"/>
                              </a:solidFill>
                              <a:latin typeface="Cambria Math" panose="02040503050406030204" pitchFamily="18" charset="0"/>
                              <a:ea typeface="+mn-ea"/>
                              <a:cs typeface="+mn-cs"/>
                            </a:rPr>
                          </m:ctrlPr>
                        </m:dPr>
                        <m:e>
                          <m:r>
                            <a:rPr lang="en-US" sz="1200" i="1" kern="1200">
                              <a:solidFill>
                                <a:schemeClr val="tx1"/>
                              </a:solidFill>
                              <a:latin typeface="Cambria Math" panose="02040503050406030204" pitchFamily="18" charset="0"/>
                              <a:ea typeface="+mn-ea"/>
                              <a:cs typeface="+mn-cs"/>
                            </a:rPr>
                            <m:t>𝐴</m:t>
                          </m:r>
                        </m:e>
                        <m:e>
                          <m:r>
                            <a:rPr lang="en-US" sz="1200" i="1" kern="1200">
                              <a:solidFill>
                                <a:schemeClr val="tx1"/>
                              </a:solidFill>
                              <a:latin typeface="Cambria Math" panose="02040503050406030204" pitchFamily="18" charset="0"/>
                              <a:ea typeface="+mn-ea"/>
                              <a:cs typeface="+mn-cs"/>
                            </a:rPr>
                            <m:t>𝐵</m:t>
                          </m:r>
                        </m:e>
                        <m:e>
                          <m:r>
                            <a:rPr lang="en-US" sz="1200" i="1" kern="1200">
                              <a:solidFill>
                                <a:schemeClr val="tx1"/>
                              </a:solidFill>
                              <a:latin typeface="Cambria Math" panose="02040503050406030204" pitchFamily="18" charset="0"/>
                              <a:ea typeface="+mn-ea"/>
                              <a:cs typeface="+mn-cs"/>
                            </a:rPr>
                            <m:t>𝐶</m:t>
                          </m:r>
                        </m:e>
                        <m:e>
                          <m:r>
                            <a:rPr lang="en-US" sz="1200" i="1" kern="1200">
                              <a:solidFill>
                                <a:schemeClr val="tx1"/>
                              </a:solidFill>
                              <a:latin typeface="Cambria Math" panose="02040503050406030204" pitchFamily="18" charset="0"/>
                              <a:ea typeface="+mn-ea"/>
                              <a:cs typeface="+mn-cs"/>
                            </a:rPr>
                            <m:t>𝐸</m:t>
                          </m:r>
                        </m:e>
                        <m:e>
                          <m:r>
                            <a:rPr lang="en-US" sz="1200" i="1" kern="1200">
                              <a:solidFill>
                                <a:schemeClr val="tx1"/>
                              </a:solidFill>
                              <a:latin typeface="Cambria Math" panose="02040503050406030204" pitchFamily="18" charset="0"/>
                              <a:ea typeface="+mn-ea"/>
                              <a:cs typeface="+mn-cs"/>
                            </a:rPr>
                            <m:t>𝐹</m:t>
                          </m:r>
                        </m:e>
                      </m:d>
                    </m:oMath>
                  </m:oMathPara>
                </a14:m>
                <a:endParaRPr lang="en-US" dirty="0"/>
              </a:p>
              <a:p>
                <a:r>
                  <a:rPr lang="en-US" dirty="0"/>
                  <a:t>Missing D.</a:t>
                </a:r>
              </a:p>
              <a:p>
                <a:pPr/>
                <a14:m>
                  <m:oMathPara xmlns:m="http://schemas.openxmlformats.org/officeDocument/2006/math">
                    <m:oMathParaPr>
                      <m:jc m:val="centerGroup"/>
                    </m:oMathParaPr>
                    <m:oMath xmlns:m="http://schemas.openxmlformats.org/officeDocument/2006/math">
                      <m:sSup>
                        <m:sSupPr>
                          <m:ctrlPr>
                            <a:rPr lang="en-US" sz="1200" i="1" kern="1200">
                              <a:solidFill>
                                <a:schemeClr val="tx1"/>
                              </a:solidFill>
                              <a:latin typeface="Cambria Math" panose="02040503050406030204" pitchFamily="18" charset="0"/>
                              <a:ea typeface="+mn-ea"/>
                              <a:cs typeface="+mn-cs"/>
                            </a:rPr>
                          </m:ctrlPr>
                        </m:sSupPr>
                        <m:e>
                          <m:r>
                            <a:rPr lang="en-US" sz="1200" i="1" kern="1200">
                              <a:solidFill>
                                <a:schemeClr val="tx1"/>
                              </a:solidFill>
                              <a:latin typeface="Cambria Math" panose="02040503050406030204" pitchFamily="18" charset="0"/>
                              <a:ea typeface="+mn-ea"/>
                              <a:cs typeface="+mn-cs"/>
                            </a:rPr>
                            <m:t>𝐷</m:t>
                          </m:r>
                        </m:e>
                        <m:sup>
                          <m:r>
                            <a:rPr lang="en-US" sz="1200" i="0" kern="1200">
                              <a:solidFill>
                                <a:schemeClr val="tx1"/>
                              </a:solidFill>
                              <a:latin typeface="Cambria Math" panose="02040503050406030204" pitchFamily="18" charset="0"/>
                              <a:ea typeface="+mn-ea"/>
                              <a:cs typeface="+mn-cs"/>
                            </a:rPr>
                            <m:t>+</m:t>
                          </m:r>
                        </m:sup>
                      </m:sSup>
                      <m:r>
                        <a:rPr lang="en-US" sz="1200" i="0" kern="1200">
                          <a:solidFill>
                            <a:schemeClr val="tx1"/>
                          </a:solidFill>
                          <a:latin typeface="Cambria Math" panose="02040503050406030204" pitchFamily="18" charset="0"/>
                          <a:ea typeface="+mn-ea"/>
                          <a:cs typeface="+mn-cs"/>
                        </a:rPr>
                        <m:t>=</m:t>
                      </m:r>
                      <m:d>
                        <m:dPr>
                          <m:begChr m:val="{"/>
                          <m:endChr m:val="}"/>
                          <m:ctrlPr>
                            <a:rPr lang="en-US" sz="1200" i="1" kern="1200">
                              <a:solidFill>
                                <a:schemeClr val="tx1"/>
                              </a:solidFill>
                              <a:latin typeface="Cambria Math" panose="02040503050406030204" pitchFamily="18" charset="0"/>
                              <a:ea typeface="+mn-ea"/>
                              <a:cs typeface="+mn-cs"/>
                            </a:rPr>
                          </m:ctrlPr>
                        </m:dPr>
                        <m:e>
                          <m:r>
                            <a:rPr lang="en-US" sz="1200" i="1" kern="1200">
                              <a:solidFill>
                                <a:schemeClr val="tx1"/>
                              </a:solidFill>
                              <a:latin typeface="Cambria Math" panose="02040503050406030204" pitchFamily="18" charset="0"/>
                              <a:ea typeface="+mn-ea"/>
                              <a:cs typeface="+mn-cs"/>
                            </a:rPr>
                            <m:t>𝐷</m:t>
                          </m:r>
                        </m:e>
                      </m:d>
                    </m:oMath>
                  </m:oMathPara>
                </a14:m>
                <a:endParaRPr lang="en-US" dirty="0"/>
              </a:p>
              <a:p>
                <a:r>
                  <a:rPr lang="en-US" dirty="0"/>
                  <a:t>Missing others.</a:t>
                </a:r>
              </a:p>
              <a:p>
                <a:r>
                  <a:rPr lang="en-US" dirty="0"/>
                  <a:t>Neither A nor D alone works.</a:t>
                </a:r>
              </a:p>
              <a:p>
                <a:r>
                  <a:rPr lang="en-US" dirty="0"/>
                  <a:t>Therefore:</a:t>
                </a:r>
              </a:p>
              <a:p>
                <a:r>
                  <a:rPr lang="en-US" b="1" dirty="0"/>
                  <a:t>Candidate Key = {AD}</a:t>
                </a:r>
                <a:endParaRPr lang="en-US" dirty="0"/>
              </a:p>
              <a:p>
                <a:endParaRPr lang="en-US" dirty="0"/>
              </a:p>
              <a:p>
                <a:endParaRPr lang="en-US" dirty="0"/>
              </a:p>
            </p:txBody>
          </p:sp>
        </mc:Choice>
        <mc:Fallback xmlns="">
          <p:sp>
            <p:nvSpPr>
              <p:cNvPr id="3" name="Notes Placeholder 2"/>
              <p:cNvSpPr>
                <a:spLocks noGrp="1"/>
              </p:cNvSpPr>
              <p:nvPr>
                <p:ph type="body" idx="1"/>
              </p:nvPr>
            </p:nvSpPr>
            <p:spPr/>
            <p:txBody>
              <a:bodyPr/>
              <a:lstStyle/>
              <a:p>
                <a:br>
                  <a:rPr lang="en-US" dirty="0"/>
                </a:br>
                <a:endParaRPr lang="en-US" dirty="0"/>
              </a:p>
              <a:p>
                <a:r>
                  <a:rPr lang="en-US" b="1" dirty="0"/>
                  <a:t>Rules for Finding Candidate Keys</a:t>
                </a:r>
              </a:p>
              <a:p>
                <a:r>
                  <a:rPr lang="en-US" b="1" dirty="0"/>
                  <a:t>Rule 1: Attributes Never Appearing on RHS Must Be in Every Candidate Key</a:t>
                </a:r>
              </a:p>
              <a:p>
                <a:r>
                  <a:rPr lang="en-US" dirty="0"/>
                  <a:t>Example:</a:t>
                </a:r>
              </a:p>
              <a:p>
                <a:pPr/>
                <a:r>
                  <a:rPr lang="en-US" sz="1200" i="0" kern="1200">
                    <a:solidFill>
                      <a:schemeClr val="tx1"/>
                    </a:solidFill>
                    <a:latin typeface="Cambria Math" panose="02040503050406030204" pitchFamily="18" charset="0"/>
                    <a:ea typeface="+mn-ea"/>
                    <a:cs typeface="+mn-cs"/>
                  </a:rPr>
                  <a:t>𝑅(𝐴ⓜ,𝐵ⓜ,𝐶ⓜ,𝐷)</a:t>
                </a:r>
                <a:endParaRPr lang="en-US" dirty="0"/>
              </a:p>
              <a:p>
                <a:r>
                  <a:rPr lang="en-US" dirty="0"/>
                  <a:t>FDs:</a:t>
                </a:r>
              </a:p>
              <a:p>
                <a:pPr/>
                <a:r>
                  <a:rPr lang="en-US" sz="1200" i="0" kern="1200">
                    <a:solidFill>
                      <a:schemeClr val="tx1"/>
                    </a:solidFill>
                    <a:latin typeface="Cambria Math" panose="02040503050406030204" pitchFamily="18" charset="0"/>
                    <a:ea typeface="+mn-ea"/>
                    <a:cs typeface="+mn-cs"/>
                  </a:rPr>
                  <a:t>𝐴→𝐵</a:t>
                </a:r>
                <a:endParaRPr lang="en-US" dirty="0"/>
              </a:p>
              <a:p>
                <a:pPr/>
                <a:r>
                  <a:rPr lang="en-US" sz="1200" i="0" kern="1200">
                    <a:solidFill>
                      <a:schemeClr val="tx1"/>
                    </a:solidFill>
                    <a:latin typeface="Cambria Math" panose="02040503050406030204" pitchFamily="18" charset="0"/>
                    <a:ea typeface="+mn-ea"/>
                    <a:cs typeface="+mn-cs"/>
                  </a:rPr>
                  <a:t>𝐵→𝐶</a:t>
                </a:r>
                <a:endParaRPr lang="en-US" dirty="0"/>
              </a:p>
              <a:p>
                <a:r>
                  <a:rPr lang="en-US" dirty="0"/>
                  <a:t>Notice D never appears on RHS.</a:t>
                </a:r>
              </a:p>
              <a:p>
                <a:r>
                  <a:rPr lang="en-US" dirty="0"/>
                  <a:t>Therefore D cannot be derived from any FD.</a:t>
                </a:r>
              </a:p>
              <a:p>
                <a:r>
                  <a:rPr lang="en-US" dirty="0"/>
                  <a:t>So every Candidate Key must contain D.</a:t>
                </a:r>
              </a:p>
              <a:p>
                <a:br>
                  <a:rPr lang="en-US" dirty="0"/>
                </a:br>
                <a:endParaRPr lang="en-US" dirty="0"/>
              </a:p>
              <a:p>
                <a:r>
                  <a:rPr lang="en-US" b="1" dirty="0"/>
                  <a:t>Rule 2: Find Attribute Closure</a:t>
                </a:r>
              </a:p>
              <a:p>
                <a:r>
                  <a:rPr lang="en-US" dirty="0"/>
                  <a:t>Compute closure of attribute combinations.</a:t>
                </a:r>
              </a:p>
              <a:p>
                <a:r>
                  <a:rPr lang="en-US" dirty="0"/>
                  <a:t>If closure contains all attributes of R, then it is a Super Key.</a:t>
                </a:r>
              </a:p>
              <a:p>
                <a:br>
                  <a:rPr lang="en-US" dirty="0"/>
                </a:br>
                <a:endParaRPr lang="en-US" dirty="0"/>
              </a:p>
              <a:p>
                <a:r>
                  <a:rPr lang="en-US" b="1" dirty="0"/>
                  <a:t>Rule 3: Check Minimality</a:t>
                </a:r>
              </a:p>
              <a:p>
                <a:r>
                  <a:rPr lang="en-US" dirty="0"/>
                  <a:t>Remove one attribute at a time.</a:t>
                </a:r>
              </a:p>
              <a:p>
                <a:r>
                  <a:rPr lang="en-US" dirty="0"/>
                  <a:t>If closure still gives all attributes, the original set is not minimal.</a:t>
                </a:r>
              </a:p>
              <a:p>
                <a:br>
                  <a:rPr lang="en-US" dirty="0"/>
                </a:br>
                <a:endParaRPr lang="en-US" dirty="0"/>
              </a:p>
              <a:p>
                <a:r>
                  <a:rPr lang="en-US" b="1" dirty="0"/>
                  <a:t>Example 1</a:t>
                </a:r>
              </a:p>
              <a:p>
                <a:r>
                  <a:rPr lang="en-US" dirty="0"/>
                  <a:t>Relation:</a:t>
                </a:r>
              </a:p>
              <a:p>
                <a:pPr/>
                <a:r>
                  <a:rPr lang="en-US" sz="1200" i="0" kern="1200">
                    <a:solidFill>
                      <a:schemeClr val="tx1"/>
                    </a:solidFill>
                    <a:latin typeface="Cambria Math" panose="02040503050406030204" pitchFamily="18" charset="0"/>
                    <a:ea typeface="+mn-ea"/>
                    <a:cs typeface="+mn-cs"/>
                  </a:rPr>
                  <a:t>𝑅(𝐴ⓜ,𝐵ⓜ,𝐶ⓜ,𝐷)</a:t>
                </a:r>
                <a:endParaRPr lang="en-US" dirty="0"/>
              </a:p>
              <a:p>
                <a:r>
                  <a:rPr lang="en-US" dirty="0"/>
                  <a:t>FDs:</a:t>
                </a:r>
              </a:p>
              <a:p>
                <a:pPr/>
                <a:r>
                  <a:rPr lang="en-US" sz="1200" i="0" kern="1200">
                    <a:solidFill>
                      <a:schemeClr val="tx1"/>
                    </a:solidFill>
                    <a:latin typeface="Cambria Math" panose="02040503050406030204" pitchFamily="18" charset="0"/>
                    <a:ea typeface="+mn-ea"/>
                    <a:cs typeface="+mn-cs"/>
                  </a:rPr>
                  <a:t>𝐴→𝐵</a:t>
                </a:r>
                <a:endParaRPr lang="en-US" dirty="0"/>
              </a:p>
              <a:p>
                <a:pPr/>
                <a:r>
                  <a:rPr lang="en-US" sz="1200" i="0" kern="1200">
                    <a:solidFill>
                      <a:schemeClr val="tx1"/>
                    </a:solidFill>
                    <a:latin typeface="Cambria Math" panose="02040503050406030204" pitchFamily="18" charset="0"/>
                    <a:ea typeface="+mn-ea"/>
                    <a:cs typeface="+mn-cs"/>
                  </a:rPr>
                  <a:t>𝐵→𝐶</a:t>
                </a:r>
                <a:endParaRPr lang="en-US" dirty="0"/>
              </a:p>
              <a:p>
                <a:pPr/>
                <a:r>
                  <a:rPr lang="en-US" sz="1200" i="0" kern="1200">
                    <a:solidFill>
                      <a:schemeClr val="tx1"/>
                    </a:solidFill>
                    <a:latin typeface="Cambria Math" panose="02040503050406030204" pitchFamily="18" charset="0"/>
                    <a:ea typeface="+mn-ea"/>
                    <a:cs typeface="+mn-cs"/>
                  </a:rPr>
                  <a:t>𝐶→𝐷</a:t>
                </a:r>
                <a:endParaRPr lang="en-US" dirty="0"/>
              </a:p>
              <a:p>
                <a:br>
                  <a:rPr lang="en-US" dirty="0"/>
                </a:br>
                <a:endParaRPr lang="en-US" dirty="0"/>
              </a:p>
              <a:p>
                <a:r>
                  <a:rPr lang="en-US" b="1" dirty="0"/>
                  <a:t>Find A⁺</a:t>
                </a:r>
              </a:p>
              <a:p>
                <a:pPr/>
                <a:r>
                  <a:rPr lang="en-US" sz="1200" i="0" kern="1200">
                    <a:solidFill>
                      <a:schemeClr val="tx1"/>
                    </a:solidFill>
                    <a:latin typeface="Cambria Math" panose="02040503050406030204" pitchFamily="18" charset="0"/>
                    <a:ea typeface="+mn-ea"/>
                    <a:cs typeface="+mn-cs"/>
                  </a:rPr>
                  <a:t>𝐴^+={𝐴ⓜ,𝐵ⓜ,𝐶ⓜ,𝐷}</a:t>
                </a:r>
                <a:endParaRPr lang="en-US" dirty="0"/>
              </a:p>
              <a:p>
                <a:r>
                  <a:rPr lang="en-US" dirty="0"/>
                  <a:t>Contains all attributes.</a:t>
                </a:r>
              </a:p>
              <a:p>
                <a:r>
                  <a:rPr lang="en-US" dirty="0"/>
                  <a:t>So A is a Super Key.</a:t>
                </a:r>
              </a:p>
              <a:p>
                <a:r>
                  <a:rPr lang="en-US" dirty="0"/>
                  <a:t>Since A has only one attribute, nothing can be removed.</a:t>
                </a:r>
              </a:p>
              <a:p>
                <a:r>
                  <a:rPr lang="en-US" dirty="0"/>
                  <a:t>Therefore:</a:t>
                </a:r>
              </a:p>
              <a:p>
                <a:r>
                  <a:rPr lang="en-US" b="1" dirty="0"/>
                  <a:t>Candidate Key = {A}</a:t>
                </a:r>
                <a:endParaRPr lang="en-US" dirty="0"/>
              </a:p>
              <a:p>
                <a:br>
                  <a:rPr lang="en-US" dirty="0"/>
                </a:br>
                <a:endParaRPr lang="en-US" dirty="0"/>
              </a:p>
              <a:p>
                <a:r>
                  <a:rPr lang="en-US" b="1" dirty="0"/>
                  <a:t>Example 2</a:t>
                </a:r>
              </a:p>
              <a:p>
                <a:r>
                  <a:rPr lang="en-US" dirty="0"/>
                  <a:t>Relation:</a:t>
                </a:r>
              </a:p>
              <a:p>
                <a:pPr/>
                <a:r>
                  <a:rPr lang="en-US" sz="1200" i="0" kern="1200">
                    <a:solidFill>
                      <a:schemeClr val="tx1"/>
                    </a:solidFill>
                    <a:latin typeface="Cambria Math" panose="02040503050406030204" pitchFamily="18" charset="0"/>
                    <a:ea typeface="+mn-ea"/>
                    <a:cs typeface="+mn-cs"/>
                  </a:rPr>
                  <a:t>𝑅(𝐴ⓜ,𝐵ⓜ,𝐶ⓜ,𝐷)</a:t>
                </a:r>
                <a:endParaRPr lang="en-US" dirty="0"/>
              </a:p>
              <a:p>
                <a:r>
                  <a:rPr lang="en-US" dirty="0"/>
                  <a:t>FDs:</a:t>
                </a:r>
              </a:p>
              <a:p>
                <a:pPr/>
                <a:r>
                  <a:rPr lang="en-US" sz="1200" i="0" kern="1200">
                    <a:solidFill>
                      <a:schemeClr val="tx1"/>
                    </a:solidFill>
                    <a:latin typeface="Cambria Math" panose="02040503050406030204" pitchFamily="18" charset="0"/>
                    <a:ea typeface="+mn-ea"/>
                    <a:cs typeface="+mn-cs"/>
                  </a:rPr>
                  <a:t>𝐴→𝐵</a:t>
                </a:r>
                <a:endParaRPr lang="en-US" dirty="0"/>
              </a:p>
              <a:p>
                <a:pPr/>
                <a:r>
                  <a:rPr lang="en-US" sz="1200" i="0" kern="1200">
                    <a:solidFill>
                      <a:schemeClr val="tx1"/>
                    </a:solidFill>
                    <a:latin typeface="Cambria Math" panose="02040503050406030204" pitchFamily="18" charset="0"/>
                    <a:ea typeface="+mn-ea"/>
                    <a:cs typeface="+mn-cs"/>
                  </a:rPr>
                  <a:t>𝐶→𝐷</a:t>
                </a:r>
                <a:endParaRPr lang="en-US" dirty="0"/>
              </a:p>
              <a:p>
                <a:br>
                  <a:rPr lang="en-US" dirty="0"/>
                </a:br>
                <a:endParaRPr lang="en-US" dirty="0"/>
              </a:p>
              <a:p>
                <a:r>
                  <a:rPr lang="en-US" b="1" dirty="0"/>
                  <a:t>Find AC⁺</a:t>
                </a:r>
              </a:p>
              <a:p>
                <a:r>
                  <a:rPr lang="en-US" dirty="0"/>
                  <a:t>Start:</a:t>
                </a:r>
              </a:p>
              <a:p>
                <a:pPr/>
                <a:r>
                  <a:rPr lang="en-US" sz="1200" i="0" kern="1200">
                    <a:solidFill>
                      <a:schemeClr val="tx1"/>
                    </a:solidFill>
                    <a:latin typeface="Cambria Math" panose="02040503050406030204" pitchFamily="18" charset="0"/>
                    <a:ea typeface="+mn-ea"/>
                    <a:cs typeface="+mn-cs"/>
                  </a:rPr>
                  <a:t>𝐴𝐶^+={𝐴ⓜ,𝐶}</a:t>
                </a:r>
                <a:endParaRPr lang="en-US" dirty="0"/>
              </a:p>
              <a:p>
                <a:r>
                  <a:rPr lang="en-US" dirty="0"/>
                  <a:t>Apply:</a:t>
                </a:r>
              </a:p>
              <a:p>
                <a:pPr/>
                <a:r>
                  <a:rPr lang="en-US" sz="1200" i="0" kern="1200">
                    <a:solidFill>
                      <a:schemeClr val="tx1"/>
                    </a:solidFill>
                    <a:latin typeface="Cambria Math" panose="02040503050406030204" pitchFamily="18" charset="0"/>
                    <a:ea typeface="+mn-ea"/>
                    <a:cs typeface="+mn-cs"/>
                  </a:rPr>
                  <a:t>𝐴→𝐵</a:t>
                </a:r>
                <a:endParaRPr lang="en-US" dirty="0"/>
              </a:p>
              <a:p>
                <a:pPr/>
                <a:r>
                  <a:rPr lang="en-US" sz="1200" i="0" kern="1200">
                    <a:solidFill>
                      <a:schemeClr val="tx1"/>
                    </a:solidFill>
                    <a:latin typeface="Cambria Math" panose="02040503050406030204" pitchFamily="18" charset="0"/>
                    <a:ea typeface="+mn-ea"/>
                    <a:cs typeface="+mn-cs"/>
                  </a:rPr>
                  <a:t>𝐴𝐶^+={𝐴ⓜ,𝐵ⓜ,𝐶}</a:t>
                </a:r>
                <a:endParaRPr lang="en-US" dirty="0"/>
              </a:p>
              <a:p>
                <a:r>
                  <a:rPr lang="en-US" dirty="0"/>
                  <a:t>Apply:</a:t>
                </a:r>
              </a:p>
              <a:p>
                <a:pPr/>
                <a:r>
                  <a:rPr lang="en-US" sz="1200" i="0" kern="1200">
                    <a:solidFill>
                      <a:schemeClr val="tx1"/>
                    </a:solidFill>
                    <a:latin typeface="Cambria Math" panose="02040503050406030204" pitchFamily="18" charset="0"/>
                    <a:ea typeface="+mn-ea"/>
                    <a:cs typeface="+mn-cs"/>
                  </a:rPr>
                  <a:t>𝐶→𝐷</a:t>
                </a:r>
                <a:endParaRPr lang="en-US" dirty="0"/>
              </a:p>
              <a:p>
                <a:pPr/>
                <a:r>
                  <a:rPr lang="en-US" sz="1200" i="0" kern="1200">
                    <a:solidFill>
                      <a:schemeClr val="tx1"/>
                    </a:solidFill>
                    <a:latin typeface="Cambria Math" panose="02040503050406030204" pitchFamily="18" charset="0"/>
                    <a:ea typeface="+mn-ea"/>
                    <a:cs typeface="+mn-cs"/>
                  </a:rPr>
                  <a:t>𝐴𝐶^+={𝐴ⓜ,𝐵ⓜ,𝐶ⓜ,𝐷}</a:t>
                </a:r>
                <a:endParaRPr lang="en-US" dirty="0"/>
              </a:p>
              <a:p>
                <a:r>
                  <a:rPr lang="en-US" dirty="0"/>
                  <a:t>Contains all attributes.</a:t>
                </a:r>
              </a:p>
              <a:p>
                <a:r>
                  <a:rPr lang="en-US" dirty="0"/>
                  <a:t>So AC is a Super Key.</a:t>
                </a:r>
              </a:p>
              <a:p>
                <a:br>
                  <a:rPr lang="en-US" dirty="0"/>
                </a:br>
                <a:endParaRPr lang="en-US" dirty="0"/>
              </a:p>
              <a:p>
                <a:r>
                  <a:rPr lang="en-US" dirty="0"/>
                  <a:t>Check subsets:</a:t>
                </a:r>
              </a:p>
              <a:p>
                <a:pPr/>
                <a:r>
                  <a:rPr lang="en-US" sz="1200" i="0" kern="1200">
                    <a:solidFill>
                      <a:schemeClr val="tx1"/>
                    </a:solidFill>
                    <a:latin typeface="Cambria Math" panose="02040503050406030204" pitchFamily="18" charset="0"/>
                    <a:ea typeface="+mn-ea"/>
                    <a:cs typeface="+mn-cs"/>
                  </a:rPr>
                  <a:t>𝐴^+={𝐴ⓜ,𝐵}</a:t>
                </a:r>
                <a:endParaRPr lang="en-US" dirty="0"/>
              </a:p>
              <a:p>
                <a:r>
                  <a:rPr lang="en-US" dirty="0"/>
                  <a:t>Not all attributes.</a:t>
                </a:r>
              </a:p>
              <a:p>
                <a:pPr/>
                <a:r>
                  <a:rPr lang="en-US" sz="1200" i="0" kern="1200">
                    <a:solidFill>
                      <a:schemeClr val="tx1"/>
                    </a:solidFill>
                    <a:latin typeface="Cambria Math" panose="02040503050406030204" pitchFamily="18" charset="0"/>
                    <a:ea typeface="+mn-ea"/>
                    <a:cs typeface="+mn-cs"/>
                  </a:rPr>
                  <a:t>𝐶^+={𝐶ⓜ,𝐷}</a:t>
                </a:r>
                <a:endParaRPr lang="en-US" dirty="0"/>
              </a:p>
              <a:p>
                <a:r>
                  <a:rPr lang="en-US" dirty="0"/>
                  <a:t>Not all attributes.</a:t>
                </a:r>
              </a:p>
              <a:p>
                <a:r>
                  <a:rPr lang="en-US" dirty="0"/>
                  <a:t>Therefore neither A nor C alone is sufficient.</a:t>
                </a:r>
              </a:p>
              <a:p>
                <a:r>
                  <a:rPr lang="en-US" dirty="0"/>
                  <a:t>Hence:</a:t>
                </a:r>
              </a:p>
              <a:p>
                <a:r>
                  <a:rPr lang="en-US" b="1" dirty="0"/>
                  <a:t>Candidate Key = {AC}</a:t>
                </a:r>
                <a:endParaRPr lang="en-US" dirty="0"/>
              </a:p>
              <a:p>
                <a:br>
                  <a:rPr lang="en-US" dirty="0"/>
                </a:br>
                <a:endParaRPr lang="en-US" dirty="0"/>
              </a:p>
              <a:p>
                <a:r>
                  <a:rPr lang="en-US" b="1" dirty="0"/>
                  <a:t>Example 3</a:t>
                </a:r>
              </a:p>
              <a:p>
                <a:r>
                  <a:rPr lang="en-US" dirty="0"/>
                  <a:t>Relation:</a:t>
                </a:r>
              </a:p>
              <a:p>
                <a:pPr/>
                <a:r>
                  <a:rPr lang="en-US" sz="1200" i="0" kern="1200">
                    <a:solidFill>
                      <a:schemeClr val="tx1"/>
                    </a:solidFill>
                    <a:latin typeface="Cambria Math" panose="02040503050406030204" pitchFamily="18" charset="0"/>
                    <a:ea typeface="+mn-ea"/>
                    <a:cs typeface="+mn-cs"/>
                  </a:rPr>
                  <a:t>𝑅(𝐴ⓜ,𝐵ⓜ,𝐶ⓜ,𝐷ⓜ,𝐸ⓜ,𝐹)</a:t>
                </a:r>
                <a:endParaRPr lang="en-US" dirty="0"/>
              </a:p>
              <a:p>
                <a:r>
                  <a:rPr lang="en-US" dirty="0"/>
                  <a:t>FDs:</a:t>
                </a:r>
              </a:p>
              <a:p>
                <a:pPr/>
                <a:r>
                  <a:rPr lang="en-US" sz="1200" i="0" kern="1200">
                    <a:solidFill>
                      <a:schemeClr val="tx1"/>
                    </a:solidFill>
                    <a:latin typeface="Cambria Math" panose="02040503050406030204" pitchFamily="18" charset="0"/>
                    <a:ea typeface="+mn-ea"/>
                    <a:cs typeface="+mn-cs"/>
                  </a:rPr>
                  <a:t>𝐴→𝐵𝐶</a:t>
                </a:r>
                <a:endParaRPr lang="en-US" dirty="0"/>
              </a:p>
              <a:p>
                <a:pPr/>
                <a:r>
                  <a:rPr lang="en-US" sz="1200" i="0" kern="1200">
                    <a:solidFill>
                      <a:schemeClr val="tx1"/>
                    </a:solidFill>
                    <a:latin typeface="Cambria Math" panose="02040503050406030204" pitchFamily="18" charset="0"/>
                    <a:ea typeface="+mn-ea"/>
                    <a:cs typeface="+mn-cs"/>
                  </a:rPr>
                  <a:t>𝐵→𝐸</a:t>
                </a:r>
                <a:endParaRPr lang="en-US" dirty="0"/>
              </a:p>
              <a:p>
                <a:pPr/>
                <a:r>
                  <a:rPr lang="en-US" sz="1200" i="0" kern="1200">
                    <a:solidFill>
                      <a:schemeClr val="tx1"/>
                    </a:solidFill>
                    <a:latin typeface="Cambria Math" panose="02040503050406030204" pitchFamily="18" charset="0"/>
                    <a:ea typeface="+mn-ea"/>
                    <a:cs typeface="+mn-cs"/>
                  </a:rPr>
                  <a:t>𝐶→𝐸𝐹</a:t>
                </a:r>
                <a:endParaRPr lang="en-US" dirty="0"/>
              </a:p>
              <a:p>
                <a:pPr/>
                <a:r>
                  <a:rPr lang="en-US" sz="1200" i="0" kern="1200">
                    <a:solidFill>
                      <a:schemeClr val="tx1"/>
                    </a:solidFill>
                    <a:latin typeface="Cambria Math" panose="02040503050406030204" pitchFamily="18" charset="0"/>
                    <a:ea typeface="+mn-ea"/>
                    <a:cs typeface="+mn-cs"/>
                  </a:rPr>
                  <a:t>𝐸→𝐶𝐹</a:t>
                </a:r>
                <a:endParaRPr lang="en-US" dirty="0"/>
              </a:p>
              <a:p>
                <a:br>
                  <a:rPr lang="en-US" dirty="0"/>
                </a:br>
                <a:endParaRPr lang="en-US" dirty="0"/>
              </a:p>
              <a:p>
                <a:r>
                  <a:rPr lang="en-US" b="1" dirty="0"/>
                  <a:t>Step 1: Find attributes not on RHS</a:t>
                </a:r>
              </a:p>
              <a:p>
                <a:r>
                  <a:rPr lang="en-US" dirty="0"/>
                  <a:t>RHS contains:</a:t>
                </a:r>
              </a:p>
              <a:p>
                <a:pPr/>
                <a:r>
                  <a:rPr lang="en-US" sz="1200" i="0" kern="1200">
                    <a:solidFill>
                      <a:schemeClr val="tx1"/>
                    </a:solidFill>
                    <a:latin typeface="Cambria Math" panose="02040503050406030204" pitchFamily="18" charset="0"/>
                    <a:ea typeface="+mn-ea"/>
                    <a:cs typeface="+mn-cs"/>
                  </a:rPr>
                  <a:t>{𝐵ⓜ,𝐶ⓜ,𝐸ⓜ,𝐹}</a:t>
                </a:r>
                <a:endParaRPr lang="en-US" dirty="0"/>
              </a:p>
              <a:p>
                <a:r>
                  <a:rPr lang="en-US" dirty="0"/>
                  <a:t>Attributes not on RHS:</a:t>
                </a:r>
              </a:p>
              <a:p>
                <a:pPr/>
                <a:r>
                  <a:rPr lang="en-US" sz="1200" i="0" kern="1200">
                    <a:solidFill>
                      <a:schemeClr val="tx1"/>
                    </a:solidFill>
                    <a:latin typeface="Cambria Math" panose="02040503050406030204" pitchFamily="18" charset="0"/>
                    <a:ea typeface="+mn-ea"/>
                    <a:cs typeface="+mn-cs"/>
                  </a:rPr>
                  <a:t>{𝐴ⓜ,𝐷}</a:t>
                </a:r>
                <a:endParaRPr lang="en-US" dirty="0"/>
              </a:p>
              <a:p>
                <a:r>
                  <a:rPr lang="en-US" dirty="0"/>
                  <a:t>Therefore every Candidate Key must contain A and D.</a:t>
                </a:r>
              </a:p>
              <a:p>
                <a:br>
                  <a:rPr lang="en-US" dirty="0"/>
                </a:br>
                <a:endParaRPr lang="en-US" dirty="0"/>
              </a:p>
              <a:p>
                <a:r>
                  <a:rPr lang="en-US" b="1" dirty="0"/>
                  <a:t>Step 2: Find (AD)⁺</a:t>
                </a:r>
              </a:p>
              <a:p>
                <a:r>
                  <a:rPr lang="en-US" dirty="0"/>
                  <a:t>Start:</a:t>
                </a:r>
              </a:p>
              <a:p>
                <a:pPr/>
                <a:r>
                  <a:rPr lang="en-US" sz="1200" i="0" kern="1200">
                    <a:solidFill>
                      <a:schemeClr val="tx1"/>
                    </a:solidFill>
                    <a:latin typeface="Cambria Math" panose="02040503050406030204" pitchFamily="18" charset="0"/>
                    <a:ea typeface="+mn-ea"/>
                    <a:cs typeface="+mn-cs"/>
                  </a:rPr>
                  <a:t>(𝐴𝐷)^+={𝐴ⓜ,𝐷}</a:t>
                </a:r>
                <a:endParaRPr lang="en-US" dirty="0"/>
              </a:p>
              <a:p>
                <a:r>
                  <a:rPr lang="en-US" dirty="0"/>
                  <a:t>Using</a:t>
                </a:r>
              </a:p>
              <a:p>
                <a:pPr/>
                <a:r>
                  <a:rPr lang="en-US" sz="1200" i="0" kern="1200">
                    <a:solidFill>
                      <a:schemeClr val="tx1"/>
                    </a:solidFill>
                    <a:latin typeface="Cambria Math" panose="02040503050406030204" pitchFamily="18" charset="0"/>
                    <a:ea typeface="+mn-ea"/>
                    <a:cs typeface="+mn-cs"/>
                  </a:rPr>
                  <a:t>𝐴→𝐵𝐶</a:t>
                </a:r>
                <a:endParaRPr lang="en-US" dirty="0"/>
              </a:p>
              <a:p>
                <a:pPr/>
                <a:r>
                  <a:rPr lang="en-US" sz="1200" i="0" kern="1200">
                    <a:solidFill>
                      <a:schemeClr val="tx1"/>
                    </a:solidFill>
                    <a:latin typeface="Cambria Math" panose="02040503050406030204" pitchFamily="18" charset="0"/>
                    <a:ea typeface="+mn-ea"/>
                    <a:cs typeface="+mn-cs"/>
                  </a:rPr>
                  <a:t>{𝐴ⓜ,𝐵ⓜ,𝐶ⓜ,𝐷}</a:t>
                </a:r>
                <a:endParaRPr lang="en-US" dirty="0"/>
              </a:p>
              <a:p>
                <a:r>
                  <a:rPr lang="en-US" dirty="0"/>
                  <a:t>Using</a:t>
                </a:r>
              </a:p>
              <a:p>
                <a:pPr/>
                <a:r>
                  <a:rPr lang="en-US" sz="1200" i="0" kern="1200">
                    <a:solidFill>
                      <a:schemeClr val="tx1"/>
                    </a:solidFill>
                    <a:latin typeface="Cambria Math" panose="02040503050406030204" pitchFamily="18" charset="0"/>
                    <a:ea typeface="+mn-ea"/>
                    <a:cs typeface="+mn-cs"/>
                  </a:rPr>
                  <a:t>𝐵→𝐸</a:t>
                </a:r>
                <a:endParaRPr lang="en-US" dirty="0"/>
              </a:p>
              <a:p>
                <a:pPr/>
                <a:r>
                  <a:rPr lang="en-US" sz="1200" i="0" kern="1200">
                    <a:solidFill>
                      <a:schemeClr val="tx1"/>
                    </a:solidFill>
                    <a:latin typeface="Cambria Math" panose="02040503050406030204" pitchFamily="18" charset="0"/>
                    <a:ea typeface="+mn-ea"/>
                    <a:cs typeface="+mn-cs"/>
                  </a:rPr>
                  <a:t>{𝐴ⓜ,𝐵ⓜ,𝐶ⓜ,𝐷ⓜ,𝐸}</a:t>
                </a:r>
                <a:endParaRPr lang="en-US" dirty="0"/>
              </a:p>
              <a:p>
                <a:r>
                  <a:rPr lang="en-US" dirty="0"/>
                  <a:t>Using</a:t>
                </a:r>
              </a:p>
              <a:p>
                <a:pPr/>
                <a:r>
                  <a:rPr lang="en-US" sz="1200" i="0" kern="1200">
                    <a:solidFill>
                      <a:schemeClr val="tx1"/>
                    </a:solidFill>
                    <a:latin typeface="Cambria Math" panose="02040503050406030204" pitchFamily="18" charset="0"/>
                    <a:ea typeface="+mn-ea"/>
                    <a:cs typeface="+mn-cs"/>
                  </a:rPr>
                  <a:t>𝐶→𝐹</a:t>
                </a:r>
                <a:endParaRPr lang="en-US" dirty="0"/>
              </a:p>
              <a:p>
                <a:pPr/>
                <a:r>
                  <a:rPr lang="en-US" sz="1200" i="0" kern="1200">
                    <a:solidFill>
                      <a:schemeClr val="tx1"/>
                    </a:solidFill>
                    <a:latin typeface="Cambria Math" panose="02040503050406030204" pitchFamily="18" charset="0"/>
                    <a:ea typeface="+mn-ea"/>
                    <a:cs typeface="+mn-cs"/>
                  </a:rPr>
                  <a:t>{𝐴ⓜ,𝐵ⓜ,𝐶ⓜ,𝐷ⓜ,𝐸ⓜ,𝐹}</a:t>
                </a:r>
                <a:endParaRPr lang="en-US" dirty="0"/>
              </a:p>
              <a:p>
                <a:r>
                  <a:rPr lang="en-US" dirty="0"/>
                  <a:t>All attributes obtained.</a:t>
                </a:r>
              </a:p>
              <a:p>
                <a:r>
                  <a:rPr lang="en-US" dirty="0"/>
                  <a:t>Therefore:</a:t>
                </a:r>
              </a:p>
              <a:p>
                <a:pPr/>
                <a:r>
                  <a:rPr lang="en-US" sz="1200" i="0" kern="1200">
                    <a:solidFill>
                      <a:schemeClr val="tx1"/>
                    </a:solidFill>
                    <a:latin typeface="Cambria Math" panose="02040503050406030204" pitchFamily="18" charset="0"/>
                    <a:ea typeface="+mn-ea"/>
                    <a:cs typeface="+mn-cs"/>
                  </a:rPr>
                  <a:t>(𝐴𝐷)^+=𝑅</a:t>
                </a:r>
                <a:endParaRPr lang="en-US" dirty="0"/>
              </a:p>
              <a:p>
                <a:r>
                  <a:rPr lang="en-US" dirty="0"/>
                  <a:t>So AD is a Super Key.</a:t>
                </a:r>
              </a:p>
              <a:p>
                <a:br>
                  <a:rPr lang="en-US" dirty="0"/>
                </a:br>
                <a:endParaRPr lang="en-US" dirty="0"/>
              </a:p>
              <a:p>
                <a:r>
                  <a:rPr lang="en-US" b="1" dirty="0"/>
                  <a:t>Step 3: Check Minimality</a:t>
                </a:r>
              </a:p>
              <a:p>
                <a:pPr/>
                <a:r>
                  <a:rPr lang="en-US" sz="1200" i="0" kern="1200">
                    <a:solidFill>
                      <a:schemeClr val="tx1"/>
                    </a:solidFill>
                    <a:latin typeface="Cambria Math" panose="02040503050406030204" pitchFamily="18" charset="0"/>
                    <a:ea typeface="+mn-ea"/>
                    <a:cs typeface="+mn-cs"/>
                  </a:rPr>
                  <a:t>𝐴^+={𝐴ⓜ,𝐵ⓜ,𝐶ⓜ,𝐸ⓜ,𝐹}</a:t>
                </a:r>
                <a:endParaRPr lang="en-US" dirty="0"/>
              </a:p>
              <a:p>
                <a:r>
                  <a:rPr lang="en-US" dirty="0"/>
                  <a:t>Missing D.</a:t>
                </a:r>
              </a:p>
              <a:p>
                <a:pPr/>
                <a:r>
                  <a:rPr lang="en-US" sz="1200" i="0" kern="1200">
                    <a:solidFill>
                      <a:schemeClr val="tx1"/>
                    </a:solidFill>
                    <a:latin typeface="Cambria Math" panose="02040503050406030204" pitchFamily="18" charset="0"/>
                    <a:ea typeface="+mn-ea"/>
                    <a:cs typeface="+mn-cs"/>
                  </a:rPr>
                  <a:t>𝐷^+={𝐷}</a:t>
                </a:r>
                <a:endParaRPr lang="en-US" dirty="0"/>
              </a:p>
              <a:p>
                <a:r>
                  <a:rPr lang="en-US" dirty="0"/>
                  <a:t>Missing others.</a:t>
                </a:r>
              </a:p>
              <a:p>
                <a:r>
                  <a:rPr lang="en-US" dirty="0"/>
                  <a:t>Neither A nor D alone works.</a:t>
                </a:r>
              </a:p>
              <a:p>
                <a:r>
                  <a:rPr lang="en-US" dirty="0"/>
                  <a:t>Therefore:</a:t>
                </a:r>
              </a:p>
              <a:p>
                <a:r>
                  <a:rPr lang="en-US" b="1" dirty="0"/>
                  <a:t>Candidate Key = {AD}</a:t>
                </a:r>
                <a:endParaRPr lang="en-US" dirty="0"/>
              </a:p>
              <a:p>
                <a:endParaRPr lang="en-US" dirty="0"/>
              </a:p>
              <a:p>
                <a:endParaRPr lang="en-US" dirty="0"/>
              </a:p>
            </p:txBody>
          </p:sp>
        </mc:Fallback>
      </mc:AlternateContent>
      <p:sp>
        <p:nvSpPr>
          <p:cNvPr id="4" name="Slide Number Placeholder 3"/>
          <p:cNvSpPr>
            <a:spLocks noGrp="1"/>
          </p:cNvSpPr>
          <p:nvPr>
            <p:ph type="sldNum" sz="quarter" idx="5"/>
          </p:nvPr>
        </p:nvSpPr>
        <p:spPr/>
        <p:txBody>
          <a:bodyPr/>
          <a:lstStyle/>
          <a:p>
            <a:fld id="{532ED260-D111-491D-AB9F-FC8569A2A916}" type="slidenum">
              <a:rPr lang="en-US" smtClean="0"/>
              <a:t>62</a:t>
            </a:fld>
            <a:endParaRPr lang="en-US"/>
          </a:p>
        </p:txBody>
      </p:sp>
    </p:spTree>
    <p:extLst>
      <p:ext uri="{BB962C8B-B14F-4D97-AF65-F5344CB8AC3E}">
        <p14:creationId xmlns:p14="http://schemas.microsoft.com/office/powerpoint/2010/main" val="271921804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b="1" dirty="0"/>
                  <a:t>Example 2</a:t>
                </a:r>
              </a:p>
              <a:p>
                <a:r>
                  <a:rPr lang="en-US" dirty="0"/>
                  <a:t>Relation:</a:t>
                </a:r>
              </a:p>
              <a:p>
                <a:pPr/>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𝑅</m:t>
                      </m:r>
                      <m:d>
                        <m:dPr>
                          <m:sepChr m:val=","/>
                          <m:ctrlPr>
                            <a:rPr lang="en-US" sz="1200" i="1" kern="1200">
                              <a:solidFill>
                                <a:schemeClr val="tx1"/>
                              </a:solidFill>
                              <a:latin typeface="Cambria Math" panose="02040503050406030204" pitchFamily="18" charset="0"/>
                              <a:ea typeface="+mn-ea"/>
                              <a:cs typeface="+mn-cs"/>
                            </a:rPr>
                          </m:ctrlPr>
                        </m:dPr>
                        <m:e>
                          <m:r>
                            <a:rPr lang="en-US" sz="1200" i="1" kern="1200">
                              <a:solidFill>
                                <a:schemeClr val="tx1"/>
                              </a:solidFill>
                              <a:latin typeface="Cambria Math" panose="02040503050406030204" pitchFamily="18" charset="0"/>
                              <a:ea typeface="+mn-ea"/>
                              <a:cs typeface="+mn-cs"/>
                            </a:rPr>
                            <m:t>𝐴</m:t>
                          </m:r>
                        </m:e>
                        <m:e>
                          <m:r>
                            <a:rPr lang="en-US" sz="1200" i="1" kern="1200">
                              <a:solidFill>
                                <a:schemeClr val="tx1"/>
                              </a:solidFill>
                              <a:latin typeface="Cambria Math" panose="02040503050406030204" pitchFamily="18" charset="0"/>
                              <a:ea typeface="+mn-ea"/>
                              <a:cs typeface="+mn-cs"/>
                            </a:rPr>
                            <m:t>𝐵</m:t>
                          </m:r>
                        </m:e>
                        <m:e>
                          <m:r>
                            <a:rPr lang="en-US" sz="1200" i="1" kern="1200">
                              <a:solidFill>
                                <a:schemeClr val="tx1"/>
                              </a:solidFill>
                              <a:latin typeface="Cambria Math" panose="02040503050406030204" pitchFamily="18" charset="0"/>
                              <a:ea typeface="+mn-ea"/>
                              <a:cs typeface="+mn-cs"/>
                            </a:rPr>
                            <m:t>𝐶</m:t>
                          </m:r>
                        </m:e>
                        <m:e>
                          <m:r>
                            <a:rPr lang="en-US" sz="1200" i="1" kern="1200">
                              <a:solidFill>
                                <a:schemeClr val="tx1"/>
                              </a:solidFill>
                              <a:latin typeface="Cambria Math" panose="02040503050406030204" pitchFamily="18" charset="0"/>
                              <a:ea typeface="+mn-ea"/>
                              <a:cs typeface="+mn-cs"/>
                            </a:rPr>
                            <m:t>𝐷</m:t>
                          </m:r>
                        </m:e>
                      </m:d>
                    </m:oMath>
                  </m:oMathPara>
                </a14:m>
                <a:endParaRPr lang="en-US" dirty="0"/>
              </a:p>
              <a:p>
                <a:r>
                  <a:rPr lang="en-US" dirty="0"/>
                  <a:t>FDs:</a:t>
                </a:r>
              </a:p>
              <a:p>
                <a:pPr/>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𝐴</m:t>
                      </m:r>
                      <m:r>
                        <a:rPr lang="en-US" sz="1200" i="0" kern="1200">
                          <a:solidFill>
                            <a:schemeClr val="tx1"/>
                          </a:solidFill>
                          <a:latin typeface="Cambria Math" panose="02040503050406030204" pitchFamily="18" charset="0"/>
                          <a:ea typeface="+mn-ea"/>
                          <a:cs typeface="+mn-cs"/>
                        </a:rPr>
                        <m:t>→</m:t>
                      </m:r>
                      <m:r>
                        <a:rPr lang="en-US" sz="1200" i="1" kern="1200">
                          <a:solidFill>
                            <a:schemeClr val="tx1"/>
                          </a:solidFill>
                          <a:latin typeface="Cambria Math" panose="02040503050406030204" pitchFamily="18" charset="0"/>
                          <a:ea typeface="+mn-ea"/>
                          <a:cs typeface="+mn-cs"/>
                        </a:rPr>
                        <m:t>𝐵</m:t>
                      </m:r>
                    </m:oMath>
                  </m:oMathPara>
                </a14:m>
                <a:endParaRPr lang="en-US" dirty="0"/>
              </a:p>
              <a:p>
                <a:pPr/>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𝐶</m:t>
                      </m:r>
                      <m:r>
                        <a:rPr lang="en-US" sz="1200" i="0" kern="1200">
                          <a:solidFill>
                            <a:schemeClr val="tx1"/>
                          </a:solidFill>
                          <a:latin typeface="Cambria Math" panose="02040503050406030204" pitchFamily="18" charset="0"/>
                          <a:ea typeface="+mn-ea"/>
                          <a:cs typeface="+mn-cs"/>
                        </a:rPr>
                        <m:t>→</m:t>
                      </m:r>
                      <m:r>
                        <a:rPr lang="en-US" sz="1200" i="1" kern="1200">
                          <a:solidFill>
                            <a:schemeClr val="tx1"/>
                          </a:solidFill>
                          <a:latin typeface="Cambria Math" panose="02040503050406030204" pitchFamily="18" charset="0"/>
                          <a:ea typeface="+mn-ea"/>
                          <a:cs typeface="+mn-cs"/>
                        </a:rPr>
                        <m:t>𝐷</m:t>
                      </m:r>
                    </m:oMath>
                  </m:oMathPara>
                </a14:m>
                <a:endParaRPr lang="en-US" dirty="0"/>
              </a:p>
              <a:p>
                <a:br>
                  <a:rPr lang="en-US" dirty="0"/>
                </a:br>
                <a:endParaRPr lang="en-US" dirty="0"/>
              </a:p>
              <a:p>
                <a:r>
                  <a:rPr lang="en-US" b="1" dirty="0"/>
                  <a:t>Find AC⁺</a:t>
                </a:r>
              </a:p>
              <a:p>
                <a:r>
                  <a:rPr lang="en-US" dirty="0"/>
                  <a:t>Start:</a:t>
                </a:r>
              </a:p>
              <a:p>
                <a:pPr/>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𝐴</m:t>
                      </m:r>
                      <m:sSup>
                        <m:sSupPr>
                          <m:ctrlPr>
                            <a:rPr lang="en-US" sz="1200" i="1" kern="1200">
                              <a:solidFill>
                                <a:schemeClr val="tx1"/>
                              </a:solidFill>
                              <a:latin typeface="Cambria Math" panose="02040503050406030204" pitchFamily="18" charset="0"/>
                              <a:ea typeface="+mn-ea"/>
                              <a:cs typeface="+mn-cs"/>
                            </a:rPr>
                          </m:ctrlPr>
                        </m:sSupPr>
                        <m:e>
                          <m:r>
                            <a:rPr lang="en-US" sz="1200" i="1" kern="1200">
                              <a:solidFill>
                                <a:schemeClr val="tx1"/>
                              </a:solidFill>
                              <a:latin typeface="Cambria Math" panose="02040503050406030204" pitchFamily="18" charset="0"/>
                              <a:ea typeface="+mn-ea"/>
                              <a:cs typeface="+mn-cs"/>
                            </a:rPr>
                            <m:t>𝐶</m:t>
                          </m:r>
                        </m:e>
                        <m:sup>
                          <m:r>
                            <a:rPr lang="en-US" sz="1200" i="0" kern="1200">
                              <a:solidFill>
                                <a:schemeClr val="tx1"/>
                              </a:solidFill>
                              <a:latin typeface="Cambria Math" panose="02040503050406030204" pitchFamily="18" charset="0"/>
                              <a:ea typeface="+mn-ea"/>
                              <a:cs typeface="+mn-cs"/>
                            </a:rPr>
                            <m:t>+</m:t>
                          </m:r>
                        </m:sup>
                      </m:sSup>
                      <m:r>
                        <a:rPr lang="en-US" sz="1200" i="0" kern="1200">
                          <a:solidFill>
                            <a:schemeClr val="tx1"/>
                          </a:solidFill>
                          <a:latin typeface="Cambria Math" panose="02040503050406030204" pitchFamily="18" charset="0"/>
                          <a:ea typeface="+mn-ea"/>
                          <a:cs typeface="+mn-cs"/>
                        </a:rPr>
                        <m:t>=</m:t>
                      </m:r>
                      <m:d>
                        <m:dPr>
                          <m:begChr m:val="{"/>
                          <m:endChr m:val="}"/>
                          <m:sepChr m:val=","/>
                          <m:ctrlPr>
                            <a:rPr lang="en-US" sz="1200" i="1" kern="1200">
                              <a:solidFill>
                                <a:schemeClr val="tx1"/>
                              </a:solidFill>
                              <a:latin typeface="Cambria Math" panose="02040503050406030204" pitchFamily="18" charset="0"/>
                              <a:ea typeface="+mn-ea"/>
                              <a:cs typeface="+mn-cs"/>
                            </a:rPr>
                          </m:ctrlPr>
                        </m:dPr>
                        <m:e>
                          <m:r>
                            <a:rPr lang="en-US" sz="1200" i="1" kern="1200">
                              <a:solidFill>
                                <a:schemeClr val="tx1"/>
                              </a:solidFill>
                              <a:latin typeface="Cambria Math" panose="02040503050406030204" pitchFamily="18" charset="0"/>
                              <a:ea typeface="+mn-ea"/>
                              <a:cs typeface="+mn-cs"/>
                            </a:rPr>
                            <m:t>𝐴</m:t>
                          </m:r>
                        </m:e>
                        <m:e>
                          <m:r>
                            <a:rPr lang="en-US" sz="1200" i="1" kern="1200">
                              <a:solidFill>
                                <a:schemeClr val="tx1"/>
                              </a:solidFill>
                              <a:latin typeface="Cambria Math" panose="02040503050406030204" pitchFamily="18" charset="0"/>
                              <a:ea typeface="+mn-ea"/>
                              <a:cs typeface="+mn-cs"/>
                            </a:rPr>
                            <m:t>𝐶</m:t>
                          </m:r>
                        </m:e>
                      </m:d>
                    </m:oMath>
                  </m:oMathPara>
                </a14:m>
                <a:endParaRPr lang="en-US" dirty="0"/>
              </a:p>
              <a:p>
                <a:r>
                  <a:rPr lang="en-US" dirty="0"/>
                  <a:t>Apply:</a:t>
                </a:r>
              </a:p>
              <a:p>
                <a:pPr/>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𝐴</m:t>
                      </m:r>
                      <m:r>
                        <a:rPr lang="en-US" sz="1200" i="0" kern="1200">
                          <a:solidFill>
                            <a:schemeClr val="tx1"/>
                          </a:solidFill>
                          <a:latin typeface="Cambria Math" panose="02040503050406030204" pitchFamily="18" charset="0"/>
                          <a:ea typeface="+mn-ea"/>
                          <a:cs typeface="+mn-cs"/>
                        </a:rPr>
                        <m:t>→</m:t>
                      </m:r>
                      <m:r>
                        <a:rPr lang="en-US" sz="1200" i="1" kern="1200">
                          <a:solidFill>
                            <a:schemeClr val="tx1"/>
                          </a:solidFill>
                          <a:latin typeface="Cambria Math" panose="02040503050406030204" pitchFamily="18" charset="0"/>
                          <a:ea typeface="+mn-ea"/>
                          <a:cs typeface="+mn-cs"/>
                        </a:rPr>
                        <m:t>𝐵</m:t>
                      </m:r>
                    </m:oMath>
                  </m:oMathPara>
                </a14:m>
                <a:endParaRPr lang="en-US" dirty="0"/>
              </a:p>
              <a:p>
                <a:pPr/>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𝐴</m:t>
                      </m:r>
                      <m:sSup>
                        <m:sSupPr>
                          <m:ctrlPr>
                            <a:rPr lang="en-US" sz="1200" i="1" kern="1200">
                              <a:solidFill>
                                <a:schemeClr val="tx1"/>
                              </a:solidFill>
                              <a:latin typeface="Cambria Math" panose="02040503050406030204" pitchFamily="18" charset="0"/>
                              <a:ea typeface="+mn-ea"/>
                              <a:cs typeface="+mn-cs"/>
                            </a:rPr>
                          </m:ctrlPr>
                        </m:sSupPr>
                        <m:e>
                          <m:r>
                            <a:rPr lang="en-US" sz="1200" i="1" kern="1200">
                              <a:solidFill>
                                <a:schemeClr val="tx1"/>
                              </a:solidFill>
                              <a:latin typeface="Cambria Math" panose="02040503050406030204" pitchFamily="18" charset="0"/>
                              <a:ea typeface="+mn-ea"/>
                              <a:cs typeface="+mn-cs"/>
                            </a:rPr>
                            <m:t>𝐶</m:t>
                          </m:r>
                        </m:e>
                        <m:sup>
                          <m:r>
                            <a:rPr lang="en-US" sz="1200" i="0" kern="1200">
                              <a:solidFill>
                                <a:schemeClr val="tx1"/>
                              </a:solidFill>
                              <a:latin typeface="Cambria Math" panose="02040503050406030204" pitchFamily="18" charset="0"/>
                              <a:ea typeface="+mn-ea"/>
                              <a:cs typeface="+mn-cs"/>
                            </a:rPr>
                            <m:t>+</m:t>
                          </m:r>
                        </m:sup>
                      </m:sSup>
                      <m:r>
                        <a:rPr lang="en-US" sz="1200" i="0" kern="1200">
                          <a:solidFill>
                            <a:schemeClr val="tx1"/>
                          </a:solidFill>
                          <a:latin typeface="Cambria Math" panose="02040503050406030204" pitchFamily="18" charset="0"/>
                          <a:ea typeface="+mn-ea"/>
                          <a:cs typeface="+mn-cs"/>
                        </a:rPr>
                        <m:t>=</m:t>
                      </m:r>
                      <m:d>
                        <m:dPr>
                          <m:begChr m:val="{"/>
                          <m:endChr m:val="}"/>
                          <m:sepChr m:val=","/>
                          <m:ctrlPr>
                            <a:rPr lang="en-US" sz="1200" i="1" kern="1200">
                              <a:solidFill>
                                <a:schemeClr val="tx1"/>
                              </a:solidFill>
                              <a:latin typeface="Cambria Math" panose="02040503050406030204" pitchFamily="18" charset="0"/>
                              <a:ea typeface="+mn-ea"/>
                              <a:cs typeface="+mn-cs"/>
                            </a:rPr>
                          </m:ctrlPr>
                        </m:dPr>
                        <m:e>
                          <m:r>
                            <a:rPr lang="en-US" sz="1200" i="1" kern="1200">
                              <a:solidFill>
                                <a:schemeClr val="tx1"/>
                              </a:solidFill>
                              <a:latin typeface="Cambria Math" panose="02040503050406030204" pitchFamily="18" charset="0"/>
                              <a:ea typeface="+mn-ea"/>
                              <a:cs typeface="+mn-cs"/>
                            </a:rPr>
                            <m:t>𝐴</m:t>
                          </m:r>
                        </m:e>
                        <m:e>
                          <m:r>
                            <a:rPr lang="en-US" sz="1200" i="1" kern="1200">
                              <a:solidFill>
                                <a:schemeClr val="tx1"/>
                              </a:solidFill>
                              <a:latin typeface="Cambria Math" panose="02040503050406030204" pitchFamily="18" charset="0"/>
                              <a:ea typeface="+mn-ea"/>
                              <a:cs typeface="+mn-cs"/>
                            </a:rPr>
                            <m:t>𝐵</m:t>
                          </m:r>
                        </m:e>
                        <m:e>
                          <m:r>
                            <a:rPr lang="en-US" sz="1200" i="1" kern="1200">
                              <a:solidFill>
                                <a:schemeClr val="tx1"/>
                              </a:solidFill>
                              <a:latin typeface="Cambria Math" panose="02040503050406030204" pitchFamily="18" charset="0"/>
                              <a:ea typeface="+mn-ea"/>
                              <a:cs typeface="+mn-cs"/>
                            </a:rPr>
                            <m:t>𝐶</m:t>
                          </m:r>
                        </m:e>
                      </m:d>
                    </m:oMath>
                  </m:oMathPara>
                </a14:m>
                <a:endParaRPr lang="en-US" dirty="0"/>
              </a:p>
              <a:p>
                <a:r>
                  <a:rPr lang="en-US" dirty="0"/>
                  <a:t>Apply:</a:t>
                </a:r>
              </a:p>
              <a:p>
                <a:pPr/>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𝐶</m:t>
                      </m:r>
                      <m:r>
                        <a:rPr lang="en-US" sz="1200" i="0" kern="1200">
                          <a:solidFill>
                            <a:schemeClr val="tx1"/>
                          </a:solidFill>
                          <a:latin typeface="Cambria Math" panose="02040503050406030204" pitchFamily="18" charset="0"/>
                          <a:ea typeface="+mn-ea"/>
                          <a:cs typeface="+mn-cs"/>
                        </a:rPr>
                        <m:t>→</m:t>
                      </m:r>
                      <m:r>
                        <a:rPr lang="en-US" sz="1200" i="1" kern="1200">
                          <a:solidFill>
                            <a:schemeClr val="tx1"/>
                          </a:solidFill>
                          <a:latin typeface="Cambria Math" panose="02040503050406030204" pitchFamily="18" charset="0"/>
                          <a:ea typeface="+mn-ea"/>
                          <a:cs typeface="+mn-cs"/>
                        </a:rPr>
                        <m:t>𝐷</m:t>
                      </m:r>
                    </m:oMath>
                  </m:oMathPara>
                </a14:m>
                <a:endParaRPr lang="en-US" dirty="0"/>
              </a:p>
              <a:p>
                <a:pPr/>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𝐴</m:t>
                      </m:r>
                      <m:sSup>
                        <m:sSupPr>
                          <m:ctrlPr>
                            <a:rPr lang="en-US" sz="1200" i="1" kern="1200">
                              <a:solidFill>
                                <a:schemeClr val="tx1"/>
                              </a:solidFill>
                              <a:latin typeface="Cambria Math" panose="02040503050406030204" pitchFamily="18" charset="0"/>
                              <a:ea typeface="+mn-ea"/>
                              <a:cs typeface="+mn-cs"/>
                            </a:rPr>
                          </m:ctrlPr>
                        </m:sSupPr>
                        <m:e>
                          <m:r>
                            <a:rPr lang="en-US" sz="1200" i="1" kern="1200">
                              <a:solidFill>
                                <a:schemeClr val="tx1"/>
                              </a:solidFill>
                              <a:latin typeface="Cambria Math" panose="02040503050406030204" pitchFamily="18" charset="0"/>
                              <a:ea typeface="+mn-ea"/>
                              <a:cs typeface="+mn-cs"/>
                            </a:rPr>
                            <m:t>𝐶</m:t>
                          </m:r>
                        </m:e>
                        <m:sup>
                          <m:r>
                            <a:rPr lang="en-US" sz="1200" i="0" kern="1200">
                              <a:solidFill>
                                <a:schemeClr val="tx1"/>
                              </a:solidFill>
                              <a:latin typeface="Cambria Math" panose="02040503050406030204" pitchFamily="18" charset="0"/>
                              <a:ea typeface="+mn-ea"/>
                              <a:cs typeface="+mn-cs"/>
                            </a:rPr>
                            <m:t>+</m:t>
                          </m:r>
                        </m:sup>
                      </m:sSup>
                      <m:r>
                        <a:rPr lang="en-US" sz="1200" i="0" kern="1200">
                          <a:solidFill>
                            <a:schemeClr val="tx1"/>
                          </a:solidFill>
                          <a:latin typeface="Cambria Math" panose="02040503050406030204" pitchFamily="18" charset="0"/>
                          <a:ea typeface="+mn-ea"/>
                          <a:cs typeface="+mn-cs"/>
                        </a:rPr>
                        <m:t>=</m:t>
                      </m:r>
                      <m:d>
                        <m:dPr>
                          <m:begChr m:val="{"/>
                          <m:endChr m:val="}"/>
                          <m:sepChr m:val=","/>
                          <m:ctrlPr>
                            <a:rPr lang="en-US" sz="1200" i="1" kern="1200">
                              <a:solidFill>
                                <a:schemeClr val="tx1"/>
                              </a:solidFill>
                              <a:latin typeface="Cambria Math" panose="02040503050406030204" pitchFamily="18" charset="0"/>
                              <a:ea typeface="+mn-ea"/>
                              <a:cs typeface="+mn-cs"/>
                            </a:rPr>
                          </m:ctrlPr>
                        </m:dPr>
                        <m:e>
                          <m:r>
                            <a:rPr lang="en-US" sz="1200" i="1" kern="1200">
                              <a:solidFill>
                                <a:schemeClr val="tx1"/>
                              </a:solidFill>
                              <a:latin typeface="Cambria Math" panose="02040503050406030204" pitchFamily="18" charset="0"/>
                              <a:ea typeface="+mn-ea"/>
                              <a:cs typeface="+mn-cs"/>
                            </a:rPr>
                            <m:t>𝐴</m:t>
                          </m:r>
                        </m:e>
                        <m:e>
                          <m:r>
                            <a:rPr lang="en-US" sz="1200" i="1" kern="1200">
                              <a:solidFill>
                                <a:schemeClr val="tx1"/>
                              </a:solidFill>
                              <a:latin typeface="Cambria Math" panose="02040503050406030204" pitchFamily="18" charset="0"/>
                              <a:ea typeface="+mn-ea"/>
                              <a:cs typeface="+mn-cs"/>
                            </a:rPr>
                            <m:t>𝐵</m:t>
                          </m:r>
                        </m:e>
                        <m:e>
                          <m:r>
                            <a:rPr lang="en-US" sz="1200" i="1" kern="1200">
                              <a:solidFill>
                                <a:schemeClr val="tx1"/>
                              </a:solidFill>
                              <a:latin typeface="Cambria Math" panose="02040503050406030204" pitchFamily="18" charset="0"/>
                              <a:ea typeface="+mn-ea"/>
                              <a:cs typeface="+mn-cs"/>
                            </a:rPr>
                            <m:t>𝐶</m:t>
                          </m:r>
                        </m:e>
                        <m:e>
                          <m:r>
                            <a:rPr lang="en-US" sz="1200" i="1" kern="1200">
                              <a:solidFill>
                                <a:schemeClr val="tx1"/>
                              </a:solidFill>
                              <a:latin typeface="Cambria Math" panose="02040503050406030204" pitchFamily="18" charset="0"/>
                              <a:ea typeface="+mn-ea"/>
                              <a:cs typeface="+mn-cs"/>
                            </a:rPr>
                            <m:t>𝐷</m:t>
                          </m:r>
                        </m:e>
                      </m:d>
                    </m:oMath>
                  </m:oMathPara>
                </a14:m>
                <a:endParaRPr lang="en-US" dirty="0"/>
              </a:p>
              <a:p>
                <a:r>
                  <a:rPr lang="en-US" dirty="0"/>
                  <a:t>Contains all attributes.</a:t>
                </a:r>
              </a:p>
              <a:p>
                <a:r>
                  <a:rPr lang="en-US" dirty="0"/>
                  <a:t>So AC is a Super Key.</a:t>
                </a:r>
              </a:p>
              <a:p>
                <a:br>
                  <a:rPr lang="en-US" dirty="0"/>
                </a:br>
                <a:endParaRPr lang="en-US" dirty="0"/>
              </a:p>
              <a:p>
                <a:r>
                  <a:rPr lang="en-US" dirty="0"/>
                  <a:t>Check subsets:</a:t>
                </a:r>
              </a:p>
              <a:p>
                <a:pPr/>
                <a14:m>
                  <m:oMathPara xmlns:m="http://schemas.openxmlformats.org/officeDocument/2006/math">
                    <m:oMathParaPr>
                      <m:jc m:val="centerGroup"/>
                    </m:oMathParaPr>
                    <m:oMath xmlns:m="http://schemas.openxmlformats.org/officeDocument/2006/math">
                      <m:sSup>
                        <m:sSupPr>
                          <m:ctrlPr>
                            <a:rPr lang="en-US" sz="1200" i="1" kern="1200">
                              <a:solidFill>
                                <a:schemeClr val="tx1"/>
                              </a:solidFill>
                              <a:latin typeface="Cambria Math" panose="02040503050406030204" pitchFamily="18" charset="0"/>
                              <a:ea typeface="+mn-ea"/>
                              <a:cs typeface="+mn-cs"/>
                            </a:rPr>
                          </m:ctrlPr>
                        </m:sSupPr>
                        <m:e>
                          <m:r>
                            <a:rPr lang="en-US" sz="1200" i="1" kern="1200">
                              <a:solidFill>
                                <a:schemeClr val="tx1"/>
                              </a:solidFill>
                              <a:latin typeface="Cambria Math" panose="02040503050406030204" pitchFamily="18" charset="0"/>
                              <a:ea typeface="+mn-ea"/>
                              <a:cs typeface="+mn-cs"/>
                            </a:rPr>
                            <m:t>𝐴</m:t>
                          </m:r>
                        </m:e>
                        <m:sup>
                          <m:r>
                            <a:rPr lang="en-US" sz="1200" i="0" kern="1200">
                              <a:solidFill>
                                <a:schemeClr val="tx1"/>
                              </a:solidFill>
                              <a:latin typeface="Cambria Math" panose="02040503050406030204" pitchFamily="18" charset="0"/>
                              <a:ea typeface="+mn-ea"/>
                              <a:cs typeface="+mn-cs"/>
                            </a:rPr>
                            <m:t>+</m:t>
                          </m:r>
                        </m:sup>
                      </m:sSup>
                      <m:r>
                        <a:rPr lang="en-US" sz="1200" i="0" kern="1200">
                          <a:solidFill>
                            <a:schemeClr val="tx1"/>
                          </a:solidFill>
                          <a:latin typeface="Cambria Math" panose="02040503050406030204" pitchFamily="18" charset="0"/>
                          <a:ea typeface="+mn-ea"/>
                          <a:cs typeface="+mn-cs"/>
                        </a:rPr>
                        <m:t>=</m:t>
                      </m:r>
                      <m:d>
                        <m:dPr>
                          <m:begChr m:val="{"/>
                          <m:endChr m:val="}"/>
                          <m:sepChr m:val=","/>
                          <m:ctrlPr>
                            <a:rPr lang="en-US" sz="1200" i="1" kern="1200">
                              <a:solidFill>
                                <a:schemeClr val="tx1"/>
                              </a:solidFill>
                              <a:latin typeface="Cambria Math" panose="02040503050406030204" pitchFamily="18" charset="0"/>
                              <a:ea typeface="+mn-ea"/>
                              <a:cs typeface="+mn-cs"/>
                            </a:rPr>
                          </m:ctrlPr>
                        </m:dPr>
                        <m:e>
                          <m:r>
                            <a:rPr lang="en-US" sz="1200" i="1" kern="1200">
                              <a:solidFill>
                                <a:schemeClr val="tx1"/>
                              </a:solidFill>
                              <a:latin typeface="Cambria Math" panose="02040503050406030204" pitchFamily="18" charset="0"/>
                              <a:ea typeface="+mn-ea"/>
                              <a:cs typeface="+mn-cs"/>
                            </a:rPr>
                            <m:t>𝐴</m:t>
                          </m:r>
                        </m:e>
                        <m:e>
                          <m:r>
                            <a:rPr lang="en-US" sz="1200" i="1" kern="1200">
                              <a:solidFill>
                                <a:schemeClr val="tx1"/>
                              </a:solidFill>
                              <a:latin typeface="Cambria Math" panose="02040503050406030204" pitchFamily="18" charset="0"/>
                              <a:ea typeface="+mn-ea"/>
                              <a:cs typeface="+mn-cs"/>
                            </a:rPr>
                            <m:t>𝐵</m:t>
                          </m:r>
                        </m:e>
                      </m:d>
                    </m:oMath>
                  </m:oMathPara>
                </a14:m>
                <a:endParaRPr lang="en-US" dirty="0"/>
              </a:p>
              <a:p>
                <a:r>
                  <a:rPr lang="en-US" dirty="0"/>
                  <a:t>Not all attributes.</a:t>
                </a:r>
              </a:p>
              <a:p>
                <a:pPr/>
                <a14:m>
                  <m:oMathPara xmlns:m="http://schemas.openxmlformats.org/officeDocument/2006/math">
                    <m:oMathParaPr>
                      <m:jc m:val="centerGroup"/>
                    </m:oMathParaPr>
                    <m:oMath xmlns:m="http://schemas.openxmlformats.org/officeDocument/2006/math">
                      <m:sSup>
                        <m:sSupPr>
                          <m:ctrlPr>
                            <a:rPr lang="en-US" sz="1200" i="1" kern="1200">
                              <a:solidFill>
                                <a:schemeClr val="tx1"/>
                              </a:solidFill>
                              <a:latin typeface="Cambria Math" panose="02040503050406030204" pitchFamily="18" charset="0"/>
                              <a:ea typeface="+mn-ea"/>
                              <a:cs typeface="+mn-cs"/>
                            </a:rPr>
                          </m:ctrlPr>
                        </m:sSupPr>
                        <m:e>
                          <m:r>
                            <a:rPr lang="en-US" sz="1200" i="1" kern="1200">
                              <a:solidFill>
                                <a:schemeClr val="tx1"/>
                              </a:solidFill>
                              <a:latin typeface="Cambria Math" panose="02040503050406030204" pitchFamily="18" charset="0"/>
                              <a:ea typeface="+mn-ea"/>
                              <a:cs typeface="+mn-cs"/>
                            </a:rPr>
                            <m:t>𝐶</m:t>
                          </m:r>
                        </m:e>
                        <m:sup>
                          <m:r>
                            <a:rPr lang="en-US" sz="1200" i="0" kern="1200">
                              <a:solidFill>
                                <a:schemeClr val="tx1"/>
                              </a:solidFill>
                              <a:latin typeface="Cambria Math" panose="02040503050406030204" pitchFamily="18" charset="0"/>
                              <a:ea typeface="+mn-ea"/>
                              <a:cs typeface="+mn-cs"/>
                            </a:rPr>
                            <m:t>+</m:t>
                          </m:r>
                        </m:sup>
                      </m:sSup>
                      <m:r>
                        <a:rPr lang="en-US" sz="1200" i="0" kern="1200">
                          <a:solidFill>
                            <a:schemeClr val="tx1"/>
                          </a:solidFill>
                          <a:latin typeface="Cambria Math" panose="02040503050406030204" pitchFamily="18" charset="0"/>
                          <a:ea typeface="+mn-ea"/>
                          <a:cs typeface="+mn-cs"/>
                        </a:rPr>
                        <m:t>=</m:t>
                      </m:r>
                      <m:d>
                        <m:dPr>
                          <m:begChr m:val="{"/>
                          <m:endChr m:val="}"/>
                          <m:sepChr m:val=","/>
                          <m:ctrlPr>
                            <a:rPr lang="en-US" sz="1200" i="1" kern="1200">
                              <a:solidFill>
                                <a:schemeClr val="tx1"/>
                              </a:solidFill>
                              <a:latin typeface="Cambria Math" panose="02040503050406030204" pitchFamily="18" charset="0"/>
                              <a:ea typeface="+mn-ea"/>
                              <a:cs typeface="+mn-cs"/>
                            </a:rPr>
                          </m:ctrlPr>
                        </m:dPr>
                        <m:e>
                          <m:r>
                            <a:rPr lang="en-US" sz="1200" i="1" kern="1200">
                              <a:solidFill>
                                <a:schemeClr val="tx1"/>
                              </a:solidFill>
                              <a:latin typeface="Cambria Math" panose="02040503050406030204" pitchFamily="18" charset="0"/>
                              <a:ea typeface="+mn-ea"/>
                              <a:cs typeface="+mn-cs"/>
                            </a:rPr>
                            <m:t>𝐶</m:t>
                          </m:r>
                        </m:e>
                        <m:e>
                          <m:r>
                            <a:rPr lang="en-US" sz="1200" i="1" kern="1200">
                              <a:solidFill>
                                <a:schemeClr val="tx1"/>
                              </a:solidFill>
                              <a:latin typeface="Cambria Math" panose="02040503050406030204" pitchFamily="18" charset="0"/>
                              <a:ea typeface="+mn-ea"/>
                              <a:cs typeface="+mn-cs"/>
                            </a:rPr>
                            <m:t>𝐷</m:t>
                          </m:r>
                        </m:e>
                      </m:d>
                    </m:oMath>
                  </m:oMathPara>
                </a14:m>
                <a:endParaRPr lang="en-US" dirty="0"/>
              </a:p>
              <a:p>
                <a:r>
                  <a:rPr lang="en-US" dirty="0"/>
                  <a:t>Not all attributes.</a:t>
                </a:r>
              </a:p>
              <a:p>
                <a:r>
                  <a:rPr lang="en-US" dirty="0"/>
                  <a:t>Therefore neither A nor C alone is sufficient.</a:t>
                </a:r>
              </a:p>
              <a:p>
                <a:r>
                  <a:rPr lang="en-US" dirty="0"/>
                  <a:t>Hence:</a:t>
                </a:r>
              </a:p>
              <a:p>
                <a:r>
                  <a:rPr lang="en-US" b="1" dirty="0"/>
                  <a:t>Candidate Key = {AC}</a:t>
                </a:r>
                <a:endParaRPr lang="en-US" dirty="0"/>
              </a:p>
              <a:p>
                <a:r>
                  <a:rPr lang="en-US" dirty="0"/>
                  <a:t>.</a:t>
                </a:r>
              </a:p>
              <a:p>
                <a:endParaRPr lang="en-US" dirty="0"/>
              </a:p>
              <a:p>
                <a:endParaRPr lang="en-US" dirty="0"/>
              </a:p>
              <a:p>
                <a:endParaRPr lang="en-US" dirty="0"/>
              </a:p>
              <a:p>
                <a:r>
                  <a:rPr lang="en-US" b="1" dirty="0"/>
                  <a:t>Example 3</a:t>
                </a:r>
              </a:p>
              <a:p>
                <a:r>
                  <a:rPr lang="en-US" dirty="0"/>
                  <a:t>Relation:</a:t>
                </a:r>
              </a:p>
              <a:p>
                <a:pPr/>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𝑅</m:t>
                      </m:r>
                      <m:d>
                        <m:dPr>
                          <m:sepChr m:val=","/>
                          <m:ctrlPr>
                            <a:rPr lang="en-US" sz="1200" i="1" kern="1200">
                              <a:solidFill>
                                <a:schemeClr val="tx1"/>
                              </a:solidFill>
                              <a:latin typeface="Cambria Math" panose="02040503050406030204" pitchFamily="18" charset="0"/>
                              <a:ea typeface="+mn-ea"/>
                              <a:cs typeface="+mn-cs"/>
                            </a:rPr>
                          </m:ctrlPr>
                        </m:dPr>
                        <m:e>
                          <m:r>
                            <a:rPr lang="en-US" sz="1200" i="1" kern="1200">
                              <a:solidFill>
                                <a:schemeClr val="tx1"/>
                              </a:solidFill>
                              <a:latin typeface="Cambria Math" panose="02040503050406030204" pitchFamily="18" charset="0"/>
                              <a:ea typeface="+mn-ea"/>
                              <a:cs typeface="+mn-cs"/>
                            </a:rPr>
                            <m:t>𝐴</m:t>
                          </m:r>
                        </m:e>
                        <m:e>
                          <m:r>
                            <a:rPr lang="en-US" sz="1200" i="1" kern="1200">
                              <a:solidFill>
                                <a:schemeClr val="tx1"/>
                              </a:solidFill>
                              <a:latin typeface="Cambria Math" panose="02040503050406030204" pitchFamily="18" charset="0"/>
                              <a:ea typeface="+mn-ea"/>
                              <a:cs typeface="+mn-cs"/>
                            </a:rPr>
                            <m:t>𝐵</m:t>
                          </m:r>
                        </m:e>
                        <m:e>
                          <m:r>
                            <a:rPr lang="en-US" sz="1200" i="1" kern="1200">
                              <a:solidFill>
                                <a:schemeClr val="tx1"/>
                              </a:solidFill>
                              <a:latin typeface="Cambria Math" panose="02040503050406030204" pitchFamily="18" charset="0"/>
                              <a:ea typeface="+mn-ea"/>
                              <a:cs typeface="+mn-cs"/>
                            </a:rPr>
                            <m:t>𝐶</m:t>
                          </m:r>
                        </m:e>
                        <m:e>
                          <m:r>
                            <a:rPr lang="en-US" sz="1200" i="1" kern="1200">
                              <a:solidFill>
                                <a:schemeClr val="tx1"/>
                              </a:solidFill>
                              <a:latin typeface="Cambria Math" panose="02040503050406030204" pitchFamily="18" charset="0"/>
                              <a:ea typeface="+mn-ea"/>
                              <a:cs typeface="+mn-cs"/>
                            </a:rPr>
                            <m:t>𝐷</m:t>
                          </m:r>
                        </m:e>
                        <m:e>
                          <m:r>
                            <a:rPr lang="en-US" sz="1200" i="1" kern="1200">
                              <a:solidFill>
                                <a:schemeClr val="tx1"/>
                              </a:solidFill>
                              <a:latin typeface="Cambria Math" panose="02040503050406030204" pitchFamily="18" charset="0"/>
                              <a:ea typeface="+mn-ea"/>
                              <a:cs typeface="+mn-cs"/>
                            </a:rPr>
                            <m:t>𝐸</m:t>
                          </m:r>
                        </m:e>
                        <m:e>
                          <m:r>
                            <a:rPr lang="en-US" sz="1200" i="1" kern="1200">
                              <a:solidFill>
                                <a:schemeClr val="tx1"/>
                              </a:solidFill>
                              <a:latin typeface="Cambria Math" panose="02040503050406030204" pitchFamily="18" charset="0"/>
                              <a:ea typeface="+mn-ea"/>
                              <a:cs typeface="+mn-cs"/>
                            </a:rPr>
                            <m:t>𝐹</m:t>
                          </m:r>
                        </m:e>
                      </m:d>
                    </m:oMath>
                  </m:oMathPara>
                </a14:m>
                <a:endParaRPr lang="en-US" dirty="0"/>
              </a:p>
              <a:p>
                <a:r>
                  <a:rPr lang="en-US" dirty="0"/>
                  <a:t>FDs:</a:t>
                </a:r>
              </a:p>
              <a:p>
                <a:pPr/>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𝐴</m:t>
                      </m:r>
                      <m:r>
                        <a:rPr lang="en-US" sz="1200" i="0" kern="1200">
                          <a:solidFill>
                            <a:schemeClr val="tx1"/>
                          </a:solidFill>
                          <a:latin typeface="Cambria Math" panose="02040503050406030204" pitchFamily="18" charset="0"/>
                          <a:ea typeface="+mn-ea"/>
                          <a:cs typeface="+mn-cs"/>
                        </a:rPr>
                        <m:t>→</m:t>
                      </m:r>
                      <m:r>
                        <a:rPr lang="en-US" sz="1200" i="1" kern="1200">
                          <a:solidFill>
                            <a:schemeClr val="tx1"/>
                          </a:solidFill>
                          <a:latin typeface="Cambria Math" panose="02040503050406030204" pitchFamily="18" charset="0"/>
                          <a:ea typeface="+mn-ea"/>
                          <a:cs typeface="+mn-cs"/>
                        </a:rPr>
                        <m:t>𝐵𝐶</m:t>
                      </m:r>
                    </m:oMath>
                  </m:oMathPara>
                </a14:m>
                <a:endParaRPr lang="en-US" dirty="0"/>
              </a:p>
              <a:p>
                <a:pPr/>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𝐵</m:t>
                      </m:r>
                      <m:r>
                        <a:rPr lang="en-US" sz="1200" i="0" kern="1200">
                          <a:solidFill>
                            <a:schemeClr val="tx1"/>
                          </a:solidFill>
                          <a:latin typeface="Cambria Math" panose="02040503050406030204" pitchFamily="18" charset="0"/>
                          <a:ea typeface="+mn-ea"/>
                          <a:cs typeface="+mn-cs"/>
                        </a:rPr>
                        <m:t>→</m:t>
                      </m:r>
                      <m:r>
                        <a:rPr lang="en-US" sz="1200" i="1" kern="1200">
                          <a:solidFill>
                            <a:schemeClr val="tx1"/>
                          </a:solidFill>
                          <a:latin typeface="Cambria Math" panose="02040503050406030204" pitchFamily="18" charset="0"/>
                          <a:ea typeface="+mn-ea"/>
                          <a:cs typeface="+mn-cs"/>
                        </a:rPr>
                        <m:t>𝐸</m:t>
                      </m:r>
                    </m:oMath>
                  </m:oMathPara>
                </a14:m>
                <a:endParaRPr lang="en-US" dirty="0"/>
              </a:p>
              <a:p>
                <a:pPr/>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𝐶</m:t>
                      </m:r>
                      <m:r>
                        <a:rPr lang="en-US" sz="1200" i="0" kern="1200">
                          <a:solidFill>
                            <a:schemeClr val="tx1"/>
                          </a:solidFill>
                          <a:latin typeface="Cambria Math" panose="02040503050406030204" pitchFamily="18" charset="0"/>
                          <a:ea typeface="+mn-ea"/>
                          <a:cs typeface="+mn-cs"/>
                        </a:rPr>
                        <m:t>→</m:t>
                      </m:r>
                      <m:r>
                        <a:rPr lang="en-US" sz="1200" i="1" kern="1200">
                          <a:solidFill>
                            <a:schemeClr val="tx1"/>
                          </a:solidFill>
                          <a:latin typeface="Cambria Math" panose="02040503050406030204" pitchFamily="18" charset="0"/>
                          <a:ea typeface="+mn-ea"/>
                          <a:cs typeface="+mn-cs"/>
                        </a:rPr>
                        <m:t>𝐸𝐹</m:t>
                      </m:r>
                    </m:oMath>
                  </m:oMathPara>
                </a14:m>
                <a:endParaRPr lang="en-US" dirty="0"/>
              </a:p>
              <a:p>
                <a:pPr/>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𝐸</m:t>
                      </m:r>
                      <m:r>
                        <a:rPr lang="en-US" sz="1200" i="0" kern="1200">
                          <a:solidFill>
                            <a:schemeClr val="tx1"/>
                          </a:solidFill>
                          <a:latin typeface="Cambria Math" panose="02040503050406030204" pitchFamily="18" charset="0"/>
                          <a:ea typeface="+mn-ea"/>
                          <a:cs typeface="+mn-cs"/>
                        </a:rPr>
                        <m:t>→</m:t>
                      </m:r>
                      <m:r>
                        <a:rPr lang="en-US" sz="1200" i="1" kern="1200">
                          <a:solidFill>
                            <a:schemeClr val="tx1"/>
                          </a:solidFill>
                          <a:latin typeface="Cambria Math" panose="02040503050406030204" pitchFamily="18" charset="0"/>
                          <a:ea typeface="+mn-ea"/>
                          <a:cs typeface="+mn-cs"/>
                        </a:rPr>
                        <m:t>𝐶𝐹</m:t>
                      </m:r>
                    </m:oMath>
                  </m:oMathPara>
                </a14:m>
                <a:endParaRPr lang="en-US" dirty="0"/>
              </a:p>
              <a:p>
                <a:br>
                  <a:rPr lang="en-US" dirty="0"/>
                </a:br>
                <a:endParaRPr lang="en-US" dirty="0"/>
              </a:p>
              <a:p>
                <a:r>
                  <a:rPr lang="en-US" b="1" dirty="0"/>
                  <a:t>Step 1: Find attributes not on RHS</a:t>
                </a:r>
              </a:p>
              <a:p>
                <a:r>
                  <a:rPr lang="en-US" dirty="0"/>
                  <a:t>RHS contains:</a:t>
                </a:r>
              </a:p>
              <a:p>
                <a:pPr/>
                <a14:m>
                  <m:oMathPara xmlns:m="http://schemas.openxmlformats.org/officeDocument/2006/math">
                    <m:oMathParaPr>
                      <m:jc m:val="centerGroup"/>
                    </m:oMathParaPr>
                    <m:oMath xmlns:m="http://schemas.openxmlformats.org/officeDocument/2006/math">
                      <m:d>
                        <m:dPr>
                          <m:begChr m:val="{"/>
                          <m:endChr m:val="}"/>
                          <m:sepChr m:val=","/>
                          <m:ctrlPr>
                            <a:rPr lang="en-US" sz="1200" i="1" kern="1200">
                              <a:solidFill>
                                <a:schemeClr val="tx1"/>
                              </a:solidFill>
                              <a:latin typeface="Cambria Math" panose="02040503050406030204" pitchFamily="18" charset="0"/>
                              <a:ea typeface="+mn-ea"/>
                              <a:cs typeface="+mn-cs"/>
                            </a:rPr>
                          </m:ctrlPr>
                        </m:dPr>
                        <m:e>
                          <m:r>
                            <a:rPr lang="en-US" sz="1200" i="1" kern="1200">
                              <a:solidFill>
                                <a:schemeClr val="tx1"/>
                              </a:solidFill>
                              <a:latin typeface="Cambria Math" panose="02040503050406030204" pitchFamily="18" charset="0"/>
                              <a:ea typeface="+mn-ea"/>
                              <a:cs typeface="+mn-cs"/>
                            </a:rPr>
                            <m:t>𝐵</m:t>
                          </m:r>
                        </m:e>
                        <m:e>
                          <m:r>
                            <a:rPr lang="en-US" sz="1200" i="1" kern="1200">
                              <a:solidFill>
                                <a:schemeClr val="tx1"/>
                              </a:solidFill>
                              <a:latin typeface="Cambria Math" panose="02040503050406030204" pitchFamily="18" charset="0"/>
                              <a:ea typeface="+mn-ea"/>
                              <a:cs typeface="+mn-cs"/>
                            </a:rPr>
                            <m:t>𝐶</m:t>
                          </m:r>
                        </m:e>
                        <m:e>
                          <m:r>
                            <a:rPr lang="en-US" sz="1200" i="1" kern="1200">
                              <a:solidFill>
                                <a:schemeClr val="tx1"/>
                              </a:solidFill>
                              <a:latin typeface="Cambria Math" panose="02040503050406030204" pitchFamily="18" charset="0"/>
                              <a:ea typeface="+mn-ea"/>
                              <a:cs typeface="+mn-cs"/>
                            </a:rPr>
                            <m:t>𝐸</m:t>
                          </m:r>
                        </m:e>
                        <m:e>
                          <m:r>
                            <a:rPr lang="en-US" sz="1200" i="1" kern="1200">
                              <a:solidFill>
                                <a:schemeClr val="tx1"/>
                              </a:solidFill>
                              <a:latin typeface="Cambria Math" panose="02040503050406030204" pitchFamily="18" charset="0"/>
                              <a:ea typeface="+mn-ea"/>
                              <a:cs typeface="+mn-cs"/>
                            </a:rPr>
                            <m:t>𝐹</m:t>
                          </m:r>
                        </m:e>
                      </m:d>
                    </m:oMath>
                  </m:oMathPara>
                </a14:m>
                <a:endParaRPr lang="en-US" dirty="0"/>
              </a:p>
              <a:p>
                <a:r>
                  <a:rPr lang="en-US" dirty="0"/>
                  <a:t>Attributes not on RHS:</a:t>
                </a:r>
              </a:p>
              <a:p>
                <a:pPr/>
                <a14:m>
                  <m:oMathPara xmlns:m="http://schemas.openxmlformats.org/officeDocument/2006/math">
                    <m:oMathParaPr>
                      <m:jc m:val="centerGroup"/>
                    </m:oMathParaPr>
                    <m:oMath xmlns:m="http://schemas.openxmlformats.org/officeDocument/2006/math">
                      <m:d>
                        <m:dPr>
                          <m:begChr m:val="{"/>
                          <m:endChr m:val="}"/>
                          <m:sepChr m:val=","/>
                          <m:ctrlPr>
                            <a:rPr lang="en-US" sz="1200" i="1" kern="1200">
                              <a:solidFill>
                                <a:schemeClr val="tx1"/>
                              </a:solidFill>
                              <a:latin typeface="Cambria Math" panose="02040503050406030204" pitchFamily="18" charset="0"/>
                              <a:ea typeface="+mn-ea"/>
                              <a:cs typeface="+mn-cs"/>
                            </a:rPr>
                          </m:ctrlPr>
                        </m:dPr>
                        <m:e>
                          <m:r>
                            <a:rPr lang="en-US" sz="1200" i="1" kern="1200">
                              <a:solidFill>
                                <a:schemeClr val="tx1"/>
                              </a:solidFill>
                              <a:latin typeface="Cambria Math" panose="02040503050406030204" pitchFamily="18" charset="0"/>
                              <a:ea typeface="+mn-ea"/>
                              <a:cs typeface="+mn-cs"/>
                            </a:rPr>
                            <m:t>𝐴</m:t>
                          </m:r>
                        </m:e>
                        <m:e>
                          <m:r>
                            <a:rPr lang="en-US" sz="1200" i="1" kern="1200">
                              <a:solidFill>
                                <a:schemeClr val="tx1"/>
                              </a:solidFill>
                              <a:latin typeface="Cambria Math" panose="02040503050406030204" pitchFamily="18" charset="0"/>
                              <a:ea typeface="+mn-ea"/>
                              <a:cs typeface="+mn-cs"/>
                            </a:rPr>
                            <m:t>𝐷</m:t>
                          </m:r>
                        </m:e>
                      </m:d>
                    </m:oMath>
                  </m:oMathPara>
                </a14:m>
                <a:endParaRPr lang="en-US" dirty="0"/>
              </a:p>
              <a:p>
                <a:r>
                  <a:rPr lang="en-US" dirty="0"/>
                  <a:t>Therefore every Candidate Key must contain A and D.</a:t>
                </a:r>
              </a:p>
              <a:p>
                <a:br>
                  <a:rPr lang="en-US" dirty="0"/>
                </a:br>
                <a:endParaRPr lang="en-US" dirty="0"/>
              </a:p>
              <a:p>
                <a:r>
                  <a:rPr lang="en-US" b="1" dirty="0"/>
                  <a:t>Step 2: Find (AD)⁺</a:t>
                </a:r>
              </a:p>
              <a:p>
                <a:r>
                  <a:rPr lang="en-US" dirty="0"/>
                  <a:t>Start:</a:t>
                </a:r>
              </a:p>
              <a:p>
                <a:pPr/>
                <a14:m>
                  <m:oMathPara xmlns:m="http://schemas.openxmlformats.org/officeDocument/2006/math">
                    <m:oMathParaPr>
                      <m:jc m:val="centerGroup"/>
                    </m:oMathParaPr>
                    <m:oMath xmlns:m="http://schemas.openxmlformats.org/officeDocument/2006/math">
                      <m:sSup>
                        <m:sSupPr>
                          <m:ctrlPr>
                            <a:rPr lang="en-US" sz="1200" i="1" kern="1200">
                              <a:solidFill>
                                <a:schemeClr val="tx1"/>
                              </a:solidFill>
                              <a:latin typeface="Cambria Math" panose="02040503050406030204" pitchFamily="18" charset="0"/>
                              <a:ea typeface="+mn-ea"/>
                              <a:cs typeface="+mn-cs"/>
                            </a:rPr>
                          </m:ctrlPr>
                        </m:sSupPr>
                        <m:e>
                          <m:d>
                            <m:dPr>
                              <m:ctrlPr>
                                <a:rPr lang="en-US" sz="1200" i="1" kern="1200">
                                  <a:solidFill>
                                    <a:schemeClr val="tx1"/>
                                  </a:solidFill>
                                  <a:latin typeface="Cambria Math" panose="02040503050406030204" pitchFamily="18" charset="0"/>
                                  <a:ea typeface="+mn-ea"/>
                                  <a:cs typeface="+mn-cs"/>
                                </a:rPr>
                              </m:ctrlPr>
                            </m:dPr>
                            <m:e>
                              <m:r>
                                <a:rPr lang="en-US" sz="1200" i="1" kern="1200">
                                  <a:solidFill>
                                    <a:schemeClr val="tx1"/>
                                  </a:solidFill>
                                  <a:latin typeface="Cambria Math" panose="02040503050406030204" pitchFamily="18" charset="0"/>
                                  <a:ea typeface="+mn-ea"/>
                                  <a:cs typeface="+mn-cs"/>
                                </a:rPr>
                                <m:t>𝐴𝐷</m:t>
                              </m:r>
                            </m:e>
                          </m:d>
                        </m:e>
                        <m:sup>
                          <m:r>
                            <a:rPr lang="en-US" sz="1200" i="0" kern="1200">
                              <a:solidFill>
                                <a:schemeClr val="tx1"/>
                              </a:solidFill>
                              <a:latin typeface="Cambria Math" panose="02040503050406030204" pitchFamily="18" charset="0"/>
                              <a:ea typeface="+mn-ea"/>
                              <a:cs typeface="+mn-cs"/>
                            </a:rPr>
                            <m:t>+</m:t>
                          </m:r>
                        </m:sup>
                      </m:sSup>
                      <m:r>
                        <a:rPr lang="en-US" sz="1200" i="0" kern="1200">
                          <a:solidFill>
                            <a:schemeClr val="tx1"/>
                          </a:solidFill>
                          <a:latin typeface="Cambria Math" panose="02040503050406030204" pitchFamily="18" charset="0"/>
                          <a:ea typeface="+mn-ea"/>
                          <a:cs typeface="+mn-cs"/>
                        </a:rPr>
                        <m:t>=</m:t>
                      </m:r>
                      <m:d>
                        <m:dPr>
                          <m:begChr m:val="{"/>
                          <m:endChr m:val="}"/>
                          <m:sepChr m:val=","/>
                          <m:ctrlPr>
                            <a:rPr lang="en-US" sz="1200" i="1" kern="1200">
                              <a:solidFill>
                                <a:schemeClr val="tx1"/>
                              </a:solidFill>
                              <a:latin typeface="Cambria Math" panose="02040503050406030204" pitchFamily="18" charset="0"/>
                              <a:ea typeface="+mn-ea"/>
                              <a:cs typeface="+mn-cs"/>
                            </a:rPr>
                          </m:ctrlPr>
                        </m:dPr>
                        <m:e>
                          <m:r>
                            <a:rPr lang="en-US" sz="1200" i="1" kern="1200">
                              <a:solidFill>
                                <a:schemeClr val="tx1"/>
                              </a:solidFill>
                              <a:latin typeface="Cambria Math" panose="02040503050406030204" pitchFamily="18" charset="0"/>
                              <a:ea typeface="+mn-ea"/>
                              <a:cs typeface="+mn-cs"/>
                            </a:rPr>
                            <m:t>𝐴</m:t>
                          </m:r>
                        </m:e>
                        <m:e>
                          <m:r>
                            <a:rPr lang="en-US" sz="1200" i="1" kern="1200">
                              <a:solidFill>
                                <a:schemeClr val="tx1"/>
                              </a:solidFill>
                              <a:latin typeface="Cambria Math" panose="02040503050406030204" pitchFamily="18" charset="0"/>
                              <a:ea typeface="+mn-ea"/>
                              <a:cs typeface="+mn-cs"/>
                            </a:rPr>
                            <m:t>𝐷</m:t>
                          </m:r>
                        </m:e>
                      </m:d>
                    </m:oMath>
                  </m:oMathPara>
                </a14:m>
                <a:endParaRPr lang="en-US" dirty="0"/>
              </a:p>
              <a:p>
                <a:r>
                  <a:rPr lang="en-US" dirty="0"/>
                  <a:t>Using</a:t>
                </a:r>
              </a:p>
              <a:p>
                <a:pPr/>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𝐴</m:t>
                      </m:r>
                      <m:r>
                        <a:rPr lang="en-US" sz="1200" i="0" kern="1200">
                          <a:solidFill>
                            <a:schemeClr val="tx1"/>
                          </a:solidFill>
                          <a:latin typeface="Cambria Math" panose="02040503050406030204" pitchFamily="18" charset="0"/>
                          <a:ea typeface="+mn-ea"/>
                          <a:cs typeface="+mn-cs"/>
                        </a:rPr>
                        <m:t>→</m:t>
                      </m:r>
                      <m:r>
                        <a:rPr lang="en-US" sz="1200" i="1" kern="1200">
                          <a:solidFill>
                            <a:schemeClr val="tx1"/>
                          </a:solidFill>
                          <a:latin typeface="Cambria Math" panose="02040503050406030204" pitchFamily="18" charset="0"/>
                          <a:ea typeface="+mn-ea"/>
                          <a:cs typeface="+mn-cs"/>
                        </a:rPr>
                        <m:t>𝐵𝐶</m:t>
                      </m:r>
                    </m:oMath>
                  </m:oMathPara>
                </a14:m>
                <a:endParaRPr lang="en-US" dirty="0"/>
              </a:p>
              <a:p>
                <a:pPr/>
                <a14:m>
                  <m:oMathPara xmlns:m="http://schemas.openxmlformats.org/officeDocument/2006/math">
                    <m:oMathParaPr>
                      <m:jc m:val="centerGroup"/>
                    </m:oMathParaPr>
                    <m:oMath xmlns:m="http://schemas.openxmlformats.org/officeDocument/2006/math">
                      <m:d>
                        <m:dPr>
                          <m:begChr m:val="{"/>
                          <m:endChr m:val="}"/>
                          <m:sepChr m:val=","/>
                          <m:ctrlPr>
                            <a:rPr lang="en-US" sz="1200" i="1" kern="1200">
                              <a:solidFill>
                                <a:schemeClr val="tx1"/>
                              </a:solidFill>
                              <a:latin typeface="Cambria Math" panose="02040503050406030204" pitchFamily="18" charset="0"/>
                              <a:ea typeface="+mn-ea"/>
                              <a:cs typeface="+mn-cs"/>
                            </a:rPr>
                          </m:ctrlPr>
                        </m:dPr>
                        <m:e>
                          <m:r>
                            <a:rPr lang="en-US" sz="1200" i="1" kern="1200">
                              <a:solidFill>
                                <a:schemeClr val="tx1"/>
                              </a:solidFill>
                              <a:latin typeface="Cambria Math" panose="02040503050406030204" pitchFamily="18" charset="0"/>
                              <a:ea typeface="+mn-ea"/>
                              <a:cs typeface="+mn-cs"/>
                            </a:rPr>
                            <m:t>𝐴</m:t>
                          </m:r>
                        </m:e>
                        <m:e>
                          <m:r>
                            <a:rPr lang="en-US" sz="1200" i="1" kern="1200">
                              <a:solidFill>
                                <a:schemeClr val="tx1"/>
                              </a:solidFill>
                              <a:latin typeface="Cambria Math" panose="02040503050406030204" pitchFamily="18" charset="0"/>
                              <a:ea typeface="+mn-ea"/>
                              <a:cs typeface="+mn-cs"/>
                            </a:rPr>
                            <m:t>𝐵</m:t>
                          </m:r>
                        </m:e>
                        <m:e>
                          <m:r>
                            <a:rPr lang="en-US" sz="1200" i="1" kern="1200">
                              <a:solidFill>
                                <a:schemeClr val="tx1"/>
                              </a:solidFill>
                              <a:latin typeface="Cambria Math" panose="02040503050406030204" pitchFamily="18" charset="0"/>
                              <a:ea typeface="+mn-ea"/>
                              <a:cs typeface="+mn-cs"/>
                            </a:rPr>
                            <m:t>𝐶</m:t>
                          </m:r>
                        </m:e>
                        <m:e>
                          <m:r>
                            <a:rPr lang="en-US" sz="1200" i="1" kern="1200">
                              <a:solidFill>
                                <a:schemeClr val="tx1"/>
                              </a:solidFill>
                              <a:latin typeface="Cambria Math" panose="02040503050406030204" pitchFamily="18" charset="0"/>
                              <a:ea typeface="+mn-ea"/>
                              <a:cs typeface="+mn-cs"/>
                            </a:rPr>
                            <m:t>𝐷</m:t>
                          </m:r>
                        </m:e>
                      </m:d>
                    </m:oMath>
                  </m:oMathPara>
                </a14:m>
                <a:endParaRPr lang="en-US" dirty="0"/>
              </a:p>
              <a:p>
                <a:r>
                  <a:rPr lang="en-US" dirty="0"/>
                  <a:t>Using</a:t>
                </a:r>
              </a:p>
              <a:p>
                <a:pPr/>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𝐵</m:t>
                      </m:r>
                      <m:r>
                        <a:rPr lang="en-US" sz="1200" i="0" kern="1200">
                          <a:solidFill>
                            <a:schemeClr val="tx1"/>
                          </a:solidFill>
                          <a:latin typeface="Cambria Math" panose="02040503050406030204" pitchFamily="18" charset="0"/>
                          <a:ea typeface="+mn-ea"/>
                          <a:cs typeface="+mn-cs"/>
                        </a:rPr>
                        <m:t>→</m:t>
                      </m:r>
                      <m:r>
                        <a:rPr lang="en-US" sz="1200" i="1" kern="1200">
                          <a:solidFill>
                            <a:schemeClr val="tx1"/>
                          </a:solidFill>
                          <a:latin typeface="Cambria Math" panose="02040503050406030204" pitchFamily="18" charset="0"/>
                          <a:ea typeface="+mn-ea"/>
                          <a:cs typeface="+mn-cs"/>
                        </a:rPr>
                        <m:t>𝐸</m:t>
                      </m:r>
                    </m:oMath>
                  </m:oMathPara>
                </a14:m>
                <a:endParaRPr lang="en-US" dirty="0"/>
              </a:p>
              <a:p>
                <a:pPr/>
                <a14:m>
                  <m:oMathPara xmlns:m="http://schemas.openxmlformats.org/officeDocument/2006/math">
                    <m:oMathParaPr>
                      <m:jc m:val="centerGroup"/>
                    </m:oMathParaPr>
                    <m:oMath xmlns:m="http://schemas.openxmlformats.org/officeDocument/2006/math">
                      <m:d>
                        <m:dPr>
                          <m:begChr m:val="{"/>
                          <m:endChr m:val="}"/>
                          <m:sepChr m:val=","/>
                          <m:ctrlPr>
                            <a:rPr lang="en-US" sz="1200" i="1" kern="1200">
                              <a:solidFill>
                                <a:schemeClr val="tx1"/>
                              </a:solidFill>
                              <a:latin typeface="Cambria Math" panose="02040503050406030204" pitchFamily="18" charset="0"/>
                              <a:ea typeface="+mn-ea"/>
                              <a:cs typeface="+mn-cs"/>
                            </a:rPr>
                          </m:ctrlPr>
                        </m:dPr>
                        <m:e>
                          <m:r>
                            <a:rPr lang="en-US" sz="1200" i="1" kern="1200">
                              <a:solidFill>
                                <a:schemeClr val="tx1"/>
                              </a:solidFill>
                              <a:latin typeface="Cambria Math" panose="02040503050406030204" pitchFamily="18" charset="0"/>
                              <a:ea typeface="+mn-ea"/>
                              <a:cs typeface="+mn-cs"/>
                            </a:rPr>
                            <m:t>𝐴</m:t>
                          </m:r>
                        </m:e>
                        <m:e>
                          <m:r>
                            <a:rPr lang="en-US" sz="1200" i="1" kern="1200">
                              <a:solidFill>
                                <a:schemeClr val="tx1"/>
                              </a:solidFill>
                              <a:latin typeface="Cambria Math" panose="02040503050406030204" pitchFamily="18" charset="0"/>
                              <a:ea typeface="+mn-ea"/>
                              <a:cs typeface="+mn-cs"/>
                            </a:rPr>
                            <m:t>𝐵</m:t>
                          </m:r>
                        </m:e>
                        <m:e>
                          <m:r>
                            <a:rPr lang="en-US" sz="1200" i="1" kern="1200">
                              <a:solidFill>
                                <a:schemeClr val="tx1"/>
                              </a:solidFill>
                              <a:latin typeface="Cambria Math" panose="02040503050406030204" pitchFamily="18" charset="0"/>
                              <a:ea typeface="+mn-ea"/>
                              <a:cs typeface="+mn-cs"/>
                            </a:rPr>
                            <m:t>𝐶</m:t>
                          </m:r>
                        </m:e>
                        <m:e>
                          <m:r>
                            <a:rPr lang="en-US" sz="1200" i="1" kern="1200">
                              <a:solidFill>
                                <a:schemeClr val="tx1"/>
                              </a:solidFill>
                              <a:latin typeface="Cambria Math" panose="02040503050406030204" pitchFamily="18" charset="0"/>
                              <a:ea typeface="+mn-ea"/>
                              <a:cs typeface="+mn-cs"/>
                            </a:rPr>
                            <m:t>𝐷</m:t>
                          </m:r>
                        </m:e>
                        <m:e>
                          <m:r>
                            <a:rPr lang="en-US" sz="1200" i="1" kern="1200">
                              <a:solidFill>
                                <a:schemeClr val="tx1"/>
                              </a:solidFill>
                              <a:latin typeface="Cambria Math" panose="02040503050406030204" pitchFamily="18" charset="0"/>
                              <a:ea typeface="+mn-ea"/>
                              <a:cs typeface="+mn-cs"/>
                            </a:rPr>
                            <m:t>𝐸</m:t>
                          </m:r>
                        </m:e>
                      </m:d>
                    </m:oMath>
                  </m:oMathPara>
                </a14:m>
                <a:endParaRPr lang="en-US" dirty="0"/>
              </a:p>
              <a:p>
                <a:r>
                  <a:rPr lang="en-US" dirty="0"/>
                  <a:t>Using</a:t>
                </a:r>
              </a:p>
              <a:p>
                <a:pPr/>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𝐶</m:t>
                      </m:r>
                      <m:r>
                        <a:rPr lang="en-US" sz="1200" i="0" kern="1200">
                          <a:solidFill>
                            <a:schemeClr val="tx1"/>
                          </a:solidFill>
                          <a:latin typeface="Cambria Math" panose="02040503050406030204" pitchFamily="18" charset="0"/>
                          <a:ea typeface="+mn-ea"/>
                          <a:cs typeface="+mn-cs"/>
                        </a:rPr>
                        <m:t>→</m:t>
                      </m:r>
                      <m:r>
                        <a:rPr lang="en-US" sz="1200" i="1" kern="1200">
                          <a:solidFill>
                            <a:schemeClr val="tx1"/>
                          </a:solidFill>
                          <a:latin typeface="Cambria Math" panose="02040503050406030204" pitchFamily="18" charset="0"/>
                          <a:ea typeface="+mn-ea"/>
                          <a:cs typeface="+mn-cs"/>
                        </a:rPr>
                        <m:t>𝐹</m:t>
                      </m:r>
                    </m:oMath>
                  </m:oMathPara>
                </a14:m>
                <a:endParaRPr lang="en-US" dirty="0"/>
              </a:p>
              <a:p>
                <a:pPr/>
                <a14:m>
                  <m:oMathPara xmlns:m="http://schemas.openxmlformats.org/officeDocument/2006/math">
                    <m:oMathParaPr>
                      <m:jc m:val="centerGroup"/>
                    </m:oMathParaPr>
                    <m:oMath xmlns:m="http://schemas.openxmlformats.org/officeDocument/2006/math">
                      <m:d>
                        <m:dPr>
                          <m:begChr m:val="{"/>
                          <m:endChr m:val="}"/>
                          <m:sepChr m:val=","/>
                          <m:ctrlPr>
                            <a:rPr lang="en-US" sz="1200" i="1" kern="1200">
                              <a:solidFill>
                                <a:schemeClr val="tx1"/>
                              </a:solidFill>
                              <a:latin typeface="Cambria Math" panose="02040503050406030204" pitchFamily="18" charset="0"/>
                              <a:ea typeface="+mn-ea"/>
                              <a:cs typeface="+mn-cs"/>
                            </a:rPr>
                          </m:ctrlPr>
                        </m:dPr>
                        <m:e>
                          <m:r>
                            <a:rPr lang="en-US" sz="1200" i="1" kern="1200">
                              <a:solidFill>
                                <a:schemeClr val="tx1"/>
                              </a:solidFill>
                              <a:latin typeface="Cambria Math" panose="02040503050406030204" pitchFamily="18" charset="0"/>
                              <a:ea typeface="+mn-ea"/>
                              <a:cs typeface="+mn-cs"/>
                            </a:rPr>
                            <m:t>𝐴</m:t>
                          </m:r>
                        </m:e>
                        <m:e>
                          <m:r>
                            <a:rPr lang="en-US" sz="1200" i="1" kern="1200">
                              <a:solidFill>
                                <a:schemeClr val="tx1"/>
                              </a:solidFill>
                              <a:latin typeface="Cambria Math" panose="02040503050406030204" pitchFamily="18" charset="0"/>
                              <a:ea typeface="+mn-ea"/>
                              <a:cs typeface="+mn-cs"/>
                            </a:rPr>
                            <m:t>𝐵</m:t>
                          </m:r>
                        </m:e>
                        <m:e>
                          <m:r>
                            <a:rPr lang="en-US" sz="1200" i="1" kern="1200">
                              <a:solidFill>
                                <a:schemeClr val="tx1"/>
                              </a:solidFill>
                              <a:latin typeface="Cambria Math" panose="02040503050406030204" pitchFamily="18" charset="0"/>
                              <a:ea typeface="+mn-ea"/>
                              <a:cs typeface="+mn-cs"/>
                            </a:rPr>
                            <m:t>𝐶</m:t>
                          </m:r>
                        </m:e>
                        <m:e>
                          <m:r>
                            <a:rPr lang="en-US" sz="1200" i="1" kern="1200">
                              <a:solidFill>
                                <a:schemeClr val="tx1"/>
                              </a:solidFill>
                              <a:latin typeface="Cambria Math" panose="02040503050406030204" pitchFamily="18" charset="0"/>
                              <a:ea typeface="+mn-ea"/>
                              <a:cs typeface="+mn-cs"/>
                            </a:rPr>
                            <m:t>𝐷</m:t>
                          </m:r>
                        </m:e>
                        <m:e>
                          <m:r>
                            <a:rPr lang="en-US" sz="1200" i="1" kern="1200">
                              <a:solidFill>
                                <a:schemeClr val="tx1"/>
                              </a:solidFill>
                              <a:latin typeface="Cambria Math" panose="02040503050406030204" pitchFamily="18" charset="0"/>
                              <a:ea typeface="+mn-ea"/>
                              <a:cs typeface="+mn-cs"/>
                            </a:rPr>
                            <m:t>𝐸</m:t>
                          </m:r>
                        </m:e>
                        <m:e>
                          <m:r>
                            <a:rPr lang="en-US" sz="1200" i="1" kern="1200">
                              <a:solidFill>
                                <a:schemeClr val="tx1"/>
                              </a:solidFill>
                              <a:latin typeface="Cambria Math" panose="02040503050406030204" pitchFamily="18" charset="0"/>
                              <a:ea typeface="+mn-ea"/>
                              <a:cs typeface="+mn-cs"/>
                            </a:rPr>
                            <m:t>𝐹</m:t>
                          </m:r>
                        </m:e>
                      </m:d>
                    </m:oMath>
                  </m:oMathPara>
                </a14:m>
                <a:endParaRPr lang="en-US" dirty="0"/>
              </a:p>
              <a:p>
                <a:r>
                  <a:rPr lang="en-US" dirty="0"/>
                  <a:t>All attributes obtained.</a:t>
                </a:r>
              </a:p>
              <a:p>
                <a:r>
                  <a:rPr lang="en-US" dirty="0"/>
                  <a:t>Therefore:</a:t>
                </a:r>
              </a:p>
              <a:p>
                <a:pPr/>
                <a14:m>
                  <m:oMathPara xmlns:m="http://schemas.openxmlformats.org/officeDocument/2006/math">
                    <m:oMathParaPr>
                      <m:jc m:val="centerGroup"/>
                    </m:oMathParaPr>
                    <m:oMath xmlns:m="http://schemas.openxmlformats.org/officeDocument/2006/math">
                      <m:sSup>
                        <m:sSupPr>
                          <m:ctrlPr>
                            <a:rPr lang="en-US" sz="1200" i="1" kern="1200">
                              <a:solidFill>
                                <a:schemeClr val="tx1"/>
                              </a:solidFill>
                              <a:latin typeface="Cambria Math" panose="02040503050406030204" pitchFamily="18" charset="0"/>
                              <a:ea typeface="+mn-ea"/>
                              <a:cs typeface="+mn-cs"/>
                            </a:rPr>
                          </m:ctrlPr>
                        </m:sSupPr>
                        <m:e>
                          <m:d>
                            <m:dPr>
                              <m:ctrlPr>
                                <a:rPr lang="en-US" sz="1200" i="1" kern="1200">
                                  <a:solidFill>
                                    <a:schemeClr val="tx1"/>
                                  </a:solidFill>
                                  <a:latin typeface="Cambria Math" panose="02040503050406030204" pitchFamily="18" charset="0"/>
                                  <a:ea typeface="+mn-ea"/>
                                  <a:cs typeface="+mn-cs"/>
                                </a:rPr>
                              </m:ctrlPr>
                            </m:dPr>
                            <m:e>
                              <m:r>
                                <a:rPr lang="en-US" sz="1200" i="1" kern="1200">
                                  <a:solidFill>
                                    <a:schemeClr val="tx1"/>
                                  </a:solidFill>
                                  <a:latin typeface="Cambria Math" panose="02040503050406030204" pitchFamily="18" charset="0"/>
                                  <a:ea typeface="+mn-ea"/>
                                  <a:cs typeface="+mn-cs"/>
                                </a:rPr>
                                <m:t>𝐴𝐷</m:t>
                              </m:r>
                            </m:e>
                          </m:d>
                        </m:e>
                        <m:sup>
                          <m:r>
                            <a:rPr lang="en-US" sz="1200" i="0" kern="1200">
                              <a:solidFill>
                                <a:schemeClr val="tx1"/>
                              </a:solidFill>
                              <a:latin typeface="Cambria Math" panose="02040503050406030204" pitchFamily="18" charset="0"/>
                              <a:ea typeface="+mn-ea"/>
                              <a:cs typeface="+mn-cs"/>
                            </a:rPr>
                            <m:t>+</m:t>
                          </m:r>
                        </m:sup>
                      </m:sSup>
                      <m:r>
                        <a:rPr lang="en-US" sz="1200" i="0" kern="1200">
                          <a:solidFill>
                            <a:schemeClr val="tx1"/>
                          </a:solidFill>
                          <a:latin typeface="Cambria Math" panose="02040503050406030204" pitchFamily="18" charset="0"/>
                          <a:ea typeface="+mn-ea"/>
                          <a:cs typeface="+mn-cs"/>
                        </a:rPr>
                        <m:t>=</m:t>
                      </m:r>
                      <m:r>
                        <a:rPr lang="en-US" sz="1200" i="1" kern="1200">
                          <a:solidFill>
                            <a:schemeClr val="tx1"/>
                          </a:solidFill>
                          <a:latin typeface="Cambria Math" panose="02040503050406030204" pitchFamily="18" charset="0"/>
                          <a:ea typeface="+mn-ea"/>
                          <a:cs typeface="+mn-cs"/>
                        </a:rPr>
                        <m:t>𝑅</m:t>
                      </m:r>
                    </m:oMath>
                  </m:oMathPara>
                </a14:m>
                <a:endParaRPr lang="en-US" dirty="0"/>
              </a:p>
              <a:p>
                <a:r>
                  <a:rPr lang="en-US" dirty="0"/>
                  <a:t>So AD is a Super Key.</a:t>
                </a:r>
              </a:p>
              <a:p>
                <a:br>
                  <a:rPr lang="en-US" dirty="0"/>
                </a:br>
                <a:endParaRPr lang="en-US" dirty="0"/>
              </a:p>
              <a:p>
                <a:r>
                  <a:rPr lang="en-US" b="1" dirty="0"/>
                  <a:t>Step 3: Check Minimality</a:t>
                </a:r>
              </a:p>
              <a:p>
                <a:pPr/>
                <a14:m>
                  <m:oMathPara xmlns:m="http://schemas.openxmlformats.org/officeDocument/2006/math">
                    <m:oMathParaPr>
                      <m:jc m:val="centerGroup"/>
                    </m:oMathParaPr>
                    <m:oMath xmlns:m="http://schemas.openxmlformats.org/officeDocument/2006/math">
                      <m:sSup>
                        <m:sSupPr>
                          <m:ctrlPr>
                            <a:rPr lang="en-US" sz="1200" i="1" kern="1200">
                              <a:solidFill>
                                <a:schemeClr val="tx1"/>
                              </a:solidFill>
                              <a:latin typeface="Cambria Math" panose="02040503050406030204" pitchFamily="18" charset="0"/>
                              <a:ea typeface="+mn-ea"/>
                              <a:cs typeface="+mn-cs"/>
                            </a:rPr>
                          </m:ctrlPr>
                        </m:sSupPr>
                        <m:e>
                          <m:r>
                            <a:rPr lang="en-US" sz="1200" i="1" kern="1200">
                              <a:solidFill>
                                <a:schemeClr val="tx1"/>
                              </a:solidFill>
                              <a:latin typeface="Cambria Math" panose="02040503050406030204" pitchFamily="18" charset="0"/>
                              <a:ea typeface="+mn-ea"/>
                              <a:cs typeface="+mn-cs"/>
                            </a:rPr>
                            <m:t>𝐴</m:t>
                          </m:r>
                        </m:e>
                        <m:sup>
                          <m:r>
                            <a:rPr lang="en-US" sz="1200" i="0" kern="1200">
                              <a:solidFill>
                                <a:schemeClr val="tx1"/>
                              </a:solidFill>
                              <a:latin typeface="Cambria Math" panose="02040503050406030204" pitchFamily="18" charset="0"/>
                              <a:ea typeface="+mn-ea"/>
                              <a:cs typeface="+mn-cs"/>
                            </a:rPr>
                            <m:t>+</m:t>
                          </m:r>
                        </m:sup>
                      </m:sSup>
                      <m:r>
                        <a:rPr lang="en-US" sz="1200" i="0" kern="1200">
                          <a:solidFill>
                            <a:schemeClr val="tx1"/>
                          </a:solidFill>
                          <a:latin typeface="Cambria Math" panose="02040503050406030204" pitchFamily="18" charset="0"/>
                          <a:ea typeface="+mn-ea"/>
                          <a:cs typeface="+mn-cs"/>
                        </a:rPr>
                        <m:t>=</m:t>
                      </m:r>
                      <m:d>
                        <m:dPr>
                          <m:begChr m:val="{"/>
                          <m:endChr m:val="}"/>
                          <m:sepChr m:val=","/>
                          <m:ctrlPr>
                            <a:rPr lang="en-US" sz="1200" i="1" kern="1200">
                              <a:solidFill>
                                <a:schemeClr val="tx1"/>
                              </a:solidFill>
                              <a:latin typeface="Cambria Math" panose="02040503050406030204" pitchFamily="18" charset="0"/>
                              <a:ea typeface="+mn-ea"/>
                              <a:cs typeface="+mn-cs"/>
                            </a:rPr>
                          </m:ctrlPr>
                        </m:dPr>
                        <m:e>
                          <m:r>
                            <a:rPr lang="en-US" sz="1200" i="1" kern="1200">
                              <a:solidFill>
                                <a:schemeClr val="tx1"/>
                              </a:solidFill>
                              <a:latin typeface="Cambria Math" panose="02040503050406030204" pitchFamily="18" charset="0"/>
                              <a:ea typeface="+mn-ea"/>
                              <a:cs typeface="+mn-cs"/>
                            </a:rPr>
                            <m:t>𝐴</m:t>
                          </m:r>
                        </m:e>
                        <m:e>
                          <m:r>
                            <a:rPr lang="en-US" sz="1200" i="1" kern="1200">
                              <a:solidFill>
                                <a:schemeClr val="tx1"/>
                              </a:solidFill>
                              <a:latin typeface="Cambria Math" panose="02040503050406030204" pitchFamily="18" charset="0"/>
                              <a:ea typeface="+mn-ea"/>
                              <a:cs typeface="+mn-cs"/>
                            </a:rPr>
                            <m:t>𝐵</m:t>
                          </m:r>
                        </m:e>
                        <m:e>
                          <m:r>
                            <a:rPr lang="en-US" sz="1200" i="1" kern="1200">
                              <a:solidFill>
                                <a:schemeClr val="tx1"/>
                              </a:solidFill>
                              <a:latin typeface="Cambria Math" panose="02040503050406030204" pitchFamily="18" charset="0"/>
                              <a:ea typeface="+mn-ea"/>
                              <a:cs typeface="+mn-cs"/>
                            </a:rPr>
                            <m:t>𝐶</m:t>
                          </m:r>
                        </m:e>
                        <m:e>
                          <m:r>
                            <a:rPr lang="en-US" sz="1200" i="1" kern="1200">
                              <a:solidFill>
                                <a:schemeClr val="tx1"/>
                              </a:solidFill>
                              <a:latin typeface="Cambria Math" panose="02040503050406030204" pitchFamily="18" charset="0"/>
                              <a:ea typeface="+mn-ea"/>
                              <a:cs typeface="+mn-cs"/>
                            </a:rPr>
                            <m:t>𝐸</m:t>
                          </m:r>
                        </m:e>
                        <m:e>
                          <m:r>
                            <a:rPr lang="en-US" sz="1200" i="1" kern="1200">
                              <a:solidFill>
                                <a:schemeClr val="tx1"/>
                              </a:solidFill>
                              <a:latin typeface="Cambria Math" panose="02040503050406030204" pitchFamily="18" charset="0"/>
                              <a:ea typeface="+mn-ea"/>
                              <a:cs typeface="+mn-cs"/>
                            </a:rPr>
                            <m:t>𝐹</m:t>
                          </m:r>
                        </m:e>
                      </m:d>
                    </m:oMath>
                  </m:oMathPara>
                </a14:m>
                <a:endParaRPr lang="en-US" dirty="0"/>
              </a:p>
              <a:p>
                <a:r>
                  <a:rPr lang="en-US" dirty="0"/>
                  <a:t>Missing D.</a:t>
                </a:r>
              </a:p>
              <a:p>
                <a:pPr/>
                <a14:m>
                  <m:oMathPara xmlns:m="http://schemas.openxmlformats.org/officeDocument/2006/math">
                    <m:oMathParaPr>
                      <m:jc m:val="centerGroup"/>
                    </m:oMathParaPr>
                    <m:oMath xmlns:m="http://schemas.openxmlformats.org/officeDocument/2006/math">
                      <m:sSup>
                        <m:sSupPr>
                          <m:ctrlPr>
                            <a:rPr lang="en-US" sz="1200" i="1" kern="1200">
                              <a:solidFill>
                                <a:schemeClr val="tx1"/>
                              </a:solidFill>
                              <a:latin typeface="Cambria Math" panose="02040503050406030204" pitchFamily="18" charset="0"/>
                              <a:ea typeface="+mn-ea"/>
                              <a:cs typeface="+mn-cs"/>
                            </a:rPr>
                          </m:ctrlPr>
                        </m:sSupPr>
                        <m:e>
                          <m:r>
                            <a:rPr lang="en-US" sz="1200" i="1" kern="1200">
                              <a:solidFill>
                                <a:schemeClr val="tx1"/>
                              </a:solidFill>
                              <a:latin typeface="Cambria Math" panose="02040503050406030204" pitchFamily="18" charset="0"/>
                              <a:ea typeface="+mn-ea"/>
                              <a:cs typeface="+mn-cs"/>
                            </a:rPr>
                            <m:t>𝐷</m:t>
                          </m:r>
                        </m:e>
                        <m:sup>
                          <m:r>
                            <a:rPr lang="en-US" sz="1200" i="0" kern="1200">
                              <a:solidFill>
                                <a:schemeClr val="tx1"/>
                              </a:solidFill>
                              <a:latin typeface="Cambria Math" panose="02040503050406030204" pitchFamily="18" charset="0"/>
                              <a:ea typeface="+mn-ea"/>
                              <a:cs typeface="+mn-cs"/>
                            </a:rPr>
                            <m:t>+</m:t>
                          </m:r>
                        </m:sup>
                      </m:sSup>
                      <m:r>
                        <a:rPr lang="en-US" sz="1200" i="0" kern="1200">
                          <a:solidFill>
                            <a:schemeClr val="tx1"/>
                          </a:solidFill>
                          <a:latin typeface="Cambria Math" panose="02040503050406030204" pitchFamily="18" charset="0"/>
                          <a:ea typeface="+mn-ea"/>
                          <a:cs typeface="+mn-cs"/>
                        </a:rPr>
                        <m:t>=</m:t>
                      </m:r>
                      <m:d>
                        <m:dPr>
                          <m:begChr m:val="{"/>
                          <m:endChr m:val="}"/>
                          <m:ctrlPr>
                            <a:rPr lang="en-US" sz="1200" i="1" kern="1200">
                              <a:solidFill>
                                <a:schemeClr val="tx1"/>
                              </a:solidFill>
                              <a:latin typeface="Cambria Math" panose="02040503050406030204" pitchFamily="18" charset="0"/>
                              <a:ea typeface="+mn-ea"/>
                              <a:cs typeface="+mn-cs"/>
                            </a:rPr>
                          </m:ctrlPr>
                        </m:dPr>
                        <m:e>
                          <m:r>
                            <a:rPr lang="en-US" sz="1200" i="1" kern="1200">
                              <a:solidFill>
                                <a:schemeClr val="tx1"/>
                              </a:solidFill>
                              <a:latin typeface="Cambria Math" panose="02040503050406030204" pitchFamily="18" charset="0"/>
                              <a:ea typeface="+mn-ea"/>
                              <a:cs typeface="+mn-cs"/>
                            </a:rPr>
                            <m:t>𝐷</m:t>
                          </m:r>
                        </m:e>
                      </m:d>
                    </m:oMath>
                  </m:oMathPara>
                </a14:m>
                <a:endParaRPr lang="en-US" dirty="0"/>
              </a:p>
              <a:p>
                <a:r>
                  <a:rPr lang="en-US" dirty="0"/>
                  <a:t>Missing others.</a:t>
                </a:r>
              </a:p>
              <a:p>
                <a:r>
                  <a:rPr lang="en-US" dirty="0"/>
                  <a:t>Neither A nor D alone works.</a:t>
                </a:r>
              </a:p>
              <a:p>
                <a:r>
                  <a:rPr lang="en-US" dirty="0"/>
                  <a:t>Therefore:</a:t>
                </a:r>
              </a:p>
              <a:p>
                <a:r>
                  <a:rPr lang="en-US" b="1" dirty="0"/>
                  <a:t>Candidate Key = {AD}</a:t>
                </a:r>
                <a:endParaRPr lang="en-US" dirty="0"/>
              </a:p>
              <a:p>
                <a:endParaRPr lang="en-US" dirty="0"/>
              </a:p>
              <a:p>
                <a:endParaRPr lang="en-US" dirty="0"/>
              </a:p>
              <a:p>
                <a:endParaRPr lang="en-US" dirty="0"/>
              </a:p>
              <a:p>
                <a:endParaRPr lang="en-US" dirty="0"/>
              </a:p>
              <a:p>
                <a:endParaRPr lang="en-US" dirty="0"/>
              </a:p>
              <a:p>
                <a:r>
                  <a:rPr lang="en-US" b="1" dirty="0"/>
                  <a:t>Shortcut Method</a:t>
                </a:r>
              </a:p>
              <a:p>
                <a:r>
                  <a:rPr lang="en-US" b="1" dirty="0"/>
                  <a:t>Step 1</a:t>
                </a:r>
              </a:p>
              <a:p>
                <a:r>
                  <a:rPr lang="en-US" dirty="0"/>
                  <a:t>Write all attributes that never appear on RHS.</a:t>
                </a:r>
              </a:p>
              <a:p>
                <a:r>
                  <a:rPr lang="en-US" dirty="0"/>
                  <a:t>These must be part of every candidate key.</a:t>
                </a:r>
              </a:p>
              <a:p>
                <a:r>
                  <a:rPr lang="en-US" b="1" dirty="0"/>
                  <a:t>Step 2</a:t>
                </a:r>
              </a:p>
              <a:p>
                <a:r>
                  <a:rPr lang="en-US" dirty="0"/>
                  <a:t>Compute closure of that set.</a:t>
                </a:r>
              </a:p>
              <a:p>
                <a:r>
                  <a:rPr lang="en-US" b="1" dirty="0"/>
                  <a:t>Step 3</a:t>
                </a:r>
              </a:p>
              <a:p>
                <a:r>
                  <a:rPr lang="en-US" dirty="0"/>
                  <a:t>If closure is not all attributes, add attributes one by one and recompute.</a:t>
                </a:r>
              </a:p>
              <a:p>
                <a:r>
                  <a:rPr lang="en-US" b="1" dirty="0"/>
                  <a:t>Step 4</a:t>
                </a:r>
              </a:p>
              <a:p>
                <a:r>
                  <a:rPr lang="en-US" dirty="0"/>
                  <a:t>When closure contains all attributes, check minimality.</a:t>
                </a:r>
              </a:p>
              <a:p>
                <a:endParaRPr lang="en-US" dirty="0"/>
              </a:p>
            </p:txBody>
          </p:sp>
        </mc:Choice>
        <mc:Fallback xmlns="">
          <p:sp>
            <p:nvSpPr>
              <p:cNvPr id="3" name="Notes Placeholder 2"/>
              <p:cNvSpPr>
                <a:spLocks noGrp="1"/>
              </p:cNvSpPr>
              <p:nvPr>
                <p:ph type="body" idx="1"/>
              </p:nvPr>
            </p:nvSpPr>
            <p:spPr/>
            <p:txBody>
              <a:bodyPr/>
              <a:lstStyle/>
              <a:p>
                <a:r>
                  <a:rPr lang="en-US" b="1" dirty="0"/>
                  <a:t>Example 2</a:t>
                </a:r>
              </a:p>
              <a:p>
                <a:r>
                  <a:rPr lang="en-US" dirty="0"/>
                  <a:t>Relation:</a:t>
                </a:r>
              </a:p>
              <a:p>
                <a:r>
                  <a:rPr lang="en-US" sz="1200" i="0" kern="1200">
                    <a:solidFill>
                      <a:schemeClr val="tx1"/>
                    </a:solidFill>
                    <a:latin typeface="+mn-lt"/>
                    <a:ea typeface="+mn-ea"/>
                    <a:cs typeface="+mn-cs"/>
                  </a:rPr>
                  <a:t>𝑅(𝐴ⓜ,𝐵ⓜ,𝐶ⓜ,𝐷)</a:t>
                </a:r>
                <a:endParaRPr lang="en-US" dirty="0"/>
              </a:p>
              <a:p>
                <a:r>
                  <a:rPr lang="en-US" dirty="0"/>
                  <a:t>FDs:</a:t>
                </a:r>
              </a:p>
              <a:p>
                <a:r>
                  <a:rPr lang="en-US" sz="1200" i="0" kern="1200">
                    <a:solidFill>
                      <a:schemeClr val="tx1"/>
                    </a:solidFill>
                    <a:latin typeface="+mn-lt"/>
                    <a:ea typeface="+mn-ea"/>
                    <a:cs typeface="+mn-cs"/>
                  </a:rPr>
                  <a:t>𝐴→𝐵</a:t>
                </a:r>
                <a:endParaRPr lang="en-US" dirty="0"/>
              </a:p>
              <a:p>
                <a:r>
                  <a:rPr lang="en-US" sz="1200" i="0" kern="1200">
                    <a:solidFill>
                      <a:schemeClr val="tx1"/>
                    </a:solidFill>
                    <a:latin typeface="+mn-lt"/>
                    <a:ea typeface="+mn-ea"/>
                    <a:cs typeface="+mn-cs"/>
                  </a:rPr>
                  <a:t>𝐶→𝐷</a:t>
                </a:r>
                <a:endParaRPr lang="en-US" dirty="0"/>
              </a:p>
              <a:p>
                <a:br>
                  <a:rPr lang="en-US" dirty="0"/>
                </a:br>
                <a:endParaRPr lang="en-US" dirty="0"/>
              </a:p>
              <a:p>
                <a:r>
                  <a:rPr lang="en-US" b="1" dirty="0"/>
                  <a:t>Find AC⁺</a:t>
                </a:r>
              </a:p>
              <a:p>
                <a:r>
                  <a:rPr lang="en-US" dirty="0"/>
                  <a:t>Start:</a:t>
                </a:r>
              </a:p>
              <a:p>
                <a:r>
                  <a:rPr lang="en-US" sz="1200" i="0" kern="1200">
                    <a:solidFill>
                      <a:schemeClr val="tx1"/>
                    </a:solidFill>
                    <a:latin typeface="+mn-lt"/>
                    <a:ea typeface="+mn-ea"/>
                    <a:cs typeface="+mn-cs"/>
                  </a:rPr>
                  <a:t>𝐴𝐶^+={𝐴ⓜ,𝐶}</a:t>
                </a:r>
                <a:endParaRPr lang="en-US" dirty="0"/>
              </a:p>
              <a:p>
                <a:r>
                  <a:rPr lang="en-US" dirty="0"/>
                  <a:t>Apply:</a:t>
                </a:r>
              </a:p>
              <a:p>
                <a:r>
                  <a:rPr lang="en-US" sz="1200" i="0" kern="1200">
                    <a:solidFill>
                      <a:schemeClr val="tx1"/>
                    </a:solidFill>
                    <a:latin typeface="+mn-lt"/>
                    <a:ea typeface="+mn-ea"/>
                    <a:cs typeface="+mn-cs"/>
                  </a:rPr>
                  <a:t>𝐴→𝐵</a:t>
                </a:r>
                <a:endParaRPr lang="en-US" dirty="0"/>
              </a:p>
              <a:p>
                <a:r>
                  <a:rPr lang="en-US" sz="1200" i="0" kern="1200">
                    <a:solidFill>
                      <a:schemeClr val="tx1"/>
                    </a:solidFill>
                    <a:latin typeface="+mn-lt"/>
                    <a:ea typeface="+mn-ea"/>
                    <a:cs typeface="+mn-cs"/>
                  </a:rPr>
                  <a:t>𝐴𝐶^+={𝐴ⓜ,𝐵ⓜ,𝐶}</a:t>
                </a:r>
                <a:endParaRPr lang="en-US" dirty="0"/>
              </a:p>
              <a:p>
                <a:r>
                  <a:rPr lang="en-US" dirty="0"/>
                  <a:t>Apply:</a:t>
                </a:r>
              </a:p>
              <a:p>
                <a:r>
                  <a:rPr lang="en-US" sz="1200" i="0" kern="1200">
                    <a:solidFill>
                      <a:schemeClr val="tx1"/>
                    </a:solidFill>
                    <a:latin typeface="+mn-lt"/>
                    <a:ea typeface="+mn-ea"/>
                    <a:cs typeface="+mn-cs"/>
                  </a:rPr>
                  <a:t>𝐶→𝐷</a:t>
                </a:r>
                <a:endParaRPr lang="en-US" dirty="0"/>
              </a:p>
              <a:p>
                <a:r>
                  <a:rPr lang="en-US" sz="1200" i="0" kern="1200">
                    <a:solidFill>
                      <a:schemeClr val="tx1"/>
                    </a:solidFill>
                    <a:latin typeface="+mn-lt"/>
                    <a:ea typeface="+mn-ea"/>
                    <a:cs typeface="+mn-cs"/>
                  </a:rPr>
                  <a:t>𝐴𝐶^+={𝐴ⓜ,𝐵ⓜ,𝐶ⓜ,𝐷}</a:t>
                </a:r>
                <a:endParaRPr lang="en-US" dirty="0"/>
              </a:p>
              <a:p>
                <a:r>
                  <a:rPr lang="en-US" dirty="0"/>
                  <a:t>Contains all attributes.</a:t>
                </a:r>
              </a:p>
              <a:p>
                <a:r>
                  <a:rPr lang="en-US" dirty="0"/>
                  <a:t>So AC is a Super Key.</a:t>
                </a:r>
              </a:p>
              <a:p>
                <a:br>
                  <a:rPr lang="en-US" dirty="0"/>
                </a:br>
                <a:endParaRPr lang="en-US" dirty="0"/>
              </a:p>
              <a:p>
                <a:r>
                  <a:rPr lang="en-US" dirty="0"/>
                  <a:t>Check subsets:</a:t>
                </a:r>
              </a:p>
              <a:p>
                <a:r>
                  <a:rPr lang="en-US" sz="1200" i="0" kern="1200">
                    <a:solidFill>
                      <a:schemeClr val="tx1"/>
                    </a:solidFill>
                    <a:latin typeface="+mn-lt"/>
                    <a:ea typeface="+mn-ea"/>
                    <a:cs typeface="+mn-cs"/>
                  </a:rPr>
                  <a:t>𝐴^+={𝐴ⓜ,𝐵}</a:t>
                </a:r>
                <a:endParaRPr lang="en-US" dirty="0"/>
              </a:p>
              <a:p>
                <a:r>
                  <a:rPr lang="en-US" dirty="0"/>
                  <a:t>Not all attributes.</a:t>
                </a:r>
              </a:p>
              <a:p>
                <a:r>
                  <a:rPr lang="en-US" sz="1200" i="0" kern="1200">
                    <a:solidFill>
                      <a:schemeClr val="tx1"/>
                    </a:solidFill>
                    <a:latin typeface="+mn-lt"/>
                    <a:ea typeface="+mn-ea"/>
                    <a:cs typeface="+mn-cs"/>
                  </a:rPr>
                  <a:t>𝐶^+={𝐶ⓜ,𝐷}</a:t>
                </a:r>
                <a:endParaRPr lang="en-US" dirty="0"/>
              </a:p>
              <a:p>
                <a:r>
                  <a:rPr lang="en-US" dirty="0"/>
                  <a:t>Not all attributes.</a:t>
                </a:r>
              </a:p>
              <a:p>
                <a:r>
                  <a:rPr lang="en-US" dirty="0"/>
                  <a:t>Therefore neither A nor C alone is sufficient.</a:t>
                </a:r>
              </a:p>
              <a:p>
                <a:r>
                  <a:rPr lang="en-US" dirty="0"/>
                  <a:t>Hence:</a:t>
                </a:r>
              </a:p>
              <a:p>
                <a:r>
                  <a:rPr lang="en-US" b="1" dirty="0"/>
                  <a:t>Candidate Key = {AC}</a:t>
                </a:r>
                <a:endParaRPr lang="en-US" dirty="0"/>
              </a:p>
              <a:p>
                <a:r>
                  <a:rPr lang="en-US" dirty="0"/>
                  <a:t>.</a:t>
                </a:r>
              </a:p>
              <a:p>
                <a:endParaRPr lang="en-US" dirty="0"/>
              </a:p>
              <a:p>
                <a:endParaRPr lang="en-US" dirty="0"/>
              </a:p>
              <a:p>
                <a:endParaRPr lang="en-US" dirty="0"/>
              </a:p>
              <a:p>
                <a:r>
                  <a:rPr lang="en-US" b="1" dirty="0"/>
                  <a:t>Example 3</a:t>
                </a:r>
              </a:p>
              <a:p>
                <a:r>
                  <a:rPr lang="en-US" dirty="0"/>
                  <a:t>Relation:</a:t>
                </a:r>
              </a:p>
              <a:p>
                <a:r>
                  <a:rPr lang="en-US" sz="1200" i="0" kern="1200">
                    <a:solidFill>
                      <a:schemeClr val="tx1"/>
                    </a:solidFill>
                    <a:latin typeface="+mn-lt"/>
                    <a:ea typeface="+mn-ea"/>
                    <a:cs typeface="+mn-cs"/>
                  </a:rPr>
                  <a:t>𝑅(𝐴ⓜ,𝐵ⓜ,𝐶ⓜ,𝐷ⓜ,𝐸ⓜ,𝐹)</a:t>
                </a:r>
                <a:endParaRPr lang="en-US" dirty="0"/>
              </a:p>
              <a:p>
                <a:r>
                  <a:rPr lang="en-US" dirty="0"/>
                  <a:t>FDs:</a:t>
                </a:r>
              </a:p>
              <a:p>
                <a:r>
                  <a:rPr lang="en-US" sz="1200" i="0" kern="1200">
                    <a:solidFill>
                      <a:schemeClr val="tx1"/>
                    </a:solidFill>
                    <a:latin typeface="+mn-lt"/>
                    <a:ea typeface="+mn-ea"/>
                    <a:cs typeface="+mn-cs"/>
                  </a:rPr>
                  <a:t>𝐴→𝐵𝐶</a:t>
                </a:r>
                <a:endParaRPr lang="en-US" dirty="0"/>
              </a:p>
              <a:p>
                <a:r>
                  <a:rPr lang="en-US" sz="1200" i="0" kern="1200">
                    <a:solidFill>
                      <a:schemeClr val="tx1"/>
                    </a:solidFill>
                    <a:latin typeface="+mn-lt"/>
                    <a:ea typeface="+mn-ea"/>
                    <a:cs typeface="+mn-cs"/>
                  </a:rPr>
                  <a:t>𝐵→𝐸</a:t>
                </a:r>
                <a:endParaRPr lang="en-US" dirty="0"/>
              </a:p>
              <a:p>
                <a:r>
                  <a:rPr lang="en-US" sz="1200" i="0" kern="1200">
                    <a:solidFill>
                      <a:schemeClr val="tx1"/>
                    </a:solidFill>
                    <a:latin typeface="+mn-lt"/>
                    <a:ea typeface="+mn-ea"/>
                    <a:cs typeface="+mn-cs"/>
                  </a:rPr>
                  <a:t>𝐶→𝐸𝐹</a:t>
                </a:r>
                <a:endParaRPr lang="en-US" dirty="0"/>
              </a:p>
              <a:p>
                <a:r>
                  <a:rPr lang="en-US" sz="1200" i="0" kern="1200">
                    <a:solidFill>
                      <a:schemeClr val="tx1"/>
                    </a:solidFill>
                    <a:latin typeface="+mn-lt"/>
                    <a:ea typeface="+mn-ea"/>
                    <a:cs typeface="+mn-cs"/>
                  </a:rPr>
                  <a:t>𝐸→𝐶𝐹</a:t>
                </a:r>
                <a:endParaRPr lang="en-US" dirty="0"/>
              </a:p>
              <a:p>
                <a:br>
                  <a:rPr lang="en-US" dirty="0"/>
                </a:br>
                <a:endParaRPr lang="en-US" dirty="0"/>
              </a:p>
              <a:p>
                <a:r>
                  <a:rPr lang="en-US" b="1" dirty="0"/>
                  <a:t>Step 1: Find attributes not on RHS</a:t>
                </a:r>
              </a:p>
              <a:p>
                <a:r>
                  <a:rPr lang="en-US" dirty="0"/>
                  <a:t>RHS contains:</a:t>
                </a:r>
              </a:p>
              <a:p>
                <a:r>
                  <a:rPr lang="en-US" sz="1200" i="0" kern="1200">
                    <a:solidFill>
                      <a:schemeClr val="tx1"/>
                    </a:solidFill>
                    <a:latin typeface="+mn-lt"/>
                    <a:ea typeface="+mn-ea"/>
                    <a:cs typeface="+mn-cs"/>
                  </a:rPr>
                  <a:t>{𝐵ⓜ,𝐶ⓜ,𝐸ⓜ,𝐹}</a:t>
                </a:r>
                <a:endParaRPr lang="en-US" dirty="0"/>
              </a:p>
              <a:p>
                <a:r>
                  <a:rPr lang="en-US" dirty="0"/>
                  <a:t>Attributes not on RHS:</a:t>
                </a:r>
              </a:p>
              <a:p>
                <a:r>
                  <a:rPr lang="en-US" sz="1200" i="0" kern="1200">
                    <a:solidFill>
                      <a:schemeClr val="tx1"/>
                    </a:solidFill>
                    <a:latin typeface="+mn-lt"/>
                    <a:ea typeface="+mn-ea"/>
                    <a:cs typeface="+mn-cs"/>
                  </a:rPr>
                  <a:t>{𝐴ⓜ,𝐷}</a:t>
                </a:r>
                <a:endParaRPr lang="en-US" dirty="0"/>
              </a:p>
              <a:p>
                <a:r>
                  <a:rPr lang="en-US" dirty="0"/>
                  <a:t>Therefore every Candidate Key must contain A and D.</a:t>
                </a:r>
              </a:p>
              <a:p>
                <a:br>
                  <a:rPr lang="en-US" dirty="0"/>
                </a:br>
                <a:endParaRPr lang="en-US" dirty="0"/>
              </a:p>
              <a:p>
                <a:r>
                  <a:rPr lang="en-US" b="1" dirty="0"/>
                  <a:t>Step 2: Find (AD)⁺</a:t>
                </a:r>
              </a:p>
              <a:p>
                <a:r>
                  <a:rPr lang="en-US" dirty="0"/>
                  <a:t>Start:</a:t>
                </a:r>
              </a:p>
              <a:p>
                <a:r>
                  <a:rPr lang="en-US" sz="1200" i="0" kern="1200">
                    <a:solidFill>
                      <a:schemeClr val="tx1"/>
                    </a:solidFill>
                    <a:latin typeface="+mn-lt"/>
                    <a:ea typeface="+mn-ea"/>
                    <a:cs typeface="+mn-cs"/>
                  </a:rPr>
                  <a:t>(𝐴𝐷)^+={𝐴ⓜ,𝐷}</a:t>
                </a:r>
                <a:endParaRPr lang="en-US" dirty="0"/>
              </a:p>
              <a:p>
                <a:r>
                  <a:rPr lang="en-US" dirty="0"/>
                  <a:t>Using</a:t>
                </a:r>
              </a:p>
              <a:p>
                <a:r>
                  <a:rPr lang="en-US" sz="1200" i="0" kern="1200">
                    <a:solidFill>
                      <a:schemeClr val="tx1"/>
                    </a:solidFill>
                    <a:latin typeface="+mn-lt"/>
                    <a:ea typeface="+mn-ea"/>
                    <a:cs typeface="+mn-cs"/>
                  </a:rPr>
                  <a:t>𝐴→𝐵𝐶</a:t>
                </a:r>
                <a:endParaRPr lang="en-US" dirty="0"/>
              </a:p>
              <a:p>
                <a:r>
                  <a:rPr lang="en-US" sz="1200" i="0" kern="1200">
                    <a:solidFill>
                      <a:schemeClr val="tx1"/>
                    </a:solidFill>
                    <a:latin typeface="+mn-lt"/>
                    <a:ea typeface="+mn-ea"/>
                    <a:cs typeface="+mn-cs"/>
                  </a:rPr>
                  <a:t>{𝐴ⓜ,𝐵ⓜ,𝐶ⓜ,𝐷}</a:t>
                </a:r>
                <a:endParaRPr lang="en-US" dirty="0"/>
              </a:p>
              <a:p>
                <a:r>
                  <a:rPr lang="en-US" dirty="0"/>
                  <a:t>Using</a:t>
                </a:r>
              </a:p>
              <a:p>
                <a:r>
                  <a:rPr lang="en-US" sz="1200" i="0" kern="1200">
                    <a:solidFill>
                      <a:schemeClr val="tx1"/>
                    </a:solidFill>
                    <a:latin typeface="+mn-lt"/>
                    <a:ea typeface="+mn-ea"/>
                    <a:cs typeface="+mn-cs"/>
                  </a:rPr>
                  <a:t>𝐵→𝐸</a:t>
                </a:r>
                <a:endParaRPr lang="en-US" dirty="0"/>
              </a:p>
              <a:p>
                <a:r>
                  <a:rPr lang="en-US" sz="1200" i="0" kern="1200">
                    <a:solidFill>
                      <a:schemeClr val="tx1"/>
                    </a:solidFill>
                    <a:latin typeface="+mn-lt"/>
                    <a:ea typeface="+mn-ea"/>
                    <a:cs typeface="+mn-cs"/>
                  </a:rPr>
                  <a:t>{𝐴ⓜ,𝐵ⓜ,𝐶ⓜ,𝐷ⓜ,𝐸}</a:t>
                </a:r>
                <a:endParaRPr lang="en-US" dirty="0"/>
              </a:p>
              <a:p>
                <a:r>
                  <a:rPr lang="en-US" dirty="0"/>
                  <a:t>Using</a:t>
                </a:r>
              </a:p>
              <a:p>
                <a:r>
                  <a:rPr lang="en-US" sz="1200" i="0" kern="1200">
                    <a:solidFill>
                      <a:schemeClr val="tx1"/>
                    </a:solidFill>
                    <a:latin typeface="+mn-lt"/>
                    <a:ea typeface="+mn-ea"/>
                    <a:cs typeface="+mn-cs"/>
                  </a:rPr>
                  <a:t>𝐶→𝐹</a:t>
                </a:r>
                <a:endParaRPr lang="en-US" dirty="0"/>
              </a:p>
              <a:p>
                <a:r>
                  <a:rPr lang="en-US" sz="1200" i="0" kern="1200">
                    <a:solidFill>
                      <a:schemeClr val="tx1"/>
                    </a:solidFill>
                    <a:latin typeface="+mn-lt"/>
                    <a:ea typeface="+mn-ea"/>
                    <a:cs typeface="+mn-cs"/>
                  </a:rPr>
                  <a:t>{𝐴ⓜ,𝐵ⓜ,𝐶ⓜ,𝐷ⓜ,𝐸ⓜ,𝐹}</a:t>
                </a:r>
                <a:endParaRPr lang="en-US" dirty="0"/>
              </a:p>
              <a:p>
                <a:r>
                  <a:rPr lang="en-US" dirty="0"/>
                  <a:t>All attributes obtained.</a:t>
                </a:r>
              </a:p>
              <a:p>
                <a:r>
                  <a:rPr lang="en-US" dirty="0"/>
                  <a:t>Therefore:</a:t>
                </a:r>
              </a:p>
              <a:p>
                <a:r>
                  <a:rPr lang="en-US" sz="1200" i="0" kern="1200">
                    <a:solidFill>
                      <a:schemeClr val="tx1"/>
                    </a:solidFill>
                    <a:latin typeface="+mn-lt"/>
                    <a:ea typeface="+mn-ea"/>
                    <a:cs typeface="+mn-cs"/>
                  </a:rPr>
                  <a:t>(𝐴𝐷)^+=𝑅</a:t>
                </a:r>
                <a:endParaRPr lang="en-US" dirty="0"/>
              </a:p>
              <a:p>
                <a:r>
                  <a:rPr lang="en-US" dirty="0"/>
                  <a:t>So AD is a Super Key.</a:t>
                </a:r>
              </a:p>
              <a:p>
                <a:br>
                  <a:rPr lang="en-US" dirty="0"/>
                </a:br>
                <a:endParaRPr lang="en-US" dirty="0"/>
              </a:p>
              <a:p>
                <a:r>
                  <a:rPr lang="en-US" b="1" dirty="0"/>
                  <a:t>Step 3: Check Minimality</a:t>
                </a:r>
              </a:p>
              <a:p>
                <a:r>
                  <a:rPr lang="en-US" sz="1200" i="0" kern="1200">
                    <a:solidFill>
                      <a:schemeClr val="tx1"/>
                    </a:solidFill>
                    <a:latin typeface="+mn-lt"/>
                    <a:ea typeface="+mn-ea"/>
                    <a:cs typeface="+mn-cs"/>
                  </a:rPr>
                  <a:t>𝐴^+={𝐴ⓜ,𝐵ⓜ,𝐶ⓜ,𝐸ⓜ,𝐹}</a:t>
                </a:r>
                <a:endParaRPr lang="en-US" dirty="0"/>
              </a:p>
              <a:p>
                <a:r>
                  <a:rPr lang="en-US" dirty="0"/>
                  <a:t>Missing D.</a:t>
                </a:r>
              </a:p>
              <a:p>
                <a:r>
                  <a:rPr lang="en-US" sz="1200" i="0" kern="1200">
                    <a:solidFill>
                      <a:schemeClr val="tx1"/>
                    </a:solidFill>
                    <a:latin typeface="+mn-lt"/>
                    <a:ea typeface="+mn-ea"/>
                    <a:cs typeface="+mn-cs"/>
                  </a:rPr>
                  <a:t>𝐷^+={𝐷}</a:t>
                </a:r>
                <a:endParaRPr lang="en-US" dirty="0"/>
              </a:p>
              <a:p>
                <a:r>
                  <a:rPr lang="en-US" dirty="0"/>
                  <a:t>Missing others.</a:t>
                </a:r>
              </a:p>
              <a:p>
                <a:r>
                  <a:rPr lang="en-US" dirty="0"/>
                  <a:t>Neither A nor D alone works.</a:t>
                </a:r>
              </a:p>
              <a:p>
                <a:r>
                  <a:rPr lang="en-US" dirty="0"/>
                  <a:t>Therefore:</a:t>
                </a:r>
              </a:p>
              <a:p>
                <a:r>
                  <a:rPr lang="en-US" b="1" dirty="0"/>
                  <a:t>Candidate Key = {AD}</a:t>
                </a:r>
                <a:endParaRPr lang="en-US" dirty="0"/>
              </a:p>
              <a:p>
                <a:endParaRPr lang="en-US" dirty="0"/>
              </a:p>
              <a:p>
                <a:endParaRPr lang="en-US" dirty="0"/>
              </a:p>
              <a:p>
                <a:endParaRPr lang="en-US" dirty="0"/>
              </a:p>
              <a:p>
                <a:endParaRPr lang="en-US" dirty="0"/>
              </a:p>
              <a:p>
                <a:endParaRPr lang="en-US" dirty="0"/>
              </a:p>
              <a:p>
                <a:r>
                  <a:rPr lang="en-US" b="1" dirty="0"/>
                  <a:t>Shortcut Method</a:t>
                </a:r>
              </a:p>
              <a:p>
                <a:r>
                  <a:rPr lang="en-US" b="1" dirty="0"/>
                  <a:t>Step 1</a:t>
                </a:r>
              </a:p>
              <a:p>
                <a:r>
                  <a:rPr lang="en-US" dirty="0"/>
                  <a:t>Write all attributes that never appear on RHS.</a:t>
                </a:r>
              </a:p>
              <a:p>
                <a:r>
                  <a:rPr lang="en-US" dirty="0"/>
                  <a:t>These must be part of every candidate key.</a:t>
                </a:r>
              </a:p>
              <a:p>
                <a:r>
                  <a:rPr lang="en-US" b="1" dirty="0"/>
                  <a:t>Step 2</a:t>
                </a:r>
              </a:p>
              <a:p>
                <a:r>
                  <a:rPr lang="en-US" dirty="0"/>
                  <a:t>Compute closure of that set.</a:t>
                </a:r>
              </a:p>
              <a:p>
                <a:r>
                  <a:rPr lang="en-US" b="1" dirty="0"/>
                  <a:t>Step 3</a:t>
                </a:r>
              </a:p>
              <a:p>
                <a:r>
                  <a:rPr lang="en-US" dirty="0"/>
                  <a:t>If closure is not all attributes, add attributes one by one and recompute.</a:t>
                </a:r>
              </a:p>
              <a:p>
                <a:r>
                  <a:rPr lang="en-US" b="1" dirty="0"/>
                  <a:t>Step 4</a:t>
                </a:r>
              </a:p>
              <a:p>
                <a:r>
                  <a:rPr lang="en-US" dirty="0"/>
                  <a:t>When closure contains all attributes, check minimality.</a:t>
                </a:r>
              </a:p>
              <a:p>
                <a:endParaRPr lang="en-US" dirty="0"/>
              </a:p>
            </p:txBody>
          </p:sp>
        </mc:Fallback>
      </mc:AlternateContent>
      <p:sp>
        <p:nvSpPr>
          <p:cNvPr id="4" name="Slide Number Placeholder 3"/>
          <p:cNvSpPr>
            <a:spLocks noGrp="1"/>
          </p:cNvSpPr>
          <p:nvPr>
            <p:ph type="sldNum" sz="quarter" idx="5"/>
          </p:nvPr>
        </p:nvSpPr>
        <p:spPr/>
        <p:txBody>
          <a:bodyPr/>
          <a:lstStyle/>
          <a:p>
            <a:fld id="{532ED260-D111-491D-AB9F-FC8569A2A916}" type="slidenum">
              <a:rPr lang="en-US" smtClean="0"/>
              <a:t>64</a:t>
            </a:fld>
            <a:endParaRPr lang="en-US"/>
          </a:p>
        </p:txBody>
      </p:sp>
    </p:spTree>
    <p:extLst>
      <p:ext uri="{BB962C8B-B14F-4D97-AF65-F5344CB8AC3E}">
        <p14:creationId xmlns:p14="http://schemas.microsoft.com/office/powerpoint/2010/main" val="308733225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b="1" i="0" kern="1200" dirty="0">
                <a:solidFill>
                  <a:schemeClr val="tx1"/>
                </a:solidFill>
                <a:effectLst/>
                <a:latin typeface="+mn-lt"/>
                <a:ea typeface="+mn-ea"/>
                <a:cs typeface="+mn-cs"/>
              </a:rPr>
              <a:t>Features of Database Normalization</a:t>
            </a:r>
          </a:p>
          <a:p>
            <a:pPr fontAlgn="base"/>
            <a:r>
              <a:rPr lang="en-US" sz="1200" b="1" i="0" kern="1200" dirty="0">
                <a:solidFill>
                  <a:schemeClr val="tx1"/>
                </a:solidFill>
                <a:effectLst/>
                <a:latin typeface="+mn-lt"/>
                <a:ea typeface="+mn-ea"/>
                <a:cs typeface="+mn-cs"/>
              </a:rPr>
              <a:t>Elimination of Data Redundancy: </a:t>
            </a:r>
            <a:r>
              <a:rPr lang="en-US" sz="1200" b="0" i="0" kern="1200" dirty="0">
                <a:solidFill>
                  <a:schemeClr val="tx1"/>
                </a:solidFill>
                <a:effectLst/>
                <a:latin typeface="+mn-lt"/>
                <a:ea typeface="+mn-ea"/>
                <a:cs typeface="+mn-cs"/>
              </a:rPr>
              <a:t>One of the main features of normalization is to eliminate the data redundancy that can occur in a database. Data redundancy refers to the repetition of data in different parts of the database. Normalization helps in reducing or eliminating this redundancy, which can improve the efficiency and consistency of the database.</a:t>
            </a:r>
          </a:p>
          <a:p>
            <a:pPr fontAlgn="base"/>
            <a:r>
              <a:rPr lang="en-US" sz="1200" b="1" i="0" kern="1200" dirty="0">
                <a:solidFill>
                  <a:schemeClr val="tx1"/>
                </a:solidFill>
                <a:effectLst/>
                <a:latin typeface="+mn-lt"/>
                <a:ea typeface="+mn-ea"/>
                <a:cs typeface="+mn-cs"/>
              </a:rPr>
              <a:t>Ensuring Data Consistency: </a:t>
            </a:r>
            <a:r>
              <a:rPr lang="en-US" sz="1200" b="0" i="0" kern="1200" dirty="0">
                <a:solidFill>
                  <a:schemeClr val="tx1"/>
                </a:solidFill>
                <a:effectLst/>
                <a:latin typeface="+mn-lt"/>
                <a:ea typeface="+mn-ea"/>
                <a:cs typeface="+mn-cs"/>
              </a:rPr>
              <a:t>Normalization helps in ensuring that the data in the database is consistent and accurate. By eliminating redundancy, normalization helps in preventing inconsistencies and contradictions that can arise due to different versions of the same data.</a:t>
            </a:r>
          </a:p>
          <a:p>
            <a:pPr fontAlgn="base"/>
            <a:r>
              <a:rPr lang="en-US" sz="1200" b="1" i="0" kern="1200" dirty="0">
                <a:solidFill>
                  <a:schemeClr val="tx1"/>
                </a:solidFill>
                <a:effectLst/>
                <a:latin typeface="+mn-lt"/>
                <a:ea typeface="+mn-ea"/>
                <a:cs typeface="+mn-cs"/>
              </a:rPr>
              <a:t>Simplification of Data Management:</a:t>
            </a:r>
            <a:r>
              <a:rPr lang="en-US" sz="1200" b="0" i="0" kern="1200" dirty="0">
                <a:solidFill>
                  <a:schemeClr val="tx1"/>
                </a:solidFill>
                <a:effectLst/>
                <a:latin typeface="+mn-lt"/>
                <a:ea typeface="+mn-ea"/>
                <a:cs typeface="+mn-cs"/>
              </a:rPr>
              <a:t> Normalization simplifies the process of managing data in a database. By breaking down a complex data structure into simpler tables, normalization makes it easier to manage the data, update it, and retrieve it.</a:t>
            </a:r>
          </a:p>
          <a:p>
            <a:pPr fontAlgn="base"/>
            <a:r>
              <a:rPr lang="en-US" sz="1200" b="1" i="0" kern="1200" dirty="0">
                <a:solidFill>
                  <a:schemeClr val="tx1"/>
                </a:solidFill>
                <a:effectLst/>
                <a:latin typeface="+mn-lt"/>
                <a:ea typeface="+mn-ea"/>
                <a:cs typeface="+mn-cs"/>
              </a:rPr>
              <a:t>Improved Database Design:</a:t>
            </a:r>
            <a:r>
              <a:rPr lang="en-US" sz="1200" b="0" i="0" kern="1200" dirty="0">
                <a:solidFill>
                  <a:schemeClr val="tx1"/>
                </a:solidFill>
                <a:effectLst/>
                <a:latin typeface="+mn-lt"/>
                <a:ea typeface="+mn-ea"/>
                <a:cs typeface="+mn-cs"/>
              </a:rPr>
              <a:t> Normalization helps in improving the overall design of the database. By organizing the data in a structured and systematic way, normalization makes it easier to design and maintain the database. It also makes the database more flexible and adaptable to changing business needs.</a:t>
            </a:r>
          </a:p>
          <a:p>
            <a:pPr fontAlgn="base"/>
            <a:r>
              <a:rPr lang="en-US" sz="1200" b="1" i="0" kern="1200" dirty="0">
                <a:solidFill>
                  <a:schemeClr val="tx1"/>
                </a:solidFill>
                <a:effectLst/>
                <a:latin typeface="+mn-lt"/>
                <a:ea typeface="+mn-ea"/>
                <a:cs typeface="+mn-cs"/>
              </a:rPr>
              <a:t>Standardization: </a:t>
            </a:r>
            <a:r>
              <a:rPr lang="en-US" sz="1200" b="0" i="0" kern="1200" dirty="0">
                <a:solidFill>
                  <a:schemeClr val="tx1"/>
                </a:solidFill>
                <a:effectLst/>
                <a:latin typeface="+mn-lt"/>
                <a:ea typeface="+mn-ea"/>
                <a:cs typeface="+mn-cs"/>
              </a:rPr>
              <a:t>Normalization helps in standardizing the data in the database. By organizing the data into tables and defining relationships between them, normalization helps in ensuring that the data is stored in a consistent and uniform manner.</a:t>
            </a:r>
          </a:p>
          <a:p>
            <a:endParaRPr lang="en-US" dirty="0"/>
          </a:p>
        </p:txBody>
      </p:sp>
      <p:sp>
        <p:nvSpPr>
          <p:cNvPr id="4" name="Slide Number Placeholder 3"/>
          <p:cNvSpPr>
            <a:spLocks noGrp="1"/>
          </p:cNvSpPr>
          <p:nvPr>
            <p:ph type="sldNum" sz="quarter" idx="5"/>
          </p:nvPr>
        </p:nvSpPr>
        <p:spPr/>
        <p:txBody>
          <a:bodyPr/>
          <a:lstStyle/>
          <a:p>
            <a:fld id="{532ED260-D111-491D-AB9F-FC8569A2A916}" type="slidenum">
              <a:rPr lang="en-US" smtClean="0"/>
              <a:t>65</a:t>
            </a:fld>
            <a:endParaRPr lang="en-US"/>
          </a:p>
        </p:txBody>
      </p:sp>
    </p:spTree>
    <p:extLst>
      <p:ext uri="{BB962C8B-B14F-4D97-AF65-F5344CB8AC3E}">
        <p14:creationId xmlns:p14="http://schemas.microsoft.com/office/powerpoint/2010/main" val="161213974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32ED260-D111-491D-AB9F-FC8569A2A916}" type="slidenum">
              <a:rPr lang="en-US" smtClean="0"/>
              <a:t>66</a:t>
            </a:fld>
            <a:endParaRPr lang="en-US"/>
          </a:p>
        </p:txBody>
      </p:sp>
    </p:spTree>
    <p:extLst>
      <p:ext uri="{BB962C8B-B14F-4D97-AF65-F5344CB8AC3E}">
        <p14:creationId xmlns:p14="http://schemas.microsoft.com/office/powerpoint/2010/main" val="168984956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b="1" i="0" kern="1200" dirty="0">
                <a:solidFill>
                  <a:schemeClr val="tx1"/>
                </a:solidFill>
                <a:effectLst/>
                <a:latin typeface="+mn-lt"/>
                <a:ea typeface="+mn-ea"/>
                <a:cs typeface="+mn-cs"/>
              </a:rPr>
              <a:t>Before Normalization:</a:t>
            </a:r>
            <a:r>
              <a:rPr lang="en-US" sz="1200" b="0" i="0" kern="1200" dirty="0">
                <a:solidFill>
                  <a:schemeClr val="tx1"/>
                </a:solidFill>
                <a:effectLst/>
                <a:latin typeface="+mn-lt"/>
                <a:ea typeface="+mn-ea"/>
                <a:cs typeface="+mn-cs"/>
              </a:rPr>
              <a:t> The table is prone to redundancy and anomalies (insertion, update, and deletion).</a:t>
            </a:r>
          </a:p>
          <a:p>
            <a:pPr fontAlgn="base"/>
            <a:r>
              <a:rPr lang="en-US" sz="1200" b="1" i="0" kern="1200" dirty="0">
                <a:solidFill>
                  <a:schemeClr val="tx1"/>
                </a:solidFill>
                <a:effectLst/>
                <a:latin typeface="+mn-lt"/>
                <a:ea typeface="+mn-ea"/>
                <a:cs typeface="+mn-cs"/>
              </a:rPr>
              <a:t>After Normalization:</a:t>
            </a:r>
            <a:r>
              <a:rPr lang="en-US" sz="1200" b="0" i="0" kern="1200" dirty="0">
                <a:solidFill>
                  <a:schemeClr val="tx1"/>
                </a:solidFill>
                <a:effectLst/>
                <a:latin typeface="+mn-lt"/>
                <a:ea typeface="+mn-ea"/>
                <a:cs typeface="+mn-cs"/>
              </a:rPr>
              <a:t> The data is divided into logical tables to ensure consistency, avoid redundancy and remove anomalies making the database efficient and reliable.</a:t>
            </a:r>
          </a:p>
          <a:p>
            <a:pPr fontAlgn="base"/>
            <a:r>
              <a:rPr lang="en-US" sz="1200" b="1" i="0" kern="1200" dirty="0">
                <a:solidFill>
                  <a:schemeClr val="tx1"/>
                </a:solidFill>
                <a:effectLst/>
                <a:latin typeface="+mn-lt"/>
                <a:ea typeface="+mn-ea"/>
                <a:cs typeface="+mn-cs"/>
              </a:rPr>
              <a:t>Problems in the </a:t>
            </a:r>
            <a:r>
              <a:rPr lang="en-US" sz="1200" b="1" i="0" kern="1200" dirty="0" err="1">
                <a:solidFill>
                  <a:schemeClr val="tx1"/>
                </a:solidFill>
                <a:effectLst/>
                <a:latin typeface="+mn-lt"/>
                <a:ea typeface="+mn-ea"/>
                <a:cs typeface="+mn-cs"/>
              </a:rPr>
              <a:t>Employee_Department</a:t>
            </a:r>
            <a:r>
              <a:rPr lang="en-US" sz="1200" b="1" i="0" kern="1200" dirty="0">
                <a:solidFill>
                  <a:schemeClr val="tx1"/>
                </a:solidFill>
                <a:effectLst/>
                <a:latin typeface="+mn-lt"/>
                <a:ea typeface="+mn-ea"/>
                <a:cs typeface="+mn-cs"/>
              </a:rPr>
              <a:t> Relation</a:t>
            </a:r>
          </a:p>
          <a:p>
            <a:pPr fontAlgn="base"/>
            <a:r>
              <a:rPr lang="en-US" sz="1200" b="0" i="0" kern="1200" dirty="0">
                <a:solidFill>
                  <a:schemeClr val="tx1"/>
                </a:solidFill>
                <a:effectLst/>
                <a:latin typeface="+mn-lt"/>
                <a:ea typeface="+mn-ea"/>
                <a:cs typeface="+mn-cs"/>
              </a:rPr>
              <a:t>If a new department is created but no employee is assigned to it yet, we cannot store its location because we need an employee record to insert. It shows insertion anomaly.</a:t>
            </a:r>
          </a:p>
          <a:p>
            <a:pPr fontAlgn="base"/>
            <a:r>
              <a:rPr lang="en-US" sz="1200" b="0" i="0" kern="1200" dirty="0">
                <a:solidFill>
                  <a:schemeClr val="tx1"/>
                </a:solidFill>
                <a:effectLst/>
                <a:latin typeface="+mn-lt"/>
                <a:ea typeface="+mn-ea"/>
                <a:cs typeface="+mn-cs"/>
              </a:rPr>
              <a:t>If the location of the HR department changes, we must update it in multiple rows (for both Nick Wise and Lily Case). If one row is missed, the data becomes inconsistent.</a:t>
            </a:r>
          </a:p>
          <a:p>
            <a:pPr fontAlgn="base"/>
            <a:r>
              <a:rPr lang="en-US" sz="1200" b="0" i="0" kern="1200" dirty="0">
                <a:solidFill>
                  <a:schemeClr val="tx1"/>
                </a:solidFill>
                <a:effectLst/>
                <a:latin typeface="+mn-lt"/>
                <a:ea typeface="+mn-ea"/>
                <a:cs typeface="+mn-cs"/>
              </a:rPr>
              <a:t>If all employees in the IT department leave, we lose the department information, including its location.</a:t>
            </a:r>
          </a:p>
          <a:p>
            <a:pPr fontAlgn="base"/>
            <a:r>
              <a:rPr lang="en-US" sz="1200" b="0" i="0" kern="1200" dirty="0">
                <a:solidFill>
                  <a:schemeClr val="tx1"/>
                </a:solidFill>
                <a:effectLst/>
                <a:latin typeface="+mn-lt"/>
                <a:ea typeface="+mn-ea"/>
                <a:cs typeface="+mn-cs"/>
              </a:rPr>
              <a:t>The department location is repeated for every employee in the same department. It is data redundant.</a:t>
            </a:r>
          </a:p>
          <a:p>
            <a:endParaRPr lang="en-US" dirty="0"/>
          </a:p>
        </p:txBody>
      </p:sp>
      <p:sp>
        <p:nvSpPr>
          <p:cNvPr id="4" name="Slide Number Placeholder 3"/>
          <p:cNvSpPr>
            <a:spLocks noGrp="1"/>
          </p:cNvSpPr>
          <p:nvPr>
            <p:ph type="sldNum" sz="quarter" idx="5"/>
          </p:nvPr>
        </p:nvSpPr>
        <p:spPr/>
        <p:txBody>
          <a:bodyPr/>
          <a:lstStyle/>
          <a:p>
            <a:fld id="{532ED260-D111-491D-AB9F-FC8569A2A916}" type="slidenum">
              <a:rPr lang="en-US" smtClean="0"/>
              <a:t>67</a:t>
            </a:fld>
            <a:endParaRPr lang="en-US"/>
          </a:p>
        </p:txBody>
      </p:sp>
    </p:spTree>
    <p:extLst>
      <p:ext uri="{BB962C8B-B14F-4D97-AF65-F5344CB8AC3E}">
        <p14:creationId xmlns:p14="http://schemas.microsoft.com/office/powerpoint/2010/main" val="235607667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Normal Form		Question to Ask</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1NF		Are all values atomic?</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2NF		Is there any partial dependency?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3NF		Is there any transitive dependency?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BCNF		Is every determinant a candidate key?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4NF		Is there any multivalued dependency?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5NF		Is there any join dependency causing redundancy?</a:t>
            </a:r>
          </a:p>
          <a:p>
            <a:endParaRPr lang="en-US" dirty="0"/>
          </a:p>
        </p:txBody>
      </p:sp>
      <p:sp>
        <p:nvSpPr>
          <p:cNvPr id="4" name="Slide Number Placeholder 3"/>
          <p:cNvSpPr>
            <a:spLocks noGrp="1"/>
          </p:cNvSpPr>
          <p:nvPr>
            <p:ph type="sldNum" sz="quarter" idx="5"/>
          </p:nvPr>
        </p:nvSpPr>
        <p:spPr/>
        <p:txBody>
          <a:bodyPr/>
          <a:lstStyle/>
          <a:p>
            <a:fld id="{532ED260-D111-491D-AB9F-FC8569A2A916}" type="slidenum">
              <a:rPr lang="en-US" smtClean="0"/>
              <a:t>68</a:t>
            </a:fld>
            <a:endParaRPr lang="en-US"/>
          </a:p>
        </p:txBody>
      </p:sp>
    </p:spTree>
    <p:extLst>
      <p:ext uri="{BB962C8B-B14F-4D97-AF65-F5344CB8AC3E}">
        <p14:creationId xmlns:p14="http://schemas.microsoft.com/office/powerpoint/2010/main" val="391248228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Remaining Problems</a:t>
            </a:r>
          </a:p>
          <a:p>
            <a:r>
              <a:rPr lang="en-US" dirty="0"/>
              <a:t>Notice:</a:t>
            </a:r>
          </a:p>
          <a:p>
            <a:pPr rtl="0"/>
            <a:r>
              <a:rPr lang="en-US" sz="1200" kern="1200" dirty="0" err="1">
                <a:solidFill>
                  <a:schemeClr val="tx1"/>
                </a:solidFill>
                <a:latin typeface="+mn-lt"/>
                <a:ea typeface="+mn-ea"/>
                <a:cs typeface="+mn-cs"/>
              </a:rPr>
              <a:t>Student_ID</a:t>
            </a:r>
            <a:r>
              <a:rPr lang="en-US" sz="1200" kern="1200" dirty="0">
                <a:solidFill>
                  <a:schemeClr val="tx1"/>
                </a:solidFill>
                <a:latin typeface="+mn-lt"/>
                <a:ea typeface="+mn-ea"/>
                <a:cs typeface="+mn-cs"/>
              </a:rPr>
              <a:t> → </a:t>
            </a:r>
            <a:r>
              <a:rPr lang="en-US" sz="1200" kern="1200" dirty="0" err="1">
                <a:solidFill>
                  <a:schemeClr val="tx1"/>
                </a:solidFill>
                <a:latin typeface="+mn-lt"/>
                <a:ea typeface="+mn-ea"/>
                <a:cs typeface="+mn-cs"/>
              </a:rPr>
              <a:t>Student_Name</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Dept_ID</a:t>
            </a:r>
            <a:br>
              <a:rPr lang="en-US" sz="1200" kern="1200" dirty="0">
                <a:solidFill>
                  <a:schemeClr val="tx1"/>
                </a:solidFill>
                <a:latin typeface="+mn-lt"/>
                <a:ea typeface="+mn-ea"/>
                <a:cs typeface="+mn-cs"/>
              </a:rPr>
            </a:br>
            <a:r>
              <a:rPr lang="en-US" sz="1200" kern="1200" dirty="0" err="1">
                <a:solidFill>
                  <a:schemeClr val="tx1"/>
                </a:solidFill>
                <a:latin typeface="+mn-lt"/>
                <a:ea typeface="+mn-ea"/>
                <a:cs typeface="+mn-cs"/>
              </a:rPr>
              <a:t>Dept_ID</a:t>
            </a:r>
            <a:r>
              <a:rPr lang="en-US" sz="1200" kern="1200" dirty="0">
                <a:solidFill>
                  <a:schemeClr val="tx1"/>
                </a:solidFill>
                <a:latin typeface="+mn-lt"/>
                <a:ea typeface="+mn-ea"/>
                <a:cs typeface="+mn-cs"/>
              </a:rPr>
              <a:t> → </a:t>
            </a:r>
            <a:r>
              <a:rPr lang="en-US" sz="1200" kern="1200" dirty="0" err="1">
                <a:solidFill>
                  <a:schemeClr val="tx1"/>
                </a:solidFill>
                <a:latin typeface="+mn-lt"/>
                <a:ea typeface="+mn-ea"/>
                <a:cs typeface="+mn-cs"/>
              </a:rPr>
              <a:t>Dept_Name</a:t>
            </a:r>
            <a:br>
              <a:rPr lang="en-US" sz="1200" kern="1200" dirty="0">
                <a:solidFill>
                  <a:schemeClr val="tx1"/>
                </a:solidFill>
                <a:latin typeface="+mn-lt"/>
                <a:ea typeface="+mn-ea"/>
                <a:cs typeface="+mn-cs"/>
              </a:rPr>
            </a:br>
            <a:r>
              <a:rPr lang="en-US" sz="1200" kern="1200" dirty="0">
                <a:solidFill>
                  <a:schemeClr val="tx1"/>
                </a:solidFill>
                <a:latin typeface="+mn-lt"/>
                <a:ea typeface="+mn-ea"/>
                <a:cs typeface="+mn-cs"/>
              </a:rPr>
              <a:t>Subject → Teacher</a:t>
            </a:r>
          </a:p>
          <a:p>
            <a:r>
              <a:rPr lang="en-US" dirty="0"/>
              <a:t>Many attributes depend on only part of the composite key.</a:t>
            </a:r>
          </a:p>
          <a:p>
            <a:r>
              <a:rPr lang="en-US" dirty="0"/>
              <a:t>Thus not in 2NF.</a:t>
            </a:r>
          </a:p>
          <a:p>
            <a:endParaRPr lang="en-US" dirty="0"/>
          </a:p>
        </p:txBody>
      </p:sp>
      <p:sp>
        <p:nvSpPr>
          <p:cNvPr id="4" name="Slide Number Placeholder 3"/>
          <p:cNvSpPr>
            <a:spLocks noGrp="1"/>
          </p:cNvSpPr>
          <p:nvPr>
            <p:ph type="sldNum" sz="quarter" idx="5"/>
          </p:nvPr>
        </p:nvSpPr>
        <p:spPr/>
        <p:txBody>
          <a:bodyPr/>
          <a:lstStyle/>
          <a:p>
            <a:fld id="{532ED260-D111-491D-AB9F-FC8569A2A916}" type="slidenum">
              <a:rPr lang="en-US" smtClean="0"/>
              <a:t>70</a:t>
            </a:fld>
            <a:endParaRPr lang="en-US"/>
          </a:p>
        </p:txBody>
      </p:sp>
    </p:spTree>
    <p:extLst>
      <p:ext uri="{BB962C8B-B14F-4D97-AF65-F5344CB8AC3E}">
        <p14:creationId xmlns:p14="http://schemas.microsoft.com/office/powerpoint/2010/main" val="378226804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Student_Name</a:t>
            </a:r>
            <a:r>
              <a:rPr lang="en-US" dirty="0"/>
              <a:t> depends only on </a:t>
            </a:r>
            <a:r>
              <a:rPr lang="en-US" dirty="0" err="1"/>
              <a:t>Student_ID</a:t>
            </a:r>
            <a:r>
              <a:rPr lang="en-US" dirty="0"/>
              <a:t>.</a:t>
            </a:r>
          </a:p>
          <a:p>
            <a:r>
              <a:rPr lang="en-US" dirty="0"/>
              <a:t>Teacher depends only on Subject.</a:t>
            </a:r>
          </a:p>
          <a:p>
            <a:r>
              <a:rPr lang="en-US" dirty="0"/>
              <a:t>These are partial dependencies.</a:t>
            </a:r>
          </a:p>
          <a:p>
            <a:endParaRPr lang="en-US" dirty="0"/>
          </a:p>
        </p:txBody>
      </p:sp>
      <p:sp>
        <p:nvSpPr>
          <p:cNvPr id="4" name="Slide Number Placeholder 3"/>
          <p:cNvSpPr>
            <a:spLocks noGrp="1"/>
          </p:cNvSpPr>
          <p:nvPr>
            <p:ph type="sldNum" sz="quarter" idx="5"/>
          </p:nvPr>
        </p:nvSpPr>
        <p:spPr/>
        <p:txBody>
          <a:bodyPr/>
          <a:lstStyle/>
          <a:p>
            <a:fld id="{532ED260-D111-491D-AB9F-FC8569A2A916}" type="slidenum">
              <a:rPr lang="en-US" smtClean="0"/>
              <a:t>71</a:t>
            </a:fld>
            <a:endParaRPr lang="en-US"/>
          </a:p>
        </p:txBody>
      </p:sp>
    </p:spTree>
    <p:extLst>
      <p:ext uri="{BB962C8B-B14F-4D97-AF65-F5344CB8AC3E}">
        <p14:creationId xmlns:p14="http://schemas.microsoft.com/office/powerpoint/2010/main" val="90996498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Remaining Problem</a:t>
            </a:r>
          </a:p>
          <a:p>
            <a:r>
              <a:rPr lang="en-US" dirty="0"/>
              <a:t>In STUDENT:</a:t>
            </a:r>
          </a:p>
          <a:p>
            <a:r>
              <a:rPr lang="en-US" dirty="0" err="1"/>
              <a:t>Student_ID</a:t>
            </a:r>
            <a:r>
              <a:rPr lang="en-US" dirty="0"/>
              <a:t>	</a:t>
            </a:r>
            <a:r>
              <a:rPr lang="en-US" dirty="0" err="1"/>
              <a:t>Student_Name</a:t>
            </a:r>
            <a:r>
              <a:rPr lang="en-US" dirty="0"/>
              <a:t>		</a:t>
            </a:r>
            <a:r>
              <a:rPr lang="en-US" dirty="0" err="1"/>
              <a:t>Dept_ID</a:t>
            </a:r>
            <a:endParaRPr lang="en-US" dirty="0"/>
          </a:p>
          <a:p>
            <a:r>
              <a:rPr lang="en-US" dirty="0"/>
              <a:t>S101	Ram		D1</a:t>
            </a:r>
          </a:p>
          <a:p>
            <a:r>
              <a:rPr lang="en-US" dirty="0"/>
              <a:t>S102	Hari		D2</a:t>
            </a:r>
          </a:p>
          <a:p>
            <a:r>
              <a:rPr lang="en-US" dirty="0"/>
              <a:t>We still have:</a:t>
            </a:r>
          </a:p>
          <a:p>
            <a:pPr rtl="0"/>
            <a:r>
              <a:rPr lang="en-US" sz="1200" kern="1200" dirty="0" err="1">
                <a:solidFill>
                  <a:schemeClr val="tx1"/>
                </a:solidFill>
                <a:latin typeface="+mn-lt"/>
                <a:ea typeface="+mn-ea"/>
                <a:cs typeface="+mn-cs"/>
              </a:rPr>
              <a:t>Dept_ID</a:t>
            </a:r>
            <a:r>
              <a:rPr lang="en-US" sz="1200" kern="1200" dirty="0">
                <a:solidFill>
                  <a:schemeClr val="tx1"/>
                </a:solidFill>
                <a:latin typeface="+mn-lt"/>
                <a:ea typeface="+mn-ea"/>
                <a:cs typeface="+mn-cs"/>
              </a:rPr>
              <a:t> → </a:t>
            </a:r>
            <a:r>
              <a:rPr lang="en-US" sz="1200" kern="1200" dirty="0" err="1">
                <a:solidFill>
                  <a:schemeClr val="tx1"/>
                </a:solidFill>
                <a:latin typeface="+mn-lt"/>
                <a:ea typeface="+mn-ea"/>
                <a:cs typeface="+mn-cs"/>
              </a:rPr>
              <a:t>Dept_Name</a:t>
            </a:r>
            <a:endParaRPr lang="en-US" sz="1200" kern="1200" dirty="0">
              <a:solidFill>
                <a:schemeClr val="tx1"/>
              </a:solidFill>
              <a:latin typeface="+mn-lt"/>
              <a:ea typeface="+mn-ea"/>
              <a:cs typeface="+mn-cs"/>
            </a:endParaRPr>
          </a:p>
          <a:p>
            <a:r>
              <a:rPr lang="en-US" dirty="0"/>
              <a:t>Transitive dependency exists.</a:t>
            </a:r>
          </a:p>
          <a:p>
            <a:r>
              <a:rPr lang="en-US" dirty="0"/>
              <a:t>Not in 3NF.</a:t>
            </a:r>
          </a:p>
          <a:p>
            <a:endParaRPr lang="en-US" dirty="0"/>
          </a:p>
          <a:p>
            <a:endParaRPr lang="en-US" dirty="0"/>
          </a:p>
        </p:txBody>
      </p:sp>
      <p:sp>
        <p:nvSpPr>
          <p:cNvPr id="4" name="Slide Number Placeholder 3"/>
          <p:cNvSpPr>
            <a:spLocks noGrp="1"/>
          </p:cNvSpPr>
          <p:nvPr>
            <p:ph type="sldNum" sz="quarter" idx="5"/>
          </p:nvPr>
        </p:nvSpPr>
        <p:spPr/>
        <p:txBody>
          <a:bodyPr/>
          <a:lstStyle/>
          <a:p>
            <a:fld id="{532ED260-D111-491D-AB9F-FC8569A2A916}" type="slidenum">
              <a:rPr lang="en-US" smtClean="0"/>
              <a:t>72</a:t>
            </a:fld>
            <a:endParaRPr lang="en-US"/>
          </a:p>
        </p:txBody>
      </p:sp>
    </p:spTree>
    <p:extLst>
      <p:ext uri="{BB962C8B-B14F-4D97-AF65-F5344CB8AC3E}">
        <p14:creationId xmlns:p14="http://schemas.microsoft.com/office/powerpoint/2010/main" val="247926788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Why is This a Problem?</a:t>
            </a:r>
          </a:p>
          <a:p>
            <a:r>
              <a:rPr lang="en-US" b="1" dirty="0"/>
              <a:t>1. Update Anomaly</a:t>
            </a:r>
          </a:p>
          <a:p>
            <a:r>
              <a:rPr lang="en-US" dirty="0"/>
              <a:t>Suppose:</a:t>
            </a:r>
          </a:p>
          <a:p>
            <a:r>
              <a:rPr lang="en-US" dirty="0"/>
              <a:t>Computer department changes name to:</a:t>
            </a:r>
          </a:p>
          <a:p>
            <a:r>
              <a:rPr lang="en-US" dirty="0"/>
              <a:t>"Computer Engineering"</a:t>
            </a:r>
          </a:p>
          <a:p>
            <a:r>
              <a:rPr lang="en-US" dirty="0"/>
              <a:t>Current table:</a:t>
            </a:r>
          </a:p>
          <a:p>
            <a:r>
              <a:rPr lang="en-US" dirty="0"/>
              <a:t>Student_IDStudent_NameDept_IDDept_NameS101RamD1ComputerS103SitaD1Computer</a:t>
            </a:r>
          </a:p>
          <a:p>
            <a:r>
              <a:rPr lang="en-US" dirty="0"/>
              <a:t>We must update every student row.</a:t>
            </a:r>
          </a:p>
          <a:p>
            <a:r>
              <a:rPr lang="en-US" dirty="0"/>
              <a:t>If one row is missed:</a:t>
            </a:r>
          </a:p>
          <a:p>
            <a:r>
              <a:rPr lang="en-US" dirty="0"/>
              <a:t>Student_IDStudent_NameDept_IDDept_NameS101RamD1Computer EngineeringS103SitaD1Computer</a:t>
            </a:r>
          </a:p>
          <a:p>
            <a:r>
              <a:rPr lang="en-US" dirty="0"/>
              <a:t>Database becomes inconsistent.</a:t>
            </a:r>
          </a:p>
          <a:p>
            <a:br>
              <a:rPr lang="en-US" dirty="0"/>
            </a:br>
            <a:endParaRPr lang="en-US" dirty="0"/>
          </a:p>
          <a:p>
            <a:r>
              <a:rPr lang="en-US" b="1" dirty="0"/>
              <a:t>2. Insertion Anomaly</a:t>
            </a:r>
          </a:p>
          <a:p>
            <a:r>
              <a:rPr lang="en-US" dirty="0"/>
              <a:t>Suppose a new department is created:</a:t>
            </a:r>
          </a:p>
          <a:p>
            <a:r>
              <a:rPr lang="en-US" dirty="0"/>
              <a:t>Dept_IDDept_NameD3Electronics</a:t>
            </a:r>
          </a:p>
          <a:p>
            <a:r>
              <a:rPr lang="en-US" dirty="0"/>
              <a:t>But no student has joined yet.</a:t>
            </a:r>
          </a:p>
          <a:p>
            <a:r>
              <a:rPr lang="en-US" dirty="0"/>
              <a:t>In STUDENT table, we cannot store this information because there is no </a:t>
            </a:r>
            <a:r>
              <a:rPr lang="en-US" dirty="0" err="1"/>
              <a:t>Student_ID</a:t>
            </a:r>
            <a:r>
              <a:rPr lang="en-US" dirty="0"/>
              <a:t>.</a:t>
            </a:r>
          </a:p>
          <a:p>
            <a:br>
              <a:rPr lang="en-US" dirty="0"/>
            </a:br>
            <a:endParaRPr lang="en-US" dirty="0"/>
          </a:p>
          <a:p>
            <a:r>
              <a:rPr lang="en-US" b="1" dirty="0"/>
              <a:t>3. Deletion Anomaly</a:t>
            </a:r>
          </a:p>
          <a:p>
            <a:r>
              <a:rPr lang="en-US" dirty="0"/>
              <a:t>Suppose Sita is the only student in Computer department.</a:t>
            </a:r>
          </a:p>
          <a:p>
            <a:r>
              <a:rPr lang="en-US" dirty="0"/>
              <a:t>If Sita's record is deleted:</a:t>
            </a:r>
          </a:p>
          <a:p>
            <a:r>
              <a:rPr lang="en-US" dirty="0" err="1"/>
              <a:t>Student_ID</a:t>
            </a:r>
            <a:r>
              <a:rPr lang="en-US" dirty="0"/>
              <a:t>	</a:t>
            </a:r>
            <a:r>
              <a:rPr lang="en-US" dirty="0" err="1"/>
              <a:t>Student_Name</a:t>
            </a:r>
            <a:r>
              <a:rPr lang="en-US" dirty="0"/>
              <a:t>		</a:t>
            </a:r>
            <a:r>
              <a:rPr lang="en-US" dirty="0" err="1"/>
              <a:t>Dept_ID</a:t>
            </a:r>
            <a:r>
              <a:rPr lang="en-US" dirty="0"/>
              <a:t>	</a:t>
            </a:r>
            <a:r>
              <a:rPr lang="en-US" dirty="0" err="1"/>
              <a:t>Dept_Name</a:t>
            </a:r>
            <a:r>
              <a:rPr lang="en-US" dirty="0"/>
              <a:t>	</a:t>
            </a:r>
          </a:p>
          <a:p>
            <a:r>
              <a:rPr lang="en-US" dirty="0"/>
              <a:t>S103	Sita	D1	Computer</a:t>
            </a:r>
          </a:p>
          <a:p>
            <a:r>
              <a:rPr lang="en-US" dirty="0"/>
              <a:t>The information: </a:t>
            </a:r>
            <a:r>
              <a:rPr lang="en-US" sz="1200" kern="1200" dirty="0">
                <a:solidFill>
                  <a:schemeClr val="tx1"/>
                </a:solidFill>
                <a:latin typeface="+mn-lt"/>
                <a:ea typeface="+mn-ea"/>
                <a:cs typeface="+mn-cs"/>
              </a:rPr>
              <a:t>D1 = </a:t>
            </a:r>
            <a:r>
              <a:rPr lang="en-US" sz="1200" kern="1200" dirty="0" err="1">
                <a:solidFill>
                  <a:schemeClr val="tx1"/>
                </a:solidFill>
                <a:latin typeface="+mn-lt"/>
                <a:ea typeface="+mn-ea"/>
                <a:cs typeface="+mn-cs"/>
              </a:rPr>
              <a:t>Computer</a:t>
            </a:r>
            <a:r>
              <a:rPr lang="en-US" dirty="0" err="1"/>
              <a:t>is</a:t>
            </a:r>
            <a:r>
              <a:rPr lang="en-US" dirty="0"/>
              <a:t> also lost.</a:t>
            </a:r>
          </a:p>
          <a:p>
            <a:endParaRPr lang="en-US" dirty="0"/>
          </a:p>
        </p:txBody>
      </p:sp>
      <p:sp>
        <p:nvSpPr>
          <p:cNvPr id="4" name="Slide Number Placeholder 3"/>
          <p:cNvSpPr>
            <a:spLocks noGrp="1"/>
          </p:cNvSpPr>
          <p:nvPr>
            <p:ph type="sldNum" sz="quarter" idx="5"/>
          </p:nvPr>
        </p:nvSpPr>
        <p:spPr/>
        <p:txBody>
          <a:bodyPr/>
          <a:lstStyle/>
          <a:p>
            <a:fld id="{532ED260-D111-491D-AB9F-FC8569A2A916}" type="slidenum">
              <a:rPr lang="en-US" smtClean="0"/>
              <a:t>73</a:t>
            </a:fld>
            <a:endParaRPr lang="en-US"/>
          </a:p>
        </p:txBody>
      </p:sp>
    </p:spTree>
    <p:extLst>
      <p:ext uri="{BB962C8B-B14F-4D97-AF65-F5344CB8AC3E}">
        <p14:creationId xmlns:p14="http://schemas.microsoft.com/office/powerpoint/2010/main" val="37638603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FE69D54-FA1C-4D9A-AFB3-4E944F34CC09}" type="datetimeFigureOut">
              <a:rPr lang="en-US" smtClean="0"/>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F5D5CB-4213-4614-B9B5-778CED923BCA}"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92950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FE69D54-FA1C-4D9A-AFB3-4E944F34CC09}" type="datetimeFigureOut">
              <a:rPr lang="en-US" smtClean="0"/>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F5D5CB-4213-4614-B9B5-778CED923BCA}" type="slidenum">
              <a:rPr lang="en-US" smtClean="0"/>
              <a:t>‹#›</a:t>
            </a:fld>
            <a:endParaRPr lang="en-US"/>
          </a:p>
        </p:txBody>
      </p:sp>
    </p:spTree>
    <p:extLst>
      <p:ext uri="{BB962C8B-B14F-4D97-AF65-F5344CB8AC3E}">
        <p14:creationId xmlns:p14="http://schemas.microsoft.com/office/powerpoint/2010/main" val="4017428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FE69D54-FA1C-4D9A-AFB3-4E944F34CC09}" type="datetimeFigureOut">
              <a:rPr lang="en-US" smtClean="0"/>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F5D5CB-4213-4614-B9B5-778CED923BCA}"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715123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FE69D54-FA1C-4D9A-AFB3-4E944F34CC09}" type="datetimeFigureOut">
              <a:rPr lang="en-US" smtClean="0"/>
              <a:t>6/11/2026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F5D5CB-4213-4614-B9B5-778CED923BCA}" type="slidenum">
              <a:rPr lang="en-US" smtClean="0"/>
              <a:t>‹#›</a:t>
            </a:fld>
            <a:endParaRPr lang="en-US"/>
          </a:p>
        </p:txBody>
      </p:sp>
    </p:spTree>
    <p:extLst>
      <p:ext uri="{BB962C8B-B14F-4D97-AF65-F5344CB8AC3E}">
        <p14:creationId xmlns:p14="http://schemas.microsoft.com/office/powerpoint/2010/main" val="9228563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FE69D54-FA1C-4D9A-AFB3-4E944F34CC09}" type="datetimeFigureOut">
              <a:rPr lang="en-US" smtClean="0"/>
              <a:t>6/11/2026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EF5D5CB-4213-4614-B9B5-778CED923BCA}" type="slidenum">
              <a:rPr lang="en-US" smtClean="0"/>
              <a:t>‹#›</a:t>
            </a:fld>
            <a:endParaRPr lang="en-US"/>
          </a:p>
        </p:txBody>
      </p:sp>
    </p:spTree>
    <p:extLst>
      <p:ext uri="{BB962C8B-B14F-4D97-AF65-F5344CB8AC3E}">
        <p14:creationId xmlns:p14="http://schemas.microsoft.com/office/powerpoint/2010/main" val="8140637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FE69D54-FA1C-4D9A-AFB3-4E944F34CC09}" type="datetimeFigureOut">
              <a:rPr lang="en-US" smtClean="0"/>
              <a:t>6/11/2026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EF5D5CB-4213-4614-B9B5-778CED923BCA}" type="slidenum">
              <a:rPr lang="en-US" smtClean="0"/>
              <a:t>‹#›</a:t>
            </a:fld>
            <a:endParaRPr lang="en-US"/>
          </a:p>
        </p:txBody>
      </p:sp>
    </p:spTree>
    <p:extLst>
      <p:ext uri="{BB962C8B-B14F-4D97-AF65-F5344CB8AC3E}">
        <p14:creationId xmlns:p14="http://schemas.microsoft.com/office/powerpoint/2010/main" val="12052045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BFE69D54-FA1C-4D9A-AFB3-4E944F34CC09}" type="datetimeFigureOut">
              <a:rPr lang="en-US" smtClean="0"/>
              <a:t>6/11/2026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5EF5D5CB-4213-4614-B9B5-778CED923BCA}" type="slidenum">
              <a:rPr lang="en-US" smtClean="0"/>
              <a:t>‹#›</a:t>
            </a:fld>
            <a:endParaRPr lang="en-US"/>
          </a:p>
        </p:txBody>
      </p:sp>
    </p:spTree>
    <p:extLst>
      <p:ext uri="{BB962C8B-B14F-4D97-AF65-F5344CB8AC3E}">
        <p14:creationId xmlns:p14="http://schemas.microsoft.com/office/powerpoint/2010/main" val="5759705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BFE69D54-FA1C-4D9A-AFB3-4E944F34CC09}" type="datetimeFigureOut">
              <a:rPr lang="en-US" smtClean="0"/>
              <a:t>6/11/2026</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5EF5D5CB-4213-4614-B9B5-778CED923BCA}" type="slidenum">
              <a:rPr lang="en-US" smtClean="0"/>
              <a:t>‹#›</a:t>
            </a:fld>
            <a:endParaRPr lang="en-US"/>
          </a:p>
        </p:txBody>
      </p:sp>
    </p:spTree>
    <p:extLst>
      <p:ext uri="{BB962C8B-B14F-4D97-AF65-F5344CB8AC3E}">
        <p14:creationId xmlns:p14="http://schemas.microsoft.com/office/powerpoint/2010/main" val="11544821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FE69D54-FA1C-4D9A-AFB3-4E944F34CC09}" type="datetimeFigureOut">
              <a:rPr lang="en-US" smtClean="0"/>
              <a:t>6/11/2026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F5D5CB-4213-4614-B9B5-778CED923BCA}" type="slidenum">
              <a:rPr lang="en-US" smtClean="0"/>
              <a:t>‹#›</a:t>
            </a:fld>
            <a:endParaRPr lang="en-US"/>
          </a:p>
        </p:txBody>
      </p:sp>
    </p:spTree>
    <p:extLst>
      <p:ext uri="{BB962C8B-B14F-4D97-AF65-F5344CB8AC3E}">
        <p14:creationId xmlns:p14="http://schemas.microsoft.com/office/powerpoint/2010/main" val="32958040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FE69D54-FA1C-4D9A-AFB3-4E944F34CC09}" type="datetimeFigureOut">
              <a:rPr lang="en-US" smtClean="0"/>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F5D5CB-4213-4614-B9B5-778CED923BCA}" type="slidenum">
              <a:rPr lang="en-US" smtClean="0"/>
              <a:t>‹#›</a:t>
            </a:fld>
            <a:endParaRPr lang="en-US"/>
          </a:p>
        </p:txBody>
      </p:sp>
    </p:spTree>
    <p:extLst>
      <p:ext uri="{BB962C8B-B14F-4D97-AF65-F5344CB8AC3E}">
        <p14:creationId xmlns:p14="http://schemas.microsoft.com/office/powerpoint/2010/main" val="4366881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FE69D54-FA1C-4D9A-AFB3-4E944F34CC09}" type="datetimeFigureOut">
              <a:rPr lang="en-US" smtClean="0"/>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F5D5CB-4213-4614-B9B5-778CED923BCA}" type="slidenum">
              <a:rPr lang="en-US" smtClean="0"/>
              <a:t>‹#›</a:t>
            </a:fld>
            <a:endParaRPr lang="en-US"/>
          </a:p>
        </p:txBody>
      </p:sp>
    </p:spTree>
    <p:extLst>
      <p:ext uri="{BB962C8B-B14F-4D97-AF65-F5344CB8AC3E}">
        <p14:creationId xmlns:p14="http://schemas.microsoft.com/office/powerpoint/2010/main" val="41404868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BFE69D54-FA1C-4D9A-AFB3-4E944F34CC09}" type="datetimeFigureOut">
              <a:rPr lang="en-US" smtClean="0"/>
              <a:t>6/11/2026</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5EF5D5CB-4213-4614-B9B5-778CED923BCA}"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7070087"/>
      </p:ext>
    </p:extLst>
  </p:cSld>
  <p:clrMap bg1="lt1" tx1="dk1" bg2="lt2" tx2="dk2" accent1="accent1" accent2="accent2" accent3="accent3" accent4="accent4" accent5="accent5" accent6="accent6" hlink="hlink" folHlink="folHlink"/>
  <p:sldLayoutIdLst>
    <p:sldLayoutId id="2147483849" r:id="rId1"/>
    <p:sldLayoutId id="2147483850" r:id="rId2"/>
    <p:sldLayoutId id="2147483851" r:id="rId3"/>
    <p:sldLayoutId id="2147483852" r:id="rId4"/>
    <p:sldLayoutId id="2147483853" r:id="rId5"/>
    <p:sldLayoutId id="2147483854" r:id="rId6"/>
    <p:sldLayoutId id="2147483855" r:id="rId7"/>
    <p:sldLayoutId id="2147483856" r:id="rId8"/>
    <p:sldLayoutId id="2147483857" r:id="rId9"/>
    <p:sldLayoutId id="2147483858" r:id="rId10"/>
    <p:sldLayoutId id="2147483859"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70.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8F92FD-177D-09D1-F99D-F97142F5255D}"/>
              </a:ext>
            </a:extLst>
          </p:cNvPr>
          <p:cNvSpPr>
            <a:spLocks noGrp="1"/>
          </p:cNvSpPr>
          <p:nvPr>
            <p:ph type="ctrTitle"/>
          </p:nvPr>
        </p:nvSpPr>
        <p:spPr/>
        <p:txBody>
          <a:bodyPr/>
          <a:lstStyle/>
          <a:p>
            <a:r>
              <a:rPr lang="en-US" dirty="0"/>
              <a:t>Unit 4: Relational Database Design</a:t>
            </a:r>
          </a:p>
        </p:txBody>
      </p:sp>
      <p:sp>
        <p:nvSpPr>
          <p:cNvPr id="3" name="Subtitle 2">
            <a:extLst>
              <a:ext uri="{FF2B5EF4-FFF2-40B4-BE49-F238E27FC236}">
                <a16:creationId xmlns:a16="http://schemas.microsoft.com/office/drawing/2014/main" id="{226880BC-5E15-C96D-53C8-42C54B9E05F4}"/>
              </a:ext>
            </a:extLst>
          </p:cNvPr>
          <p:cNvSpPr>
            <a:spLocks noGrp="1"/>
          </p:cNvSpPr>
          <p:nvPr>
            <p:ph type="subTitle" idx="1"/>
          </p:nvPr>
        </p:nvSpPr>
        <p:spPr/>
        <p:txBody>
          <a:bodyPr/>
          <a:lstStyle/>
          <a:p>
            <a:r>
              <a:rPr lang="en-US" dirty="0"/>
              <a:t>Kapil@nast.edu.np</a:t>
            </a:r>
          </a:p>
        </p:txBody>
      </p:sp>
    </p:spTree>
    <p:extLst>
      <p:ext uri="{BB962C8B-B14F-4D97-AF65-F5344CB8AC3E}">
        <p14:creationId xmlns:p14="http://schemas.microsoft.com/office/powerpoint/2010/main" val="37697569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BCE064-23E7-CF00-BA02-E0567AF0075B}"/>
              </a:ext>
            </a:extLst>
          </p:cNvPr>
          <p:cNvSpPr>
            <a:spLocks noGrp="1"/>
          </p:cNvSpPr>
          <p:nvPr>
            <p:ph type="title"/>
          </p:nvPr>
        </p:nvSpPr>
        <p:spPr/>
        <p:txBody>
          <a:bodyPr/>
          <a:lstStyle/>
          <a:p>
            <a:r>
              <a:rPr lang="en-US" dirty="0"/>
              <a:t>Contents </a:t>
            </a:r>
          </a:p>
        </p:txBody>
      </p:sp>
      <p:sp>
        <p:nvSpPr>
          <p:cNvPr id="3" name="Content Placeholder 2">
            <a:extLst>
              <a:ext uri="{FF2B5EF4-FFF2-40B4-BE49-F238E27FC236}">
                <a16:creationId xmlns:a16="http://schemas.microsoft.com/office/drawing/2014/main" id="{35D99880-F3BF-CC5A-AB68-1F9B9297DC0B}"/>
              </a:ext>
            </a:extLst>
          </p:cNvPr>
          <p:cNvSpPr>
            <a:spLocks noGrp="1"/>
          </p:cNvSpPr>
          <p:nvPr>
            <p:ph idx="1"/>
          </p:nvPr>
        </p:nvSpPr>
        <p:spPr>
          <a:xfrm>
            <a:off x="677334" y="2160589"/>
            <a:ext cx="6957906" cy="3880773"/>
          </a:xfrm>
        </p:spPr>
        <p:txBody>
          <a:bodyPr>
            <a:normAutofit/>
          </a:bodyPr>
          <a:lstStyle/>
          <a:p>
            <a:pPr marL="457200" indent="-457200">
              <a:buFont typeface="+mj-lt"/>
              <a:buAutoNum type="arabicPeriod"/>
            </a:pPr>
            <a:r>
              <a:rPr lang="en-US" dirty="0"/>
              <a:t>Integrity constraints- Domain Constraints, Entity Integrity Constrains, Referential Integrity Constraints, Assertions and Triggers</a:t>
            </a:r>
          </a:p>
          <a:p>
            <a:pPr marL="457200" indent="-457200">
              <a:buFont typeface="+mj-lt"/>
              <a:buAutoNum type="arabicPeriod"/>
            </a:pPr>
            <a:r>
              <a:rPr lang="en-US" dirty="0"/>
              <a:t>Features of Good Relational Designs</a:t>
            </a:r>
          </a:p>
          <a:p>
            <a:pPr marL="457200" indent="-457200">
              <a:buFont typeface="+mj-lt"/>
              <a:buAutoNum type="arabicPeriod"/>
            </a:pPr>
            <a:r>
              <a:rPr lang="en-US" dirty="0"/>
              <a:t>Functional dependencies and Armstrong’s Axioms</a:t>
            </a:r>
          </a:p>
          <a:p>
            <a:pPr marL="457200" indent="-457200">
              <a:buFont typeface="+mj-lt"/>
              <a:buAutoNum type="arabicPeriod"/>
            </a:pPr>
            <a:r>
              <a:rPr lang="en-US" dirty="0"/>
              <a:t>Closure of a Set of Functional Dependencies and Closure of Attribute Sets</a:t>
            </a:r>
          </a:p>
          <a:p>
            <a:pPr marL="457200" indent="-457200">
              <a:buFont typeface="+mj-lt"/>
              <a:buAutoNum type="arabicPeriod"/>
            </a:pPr>
            <a:r>
              <a:rPr lang="en-US" dirty="0"/>
              <a:t>Database Normalization and Normal Forms- 1NF, 2NF, 3NF and BCNF</a:t>
            </a:r>
          </a:p>
          <a:p>
            <a:pPr marL="457200" indent="-457200">
              <a:buFont typeface="+mj-lt"/>
              <a:buAutoNum type="arabicPeriod"/>
            </a:pPr>
            <a:r>
              <a:rPr lang="en-US" dirty="0"/>
              <a:t>De-normalization for Performance</a:t>
            </a:r>
          </a:p>
        </p:txBody>
      </p:sp>
    </p:spTree>
    <p:extLst>
      <p:ext uri="{BB962C8B-B14F-4D97-AF65-F5344CB8AC3E}">
        <p14:creationId xmlns:p14="http://schemas.microsoft.com/office/powerpoint/2010/main" val="19373627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804F9-DEBB-3E5B-9D42-2C9AAD2B9B39}"/>
              </a:ext>
            </a:extLst>
          </p:cNvPr>
          <p:cNvSpPr>
            <a:spLocks noGrp="1"/>
          </p:cNvSpPr>
          <p:nvPr>
            <p:ph type="title"/>
          </p:nvPr>
        </p:nvSpPr>
        <p:spPr/>
        <p:txBody>
          <a:bodyPr/>
          <a:lstStyle/>
          <a:p>
            <a:r>
              <a:rPr lang="en-US" dirty="0"/>
              <a:t>What is Relational Database Design?</a:t>
            </a:r>
          </a:p>
        </p:txBody>
      </p:sp>
      <p:graphicFrame>
        <p:nvGraphicFramePr>
          <p:cNvPr id="7" name="Content Placeholder 6">
            <a:extLst>
              <a:ext uri="{FF2B5EF4-FFF2-40B4-BE49-F238E27FC236}">
                <a16:creationId xmlns:a16="http://schemas.microsoft.com/office/drawing/2014/main" id="{3CC66ACF-F08A-EE2D-A792-353F32C9F669}"/>
              </a:ext>
            </a:extLst>
          </p:cNvPr>
          <p:cNvGraphicFramePr>
            <a:graphicFrameLocks noGrp="1"/>
          </p:cNvGraphicFramePr>
          <p:nvPr>
            <p:ph idx="1"/>
            <p:extLst>
              <p:ext uri="{D42A27DB-BD31-4B8C-83A1-F6EECF244321}">
                <p14:modId xmlns:p14="http://schemas.microsoft.com/office/powerpoint/2010/main" val="1617245964"/>
              </p:ext>
            </p:extLst>
          </p:nvPr>
        </p:nvGraphicFramePr>
        <p:xfrm>
          <a:off x="1097280" y="4876453"/>
          <a:ext cx="8596312" cy="1483360"/>
        </p:xfrm>
        <a:graphic>
          <a:graphicData uri="http://schemas.openxmlformats.org/drawingml/2006/table">
            <a:tbl>
              <a:tblPr firstRow="1" bandRow="1">
                <a:tableStyleId>{5C22544A-7EE6-4342-B048-85BDC9FD1C3A}</a:tableStyleId>
              </a:tblPr>
              <a:tblGrid>
                <a:gridCol w="2149078">
                  <a:extLst>
                    <a:ext uri="{9D8B030D-6E8A-4147-A177-3AD203B41FA5}">
                      <a16:colId xmlns:a16="http://schemas.microsoft.com/office/drawing/2014/main" val="4130872777"/>
                    </a:ext>
                  </a:extLst>
                </a:gridCol>
                <a:gridCol w="2149078">
                  <a:extLst>
                    <a:ext uri="{9D8B030D-6E8A-4147-A177-3AD203B41FA5}">
                      <a16:colId xmlns:a16="http://schemas.microsoft.com/office/drawing/2014/main" val="3891184594"/>
                    </a:ext>
                  </a:extLst>
                </a:gridCol>
                <a:gridCol w="2149078">
                  <a:extLst>
                    <a:ext uri="{9D8B030D-6E8A-4147-A177-3AD203B41FA5}">
                      <a16:colId xmlns:a16="http://schemas.microsoft.com/office/drawing/2014/main" val="877656399"/>
                    </a:ext>
                  </a:extLst>
                </a:gridCol>
                <a:gridCol w="2149078">
                  <a:extLst>
                    <a:ext uri="{9D8B030D-6E8A-4147-A177-3AD203B41FA5}">
                      <a16:colId xmlns:a16="http://schemas.microsoft.com/office/drawing/2014/main" val="3803703379"/>
                    </a:ext>
                  </a:extLst>
                </a:gridCol>
              </a:tblGrid>
              <a:tr h="370840">
                <a:tc>
                  <a:txBody>
                    <a:bodyPr/>
                    <a:lstStyle/>
                    <a:p>
                      <a:pPr>
                        <a:buNone/>
                      </a:pPr>
                      <a:r>
                        <a:rPr lang="en-US" dirty="0"/>
                        <a:t>Roll No</a:t>
                      </a:r>
                    </a:p>
                  </a:txBody>
                  <a:tcPr anchor="ctr"/>
                </a:tc>
                <a:tc>
                  <a:txBody>
                    <a:bodyPr/>
                    <a:lstStyle/>
                    <a:p>
                      <a:pPr>
                        <a:buNone/>
                      </a:pPr>
                      <a:r>
                        <a:rPr lang="en-US"/>
                        <a:t>Name</a:t>
                      </a:r>
                    </a:p>
                  </a:txBody>
                  <a:tcPr anchor="ctr"/>
                </a:tc>
                <a:tc>
                  <a:txBody>
                    <a:bodyPr/>
                    <a:lstStyle/>
                    <a:p>
                      <a:pPr>
                        <a:buNone/>
                      </a:pPr>
                      <a:r>
                        <a:rPr lang="en-US"/>
                        <a:t>Address</a:t>
                      </a:r>
                    </a:p>
                  </a:txBody>
                  <a:tcPr anchor="ctr"/>
                </a:tc>
                <a:tc>
                  <a:txBody>
                    <a:bodyPr/>
                    <a:lstStyle/>
                    <a:p>
                      <a:endParaRPr lang="en-US"/>
                    </a:p>
                  </a:txBody>
                  <a:tcPr/>
                </a:tc>
                <a:extLst>
                  <a:ext uri="{0D108BD9-81ED-4DB2-BD59-A6C34878D82A}">
                    <a16:rowId xmlns:a16="http://schemas.microsoft.com/office/drawing/2014/main" val="635587097"/>
                  </a:ext>
                </a:extLst>
              </a:tr>
              <a:tr h="370840">
                <a:tc>
                  <a:txBody>
                    <a:bodyPr/>
                    <a:lstStyle/>
                    <a:p>
                      <a:pPr>
                        <a:buNone/>
                      </a:pPr>
                      <a:r>
                        <a:rPr lang="en-US"/>
                        <a:t>101</a:t>
                      </a:r>
                    </a:p>
                  </a:txBody>
                  <a:tcPr anchor="ctr"/>
                </a:tc>
                <a:tc>
                  <a:txBody>
                    <a:bodyPr/>
                    <a:lstStyle/>
                    <a:p>
                      <a:pPr>
                        <a:buNone/>
                      </a:pPr>
                      <a:r>
                        <a:rPr lang="en-US"/>
                        <a:t>Ram</a:t>
                      </a:r>
                    </a:p>
                  </a:txBody>
                  <a:tcPr anchor="ctr"/>
                </a:tc>
                <a:tc>
                  <a:txBody>
                    <a:bodyPr/>
                    <a:lstStyle/>
                    <a:p>
                      <a:pPr>
                        <a:buNone/>
                      </a:pPr>
                      <a:r>
                        <a:rPr lang="en-US"/>
                        <a:t>Kathmandu</a:t>
                      </a:r>
                    </a:p>
                  </a:txBody>
                  <a:tcPr anchor="ctr"/>
                </a:tc>
                <a:tc>
                  <a:txBody>
                    <a:bodyPr/>
                    <a:lstStyle/>
                    <a:p>
                      <a:endParaRPr lang="en-US"/>
                    </a:p>
                  </a:txBody>
                  <a:tcPr/>
                </a:tc>
                <a:extLst>
                  <a:ext uri="{0D108BD9-81ED-4DB2-BD59-A6C34878D82A}">
                    <a16:rowId xmlns:a16="http://schemas.microsoft.com/office/drawing/2014/main" val="3931342870"/>
                  </a:ext>
                </a:extLst>
              </a:tr>
              <a:tr h="370840">
                <a:tc>
                  <a:txBody>
                    <a:bodyPr/>
                    <a:lstStyle/>
                    <a:p>
                      <a:pPr>
                        <a:buNone/>
                      </a:pPr>
                      <a:r>
                        <a:rPr lang="en-US"/>
                        <a:t>102</a:t>
                      </a:r>
                    </a:p>
                  </a:txBody>
                  <a:tcPr anchor="ctr"/>
                </a:tc>
                <a:tc>
                  <a:txBody>
                    <a:bodyPr/>
                    <a:lstStyle/>
                    <a:p>
                      <a:pPr>
                        <a:buNone/>
                      </a:pPr>
                      <a:r>
                        <a:rPr lang="en-US"/>
                        <a:t>Sita</a:t>
                      </a:r>
                    </a:p>
                  </a:txBody>
                  <a:tcPr anchor="ctr"/>
                </a:tc>
                <a:tc>
                  <a:txBody>
                    <a:bodyPr/>
                    <a:lstStyle/>
                    <a:p>
                      <a:pPr>
                        <a:buNone/>
                      </a:pPr>
                      <a:r>
                        <a:rPr lang="en-US" dirty="0"/>
                        <a:t>Pokhara</a:t>
                      </a:r>
                    </a:p>
                  </a:txBody>
                  <a:tcPr anchor="ctr"/>
                </a:tc>
                <a:tc>
                  <a:txBody>
                    <a:bodyPr/>
                    <a:lstStyle/>
                    <a:p>
                      <a:endParaRPr lang="en-US" dirty="0"/>
                    </a:p>
                  </a:txBody>
                  <a:tcPr/>
                </a:tc>
                <a:extLst>
                  <a:ext uri="{0D108BD9-81ED-4DB2-BD59-A6C34878D82A}">
                    <a16:rowId xmlns:a16="http://schemas.microsoft.com/office/drawing/2014/main" val="1555501306"/>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3709225861"/>
                  </a:ext>
                </a:extLst>
              </a:tr>
            </a:tbl>
          </a:graphicData>
        </a:graphic>
      </p:graphicFrame>
      <p:sp>
        <p:nvSpPr>
          <p:cNvPr id="4" name="Content Placeholder 2">
            <a:extLst>
              <a:ext uri="{FF2B5EF4-FFF2-40B4-BE49-F238E27FC236}">
                <a16:creationId xmlns:a16="http://schemas.microsoft.com/office/drawing/2014/main" id="{420166AC-8EA3-0E0E-5E62-656783995031}"/>
              </a:ext>
            </a:extLst>
          </p:cNvPr>
          <p:cNvSpPr txBox="1">
            <a:spLocks/>
          </p:cNvSpPr>
          <p:nvPr/>
        </p:nvSpPr>
        <p:spPr>
          <a:xfrm>
            <a:off x="676978" y="1737360"/>
            <a:ext cx="8596668" cy="3880773"/>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dirty="0"/>
              <a:t>Relational database design is the process of organizing data into relations (tables) to:</a:t>
            </a:r>
          </a:p>
          <a:p>
            <a:r>
              <a:rPr lang="en-US" dirty="0"/>
              <a:t>Reduce redundancy </a:t>
            </a:r>
          </a:p>
          <a:p>
            <a:r>
              <a:rPr lang="en-US" dirty="0"/>
              <a:t>Improve consistency </a:t>
            </a:r>
          </a:p>
          <a:p>
            <a:r>
              <a:rPr lang="en-US" dirty="0"/>
              <a:t>Ensure data integrity </a:t>
            </a:r>
          </a:p>
          <a:p>
            <a:r>
              <a:rPr lang="en-US" dirty="0"/>
              <a:t>Simplify data retrieval </a:t>
            </a:r>
          </a:p>
          <a:p>
            <a:r>
              <a:rPr lang="en-US" dirty="0"/>
              <a:t>Maintain relationships among data</a:t>
            </a:r>
          </a:p>
          <a:p>
            <a:pPr marL="0" indent="0">
              <a:buNone/>
            </a:pPr>
            <a:r>
              <a:rPr lang="en-US" dirty="0"/>
              <a:t>A well-designed database stores data efficiently and avoids duplication.</a:t>
            </a:r>
          </a:p>
        </p:txBody>
      </p:sp>
    </p:spTree>
    <p:extLst>
      <p:ext uri="{BB962C8B-B14F-4D97-AF65-F5344CB8AC3E}">
        <p14:creationId xmlns:p14="http://schemas.microsoft.com/office/powerpoint/2010/main" val="12444418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FAC16-3858-4E0E-BAB1-A0D2BDEF4CA8}"/>
              </a:ext>
            </a:extLst>
          </p:cNvPr>
          <p:cNvSpPr>
            <a:spLocks noGrp="1"/>
          </p:cNvSpPr>
          <p:nvPr>
            <p:ph type="title"/>
          </p:nvPr>
        </p:nvSpPr>
        <p:spPr/>
        <p:txBody>
          <a:bodyPr/>
          <a:lstStyle/>
          <a:p>
            <a:r>
              <a:rPr lang="en-US" dirty="0"/>
              <a:t>Integrity Constraints</a:t>
            </a:r>
          </a:p>
        </p:txBody>
      </p:sp>
      <p:sp>
        <p:nvSpPr>
          <p:cNvPr id="3" name="Content Placeholder 2">
            <a:extLst>
              <a:ext uri="{FF2B5EF4-FFF2-40B4-BE49-F238E27FC236}">
                <a16:creationId xmlns:a16="http://schemas.microsoft.com/office/drawing/2014/main" id="{BB920212-A238-4579-0A33-D32FCFBC14D9}"/>
              </a:ext>
            </a:extLst>
          </p:cNvPr>
          <p:cNvSpPr>
            <a:spLocks noGrp="1"/>
          </p:cNvSpPr>
          <p:nvPr>
            <p:ph idx="1"/>
          </p:nvPr>
        </p:nvSpPr>
        <p:spPr/>
        <p:txBody>
          <a:bodyPr>
            <a:normAutofit lnSpcReduction="10000"/>
          </a:bodyPr>
          <a:lstStyle/>
          <a:p>
            <a:r>
              <a:rPr lang="en-US" dirty="0"/>
              <a:t>Integrity constraints are rules that ensure:</a:t>
            </a:r>
          </a:p>
          <a:p>
            <a:pPr lvl="1"/>
            <a:r>
              <a:rPr lang="en-US" dirty="0"/>
              <a:t>Accuracy</a:t>
            </a:r>
          </a:p>
          <a:p>
            <a:pPr lvl="1"/>
            <a:r>
              <a:rPr lang="en-US" dirty="0"/>
              <a:t>Consistency</a:t>
            </a:r>
          </a:p>
          <a:p>
            <a:pPr lvl="1"/>
            <a:r>
              <a:rPr lang="en-US" dirty="0"/>
              <a:t>Validity </a:t>
            </a:r>
          </a:p>
          <a:p>
            <a:pPr lvl="1"/>
            <a:r>
              <a:rPr lang="en-US" dirty="0"/>
              <a:t>Reliability of data</a:t>
            </a:r>
          </a:p>
          <a:p>
            <a:pPr marL="201168" lvl="1" indent="0">
              <a:buNone/>
            </a:pPr>
            <a:r>
              <a:rPr lang="en-US" dirty="0"/>
              <a:t>of data stored in a database.</a:t>
            </a:r>
          </a:p>
          <a:p>
            <a:pPr marL="201168" lvl="1" indent="0">
              <a:buNone/>
            </a:pPr>
            <a:r>
              <a:rPr lang="en-US" dirty="0"/>
              <a:t>They prevent the insertion of incorrect, inconsistent, or duplicate data into database tables.</a:t>
            </a:r>
          </a:p>
          <a:p>
            <a:pPr marL="201168" lvl="1" indent="0">
              <a:buNone/>
            </a:pPr>
            <a:r>
              <a:rPr lang="en-US" dirty="0"/>
              <a:t>Types: </a:t>
            </a:r>
          </a:p>
          <a:p>
            <a:pPr marL="544068" lvl="1" indent="-342900">
              <a:buAutoNum type="arabicPeriod"/>
            </a:pPr>
            <a:r>
              <a:rPr lang="en-US" dirty="0"/>
              <a:t>Domain Constraints</a:t>
            </a:r>
          </a:p>
          <a:p>
            <a:pPr marL="544068" lvl="1" indent="-342900">
              <a:buAutoNum type="arabicPeriod"/>
            </a:pPr>
            <a:r>
              <a:rPr lang="en-US" dirty="0"/>
              <a:t>Entity Integrity Constraints</a:t>
            </a:r>
          </a:p>
          <a:p>
            <a:pPr marL="544068" lvl="1" indent="-342900">
              <a:buAutoNum type="arabicPeriod"/>
            </a:pPr>
            <a:r>
              <a:rPr lang="en-US" dirty="0"/>
              <a:t>Referential Integrity Constraints </a:t>
            </a:r>
          </a:p>
          <a:p>
            <a:pPr marL="544068" lvl="1" indent="-342900">
              <a:buAutoNum type="arabicPeriod"/>
            </a:pPr>
            <a:r>
              <a:rPr lang="en-US" dirty="0"/>
              <a:t>Assertions</a:t>
            </a:r>
          </a:p>
          <a:p>
            <a:pPr marL="544068" lvl="1" indent="-342900">
              <a:buAutoNum type="arabicPeriod"/>
            </a:pPr>
            <a:r>
              <a:rPr lang="en-US" dirty="0"/>
              <a:t>Triggers</a:t>
            </a:r>
          </a:p>
        </p:txBody>
      </p:sp>
    </p:spTree>
    <p:extLst>
      <p:ext uri="{BB962C8B-B14F-4D97-AF65-F5344CB8AC3E}">
        <p14:creationId xmlns:p14="http://schemas.microsoft.com/office/powerpoint/2010/main" val="18445157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DE027-215B-0366-8006-794D07434FFA}"/>
              </a:ext>
            </a:extLst>
          </p:cNvPr>
          <p:cNvSpPr>
            <a:spLocks noGrp="1"/>
          </p:cNvSpPr>
          <p:nvPr>
            <p:ph type="title"/>
          </p:nvPr>
        </p:nvSpPr>
        <p:spPr/>
        <p:txBody>
          <a:bodyPr/>
          <a:lstStyle/>
          <a:p>
            <a:r>
              <a:rPr lang="en-US" dirty="0"/>
              <a:t>Why is Integrity Constraints Important?</a:t>
            </a:r>
          </a:p>
        </p:txBody>
      </p:sp>
      <p:graphicFrame>
        <p:nvGraphicFramePr>
          <p:cNvPr id="5" name="Content Placeholder 4">
            <a:extLst>
              <a:ext uri="{FF2B5EF4-FFF2-40B4-BE49-F238E27FC236}">
                <a16:creationId xmlns:a16="http://schemas.microsoft.com/office/drawing/2014/main" id="{93782B19-CE89-FB8B-7AEE-32E286C0E92A}"/>
              </a:ext>
            </a:extLst>
          </p:cNvPr>
          <p:cNvGraphicFramePr>
            <a:graphicFrameLocks noGrp="1"/>
          </p:cNvGraphicFramePr>
          <p:nvPr>
            <p:ph idx="1"/>
            <p:extLst>
              <p:ext uri="{D42A27DB-BD31-4B8C-83A1-F6EECF244321}">
                <p14:modId xmlns:p14="http://schemas.microsoft.com/office/powerpoint/2010/main" val="1935160129"/>
              </p:ext>
            </p:extLst>
          </p:nvPr>
        </p:nvGraphicFramePr>
        <p:xfrm>
          <a:off x="1096963" y="2100263"/>
          <a:ext cx="5561745" cy="1463040"/>
        </p:xfrm>
        <a:graphic>
          <a:graphicData uri="http://schemas.openxmlformats.org/drawingml/2006/table">
            <a:tbl>
              <a:tblPr firstRow="1" bandRow="1">
                <a:tableStyleId>{5C22544A-7EE6-4342-B048-85BDC9FD1C3A}</a:tableStyleId>
              </a:tblPr>
              <a:tblGrid>
                <a:gridCol w="1853915">
                  <a:extLst>
                    <a:ext uri="{9D8B030D-6E8A-4147-A177-3AD203B41FA5}">
                      <a16:colId xmlns:a16="http://schemas.microsoft.com/office/drawing/2014/main" val="3117448667"/>
                    </a:ext>
                  </a:extLst>
                </a:gridCol>
                <a:gridCol w="1853915">
                  <a:extLst>
                    <a:ext uri="{9D8B030D-6E8A-4147-A177-3AD203B41FA5}">
                      <a16:colId xmlns:a16="http://schemas.microsoft.com/office/drawing/2014/main" val="460476906"/>
                    </a:ext>
                  </a:extLst>
                </a:gridCol>
                <a:gridCol w="1853915">
                  <a:extLst>
                    <a:ext uri="{9D8B030D-6E8A-4147-A177-3AD203B41FA5}">
                      <a16:colId xmlns:a16="http://schemas.microsoft.com/office/drawing/2014/main" val="2732485796"/>
                    </a:ext>
                  </a:extLst>
                </a:gridCol>
              </a:tblGrid>
              <a:tr h="362689">
                <a:tc>
                  <a:txBody>
                    <a:bodyPr/>
                    <a:lstStyle/>
                    <a:p>
                      <a:pPr>
                        <a:buNone/>
                      </a:pPr>
                      <a:r>
                        <a:rPr lang="en-US" dirty="0" err="1"/>
                        <a:t>Roll_No</a:t>
                      </a:r>
                      <a:endParaRPr lang="en-US" dirty="0"/>
                    </a:p>
                  </a:txBody>
                  <a:tcPr anchor="ctr"/>
                </a:tc>
                <a:tc>
                  <a:txBody>
                    <a:bodyPr/>
                    <a:lstStyle/>
                    <a:p>
                      <a:pPr>
                        <a:buNone/>
                      </a:pPr>
                      <a:r>
                        <a:rPr lang="en-US"/>
                        <a:t>Name</a:t>
                      </a:r>
                    </a:p>
                  </a:txBody>
                  <a:tcPr anchor="ctr"/>
                </a:tc>
                <a:tc>
                  <a:txBody>
                    <a:bodyPr/>
                    <a:lstStyle/>
                    <a:p>
                      <a:pPr>
                        <a:buNone/>
                      </a:pPr>
                      <a:r>
                        <a:rPr lang="en-US"/>
                        <a:t>Age</a:t>
                      </a:r>
                    </a:p>
                  </a:txBody>
                  <a:tcPr anchor="ctr"/>
                </a:tc>
                <a:extLst>
                  <a:ext uri="{0D108BD9-81ED-4DB2-BD59-A6C34878D82A}">
                    <a16:rowId xmlns:a16="http://schemas.microsoft.com/office/drawing/2014/main" val="3856383206"/>
                  </a:ext>
                </a:extLst>
              </a:tr>
              <a:tr h="362689">
                <a:tc>
                  <a:txBody>
                    <a:bodyPr/>
                    <a:lstStyle/>
                    <a:p>
                      <a:pPr>
                        <a:buNone/>
                      </a:pPr>
                      <a:r>
                        <a:rPr lang="en-US"/>
                        <a:t>101</a:t>
                      </a:r>
                    </a:p>
                  </a:txBody>
                  <a:tcPr anchor="ctr"/>
                </a:tc>
                <a:tc>
                  <a:txBody>
                    <a:bodyPr/>
                    <a:lstStyle/>
                    <a:p>
                      <a:pPr>
                        <a:buNone/>
                      </a:pPr>
                      <a:r>
                        <a:rPr lang="en-US"/>
                        <a:t>Ram</a:t>
                      </a:r>
                    </a:p>
                  </a:txBody>
                  <a:tcPr anchor="ctr"/>
                </a:tc>
                <a:tc>
                  <a:txBody>
                    <a:bodyPr/>
                    <a:lstStyle/>
                    <a:p>
                      <a:pPr>
                        <a:buNone/>
                      </a:pPr>
                      <a:r>
                        <a:rPr lang="en-US"/>
                        <a:t>20</a:t>
                      </a:r>
                    </a:p>
                  </a:txBody>
                  <a:tcPr anchor="ctr"/>
                </a:tc>
                <a:extLst>
                  <a:ext uri="{0D108BD9-81ED-4DB2-BD59-A6C34878D82A}">
                    <a16:rowId xmlns:a16="http://schemas.microsoft.com/office/drawing/2014/main" val="3760316587"/>
                  </a:ext>
                </a:extLst>
              </a:tr>
              <a:tr h="362689">
                <a:tc>
                  <a:txBody>
                    <a:bodyPr/>
                    <a:lstStyle/>
                    <a:p>
                      <a:pPr>
                        <a:buNone/>
                      </a:pPr>
                      <a:r>
                        <a:rPr lang="en-US"/>
                        <a:t>NULL</a:t>
                      </a:r>
                    </a:p>
                  </a:txBody>
                  <a:tcPr anchor="ctr"/>
                </a:tc>
                <a:tc>
                  <a:txBody>
                    <a:bodyPr/>
                    <a:lstStyle/>
                    <a:p>
                      <a:pPr>
                        <a:buNone/>
                      </a:pPr>
                      <a:r>
                        <a:rPr lang="en-US"/>
                        <a:t>Sita</a:t>
                      </a:r>
                    </a:p>
                  </a:txBody>
                  <a:tcPr anchor="ctr"/>
                </a:tc>
                <a:tc>
                  <a:txBody>
                    <a:bodyPr/>
                    <a:lstStyle/>
                    <a:p>
                      <a:pPr>
                        <a:buNone/>
                      </a:pPr>
                      <a:r>
                        <a:rPr lang="en-US"/>
                        <a:t>19</a:t>
                      </a:r>
                    </a:p>
                  </a:txBody>
                  <a:tcPr anchor="ctr"/>
                </a:tc>
                <a:extLst>
                  <a:ext uri="{0D108BD9-81ED-4DB2-BD59-A6C34878D82A}">
                    <a16:rowId xmlns:a16="http://schemas.microsoft.com/office/drawing/2014/main" val="1921667231"/>
                  </a:ext>
                </a:extLst>
              </a:tr>
              <a:tr h="362689">
                <a:tc>
                  <a:txBody>
                    <a:bodyPr/>
                    <a:lstStyle/>
                    <a:p>
                      <a:pPr>
                        <a:buNone/>
                      </a:pPr>
                      <a:r>
                        <a:rPr lang="en-US"/>
                        <a:t>101</a:t>
                      </a:r>
                    </a:p>
                  </a:txBody>
                  <a:tcPr anchor="ctr"/>
                </a:tc>
                <a:tc>
                  <a:txBody>
                    <a:bodyPr/>
                    <a:lstStyle/>
                    <a:p>
                      <a:pPr>
                        <a:buNone/>
                      </a:pPr>
                      <a:r>
                        <a:rPr lang="en-US"/>
                        <a:t>Hari</a:t>
                      </a:r>
                    </a:p>
                  </a:txBody>
                  <a:tcPr anchor="ctr"/>
                </a:tc>
                <a:tc>
                  <a:txBody>
                    <a:bodyPr/>
                    <a:lstStyle/>
                    <a:p>
                      <a:pPr>
                        <a:buNone/>
                      </a:pPr>
                      <a:r>
                        <a:rPr lang="en-US" dirty="0"/>
                        <a:t>21</a:t>
                      </a:r>
                    </a:p>
                  </a:txBody>
                  <a:tcPr anchor="ctr"/>
                </a:tc>
                <a:extLst>
                  <a:ext uri="{0D108BD9-81ED-4DB2-BD59-A6C34878D82A}">
                    <a16:rowId xmlns:a16="http://schemas.microsoft.com/office/drawing/2014/main" val="3857160040"/>
                  </a:ext>
                </a:extLst>
              </a:tr>
            </a:tbl>
          </a:graphicData>
        </a:graphic>
      </p:graphicFrame>
      <p:sp>
        <p:nvSpPr>
          <p:cNvPr id="4" name="Content Placeholder 2">
            <a:extLst>
              <a:ext uri="{FF2B5EF4-FFF2-40B4-BE49-F238E27FC236}">
                <a16:creationId xmlns:a16="http://schemas.microsoft.com/office/drawing/2014/main" id="{B7C61019-A9A0-DBD4-C4DF-6406CCF5A1F6}"/>
              </a:ext>
            </a:extLst>
          </p:cNvPr>
          <p:cNvSpPr txBox="1">
            <a:spLocks/>
          </p:cNvSpPr>
          <p:nvPr/>
        </p:nvSpPr>
        <p:spPr>
          <a:xfrm>
            <a:off x="1066800" y="3794193"/>
            <a:ext cx="10058400" cy="402336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dirty="0"/>
              <a:t>Problems:</a:t>
            </a:r>
          </a:p>
          <a:p>
            <a:pPr lvl="1"/>
            <a:r>
              <a:rPr lang="en-US" dirty="0"/>
              <a:t>Primary key is NULL. </a:t>
            </a:r>
          </a:p>
          <a:p>
            <a:pPr lvl="1"/>
            <a:r>
              <a:rPr lang="en-US" dirty="0"/>
              <a:t>Duplicate </a:t>
            </a:r>
            <a:r>
              <a:rPr lang="en-US" dirty="0" err="1"/>
              <a:t>Roll_No</a:t>
            </a:r>
            <a:r>
              <a:rPr lang="en-US" dirty="0"/>
              <a:t> exists. </a:t>
            </a:r>
          </a:p>
          <a:p>
            <a:pPr lvl="1"/>
            <a:r>
              <a:rPr lang="en-US" dirty="0"/>
              <a:t>Data becomes unreliable. </a:t>
            </a:r>
          </a:p>
          <a:p>
            <a:r>
              <a:rPr lang="en-US" dirty="0"/>
              <a:t>Integrity constraints prevent such situations.</a:t>
            </a:r>
          </a:p>
        </p:txBody>
      </p:sp>
      <p:sp>
        <p:nvSpPr>
          <p:cNvPr id="6" name="Content Placeholder 2">
            <a:extLst>
              <a:ext uri="{FF2B5EF4-FFF2-40B4-BE49-F238E27FC236}">
                <a16:creationId xmlns:a16="http://schemas.microsoft.com/office/drawing/2014/main" id="{786B3248-3376-0736-130B-3C9D67D24547}"/>
              </a:ext>
            </a:extLst>
          </p:cNvPr>
          <p:cNvSpPr txBox="1">
            <a:spLocks/>
          </p:cNvSpPr>
          <p:nvPr/>
        </p:nvSpPr>
        <p:spPr>
          <a:xfrm>
            <a:off x="6126480" y="3794193"/>
            <a:ext cx="10058400" cy="402336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b="1" dirty="0"/>
              <a:t>Benefits</a:t>
            </a:r>
          </a:p>
          <a:p>
            <a:pPr lvl="1"/>
            <a:r>
              <a:rPr lang="en-US" dirty="0"/>
              <a:t>Maintains data accuracy </a:t>
            </a:r>
          </a:p>
          <a:p>
            <a:pPr lvl="1"/>
            <a:r>
              <a:rPr lang="en-US" dirty="0"/>
              <a:t>Ensures consistency </a:t>
            </a:r>
          </a:p>
          <a:p>
            <a:pPr lvl="1"/>
            <a:r>
              <a:rPr lang="en-US" dirty="0"/>
              <a:t>Reduces redundancy </a:t>
            </a:r>
          </a:p>
          <a:p>
            <a:pPr lvl="1"/>
            <a:r>
              <a:rPr lang="en-US" dirty="0"/>
              <a:t>Prevents invalid entries </a:t>
            </a:r>
          </a:p>
          <a:p>
            <a:pPr lvl="1"/>
            <a:r>
              <a:rPr lang="en-US" dirty="0"/>
              <a:t>Preserves relationships between tables</a:t>
            </a:r>
          </a:p>
        </p:txBody>
      </p:sp>
    </p:spTree>
    <p:extLst>
      <p:ext uri="{BB962C8B-B14F-4D97-AF65-F5344CB8AC3E}">
        <p14:creationId xmlns:p14="http://schemas.microsoft.com/office/powerpoint/2010/main" val="41333871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B7BF4-EFD4-4BA9-1487-149977FDD8A1}"/>
              </a:ext>
            </a:extLst>
          </p:cNvPr>
          <p:cNvSpPr>
            <a:spLocks noGrp="1"/>
          </p:cNvSpPr>
          <p:nvPr>
            <p:ph type="title"/>
          </p:nvPr>
        </p:nvSpPr>
        <p:spPr/>
        <p:txBody>
          <a:bodyPr/>
          <a:lstStyle/>
          <a:p>
            <a:r>
              <a:rPr lang="en-US" dirty="0"/>
              <a:t>Domain Integrity Constraints</a:t>
            </a:r>
          </a:p>
        </p:txBody>
      </p:sp>
      <p:sp>
        <p:nvSpPr>
          <p:cNvPr id="3" name="Content Placeholder 2">
            <a:extLst>
              <a:ext uri="{FF2B5EF4-FFF2-40B4-BE49-F238E27FC236}">
                <a16:creationId xmlns:a16="http://schemas.microsoft.com/office/drawing/2014/main" id="{B2419C49-C61F-4B4C-C3CC-1EAB09A76B49}"/>
              </a:ext>
            </a:extLst>
          </p:cNvPr>
          <p:cNvSpPr>
            <a:spLocks noGrp="1"/>
          </p:cNvSpPr>
          <p:nvPr>
            <p:ph idx="1"/>
          </p:nvPr>
        </p:nvSpPr>
        <p:spPr/>
        <p:txBody>
          <a:bodyPr>
            <a:normAutofit lnSpcReduction="10000"/>
          </a:bodyPr>
          <a:lstStyle/>
          <a:p>
            <a:r>
              <a:rPr lang="en-US" dirty="0"/>
              <a:t>A domain constraint specifies the permissible values that can be stored in an attribute.</a:t>
            </a:r>
          </a:p>
          <a:p>
            <a:r>
              <a:rPr lang="en-US" dirty="0"/>
              <a:t>They serve as the most fundamental type of integrity constraint to ensure</a:t>
            </a:r>
          </a:p>
          <a:p>
            <a:pPr lvl="1"/>
            <a:r>
              <a:rPr lang="en-US" dirty="0"/>
              <a:t>data accuracy, </a:t>
            </a:r>
          </a:p>
          <a:p>
            <a:pPr lvl="1"/>
            <a:r>
              <a:rPr lang="en-US" dirty="0"/>
              <a:t>completeness, </a:t>
            </a:r>
          </a:p>
          <a:p>
            <a:pPr lvl="1"/>
            <a:r>
              <a:rPr lang="en-US" dirty="0"/>
              <a:t>Validity</a:t>
            </a:r>
          </a:p>
          <a:p>
            <a:pPr lvl="1"/>
            <a:r>
              <a:rPr lang="en-US" dirty="0"/>
              <a:t>Consistency</a:t>
            </a:r>
          </a:p>
          <a:p>
            <a:pPr lvl="1"/>
            <a:r>
              <a:rPr lang="en-US" dirty="0"/>
              <a:t>Database reliability</a:t>
            </a:r>
          </a:p>
          <a:p>
            <a:pPr lvl="1"/>
            <a:r>
              <a:rPr lang="en-US" dirty="0"/>
              <a:t>Reduce application errors</a:t>
            </a:r>
          </a:p>
          <a:p>
            <a:pPr marL="201168" lvl="1" indent="0">
              <a:buNone/>
            </a:pPr>
            <a:r>
              <a:rPr lang="en-US" dirty="0"/>
              <a:t>Any data entry or modification violating these rules is automatically rejected by the system</a:t>
            </a:r>
          </a:p>
          <a:p>
            <a:pPr marL="201168" lvl="1" indent="0">
              <a:buNone/>
            </a:pPr>
            <a:endParaRPr lang="en-US" dirty="0"/>
          </a:p>
          <a:p>
            <a:pPr marL="201168" lvl="1" indent="0">
              <a:buNone/>
            </a:pPr>
            <a:r>
              <a:rPr lang="en-US" b="1" u="sng" dirty="0"/>
              <a:t>Core Requirement of Domain Constraints </a:t>
            </a:r>
          </a:p>
          <a:p>
            <a:pPr marL="544068" lvl="1" indent="-342900">
              <a:buAutoNum type="arabicPeriod"/>
            </a:pPr>
            <a:r>
              <a:rPr lang="en-US" dirty="0"/>
              <a:t>Atomicity: Values must be indivisible or atomic units</a:t>
            </a:r>
          </a:p>
          <a:p>
            <a:pPr marL="544068" lvl="1" indent="-342900">
              <a:buAutoNum type="arabicPeriod"/>
            </a:pPr>
            <a:r>
              <a:rPr lang="en-US" dirty="0"/>
              <a:t>Data Type compliance : Every value must match the predetermined system data type</a:t>
            </a:r>
          </a:p>
        </p:txBody>
      </p:sp>
    </p:spTree>
    <p:extLst>
      <p:ext uri="{BB962C8B-B14F-4D97-AF65-F5344CB8AC3E}">
        <p14:creationId xmlns:p14="http://schemas.microsoft.com/office/powerpoint/2010/main" val="3519754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9BC7E7-57B4-D264-22EF-883C76138057}"/>
              </a:ext>
            </a:extLst>
          </p:cNvPr>
          <p:cNvSpPr>
            <a:spLocks noGrp="1"/>
          </p:cNvSpPr>
          <p:nvPr>
            <p:ph type="title"/>
          </p:nvPr>
        </p:nvSpPr>
        <p:spPr/>
        <p:txBody>
          <a:bodyPr/>
          <a:lstStyle/>
          <a:p>
            <a:r>
              <a:rPr lang="en-US" dirty="0"/>
              <a:t>Primary Types of Domain Constraints</a:t>
            </a:r>
          </a:p>
        </p:txBody>
      </p:sp>
      <p:sp>
        <p:nvSpPr>
          <p:cNvPr id="3" name="Content Placeholder 2">
            <a:extLst>
              <a:ext uri="{FF2B5EF4-FFF2-40B4-BE49-F238E27FC236}">
                <a16:creationId xmlns:a16="http://schemas.microsoft.com/office/drawing/2014/main" id="{7495625D-F977-79D0-CF74-68B660DF1290}"/>
              </a:ext>
            </a:extLst>
          </p:cNvPr>
          <p:cNvSpPr>
            <a:spLocks noGrp="1"/>
          </p:cNvSpPr>
          <p:nvPr>
            <p:ph idx="1"/>
          </p:nvPr>
        </p:nvSpPr>
        <p:spPr/>
        <p:txBody>
          <a:bodyPr/>
          <a:lstStyle/>
          <a:p>
            <a:r>
              <a:rPr lang="en-US" dirty="0"/>
              <a:t>The database management system enforces specific attributes using a combination of data types and explicit constraints:</a:t>
            </a:r>
          </a:p>
          <a:p>
            <a:pPr lvl="1"/>
            <a:r>
              <a:rPr lang="en-US" dirty="0"/>
              <a:t>Data Type Declaration: Specifies the kind of value.</a:t>
            </a:r>
          </a:p>
          <a:p>
            <a:pPr lvl="1"/>
            <a:r>
              <a:rPr lang="en-US" dirty="0"/>
              <a:t>NOT NULL: A domain may prohibit missing values.</a:t>
            </a:r>
          </a:p>
          <a:p>
            <a:pPr lvl="1"/>
            <a:r>
              <a:rPr lang="en-US" dirty="0"/>
              <a:t>CHECK: Restricts values within a specified interval.</a:t>
            </a:r>
          </a:p>
          <a:p>
            <a:pPr lvl="1"/>
            <a:r>
              <a:rPr lang="en-US" dirty="0"/>
              <a:t>UNIQUE: Unique Values </a:t>
            </a:r>
            <a:r>
              <a:rPr lang="en-US" dirty="0" err="1"/>
              <a:t>i.e</a:t>
            </a:r>
            <a:r>
              <a:rPr lang="en-US" dirty="0"/>
              <a:t> no </a:t>
            </a:r>
            <a:r>
              <a:rPr lang="en-US" dirty="0" err="1"/>
              <a:t>repitiotion</a:t>
            </a:r>
            <a:endParaRPr lang="en-US" dirty="0"/>
          </a:p>
          <a:p>
            <a:pPr lvl="1"/>
            <a:r>
              <a:rPr lang="en-US" dirty="0"/>
              <a:t>DEFAULT:  Gives a default value</a:t>
            </a:r>
          </a:p>
          <a:p>
            <a:endParaRPr lang="en-US" dirty="0"/>
          </a:p>
        </p:txBody>
      </p:sp>
    </p:spTree>
    <p:extLst>
      <p:ext uri="{BB962C8B-B14F-4D97-AF65-F5344CB8AC3E}">
        <p14:creationId xmlns:p14="http://schemas.microsoft.com/office/powerpoint/2010/main" val="40271920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51E1C6-28B7-3EB6-1A61-E96769EBFA04}"/>
              </a:ext>
            </a:extLst>
          </p:cNvPr>
          <p:cNvSpPr>
            <a:spLocks noGrp="1"/>
          </p:cNvSpPr>
          <p:nvPr>
            <p:ph type="title"/>
          </p:nvPr>
        </p:nvSpPr>
        <p:spPr/>
        <p:txBody>
          <a:bodyPr/>
          <a:lstStyle/>
          <a:p>
            <a:r>
              <a:rPr lang="en-US" dirty="0"/>
              <a:t>Implementing Domain Constraints</a:t>
            </a:r>
          </a:p>
        </p:txBody>
      </p:sp>
      <p:sp>
        <p:nvSpPr>
          <p:cNvPr id="3" name="Content Placeholder 2">
            <a:extLst>
              <a:ext uri="{FF2B5EF4-FFF2-40B4-BE49-F238E27FC236}">
                <a16:creationId xmlns:a16="http://schemas.microsoft.com/office/drawing/2014/main" id="{719BD791-8F55-07D6-9EB5-C2FC91A16C2F}"/>
              </a:ext>
            </a:extLst>
          </p:cNvPr>
          <p:cNvSpPr>
            <a:spLocks noGrp="1"/>
          </p:cNvSpPr>
          <p:nvPr>
            <p:ph idx="1"/>
          </p:nvPr>
        </p:nvSpPr>
        <p:spPr/>
        <p:txBody>
          <a:bodyPr/>
          <a:lstStyle/>
          <a:p>
            <a:r>
              <a:rPr lang="en-US" dirty="0">
                <a:solidFill>
                  <a:srgbClr val="FF0000"/>
                </a:solidFill>
              </a:rPr>
              <a:t>CREATE TABLE </a:t>
            </a:r>
            <a:r>
              <a:rPr lang="en-US" dirty="0"/>
              <a:t>Employees (</a:t>
            </a:r>
          </a:p>
          <a:p>
            <a:r>
              <a:rPr lang="en-US" dirty="0"/>
              <a:t>    </a:t>
            </a:r>
            <a:r>
              <a:rPr lang="en-US" dirty="0" err="1"/>
              <a:t>EmployeeID</a:t>
            </a:r>
            <a:r>
              <a:rPr lang="en-US" dirty="0"/>
              <a:t> INT </a:t>
            </a:r>
            <a:r>
              <a:rPr lang="en-US" dirty="0">
                <a:solidFill>
                  <a:srgbClr val="FF0000"/>
                </a:solidFill>
              </a:rPr>
              <a:t>PRIMARY KEY,</a:t>
            </a:r>
          </a:p>
          <a:p>
            <a:r>
              <a:rPr lang="en-US" dirty="0"/>
              <a:t>    FirstName VARCHAR(50) </a:t>
            </a:r>
            <a:r>
              <a:rPr lang="en-US" dirty="0">
                <a:solidFill>
                  <a:srgbClr val="FF0000"/>
                </a:solidFill>
              </a:rPr>
              <a:t>NOT NULL</a:t>
            </a:r>
            <a:r>
              <a:rPr lang="en-US" dirty="0"/>
              <a:t>,           	 -- Restricts null entries</a:t>
            </a:r>
          </a:p>
          <a:p>
            <a:r>
              <a:rPr lang="en-US" dirty="0"/>
              <a:t>    Age INT </a:t>
            </a:r>
            <a:r>
              <a:rPr lang="en-US" dirty="0">
                <a:solidFill>
                  <a:srgbClr val="FF0000"/>
                </a:solidFill>
              </a:rPr>
              <a:t>CHECK</a:t>
            </a:r>
            <a:r>
              <a:rPr lang="en-US" dirty="0"/>
              <a:t> (Age &gt;= 18 </a:t>
            </a:r>
            <a:r>
              <a:rPr lang="en-US" dirty="0">
                <a:solidFill>
                  <a:srgbClr val="FF0000"/>
                </a:solidFill>
              </a:rPr>
              <a:t>AND</a:t>
            </a:r>
            <a:r>
              <a:rPr lang="en-US" dirty="0"/>
              <a:t> Age &lt;= 65),  	 -- Restricts values to a specific range</a:t>
            </a:r>
          </a:p>
          <a:p>
            <a:r>
              <a:rPr lang="en-US" dirty="0"/>
              <a:t>    Email VARCHAR(100) </a:t>
            </a:r>
            <a:r>
              <a:rPr lang="en-US" dirty="0">
                <a:solidFill>
                  <a:srgbClr val="FF0000"/>
                </a:solidFill>
              </a:rPr>
              <a:t>UNIQUE</a:t>
            </a:r>
            <a:r>
              <a:rPr lang="en-US" dirty="0"/>
              <a:t>,                		 -- Enforces unique attribute values</a:t>
            </a:r>
          </a:p>
          <a:p>
            <a:r>
              <a:rPr lang="en-US" dirty="0"/>
              <a:t>    Country VARCHAR(50) </a:t>
            </a:r>
            <a:r>
              <a:rPr lang="en-US" dirty="0">
                <a:solidFill>
                  <a:srgbClr val="FF0000"/>
                </a:solidFill>
              </a:rPr>
              <a:t>DEFAULT</a:t>
            </a:r>
            <a:r>
              <a:rPr lang="en-US" dirty="0"/>
              <a:t> ‘Nepal'      	  -- Standard default assignment</a:t>
            </a:r>
          </a:p>
          <a:p>
            <a:r>
              <a:rPr lang="en-US" dirty="0"/>
              <a:t>);</a:t>
            </a:r>
          </a:p>
          <a:p>
            <a:endParaRPr lang="en-US" dirty="0"/>
          </a:p>
        </p:txBody>
      </p:sp>
      <p:sp>
        <p:nvSpPr>
          <p:cNvPr id="5" name="TextBox 4">
            <a:extLst>
              <a:ext uri="{FF2B5EF4-FFF2-40B4-BE49-F238E27FC236}">
                <a16:creationId xmlns:a16="http://schemas.microsoft.com/office/drawing/2014/main" id="{D56973D5-8608-2237-E1DE-6D268F6F04F5}"/>
              </a:ext>
            </a:extLst>
          </p:cNvPr>
          <p:cNvSpPr txBox="1"/>
          <p:nvPr/>
        </p:nvSpPr>
        <p:spPr>
          <a:xfrm>
            <a:off x="1036320" y="5216837"/>
            <a:ext cx="6092190" cy="646331"/>
          </a:xfrm>
          <a:prstGeom prst="rect">
            <a:avLst/>
          </a:prstGeom>
          <a:noFill/>
        </p:spPr>
        <p:txBody>
          <a:bodyPr wrap="square">
            <a:spAutoFit/>
          </a:bodyPr>
          <a:lstStyle/>
          <a:p>
            <a:r>
              <a:rPr lang="en-US" dirty="0"/>
              <a:t>INSERT INTO Employees</a:t>
            </a:r>
          </a:p>
          <a:p>
            <a:r>
              <a:rPr lang="en-US" dirty="0"/>
              <a:t>VALUES(102,'Hari',15,’hari@gmail.com’, ‘Japan’);</a:t>
            </a:r>
          </a:p>
        </p:txBody>
      </p:sp>
      <p:sp>
        <p:nvSpPr>
          <p:cNvPr id="7" name="TextBox 6">
            <a:extLst>
              <a:ext uri="{FF2B5EF4-FFF2-40B4-BE49-F238E27FC236}">
                <a16:creationId xmlns:a16="http://schemas.microsoft.com/office/drawing/2014/main" id="{BE8468B3-6D00-2813-2CD0-A6FB767DBFE1}"/>
              </a:ext>
            </a:extLst>
          </p:cNvPr>
          <p:cNvSpPr txBox="1"/>
          <p:nvPr/>
        </p:nvSpPr>
        <p:spPr>
          <a:xfrm>
            <a:off x="6126480" y="5216836"/>
            <a:ext cx="6092190" cy="646331"/>
          </a:xfrm>
          <a:prstGeom prst="rect">
            <a:avLst/>
          </a:prstGeom>
          <a:noFill/>
        </p:spPr>
        <p:txBody>
          <a:bodyPr wrap="square">
            <a:spAutoFit/>
          </a:bodyPr>
          <a:lstStyle/>
          <a:p>
            <a:r>
              <a:rPr lang="en-US" dirty="0"/>
              <a:t>INSERT INTO Employees</a:t>
            </a:r>
          </a:p>
          <a:p>
            <a:r>
              <a:rPr lang="en-US" dirty="0"/>
              <a:t>VALUES(101,'Ram',21,’Ram@gmail.com');</a:t>
            </a:r>
          </a:p>
        </p:txBody>
      </p:sp>
      <p:sp>
        <p:nvSpPr>
          <p:cNvPr id="8" name="TextBox 7">
            <a:extLst>
              <a:ext uri="{FF2B5EF4-FFF2-40B4-BE49-F238E27FC236}">
                <a16:creationId xmlns:a16="http://schemas.microsoft.com/office/drawing/2014/main" id="{57A12D95-01EC-0913-C045-6C694FE4764E}"/>
              </a:ext>
            </a:extLst>
          </p:cNvPr>
          <p:cNvSpPr txBox="1"/>
          <p:nvPr/>
        </p:nvSpPr>
        <p:spPr>
          <a:xfrm>
            <a:off x="4471143" y="5960534"/>
            <a:ext cx="2043957" cy="369332"/>
          </a:xfrm>
          <a:prstGeom prst="rect">
            <a:avLst/>
          </a:prstGeom>
          <a:noFill/>
        </p:spPr>
        <p:txBody>
          <a:bodyPr wrap="none" rtlCol="0">
            <a:spAutoFit/>
          </a:bodyPr>
          <a:lstStyle/>
          <a:p>
            <a:r>
              <a:rPr lang="en-US" dirty="0">
                <a:solidFill>
                  <a:srgbClr val="FF0000"/>
                </a:solidFill>
              </a:rPr>
              <a:t>Which one is valid? </a:t>
            </a:r>
          </a:p>
        </p:txBody>
      </p:sp>
    </p:spTree>
    <p:extLst>
      <p:ext uri="{BB962C8B-B14F-4D97-AF65-F5344CB8AC3E}">
        <p14:creationId xmlns:p14="http://schemas.microsoft.com/office/powerpoint/2010/main" val="5707361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D9AFA1-47E5-C252-372B-B2A066DFDD8F}"/>
              </a:ext>
            </a:extLst>
          </p:cNvPr>
          <p:cNvSpPr>
            <a:spLocks noGrp="1"/>
          </p:cNvSpPr>
          <p:nvPr>
            <p:ph type="title"/>
          </p:nvPr>
        </p:nvSpPr>
        <p:spPr/>
        <p:txBody>
          <a:bodyPr/>
          <a:lstStyle/>
          <a:p>
            <a:r>
              <a:rPr lang="en-US" dirty="0"/>
              <a:t>Advantages</a:t>
            </a:r>
          </a:p>
        </p:txBody>
      </p:sp>
      <p:sp>
        <p:nvSpPr>
          <p:cNvPr id="3" name="Content Placeholder 2">
            <a:extLst>
              <a:ext uri="{FF2B5EF4-FFF2-40B4-BE49-F238E27FC236}">
                <a16:creationId xmlns:a16="http://schemas.microsoft.com/office/drawing/2014/main" id="{D35ABA4F-1F6E-E9F3-CC40-78FDB247C9AA}"/>
              </a:ext>
            </a:extLst>
          </p:cNvPr>
          <p:cNvSpPr>
            <a:spLocks noGrp="1"/>
          </p:cNvSpPr>
          <p:nvPr>
            <p:ph idx="1"/>
          </p:nvPr>
        </p:nvSpPr>
        <p:spPr>
          <a:xfrm>
            <a:off x="1097280" y="1845734"/>
            <a:ext cx="4777740" cy="4023360"/>
          </a:xfrm>
        </p:spPr>
        <p:txBody>
          <a:bodyPr/>
          <a:lstStyle/>
          <a:p>
            <a:r>
              <a:rPr lang="en-US" dirty="0"/>
              <a:t>1. Improved Data Quality</a:t>
            </a:r>
          </a:p>
          <a:p>
            <a:pPr lvl="1"/>
            <a:r>
              <a:rPr lang="en-US" dirty="0"/>
              <a:t>Only valid values are stored.</a:t>
            </a:r>
          </a:p>
          <a:p>
            <a:r>
              <a:rPr lang="en-US" dirty="0"/>
              <a:t>2. Better Consistency</a:t>
            </a:r>
          </a:p>
          <a:p>
            <a:pPr lvl="1"/>
            <a:r>
              <a:rPr lang="en-US" dirty="0"/>
              <a:t>Data follows predefined rules.</a:t>
            </a:r>
          </a:p>
          <a:p>
            <a:r>
              <a:rPr lang="en-US" dirty="0"/>
              <a:t>3. Reduced Errors</a:t>
            </a:r>
          </a:p>
          <a:p>
            <a:pPr lvl="1"/>
            <a:r>
              <a:rPr lang="en-US" dirty="0"/>
              <a:t>Prevents accidental incorrect entries.</a:t>
            </a:r>
          </a:p>
          <a:p>
            <a:r>
              <a:rPr lang="en-US" dirty="0"/>
              <a:t>4. Easier Data Validation</a:t>
            </a:r>
          </a:p>
          <a:p>
            <a:pPr lvl="1"/>
            <a:r>
              <a:rPr lang="en-US" dirty="0"/>
              <a:t>Database automatically checks values.</a:t>
            </a:r>
          </a:p>
          <a:p>
            <a:r>
              <a:rPr lang="en-US" dirty="0"/>
              <a:t>5. Increased Reliability</a:t>
            </a:r>
          </a:p>
          <a:p>
            <a:pPr lvl="1"/>
            <a:r>
              <a:rPr lang="en-US" dirty="0"/>
              <a:t>Reports and analysis become more accurate.</a:t>
            </a:r>
          </a:p>
          <a:p>
            <a:pPr marL="0" indent="0">
              <a:buNone/>
            </a:pPr>
            <a:endParaRPr lang="en-US" dirty="0"/>
          </a:p>
        </p:txBody>
      </p:sp>
      <p:sp>
        <p:nvSpPr>
          <p:cNvPr id="4" name="Content Placeholder 2">
            <a:extLst>
              <a:ext uri="{FF2B5EF4-FFF2-40B4-BE49-F238E27FC236}">
                <a16:creationId xmlns:a16="http://schemas.microsoft.com/office/drawing/2014/main" id="{314DC072-1CE2-71DF-3AD2-9A3F22F586AA}"/>
              </a:ext>
            </a:extLst>
          </p:cNvPr>
          <p:cNvSpPr txBox="1">
            <a:spLocks/>
          </p:cNvSpPr>
          <p:nvPr/>
        </p:nvSpPr>
        <p:spPr>
          <a:xfrm>
            <a:off x="6096000" y="1845734"/>
            <a:ext cx="4777740" cy="402336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dirty="0"/>
              <a:t>Not all Complex business can enforce solely by Domain Constraints, they need </a:t>
            </a:r>
          </a:p>
          <a:p>
            <a:pPr lvl="1"/>
            <a:r>
              <a:rPr lang="en-US" dirty="0"/>
              <a:t>Triggers</a:t>
            </a:r>
          </a:p>
          <a:p>
            <a:pPr lvl="1"/>
            <a:r>
              <a:rPr lang="en-US" dirty="0"/>
              <a:t>Procedures</a:t>
            </a:r>
          </a:p>
          <a:p>
            <a:pPr lvl="1"/>
            <a:r>
              <a:rPr lang="en-US" dirty="0"/>
              <a:t>Assertions</a:t>
            </a:r>
          </a:p>
        </p:txBody>
      </p:sp>
    </p:spTree>
    <p:extLst>
      <p:ext uri="{BB962C8B-B14F-4D97-AF65-F5344CB8AC3E}">
        <p14:creationId xmlns:p14="http://schemas.microsoft.com/office/powerpoint/2010/main" val="27484324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01DAF6-66A7-EA3F-21D6-7F44C9DD28B4}"/>
              </a:ext>
            </a:extLst>
          </p:cNvPr>
          <p:cNvSpPr>
            <a:spLocks noGrp="1"/>
          </p:cNvSpPr>
          <p:nvPr>
            <p:ph type="title"/>
          </p:nvPr>
        </p:nvSpPr>
        <p:spPr/>
        <p:txBody>
          <a:bodyPr/>
          <a:lstStyle/>
          <a:p>
            <a:r>
              <a:rPr lang="en-US" dirty="0"/>
              <a:t>Entity Integrity Constraint</a:t>
            </a:r>
          </a:p>
        </p:txBody>
      </p:sp>
      <p:sp>
        <p:nvSpPr>
          <p:cNvPr id="3" name="Content Placeholder 2">
            <a:extLst>
              <a:ext uri="{FF2B5EF4-FFF2-40B4-BE49-F238E27FC236}">
                <a16:creationId xmlns:a16="http://schemas.microsoft.com/office/drawing/2014/main" id="{F2D584D7-E653-A818-C963-295B3143D3C3}"/>
              </a:ext>
            </a:extLst>
          </p:cNvPr>
          <p:cNvSpPr>
            <a:spLocks noGrp="1"/>
          </p:cNvSpPr>
          <p:nvPr>
            <p:ph idx="1"/>
          </p:nvPr>
        </p:nvSpPr>
        <p:spPr>
          <a:xfrm>
            <a:off x="1097280" y="1845734"/>
            <a:ext cx="10058400" cy="4212166"/>
          </a:xfrm>
        </p:spPr>
        <p:txBody>
          <a:bodyPr>
            <a:normAutofit fontScale="92500" lnSpcReduction="10000"/>
          </a:bodyPr>
          <a:lstStyle/>
          <a:p>
            <a:r>
              <a:rPr lang="en-US" b="1" dirty="0"/>
              <a:t>Entity Integrity Constraint</a:t>
            </a:r>
            <a:r>
              <a:rPr lang="en-US" dirty="0"/>
              <a:t> is a rule that ensures that every row (tuple) in a table can be uniquely identified but cannot contain any NULL values.</a:t>
            </a:r>
          </a:p>
          <a:p>
            <a:r>
              <a:rPr lang="en-US" dirty="0"/>
              <a:t>Entity Integrity is enforced through the </a:t>
            </a:r>
            <a:r>
              <a:rPr lang="en-US" b="1" dirty="0"/>
              <a:t>Primary Key</a:t>
            </a:r>
            <a:r>
              <a:rPr lang="en-US" dirty="0"/>
              <a:t>.</a:t>
            </a:r>
          </a:p>
          <a:p>
            <a:r>
              <a:rPr lang="en-US" dirty="0"/>
              <a:t>Formal Definition:</a:t>
            </a:r>
          </a:p>
          <a:p>
            <a:pPr lvl="1"/>
            <a:r>
              <a:rPr lang="en-US" dirty="0"/>
              <a:t>For any relation </a:t>
            </a:r>
            <a:r>
              <a:rPr lang="en-US" b="1" dirty="0"/>
              <a:t>R</a:t>
            </a:r>
            <a:r>
              <a:rPr lang="en-US" dirty="0"/>
              <a:t> having a primary key </a:t>
            </a:r>
            <a:r>
              <a:rPr lang="en-US" b="1" dirty="0"/>
              <a:t>PK</a:t>
            </a:r>
            <a:r>
              <a:rPr lang="en-US" dirty="0"/>
              <a:t>:</a:t>
            </a:r>
          </a:p>
          <a:p>
            <a:pPr lvl="1"/>
            <a:r>
              <a:rPr lang="en-US" dirty="0"/>
              <a:t>Primary Key values must be unique. </a:t>
            </a:r>
          </a:p>
          <a:p>
            <a:pPr lvl="1"/>
            <a:r>
              <a:rPr lang="en-US" dirty="0"/>
              <a:t>Primary Key values cannot be NULL. </a:t>
            </a:r>
          </a:p>
          <a:p>
            <a:pPr lvl="1"/>
            <a:r>
              <a:rPr lang="en-US" dirty="0"/>
              <a:t>No two tuples can have the same primary key value.</a:t>
            </a:r>
          </a:p>
          <a:p>
            <a:r>
              <a:rPr lang="en-US" b="1" dirty="0"/>
              <a:t>Why Entity Integrity Matters? </a:t>
            </a:r>
          </a:p>
          <a:p>
            <a:r>
              <a:rPr lang="en-US" dirty="0"/>
              <a:t>Implementing these constraints provides critical foundational benefits to database management:</a:t>
            </a:r>
          </a:p>
          <a:p>
            <a:pPr lvl="1"/>
            <a:r>
              <a:rPr lang="en-US" b="1" dirty="0"/>
              <a:t>Unique Identification</a:t>
            </a:r>
          </a:p>
          <a:p>
            <a:pPr lvl="1"/>
            <a:r>
              <a:rPr lang="en-US" b="1" dirty="0"/>
              <a:t>Elimination of Duplicates</a:t>
            </a:r>
          </a:p>
          <a:p>
            <a:pPr lvl="1"/>
            <a:r>
              <a:rPr lang="en-US" b="1" dirty="0"/>
              <a:t>Enables Relationships</a:t>
            </a:r>
            <a:r>
              <a:rPr lang="en-US" dirty="0"/>
              <a:t>:</a:t>
            </a:r>
          </a:p>
          <a:p>
            <a:endParaRPr lang="en-US" dirty="0"/>
          </a:p>
        </p:txBody>
      </p:sp>
    </p:spTree>
    <p:extLst>
      <p:ext uri="{BB962C8B-B14F-4D97-AF65-F5344CB8AC3E}">
        <p14:creationId xmlns:p14="http://schemas.microsoft.com/office/powerpoint/2010/main" val="40820427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CB0342-4720-A1B3-DE39-C0BAB6B57849}"/>
              </a:ext>
            </a:extLst>
          </p:cNvPr>
          <p:cNvSpPr>
            <a:spLocks noGrp="1"/>
          </p:cNvSpPr>
          <p:nvPr>
            <p:ph type="title"/>
          </p:nvPr>
        </p:nvSpPr>
        <p:spPr/>
        <p:txBody>
          <a:bodyPr/>
          <a:lstStyle/>
          <a:p>
            <a:r>
              <a:rPr lang="en-US" dirty="0"/>
              <a:t>Valid vs </a:t>
            </a:r>
            <a:r>
              <a:rPr lang="en-US" dirty="0" err="1"/>
              <a:t>InValid</a:t>
            </a:r>
            <a:r>
              <a:rPr lang="en-US" dirty="0"/>
              <a:t> Data</a:t>
            </a:r>
          </a:p>
        </p:txBody>
      </p:sp>
      <p:graphicFrame>
        <p:nvGraphicFramePr>
          <p:cNvPr id="4" name="Content Placeholder 3">
            <a:extLst>
              <a:ext uri="{FF2B5EF4-FFF2-40B4-BE49-F238E27FC236}">
                <a16:creationId xmlns:a16="http://schemas.microsoft.com/office/drawing/2014/main" id="{E92CA899-D148-078B-F1D8-5A18A2428C92}"/>
              </a:ext>
            </a:extLst>
          </p:cNvPr>
          <p:cNvGraphicFramePr>
            <a:graphicFrameLocks noGrp="1"/>
          </p:cNvGraphicFramePr>
          <p:nvPr>
            <p:ph idx="1"/>
            <p:extLst>
              <p:ext uri="{D42A27DB-BD31-4B8C-83A1-F6EECF244321}">
                <p14:modId xmlns:p14="http://schemas.microsoft.com/office/powerpoint/2010/main" val="3576945394"/>
              </p:ext>
            </p:extLst>
          </p:nvPr>
        </p:nvGraphicFramePr>
        <p:xfrm>
          <a:off x="1097280" y="1913529"/>
          <a:ext cx="10607040" cy="3030942"/>
        </p:xfrm>
        <a:graphic>
          <a:graphicData uri="http://schemas.openxmlformats.org/drawingml/2006/table">
            <a:tbl>
              <a:tblPr firstRow="1" bandRow="1">
                <a:tableStyleId>{5C22544A-7EE6-4342-B048-85BDC9FD1C3A}</a:tableStyleId>
              </a:tblPr>
              <a:tblGrid>
                <a:gridCol w="2651760">
                  <a:extLst>
                    <a:ext uri="{9D8B030D-6E8A-4147-A177-3AD203B41FA5}">
                      <a16:colId xmlns:a16="http://schemas.microsoft.com/office/drawing/2014/main" val="3075963938"/>
                    </a:ext>
                  </a:extLst>
                </a:gridCol>
                <a:gridCol w="2651760">
                  <a:extLst>
                    <a:ext uri="{9D8B030D-6E8A-4147-A177-3AD203B41FA5}">
                      <a16:colId xmlns:a16="http://schemas.microsoft.com/office/drawing/2014/main" val="3325071350"/>
                    </a:ext>
                  </a:extLst>
                </a:gridCol>
                <a:gridCol w="2651760">
                  <a:extLst>
                    <a:ext uri="{9D8B030D-6E8A-4147-A177-3AD203B41FA5}">
                      <a16:colId xmlns:a16="http://schemas.microsoft.com/office/drawing/2014/main" val="3591100345"/>
                    </a:ext>
                  </a:extLst>
                </a:gridCol>
                <a:gridCol w="2651760">
                  <a:extLst>
                    <a:ext uri="{9D8B030D-6E8A-4147-A177-3AD203B41FA5}">
                      <a16:colId xmlns:a16="http://schemas.microsoft.com/office/drawing/2014/main" val="4111259982"/>
                    </a:ext>
                  </a:extLst>
                </a:gridCol>
              </a:tblGrid>
              <a:tr h="302116">
                <a:tc>
                  <a:txBody>
                    <a:bodyPr/>
                    <a:lstStyle/>
                    <a:p>
                      <a:r>
                        <a:rPr lang="en-US" dirty="0"/>
                        <a:t>StudentID</a:t>
                      </a:r>
                    </a:p>
                  </a:txBody>
                  <a:tcPr/>
                </a:tc>
                <a:tc>
                  <a:txBody>
                    <a:bodyPr/>
                    <a:lstStyle/>
                    <a:p>
                      <a:r>
                        <a:rPr lang="en-US" dirty="0" err="1"/>
                        <a:t>StudentName</a:t>
                      </a:r>
                      <a:endParaRPr lang="en-US" dirty="0"/>
                    </a:p>
                  </a:txBody>
                  <a:tcPr/>
                </a:tc>
                <a:tc>
                  <a:txBody>
                    <a:bodyPr/>
                    <a:lstStyle/>
                    <a:p>
                      <a:r>
                        <a:rPr lang="en-US" dirty="0"/>
                        <a:t>Course</a:t>
                      </a:r>
                    </a:p>
                  </a:txBody>
                  <a:tcPr/>
                </a:tc>
                <a:tc>
                  <a:txBody>
                    <a:bodyPr/>
                    <a:lstStyle/>
                    <a:p>
                      <a:r>
                        <a:rPr lang="en-US" dirty="0"/>
                        <a:t>Status</a:t>
                      </a:r>
                    </a:p>
                  </a:txBody>
                  <a:tcPr/>
                </a:tc>
                <a:extLst>
                  <a:ext uri="{0D108BD9-81ED-4DB2-BD59-A6C34878D82A}">
                    <a16:rowId xmlns:a16="http://schemas.microsoft.com/office/drawing/2014/main" val="3772255889"/>
                  </a:ext>
                </a:extLst>
              </a:tr>
              <a:tr h="521460">
                <a:tc>
                  <a:txBody>
                    <a:bodyPr/>
                    <a:lstStyle/>
                    <a:p>
                      <a:r>
                        <a:rPr lang="en-US" dirty="0"/>
                        <a:t>101</a:t>
                      </a:r>
                    </a:p>
                  </a:txBody>
                  <a:tcPr/>
                </a:tc>
                <a:tc>
                  <a:txBody>
                    <a:bodyPr/>
                    <a:lstStyle/>
                    <a:p>
                      <a:r>
                        <a:rPr lang="en-US" dirty="0"/>
                        <a:t>Ram</a:t>
                      </a:r>
                    </a:p>
                  </a:txBody>
                  <a:tcPr/>
                </a:tc>
                <a:tc>
                  <a:txBody>
                    <a:bodyPr/>
                    <a:lstStyle/>
                    <a:p>
                      <a:r>
                        <a:rPr lang="en-US" dirty="0"/>
                        <a:t>Computer Science</a:t>
                      </a:r>
                    </a:p>
                  </a:txBody>
                  <a:tcPr/>
                </a:tc>
                <a:tc>
                  <a:txBody>
                    <a:bodyPr/>
                    <a:lstStyle/>
                    <a:p>
                      <a:r>
                        <a:rPr lang="en-US" sz="1800" b="1" u="none" strike="noStrike" kern="1200" dirty="0">
                          <a:solidFill>
                            <a:schemeClr val="dk1"/>
                          </a:solidFill>
                          <a:effectLst/>
                          <a:latin typeface="+mn-lt"/>
                          <a:ea typeface="+mn-ea"/>
                          <a:cs typeface="+mn-cs"/>
                        </a:rPr>
                        <a:t>Valid</a:t>
                      </a:r>
                      <a:r>
                        <a:rPr lang="en-US" dirty="0"/>
                        <a:t>: Unique and non-null.</a:t>
                      </a:r>
                    </a:p>
                  </a:txBody>
                  <a:tcPr/>
                </a:tc>
                <a:extLst>
                  <a:ext uri="{0D108BD9-81ED-4DB2-BD59-A6C34878D82A}">
                    <a16:rowId xmlns:a16="http://schemas.microsoft.com/office/drawing/2014/main" val="563659516"/>
                  </a:ext>
                </a:extLst>
              </a:tr>
              <a:tr h="521460">
                <a:tc>
                  <a:txBody>
                    <a:bodyPr/>
                    <a:lstStyle/>
                    <a:p>
                      <a:r>
                        <a:rPr lang="en-US" dirty="0"/>
                        <a:t>102</a:t>
                      </a:r>
                    </a:p>
                  </a:txBody>
                  <a:tcPr/>
                </a:tc>
                <a:tc>
                  <a:txBody>
                    <a:bodyPr/>
                    <a:lstStyle/>
                    <a:p>
                      <a:r>
                        <a:rPr lang="en-US" dirty="0"/>
                        <a:t>Shyam</a:t>
                      </a:r>
                    </a:p>
                  </a:txBody>
                  <a:tcPr/>
                </a:tc>
                <a:tc>
                  <a:txBody>
                    <a:bodyPr/>
                    <a:lstStyle/>
                    <a:p>
                      <a:r>
                        <a:rPr lang="en-US" dirty="0"/>
                        <a:t>Mathematics</a:t>
                      </a:r>
                    </a:p>
                  </a:txBody>
                  <a:tcPr/>
                </a:tc>
                <a:tc>
                  <a:txBody>
                    <a:bodyPr/>
                    <a:lstStyle/>
                    <a:p>
                      <a:r>
                        <a:rPr lang="en-US" sz="1800" b="1" u="none" strike="noStrike" kern="1200" dirty="0">
                          <a:solidFill>
                            <a:schemeClr val="dk1"/>
                          </a:solidFill>
                          <a:effectLst/>
                          <a:latin typeface="+mn-lt"/>
                          <a:ea typeface="+mn-ea"/>
                          <a:cs typeface="+mn-cs"/>
                        </a:rPr>
                        <a:t>Valid</a:t>
                      </a:r>
                      <a:r>
                        <a:rPr lang="en-US" dirty="0"/>
                        <a:t>: Unique and non-null.</a:t>
                      </a:r>
                    </a:p>
                  </a:txBody>
                  <a:tcPr/>
                </a:tc>
                <a:extLst>
                  <a:ext uri="{0D108BD9-81ED-4DB2-BD59-A6C34878D82A}">
                    <a16:rowId xmlns:a16="http://schemas.microsoft.com/office/drawing/2014/main" val="126167939"/>
                  </a:ext>
                </a:extLst>
              </a:tr>
              <a:tr h="744942">
                <a:tc>
                  <a:txBody>
                    <a:bodyPr/>
                    <a:lstStyle/>
                    <a:p>
                      <a:r>
                        <a:rPr lang="en-US" dirty="0"/>
                        <a:t>101</a:t>
                      </a:r>
                    </a:p>
                  </a:txBody>
                  <a:tcPr/>
                </a:tc>
                <a:tc>
                  <a:txBody>
                    <a:bodyPr/>
                    <a:lstStyle/>
                    <a:p>
                      <a:r>
                        <a:rPr lang="en-US" dirty="0"/>
                        <a:t>Hari</a:t>
                      </a:r>
                    </a:p>
                  </a:txBody>
                  <a:tcPr/>
                </a:tc>
                <a:tc>
                  <a:txBody>
                    <a:bodyPr/>
                    <a:lstStyle/>
                    <a:p>
                      <a:r>
                        <a:rPr lang="en-US" dirty="0"/>
                        <a:t>Mathematics</a:t>
                      </a:r>
                    </a:p>
                  </a:txBody>
                  <a:tcPr/>
                </a:tc>
                <a:tc>
                  <a:txBody>
                    <a:bodyPr/>
                    <a:lstStyle/>
                    <a:p>
                      <a:r>
                        <a:rPr lang="en-US" sz="1800" b="1" u="none" strike="noStrike" kern="1200" dirty="0">
                          <a:solidFill>
                            <a:schemeClr val="dk1"/>
                          </a:solidFill>
                          <a:effectLst/>
                          <a:latin typeface="+mn-lt"/>
                          <a:ea typeface="+mn-ea"/>
                          <a:cs typeface="+mn-cs"/>
                        </a:rPr>
                        <a:t>Invalid</a:t>
                      </a:r>
                      <a:r>
                        <a:rPr lang="en-US" dirty="0"/>
                        <a:t>: Violates uniqueness (Duplicate ID).</a:t>
                      </a:r>
                    </a:p>
                  </a:txBody>
                  <a:tcPr/>
                </a:tc>
                <a:extLst>
                  <a:ext uri="{0D108BD9-81ED-4DB2-BD59-A6C34878D82A}">
                    <a16:rowId xmlns:a16="http://schemas.microsoft.com/office/drawing/2014/main" val="865607464"/>
                  </a:ext>
                </a:extLst>
              </a:tr>
              <a:tr h="521460">
                <a:tc>
                  <a:txBody>
                    <a:bodyPr/>
                    <a:lstStyle/>
                    <a:p>
                      <a:r>
                        <a:rPr lang="en-US" dirty="0"/>
                        <a:t>NULL</a:t>
                      </a:r>
                    </a:p>
                  </a:txBody>
                  <a:tcPr/>
                </a:tc>
                <a:tc>
                  <a:txBody>
                    <a:bodyPr/>
                    <a:lstStyle/>
                    <a:p>
                      <a:r>
                        <a:rPr lang="en-US" dirty="0"/>
                        <a:t>Om</a:t>
                      </a:r>
                    </a:p>
                  </a:txBody>
                  <a:tcPr/>
                </a:tc>
                <a:tc>
                  <a:txBody>
                    <a:bodyPr/>
                    <a:lstStyle/>
                    <a:p>
                      <a:r>
                        <a:rPr lang="en-US" dirty="0"/>
                        <a:t>Chemistry</a:t>
                      </a:r>
                    </a:p>
                  </a:txBody>
                  <a:tcPr/>
                </a:tc>
                <a:tc>
                  <a:txBody>
                    <a:bodyPr/>
                    <a:lstStyle/>
                    <a:p>
                      <a:r>
                        <a:rPr lang="en-US" sz="1800" b="1" u="none" strike="noStrike" kern="1200" dirty="0">
                          <a:solidFill>
                            <a:schemeClr val="dk1"/>
                          </a:solidFill>
                          <a:effectLst/>
                          <a:latin typeface="+mn-lt"/>
                          <a:ea typeface="+mn-ea"/>
                          <a:cs typeface="+mn-cs"/>
                        </a:rPr>
                        <a:t>Invalid</a:t>
                      </a:r>
                      <a:r>
                        <a:rPr lang="en-US" dirty="0"/>
                        <a:t>: Violates </a:t>
                      </a:r>
                      <a:r>
                        <a:rPr lang="en-US" sz="1800" b="0" u="none" strike="noStrike" kern="1200" dirty="0">
                          <a:solidFill>
                            <a:schemeClr val="dk1"/>
                          </a:solidFill>
                          <a:effectLst/>
                          <a:latin typeface="+mn-lt"/>
                          <a:ea typeface="+mn-ea"/>
                          <a:cs typeface="+mn-cs"/>
                        </a:rPr>
                        <a:t>NOT NULL</a:t>
                      </a:r>
                      <a:r>
                        <a:rPr lang="en-US" dirty="0"/>
                        <a:t> restriction.</a:t>
                      </a:r>
                    </a:p>
                  </a:txBody>
                  <a:tcPr/>
                </a:tc>
                <a:extLst>
                  <a:ext uri="{0D108BD9-81ED-4DB2-BD59-A6C34878D82A}">
                    <a16:rowId xmlns:a16="http://schemas.microsoft.com/office/drawing/2014/main" val="1084065419"/>
                  </a:ext>
                </a:extLst>
              </a:tr>
            </a:tbl>
          </a:graphicData>
        </a:graphic>
      </p:graphicFrame>
      <p:sp>
        <p:nvSpPr>
          <p:cNvPr id="6" name="TextBox 5">
            <a:extLst>
              <a:ext uri="{FF2B5EF4-FFF2-40B4-BE49-F238E27FC236}">
                <a16:creationId xmlns:a16="http://schemas.microsoft.com/office/drawing/2014/main" id="{59481668-6957-3853-CAED-7B1677413023}"/>
              </a:ext>
            </a:extLst>
          </p:cNvPr>
          <p:cNvSpPr txBox="1"/>
          <p:nvPr/>
        </p:nvSpPr>
        <p:spPr>
          <a:xfrm>
            <a:off x="1097280" y="4791162"/>
            <a:ext cx="6092190" cy="1477328"/>
          </a:xfrm>
          <a:prstGeom prst="rect">
            <a:avLst/>
          </a:prstGeom>
          <a:noFill/>
        </p:spPr>
        <p:txBody>
          <a:bodyPr wrap="square">
            <a:spAutoFit/>
          </a:bodyPr>
          <a:lstStyle/>
          <a:p>
            <a:r>
              <a:rPr lang="en-US" b="0" u="none" strike="noStrike" dirty="0">
                <a:effectLst/>
                <a:latin typeface="Courier New" panose="02070309020205020404" pitchFamily="49" charset="0"/>
              </a:rPr>
              <a:t>CREATE TABLE Students ( </a:t>
            </a:r>
          </a:p>
          <a:p>
            <a:r>
              <a:rPr lang="en-US" b="0" u="none" strike="noStrike" dirty="0">
                <a:effectLst/>
                <a:latin typeface="Courier New" panose="02070309020205020404" pitchFamily="49" charset="0"/>
              </a:rPr>
              <a:t>StudentID INT PRIMARY KEY,</a:t>
            </a:r>
          </a:p>
          <a:p>
            <a:r>
              <a:rPr lang="en-US" b="0" u="none" strike="noStrike" dirty="0" err="1">
                <a:effectLst/>
                <a:latin typeface="Courier New" panose="02070309020205020404" pitchFamily="49" charset="0"/>
              </a:rPr>
              <a:t>StudentName</a:t>
            </a:r>
            <a:r>
              <a:rPr lang="en-US" b="0" u="none" strike="noStrike" dirty="0">
                <a:effectLst/>
                <a:latin typeface="Courier New" panose="02070309020205020404" pitchFamily="49" charset="0"/>
              </a:rPr>
              <a:t> VARCHAR(50) NOT NULL, </a:t>
            </a:r>
          </a:p>
          <a:p>
            <a:r>
              <a:rPr lang="en-US" b="0" u="none" strike="noStrike" dirty="0">
                <a:effectLst/>
                <a:latin typeface="Courier New" panose="02070309020205020404" pitchFamily="49" charset="0"/>
              </a:rPr>
              <a:t>Course VARCHAR(50) </a:t>
            </a:r>
          </a:p>
          <a:p>
            <a:r>
              <a:rPr lang="en-US" b="0" u="none" strike="noStrike" dirty="0">
                <a:effectLst/>
                <a:latin typeface="Courier New" panose="02070309020205020404" pitchFamily="49" charset="0"/>
              </a:rPr>
              <a:t>);</a:t>
            </a:r>
            <a:endParaRPr lang="en-US" dirty="0"/>
          </a:p>
        </p:txBody>
      </p:sp>
    </p:spTree>
    <p:extLst>
      <p:ext uri="{BB962C8B-B14F-4D97-AF65-F5344CB8AC3E}">
        <p14:creationId xmlns:p14="http://schemas.microsoft.com/office/powerpoint/2010/main" val="15201180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C15F5-F296-BF51-1731-1A0327BBA949}"/>
              </a:ext>
            </a:extLst>
          </p:cNvPr>
          <p:cNvSpPr>
            <a:spLocks noGrp="1"/>
          </p:cNvSpPr>
          <p:nvPr>
            <p:ph type="title"/>
          </p:nvPr>
        </p:nvSpPr>
        <p:spPr/>
        <p:txBody>
          <a:bodyPr/>
          <a:lstStyle/>
          <a:p>
            <a:endParaRPr lang="en-US" dirty="0"/>
          </a:p>
        </p:txBody>
      </p:sp>
      <p:graphicFrame>
        <p:nvGraphicFramePr>
          <p:cNvPr id="5" name="Content Placeholder 3">
            <a:extLst>
              <a:ext uri="{FF2B5EF4-FFF2-40B4-BE49-F238E27FC236}">
                <a16:creationId xmlns:a16="http://schemas.microsoft.com/office/drawing/2014/main" id="{25F0F687-0803-C833-7581-D7FF550695AA}"/>
              </a:ext>
            </a:extLst>
          </p:cNvPr>
          <p:cNvGraphicFramePr>
            <a:graphicFrameLocks/>
          </p:cNvGraphicFramePr>
          <p:nvPr>
            <p:extLst>
              <p:ext uri="{D42A27DB-BD31-4B8C-83A1-F6EECF244321}">
                <p14:modId xmlns:p14="http://schemas.microsoft.com/office/powerpoint/2010/main" val="2696596375"/>
              </p:ext>
            </p:extLst>
          </p:nvPr>
        </p:nvGraphicFramePr>
        <p:xfrm>
          <a:off x="1097280" y="1805940"/>
          <a:ext cx="8595360" cy="1948500"/>
        </p:xfrm>
        <a:graphic>
          <a:graphicData uri="http://schemas.openxmlformats.org/drawingml/2006/table">
            <a:tbl>
              <a:tblPr firstRow="1" bandRow="1">
                <a:tableStyleId>{5C22544A-7EE6-4342-B048-85BDC9FD1C3A}</a:tableStyleId>
              </a:tblPr>
              <a:tblGrid>
                <a:gridCol w="2865120">
                  <a:extLst>
                    <a:ext uri="{9D8B030D-6E8A-4147-A177-3AD203B41FA5}">
                      <a16:colId xmlns:a16="http://schemas.microsoft.com/office/drawing/2014/main" val="867723487"/>
                    </a:ext>
                  </a:extLst>
                </a:gridCol>
                <a:gridCol w="2865120">
                  <a:extLst>
                    <a:ext uri="{9D8B030D-6E8A-4147-A177-3AD203B41FA5}">
                      <a16:colId xmlns:a16="http://schemas.microsoft.com/office/drawing/2014/main" val="616294776"/>
                    </a:ext>
                  </a:extLst>
                </a:gridCol>
                <a:gridCol w="2865120">
                  <a:extLst>
                    <a:ext uri="{9D8B030D-6E8A-4147-A177-3AD203B41FA5}">
                      <a16:colId xmlns:a16="http://schemas.microsoft.com/office/drawing/2014/main" val="1386121531"/>
                    </a:ext>
                  </a:extLst>
                </a:gridCol>
              </a:tblGrid>
              <a:tr h="389700">
                <a:tc>
                  <a:txBody>
                    <a:bodyPr/>
                    <a:lstStyle/>
                    <a:p>
                      <a:pPr>
                        <a:buNone/>
                      </a:pPr>
                      <a:r>
                        <a:rPr lang="en-US" dirty="0"/>
                        <a:t>Entity Integrity</a:t>
                      </a:r>
                    </a:p>
                  </a:txBody>
                  <a:tcPr anchor="ctr"/>
                </a:tc>
                <a:tc>
                  <a:txBody>
                    <a:bodyPr/>
                    <a:lstStyle/>
                    <a:p>
                      <a:pPr>
                        <a:buNone/>
                      </a:pPr>
                      <a:r>
                        <a:rPr lang="en-US" dirty="0"/>
                        <a:t>Domain Integrity</a:t>
                      </a:r>
                    </a:p>
                  </a:txBody>
                  <a:tcPr anchor="ctr"/>
                </a:tc>
                <a:tc>
                  <a:txBody>
                    <a:bodyPr/>
                    <a:lstStyle/>
                    <a:p>
                      <a:pPr>
                        <a:buNone/>
                      </a:pPr>
                      <a:r>
                        <a:rPr lang="en-US" dirty="0"/>
                        <a:t>Referential Integrity</a:t>
                      </a:r>
                    </a:p>
                  </a:txBody>
                  <a:tcPr anchor="ctr"/>
                </a:tc>
                <a:extLst>
                  <a:ext uri="{0D108BD9-81ED-4DB2-BD59-A6C34878D82A}">
                    <a16:rowId xmlns:a16="http://schemas.microsoft.com/office/drawing/2014/main" val="1042591678"/>
                  </a:ext>
                </a:extLst>
              </a:tr>
              <a:tr h="389700">
                <a:tc>
                  <a:txBody>
                    <a:bodyPr/>
                    <a:lstStyle/>
                    <a:p>
                      <a:pPr>
                        <a:buNone/>
                      </a:pPr>
                      <a:r>
                        <a:rPr lang="en-US"/>
                        <a:t>Ensures row identification</a:t>
                      </a:r>
                    </a:p>
                  </a:txBody>
                  <a:tcPr anchor="ctr"/>
                </a:tc>
                <a:tc>
                  <a:txBody>
                    <a:bodyPr/>
                    <a:lstStyle/>
                    <a:p>
                      <a:pPr>
                        <a:buNone/>
                      </a:pPr>
                      <a:r>
                        <a:rPr lang="en-US"/>
                        <a:t>Ensures valid values</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Maintains relationships</a:t>
                      </a:r>
                    </a:p>
                  </a:txBody>
                  <a:tcPr anchor="ctr"/>
                </a:tc>
                <a:extLst>
                  <a:ext uri="{0D108BD9-81ED-4DB2-BD59-A6C34878D82A}">
                    <a16:rowId xmlns:a16="http://schemas.microsoft.com/office/drawing/2014/main" val="287278756"/>
                  </a:ext>
                </a:extLst>
              </a:tr>
              <a:tr h="389700">
                <a:tc>
                  <a:txBody>
                    <a:bodyPr/>
                    <a:lstStyle/>
                    <a:p>
                      <a:pPr>
                        <a:buNone/>
                      </a:pPr>
                      <a:r>
                        <a:rPr lang="en-US" dirty="0"/>
                        <a:t>Uses Primary Key</a:t>
                      </a:r>
                    </a:p>
                  </a:txBody>
                  <a:tcPr anchor="ctr"/>
                </a:tc>
                <a:tc>
                  <a:txBody>
                    <a:bodyPr/>
                    <a:lstStyle/>
                    <a:p>
                      <a:pPr>
                        <a:buNone/>
                      </a:pPr>
                      <a:r>
                        <a:rPr lang="en-US" dirty="0"/>
                        <a:t>Uses Data Type, CHECK</a:t>
                      </a:r>
                    </a:p>
                  </a:txBody>
                  <a:tcPr anchor="ctr"/>
                </a:tc>
                <a:tc>
                  <a:txBody>
                    <a:bodyPr/>
                    <a:lstStyle/>
                    <a:p>
                      <a:pPr>
                        <a:buNone/>
                      </a:pPr>
                      <a:r>
                        <a:rPr lang="en-US" dirty="0"/>
                        <a:t>Uses Foreign Key</a:t>
                      </a:r>
                    </a:p>
                  </a:txBody>
                  <a:tcPr anchor="ctr"/>
                </a:tc>
                <a:extLst>
                  <a:ext uri="{0D108BD9-81ED-4DB2-BD59-A6C34878D82A}">
                    <a16:rowId xmlns:a16="http://schemas.microsoft.com/office/drawing/2014/main" val="2586770737"/>
                  </a:ext>
                </a:extLst>
              </a:tr>
              <a:tr h="389700">
                <a:tc>
                  <a:txBody>
                    <a:bodyPr/>
                    <a:lstStyle/>
                    <a:p>
                      <a:pPr>
                        <a:buNone/>
                      </a:pPr>
                      <a:r>
                        <a:rPr lang="en-US"/>
                        <a:t>No NULL in PK</a:t>
                      </a:r>
                    </a:p>
                  </a:txBody>
                  <a:tcPr anchor="ctr"/>
                </a:tc>
                <a:tc>
                  <a:txBody>
                    <a:bodyPr/>
                    <a:lstStyle/>
                    <a:p>
                      <a:pPr>
                        <a:buNone/>
                      </a:pPr>
                      <a:r>
                        <a:rPr lang="en-US" dirty="0"/>
                        <a:t>Valid domain values</a:t>
                      </a:r>
                    </a:p>
                  </a:txBody>
                  <a:tcPr anchor="ctr"/>
                </a:tc>
                <a:tc>
                  <a:txBody>
                    <a:bodyPr/>
                    <a:lstStyle/>
                    <a:p>
                      <a:pPr>
                        <a:buNone/>
                      </a:pPr>
                      <a:r>
                        <a:rPr lang="en-US" dirty="0"/>
                        <a:t>Works between tables</a:t>
                      </a:r>
                    </a:p>
                  </a:txBody>
                  <a:tcPr anchor="ctr"/>
                </a:tc>
                <a:extLst>
                  <a:ext uri="{0D108BD9-81ED-4DB2-BD59-A6C34878D82A}">
                    <a16:rowId xmlns:a16="http://schemas.microsoft.com/office/drawing/2014/main" val="786051362"/>
                  </a:ext>
                </a:extLst>
              </a:tr>
              <a:tr h="389700">
                <a:tc>
                  <a:txBody>
                    <a:bodyPr/>
                    <a:lstStyle/>
                    <a:p>
                      <a:pPr>
                        <a:buNone/>
                      </a:pPr>
                      <a:r>
                        <a:rPr lang="en-US" dirty="0"/>
                        <a:t>Prevents duplicate records</a:t>
                      </a:r>
                    </a:p>
                  </a:txBody>
                  <a:tcPr anchor="ctr"/>
                </a:tc>
                <a:tc>
                  <a:txBody>
                    <a:bodyPr/>
                    <a:lstStyle/>
                    <a:p>
                      <a:pPr>
                        <a:buNone/>
                      </a:pPr>
                      <a:r>
                        <a:rPr lang="en-US" dirty="0"/>
                        <a:t>Prevents invalid entries</a:t>
                      </a:r>
                    </a:p>
                  </a:txBody>
                  <a:tcPr anchor="ctr"/>
                </a:tc>
                <a:tc>
                  <a:txBody>
                    <a:bodyPr/>
                    <a:lstStyle/>
                    <a:p>
                      <a:pPr>
                        <a:buNone/>
                      </a:pPr>
                      <a:r>
                        <a:rPr lang="en-US" dirty="0"/>
                        <a:t>Prevents invalid references</a:t>
                      </a:r>
                    </a:p>
                  </a:txBody>
                  <a:tcPr anchor="ctr"/>
                </a:tc>
                <a:extLst>
                  <a:ext uri="{0D108BD9-81ED-4DB2-BD59-A6C34878D82A}">
                    <a16:rowId xmlns:a16="http://schemas.microsoft.com/office/drawing/2014/main" val="957400088"/>
                  </a:ext>
                </a:extLst>
              </a:tr>
            </a:tbl>
          </a:graphicData>
        </a:graphic>
      </p:graphicFrame>
      <p:sp>
        <p:nvSpPr>
          <p:cNvPr id="7" name="Content Placeholder 6">
            <a:extLst>
              <a:ext uri="{FF2B5EF4-FFF2-40B4-BE49-F238E27FC236}">
                <a16:creationId xmlns:a16="http://schemas.microsoft.com/office/drawing/2014/main" id="{F861F92E-1D98-8D0C-39EB-38BBA03E71C2}"/>
              </a:ext>
            </a:extLst>
          </p:cNvPr>
          <p:cNvSpPr>
            <a:spLocks noGrp="1"/>
          </p:cNvSpPr>
          <p:nvPr>
            <p:ph idx="1"/>
          </p:nvPr>
        </p:nvSpPr>
        <p:spPr>
          <a:xfrm>
            <a:off x="1097280" y="3685860"/>
            <a:ext cx="10058400" cy="2183234"/>
          </a:xfrm>
        </p:spPr>
        <p:txBody>
          <a:bodyPr/>
          <a:lstStyle/>
          <a:p>
            <a:endParaRPr lang="en-US" dirty="0"/>
          </a:p>
        </p:txBody>
      </p:sp>
    </p:spTree>
    <p:extLst>
      <p:ext uri="{BB962C8B-B14F-4D97-AF65-F5344CB8AC3E}">
        <p14:creationId xmlns:p14="http://schemas.microsoft.com/office/powerpoint/2010/main" val="25351507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08A9F-D600-A088-864C-D79C5A661A86}"/>
              </a:ext>
            </a:extLst>
          </p:cNvPr>
          <p:cNvSpPr>
            <a:spLocks noGrp="1"/>
          </p:cNvSpPr>
          <p:nvPr>
            <p:ph type="title"/>
          </p:nvPr>
        </p:nvSpPr>
        <p:spPr/>
        <p:txBody>
          <a:bodyPr/>
          <a:lstStyle/>
          <a:p>
            <a:r>
              <a:rPr lang="en-US" dirty="0"/>
              <a:t>Referential Integrity Constraint</a:t>
            </a:r>
          </a:p>
        </p:txBody>
      </p:sp>
      <p:sp>
        <p:nvSpPr>
          <p:cNvPr id="3" name="Content Placeholder 2">
            <a:extLst>
              <a:ext uri="{FF2B5EF4-FFF2-40B4-BE49-F238E27FC236}">
                <a16:creationId xmlns:a16="http://schemas.microsoft.com/office/drawing/2014/main" id="{2C0E4368-319A-8FBF-6532-0ECAE764021B}"/>
              </a:ext>
            </a:extLst>
          </p:cNvPr>
          <p:cNvSpPr>
            <a:spLocks noGrp="1"/>
          </p:cNvSpPr>
          <p:nvPr>
            <p:ph idx="1"/>
          </p:nvPr>
        </p:nvSpPr>
        <p:spPr/>
        <p:txBody>
          <a:bodyPr/>
          <a:lstStyle/>
          <a:p>
            <a:r>
              <a:rPr lang="en-US" dirty="0"/>
              <a:t>Referential Integrity Constraint is a rule that ensures consistency between related tables in a database.</a:t>
            </a:r>
          </a:p>
          <a:p>
            <a:pPr lvl="1"/>
            <a:r>
              <a:rPr lang="en-US" dirty="0"/>
              <a:t>Maintains consistency between related tables.</a:t>
            </a:r>
          </a:p>
          <a:p>
            <a:r>
              <a:rPr lang="en-US" dirty="0"/>
              <a:t>A Foreign Key value in one table must either match an existing Primary Key value in the referenced table or be NULL (if allowed).</a:t>
            </a:r>
          </a:p>
          <a:p>
            <a:r>
              <a:rPr lang="en-US" b="1" dirty="0"/>
              <a:t>Core Components: </a:t>
            </a:r>
            <a:r>
              <a:rPr lang="en-US" dirty="0"/>
              <a:t>Referential integrity works by binding two specific columns across two distinct tables:</a:t>
            </a:r>
          </a:p>
          <a:p>
            <a:pPr lvl="1"/>
            <a:r>
              <a:rPr lang="en-US" b="1" dirty="0"/>
              <a:t>Parent Table (Referenced Table):</a:t>
            </a:r>
            <a:r>
              <a:rPr lang="en-US" dirty="0"/>
              <a:t> Contains the primary key </a:t>
            </a:r>
          </a:p>
          <a:p>
            <a:pPr lvl="1"/>
            <a:r>
              <a:rPr lang="en-US" b="1" dirty="0"/>
              <a:t>Child Table (Referencing Table):</a:t>
            </a:r>
            <a:r>
              <a:rPr lang="en-US" dirty="0"/>
              <a:t> Contains the foreign key that points back to the parent table's primary key</a:t>
            </a:r>
          </a:p>
          <a:p>
            <a:endParaRPr lang="en-US" dirty="0"/>
          </a:p>
          <a:p>
            <a:endParaRPr lang="en-US" dirty="0"/>
          </a:p>
        </p:txBody>
      </p:sp>
    </p:spTree>
    <p:extLst>
      <p:ext uri="{BB962C8B-B14F-4D97-AF65-F5344CB8AC3E}">
        <p14:creationId xmlns:p14="http://schemas.microsoft.com/office/powerpoint/2010/main" val="36885823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72FB70-84DF-001D-F14D-2C0A50F2E4A6}"/>
              </a:ext>
            </a:extLst>
          </p:cNvPr>
          <p:cNvSpPr>
            <a:spLocks noGrp="1"/>
          </p:cNvSpPr>
          <p:nvPr>
            <p:ph type="title"/>
          </p:nvPr>
        </p:nvSpPr>
        <p:spPr/>
        <p:txBody>
          <a:bodyPr/>
          <a:lstStyle/>
          <a:p>
            <a:r>
              <a:rPr lang="en-US" dirty="0"/>
              <a:t>Example:</a:t>
            </a:r>
          </a:p>
        </p:txBody>
      </p:sp>
      <p:graphicFrame>
        <p:nvGraphicFramePr>
          <p:cNvPr id="5" name="Content Placeholder 3">
            <a:extLst>
              <a:ext uri="{FF2B5EF4-FFF2-40B4-BE49-F238E27FC236}">
                <a16:creationId xmlns:a16="http://schemas.microsoft.com/office/drawing/2014/main" id="{74F0BC5E-19D0-69AB-6D2F-B281A7AFB9D9}"/>
              </a:ext>
            </a:extLst>
          </p:cNvPr>
          <p:cNvGraphicFramePr>
            <a:graphicFrameLocks/>
          </p:cNvGraphicFramePr>
          <p:nvPr>
            <p:extLst>
              <p:ext uri="{D42A27DB-BD31-4B8C-83A1-F6EECF244321}">
                <p14:modId xmlns:p14="http://schemas.microsoft.com/office/powerpoint/2010/main" val="2704623099"/>
              </p:ext>
            </p:extLst>
          </p:nvPr>
        </p:nvGraphicFramePr>
        <p:xfrm>
          <a:off x="1097280" y="1863687"/>
          <a:ext cx="3406140" cy="1463040"/>
        </p:xfrm>
        <a:graphic>
          <a:graphicData uri="http://schemas.openxmlformats.org/drawingml/2006/table">
            <a:tbl>
              <a:tblPr firstRow="1" bandRow="1">
                <a:tableStyleId>{5C22544A-7EE6-4342-B048-85BDC9FD1C3A}</a:tableStyleId>
              </a:tblPr>
              <a:tblGrid>
                <a:gridCol w="1703070">
                  <a:extLst>
                    <a:ext uri="{9D8B030D-6E8A-4147-A177-3AD203B41FA5}">
                      <a16:colId xmlns:a16="http://schemas.microsoft.com/office/drawing/2014/main" val="1104044002"/>
                    </a:ext>
                  </a:extLst>
                </a:gridCol>
                <a:gridCol w="1703070">
                  <a:extLst>
                    <a:ext uri="{9D8B030D-6E8A-4147-A177-3AD203B41FA5}">
                      <a16:colId xmlns:a16="http://schemas.microsoft.com/office/drawing/2014/main" val="4183685560"/>
                    </a:ext>
                  </a:extLst>
                </a:gridCol>
              </a:tblGrid>
              <a:tr h="362689">
                <a:tc>
                  <a:txBody>
                    <a:bodyPr/>
                    <a:lstStyle/>
                    <a:p>
                      <a:pPr>
                        <a:buNone/>
                      </a:pPr>
                      <a:r>
                        <a:rPr lang="en-US" dirty="0" err="1"/>
                        <a:t>Dept_ID</a:t>
                      </a:r>
                      <a:endParaRPr lang="en-US" dirty="0"/>
                    </a:p>
                  </a:txBody>
                  <a:tcPr anchor="ctr"/>
                </a:tc>
                <a:tc>
                  <a:txBody>
                    <a:bodyPr/>
                    <a:lstStyle/>
                    <a:p>
                      <a:pPr>
                        <a:buNone/>
                      </a:pPr>
                      <a:r>
                        <a:rPr lang="en-US"/>
                        <a:t>Dept_Name</a:t>
                      </a:r>
                    </a:p>
                  </a:txBody>
                  <a:tcPr anchor="ctr"/>
                </a:tc>
                <a:extLst>
                  <a:ext uri="{0D108BD9-81ED-4DB2-BD59-A6C34878D82A}">
                    <a16:rowId xmlns:a16="http://schemas.microsoft.com/office/drawing/2014/main" val="3106426115"/>
                  </a:ext>
                </a:extLst>
              </a:tr>
              <a:tr h="362689">
                <a:tc>
                  <a:txBody>
                    <a:bodyPr/>
                    <a:lstStyle/>
                    <a:p>
                      <a:pPr>
                        <a:buNone/>
                      </a:pPr>
                      <a:r>
                        <a:rPr lang="en-US"/>
                        <a:t>D1</a:t>
                      </a:r>
                    </a:p>
                  </a:txBody>
                  <a:tcPr anchor="ctr"/>
                </a:tc>
                <a:tc>
                  <a:txBody>
                    <a:bodyPr/>
                    <a:lstStyle/>
                    <a:p>
                      <a:pPr>
                        <a:buNone/>
                      </a:pPr>
                      <a:r>
                        <a:rPr lang="en-US"/>
                        <a:t>BCA</a:t>
                      </a:r>
                    </a:p>
                  </a:txBody>
                  <a:tcPr anchor="ctr"/>
                </a:tc>
                <a:extLst>
                  <a:ext uri="{0D108BD9-81ED-4DB2-BD59-A6C34878D82A}">
                    <a16:rowId xmlns:a16="http://schemas.microsoft.com/office/drawing/2014/main" val="579727903"/>
                  </a:ext>
                </a:extLst>
              </a:tr>
              <a:tr h="362689">
                <a:tc>
                  <a:txBody>
                    <a:bodyPr/>
                    <a:lstStyle/>
                    <a:p>
                      <a:pPr>
                        <a:buNone/>
                      </a:pPr>
                      <a:r>
                        <a:rPr lang="en-US"/>
                        <a:t>D2</a:t>
                      </a:r>
                    </a:p>
                  </a:txBody>
                  <a:tcPr anchor="ctr"/>
                </a:tc>
                <a:tc>
                  <a:txBody>
                    <a:bodyPr/>
                    <a:lstStyle/>
                    <a:p>
                      <a:pPr>
                        <a:buNone/>
                      </a:pPr>
                      <a:r>
                        <a:rPr lang="en-US"/>
                        <a:t>BBA</a:t>
                      </a:r>
                    </a:p>
                  </a:txBody>
                  <a:tcPr anchor="ctr"/>
                </a:tc>
                <a:extLst>
                  <a:ext uri="{0D108BD9-81ED-4DB2-BD59-A6C34878D82A}">
                    <a16:rowId xmlns:a16="http://schemas.microsoft.com/office/drawing/2014/main" val="1096090267"/>
                  </a:ext>
                </a:extLst>
              </a:tr>
              <a:tr h="362689">
                <a:tc>
                  <a:txBody>
                    <a:bodyPr/>
                    <a:lstStyle/>
                    <a:p>
                      <a:pPr>
                        <a:buNone/>
                      </a:pPr>
                      <a:r>
                        <a:rPr lang="en-US"/>
                        <a:t>D3</a:t>
                      </a:r>
                    </a:p>
                  </a:txBody>
                  <a:tcPr anchor="ctr"/>
                </a:tc>
                <a:tc>
                  <a:txBody>
                    <a:bodyPr/>
                    <a:lstStyle/>
                    <a:p>
                      <a:pPr>
                        <a:buNone/>
                      </a:pPr>
                      <a:r>
                        <a:rPr lang="en-US" dirty="0"/>
                        <a:t>Civil</a:t>
                      </a:r>
                    </a:p>
                  </a:txBody>
                  <a:tcPr anchor="ctr"/>
                </a:tc>
                <a:extLst>
                  <a:ext uri="{0D108BD9-81ED-4DB2-BD59-A6C34878D82A}">
                    <a16:rowId xmlns:a16="http://schemas.microsoft.com/office/drawing/2014/main" val="1062303624"/>
                  </a:ext>
                </a:extLst>
              </a:tr>
            </a:tbl>
          </a:graphicData>
        </a:graphic>
      </p:graphicFrame>
      <p:graphicFrame>
        <p:nvGraphicFramePr>
          <p:cNvPr id="9" name="Content Placeholder 7">
            <a:extLst>
              <a:ext uri="{FF2B5EF4-FFF2-40B4-BE49-F238E27FC236}">
                <a16:creationId xmlns:a16="http://schemas.microsoft.com/office/drawing/2014/main" id="{56DC2AE7-CD5A-3546-6387-177CC05DE09D}"/>
              </a:ext>
            </a:extLst>
          </p:cNvPr>
          <p:cNvGraphicFramePr>
            <a:graphicFrameLocks/>
          </p:cNvGraphicFramePr>
          <p:nvPr>
            <p:extLst>
              <p:ext uri="{D42A27DB-BD31-4B8C-83A1-F6EECF244321}">
                <p14:modId xmlns:p14="http://schemas.microsoft.com/office/powerpoint/2010/main" val="3053617386"/>
              </p:ext>
            </p:extLst>
          </p:nvPr>
        </p:nvGraphicFramePr>
        <p:xfrm>
          <a:off x="5139688" y="1863687"/>
          <a:ext cx="6015992" cy="2354156"/>
        </p:xfrm>
        <a:graphic>
          <a:graphicData uri="http://schemas.openxmlformats.org/drawingml/2006/table">
            <a:tbl>
              <a:tblPr firstRow="1" bandRow="1">
                <a:tableStyleId>{5C22544A-7EE6-4342-B048-85BDC9FD1C3A}</a:tableStyleId>
              </a:tblPr>
              <a:tblGrid>
                <a:gridCol w="992548">
                  <a:extLst>
                    <a:ext uri="{9D8B030D-6E8A-4147-A177-3AD203B41FA5}">
                      <a16:colId xmlns:a16="http://schemas.microsoft.com/office/drawing/2014/main" val="1816615315"/>
                    </a:ext>
                  </a:extLst>
                </a:gridCol>
                <a:gridCol w="808590">
                  <a:extLst>
                    <a:ext uri="{9D8B030D-6E8A-4147-A177-3AD203B41FA5}">
                      <a16:colId xmlns:a16="http://schemas.microsoft.com/office/drawing/2014/main" val="1623173794"/>
                    </a:ext>
                  </a:extLst>
                </a:gridCol>
                <a:gridCol w="1026228">
                  <a:extLst>
                    <a:ext uri="{9D8B030D-6E8A-4147-A177-3AD203B41FA5}">
                      <a16:colId xmlns:a16="http://schemas.microsoft.com/office/drawing/2014/main" val="129556741"/>
                    </a:ext>
                  </a:extLst>
                </a:gridCol>
                <a:gridCol w="3188626">
                  <a:extLst>
                    <a:ext uri="{9D8B030D-6E8A-4147-A177-3AD203B41FA5}">
                      <a16:colId xmlns:a16="http://schemas.microsoft.com/office/drawing/2014/main" val="2333702487"/>
                    </a:ext>
                  </a:extLst>
                </a:gridCol>
              </a:tblGrid>
              <a:tr h="428519">
                <a:tc>
                  <a:txBody>
                    <a:bodyPr/>
                    <a:lstStyle/>
                    <a:p>
                      <a:pPr>
                        <a:buNone/>
                      </a:pPr>
                      <a:r>
                        <a:rPr lang="en-US" dirty="0" err="1"/>
                        <a:t>Roll_No</a:t>
                      </a:r>
                      <a:endParaRPr lang="en-US" dirty="0"/>
                    </a:p>
                  </a:txBody>
                  <a:tcPr anchor="ctr"/>
                </a:tc>
                <a:tc>
                  <a:txBody>
                    <a:bodyPr/>
                    <a:lstStyle/>
                    <a:p>
                      <a:pPr>
                        <a:buNone/>
                      </a:pPr>
                      <a:r>
                        <a:rPr lang="en-US" dirty="0"/>
                        <a:t>Name</a:t>
                      </a:r>
                    </a:p>
                  </a:txBody>
                  <a:tcPr anchor="ctr"/>
                </a:tc>
                <a:tc>
                  <a:txBody>
                    <a:bodyPr/>
                    <a:lstStyle/>
                    <a:p>
                      <a:pPr>
                        <a:buNone/>
                      </a:pPr>
                      <a:r>
                        <a:rPr lang="en-US" dirty="0" err="1"/>
                        <a:t>Dept_ID</a:t>
                      </a:r>
                      <a:endParaRPr lang="en-US" dirty="0"/>
                    </a:p>
                  </a:txBody>
                  <a:tcPr anchor="ctr"/>
                </a:tc>
                <a:tc>
                  <a:txBody>
                    <a:bodyPr/>
                    <a:lstStyle/>
                    <a:p>
                      <a:pPr>
                        <a:buNone/>
                      </a:pPr>
                      <a:r>
                        <a:rPr lang="en-US" dirty="0"/>
                        <a:t>Status</a:t>
                      </a:r>
                    </a:p>
                  </a:txBody>
                  <a:tcPr anchor="ctr"/>
                </a:tc>
                <a:extLst>
                  <a:ext uri="{0D108BD9-81ED-4DB2-BD59-A6C34878D82A}">
                    <a16:rowId xmlns:a16="http://schemas.microsoft.com/office/drawing/2014/main" val="2540373214"/>
                  </a:ext>
                </a:extLst>
              </a:tr>
              <a:tr h="428519">
                <a:tc>
                  <a:txBody>
                    <a:bodyPr/>
                    <a:lstStyle/>
                    <a:p>
                      <a:pPr>
                        <a:buNone/>
                      </a:pPr>
                      <a:r>
                        <a:rPr lang="en-US"/>
                        <a:t>101</a:t>
                      </a:r>
                    </a:p>
                  </a:txBody>
                  <a:tcPr anchor="ctr"/>
                </a:tc>
                <a:tc>
                  <a:txBody>
                    <a:bodyPr/>
                    <a:lstStyle/>
                    <a:p>
                      <a:pPr>
                        <a:buNone/>
                      </a:pPr>
                      <a:r>
                        <a:rPr lang="en-US" dirty="0"/>
                        <a:t>Ram</a:t>
                      </a:r>
                    </a:p>
                  </a:txBody>
                  <a:tcPr anchor="ctr"/>
                </a:tc>
                <a:tc>
                  <a:txBody>
                    <a:bodyPr/>
                    <a:lstStyle/>
                    <a:p>
                      <a:pPr>
                        <a:buNone/>
                      </a:pPr>
                      <a:r>
                        <a:rPr lang="en-US" dirty="0"/>
                        <a:t>D1</a:t>
                      </a:r>
                    </a:p>
                  </a:txBody>
                  <a:tcPr anchor="ctr"/>
                </a:tc>
                <a:tc>
                  <a:txBody>
                    <a:bodyPr/>
                    <a:lstStyle/>
                    <a:p>
                      <a:pPr>
                        <a:buNone/>
                      </a:pPr>
                      <a:r>
                        <a:rPr lang="en-US" dirty="0"/>
                        <a:t>Valid: Matches BCA</a:t>
                      </a:r>
                    </a:p>
                  </a:txBody>
                  <a:tcPr anchor="ctr"/>
                </a:tc>
                <a:extLst>
                  <a:ext uri="{0D108BD9-81ED-4DB2-BD59-A6C34878D82A}">
                    <a16:rowId xmlns:a16="http://schemas.microsoft.com/office/drawing/2014/main" val="1862003066"/>
                  </a:ext>
                </a:extLst>
              </a:tr>
              <a:tr h="428519">
                <a:tc>
                  <a:txBody>
                    <a:bodyPr/>
                    <a:lstStyle/>
                    <a:p>
                      <a:pPr>
                        <a:buNone/>
                      </a:pPr>
                      <a:r>
                        <a:rPr lang="en-US" dirty="0"/>
                        <a:t>102</a:t>
                      </a:r>
                    </a:p>
                  </a:txBody>
                  <a:tcPr anchor="ctr"/>
                </a:tc>
                <a:tc>
                  <a:txBody>
                    <a:bodyPr/>
                    <a:lstStyle/>
                    <a:p>
                      <a:pPr>
                        <a:buNone/>
                      </a:pPr>
                      <a:r>
                        <a:rPr lang="en-US" dirty="0"/>
                        <a:t>Sita</a:t>
                      </a:r>
                    </a:p>
                  </a:txBody>
                  <a:tcPr anchor="ctr"/>
                </a:tc>
                <a:tc>
                  <a:txBody>
                    <a:bodyPr/>
                    <a:lstStyle/>
                    <a:p>
                      <a:pPr>
                        <a:buNone/>
                      </a:pPr>
                      <a:r>
                        <a:rPr lang="en-US" dirty="0"/>
                        <a:t>D2</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Valid: Matches BBA</a:t>
                      </a:r>
                    </a:p>
                  </a:txBody>
                  <a:tcPr anchor="ctr"/>
                </a:tc>
                <a:extLst>
                  <a:ext uri="{0D108BD9-81ED-4DB2-BD59-A6C34878D82A}">
                    <a16:rowId xmlns:a16="http://schemas.microsoft.com/office/drawing/2014/main" val="2566337083"/>
                  </a:ext>
                </a:extLst>
              </a:tr>
              <a:tr h="428519">
                <a:tc>
                  <a:txBody>
                    <a:bodyPr/>
                    <a:lstStyle/>
                    <a:p>
                      <a:pPr>
                        <a:buNone/>
                      </a:pPr>
                      <a:r>
                        <a:rPr lang="en-US" dirty="0"/>
                        <a:t>103</a:t>
                      </a:r>
                    </a:p>
                  </a:txBody>
                  <a:tcPr anchor="ctr"/>
                </a:tc>
                <a:tc>
                  <a:txBody>
                    <a:bodyPr/>
                    <a:lstStyle/>
                    <a:p>
                      <a:pPr>
                        <a:buNone/>
                      </a:pPr>
                      <a:r>
                        <a:rPr lang="en-US" dirty="0"/>
                        <a:t>Lanka</a:t>
                      </a:r>
                    </a:p>
                  </a:txBody>
                  <a:tcPr anchor="ctr"/>
                </a:tc>
                <a:tc>
                  <a:txBody>
                    <a:bodyPr/>
                    <a:lstStyle/>
                    <a:p>
                      <a:pPr>
                        <a:buNone/>
                      </a:pPr>
                      <a:r>
                        <a:rPr lang="en-US" dirty="0"/>
                        <a:t>NULL</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Valid can be null</a:t>
                      </a:r>
                    </a:p>
                  </a:txBody>
                  <a:tcPr anchor="ctr"/>
                </a:tc>
                <a:extLst>
                  <a:ext uri="{0D108BD9-81ED-4DB2-BD59-A6C34878D82A}">
                    <a16:rowId xmlns:a16="http://schemas.microsoft.com/office/drawing/2014/main" val="206453704"/>
                  </a:ext>
                </a:extLst>
              </a:tr>
              <a:tr h="428519">
                <a:tc>
                  <a:txBody>
                    <a:bodyPr/>
                    <a:lstStyle/>
                    <a:p>
                      <a:pPr>
                        <a:buNone/>
                      </a:pPr>
                      <a:r>
                        <a:rPr lang="en-US" dirty="0"/>
                        <a:t>104</a:t>
                      </a:r>
                    </a:p>
                  </a:txBody>
                  <a:tcPr anchor="ctr"/>
                </a:tc>
                <a:tc>
                  <a:txBody>
                    <a:bodyPr/>
                    <a:lstStyle/>
                    <a:p>
                      <a:pPr>
                        <a:buNone/>
                      </a:pPr>
                      <a:r>
                        <a:rPr lang="en-US" dirty="0"/>
                        <a:t>Hari</a:t>
                      </a:r>
                    </a:p>
                  </a:txBody>
                  <a:tcPr anchor="ctr"/>
                </a:tc>
                <a:tc>
                  <a:txBody>
                    <a:bodyPr/>
                    <a:lstStyle/>
                    <a:p>
                      <a:pPr>
                        <a:buNone/>
                      </a:pPr>
                      <a:r>
                        <a:rPr lang="en-US" dirty="0"/>
                        <a:t>D4</a:t>
                      </a:r>
                    </a:p>
                  </a:txBody>
                  <a:tcPr anchor="ctr"/>
                </a:tc>
                <a:tc>
                  <a:txBody>
                    <a:bodyPr/>
                    <a:lstStyle/>
                    <a:p>
                      <a:pPr>
                        <a:buNone/>
                      </a:pPr>
                      <a:r>
                        <a:rPr lang="en-US" sz="1800" b="1" u="none" strike="noStrike" kern="1200" dirty="0">
                          <a:solidFill>
                            <a:schemeClr val="dk1"/>
                          </a:solidFill>
                          <a:effectLst/>
                          <a:latin typeface="+mn-lt"/>
                          <a:ea typeface="+mn-ea"/>
                          <a:cs typeface="+mn-cs"/>
                        </a:rPr>
                        <a:t>Violated &amp; Rejected</a:t>
                      </a:r>
                      <a:r>
                        <a:rPr lang="en-US" dirty="0"/>
                        <a:t> ( Dept D4 does not exist)</a:t>
                      </a:r>
                    </a:p>
                  </a:txBody>
                  <a:tcPr anchor="ctr"/>
                </a:tc>
                <a:extLst>
                  <a:ext uri="{0D108BD9-81ED-4DB2-BD59-A6C34878D82A}">
                    <a16:rowId xmlns:a16="http://schemas.microsoft.com/office/drawing/2014/main" val="1174080282"/>
                  </a:ext>
                </a:extLst>
              </a:tr>
            </a:tbl>
          </a:graphicData>
        </a:graphic>
      </p:graphicFrame>
      <p:sp>
        <p:nvSpPr>
          <p:cNvPr id="11" name="Content Placeholder 10">
            <a:extLst>
              <a:ext uri="{FF2B5EF4-FFF2-40B4-BE49-F238E27FC236}">
                <a16:creationId xmlns:a16="http://schemas.microsoft.com/office/drawing/2014/main" id="{D178CFC4-36F9-7276-B271-86B637574F94}"/>
              </a:ext>
            </a:extLst>
          </p:cNvPr>
          <p:cNvSpPr>
            <a:spLocks noGrp="1"/>
          </p:cNvSpPr>
          <p:nvPr>
            <p:ph idx="1"/>
          </p:nvPr>
        </p:nvSpPr>
        <p:spPr>
          <a:xfrm>
            <a:off x="1097280" y="3708757"/>
            <a:ext cx="4011612" cy="2450888"/>
          </a:xfrm>
        </p:spPr>
        <p:txBody>
          <a:bodyPr/>
          <a:lstStyle/>
          <a:p>
            <a:r>
              <a:rPr lang="en-US" b="1" u="sng" dirty="0"/>
              <a:t>Creating Parent table: </a:t>
            </a:r>
            <a:br>
              <a:rPr lang="en-US" dirty="0"/>
            </a:br>
            <a:r>
              <a:rPr lang="en-US" dirty="0"/>
              <a:t>CREATE TABLE Department(</a:t>
            </a:r>
          </a:p>
          <a:p>
            <a:r>
              <a:rPr lang="en-US" dirty="0"/>
              <a:t>    </a:t>
            </a:r>
            <a:r>
              <a:rPr lang="en-US" dirty="0" err="1"/>
              <a:t>Dept_ID</a:t>
            </a:r>
            <a:r>
              <a:rPr lang="en-US" dirty="0"/>
              <a:t> VARCHAR(5) PRIMARY KEY,</a:t>
            </a:r>
          </a:p>
          <a:p>
            <a:r>
              <a:rPr lang="en-US" dirty="0"/>
              <a:t>    </a:t>
            </a:r>
            <a:r>
              <a:rPr lang="en-US" dirty="0" err="1"/>
              <a:t>Dept_Name</a:t>
            </a:r>
            <a:r>
              <a:rPr lang="en-US" dirty="0"/>
              <a:t> VARCHAR(30)</a:t>
            </a:r>
          </a:p>
          <a:p>
            <a:r>
              <a:rPr lang="en-US" dirty="0"/>
              <a:t>);</a:t>
            </a:r>
          </a:p>
        </p:txBody>
      </p:sp>
      <p:sp>
        <p:nvSpPr>
          <p:cNvPr id="14" name="Content Placeholder 10">
            <a:extLst>
              <a:ext uri="{FF2B5EF4-FFF2-40B4-BE49-F238E27FC236}">
                <a16:creationId xmlns:a16="http://schemas.microsoft.com/office/drawing/2014/main" id="{4D8EF79C-CB29-6CE8-1042-F71F4C605E18}"/>
              </a:ext>
            </a:extLst>
          </p:cNvPr>
          <p:cNvSpPr txBox="1">
            <a:spLocks/>
          </p:cNvSpPr>
          <p:nvPr/>
        </p:nvSpPr>
        <p:spPr>
          <a:xfrm>
            <a:off x="5476874" y="4344170"/>
            <a:ext cx="5341620" cy="2450888"/>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a:spcBef>
                <a:spcPts val="0"/>
              </a:spcBef>
              <a:spcAft>
                <a:spcPts val="0"/>
              </a:spcAft>
            </a:pPr>
            <a:r>
              <a:rPr lang="en-US" b="1" u="sng" dirty="0"/>
              <a:t>Creating Child table: </a:t>
            </a:r>
            <a:br>
              <a:rPr lang="en-US" dirty="0"/>
            </a:br>
            <a:r>
              <a:rPr lang="en-US" dirty="0"/>
              <a:t>CREATE TABLE Student(</a:t>
            </a:r>
          </a:p>
          <a:p>
            <a:pPr marL="0">
              <a:spcBef>
                <a:spcPts val="0"/>
              </a:spcBef>
              <a:spcAft>
                <a:spcPts val="0"/>
              </a:spcAft>
            </a:pPr>
            <a:r>
              <a:rPr lang="en-US" dirty="0"/>
              <a:t>    </a:t>
            </a:r>
            <a:r>
              <a:rPr lang="en-US" dirty="0" err="1"/>
              <a:t>Roll_No</a:t>
            </a:r>
            <a:r>
              <a:rPr lang="en-US" dirty="0"/>
              <a:t> INT PRIMARY KEY,</a:t>
            </a:r>
          </a:p>
          <a:p>
            <a:pPr marL="0">
              <a:spcBef>
                <a:spcPts val="0"/>
              </a:spcBef>
              <a:spcAft>
                <a:spcPts val="0"/>
              </a:spcAft>
            </a:pPr>
            <a:r>
              <a:rPr lang="en-US" dirty="0"/>
              <a:t>    Name VARCHAR(50),</a:t>
            </a:r>
          </a:p>
          <a:p>
            <a:pPr marL="0">
              <a:spcBef>
                <a:spcPts val="0"/>
              </a:spcBef>
              <a:spcAft>
                <a:spcPts val="0"/>
              </a:spcAft>
            </a:pPr>
            <a:r>
              <a:rPr lang="en-US" dirty="0"/>
              <a:t>    </a:t>
            </a:r>
            <a:r>
              <a:rPr lang="en-US" dirty="0" err="1"/>
              <a:t>Dept_ID</a:t>
            </a:r>
            <a:r>
              <a:rPr lang="en-US" dirty="0"/>
              <a:t> VARCHAR(5),</a:t>
            </a:r>
          </a:p>
          <a:p>
            <a:pPr marL="0">
              <a:spcBef>
                <a:spcPts val="0"/>
              </a:spcBef>
              <a:spcAft>
                <a:spcPts val="0"/>
              </a:spcAft>
            </a:pPr>
            <a:r>
              <a:rPr lang="en-US" dirty="0"/>
              <a:t>    FOREIGN KEY (</a:t>
            </a:r>
            <a:r>
              <a:rPr lang="en-US" dirty="0" err="1"/>
              <a:t>Dept_ID</a:t>
            </a:r>
            <a:r>
              <a:rPr lang="en-US" dirty="0"/>
              <a:t>)</a:t>
            </a:r>
          </a:p>
          <a:p>
            <a:pPr marL="0">
              <a:spcBef>
                <a:spcPts val="0"/>
              </a:spcBef>
              <a:spcAft>
                <a:spcPts val="0"/>
              </a:spcAft>
            </a:pPr>
            <a:r>
              <a:rPr lang="en-US" dirty="0"/>
              <a:t>    REFERENCES Department(</a:t>
            </a:r>
            <a:r>
              <a:rPr lang="en-US" dirty="0" err="1"/>
              <a:t>Dept_ID</a:t>
            </a:r>
            <a:r>
              <a:rPr lang="en-US" dirty="0"/>
              <a:t>)</a:t>
            </a:r>
          </a:p>
          <a:p>
            <a:pPr marL="0">
              <a:spcBef>
                <a:spcPts val="0"/>
              </a:spcBef>
              <a:spcAft>
                <a:spcPts val="0"/>
              </a:spcAft>
            </a:pPr>
            <a:r>
              <a:rPr lang="en-US" dirty="0"/>
              <a:t>);</a:t>
            </a:r>
          </a:p>
        </p:txBody>
      </p:sp>
    </p:spTree>
    <p:extLst>
      <p:ext uri="{BB962C8B-B14F-4D97-AF65-F5344CB8AC3E}">
        <p14:creationId xmlns:p14="http://schemas.microsoft.com/office/powerpoint/2010/main" val="20337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2E5FE-7304-27D9-D7D4-15E8A373F307}"/>
              </a:ext>
            </a:extLst>
          </p:cNvPr>
          <p:cNvSpPr>
            <a:spLocks noGrp="1"/>
          </p:cNvSpPr>
          <p:nvPr>
            <p:ph type="title"/>
          </p:nvPr>
        </p:nvSpPr>
        <p:spPr/>
        <p:txBody>
          <a:bodyPr/>
          <a:lstStyle/>
          <a:p>
            <a:r>
              <a:rPr lang="en-US" dirty="0"/>
              <a:t>Violations and Handling Violations</a:t>
            </a:r>
          </a:p>
        </p:txBody>
      </p:sp>
      <p:sp>
        <p:nvSpPr>
          <p:cNvPr id="3" name="Content Placeholder 2">
            <a:extLst>
              <a:ext uri="{FF2B5EF4-FFF2-40B4-BE49-F238E27FC236}">
                <a16:creationId xmlns:a16="http://schemas.microsoft.com/office/drawing/2014/main" id="{E7CC52CE-C88E-326B-063C-555F386FDF81}"/>
              </a:ext>
            </a:extLst>
          </p:cNvPr>
          <p:cNvSpPr>
            <a:spLocks noGrp="1"/>
          </p:cNvSpPr>
          <p:nvPr>
            <p:ph idx="1"/>
          </p:nvPr>
        </p:nvSpPr>
        <p:spPr/>
        <p:txBody>
          <a:bodyPr>
            <a:normAutofit/>
          </a:bodyPr>
          <a:lstStyle/>
          <a:p>
            <a:r>
              <a:rPr lang="en-US" dirty="0"/>
              <a:t>DBMS automatically monitors data modifications to intercept actions that break this constraint. So, the following </a:t>
            </a:r>
            <a:r>
              <a:rPr lang="en-US" b="1" dirty="0"/>
              <a:t>Operations</a:t>
            </a:r>
            <a:r>
              <a:rPr lang="en-US" dirty="0"/>
              <a:t> that can violate Referential Integrity: </a:t>
            </a:r>
          </a:p>
          <a:p>
            <a:pPr marL="544068" lvl="1" indent="-342900">
              <a:buFont typeface="+mj-lt"/>
              <a:buAutoNum type="arabicPeriod"/>
            </a:pPr>
            <a:r>
              <a:rPr lang="en-US" dirty="0"/>
              <a:t>Insert (on Child Table)</a:t>
            </a:r>
          </a:p>
          <a:p>
            <a:pPr marL="544068" lvl="1" indent="-342900">
              <a:buFont typeface="+mj-lt"/>
              <a:buAutoNum type="arabicPeriod"/>
            </a:pPr>
            <a:r>
              <a:rPr lang="en-US" dirty="0"/>
              <a:t>Update (on Child Table)</a:t>
            </a:r>
          </a:p>
          <a:p>
            <a:pPr marL="544068" lvl="1" indent="-342900">
              <a:buFont typeface="+mj-lt"/>
              <a:buAutoNum type="arabicPeriod"/>
            </a:pPr>
            <a:r>
              <a:rPr lang="en-US" dirty="0"/>
              <a:t>Delete (on Parent Table)</a:t>
            </a:r>
          </a:p>
          <a:p>
            <a:pPr marL="544068" lvl="1" indent="-342900">
              <a:buFont typeface="+mj-lt"/>
              <a:buAutoNum type="arabicPeriod"/>
            </a:pPr>
            <a:r>
              <a:rPr lang="en-US" dirty="0"/>
              <a:t>Update (on Parent Table</a:t>
            </a:r>
          </a:p>
          <a:p>
            <a:r>
              <a:rPr lang="en-US" b="1" u="sng" dirty="0"/>
              <a:t>We can Handle that by: </a:t>
            </a:r>
          </a:p>
          <a:p>
            <a:pPr marL="544068" lvl="1" indent="-342900">
              <a:buFont typeface="+mj-lt"/>
              <a:buAutoNum type="arabicPeriod"/>
            </a:pPr>
            <a:r>
              <a:rPr lang="en-US" dirty="0"/>
              <a:t>RESTRICT / NO ACTION (Default  : ON DELETE RESTRICT</a:t>
            </a:r>
          </a:p>
          <a:p>
            <a:pPr marL="544068" lvl="1" indent="-342900">
              <a:buFont typeface="+mj-lt"/>
              <a:buAutoNum type="arabicPeriod"/>
            </a:pPr>
            <a:r>
              <a:rPr lang="en-US" dirty="0"/>
              <a:t>CASCADE  : ON DELETE CASCADE  Or ON UPDATE CASCADE</a:t>
            </a:r>
          </a:p>
          <a:p>
            <a:pPr marL="544068" lvl="1" indent="-342900">
              <a:buFont typeface="+mj-lt"/>
              <a:buAutoNum type="arabicPeriod"/>
            </a:pPr>
            <a:r>
              <a:rPr lang="en-US" dirty="0"/>
              <a:t>SET NULL : ON DELETE SET NULL</a:t>
            </a:r>
          </a:p>
          <a:p>
            <a:pPr marL="544068" lvl="1" indent="-342900">
              <a:buFont typeface="+mj-lt"/>
              <a:buAutoNum type="arabicPeriod"/>
            </a:pPr>
            <a:r>
              <a:rPr lang="en-US" dirty="0"/>
              <a:t>SET DEFAULT : ON DELETE SET DEFAULT</a:t>
            </a:r>
          </a:p>
        </p:txBody>
      </p:sp>
      <p:sp>
        <p:nvSpPr>
          <p:cNvPr id="5" name="TextBox 4">
            <a:extLst>
              <a:ext uri="{FF2B5EF4-FFF2-40B4-BE49-F238E27FC236}">
                <a16:creationId xmlns:a16="http://schemas.microsoft.com/office/drawing/2014/main" id="{619A98BE-206B-60FE-D033-31738BD9F1E4}"/>
              </a:ext>
            </a:extLst>
          </p:cNvPr>
          <p:cNvSpPr txBox="1"/>
          <p:nvPr/>
        </p:nvSpPr>
        <p:spPr>
          <a:xfrm>
            <a:off x="7000875" y="3488082"/>
            <a:ext cx="2893402" cy="369332"/>
          </a:xfrm>
          <a:prstGeom prst="rect">
            <a:avLst/>
          </a:prstGeom>
          <a:noFill/>
        </p:spPr>
        <p:txBody>
          <a:bodyPr wrap="square">
            <a:spAutoFit/>
          </a:bodyPr>
          <a:lstStyle/>
          <a:p>
            <a:r>
              <a:rPr lang="en-US" dirty="0"/>
              <a:t>What are Orphan Records?</a:t>
            </a:r>
          </a:p>
        </p:txBody>
      </p:sp>
    </p:spTree>
    <p:extLst>
      <p:ext uri="{BB962C8B-B14F-4D97-AF65-F5344CB8AC3E}">
        <p14:creationId xmlns:p14="http://schemas.microsoft.com/office/powerpoint/2010/main" val="8246486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664FC1-8505-3953-324D-5EAD3DCFA3D1}"/>
              </a:ext>
            </a:extLst>
          </p:cNvPr>
          <p:cNvSpPr>
            <a:spLocks noGrp="1"/>
          </p:cNvSpPr>
          <p:nvPr>
            <p:ph type="title"/>
          </p:nvPr>
        </p:nvSpPr>
        <p:spPr/>
        <p:txBody>
          <a:bodyPr/>
          <a:lstStyle/>
          <a:p>
            <a:r>
              <a:rPr lang="en-US" dirty="0"/>
              <a:t>Advantages</a:t>
            </a:r>
          </a:p>
        </p:txBody>
      </p:sp>
      <p:sp>
        <p:nvSpPr>
          <p:cNvPr id="3" name="Content Placeholder 2">
            <a:extLst>
              <a:ext uri="{FF2B5EF4-FFF2-40B4-BE49-F238E27FC236}">
                <a16:creationId xmlns:a16="http://schemas.microsoft.com/office/drawing/2014/main" id="{4F44CE32-DB65-7896-1BFB-59BC1FD41F29}"/>
              </a:ext>
            </a:extLst>
          </p:cNvPr>
          <p:cNvSpPr>
            <a:spLocks noGrp="1"/>
          </p:cNvSpPr>
          <p:nvPr>
            <p:ph idx="1"/>
          </p:nvPr>
        </p:nvSpPr>
        <p:spPr/>
        <p:txBody>
          <a:bodyPr>
            <a:normAutofit/>
          </a:bodyPr>
          <a:lstStyle/>
          <a:p>
            <a:pPr marL="457200" indent="-457200">
              <a:buFont typeface="+mj-lt"/>
              <a:buAutoNum type="arabicPeriod"/>
            </a:pPr>
            <a:r>
              <a:rPr lang="en-US" b="1" dirty="0"/>
              <a:t>Maintains Consistency</a:t>
            </a:r>
          </a:p>
          <a:p>
            <a:pPr marL="292608" lvl="1" indent="0">
              <a:buNone/>
            </a:pPr>
            <a:r>
              <a:rPr lang="en-US" dirty="0"/>
              <a:t>Related tables remain synchronized.</a:t>
            </a:r>
          </a:p>
          <a:p>
            <a:pPr marL="457200" indent="-457200">
              <a:buFont typeface="+mj-lt"/>
              <a:buAutoNum type="arabicPeriod"/>
            </a:pPr>
            <a:r>
              <a:rPr lang="en-US" b="1" dirty="0"/>
              <a:t>Prevents Invalid References</a:t>
            </a:r>
          </a:p>
          <a:p>
            <a:pPr marL="292608" lvl="1" indent="0">
              <a:buNone/>
            </a:pPr>
            <a:r>
              <a:rPr lang="en-US" dirty="0"/>
              <a:t>Foreign keys must point to existing records.</a:t>
            </a:r>
          </a:p>
          <a:p>
            <a:pPr marL="457200" indent="-457200">
              <a:buFont typeface="+mj-lt"/>
              <a:buAutoNum type="arabicPeriod"/>
            </a:pPr>
            <a:r>
              <a:rPr lang="en-US" b="1" dirty="0"/>
              <a:t>Eliminates Orphan Records</a:t>
            </a:r>
          </a:p>
          <a:p>
            <a:pPr marL="292608" lvl="1" indent="0">
              <a:buNone/>
            </a:pPr>
            <a:r>
              <a:rPr lang="en-US" dirty="0"/>
              <a:t>Every child record has a valid parent.</a:t>
            </a:r>
          </a:p>
          <a:p>
            <a:pPr marL="457200" indent="-457200">
              <a:buFont typeface="+mj-lt"/>
              <a:buAutoNum type="arabicPeriod"/>
            </a:pPr>
            <a:r>
              <a:rPr lang="en-US" b="1" dirty="0"/>
              <a:t>Improves Data Accuracy</a:t>
            </a:r>
          </a:p>
          <a:p>
            <a:pPr marL="292608" lvl="1" indent="0">
              <a:buNone/>
            </a:pPr>
            <a:r>
              <a:rPr lang="en-US" dirty="0"/>
              <a:t>Relationships remain meaningful.</a:t>
            </a:r>
          </a:p>
          <a:p>
            <a:pPr marL="457200" indent="-457200">
              <a:buFont typeface="+mj-lt"/>
              <a:buAutoNum type="arabicPeriod"/>
            </a:pPr>
            <a:r>
              <a:rPr lang="en-US" b="1" dirty="0"/>
              <a:t>Supports Reliable Queries</a:t>
            </a:r>
          </a:p>
          <a:p>
            <a:pPr marL="292608" lvl="1" indent="0">
              <a:buNone/>
            </a:pPr>
            <a:r>
              <a:rPr lang="en-US" dirty="0"/>
              <a:t>Joins produce correct results.</a:t>
            </a:r>
          </a:p>
          <a:p>
            <a:pPr marL="457200" indent="-457200">
              <a:buFont typeface="+mj-lt"/>
              <a:buAutoNum type="arabicPeriod"/>
            </a:pPr>
            <a:endParaRPr lang="en-US" dirty="0"/>
          </a:p>
        </p:txBody>
      </p:sp>
    </p:spTree>
    <p:extLst>
      <p:ext uri="{BB962C8B-B14F-4D97-AF65-F5344CB8AC3E}">
        <p14:creationId xmlns:p14="http://schemas.microsoft.com/office/powerpoint/2010/main" val="38838903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C3D72A-7B5A-F45C-E6F9-B29BB450F787}"/>
              </a:ext>
            </a:extLst>
          </p:cNvPr>
          <p:cNvSpPr>
            <a:spLocks noGrp="1"/>
          </p:cNvSpPr>
          <p:nvPr>
            <p:ph type="title"/>
          </p:nvPr>
        </p:nvSpPr>
        <p:spPr/>
        <p:txBody>
          <a:bodyPr/>
          <a:lstStyle/>
          <a:p>
            <a:r>
              <a:rPr lang="en-US" dirty="0"/>
              <a:t>Assertions</a:t>
            </a:r>
          </a:p>
        </p:txBody>
      </p:sp>
      <p:sp>
        <p:nvSpPr>
          <p:cNvPr id="3" name="Content Placeholder 2">
            <a:extLst>
              <a:ext uri="{FF2B5EF4-FFF2-40B4-BE49-F238E27FC236}">
                <a16:creationId xmlns:a16="http://schemas.microsoft.com/office/drawing/2014/main" id="{4A0EF0A5-18F0-252B-86D0-86DFBBA2D6F7}"/>
              </a:ext>
            </a:extLst>
          </p:cNvPr>
          <p:cNvSpPr>
            <a:spLocks noGrp="1"/>
          </p:cNvSpPr>
          <p:nvPr>
            <p:ph idx="1"/>
          </p:nvPr>
        </p:nvSpPr>
        <p:spPr/>
        <p:txBody>
          <a:bodyPr/>
          <a:lstStyle/>
          <a:p>
            <a:r>
              <a:rPr lang="en-US" dirty="0"/>
              <a:t>Assertions are conditions that must always remain true for the entire database. </a:t>
            </a:r>
          </a:p>
          <a:p>
            <a:r>
              <a:rPr lang="en-US" dirty="0"/>
              <a:t>In other words, An Assertion is a condition that the database must always satisfy. If any operation (INSERT, UPDATE, DELETE) violates the condition, the operation is rejected.</a:t>
            </a:r>
          </a:p>
          <a:p>
            <a:r>
              <a:rPr lang="en-US" b="1" dirty="0"/>
              <a:t>Characteristics</a:t>
            </a:r>
          </a:p>
          <a:p>
            <a:r>
              <a:rPr lang="en-US" dirty="0"/>
              <a:t>Apply to one or more tables </a:t>
            </a:r>
          </a:p>
          <a:p>
            <a:r>
              <a:rPr lang="en-US" dirty="0"/>
              <a:t>Enforce business rules </a:t>
            </a:r>
          </a:p>
          <a:p>
            <a:r>
              <a:rPr lang="en-US" dirty="0"/>
              <a:t>Checked whenever data changes</a:t>
            </a:r>
          </a:p>
          <a:p>
            <a:endParaRPr lang="en-US" dirty="0"/>
          </a:p>
        </p:txBody>
      </p:sp>
    </p:spTree>
    <p:extLst>
      <p:ext uri="{BB962C8B-B14F-4D97-AF65-F5344CB8AC3E}">
        <p14:creationId xmlns:p14="http://schemas.microsoft.com/office/powerpoint/2010/main" val="38635082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2B5283-5378-7241-B84C-938C8888EB26}"/>
              </a:ext>
            </a:extLst>
          </p:cNvPr>
          <p:cNvSpPr>
            <a:spLocks noGrp="1"/>
          </p:cNvSpPr>
          <p:nvPr>
            <p:ph type="title"/>
          </p:nvPr>
        </p:nvSpPr>
        <p:spPr/>
        <p:txBody>
          <a:bodyPr/>
          <a:lstStyle/>
          <a:p>
            <a:r>
              <a:rPr lang="en-US" dirty="0"/>
              <a:t>Why do we need Assertion? </a:t>
            </a:r>
          </a:p>
        </p:txBody>
      </p:sp>
      <p:sp>
        <p:nvSpPr>
          <p:cNvPr id="3" name="Content Placeholder 2">
            <a:extLst>
              <a:ext uri="{FF2B5EF4-FFF2-40B4-BE49-F238E27FC236}">
                <a16:creationId xmlns:a16="http://schemas.microsoft.com/office/drawing/2014/main" id="{92DC469D-3D52-E047-7EF1-67C45E2AEEC9}"/>
              </a:ext>
            </a:extLst>
          </p:cNvPr>
          <p:cNvSpPr>
            <a:spLocks noGrp="1"/>
          </p:cNvSpPr>
          <p:nvPr>
            <p:ph idx="1"/>
          </p:nvPr>
        </p:nvSpPr>
        <p:spPr/>
        <p:txBody>
          <a:bodyPr>
            <a:normAutofit lnSpcReduction="10000"/>
          </a:bodyPr>
          <a:lstStyle/>
          <a:p>
            <a:r>
              <a:rPr lang="en-US" dirty="0"/>
              <a:t>Many real-world business rules cannot be enforced using simple constraints.</a:t>
            </a:r>
          </a:p>
          <a:p>
            <a:r>
              <a:rPr lang="en-US" b="1" dirty="0"/>
              <a:t>Example</a:t>
            </a:r>
          </a:p>
          <a:p>
            <a:r>
              <a:rPr lang="en-US" dirty="0"/>
              <a:t>In a university:</a:t>
            </a:r>
          </a:p>
          <a:p>
            <a:pPr lvl="1"/>
            <a:r>
              <a:rPr lang="en-US" dirty="0"/>
              <a:t>A student must be at least 18 years old. </a:t>
            </a:r>
          </a:p>
          <a:p>
            <a:pPr lvl="1"/>
            <a:r>
              <a:rPr lang="en-US" dirty="0"/>
              <a:t>A department cannot have more than 100 students. </a:t>
            </a:r>
          </a:p>
          <a:p>
            <a:pPr lvl="1"/>
            <a:r>
              <a:rPr lang="en-US" dirty="0"/>
              <a:t>Total allocated project budget should not exceed the available budget. </a:t>
            </a:r>
          </a:p>
          <a:p>
            <a:r>
              <a:rPr lang="en-US" dirty="0"/>
              <a:t>These rules may involve multiple rows or multiple tables.</a:t>
            </a:r>
          </a:p>
          <a:p>
            <a:r>
              <a:rPr lang="en-US" dirty="0"/>
              <a:t>Whenever data is: Inserted, Updated , Deleted , the DBMS checks the assertion condition.</a:t>
            </a:r>
          </a:p>
          <a:p>
            <a:r>
              <a:rPr lang="en-US" b="1" dirty="0"/>
              <a:t>If Condition is TRUE : </a:t>
            </a:r>
            <a:r>
              <a:rPr lang="en-US" dirty="0"/>
              <a:t>Operation succeeds</a:t>
            </a:r>
          </a:p>
          <a:p>
            <a:r>
              <a:rPr lang="en-US" b="1" dirty="0"/>
              <a:t>If Condition is FALSE : </a:t>
            </a:r>
            <a:r>
              <a:rPr lang="en-US" dirty="0"/>
              <a:t>Operation is rejected</a:t>
            </a:r>
          </a:p>
        </p:txBody>
      </p:sp>
    </p:spTree>
    <p:extLst>
      <p:ext uri="{BB962C8B-B14F-4D97-AF65-F5344CB8AC3E}">
        <p14:creationId xmlns:p14="http://schemas.microsoft.com/office/powerpoint/2010/main" val="17304273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03FD0-5F03-22B6-0EFB-AB3B9BED4C94}"/>
              </a:ext>
            </a:extLst>
          </p:cNvPr>
          <p:cNvSpPr>
            <a:spLocks noGrp="1"/>
          </p:cNvSpPr>
          <p:nvPr>
            <p:ph type="title"/>
          </p:nvPr>
        </p:nvSpPr>
        <p:spPr>
          <a:xfrm>
            <a:off x="1097280" y="286603"/>
            <a:ext cx="10058400" cy="810677"/>
          </a:xfrm>
        </p:spPr>
        <p:txBody>
          <a:bodyPr/>
          <a:lstStyle/>
          <a:p>
            <a:r>
              <a:rPr lang="en-US" dirty="0"/>
              <a:t>Example:</a:t>
            </a:r>
          </a:p>
        </p:txBody>
      </p:sp>
      <p:sp>
        <p:nvSpPr>
          <p:cNvPr id="4" name="Content Placeholder 2">
            <a:extLst>
              <a:ext uri="{FF2B5EF4-FFF2-40B4-BE49-F238E27FC236}">
                <a16:creationId xmlns:a16="http://schemas.microsoft.com/office/drawing/2014/main" id="{7CD973C4-2723-65F5-F7DF-E732D5F56E7C}"/>
              </a:ext>
            </a:extLst>
          </p:cNvPr>
          <p:cNvSpPr txBox="1">
            <a:spLocks/>
          </p:cNvSpPr>
          <p:nvPr/>
        </p:nvSpPr>
        <p:spPr>
          <a:xfrm>
            <a:off x="1066800" y="1097280"/>
            <a:ext cx="10058400" cy="4892040"/>
          </a:xfrm>
          <a:prstGeom prst="rect">
            <a:avLst/>
          </a:prstGeom>
        </p:spPr>
        <p:txBody>
          <a:bodyPr vert="horz" lIns="0" tIns="45720" rIns="0" bIns="45720" rtlCol="0">
            <a:normAutofit lnSpcReduction="1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dirty="0">
                <a:solidFill>
                  <a:srgbClr val="FF0000"/>
                </a:solidFill>
              </a:rPr>
              <a:t>CREATE ASSERTION</a:t>
            </a:r>
            <a:r>
              <a:rPr lang="en-US" dirty="0"/>
              <a:t> </a:t>
            </a:r>
            <a:r>
              <a:rPr lang="en-US" dirty="0" err="1"/>
              <a:t>assertion_name</a:t>
            </a:r>
            <a:r>
              <a:rPr lang="en-US" dirty="0"/>
              <a:t>              // Creates new assertion with name </a:t>
            </a:r>
            <a:r>
              <a:rPr lang="en-US" dirty="0" err="1"/>
              <a:t>Assertion_name</a:t>
            </a:r>
            <a:endParaRPr lang="en-US" dirty="0"/>
          </a:p>
          <a:p>
            <a:r>
              <a:rPr lang="en-US" dirty="0">
                <a:solidFill>
                  <a:srgbClr val="FF0000"/>
                </a:solidFill>
              </a:rPr>
              <a:t>CHECK </a:t>
            </a:r>
            <a:r>
              <a:rPr lang="en-US" dirty="0"/>
              <a:t>(</a:t>
            </a:r>
            <a:r>
              <a:rPr lang="en-US" dirty="0">
                <a:solidFill>
                  <a:srgbClr val="FF0000"/>
                </a:solidFill>
              </a:rPr>
              <a:t>condition</a:t>
            </a:r>
            <a:r>
              <a:rPr lang="en-US" dirty="0"/>
              <a:t>);			//check for condition = rule that must always be true</a:t>
            </a:r>
          </a:p>
          <a:p>
            <a:pPr marL="201168" lvl="1" indent="0">
              <a:buNone/>
            </a:pPr>
            <a:endParaRPr lang="en-US" dirty="0"/>
          </a:p>
          <a:p>
            <a:pPr marL="201168" lvl="1" indent="0">
              <a:buNone/>
            </a:pPr>
            <a:endParaRPr lang="en-US" dirty="0"/>
          </a:p>
          <a:p>
            <a:pPr marL="201168" lvl="1" indent="0">
              <a:buNone/>
            </a:pPr>
            <a:endParaRPr lang="en-US" dirty="0"/>
          </a:p>
          <a:p>
            <a:pPr marL="201168" lvl="1" indent="0">
              <a:buNone/>
            </a:pPr>
            <a:endParaRPr lang="en-US" dirty="0"/>
          </a:p>
          <a:p>
            <a:pPr marL="201168" lvl="1" indent="0">
              <a:buNone/>
            </a:pPr>
            <a:endParaRPr lang="en-US" dirty="0"/>
          </a:p>
          <a:p>
            <a:pPr marL="201168" lvl="1" indent="0">
              <a:buNone/>
            </a:pPr>
            <a:r>
              <a:rPr lang="en-US" i="1" dirty="0"/>
              <a:t>CREATE ASSERTION </a:t>
            </a:r>
            <a:r>
              <a:rPr lang="en-US" i="1" dirty="0" err="1"/>
              <a:t>Student_Age_Check</a:t>
            </a:r>
            <a:endParaRPr lang="en-US" i="1" dirty="0"/>
          </a:p>
          <a:p>
            <a:pPr marL="201168" lvl="1" indent="0">
              <a:buNone/>
            </a:pPr>
            <a:r>
              <a:rPr lang="en-US" i="1" dirty="0"/>
              <a:t>CHECK (</a:t>
            </a:r>
          </a:p>
          <a:p>
            <a:pPr marL="201168" lvl="1" indent="0">
              <a:buNone/>
            </a:pPr>
            <a:r>
              <a:rPr lang="en-US" i="1" dirty="0"/>
              <a:t>NOT EXISTS(</a:t>
            </a:r>
          </a:p>
          <a:p>
            <a:pPr marL="201168" lvl="1" indent="0">
              <a:buNone/>
            </a:pPr>
            <a:r>
              <a:rPr lang="en-US" i="1" dirty="0"/>
              <a:t>SELECT *</a:t>
            </a:r>
          </a:p>
          <a:p>
            <a:pPr marL="201168" lvl="1" indent="0">
              <a:buNone/>
            </a:pPr>
            <a:r>
              <a:rPr lang="en-US" i="1" dirty="0"/>
              <a:t>FROM Student</a:t>
            </a:r>
          </a:p>
          <a:p>
            <a:pPr marL="201168" lvl="1" indent="0">
              <a:buNone/>
            </a:pPr>
            <a:r>
              <a:rPr lang="en-US" i="1" dirty="0"/>
              <a:t>WHERE Age &lt; 18</a:t>
            </a:r>
          </a:p>
          <a:p>
            <a:pPr marL="201168" lvl="1" indent="0">
              <a:buNone/>
            </a:pPr>
            <a:r>
              <a:rPr lang="en-US" i="1" dirty="0"/>
              <a:t>)</a:t>
            </a:r>
          </a:p>
          <a:p>
            <a:pPr marL="201168" lvl="1" indent="0">
              <a:buNone/>
            </a:pPr>
            <a:r>
              <a:rPr lang="en-US" i="1" dirty="0"/>
              <a:t>);</a:t>
            </a:r>
          </a:p>
        </p:txBody>
      </p:sp>
      <p:graphicFrame>
        <p:nvGraphicFramePr>
          <p:cNvPr id="7" name="Content Placeholder 6">
            <a:extLst>
              <a:ext uri="{FF2B5EF4-FFF2-40B4-BE49-F238E27FC236}">
                <a16:creationId xmlns:a16="http://schemas.microsoft.com/office/drawing/2014/main" id="{835D36B8-8BF3-C0E9-826E-E0D93FE12192}"/>
              </a:ext>
            </a:extLst>
          </p:cNvPr>
          <p:cNvGraphicFramePr>
            <a:graphicFrameLocks noGrp="1"/>
          </p:cNvGraphicFramePr>
          <p:nvPr>
            <p:ph idx="1"/>
            <p:extLst>
              <p:ext uri="{D42A27DB-BD31-4B8C-83A1-F6EECF244321}">
                <p14:modId xmlns:p14="http://schemas.microsoft.com/office/powerpoint/2010/main" val="2608961631"/>
              </p:ext>
            </p:extLst>
          </p:nvPr>
        </p:nvGraphicFramePr>
        <p:xfrm>
          <a:off x="1097280" y="2049780"/>
          <a:ext cx="3986822" cy="1112520"/>
        </p:xfrm>
        <a:graphic>
          <a:graphicData uri="http://schemas.openxmlformats.org/drawingml/2006/table">
            <a:tbl>
              <a:tblPr firstRow="1" bandRow="1">
                <a:tableStyleId>{5C22544A-7EE6-4342-B048-85BDC9FD1C3A}</a:tableStyleId>
              </a:tblPr>
              <a:tblGrid>
                <a:gridCol w="1303337">
                  <a:extLst>
                    <a:ext uri="{9D8B030D-6E8A-4147-A177-3AD203B41FA5}">
                      <a16:colId xmlns:a16="http://schemas.microsoft.com/office/drawing/2014/main" val="2534450761"/>
                    </a:ext>
                  </a:extLst>
                </a:gridCol>
                <a:gridCol w="1211580">
                  <a:extLst>
                    <a:ext uri="{9D8B030D-6E8A-4147-A177-3AD203B41FA5}">
                      <a16:colId xmlns:a16="http://schemas.microsoft.com/office/drawing/2014/main" val="1330047570"/>
                    </a:ext>
                  </a:extLst>
                </a:gridCol>
                <a:gridCol w="1471905">
                  <a:extLst>
                    <a:ext uri="{9D8B030D-6E8A-4147-A177-3AD203B41FA5}">
                      <a16:colId xmlns:a16="http://schemas.microsoft.com/office/drawing/2014/main" val="2875530485"/>
                    </a:ext>
                  </a:extLst>
                </a:gridCol>
              </a:tblGrid>
              <a:tr h="370840">
                <a:tc>
                  <a:txBody>
                    <a:bodyPr/>
                    <a:lstStyle/>
                    <a:p>
                      <a:pPr>
                        <a:buNone/>
                      </a:pPr>
                      <a:r>
                        <a:rPr lang="en-US" dirty="0" err="1"/>
                        <a:t>Roll_No</a:t>
                      </a:r>
                      <a:endParaRPr lang="en-US" dirty="0"/>
                    </a:p>
                  </a:txBody>
                  <a:tcPr anchor="ctr"/>
                </a:tc>
                <a:tc>
                  <a:txBody>
                    <a:bodyPr/>
                    <a:lstStyle/>
                    <a:p>
                      <a:pPr>
                        <a:buNone/>
                      </a:pPr>
                      <a:r>
                        <a:rPr lang="en-US"/>
                        <a:t>Name</a:t>
                      </a:r>
                    </a:p>
                  </a:txBody>
                  <a:tcPr anchor="ctr"/>
                </a:tc>
                <a:tc>
                  <a:txBody>
                    <a:bodyPr/>
                    <a:lstStyle/>
                    <a:p>
                      <a:pPr>
                        <a:buNone/>
                      </a:pPr>
                      <a:r>
                        <a:rPr lang="en-US"/>
                        <a:t>Age</a:t>
                      </a:r>
                    </a:p>
                  </a:txBody>
                  <a:tcPr anchor="ctr"/>
                </a:tc>
                <a:extLst>
                  <a:ext uri="{0D108BD9-81ED-4DB2-BD59-A6C34878D82A}">
                    <a16:rowId xmlns:a16="http://schemas.microsoft.com/office/drawing/2014/main" val="1011276032"/>
                  </a:ext>
                </a:extLst>
              </a:tr>
              <a:tr h="370840">
                <a:tc>
                  <a:txBody>
                    <a:bodyPr/>
                    <a:lstStyle/>
                    <a:p>
                      <a:pPr>
                        <a:buNone/>
                      </a:pPr>
                      <a:r>
                        <a:rPr lang="en-US"/>
                        <a:t>101</a:t>
                      </a:r>
                    </a:p>
                  </a:txBody>
                  <a:tcPr anchor="ctr"/>
                </a:tc>
                <a:tc>
                  <a:txBody>
                    <a:bodyPr/>
                    <a:lstStyle/>
                    <a:p>
                      <a:pPr>
                        <a:buNone/>
                      </a:pPr>
                      <a:r>
                        <a:rPr lang="en-US" dirty="0"/>
                        <a:t>Ram</a:t>
                      </a:r>
                    </a:p>
                  </a:txBody>
                  <a:tcPr anchor="ctr"/>
                </a:tc>
                <a:tc>
                  <a:txBody>
                    <a:bodyPr/>
                    <a:lstStyle/>
                    <a:p>
                      <a:pPr>
                        <a:buNone/>
                      </a:pPr>
                      <a:r>
                        <a:rPr lang="en-US" dirty="0"/>
                        <a:t>20</a:t>
                      </a:r>
                    </a:p>
                  </a:txBody>
                  <a:tcPr anchor="ctr"/>
                </a:tc>
                <a:extLst>
                  <a:ext uri="{0D108BD9-81ED-4DB2-BD59-A6C34878D82A}">
                    <a16:rowId xmlns:a16="http://schemas.microsoft.com/office/drawing/2014/main" val="3720353122"/>
                  </a:ext>
                </a:extLst>
              </a:tr>
              <a:tr h="370840">
                <a:tc>
                  <a:txBody>
                    <a:bodyPr/>
                    <a:lstStyle/>
                    <a:p>
                      <a:pPr>
                        <a:buNone/>
                      </a:pPr>
                      <a:r>
                        <a:rPr lang="en-US"/>
                        <a:t>102</a:t>
                      </a:r>
                    </a:p>
                  </a:txBody>
                  <a:tcPr anchor="ctr"/>
                </a:tc>
                <a:tc>
                  <a:txBody>
                    <a:bodyPr/>
                    <a:lstStyle/>
                    <a:p>
                      <a:pPr>
                        <a:buNone/>
                      </a:pPr>
                      <a:r>
                        <a:rPr lang="en-US"/>
                        <a:t>Sita</a:t>
                      </a:r>
                    </a:p>
                  </a:txBody>
                  <a:tcPr anchor="ctr"/>
                </a:tc>
                <a:tc>
                  <a:txBody>
                    <a:bodyPr/>
                    <a:lstStyle/>
                    <a:p>
                      <a:pPr>
                        <a:buNone/>
                      </a:pPr>
                      <a:r>
                        <a:rPr lang="en-US" dirty="0"/>
                        <a:t>22</a:t>
                      </a:r>
                    </a:p>
                  </a:txBody>
                  <a:tcPr anchor="ctr"/>
                </a:tc>
                <a:extLst>
                  <a:ext uri="{0D108BD9-81ED-4DB2-BD59-A6C34878D82A}">
                    <a16:rowId xmlns:a16="http://schemas.microsoft.com/office/drawing/2014/main" val="71357538"/>
                  </a:ext>
                </a:extLst>
              </a:tr>
            </a:tbl>
          </a:graphicData>
        </a:graphic>
      </p:graphicFrame>
      <p:sp>
        <p:nvSpPr>
          <p:cNvPr id="9" name="TextBox 8">
            <a:extLst>
              <a:ext uri="{FF2B5EF4-FFF2-40B4-BE49-F238E27FC236}">
                <a16:creationId xmlns:a16="http://schemas.microsoft.com/office/drawing/2014/main" id="{D8620537-4B33-EE59-97C4-270386A62D4F}"/>
              </a:ext>
            </a:extLst>
          </p:cNvPr>
          <p:cNvSpPr txBox="1"/>
          <p:nvPr/>
        </p:nvSpPr>
        <p:spPr>
          <a:xfrm>
            <a:off x="5852160" y="2342971"/>
            <a:ext cx="6092190" cy="1200329"/>
          </a:xfrm>
          <a:prstGeom prst="rect">
            <a:avLst/>
          </a:prstGeom>
          <a:noFill/>
        </p:spPr>
        <p:txBody>
          <a:bodyPr wrap="square">
            <a:spAutoFit/>
          </a:bodyPr>
          <a:lstStyle/>
          <a:p>
            <a:r>
              <a:rPr lang="en-US" b="1" dirty="0"/>
              <a:t>- What happens when you search?</a:t>
            </a:r>
          </a:p>
          <a:p>
            <a:r>
              <a:rPr lang="en-US" i="1" dirty="0">
                <a:solidFill>
                  <a:schemeClr val="tx1">
                    <a:lumMod val="75000"/>
                    <a:lumOff val="25000"/>
                  </a:schemeClr>
                </a:solidFill>
              </a:rPr>
              <a:t>SELECT *</a:t>
            </a:r>
          </a:p>
          <a:p>
            <a:r>
              <a:rPr lang="en-US" i="1" dirty="0">
                <a:solidFill>
                  <a:schemeClr val="tx1">
                    <a:lumMod val="75000"/>
                    <a:lumOff val="25000"/>
                  </a:schemeClr>
                </a:solidFill>
              </a:rPr>
              <a:t>FROM Student</a:t>
            </a:r>
          </a:p>
          <a:p>
            <a:r>
              <a:rPr lang="en-US" i="1" dirty="0">
                <a:solidFill>
                  <a:schemeClr val="tx1">
                    <a:lumMod val="75000"/>
                    <a:lumOff val="25000"/>
                  </a:schemeClr>
                </a:solidFill>
              </a:rPr>
              <a:t>WHERE Age &lt; 18;</a:t>
            </a:r>
          </a:p>
        </p:txBody>
      </p:sp>
      <p:sp>
        <p:nvSpPr>
          <p:cNvPr id="10" name="TextBox 9">
            <a:extLst>
              <a:ext uri="{FF2B5EF4-FFF2-40B4-BE49-F238E27FC236}">
                <a16:creationId xmlns:a16="http://schemas.microsoft.com/office/drawing/2014/main" id="{3355CE37-74C0-1683-946F-A8AA0E72279A}"/>
              </a:ext>
            </a:extLst>
          </p:cNvPr>
          <p:cNvSpPr txBox="1"/>
          <p:nvPr/>
        </p:nvSpPr>
        <p:spPr>
          <a:xfrm>
            <a:off x="5852160" y="3842980"/>
            <a:ext cx="6092190" cy="923330"/>
          </a:xfrm>
          <a:prstGeom prst="rect">
            <a:avLst/>
          </a:prstGeom>
          <a:noFill/>
        </p:spPr>
        <p:txBody>
          <a:bodyPr wrap="square">
            <a:spAutoFit/>
          </a:bodyPr>
          <a:lstStyle/>
          <a:p>
            <a:r>
              <a:rPr lang="en-US" b="1" dirty="0"/>
              <a:t>- What happens when you insert?</a:t>
            </a:r>
          </a:p>
          <a:p>
            <a:r>
              <a:rPr lang="en-US" i="1" dirty="0">
                <a:solidFill>
                  <a:schemeClr val="tx1">
                    <a:lumMod val="75000"/>
                    <a:lumOff val="25000"/>
                  </a:schemeClr>
                </a:solidFill>
              </a:rPr>
              <a:t>INSERT INTO Student</a:t>
            </a:r>
          </a:p>
          <a:p>
            <a:r>
              <a:rPr lang="en-US" i="1" dirty="0">
                <a:solidFill>
                  <a:schemeClr val="tx1">
                    <a:lumMod val="75000"/>
                    <a:lumOff val="25000"/>
                  </a:schemeClr>
                </a:solidFill>
              </a:rPr>
              <a:t>VALUES(103,'Hari',16);</a:t>
            </a:r>
          </a:p>
        </p:txBody>
      </p:sp>
    </p:spTree>
    <p:extLst>
      <p:ext uri="{BB962C8B-B14F-4D97-AF65-F5344CB8AC3E}">
        <p14:creationId xmlns:p14="http://schemas.microsoft.com/office/powerpoint/2010/main" val="37105507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D3D67-EEBC-8A39-5969-CAC488109F49}"/>
              </a:ext>
            </a:extLst>
          </p:cNvPr>
          <p:cNvSpPr>
            <a:spLocks noGrp="1"/>
          </p:cNvSpPr>
          <p:nvPr>
            <p:ph type="title"/>
          </p:nvPr>
        </p:nvSpPr>
        <p:spPr>
          <a:xfrm>
            <a:off x="1097280" y="286603"/>
            <a:ext cx="10058400" cy="810677"/>
          </a:xfrm>
        </p:spPr>
        <p:txBody>
          <a:bodyPr/>
          <a:lstStyle/>
          <a:p>
            <a:r>
              <a:rPr lang="en-US" dirty="0"/>
              <a:t>Across Multiple Tables</a:t>
            </a:r>
          </a:p>
        </p:txBody>
      </p:sp>
      <p:sp>
        <p:nvSpPr>
          <p:cNvPr id="4" name="Content Placeholder 2">
            <a:extLst>
              <a:ext uri="{FF2B5EF4-FFF2-40B4-BE49-F238E27FC236}">
                <a16:creationId xmlns:a16="http://schemas.microsoft.com/office/drawing/2014/main" id="{E225B7C2-6887-BD5D-2320-0AE151F1764F}"/>
              </a:ext>
            </a:extLst>
          </p:cNvPr>
          <p:cNvSpPr txBox="1">
            <a:spLocks/>
          </p:cNvSpPr>
          <p:nvPr/>
        </p:nvSpPr>
        <p:spPr>
          <a:xfrm>
            <a:off x="979169" y="4559717"/>
            <a:ext cx="5814060" cy="402336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dirty="0"/>
              <a:t>Let us take an example, we have two table: and we need to make a rule that; Total cost of the project must not exceed department budget.</a:t>
            </a:r>
          </a:p>
        </p:txBody>
      </p:sp>
      <p:graphicFrame>
        <p:nvGraphicFramePr>
          <p:cNvPr id="8" name="Content Placeholder 6">
            <a:extLst>
              <a:ext uri="{FF2B5EF4-FFF2-40B4-BE49-F238E27FC236}">
                <a16:creationId xmlns:a16="http://schemas.microsoft.com/office/drawing/2014/main" id="{DFA575DB-74D3-26B0-2DE8-2CAD1734E461}"/>
              </a:ext>
            </a:extLst>
          </p:cNvPr>
          <p:cNvGraphicFramePr>
            <a:graphicFrameLocks/>
          </p:cNvGraphicFramePr>
          <p:nvPr>
            <p:extLst>
              <p:ext uri="{D42A27DB-BD31-4B8C-83A1-F6EECF244321}">
                <p14:modId xmlns:p14="http://schemas.microsoft.com/office/powerpoint/2010/main" val="1664521258"/>
              </p:ext>
            </p:extLst>
          </p:nvPr>
        </p:nvGraphicFramePr>
        <p:xfrm>
          <a:off x="1066800" y="3638987"/>
          <a:ext cx="2789237" cy="741680"/>
        </p:xfrm>
        <a:graphic>
          <a:graphicData uri="http://schemas.openxmlformats.org/drawingml/2006/table">
            <a:tbl>
              <a:tblPr firstRow="1" bandRow="1">
                <a:tableStyleId>{5C22544A-7EE6-4342-B048-85BDC9FD1C3A}</a:tableStyleId>
              </a:tblPr>
              <a:tblGrid>
                <a:gridCol w="1349057">
                  <a:extLst>
                    <a:ext uri="{9D8B030D-6E8A-4147-A177-3AD203B41FA5}">
                      <a16:colId xmlns:a16="http://schemas.microsoft.com/office/drawing/2014/main" val="4190346284"/>
                    </a:ext>
                  </a:extLst>
                </a:gridCol>
                <a:gridCol w="1440180">
                  <a:extLst>
                    <a:ext uri="{9D8B030D-6E8A-4147-A177-3AD203B41FA5}">
                      <a16:colId xmlns:a16="http://schemas.microsoft.com/office/drawing/2014/main" val="1413711097"/>
                    </a:ext>
                  </a:extLst>
                </a:gridCol>
              </a:tblGrid>
              <a:tr h="370840">
                <a:tc>
                  <a:txBody>
                    <a:bodyPr/>
                    <a:lstStyle/>
                    <a:p>
                      <a:pPr>
                        <a:buNone/>
                      </a:pPr>
                      <a:r>
                        <a:rPr lang="en-US" dirty="0" err="1"/>
                        <a:t>Dept_ID</a:t>
                      </a:r>
                      <a:endParaRPr lang="en-US" dirty="0"/>
                    </a:p>
                  </a:txBody>
                  <a:tcPr anchor="ctr"/>
                </a:tc>
                <a:tc>
                  <a:txBody>
                    <a:bodyPr/>
                    <a:lstStyle/>
                    <a:p>
                      <a:pPr>
                        <a:buNone/>
                      </a:pPr>
                      <a:r>
                        <a:rPr lang="en-US"/>
                        <a:t>Budget</a:t>
                      </a:r>
                    </a:p>
                  </a:txBody>
                  <a:tcPr anchor="ctr"/>
                </a:tc>
                <a:extLst>
                  <a:ext uri="{0D108BD9-81ED-4DB2-BD59-A6C34878D82A}">
                    <a16:rowId xmlns:a16="http://schemas.microsoft.com/office/drawing/2014/main" val="2290081719"/>
                  </a:ext>
                </a:extLst>
              </a:tr>
              <a:tr h="370840">
                <a:tc>
                  <a:txBody>
                    <a:bodyPr/>
                    <a:lstStyle/>
                    <a:p>
                      <a:pPr>
                        <a:buNone/>
                      </a:pPr>
                      <a:r>
                        <a:rPr lang="en-US"/>
                        <a:t>D1</a:t>
                      </a:r>
                    </a:p>
                  </a:txBody>
                  <a:tcPr anchor="ctr"/>
                </a:tc>
                <a:tc>
                  <a:txBody>
                    <a:bodyPr/>
                    <a:lstStyle/>
                    <a:p>
                      <a:pPr>
                        <a:buNone/>
                      </a:pPr>
                      <a:r>
                        <a:rPr lang="en-US" dirty="0"/>
                        <a:t>500000</a:t>
                      </a:r>
                    </a:p>
                  </a:txBody>
                  <a:tcPr anchor="ctr"/>
                </a:tc>
                <a:extLst>
                  <a:ext uri="{0D108BD9-81ED-4DB2-BD59-A6C34878D82A}">
                    <a16:rowId xmlns:a16="http://schemas.microsoft.com/office/drawing/2014/main" val="541219173"/>
                  </a:ext>
                </a:extLst>
              </a:tr>
            </a:tbl>
          </a:graphicData>
        </a:graphic>
      </p:graphicFrame>
      <p:graphicFrame>
        <p:nvGraphicFramePr>
          <p:cNvPr id="11" name="Content Placeholder 10">
            <a:extLst>
              <a:ext uri="{FF2B5EF4-FFF2-40B4-BE49-F238E27FC236}">
                <a16:creationId xmlns:a16="http://schemas.microsoft.com/office/drawing/2014/main" id="{FA3F88D0-65FA-9665-9536-C1653BA53726}"/>
              </a:ext>
            </a:extLst>
          </p:cNvPr>
          <p:cNvGraphicFramePr>
            <a:graphicFrameLocks noGrp="1"/>
          </p:cNvGraphicFramePr>
          <p:nvPr>
            <p:ph idx="1"/>
            <p:extLst>
              <p:ext uri="{D42A27DB-BD31-4B8C-83A1-F6EECF244321}">
                <p14:modId xmlns:p14="http://schemas.microsoft.com/office/powerpoint/2010/main" val="1225938443"/>
              </p:ext>
            </p:extLst>
          </p:nvPr>
        </p:nvGraphicFramePr>
        <p:xfrm>
          <a:off x="1096962" y="1735654"/>
          <a:ext cx="4999038" cy="1483360"/>
        </p:xfrm>
        <a:graphic>
          <a:graphicData uri="http://schemas.openxmlformats.org/drawingml/2006/table">
            <a:tbl>
              <a:tblPr firstRow="1" bandRow="1">
                <a:tableStyleId>{5C22544A-7EE6-4342-B048-85BDC9FD1C3A}</a:tableStyleId>
              </a:tblPr>
              <a:tblGrid>
                <a:gridCol w="1666346">
                  <a:extLst>
                    <a:ext uri="{9D8B030D-6E8A-4147-A177-3AD203B41FA5}">
                      <a16:colId xmlns:a16="http://schemas.microsoft.com/office/drawing/2014/main" val="2174505845"/>
                    </a:ext>
                  </a:extLst>
                </a:gridCol>
                <a:gridCol w="1666346">
                  <a:extLst>
                    <a:ext uri="{9D8B030D-6E8A-4147-A177-3AD203B41FA5}">
                      <a16:colId xmlns:a16="http://schemas.microsoft.com/office/drawing/2014/main" val="3257938989"/>
                    </a:ext>
                  </a:extLst>
                </a:gridCol>
                <a:gridCol w="1666346">
                  <a:extLst>
                    <a:ext uri="{9D8B030D-6E8A-4147-A177-3AD203B41FA5}">
                      <a16:colId xmlns:a16="http://schemas.microsoft.com/office/drawing/2014/main" val="3203464528"/>
                    </a:ext>
                  </a:extLst>
                </a:gridCol>
              </a:tblGrid>
              <a:tr h="370840">
                <a:tc>
                  <a:txBody>
                    <a:bodyPr/>
                    <a:lstStyle/>
                    <a:p>
                      <a:pPr>
                        <a:buNone/>
                      </a:pPr>
                      <a:r>
                        <a:rPr lang="en-US" dirty="0" err="1"/>
                        <a:t>Project_ID</a:t>
                      </a:r>
                      <a:endParaRPr lang="en-US" dirty="0"/>
                    </a:p>
                  </a:txBody>
                  <a:tcPr anchor="ctr"/>
                </a:tc>
                <a:tc>
                  <a:txBody>
                    <a:bodyPr/>
                    <a:lstStyle/>
                    <a:p>
                      <a:pPr>
                        <a:buNone/>
                      </a:pPr>
                      <a:r>
                        <a:rPr lang="en-US"/>
                        <a:t>Dept_ID</a:t>
                      </a:r>
                    </a:p>
                  </a:txBody>
                  <a:tcPr anchor="ctr"/>
                </a:tc>
                <a:tc>
                  <a:txBody>
                    <a:bodyPr/>
                    <a:lstStyle/>
                    <a:p>
                      <a:pPr>
                        <a:buNone/>
                      </a:pPr>
                      <a:r>
                        <a:rPr lang="en-US" dirty="0"/>
                        <a:t>Cost</a:t>
                      </a:r>
                    </a:p>
                  </a:txBody>
                  <a:tcPr anchor="ctr"/>
                </a:tc>
                <a:extLst>
                  <a:ext uri="{0D108BD9-81ED-4DB2-BD59-A6C34878D82A}">
                    <a16:rowId xmlns:a16="http://schemas.microsoft.com/office/drawing/2014/main" val="2283672461"/>
                  </a:ext>
                </a:extLst>
              </a:tr>
              <a:tr h="370840">
                <a:tc>
                  <a:txBody>
                    <a:bodyPr/>
                    <a:lstStyle/>
                    <a:p>
                      <a:pPr>
                        <a:buNone/>
                      </a:pPr>
                      <a:r>
                        <a:rPr lang="en-US"/>
                        <a:t>P1</a:t>
                      </a:r>
                    </a:p>
                  </a:txBody>
                  <a:tcPr anchor="ctr"/>
                </a:tc>
                <a:tc>
                  <a:txBody>
                    <a:bodyPr/>
                    <a:lstStyle/>
                    <a:p>
                      <a:pPr>
                        <a:buNone/>
                      </a:pPr>
                      <a:r>
                        <a:rPr lang="en-US"/>
                        <a:t>D1</a:t>
                      </a:r>
                    </a:p>
                  </a:txBody>
                  <a:tcPr anchor="ctr"/>
                </a:tc>
                <a:tc>
                  <a:txBody>
                    <a:bodyPr/>
                    <a:lstStyle/>
                    <a:p>
                      <a:pPr>
                        <a:buNone/>
                      </a:pPr>
                      <a:r>
                        <a:rPr lang="en-US"/>
                        <a:t>200000</a:t>
                      </a:r>
                    </a:p>
                  </a:txBody>
                  <a:tcPr anchor="ctr"/>
                </a:tc>
                <a:extLst>
                  <a:ext uri="{0D108BD9-81ED-4DB2-BD59-A6C34878D82A}">
                    <a16:rowId xmlns:a16="http://schemas.microsoft.com/office/drawing/2014/main" val="47308993"/>
                  </a:ext>
                </a:extLst>
              </a:tr>
              <a:tr h="370840">
                <a:tc>
                  <a:txBody>
                    <a:bodyPr/>
                    <a:lstStyle/>
                    <a:p>
                      <a:pPr>
                        <a:buNone/>
                      </a:pPr>
                      <a:r>
                        <a:rPr lang="en-US"/>
                        <a:t>P2</a:t>
                      </a:r>
                    </a:p>
                  </a:txBody>
                  <a:tcPr anchor="ctr"/>
                </a:tc>
                <a:tc>
                  <a:txBody>
                    <a:bodyPr/>
                    <a:lstStyle/>
                    <a:p>
                      <a:pPr>
                        <a:buNone/>
                      </a:pPr>
                      <a:r>
                        <a:rPr lang="en-US"/>
                        <a:t>D1</a:t>
                      </a:r>
                    </a:p>
                  </a:txBody>
                  <a:tcPr anchor="ctr"/>
                </a:tc>
                <a:tc>
                  <a:txBody>
                    <a:bodyPr/>
                    <a:lstStyle/>
                    <a:p>
                      <a:pPr>
                        <a:buNone/>
                      </a:pPr>
                      <a:r>
                        <a:rPr lang="en-US" dirty="0"/>
                        <a:t>250000</a:t>
                      </a:r>
                    </a:p>
                  </a:txBody>
                  <a:tcPr anchor="ctr"/>
                </a:tc>
                <a:extLst>
                  <a:ext uri="{0D108BD9-81ED-4DB2-BD59-A6C34878D82A}">
                    <a16:rowId xmlns:a16="http://schemas.microsoft.com/office/drawing/2014/main" val="2488088049"/>
                  </a:ext>
                </a:extLst>
              </a:tr>
              <a:tr h="370840">
                <a:tc>
                  <a:txBody>
                    <a:bodyPr/>
                    <a:lstStyle/>
                    <a:p>
                      <a:pPr>
                        <a:buNone/>
                      </a:pPr>
                      <a:endParaRPr lang="en-US"/>
                    </a:p>
                  </a:txBody>
                  <a:tcPr anchor="ctr"/>
                </a:tc>
                <a:tc>
                  <a:txBody>
                    <a:bodyPr/>
                    <a:lstStyle/>
                    <a:p>
                      <a:pPr>
                        <a:buNone/>
                      </a:pPr>
                      <a:endParaRPr lang="en-US"/>
                    </a:p>
                  </a:txBody>
                  <a:tcPr anchor="ctr"/>
                </a:tc>
                <a:tc>
                  <a:txBody>
                    <a:bodyPr/>
                    <a:lstStyle/>
                    <a:p>
                      <a:pPr>
                        <a:buNone/>
                      </a:pPr>
                      <a:endParaRPr lang="en-US" dirty="0"/>
                    </a:p>
                  </a:txBody>
                  <a:tcPr anchor="ctr"/>
                </a:tc>
                <a:extLst>
                  <a:ext uri="{0D108BD9-81ED-4DB2-BD59-A6C34878D82A}">
                    <a16:rowId xmlns:a16="http://schemas.microsoft.com/office/drawing/2014/main" val="3427077603"/>
                  </a:ext>
                </a:extLst>
              </a:tr>
            </a:tbl>
          </a:graphicData>
        </a:graphic>
      </p:graphicFrame>
      <p:sp>
        <p:nvSpPr>
          <p:cNvPr id="12" name="Content Placeholder 2">
            <a:extLst>
              <a:ext uri="{FF2B5EF4-FFF2-40B4-BE49-F238E27FC236}">
                <a16:creationId xmlns:a16="http://schemas.microsoft.com/office/drawing/2014/main" id="{6752562B-3309-9026-FDA4-B241A5724B5D}"/>
              </a:ext>
            </a:extLst>
          </p:cNvPr>
          <p:cNvSpPr txBox="1">
            <a:spLocks/>
          </p:cNvSpPr>
          <p:nvPr/>
        </p:nvSpPr>
        <p:spPr>
          <a:xfrm>
            <a:off x="1066800" y="1128077"/>
            <a:ext cx="10058400" cy="402336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dirty="0"/>
              <a:t>One major advantage of assertions is that they can involve multiple tables.</a:t>
            </a:r>
          </a:p>
        </p:txBody>
      </p:sp>
      <p:sp>
        <p:nvSpPr>
          <p:cNvPr id="13" name="Content Placeholder 2">
            <a:extLst>
              <a:ext uri="{FF2B5EF4-FFF2-40B4-BE49-F238E27FC236}">
                <a16:creationId xmlns:a16="http://schemas.microsoft.com/office/drawing/2014/main" id="{ADAA53C5-D3B4-6253-6F30-79BDF1952D19}"/>
              </a:ext>
            </a:extLst>
          </p:cNvPr>
          <p:cNvSpPr txBox="1">
            <a:spLocks/>
          </p:cNvSpPr>
          <p:nvPr/>
        </p:nvSpPr>
        <p:spPr>
          <a:xfrm>
            <a:off x="7025640" y="1752164"/>
            <a:ext cx="4632960" cy="4023360"/>
          </a:xfrm>
          <a:prstGeom prst="rect">
            <a:avLst/>
          </a:prstGeom>
        </p:spPr>
        <p:txBody>
          <a:bodyPr vert="horz" lIns="0" tIns="45720" rIns="0" bIns="45720" rtlCol="0">
            <a:normAutofit fontScale="77500" lnSpcReduction="2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nSpc>
                <a:spcPct val="120000"/>
              </a:lnSpc>
              <a:spcBef>
                <a:spcPts val="600"/>
              </a:spcBef>
              <a:spcAft>
                <a:spcPts val="0"/>
              </a:spcAft>
            </a:pPr>
            <a:r>
              <a:rPr lang="en-US" i="1" dirty="0"/>
              <a:t>CREATE ASSERTION </a:t>
            </a:r>
            <a:r>
              <a:rPr lang="en-US" i="1" dirty="0" err="1"/>
              <a:t>Budget_Check</a:t>
            </a:r>
            <a:endParaRPr lang="en-US" i="1" dirty="0"/>
          </a:p>
          <a:p>
            <a:pPr>
              <a:lnSpc>
                <a:spcPct val="120000"/>
              </a:lnSpc>
              <a:spcBef>
                <a:spcPts val="600"/>
              </a:spcBef>
              <a:spcAft>
                <a:spcPts val="0"/>
              </a:spcAft>
            </a:pPr>
            <a:r>
              <a:rPr lang="en-US" i="1" dirty="0"/>
              <a:t>CHECK(</a:t>
            </a:r>
          </a:p>
          <a:p>
            <a:pPr>
              <a:lnSpc>
                <a:spcPct val="120000"/>
              </a:lnSpc>
              <a:spcBef>
                <a:spcPts val="600"/>
              </a:spcBef>
              <a:spcAft>
                <a:spcPts val="0"/>
              </a:spcAft>
            </a:pPr>
            <a:r>
              <a:rPr lang="en-US" i="1" dirty="0"/>
              <a:t>NOT EXISTS(</a:t>
            </a:r>
          </a:p>
          <a:p>
            <a:pPr>
              <a:lnSpc>
                <a:spcPct val="120000"/>
              </a:lnSpc>
              <a:spcBef>
                <a:spcPts val="600"/>
              </a:spcBef>
              <a:spcAft>
                <a:spcPts val="0"/>
              </a:spcAft>
            </a:pPr>
            <a:r>
              <a:rPr lang="en-US" i="1" dirty="0"/>
              <a:t>    SELECT </a:t>
            </a:r>
            <a:r>
              <a:rPr lang="en-US" i="1" dirty="0" err="1"/>
              <a:t>Dept_ID</a:t>
            </a:r>
            <a:endParaRPr lang="en-US" i="1" dirty="0"/>
          </a:p>
          <a:p>
            <a:pPr>
              <a:lnSpc>
                <a:spcPct val="120000"/>
              </a:lnSpc>
              <a:spcBef>
                <a:spcPts val="600"/>
              </a:spcBef>
              <a:spcAft>
                <a:spcPts val="0"/>
              </a:spcAft>
            </a:pPr>
            <a:r>
              <a:rPr lang="en-US" i="1" dirty="0"/>
              <a:t>    FROM Project</a:t>
            </a:r>
          </a:p>
          <a:p>
            <a:pPr>
              <a:lnSpc>
                <a:spcPct val="120000"/>
              </a:lnSpc>
              <a:spcBef>
                <a:spcPts val="600"/>
              </a:spcBef>
              <a:spcAft>
                <a:spcPts val="0"/>
              </a:spcAft>
            </a:pPr>
            <a:r>
              <a:rPr lang="en-US" i="1" dirty="0"/>
              <a:t>    GROUP BY </a:t>
            </a:r>
            <a:r>
              <a:rPr lang="en-US" i="1" dirty="0" err="1"/>
              <a:t>Dept_ID</a:t>
            </a:r>
            <a:endParaRPr lang="en-US" i="1" dirty="0"/>
          </a:p>
          <a:p>
            <a:pPr>
              <a:lnSpc>
                <a:spcPct val="120000"/>
              </a:lnSpc>
              <a:spcBef>
                <a:spcPts val="600"/>
              </a:spcBef>
              <a:spcAft>
                <a:spcPts val="0"/>
              </a:spcAft>
            </a:pPr>
            <a:r>
              <a:rPr lang="en-US" i="1" dirty="0"/>
              <a:t>    HAVING SUM(Cost) &gt;</a:t>
            </a:r>
          </a:p>
          <a:p>
            <a:pPr>
              <a:lnSpc>
                <a:spcPct val="120000"/>
              </a:lnSpc>
              <a:spcBef>
                <a:spcPts val="600"/>
              </a:spcBef>
              <a:spcAft>
                <a:spcPts val="0"/>
              </a:spcAft>
            </a:pPr>
            <a:r>
              <a:rPr lang="en-US" i="1" dirty="0"/>
              <a:t>    (</a:t>
            </a:r>
          </a:p>
          <a:p>
            <a:pPr>
              <a:lnSpc>
                <a:spcPct val="120000"/>
              </a:lnSpc>
              <a:spcBef>
                <a:spcPts val="600"/>
              </a:spcBef>
              <a:spcAft>
                <a:spcPts val="0"/>
              </a:spcAft>
            </a:pPr>
            <a:r>
              <a:rPr lang="en-US" i="1" dirty="0"/>
              <a:t>        SELECT Budget</a:t>
            </a:r>
          </a:p>
          <a:p>
            <a:pPr>
              <a:lnSpc>
                <a:spcPct val="120000"/>
              </a:lnSpc>
              <a:spcBef>
                <a:spcPts val="600"/>
              </a:spcBef>
              <a:spcAft>
                <a:spcPts val="0"/>
              </a:spcAft>
            </a:pPr>
            <a:r>
              <a:rPr lang="en-US" i="1" dirty="0"/>
              <a:t>        FROM Department</a:t>
            </a:r>
          </a:p>
          <a:p>
            <a:pPr>
              <a:lnSpc>
                <a:spcPct val="120000"/>
              </a:lnSpc>
              <a:spcBef>
                <a:spcPts val="600"/>
              </a:spcBef>
              <a:spcAft>
                <a:spcPts val="0"/>
              </a:spcAft>
            </a:pPr>
            <a:r>
              <a:rPr lang="en-US" i="1" dirty="0"/>
              <a:t>        WHERE </a:t>
            </a:r>
            <a:r>
              <a:rPr lang="en-US" i="1" dirty="0" err="1"/>
              <a:t>Department.Dept_ID</a:t>
            </a:r>
            <a:r>
              <a:rPr lang="en-US" i="1" dirty="0"/>
              <a:t> = </a:t>
            </a:r>
            <a:r>
              <a:rPr lang="en-US" i="1" dirty="0" err="1"/>
              <a:t>Project.Dept_ID</a:t>
            </a:r>
            <a:endParaRPr lang="en-US" i="1" dirty="0"/>
          </a:p>
          <a:p>
            <a:pPr>
              <a:lnSpc>
                <a:spcPct val="120000"/>
              </a:lnSpc>
              <a:spcBef>
                <a:spcPts val="600"/>
              </a:spcBef>
              <a:spcAft>
                <a:spcPts val="0"/>
              </a:spcAft>
            </a:pPr>
            <a:r>
              <a:rPr lang="en-US" i="1" dirty="0"/>
              <a:t>    )));</a:t>
            </a:r>
          </a:p>
        </p:txBody>
      </p:sp>
    </p:spTree>
    <p:extLst>
      <p:ext uri="{BB962C8B-B14F-4D97-AF65-F5344CB8AC3E}">
        <p14:creationId xmlns:p14="http://schemas.microsoft.com/office/powerpoint/2010/main" val="2816593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60F80-C8B5-309C-7BBB-606B61FFEB9A}"/>
              </a:ext>
            </a:extLst>
          </p:cNvPr>
          <p:cNvSpPr>
            <a:spLocks noGrp="1"/>
          </p:cNvSpPr>
          <p:nvPr>
            <p:ph type="title"/>
          </p:nvPr>
        </p:nvSpPr>
        <p:spPr/>
        <p:txBody>
          <a:bodyPr/>
          <a:lstStyle/>
          <a:p>
            <a:r>
              <a:rPr lang="en-US" dirty="0"/>
              <a:t>Advantages 				      Limitations</a:t>
            </a:r>
          </a:p>
        </p:txBody>
      </p:sp>
      <p:sp>
        <p:nvSpPr>
          <p:cNvPr id="3" name="Content Placeholder 2">
            <a:extLst>
              <a:ext uri="{FF2B5EF4-FFF2-40B4-BE49-F238E27FC236}">
                <a16:creationId xmlns:a16="http://schemas.microsoft.com/office/drawing/2014/main" id="{810FE8E4-B0B7-8C6F-3061-B853CA77D1A3}"/>
              </a:ext>
            </a:extLst>
          </p:cNvPr>
          <p:cNvSpPr>
            <a:spLocks noGrp="1"/>
          </p:cNvSpPr>
          <p:nvPr>
            <p:ph idx="1"/>
          </p:nvPr>
        </p:nvSpPr>
        <p:spPr/>
        <p:txBody>
          <a:bodyPr>
            <a:normAutofit/>
          </a:bodyPr>
          <a:lstStyle/>
          <a:p>
            <a:pPr marL="457200" indent="-457200">
              <a:buFont typeface="+mj-lt"/>
              <a:buAutoNum type="arabicPeriod"/>
            </a:pPr>
            <a:r>
              <a:rPr lang="en-US" b="1" dirty="0"/>
              <a:t>Enforce Complex Business Rules</a:t>
            </a:r>
          </a:p>
          <a:p>
            <a:pPr marL="292608" lvl="1" indent="0">
              <a:buNone/>
            </a:pPr>
            <a:r>
              <a:rPr lang="en-US" dirty="0"/>
              <a:t>Can express conditions involving many tables.</a:t>
            </a:r>
          </a:p>
          <a:p>
            <a:pPr marL="457200" indent="-457200">
              <a:buFont typeface="+mj-lt"/>
              <a:buAutoNum type="arabicPeriod"/>
            </a:pPr>
            <a:r>
              <a:rPr lang="en-US" b="1" dirty="0"/>
              <a:t>Improve Data Integrity</a:t>
            </a:r>
          </a:p>
          <a:p>
            <a:pPr marL="292608" lvl="1" indent="0">
              <a:buNone/>
            </a:pPr>
            <a:r>
              <a:rPr lang="en-US" dirty="0"/>
              <a:t>Ensures database remains consistent.</a:t>
            </a:r>
          </a:p>
          <a:p>
            <a:pPr marL="457200" indent="-457200">
              <a:buFont typeface="+mj-lt"/>
              <a:buAutoNum type="arabicPeriod"/>
            </a:pPr>
            <a:r>
              <a:rPr lang="en-US" b="1" dirty="0"/>
              <a:t>Centralized Validation</a:t>
            </a:r>
          </a:p>
          <a:p>
            <a:pPr marL="292608" lvl="1" indent="0">
              <a:buNone/>
            </a:pPr>
            <a:r>
              <a:rPr lang="en-US" dirty="0"/>
              <a:t>Rules are stored in one place.</a:t>
            </a:r>
          </a:p>
          <a:p>
            <a:pPr marL="457200" indent="-457200">
              <a:buFont typeface="+mj-lt"/>
              <a:buAutoNum type="arabicPeriod"/>
            </a:pPr>
            <a:r>
              <a:rPr lang="en-US" b="1" dirty="0"/>
              <a:t>Database Independence</a:t>
            </a:r>
          </a:p>
          <a:p>
            <a:pPr marL="292608" lvl="1" indent="0">
              <a:buNone/>
            </a:pPr>
            <a:r>
              <a:rPr lang="en-US" dirty="0"/>
              <a:t>Validation remains in database rather than application code.</a:t>
            </a:r>
          </a:p>
          <a:p>
            <a:pPr marL="457200" indent="-457200">
              <a:buFont typeface="+mj-lt"/>
              <a:buAutoNum type="arabicPeriod"/>
            </a:pPr>
            <a:r>
              <a:rPr lang="en-US" b="1" dirty="0"/>
              <a:t>Better Reliability</a:t>
            </a:r>
          </a:p>
          <a:p>
            <a:pPr marL="292608" lvl="1" indent="0">
              <a:buNone/>
            </a:pPr>
            <a:r>
              <a:rPr lang="en-US" dirty="0"/>
              <a:t>Invalid transactions are automatically rejected.</a:t>
            </a:r>
          </a:p>
          <a:p>
            <a:pPr marL="457200" indent="-457200">
              <a:buFont typeface="+mj-lt"/>
              <a:buAutoNum type="arabicPeriod"/>
            </a:pPr>
            <a:endParaRPr lang="en-US" dirty="0"/>
          </a:p>
        </p:txBody>
      </p:sp>
      <p:sp>
        <p:nvSpPr>
          <p:cNvPr id="4" name="Content Placeholder 2">
            <a:extLst>
              <a:ext uri="{FF2B5EF4-FFF2-40B4-BE49-F238E27FC236}">
                <a16:creationId xmlns:a16="http://schemas.microsoft.com/office/drawing/2014/main" id="{35BD618D-0108-F9D2-99AC-F93E3AFD3547}"/>
              </a:ext>
            </a:extLst>
          </p:cNvPr>
          <p:cNvSpPr txBox="1">
            <a:spLocks/>
          </p:cNvSpPr>
          <p:nvPr/>
        </p:nvSpPr>
        <p:spPr>
          <a:xfrm>
            <a:off x="1249680" y="1998134"/>
            <a:ext cx="10058400" cy="402336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457200" indent="-457200" algn="r">
              <a:buFont typeface="+mj-lt"/>
              <a:buAutoNum type="arabicPeriod"/>
            </a:pPr>
            <a:r>
              <a:rPr lang="en-US" b="1" dirty="0"/>
              <a:t>Performance Overhead</a:t>
            </a:r>
          </a:p>
          <a:p>
            <a:pPr marL="292608" lvl="1" indent="0" algn="r">
              <a:buNone/>
            </a:pPr>
            <a:r>
              <a:rPr lang="en-US" dirty="0"/>
              <a:t>Complex assertions may be expensive to check.</a:t>
            </a:r>
          </a:p>
          <a:p>
            <a:pPr marL="457200" indent="-457200" algn="r">
              <a:buFont typeface="+mj-lt"/>
              <a:buAutoNum type="arabicPeriod"/>
            </a:pPr>
            <a:r>
              <a:rPr lang="en-US" b="1" dirty="0"/>
              <a:t>Limited DBMS Support</a:t>
            </a:r>
          </a:p>
          <a:p>
            <a:pPr marL="292608" lvl="1" indent="0" algn="r">
              <a:buNone/>
            </a:pPr>
            <a:r>
              <a:rPr lang="en-US" dirty="0"/>
              <a:t>	Many modern DBMSs (including </a:t>
            </a:r>
            <a:r>
              <a:rPr lang="en-US" b="1" dirty="0"/>
              <a:t>MySQL</a:t>
            </a:r>
            <a:r>
              <a:rPr lang="en-US" dirty="0"/>
              <a:t>) </a:t>
            </a:r>
          </a:p>
          <a:p>
            <a:pPr marL="292608" lvl="1" indent="0" algn="r">
              <a:buNone/>
            </a:pPr>
            <a:r>
              <a:rPr lang="en-US" dirty="0"/>
              <a:t>do </a:t>
            </a:r>
            <a:r>
              <a:rPr lang="en-US" b="1" dirty="0"/>
              <a:t>not fully support CREATE ASSERTION</a:t>
            </a:r>
            <a:r>
              <a:rPr lang="en-US" dirty="0"/>
              <a:t>.</a:t>
            </a:r>
          </a:p>
          <a:p>
            <a:pPr marL="457200" indent="-457200" algn="r">
              <a:buFont typeface="+mj-lt"/>
              <a:buAutoNum type="arabicPeriod"/>
            </a:pPr>
            <a:r>
              <a:rPr lang="en-US" b="1" dirty="0"/>
              <a:t>Difficult to Maintain</a:t>
            </a:r>
          </a:p>
          <a:p>
            <a:pPr marL="292608" lvl="1" indent="0" algn="r">
              <a:buNone/>
            </a:pPr>
            <a:r>
              <a:rPr lang="en-US" dirty="0"/>
              <a:t>Large assertions can become complex.</a:t>
            </a:r>
          </a:p>
          <a:p>
            <a:pPr marL="457200" indent="-457200" algn="r">
              <a:buFont typeface="+mj-lt"/>
              <a:buAutoNum type="arabicPeriod"/>
            </a:pPr>
            <a:r>
              <a:rPr lang="en-US" b="1" dirty="0"/>
              <a:t>Often Replaced by Triggers</a:t>
            </a:r>
          </a:p>
          <a:p>
            <a:pPr marL="292608" lvl="1" indent="0" algn="r">
              <a:buNone/>
            </a:pPr>
            <a:r>
              <a:rPr lang="en-US" dirty="0"/>
              <a:t>Many databases use triggers instead.</a:t>
            </a:r>
          </a:p>
        </p:txBody>
      </p:sp>
    </p:spTree>
    <p:extLst>
      <p:ext uri="{BB962C8B-B14F-4D97-AF65-F5344CB8AC3E}">
        <p14:creationId xmlns:p14="http://schemas.microsoft.com/office/powerpoint/2010/main" val="24871920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0B5EE-D583-C5A4-979F-8733F1B62CDF}"/>
              </a:ext>
            </a:extLst>
          </p:cNvPr>
          <p:cNvSpPr>
            <a:spLocks noGrp="1"/>
          </p:cNvSpPr>
          <p:nvPr>
            <p:ph type="title"/>
          </p:nvPr>
        </p:nvSpPr>
        <p:spPr/>
        <p:txBody>
          <a:bodyPr/>
          <a:lstStyle/>
          <a:p>
            <a:r>
              <a:rPr lang="en-US" dirty="0"/>
              <a:t>Real-World Applications of Assertions</a:t>
            </a:r>
          </a:p>
        </p:txBody>
      </p:sp>
      <p:sp>
        <p:nvSpPr>
          <p:cNvPr id="3" name="Content Placeholder 2">
            <a:extLst>
              <a:ext uri="{FF2B5EF4-FFF2-40B4-BE49-F238E27FC236}">
                <a16:creationId xmlns:a16="http://schemas.microsoft.com/office/drawing/2014/main" id="{3177308D-1A0E-13C8-459E-0BCAE7BEC014}"/>
              </a:ext>
            </a:extLst>
          </p:cNvPr>
          <p:cNvSpPr>
            <a:spLocks noGrp="1"/>
          </p:cNvSpPr>
          <p:nvPr>
            <p:ph idx="1"/>
          </p:nvPr>
        </p:nvSpPr>
        <p:spPr>
          <a:xfrm>
            <a:off x="1097280" y="1845734"/>
            <a:ext cx="4968240" cy="4023360"/>
          </a:xfrm>
        </p:spPr>
        <p:txBody>
          <a:bodyPr>
            <a:normAutofit/>
          </a:bodyPr>
          <a:lstStyle/>
          <a:p>
            <a:r>
              <a:rPr lang="en-US" b="1" dirty="0"/>
              <a:t>University System</a:t>
            </a:r>
          </a:p>
          <a:p>
            <a:pPr lvl="1"/>
            <a:r>
              <a:rPr lang="en-US" dirty="0"/>
              <a:t>Maximum students per class </a:t>
            </a:r>
          </a:p>
          <a:p>
            <a:pPr lvl="1"/>
            <a:r>
              <a:rPr lang="en-US" dirty="0"/>
              <a:t>Minimum CGPA requirements </a:t>
            </a:r>
          </a:p>
          <a:p>
            <a:r>
              <a:rPr lang="en-US" b="1" dirty="0"/>
              <a:t>Banking System</a:t>
            </a:r>
          </a:p>
          <a:p>
            <a:pPr lvl="1"/>
            <a:r>
              <a:rPr lang="en-US" dirty="0"/>
              <a:t>Account balance must remain positive </a:t>
            </a:r>
          </a:p>
          <a:p>
            <a:pPr lvl="1"/>
            <a:r>
              <a:rPr lang="en-US" dirty="0"/>
              <a:t>Daily withdrawal limit </a:t>
            </a:r>
          </a:p>
          <a:p>
            <a:r>
              <a:rPr lang="en-US" b="1" dirty="0"/>
              <a:t>Hospital System</a:t>
            </a:r>
          </a:p>
          <a:p>
            <a:pPr lvl="1"/>
            <a:r>
              <a:rPr lang="en-US" dirty="0"/>
              <a:t>Doctor workload limits </a:t>
            </a:r>
          </a:p>
          <a:p>
            <a:pPr lvl="1"/>
            <a:r>
              <a:rPr lang="en-US" dirty="0"/>
              <a:t>Room occupancy limits </a:t>
            </a:r>
          </a:p>
          <a:p>
            <a:r>
              <a:rPr lang="en-US" b="1" dirty="0"/>
              <a:t>Airline Reservation System</a:t>
            </a:r>
          </a:p>
          <a:p>
            <a:pPr lvl="1"/>
            <a:r>
              <a:rPr lang="en-US" dirty="0"/>
              <a:t>Seat bookings cannot exceed available seats</a:t>
            </a:r>
          </a:p>
          <a:p>
            <a:endParaRPr lang="en-US" dirty="0"/>
          </a:p>
        </p:txBody>
      </p:sp>
      <p:sp>
        <p:nvSpPr>
          <p:cNvPr id="4" name="Content Placeholder 2">
            <a:extLst>
              <a:ext uri="{FF2B5EF4-FFF2-40B4-BE49-F238E27FC236}">
                <a16:creationId xmlns:a16="http://schemas.microsoft.com/office/drawing/2014/main" id="{A7CE67B6-97BB-E347-9659-807D15B47AA2}"/>
              </a:ext>
            </a:extLst>
          </p:cNvPr>
          <p:cNvSpPr txBox="1">
            <a:spLocks/>
          </p:cNvSpPr>
          <p:nvPr/>
        </p:nvSpPr>
        <p:spPr>
          <a:xfrm>
            <a:off x="6225540" y="1845733"/>
            <a:ext cx="5751342" cy="4725663"/>
          </a:xfrm>
          <a:prstGeom prst="rect">
            <a:avLst/>
          </a:prstGeom>
        </p:spPr>
        <p:txBody>
          <a:bodyPr vert="horz" lIns="0" tIns="45720" rIns="0" bIns="45720" rtlCol="0">
            <a:normAutofit lnSpcReduction="1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b="1" dirty="0"/>
              <a:t>Rule: </a:t>
            </a:r>
            <a:r>
              <a:rPr lang="en-US" dirty="0"/>
              <a:t>A semester should not contain more than 60 students.</a:t>
            </a:r>
          </a:p>
          <a:p>
            <a:r>
              <a:rPr lang="en-US" i="1" dirty="0"/>
              <a:t>SQL: </a:t>
            </a:r>
          </a:p>
          <a:p>
            <a:pPr marL="0">
              <a:spcBef>
                <a:spcPts val="600"/>
              </a:spcBef>
              <a:spcAft>
                <a:spcPts val="0"/>
              </a:spcAft>
            </a:pPr>
            <a:r>
              <a:rPr lang="en-US" i="1" dirty="0"/>
              <a:t>CREATE ASSERTION </a:t>
            </a:r>
            <a:r>
              <a:rPr lang="en-US" i="1" dirty="0" err="1"/>
              <a:t>Semester_Limit</a:t>
            </a:r>
            <a:endParaRPr lang="en-US" i="1" dirty="0"/>
          </a:p>
          <a:p>
            <a:pPr marL="0">
              <a:spcBef>
                <a:spcPts val="600"/>
              </a:spcBef>
              <a:spcAft>
                <a:spcPts val="0"/>
              </a:spcAft>
            </a:pPr>
            <a:r>
              <a:rPr lang="en-US" i="1" dirty="0"/>
              <a:t>CHECK(</a:t>
            </a:r>
          </a:p>
          <a:p>
            <a:pPr marL="0">
              <a:spcBef>
                <a:spcPts val="600"/>
              </a:spcBef>
              <a:spcAft>
                <a:spcPts val="0"/>
              </a:spcAft>
            </a:pPr>
            <a:r>
              <a:rPr lang="en-US" i="1" dirty="0"/>
              <a:t>NOT EXISTS(</a:t>
            </a:r>
          </a:p>
          <a:p>
            <a:pPr marL="0">
              <a:spcBef>
                <a:spcPts val="600"/>
              </a:spcBef>
              <a:spcAft>
                <a:spcPts val="0"/>
              </a:spcAft>
            </a:pPr>
            <a:r>
              <a:rPr lang="en-US" i="1" dirty="0"/>
              <a:t>SELECT Semester</a:t>
            </a:r>
          </a:p>
          <a:p>
            <a:pPr marL="0">
              <a:spcBef>
                <a:spcPts val="600"/>
              </a:spcBef>
              <a:spcAft>
                <a:spcPts val="0"/>
              </a:spcAft>
            </a:pPr>
            <a:r>
              <a:rPr lang="en-US" i="1" dirty="0"/>
              <a:t>FROM Student</a:t>
            </a:r>
          </a:p>
          <a:p>
            <a:pPr marL="0">
              <a:spcBef>
                <a:spcPts val="600"/>
              </a:spcBef>
              <a:spcAft>
                <a:spcPts val="0"/>
              </a:spcAft>
            </a:pPr>
            <a:r>
              <a:rPr lang="en-US" i="1" dirty="0"/>
              <a:t>GROUP BY Semester</a:t>
            </a:r>
          </a:p>
          <a:p>
            <a:pPr marL="0">
              <a:spcBef>
                <a:spcPts val="600"/>
              </a:spcBef>
              <a:spcAft>
                <a:spcPts val="0"/>
              </a:spcAft>
            </a:pPr>
            <a:r>
              <a:rPr lang="en-US" i="1" dirty="0"/>
              <a:t>HAVING COUNT(*) &gt; 60</a:t>
            </a:r>
          </a:p>
          <a:p>
            <a:pPr marL="0">
              <a:spcBef>
                <a:spcPts val="600"/>
              </a:spcBef>
              <a:spcAft>
                <a:spcPts val="0"/>
              </a:spcAft>
            </a:pPr>
            <a:r>
              <a:rPr lang="en-US" i="1" dirty="0"/>
              <a:t>)</a:t>
            </a:r>
          </a:p>
          <a:p>
            <a:pPr marL="0">
              <a:spcBef>
                <a:spcPts val="600"/>
              </a:spcBef>
              <a:spcAft>
                <a:spcPts val="0"/>
              </a:spcAft>
            </a:pPr>
            <a:r>
              <a:rPr lang="en-US" i="1" dirty="0"/>
              <a:t>);</a:t>
            </a:r>
          </a:p>
          <a:p>
            <a:pPr marL="0">
              <a:spcBef>
                <a:spcPts val="600"/>
              </a:spcBef>
              <a:spcAft>
                <a:spcPts val="0"/>
              </a:spcAft>
            </a:pPr>
            <a:r>
              <a:rPr lang="en-US" i="1" dirty="0"/>
              <a:t>This means every semester must have count less than 60</a:t>
            </a:r>
          </a:p>
        </p:txBody>
      </p:sp>
    </p:spTree>
    <p:extLst>
      <p:ext uri="{BB962C8B-B14F-4D97-AF65-F5344CB8AC3E}">
        <p14:creationId xmlns:p14="http://schemas.microsoft.com/office/powerpoint/2010/main" val="18767047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7006F-FF46-B08F-0A97-9EE36A2AB072}"/>
              </a:ext>
            </a:extLst>
          </p:cNvPr>
          <p:cNvSpPr>
            <a:spLocks noGrp="1"/>
          </p:cNvSpPr>
          <p:nvPr>
            <p:ph type="title"/>
          </p:nvPr>
        </p:nvSpPr>
        <p:spPr/>
        <p:txBody>
          <a:bodyPr/>
          <a:lstStyle/>
          <a:p>
            <a:r>
              <a:rPr lang="en-US"/>
              <a:t>BUT…..….. </a:t>
            </a:r>
            <a:r>
              <a:rPr lang="en-US" dirty="0"/>
              <a:t>Assertion are Theoretical</a:t>
            </a:r>
          </a:p>
        </p:txBody>
      </p:sp>
      <p:graphicFrame>
        <p:nvGraphicFramePr>
          <p:cNvPr id="15" name="Content Placeholder 13">
            <a:extLst>
              <a:ext uri="{FF2B5EF4-FFF2-40B4-BE49-F238E27FC236}">
                <a16:creationId xmlns:a16="http://schemas.microsoft.com/office/drawing/2014/main" id="{FCDCC2B7-2D19-BA8F-B7A6-AB1607592B8A}"/>
              </a:ext>
            </a:extLst>
          </p:cNvPr>
          <p:cNvGraphicFramePr>
            <a:graphicFrameLocks/>
          </p:cNvGraphicFramePr>
          <p:nvPr>
            <p:extLst>
              <p:ext uri="{D42A27DB-BD31-4B8C-83A1-F6EECF244321}">
                <p14:modId xmlns:p14="http://schemas.microsoft.com/office/powerpoint/2010/main" val="1464125936"/>
              </p:ext>
            </p:extLst>
          </p:nvPr>
        </p:nvGraphicFramePr>
        <p:xfrm>
          <a:off x="7848282" y="3057314"/>
          <a:ext cx="3901758" cy="2225040"/>
        </p:xfrm>
        <a:graphic>
          <a:graphicData uri="http://schemas.openxmlformats.org/drawingml/2006/table">
            <a:tbl>
              <a:tblPr firstRow="1" bandRow="1">
                <a:tableStyleId>{5C22544A-7EE6-4342-B048-85BDC9FD1C3A}</a:tableStyleId>
              </a:tblPr>
              <a:tblGrid>
                <a:gridCol w="1638618">
                  <a:extLst>
                    <a:ext uri="{9D8B030D-6E8A-4147-A177-3AD203B41FA5}">
                      <a16:colId xmlns:a16="http://schemas.microsoft.com/office/drawing/2014/main" val="2369692370"/>
                    </a:ext>
                  </a:extLst>
                </a:gridCol>
                <a:gridCol w="2263140">
                  <a:extLst>
                    <a:ext uri="{9D8B030D-6E8A-4147-A177-3AD203B41FA5}">
                      <a16:colId xmlns:a16="http://schemas.microsoft.com/office/drawing/2014/main" val="288782064"/>
                    </a:ext>
                  </a:extLst>
                </a:gridCol>
              </a:tblGrid>
              <a:tr h="370840">
                <a:tc>
                  <a:txBody>
                    <a:bodyPr/>
                    <a:lstStyle/>
                    <a:p>
                      <a:pPr>
                        <a:buNone/>
                      </a:pPr>
                      <a:r>
                        <a:rPr lang="en-US" dirty="0"/>
                        <a:t>DBMS</a:t>
                      </a:r>
                    </a:p>
                  </a:txBody>
                  <a:tcPr anchor="ctr"/>
                </a:tc>
                <a:tc>
                  <a:txBody>
                    <a:bodyPr/>
                    <a:lstStyle/>
                    <a:p>
                      <a:pPr>
                        <a:buNone/>
                      </a:pPr>
                      <a:r>
                        <a:rPr lang="en-US"/>
                        <a:t>Assertion Support</a:t>
                      </a:r>
                    </a:p>
                  </a:txBody>
                  <a:tcPr anchor="ctr"/>
                </a:tc>
                <a:extLst>
                  <a:ext uri="{0D108BD9-81ED-4DB2-BD59-A6C34878D82A}">
                    <a16:rowId xmlns:a16="http://schemas.microsoft.com/office/drawing/2014/main" val="21633732"/>
                  </a:ext>
                </a:extLst>
              </a:tr>
              <a:tr h="370840">
                <a:tc>
                  <a:txBody>
                    <a:bodyPr/>
                    <a:lstStyle/>
                    <a:p>
                      <a:pPr>
                        <a:buNone/>
                      </a:pPr>
                      <a:r>
                        <a:rPr lang="en-US"/>
                        <a:t>MySQL</a:t>
                      </a:r>
                    </a:p>
                  </a:txBody>
                  <a:tcPr anchor="ctr"/>
                </a:tc>
                <a:tc>
                  <a:txBody>
                    <a:bodyPr/>
                    <a:lstStyle/>
                    <a:p>
                      <a:pPr>
                        <a:buNone/>
                      </a:pPr>
                      <a:r>
                        <a:rPr lang="en-US"/>
                        <a:t>❌ No</a:t>
                      </a:r>
                    </a:p>
                  </a:txBody>
                  <a:tcPr anchor="ctr"/>
                </a:tc>
                <a:extLst>
                  <a:ext uri="{0D108BD9-81ED-4DB2-BD59-A6C34878D82A}">
                    <a16:rowId xmlns:a16="http://schemas.microsoft.com/office/drawing/2014/main" val="3244146814"/>
                  </a:ext>
                </a:extLst>
              </a:tr>
              <a:tr h="370840">
                <a:tc>
                  <a:txBody>
                    <a:bodyPr/>
                    <a:lstStyle/>
                    <a:p>
                      <a:pPr>
                        <a:buNone/>
                      </a:pPr>
                      <a:r>
                        <a:rPr lang="en-US"/>
                        <a:t>MariaDB</a:t>
                      </a:r>
                    </a:p>
                  </a:txBody>
                  <a:tcPr anchor="ctr"/>
                </a:tc>
                <a:tc>
                  <a:txBody>
                    <a:bodyPr/>
                    <a:lstStyle/>
                    <a:p>
                      <a:pPr>
                        <a:buNone/>
                      </a:pPr>
                      <a:r>
                        <a:rPr lang="en-US"/>
                        <a:t>❌ No</a:t>
                      </a:r>
                    </a:p>
                  </a:txBody>
                  <a:tcPr anchor="ctr"/>
                </a:tc>
                <a:extLst>
                  <a:ext uri="{0D108BD9-81ED-4DB2-BD59-A6C34878D82A}">
                    <a16:rowId xmlns:a16="http://schemas.microsoft.com/office/drawing/2014/main" val="326777935"/>
                  </a:ext>
                </a:extLst>
              </a:tr>
              <a:tr h="370840">
                <a:tc>
                  <a:txBody>
                    <a:bodyPr/>
                    <a:lstStyle/>
                    <a:p>
                      <a:pPr>
                        <a:buNone/>
                      </a:pPr>
                      <a:r>
                        <a:rPr lang="en-US"/>
                        <a:t>PostgreSQL</a:t>
                      </a:r>
                    </a:p>
                  </a:txBody>
                  <a:tcPr anchor="ctr"/>
                </a:tc>
                <a:tc>
                  <a:txBody>
                    <a:bodyPr/>
                    <a:lstStyle/>
                    <a:p>
                      <a:pPr>
                        <a:buNone/>
                      </a:pPr>
                      <a:r>
                        <a:rPr lang="en-US"/>
                        <a:t>❌ No</a:t>
                      </a:r>
                    </a:p>
                  </a:txBody>
                  <a:tcPr anchor="ctr"/>
                </a:tc>
                <a:extLst>
                  <a:ext uri="{0D108BD9-81ED-4DB2-BD59-A6C34878D82A}">
                    <a16:rowId xmlns:a16="http://schemas.microsoft.com/office/drawing/2014/main" val="1277313734"/>
                  </a:ext>
                </a:extLst>
              </a:tr>
              <a:tr h="370840">
                <a:tc>
                  <a:txBody>
                    <a:bodyPr/>
                    <a:lstStyle/>
                    <a:p>
                      <a:pPr>
                        <a:buNone/>
                      </a:pPr>
                      <a:r>
                        <a:rPr lang="en-US"/>
                        <a:t>SQL Server</a:t>
                      </a:r>
                    </a:p>
                  </a:txBody>
                  <a:tcPr anchor="ctr"/>
                </a:tc>
                <a:tc>
                  <a:txBody>
                    <a:bodyPr/>
                    <a:lstStyle/>
                    <a:p>
                      <a:pPr>
                        <a:buNone/>
                      </a:pPr>
                      <a:r>
                        <a:rPr lang="en-US"/>
                        <a:t>❌ No</a:t>
                      </a:r>
                    </a:p>
                  </a:txBody>
                  <a:tcPr anchor="ctr"/>
                </a:tc>
                <a:extLst>
                  <a:ext uri="{0D108BD9-81ED-4DB2-BD59-A6C34878D82A}">
                    <a16:rowId xmlns:a16="http://schemas.microsoft.com/office/drawing/2014/main" val="2628565667"/>
                  </a:ext>
                </a:extLst>
              </a:tr>
              <a:tr h="370840">
                <a:tc>
                  <a:txBody>
                    <a:bodyPr/>
                    <a:lstStyle/>
                    <a:p>
                      <a:pPr>
                        <a:buNone/>
                      </a:pPr>
                      <a:r>
                        <a:rPr lang="en-US"/>
                        <a:t>Oracle</a:t>
                      </a:r>
                    </a:p>
                  </a:txBody>
                  <a:tcPr anchor="ctr"/>
                </a:tc>
                <a:tc>
                  <a:txBody>
                    <a:bodyPr/>
                    <a:lstStyle/>
                    <a:p>
                      <a:pPr>
                        <a:buNone/>
                      </a:pPr>
                      <a:r>
                        <a:rPr lang="en-US" dirty="0"/>
                        <a:t>❌ No</a:t>
                      </a:r>
                    </a:p>
                  </a:txBody>
                  <a:tcPr anchor="ctr"/>
                </a:tc>
                <a:extLst>
                  <a:ext uri="{0D108BD9-81ED-4DB2-BD59-A6C34878D82A}">
                    <a16:rowId xmlns:a16="http://schemas.microsoft.com/office/drawing/2014/main" val="2172222180"/>
                  </a:ext>
                </a:extLst>
              </a:tr>
            </a:tbl>
          </a:graphicData>
        </a:graphic>
      </p:graphicFrame>
      <p:sp>
        <p:nvSpPr>
          <p:cNvPr id="17" name="Content Placeholder 16">
            <a:extLst>
              <a:ext uri="{FF2B5EF4-FFF2-40B4-BE49-F238E27FC236}">
                <a16:creationId xmlns:a16="http://schemas.microsoft.com/office/drawing/2014/main" id="{28DB2626-3B3F-2EB5-5B70-BA9322FCCA2C}"/>
              </a:ext>
            </a:extLst>
          </p:cNvPr>
          <p:cNvSpPr>
            <a:spLocks noGrp="1"/>
          </p:cNvSpPr>
          <p:nvPr>
            <p:ph idx="1"/>
          </p:nvPr>
        </p:nvSpPr>
        <p:spPr>
          <a:xfrm>
            <a:off x="1097280" y="1845734"/>
            <a:ext cx="6751002" cy="4023360"/>
          </a:xfrm>
        </p:spPr>
        <p:txBody>
          <a:bodyPr>
            <a:normAutofit/>
          </a:bodyPr>
          <a:lstStyle/>
          <a:p>
            <a:r>
              <a:rPr lang="en-US" b="1" dirty="0"/>
              <a:t>In Practice</a:t>
            </a:r>
          </a:p>
          <a:p>
            <a:pPr lvl="1"/>
            <a:r>
              <a:rPr lang="en-US" dirty="0"/>
              <a:t>Most popular DBMSs </a:t>
            </a:r>
            <a:r>
              <a:rPr lang="en-US" dirty="0">
                <a:solidFill>
                  <a:srgbClr val="FF0000"/>
                </a:solidFill>
              </a:rPr>
              <a:t>do </a:t>
            </a:r>
            <a:r>
              <a:rPr lang="en-US" b="1" dirty="0">
                <a:solidFill>
                  <a:srgbClr val="FF0000"/>
                </a:solidFill>
              </a:rPr>
              <a:t>not </a:t>
            </a:r>
            <a:r>
              <a:rPr lang="en-US" b="1" dirty="0"/>
              <a:t>implement CREATE ASSERTION</a:t>
            </a:r>
            <a:r>
              <a:rPr lang="en-US" dirty="0"/>
              <a:t>.</a:t>
            </a:r>
          </a:p>
          <a:p>
            <a:pPr lvl="1"/>
            <a:r>
              <a:rPr lang="en-US" dirty="0"/>
              <a:t>Because assertions can be expensive to check whenever any related table changes</a:t>
            </a:r>
          </a:p>
          <a:p>
            <a:r>
              <a:rPr lang="en-US" dirty="0"/>
              <a:t>They are intended to enforce database-wide rules such as:</a:t>
            </a:r>
          </a:p>
          <a:p>
            <a:pPr lvl="1"/>
            <a:r>
              <a:rPr lang="en-US" dirty="0"/>
              <a:t>Maximum 100 students per department </a:t>
            </a:r>
          </a:p>
          <a:p>
            <a:pPr lvl="1"/>
            <a:r>
              <a:rPr lang="en-US" dirty="0"/>
              <a:t>Total project cost ≤ department budget </a:t>
            </a:r>
          </a:p>
          <a:p>
            <a:pPr lvl="1"/>
            <a:r>
              <a:rPr lang="en-US" dirty="0"/>
              <a:t>Total salary expense ≤ company budget </a:t>
            </a:r>
          </a:p>
          <a:p>
            <a:r>
              <a:rPr lang="en-US" dirty="0"/>
              <a:t>So, from a relational database theory perspective, assertions are a valid and important concept.</a:t>
            </a:r>
          </a:p>
          <a:p>
            <a:r>
              <a:rPr lang="en-US" dirty="0">
                <a:solidFill>
                  <a:srgbClr val="FF0000"/>
                </a:solidFill>
              </a:rPr>
              <a:t>CHECK</a:t>
            </a:r>
            <a:r>
              <a:rPr lang="en-US" dirty="0"/>
              <a:t>,</a:t>
            </a:r>
            <a:r>
              <a:rPr lang="en-US" dirty="0">
                <a:solidFill>
                  <a:srgbClr val="FF0000"/>
                </a:solidFill>
              </a:rPr>
              <a:t> TRIGGERS </a:t>
            </a:r>
            <a:r>
              <a:rPr lang="en-US" dirty="0" err="1"/>
              <a:t>and,</a:t>
            </a:r>
            <a:r>
              <a:rPr lang="en-US" dirty="0" err="1">
                <a:solidFill>
                  <a:srgbClr val="FF0000"/>
                </a:solidFill>
              </a:rPr>
              <a:t>Stored</a:t>
            </a:r>
            <a:r>
              <a:rPr lang="en-US" dirty="0">
                <a:solidFill>
                  <a:srgbClr val="FF0000"/>
                </a:solidFill>
              </a:rPr>
              <a:t> Procedures</a:t>
            </a:r>
            <a:r>
              <a:rPr lang="en-US" dirty="0"/>
              <a:t> are used instead.</a:t>
            </a:r>
          </a:p>
          <a:p>
            <a:endParaRPr lang="en-US" dirty="0"/>
          </a:p>
        </p:txBody>
      </p:sp>
    </p:spTree>
    <p:extLst>
      <p:ext uri="{BB962C8B-B14F-4D97-AF65-F5344CB8AC3E}">
        <p14:creationId xmlns:p14="http://schemas.microsoft.com/office/powerpoint/2010/main" val="41791534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3E0DB-2F1A-782E-B617-E905CF4D55C0}"/>
              </a:ext>
            </a:extLst>
          </p:cNvPr>
          <p:cNvSpPr>
            <a:spLocks noGrp="1"/>
          </p:cNvSpPr>
          <p:nvPr>
            <p:ph type="title"/>
          </p:nvPr>
        </p:nvSpPr>
        <p:spPr/>
        <p:txBody>
          <a:bodyPr/>
          <a:lstStyle/>
          <a:p>
            <a:r>
              <a:rPr lang="en-US" dirty="0"/>
              <a:t>TRIGGERS</a:t>
            </a:r>
          </a:p>
        </p:txBody>
      </p:sp>
      <p:sp>
        <p:nvSpPr>
          <p:cNvPr id="3" name="Content Placeholder 2">
            <a:extLst>
              <a:ext uri="{FF2B5EF4-FFF2-40B4-BE49-F238E27FC236}">
                <a16:creationId xmlns:a16="http://schemas.microsoft.com/office/drawing/2014/main" id="{E63226F0-2B2C-2787-CBAB-3A01AD2139CE}"/>
              </a:ext>
            </a:extLst>
          </p:cNvPr>
          <p:cNvSpPr>
            <a:spLocks noGrp="1"/>
          </p:cNvSpPr>
          <p:nvPr>
            <p:ph idx="1"/>
          </p:nvPr>
        </p:nvSpPr>
        <p:spPr>
          <a:xfrm>
            <a:off x="1097280" y="1845734"/>
            <a:ext cx="10058400" cy="4166446"/>
          </a:xfrm>
        </p:spPr>
        <p:txBody>
          <a:bodyPr>
            <a:normAutofit/>
          </a:bodyPr>
          <a:lstStyle/>
          <a:p>
            <a:r>
              <a:rPr lang="en-US" dirty="0"/>
              <a:t>A </a:t>
            </a:r>
            <a:r>
              <a:rPr lang="en-US" b="1" dirty="0"/>
              <a:t>Trigger</a:t>
            </a:r>
            <a:r>
              <a:rPr lang="en-US" dirty="0"/>
              <a:t> is a special stored procedure that automatically executes (fires) when a specified event occurs on a table or view. </a:t>
            </a:r>
          </a:p>
          <a:p>
            <a:r>
              <a:rPr lang="nb-NO" b="1" dirty="0"/>
              <a:t>Trigger Events</a:t>
            </a:r>
          </a:p>
          <a:p>
            <a:pPr lvl="1"/>
            <a:r>
              <a:rPr lang="nb-NO" dirty="0"/>
              <a:t>INSERT </a:t>
            </a:r>
          </a:p>
          <a:p>
            <a:pPr lvl="1"/>
            <a:r>
              <a:rPr lang="nb-NO" dirty="0"/>
              <a:t>UPDATE </a:t>
            </a:r>
          </a:p>
          <a:p>
            <a:pPr lvl="1"/>
            <a:r>
              <a:rPr lang="nb-NO" dirty="0"/>
              <a:t>DELETE</a:t>
            </a:r>
          </a:p>
          <a:p>
            <a:r>
              <a:rPr lang="en-US" b="1" dirty="0"/>
              <a:t>Why are Triggers Needed?</a:t>
            </a:r>
          </a:p>
          <a:p>
            <a:pPr lvl="1"/>
            <a:r>
              <a:rPr lang="en-US" dirty="0"/>
              <a:t>Enforce complex business rules </a:t>
            </a:r>
          </a:p>
          <a:p>
            <a:pPr lvl="1"/>
            <a:r>
              <a:rPr lang="en-US" dirty="0"/>
              <a:t>Maintain data integrity </a:t>
            </a:r>
          </a:p>
          <a:p>
            <a:pPr lvl="1"/>
            <a:r>
              <a:rPr lang="en-US" dirty="0"/>
              <a:t>Keep audit logs </a:t>
            </a:r>
          </a:p>
          <a:p>
            <a:pPr lvl="1"/>
            <a:r>
              <a:rPr lang="en-US" dirty="0"/>
              <a:t>Automatically update related tables </a:t>
            </a:r>
          </a:p>
          <a:p>
            <a:pPr lvl="1"/>
            <a:r>
              <a:rPr lang="en-US" dirty="0"/>
              <a:t>Validate data before insertion </a:t>
            </a:r>
          </a:p>
          <a:p>
            <a:endParaRPr lang="en-US" dirty="0"/>
          </a:p>
        </p:txBody>
      </p:sp>
      <p:sp>
        <p:nvSpPr>
          <p:cNvPr id="12" name="Content Placeholder 2">
            <a:extLst>
              <a:ext uri="{FF2B5EF4-FFF2-40B4-BE49-F238E27FC236}">
                <a16:creationId xmlns:a16="http://schemas.microsoft.com/office/drawing/2014/main" id="{419A7E03-3071-2E62-BD3B-7B6AC996709E}"/>
              </a:ext>
            </a:extLst>
          </p:cNvPr>
          <p:cNvSpPr txBox="1">
            <a:spLocks/>
          </p:cNvSpPr>
          <p:nvPr/>
        </p:nvSpPr>
        <p:spPr>
          <a:xfrm>
            <a:off x="5506329" y="2177240"/>
            <a:ext cx="6451208" cy="4166446"/>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endParaRPr lang="en-US" dirty="0"/>
          </a:p>
        </p:txBody>
      </p:sp>
      <p:sp>
        <p:nvSpPr>
          <p:cNvPr id="14" name="TextBox 13">
            <a:extLst>
              <a:ext uri="{FF2B5EF4-FFF2-40B4-BE49-F238E27FC236}">
                <a16:creationId xmlns:a16="http://schemas.microsoft.com/office/drawing/2014/main" id="{CE145387-B558-C183-4DCC-D09921B947A4}"/>
              </a:ext>
            </a:extLst>
          </p:cNvPr>
          <p:cNvSpPr txBox="1"/>
          <p:nvPr/>
        </p:nvSpPr>
        <p:spPr>
          <a:xfrm>
            <a:off x="5297071" y="2677622"/>
            <a:ext cx="6869723" cy="2554545"/>
          </a:xfrm>
          <a:prstGeom prst="rect">
            <a:avLst/>
          </a:prstGeom>
          <a:noFill/>
        </p:spPr>
        <p:txBody>
          <a:bodyPr wrap="square">
            <a:spAutoFit/>
          </a:bodyPr>
          <a:lstStyle/>
          <a:p>
            <a:r>
              <a:rPr lang="en-US" sz="2000" b="0" i="1" u="none" strike="noStrike" dirty="0">
                <a:solidFill>
                  <a:schemeClr val="accent2"/>
                </a:solidFill>
                <a:effectLst/>
                <a:latin typeface="Courier New" panose="02070309020205020404" pitchFamily="49" charset="0"/>
              </a:rPr>
              <a:t>SQL:</a:t>
            </a:r>
          </a:p>
          <a:p>
            <a:r>
              <a:rPr lang="en-US" sz="2000" b="0" i="1" u="none" strike="noStrike" dirty="0">
                <a:solidFill>
                  <a:srgbClr val="7030A0"/>
                </a:solidFill>
                <a:effectLst/>
                <a:latin typeface="Courier New" panose="02070309020205020404" pitchFamily="49" charset="0"/>
              </a:rPr>
              <a:t>CREATE</a:t>
            </a:r>
            <a:r>
              <a:rPr lang="en-US" sz="2000" b="0" i="1" u="none" strike="noStrike" dirty="0">
                <a:effectLst/>
                <a:latin typeface="Courier New" panose="02070309020205020404" pitchFamily="49" charset="0"/>
              </a:rPr>
              <a:t> TRIGGER </a:t>
            </a:r>
            <a:r>
              <a:rPr lang="en-US" sz="2000" b="0" i="1" u="none" strike="noStrike" dirty="0" err="1">
                <a:effectLst/>
                <a:latin typeface="Courier New" panose="02070309020205020404" pitchFamily="49" charset="0"/>
              </a:rPr>
              <a:t>trigger_name</a:t>
            </a:r>
            <a:r>
              <a:rPr lang="en-US" sz="2000" b="0" i="1" u="none" strike="noStrike" dirty="0">
                <a:effectLst/>
                <a:latin typeface="Courier New" panose="02070309020205020404" pitchFamily="49" charset="0"/>
              </a:rPr>
              <a:t> </a:t>
            </a:r>
          </a:p>
          <a:p>
            <a:r>
              <a:rPr lang="en-US" sz="2000" b="0" i="1" u="none" strike="noStrike" dirty="0">
                <a:effectLst/>
                <a:latin typeface="Courier New" panose="02070309020205020404" pitchFamily="49" charset="0"/>
              </a:rPr>
              <a:t>[BEFORE | AFTER] [</a:t>
            </a:r>
            <a:r>
              <a:rPr lang="en-US" sz="2000" i="1" dirty="0">
                <a:solidFill>
                  <a:srgbClr val="7030A0"/>
                </a:solidFill>
                <a:latin typeface="Courier New" panose="02070309020205020404" pitchFamily="49" charset="0"/>
              </a:rPr>
              <a:t>INSERT</a:t>
            </a:r>
            <a:r>
              <a:rPr lang="en-US" sz="2000" b="0" i="1" u="none" strike="noStrike" dirty="0">
                <a:effectLst/>
                <a:latin typeface="Courier New" panose="02070309020205020404" pitchFamily="49" charset="0"/>
              </a:rPr>
              <a:t> | </a:t>
            </a:r>
            <a:r>
              <a:rPr lang="en-US" sz="2000" i="1" dirty="0">
                <a:solidFill>
                  <a:srgbClr val="7030A0"/>
                </a:solidFill>
                <a:latin typeface="Courier New" panose="02070309020205020404" pitchFamily="49" charset="0"/>
              </a:rPr>
              <a:t>UPDATE</a:t>
            </a:r>
            <a:r>
              <a:rPr lang="en-US" sz="2000" b="0" i="1" u="none" strike="noStrike" dirty="0">
                <a:effectLst/>
                <a:latin typeface="Courier New" panose="02070309020205020404" pitchFamily="49" charset="0"/>
              </a:rPr>
              <a:t> | </a:t>
            </a:r>
            <a:r>
              <a:rPr lang="en-US" sz="2000" i="1" dirty="0">
                <a:solidFill>
                  <a:srgbClr val="7030A0"/>
                </a:solidFill>
                <a:latin typeface="Courier New" panose="02070309020205020404" pitchFamily="49" charset="0"/>
              </a:rPr>
              <a:t>DELETE</a:t>
            </a:r>
            <a:r>
              <a:rPr lang="en-US" sz="2000" b="0" i="1" u="none" strike="noStrike" dirty="0">
                <a:effectLst/>
                <a:latin typeface="Courier New" panose="02070309020205020404" pitchFamily="49" charset="0"/>
              </a:rPr>
              <a:t>] </a:t>
            </a:r>
          </a:p>
          <a:p>
            <a:r>
              <a:rPr lang="en-US" sz="2000" i="1" dirty="0">
                <a:solidFill>
                  <a:srgbClr val="7030A0"/>
                </a:solidFill>
                <a:latin typeface="Courier New" panose="02070309020205020404" pitchFamily="49" charset="0"/>
              </a:rPr>
              <a:t>ON</a:t>
            </a:r>
            <a:r>
              <a:rPr lang="en-US" sz="2000" b="0" i="1" u="none" strike="noStrike" dirty="0">
                <a:effectLst/>
                <a:latin typeface="Courier New" panose="02070309020205020404" pitchFamily="49" charset="0"/>
              </a:rPr>
              <a:t> </a:t>
            </a:r>
            <a:r>
              <a:rPr lang="en-US" sz="2000" b="0" i="1" u="none" strike="noStrike" dirty="0" err="1">
                <a:effectLst/>
                <a:latin typeface="Courier New" panose="02070309020205020404" pitchFamily="49" charset="0"/>
              </a:rPr>
              <a:t>table_name</a:t>
            </a:r>
            <a:r>
              <a:rPr lang="en-US" sz="2000" b="0" i="1" u="none" strike="noStrike" dirty="0">
                <a:effectLst/>
                <a:latin typeface="Courier New" panose="02070309020205020404" pitchFamily="49" charset="0"/>
              </a:rPr>
              <a:t> </a:t>
            </a:r>
          </a:p>
          <a:p>
            <a:r>
              <a:rPr lang="en-US" sz="2000" i="1" dirty="0">
                <a:solidFill>
                  <a:srgbClr val="7030A0"/>
                </a:solidFill>
                <a:latin typeface="Courier New" panose="02070309020205020404" pitchFamily="49" charset="0"/>
              </a:rPr>
              <a:t>FOR</a:t>
            </a:r>
            <a:r>
              <a:rPr lang="en-US" sz="2000" b="0" i="1" u="none" strike="noStrike" dirty="0">
                <a:effectLst/>
                <a:latin typeface="Courier New" panose="02070309020205020404" pitchFamily="49" charset="0"/>
              </a:rPr>
              <a:t> EACH </a:t>
            </a:r>
            <a:r>
              <a:rPr lang="en-US" sz="2000" i="1" dirty="0">
                <a:solidFill>
                  <a:srgbClr val="7030A0"/>
                </a:solidFill>
                <a:latin typeface="Courier New" panose="02070309020205020404" pitchFamily="49" charset="0"/>
              </a:rPr>
              <a:t>ROW</a:t>
            </a:r>
            <a:r>
              <a:rPr lang="en-US" sz="2000" b="0" i="1" u="none" strike="noStrike" dirty="0">
                <a:effectLst/>
                <a:latin typeface="Courier New" panose="02070309020205020404" pitchFamily="49" charset="0"/>
              </a:rPr>
              <a:t> </a:t>
            </a:r>
          </a:p>
          <a:p>
            <a:r>
              <a:rPr lang="en-US" sz="2000" i="1" dirty="0">
                <a:solidFill>
                  <a:srgbClr val="7030A0"/>
                </a:solidFill>
                <a:latin typeface="Courier New" panose="02070309020205020404" pitchFamily="49" charset="0"/>
              </a:rPr>
              <a:t>BEGIN</a:t>
            </a:r>
            <a:r>
              <a:rPr lang="en-US" sz="2000" b="0" i="1" u="none" strike="noStrike" dirty="0">
                <a:effectLst/>
                <a:latin typeface="Courier New" panose="02070309020205020404" pitchFamily="49" charset="0"/>
              </a:rPr>
              <a:t> </a:t>
            </a:r>
          </a:p>
          <a:p>
            <a:r>
              <a:rPr lang="en-US" sz="2000" b="0" i="1" u="none" strike="noStrike" dirty="0">
                <a:effectLst/>
                <a:latin typeface="Courier New" panose="02070309020205020404" pitchFamily="49" charset="0"/>
              </a:rPr>
              <a:t>-- SQL execution logic goes here</a:t>
            </a:r>
          </a:p>
          <a:p>
            <a:r>
              <a:rPr lang="en-US" sz="2000" i="1" dirty="0">
                <a:solidFill>
                  <a:srgbClr val="7030A0"/>
                </a:solidFill>
                <a:latin typeface="Courier New" panose="02070309020205020404" pitchFamily="49" charset="0"/>
              </a:rPr>
              <a:t>END</a:t>
            </a:r>
            <a:r>
              <a:rPr lang="en-US" sz="2000" b="0" i="1" u="none" strike="noStrike" dirty="0">
                <a:effectLst/>
                <a:latin typeface="Courier New" panose="02070309020205020404" pitchFamily="49" charset="0"/>
              </a:rPr>
              <a:t>;</a:t>
            </a:r>
            <a:endParaRPr lang="en-US" sz="2000" i="1" dirty="0"/>
          </a:p>
        </p:txBody>
      </p:sp>
    </p:spTree>
    <p:extLst>
      <p:ext uri="{BB962C8B-B14F-4D97-AF65-F5344CB8AC3E}">
        <p14:creationId xmlns:p14="http://schemas.microsoft.com/office/powerpoint/2010/main" val="28963837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3DBF3A-98BB-E7D9-BD14-DB0DA29810B6}"/>
              </a:ext>
            </a:extLst>
          </p:cNvPr>
          <p:cNvSpPr>
            <a:spLocks noGrp="1"/>
          </p:cNvSpPr>
          <p:nvPr>
            <p:ph type="title"/>
          </p:nvPr>
        </p:nvSpPr>
        <p:spPr>
          <a:xfrm>
            <a:off x="1097280" y="286604"/>
            <a:ext cx="10058400" cy="815366"/>
          </a:xfrm>
        </p:spPr>
        <p:txBody>
          <a:bodyPr/>
          <a:lstStyle/>
          <a:p>
            <a:r>
              <a:rPr lang="en-US" dirty="0"/>
              <a:t>Classification of Triggers</a:t>
            </a:r>
          </a:p>
        </p:txBody>
      </p:sp>
      <p:sp>
        <p:nvSpPr>
          <p:cNvPr id="3" name="Content Placeholder 2">
            <a:extLst>
              <a:ext uri="{FF2B5EF4-FFF2-40B4-BE49-F238E27FC236}">
                <a16:creationId xmlns:a16="http://schemas.microsoft.com/office/drawing/2014/main" id="{AD9C35E3-F9D9-89A2-4D2C-ED85F919CDEA}"/>
              </a:ext>
            </a:extLst>
          </p:cNvPr>
          <p:cNvSpPr>
            <a:spLocks noGrp="1"/>
          </p:cNvSpPr>
          <p:nvPr>
            <p:ph idx="1"/>
          </p:nvPr>
        </p:nvSpPr>
        <p:spPr>
          <a:xfrm>
            <a:off x="1097280" y="1101970"/>
            <a:ext cx="10058400" cy="5298830"/>
          </a:xfrm>
        </p:spPr>
        <p:txBody>
          <a:bodyPr>
            <a:normAutofit/>
          </a:bodyPr>
          <a:lstStyle/>
          <a:p>
            <a:r>
              <a:rPr lang="en-US" dirty="0"/>
              <a:t>Database engines group triggers based on what operation initiates them, when they execute, and how many times they run.</a:t>
            </a:r>
          </a:p>
          <a:p>
            <a:pPr marL="457200" indent="-457200">
              <a:buFont typeface="+mj-lt"/>
              <a:buAutoNum type="arabicPeriod"/>
            </a:pPr>
            <a:r>
              <a:rPr lang="en-US" b="1" dirty="0"/>
              <a:t>By the Firing Operation</a:t>
            </a:r>
          </a:p>
          <a:p>
            <a:pPr marL="749808" lvl="1" indent="-457200">
              <a:buFont typeface="+mj-lt"/>
              <a:buAutoNum type="arabicPeriod"/>
            </a:pPr>
            <a:r>
              <a:rPr lang="en-US" dirty="0"/>
              <a:t>DML Triggers:  </a:t>
            </a:r>
            <a:r>
              <a:rPr lang="en-US" dirty="0">
                <a:solidFill>
                  <a:schemeClr val="tx1"/>
                </a:solidFill>
              </a:rPr>
              <a:t>INSERT, UPDATE, and DELETE.</a:t>
            </a:r>
            <a:endParaRPr lang="en-US" dirty="0"/>
          </a:p>
          <a:p>
            <a:pPr marL="749808" lvl="1" indent="-457200">
              <a:buFont typeface="+mj-lt"/>
              <a:buAutoNum type="arabicPeriod"/>
            </a:pPr>
            <a:r>
              <a:rPr lang="en-US" dirty="0"/>
              <a:t>DDL Triggers:. </a:t>
            </a:r>
            <a:r>
              <a:rPr lang="en-US" dirty="0">
                <a:solidFill>
                  <a:schemeClr val="tx1"/>
                </a:solidFill>
              </a:rPr>
              <a:t>CREATE, ALTER, or DROP.</a:t>
            </a:r>
            <a:endParaRPr lang="en-US" dirty="0"/>
          </a:p>
          <a:p>
            <a:pPr marL="749808" lvl="1" indent="-457200">
              <a:buFont typeface="+mj-lt"/>
              <a:buAutoNum type="arabicPeriod"/>
            </a:pPr>
            <a:r>
              <a:rPr lang="en-US" dirty="0"/>
              <a:t>Logon Triggers:  </a:t>
            </a:r>
            <a:r>
              <a:rPr lang="en-US" dirty="0">
                <a:solidFill>
                  <a:schemeClr val="tx1"/>
                </a:solidFill>
              </a:rPr>
              <a:t>user session or connection is established with the database server</a:t>
            </a:r>
            <a:endParaRPr lang="en-US" dirty="0"/>
          </a:p>
          <a:p>
            <a:pPr marL="457200" indent="-457200">
              <a:buFont typeface="+mj-lt"/>
              <a:buAutoNum type="arabicPeriod"/>
            </a:pPr>
            <a:r>
              <a:rPr lang="en-US" b="1" dirty="0"/>
              <a:t>By Firing Time</a:t>
            </a:r>
          </a:p>
          <a:p>
            <a:pPr marL="749808" lvl="1" indent="-457200">
              <a:buFont typeface="+mj-lt"/>
              <a:buAutoNum type="arabicPeriod"/>
            </a:pPr>
            <a:r>
              <a:rPr lang="en-US" dirty="0"/>
              <a:t>BEFORE Triggers:  </a:t>
            </a:r>
            <a:r>
              <a:rPr lang="en-US" dirty="0">
                <a:solidFill>
                  <a:schemeClr val="tx1"/>
                </a:solidFill>
              </a:rPr>
              <a:t>Run prior to executing the triggering data </a:t>
            </a:r>
            <a:endParaRPr lang="en-US" dirty="0"/>
          </a:p>
          <a:p>
            <a:pPr marL="749808" lvl="1" indent="-457200">
              <a:buFont typeface="+mj-lt"/>
              <a:buAutoNum type="arabicPeriod"/>
            </a:pPr>
            <a:r>
              <a:rPr lang="en-US" dirty="0"/>
              <a:t>AFTER Triggers:   </a:t>
            </a:r>
            <a:r>
              <a:rPr lang="en-US" dirty="0">
                <a:solidFill>
                  <a:schemeClr val="tx1"/>
                </a:solidFill>
              </a:rPr>
              <a:t>Execute only after operation</a:t>
            </a:r>
            <a:endParaRPr lang="en-US" dirty="0"/>
          </a:p>
          <a:p>
            <a:pPr marL="749808" lvl="1" indent="-457200">
              <a:buFont typeface="+mj-lt"/>
              <a:buAutoNum type="arabicPeriod"/>
            </a:pPr>
            <a:r>
              <a:rPr lang="en-US" dirty="0"/>
              <a:t>INSTEAD OF Triggers:  </a:t>
            </a:r>
            <a:r>
              <a:rPr lang="en-US" dirty="0">
                <a:solidFill>
                  <a:schemeClr val="tx1"/>
                </a:solidFill>
              </a:rPr>
              <a:t>Intercept the requested action completely and replace it with custom SQL logic</a:t>
            </a:r>
            <a:endParaRPr lang="en-US" dirty="0"/>
          </a:p>
          <a:p>
            <a:pPr marL="457200" indent="-457200">
              <a:buFont typeface="+mj-lt"/>
              <a:buAutoNum type="arabicPeriod"/>
            </a:pPr>
            <a:r>
              <a:rPr lang="en-US" b="1" dirty="0"/>
              <a:t>By Firing Frequency (Granularity)</a:t>
            </a:r>
          </a:p>
          <a:p>
            <a:pPr marL="749808" lvl="1" indent="-457200">
              <a:buFont typeface="+mj-lt"/>
              <a:buAutoNum type="arabicPeriod"/>
            </a:pPr>
            <a:r>
              <a:rPr lang="en-US" dirty="0"/>
              <a:t>Row-Level Triggers: </a:t>
            </a:r>
            <a:r>
              <a:rPr lang="en-US" dirty="0">
                <a:solidFill>
                  <a:schemeClr val="tx1"/>
                </a:solidFill>
              </a:rPr>
              <a:t>Execute independently for every individual row </a:t>
            </a:r>
            <a:endParaRPr lang="en-US" dirty="0"/>
          </a:p>
          <a:p>
            <a:pPr marL="749808" lvl="1" indent="-457200">
              <a:buFont typeface="+mj-lt"/>
              <a:buAutoNum type="arabicPeriod"/>
            </a:pPr>
            <a:r>
              <a:rPr lang="en-US" dirty="0"/>
              <a:t>Statement-Level Triggers:  </a:t>
            </a:r>
            <a:r>
              <a:rPr lang="en-US" dirty="0">
                <a:solidFill>
                  <a:schemeClr val="tx1"/>
                </a:solidFill>
              </a:rPr>
              <a:t>statement modifies zero rows, one row, or millions of rows simultaneously</a:t>
            </a:r>
            <a:endParaRPr lang="en-US" dirty="0"/>
          </a:p>
        </p:txBody>
      </p:sp>
    </p:spTree>
    <p:extLst>
      <p:ext uri="{BB962C8B-B14F-4D97-AF65-F5344CB8AC3E}">
        <p14:creationId xmlns:p14="http://schemas.microsoft.com/office/powerpoint/2010/main" val="23861076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1CFCE7-3ED7-98CE-8BC7-0A9659E1C13D}"/>
              </a:ext>
            </a:extLst>
          </p:cNvPr>
          <p:cNvSpPr>
            <a:spLocks noGrp="1"/>
          </p:cNvSpPr>
          <p:nvPr>
            <p:ph type="title"/>
          </p:nvPr>
        </p:nvSpPr>
        <p:spPr/>
        <p:txBody>
          <a:bodyPr/>
          <a:lstStyle/>
          <a:p>
            <a:r>
              <a:rPr lang="en-US" dirty="0"/>
              <a:t>Types of Triggers</a:t>
            </a:r>
          </a:p>
        </p:txBody>
      </p:sp>
      <p:sp>
        <p:nvSpPr>
          <p:cNvPr id="3" name="Content Placeholder 2">
            <a:extLst>
              <a:ext uri="{FF2B5EF4-FFF2-40B4-BE49-F238E27FC236}">
                <a16:creationId xmlns:a16="http://schemas.microsoft.com/office/drawing/2014/main" id="{0417E6DE-569E-7D98-5F8B-AB16466AEE01}"/>
              </a:ext>
            </a:extLst>
          </p:cNvPr>
          <p:cNvSpPr>
            <a:spLocks noGrp="1"/>
          </p:cNvSpPr>
          <p:nvPr>
            <p:ph idx="1"/>
          </p:nvPr>
        </p:nvSpPr>
        <p:spPr/>
        <p:txBody>
          <a:bodyPr/>
          <a:lstStyle/>
          <a:p>
            <a:pPr marL="457200" indent="-457200">
              <a:buFont typeface="+mj-lt"/>
              <a:buAutoNum type="arabicPeriod"/>
            </a:pPr>
            <a:r>
              <a:rPr lang="en-US" dirty="0"/>
              <a:t>Based on timing:</a:t>
            </a:r>
          </a:p>
          <a:p>
            <a:pPr marL="749808" lvl="1" indent="-457200">
              <a:buFont typeface="+mj-lt"/>
              <a:buAutoNum type="arabicPeriod"/>
            </a:pPr>
            <a:r>
              <a:rPr lang="en-US" dirty="0"/>
              <a:t>BEFORE Trigger</a:t>
            </a:r>
          </a:p>
          <a:p>
            <a:pPr marL="749808" lvl="1" indent="-457200">
              <a:buFont typeface="+mj-lt"/>
              <a:buAutoNum type="arabicPeriod"/>
            </a:pPr>
            <a:r>
              <a:rPr lang="en-US" dirty="0"/>
              <a:t>AFTER Trigger</a:t>
            </a:r>
          </a:p>
          <a:p>
            <a:pPr marL="457200" indent="-457200">
              <a:buFont typeface="+mj-lt"/>
              <a:buAutoNum type="arabicPeriod"/>
            </a:pPr>
            <a:r>
              <a:rPr lang="en-US" dirty="0"/>
              <a:t>Based on event:</a:t>
            </a:r>
          </a:p>
          <a:p>
            <a:pPr marL="749808" lvl="1" indent="-457200">
              <a:buFont typeface="+mj-lt"/>
              <a:buAutoNum type="arabicPeriod"/>
            </a:pPr>
            <a:r>
              <a:rPr lang="en-US" dirty="0"/>
              <a:t>INSERT Trigger </a:t>
            </a:r>
          </a:p>
          <a:p>
            <a:pPr marL="749808" lvl="1" indent="-457200">
              <a:buFont typeface="+mj-lt"/>
              <a:buAutoNum type="arabicPeriod"/>
            </a:pPr>
            <a:r>
              <a:rPr lang="en-US" dirty="0"/>
              <a:t>UPDATE Trigger </a:t>
            </a:r>
          </a:p>
          <a:p>
            <a:pPr marL="749808" lvl="1" indent="-457200">
              <a:buFont typeface="+mj-lt"/>
              <a:buAutoNum type="arabicPeriod"/>
            </a:pPr>
            <a:r>
              <a:rPr lang="en-US" dirty="0"/>
              <a:t>DELETE Trigger</a:t>
            </a:r>
          </a:p>
        </p:txBody>
      </p:sp>
    </p:spTree>
    <p:extLst>
      <p:ext uri="{BB962C8B-B14F-4D97-AF65-F5344CB8AC3E}">
        <p14:creationId xmlns:p14="http://schemas.microsoft.com/office/powerpoint/2010/main" val="41531948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C976BB-0B55-3E2F-4192-CB191A213DEF}"/>
              </a:ext>
            </a:extLst>
          </p:cNvPr>
          <p:cNvSpPr>
            <a:spLocks noGrp="1"/>
          </p:cNvSpPr>
          <p:nvPr>
            <p:ph type="title"/>
          </p:nvPr>
        </p:nvSpPr>
        <p:spPr/>
        <p:txBody>
          <a:bodyPr/>
          <a:lstStyle/>
          <a:p>
            <a:r>
              <a:rPr lang="en-US" dirty="0"/>
              <a:t>OLD and NEW Keywords</a:t>
            </a:r>
          </a:p>
        </p:txBody>
      </p:sp>
      <p:graphicFrame>
        <p:nvGraphicFramePr>
          <p:cNvPr id="5" name="Content Placeholder 4">
            <a:extLst>
              <a:ext uri="{FF2B5EF4-FFF2-40B4-BE49-F238E27FC236}">
                <a16:creationId xmlns:a16="http://schemas.microsoft.com/office/drawing/2014/main" id="{CFF8FB6E-10E7-9E52-543C-203D8252197D}"/>
              </a:ext>
            </a:extLst>
          </p:cNvPr>
          <p:cNvGraphicFramePr>
            <a:graphicFrameLocks noGrp="1"/>
          </p:cNvGraphicFramePr>
          <p:nvPr>
            <p:ph idx="1"/>
            <p:extLst>
              <p:ext uri="{D42A27DB-BD31-4B8C-83A1-F6EECF244321}">
                <p14:modId xmlns:p14="http://schemas.microsoft.com/office/powerpoint/2010/main" val="195144406"/>
              </p:ext>
            </p:extLst>
          </p:nvPr>
        </p:nvGraphicFramePr>
        <p:xfrm>
          <a:off x="5806122" y="3730831"/>
          <a:ext cx="3840798" cy="741680"/>
        </p:xfrm>
        <a:graphic>
          <a:graphicData uri="http://schemas.openxmlformats.org/drawingml/2006/table">
            <a:tbl>
              <a:tblPr firstRow="1" bandRow="1">
                <a:tableStyleId>{5C22544A-7EE6-4342-B048-85BDC9FD1C3A}</a:tableStyleId>
              </a:tblPr>
              <a:tblGrid>
                <a:gridCol w="1920399">
                  <a:extLst>
                    <a:ext uri="{9D8B030D-6E8A-4147-A177-3AD203B41FA5}">
                      <a16:colId xmlns:a16="http://schemas.microsoft.com/office/drawing/2014/main" val="2856695791"/>
                    </a:ext>
                  </a:extLst>
                </a:gridCol>
                <a:gridCol w="1920399">
                  <a:extLst>
                    <a:ext uri="{9D8B030D-6E8A-4147-A177-3AD203B41FA5}">
                      <a16:colId xmlns:a16="http://schemas.microsoft.com/office/drawing/2014/main" val="1181174477"/>
                    </a:ext>
                  </a:extLst>
                </a:gridCol>
              </a:tblGrid>
              <a:tr h="370840">
                <a:tc>
                  <a:txBody>
                    <a:bodyPr/>
                    <a:lstStyle/>
                    <a:p>
                      <a:pPr>
                        <a:buNone/>
                      </a:pPr>
                      <a:r>
                        <a:rPr lang="en-US" dirty="0" err="1"/>
                        <a:t>Emp_ID</a:t>
                      </a:r>
                      <a:endParaRPr lang="en-US" dirty="0"/>
                    </a:p>
                  </a:txBody>
                  <a:tcPr anchor="ctr"/>
                </a:tc>
                <a:tc>
                  <a:txBody>
                    <a:bodyPr/>
                    <a:lstStyle/>
                    <a:p>
                      <a:pPr>
                        <a:buNone/>
                      </a:pPr>
                      <a:r>
                        <a:rPr lang="en-US"/>
                        <a:t>Salary</a:t>
                      </a:r>
                    </a:p>
                  </a:txBody>
                  <a:tcPr anchor="ctr"/>
                </a:tc>
                <a:extLst>
                  <a:ext uri="{0D108BD9-81ED-4DB2-BD59-A6C34878D82A}">
                    <a16:rowId xmlns:a16="http://schemas.microsoft.com/office/drawing/2014/main" val="1931873970"/>
                  </a:ext>
                </a:extLst>
              </a:tr>
              <a:tr h="370840">
                <a:tc>
                  <a:txBody>
                    <a:bodyPr/>
                    <a:lstStyle/>
                    <a:p>
                      <a:pPr>
                        <a:buNone/>
                      </a:pPr>
                      <a:r>
                        <a:rPr lang="en-US"/>
                        <a:t>101</a:t>
                      </a:r>
                    </a:p>
                  </a:txBody>
                  <a:tcPr anchor="ctr"/>
                </a:tc>
                <a:tc>
                  <a:txBody>
                    <a:bodyPr/>
                    <a:lstStyle/>
                    <a:p>
                      <a:pPr>
                        <a:buNone/>
                      </a:pPr>
                      <a:r>
                        <a:rPr lang="en-US" dirty="0"/>
                        <a:t>30000</a:t>
                      </a:r>
                    </a:p>
                  </a:txBody>
                  <a:tcPr anchor="ctr"/>
                </a:tc>
                <a:extLst>
                  <a:ext uri="{0D108BD9-81ED-4DB2-BD59-A6C34878D82A}">
                    <a16:rowId xmlns:a16="http://schemas.microsoft.com/office/drawing/2014/main" val="828651225"/>
                  </a:ext>
                </a:extLst>
              </a:tr>
            </a:tbl>
          </a:graphicData>
        </a:graphic>
      </p:graphicFrame>
      <p:sp>
        <p:nvSpPr>
          <p:cNvPr id="4" name="Content Placeholder 2">
            <a:extLst>
              <a:ext uri="{FF2B5EF4-FFF2-40B4-BE49-F238E27FC236}">
                <a16:creationId xmlns:a16="http://schemas.microsoft.com/office/drawing/2014/main" id="{9CAC9CB6-16E3-EC0A-E5E1-47DF9F4349D0}"/>
              </a:ext>
            </a:extLst>
          </p:cNvPr>
          <p:cNvSpPr txBox="1">
            <a:spLocks/>
          </p:cNvSpPr>
          <p:nvPr/>
        </p:nvSpPr>
        <p:spPr>
          <a:xfrm>
            <a:off x="1097280" y="1924891"/>
            <a:ext cx="10058400" cy="402336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457200" indent="-457200">
              <a:buFont typeface="+mj-lt"/>
              <a:buAutoNum type="arabicPeriod"/>
            </a:pPr>
            <a:r>
              <a:rPr lang="en-US" dirty="0"/>
              <a:t>NEW:  Represents the new data.</a:t>
            </a:r>
          </a:p>
          <a:p>
            <a:pPr marL="292608" lvl="1" indent="0">
              <a:buFont typeface="Calibri" pitchFamily="34" charset="0"/>
              <a:buNone/>
            </a:pPr>
            <a:r>
              <a:rPr lang="en-US" dirty="0"/>
              <a:t>Udes in INSERT and UPDATE, </a:t>
            </a:r>
          </a:p>
          <a:p>
            <a:pPr marL="457200" indent="-457200">
              <a:buFont typeface="+mj-lt"/>
              <a:buAutoNum type="arabicPeriod"/>
            </a:pPr>
            <a:r>
              <a:rPr lang="en-US" dirty="0"/>
              <a:t>OLD: Represents existing data before change.</a:t>
            </a:r>
          </a:p>
          <a:p>
            <a:pPr marL="292608" lvl="1" indent="0">
              <a:buFont typeface="Calibri" pitchFamily="34" charset="0"/>
              <a:buNone/>
            </a:pPr>
            <a:r>
              <a:rPr lang="en-US" dirty="0"/>
              <a:t>Used in UPDATE and DELETE</a:t>
            </a:r>
          </a:p>
          <a:p>
            <a:pPr marL="292608" lvl="1" indent="0">
              <a:buFont typeface="Calibri" pitchFamily="34" charset="0"/>
              <a:buNone/>
            </a:pPr>
            <a:endParaRPr lang="en-US" dirty="0"/>
          </a:p>
          <a:p>
            <a:pPr marL="292608" lvl="1" indent="0">
              <a:buFont typeface="Calibri" pitchFamily="34" charset="0"/>
              <a:buNone/>
            </a:pPr>
            <a:r>
              <a:rPr lang="en-US" dirty="0"/>
              <a:t>Example: Now we try to update data; </a:t>
            </a:r>
          </a:p>
          <a:p>
            <a:pPr marL="292608" lvl="1" indent="0">
              <a:buNone/>
            </a:pPr>
            <a:r>
              <a:rPr lang="en-US" i="1" dirty="0">
                <a:solidFill>
                  <a:srgbClr val="7030A0"/>
                </a:solidFill>
              </a:rPr>
              <a:t>UPDATE</a:t>
            </a:r>
            <a:r>
              <a:rPr lang="en-US" i="1" dirty="0"/>
              <a:t> Employee</a:t>
            </a:r>
          </a:p>
          <a:p>
            <a:pPr marL="292608" lvl="1" indent="0">
              <a:buNone/>
            </a:pPr>
            <a:r>
              <a:rPr lang="en-US" i="1" dirty="0">
                <a:solidFill>
                  <a:srgbClr val="7030A0"/>
                </a:solidFill>
              </a:rPr>
              <a:t>SET</a:t>
            </a:r>
            <a:r>
              <a:rPr lang="en-US" i="1" dirty="0"/>
              <a:t> Salary=40000</a:t>
            </a:r>
          </a:p>
          <a:p>
            <a:pPr marL="292608" lvl="1" indent="0">
              <a:buNone/>
            </a:pPr>
            <a:r>
              <a:rPr lang="en-US" i="1" dirty="0">
                <a:solidFill>
                  <a:srgbClr val="7030A0"/>
                </a:solidFill>
              </a:rPr>
              <a:t>WHERE</a:t>
            </a:r>
            <a:r>
              <a:rPr lang="en-US" i="1" dirty="0"/>
              <a:t> </a:t>
            </a:r>
            <a:r>
              <a:rPr lang="en-US" i="1" dirty="0" err="1"/>
              <a:t>Emp_ID</a:t>
            </a:r>
            <a:r>
              <a:rPr lang="en-US" i="1" dirty="0"/>
              <a:t>=101;</a:t>
            </a:r>
          </a:p>
        </p:txBody>
      </p:sp>
      <p:sp>
        <p:nvSpPr>
          <p:cNvPr id="6" name="TextBox 5">
            <a:extLst>
              <a:ext uri="{FF2B5EF4-FFF2-40B4-BE49-F238E27FC236}">
                <a16:creationId xmlns:a16="http://schemas.microsoft.com/office/drawing/2014/main" id="{E4DCC030-D3E4-CB71-9315-B021DAF8555C}"/>
              </a:ext>
            </a:extLst>
          </p:cNvPr>
          <p:cNvSpPr txBox="1"/>
          <p:nvPr/>
        </p:nvSpPr>
        <p:spPr>
          <a:xfrm>
            <a:off x="5806122" y="3361499"/>
            <a:ext cx="1545488" cy="369332"/>
          </a:xfrm>
          <a:prstGeom prst="rect">
            <a:avLst/>
          </a:prstGeom>
          <a:noFill/>
        </p:spPr>
        <p:txBody>
          <a:bodyPr wrap="none" rtlCol="0">
            <a:spAutoFit/>
          </a:bodyPr>
          <a:lstStyle/>
          <a:p>
            <a:r>
              <a:rPr lang="en-US" dirty="0"/>
              <a:t>Before Update</a:t>
            </a:r>
          </a:p>
        </p:txBody>
      </p:sp>
      <p:sp>
        <p:nvSpPr>
          <p:cNvPr id="7" name="TextBox 6">
            <a:extLst>
              <a:ext uri="{FF2B5EF4-FFF2-40B4-BE49-F238E27FC236}">
                <a16:creationId xmlns:a16="http://schemas.microsoft.com/office/drawing/2014/main" id="{DBCCE111-905D-4022-BD0C-F0F32D478408}"/>
              </a:ext>
            </a:extLst>
          </p:cNvPr>
          <p:cNvSpPr txBox="1"/>
          <p:nvPr/>
        </p:nvSpPr>
        <p:spPr>
          <a:xfrm>
            <a:off x="5806122" y="4841843"/>
            <a:ext cx="3953646" cy="923330"/>
          </a:xfrm>
          <a:prstGeom prst="rect">
            <a:avLst/>
          </a:prstGeom>
          <a:noFill/>
        </p:spPr>
        <p:txBody>
          <a:bodyPr wrap="none" rtlCol="0">
            <a:spAutoFit/>
          </a:bodyPr>
          <a:lstStyle/>
          <a:p>
            <a:r>
              <a:rPr lang="en-US" dirty="0"/>
              <a:t>After Update: Inside trigger we can see: </a:t>
            </a:r>
          </a:p>
          <a:p>
            <a:r>
              <a:rPr lang="en-US" dirty="0"/>
              <a:t>Old. SALARY = 30000</a:t>
            </a:r>
          </a:p>
          <a:p>
            <a:r>
              <a:rPr lang="en-US" dirty="0" err="1"/>
              <a:t>NEW.Salary</a:t>
            </a:r>
            <a:r>
              <a:rPr lang="en-US" dirty="0"/>
              <a:t> = 40000</a:t>
            </a:r>
          </a:p>
        </p:txBody>
      </p:sp>
    </p:spTree>
    <p:extLst>
      <p:ext uri="{BB962C8B-B14F-4D97-AF65-F5344CB8AC3E}">
        <p14:creationId xmlns:p14="http://schemas.microsoft.com/office/powerpoint/2010/main" val="31351094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BCB7D-CBFC-776A-F9D2-062AD574FF83}"/>
              </a:ext>
            </a:extLst>
          </p:cNvPr>
          <p:cNvSpPr>
            <a:spLocks noGrp="1"/>
          </p:cNvSpPr>
          <p:nvPr>
            <p:ph type="title"/>
          </p:nvPr>
        </p:nvSpPr>
        <p:spPr/>
        <p:txBody>
          <a:bodyPr>
            <a:normAutofit/>
          </a:bodyPr>
          <a:lstStyle/>
          <a:p>
            <a:r>
              <a:rPr lang="en-US" dirty="0"/>
              <a:t>Example: </a:t>
            </a:r>
            <a:r>
              <a:rPr lang="en-US" sz="2800" dirty="0"/>
              <a:t>Maximum 100 Students per Department.</a:t>
            </a:r>
            <a:endParaRPr lang="en-US" dirty="0"/>
          </a:p>
        </p:txBody>
      </p:sp>
      <p:sp>
        <p:nvSpPr>
          <p:cNvPr id="3" name="Content Placeholder 2">
            <a:extLst>
              <a:ext uri="{FF2B5EF4-FFF2-40B4-BE49-F238E27FC236}">
                <a16:creationId xmlns:a16="http://schemas.microsoft.com/office/drawing/2014/main" id="{65C702DD-B2B6-E49E-3A35-664C1BBB9434}"/>
              </a:ext>
            </a:extLst>
          </p:cNvPr>
          <p:cNvSpPr>
            <a:spLocks noGrp="1"/>
          </p:cNvSpPr>
          <p:nvPr>
            <p:ph idx="1"/>
          </p:nvPr>
        </p:nvSpPr>
        <p:spPr>
          <a:xfrm>
            <a:off x="1097280" y="1845734"/>
            <a:ext cx="4472941" cy="4486486"/>
          </a:xfrm>
        </p:spPr>
        <p:txBody>
          <a:bodyPr>
            <a:normAutofit fontScale="85000" lnSpcReduction="20000"/>
          </a:bodyPr>
          <a:lstStyle/>
          <a:p>
            <a:pPr>
              <a:spcBef>
                <a:spcPts val="600"/>
              </a:spcBef>
              <a:spcAft>
                <a:spcPts val="0"/>
              </a:spcAft>
            </a:pPr>
            <a:r>
              <a:rPr lang="en-US" i="1" dirty="0"/>
              <a:t>CREATE TRIGGER </a:t>
            </a:r>
            <a:r>
              <a:rPr lang="en-US" i="1" dirty="0" err="1"/>
              <a:t>Check_Department_Limit</a:t>
            </a:r>
            <a:endParaRPr lang="en-US" i="1" dirty="0"/>
          </a:p>
          <a:p>
            <a:pPr>
              <a:spcBef>
                <a:spcPts val="600"/>
              </a:spcBef>
              <a:spcAft>
                <a:spcPts val="0"/>
              </a:spcAft>
            </a:pPr>
            <a:r>
              <a:rPr lang="en-US" i="1" dirty="0"/>
              <a:t>BEFORE INSERT</a:t>
            </a:r>
          </a:p>
          <a:p>
            <a:pPr>
              <a:spcBef>
                <a:spcPts val="600"/>
              </a:spcBef>
              <a:spcAft>
                <a:spcPts val="0"/>
              </a:spcAft>
            </a:pPr>
            <a:r>
              <a:rPr lang="en-US" i="1" dirty="0"/>
              <a:t>ON Student</a:t>
            </a:r>
          </a:p>
          <a:p>
            <a:pPr>
              <a:spcBef>
                <a:spcPts val="600"/>
              </a:spcBef>
              <a:spcAft>
                <a:spcPts val="0"/>
              </a:spcAft>
            </a:pPr>
            <a:r>
              <a:rPr lang="en-US" i="1" dirty="0"/>
              <a:t>FOR EACH ROW</a:t>
            </a:r>
          </a:p>
          <a:p>
            <a:pPr>
              <a:spcBef>
                <a:spcPts val="600"/>
              </a:spcBef>
              <a:spcAft>
                <a:spcPts val="0"/>
              </a:spcAft>
            </a:pPr>
            <a:r>
              <a:rPr lang="en-US" i="1" dirty="0"/>
              <a:t>BEGIN</a:t>
            </a:r>
          </a:p>
          <a:p>
            <a:pPr>
              <a:spcBef>
                <a:spcPts val="600"/>
              </a:spcBef>
              <a:spcAft>
                <a:spcPts val="0"/>
              </a:spcAft>
            </a:pPr>
            <a:r>
              <a:rPr lang="en-US" i="1" dirty="0"/>
              <a:t>IF(</a:t>
            </a:r>
          </a:p>
          <a:p>
            <a:pPr>
              <a:spcBef>
                <a:spcPts val="600"/>
              </a:spcBef>
              <a:spcAft>
                <a:spcPts val="0"/>
              </a:spcAft>
            </a:pPr>
            <a:r>
              <a:rPr lang="en-US" i="1" dirty="0"/>
              <a:t>    SELECT COUNT(*)</a:t>
            </a:r>
          </a:p>
          <a:p>
            <a:pPr>
              <a:spcBef>
                <a:spcPts val="600"/>
              </a:spcBef>
              <a:spcAft>
                <a:spcPts val="0"/>
              </a:spcAft>
            </a:pPr>
            <a:r>
              <a:rPr lang="en-US" i="1" dirty="0"/>
              <a:t>    FROM Student</a:t>
            </a:r>
          </a:p>
          <a:p>
            <a:pPr>
              <a:spcBef>
                <a:spcPts val="600"/>
              </a:spcBef>
              <a:spcAft>
                <a:spcPts val="0"/>
              </a:spcAft>
            </a:pPr>
            <a:r>
              <a:rPr lang="en-US" i="1" dirty="0"/>
              <a:t>    WHERE </a:t>
            </a:r>
            <a:r>
              <a:rPr lang="en-US" i="1" dirty="0" err="1"/>
              <a:t>Dept_ID</a:t>
            </a:r>
            <a:r>
              <a:rPr lang="en-US" i="1" dirty="0"/>
              <a:t>=</a:t>
            </a:r>
            <a:r>
              <a:rPr lang="en-US" i="1" dirty="0" err="1"/>
              <a:t>NEW.Dept_ID</a:t>
            </a:r>
            <a:endParaRPr lang="en-US" i="1" dirty="0"/>
          </a:p>
          <a:p>
            <a:pPr>
              <a:spcBef>
                <a:spcPts val="600"/>
              </a:spcBef>
              <a:spcAft>
                <a:spcPts val="0"/>
              </a:spcAft>
            </a:pPr>
            <a:r>
              <a:rPr lang="en-US" i="1" dirty="0"/>
              <a:t>) &gt;=100</a:t>
            </a:r>
          </a:p>
          <a:p>
            <a:pPr>
              <a:spcBef>
                <a:spcPts val="600"/>
              </a:spcBef>
              <a:spcAft>
                <a:spcPts val="0"/>
              </a:spcAft>
            </a:pPr>
            <a:r>
              <a:rPr lang="en-US" i="1" dirty="0"/>
              <a:t>THEN</a:t>
            </a:r>
          </a:p>
          <a:p>
            <a:pPr>
              <a:spcBef>
                <a:spcPts val="600"/>
              </a:spcBef>
              <a:spcAft>
                <a:spcPts val="0"/>
              </a:spcAft>
            </a:pPr>
            <a:r>
              <a:rPr lang="en-US" i="1" dirty="0"/>
              <a:t>    SIGNAL SQLSTATE '45000'</a:t>
            </a:r>
          </a:p>
          <a:p>
            <a:pPr>
              <a:spcBef>
                <a:spcPts val="600"/>
              </a:spcBef>
              <a:spcAft>
                <a:spcPts val="0"/>
              </a:spcAft>
            </a:pPr>
            <a:r>
              <a:rPr lang="en-US" i="1" dirty="0"/>
              <a:t>    SET MESSAGE_TEXT=</a:t>
            </a:r>
          </a:p>
          <a:p>
            <a:pPr>
              <a:spcBef>
                <a:spcPts val="600"/>
              </a:spcBef>
              <a:spcAft>
                <a:spcPts val="0"/>
              </a:spcAft>
            </a:pPr>
            <a:r>
              <a:rPr lang="en-US" i="1" dirty="0"/>
              <a:t>    'Department Full';</a:t>
            </a:r>
          </a:p>
          <a:p>
            <a:pPr>
              <a:spcBef>
                <a:spcPts val="600"/>
              </a:spcBef>
              <a:spcAft>
                <a:spcPts val="0"/>
              </a:spcAft>
            </a:pPr>
            <a:r>
              <a:rPr lang="en-US" i="1" dirty="0"/>
              <a:t>END IF;</a:t>
            </a:r>
          </a:p>
          <a:p>
            <a:pPr>
              <a:spcBef>
                <a:spcPts val="600"/>
              </a:spcBef>
              <a:spcAft>
                <a:spcPts val="0"/>
              </a:spcAft>
            </a:pPr>
            <a:r>
              <a:rPr lang="en-US" i="1" dirty="0"/>
              <a:t>END;</a:t>
            </a:r>
          </a:p>
        </p:txBody>
      </p:sp>
      <p:sp>
        <p:nvSpPr>
          <p:cNvPr id="4" name="Content Placeholder 2">
            <a:extLst>
              <a:ext uri="{FF2B5EF4-FFF2-40B4-BE49-F238E27FC236}">
                <a16:creationId xmlns:a16="http://schemas.microsoft.com/office/drawing/2014/main" id="{8036879A-FB60-C5C2-6A68-627CD4D6BF83}"/>
              </a:ext>
            </a:extLst>
          </p:cNvPr>
          <p:cNvSpPr txBox="1">
            <a:spLocks/>
          </p:cNvSpPr>
          <p:nvPr/>
        </p:nvSpPr>
        <p:spPr>
          <a:xfrm>
            <a:off x="6096000" y="1845734"/>
            <a:ext cx="5059680" cy="4486486"/>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spcBef>
                <a:spcPts val="600"/>
              </a:spcBef>
              <a:spcAft>
                <a:spcPts val="0"/>
              </a:spcAft>
            </a:pPr>
            <a:r>
              <a:rPr lang="en-US" i="1" dirty="0"/>
              <a:t>Let there are 100 students in BCA department. </a:t>
            </a:r>
          </a:p>
          <a:p>
            <a:pPr>
              <a:spcBef>
                <a:spcPts val="600"/>
              </a:spcBef>
              <a:spcAft>
                <a:spcPts val="0"/>
              </a:spcAft>
            </a:pPr>
            <a:r>
              <a:rPr lang="en-US" i="1" dirty="0"/>
              <a:t>We try to insert: </a:t>
            </a:r>
          </a:p>
          <a:p>
            <a:pPr>
              <a:spcBef>
                <a:spcPts val="600"/>
              </a:spcBef>
              <a:spcAft>
                <a:spcPts val="0"/>
              </a:spcAft>
            </a:pPr>
            <a:r>
              <a:rPr lang="en-US" i="1" dirty="0"/>
              <a:t>INSERT INTO Student</a:t>
            </a:r>
          </a:p>
          <a:p>
            <a:pPr>
              <a:spcBef>
                <a:spcPts val="600"/>
              </a:spcBef>
              <a:spcAft>
                <a:spcPts val="0"/>
              </a:spcAft>
            </a:pPr>
            <a:r>
              <a:rPr lang="en-US" i="1" dirty="0"/>
              <a:t>VALUES(501,'Hari','BCA’);</a:t>
            </a:r>
          </a:p>
          <a:p>
            <a:pPr>
              <a:spcBef>
                <a:spcPts val="600"/>
              </a:spcBef>
              <a:spcAft>
                <a:spcPts val="0"/>
              </a:spcAft>
            </a:pPr>
            <a:endParaRPr lang="en-US" i="1" dirty="0"/>
          </a:p>
          <a:p>
            <a:pPr>
              <a:spcBef>
                <a:spcPts val="600"/>
              </a:spcBef>
              <a:spcAft>
                <a:spcPts val="0"/>
              </a:spcAft>
            </a:pPr>
            <a:r>
              <a:rPr lang="en-US" i="1" dirty="0"/>
              <a:t>Triggers fires for count = 101, </a:t>
            </a:r>
            <a:br>
              <a:rPr lang="en-US" i="1" dirty="0"/>
            </a:br>
            <a:r>
              <a:rPr lang="en-US" i="1" dirty="0"/>
              <a:t>then Insertion is blocked and output comes as Department full.</a:t>
            </a:r>
          </a:p>
        </p:txBody>
      </p:sp>
      <p:sp>
        <p:nvSpPr>
          <p:cNvPr id="6" name="TextBox 5">
            <a:extLst>
              <a:ext uri="{FF2B5EF4-FFF2-40B4-BE49-F238E27FC236}">
                <a16:creationId xmlns:a16="http://schemas.microsoft.com/office/drawing/2014/main" id="{BFF18AC3-5FAD-3310-F694-5A3A81AF37A7}"/>
              </a:ext>
            </a:extLst>
          </p:cNvPr>
          <p:cNvSpPr txBox="1"/>
          <p:nvPr/>
        </p:nvSpPr>
        <p:spPr>
          <a:xfrm>
            <a:off x="6126480" y="4854892"/>
            <a:ext cx="6092190" cy="1477328"/>
          </a:xfrm>
          <a:prstGeom prst="rect">
            <a:avLst/>
          </a:prstGeom>
          <a:noFill/>
        </p:spPr>
        <p:txBody>
          <a:bodyPr wrap="square">
            <a:spAutoFit/>
          </a:bodyPr>
          <a:lstStyle/>
          <a:p>
            <a:r>
              <a:rPr lang="en-US" b="1" i="1" u="sng" dirty="0"/>
              <a:t>ASSERTION EQUIVALENT CODE:</a:t>
            </a:r>
          </a:p>
          <a:p>
            <a:r>
              <a:rPr lang="en-US" i="1" dirty="0"/>
              <a:t>CREATE ASSERTION </a:t>
            </a:r>
            <a:r>
              <a:rPr lang="en-US" i="1" dirty="0" err="1"/>
              <a:t>Max_Students</a:t>
            </a:r>
            <a:endParaRPr lang="en-US" i="1" dirty="0"/>
          </a:p>
          <a:p>
            <a:r>
              <a:rPr lang="en-US" i="1" dirty="0"/>
              <a:t>CHECK(</a:t>
            </a:r>
          </a:p>
          <a:p>
            <a:r>
              <a:rPr lang="en-US" i="1" dirty="0"/>
              <a:t>COUNT(*) &lt;=100</a:t>
            </a:r>
          </a:p>
          <a:p>
            <a:r>
              <a:rPr lang="en-US" i="1" dirty="0"/>
              <a:t>);</a:t>
            </a:r>
          </a:p>
        </p:txBody>
      </p:sp>
    </p:spTree>
    <p:extLst>
      <p:ext uri="{BB962C8B-B14F-4D97-AF65-F5344CB8AC3E}">
        <p14:creationId xmlns:p14="http://schemas.microsoft.com/office/powerpoint/2010/main" val="21512701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D38E52-FA98-8A36-7A04-074410E527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CE43DA-71EF-45A1-6F04-31D9C262C2DB}"/>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8CAC2D58-3265-8702-2203-E112FABC144E}"/>
              </a:ext>
            </a:extLst>
          </p:cNvPr>
          <p:cNvSpPr>
            <a:spLocks noGrp="1"/>
          </p:cNvSpPr>
          <p:nvPr>
            <p:ph idx="1"/>
          </p:nvPr>
        </p:nvSpPr>
        <p:spPr/>
        <p:txBody>
          <a:bodyPr/>
          <a:lstStyle/>
          <a:p>
            <a:r>
              <a:rPr lang="en-US" b="1" u="sng" dirty="0"/>
              <a:t>Prevent deletion of all students.</a:t>
            </a:r>
          </a:p>
          <a:p>
            <a:pPr>
              <a:spcBef>
                <a:spcPts val="600"/>
              </a:spcBef>
              <a:spcAft>
                <a:spcPts val="0"/>
              </a:spcAft>
            </a:pPr>
            <a:r>
              <a:rPr lang="en-US" i="1" dirty="0"/>
              <a:t>CREATE TRIGGER </a:t>
            </a:r>
            <a:r>
              <a:rPr lang="en-US" i="1" dirty="0" err="1"/>
              <a:t>Prevent_Delete</a:t>
            </a:r>
            <a:endParaRPr lang="en-US" i="1" dirty="0"/>
          </a:p>
          <a:p>
            <a:pPr>
              <a:spcBef>
                <a:spcPts val="600"/>
              </a:spcBef>
              <a:spcAft>
                <a:spcPts val="0"/>
              </a:spcAft>
            </a:pPr>
            <a:r>
              <a:rPr lang="en-US" i="1" dirty="0"/>
              <a:t>BEFORE DELETE</a:t>
            </a:r>
          </a:p>
          <a:p>
            <a:pPr>
              <a:spcBef>
                <a:spcPts val="600"/>
              </a:spcBef>
              <a:spcAft>
                <a:spcPts val="0"/>
              </a:spcAft>
            </a:pPr>
            <a:r>
              <a:rPr lang="en-US" i="1" dirty="0"/>
              <a:t>ON Student</a:t>
            </a:r>
          </a:p>
          <a:p>
            <a:pPr>
              <a:spcBef>
                <a:spcPts val="600"/>
              </a:spcBef>
              <a:spcAft>
                <a:spcPts val="0"/>
              </a:spcAft>
            </a:pPr>
            <a:r>
              <a:rPr lang="en-US" i="1" dirty="0"/>
              <a:t>FOR EACH ROW</a:t>
            </a:r>
          </a:p>
          <a:p>
            <a:pPr>
              <a:spcBef>
                <a:spcPts val="600"/>
              </a:spcBef>
              <a:spcAft>
                <a:spcPts val="0"/>
              </a:spcAft>
            </a:pPr>
            <a:r>
              <a:rPr lang="en-US" i="1" dirty="0"/>
              <a:t>BEGIN</a:t>
            </a:r>
          </a:p>
          <a:p>
            <a:pPr>
              <a:spcBef>
                <a:spcPts val="600"/>
              </a:spcBef>
              <a:spcAft>
                <a:spcPts val="0"/>
              </a:spcAft>
            </a:pPr>
            <a:r>
              <a:rPr lang="en-US" i="1" dirty="0"/>
              <a:t>SIGNAL SQLSTATE '45000'</a:t>
            </a:r>
          </a:p>
          <a:p>
            <a:pPr>
              <a:spcBef>
                <a:spcPts val="600"/>
              </a:spcBef>
              <a:spcAft>
                <a:spcPts val="0"/>
              </a:spcAft>
            </a:pPr>
            <a:r>
              <a:rPr lang="en-US" i="1" dirty="0"/>
              <a:t>SET MESSAGE_TEXT='Deletion Not Allowed';</a:t>
            </a:r>
          </a:p>
          <a:p>
            <a:pPr>
              <a:spcBef>
                <a:spcPts val="600"/>
              </a:spcBef>
              <a:spcAft>
                <a:spcPts val="0"/>
              </a:spcAft>
            </a:pPr>
            <a:r>
              <a:rPr lang="en-US" i="1" dirty="0"/>
              <a:t>END;</a:t>
            </a:r>
          </a:p>
        </p:txBody>
      </p:sp>
    </p:spTree>
    <p:extLst>
      <p:ext uri="{BB962C8B-B14F-4D97-AF65-F5344CB8AC3E}">
        <p14:creationId xmlns:p14="http://schemas.microsoft.com/office/powerpoint/2010/main" val="34942641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EAF7DC-39AD-B770-96F1-B593D213E2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9A3EB6-6F67-E5E5-31E5-DB84C46EF8C6}"/>
              </a:ext>
            </a:extLst>
          </p:cNvPr>
          <p:cNvSpPr>
            <a:spLocks noGrp="1"/>
          </p:cNvSpPr>
          <p:nvPr>
            <p:ph type="title"/>
          </p:nvPr>
        </p:nvSpPr>
        <p:spPr/>
        <p:txBody>
          <a:bodyPr/>
          <a:lstStyle/>
          <a:p>
            <a:r>
              <a:rPr lang="en-US" dirty="0"/>
              <a:t>Advantages 				      Limitations</a:t>
            </a:r>
          </a:p>
        </p:txBody>
      </p:sp>
      <p:sp>
        <p:nvSpPr>
          <p:cNvPr id="3" name="Content Placeholder 2">
            <a:extLst>
              <a:ext uri="{FF2B5EF4-FFF2-40B4-BE49-F238E27FC236}">
                <a16:creationId xmlns:a16="http://schemas.microsoft.com/office/drawing/2014/main" id="{3F9E93CC-69B4-9D15-7338-876796E8C160}"/>
              </a:ext>
            </a:extLst>
          </p:cNvPr>
          <p:cNvSpPr>
            <a:spLocks noGrp="1"/>
          </p:cNvSpPr>
          <p:nvPr>
            <p:ph idx="1"/>
          </p:nvPr>
        </p:nvSpPr>
        <p:spPr/>
        <p:txBody>
          <a:bodyPr>
            <a:normAutofit/>
          </a:bodyPr>
          <a:lstStyle/>
          <a:p>
            <a:pPr marL="457200" indent="-457200">
              <a:buFont typeface="+mj-lt"/>
              <a:buAutoNum type="arabicPeriod"/>
            </a:pPr>
            <a:r>
              <a:rPr lang="en-US" b="1" dirty="0"/>
              <a:t>Automatic Execution</a:t>
            </a:r>
          </a:p>
          <a:p>
            <a:pPr marL="292608" lvl="1" indent="0">
              <a:buNone/>
            </a:pPr>
            <a:r>
              <a:rPr lang="en-US" dirty="0"/>
              <a:t>No manual intervention required.</a:t>
            </a:r>
          </a:p>
          <a:p>
            <a:pPr marL="457200" indent="-457200">
              <a:buFont typeface="+mj-lt"/>
              <a:buAutoNum type="arabicPeriod"/>
            </a:pPr>
            <a:r>
              <a:rPr lang="en-US" b="1" dirty="0"/>
              <a:t>Enforces Business Rules</a:t>
            </a:r>
          </a:p>
          <a:p>
            <a:pPr marL="292608" lvl="1" indent="0">
              <a:buNone/>
            </a:pPr>
            <a:r>
              <a:rPr lang="en-US" dirty="0"/>
              <a:t>Can implement complex constraints.</a:t>
            </a:r>
          </a:p>
          <a:p>
            <a:pPr marL="457200" indent="-457200">
              <a:buFont typeface="+mj-lt"/>
              <a:buAutoNum type="arabicPeriod"/>
            </a:pPr>
            <a:r>
              <a:rPr lang="en-US" b="1" dirty="0"/>
              <a:t>Maintains Data Integrity</a:t>
            </a:r>
          </a:p>
          <a:p>
            <a:pPr marL="292608" lvl="1" indent="0">
              <a:buNone/>
            </a:pPr>
            <a:r>
              <a:rPr lang="en-US" dirty="0"/>
              <a:t>Ensures consistency.</a:t>
            </a:r>
          </a:p>
          <a:p>
            <a:pPr marL="457200" indent="-457200">
              <a:buFont typeface="+mj-lt"/>
              <a:buAutoNum type="arabicPeriod"/>
            </a:pPr>
            <a:r>
              <a:rPr lang="en-US" b="1" dirty="0"/>
              <a:t>Audit Logging</a:t>
            </a:r>
          </a:p>
          <a:p>
            <a:pPr marL="292608" lvl="1" indent="0">
              <a:buNone/>
            </a:pPr>
            <a:r>
              <a:rPr lang="en-US" dirty="0"/>
              <a:t>Tracks inserts, updates, deletions.</a:t>
            </a:r>
          </a:p>
          <a:p>
            <a:pPr marL="457200" indent="-457200">
              <a:buFont typeface="+mj-lt"/>
              <a:buAutoNum type="arabicPeriod"/>
            </a:pPr>
            <a:r>
              <a:rPr lang="en-US" b="1" dirty="0"/>
              <a:t>Security</a:t>
            </a:r>
          </a:p>
          <a:p>
            <a:pPr marL="292608" lvl="1" indent="0">
              <a:buNone/>
            </a:pPr>
            <a:r>
              <a:rPr lang="en-US" dirty="0"/>
              <a:t>Can prevent unauthorized actions</a:t>
            </a:r>
          </a:p>
        </p:txBody>
      </p:sp>
      <p:sp>
        <p:nvSpPr>
          <p:cNvPr id="4" name="Content Placeholder 2">
            <a:extLst>
              <a:ext uri="{FF2B5EF4-FFF2-40B4-BE49-F238E27FC236}">
                <a16:creationId xmlns:a16="http://schemas.microsoft.com/office/drawing/2014/main" id="{25EDB9EA-6D1A-44FC-C91E-BFE916B6C3D4}"/>
              </a:ext>
            </a:extLst>
          </p:cNvPr>
          <p:cNvSpPr txBox="1">
            <a:spLocks/>
          </p:cNvSpPr>
          <p:nvPr/>
        </p:nvSpPr>
        <p:spPr>
          <a:xfrm>
            <a:off x="6743700" y="1998134"/>
            <a:ext cx="4564380" cy="402336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457200" indent="-457200" algn="r">
              <a:buFont typeface="+mj-lt"/>
              <a:buAutoNum type="arabicPeriod"/>
            </a:pPr>
            <a:r>
              <a:rPr lang="en-US" b="1" dirty="0"/>
              <a:t>Hidden Logic</a:t>
            </a:r>
          </a:p>
          <a:p>
            <a:pPr marL="292608" lvl="1" indent="0" algn="r">
              <a:buNone/>
            </a:pPr>
            <a:r>
              <a:rPr lang="en-US" dirty="0"/>
              <a:t>Triggers execute automatically and may be difficult to notice.</a:t>
            </a:r>
          </a:p>
          <a:p>
            <a:pPr marL="457200" indent="-457200" algn="r">
              <a:buFont typeface="+mj-lt"/>
              <a:buAutoNum type="arabicPeriod"/>
            </a:pPr>
            <a:r>
              <a:rPr lang="en-US" b="1" dirty="0"/>
              <a:t>Performance Overhead</a:t>
            </a:r>
          </a:p>
          <a:p>
            <a:pPr marL="292608" lvl="1" indent="0" algn="r">
              <a:buNone/>
            </a:pPr>
            <a:r>
              <a:rPr lang="en-US" dirty="0"/>
              <a:t>Too many triggers can slow down operations.</a:t>
            </a:r>
          </a:p>
          <a:p>
            <a:pPr marL="457200" indent="-457200" algn="r">
              <a:buFont typeface="+mj-lt"/>
              <a:buAutoNum type="arabicPeriod"/>
            </a:pPr>
            <a:r>
              <a:rPr lang="en-US" b="1" dirty="0"/>
              <a:t>Difficult Debugging</a:t>
            </a:r>
          </a:p>
          <a:p>
            <a:pPr marL="292608" lvl="1" indent="0" algn="r">
              <a:buNone/>
            </a:pPr>
            <a:r>
              <a:rPr lang="en-US" dirty="0"/>
              <a:t>Errors may be harder to trace.</a:t>
            </a:r>
          </a:p>
          <a:p>
            <a:pPr marL="457200" indent="-457200" algn="r">
              <a:buFont typeface="+mj-lt"/>
              <a:buAutoNum type="arabicPeriod"/>
            </a:pPr>
            <a:r>
              <a:rPr lang="en-US" b="1" dirty="0"/>
              <a:t>Complex Maintenance</a:t>
            </a:r>
          </a:p>
          <a:p>
            <a:pPr marL="292608" lvl="1" indent="0" algn="r">
              <a:buNone/>
            </a:pPr>
            <a:r>
              <a:rPr lang="en-US" dirty="0"/>
              <a:t>Large systems may contain many triggers.</a:t>
            </a:r>
          </a:p>
        </p:txBody>
      </p:sp>
    </p:spTree>
    <p:extLst>
      <p:ext uri="{BB962C8B-B14F-4D97-AF65-F5344CB8AC3E}">
        <p14:creationId xmlns:p14="http://schemas.microsoft.com/office/powerpoint/2010/main" val="1649138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57975-477C-2502-1582-CC7F7C064E05}"/>
              </a:ext>
            </a:extLst>
          </p:cNvPr>
          <p:cNvSpPr>
            <a:spLocks noGrp="1"/>
          </p:cNvSpPr>
          <p:nvPr>
            <p:ph type="title"/>
          </p:nvPr>
        </p:nvSpPr>
        <p:spPr/>
        <p:txBody>
          <a:bodyPr/>
          <a:lstStyle/>
          <a:p>
            <a:r>
              <a:rPr lang="en-US" dirty="0"/>
              <a:t>Features of Good Relational Designs</a:t>
            </a:r>
          </a:p>
        </p:txBody>
      </p:sp>
      <p:sp>
        <p:nvSpPr>
          <p:cNvPr id="3" name="Content Placeholder 2">
            <a:extLst>
              <a:ext uri="{FF2B5EF4-FFF2-40B4-BE49-F238E27FC236}">
                <a16:creationId xmlns:a16="http://schemas.microsoft.com/office/drawing/2014/main" id="{E9D71B71-F0BC-81C0-13DB-39916B7DC6CE}"/>
              </a:ext>
            </a:extLst>
          </p:cNvPr>
          <p:cNvSpPr>
            <a:spLocks noGrp="1"/>
          </p:cNvSpPr>
          <p:nvPr>
            <p:ph idx="1"/>
          </p:nvPr>
        </p:nvSpPr>
        <p:spPr/>
        <p:txBody>
          <a:bodyPr/>
          <a:lstStyle/>
          <a:p>
            <a:r>
              <a:rPr lang="en-US" dirty="0"/>
              <a:t>A good database design should:</a:t>
            </a:r>
          </a:p>
          <a:p>
            <a:pPr marL="457200" indent="-457200">
              <a:buFont typeface="+mj-lt"/>
              <a:buAutoNum type="arabicPeriod"/>
            </a:pPr>
            <a:r>
              <a:rPr lang="en-US" dirty="0"/>
              <a:t>Minimize redundancy </a:t>
            </a:r>
          </a:p>
          <a:p>
            <a:pPr marL="457200" indent="-457200">
              <a:buFont typeface="+mj-lt"/>
              <a:buAutoNum type="arabicPeriod"/>
            </a:pPr>
            <a:r>
              <a:rPr lang="en-US" dirty="0"/>
              <a:t>Avoid update anomalies </a:t>
            </a:r>
          </a:p>
          <a:p>
            <a:pPr marL="457200" indent="-457200">
              <a:buFont typeface="+mj-lt"/>
              <a:buAutoNum type="arabicPeriod"/>
            </a:pPr>
            <a:r>
              <a:rPr lang="en-US" dirty="0"/>
              <a:t>Ensure consistency </a:t>
            </a:r>
          </a:p>
          <a:p>
            <a:pPr marL="457200" indent="-457200">
              <a:buFont typeface="+mj-lt"/>
              <a:buAutoNum type="arabicPeriod"/>
            </a:pPr>
            <a:r>
              <a:rPr lang="en-US" dirty="0"/>
              <a:t>Support data integrity </a:t>
            </a:r>
          </a:p>
          <a:p>
            <a:pPr marL="457200" indent="-457200">
              <a:buFont typeface="+mj-lt"/>
              <a:buAutoNum type="arabicPeriod"/>
            </a:pPr>
            <a:r>
              <a:rPr lang="en-US" dirty="0"/>
              <a:t>Facilitate efficient queries </a:t>
            </a:r>
          </a:p>
          <a:p>
            <a:pPr marL="457200" indent="-457200">
              <a:buFont typeface="+mj-lt"/>
              <a:buAutoNum type="arabicPeriod"/>
            </a:pPr>
            <a:r>
              <a:rPr lang="en-US" dirty="0"/>
              <a:t>Be easy to maintain</a:t>
            </a:r>
          </a:p>
          <a:p>
            <a:endParaRPr lang="en-US" dirty="0"/>
          </a:p>
        </p:txBody>
      </p:sp>
    </p:spTree>
    <p:extLst>
      <p:ext uri="{BB962C8B-B14F-4D97-AF65-F5344CB8AC3E}">
        <p14:creationId xmlns:p14="http://schemas.microsoft.com/office/powerpoint/2010/main" val="26740145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DEB570-D60A-5EBC-3135-BBE61FF67368}"/>
              </a:ext>
            </a:extLst>
          </p:cNvPr>
          <p:cNvSpPr>
            <a:spLocks noGrp="1"/>
          </p:cNvSpPr>
          <p:nvPr>
            <p:ph type="title"/>
          </p:nvPr>
        </p:nvSpPr>
        <p:spPr/>
        <p:txBody>
          <a:bodyPr>
            <a:normAutofit/>
          </a:bodyPr>
          <a:lstStyle/>
          <a:p>
            <a:r>
              <a:rPr lang="en-US" dirty="0"/>
              <a:t>Functional dependencies</a:t>
            </a:r>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6C01DA63-0A7A-E2B2-D85F-8205B019F7EE}"/>
                  </a:ext>
                </a:extLst>
              </p:cNvPr>
              <p:cNvSpPr txBox="1">
                <a:spLocks/>
              </p:cNvSpPr>
              <p:nvPr/>
            </p:nvSpPr>
            <p:spPr>
              <a:xfrm>
                <a:off x="845820" y="1860974"/>
                <a:ext cx="10058400" cy="402336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dirty="0"/>
                  <a:t>A functional dependency describes a relationship between attributes in a table.</a:t>
                </a:r>
              </a:p>
              <a:p>
                <a:r>
                  <a:rPr lang="en-US" dirty="0"/>
                  <a:t>It states that the value of one attribute uniquely determines the value of another attribute</a:t>
                </a:r>
              </a:p>
              <a:p>
                <a:pPr marL="201168" lvl="1" indent="0" algn="ctr">
                  <a:buFont typeface="Calibri" pitchFamily="34" charset="0"/>
                  <a:buNone/>
                </a:pPr>
                <a:r>
                  <a:rPr lang="en-US" sz="2800" dirty="0"/>
                  <a:t>X→Y</a:t>
                </a:r>
              </a:p>
              <a:p>
                <a:pPr marL="201168" lvl="1" indent="0">
                  <a:buFont typeface="Calibri" pitchFamily="34" charset="0"/>
                  <a:buNone/>
                </a:pPr>
                <a:r>
                  <a:rPr lang="en-US" b="1" dirty="0"/>
                  <a:t>		X </a:t>
                </a:r>
                <a:r>
                  <a:rPr lang="en-US" dirty="0"/>
                  <a:t>(Left Hand Side): Called the Determinant.</a:t>
                </a:r>
              </a:p>
              <a:p>
                <a:pPr marL="201168" lvl="1" indent="0">
                  <a:buFont typeface="Calibri" pitchFamily="34" charset="0"/>
                  <a:buNone/>
                </a:pPr>
                <a:r>
                  <a:rPr lang="en-US" b="1" dirty="0"/>
                  <a:t>		Y </a:t>
                </a:r>
                <a:r>
                  <a:rPr lang="en-US" dirty="0"/>
                  <a:t>(Right Hand Side): Called the Dependent</a:t>
                </a:r>
              </a:p>
              <a:p>
                <a:r>
                  <a:rPr lang="en-US" dirty="0"/>
                  <a:t>Means: "If two tuples have the same value of X, they must have the same value of Y."</a:t>
                </a:r>
              </a:p>
              <a:p>
                <a:r>
                  <a:rPr lang="en-US" dirty="0"/>
                  <a:t>Since </a:t>
                </a:r>
                <a:r>
                  <a:rPr lang="en-US" dirty="0" err="1"/>
                  <a:t>Roll_No</a:t>
                </a:r>
                <a:r>
                  <a:rPr lang="en-US" dirty="0"/>
                  <a:t> uniquely identifies students:</a:t>
                </a:r>
              </a:p>
              <a:p>
                <a:pPr marL="201168" lvl="1" indent="0">
                  <a:buNone/>
                </a:pPr>
                <a14:m>
                  <m:oMathPara xmlns:m="http://schemas.openxmlformats.org/officeDocument/2006/math">
                    <m:oMathParaPr>
                      <m:jc m:val="centerGroup"/>
                    </m:oMathParaPr>
                    <m:oMath xmlns:m="http://schemas.openxmlformats.org/officeDocument/2006/math">
                      <m:r>
                        <a:rPr lang="en-US" i="1">
                          <a:solidFill>
                            <a:schemeClr val="tx1"/>
                          </a:solidFill>
                          <a:latin typeface="Cambria Math" panose="02040503050406030204" pitchFamily="18" charset="0"/>
                        </a:rPr>
                        <m:t>𝑅𝑜𝑙𝑙</m:t>
                      </m:r>
                      <m:r>
                        <m:rPr>
                          <m:lit/>
                        </m:rPr>
                        <a:rPr lang="en-US">
                          <a:solidFill>
                            <a:schemeClr val="tx1"/>
                          </a:solidFill>
                          <a:latin typeface="Cambria Math" panose="02040503050406030204" pitchFamily="18" charset="0"/>
                        </a:rPr>
                        <m:t>_</m:t>
                      </m:r>
                      <m:r>
                        <a:rPr lang="en-US" i="1">
                          <a:solidFill>
                            <a:schemeClr val="tx1"/>
                          </a:solidFill>
                          <a:latin typeface="Cambria Math" panose="02040503050406030204" pitchFamily="18" charset="0"/>
                        </a:rPr>
                        <m:t>𝑁𝑜</m:t>
                      </m:r>
                      <m:r>
                        <a:rPr lang="en-US">
                          <a:solidFill>
                            <a:schemeClr val="tx1"/>
                          </a:solidFill>
                          <a:latin typeface="Cambria Math" panose="02040503050406030204" pitchFamily="18" charset="0"/>
                        </a:rPr>
                        <m:t>→</m:t>
                      </m:r>
                      <m:r>
                        <a:rPr lang="en-US" i="1">
                          <a:solidFill>
                            <a:schemeClr val="tx1"/>
                          </a:solidFill>
                          <a:latin typeface="Cambria Math" panose="02040503050406030204" pitchFamily="18" charset="0"/>
                        </a:rPr>
                        <m:t>𝑁𝑎𝑚𝑒</m:t>
                      </m:r>
                    </m:oMath>
                  </m:oMathPara>
                </a14:m>
                <a:endParaRPr lang="en-US" i="1" dirty="0">
                  <a:solidFill>
                    <a:schemeClr val="tx1"/>
                  </a:solidFill>
                  <a:latin typeface="Cambria Math" panose="02040503050406030204" pitchFamily="18" charset="0"/>
                </a:endParaRPr>
              </a:p>
              <a:p>
                <a:pPr marL="201168" lvl="1" indent="0">
                  <a:buNone/>
                </a:pPr>
                <a14:m>
                  <m:oMathPara xmlns:m="http://schemas.openxmlformats.org/officeDocument/2006/math">
                    <m:oMathParaPr>
                      <m:jc m:val="centerGroup"/>
                    </m:oMathParaPr>
                    <m:oMath xmlns:m="http://schemas.openxmlformats.org/officeDocument/2006/math">
                      <m:r>
                        <m:rPr>
                          <m:sty m:val="p"/>
                        </m:rPr>
                        <a:rPr lang="en-US" b="0" i="0" smtClean="0">
                          <a:solidFill>
                            <a:schemeClr val="tx1"/>
                          </a:solidFill>
                          <a:latin typeface="Cambria Math" panose="02040503050406030204" pitchFamily="18" charset="0"/>
                        </a:rPr>
                        <m:t>Roll</m:t>
                      </m:r>
                      <m:r>
                        <a:rPr lang="en-US" b="0" i="0" smtClean="0">
                          <a:solidFill>
                            <a:schemeClr val="tx1"/>
                          </a:solidFill>
                          <a:latin typeface="Cambria Math" panose="02040503050406030204" pitchFamily="18" charset="0"/>
                        </a:rPr>
                        <m:t>_</m:t>
                      </m:r>
                      <m:r>
                        <m:rPr>
                          <m:sty m:val="p"/>
                        </m:rPr>
                        <a:rPr lang="en-US" b="0" i="0" smtClean="0">
                          <a:solidFill>
                            <a:schemeClr val="tx1"/>
                          </a:solidFill>
                          <a:latin typeface="Cambria Math" panose="02040503050406030204" pitchFamily="18" charset="0"/>
                        </a:rPr>
                        <m:t>No</m:t>
                      </m:r>
                      <m:r>
                        <a:rPr lang="en-US" b="0" i="0" smtClean="0">
                          <a:solidFill>
                            <a:schemeClr val="tx1"/>
                          </a:solidFill>
                          <a:latin typeface="Cambria Math" panose="02040503050406030204" pitchFamily="18" charset="0"/>
                        </a:rPr>
                        <m:t> →</m:t>
                      </m:r>
                      <m:r>
                        <a:rPr lang="en-US" i="1">
                          <a:solidFill>
                            <a:schemeClr val="tx1"/>
                          </a:solidFill>
                          <a:latin typeface="Cambria Math" panose="02040503050406030204" pitchFamily="18" charset="0"/>
                        </a:rPr>
                        <m:t>𝐴𝑑𝑑𝑟𝑒𝑠𝑠</m:t>
                      </m:r>
                    </m:oMath>
                  </m:oMathPara>
                </a14:m>
                <a:endParaRPr lang="en-US" dirty="0"/>
              </a:p>
              <a:p>
                <a:r>
                  <a:rPr lang="en-US" dirty="0" err="1"/>
                  <a:t>Roll_No</a:t>
                </a:r>
                <a:r>
                  <a:rPr lang="en-US" dirty="0"/>
                  <a:t> always corresponds to exactly one  Name and one Address.</a:t>
                </a:r>
              </a:p>
              <a:p>
                <a:endParaRPr lang="en-US" dirty="0"/>
              </a:p>
              <a:p>
                <a:pPr marL="0" indent="0">
                  <a:buFont typeface="Calibri" panose="020F0502020204030204" pitchFamily="34" charset="0"/>
                  <a:buNone/>
                </a:pPr>
                <a:endParaRPr lang="en-US" dirty="0"/>
              </a:p>
            </p:txBody>
          </p:sp>
        </mc:Choice>
        <mc:Fallback xmlns="">
          <p:sp>
            <p:nvSpPr>
              <p:cNvPr id="4" name="Content Placeholder 2">
                <a:extLst>
                  <a:ext uri="{FF2B5EF4-FFF2-40B4-BE49-F238E27FC236}">
                    <a16:creationId xmlns:a16="http://schemas.microsoft.com/office/drawing/2014/main" id="{6C01DA63-0A7A-E2B2-D85F-8205B019F7EE}"/>
                  </a:ext>
                </a:extLst>
              </p:cNvPr>
              <p:cNvSpPr txBox="1">
                <a:spLocks noRot="1" noChangeAspect="1" noMove="1" noResize="1" noEditPoints="1" noAdjustHandles="1" noChangeArrowheads="1" noChangeShapeType="1" noTextEdit="1"/>
              </p:cNvSpPr>
              <p:nvPr/>
            </p:nvSpPr>
            <p:spPr>
              <a:xfrm>
                <a:off x="845820" y="1860974"/>
                <a:ext cx="10058400" cy="4023360"/>
              </a:xfrm>
              <a:prstGeom prst="rect">
                <a:avLst/>
              </a:prstGeom>
              <a:blipFill>
                <a:blip r:embed="rId3"/>
                <a:stretch>
                  <a:fillRect l="-667" t="-1515"/>
                </a:stretch>
              </a:blipFill>
            </p:spPr>
            <p:txBody>
              <a:bodyPr/>
              <a:lstStyle/>
              <a:p>
                <a:r>
                  <a:rPr lang="en-US">
                    <a:noFill/>
                  </a:rPr>
                  <a:t> </a:t>
                </a:r>
              </a:p>
            </p:txBody>
          </p:sp>
        </mc:Fallback>
      </mc:AlternateContent>
      <p:graphicFrame>
        <p:nvGraphicFramePr>
          <p:cNvPr id="7" name="Content Placeholder 6">
            <a:extLst>
              <a:ext uri="{FF2B5EF4-FFF2-40B4-BE49-F238E27FC236}">
                <a16:creationId xmlns:a16="http://schemas.microsoft.com/office/drawing/2014/main" id="{15A6CF63-E0AD-8695-4A34-15319F81A4B8}"/>
              </a:ext>
            </a:extLst>
          </p:cNvPr>
          <p:cNvGraphicFramePr>
            <a:graphicFrameLocks noGrp="1"/>
          </p:cNvGraphicFramePr>
          <p:nvPr>
            <p:ph idx="1"/>
            <p:extLst>
              <p:ext uri="{D42A27DB-BD31-4B8C-83A1-F6EECF244321}">
                <p14:modId xmlns:p14="http://schemas.microsoft.com/office/powerpoint/2010/main" val="3284553507"/>
              </p:ext>
            </p:extLst>
          </p:nvPr>
        </p:nvGraphicFramePr>
        <p:xfrm>
          <a:off x="8161020" y="4400974"/>
          <a:ext cx="3794760" cy="1483360"/>
        </p:xfrm>
        <a:graphic>
          <a:graphicData uri="http://schemas.openxmlformats.org/drawingml/2006/table">
            <a:tbl>
              <a:tblPr firstRow="1" bandRow="1">
                <a:tableStyleId>{5C22544A-7EE6-4342-B048-85BDC9FD1C3A}</a:tableStyleId>
              </a:tblPr>
              <a:tblGrid>
                <a:gridCol w="1264920">
                  <a:extLst>
                    <a:ext uri="{9D8B030D-6E8A-4147-A177-3AD203B41FA5}">
                      <a16:colId xmlns:a16="http://schemas.microsoft.com/office/drawing/2014/main" val="2064071662"/>
                    </a:ext>
                  </a:extLst>
                </a:gridCol>
                <a:gridCol w="1264920">
                  <a:extLst>
                    <a:ext uri="{9D8B030D-6E8A-4147-A177-3AD203B41FA5}">
                      <a16:colId xmlns:a16="http://schemas.microsoft.com/office/drawing/2014/main" val="716482732"/>
                    </a:ext>
                  </a:extLst>
                </a:gridCol>
                <a:gridCol w="1264920">
                  <a:extLst>
                    <a:ext uri="{9D8B030D-6E8A-4147-A177-3AD203B41FA5}">
                      <a16:colId xmlns:a16="http://schemas.microsoft.com/office/drawing/2014/main" val="966096951"/>
                    </a:ext>
                  </a:extLst>
                </a:gridCol>
              </a:tblGrid>
              <a:tr h="370840">
                <a:tc>
                  <a:txBody>
                    <a:bodyPr/>
                    <a:lstStyle/>
                    <a:p>
                      <a:r>
                        <a:rPr lang="en-US" dirty="0" err="1"/>
                        <a:t>Roll_no</a:t>
                      </a:r>
                      <a:endParaRPr lang="en-US" dirty="0"/>
                    </a:p>
                  </a:txBody>
                  <a:tcPr/>
                </a:tc>
                <a:tc>
                  <a:txBody>
                    <a:bodyPr/>
                    <a:lstStyle/>
                    <a:p>
                      <a:r>
                        <a:rPr lang="en-US" dirty="0"/>
                        <a:t>Name</a:t>
                      </a:r>
                    </a:p>
                  </a:txBody>
                  <a:tcPr/>
                </a:tc>
                <a:tc>
                  <a:txBody>
                    <a:bodyPr/>
                    <a:lstStyle/>
                    <a:p>
                      <a:r>
                        <a:rPr lang="en-US" dirty="0"/>
                        <a:t>Address</a:t>
                      </a:r>
                    </a:p>
                  </a:txBody>
                  <a:tcPr/>
                </a:tc>
                <a:extLst>
                  <a:ext uri="{0D108BD9-81ED-4DB2-BD59-A6C34878D82A}">
                    <a16:rowId xmlns:a16="http://schemas.microsoft.com/office/drawing/2014/main" val="751874466"/>
                  </a:ext>
                </a:extLst>
              </a:tr>
              <a:tr h="370840">
                <a:tc>
                  <a:txBody>
                    <a:bodyPr/>
                    <a:lstStyle/>
                    <a:p>
                      <a:r>
                        <a:rPr lang="en-US" dirty="0"/>
                        <a:t>101</a:t>
                      </a:r>
                    </a:p>
                  </a:txBody>
                  <a:tcPr/>
                </a:tc>
                <a:tc>
                  <a:txBody>
                    <a:bodyPr/>
                    <a:lstStyle/>
                    <a:p>
                      <a:r>
                        <a:rPr lang="en-US" dirty="0"/>
                        <a:t>Ram</a:t>
                      </a:r>
                    </a:p>
                  </a:txBody>
                  <a:tcPr/>
                </a:tc>
                <a:tc>
                  <a:txBody>
                    <a:bodyPr/>
                    <a:lstStyle/>
                    <a:p>
                      <a:r>
                        <a:rPr lang="en-US" dirty="0"/>
                        <a:t>Kathmandu</a:t>
                      </a:r>
                    </a:p>
                  </a:txBody>
                  <a:tcPr/>
                </a:tc>
                <a:extLst>
                  <a:ext uri="{0D108BD9-81ED-4DB2-BD59-A6C34878D82A}">
                    <a16:rowId xmlns:a16="http://schemas.microsoft.com/office/drawing/2014/main" val="728253061"/>
                  </a:ext>
                </a:extLst>
              </a:tr>
              <a:tr h="370840">
                <a:tc>
                  <a:txBody>
                    <a:bodyPr/>
                    <a:lstStyle/>
                    <a:p>
                      <a:r>
                        <a:rPr lang="en-US" dirty="0"/>
                        <a:t>102</a:t>
                      </a:r>
                    </a:p>
                  </a:txBody>
                  <a:tcPr/>
                </a:tc>
                <a:tc>
                  <a:txBody>
                    <a:bodyPr/>
                    <a:lstStyle/>
                    <a:p>
                      <a:r>
                        <a:rPr lang="en-US" dirty="0"/>
                        <a:t>Sita</a:t>
                      </a:r>
                    </a:p>
                  </a:txBody>
                  <a:tcPr/>
                </a:tc>
                <a:tc>
                  <a:txBody>
                    <a:bodyPr/>
                    <a:lstStyle/>
                    <a:p>
                      <a:r>
                        <a:rPr lang="en-US" dirty="0"/>
                        <a:t>Pokhara</a:t>
                      </a:r>
                    </a:p>
                  </a:txBody>
                  <a:tcPr/>
                </a:tc>
                <a:extLst>
                  <a:ext uri="{0D108BD9-81ED-4DB2-BD59-A6C34878D82A}">
                    <a16:rowId xmlns:a16="http://schemas.microsoft.com/office/drawing/2014/main" val="1091313022"/>
                  </a:ext>
                </a:extLst>
              </a:tr>
              <a:tr h="370840">
                <a:tc>
                  <a:txBody>
                    <a:bodyPr/>
                    <a:lstStyle/>
                    <a:p>
                      <a:r>
                        <a:rPr lang="en-US" dirty="0"/>
                        <a:t>101</a:t>
                      </a:r>
                    </a:p>
                  </a:txBody>
                  <a:tcPr/>
                </a:tc>
                <a:tc>
                  <a:txBody>
                    <a:bodyPr/>
                    <a:lstStyle/>
                    <a:p>
                      <a:r>
                        <a:rPr lang="en-US" dirty="0"/>
                        <a:t>Ram</a:t>
                      </a:r>
                    </a:p>
                  </a:txBody>
                  <a:tcPr/>
                </a:tc>
                <a:tc>
                  <a:txBody>
                    <a:bodyPr/>
                    <a:lstStyle/>
                    <a:p>
                      <a:r>
                        <a:rPr lang="en-US" dirty="0"/>
                        <a:t>Kathmandu</a:t>
                      </a:r>
                    </a:p>
                  </a:txBody>
                  <a:tcPr/>
                </a:tc>
                <a:extLst>
                  <a:ext uri="{0D108BD9-81ED-4DB2-BD59-A6C34878D82A}">
                    <a16:rowId xmlns:a16="http://schemas.microsoft.com/office/drawing/2014/main" val="1780486527"/>
                  </a:ext>
                </a:extLst>
              </a:tr>
            </a:tbl>
          </a:graphicData>
        </a:graphic>
      </p:graphicFrame>
    </p:spTree>
    <p:extLst>
      <p:ext uri="{BB962C8B-B14F-4D97-AF65-F5344CB8AC3E}">
        <p14:creationId xmlns:p14="http://schemas.microsoft.com/office/powerpoint/2010/main" val="35401062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DCE1EA3-6E0B-18B4-FDE4-79BD27353CC4}"/>
              </a:ext>
            </a:extLst>
          </p:cNvPr>
          <p:cNvPicPr>
            <a:picLocks noChangeAspect="1"/>
          </p:cNvPicPr>
          <p:nvPr/>
        </p:nvPicPr>
        <p:blipFill>
          <a:blip r:embed="rId2"/>
          <a:stretch>
            <a:fillRect/>
          </a:stretch>
        </p:blipFill>
        <p:spPr>
          <a:xfrm>
            <a:off x="4267200" y="1153456"/>
            <a:ext cx="6888480" cy="4925065"/>
          </a:xfrm>
          <a:prstGeom prst="rect">
            <a:avLst/>
          </a:prstGeom>
        </p:spPr>
      </p:pic>
      <p:sp>
        <p:nvSpPr>
          <p:cNvPr id="2" name="Title 1">
            <a:extLst>
              <a:ext uri="{FF2B5EF4-FFF2-40B4-BE49-F238E27FC236}">
                <a16:creationId xmlns:a16="http://schemas.microsoft.com/office/drawing/2014/main" id="{D2784038-8953-D877-30C6-0FE7A993A4C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D6086E8-5000-D23C-35C0-66CE5A288972}"/>
              </a:ext>
            </a:extLst>
          </p:cNvPr>
          <p:cNvSpPr>
            <a:spLocks noGrp="1"/>
          </p:cNvSpPr>
          <p:nvPr>
            <p:ph idx="1"/>
          </p:nvPr>
        </p:nvSpPr>
        <p:spPr>
          <a:xfrm>
            <a:off x="1097280" y="1845734"/>
            <a:ext cx="4650377" cy="4023360"/>
          </a:xfrm>
        </p:spPr>
        <p:txBody>
          <a:bodyPr/>
          <a:lstStyle/>
          <a:p>
            <a:endParaRPr lang="en-US" dirty="0"/>
          </a:p>
        </p:txBody>
      </p:sp>
    </p:spTree>
    <p:extLst>
      <p:ext uri="{BB962C8B-B14F-4D97-AF65-F5344CB8AC3E}">
        <p14:creationId xmlns:p14="http://schemas.microsoft.com/office/powerpoint/2010/main" val="252010429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9C2D71-4630-39D3-5A68-C2C0F5ACE14A}"/>
              </a:ext>
            </a:extLst>
          </p:cNvPr>
          <p:cNvSpPr>
            <a:spLocks noGrp="1"/>
          </p:cNvSpPr>
          <p:nvPr>
            <p:ph type="title"/>
          </p:nvPr>
        </p:nvSpPr>
        <p:spPr/>
        <p:txBody>
          <a:bodyPr/>
          <a:lstStyle/>
          <a:p>
            <a:r>
              <a:rPr lang="en-US" dirty="0"/>
              <a:t>Trivial Functional Dependencies</a:t>
            </a:r>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97926F9C-8D50-5B08-F3C6-E5A6498D9CE3}"/>
                  </a:ext>
                </a:extLst>
              </p:cNvPr>
              <p:cNvSpPr txBox="1">
                <a:spLocks/>
              </p:cNvSpPr>
              <p:nvPr/>
            </p:nvSpPr>
            <p:spPr>
              <a:xfrm>
                <a:off x="838200" y="1766994"/>
                <a:ext cx="10058400" cy="4023360"/>
              </a:xfrm>
              <a:prstGeom prst="rect">
                <a:avLst/>
              </a:prstGeom>
            </p:spPr>
            <p:txBody>
              <a:bodyPr vert="horz" lIns="0" tIns="45720" rIns="0" bIns="45720" rtlCol="0">
                <a:normAutofit fontScale="92500"/>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dirty="0"/>
                  <a:t>A dependency is trivial if the right side is a subset of the left side. These are always  valid (True)</a:t>
                </a:r>
              </a:p>
              <a:p>
                <a:r>
                  <a:rPr lang="en-US" b="1" dirty="0"/>
                  <a:t>Example</a:t>
                </a:r>
              </a:p>
              <a:p>
                <a:pPr marL="201168" lvl="1" indent="0">
                  <a:buFont typeface="Calibri" pitchFamily="34" charset="0"/>
                  <a:buNone/>
                </a:pPr>
                <a14:m>
                  <m:oMathPara xmlns:m="http://schemas.openxmlformats.org/officeDocument/2006/math">
                    <m:oMathParaPr>
                      <m:jc m:val="centerGroup"/>
                    </m:oMathParaPr>
                    <m:oMath xmlns:m="http://schemas.openxmlformats.org/officeDocument/2006/math">
                      <m:d>
                        <m:dPr>
                          <m:sepChr m:val=","/>
                          <m:ctrlPr>
                            <a:rPr lang="ar-AE" i="1">
                              <a:latin typeface="Cambria Math" panose="02040503050406030204" pitchFamily="18" charset="0"/>
                            </a:rPr>
                          </m:ctrlPr>
                        </m:dPr>
                        <m:e>
                          <m:r>
                            <a:rPr lang="ar-AE" i="1">
                              <a:latin typeface="Cambria Math" panose="02040503050406030204" pitchFamily="18" charset="0"/>
                            </a:rPr>
                            <m:t>𝐴</m:t>
                          </m:r>
                        </m:e>
                        <m:e>
                          <m:r>
                            <a:rPr lang="ar-AE" i="1">
                              <a:latin typeface="Cambria Math" panose="02040503050406030204" pitchFamily="18" charset="0"/>
                            </a:rPr>
                            <m:t>𝐵</m:t>
                          </m:r>
                        </m:e>
                      </m:d>
                      <m:r>
                        <a:rPr lang="ar-AE">
                          <a:latin typeface="Cambria Math" panose="02040503050406030204" pitchFamily="18" charset="0"/>
                        </a:rPr>
                        <m:t>→</m:t>
                      </m:r>
                      <m:r>
                        <a:rPr lang="ar-AE" i="1">
                          <a:latin typeface="Cambria Math" panose="02040503050406030204" pitchFamily="18" charset="0"/>
                        </a:rPr>
                        <m:t>𝐴</m:t>
                      </m:r>
                    </m:oMath>
                  </m:oMathPara>
                </a14:m>
                <a:endParaRPr lang="ar-AE" dirty="0"/>
              </a:p>
              <a:p>
                <a:pPr marL="201168" lvl="1" indent="0">
                  <a:buFont typeface="Calibri" pitchFamily="34" charset="0"/>
                  <a:buNone/>
                </a:pPr>
                <a14:m>
                  <m:oMathPara xmlns:m="http://schemas.openxmlformats.org/officeDocument/2006/math">
                    <m:oMathParaPr>
                      <m:jc m:val="centerGroup"/>
                    </m:oMathParaPr>
                    <m:oMath xmlns:m="http://schemas.openxmlformats.org/officeDocument/2006/math">
                      <m:d>
                        <m:dPr>
                          <m:sepChr m:val=","/>
                          <m:ctrlPr>
                            <a:rPr lang="ar-AE" i="1">
                              <a:latin typeface="Cambria Math" panose="02040503050406030204" pitchFamily="18" charset="0"/>
                            </a:rPr>
                          </m:ctrlPr>
                        </m:dPr>
                        <m:e/>
                        <m:e>
                          <m:r>
                            <m:rPr>
                              <m:sty m:val="p"/>
                            </m:rPr>
                            <a:rPr lang="en-US" i="1" smtClean="0">
                              <a:latin typeface="Cambria Math" panose="02040503050406030204" pitchFamily="18" charset="0"/>
                            </a:rPr>
                            <m:t>St</m:t>
                          </m:r>
                          <m:r>
                            <a:rPr lang="ar-AE" i="1">
                              <a:latin typeface="Cambria Math" panose="02040503050406030204" pitchFamily="18" charset="0"/>
                            </a:rPr>
                            <m:t>𝑢𝑑𝑒𝑛𝑡𝐼𝐷</m:t>
                          </m:r>
                          <m:r>
                            <a:rPr lang="en-US" i="1" smtClean="0">
                              <a:latin typeface="Cambria Math" panose="02040503050406030204" pitchFamily="18" charset="0"/>
                            </a:rPr>
                            <m:t>,  </m:t>
                          </m:r>
                          <m:r>
                            <a:rPr lang="ar-AE" i="1">
                              <a:latin typeface="Cambria Math" panose="02040503050406030204" pitchFamily="18" charset="0"/>
                            </a:rPr>
                            <m:t>𝑆𝑢𝑏𝑗𝑒𝑐𝑡</m:t>
                          </m:r>
                        </m:e>
                      </m:d>
                      <m:r>
                        <a:rPr lang="ar-AE">
                          <a:latin typeface="Cambria Math" panose="02040503050406030204" pitchFamily="18" charset="0"/>
                        </a:rPr>
                        <m:t>→</m:t>
                      </m:r>
                      <m:r>
                        <a:rPr lang="ar-AE" i="1">
                          <a:latin typeface="Cambria Math" panose="02040503050406030204" pitchFamily="18" charset="0"/>
                        </a:rPr>
                        <m:t>𝑆𝑢𝑏𝑗𝑒𝑐𝑡</m:t>
                      </m:r>
                    </m:oMath>
                  </m:oMathPara>
                </a14:m>
                <a:endParaRPr lang="ar-AE" dirty="0"/>
              </a:p>
              <a:p>
                <a:r>
                  <a:rPr lang="en-US" dirty="0"/>
                  <a:t>Since Subject is already part of the left side. That means every attribute in Y is already included in X.</a:t>
                </a:r>
              </a:p>
              <a:p>
                <a:r>
                  <a:rPr lang="en-US" dirty="0"/>
                  <a:t>Functional Dependency: : </a:t>
                </a:r>
                <a:r>
                  <a:rPr lang="en-US" b="1" dirty="0"/>
                  <a:t>(</a:t>
                </a:r>
                <a:r>
                  <a:rPr lang="en-US" b="1" dirty="0" err="1"/>
                  <a:t>Roll_No</a:t>
                </a:r>
                <a:r>
                  <a:rPr lang="en-US" b="1" dirty="0"/>
                  <a:t>, Name) → Name</a:t>
                </a:r>
                <a:endParaRPr lang="en-US" dirty="0"/>
              </a:p>
              <a:p>
                <a:r>
                  <a:rPr lang="en-US" dirty="0"/>
                  <a:t>Why is it trivial?</a:t>
                </a:r>
              </a:p>
              <a:p>
                <a:r>
                  <a:rPr lang="en-US" dirty="0"/>
                  <a:t>LHS = {</a:t>
                </a:r>
                <a:r>
                  <a:rPr lang="en-US" dirty="0" err="1"/>
                  <a:t>Roll_No</a:t>
                </a:r>
                <a:r>
                  <a:rPr lang="en-US" dirty="0"/>
                  <a:t>, Name}  &amp;  RHS = {Name} </a:t>
                </a:r>
              </a:p>
              <a:p>
                <a:r>
                  <a:rPr lang="en-US" dirty="0"/>
                  <a:t>RHS is a subset of LHS </a:t>
                </a:r>
              </a:p>
              <a:p>
                <a:r>
                  <a:rPr lang="en-US" dirty="0"/>
                  <a:t>Therefore: </a:t>
                </a:r>
                <a:r>
                  <a:rPr lang="en-US" b="1" dirty="0"/>
                  <a:t>(</a:t>
                </a:r>
                <a:r>
                  <a:rPr lang="en-US" b="1" dirty="0" err="1"/>
                  <a:t>Roll_No</a:t>
                </a:r>
                <a:r>
                  <a:rPr lang="en-US" b="1" dirty="0"/>
                  <a:t>, Name) → Name</a:t>
                </a:r>
                <a:r>
                  <a:rPr lang="en-US" dirty="0"/>
                  <a:t> is a </a:t>
                </a:r>
                <a:r>
                  <a:rPr lang="en-US" b="1" dirty="0"/>
                  <a:t>trivial dependency</a:t>
                </a:r>
                <a:r>
                  <a:rPr lang="en-US" dirty="0"/>
                  <a:t>.</a:t>
                </a:r>
              </a:p>
              <a:p>
                <a:endParaRPr lang="en-US" dirty="0"/>
              </a:p>
              <a:p>
                <a:endParaRPr lang="en-US" dirty="0"/>
              </a:p>
            </p:txBody>
          </p:sp>
        </mc:Choice>
        <mc:Fallback xmlns="">
          <p:sp>
            <p:nvSpPr>
              <p:cNvPr id="4" name="Content Placeholder 2">
                <a:extLst>
                  <a:ext uri="{FF2B5EF4-FFF2-40B4-BE49-F238E27FC236}">
                    <a16:creationId xmlns:a16="http://schemas.microsoft.com/office/drawing/2014/main" id="{97926F9C-8D50-5B08-F3C6-E5A6498D9CE3}"/>
                  </a:ext>
                </a:extLst>
              </p:cNvPr>
              <p:cNvSpPr txBox="1">
                <a:spLocks noRot="1" noChangeAspect="1" noMove="1" noResize="1" noEditPoints="1" noAdjustHandles="1" noChangeArrowheads="1" noChangeShapeType="1" noTextEdit="1"/>
              </p:cNvSpPr>
              <p:nvPr/>
            </p:nvSpPr>
            <p:spPr>
              <a:xfrm>
                <a:off x="838200" y="1766994"/>
                <a:ext cx="10058400" cy="4023360"/>
              </a:xfrm>
              <a:prstGeom prst="rect">
                <a:avLst/>
              </a:prstGeom>
              <a:blipFill>
                <a:blip r:embed="rId3"/>
                <a:stretch>
                  <a:fillRect l="-1515" t="-1515" b="-23636"/>
                </a:stretch>
              </a:blipFill>
            </p:spPr>
            <p:txBody>
              <a:bodyPr/>
              <a:lstStyle/>
              <a:p>
                <a:r>
                  <a:rPr lang="en-US">
                    <a:noFill/>
                  </a:rPr>
                  <a:t> </a:t>
                </a:r>
              </a:p>
            </p:txBody>
          </p:sp>
        </mc:Fallback>
      </mc:AlternateContent>
      <p:graphicFrame>
        <p:nvGraphicFramePr>
          <p:cNvPr id="7" name="Content Placeholder 6">
            <a:extLst>
              <a:ext uri="{FF2B5EF4-FFF2-40B4-BE49-F238E27FC236}">
                <a16:creationId xmlns:a16="http://schemas.microsoft.com/office/drawing/2014/main" id="{9BBB388C-C6CD-A6DA-B650-083E03A18649}"/>
              </a:ext>
            </a:extLst>
          </p:cNvPr>
          <p:cNvGraphicFramePr>
            <a:graphicFrameLocks noGrp="1"/>
          </p:cNvGraphicFramePr>
          <p:nvPr>
            <p:ph idx="1"/>
            <p:extLst>
              <p:ext uri="{D42A27DB-BD31-4B8C-83A1-F6EECF244321}">
                <p14:modId xmlns:p14="http://schemas.microsoft.com/office/powerpoint/2010/main" val="300636127"/>
              </p:ext>
            </p:extLst>
          </p:nvPr>
        </p:nvGraphicFramePr>
        <p:xfrm>
          <a:off x="7421880" y="3739728"/>
          <a:ext cx="4137978" cy="1112520"/>
        </p:xfrm>
        <a:graphic>
          <a:graphicData uri="http://schemas.openxmlformats.org/drawingml/2006/table">
            <a:tbl>
              <a:tblPr firstRow="1" bandRow="1">
                <a:tableStyleId>{5C22544A-7EE6-4342-B048-85BDC9FD1C3A}</a:tableStyleId>
              </a:tblPr>
              <a:tblGrid>
                <a:gridCol w="1379326">
                  <a:extLst>
                    <a:ext uri="{9D8B030D-6E8A-4147-A177-3AD203B41FA5}">
                      <a16:colId xmlns:a16="http://schemas.microsoft.com/office/drawing/2014/main" val="2469237928"/>
                    </a:ext>
                  </a:extLst>
                </a:gridCol>
                <a:gridCol w="1379326">
                  <a:extLst>
                    <a:ext uri="{9D8B030D-6E8A-4147-A177-3AD203B41FA5}">
                      <a16:colId xmlns:a16="http://schemas.microsoft.com/office/drawing/2014/main" val="2000551504"/>
                    </a:ext>
                  </a:extLst>
                </a:gridCol>
                <a:gridCol w="1379326">
                  <a:extLst>
                    <a:ext uri="{9D8B030D-6E8A-4147-A177-3AD203B41FA5}">
                      <a16:colId xmlns:a16="http://schemas.microsoft.com/office/drawing/2014/main" val="3019657128"/>
                    </a:ext>
                  </a:extLst>
                </a:gridCol>
              </a:tblGrid>
              <a:tr h="370840">
                <a:tc>
                  <a:txBody>
                    <a:bodyPr/>
                    <a:lstStyle/>
                    <a:p>
                      <a:pPr>
                        <a:buNone/>
                      </a:pPr>
                      <a:r>
                        <a:rPr lang="en-US" dirty="0" err="1"/>
                        <a:t>Roll_No</a:t>
                      </a:r>
                      <a:endParaRPr lang="en-US" dirty="0"/>
                    </a:p>
                  </a:txBody>
                  <a:tcPr anchor="ctr"/>
                </a:tc>
                <a:tc>
                  <a:txBody>
                    <a:bodyPr/>
                    <a:lstStyle/>
                    <a:p>
                      <a:pPr>
                        <a:buNone/>
                      </a:pPr>
                      <a:r>
                        <a:rPr lang="en-US"/>
                        <a:t>Name</a:t>
                      </a:r>
                    </a:p>
                  </a:txBody>
                  <a:tcPr anchor="ctr"/>
                </a:tc>
                <a:tc>
                  <a:txBody>
                    <a:bodyPr/>
                    <a:lstStyle/>
                    <a:p>
                      <a:pPr>
                        <a:buNone/>
                      </a:pPr>
                      <a:r>
                        <a:rPr lang="en-US"/>
                        <a:t>Department</a:t>
                      </a:r>
                    </a:p>
                  </a:txBody>
                  <a:tcPr anchor="ctr"/>
                </a:tc>
                <a:extLst>
                  <a:ext uri="{0D108BD9-81ED-4DB2-BD59-A6C34878D82A}">
                    <a16:rowId xmlns:a16="http://schemas.microsoft.com/office/drawing/2014/main" val="2199150460"/>
                  </a:ext>
                </a:extLst>
              </a:tr>
              <a:tr h="370840">
                <a:tc>
                  <a:txBody>
                    <a:bodyPr/>
                    <a:lstStyle/>
                    <a:p>
                      <a:pPr>
                        <a:buNone/>
                      </a:pPr>
                      <a:r>
                        <a:rPr lang="en-US"/>
                        <a:t>101</a:t>
                      </a:r>
                    </a:p>
                  </a:txBody>
                  <a:tcPr anchor="ctr"/>
                </a:tc>
                <a:tc>
                  <a:txBody>
                    <a:bodyPr/>
                    <a:lstStyle/>
                    <a:p>
                      <a:pPr>
                        <a:buNone/>
                      </a:pPr>
                      <a:r>
                        <a:rPr lang="en-US"/>
                        <a:t>Ram</a:t>
                      </a:r>
                    </a:p>
                  </a:txBody>
                  <a:tcPr anchor="ctr"/>
                </a:tc>
                <a:tc>
                  <a:txBody>
                    <a:bodyPr/>
                    <a:lstStyle/>
                    <a:p>
                      <a:pPr>
                        <a:buNone/>
                      </a:pPr>
                      <a:r>
                        <a:rPr lang="en-US"/>
                        <a:t>BCA</a:t>
                      </a:r>
                    </a:p>
                  </a:txBody>
                  <a:tcPr anchor="ctr"/>
                </a:tc>
                <a:extLst>
                  <a:ext uri="{0D108BD9-81ED-4DB2-BD59-A6C34878D82A}">
                    <a16:rowId xmlns:a16="http://schemas.microsoft.com/office/drawing/2014/main" val="3701604074"/>
                  </a:ext>
                </a:extLst>
              </a:tr>
              <a:tr h="370840">
                <a:tc>
                  <a:txBody>
                    <a:bodyPr/>
                    <a:lstStyle/>
                    <a:p>
                      <a:pPr>
                        <a:buNone/>
                      </a:pPr>
                      <a:r>
                        <a:rPr lang="en-US"/>
                        <a:t>102</a:t>
                      </a:r>
                    </a:p>
                  </a:txBody>
                  <a:tcPr anchor="ctr"/>
                </a:tc>
                <a:tc>
                  <a:txBody>
                    <a:bodyPr/>
                    <a:lstStyle/>
                    <a:p>
                      <a:pPr>
                        <a:buNone/>
                      </a:pPr>
                      <a:r>
                        <a:rPr lang="en-US"/>
                        <a:t>Shyam</a:t>
                      </a:r>
                    </a:p>
                  </a:txBody>
                  <a:tcPr anchor="ctr"/>
                </a:tc>
                <a:tc>
                  <a:txBody>
                    <a:bodyPr/>
                    <a:lstStyle/>
                    <a:p>
                      <a:pPr>
                        <a:buNone/>
                      </a:pPr>
                      <a:r>
                        <a:rPr lang="en-US" dirty="0"/>
                        <a:t>BBA</a:t>
                      </a:r>
                    </a:p>
                  </a:txBody>
                  <a:tcPr anchor="ctr"/>
                </a:tc>
                <a:extLst>
                  <a:ext uri="{0D108BD9-81ED-4DB2-BD59-A6C34878D82A}">
                    <a16:rowId xmlns:a16="http://schemas.microsoft.com/office/drawing/2014/main" val="2331358532"/>
                  </a:ext>
                </a:extLst>
              </a:tr>
            </a:tbl>
          </a:graphicData>
        </a:graphic>
      </p:graphicFrame>
    </p:spTree>
    <p:extLst>
      <p:ext uri="{BB962C8B-B14F-4D97-AF65-F5344CB8AC3E}">
        <p14:creationId xmlns:p14="http://schemas.microsoft.com/office/powerpoint/2010/main" val="29302847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1D0E6F-540A-3BA1-A30D-74BD386FBD7A}"/>
              </a:ext>
            </a:extLst>
          </p:cNvPr>
          <p:cNvSpPr>
            <a:spLocks noGrp="1"/>
          </p:cNvSpPr>
          <p:nvPr>
            <p:ph type="title"/>
          </p:nvPr>
        </p:nvSpPr>
        <p:spPr/>
        <p:txBody>
          <a:bodyPr/>
          <a:lstStyle/>
          <a:p>
            <a:r>
              <a:rPr lang="en-US" dirty="0"/>
              <a:t>Trivial logic</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05F8A28-2BB3-B7C7-C2EF-05DD2417D8DD}"/>
                  </a:ext>
                </a:extLst>
              </p:cNvPr>
              <p:cNvSpPr>
                <a:spLocks noGrp="1"/>
              </p:cNvSpPr>
              <p:nvPr>
                <p:ph idx="1"/>
              </p:nvPr>
            </p:nvSpPr>
            <p:spPr/>
            <p:txBody>
              <a:bodyPr>
                <a:normAutofit lnSpcReduction="10000"/>
              </a:bodyPr>
              <a:lstStyle/>
              <a:p>
                <a:r>
                  <a:rPr lang="en-US" dirty="0"/>
                  <a:t>Suppose someone says:</a:t>
                </a:r>
              </a:p>
              <a:p>
                <a:r>
                  <a:rPr lang="en-US" dirty="0"/>
                  <a:t>"If I know your Name and Phone Number, then I know your Name."</a:t>
                </a:r>
              </a:p>
              <a:p>
                <a:r>
                  <a:rPr lang="en-US" dirty="0"/>
                  <a:t>This statement is always true because the Name is already included in the information you know.</a:t>
                </a:r>
              </a:p>
              <a:p>
                <a:r>
                  <a:rPr lang="en-US" dirty="0"/>
                  <a:t>Similarly:</a:t>
                </a:r>
              </a:p>
              <a:p>
                <a:r>
                  <a:rPr lang="en-US" b="1" dirty="0"/>
                  <a:t>(Name, </a:t>
                </a:r>
                <a:r>
                  <a:rPr lang="en-US" b="1" dirty="0" err="1"/>
                  <a:t>Phone_No</a:t>
                </a:r>
                <a:r>
                  <a:rPr lang="en-US" b="1" dirty="0"/>
                  <a:t>) → Name    </a:t>
                </a:r>
                <a:r>
                  <a:rPr lang="en-US" dirty="0"/>
                  <a:t>is a trivial dependency.</a:t>
                </a:r>
              </a:p>
              <a:p>
                <a:endParaRPr lang="en-US" dirty="0"/>
              </a:p>
              <a:p>
                <a:r>
                  <a:rPr lang="en-US" b="1" dirty="0"/>
                  <a:t>Rule to Remember</a:t>
                </a:r>
              </a:p>
              <a:p>
                <a:r>
                  <a:rPr lang="en-US" dirty="0"/>
                  <a:t>A dependency is </a:t>
                </a:r>
                <a:r>
                  <a:rPr lang="en-US" b="1" dirty="0"/>
                  <a:t>trivial</a:t>
                </a:r>
                <a:r>
                  <a:rPr lang="en-US" dirty="0"/>
                  <a:t> if the RHS is already contained within the LHS:</a:t>
                </a:r>
              </a:p>
              <a:p>
                <a14:m>
                  <m:oMath xmlns:m="http://schemas.openxmlformats.org/officeDocument/2006/math">
                    <m:r>
                      <a:rPr lang="en-US" i="1">
                        <a:latin typeface="Cambria Math" panose="02040503050406030204" pitchFamily="18" charset="0"/>
                      </a:rPr>
                      <m:t>𝑋</m:t>
                    </m:r>
                    <m:r>
                      <a:rPr lang="en-US">
                        <a:latin typeface="Cambria Math" panose="02040503050406030204" pitchFamily="18" charset="0"/>
                      </a:rPr>
                      <m:t>→</m:t>
                    </m:r>
                    <m:r>
                      <a:rPr lang="en-US" i="1">
                        <a:latin typeface="Cambria Math" panose="02040503050406030204" pitchFamily="18" charset="0"/>
                      </a:rPr>
                      <m:t>𝑌</m:t>
                    </m:r>
                    <m:r>
                      <m:rPr>
                        <m:nor/>
                      </m:rPr>
                      <a:rPr lang="en-US" i="1"/>
                      <m:t> </m:t>
                    </m:r>
                    <m:r>
                      <m:rPr>
                        <m:nor/>
                      </m:rPr>
                      <a:rPr lang="en-US" i="1"/>
                      <m:t>is</m:t>
                    </m:r>
                    <m:r>
                      <m:rPr>
                        <m:nor/>
                      </m:rPr>
                      <a:rPr lang="en-US" i="1"/>
                      <m:t> </m:t>
                    </m:r>
                    <m:r>
                      <m:rPr>
                        <m:nor/>
                      </m:rPr>
                      <a:rPr lang="en-US" i="1"/>
                      <m:t>trivial</m:t>
                    </m:r>
                    <m:r>
                      <m:rPr>
                        <m:nor/>
                      </m:rPr>
                      <a:rPr lang="en-US" i="1"/>
                      <m:t> </m:t>
                    </m:r>
                    <m:r>
                      <m:rPr>
                        <m:nor/>
                      </m:rPr>
                      <a:rPr lang="en-US" i="1"/>
                      <m:t>if</m:t>
                    </m:r>
                    <m:r>
                      <m:rPr>
                        <m:nor/>
                      </m:rPr>
                      <a:rPr lang="en-US" i="1"/>
                      <m:t> </m:t>
                    </m:r>
                    <m:r>
                      <a:rPr lang="en-US" i="1">
                        <a:latin typeface="Cambria Math" panose="02040503050406030204" pitchFamily="18" charset="0"/>
                      </a:rPr>
                      <m:t>𝑌</m:t>
                    </m:r>
                    <m:r>
                      <a:rPr lang="en-US">
                        <a:latin typeface="Cambria Math" panose="02040503050406030204" pitchFamily="18" charset="0"/>
                      </a:rPr>
                      <m:t>⊆</m:t>
                    </m:r>
                    <m:r>
                      <a:rPr lang="en-US" i="1">
                        <a:latin typeface="Cambria Math" panose="02040503050406030204" pitchFamily="18" charset="0"/>
                      </a:rPr>
                      <m:t>𝑋</m:t>
                    </m:r>
                  </m:oMath>
                </a14:m>
                <a:endParaRPr lang="en-US" b="0" dirty="0"/>
              </a:p>
              <a:p>
                <a:endParaRPr lang="en-US" dirty="0"/>
              </a:p>
            </p:txBody>
          </p:sp>
        </mc:Choice>
        <mc:Fallback xmlns="">
          <p:sp>
            <p:nvSpPr>
              <p:cNvPr id="3" name="Content Placeholder 2">
                <a:extLst>
                  <a:ext uri="{FF2B5EF4-FFF2-40B4-BE49-F238E27FC236}">
                    <a16:creationId xmlns:a16="http://schemas.microsoft.com/office/drawing/2014/main" id="{005F8A28-2BB3-B7C7-C2EF-05DD2417D8DD}"/>
                  </a:ext>
                </a:extLst>
              </p:cNvPr>
              <p:cNvSpPr>
                <a:spLocks noGrp="1" noRot="1" noChangeAspect="1" noMove="1" noResize="1" noEditPoints="1" noAdjustHandles="1" noChangeArrowheads="1" noChangeShapeType="1" noTextEdit="1"/>
              </p:cNvSpPr>
              <p:nvPr>
                <p:ph idx="1"/>
              </p:nvPr>
            </p:nvSpPr>
            <p:spPr>
              <a:blipFill>
                <a:blip r:embed="rId2"/>
                <a:stretch>
                  <a:fillRect l="-1515" t="-2273" b="-12424"/>
                </a:stretch>
              </a:blipFill>
            </p:spPr>
            <p:txBody>
              <a:bodyPr/>
              <a:lstStyle/>
              <a:p>
                <a:r>
                  <a:rPr lang="en-US">
                    <a:noFill/>
                  </a:rPr>
                  <a:t> </a:t>
                </a:r>
              </a:p>
            </p:txBody>
          </p:sp>
        </mc:Fallback>
      </mc:AlternateContent>
    </p:spTree>
    <p:extLst>
      <p:ext uri="{BB962C8B-B14F-4D97-AF65-F5344CB8AC3E}">
        <p14:creationId xmlns:p14="http://schemas.microsoft.com/office/powerpoint/2010/main" val="1573209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FB273-9703-3D67-43EC-EEDB976C9ADB}"/>
              </a:ext>
            </a:extLst>
          </p:cNvPr>
          <p:cNvSpPr>
            <a:spLocks noGrp="1"/>
          </p:cNvSpPr>
          <p:nvPr>
            <p:ph type="title"/>
          </p:nvPr>
        </p:nvSpPr>
        <p:spPr/>
        <p:txBody>
          <a:bodyPr/>
          <a:lstStyle/>
          <a:p>
            <a:r>
              <a:rPr lang="en-US" dirty="0"/>
              <a:t>Non-Trivial Functional Dependency</a:t>
            </a:r>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64386E0E-3E31-F104-A0A5-5950CD687CBD}"/>
                  </a:ext>
                </a:extLst>
              </p:cNvPr>
              <p:cNvSpPr txBox="1">
                <a:spLocks/>
              </p:cNvSpPr>
              <p:nvPr/>
            </p:nvSpPr>
            <p:spPr>
              <a:xfrm>
                <a:off x="769620" y="1783080"/>
                <a:ext cx="10058400" cy="4023360"/>
              </a:xfrm>
              <a:prstGeom prst="rect">
                <a:avLst/>
              </a:prstGeom>
            </p:spPr>
            <p:txBody>
              <a:bodyPr vert="horz" lIns="0" tIns="45720" rIns="0" bIns="45720" rtlCol="0">
                <a:normAutofit lnSpcReduction="1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dirty="0"/>
                  <a:t>A dependency is non-trivial if the right side is not a subset of the left side.</a:t>
                </a:r>
              </a:p>
              <a:p>
                <a:r>
                  <a:rPr lang="en-US" b="1" dirty="0"/>
                  <a:t>Example</a:t>
                </a:r>
              </a:p>
              <a:p>
                <a:pPr marL="201168" lvl="1" indent="0">
                  <a:buFont typeface="Calibri" pitchFamily="34" charse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𝑆𝑡𝑢𝑑𝑒𝑛𝑡𝐼𝐷</m:t>
                      </m:r>
                      <m:r>
                        <a:rPr lang="en-US">
                          <a:latin typeface="Cambria Math" panose="02040503050406030204" pitchFamily="18" charset="0"/>
                        </a:rPr>
                        <m:t>→</m:t>
                      </m:r>
                      <m:r>
                        <a:rPr lang="en-US" i="1">
                          <a:latin typeface="Cambria Math" panose="02040503050406030204" pitchFamily="18" charset="0"/>
                        </a:rPr>
                        <m:t>𝑆𝑡𝑢𝑑𝑒𝑛𝑡𝑁𝑎𝑚𝑒</m:t>
                      </m:r>
                    </m:oMath>
                  </m:oMathPara>
                </a14:m>
                <a:endParaRPr lang="en-US" dirty="0"/>
              </a:p>
              <a:p>
                <a:r>
                  <a:rPr lang="en-US" dirty="0"/>
                  <a:t>A functional dependency </a:t>
                </a:r>
                <a:r>
                  <a:rPr lang="en-US" b="1" dirty="0"/>
                  <a:t>X → Y</a:t>
                </a:r>
                <a:r>
                  <a:rPr lang="en-US" dirty="0"/>
                  <a:t> is </a:t>
                </a:r>
                <a:r>
                  <a:rPr lang="en-US" b="1" dirty="0"/>
                  <a:t>non-trivial</a:t>
                </a:r>
                <a:r>
                  <a:rPr lang="en-US" dirty="0"/>
                  <a:t> if:</a:t>
                </a:r>
              </a:p>
              <a:p>
                <a:pPr marL="201168" lvl="1" indent="0">
                  <a:buFont typeface="Calibri" pitchFamily="34" charse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𝑌</m:t>
                      </m:r>
                      <m:r>
                        <a:rPr lang="en-US">
                          <a:latin typeface="Cambria Math" panose="02040503050406030204" pitchFamily="18" charset="0"/>
                        </a:rPr>
                        <m:t>⊈</m:t>
                      </m:r>
                      <m:r>
                        <a:rPr lang="en-US" i="1">
                          <a:latin typeface="Cambria Math" panose="02040503050406030204" pitchFamily="18" charset="0"/>
                        </a:rPr>
                        <m:t>𝑋</m:t>
                      </m:r>
                    </m:oMath>
                  </m:oMathPara>
                </a14:m>
                <a:endParaRPr lang="en-US" dirty="0"/>
              </a:p>
              <a:p>
                <a:r>
                  <a:rPr lang="en-US" dirty="0"/>
                  <a:t>That means at least one attribute in Y is not present in X.</a:t>
                </a:r>
              </a:p>
              <a:p>
                <a:r>
                  <a:rPr lang="en-US" dirty="0"/>
                  <a:t>Functional Dependency:: </a:t>
                </a:r>
                <a:r>
                  <a:rPr lang="en-US" b="1" dirty="0" err="1"/>
                  <a:t>Student_ID</a:t>
                </a:r>
                <a:r>
                  <a:rPr lang="en-US" b="1" dirty="0"/>
                  <a:t> → Name </a:t>
                </a:r>
                <a:r>
                  <a:rPr lang="en-US" dirty="0"/>
                  <a:t>Why is it non-trivial?</a:t>
                </a:r>
              </a:p>
              <a:p>
                <a:r>
                  <a:rPr lang="en-US" dirty="0"/>
                  <a:t>LHS = {</a:t>
                </a:r>
                <a:r>
                  <a:rPr lang="en-US" dirty="0" err="1"/>
                  <a:t>Student_ID</a:t>
                </a:r>
                <a:r>
                  <a:rPr lang="en-US" dirty="0"/>
                  <a:t>}  &amp; RHS = {Name} </a:t>
                </a:r>
              </a:p>
              <a:p>
                <a:r>
                  <a:rPr lang="en-US" dirty="0"/>
                  <a:t>Name is not part of </a:t>
                </a:r>
                <a:r>
                  <a:rPr lang="en-US" dirty="0" err="1"/>
                  <a:t>Student_ID</a:t>
                </a:r>
                <a:r>
                  <a:rPr lang="en-US" dirty="0"/>
                  <a:t> </a:t>
                </a:r>
              </a:p>
              <a:p>
                <a:r>
                  <a:rPr lang="en-US" dirty="0"/>
                  <a:t>Therefore: : </a:t>
                </a:r>
                <a:r>
                  <a:rPr lang="en-US" b="1" dirty="0" err="1"/>
                  <a:t>Student_ID</a:t>
                </a:r>
                <a:r>
                  <a:rPr lang="en-US" b="1" dirty="0"/>
                  <a:t> → Name</a:t>
                </a:r>
                <a:r>
                  <a:rPr lang="en-US" dirty="0"/>
                  <a:t> is a </a:t>
                </a:r>
                <a:r>
                  <a:rPr lang="en-US" b="1" dirty="0"/>
                  <a:t>non-trivial dependency</a:t>
                </a:r>
                <a:r>
                  <a:rPr lang="en-US" dirty="0"/>
                  <a:t>.</a:t>
                </a:r>
              </a:p>
              <a:p>
                <a:endParaRPr lang="en-US" dirty="0"/>
              </a:p>
            </p:txBody>
          </p:sp>
        </mc:Choice>
        <mc:Fallback xmlns="">
          <p:sp>
            <p:nvSpPr>
              <p:cNvPr id="4" name="Content Placeholder 2">
                <a:extLst>
                  <a:ext uri="{FF2B5EF4-FFF2-40B4-BE49-F238E27FC236}">
                    <a16:creationId xmlns:a16="http://schemas.microsoft.com/office/drawing/2014/main" id="{64386E0E-3E31-F104-A0A5-5950CD687CBD}"/>
                  </a:ext>
                </a:extLst>
              </p:cNvPr>
              <p:cNvSpPr txBox="1">
                <a:spLocks noRot="1" noChangeAspect="1" noMove="1" noResize="1" noEditPoints="1" noAdjustHandles="1" noChangeArrowheads="1" noChangeShapeType="1" noTextEdit="1"/>
              </p:cNvSpPr>
              <p:nvPr/>
            </p:nvSpPr>
            <p:spPr>
              <a:xfrm>
                <a:off x="769620" y="1783080"/>
                <a:ext cx="10058400" cy="4023360"/>
              </a:xfrm>
              <a:prstGeom prst="rect">
                <a:avLst/>
              </a:prstGeom>
              <a:blipFill>
                <a:blip r:embed="rId3"/>
                <a:stretch>
                  <a:fillRect l="-606" t="-2273"/>
                </a:stretch>
              </a:blipFill>
            </p:spPr>
            <p:txBody>
              <a:bodyPr/>
              <a:lstStyle/>
              <a:p>
                <a:r>
                  <a:rPr lang="en-US">
                    <a:noFill/>
                  </a:rPr>
                  <a:t> </a:t>
                </a:r>
              </a:p>
            </p:txBody>
          </p:sp>
        </mc:Fallback>
      </mc:AlternateContent>
      <p:graphicFrame>
        <p:nvGraphicFramePr>
          <p:cNvPr id="7" name="Content Placeholder 6">
            <a:extLst>
              <a:ext uri="{FF2B5EF4-FFF2-40B4-BE49-F238E27FC236}">
                <a16:creationId xmlns:a16="http://schemas.microsoft.com/office/drawing/2014/main" id="{FEC1E737-AB88-0B2E-15F9-C0AAA0EA57DB}"/>
              </a:ext>
            </a:extLst>
          </p:cNvPr>
          <p:cNvGraphicFramePr>
            <a:graphicFrameLocks noGrp="1"/>
          </p:cNvGraphicFramePr>
          <p:nvPr>
            <p:ph idx="1"/>
            <p:extLst>
              <p:ext uri="{D42A27DB-BD31-4B8C-83A1-F6EECF244321}">
                <p14:modId xmlns:p14="http://schemas.microsoft.com/office/powerpoint/2010/main" val="1397399668"/>
              </p:ext>
            </p:extLst>
          </p:nvPr>
        </p:nvGraphicFramePr>
        <p:xfrm>
          <a:off x="7315199" y="4308257"/>
          <a:ext cx="4503420" cy="1112520"/>
        </p:xfrm>
        <a:graphic>
          <a:graphicData uri="http://schemas.openxmlformats.org/drawingml/2006/table">
            <a:tbl>
              <a:tblPr firstRow="1" bandRow="1">
                <a:tableStyleId>{5C22544A-7EE6-4342-B048-85BDC9FD1C3A}</a:tableStyleId>
              </a:tblPr>
              <a:tblGrid>
                <a:gridCol w="1501140">
                  <a:extLst>
                    <a:ext uri="{9D8B030D-6E8A-4147-A177-3AD203B41FA5}">
                      <a16:colId xmlns:a16="http://schemas.microsoft.com/office/drawing/2014/main" val="3538286695"/>
                    </a:ext>
                  </a:extLst>
                </a:gridCol>
                <a:gridCol w="1501140">
                  <a:extLst>
                    <a:ext uri="{9D8B030D-6E8A-4147-A177-3AD203B41FA5}">
                      <a16:colId xmlns:a16="http://schemas.microsoft.com/office/drawing/2014/main" val="2095804178"/>
                    </a:ext>
                  </a:extLst>
                </a:gridCol>
                <a:gridCol w="1501140">
                  <a:extLst>
                    <a:ext uri="{9D8B030D-6E8A-4147-A177-3AD203B41FA5}">
                      <a16:colId xmlns:a16="http://schemas.microsoft.com/office/drawing/2014/main" val="2933234367"/>
                    </a:ext>
                  </a:extLst>
                </a:gridCol>
              </a:tblGrid>
              <a:tr h="370840">
                <a:tc>
                  <a:txBody>
                    <a:bodyPr/>
                    <a:lstStyle/>
                    <a:p>
                      <a:pPr>
                        <a:buNone/>
                      </a:pPr>
                      <a:r>
                        <a:rPr lang="en-US" dirty="0" err="1"/>
                        <a:t>Student_ID</a:t>
                      </a:r>
                      <a:endParaRPr lang="en-US" dirty="0"/>
                    </a:p>
                  </a:txBody>
                  <a:tcPr anchor="ctr"/>
                </a:tc>
                <a:tc>
                  <a:txBody>
                    <a:bodyPr/>
                    <a:lstStyle/>
                    <a:p>
                      <a:pPr>
                        <a:buNone/>
                      </a:pPr>
                      <a:r>
                        <a:rPr lang="en-US"/>
                        <a:t>Name</a:t>
                      </a:r>
                    </a:p>
                  </a:txBody>
                  <a:tcPr anchor="ctr"/>
                </a:tc>
                <a:tc>
                  <a:txBody>
                    <a:bodyPr/>
                    <a:lstStyle/>
                    <a:p>
                      <a:pPr>
                        <a:buNone/>
                      </a:pPr>
                      <a:r>
                        <a:rPr lang="en-US"/>
                        <a:t>Department</a:t>
                      </a:r>
                    </a:p>
                  </a:txBody>
                  <a:tcPr anchor="ctr"/>
                </a:tc>
                <a:extLst>
                  <a:ext uri="{0D108BD9-81ED-4DB2-BD59-A6C34878D82A}">
                    <a16:rowId xmlns:a16="http://schemas.microsoft.com/office/drawing/2014/main" val="2623182902"/>
                  </a:ext>
                </a:extLst>
              </a:tr>
              <a:tr h="370840">
                <a:tc>
                  <a:txBody>
                    <a:bodyPr/>
                    <a:lstStyle/>
                    <a:p>
                      <a:pPr>
                        <a:buNone/>
                      </a:pPr>
                      <a:r>
                        <a:rPr lang="en-US"/>
                        <a:t>101</a:t>
                      </a:r>
                    </a:p>
                  </a:txBody>
                  <a:tcPr anchor="ctr"/>
                </a:tc>
                <a:tc>
                  <a:txBody>
                    <a:bodyPr/>
                    <a:lstStyle/>
                    <a:p>
                      <a:pPr>
                        <a:buNone/>
                      </a:pPr>
                      <a:r>
                        <a:rPr lang="en-US"/>
                        <a:t>Ram</a:t>
                      </a:r>
                    </a:p>
                  </a:txBody>
                  <a:tcPr anchor="ctr"/>
                </a:tc>
                <a:tc>
                  <a:txBody>
                    <a:bodyPr/>
                    <a:lstStyle/>
                    <a:p>
                      <a:pPr>
                        <a:buNone/>
                      </a:pPr>
                      <a:r>
                        <a:rPr lang="en-US"/>
                        <a:t>BCA</a:t>
                      </a:r>
                    </a:p>
                  </a:txBody>
                  <a:tcPr anchor="ctr"/>
                </a:tc>
                <a:extLst>
                  <a:ext uri="{0D108BD9-81ED-4DB2-BD59-A6C34878D82A}">
                    <a16:rowId xmlns:a16="http://schemas.microsoft.com/office/drawing/2014/main" val="410407192"/>
                  </a:ext>
                </a:extLst>
              </a:tr>
              <a:tr h="370840">
                <a:tc>
                  <a:txBody>
                    <a:bodyPr/>
                    <a:lstStyle/>
                    <a:p>
                      <a:pPr>
                        <a:buNone/>
                      </a:pPr>
                      <a:r>
                        <a:rPr lang="en-US"/>
                        <a:t>102</a:t>
                      </a:r>
                    </a:p>
                  </a:txBody>
                  <a:tcPr anchor="ctr"/>
                </a:tc>
                <a:tc>
                  <a:txBody>
                    <a:bodyPr/>
                    <a:lstStyle/>
                    <a:p>
                      <a:pPr>
                        <a:buNone/>
                      </a:pPr>
                      <a:r>
                        <a:rPr lang="en-US"/>
                        <a:t>Shyam</a:t>
                      </a:r>
                    </a:p>
                  </a:txBody>
                  <a:tcPr anchor="ctr"/>
                </a:tc>
                <a:tc>
                  <a:txBody>
                    <a:bodyPr/>
                    <a:lstStyle/>
                    <a:p>
                      <a:pPr>
                        <a:buNone/>
                      </a:pPr>
                      <a:r>
                        <a:rPr lang="en-US" dirty="0"/>
                        <a:t>BBA</a:t>
                      </a:r>
                    </a:p>
                  </a:txBody>
                  <a:tcPr anchor="ctr"/>
                </a:tc>
                <a:extLst>
                  <a:ext uri="{0D108BD9-81ED-4DB2-BD59-A6C34878D82A}">
                    <a16:rowId xmlns:a16="http://schemas.microsoft.com/office/drawing/2014/main" val="2994581241"/>
                  </a:ext>
                </a:extLst>
              </a:tr>
            </a:tbl>
          </a:graphicData>
        </a:graphic>
      </p:graphicFrame>
    </p:spTree>
    <p:extLst>
      <p:ext uri="{BB962C8B-B14F-4D97-AF65-F5344CB8AC3E}">
        <p14:creationId xmlns:p14="http://schemas.microsoft.com/office/powerpoint/2010/main" val="256603074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36C7BF-000F-DE73-3786-E0C6F622469A}"/>
              </a:ext>
            </a:extLst>
          </p:cNvPr>
          <p:cNvSpPr>
            <a:spLocks noGrp="1"/>
          </p:cNvSpPr>
          <p:nvPr>
            <p:ph type="title"/>
          </p:nvPr>
        </p:nvSpPr>
        <p:spPr/>
        <p:txBody>
          <a:bodyPr/>
          <a:lstStyle/>
          <a:p>
            <a:r>
              <a:rPr lang="en-US" dirty="0"/>
              <a:t>Completely Non-Trivial Dependency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DA3F90C-8A84-FC5C-55C4-D26CEC23818D}"/>
                  </a:ext>
                </a:extLst>
              </p:cNvPr>
              <p:cNvSpPr>
                <a:spLocks noGrp="1"/>
              </p:cNvSpPr>
              <p:nvPr>
                <p:ph idx="1"/>
              </p:nvPr>
            </p:nvSpPr>
            <p:spPr/>
            <p:txBody>
              <a:bodyPr>
                <a:normAutofit fontScale="92500" lnSpcReduction="10000"/>
              </a:bodyPr>
              <a:lstStyle/>
              <a:p>
                <a:r>
                  <a:rPr lang="en-US" dirty="0"/>
                  <a:t>When the left side and right side have no common attributes.</a:t>
                </a:r>
                <a:endParaRPr lang="en-US" b="1" dirty="0"/>
              </a:p>
              <a:p>
                <a:pPr marL="201168" lvl="1"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𝑅𝑜𝑙𝑙</m:t>
                      </m:r>
                      <m:r>
                        <m:rPr>
                          <m:lit/>
                        </m:rPr>
                        <a:rPr lang="en-US">
                          <a:latin typeface="Cambria Math" panose="02040503050406030204" pitchFamily="18" charset="0"/>
                        </a:rPr>
                        <m:t>_</m:t>
                      </m:r>
                      <m:r>
                        <a:rPr lang="en-US" i="1">
                          <a:latin typeface="Cambria Math" panose="02040503050406030204" pitchFamily="18" charset="0"/>
                        </a:rPr>
                        <m:t>𝑁𝑜</m:t>
                      </m:r>
                      <m:r>
                        <a:rPr lang="en-US">
                          <a:latin typeface="Cambria Math" panose="02040503050406030204" pitchFamily="18" charset="0"/>
                        </a:rPr>
                        <m:t>→</m:t>
                      </m:r>
                      <m:r>
                        <a:rPr lang="en-US" i="1">
                          <a:latin typeface="Cambria Math" panose="02040503050406030204" pitchFamily="18" charset="0"/>
                        </a:rPr>
                        <m:t>𝐴𝑑𝑑𝑟𝑒𝑠𝑠</m:t>
                      </m:r>
                    </m:oMath>
                  </m:oMathPara>
                </a14:m>
                <a:endParaRPr lang="en-US" dirty="0"/>
              </a:p>
              <a:p>
                <a:r>
                  <a:rPr lang="en-US" dirty="0"/>
                  <a:t>A stronger form is </a:t>
                </a:r>
                <a:r>
                  <a:rPr lang="en-US" b="1" dirty="0"/>
                  <a:t>completely non-trivial dependency</a:t>
                </a:r>
                <a:r>
                  <a:rPr lang="en-US" dirty="0"/>
                  <a:t>.</a:t>
                </a:r>
              </a:p>
              <a:p>
                <a:r>
                  <a:rPr lang="en-US" dirty="0"/>
                  <a:t>A dependency </a:t>
                </a:r>
                <a:r>
                  <a:rPr lang="en-US" b="1" dirty="0"/>
                  <a:t>X → Y</a:t>
                </a:r>
                <a:r>
                  <a:rPr lang="en-US" dirty="0"/>
                  <a:t> is completely non-trivial if:</a:t>
                </a:r>
              </a:p>
              <a:p>
                <a14:m>
                  <m:oMath xmlns:m="http://schemas.openxmlformats.org/officeDocument/2006/math">
                    <m:r>
                      <a:rPr lang="en-US" i="1">
                        <a:latin typeface="Cambria Math" panose="02040503050406030204" pitchFamily="18" charset="0"/>
                      </a:rPr>
                      <m:t>𝑋</m:t>
                    </m:r>
                    <m:r>
                      <a:rPr lang="en-US">
                        <a:latin typeface="Cambria Math" panose="02040503050406030204" pitchFamily="18" charset="0"/>
                      </a:rPr>
                      <m:t>∩</m:t>
                    </m:r>
                    <m:r>
                      <a:rPr lang="en-US" i="1">
                        <a:latin typeface="Cambria Math" panose="02040503050406030204" pitchFamily="18" charset="0"/>
                      </a:rPr>
                      <m:t>𝑌</m:t>
                    </m:r>
                    <m:r>
                      <a:rPr lang="en-US">
                        <a:latin typeface="Cambria Math" panose="02040503050406030204" pitchFamily="18" charset="0"/>
                      </a:rPr>
                      <m:t>=</m:t>
                    </m:r>
                    <m:r>
                      <a:rPr lang="en-US">
                        <a:latin typeface="Cambria Math" panose="02040503050406030204" pitchFamily="18" charset="0"/>
                      </a:rPr>
                      <m:t>∅</m:t>
                    </m:r>
                  </m:oMath>
                </a14:m>
                <a:endParaRPr lang="en-US" dirty="0"/>
              </a:p>
              <a:p>
                <a:r>
                  <a:rPr lang="en-US" dirty="0"/>
                  <a:t>That means the LHS and RHS share </a:t>
                </a:r>
                <a:r>
                  <a:rPr lang="en-US" b="1" dirty="0"/>
                  <a:t>no common attributes</a:t>
                </a:r>
                <a:r>
                  <a:rPr lang="en-US" dirty="0"/>
                  <a:t>.</a:t>
                </a:r>
              </a:p>
              <a:p>
                <a:r>
                  <a:rPr lang="en-US" b="1" dirty="0"/>
                  <a:t>Example: </a:t>
                </a:r>
                <a:r>
                  <a:rPr lang="en-US" b="1" dirty="0" err="1"/>
                  <a:t>Student_ID</a:t>
                </a:r>
                <a:r>
                  <a:rPr lang="en-US" b="1" dirty="0"/>
                  <a:t> → Name</a:t>
                </a:r>
                <a:endParaRPr lang="en-US" dirty="0"/>
              </a:p>
              <a:p>
                <a:pPr lvl="1"/>
                <a:r>
                  <a:rPr lang="en-US" dirty="0"/>
                  <a:t>X = {</a:t>
                </a:r>
                <a:r>
                  <a:rPr lang="en-US" dirty="0" err="1"/>
                  <a:t>Student_ID</a:t>
                </a:r>
                <a:r>
                  <a:rPr lang="en-US" dirty="0"/>
                  <a:t>} </a:t>
                </a:r>
              </a:p>
              <a:p>
                <a:pPr lvl="1"/>
                <a:r>
                  <a:rPr lang="en-US" dirty="0"/>
                  <a:t>Y = {Name} </a:t>
                </a:r>
              </a:p>
              <a:p>
                <a:pPr lvl="1"/>
                <a:r>
                  <a:rPr lang="en-US" dirty="0"/>
                  <a:t>No common attribute </a:t>
                </a:r>
              </a:p>
              <a:p>
                <a:r>
                  <a:rPr lang="en-US" dirty="0"/>
                  <a:t>Hence it is </a:t>
                </a:r>
                <a:r>
                  <a:rPr lang="en-US" b="1" dirty="0"/>
                  <a:t>completely non-trivial</a:t>
                </a:r>
                <a:r>
                  <a:rPr lang="en-US" dirty="0"/>
                  <a:t>.</a:t>
                </a:r>
              </a:p>
            </p:txBody>
          </p:sp>
        </mc:Choice>
        <mc:Fallback xmlns="">
          <p:sp>
            <p:nvSpPr>
              <p:cNvPr id="3" name="Content Placeholder 2">
                <a:extLst>
                  <a:ext uri="{FF2B5EF4-FFF2-40B4-BE49-F238E27FC236}">
                    <a16:creationId xmlns:a16="http://schemas.microsoft.com/office/drawing/2014/main" id="{9DA3F90C-8A84-FC5C-55C4-D26CEC23818D}"/>
                  </a:ext>
                </a:extLst>
              </p:cNvPr>
              <p:cNvSpPr>
                <a:spLocks noGrp="1" noRot="1" noChangeAspect="1" noMove="1" noResize="1" noEditPoints="1" noAdjustHandles="1" noChangeArrowheads="1" noChangeShapeType="1" noTextEdit="1"/>
              </p:cNvSpPr>
              <p:nvPr>
                <p:ph idx="1"/>
              </p:nvPr>
            </p:nvSpPr>
            <p:spPr>
              <a:blipFill>
                <a:blip r:embed="rId3"/>
                <a:stretch>
                  <a:fillRect l="-1455" t="-1970" b="-758"/>
                </a:stretch>
              </a:blipFill>
            </p:spPr>
            <p:txBody>
              <a:bodyPr/>
              <a:lstStyle/>
              <a:p>
                <a:r>
                  <a:rPr lang="en-US">
                    <a:noFill/>
                  </a:rPr>
                  <a:t> </a:t>
                </a:r>
              </a:p>
            </p:txBody>
          </p:sp>
        </mc:Fallback>
      </mc:AlternateContent>
    </p:spTree>
    <p:extLst>
      <p:ext uri="{BB962C8B-B14F-4D97-AF65-F5344CB8AC3E}">
        <p14:creationId xmlns:p14="http://schemas.microsoft.com/office/powerpoint/2010/main" val="189219675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B211C1-E005-5346-511E-D04913CC4E05}"/>
              </a:ext>
            </a:extLst>
          </p:cNvPr>
          <p:cNvSpPr>
            <a:spLocks noGrp="1"/>
          </p:cNvSpPr>
          <p:nvPr>
            <p:ph type="title"/>
          </p:nvPr>
        </p:nvSpPr>
        <p:spPr/>
        <p:txBody>
          <a:bodyPr/>
          <a:lstStyle/>
          <a:p>
            <a:r>
              <a:rPr lang="en-US" dirty="0"/>
              <a:t>Full Functional Dependency</a:t>
            </a:r>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E904FFD5-AD00-0B2D-910E-2B830355C04B}"/>
                  </a:ext>
                </a:extLst>
              </p:cNvPr>
              <p:cNvSpPr txBox="1">
                <a:spLocks/>
              </p:cNvSpPr>
              <p:nvPr/>
            </p:nvSpPr>
            <p:spPr>
              <a:xfrm>
                <a:off x="1066800" y="2335952"/>
                <a:ext cx="10058400" cy="402336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dirty="0"/>
                  <a:t>An attribute is fully functionally dependent on a set of attributes if it depends on the entire key and not on part of it.</a:t>
                </a:r>
              </a:p>
              <a:p>
                <a:endParaRPr lang="en-US" dirty="0"/>
              </a:p>
              <a:p>
                <a:r>
                  <a:rPr lang="en-US" dirty="0"/>
                  <a:t>Primary Key:</a:t>
                </a:r>
              </a:p>
              <a:p>
                <a:pPr marL="201168" lvl="1" indent="0">
                  <a:buFont typeface="Calibri" pitchFamily="34" charset="0"/>
                  <a:buNone/>
                </a:pPr>
                <a14:m>
                  <m:oMathPara xmlns:m="http://schemas.openxmlformats.org/officeDocument/2006/math">
                    <m:oMathParaPr>
                      <m:jc m:val="centerGroup"/>
                    </m:oMathParaPr>
                    <m:oMath xmlns:m="http://schemas.openxmlformats.org/officeDocument/2006/math">
                      <m:d>
                        <m:dPr>
                          <m:sepChr m:val=","/>
                          <m:ctrlPr>
                            <a:rPr lang="ar-AE" i="1" smtClean="0">
                              <a:latin typeface="Cambria Math" panose="02040503050406030204" pitchFamily="18" charset="0"/>
                            </a:rPr>
                          </m:ctrlPr>
                        </m:dPr>
                        <m:e>
                          <m:r>
                            <a:rPr lang="ar-AE" i="1">
                              <a:latin typeface="Cambria Math" panose="02040503050406030204" pitchFamily="18" charset="0"/>
                            </a:rPr>
                            <m:t>𝑅</m:t>
                          </m:r>
                          <m:r>
                            <m:rPr>
                              <m:sty m:val="p"/>
                            </m:rPr>
                            <a:rPr lang="en-US" i="1" smtClean="0">
                              <a:latin typeface="Cambria Math" panose="02040503050406030204" pitchFamily="18" charset="0"/>
                            </a:rPr>
                            <m:t>oll</m:t>
                          </m:r>
                          <m:r>
                            <a:rPr lang="en-US" i="1" smtClean="0">
                              <a:latin typeface="Cambria Math" panose="02040503050406030204" pitchFamily="18" charset="0"/>
                            </a:rPr>
                            <m:t>_</m:t>
                          </m:r>
                        </m:e>
                        <m:e>
                          <m:r>
                            <a:rPr lang="ar-AE" i="1">
                              <a:latin typeface="Cambria Math" panose="02040503050406030204" pitchFamily="18" charset="0"/>
                            </a:rPr>
                            <m:t>𝑁𝑜</m:t>
                          </m:r>
                          <m:r>
                            <a:rPr lang="en-US" i="1" smtClean="0">
                              <a:latin typeface="Cambria Math" panose="02040503050406030204" pitchFamily="18" charset="0"/>
                            </a:rPr>
                            <m:t>,  </m:t>
                          </m:r>
                          <m:r>
                            <a:rPr lang="ar-AE" i="1">
                              <a:latin typeface="Cambria Math" panose="02040503050406030204" pitchFamily="18" charset="0"/>
                            </a:rPr>
                            <m:t>𝑆𝑢𝑏𝑗𝑒</m:t>
                          </m:r>
                          <m:r>
                            <a:rPr lang="ar-AE" i="1" smtClean="0">
                              <a:latin typeface="Cambria Math" panose="02040503050406030204" pitchFamily="18" charset="0"/>
                            </a:rPr>
                            <m:t>𝑐</m:t>
                          </m:r>
                          <m:r>
                            <a:rPr lang="ar-AE" i="1">
                              <a:latin typeface="Cambria Math" panose="02040503050406030204" pitchFamily="18" charset="0"/>
                            </a:rPr>
                            <m:t>𝑡</m:t>
                          </m:r>
                        </m:e>
                      </m:d>
                    </m:oMath>
                  </m:oMathPara>
                </a14:m>
                <a:endParaRPr lang="ar-AE" dirty="0"/>
              </a:p>
              <a:p>
                <a:r>
                  <a:rPr lang="en-US" dirty="0"/>
                  <a:t>Dependency:</a:t>
                </a:r>
              </a:p>
              <a:p>
                <a:pPr marL="201168" lvl="1" indent="0">
                  <a:buFont typeface="Calibri" pitchFamily="34" charset="0"/>
                  <a:buNone/>
                </a:pPr>
                <a14:m>
                  <m:oMathPara xmlns:m="http://schemas.openxmlformats.org/officeDocument/2006/math">
                    <m:oMathParaPr>
                      <m:jc m:val="centerGroup"/>
                    </m:oMathParaPr>
                    <m:oMath xmlns:m="http://schemas.openxmlformats.org/officeDocument/2006/math">
                      <m:d>
                        <m:dPr>
                          <m:sepChr m:val=","/>
                          <m:ctrlPr>
                            <a:rPr lang="ar-AE" i="1">
                              <a:latin typeface="Cambria Math" panose="02040503050406030204" pitchFamily="18" charset="0"/>
                            </a:rPr>
                          </m:ctrlPr>
                        </m:dPr>
                        <m:e>
                          <m:r>
                            <a:rPr lang="ar-AE" i="1">
                              <a:latin typeface="Cambria Math" panose="02040503050406030204" pitchFamily="18" charset="0"/>
                            </a:rPr>
                            <m:t>𝑅</m:t>
                          </m:r>
                        </m:e>
                        <m:e>
                          <m:r>
                            <a:rPr lang="ar-AE" i="1">
                              <a:latin typeface="Cambria Math" panose="02040503050406030204" pitchFamily="18" charset="0"/>
                            </a:rPr>
                            <m:t>𝑜𝑙𝑙</m:t>
                          </m:r>
                          <m:r>
                            <m:rPr>
                              <m:lit/>
                            </m:rPr>
                            <a:rPr lang="ar-AE">
                              <a:latin typeface="Cambria Math" panose="02040503050406030204" pitchFamily="18" charset="0"/>
                            </a:rPr>
                            <m:t>_</m:t>
                          </m:r>
                          <m:r>
                            <a:rPr lang="ar-AE" i="1">
                              <a:latin typeface="Cambria Math" panose="02040503050406030204" pitchFamily="18" charset="0"/>
                            </a:rPr>
                            <m:t>𝑁𝑜</m:t>
                          </m:r>
                          <m:r>
                            <a:rPr lang="en-US" i="1" smtClean="0">
                              <a:latin typeface="Cambria Math" panose="02040503050406030204" pitchFamily="18" charset="0"/>
                            </a:rPr>
                            <m:t>,  </m:t>
                          </m:r>
                          <m:r>
                            <a:rPr lang="ar-AE" i="1">
                              <a:latin typeface="Cambria Math" panose="02040503050406030204" pitchFamily="18" charset="0"/>
                            </a:rPr>
                            <m:t>𝑆𝑢𝑏𝑗𝑒𝑐𝑡</m:t>
                          </m:r>
                        </m:e>
                      </m:d>
                      <m:r>
                        <a:rPr lang="ar-AE">
                          <a:latin typeface="Cambria Math" panose="02040503050406030204" pitchFamily="18" charset="0"/>
                        </a:rPr>
                        <m:t>→</m:t>
                      </m:r>
                      <m:r>
                        <a:rPr lang="ar-AE" i="1">
                          <a:latin typeface="Cambria Math" panose="02040503050406030204" pitchFamily="18" charset="0"/>
                        </a:rPr>
                        <m:t>𝐺𝑟𝑎𝑑𝑒</m:t>
                      </m:r>
                    </m:oMath>
                  </m:oMathPara>
                </a14:m>
                <a:endParaRPr lang="ar-AE" dirty="0"/>
              </a:p>
              <a:p>
                <a:r>
                  <a:rPr lang="en-US" dirty="0"/>
                  <a:t>Grade depends on both </a:t>
                </a:r>
                <a:r>
                  <a:rPr lang="en-US" dirty="0" err="1"/>
                  <a:t>Roll_No</a:t>
                </a:r>
                <a:r>
                  <a:rPr lang="en-US" dirty="0"/>
                  <a:t> and Subject.</a:t>
                </a:r>
              </a:p>
              <a:p>
                <a:r>
                  <a:rPr lang="en-US" dirty="0"/>
                  <a:t>This is a </a:t>
                </a:r>
                <a:r>
                  <a:rPr lang="en-US" b="1" dirty="0"/>
                  <a:t>Full Functional Dependency</a:t>
                </a:r>
                <a:r>
                  <a:rPr lang="en-US" dirty="0"/>
                  <a:t>.</a:t>
                </a:r>
              </a:p>
              <a:p>
                <a:endParaRPr lang="en-US" dirty="0"/>
              </a:p>
            </p:txBody>
          </p:sp>
        </mc:Choice>
        <mc:Fallback xmlns="">
          <p:sp>
            <p:nvSpPr>
              <p:cNvPr id="4" name="Content Placeholder 2">
                <a:extLst>
                  <a:ext uri="{FF2B5EF4-FFF2-40B4-BE49-F238E27FC236}">
                    <a16:creationId xmlns:a16="http://schemas.microsoft.com/office/drawing/2014/main" id="{E904FFD5-AD00-0B2D-910E-2B830355C04B}"/>
                  </a:ext>
                </a:extLst>
              </p:cNvPr>
              <p:cNvSpPr txBox="1">
                <a:spLocks noRot="1" noChangeAspect="1" noMove="1" noResize="1" noEditPoints="1" noAdjustHandles="1" noChangeArrowheads="1" noChangeShapeType="1" noTextEdit="1"/>
              </p:cNvSpPr>
              <p:nvPr/>
            </p:nvSpPr>
            <p:spPr>
              <a:xfrm>
                <a:off x="1066800" y="2335952"/>
                <a:ext cx="10058400" cy="4023360"/>
              </a:xfrm>
              <a:prstGeom prst="rect">
                <a:avLst/>
              </a:prstGeom>
              <a:blipFill>
                <a:blip r:embed="rId2"/>
                <a:stretch>
                  <a:fillRect l="-606" t="-1515" r="-242"/>
                </a:stretch>
              </a:blipFill>
            </p:spPr>
            <p:txBody>
              <a:bodyPr/>
              <a:lstStyle/>
              <a:p>
                <a:r>
                  <a:rPr lang="en-US">
                    <a:noFill/>
                  </a:rPr>
                  <a:t> </a:t>
                </a:r>
              </a:p>
            </p:txBody>
          </p:sp>
        </mc:Fallback>
      </mc:AlternateContent>
      <p:graphicFrame>
        <p:nvGraphicFramePr>
          <p:cNvPr id="7" name="Content Placeholder 6">
            <a:extLst>
              <a:ext uri="{FF2B5EF4-FFF2-40B4-BE49-F238E27FC236}">
                <a16:creationId xmlns:a16="http://schemas.microsoft.com/office/drawing/2014/main" id="{579EA523-2B63-E44C-4257-193EA7068C8D}"/>
              </a:ext>
            </a:extLst>
          </p:cNvPr>
          <p:cNvGraphicFramePr>
            <a:graphicFrameLocks noGrp="1"/>
          </p:cNvGraphicFramePr>
          <p:nvPr>
            <p:ph idx="1"/>
            <p:extLst>
              <p:ext uri="{D42A27DB-BD31-4B8C-83A1-F6EECF244321}">
                <p14:modId xmlns:p14="http://schemas.microsoft.com/office/powerpoint/2010/main" val="1475459159"/>
              </p:ext>
            </p:extLst>
          </p:nvPr>
        </p:nvGraphicFramePr>
        <p:xfrm>
          <a:off x="7544656" y="2872740"/>
          <a:ext cx="3920514" cy="1112520"/>
        </p:xfrm>
        <a:graphic>
          <a:graphicData uri="http://schemas.openxmlformats.org/drawingml/2006/table">
            <a:tbl>
              <a:tblPr firstRow="1" bandRow="1">
                <a:tableStyleId>{5C22544A-7EE6-4342-B048-85BDC9FD1C3A}</a:tableStyleId>
              </a:tblPr>
              <a:tblGrid>
                <a:gridCol w="1458668">
                  <a:extLst>
                    <a:ext uri="{9D8B030D-6E8A-4147-A177-3AD203B41FA5}">
                      <a16:colId xmlns:a16="http://schemas.microsoft.com/office/drawing/2014/main" val="4209064394"/>
                    </a:ext>
                  </a:extLst>
                </a:gridCol>
                <a:gridCol w="1406769">
                  <a:extLst>
                    <a:ext uri="{9D8B030D-6E8A-4147-A177-3AD203B41FA5}">
                      <a16:colId xmlns:a16="http://schemas.microsoft.com/office/drawing/2014/main" val="142002838"/>
                    </a:ext>
                  </a:extLst>
                </a:gridCol>
                <a:gridCol w="1055077">
                  <a:extLst>
                    <a:ext uri="{9D8B030D-6E8A-4147-A177-3AD203B41FA5}">
                      <a16:colId xmlns:a16="http://schemas.microsoft.com/office/drawing/2014/main" val="560999834"/>
                    </a:ext>
                  </a:extLst>
                </a:gridCol>
              </a:tblGrid>
              <a:tr h="370840">
                <a:tc>
                  <a:txBody>
                    <a:bodyPr/>
                    <a:lstStyle/>
                    <a:p>
                      <a:pPr>
                        <a:buNone/>
                      </a:pPr>
                      <a:r>
                        <a:rPr lang="en-US" dirty="0" err="1"/>
                        <a:t>Roll_No</a:t>
                      </a:r>
                      <a:endParaRPr lang="en-US" dirty="0"/>
                    </a:p>
                  </a:txBody>
                  <a:tcPr anchor="ctr"/>
                </a:tc>
                <a:tc>
                  <a:txBody>
                    <a:bodyPr/>
                    <a:lstStyle/>
                    <a:p>
                      <a:pPr>
                        <a:buNone/>
                      </a:pPr>
                      <a:r>
                        <a:rPr lang="en-US"/>
                        <a:t>Subject</a:t>
                      </a:r>
                    </a:p>
                  </a:txBody>
                  <a:tcPr anchor="ctr"/>
                </a:tc>
                <a:tc>
                  <a:txBody>
                    <a:bodyPr/>
                    <a:lstStyle/>
                    <a:p>
                      <a:pPr>
                        <a:buNone/>
                      </a:pPr>
                      <a:r>
                        <a:rPr lang="en-US" dirty="0"/>
                        <a:t>Grade</a:t>
                      </a:r>
                    </a:p>
                  </a:txBody>
                  <a:tcPr anchor="ctr"/>
                </a:tc>
                <a:extLst>
                  <a:ext uri="{0D108BD9-81ED-4DB2-BD59-A6C34878D82A}">
                    <a16:rowId xmlns:a16="http://schemas.microsoft.com/office/drawing/2014/main" val="988743128"/>
                  </a:ext>
                </a:extLst>
              </a:tr>
              <a:tr h="370840">
                <a:tc>
                  <a:txBody>
                    <a:bodyPr/>
                    <a:lstStyle/>
                    <a:p>
                      <a:pPr>
                        <a:buNone/>
                      </a:pPr>
                      <a:r>
                        <a:rPr lang="en-US"/>
                        <a:t>101</a:t>
                      </a:r>
                    </a:p>
                  </a:txBody>
                  <a:tcPr anchor="ctr"/>
                </a:tc>
                <a:tc>
                  <a:txBody>
                    <a:bodyPr/>
                    <a:lstStyle/>
                    <a:p>
                      <a:pPr>
                        <a:buNone/>
                      </a:pPr>
                      <a:r>
                        <a:rPr lang="en-US"/>
                        <a:t>DBMS</a:t>
                      </a:r>
                    </a:p>
                  </a:txBody>
                  <a:tcPr anchor="ctr"/>
                </a:tc>
                <a:tc>
                  <a:txBody>
                    <a:bodyPr/>
                    <a:lstStyle/>
                    <a:p>
                      <a:pPr>
                        <a:buNone/>
                      </a:pPr>
                      <a:r>
                        <a:rPr lang="en-US"/>
                        <a:t>A</a:t>
                      </a:r>
                    </a:p>
                  </a:txBody>
                  <a:tcPr anchor="ctr"/>
                </a:tc>
                <a:extLst>
                  <a:ext uri="{0D108BD9-81ED-4DB2-BD59-A6C34878D82A}">
                    <a16:rowId xmlns:a16="http://schemas.microsoft.com/office/drawing/2014/main" val="3396491467"/>
                  </a:ext>
                </a:extLst>
              </a:tr>
              <a:tr h="370840">
                <a:tc>
                  <a:txBody>
                    <a:bodyPr/>
                    <a:lstStyle/>
                    <a:p>
                      <a:pPr>
                        <a:buNone/>
                      </a:pPr>
                      <a:r>
                        <a:rPr lang="en-US"/>
                        <a:t>101</a:t>
                      </a:r>
                    </a:p>
                  </a:txBody>
                  <a:tcPr anchor="ctr"/>
                </a:tc>
                <a:tc>
                  <a:txBody>
                    <a:bodyPr/>
                    <a:lstStyle/>
                    <a:p>
                      <a:pPr>
                        <a:buNone/>
                      </a:pPr>
                      <a:r>
                        <a:rPr lang="en-US"/>
                        <a:t>OS</a:t>
                      </a:r>
                    </a:p>
                  </a:txBody>
                  <a:tcPr anchor="ctr"/>
                </a:tc>
                <a:tc>
                  <a:txBody>
                    <a:bodyPr/>
                    <a:lstStyle/>
                    <a:p>
                      <a:pPr>
                        <a:buNone/>
                      </a:pPr>
                      <a:r>
                        <a:rPr lang="en-US" dirty="0"/>
                        <a:t>B</a:t>
                      </a:r>
                    </a:p>
                  </a:txBody>
                  <a:tcPr anchor="ctr"/>
                </a:tc>
                <a:extLst>
                  <a:ext uri="{0D108BD9-81ED-4DB2-BD59-A6C34878D82A}">
                    <a16:rowId xmlns:a16="http://schemas.microsoft.com/office/drawing/2014/main" val="1815768626"/>
                  </a:ext>
                </a:extLst>
              </a:tr>
            </a:tbl>
          </a:graphicData>
        </a:graphic>
      </p:graphicFrame>
    </p:spTree>
    <p:extLst>
      <p:ext uri="{BB962C8B-B14F-4D97-AF65-F5344CB8AC3E}">
        <p14:creationId xmlns:p14="http://schemas.microsoft.com/office/powerpoint/2010/main" val="106935032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FF5A1D-D5D1-CB12-E013-18CCE522D2D7}"/>
              </a:ext>
            </a:extLst>
          </p:cNvPr>
          <p:cNvSpPr>
            <a:spLocks noGrp="1"/>
          </p:cNvSpPr>
          <p:nvPr>
            <p:ph type="title"/>
          </p:nvPr>
        </p:nvSpPr>
        <p:spPr/>
        <p:txBody>
          <a:bodyPr/>
          <a:lstStyle/>
          <a:p>
            <a:r>
              <a:rPr lang="en-US" dirty="0"/>
              <a:t>Partial Functional Dependency</a:t>
            </a:r>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893788F2-52D0-1981-EF28-BEBD5430B75E}"/>
                  </a:ext>
                </a:extLst>
              </p:cNvPr>
              <p:cNvSpPr txBox="1">
                <a:spLocks/>
              </p:cNvSpPr>
              <p:nvPr/>
            </p:nvSpPr>
            <p:spPr>
              <a:xfrm>
                <a:off x="1066800" y="1737360"/>
                <a:ext cx="10058400" cy="402336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dirty="0"/>
                  <a:t>Occurs when a non-key attribute depends on only part of a composite key.</a:t>
                </a:r>
              </a:p>
              <a:p>
                <a:r>
                  <a:rPr lang="en-US" dirty="0"/>
                  <a:t>A functional dependency </a:t>
                </a:r>
                <a:r>
                  <a:rPr lang="en-US" b="1" dirty="0"/>
                  <a:t>X → Y</a:t>
                </a:r>
                <a:r>
                  <a:rPr lang="en-US" dirty="0"/>
                  <a:t> is called a </a:t>
                </a:r>
                <a:r>
                  <a:rPr lang="en-US" b="1" dirty="0"/>
                  <a:t>partial dependency</a:t>
                </a:r>
                <a:r>
                  <a:rPr lang="en-US" dirty="0"/>
                  <a:t> if:</a:t>
                </a:r>
              </a:p>
              <a:p>
                <a:pPr lvl="1"/>
                <a:r>
                  <a:rPr lang="en-US" b="1" dirty="0"/>
                  <a:t>X is a composite key</a:t>
                </a:r>
                <a:r>
                  <a:rPr lang="en-US" dirty="0"/>
                  <a:t> (contains more than one attribute). </a:t>
                </a:r>
              </a:p>
              <a:p>
                <a:pPr lvl="1"/>
                <a:r>
                  <a:rPr lang="en-US" b="1" dirty="0"/>
                  <a:t>Y is a non-prime attribute</a:t>
                </a:r>
                <a:r>
                  <a:rPr lang="en-US" dirty="0"/>
                  <a:t> (not part of any candidate key). </a:t>
                </a:r>
              </a:p>
              <a:p>
                <a:pPr lvl="1"/>
                <a:r>
                  <a:rPr lang="en-US" dirty="0"/>
                  <a:t>Y depends on only a subset of X. </a:t>
                </a:r>
              </a:p>
              <a:p>
                <a:r>
                  <a:rPr lang="en-US" dirty="0"/>
                  <a:t>Example: Primary Key: </a:t>
                </a:r>
                <a14:m>
                  <m:oMath xmlns:m="http://schemas.openxmlformats.org/officeDocument/2006/math">
                    <m:r>
                      <a:rPr lang="en-US" i="1" smtClean="0">
                        <a:latin typeface="Cambria Math" panose="02040503050406030204" pitchFamily="18" charset="0"/>
                      </a:rPr>
                      <m:t>(</m:t>
                    </m:r>
                    <m:r>
                      <a:rPr lang="en-US" i="1">
                        <a:latin typeface="Cambria Math" panose="02040503050406030204" pitchFamily="18" charset="0"/>
                      </a:rPr>
                      <m:t>𝑅𝑜𝑙𝑙</m:t>
                    </m:r>
                    <m:r>
                      <m:rPr>
                        <m:lit/>
                      </m:rPr>
                      <a:rPr lang="en-US">
                        <a:latin typeface="Cambria Math" panose="02040503050406030204" pitchFamily="18" charset="0"/>
                      </a:rPr>
                      <m:t>_</m:t>
                    </m:r>
                    <m:r>
                      <a:rPr lang="en-US" i="1">
                        <a:latin typeface="Cambria Math" panose="02040503050406030204" pitchFamily="18" charset="0"/>
                      </a:rPr>
                      <m:t>𝑁𝑜</m:t>
                    </m:r>
                    <m:r>
                      <a:rPr lang="en-US" smtClean="0">
                        <a:latin typeface="Cambria Math" panose="02040503050406030204" pitchFamily="18" charset="0"/>
                      </a:rPr>
                      <m:t>, </m:t>
                    </m:r>
                    <m:r>
                      <a:rPr lang="en-US" i="1">
                        <a:latin typeface="Cambria Math" panose="02040503050406030204" pitchFamily="18" charset="0"/>
                      </a:rPr>
                      <m:t>𝑆</m:t>
                    </m:r>
                    <m:r>
                      <m:rPr>
                        <m:sty m:val="p"/>
                      </m:rPr>
                      <a:rPr lang="en-US" smtClean="0">
                        <a:latin typeface="Cambria Math" panose="02040503050406030204" pitchFamily="18" charset="0"/>
                      </a:rPr>
                      <m:t>ubject</m:t>
                    </m:r>
                    <m:r>
                      <a:rPr lang="en-US" smtClean="0">
                        <a:latin typeface="Cambria Math" panose="02040503050406030204" pitchFamily="18" charset="0"/>
                      </a:rPr>
                      <m:t>)</m:t>
                    </m:r>
                  </m:oMath>
                </a14:m>
                <a:r>
                  <a:rPr lang="en-US" dirty="0"/>
                  <a:t>.  Dependency:</a:t>
                </a:r>
                <a14:m>
                  <m:oMath xmlns:m="http://schemas.openxmlformats.org/officeDocument/2006/math">
                    <m:r>
                      <a:rPr lang="en-US" b="0" i="0" smtClean="0">
                        <a:latin typeface="Cambria Math" panose="02040503050406030204" pitchFamily="18" charset="0"/>
                      </a:rPr>
                      <m:t> </m:t>
                    </m:r>
                    <m:r>
                      <a:rPr lang="en-US" i="1">
                        <a:latin typeface="Cambria Math" panose="02040503050406030204" pitchFamily="18" charset="0"/>
                      </a:rPr>
                      <m:t>𝑅𝑜𝑙𝑙</m:t>
                    </m:r>
                    <m:r>
                      <m:rPr>
                        <m:lit/>
                      </m:rPr>
                      <a:rPr lang="en-US">
                        <a:latin typeface="Cambria Math" panose="02040503050406030204" pitchFamily="18" charset="0"/>
                      </a:rPr>
                      <m:t>_</m:t>
                    </m:r>
                    <m:r>
                      <a:rPr lang="en-US" i="1">
                        <a:latin typeface="Cambria Math" panose="02040503050406030204" pitchFamily="18" charset="0"/>
                      </a:rPr>
                      <m:t>𝑁𝑜</m:t>
                    </m:r>
                    <m:r>
                      <a:rPr lang="en-US">
                        <a:latin typeface="Cambria Math" panose="02040503050406030204" pitchFamily="18" charset="0"/>
                      </a:rPr>
                      <m:t>→</m:t>
                    </m:r>
                    <m:r>
                      <a:rPr lang="en-US" i="1">
                        <a:latin typeface="Cambria Math" panose="02040503050406030204" pitchFamily="18" charset="0"/>
                      </a:rPr>
                      <m:t>𝑆𝑡𝑢𝑑𝑒𝑛𝑡</m:t>
                    </m:r>
                    <m:r>
                      <m:rPr>
                        <m:lit/>
                      </m:rPr>
                      <a:rPr lang="en-US">
                        <a:latin typeface="Cambria Math" panose="02040503050406030204" pitchFamily="18" charset="0"/>
                      </a:rPr>
                      <m:t>_</m:t>
                    </m:r>
                    <m:r>
                      <a:rPr lang="en-US" i="1">
                        <a:latin typeface="Cambria Math" panose="02040503050406030204" pitchFamily="18" charset="0"/>
                      </a:rPr>
                      <m:t>𝑁𝑎𝑚𝑒</m:t>
                    </m:r>
                  </m:oMath>
                </a14:m>
                <a:endParaRPr lang="en-US" dirty="0"/>
              </a:p>
              <a:p>
                <a:r>
                  <a:rPr lang="en-US" dirty="0" err="1"/>
                  <a:t>Student_Name</a:t>
                </a:r>
                <a:r>
                  <a:rPr lang="en-US" dirty="0"/>
                  <a:t> depends only on </a:t>
                </a:r>
                <a:r>
                  <a:rPr lang="en-US" dirty="0" err="1"/>
                  <a:t>Roll_No</a:t>
                </a:r>
                <a:r>
                  <a:rPr lang="en-US" dirty="0"/>
                  <a:t>, not on Subject.</a:t>
                </a:r>
              </a:p>
              <a:p>
                <a:r>
                  <a:rPr lang="en-US" dirty="0"/>
                  <a:t>This is a </a:t>
                </a:r>
                <a:r>
                  <a:rPr lang="en-US" b="1" dirty="0"/>
                  <a:t>Partial Dependency</a:t>
                </a:r>
                <a:r>
                  <a:rPr lang="en-US" dirty="0"/>
                  <a:t>.</a:t>
                </a:r>
              </a:p>
              <a:p>
                <a:r>
                  <a:rPr lang="en-US" b="1" dirty="0"/>
                  <a:t>Problem: </a:t>
                </a:r>
                <a:r>
                  <a:rPr lang="en-US" dirty="0"/>
                  <a:t>Partial dependency causes redundancy and violates </a:t>
                </a:r>
                <a:r>
                  <a:rPr lang="en-US" b="1" dirty="0"/>
                  <a:t>2NF</a:t>
                </a:r>
                <a:r>
                  <a:rPr lang="en-US" dirty="0"/>
                  <a:t>.</a:t>
                </a:r>
              </a:p>
              <a:p>
                <a:endParaRPr lang="en-US" dirty="0"/>
              </a:p>
            </p:txBody>
          </p:sp>
        </mc:Choice>
        <mc:Fallback xmlns="">
          <p:sp>
            <p:nvSpPr>
              <p:cNvPr id="4" name="Content Placeholder 2">
                <a:extLst>
                  <a:ext uri="{FF2B5EF4-FFF2-40B4-BE49-F238E27FC236}">
                    <a16:creationId xmlns:a16="http://schemas.microsoft.com/office/drawing/2014/main" id="{893788F2-52D0-1981-EF28-BEBD5430B75E}"/>
                  </a:ext>
                </a:extLst>
              </p:cNvPr>
              <p:cNvSpPr txBox="1">
                <a:spLocks noRot="1" noChangeAspect="1" noMove="1" noResize="1" noEditPoints="1" noAdjustHandles="1" noChangeArrowheads="1" noChangeShapeType="1" noTextEdit="1"/>
              </p:cNvSpPr>
              <p:nvPr/>
            </p:nvSpPr>
            <p:spPr>
              <a:xfrm>
                <a:off x="1066800" y="1737360"/>
                <a:ext cx="10058400" cy="4023360"/>
              </a:xfrm>
              <a:prstGeom prst="rect">
                <a:avLst/>
              </a:prstGeom>
              <a:blipFill>
                <a:blip r:embed="rId3"/>
                <a:stretch>
                  <a:fillRect l="-1515" t="-1515" b="-3333"/>
                </a:stretch>
              </a:blipFill>
            </p:spPr>
            <p:txBody>
              <a:bodyPr/>
              <a:lstStyle/>
              <a:p>
                <a:r>
                  <a:rPr lang="en-US">
                    <a:noFill/>
                  </a:rPr>
                  <a:t> </a:t>
                </a:r>
              </a:p>
            </p:txBody>
          </p:sp>
        </mc:Fallback>
      </mc:AlternateContent>
      <p:sp>
        <p:nvSpPr>
          <p:cNvPr id="12" name="Content Placeholder 11">
            <a:extLst>
              <a:ext uri="{FF2B5EF4-FFF2-40B4-BE49-F238E27FC236}">
                <a16:creationId xmlns:a16="http://schemas.microsoft.com/office/drawing/2014/main" id="{5E08C21D-5E3B-EE10-3A03-F56ED75EA278}"/>
              </a:ext>
            </a:extLst>
          </p:cNvPr>
          <p:cNvSpPr>
            <a:spLocks noGrp="1"/>
          </p:cNvSpPr>
          <p:nvPr>
            <p:ph idx="1"/>
          </p:nvPr>
        </p:nvSpPr>
        <p:spPr>
          <a:xfrm>
            <a:off x="4488180" y="6017684"/>
            <a:ext cx="10058400" cy="4023360"/>
          </a:xfrm>
        </p:spPr>
        <p:txBody>
          <a:bodyPr/>
          <a:lstStyle/>
          <a:p>
            <a:endParaRPr lang="en-US" dirty="0"/>
          </a:p>
        </p:txBody>
      </p:sp>
    </p:spTree>
    <p:extLst>
      <p:ext uri="{BB962C8B-B14F-4D97-AF65-F5344CB8AC3E}">
        <p14:creationId xmlns:p14="http://schemas.microsoft.com/office/powerpoint/2010/main" val="74902803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3BD78-C490-6D91-EFF1-2AD0EBE3553A}"/>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BC8E7582-6900-947A-26F1-836DF9FA5430}"/>
              </a:ext>
            </a:extLst>
          </p:cNvPr>
          <p:cNvSpPr>
            <a:spLocks noGrp="1"/>
          </p:cNvSpPr>
          <p:nvPr>
            <p:ph idx="1"/>
          </p:nvPr>
        </p:nvSpPr>
        <p:spPr>
          <a:xfrm>
            <a:off x="716280" y="1737360"/>
            <a:ext cx="10058400" cy="4023360"/>
          </a:xfrm>
        </p:spPr>
        <p:txBody>
          <a:bodyPr>
            <a:normAutofit fontScale="92500" lnSpcReduction="10000"/>
          </a:bodyPr>
          <a:lstStyle/>
          <a:p>
            <a:r>
              <a:rPr lang="en-US" b="1" dirty="0"/>
              <a:t>Primary Key: </a:t>
            </a:r>
            <a:r>
              <a:rPr lang="en-US" dirty="0"/>
              <a:t>The combination: </a:t>
            </a:r>
            <a:r>
              <a:rPr lang="en-US" b="1" dirty="0"/>
              <a:t>(</a:t>
            </a:r>
            <a:r>
              <a:rPr lang="en-US" b="1" dirty="0" err="1"/>
              <a:t>Student_ID</a:t>
            </a:r>
            <a:r>
              <a:rPr lang="en-US" b="1" dirty="0"/>
              <a:t>, </a:t>
            </a:r>
            <a:r>
              <a:rPr lang="en-US" b="1" dirty="0" err="1"/>
              <a:t>Subject_ID</a:t>
            </a:r>
            <a:r>
              <a:rPr lang="en-US" b="1" dirty="0"/>
              <a:t>) </a:t>
            </a:r>
            <a:r>
              <a:rPr lang="en-US" dirty="0"/>
              <a:t>uniquely identifies each record.</a:t>
            </a:r>
          </a:p>
          <a:p>
            <a:r>
              <a:rPr lang="en-US" dirty="0"/>
              <a:t>Functional Dependencies</a:t>
            </a:r>
          </a:p>
          <a:p>
            <a:pPr lvl="1"/>
            <a:r>
              <a:rPr lang="en-US" dirty="0"/>
              <a:t>(</a:t>
            </a:r>
            <a:r>
              <a:rPr lang="en-US" dirty="0" err="1"/>
              <a:t>Student_ID</a:t>
            </a:r>
            <a:r>
              <a:rPr lang="en-US" dirty="0"/>
              <a:t>, </a:t>
            </a:r>
            <a:r>
              <a:rPr lang="en-US" dirty="0" err="1"/>
              <a:t>Subject_ID</a:t>
            </a:r>
            <a:r>
              <a:rPr lang="en-US" dirty="0"/>
              <a:t>) → Marks</a:t>
            </a:r>
          </a:p>
          <a:p>
            <a:pPr lvl="1"/>
            <a:r>
              <a:rPr lang="en-US" dirty="0" err="1"/>
              <a:t>Student_ID</a:t>
            </a:r>
            <a:r>
              <a:rPr lang="en-US" dirty="0"/>
              <a:t> → </a:t>
            </a:r>
            <a:r>
              <a:rPr lang="en-US" dirty="0" err="1"/>
              <a:t>Student_Name</a:t>
            </a:r>
            <a:endParaRPr lang="en-US" dirty="0"/>
          </a:p>
          <a:p>
            <a:pPr lvl="1"/>
            <a:r>
              <a:rPr lang="en-US" dirty="0" err="1"/>
              <a:t>Subject_ID</a:t>
            </a:r>
            <a:r>
              <a:rPr lang="en-US" dirty="0"/>
              <a:t> → </a:t>
            </a:r>
            <a:r>
              <a:rPr lang="en-US" dirty="0" err="1"/>
              <a:t>Subject_Name</a:t>
            </a:r>
            <a:endParaRPr lang="en-US" dirty="0"/>
          </a:p>
          <a:p>
            <a:pPr lvl="1"/>
            <a:endParaRPr lang="en-US" dirty="0"/>
          </a:p>
          <a:p>
            <a:pPr lvl="1"/>
            <a:r>
              <a:rPr lang="en-US" dirty="0"/>
              <a:t>Lets consider, </a:t>
            </a:r>
            <a:r>
              <a:rPr lang="en-US" dirty="0" err="1"/>
              <a:t>Student_Id</a:t>
            </a:r>
            <a:r>
              <a:rPr lang="en-US" dirty="0"/>
              <a:t> </a:t>
            </a:r>
            <a:r>
              <a:rPr lang="en-US" dirty="0">
                <a:sym typeface="Wingdings" panose="05000000000000000000" pitchFamily="2" charset="2"/>
              </a:rPr>
              <a:t> </a:t>
            </a:r>
            <a:r>
              <a:rPr lang="en-US" dirty="0" err="1">
                <a:sym typeface="Wingdings" panose="05000000000000000000" pitchFamily="2" charset="2"/>
              </a:rPr>
              <a:t>Stu_Name</a:t>
            </a:r>
            <a:endParaRPr lang="en-US" dirty="0">
              <a:sym typeface="Wingdings" panose="05000000000000000000" pitchFamily="2" charset="2"/>
            </a:endParaRPr>
          </a:p>
          <a:p>
            <a:r>
              <a:rPr lang="en-US" dirty="0">
                <a:sym typeface="Wingdings" panose="05000000000000000000" pitchFamily="2" charset="2"/>
              </a:rPr>
              <a:t>Here  </a:t>
            </a:r>
            <a:r>
              <a:rPr lang="en-US" dirty="0"/>
              <a:t>Primary Key = (</a:t>
            </a:r>
            <a:r>
              <a:rPr lang="en-US" dirty="0" err="1"/>
              <a:t>Student_ID</a:t>
            </a:r>
            <a:r>
              <a:rPr lang="en-US" dirty="0"/>
              <a:t>, </a:t>
            </a:r>
            <a:r>
              <a:rPr lang="en-US" dirty="0" err="1"/>
              <a:t>Subject_ID</a:t>
            </a:r>
            <a:r>
              <a:rPr lang="en-US" dirty="0"/>
              <a:t>) </a:t>
            </a:r>
          </a:p>
          <a:p>
            <a:r>
              <a:rPr lang="en-US" dirty="0" err="1"/>
              <a:t>Student_Name</a:t>
            </a:r>
            <a:r>
              <a:rPr lang="en-US" dirty="0"/>
              <a:t> depends only on </a:t>
            </a:r>
            <a:r>
              <a:rPr lang="en-US" dirty="0" err="1"/>
              <a:t>Student_ID</a:t>
            </a:r>
            <a:r>
              <a:rPr lang="en-US" dirty="0"/>
              <a:t>  , It does not need </a:t>
            </a:r>
            <a:r>
              <a:rPr lang="en-US" dirty="0" err="1"/>
              <a:t>Subject_ID</a:t>
            </a:r>
            <a:r>
              <a:rPr lang="en-US" dirty="0"/>
              <a:t> </a:t>
            </a:r>
          </a:p>
          <a:p>
            <a:r>
              <a:rPr lang="en-US" dirty="0"/>
              <a:t>Therefore: </a:t>
            </a:r>
            <a:r>
              <a:rPr lang="en-US" b="1" dirty="0" err="1"/>
              <a:t>Student_ID</a:t>
            </a:r>
            <a:r>
              <a:rPr lang="en-US" b="1" dirty="0"/>
              <a:t> → </a:t>
            </a:r>
            <a:r>
              <a:rPr lang="en-US" b="1" dirty="0" err="1"/>
              <a:t>Student_Name</a:t>
            </a:r>
            <a:r>
              <a:rPr lang="en-US" dirty="0"/>
              <a:t> is a </a:t>
            </a:r>
            <a:r>
              <a:rPr lang="en-US" b="1" dirty="0"/>
              <a:t>partial dependency</a:t>
            </a:r>
            <a:r>
              <a:rPr lang="en-US" dirty="0"/>
              <a:t>.</a:t>
            </a:r>
          </a:p>
          <a:p>
            <a:r>
              <a:rPr lang="en-US" dirty="0"/>
              <a:t>Similarly: </a:t>
            </a:r>
            <a:r>
              <a:rPr lang="en-US" b="1" dirty="0" err="1"/>
              <a:t>Subject_ID</a:t>
            </a:r>
            <a:r>
              <a:rPr lang="en-US" b="1" dirty="0"/>
              <a:t> → </a:t>
            </a:r>
            <a:r>
              <a:rPr lang="en-US" b="1" dirty="0" err="1"/>
              <a:t>Subject_Name</a:t>
            </a:r>
            <a:r>
              <a:rPr lang="en-US" b="1" dirty="0"/>
              <a:t> </a:t>
            </a:r>
            <a:r>
              <a:rPr lang="en-US" dirty="0"/>
              <a:t>is also a partial dependency</a:t>
            </a:r>
          </a:p>
        </p:txBody>
      </p:sp>
      <p:graphicFrame>
        <p:nvGraphicFramePr>
          <p:cNvPr id="7" name="Content Placeholder 6">
            <a:extLst>
              <a:ext uri="{FF2B5EF4-FFF2-40B4-BE49-F238E27FC236}">
                <a16:creationId xmlns:a16="http://schemas.microsoft.com/office/drawing/2014/main" id="{70A16598-FA72-BAF8-ACA5-93567265926F}"/>
              </a:ext>
            </a:extLst>
          </p:cNvPr>
          <p:cNvGraphicFramePr>
            <a:graphicFrameLocks/>
          </p:cNvGraphicFramePr>
          <p:nvPr>
            <p:extLst>
              <p:ext uri="{D42A27DB-BD31-4B8C-83A1-F6EECF244321}">
                <p14:modId xmlns:p14="http://schemas.microsoft.com/office/powerpoint/2010/main" val="2843436936"/>
              </p:ext>
            </p:extLst>
          </p:nvPr>
        </p:nvGraphicFramePr>
        <p:xfrm>
          <a:off x="5166170" y="2311817"/>
          <a:ext cx="7025830" cy="1483360"/>
        </p:xfrm>
        <a:graphic>
          <a:graphicData uri="http://schemas.openxmlformats.org/drawingml/2006/table">
            <a:tbl>
              <a:tblPr firstRow="1" bandRow="1">
                <a:tableStyleId>{5C22544A-7EE6-4342-B048-85BDC9FD1C3A}</a:tableStyleId>
              </a:tblPr>
              <a:tblGrid>
                <a:gridCol w="1441452">
                  <a:extLst>
                    <a:ext uri="{9D8B030D-6E8A-4147-A177-3AD203B41FA5}">
                      <a16:colId xmlns:a16="http://schemas.microsoft.com/office/drawing/2014/main" val="54446326"/>
                    </a:ext>
                  </a:extLst>
                </a:gridCol>
                <a:gridCol w="1319515">
                  <a:extLst>
                    <a:ext uri="{9D8B030D-6E8A-4147-A177-3AD203B41FA5}">
                      <a16:colId xmlns:a16="http://schemas.microsoft.com/office/drawing/2014/main" val="544397278"/>
                    </a:ext>
                  </a:extLst>
                </a:gridCol>
                <a:gridCol w="1366641">
                  <a:extLst>
                    <a:ext uri="{9D8B030D-6E8A-4147-A177-3AD203B41FA5}">
                      <a16:colId xmlns:a16="http://schemas.microsoft.com/office/drawing/2014/main" val="3156228728"/>
                    </a:ext>
                  </a:extLst>
                </a:gridCol>
                <a:gridCol w="2120650">
                  <a:extLst>
                    <a:ext uri="{9D8B030D-6E8A-4147-A177-3AD203B41FA5}">
                      <a16:colId xmlns:a16="http://schemas.microsoft.com/office/drawing/2014/main" val="2920091614"/>
                    </a:ext>
                  </a:extLst>
                </a:gridCol>
                <a:gridCol w="777572">
                  <a:extLst>
                    <a:ext uri="{9D8B030D-6E8A-4147-A177-3AD203B41FA5}">
                      <a16:colId xmlns:a16="http://schemas.microsoft.com/office/drawing/2014/main" val="1516385202"/>
                    </a:ext>
                  </a:extLst>
                </a:gridCol>
              </a:tblGrid>
              <a:tr h="370840">
                <a:tc>
                  <a:txBody>
                    <a:bodyPr/>
                    <a:lstStyle/>
                    <a:p>
                      <a:pPr>
                        <a:buNone/>
                      </a:pPr>
                      <a:r>
                        <a:rPr lang="en-US" dirty="0" err="1"/>
                        <a:t>Student_ID</a:t>
                      </a:r>
                      <a:endParaRPr lang="en-US" dirty="0"/>
                    </a:p>
                  </a:txBody>
                  <a:tcPr anchor="ctr"/>
                </a:tc>
                <a:tc>
                  <a:txBody>
                    <a:bodyPr/>
                    <a:lstStyle/>
                    <a:p>
                      <a:pPr>
                        <a:buNone/>
                      </a:pPr>
                      <a:r>
                        <a:rPr lang="en-US"/>
                        <a:t>Subject_ID</a:t>
                      </a:r>
                    </a:p>
                  </a:txBody>
                  <a:tcPr anchor="ctr"/>
                </a:tc>
                <a:tc>
                  <a:txBody>
                    <a:bodyPr/>
                    <a:lstStyle/>
                    <a:p>
                      <a:pPr>
                        <a:buNone/>
                      </a:pPr>
                      <a:r>
                        <a:rPr lang="en-US" dirty="0" err="1"/>
                        <a:t>Stu_Name</a:t>
                      </a:r>
                      <a:endParaRPr lang="en-US" dirty="0"/>
                    </a:p>
                  </a:txBody>
                  <a:tcPr anchor="ctr"/>
                </a:tc>
                <a:tc>
                  <a:txBody>
                    <a:bodyPr/>
                    <a:lstStyle/>
                    <a:p>
                      <a:pPr>
                        <a:buNone/>
                      </a:pPr>
                      <a:r>
                        <a:rPr lang="en-US"/>
                        <a:t>Subject_Name</a:t>
                      </a:r>
                    </a:p>
                  </a:txBody>
                  <a:tcPr anchor="ctr"/>
                </a:tc>
                <a:tc>
                  <a:txBody>
                    <a:bodyPr/>
                    <a:lstStyle/>
                    <a:p>
                      <a:pPr>
                        <a:buNone/>
                      </a:pPr>
                      <a:r>
                        <a:rPr lang="en-US"/>
                        <a:t>Marks</a:t>
                      </a:r>
                    </a:p>
                  </a:txBody>
                  <a:tcPr anchor="ctr"/>
                </a:tc>
                <a:extLst>
                  <a:ext uri="{0D108BD9-81ED-4DB2-BD59-A6C34878D82A}">
                    <a16:rowId xmlns:a16="http://schemas.microsoft.com/office/drawing/2014/main" val="3932005534"/>
                  </a:ext>
                </a:extLst>
              </a:tr>
              <a:tr h="370840">
                <a:tc>
                  <a:txBody>
                    <a:bodyPr/>
                    <a:lstStyle/>
                    <a:p>
                      <a:pPr>
                        <a:buNone/>
                      </a:pPr>
                      <a:r>
                        <a:rPr lang="en-US"/>
                        <a:t>S101</a:t>
                      </a:r>
                    </a:p>
                  </a:txBody>
                  <a:tcPr anchor="ctr"/>
                </a:tc>
                <a:tc>
                  <a:txBody>
                    <a:bodyPr/>
                    <a:lstStyle/>
                    <a:p>
                      <a:pPr>
                        <a:buNone/>
                      </a:pPr>
                      <a:r>
                        <a:rPr lang="en-US"/>
                        <a:t>DBMS</a:t>
                      </a:r>
                    </a:p>
                  </a:txBody>
                  <a:tcPr anchor="ctr"/>
                </a:tc>
                <a:tc>
                  <a:txBody>
                    <a:bodyPr/>
                    <a:lstStyle/>
                    <a:p>
                      <a:pPr>
                        <a:buNone/>
                      </a:pPr>
                      <a:r>
                        <a:rPr lang="en-US"/>
                        <a:t>Ram</a:t>
                      </a:r>
                    </a:p>
                  </a:txBody>
                  <a:tcPr anchor="ctr"/>
                </a:tc>
                <a:tc>
                  <a:txBody>
                    <a:bodyPr/>
                    <a:lstStyle/>
                    <a:p>
                      <a:pPr>
                        <a:buNone/>
                      </a:pPr>
                      <a:r>
                        <a:rPr lang="en-US"/>
                        <a:t>Database Systems</a:t>
                      </a:r>
                    </a:p>
                  </a:txBody>
                  <a:tcPr anchor="ctr"/>
                </a:tc>
                <a:tc>
                  <a:txBody>
                    <a:bodyPr/>
                    <a:lstStyle/>
                    <a:p>
                      <a:pPr>
                        <a:buNone/>
                      </a:pPr>
                      <a:r>
                        <a:rPr lang="en-US" dirty="0"/>
                        <a:t>85</a:t>
                      </a:r>
                    </a:p>
                  </a:txBody>
                  <a:tcPr anchor="ctr"/>
                </a:tc>
                <a:extLst>
                  <a:ext uri="{0D108BD9-81ED-4DB2-BD59-A6C34878D82A}">
                    <a16:rowId xmlns:a16="http://schemas.microsoft.com/office/drawing/2014/main" val="1662674600"/>
                  </a:ext>
                </a:extLst>
              </a:tr>
              <a:tr h="370840">
                <a:tc>
                  <a:txBody>
                    <a:bodyPr/>
                    <a:lstStyle/>
                    <a:p>
                      <a:pPr>
                        <a:buNone/>
                      </a:pPr>
                      <a:r>
                        <a:rPr lang="en-US"/>
                        <a:t>S101</a:t>
                      </a:r>
                    </a:p>
                  </a:txBody>
                  <a:tcPr anchor="ctr"/>
                </a:tc>
                <a:tc>
                  <a:txBody>
                    <a:bodyPr/>
                    <a:lstStyle/>
                    <a:p>
                      <a:pPr>
                        <a:buNone/>
                      </a:pPr>
                      <a:r>
                        <a:rPr lang="en-US"/>
                        <a:t>OS</a:t>
                      </a:r>
                    </a:p>
                  </a:txBody>
                  <a:tcPr anchor="ctr"/>
                </a:tc>
                <a:tc>
                  <a:txBody>
                    <a:bodyPr/>
                    <a:lstStyle/>
                    <a:p>
                      <a:pPr>
                        <a:buNone/>
                      </a:pPr>
                      <a:r>
                        <a:rPr lang="en-US"/>
                        <a:t>Ram</a:t>
                      </a:r>
                    </a:p>
                  </a:txBody>
                  <a:tcPr anchor="ctr"/>
                </a:tc>
                <a:tc>
                  <a:txBody>
                    <a:bodyPr/>
                    <a:lstStyle/>
                    <a:p>
                      <a:pPr>
                        <a:buNone/>
                      </a:pPr>
                      <a:r>
                        <a:rPr lang="en-US"/>
                        <a:t>Operating Systems</a:t>
                      </a:r>
                    </a:p>
                  </a:txBody>
                  <a:tcPr anchor="ctr"/>
                </a:tc>
                <a:tc>
                  <a:txBody>
                    <a:bodyPr/>
                    <a:lstStyle/>
                    <a:p>
                      <a:pPr>
                        <a:buNone/>
                      </a:pPr>
                      <a:r>
                        <a:rPr lang="en-US"/>
                        <a:t>78</a:t>
                      </a:r>
                    </a:p>
                  </a:txBody>
                  <a:tcPr anchor="ctr"/>
                </a:tc>
                <a:extLst>
                  <a:ext uri="{0D108BD9-81ED-4DB2-BD59-A6C34878D82A}">
                    <a16:rowId xmlns:a16="http://schemas.microsoft.com/office/drawing/2014/main" val="1706536443"/>
                  </a:ext>
                </a:extLst>
              </a:tr>
              <a:tr h="370840">
                <a:tc>
                  <a:txBody>
                    <a:bodyPr/>
                    <a:lstStyle/>
                    <a:p>
                      <a:pPr>
                        <a:buNone/>
                      </a:pPr>
                      <a:r>
                        <a:rPr lang="en-US" dirty="0"/>
                        <a:t>S102</a:t>
                      </a:r>
                    </a:p>
                  </a:txBody>
                  <a:tcPr anchor="ctr"/>
                </a:tc>
                <a:tc>
                  <a:txBody>
                    <a:bodyPr/>
                    <a:lstStyle/>
                    <a:p>
                      <a:pPr>
                        <a:buNone/>
                      </a:pPr>
                      <a:r>
                        <a:rPr lang="en-US" dirty="0"/>
                        <a:t>DBMS</a:t>
                      </a:r>
                    </a:p>
                  </a:txBody>
                  <a:tcPr anchor="ctr"/>
                </a:tc>
                <a:tc>
                  <a:txBody>
                    <a:bodyPr/>
                    <a:lstStyle/>
                    <a:p>
                      <a:pPr>
                        <a:buNone/>
                      </a:pPr>
                      <a:r>
                        <a:rPr lang="en-US"/>
                        <a:t>Shyam</a:t>
                      </a:r>
                    </a:p>
                  </a:txBody>
                  <a:tcPr anchor="ctr"/>
                </a:tc>
                <a:tc>
                  <a:txBody>
                    <a:bodyPr/>
                    <a:lstStyle/>
                    <a:p>
                      <a:pPr>
                        <a:buNone/>
                      </a:pPr>
                      <a:r>
                        <a:rPr lang="en-US"/>
                        <a:t>Database Systems</a:t>
                      </a:r>
                    </a:p>
                  </a:txBody>
                  <a:tcPr anchor="ctr"/>
                </a:tc>
                <a:tc>
                  <a:txBody>
                    <a:bodyPr/>
                    <a:lstStyle/>
                    <a:p>
                      <a:pPr>
                        <a:buNone/>
                      </a:pPr>
                      <a:r>
                        <a:rPr lang="en-US" dirty="0"/>
                        <a:t>90</a:t>
                      </a:r>
                    </a:p>
                  </a:txBody>
                  <a:tcPr anchor="ctr"/>
                </a:tc>
                <a:extLst>
                  <a:ext uri="{0D108BD9-81ED-4DB2-BD59-A6C34878D82A}">
                    <a16:rowId xmlns:a16="http://schemas.microsoft.com/office/drawing/2014/main" val="4061622329"/>
                  </a:ext>
                </a:extLst>
              </a:tr>
            </a:tbl>
          </a:graphicData>
        </a:graphic>
      </p:graphicFrame>
    </p:spTree>
    <p:extLst>
      <p:ext uri="{BB962C8B-B14F-4D97-AF65-F5344CB8AC3E}">
        <p14:creationId xmlns:p14="http://schemas.microsoft.com/office/powerpoint/2010/main" val="328272983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DABF68-8FCC-794D-2728-DDBC73BEDCBB}"/>
              </a:ext>
            </a:extLst>
          </p:cNvPr>
          <p:cNvSpPr>
            <a:spLocks noGrp="1"/>
          </p:cNvSpPr>
          <p:nvPr>
            <p:ph type="title"/>
          </p:nvPr>
        </p:nvSpPr>
        <p:spPr/>
        <p:txBody>
          <a:bodyPr/>
          <a:lstStyle/>
          <a:p>
            <a:r>
              <a:rPr lang="en-US" dirty="0"/>
              <a:t>Removing Partial Dependency (Convert to 2NF)</a:t>
            </a:r>
          </a:p>
        </p:txBody>
      </p:sp>
      <p:sp>
        <p:nvSpPr>
          <p:cNvPr id="4" name="Content Placeholder 2">
            <a:extLst>
              <a:ext uri="{FF2B5EF4-FFF2-40B4-BE49-F238E27FC236}">
                <a16:creationId xmlns:a16="http://schemas.microsoft.com/office/drawing/2014/main" id="{4913418C-2FF9-5FB6-96A4-73F92696975B}"/>
              </a:ext>
            </a:extLst>
          </p:cNvPr>
          <p:cNvSpPr txBox="1">
            <a:spLocks/>
          </p:cNvSpPr>
          <p:nvPr/>
        </p:nvSpPr>
        <p:spPr>
          <a:xfrm>
            <a:off x="457200" y="1874735"/>
            <a:ext cx="10058400" cy="4075006"/>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dirty="0"/>
              <a:t>Split the table: </a:t>
            </a:r>
          </a:p>
          <a:p>
            <a:r>
              <a:rPr lang="en-US" dirty="0"/>
              <a:t>Now:</a:t>
            </a:r>
          </a:p>
          <a:p>
            <a:pPr lvl="1"/>
            <a:r>
              <a:rPr lang="en-US" dirty="0" err="1"/>
              <a:t>Student_Name</a:t>
            </a:r>
            <a:r>
              <a:rPr lang="en-US" dirty="0"/>
              <a:t> depends only on </a:t>
            </a:r>
            <a:r>
              <a:rPr lang="en-US" dirty="0" err="1"/>
              <a:t>Student_ID</a:t>
            </a:r>
            <a:r>
              <a:rPr lang="en-US" dirty="0"/>
              <a:t>. </a:t>
            </a:r>
          </a:p>
          <a:p>
            <a:pPr lvl="1"/>
            <a:r>
              <a:rPr lang="en-US" dirty="0" err="1"/>
              <a:t>Subject_Name</a:t>
            </a:r>
            <a:r>
              <a:rPr lang="en-US" dirty="0"/>
              <a:t> depends only on </a:t>
            </a:r>
            <a:r>
              <a:rPr lang="en-US" dirty="0" err="1"/>
              <a:t>Subject_ID</a:t>
            </a:r>
            <a:r>
              <a:rPr lang="en-US" dirty="0"/>
              <a:t>. </a:t>
            </a:r>
          </a:p>
          <a:p>
            <a:pPr lvl="1"/>
            <a:r>
              <a:rPr lang="en-US" dirty="0"/>
              <a:t>Marks depends on the full key (</a:t>
            </a:r>
            <a:r>
              <a:rPr lang="en-US" dirty="0" err="1"/>
              <a:t>Student_ID</a:t>
            </a:r>
            <a:r>
              <a:rPr lang="en-US" dirty="0"/>
              <a:t>, </a:t>
            </a:r>
            <a:r>
              <a:rPr lang="en-US" dirty="0" err="1"/>
              <a:t>Subject_ID</a:t>
            </a:r>
            <a:r>
              <a:rPr lang="en-US" dirty="0"/>
              <a:t>). </a:t>
            </a:r>
          </a:p>
          <a:p>
            <a:r>
              <a:rPr lang="en-US" dirty="0"/>
              <a:t>Hence, No partial dependencies remain.</a:t>
            </a:r>
          </a:p>
          <a:p>
            <a:endParaRPr lang="en-US" dirty="0"/>
          </a:p>
        </p:txBody>
      </p:sp>
      <p:graphicFrame>
        <p:nvGraphicFramePr>
          <p:cNvPr id="6" name="Content Placeholder 4">
            <a:extLst>
              <a:ext uri="{FF2B5EF4-FFF2-40B4-BE49-F238E27FC236}">
                <a16:creationId xmlns:a16="http://schemas.microsoft.com/office/drawing/2014/main" id="{D8D9A005-CE70-5585-730C-1F757F215F61}"/>
              </a:ext>
            </a:extLst>
          </p:cNvPr>
          <p:cNvGraphicFramePr>
            <a:graphicFrameLocks/>
          </p:cNvGraphicFramePr>
          <p:nvPr>
            <p:extLst>
              <p:ext uri="{D42A27DB-BD31-4B8C-83A1-F6EECF244321}">
                <p14:modId xmlns:p14="http://schemas.microsoft.com/office/powerpoint/2010/main" val="3628473697"/>
              </p:ext>
            </p:extLst>
          </p:nvPr>
        </p:nvGraphicFramePr>
        <p:xfrm>
          <a:off x="596264" y="4871511"/>
          <a:ext cx="2985136" cy="1112520"/>
        </p:xfrm>
        <a:graphic>
          <a:graphicData uri="http://schemas.openxmlformats.org/drawingml/2006/table">
            <a:tbl>
              <a:tblPr firstRow="1" bandRow="1">
                <a:tableStyleId>{5C22544A-7EE6-4342-B048-85BDC9FD1C3A}</a:tableStyleId>
              </a:tblPr>
              <a:tblGrid>
                <a:gridCol w="1259626">
                  <a:extLst>
                    <a:ext uri="{9D8B030D-6E8A-4147-A177-3AD203B41FA5}">
                      <a16:colId xmlns:a16="http://schemas.microsoft.com/office/drawing/2014/main" val="2929148547"/>
                    </a:ext>
                  </a:extLst>
                </a:gridCol>
                <a:gridCol w="1725510">
                  <a:extLst>
                    <a:ext uri="{9D8B030D-6E8A-4147-A177-3AD203B41FA5}">
                      <a16:colId xmlns:a16="http://schemas.microsoft.com/office/drawing/2014/main" val="2106015784"/>
                    </a:ext>
                  </a:extLst>
                </a:gridCol>
              </a:tblGrid>
              <a:tr h="370840">
                <a:tc>
                  <a:txBody>
                    <a:bodyPr/>
                    <a:lstStyle/>
                    <a:p>
                      <a:pPr>
                        <a:buNone/>
                      </a:pPr>
                      <a:r>
                        <a:rPr lang="en-US" dirty="0" err="1"/>
                        <a:t>Student_ID</a:t>
                      </a:r>
                      <a:endParaRPr lang="en-US" dirty="0"/>
                    </a:p>
                  </a:txBody>
                  <a:tcPr anchor="ctr"/>
                </a:tc>
                <a:tc>
                  <a:txBody>
                    <a:bodyPr/>
                    <a:lstStyle/>
                    <a:p>
                      <a:pPr>
                        <a:buNone/>
                      </a:pPr>
                      <a:r>
                        <a:rPr lang="en-US" dirty="0" err="1"/>
                        <a:t>Student_Name</a:t>
                      </a:r>
                      <a:endParaRPr lang="en-US" dirty="0"/>
                    </a:p>
                  </a:txBody>
                  <a:tcPr anchor="ctr"/>
                </a:tc>
                <a:extLst>
                  <a:ext uri="{0D108BD9-81ED-4DB2-BD59-A6C34878D82A}">
                    <a16:rowId xmlns:a16="http://schemas.microsoft.com/office/drawing/2014/main" val="2629889314"/>
                  </a:ext>
                </a:extLst>
              </a:tr>
              <a:tr h="370840">
                <a:tc>
                  <a:txBody>
                    <a:bodyPr/>
                    <a:lstStyle/>
                    <a:p>
                      <a:pPr>
                        <a:buNone/>
                      </a:pPr>
                      <a:r>
                        <a:rPr lang="en-US"/>
                        <a:t>S101</a:t>
                      </a:r>
                    </a:p>
                  </a:txBody>
                  <a:tcPr anchor="ctr"/>
                </a:tc>
                <a:tc>
                  <a:txBody>
                    <a:bodyPr/>
                    <a:lstStyle/>
                    <a:p>
                      <a:pPr>
                        <a:buNone/>
                      </a:pPr>
                      <a:r>
                        <a:rPr lang="en-US"/>
                        <a:t>Ram</a:t>
                      </a:r>
                    </a:p>
                  </a:txBody>
                  <a:tcPr anchor="ctr"/>
                </a:tc>
                <a:extLst>
                  <a:ext uri="{0D108BD9-81ED-4DB2-BD59-A6C34878D82A}">
                    <a16:rowId xmlns:a16="http://schemas.microsoft.com/office/drawing/2014/main" val="4192719370"/>
                  </a:ext>
                </a:extLst>
              </a:tr>
              <a:tr h="370840">
                <a:tc>
                  <a:txBody>
                    <a:bodyPr/>
                    <a:lstStyle/>
                    <a:p>
                      <a:pPr>
                        <a:buNone/>
                      </a:pPr>
                      <a:r>
                        <a:rPr lang="en-US"/>
                        <a:t>S102</a:t>
                      </a:r>
                    </a:p>
                  </a:txBody>
                  <a:tcPr anchor="ctr"/>
                </a:tc>
                <a:tc>
                  <a:txBody>
                    <a:bodyPr/>
                    <a:lstStyle/>
                    <a:p>
                      <a:pPr>
                        <a:buNone/>
                      </a:pPr>
                      <a:r>
                        <a:rPr lang="en-US" dirty="0"/>
                        <a:t>Shyam</a:t>
                      </a:r>
                    </a:p>
                  </a:txBody>
                  <a:tcPr anchor="ctr"/>
                </a:tc>
                <a:extLst>
                  <a:ext uri="{0D108BD9-81ED-4DB2-BD59-A6C34878D82A}">
                    <a16:rowId xmlns:a16="http://schemas.microsoft.com/office/drawing/2014/main" val="536860278"/>
                  </a:ext>
                </a:extLst>
              </a:tr>
            </a:tbl>
          </a:graphicData>
        </a:graphic>
      </p:graphicFrame>
      <p:graphicFrame>
        <p:nvGraphicFramePr>
          <p:cNvPr id="7" name="Content Placeholder 4">
            <a:extLst>
              <a:ext uri="{FF2B5EF4-FFF2-40B4-BE49-F238E27FC236}">
                <a16:creationId xmlns:a16="http://schemas.microsoft.com/office/drawing/2014/main" id="{84FB1941-FD23-A2CD-B7A4-A6BBA501D465}"/>
              </a:ext>
            </a:extLst>
          </p:cNvPr>
          <p:cNvGraphicFramePr>
            <a:graphicFrameLocks/>
          </p:cNvGraphicFramePr>
          <p:nvPr>
            <p:extLst>
              <p:ext uri="{D42A27DB-BD31-4B8C-83A1-F6EECF244321}">
                <p14:modId xmlns:p14="http://schemas.microsoft.com/office/powerpoint/2010/main" val="3083726829"/>
              </p:ext>
            </p:extLst>
          </p:nvPr>
        </p:nvGraphicFramePr>
        <p:xfrm>
          <a:off x="4053679" y="4871511"/>
          <a:ext cx="3627441" cy="1112520"/>
        </p:xfrm>
        <a:graphic>
          <a:graphicData uri="http://schemas.openxmlformats.org/drawingml/2006/table">
            <a:tbl>
              <a:tblPr firstRow="1" bandRow="1">
                <a:tableStyleId>{5C22544A-7EE6-4342-B048-85BDC9FD1C3A}</a:tableStyleId>
              </a:tblPr>
              <a:tblGrid>
                <a:gridCol w="1220207">
                  <a:extLst>
                    <a:ext uri="{9D8B030D-6E8A-4147-A177-3AD203B41FA5}">
                      <a16:colId xmlns:a16="http://schemas.microsoft.com/office/drawing/2014/main" val="2929148547"/>
                    </a:ext>
                  </a:extLst>
                </a:gridCol>
                <a:gridCol w="2407234">
                  <a:extLst>
                    <a:ext uri="{9D8B030D-6E8A-4147-A177-3AD203B41FA5}">
                      <a16:colId xmlns:a16="http://schemas.microsoft.com/office/drawing/2014/main" val="2106015784"/>
                    </a:ext>
                  </a:extLst>
                </a:gridCol>
              </a:tblGrid>
              <a:tr h="370840">
                <a:tc>
                  <a:txBody>
                    <a:bodyPr/>
                    <a:lstStyle/>
                    <a:p>
                      <a:pPr>
                        <a:buNone/>
                      </a:pPr>
                      <a:r>
                        <a:rPr lang="en-US" dirty="0" err="1"/>
                        <a:t>Subject_ID</a:t>
                      </a:r>
                      <a:endParaRPr lang="en-US" dirty="0"/>
                    </a:p>
                  </a:txBody>
                  <a:tcPr anchor="ctr"/>
                </a:tc>
                <a:tc>
                  <a:txBody>
                    <a:bodyPr/>
                    <a:lstStyle/>
                    <a:p>
                      <a:pPr>
                        <a:buNone/>
                      </a:pPr>
                      <a:r>
                        <a:rPr lang="en-US" dirty="0" err="1"/>
                        <a:t>Subject_Name</a:t>
                      </a:r>
                      <a:endParaRPr lang="en-US" dirty="0"/>
                    </a:p>
                  </a:txBody>
                  <a:tcPr anchor="ctr"/>
                </a:tc>
                <a:extLst>
                  <a:ext uri="{0D108BD9-81ED-4DB2-BD59-A6C34878D82A}">
                    <a16:rowId xmlns:a16="http://schemas.microsoft.com/office/drawing/2014/main" val="2629889314"/>
                  </a:ext>
                </a:extLst>
              </a:tr>
              <a:tr h="370840">
                <a:tc>
                  <a:txBody>
                    <a:bodyPr/>
                    <a:lstStyle/>
                    <a:p>
                      <a:pPr>
                        <a:buNone/>
                      </a:pPr>
                      <a:r>
                        <a:rPr lang="en-US"/>
                        <a:t>DBMS</a:t>
                      </a:r>
                    </a:p>
                  </a:txBody>
                  <a:tcPr anchor="ctr"/>
                </a:tc>
                <a:tc>
                  <a:txBody>
                    <a:bodyPr/>
                    <a:lstStyle/>
                    <a:p>
                      <a:pPr>
                        <a:buNone/>
                      </a:pPr>
                      <a:r>
                        <a:rPr lang="en-US" dirty="0"/>
                        <a:t>Database Systems</a:t>
                      </a:r>
                    </a:p>
                  </a:txBody>
                  <a:tcPr anchor="ctr"/>
                </a:tc>
                <a:extLst>
                  <a:ext uri="{0D108BD9-81ED-4DB2-BD59-A6C34878D82A}">
                    <a16:rowId xmlns:a16="http://schemas.microsoft.com/office/drawing/2014/main" val="4192719370"/>
                  </a:ext>
                </a:extLst>
              </a:tr>
              <a:tr h="370840">
                <a:tc>
                  <a:txBody>
                    <a:bodyPr/>
                    <a:lstStyle/>
                    <a:p>
                      <a:pPr>
                        <a:buNone/>
                      </a:pPr>
                      <a:r>
                        <a:rPr lang="en-US"/>
                        <a:t>OS</a:t>
                      </a:r>
                    </a:p>
                  </a:txBody>
                  <a:tcPr anchor="ctr"/>
                </a:tc>
                <a:tc>
                  <a:txBody>
                    <a:bodyPr/>
                    <a:lstStyle/>
                    <a:p>
                      <a:pPr>
                        <a:buNone/>
                      </a:pPr>
                      <a:r>
                        <a:rPr lang="en-US" dirty="0"/>
                        <a:t>Operating Systems</a:t>
                      </a:r>
                    </a:p>
                  </a:txBody>
                  <a:tcPr anchor="ctr"/>
                </a:tc>
                <a:extLst>
                  <a:ext uri="{0D108BD9-81ED-4DB2-BD59-A6C34878D82A}">
                    <a16:rowId xmlns:a16="http://schemas.microsoft.com/office/drawing/2014/main" val="536860278"/>
                  </a:ext>
                </a:extLst>
              </a:tr>
            </a:tbl>
          </a:graphicData>
        </a:graphic>
      </p:graphicFrame>
      <p:graphicFrame>
        <p:nvGraphicFramePr>
          <p:cNvPr id="10" name="Content Placeholder 9">
            <a:extLst>
              <a:ext uri="{FF2B5EF4-FFF2-40B4-BE49-F238E27FC236}">
                <a16:creationId xmlns:a16="http://schemas.microsoft.com/office/drawing/2014/main" id="{AAE6AE67-3549-B54F-B1E0-CF0B5CA6E8B6}"/>
              </a:ext>
            </a:extLst>
          </p:cNvPr>
          <p:cNvGraphicFramePr>
            <a:graphicFrameLocks noGrp="1"/>
          </p:cNvGraphicFramePr>
          <p:nvPr>
            <p:ph idx="1"/>
            <p:extLst>
              <p:ext uri="{D42A27DB-BD31-4B8C-83A1-F6EECF244321}">
                <p14:modId xmlns:p14="http://schemas.microsoft.com/office/powerpoint/2010/main" val="3829843212"/>
              </p:ext>
            </p:extLst>
          </p:nvPr>
        </p:nvGraphicFramePr>
        <p:xfrm>
          <a:off x="7867649" y="4567557"/>
          <a:ext cx="4185285" cy="1483360"/>
        </p:xfrm>
        <a:graphic>
          <a:graphicData uri="http://schemas.openxmlformats.org/drawingml/2006/table">
            <a:tbl>
              <a:tblPr firstRow="1" bandRow="1">
                <a:tableStyleId>{5C22544A-7EE6-4342-B048-85BDC9FD1C3A}</a:tableStyleId>
              </a:tblPr>
              <a:tblGrid>
                <a:gridCol w="1395095">
                  <a:extLst>
                    <a:ext uri="{9D8B030D-6E8A-4147-A177-3AD203B41FA5}">
                      <a16:colId xmlns:a16="http://schemas.microsoft.com/office/drawing/2014/main" val="3252466307"/>
                    </a:ext>
                  </a:extLst>
                </a:gridCol>
                <a:gridCol w="1395095">
                  <a:extLst>
                    <a:ext uri="{9D8B030D-6E8A-4147-A177-3AD203B41FA5}">
                      <a16:colId xmlns:a16="http://schemas.microsoft.com/office/drawing/2014/main" val="46040608"/>
                    </a:ext>
                  </a:extLst>
                </a:gridCol>
                <a:gridCol w="1395095">
                  <a:extLst>
                    <a:ext uri="{9D8B030D-6E8A-4147-A177-3AD203B41FA5}">
                      <a16:colId xmlns:a16="http://schemas.microsoft.com/office/drawing/2014/main" val="2987781755"/>
                    </a:ext>
                  </a:extLst>
                </a:gridCol>
              </a:tblGrid>
              <a:tr h="370840">
                <a:tc>
                  <a:txBody>
                    <a:bodyPr/>
                    <a:lstStyle/>
                    <a:p>
                      <a:pPr>
                        <a:buNone/>
                      </a:pPr>
                      <a:r>
                        <a:rPr lang="en-US" dirty="0" err="1"/>
                        <a:t>Student_ID</a:t>
                      </a:r>
                      <a:endParaRPr lang="en-US" dirty="0"/>
                    </a:p>
                  </a:txBody>
                  <a:tcPr anchor="ctr"/>
                </a:tc>
                <a:tc>
                  <a:txBody>
                    <a:bodyPr/>
                    <a:lstStyle/>
                    <a:p>
                      <a:pPr>
                        <a:buNone/>
                      </a:pPr>
                      <a:r>
                        <a:rPr lang="en-US"/>
                        <a:t>Subject_ID</a:t>
                      </a:r>
                    </a:p>
                  </a:txBody>
                  <a:tcPr anchor="ctr"/>
                </a:tc>
                <a:tc>
                  <a:txBody>
                    <a:bodyPr/>
                    <a:lstStyle/>
                    <a:p>
                      <a:pPr>
                        <a:buNone/>
                      </a:pPr>
                      <a:r>
                        <a:rPr lang="en-US"/>
                        <a:t>Marks</a:t>
                      </a:r>
                    </a:p>
                  </a:txBody>
                  <a:tcPr anchor="ctr"/>
                </a:tc>
                <a:extLst>
                  <a:ext uri="{0D108BD9-81ED-4DB2-BD59-A6C34878D82A}">
                    <a16:rowId xmlns:a16="http://schemas.microsoft.com/office/drawing/2014/main" val="2172757861"/>
                  </a:ext>
                </a:extLst>
              </a:tr>
              <a:tr h="370840">
                <a:tc>
                  <a:txBody>
                    <a:bodyPr/>
                    <a:lstStyle/>
                    <a:p>
                      <a:pPr>
                        <a:buNone/>
                      </a:pPr>
                      <a:r>
                        <a:rPr lang="en-US"/>
                        <a:t>S101</a:t>
                      </a:r>
                    </a:p>
                  </a:txBody>
                  <a:tcPr anchor="ctr"/>
                </a:tc>
                <a:tc>
                  <a:txBody>
                    <a:bodyPr/>
                    <a:lstStyle/>
                    <a:p>
                      <a:pPr>
                        <a:buNone/>
                      </a:pPr>
                      <a:r>
                        <a:rPr lang="en-US"/>
                        <a:t>DBMS</a:t>
                      </a:r>
                    </a:p>
                  </a:txBody>
                  <a:tcPr anchor="ctr"/>
                </a:tc>
                <a:tc>
                  <a:txBody>
                    <a:bodyPr/>
                    <a:lstStyle/>
                    <a:p>
                      <a:pPr>
                        <a:buNone/>
                      </a:pPr>
                      <a:r>
                        <a:rPr lang="en-US"/>
                        <a:t>85</a:t>
                      </a:r>
                    </a:p>
                  </a:txBody>
                  <a:tcPr anchor="ctr"/>
                </a:tc>
                <a:extLst>
                  <a:ext uri="{0D108BD9-81ED-4DB2-BD59-A6C34878D82A}">
                    <a16:rowId xmlns:a16="http://schemas.microsoft.com/office/drawing/2014/main" val="1849686774"/>
                  </a:ext>
                </a:extLst>
              </a:tr>
              <a:tr h="370840">
                <a:tc>
                  <a:txBody>
                    <a:bodyPr/>
                    <a:lstStyle/>
                    <a:p>
                      <a:pPr>
                        <a:buNone/>
                      </a:pPr>
                      <a:r>
                        <a:rPr lang="en-US"/>
                        <a:t>S101</a:t>
                      </a:r>
                    </a:p>
                  </a:txBody>
                  <a:tcPr anchor="ctr"/>
                </a:tc>
                <a:tc>
                  <a:txBody>
                    <a:bodyPr/>
                    <a:lstStyle/>
                    <a:p>
                      <a:pPr>
                        <a:buNone/>
                      </a:pPr>
                      <a:r>
                        <a:rPr lang="en-US"/>
                        <a:t>OS</a:t>
                      </a:r>
                    </a:p>
                  </a:txBody>
                  <a:tcPr anchor="ctr"/>
                </a:tc>
                <a:tc>
                  <a:txBody>
                    <a:bodyPr/>
                    <a:lstStyle/>
                    <a:p>
                      <a:pPr>
                        <a:buNone/>
                      </a:pPr>
                      <a:r>
                        <a:rPr lang="en-US" dirty="0"/>
                        <a:t>78</a:t>
                      </a:r>
                    </a:p>
                  </a:txBody>
                  <a:tcPr anchor="ctr"/>
                </a:tc>
                <a:extLst>
                  <a:ext uri="{0D108BD9-81ED-4DB2-BD59-A6C34878D82A}">
                    <a16:rowId xmlns:a16="http://schemas.microsoft.com/office/drawing/2014/main" val="1584650789"/>
                  </a:ext>
                </a:extLst>
              </a:tr>
              <a:tr h="370840">
                <a:tc>
                  <a:txBody>
                    <a:bodyPr/>
                    <a:lstStyle/>
                    <a:p>
                      <a:pPr>
                        <a:buNone/>
                      </a:pPr>
                      <a:r>
                        <a:rPr lang="en-US" dirty="0"/>
                        <a:t>S102</a:t>
                      </a:r>
                    </a:p>
                  </a:txBody>
                  <a:tcPr anchor="ctr"/>
                </a:tc>
                <a:tc>
                  <a:txBody>
                    <a:bodyPr/>
                    <a:lstStyle/>
                    <a:p>
                      <a:pPr>
                        <a:buNone/>
                      </a:pPr>
                      <a:r>
                        <a:rPr lang="en-US"/>
                        <a:t>DBMS</a:t>
                      </a:r>
                    </a:p>
                  </a:txBody>
                  <a:tcPr anchor="ctr"/>
                </a:tc>
                <a:tc>
                  <a:txBody>
                    <a:bodyPr/>
                    <a:lstStyle/>
                    <a:p>
                      <a:pPr>
                        <a:buNone/>
                      </a:pPr>
                      <a:r>
                        <a:rPr lang="en-US" dirty="0"/>
                        <a:t>90</a:t>
                      </a:r>
                    </a:p>
                  </a:txBody>
                  <a:tcPr anchor="ctr"/>
                </a:tc>
                <a:extLst>
                  <a:ext uri="{0D108BD9-81ED-4DB2-BD59-A6C34878D82A}">
                    <a16:rowId xmlns:a16="http://schemas.microsoft.com/office/drawing/2014/main" val="1321638464"/>
                  </a:ext>
                </a:extLst>
              </a:tr>
            </a:tbl>
          </a:graphicData>
        </a:graphic>
      </p:graphicFrame>
      <p:graphicFrame>
        <p:nvGraphicFramePr>
          <p:cNvPr id="11" name="Content Placeholder 6">
            <a:extLst>
              <a:ext uri="{FF2B5EF4-FFF2-40B4-BE49-F238E27FC236}">
                <a16:creationId xmlns:a16="http://schemas.microsoft.com/office/drawing/2014/main" id="{862A49F4-C245-0B4D-FF07-40C37B1EE348}"/>
              </a:ext>
            </a:extLst>
          </p:cNvPr>
          <p:cNvGraphicFramePr>
            <a:graphicFrameLocks/>
          </p:cNvGraphicFramePr>
          <p:nvPr>
            <p:extLst>
              <p:ext uri="{D42A27DB-BD31-4B8C-83A1-F6EECF244321}">
                <p14:modId xmlns:p14="http://schemas.microsoft.com/office/powerpoint/2010/main" val="2563232326"/>
              </p:ext>
            </p:extLst>
          </p:nvPr>
        </p:nvGraphicFramePr>
        <p:xfrm>
          <a:off x="5166170" y="1840445"/>
          <a:ext cx="7025830" cy="1483360"/>
        </p:xfrm>
        <a:graphic>
          <a:graphicData uri="http://schemas.openxmlformats.org/drawingml/2006/table">
            <a:tbl>
              <a:tblPr firstRow="1" bandRow="1">
                <a:tableStyleId>{5C22544A-7EE6-4342-B048-85BDC9FD1C3A}</a:tableStyleId>
              </a:tblPr>
              <a:tblGrid>
                <a:gridCol w="1441452">
                  <a:extLst>
                    <a:ext uri="{9D8B030D-6E8A-4147-A177-3AD203B41FA5}">
                      <a16:colId xmlns:a16="http://schemas.microsoft.com/office/drawing/2014/main" val="54446326"/>
                    </a:ext>
                  </a:extLst>
                </a:gridCol>
                <a:gridCol w="1319515">
                  <a:extLst>
                    <a:ext uri="{9D8B030D-6E8A-4147-A177-3AD203B41FA5}">
                      <a16:colId xmlns:a16="http://schemas.microsoft.com/office/drawing/2014/main" val="544397278"/>
                    </a:ext>
                  </a:extLst>
                </a:gridCol>
                <a:gridCol w="1366641">
                  <a:extLst>
                    <a:ext uri="{9D8B030D-6E8A-4147-A177-3AD203B41FA5}">
                      <a16:colId xmlns:a16="http://schemas.microsoft.com/office/drawing/2014/main" val="3156228728"/>
                    </a:ext>
                  </a:extLst>
                </a:gridCol>
                <a:gridCol w="2120650">
                  <a:extLst>
                    <a:ext uri="{9D8B030D-6E8A-4147-A177-3AD203B41FA5}">
                      <a16:colId xmlns:a16="http://schemas.microsoft.com/office/drawing/2014/main" val="2920091614"/>
                    </a:ext>
                  </a:extLst>
                </a:gridCol>
                <a:gridCol w="777572">
                  <a:extLst>
                    <a:ext uri="{9D8B030D-6E8A-4147-A177-3AD203B41FA5}">
                      <a16:colId xmlns:a16="http://schemas.microsoft.com/office/drawing/2014/main" val="1516385202"/>
                    </a:ext>
                  </a:extLst>
                </a:gridCol>
              </a:tblGrid>
              <a:tr h="370840">
                <a:tc>
                  <a:txBody>
                    <a:bodyPr/>
                    <a:lstStyle/>
                    <a:p>
                      <a:pPr>
                        <a:buNone/>
                      </a:pPr>
                      <a:r>
                        <a:rPr lang="en-US" dirty="0" err="1"/>
                        <a:t>Student_ID</a:t>
                      </a:r>
                      <a:endParaRPr lang="en-US" dirty="0"/>
                    </a:p>
                  </a:txBody>
                  <a:tcPr anchor="ctr"/>
                </a:tc>
                <a:tc>
                  <a:txBody>
                    <a:bodyPr/>
                    <a:lstStyle/>
                    <a:p>
                      <a:pPr>
                        <a:buNone/>
                      </a:pPr>
                      <a:r>
                        <a:rPr lang="en-US"/>
                        <a:t>Subject_ID</a:t>
                      </a:r>
                    </a:p>
                  </a:txBody>
                  <a:tcPr anchor="ctr"/>
                </a:tc>
                <a:tc>
                  <a:txBody>
                    <a:bodyPr/>
                    <a:lstStyle/>
                    <a:p>
                      <a:pPr>
                        <a:buNone/>
                      </a:pPr>
                      <a:r>
                        <a:rPr lang="en-US" dirty="0" err="1"/>
                        <a:t>Stu_Name</a:t>
                      </a:r>
                      <a:endParaRPr lang="en-US" dirty="0"/>
                    </a:p>
                  </a:txBody>
                  <a:tcPr anchor="ctr"/>
                </a:tc>
                <a:tc>
                  <a:txBody>
                    <a:bodyPr/>
                    <a:lstStyle/>
                    <a:p>
                      <a:pPr>
                        <a:buNone/>
                      </a:pPr>
                      <a:r>
                        <a:rPr lang="en-US"/>
                        <a:t>Subject_Name</a:t>
                      </a:r>
                    </a:p>
                  </a:txBody>
                  <a:tcPr anchor="ctr"/>
                </a:tc>
                <a:tc>
                  <a:txBody>
                    <a:bodyPr/>
                    <a:lstStyle/>
                    <a:p>
                      <a:pPr>
                        <a:buNone/>
                      </a:pPr>
                      <a:r>
                        <a:rPr lang="en-US"/>
                        <a:t>Marks</a:t>
                      </a:r>
                    </a:p>
                  </a:txBody>
                  <a:tcPr anchor="ctr"/>
                </a:tc>
                <a:extLst>
                  <a:ext uri="{0D108BD9-81ED-4DB2-BD59-A6C34878D82A}">
                    <a16:rowId xmlns:a16="http://schemas.microsoft.com/office/drawing/2014/main" val="3932005534"/>
                  </a:ext>
                </a:extLst>
              </a:tr>
              <a:tr h="370840">
                <a:tc>
                  <a:txBody>
                    <a:bodyPr/>
                    <a:lstStyle/>
                    <a:p>
                      <a:pPr>
                        <a:buNone/>
                      </a:pPr>
                      <a:r>
                        <a:rPr lang="en-US"/>
                        <a:t>S101</a:t>
                      </a:r>
                    </a:p>
                  </a:txBody>
                  <a:tcPr anchor="ctr"/>
                </a:tc>
                <a:tc>
                  <a:txBody>
                    <a:bodyPr/>
                    <a:lstStyle/>
                    <a:p>
                      <a:pPr>
                        <a:buNone/>
                      </a:pPr>
                      <a:r>
                        <a:rPr lang="en-US"/>
                        <a:t>DBMS</a:t>
                      </a:r>
                    </a:p>
                  </a:txBody>
                  <a:tcPr anchor="ctr"/>
                </a:tc>
                <a:tc>
                  <a:txBody>
                    <a:bodyPr/>
                    <a:lstStyle/>
                    <a:p>
                      <a:pPr>
                        <a:buNone/>
                      </a:pPr>
                      <a:r>
                        <a:rPr lang="en-US"/>
                        <a:t>Ram</a:t>
                      </a:r>
                    </a:p>
                  </a:txBody>
                  <a:tcPr anchor="ctr"/>
                </a:tc>
                <a:tc>
                  <a:txBody>
                    <a:bodyPr/>
                    <a:lstStyle/>
                    <a:p>
                      <a:pPr>
                        <a:buNone/>
                      </a:pPr>
                      <a:r>
                        <a:rPr lang="en-US"/>
                        <a:t>Database Systems</a:t>
                      </a:r>
                    </a:p>
                  </a:txBody>
                  <a:tcPr anchor="ctr"/>
                </a:tc>
                <a:tc>
                  <a:txBody>
                    <a:bodyPr/>
                    <a:lstStyle/>
                    <a:p>
                      <a:pPr>
                        <a:buNone/>
                      </a:pPr>
                      <a:r>
                        <a:rPr lang="en-US" dirty="0"/>
                        <a:t>85</a:t>
                      </a:r>
                    </a:p>
                  </a:txBody>
                  <a:tcPr anchor="ctr"/>
                </a:tc>
                <a:extLst>
                  <a:ext uri="{0D108BD9-81ED-4DB2-BD59-A6C34878D82A}">
                    <a16:rowId xmlns:a16="http://schemas.microsoft.com/office/drawing/2014/main" val="1662674600"/>
                  </a:ext>
                </a:extLst>
              </a:tr>
              <a:tr h="370840">
                <a:tc>
                  <a:txBody>
                    <a:bodyPr/>
                    <a:lstStyle/>
                    <a:p>
                      <a:pPr>
                        <a:buNone/>
                      </a:pPr>
                      <a:r>
                        <a:rPr lang="en-US"/>
                        <a:t>S101</a:t>
                      </a:r>
                    </a:p>
                  </a:txBody>
                  <a:tcPr anchor="ctr"/>
                </a:tc>
                <a:tc>
                  <a:txBody>
                    <a:bodyPr/>
                    <a:lstStyle/>
                    <a:p>
                      <a:pPr>
                        <a:buNone/>
                      </a:pPr>
                      <a:r>
                        <a:rPr lang="en-US"/>
                        <a:t>OS</a:t>
                      </a:r>
                    </a:p>
                  </a:txBody>
                  <a:tcPr anchor="ctr"/>
                </a:tc>
                <a:tc>
                  <a:txBody>
                    <a:bodyPr/>
                    <a:lstStyle/>
                    <a:p>
                      <a:pPr>
                        <a:buNone/>
                      </a:pPr>
                      <a:r>
                        <a:rPr lang="en-US"/>
                        <a:t>Ram</a:t>
                      </a:r>
                    </a:p>
                  </a:txBody>
                  <a:tcPr anchor="ctr"/>
                </a:tc>
                <a:tc>
                  <a:txBody>
                    <a:bodyPr/>
                    <a:lstStyle/>
                    <a:p>
                      <a:pPr>
                        <a:buNone/>
                      </a:pPr>
                      <a:r>
                        <a:rPr lang="en-US"/>
                        <a:t>Operating Systems</a:t>
                      </a:r>
                    </a:p>
                  </a:txBody>
                  <a:tcPr anchor="ctr"/>
                </a:tc>
                <a:tc>
                  <a:txBody>
                    <a:bodyPr/>
                    <a:lstStyle/>
                    <a:p>
                      <a:pPr>
                        <a:buNone/>
                      </a:pPr>
                      <a:r>
                        <a:rPr lang="en-US"/>
                        <a:t>78</a:t>
                      </a:r>
                    </a:p>
                  </a:txBody>
                  <a:tcPr anchor="ctr"/>
                </a:tc>
                <a:extLst>
                  <a:ext uri="{0D108BD9-81ED-4DB2-BD59-A6C34878D82A}">
                    <a16:rowId xmlns:a16="http://schemas.microsoft.com/office/drawing/2014/main" val="1706536443"/>
                  </a:ext>
                </a:extLst>
              </a:tr>
              <a:tr h="370840">
                <a:tc>
                  <a:txBody>
                    <a:bodyPr/>
                    <a:lstStyle/>
                    <a:p>
                      <a:pPr>
                        <a:buNone/>
                      </a:pPr>
                      <a:r>
                        <a:rPr lang="en-US" dirty="0"/>
                        <a:t>S102</a:t>
                      </a:r>
                    </a:p>
                  </a:txBody>
                  <a:tcPr anchor="ctr"/>
                </a:tc>
                <a:tc>
                  <a:txBody>
                    <a:bodyPr/>
                    <a:lstStyle/>
                    <a:p>
                      <a:pPr>
                        <a:buNone/>
                      </a:pPr>
                      <a:r>
                        <a:rPr lang="en-US" dirty="0"/>
                        <a:t>DBMS</a:t>
                      </a:r>
                    </a:p>
                  </a:txBody>
                  <a:tcPr anchor="ctr"/>
                </a:tc>
                <a:tc>
                  <a:txBody>
                    <a:bodyPr/>
                    <a:lstStyle/>
                    <a:p>
                      <a:pPr>
                        <a:buNone/>
                      </a:pPr>
                      <a:r>
                        <a:rPr lang="en-US"/>
                        <a:t>Shyam</a:t>
                      </a:r>
                    </a:p>
                  </a:txBody>
                  <a:tcPr anchor="ctr"/>
                </a:tc>
                <a:tc>
                  <a:txBody>
                    <a:bodyPr/>
                    <a:lstStyle/>
                    <a:p>
                      <a:pPr>
                        <a:buNone/>
                      </a:pPr>
                      <a:r>
                        <a:rPr lang="en-US"/>
                        <a:t>Database Systems</a:t>
                      </a:r>
                    </a:p>
                  </a:txBody>
                  <a:tcPr anchor="ctr"/>
                </a:tc>
                <a:tc>
                  <a:txBody>
                    <a:bodyPr/>
                    <a:lstStyle/>
                    <a:p>
                      <a:pPr>
                        <a:buNone/>
                      </a:pPr>
                      <a:r>
                        <a:rPr lang="en-US" dirty="0"/>
                        <a:t>90</a:t>
                      </a:r>
                    </a:p>
                  </a:txBody>
                  <a:tcPr anchor="ctr"/>
                </a:tc>
                <a:extLst>
                  <a:ext uri="{0D108BD9-81ED-4DB2-BD59-A6C34878D82A}">
                    <a16:rowId xmlns:a16="http://schemas.microsoft.com/office/drawing/2014/main" val="4061622329"/>
                  </a:ext>
                </a:extLst>
              </a:tr>
            </a:tbl>
          </a:graphicData>
        </a:graphic>
      </p:graphicFrame>
      <p:sp>
        <p:nvSpPr>
          <p:cNvPr id="12" name="TextBox 11">
            <a:extLst>
              <a:ext uri="{FF2B5EF4-FFF2-40B4-BE49-F238E27FC236}">
                <a16:creationId xmlns:a16="http://schemas.microsoft.com/office/drawing/2014/main" id="{DC225237-C9FC-5426-D97D-5D4884ACCEFA}"/>
              </a:ext>
            </a:extLst>
          </p:cNvPr>
          <p:cNvSpPr txBox="1"/>
          <p:nvPr/>
        </p:nvSpPr>
        <p:spPr>
          <a:xfrm>
            <a:off x="547956" y="4433492"/>
            <a:ext cx="1515158" cy="369332"/>
          </a:xfrm>
          <a:prstGeom prst="rect">
            <a:avLst/>
          </a:prstGeom>
          <a:noFill/>
        </p:spPr>
        <p:txBody>
          <a:bodyPr wrap="none" rtlCol="0">
            <a:spAutoFit/>
          </a:bodyPr>
          <a:lstStyle/>
          <a:p>
            <a:r>
              <a:rPr lang="en-US" b="1" dirty="0"/>
              <a:t>Student Table</a:t>
            </a:r>
          </a:p>
        </p:txBody>
      </p:sp>
      <p:sp>
        <p:nvSpPr>
          <p:cNvPr id="13" name="TextBox 12">
            <a:extLst>
              <a:ext uri="{FF2B5EF4-FFF2-40B4-BE49-F238E27FC236}">
                <a16:creationId xmlns:a16="http://schemas.microsoft.com/office/drawing/2014/main" id="{8FA6330F-450F-C7A9-DEE3-8922B02B0E71}"/>
              </a:ext>
            </a:extLst>
          </p:cNvPr>
          <p:cNvSpPr txBox="1"/>
          <p:nvPr/>
        </p:nvSpPr>
        <p:spPr>
          <a:xfrm>
            <a:off x="4016620" y="4415610"/>
            <a:ext cx="1449628" cy="369332"/>
          </a:xfrm>
          <a:prstGeom prst="rect">
            <a:avLst/>
          </a:prstGeom>
          <a:noFill/>
        </p:spPr>
        <p:txBody>
          <a:bodyPr wrap="none" rtlCol="0">
            <a:spAutoFit/>
          </a:bodyPr>
          <a:lstStyle/>
          <a:p>
            <a:r>
              <a:rPr lang="en-US" b="1" dirty="0"/>
              <a:t>Subject Table</a:t>
            </a:r>
          </a:p>
        </p:txBody>
      </p:sp>
      <p:sp>
        <p:nvSpPr>
          <p:cNvPr id="14" name="TextBox 13">
            <a:extLst>
              <a:ext uri="{FF2B5EF4-FFF2-40B4-BE49-F238E27FC236}">
                <a16:creationId xmlns:a16="http://schemas.microsoft.com/office/drawing/2014/main" id="{67B8E8C9-00F9-2983-59E6-1BDD03186F92}"/>
              </a:ext>
            </a:extLst>
          </p:cNvPr>
          <p:cNvSpPr txBox="1"/>
          <p:nvPr/>
        </p:nvSpPr>
        <p:spPr>
          <a:xfrm>
            <a:off x="7867649" y="4163935"/>
            <a:ext cx="1797352" cy="369332"/>
          </a:xfrm>
          <a:prstGeom prst="rect">
            <a:avLst/>
          </a:prstGeom>
          <a:noFill/>
        </p:spPr>
        <p:txBody>
          <a:bodyPr wrap="none" rtlCol="0">
            <a:spAutoFit/>
          </a:bodyPr>
          <a:lstStyle/>
          <a:p>
            <a:r>
              <a:rPr lang="en-US" b="1" dirty="0"/>
              <a:t>Enrollment Table</a:t>
            </a:r>
          </a:p>
        </p:txBody>
      </p:sp>
    </p:spTree>
    <p:extLst>
      <p:ext uri="{BB962C8B-B14F-4D97-AF65-F5344CB8AC3E}">
        <p14:creationId xmlns:p14="http://schemas.microsoft.com/office/powerpoint/2010/main" val="142822530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A1FFEA-CA63-C252-AD6D-237E86845DF0}"/>
              </a:ext>
            </a:extLst>
          </p:cNvPr>
          <p:cNvSpPr>
            <a:spLocks noGrp="1"/>
          </p:cNvSpPr>
          <p:nvPr>
            <p:ph type="title"/>
          </p:nvPr>
        </p:nvSpPr>
        <p:spPr/>
        <p:txBody>
          <a:bodyPr/>
          <a:lstStyle/>
          <a:p>
            <a:r>
              <a:rPr lang="en-US" dirty="0"/>
              <a:t>Full vs partial dependencies </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8061337B-19F0-47ED-441D-45B096D021E1}"/>
                  </a:ext>
                </a:extLst>
              </p:cNvPr>
              <p:cNvSpPr>
                <a:spLocks noGrp="1"/>
              </p:cNvSpPr>
              <p:nvPr>
                <p:ph sz="half" idx="1"/>
              </p:nvPr>
            </p:nvSpPr>
            <p:spPr/>
            <p:txBody>
              <a:bodyPr>
                <a:normAutofit fontScale="92500" lnSpcReduction="20000"/>
              </a:bodyPr>
              <a:lstStyle/>
              <a:p>
                <a:r>
                  <a:rPr lang="en-US" dirty="0"/>
                  <a:t>A non-key attribute depends on the </a:t>
                </a:r>
                <a:r>
                  <a:rPr lang="en-US" b="1" dirty="0"/>
                  <a:t>entire composite key</a:t>
                </a:r>
                <a:r>
                  <a:rPr lang="en-US" dirty="0"/>
                  <a:t>.</a:t>
                </a:r>
              </a:p>
              <a:p>
                <a:r>
                  <a:rPr lang="en-US" dirty="0"/>
                  <a:t>Example:</a:t>
                </a:r>
              </a:p>
              <a:p>
                <a:r>
                  <a:rPr lang="en-US" b="1" dirty="0"/>
                  <a:t>(</a:t>
                </a:r>
                <a:r>
                  <a:rPr lang="en-US" b="1" dirty="0" err="1"/>
                  <a:t>Student_ID</a:t>
                </a:r>
                <a:r>
                  <a:rPr lang="en-US" b="1" dirty="0"/>
                  <a:t>, </a:t>
                </a:r>
                <a:r>
                  <a:rPr lang="en-US" b="1" dirty="0" err="1"/>
                  <a:t>Subject_ID</a:t>
                </a:r>
                <a:r>
                  <a:rPr lang="en-US" b="1" dirty="0"/>
                  <a:t>) → Marks</a:t>
                </a:r>
                <a:endParaRPr lang="en-US" dirty="0"/>
              </a:p>
              <a:p>
                <a:r>
                  <a:rPr lang="en-US" dirty="0"/>
                  <a:t>Marks cannot be determined using only </a:t>
                </a:r>
                <a:r>
                  <a:rPr lang="en-US" dirty="0" err="1"/>
                  <a:t>Student_ID</a:t>
                </a:r>
                <a:r>
                  <a:rPr lang="en-US" dirty="0"/>
                  <a:t> or only </a:t>
                </a:r>
                <a:r>
                  <a:rPr lang="en-US" dirty="0" err="1"/>
                  <a:t>Subject_ID</a:t>
                </a:r>
                <a:r>
                  <a:rPr lang="en-US" dirty="0"/>
                  <a:t>.</a:t>
                </a:r>
              </a:p>
              <a:p>
                <a:r>
                  <a:rPr lang="en-US" dirty="0"/>
                  <a:t>i.e.</a:t>
                </a:r>
              </a:p>
              <a:p>
                <a:r>
                  <a:rPr lang="en-US" dirty="0"/>
                  <a:t>Primary Key:</a:t>
                </a:r>
              </a:p>
              <a:p>
                <a:pPr marL="201168" lvl="1"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𝑆𝑡𝑢𝑑𝑒𝑛𝑡</m:t>
                      </m:r>
                      <m:r>
                        <m:rPr>
                          <m:lit/>
                        </m:rPr>
                        <a:rPr lang="en-US">
                          <a:latin typeface="Cambria Math" panose="02040503050406030204" pitchFamily="18" charset="0"/>
                        </a:rPr>
                        <m:t>_</m:t>
                      </m:r>
                      <m:r>
                        <a:rPr lang="en-US" i="1">
                          <a:latin typeface="Cambria Math" panose="02040503050406030204" pitchFamily="18" charset="0"/>
                        </a:rPr>
                        <m:t>𝐼𝐷</m:t>
                      </m:r>
                      <m:r>
                        <a:rPr lang="en-US">
                          <a:latin typeface="Cambria Math" panose="02040503050406030204" pitchFamily="18" charset="0"/>
                        </a:rPr>
                        <m:t>→</m:t>
                      </m:r>
                      <m:r>
                        <m:rPr>
                          <m:sty m:val="p"/>
                        </m:rPr>
                        <a:rPr lang="en-US">
                          <a:latin typeface="Cambria Math" panose="02040503050406030204" pitchFamily="18" charset="0"/>
                        </a:rPr>
                        <m:t>Subject</m:t>
                      </m:r>
                      <m:r>
                        <a:rPr lang="en-US">
                          <a:latin typeface="Cambria Math" panose="02040503050406030204" pitchFamily="18" charset="0"/>
                        </a:rPr>
                        <m:t>_</m:t>
                      </m:r>
                      <m:r>
                        <m:rPr>
                          <m:sty m:val="p"/>
                        </m:rPr>
                        <a:rPr lang="en-US">
                          <a:latin typeface="Cambria Math" panose="02040503050406030204" pitchFamily="18" charset="0"/>
                        </a:rPr>
                        <m:t>ID</m:t>
                      </m:r>
                    </m:oMath>
                  </m:oMathPara>
                </a14:m>
                <a:endParaRPr lang="en-US" dirty="0"/>
              </a:p>
              <a:p>
                <a:r>
                  <a:rPr lang="en-US" dirty="0"/>
                  <a:t>Full Dependencies:</a:t>
                </a:r>
              </a:p>
              <a:p>
                <a:pPr marL="201168" lvl="1"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r>
                        <a:rPr lang="en-US" i="1">
                          <a:latin typeface="Cambria Math" panose="02040503050406030204" pitchFamily="18" charset="0"/>
                        </a:rPr>
                        <m:t>𝑆𝑡𝑢𝑑𝑒𝑛𝑡</m:t>
                      </m:r>
                      <m:r>
                        <m:rPr>
                          <m:lit/>
                        </m:rPr>
                        <a:rPr lang="en-US">
                          <a:latin typeface="Cambria Math" panose="02040503050406030204" pitchFamily="18" charset="0"/>
                        </a:rPr>
                        <m:t>_</m:t>
                      </m:r>
                      <m:r>
                        <a:rPr lang="en-US" i="1">
                          <a:latin typeface="Cambria Math" panose="02040503050406030204" pitchFamily="18" charset="0"/>
                        </a:rPr>
                        <m:t>𝐼𝐷</m:t>
                      </m:r>
                      <m:r>
                        <a:rPr lang="en-US" b="0" i="1" smtClean="0">
                          <a:latin typeface="Cambria Math" panose="02040503050406030204" pitchFamily="18" charset="0"/>
                        </a:rPr>
                        <m:t>, </m:t>
                      </m:r>
                      <m:r>
                        <m:rPr>
                          <m:sty m:val="p"/>
                        </m:rPr>
                        <a:rPr lang="en-US" b="0" i="1" smtClean="0">
                          <a:latin typeface="Cambria Math" panose="02040503050406030204" pitchFamily="18" charset="0"/>
                        </a:rPr>
                        <m:t>Subject</m:t>
                      </m:r>
                      <m:r>
                        <a:rPr lang="en-US" b="0" i="1" smtClean="0">
                          <a:latin typeface="Cambria Math" panose="02040503050406030204" pitchFamily="18" charset="0"/>
                        </a:rPr>
                        <m:t> _</m:t>
                      </m:r>
                      <m:r>
                        <m:rPr>
                          <m:sty m:val="p"/>
                        </m:rPr>
                        <a:rPr lang="en-US" b="0" i="1" smtClean="0">
                          <a:latin typeface="Cambria Math" panose="02040503050406030204" pitchFamily="18" charset="0"/>
                        </a:rPr>
                        <m:t>ID</m:t>
                      </m:r>
                      <m:r>
                        <a:rPr lang="en-US" b="0" i="1" smtClean="0">
                          <a:latin typeface="Cambria Math" panose="02040503050406030204" pitchFamily="18" charset="0"/>
                        </a:rPr>
                        <m:t>)</m:t>
                      </m:r>
                      <m:r>
                        <a:rPr lang="en-US">
                          <a:latin typeface="Cambria Math" panose="02040503050406030204" pitchFamily="18" charset="0"/>
                        </a:rPr>
                        <m:t>→</m:t>
                      </m:r>
                      <m:r>
                        <m:rPr>
                          <m:sty m:val="p"/>
                        </m:rPr>
                        <a:rPr lang="en-US" b="0" i="0" smtClean="0">
                          <a:latin typeface="Cambria Math" panose="02040503050406030204" pitchFamily="18" charset="0"/>
                        </a:rPr>
                        <m:t>Marks</m:t>
                      </m:r>
                    </m:oMath>
                  </m:oMathPara>
                </a14:m>
                <a:endParaRPr lang="en-US" dirty="0"/>
              </a:p>
            </p:txBody>
          </p:sp>
        </mc:Choice>
        <mc:Fallback xmlns="">
          <p:sp>
            <p:nvSpPr>
              <p:cNvPr id="5" name="Content Placeholder 4">
                <a:extLst>
                  <a:ext uri="{FF2B5EF4-FFF2-40B4-BE49-F238E27FC236}">
                    <a16:creationId xmlns:a16="http://schemas.microsoft.com/office/drawing/2014/main" id="{8061337B-19F0-47ED-441D-45B096D021E1}"/>
                  </a:ext>
                </a:extLst>
              </p:cNvPr>
              <p:cNvSpPr>
                <a:spLocks noGrp="1" noRot="1" noChangeAspect="1" noMove="1" noResize="1" noEditPoints="1" noAdjustHandles="1" noChangeArrowheads="1" noChangeShapeType="1" noTextEdit="1"/>
              </p:cNvSpPr>
              <p:nvPr>
                <p:ph sz="half" idx="1"/>
              </p:nvPr>
            </p:nvSpPr>
            <p:spPr>
              <a:blipFill>
                <a:blip r:embed="rId3"/>
                <a:stretch>
                  <a:fillRect l="-2963" t="-25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4F1FDEFE-23D4-4A4E-73DD-ABC0B5E7F92B}"/>
                  </a:ext>
                </a:extLst>
              </p:cNvPr>
              <p:cNvSpPr>
                <a:spLocks noGrp="1"/>
              </p:cNvSpPr>
              <p:nvPr>
                <p:ph sz="half" idx="2"/>
              </p:nvPr>
            </p:nvSpPr>
            <p:spPr/>
            <p:txBody>
              <a:bodyPr>
                <a:normAutofit fontScale="92500" lnSpcReduction="20000"/>
              </a:bodyPr>
              <a:lstStyle/>
              <a:p>
                <a:r>
                  <a:rPr lang="en-US" dirty="0"/>
                  <a:t>A non-key attribute depends on only part of the composite key.</a:t>
                </a:r>
              </a:p>
              <a:p>
                <a:r>
                  <a:rPr lang="en-US" dirty="0"/>
                  <a:t>Example:</a:t>
                </a:r>
              </a:p>
              <a:p>
                <a:r>
                  <a:rPr lang="en-US" b="1" dirty="0" err="1"/>
                  <a:t>Student_ID</a:t>
                </a:r>
                <a:r>
                  <a:rPr lang="en-US" b="1" dirty="0"/>
                  <a:t> → </a:t>
                </a:r>
                <a:r>
                  <a:rPr lang="en-US" b="1" dirty="0" err="1"/>
                  <a:t>Student_Name</a:t>
                </a:r>
                <a:endParaRPr lang="en-US" dirty="0"/>
              </a:p>
              <a:p>
                <a:r>
                  <a:rPr lang="en-US" dirty="0" err="1"/>
                  <a:t>Student_Name</a:t>
                </a:r>
                <a:r>
                  <a:rPr lang="en-US" dirty="0"/>
                  <a:t> depends on only one part of the key.</a:t>
                </a:r>
              </a:p>
              <a:p>
                <a:r>
                  <a:rPr lang="en-US" dirty="0" err="1"/>
                  <a:t>i.e</a:t>
                </a:r>
                <a:endParaRPr lang="en-US" dirty="0"/>
              </a:p>
              <a:p>
                <a:r>
                  <a:rPr lang="en-US" dirty="0"/>
                  <a:t>Primary Key:</a:t>
                </a:r>
              </a:p>
              <a:p>
                <a:pPr marL="201168" lvl="1"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𝑆𝑡𝑢𝑑𝑒𝑛𝑡</m:t>
                      </m:r>
                      <m:r>
                        <m:rPr>
                          <m:lit/>
                        </m:rPr>
                        <a:rPr lang="en-US">
                          <a:latin typeface="Cambria Math" panose="02040503050406030204" pitchFamily="18" charset="0"/>
                        </a:rPr>
                        <m:t>_</m:t>
                      </m:r>
                      <m:r>
                        <a:rPr lang="en-US" i="1">
                          <a:latin typeface="Cambria Math" panose="02040503050406030204" pitchFamily="18" charset="0"/>
                        </a:rPr>
                        <m:t>𝐼𝐷</m:t>
                      </m:r>
                      <m:r>
                        <a:rPr lang="en-US">
                          <a:latin typeface="Cambria Math" panose="02040503050406030204" pitchFamily="18" charset="0"/>
                        </a:rPr>
                        <m:t>→</m:t>
                      </m:r>
                      <m:r>
                        <m:rPr>
                          <m:sty m:val="p"/>
                        </m:rPr>
                        <a:rPr lang="en-US" b="0" i="0" smtClean="0">
                          <a:latin typeface="Cambria Math" panose="02040503050406030204" pitchFamily="18" charset="0"/>
                        </a:rPr>
                        <m:t>Subject</m:t>
                      </m:r>
                      <m:r>
                        <a:rPr lang="en-US" b="0" i="0" smtClean="0">
                          <a:latin typeface="Cambria Math" panose="02040503050406030204" pitchFamily="18" charset="0"/>
                        </a:rPr>
                        <m:t>_</m:t>
                      </m:r>
                      <m:r>
                        <m:rPr>
                          <m:sty m:val="p"/>
                        </m:rPr>
                        <a:rPr lang="en-US" b="0" i="0" smtClean="0">
                          <a:latin typeface="Cambria Math" panose="02040503050406030204" pitchFamily="18" charset="0"/>
                        </a:rPr>
                        <m:t>ID</m:t>
                      </m:r>
                    </m:oMath>
                  </m:oMathPara>
                </a14:m>
                <a:endParaRPr lang="en-US" dirty="0"/>
              </a:p>
              <a:p>
                <a:r>
                  <a:rPr lang="en-US" dirty="0"/>
                  <a:t>Partial Dependencies:</a:t>
                </a:r>
              </a:p>
              <a:p>
                <a:pPr marL="201168" lvl="1"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𝑆𝑡𝑢𝑑𝑒𝑛𝑡</m:t>
                      </m:r>
                      <m:r>
                        <m:rPr>
                          <m:lit/>
                        </m:rPr>
                        <a:rPr lang="en-US">
                          <a:latin typeface="Cambria Math" panose="02040503050406030204" pitchFamily="18" charset="0"/>
                        </a:rPr>
                        <m:t>_</m:t>
                      </m:r>
                      <m:r>
                        <a:rPr lang="en-US" i="1">
                          <a:latin typeface="Cambria Math" panose="02040503050406030204" pitchFamily="18" charset="0"/>
                        </a:rPr>
                        <m:t>𝐼𝐷</m:t>
                      </m:r>
                      <m:r>
                        <a:rPr lang="en-US">
                          <a:latin typeface="Cambria Math" panose="02040503050406030204" pitchFamily="18" charset="0"/>
                        </a:rPr>
                        <m:t>→</m:t>
                      </m:r>
                      <m:r>
                        <a:rPr lang="en-US" i="1">
                          <a:latin typeface="Cambria Math" panose="02040503050406030204" pitchFamily="18" charset="0"/>
                        </a:rPr>
                        <m:t>𝑆𝑡𝑢𝑑𝑒𝑛𝑡</m:t>
                      </m:r>
                      <m:r>
                        <m:rPr>
                          <m:lit/>
                        </m:rPr>
                        <a:rPr lang="en-US">
                          <a:latin typeface="Cambria Math" panose="02040503050406030204" pitchFamily="18" charset="0"/>
                        </a:rPr>
                        <m:t>_</m:t>
                      </m:r>
                      <m:r>
                        <a:rPr lang="en-US" i="1">
                          <a:latin typeface="Cambria Math" panose="02040503050406030204" pitchFamily="18" charset="0"/>
                        </a:rPr>
                        <m:t>𝑁𝑎𝑚𝑒</m:t>
                      </m:r>
                    </m:oMath>
                  </m:oMathPara>
                </a14:m>
                <a:endParaRPr lang="en-US" dirty="0"/>
              </a:p>
              <a:p>
                <a:pPr marL="201168" lvl="1"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𝑆𝑢𝑏𝑗𝑒𝑐𝑡</m:t>
                      </m:r>
                      <m:r>
                        <m:rPr>
                          <m:lit/>
                        </m:rPr>
                        <a:rPr lang="en-US">
                          <a:latin typeface="Cambria Math" panose="02040503050406030204" pitchFamily="18" charset="0"/>
                        </a:rPr>
                        <m:t>_</m:t>
                      </m:r>
                      <m:r>
                        <a:rPr lang="en-US" i="1">
                          <a:latin typeface="Cambria Math" panose="02040503050406030204" pitchFamily="18" charset="0"/>
                        </a:rPr>
                        <m:t>𝐼𝐷</m:t>
                      </m:r>
                      <m:r>
                        <a:rPr lang="en-US">
                          <a:latin typeface="Cambria Math" panose="02040503050406030204" pitchFamily="18" charset="0"/>
                        </a:rPr>
                        <m:t>→</m:t>
                      </m:r>
                      <m:r>
                        <a:rPr lang="en-US" i="1">
                          <a:latin typeface="Cambria Math" panose="02040503050406030204" pitchFamily="18" charset="0"/>
                        </a:rPr>
                        <m:t>𝑆𝑢𝑏𝑗𝑒𝑐𝑡</m:t>
                      </m:r>
                      <m:r>
                        <m:rPr>
                          <m:lit/>
                        </m:rPr>
                        <a:rPr lang="en-US">
                          <a:latin typeface="Cambria Math" panose="02040503050406030204" pitchFamily="18" charset="0"/>
                        </a:rPr>
                        <m:t>_</m:t>
                      </m:r>
                      <m:r>
                        <a:rPr lang="en-US" i="1">
                          <a:latin typeface="Cambria Math" panose="02040503050406030204" pitchFamily="18" charset="0"/>
                        </a:rPr>
                        <m:t>𝑁𝑎𝑚𝑒</m:t>
                      </m:r>
                    </m:oMath>
                  </m:oMathPara>
                </a14:m>
                <a:endParaRPr lang="en-US" dirty="0"/>
              </a:p>
              <a:p>
                <a:endParaRPr lang="en-US" dirty="0"/>
              </a:p>
            </p:txBody>
          </p:sp>
        </mc:Choice>
        <mc:Fallback xmlns="">
          <p:sp>
            <p:nvSpPr>
              <p:cNvPr id="6" name="Content Placeholder 5">
                <a:extLst>
                  <a:ext uri="{FF2B5EF4-FFF2-40B4-BE49-F238E27FC236}">
                    <a16:creationId xmlns:a16="http://schemas.microsoft.com/office/drawing/2014/main" id="{4F1FDEFE-23D4-4A4E-73DD-ABC0B5E7F92B}"/>
                  </a:ext>
                </a:extLst>
              </p:cNvPr>
              <p:cNvSpPr>
                <a:spLocks noGrp="1" noRot="1" noChangeAspect="1" noMove="1" noResize="1" noEditPoints="1" noAdjustHandles="1" noChangeArrowheads="1" noChangeShapeType="1" noTextEdit="1"/>
              </p:cNvSpPr>
              <p:nvPr>
                <p:ph sz="half" idx="2"/>
              </p:nvPr>
            </p:nvSpPr>
            <p:spPr>
              <a:blipFill>
                <a:blip r:embed="rId4"/>
                <a:stretch>
                  <a:fillRect l="-2963" t="-2576" r="-988" b="-7727"/>
                </a:stretch>
              </a:blipFill>
            </p:spPr>
            <p:txBody>
              <a:bodyPr/>
              <a:lstStyle/>
              <a:p>
                <a:r>
                  <a:rPr lang="en-US">
                    <a:noFill/>
                  </a:rPr>
                  <a:t> </a:t>
                </a:r>
              </a:p>
            </p:txBody>
          </p:sp>
        </mc:Fallback>
      </mc:AlternateContent>
    </p:spTree>
    <p:extLst>
      <p:ext uri="{BB962C8B-B14F-4D97-AF65-F5344CB8AC3E}">
        <p14:creationId xmlns:p14="http://schemas.microsoft.com/office/powerpoint/2010/main" val="12288581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5318D-BC50-1967-E115-6BFBBEA40187}"/>
              </a:ext>
            </a:extLst>
          </p:cNvPr>
          <p:cNvSpPr>
            <a:spLocks noGrp="1"/>
          </p:cNvSpPr>
          <p:nvPr>
            <p:ph type="title"/>
          </p:nvPr>
        </p:nvSpPr>
        <p:spPr/>
        <p:txBody>
          <a:bodyPr/>
          <a:lstStyle/>
          <a:p>
            <a:r>
              <a:rPr lang="en-US" dirty="0"/>
              <a:t>Why important?</a:t>
            </a:r>
          </a:p>
        </p:txBody>
      </p:sp>
      <p:sp>
        <p:nvSpPr>
          <p:cNvPr id="3" name="Content Placeholder 2">
            <a:extLst>
              <a:ext uri="{FF2B5EF4-FFF2-40B4-BE49-F238E27FC236}">
                <a16:creationId xmlns:a16="http://schemas.microsoft.com/office/drawing/2014/main" id="{6A33DFD2-1A6C-DB61-2B10-1CA9D545C695}"/>
              </a:ext>
            </a:extLst>
          </p:cNvPr>
          <p:cNvSpPr>
            <a:spLocks noGrp="1"/>
          </p:cNvSpPr>
          <p:nvPr>
            <p:ph idx="1"/>
          </p:nvPr>
        </p:nvSpPr>
        <p:spPr/>
        <p:txBody>
          <a:bodyPr/>
          <a:lstStyle/>
          <a:p>
            <a:r>
              <a:rPr lang="en-US" dirty="0"/>
              <a:t>FDs help in:</a:t>
            </a:r>
          </a:p>
          <a:p>
            <a:pPr lvl="1"/>
            <a:r>
              <a:rPr lang="en-US" dirty="0"/>
              <a:t>Identifying candidate keys. </a:t>
            </a:r>
          </a:p>
          <a:p>
            <a:pPr lvl="1"/>
            <a:r>
              <a:rPr lang="en-US" dirty="0"/>
              <a:t>Eliminating redundancy. </a:t>
            </a:r>
          </a:p>
          <a:p>
            <a:pPr lvl="1"/>
            <a:r>
              <a:rPr lang="en-US" dirty="0"/>
              <a:t>Detecting anomalies. </a:t>
            </a:r>
          </a:p>
          <a:p>
            <a:pPr lvl="1"/>
            <a:r>
              <a:rPr lang="en-US" dirty="0"/>
              <a:t>Performing normalization (1NF, 2NF, 3NF, BCNF).</a:t>
            </a:r>
          </a:p>
          <a:p>
            <a:pPr lvl="1"/>
            <a:r>
              <a:rPr lang="en-US" dirty="0"/>
              <a:t>Improve consistence and data integrity</a:t>
            </a:r>
          </a:p>
          <a:p>
            <a:endParaRPr lang="en-US" dirty="0"/>
          </a:p>
        </p:txBody>
      </p:sp>
    </p:spTree>
    <p:extLst>
      <p:ext uri="{BB962C8B-B14F-4D97-AF65-F5344CB8AC3E}">
        <p14:creationId xmlns:p14="http://schemas.microsoft.com/office/powerpoint/2010/main" val="55194282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F20D0B-A501-8676-F1B5-AC5E6A7BCA05}"/>
              </a:ext>
            </a:extLst>
          </p:cNvPr>
          <p:cNvSpPr>
            <a:spLocks noGrp="1"/>
          </p:cNvSpPr>
          <p:nvPr>
            <p:ph type="title"/>
          </p:nvPr>
        </p:nvSpPr>
        <p:spPr/>
        <p:txBody>
          <a:bodyPr/>
          <a:lstStyle/>
          <a:p>
            <a:r>
              <a:rPr lang="en-US" dirty="0"/>
              <a:t>Armstrong’s Axioms.</a:t>
            </a:r>
          </a:p>
        </p:txBody>
      </p:sp>
      <p:sp>
        <p:nvSpPr>
          <p:cNvPr id="3" name="Content Placeholder 2">
            <a:extLst>
              <a:ext uri="{FF2B5EF4-FFF2-40B4-BE49-F238E27FC236}">
                <a16:creationId xmlns:a16="http://schemas.microsoft.com/office/drawing/2014/main" id="{E09EA0B9-9B0A-65C6-E352-1ED699920564}"/>
              </a:ext>
            </a:extLst>
          </p:cNvPr>
          <p:cNvSpPr>
            <a:spLocks noGrp="1"/>
          </p:cNvSpPr>
          <p:nvPr>
            <p:ph idx="1"/>
          </p:nvPr>
        </p:nvSpPr>
        <p:spPr>
          <a:xfrm>
            <a:off x="1097280" y="1845734"/>
            <a:ext cx="10058400" cy="4440766"/>
          </a:xfrm>
        </p:spPr>
        <p:txBody>
          <a:bodyPr>
            <a:normAutofit fontScale="92500" lnSpcReduction="10000"/>
          </a:bodyPr>
          <a:lstStyle/>
          <a:p>
            <a:r>
              <a:rPr lang="en-US" dirty="0"/>
              <a:t>Proposed by William W. Armstrong (1974),  formed the theoretical foundation for reasoning about functional dependencies in relational databases.</a:t>
            </a:r>
          </a:p>
          <a:p>
            <a:r>
              <a:rPr lang="en-US" dirty="0"/>
              <a:t>Armstrong's Axioms are a set of inference rules used to derive all valid functional dependencies from a given set of functional dependencies.</a:t>
            </a:r>
          </a:p>
          <a:p>
            <a:r>
              <a:rPr lang="en-US" b="1" dirty="0"/>
              <a:t>Three Basic Rules</a:t>
            </a:r>
          </a:p>
          <a:p>
            <a:pPr marL="544068" lvl="1" indent="-342900">
              <a:buFont typeface="+mj-lt"/>
              <a:buAutoNum type="arabicPeriod"/>
            </a:pPr>
            <a:r>
              <a:rPr lang="en-US" dirty="0"/>
              <a:t>Reflexivity </a:t>
            </a:r>
          </a:p>
          <a:p>
            <a:pPr marL="544068" lvl="1" indent="-342900">
              <a:buFont typeface="+mj-lt"/>
              <a:buAutoNum type="arabicPeriod"/>
            </a:pPr>
            <a:r>
              <a:rPr lang="en-US" dirty="0"/>
              <a:t>Augmentation </a:t>
            </a:r>
          </a:p>
          <a:p>
            <a:pPr marL="544068" lvl="1" indent="-342900">
              <a:buFont typeface="+mj-lt"/>
              <a:buAutoNum type="arabicPeriod"/>
            </a:pPr>
            <a:r>
              <a:rPr lang="en-US" dirty="0"/>
              <a:t>Transitivity</a:t>
            </a:r>
          </a:p>
          <a:p>
            <a:r>
              <a:rPr lang="en-US" dirty="0"/>
              <a:t>Why Are Armstrong's Axioms Important?</a:t>
            </a:r>
          </a:p>
          <a:p>
            <a:pPr lvl="1"/>
            <a:r>
              <a:rPr lang="en-US" dirty="0"/>
              <a:t>Find new functional dependencies.</a:t>
            </a:r>
          </a:p>
          <a:p>
            <a:pPr lvl="1"/>
            <a:r>
              <a:rPr lang="en-US" dirty="0"/>
              <a:t>Compute attribute closures.</a:t>
            </a:r>
          </a:p>
          <a:p>
            <a:pPr lvl="1"/>
            <a:r>
              <a:rPr lang="en-US" dirty="0"/>
              <a:t>Identify candidate keys.</a:t>
            </a:r>
          </a:p>
          <a:p>
            <a:pPr lvl="1"/>
            <a:r>
              <a:rPr lang="en-US" dirty="0"/>
              <a:t>Verify normalization (2NF, 3NF, BCNF).</a:t>
            </a:r>
          </a:p>
          <a:p>
            <a:pPr lvl="1"/>
            <a:r>
              <a:rPr lang="en-US" dirty="0"/>
              <a:t>Determine whether a dependency is implied by others.</a:t>
            </a:r>
          </a:p>
        </p:txBody>
      </p:sp>
    </p:spTree>
    <p:extLst>
      <p:ext uri="{BB962C8B-B14F-4D97-AF65-F5344CB8AC3E}">
        <p14:creationId xmlns:p14="http://schemas.microsoft.com/office/powerpoint/2010/main" val="74111255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5121C-CD30-3474-FEA5-70725CC808BC}"/>
              </a:ext>
            </a:extLst>
          </p:cNvPr>
          <p:cNvSpPr>
            <a:spLocks noGrp="1"/>
          </p:cNvSpPr>
          <p:nvPr>
            <p:ph type="title"/>
          </p:nvPr>
        </p:nvSpPr>
        <p:spPr/>
        <p:txBody>
          <a:bodyPr/>
          <a:lstStyle/>
          <a:p>
            <a:r>
              <a:rPr lang="en-US" dirty="0"/>
              <a:t>Armstrong's Axioms</a:t>
            </a:r>
            <a:endParaRPr lang="en-US" b="1" dirty="0"/>
          </a:p>
        </p:txBody>
      </p:sp>
      <p:sp>
        <p:nvSpPr>
          <p:cNvPr id="3" name="Content Placeholder 2">
            <a:extLst>
              <a:ext uri="{FF2B5EF4-FFF2-40B4-BE49-F238E27FC236}">
                <a16:creationId xmlns:a16="http://schemas.microsoft.com/office/drawing/2014/main" id="{6E4CA14E-CE7C-12D6-25F8-B0C18EE11ACD}"/>
              </a:ext>
            </a:extLst>
          </p:cNvPr>
          <p:cNvSpPr>
            <a:spLocks noGrp="1"/>
          </p:cNvSpPr>
          <p:nvPr>
            <p:ph idx="1"/>
          </p:nvPr>
        </p:nvSpPr>
        <p:spPr/>
        <p:txBody>
          <a:bodyPr/>
          <a:lstStyle/>
          <a:p>
            <a:r>
              <a:rPr lang="en-US" dirty="0"/>
              <a:t>A set of inference rules used to derive new functional dependencies.</a:t>
            </a:r>
          </a:p>
          <a:p>
            <a:r>
              <a:rPr lang="en-US" dirty="0"/>
              <a:t>Developed by William Armstrong.</a:t>
            </a:r>
          </a:p>
          <a:p>
            <a:r>
              <a:rPr lang="en-US" b="1" dirty="0"/>
              <a:t>Three Basic Rules</a:t>
            </a:r>
          </a:p>
          <a:p>
            <a:r>
              <a:rPr lang="en-US" dirty="0"/>
              <a:t>Reflexivity </a:t>
            </a:r>
          </a:p>
          <a:p>
            <a:r>
              <a:rPr lang="en-US" dirty="0"/>
              <a:t>Augmentation </a:t>
            </a:r>
          </a:p>
          <a:p>
            <a:r>
              <a:rPr lang="en-US" dirty="0"/>
              <a:t>Transitivity</a:t>
            </a:r>
          </a:p>
          <a:p>
            <a:endParaRPr lang="en-US" dirty="0"/>
          </a:p>
        </p:txBody>
      </p:sp>
    </p:spTree>
    <p:extLst>
      <p:ext uri="{BB962C8B-B14F-4D97-AF65-F5344CB8AC3E}">
        <p14:creationId xmlns:p14="http://schemas.microsoft.com/office/powerpoint/2010/main" val="265646611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DA1DF-9E73-B22E-C9AB-393B7D41C417}"/>
              </a:ext>
            </a:extLst>
          </p:cNvPr>
          <p:cNvSpPr>
            <a:spLocks noGrp="1"/>
          </p:cNvSpPr>
          <p:nvPr>
            <p:ph type="title"/>
          </p:nvPr>
        </p:nvSpPr>
        <p:spPr/>
        <p:txBody>
          <a:bodyPr/>
          <a:lstStyle/>
          <a:p>
            <a:r>
              <a:rPr lang="en-US" dirty="0"/>
              <a:t>Reflexivity Rule: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F91BF39-A3E7-EFDD-476F-544683D9413F}"/>
                  </a:ext>
                </a:extLst>
              </p:cNvPr>
              <p:cNvSpPr>
                <a:spLocks noGrp="1"/>
              </p:cNvSpPr>
              <p:nvPr>
                <p:ph idx="1"/>
              </p:nvPr>
            </p:nvSpPr>
            <p:spPr/>
            <p:txBody>
              <a:bodyPr>
                <a:normAutofit/>
              </a:bodyPr>
              <a:lstStyle/>
              <a:p>
                <a:r>
                  <a:rPr lang="en-US" b="1" dirty="0"/>
                  <a:t>Statement: </a:t>
                </a:r>
                <a:r>
                  <a:rPr lang="en-US" dirty="0"/>
                  <a:t>If:</a:t>
                </a:r>
                <a14:m>
                  <m:oMath xmlns:m="http://schemas.openxmlformats.org/officeDocument/2006/math">
                    <m:r>
                      <a:rPr lang="en-US" b="0" i="0" smtClean="0">
                        <a:latin typeface="Cambria Math" panose="02040503050406030204" pitchFamily="18" charset="0"/>
                      </a:rPr>
                      <m:t>  </m:t>
                    </m:r>
                    <m:r>
                      <a:rPr lang="en-US" i="1">
                        <a:latin typeface="Cambria Math" panose="02040503050406030204" pitchFamily="18" charset="0"/>
                      </a:rPr>
                      <m:t>𝑌</m:t>
                    </m:r>
                    <m:r>
                      <a:rPr lang="en-US">
                        <a:latin typeface="Cambria Math" panose="02040503050406030204" pitchFamily="18" charset="0"/>
                      </a:rPr>
                      <m:t>⊆</m:t>
                    </m:r>
                    <m:r>
                      <a:rPr lang="en-US" i="1">
                        <a:latin typeface="Cambria Math" panose="02040503050406030204" pitchFamily="18" charset="0"/>
                      </a:rPr>
                      <m:t>𝑋</m:t>
                    </m:r>
                  </m:oMath>
                </a14:m>
                <a:r>
                  <a:rPr lang="en-US" dirty="0"/>
                  <a:t>,  then:</a:t>
                </a:r>
              </a:p>
              <a:p>
                <a:pPr marL="201168" lvl="1"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𝑋</m:t>
                      </m:r>
                      <m:r>
                        <a:rPr lang="en-US">
                          <a:latin typeface="Cambria Math" panose="02040503050406030204" pitchFamily="18" charset="0"/>
                        </a:rPr>
                        <m:t>→</m:t>
                      </m:r>
                      <m:r>
                        <a:rPr lang="en-US" i="1">
                          <a:latin typeface="Cambria Math" panose="02040503050406030204" pitchFamily="18" charset="0"/>
                        </a:rPr>
                        <m:t>𝑌</m:t>
                      </m:r>
                    </m:oMath>
                  </m:oMathPara>
                </a14:m>
                <a:endParaRPr lang="en-US" dirty="0"/>
              </a:p>
              <a:p>
                <a:r>
                  <a:rPr lang="en-US" b="1" dirty="0"/>
                  <a:t>Meaning:  </a:t>
                </a:r>
                <a:r>
                  <a:rPr lang="en-US" dirty="0"/>
                  <a:t>If Y is a subset of X, then X functionally determines Y.</a:t>
                </a:r>
              </a:p>
              <a:p>
                <a:r>
                  <a:rPr lang="en-US" b="1" dirty="0"/>
                  <a:t>Example , </a:t>
                </a:r>
              </a:p>
              <a:p>
                <a:r>
                  <a:rPr lang="en-US" dirty="0"/>
                  <a:t>Suppose:</a:t>
                </a:r>
              </a:p>
              <a:p>
                <a:pPr marL="201168" lvl="1"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𝑋</m:t>
                      </m:r>
                      <m:r>
                        <a:rPr lang="en-US">
                          <a:latin typeface="Cambria Math" panose="02040503050406030204" pitchFamily="18" charset="0"/>
                        </a:rPr>
                        <m:t>=</m:t>
                      </m:r>
                      <m:d>
                        <m:dPr>
                          <m:begChr m:val="{"/>
                          <m:endChr m:val="}"/>
                          <m:sepChr m:val=","/>
                          <m:ctrlPr>
                            <a:rPr lang="ar-AE" i="1">
                              <a:latin typeface="Cambria Math" panose="02040503050406030204" pitchFamily="18" charset="0"/>
                            </a:rPr>
                          </m:ctrlPr>
                        </m:dPr>
                        <m:e>
                          <m:r>
                            <a:rPr lang="ar-AE" i="1">
                              <a:latin typeface="Cambria Math" panose="02040503050406030204" pitchFamily="18" charset="0"/>
                            </a:rPr>
                            <m:t>𝑆</m:t>
                          </m:r>
                        </m:e>
                        <m:e>
                          <m:r>
                            <a:rPr lang="ar-AE" i="1">
                              <a:latin typeface="Cambria Math" panose="02040503050406030204" pitchFamily="18" charset="0"/>
                            </a:rPr>
                            <m:t>𝑡𝑢𝑑𝑒𝑛𝑡</m:t>
                          </m:r>
                          <m:r>
                            <m:rPr>
                              <m:lit/>
                            </m:rPr>
                            <a:rPr lang="ar-AE">
                              <a:latin typeface="Cambria Math" panose="02040503050406030204" pitchFamily="18" charset="0"/>
                            </a:rPr>
                            <m:t>_</m:t>
                          </m:r>
                          <m:r>
                            <a:rPr lang="ar-AE" i="1">
                              <a:latin typeface="Cambria Math" panose="02040503050406030204" pitchFamily="18" charset="0"/>
                            </a:rPr>
                            <m:t>𝐼𝐷</m:t>
                          </m:r>
                          <m:r>
                            <a:rPr lang="en-US" b="0" i="1" smtClean="0">
                              <a:latin typeface="Cambria Math" panose="02040503050406030204" pitchFamily="18" charset="0"/>
                            </a:rPr>
                            <m:t>, </m:t>
                          </m:r>
                          <m:r>
                            <a:rPr lang="ar-AE" i="1">
                              <a:latin typeface="Cambria Math" panose="02040503050406030204" pitchFamily="18" charset="0"/>
                            </a:rPr>
                            <m:t>𝑁𝑎𝑚𝑒</m:t>
                          </m:r>
                        </m:e>
                      </m:d>
                    </m:oMath>
                  </m:oMathPara>
                </a14:m>
                <a:endParaRPr lang="ar-AE" dirty="0"/>
              </a:p>
              <a:p>
                <a:r>
                  <a:rPr lang="en-US" dirty="0"/>
                  <a:t>Then:</a:t>
                </a:r>
              </a:p>
              <a:p>
                <a:r>
                  <a:rPr lang="en-US" dirty="0"/>
                  <a:t>(</a:t>
                </a:r>
                <a:r>
                  <a:rPr lang="en-US" dirty="0" err="1"/>
                  <a:t>Student_ID</a:t>
                </a:r>
                <a:r>
                  <a:rPr lang="en-US" dirty="0"/>
                  <a:t>, Name)</a:t>
                </a:r>
                <a14:m>
                  <m:oMath xmlns:m="http://schemas.openxmlformats.org/officeDocument/2006/math">
                    <m:r>
                      <a:rPr lang="ar-AE">
                        <a:latin typeface="Cambria Math" panose="02040503050406030204" pitchFamily="18" charset="0"/>
                      </a:rPr>
                      <m:t>→</m:t>
                    </m:r>
                    <m:r>
                      <a:rPr lang="ar-AE" i="1">
                        <a:latin typeface="Cambria Math" panose="02040503050406030204" pitchFamily="18" charset="0"/>
                      </a:rPr>
                      <m:t>𝑁𝑎𝑚𝑒</m:t>
                    </m:r>
                  </m:oMath>
                </a14:m>
                <a:endParaRPr lang="en-US" dirty="0"/>
              </a:p>
              <a:p>
                <a:r>
                  <a:rPr lang="en-US" dirty="0"/>
                  <a:t>Since Name is already part of the left side, This is a </a:t>
                </a:r>
                <a:r>
                  <a:rPr lang="en-US" b="1" dirty="0"/>
                  <a:t>trivial functional dependency</a:t>
                </a:r>
                <a:r>
                  <a:rPr lang="en-US" dirty="0"/>
                  <a:t>.</a:t>
                </a:r>
              </a:p>
              <a:p>
                <a:endParaRPr lang="en-US" dirty="0"/>
              </a:p>
            </p:txBody>
          </p:sp>
        </mc:Choice>
        <mc:Fallback xmlns="">
          <p:sp>
            <p:nvSpPr>
              <p:cNvPr id="3" name="Content Placeholder 2">
                <a:extLst>
                  <a:ext uri="{FF2B5EF4-FFF2-40B4-BE49-F238E27FC236}">
                    <a16:creationId xmlns:a16="http://schemas.microsoft.com/office/drawing/2014/main" id="{9F91BF39-A3E7-EFDD-476F-544683D9413F}"/>
                  </a:ext>
                </a:extLst>
              </p:cNvPr>
              <p:cNvSpPr>
                <a:spLocks noGrp="1" noRot="1" noChangeAspect="1" noMove="1" noResize="1" noEditPoints="1" noAdjustHandles="1" noChangeArrowheads="1" noChangeShapeType="1" noTextEdit="1"/>
              </p:cNvSpPr>
              <p:nvPr>
                <p:ph idx="1"/>
              </p:nvPr>
            </p:nvSpPr>
            <p:spPr>
              <a:blipFill>
                <a:blip r:embed="rId2"/>
                <a:stretch>
                  <a:fillRect l="-1515" t="-1667" b="-5303"/>
                </a:stretch>
              </a:blipFill>
            </p:spPr>
            <p:txBody>
              <a:bodyPr/>
              <a:lstStyle/>
              <a:p>
                <a:r>
                  <a:rPr lang="en-US">
                    <a:noFill/>
                  </a:rPr>
                  <a:t> </a:t>
                </a:r>
              </a:p>
            </p:txBody>
          </p:sp>
        </mc:Fallback>
      </mc:AlternateContent>
    </p:spTree>
    <p:extLst>
      <p:ext uri="{BB962C8B-B14F-4D97-AF65-F5344CB8AC3E}">
        <p14:creationId xmlns:p14="http://schemas.microsoft.com/office/powerpoint/2010/main" val="49731641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38581E-7138-B661-0955-E4EE2D9C3C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94E119-F3B9-2432-54E4-F1403F932228}"/>
              </a:ext>
            </a:extLst>
          </p:cNvPr>
          <p:cNvSpPr>
            <a:spLocks noGrp="1"/>
          </p:cNvSpPr>
          <p:nvPr>
            <p:ph type="title"/>
          </p:nvPr>
        </p:nvSpPr>
        <p:spPr/>
        <p:txBody>
          <a:bodyPr/>
          <a:lstStyle/>
          <a:p>
            <a:r>
              <a:rPr lang="en-US" dirty="0"/>
              <a:t>Reflexivity Rule: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4057BF9-8FCE-8C74-A8EF-D53C42FC202B}"/>
                  </a:ext>
                </a:extLst>
              </p:cNvPr>
              <p:cNvSpPr>
                <a:spLocks noGrp="1"/>
              </p:cNvSpPr>
              <p:nvPr>
                <p:ph idx="1"/>
              </p:nvPr>
            </p:nvSpPr>
            <p:spPr/>
            <p:txBody>
              <a:bodyPr>
                <a:normAutofit lnSpcReduction="10000"/>
              </a:bodyPr>
              <a:lstStyle/>
              <a:p>
                <a:r>
                  <a:rPr lang="en-US" dirty="0"/>
                  <a:t>From this table, we can observe:</a:t>
                </a:r>
              </a:p>
              <a:p>
                <a:pPr lvl="1"/>
                <a:r>
                  <a:rPr lang="en-US" dirty="0"/>
                  <a:t>StudentID → Name </a:t>
                </a:r>
              </a:p>
              <a:p>
                <a:pPr lvl="1"/>
                <a:r>
                  <a:rPr lang="en-US" dirty="0"/>
                  <a:t>StudentID → </a:t>
                </a:r>
                <a:r>
                  <a:rPr lang="en-US" dirty="0" err="1"/>
                  <a:t>DeptID</a:t>
                </a:r>
                <a:r>
                  <a:rPr lang="en-US" dirty="0"/>
                  <a:t> </a:t>
                </a:r>
              </a:p>
              <a:p>
                <a:pPr lvl="1"/>
                <a:r>
                  <a:rPr lang="en-US" dirty="0" err="1"/>
                  <a:t>DeptID</a:t>
                </a:r>
                <a:r>
                  <a:rPr lang="en-US" dirty="0"/>
                  <a:t> → </a:t>
                </a:r>
                <a:r>
                  <a:rPr lang="en-US" dirty="0" err="1"/>
                  <a:t>DeptName</a:t>
                </a:r>
                <a:endParaRPr lang="en-US" dirty="0"/>
              </a:p>
              <a:p>
                <a:r>
                  <a:rPr lang="en-US" b="1" dirty="0"/>
                  <a:t>Rule: </a:t>
                </a:r>
                <a:r>
                  <a:rPr lang="en-US" dirty="0"/>
                  <a:t>If:</a:t>
                </a:r>
                <a14:m>
                  <m:oMath xmlns:m="http://schemas.openxmlformats.org/officeDocument/2006/math">
                    <m:r>
                      <a:rPr lang="en-US" b="0" i="0" smtClean="0">
                        <a:latin typeface="Cambria Math" panose="02040503050406030204" pitchFamily="18" charset="0"/>
                      </a:rPr>
                      <m:t>  </m:t>
                    </m:r>
                    <m:r>
                      <a:rPr lang="en-US" i="1">
                        <a:latin typeface="Cambria Math" panose="02040503050406030204" pitchFamily="18" charset="0"/>
                      </a:rPr>
                      <m:t>𝑌</m:t>
                    </m:r>
                    <m:r>
                      <a:rPr lang="en-US">
                        <a:latin typeface="Cambria Math" panose="02040503050406030204" pitchFamily="18" charset="0"/>
                      </a:rPr>
                      <m:t>⊆</m:t>
                    </m:r>
                    <m:r>
                      <a:rPr lang="en-US" i="1">
                        <a:latin typeface="Cambria Math" panose="02040503050406030204" pitchFamily="18" charset="0"/>
                      </a:rPr>
                      <m:t>𝑋</m:t>
                    </m:r>
                  </m:oMath>
                </a14:m>
                <a:r>
                  <a:rPr lang="en-US" dirty="0"/>
                  <a:t>,  then:</a:t>
                </a:r>
                <a14:m>
                  <m:oMath xmlns:m="http://schemas.openxmlformats.org/officeDocument/2006/math">
                    <m:r>
                      <a:rPr lang="en-US" b="0" i="0" smtClean="0">
                        <a:latin typeface="Cambria Math" panose="02040503050406030204" pitchFamily="18" charset="0"/>
                      </a:rPr>
                      <m:t> </m:t>
                    </m:r>
                    <m:r>
                      <a:rPr lang="en-US" i="1">
                        <a:latin typeface="Cambria Math" panose="02040503050406030204" pitchFamily="18" charset="0"/>
                      </a:rPr>
                      <m:t>𝑋</m:t>
                    </m:r>
                    <m:r>
                      <a:rPr lang="en-US">
                        <a:latin typeface="Cambria Math" panose="02040503050406030204" pitchFamily="18" charset="0"/>
                      </a:rPr>
                      <m:t>→</m:t>
                    </m:r>
                    <m:r>
                      <a:rPr lang="en-US" i="1">
                        <a:latin typeface="Cambria Math" panose="02040503050406030204" pitchFamily="18" charset="0"/>
                      </a:rPr>
                      <m:t>𝑌</m:t>
                    </m:r>
                  </m:oMath>
                </a14:m>
                <a:endParaRPr lang="en-US" dirty="0"/>
              </a:p>
              <a:p>
                <a:r>
                  <a:rPr lang="en-US" b="1" dirty="0"/>
                  <a:t>Example , </a:t>
                </a:r>
              </a:p>
              <a:p>
                <a14:m>
                  <m:oMath xmlns:m="http://schemas.openxmlformats.org/officeDocument/2006/math">
                    <m:r>
                      <a:rPr lang="en-US" i="1">
                        <a:latin typeface="Cambria Math" panose="02040503050406030204" pitchFamily="18" charset="0"/>
                      </a:rPr>
                      <m:t>𝑋</m:t>
                    </m:r>
                    <m:r>
                      <a:rPr lang="en-US">
                        <a:latin typeface="Cambria Math" panose="02040503050406030204" pitchFamily="18" charset="0"/>
                      </a:rPr>
                      <m:t>=</m:t>
                    </m:r>
                    <m:r>
                      <a:rPr lang="en-US" b="0" i="0" smtClean="0">
                        <a:latin typeface="Cambria Math" panose="02040503050406030204" pitchFamily="18" charset="0"/>
                      </a:rPr>
                      <m:t>{</m:t>
                    </m:r>
                    <m:r>
                      <m:rPr>
                        <m:sty m:val="p"/>
                      </m:rPr>
                      <a:rPr lang="en-US" b="0" i="0" smtClean="0">
                        <a:latin typeface="Cambria Math" panose="02040503050406030204" pitchFamily="18" charset="0"/>
                      </a:rPr>
                      <m:t>Student</m:t>
                    </m:r>
                    <m:r>
                      <a:rPr lang="en-US" b="0" i="0" smtClean="0">
                        <a:latin typeface="Cambria Math" panose="02040503050406030204" pitchFamily="18" charset="0"/>
                      </a:rPr>
                      <m:t>_</m:t>
                    </m:r>
                    <m:r>
                      <m:rPr>
                        <m:sty m:val="p"/>
                      </m:rPr>
                      <a:rPr lang="en-US" b="0" i="0" smtClean="0">
                        <a:latin typeface="Cambria Math" panose="02040503050406030204" pitchFamily="18" charset="0"/>
                      </a:rPr>
                      <m:t>ID</m:t>
                    </m:r>
                    <m:r>
                      <a:rPr lang="en-US" b="0" i="0" smtClean="0">
                        <a:latin typeface="Cambria Math" panose="02040503050406030204" pitchFamily="18" charset="0"/>
                      </a:rPr>
                      <m:t>,  </m:t>
                    </m:r>
                    <m:r>
                      <m:rPr>
                        <m:sty m:val="p"/>
                      </m:rPr>
                      <a:rPr lang="en-US" b="0" i="0" smtClean="0">
                        <a:latin typeface="Cambria Math" panose="02040503050406030204" pitchFamily="18" charset="0"/>
                      </a:rPr>
                      <m:t>Name</m:t>
                    </m:r>
                    <m:r>
                      <a:rPr lang="en-US" b="0" i="0" smtClean="0">
                        <a:latin typeface="Cambria Math" panose="02040503050406030204" pitchFamily="18" charset="0"/>
                      </a:rPr>
                      <m:t>}</m:t>
                    </m:r>
                  </m:oMath>
                </a14:m>
                <a:endParaRPr lang="en-US" i="1" dirty="0">
                  <a:latin typeface="Cambria Math" panose="02040503050406030204" pitchFamily="18" charset="0"/>
                </a:endParaRPr>
              </a:p>
              <a:p>
                <a14:m>
                  <m:oMath xmlns:m="http://schemas.openxmlformats.org/officeDocument/2006/math">
                    <m:r>
                      <m:rPr>
                        <m:sty m:val="p"/>
                      </m:rPr>
                      <a:rPr lang="en-US" b="0" i="1" smtClean="0">
                        <a:latin typeface="Cambria Math" panose="02040503050406030204" pitchFamily="18" charset="0"/>
                      </a:rPr>
                      <m:t>Y</m:t>
                    </m:r>
                    <m:r>
                      <a:rPr lang="en-US">
                        <a:latin typeface="Cambria Math" panose="02040503050406030204" pitchFamily="18" charset="0"/>
                      </a:rPr>
                      <m:t>=</m:t>
                    </m:r>
                    <m:r>
                      <a:rPr lang="en-US" b="0" i="0" smtClean="0">
                        <a:latin typeface="Cambria Math" panose="02040503050406030204" pitchFamily="18" charset="0"/>
                      </a:rPr>
                      <m:t>{</m:t>
                    </m:r>
                    <m:r>
                      <m:rPr>
                        <m:sty m:val="p"/>
                      </m:rPr>
                      <a:rPr lang="en-US" b="0" i="0" smtClean="0">
                        <a:latin typeface="Cambria Math" panose="02040503050406030204" pitchFamily="18" charset="0"/>
                      </a:rPr>
                      <m:t>Name</m:t>
                    </m:r>
                    <m:r>
                      <a:rPr lang="en-US" b="0" i="0" smtClean="0">
                        <a:latin typeface="Cambria Math" panose="02040503050406030204" pitchFamily="18" charset="0"/>
                      </a:rPr>
                      <m:t>}</m:t>
                    </m:r>
                  </m:oMath>
                </a14:m>
                <a:r>
                  <a:rPr lang="en-US" dirty="0"/>
                  <a:t>  Since  Y is already part of  X, </a:t>
                </a:r>
              </a:p>
              <a:p>
                <a:r>
                  <a:rPr lang="en-US" dirty="0"/>
                  <a:t>If you know both StudentID and Name, you obviously know Name.</a:t>
                </a:r>
              </a:p>
              <a:p>
                <a:r>
                  <a:rPr lang="en-US" dirty="0"/>
                  <a:t>This rule is almost "common sense."</a:t>
                </a:r>
              </a:p>
              <a:p>
                <a:endParaRPr lang="en-US" dirty="0"/>
              </a:p>
            </p:txBody>
          </p:sp>
        </mc:Choice>
        <mc:Fallback xmlns="">
          <p:sp>
            <p:nvSpPr>
              <p:cNvPr id="3" name="Content Placeholder 2">
                <a:extLst>
                  <a:ext uri="{FF2B5EF4-FFF2-40B4-BE49-F238E27FC236}">
                    <a16:creationId xmlns:a16="http://schemas.microsoft.com/office/drawing/2014/main" id="{A4057BF9-8FCE-8C74-A8EF-D53C42FC202B}"/>
                  </a:ext>
                </a:extLst>
              </p:cNvPr>
              <p:cNvSpPr>
                <a:spLocks noGrp="1" noRot="1" noChangeAspect="1" noMove="1" noResize="1" noEditPoints="1" noAdjustHandles="1" noChangeArrowheads="1" noChangeShapeType="1" noTextEdit="1"/>
              </p:cNvSpPr>
              <p:nvPr>
                <p:ph idx="1"/>
              </p:nvPr>
            </p:nvSpPr>
            <p:spPr>
              <a:blipFill>
                <a:blip r:embed="rId2"/>
                <a:stretch>
                  <a:fillRect l="-1515" t="-2273"/>
                </a:stretch>
              </a:blipFill>
            </p:spPr>
            <p:txBody>
              <a:bodyPr/>
              <a:lstStyle/>
              <a:p>
                <a:r>
                  <a:rPr lang="en-US">
                    <a:noFill/>
                  </a:rPr>
                  <a:t> </a:t>
                </a:r>
              </a:p>
            </p:txBody>
          </p:sp>
        </mc:Fallback>
      </mc:AlternateContent>
      <p:graphicFrame>
        <p:nvGraphicFramePr>
          <p:cNvPr id="4" name="Table 3">
            <a:extLst>
              <a:ext uri="{FF2B5EF4-FFF2-40B4-BE49-F238E27FC236}">
                <a16:creationId xmlns:a16="http://schemas.microsoft.com/office/drawing/2014/main" id="{7D86A792-B117-9214-49FA-7BF30A56D50F}"/>
              </a:ext>
            </a:extLst>
          </p:cNvPr>
          <p:cNvGraphicFramePr>
            <a:graphicFrameLocks noGrp="1"/>
          </p:cNvGraphicFramePr>
          <p:nvPr>
            <p:extLst>
              <p:ext uri="{D42A27DB-BD31-4B8C-83A1-F6EECF244321}">
                <p14:modId xmlns:p14="http://schemas.microsoft.com/office/powerpoint/2010/main" val="320107086"/>
              </p:ext>
            </p:extLst>
          </p:nvPr>
        </p:nvGraphicFramePr>
        <p:xfrm>
          <a:off x="5855064" y="1845734"/>
          <a:ext cx="5239656" cy="1854200"/>
        </p:xfrm>
        <a:graphic>
          <a:graphicData uri="http://schemas.openxmlformats.org/drawingml/2006/table">
            <a:tbl>
              <a:tblPr firstRow="1" bandRow="1">
                <a:tableStyleId>{5C22544A-7EE6-4342-B048-85BDC9FD1C3A}</a:tableStyleId>
              </a:tblPr>
              <a:tblGrid>
                <a:gridCol w="1309914">
                  <a:extLst>
                    <a:ext uri="{9D8B030D-6E8A-4147-A177-3AD203B41FA5}">
                      <a16:colId xmlns:a16="http://schemas.microsoft.com/office/drawing/2014/main" val="181611801"/>
                    </a:ext>
                  </a:extLst>
                </a:gridCol>
                <a:gridCol w="1309914">
                  <a:extLst>
                    <a:ext uri="{9D8B030D-6E8A-4147-A177-3AD203B41FA5}">
                      <a16:colId xmlns:a16="http://schemas.microsoft.com/office/drawing/2014/main" val="3078483893"/>
                    </a:ext>
                  </a:extLst>
                </a:gridCol>
                <a:gridCol w="1309914">
                  <a:extLst>
                    <a:ext uri="{9D8B030D-6E8A-4147-A177-3AD203B41FA5}">
                      <a16:colId xmlns:a16="http://schemas.microsoft.com/office/drawing/2014/main" val="1311095851"/>
                    </a:ext>
                  </a:extLst>
                </a:gridCol>
                <a:gridCol w="1309914">
                  <a:extLst>
                    <a:ext uri="{9D8B030D-6E8A-4147-A177-3AD203B41FA5}">
                      <a16:colId xmlns:a16="http://schemas.microsoft.com/office/drawing/2014/main" val="1007363839"/>
                    </a:ext>
                  </a:extLst>
                </a:gridCol>
              </a:tblGrid>
              <a:tr h="370840">
                <a:tc>
                  <a:txBody>
                    <a:bodyPr/>
                    <a:lstStyle/>
                    <a:p>
                      <a:pPr>
                        <a:buNone/>
                      </a:pPr>
                      <a:r>
                        <a:rPr lang="en-US" dirty="0"/>
                        <a:t>StudentID</a:t>
                      </a:r>
                    </a:p>
                  </a:txBody>
                  <a:tcPr anchor="ctr"/>
                </a:tc>
                <a:tc>
                  <a:txBody>
                    <a:bodyPr/>
                    <a:lstStyle/>
                    <a:p>
                      <a:pPr>
                        <a:buNone/>
                      </a:pPr>
                      <a:r>
                        <a:rPr lang="en-US"/>
                        <a:t>Name</a:t>
                      </a:r>
                    </a:p>
                  </a:txBody>
                  <a:tcPr anchor="ctr"/>
                </a:tc>
                <a:tc>
                  <a:txBody>
                    <a:bodyPr/>
                    <a:lstStyle/>
                    <a:p>
                      <a:pPr>
                        <a:buNone/>
                      </a:pPr>
                      <a:r>
                        <a:rPr lang="en-US"/>
                        <a:t>DeptID</a:t>
                      </a:r>
                    </a:p>
                  </a:txBody>
                  <a:tcPr anchor="ctr"/>
                </a:tc>
                <a:tc>
                  <a:txBody>
                    <a:bodyPr/>
                    <a:lstStyle/>
                    <a:p>
                      <a:pPr>
                        <a:buNone/>
                      </a:pPr>
                      <a:r>
                        <a:rPr lang="en-US"/>
                        <a:t>DeptName</a:t>
                      </a:r>
                    </a:p>
                  </a:txBody>
                  <a:tcPr anchor="ctr"/>
                </a:tc>
                <a:extLst>
                  <a:ext uri="{0D108BD9-81ED-4DB2-BD59-A6C34878D82A}">
                    <a16:rowId xmlns:a16="http://schemas.microsoft.com/office/drawing/2014/main" val="478649874"/>
                  </a:ext>
                </a:extLst>
              </a:tr>
              <a:tr h="370840">
                <a:tc>
                  <a:txBody>
                    <a:bodyPr/>
                    <a:lstStyle/>
                    <a:p>
                      <a:pPr>
                        <a:buNone/>
                      </a:pPr>
                      <a:r>
                        <a:rPr lang="en-US"/>
                        <a:t>101</a:t>
                      </a:r>
                    </a:p>
                  </a:txBody>
                  <a:tcPr anchor="ctr"/>
                </a:tc>
                <a:tc>
                  <a:txBody>
                    <a:bodyPr/>
                    <a:lstStyle/>
                    <a:p>
                      <a:pPr>
                        <a:buNone/>
                      </a:pPr>
                      <a:r>
                        <a:rPr lang="en-US"/>
                        <a:t>Ram</a:t>
                      </a:r>
                    </a:p>
                  </a:txBody>
                  <a:tcPr anchor="ctr"/>
                </a:tc>
                <a:tc>
                  <a:txBody>
                    <a:bodyPr/>
                    <a:lstStyle/>
                    <a:p>
                      <a:pPr>
                        <a:buNone/>
                      </a:pPr>
                      <a:r>
                        <a:rPr lang="en-US"/>
                        <a:t>D01</a:t>
                      </a:r>
                    </a:p>
                  </a:txBody>
                  <a:tcPr anchor="ctr"/>
                </a:tc>
                <a:tc>
                  <a:txBody>
                    <a:bodyPr/>
                    <a:lstStyle/>
                    <a:p>
                      <a:pPr>
                        <a:buNone/>
                      </a:pPr>
                      <a:r>
                        <a:rPr lang="en-US"/>
                        <a:t>Computer</a:t>
                      </a:r>
                    </a:p>
                  </a:txBody>
                  <a:tcPr anchor="ctr"/>
                </a:tc>
                <a:extLst>
                  <a:ext uri="{0D108BD9-81ED-4DB2-BD59-A6C34878D82A}">
                    <a16:rowId xmlns:a16="http://schemas.microsoft.com/office/drawing/2014/main" val="1371106894"/>
                  </a:ext>
                </a:extLst>
              </a:tr>
              <a:tr h="370840">
                <a:tc>
                  <a:txBody>
                    <a:bodyPr/>
                    <a:lstStyle/>
                    <a:p>
                      <a:pPr>
                        <a:buNone/>
                      </a:pPr>
                      <a:r>
                        <a:rPr lang="en-US"/>
                        <a:t>102</a:t>
                      </a:r>
                    </a:p>
                  </a:txBody>
                  <a:tcPr anchor="ctr"/>
                </a:tc>
                <a:tc>
                  <a:txBody>
                    <a:bodyPr/>
                    <a:lstStyle/>
                    <a:p>
                      <a:pPr>
                        <a:buNone/>
                      </a:pPr>
                      <a:r>
                        <a:rPr lang="en-US"/>
                        <a:t>Sita</a:t>
                      </a:r>
                    </a:p>
                  </a:txBody>
                  <a:tcPr anchor="ctr"/>
                </a:tc>
                <a:tc>
                  <a:txBody>
                    <a:bodyPr/>
                    <a:lstStyle/>
                    <a:p>
                      <a:pPr>
                        <a:buNone/>
                      </a:pPr>
                      <a:r>
                        <a:rPr lang="en-US"/>
                        <a:t>D02</a:t>
                      </a:r>
                    </a:p>
                  </a:txBody>
                  <a:tcPr anchor="ctr"/>
                </a:tc>
                <a:tc>
                  <a:txBody>
                    <a:bodyPr/>
                    <a:lstStyle/>
                    <a:p>
                      <a:pPr>
                        <a:buNone/>
                      </a:pPr>
                      <a:r>
                        <a:rPr lang="en-US"/>
                        <a:t>Civil</a:t>
                      </a:r>
                    </a:p>
                  </a:txBody>
                  <a:tcPr anchor="ctr"/>
                </a:tc>
                <a:extLst>
                  <a:ext uri="{0D108BD9-81ED-4DB2-BD59-A6C34878D82A}">
                    <a16:rowId xmlns:a16="http://schemas.microsoft.com/office/drawing/2014/main" val="1058347660"/>
                  </a:ext>
                </a:extLst>
              </a:tr>
              <a:tr h="370840">
                <a:tc>
                  <a:txBody>
                    <a:bodyPr/>
                    <a:lstStyle/>
                    <a:p>
                      <a:pPr>
                        <a:buNone/>
                      </a:pPr>
                      <a:r>
                        <a:rPr lang="en-US"/>
                        <a:t>103</a:t>
                      </a:r>
                    </a:p>
                  </a:txBody>
                  <a:tcPr anchor="ctr"/>
                </a:tc>
                <a:tc>
                  <a:txBody>
                    <a:bodyPr/>
                    <a:lstStyle/>
                    <a:p>
                      <a:pPr>
                        <a:buNone/>
                      </a:pPr>
                      <a:r>
                        <a:rPr lang="en-US"/>
                        <a:t>Hari</a:t>
                      </a:r>
                    </a:p>
                  </a:txBody>
                  <a:tcPr anchor="ctr"/>
                </a:tc>
                <a:tc>
                  <a:txBody>
                    <a:bodyPr/>
                    <a:lstStyle/>
                    <a:p>
                      <a:pPr>
                        <a:buNone/>
                      </a:pPr>
                      <a:r>
                        <a:rPr lang="en-US"/>
                        <a:t>D01</a:t>
                      </a:r>
                    </a:p>
                  </a:txBody>
                  <a:tcPr anchor="ctr"/>
                </a:tc>
                <a:tc>
                  <a:txBody>
                    <a:bodyPr/>
                    <a:lstStyle/>
                    <a:p>
                      <a:pPr>
                        <a:buNone/>
                      </a:pPr>
                      <a:r>
                        <a:rPr lang="en-US"/>
                        <a:t>Computer</a:t>
                      </a:r>
                    </a:p>
                  </a:txBody>
                  <a:tcPr anchor="ctr"/>
                </a:tc>
                <a:extLst>
                  <a:ext uri="{0D108BD9-81ED-4DB2-BD59-A6C34878D82A}">
                    <a16:rowId xmlns:a16="http://schemas.microsoft.com/office/drawing/2014/main" val="2832000962"/>
                  </a:ext>
                </a:extLst>
              </a:tr>
              <a:tr h="370840">
                <a:tc>
                  <a:txBody>
                    <a:bodyPr/>
                    <a:lstStyle/>
                    <a:p>
                      <a:pPr>
                        <a:buNone/>
                      </a:pPr>
                      <a:r>
                        <a:rPr lang="en-US"/>
                        <a:t>104</a:t>
                      </a:r>
                    </a:p>
                  </a:txBody>
                  <a:tcPr anchor="ctr"/>
                </a:tc>
                <a:tc>
                  <a:txBody>
                    <a:bodyPr/>
                    <a:lstStyle/>
                    <a:p>
                      <a:pPr>
                        <a:buNone/>
                      </a:pPr>
                      <a:r>
                        <a:rPr lang="en-US"/>
                        <a:t>Gita</a:t>
                      </a:r>
                    </a:p>
                  </a:txBody>
                  <a:tcPr anchor="ctr"/>
                </a:tc>
                <a:tc>
                  <a:txBody>
                    <a:bodyPr/>
                    <a:lstStyle/>
                    <a:p>
                      <a:pPr>
                        <a:buNone/>
                      </a:pPr>
                      <a:r>
                        <a:rPr lang="en-US"/>
                        <a:t>D03</a:t>
                      </a:r>
                    </a:p>
                  </a:txBody>
                  <a:tcPr anchor="ctr"/>
                </a:tc>
                <a:tc>
                  <a:txBody>
                    <a:bodyPr/>
                    <a:lstStyle/>
                    <a:p>
                      <a:pPr>
                        <a:buNone/>
                      </a:pPr>
                      <a:r>
                        <a:rPr lang="en-US" dirty="0"/>
                        <a:t>Electrical</a:t>
                      </a:r>
                    </a:p>
                  </a:txBody>
                  <a:tcPr anchor="ctr"/>
                </a:tc>
                <a:extLst>
                  <a:ext uri="{0D108BD9-81ED-4DB2-BD59-A6C34878D82A}">
                    <a16:rowId xmlns:a16="http://schemas.microsoft.com/office/drawing/2014/main" val="3594729113"/>
                  </a:ext>
                </a:extLst>
              </a:tr>
            </a:tbl>
          </a:graphicData>
        </a:graphic>
      </p:graphicFrame>
      <p:graphicFrame>
        <p:nvGraphicFramePr>
          <p:cNvPr id="5" name="Table 4">
            <a:extLst>
              <a:ext uri="{FF2B5EF4-FFF2-40B4-BE49-F238E27FC236}">
                <a16:creationId xmlns:a16="http://schemas.microsoft.com/office/drawing/2014/main" id="{9F39EE89-D32C-C5A7-E489-50B9770C6498}"/>
              </a:ext>
            </a:extLst>
          </p:cNvPr>
          <p:cNvGraphicFramePr>
            <a:graphicFrameLocks noGrp="1"/>
          </p:cNvGraphicFramePr>
          <p:nvPr>
            <p:extLst>
              <p:ext uri="{D42A27DB-BD31-4B8C-83A1-F6EECF244321}">
                <p14:modId xmlns:p14="http://schemas.microsoft.com/office/powerpoint/2010/main" val="885954951"/>
              </p:ext>
            </p:extLst>
          </p:nvPr>
        </p:nvGraphicFramePr>
        <p:xfrm>
          <a:off x="8302171" y="4345579"/>
          <a:ext cx="3563258" cy="1483360"/>
        </p:xfrm>
        <a:graphic>
          <a:graphicData uri="http://schemas.openxmlformats.org/drawingml/2006/table">
            <a:tbl>
              <a:tblPr firstRow="1" bandRow="1">
                <a:tableStyleId>{5C22544A-7EE6-4342-B048-85BDC9FD1C3A}</a:tableStyleId>
              </a:tblPr>
              <a:tblGrid>
                <a:gridCol w="1781629">
                  <a:extLst>
                    <a:ext uri="{9D8B030D-6E8A-4147-A177-3AD203B41FA5}">
                      <a16:colId xmlns:a16="http://schemas.microsoft.com/office/drawing/2014/main" val="299875729"/>
                    </a:ext>
                  </a:extLst>
                </a:gridCol>
                <a:gridCol w="1781629">
                  <a:extLst>
                    <a:ext uri="{9D8B030D-6E8A-4147-A177-3AD203B41FA5}">
                      <a16:colId xmlns:a16="http://schemas.microsoft.com/office/drawing/2014/main" val="2294923908"/>
                    </a:ext>
                  </a:extLst>
                </a:gridCol>
              </a:tblGrid>
              <a:tr h="370840">
                <a:tc>
                  <a:txBody>
                    <a:bodyPr/>
                    <a:lstStyle/>
                    <a:p>
                      <a:pPr>
                        <a:buNone/>
                      </a:pPr>
                      <a:r>
                        <a:rPr lang="en-US" dirty="0"/>
                        <a:t>StudentID</a:t>
                      </a:r>
                    </a:p>
                  </a:txBody>
                  <a:tcPr anchor="ctr"/>
                </a:tc>
                <a:tc>
                  <a:txBody>
                    <a:bodyPr/>
                    <a:lstStyle/>
                    <a:p>
                      <a:pPr>
                        <a:buNone/>
                      </a:pPr>
                      <a:r>
                        <a:rPr lang="en-US"/>
                        <a:t>Name</a:t>
                      </a:r>
                    </a:p>
                  </a:txBody>
                  <a:tcPr anchor="ctr"/>
                </a:tc>
                <a:extLst>
                  <a:ext uri="{0D108BD9-81ED-4DB2-BD59-A6C34878D82A}">
                    <a16:rowId xmlns:a16="http://schemas.microsoft.com/office/drawing/2014/main" val="1342963589"/>
                  </a:ext>
                </a:extLst>
              </a:tr>
              <a:tr h="370840">
                <a:tc>
                  <a:txBody>
                    <a:bodyPr/>
                    <a:lstStyle/>
                    <a:p>
                      <a:pPr>
                        <a:buNone/>
                      </a:pPr>
                      <a:r>
                        <a:rPr lang="en-US"/>
                        <a:t>101</a:t>
                      </a:r>
                    </a:p>
                  </a:txBody>
                  <a:tcPr anchor="ctr"/>
                </a:tc>
                <a:tc>
                  <a:txBody>
                    <a:bodyPr/>
                    <a:lstStyle/>
                    <a:p>
                      <a:pPr>
                        <a:buNone/>
                      </a:pPr>
                      <a:r>
                        <a:rPr lang="en-US"/>
                        <a:t>Ram</a:t>
                      </a:r>
                    </a:p>
                  </a:txBody>
                  <a:tcPr anchor="ctr"/>
                </a:tc>
                <a:extLst>
                  <a:ext uri="{0D108BD9-81ED-4DB2-BD59-A6C34878D82A}">
                    <a16:rowId xmlns:a16="http://schemas.microsoft.com/office/drawing/2014/main" val="3415410998"/>
                  </a:ext>
                </a:extLst>
              </a:tr>
              <a:tr h="370840">
                <a:tc>
                  <a:txBody>
                    <a:bodyPr/>
                    <a:lstStyle/>
                    <a:p>
                      <a:pPr>
                        <a:buNone/>
                      </a:pPr>
                      <a:r>
                        <a:rPr lang="en-US" dirty="0"/>
                        <a:t>102</a:t>
                      </a:r>
                    </a:p>
                  </a:txBody>
                  <a:tcPr anchor="ctr"/>
                </a:tc>
                <a:tc>
                  <a:txBody>
                    <a:bodyPr/>
                    <a:lstStyle/>
                    <a:p>
                      <a:pPr>
                        <a:buNone/>
                      </a:pPr>
                      <a:r>
                        <a:rPr lang="en-US" dirty="0"/>
                        <a:t>Sita</a:t>
                      </a:r>
                    </a:p>
                  </a:txBody>
                  <a:tcPr anchor="ctr"/>
                </a:tc>
                <a:extLst>
                  <a:ext uri="{0D108BD9-81ED-4DB2-BD59-A6C34878D82A}">
                    <a16:rowId xmlns:a16="http://schemas.microsoft.com/office/drawing/2014/main" val="3147211787"/>
                  </a:ext>
                </a:extLst>
              </a:tr>
              <a:tr h="370840">
                <a:tc>
                  <a:txBody>
                    <a:bodyPr/>
                    <a:lstStyle/>
                    <a:p>
                      <a:r>
                        <a:rPr lang="en-US" dirty="0"/>
                        <a:t>103</a:t>
                      </a:r>
                    </a:p>
                  </a:txBody>
                  <a:tcPr/>
                </a:tc>
                <a:tc>
                  <a:txBody>
                    <a:bodyPr/>
                    <a:lstStyle/>
                    <a:p>
                      <a:r>
                        <a:rPr lang="en-US" dirty="0"/>
                        <a:t>Hari </a:t>
                      </a:r>
                    </a:p>
                  </a:txBody>
                  <a:tcPr/>
                </a:tc>
                <a:extLst>
                  <a:ext uri="{0D108BD9-81ED-4DB2-BD59-A6C34878D82A}">
                    <a16:rowId xmlns:a16="http://schemas.microsoft.com/office/drawing/2014/main" val="2827427274"/>
                  </a:ext>
                </a:extLst>
              </a:tr>
            </a:tbl>
          </a:graphicData>
        </a:graphic>
      </p:graphicFrame>
    </p:spTree>
    <p:extLst>
      <p:ext uri="{BB962C8B-B14F-4D97-AF65-F5344CB8AC3E}">
        <p14:creationId xmlns:p14="http://schemas.microsoft.com/office/powerpoint/2010/main" val="340328241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DB1F5-2C69-D62B-7153-41ED6EEB0B5A}"/>
              </a:ext>
            </a:extLst>
          </p:cNvPr>
          <p:cNvSpPr>
            <a:spLocks noGrp="1"/>
          </p:cNvSpPr>
          <p:nvPr>
            <p:ph type="title"/>
          </p:nvPr>
        </p:nvSpPr>
        <p:spPr/>
        <p:txBody>
          <a:bodyPr/>
          <a:lstStyle/>
          <a:p>
            <a:r>
              <a:rPr lang="en-US" dirty="0"/>
              <a:t>Augmentation Rule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6B75C5A-C412-ADF3-F1C3-B8B36D6643AD}"/>
                  </a:ext>
                </a:extLst>
              </p:cNvPr>
              <p:cNvSpPr>
                <a:spLocks noGrp="1"/>
              </p:cNvSpPr>
              <p:nvPr>
                <p:ph idx="1"/>
              </p:nvPr>
            </p:nvSpPr>
            <p:spPr/>
            <p:txBody>
              <a:bodyPr>
                <a:normAutofit/>
              </a:bodyPr>
              <a:lstStyle/>
              <a:p>
                <a:r>
                  <a:rPr lang="en-US" dirty="0"/>
                  <a:t>If: </a:t>
                </a:r>
                <a14:m>
                  <m:oMath xmlns:m="http://schemas.openxmlformats.org/officeDocument/2006/math">
                    <m:r>
                      <a:rPr lang="en-US" b="0" i="0" smtClean="0">
                        <a:latin typeface="Cambria Math" panose="02040503050406030204" pitchFamily="18" charset="0"/>
                      </a:rPr>
                      <m:t> </m:t>
                    </m:r>
                    <m:r>
                      <a:rPr lang="en-US" i="1">
                        <a:latin typeface="Cambria Math" panose="02040503050406030204" pitchFamily="18" charset="0"/>
                      </a:rPr>
                      <m:t>𝑋</m:t>
                    </m:r>
                    <m:r>
                      <a:rPr lang="en-US">
                        <a:latin typeface="Cambria Math" panose="02040503050406030204" pitchFamily="18" charset="0"/>
                      </a:rPr>
                      <m:t>→</m:t>
                    </m:r>
                    <m:r>
                      <a:rPr lang="en-US" i="1">
                        <a:latin typeface="Cambria Math" panose="02040503050406030204" pitchFamily="18" charset="0"/>
                      </a:rPr>
                      <m:t>𝑌</m:t>
                    </m:r>
                  </m:oMath>
                </a14:m>
                <a:r>
                  <a:rPr lang="en-US" dirty="0"/>
                  <a:t>, then: </a:t>
                </a:r>
                <a14:m>
                  <m:oMath xmlns:m="http://schemas.openxmlformats.org/officeDocument/2006/math">
                    <m:r>
                      <a:rPr lang="en-US" b="0" i="0" smtClean="0">
                        <a:latin typeface="Cambria Math" panose="02040503050406030204" pitchFamily="18" charset="0"/>
                      </a:rPr>
                      <m:t> </m:t>
                    </m:r>
                    <m:r>
                      <a:rPr lang="en-US" i="1">
                        <a:latin typeface="Cambria Math" panose="02040503050406030204" pitchFamily="18" charset="0"/>
                      </a:rPr>
                      <m:t>𝑋𝑍</m:t>
                    </m:r>
                    <m:r>
                      <a:rPr lang="en-US">
                        <a:latin typeface="Cambria Math" panose="02040503050406030204" pitchFamily="18" charset="0"/>
                      </a:rPr>
                      <m:t>→</m:t>
                    </m:r>
                    <m:r>
                      <a:rPr lang="en-US" i="1">
                        <a:latin typeface="Cambria Math" panose="02040503050406030204" pitchFamily="18" charset="0"/>
                      </a:rPr>
                      <m:t>𝑌𝑍</m:t>
                    </m:r>
                  </m:oMath>
                </a14:m>
                <a:endParaRPr lang="en-US" dirty="0"/>
              </a:p>
              <a:p>
                <a:r>
                  <a:rPr lang="en-US" dirty="0"/>
                  <a:t>where Z is any set of attributes.</a:t>
                </a:r>
              </a:p>
              <a:p>
                <a:r>
                  <a:rPr lang="en-US" b="1" dirty="0"/>
                  <a:t>Meaning:  </a:t>
                </a:r>
                <a:r>
                  <a:rPr lang="en-US" dirty="0"/>
                  <a:t>If X determines Y, then adding the same attributes to both sides preserves the dependency.</a:t>
                </a:r>
              </a:p>
              <a:p>
                <a:r>
                  <a:rPr lang="en-US" b="1" dirty="0"/>
                  <a:t>Example, </a:t>
                </a:r>
                <a:r>
                  <a:rPr lang="en-US" dirty="0"/>
                  <a:t>Given:</a:t>
                </a:r>
              </a:p>
              <a:p>
                <a14:m>
                  <m:oMath xmlns:m="http://schemas.openxmlformats.org/officeDocument/2006/math">
                    <m:r>
                      <a:rPr lang="en-US" i="1">
                        <a:latin typeface="Cambria Math" panose="02040503050406030204" pitchFamily="18" charset="0"/>
                      </a:rPr>
                      <m:t>𝑆𝑡𝑢𝑑𝑒𝑛𝑡</m:t>
                    </m:r>
                    <m:r>
                      <m:rPr>
                        <m:lit/>
                      </m:rPr>
                      <a:rPr lang="en-US">
                        <a:latin typeface="Cambria Math" panose="02040503050406030204" pitchFamily="18" charset="0"/>
                      </a:rPr>
                      <m:t>_</m:t>
                    </m:r>
                    <m:r>
                      <a:rPr lang="en-US" i="1">
                        <a:latin typeface="Cambria Math" panose="02040503050406030204" pitchFamily="18" charset="0"/>
                      </a:rPr>
                      <m:t>𝐼𝐷</m:t>
                    </m:r>
                    <m:r>
                      <a:rPr lang="en-US">
                        <a:latin typeface="Cambria Math" panose="02040503050406030204" pitchFamily="18" charset="0"/>
                      </a:rPr>
                      <m:t>→</m:t>
                    </m:r>
                    <m:r>
                      <a:rPr lang="en-US" i="1">
                        <a:latin typeface="Cambria Math" panose="02040503050406030204" pitchFamily="18" charset="0"/>
                      </a:rPr>
                      <m:t>𝑆𝑡𝑢𝑑𝑒𝑛𝑡</m:t>
                    </m:r>
                    <m:r>
                      <m:rPr>
                        <m:lit/>
                      </m:rPr>
                      <a:rPr lang="en-US">
                        <a:latin typeface="Cambria Math" panose="02040503050406030204" pitchFamily="18" charset="0"/>
                      </a:rPr>
                      <m:t>_</m:t>
                    </m:r>
                    <m:r>
                      <a:rPr lang="en-US" i="1">
                        <a:latin typeface="Cambria Math" panose="02040503050406030204" pitchFamily="18" charset="0"/>
                      </a:rPr>
                      <m:t>𝑁𝑎𝑚𝑒</m:t>
                    </m:r>
                  </m:oMath>
                </a14:m>
                <a:endParaRPr lang="en-US" dirty="0"/>
              </a:p>
              <a:p>
                <a:r>
                  <a:rPr lang="en-US" dirty="0"/>
                  <a:t>Add </a:t>
                </a:r>
                <a:r>
                  <a:rPr lang="en-US" dirty="0" err="1"/>
                  <a:t>Subject_ID</a:t>
                </a:r>
                <a:r>
                  <a:rPr lang="en-US" dirty="0"/>
                  <a:t> to both sides:</a:t>
                </a:r>
              </a:p>
              <a:p>
                <a14:m>
                  <m:oMath xmlns:m="http://schemas.openxmlformats.org/officeDocument/2006/math">
                    <m:d>
                      <m:dPr>
                        <m:sepChr m:val=","/>
                        <m:ctrlPr>
                          <a:rPr lang="ar-AE" i="1">
                            <a:latin typeface="Cambria Math" panose="02040503050406030204" pitchFamily="18" charset="0"/>
                          </a:rPr>
                        </m:ctrlPr>
                      </m:dPr>
                      <m:e>
                        <m:r>
                          <a:rPr lang="ar-AE" i="1">
                            <a:latin typeface="Cambria Math" panose="02040503050406030204" pitchFamily="18" charset="0"/>
                          </a:rPr>
                          <m:t>𝑆</m:t>
                        </m:r>
                      </m:e>
                      <m:e>
                        <m:r>
                          <a:rPr lang="ar-AE" i="1">
                            <a:latin typeface="Cambria Math" panose="02040503050406030204" pitchFamily="18" charset="0"/>
                          </a:rPr>
                          <m:t>𝑡𝑢𝑑𝑒𝑛𝑡</m:t>
                        </m:r>
                        <m:r>
                          <m:rPr>
                            <m:lit/>
                          </m:rPr>
                          <a:rPr lang="ar-AE">
                            <a:latin typeface="Cambria Math" panose="02040503050406030204" pitchFamily="18" charset="0"/>
                          </a:rPr>
                          <m:t>_</m:t>
                        </m:r>
                        <m:r>
                          <a:rPr lang="ar-AE" i="1">
                            <a:latin typeface="Cambria Math" panose="02040503050406030204" pitchFamily="18" charset="0"/>
                          </a:rPr>
                          <m:t>𝐼𝐷𝑆𝑢𝑏𝑗𝑒𝑐𝑡</m:t>
                        </m:r>
                        <m:r>
                          <m:rPr>
                            <m:lit/>
                          </m:rPr>
                          <a:rPr lang="ar-AE">
                            <a:latin typeface="Cambria Math" panose="02040503050406030204" pitchFamily="18" charset="0"/>
                          </a:rPr>
                          <m:t>_</m:t>
                        </m:r>
                        <m:r>
                          <a:rPr lang="ar-AE" i="1">
                            <a:latin typeface="Cambria Math" panose="02040503050406030204" pitchFamily="18" charset="0"/>
                          </a:rPr>
                          <m:t>𝐼𝐷</m:t>
                        </m:r>
                      </m:e>
                    </m:d>
                    <m:r>
                      <a:rPr lang="ar-AE">
                        <a:latin typeface="Cambria Math" panose="02040503050406030204" pitchFamily="18" charset="0"/>
                      </a:rPr>
                      <m:t>→</m:t>
                    </m:r>
                    <m:d>
                      <m:dPr>
                        <m:sepChr m:val=","/>
                        <m:ctrlPr>
                          <a:rPr lang="ar-AE" i="1">
                            <a:latin typeface="Cambria Math" panose="02040503050406030204" pitchFamily="18" charset="0"/>
                          </a:rPr>
                        </m:ctrlPr>
                      </m:dPr>
                      <m:e>
                        <m:r>
                          <a:rPr lang="ar-AE" i="1">
                            <a:latin typeface="Cambria Math" panose="02040503050406030204" pitchFamily="18" charset="0"/>
                          </a:rPr>
                          <m:t>𝑆</m:t>
                        </m:r>
                      </m:e>
                      <m:e>
                        <m:r>
                          <a:rPr lang="ar-AE" i="1">
                            <a:latin typeface="Cambria Math" panose="02040503050406030204" pitchFamily="18" charset="0"/>
                          </a:rPr>
                          <m:t>𝑡𝑢𝑑𝑒𝑛𝑡</m:t>
                        </m:r>
                        <m:r>
                          <m:rPr>
                            <m:lit/>
                          </m:rPr>
                          <a:rPr lang="ar-AE">
                            <a:latin typeface="Cambria Math" panose="02040503050406030204" pitchFamily="18" charset="0"/>
                          </a:rPr>
                          <m:t>_</m:t>
                        </m:r>
                        <m:r>
                          <a:rPr lang="ar-AE" i="1">
                            <a:latin typeface="Cambria Math" panose="02040503050406030204" pitchFamily="18" charset="0"/>
                          </a:rPr>
                          <m:t>𝑁𝑎𝑚𝑒𝑆𝑢𝑏𝑗𝑒𝑐𝑡</m:t>
                        </m:r>
                        <m:r>
                          <m:rPr>
                            <m:lit/>
                          </m:rPr>
                          <a:rPr lang="ar-AE">
                            <a:latin typeface="Cambria Math" panose="02040503050406030204" pitchFamily="18" charset="0"/>
                          </a:rPr>
                          <m:t>_</m:t>
                        </m:r>
                        <m:r>
                          <a:rPr lang="ar-AE" i="1">
                            <a:latin typeface="Cambria Math" panose="02040503050406030204" pitchFamily="18" charset="0"/>
                          </a:rPr>
                          <m:t>𝐼𝐷</m:t>
                        </m:r>
                      </m:e>
                    </m:d>
                  </m:oMath>
                </a14:m>
                <a:endParaRPr lang="ar-AE" dirty="0"/>
              </a:p>
              <a:p>
                <a:r>
                  <a:rPr lang="en-US" dirty="0"/>
                  <a:t>The dependency still holds.</a:t>
                </a:r>
              </a:p>
              <a:p>
                <a:endParaRPr lang="en-US" dirty="0"/>
              </a:p>
            </p:txBody>
          </p:sp>
        </mc:Choice>
        <mc:Fallback xmlns="">
          <p:sp>
            <p:nvSpPr>
              <p:cNvPr id="3" name="Content Placeholder 2">
                <a:extLst>
                  <a:ext uri="{FF2B5EF4-FFF2-40B4-BE49-F238E27FC236}">
                    <a16:creationId xmlns:a16="http://schemas.microsoft.com/office/drawing/2014/main" id="{E6B75C5A-C412-ADF3-F1C3-B8B36D6643AD}"/>
                  </a:ext>
                </a:extLst>
              </p:cNvPr>
              <p:cNvSpPr>
                <a:spLocks noGrp="1" noRot="1" noChangeAspect="1" noMove="1" noResize="1" noEditPoints="1" noAdjustHandles="1" noChangeArrowheads="1" noChangeShapeType="1" noTextEdit="1"/>
              </p:cNvSpPr>
              <p:nvPr>
                <p:ph idx="1"/>
              </p:nvPr>
            </p:nvSpPr>
            <p:spPr>
              <a:blipFill>
                <a:blip r:embed="rId2"/>
                <a:stretch>
                  <a:fillRect l="-1515" t="-1667"/>
                </a:stretch>
              </a:blipFill>
            </p:spPr>
            <p:txBody>
              <a:bodyPr/>
              <a:lstStyle/>
              <a:p>
                <a:r>
                  <a:rPr lang="en-US">
                    <a:noFill/>
                  </a:rPr>
                  <a:t> </a:t>
                </a:r>
              </a:p>
            </p:txBody>
          </p:sp>
        </mc:Fallback>
      </mc:AlternateContent>
    </p:spTree>
    <p:extLst>
      <p:ext uri="{BB962C8B-B14F-4D97-AF65-F5344CB8AC3E}">
        <p14:creationId xmlns:p14="http://schemas.microsoft.com/office/powerpoint/2010/main" val="181763779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36F547-4904-014B-00DB-BB0EE14423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3498FF-D71C-D654-7632-E5EE15F621F9}"/>
              </a:ext>
            </a:extLst>
          </p:cNvPr>
          <p:cNvSpPr>
            <a:spLocks noGrp="1"/>
          </p:cNvSpPr>
          <p:nvPr>
            <p:ph type="title"/>
          </p:nvPr>
        </p:nvSpPr>
        <p:spPr/>
        <p:txBody>
          <a:bodyPr/>
          <a:lstStyle/>
          <a:p>
            <a:r>
              <a:rPr lang="en-US" dirty="0"/>
              <a:t>Augmentation Rule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F3BF196-22FD-5D4B-8E70-6A99E27DA4B3}"/>
                  </a:ext>
                </a:extLst>
              </p:cNvPr>
              <p:cNvSpPr>
                <a:spLocks noGrp="1"/>
              </p:cNvSpPr>
              <p:nvPr>
                <p:ph idx="1"/>
              </p:nvPr>
            </p:nvSpPr>
            <p:spPr>
              <a:xfrm>
                <a:off x="1097279" y="1845734"/>
                <a:ext cx="6370321" cy="4489752"/>
              </a:xfrm>
            </p:spPr>
            <p:txBody>
              <a:bodyPr>
                <a:normAutofit/>
              </a:bodyPr>
              <a:lstStyle/>
              <a:p>
                <a:r>
                  <a:rPr lang="en-US" dirty="0"/>
                  <a:t>If: </a:t>
                </a:r>
                <a14:m>
                  <m:oMath xmlns:m="http://schemas.openxmlformats.org/officeDocument/2006/math">
                    <m:r>
                      <a:rPr lang="en-US" b="0" i="0" smtClean="0">
                        <a:latin typeface="Cambria Math" panose="02040503050406030204" pitchFamily="18" charset="0"/>
                      </a:rPr>
                      <m:t> </m:t>
                    </m:r>
                    <m:r>
                      <a:rPr lang="en-US" i="1">
                        <a:latin typeface="Cambria Math" panose="02040503050406030204" pitchFamily="18" charset="0"/>
                      </a:rPr>
                      <m:t>𝑋</m:t>
                    </m:r>
                    <m:r>
                      <a:rPr lang="en-US">
                        <a:latin typeface="Cambria Math" panose="02040503050406030204" pitchFamily="18" charset="0"/>
                      </a:rPr>
                      <m:t>→</m:t>
                    </m:r>
                    <m:r>
                      <a:rPr lang="en-US" i="1">
                        <a:latin typeface="Cambria Math" panose="02040503050406030204" pitchFamily="18" charset="0"/>
                      </a:rPr>
                      <m:t>𝑌</m:t>
                    </m:r>
                  </m:oMath>
                </a14:m>
                <a:r>
                  <a:rPr lang="en-US" dirty="0"/>
                  <a:t>, then: </a:t>
                </a:r>
                <a14:m>
                  <m:oMath xmlns:m="http://schemas.openxmlformats.org/officeDocument/2006/math">
                    <m:r>
                      <a:rPr lang="en-US" b="0" i="0" smtClean="0">
                        <a:latin typeface="Cambria Math" panose="02040503050406030204" pitchFamily="18" charset="0"/>
                      </a:rPr>
                      <m:t> </m:t>
                    </m:r>
                    <m:r>
                      <a:rPr lang="en-US" i="1">
                        <a:latin typeface="Cambria Math" panose="02040503050406030204" pitchFamily="18" charset="0"/>
                      </a:rPr>
                      <m:t>𝑋𝑍</m:t>
                    </m:r>
                    <m:r>
                      <a:rPr lang="en-US">
                        <a:latin typeface="Cambria Math" panose="02040503050406030204" pitchFamily="18" charset="0"/>
                      </a:rPr>
                      <m:t>→</m:t>
                    </m:r>
                    <m:r>
                      <a:rPr lang="en-US" i="1">
                        <a:latin typeface="Cambria Math" panose="02040503050406030204" pitchFamily="18" charset="0"/>
                      </a:rPr>
                      <m:t>𝑌𝑍</m:t>
                    </m:r>
                    <m:r>
                      <a:rPr lang="en-US" b="0" i="0" smtClean="0">
                        <a:latin typeface="Cambria Math" panose="02040503050406030204" pitchFamily="18" charset="0"/>
                      </a:rPr>
                      <m:t>, </m:t>
                    </m:r>
                  </m:oMath>
                </a14:m>
                <a:r>
                  <a:rPr lang="en-US" dirty="0"/>
                  <a:t>  where Z is any set of attributes.</a:t>
                </a:r>
              </a:p>
              <a:p>
                <a:r>
                  <a:rPr lang="en-US" b="1" dirty="0"/>
                  <a:t>Example, </a:t>
                </a:r>
                <a:r>
                  <a:rPr lang="en-US" dirty="0"/>
                  <a:t>Given:</a:t>
                </a:r>
              </a:p>
              <a:p>
                <a14:m>
                  <m:oMath xmlns:m="http://schemas.openxmlformats.org/officeDocument/2006/math">
                    <m:r>
                      <a:rPr lang="en-US" i="1">
                        <a:latin typeface="Cambria Math" panose="02040503050406030204" pitchFamily="18" charset="0"/>
                      </a:rPr>
                      <m:t>𝑆𝑡𝑢𝑑𝑒𝑛𝑡</m:t>
                    </m:r>
                    <m:r>
                      <m:rPr>
                        <m:lit/>
                      </m:rPr>
                      <a:rPr lang="en-US">
                        <a:latin typeface="Cambria Math" panose="02040503050406030204" pitchFamily="18" charset="0"/>
                      </a:rPr>
                      <m:t>_</m:t>
                    </m:r>
                    <m:r>
                      <a:rPr lang="en-US" i="1">
                        <a:latin typeface="Cambria Math" panose="02040503050406030204" pitchFamily="18" charset="0"/>
                      </a:rPr>
                      <m:t>𝐼𝐷</m:t>
                    </m:r>
                    <m:r>
                      <a:rPr lang="en-US">
                        <a:latin typeface="Cambria Math" panose="02040503050406030204" pitchFamily="18" charset="0"/>
                      </a:rPr>
                      <m:t>→</m:t>
                    </m:r>
                    <m:r>
                      <a:rPr lang="en-US" i="1">
                        <a:latin typeface="Cambria Math" panose="02040503050406030204" pitchFamily="18" charset="0"/>
                      </a:rPr>
                      <m:t>𝑁𝑎𝑚𝑒</m:t>
                    </m:r>
                  </m:oMath>
                </a14:m>
                <a:endParaRPr lang="en-US" dirty="0"/>
              </a:p>
              <a:p>
                <a:r>
                  <a:rPr lang="en-US" dirty="0"/>
                  <a:t>Add </a:t>
                </a:r>
                <a:r>
                  <a:rPr lang="en-US" dirty="0" err="1"/>
                  <a:t>Dept_ID</a:t>
                </a:r>
                <a:r>
                  <a:rPr lang="en-US" dirty="0"/>
                  <a:t> to both sides:</a:t>
                </a:r>
              </a:p>
              <a:p>
                <a:r>
                  <a:rPr lang="en-US" dirty="0"/>
                  <a:t>{</a:t>
                </a:r>
                <a:r>
                  <a:rPr lang="en-US" dirty="0" err="1"/>
                  <a:t>Student_ID</a:t>
                </a:r>
                <a:r>
                  <a:rPr lang="en-US" dirty="0"/>
                  <a:t>, </a:t>
                </a:r>
                <a:r>
                  <a:rPr lang="en-US" dirty="0" err="1"/>
                  <a:t>Dept_ID</a:t>
                </a:r>
                <a:r>
                  <a:rPr lang="en-US" dirty="0"/>
                  <a:t>}</a:t>
                </a:r>
                <a14:m>
                  <m:oMath xmlns:m="http://schemas.openxmlformats.org/officeDocument/2006/math">
                    <m:r>
                      <a:rPr lang="ar-AE">
                        <a:latin typeface="Cambria Math" panose="02040503050406030204" pitchFamily="18" charset="0"/>
                      </a:rPr>
                      <m:t>→</m:t>
                    </m:r>
                    <m:r>
                      <a:rPr lang="en-US" b="0" i="0" smtClean="0">
                        <a:latin typeface="Cambria Math" panose="02040503050406030204" pitchFamily="18" charset="0"/>
                      </a:rPr>
                      <m:t> {</m:t>
                    </m:r>
                    <m:r>
                      <m:rPr>
                        <m:sty m:val="p"/>
                      </m:rPr>
                      <a:rPr lang="en-US" b="0" i="0" smtClean="0">
                        <a:latin typeface="Cambria Math" panose="02040503050406030204" pitchFamily="18" charset="0"/>
                      </a:rPr>
                      <m:t>Name</m:t>
                    </m:r>
                    <m:r>
                      <a:rPr lang="en-US" b="0" i="0" smtClean="0">
                        <a:latin typeface="Cambria Math" panose="02040503050406030204" pitchFamily="18" charset="0"/>
                      </a:rPr>
                      <m:t>, </m:t>
                    </m:r>
                    <m:r>
                      <m:rPr>
                        <m:sty m:val="p"/>
                      </m:rPr>
                      <a:rPr lang="en-US" b="0" i="0" smtClean="0">
                        <a:latin typeface="Cambria Math" panose="02040503050406030204" pitchFamily="18" charset="0"/>
                      </a:rPr>
                      <m:t>Dept</m:t>
                    </m:r>
                    <m:r>
                      <a:rPr lang="en-US" b="0" i="0" smtClean="0">
                        <a:latin typeface="Cambria Math" panose="02040503050406030204" pitchFamily="18" charset="0"/>
                      </a:rPr>
                      <m:t>_</m:t>
                    </m:r>
                    <m:r>
                      <m:rPr>
                        <m:sty m:val="p"/>
                      </m:rPr>
                      <a:rPr lang="en-US" b="0" i="0" smtClean="0">
                        <a:latin typeface="Cambria Math" panose="02040503050406030204" pitchFamily="18" charset="0"/>
                      </a:rPr>
                      <m:t>ID</m:t>
                    </m:r>
                    <m:r>
                      <a:rPr lang="en-US" b="0" i="0" smtClean="0">
                        <a:latin typeface="Cambria Math" panose="02040503050406030204" pitchFamily="18" charset="0"/>
                      </a:rPr>
                      <m:t>}</m:t>
                    </m:r>
                  </m:oMath>
                </a14:m>
                <a:endParaRPr lang="ar-AE" dirty="0"/>
              </a:p>
              <a:p>
                <a:r>
                  <a:rPr lang="en-US" dirty="0"/>
                  <a:t>The dependency still holds. Then the new table will become.</a:t>
                </a:r>
              </a:p>
              <a:p>
                <a:pPr lvl="1"/>
                <a:r>
                  <a:rPr lang="en-US" dirty="0"/>
                  <a:t>Knowing StudentID and </a:t>
                </a:r>
                <a:r>
                  <a:rPr lang="en-US" dirty="0" err="1"/>
                  <a:t>DeptID</a:t>
                </a:r>
                <a:r>
                  <a:rPr lang="en-US" dirty="0"/>
                  <a:t> still uniquely determines Name and </a:t>
                </a:r>
                <a:r>
                  <a:rPr lang="en-US" dirty="0" err="1"/>
                  <a:t>DeptID</a:t>
                </a:r>
                <a:r>
                  <a:rPr lang="en-US" dirty="0"/>
                  <a:t>.</a:t>
                </a:r>
              </a:p>
              <a:p>
                <a:pPr lvl="1"/>
                <a:r>
                  <a:rPr lang="en-US" dirty="0"/>
                  <a:t>We simply attached the same attribute (</a:t>
                </a:r>
                <a:r>
                  <a:rPr lang="en-US" dirty="0" err="1"/>
                  <a:t>DeptID</a:t>
                </a:r>
                <a:r>
                  <a:rPr lang="en-US" dirty="0"/>
                  <a:t>) to both sides.</a:t>
                </a:r>
              </a:p>
              <a:p>
                <a:endParaRPr lang="en-US" dirty="0"/>
              </a:p>
              <a:p>
                <a:endParaRPr lang="en-US" dirty="0"/>
              </a:p>
            </p:txBody>
          </p:sp>
        </mc:Choice>
        <mc:Fallback xmlns="">
          <p:sp>
            <p:nvSpPr>
              <p:cNvPr id="3" name="Content Placeholder 2">
                <a:extLst>
                  <a:ext uri="{FF2B5EF4-FFF2-40B4-BE49-F238E27FC236}">
                    <a16:creationId xmlns:a16="http://schemas.microsoft.com/office/drawing/2014/main" id="{1F3BF196-22FD-5D4B-8E70-6A99E27DA4B3}"/>
                  </a:ext>
                </a:extLst>
              </p:cNvPr>
              <p:cNvSpPr>
                <a:spLocks noGrp="1" noRot="1" noChangeAspect="1" noMove="1" noResize="1" noEditPoints="1" noAdjustHandles="1" noChangeArrowheads="1" noChangeShapeType="1" noTextEdit="1"/>
              </p:cNvSpPr>
              <p:nvPr>
                <p:ph idx="1"/>
              </p:nvPr>
            </p:nvSpPr>
            <p:spPr>
              <a:xfrm>
                <a:off x="1097279" y="1845734"/>
                <a:ext cx="6370321" cy="4489752"/>
              </a:xfrm>
              <a:blipFill>
                <a:blip r:embed="rId2"/>
                <a:stretch>
                  <a:fillRect l="-2392" t="-1495" r="-2010" b="-1087"/>
                </a:stretch>
              </a:blipFill>
            </p:spPr>
            <p:txBody>
              <a:bodyPr/>
              <a:lstStyle/>
              <a:p>
                <a:r>
                  <a:rPr lang="en-US">
                    <a:noFill/>
                  </a:rPr>
                  <a:t> </a:t>
                </a:r>
              </a:p>
            </p:txBody>
          </p:sp>
        </mc:Fallback>
      </mc:AlternateContent>
      <p:graphicFrame>
        <p:nvGraphicFramePr>
          <p:cNvPr id="4" name="Table 3">
            <a:extLst>
              <a:ext uri="{FF2B5EF4-FFF2-40B4-BE49-F238E27FC236}">
                <a16:creationId xmlns:a16="http://schemas.microsoft.com/office/drawing/2014/main" id="{6082DE12-277A-B7C1-A4ED-32CF55CCF923}"/>
              </a:ext>
            </a:extLst>
          </p:cNvPr>
          <p:cNvGraphicFramePr>
            <a:graphicFrameLocks noGrp="1"/>
          </p:cNvGraphicFramePr>
          <p:nvPr>
            <p:extLst>
              <p:ext uri="{D42A27DB-BD31-4B8C-83A1-F6EECF244321}">
                <p14:modId xmlns:p14="http://schemas.microsoft.com/office/powerpoint/2010/main" val="2519175627"/>
              </p:ext>
            </p:extLst>
          </p:nvPr>
        </p:nvGraphicFramePr>
        <p:xfrm>
          <a:off x="8055429" y="2316480"/>
          <a:ext cx="2757714" cy="1112520"/>
        </p:xfrm>
        <a:graphic>
          <a:graphicData uri="http://schemas.openxmlformats.org/drawingml/2006/table">
            <a:tbl>
              <a:tblPr firstRow="1" bandRow="1">
                <a:tableStyleId>{5C22544A-7EE6-4342-B048-85BDC9FD1C3A}</a:tableStyleId>
              </a:tblPr>
              <a:tblGrid>
                <a:gridCol w="1378857">
                  <a:extLst>
                    <a:ext uri="{9D8B030D-6E8A-4147-A177-3AD203B41FA5}">
                      <a16:colId xmlns:a16="http://schemas.microsoft.com/office/drawing/2014/main" val="3869260874"/>
                    </a:ext>
                  </a:extLst>
                </a:gridCol>
                <a:gridCol w="1378857">
                  <a:extLst>
                    <a:ext uri="{9D8B030D-6E8A-4147-A177-3AD203B41FA5}">
                      <a16:colId xmlns:a16="http://schemas.microsoft.com/office/drawing/2014/main" val="2093289675"/>
                    </a:ext>
                  </a:extLst>
                </a:gridCol>
              </a:tblGrid>
              <a:tr h="370840">
                <a:tc>
                  <a:txBody>
                    <a:bodyPr/>
                    <a:lstStyle/>
                    <a:p>
                      <a:pPr>
                        <a:buNone/>
                      </a:pPr>
                      <a:r>
                        <a:rPr lang="en-US" dirty="0"/>
                        <a:t>StudentID</a:t>
                      </a:r>
                    </a:p>
                  </a:txBody>
                  <a:tcPr anchor="ctr"/>
                </a:tc>
                <a:tc>
                  <a:txBody>
                    <a:bodyPr/>
                    <a:lstStyle/>
                    <a:p>
                      <a:pPr>
                        <a:buNone/>
                      </a:pPr>
                      <a:r>
                        <a:rPr lang="en-US"/>
                        <a:t>Name</a:t>
                      </a:r>
                    </a:p>
                  </a:txBody>
                  <a:tcPr anchor="ctr"/>
                </a:tc>
                <a:extLst>
                  <a:ext uri="{0D108BD9-81ED-4DB2-BD59-A6C34878D82A}">
                    <a16:rowId xmlns:a16="http://schemas.microsoft.com/office/drawing/2014/main" val="262870237"/>
                  </a:ext>
                </a:extLst>
              </a:tr>
              <a:tr h="370840">
                <a:tc>
                  <a:txBody>
                    <a:bodyPr/>
                    <a:lstStyle/>
                    <a:p>
                      <a:pPr>
                        <a:buNone/>
                      </a:pPr>
                      <a:r>
                        <a:rPr lang="en-US"/>
                        <a:t>101</a:t>
                      </a:r>
                    </a:p>
                  </a:txBody>
                  <a:tcPr anchor="ctr"/>
                </a:tc>
                <a:tc>
                  <a:txBody>
                    <a:bodyPr/>
                    <a:lstStyle/>
                    <a:p>
                      <a:pPr>
                        <a:buNone/>
                      </a:pPr>
                      <a:r>
                        <a:rPr lang="en-US"/>
                        <a:t>Ram</a:t>
                      </a:r>
                    </a:p>
                  </a:txBody>
                  <a:tcPr anchor="ctr"/>
                </a:tc>
                <a:extLst>
                  <a:ext uri="{0D108BD9-81ED-4DB2-BD59-A6C34878D82A}">
                    <a16:rowId xmlns:a16="http://schemas.microsoft.com/office/drawing/2014/main" val="965039675"/>
                  </a:ext>
                </a:extLst>
              </a:tr>
              <a:tr h="370840">
                <a:tc>
                  <a:txBody>
                    <a:bodyPr/>
                    <a:lstStyle/>
                    <a:p>
                      <a:pPr>
                        <a:buNone/>
                      </a:pPr>
                      <a:r>
                        <a:rPr lang="en-US"/>
                        <a:t>102</a:t>
                      </a:r>
                    </a:p>
                  </a:txBody>
                  <a:tcPr anchor="ctr"/>
                </a:tc>
                <a:tc>
                  <a:txBody>
                    <a:bodyPr/>
                    <a:lstStyle/>
                    <a:p>
                      <a:pPr>
                        <a:buNone/>
                      </a:pPr>
                      <a:r>
                        <a:rPr lang="en-US" dirty="0"/>
                        <a:t>Sita</a:t>
                      </a:r>
                    </a:p>
                  </a:txBody>
                  <a:tcPr anchor="ctr"/>
                </a:tc>
                <a:extLst>
                  <a:ext uri="{0D108BD9-81ED-4DB2-BD59-A6C34878D82A}">
                    <a16:rowId xmlns:a16="http://schemas.microsoft.com/office/drawing/2014/main" val="974668775"/>
                  </a:ext>
                </a:extLst>
              </a:tr>
            </a:tbl>
          </a:graphicData>
        </a:graphic>
      </p:graphicFrame>
      <p:graphicFrame>
        <p:nvGraphicFramePr>
          <p:cNvPr id="5" name="Table 4">
            <a:extLst>
              <a:ext uri="{FF2B5EF4-FFF2-40B4-BE49-F238E27FC236}">
                <a16:creationId xmlns:a16="http://schemas.microsoft.com/office/drawing/2014/main" id="{725ADFA7-595C-22ED-3F23-677B7B78D637}"/>
              </a:ext>
            </a:extLst>
          </p:cNvPr>
          <p:cNvGraphicFramePr>
            <a:graphicFrameLocks noGrp="1"/>
          </p:cNvGraphicFramePr>
          <p:nvPr>
            <p:extLst>
              <p:ext uri="{D42A27DB-BD31-4B8C-83A1-F6EECF244321}">
                <p14:modId xmlns:p14="http://schemas.microsoft.com/office/powerpoint/2010/main" val="2994016459"/>
              </p:ext>
            </p:extLst>
          </p:nvPr>
        </p:nvGraphicFramePr>
        <p:xfrm>
          <a:off x="7823199" y="4564381"/>
          <a:ext cx="4368801" cy="1112520"/>
        </p:xfrm>
        <a:graphic>
          <a:graphicData uri="http://schemas.openxmlformats.org/drawingml/2006/table">
            <a:tbl>
              <a:tblPr firstRow="1" bandRow="1">
                <a:tableStyleId>{5C22544A-7EE6-4342-B048-85BDC9FD1C3A}</a:tableStyleId>
              </a:tblPr>
              <a:tblGrid>
                <a:gridCol w="1456267">
                  <a:extLst>
                    <a:ext uri="{9D8B030D-6E8A-4147-A177-3AD203B41FA5}">
                      <a16:colId xmlns:a16="http://schemas.microsoft.com/office/drawing/2014/main" val="2113417007"/>
                    </a:ext>
                  </a:extLst>
                </a:gridCol>
                <a:gridCol w="1456267">
                  <a:extLst>
                    <a:ext uri="{9D8B030D-6E8A-4147-A177-3AD203B41FA5}">
                      <a16:colId xmlns:a16="http://schemas.microsoft.com/office/drawing/2014/main" val="3247373409"/>
                    </a:ext>
                  </a:extLst>
                </a:gridCol>
                <a:gridCol w="1456267">
                  <a:extLst>
                    <a:ext uri="{9D8B030D-6E8A-4147-A177-3AD203B41FA5}">
                      <a16:colId xmlns:a16="http://schemas.microsoft.com/office/drawing/2014/main" val="2731609257"/>
                    </a:ext>
                  </a:extLst>
                </a:gridCol>
              </a:tblGrid>
              <a:tr h="370840">
                <a:tc>
                  <a:txBody>
                    <a:bodyPr/>
                    <a:lstStyle/>
                    <a:p>
                      <a:pPr>
                        <a:buNone/>
                      </a:pPr>
                      <a:r>
                        <a:rPr lang="en-US" dirty="0"/>
                        <a:t>StudentID</a:t>
                      </a:r>
                    </a:p>
                  </a:txBody>
                  <a:tcPr anchor="ctr"/>
                </a:tc>
                <a:tc>
                  <a:txBody>
                    <a:bodyPr/>
                    <a:lstStyle/>
                    <a:p>
                      <a:pPr>
                        <a:buNone/>
                      </a:pPr>
                      <a:r>
                        <a:rPr lang="en-US"/>
                        <a:t>DeptID</a:t>
                      </a:r>
                    </a:p>
                  </a:txBody>
                  <a:tcPr anchor="ctr"/>
                </a:tc>
                <a:tc>
                  <a:txBody>
                    <a:bodyPr/>
                    <a:lstStyle/>
                    <a:p>
                      <a:pPr>
                        <a:buNone/>
                      </a:pPr>
                      <a:r>
                        <a:rPr lang="en-US"/>
                        <a:t>Name</a:t>
                      </a:r>
                    </a:p>
                  </a:txBody>
                  <a:tcPr anchor="ctr"/>
                </a:tc>
                <a:extLst>
                  <a:ext uri="{0D108BD9-81ED-4DB2-BD59-A6C34878D82A}">
                    <a16:rowId xmlns:a16="http://schemas.microsoft.com/office/drawing/2014/main" val="313273270"/>
                  </a:ext>
                </a:extLst>
              </a:tr>
              <a:tr h="370840">
                <a:tc>
                  <a:txBody>
                    <a:bodyPr/>
                    <a:lstStyle/>
                    <a:p>
                      <a:pPr>
                        <a:buNone/>
                      </a:pPr>
                      <a:r>
                        <a:rPr lang="en-US"/>
                        <a:t>101</a:t>
                      </a:r>
                    </a:p>
                  </a:txBody>
                  <a:tcPr anchor="ctr"/>
                </a:tc>
                <a:tc>
                  <a:txBody>
                    <a:bodyPr/>
                    <a:lstStyle/>
                    <a:p>
                      <a:pPr>
                        <a:buNone/>
                      </a:pPr>
                      <a:r>
                        <a:rPr lang="en-US"/>
                        <a:t>D01</a:t>
                      </a:r>
                    </a:p>
                  </a:txBody>
                  <a:tcPr anchor="ctr"/>
                </a:tc>
                <a:tc>
                  <a:txBody>
                    <a:bodyPr/>
                    <a:lstStyle/>
                    <a:p>
                      <a:pPr>
                        <a:buNone/>
                      </a:pPr>
                      <a:r>
                        <a:rPr lang="en-US"/>
                        <a:t>Ram</a:t>
                      </a:r>
                    </a:p>
                  </a:txBody>
                  <a:tcPr anchor="ctr"/>
                </a:tc>
                <a:extLst>
                  <a:ext uri="{0D108BD9-81ED-4DB2-BD59-A6C34878D82A}">
                    <a16:rowId xmlns:a16="http://schemas.microsoft.com/office/drawing/2014/main" val="1896086407"/>
                  </a:ext>
                </a:extLst>
              </a:tr>
              <a:tr h="370840">
                <a:tc>
                  <a:txBody>
                    <a:bodyPr/>
                    <a:lstStyle/>
                    <a:p>
                      <a:pPr>
                        <a:buNone/>
                      </a:pPr>
                      <a:r>
                        <a:rPr lang="en-US"/>
                        <a:t>102</a:t>
                      </a:r>
                    </a:p>
                  </a:txBody>
                  <a:tcPr anchor="ctr"/>
                </a:tc>
                <a:tc>
                  <a:txBody>
                    <a:bodyPr/>
                    <a:lstStyle/>
                    <a:p>
                      <a:pPr>
                        <a:buNone/>
                      </a:pPr>
                      <a:r>
                        <a:rPr lang="en-US"/>
                        <a:t>D02</a:t>
                      </a:r>
                    </a:p>
                  </a:txBody>
                  <a:tcPr anchor="ctr"/>
                </a:tc>
                <a:tc>
                  <a:txBody>
                    <a:bodyPr/>
                    <a:lstStyle/>
                    <a:p>
                      <a:pPr>
                        <a:buNone/>
                      </a:pPr>
                      <a:r>
                        <a:rPr lang="en-US" dirty="0"/>
                        <a:t>Sita</a:t>
                      </a:r>
                    </a:p>
                  </a:txBody>
                  <a:tcPr anchor="ctr"/>
                </a:tc>
                <a:extLst>
                  <a:ext uri="{0D108BD9-81ED-4DB2-BD59-A6C34878D82A}">
                    <a16:rowId xmlns:a16="http://schemas.microsoft.com/office/drawing/2014/main" val="3005368035"/>
                  </a:ext>
                </a:extLst>
              </a:tr>
            </a:tbl>
          </a:graphicData>
        </a:graphic>
      </p:graphicFrame>
    </p:spTree>
    <p:extLst>
      <p:ext uri="{BB962C8B-B14F-4D97-AF65-F5344CB8AC3E}">
        <p14:creationId xmlns:p14="http://schemas.microsoft.com/office/powerpoint/2010/main" val="158020585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8656D-E7A5-B19A-0EB8-4D594EB12693}"/>
              </a:ext>
            </a:extLst>
          </p:cNvPr>
          <p:cNvSpPr>
            <a:spLocks noGrp="1"/>
          </p:cNvSpPr>
          <p:nvPr>
            <p:ph type="title"/>
          </p:nvPr>
        </p:nvSpPr>
        <p:spPr/>
        <p:txBody>
          <a:bodyPr/>
          <a:lstStyle/>
          <a:p>
            <a:r>
              <a:rPr lang="en-US" dirty="0"/>
              <a:t>Transitivity Rule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157EFC4-E099-432E-D989-B4B4714FD02D}"/>
                  </a:ext>
                </a:extLst>
              </p:cNvPr>
              <p:cNvSpPr>
                <a:spLocks noGrp="1"/>
              </p:cNvSpPr>
              <p:nvPr>
                <p:ph idx="1"/>
              </p:nvPr>
            </p:nvSpPr>
            <p:spPr/>
            <p:txBody>
              <a:bodyPr>
                <a:normAutofit/>
              </a:bodyPr>
              <a:lstStyle/>
              <a:p>
                <a:r>
                  <a:rPr lang="en-US" dirty="0"/>
                  <a:t>If: </a:t>
                </a:r>
                <a14:m>
                  <m:oMath xmlns:m="http://schemas.openxmlformats.org/officeDocument/2006/math">
                    <m:r>
                      <a:rPr lang="en-US" b="0" i="0" smtClean="0">
                        <a:latin typeface="Cambria Math" panose="02040503050406030204" pitchFamily="18" charset="0"/>
                      </a:rPr>
                      <m:t> </m:t>
                    </m:r>
                    <m:r>
                      <a:rPr lang="en-US" i="1">
                        <a:latin typeface="Cambria Math" panose="02040503050406030204" pitchFamily="18" charset="0"/>
                      </a:rPr>
                      <m:t>𝑋</m:t>
                    </m:r>
                    <m:r>
                      <a:rPr lang="en-US">
                        <a:latin typeface="Cambria Math" panose="02040503050406030204" pitchFamily="18" charset="0"/>
                      </a:rPr>
                      <m:t>→</m:t>
                    </m:r>
                    <m:r>
                      <a:rPr lang="en-US" i="1">
                        <a:latin typeface="Cambria Math" panose="02040503050406030204" pitchFamily="18" charset="0"/>
                      </a:rPr>
                      <m:t>𝑌</m:t>
                    </m:r>
                  </m:oMath>
                </a14:m>
                <a:r>
                  <a:rPr lang="en-US" dirty="0"/>
                  <a:t>,  and </a:t>
                </a:r>
                <a14:m>
                  <m:oMath xmlns:m="http://schemas.openxmlformats.org/officeDocument/2006/math">
                    <m:r>
                      <a:rPr lang="en-US" b="0" i="0" smtClean="0">
                        <a:latin typeface="Cambria Math" panose="02040503050406030204" pitchFamily="18" charset="0"/>
                      </a:rPr>
                      <m:t> </m:t>
                    </m:r>
                    <m:r>
                      <a:rPr lang="en-US" i="1">
                        <a:latin typeface="Cambria Math" panose="02040503050406030204" pitchFamily="18" charset="0"/>
                      </a:rPr>
                      <m:t>𝑌</m:t>
                    </m:r>
                    <m:r>
                      <a:rPr lang="en-US">
                        <a:latin typeface="Cambria Math" panose="02040503050406030204" pitchFamily="18" charset="0"/>
                      </a:rPr>
                      <m:t>→</m:t>
                    </m:r>
                    <m:r>
                      <a:rPr lang="en-US" i="1">
                        <a:latin typeface="Cambria Math" panose="02040503050406030204" pitchFamily="18" charset="0"/>
                      </a:rPr>
                      <m:t>𝑍</m:t>
                    </m:r>
                  </m:oMath>
                </a14:m>
                <a:r>
                  <a:rPr lang="en-US" dirty="0"/>
                  <a:t>, then:</a:t>
                </a:r>
              </a:p>
              <a:p>
                <a14:m>
                  <m:oMath xmlns:m="http://schemas.openxmlformats.org/officeDocument/2006/math">
                    <m:r>
                      <a:rPr lang="en-US" i="1">
                        <a:latin typeface="Cambria Math" panose="02040503050406030204" pitchFamily="18" charset="0"/>
                      </a:rPr>
                      <m:t>𝑋</m:t>
                    </m:r>
                    <m:r>
                      <a:rPr lang="en-US">
                        <a:latin typeface="Cambria Math" panose="02040503050406030204" pitchFamily="18" charset="0"/>
                      </a:rPr>
                      <m:t>→</m:t>
                    </m:r>
                    <m:r>
                      <a:rPr lang="en-US" i="1">
                        <a:latin typeface="Cambria Math" panose="02040503050406030204" pitchFamily="18" charset="0"/>
                      </a:rPr>
                      <m:t>𝑍</m:t>
                    </m:r>
                  </m:oMath>
                </a14:m>
                <a:endParaRPr lang="en-US" dirty="0"/>
              </a:p>
              <a:p>
                <a:r>
                  <a:rPr lang="en-US" b="1" dirty="0"/>
                  <a:t>Meaning: </a:t>
                </a:r>
                <a:r>
                  <a:rPr lang="en-US" dirty="0"/>
                  <a:t>If X determines Y and Y determines Z, then X indirectly determines Z.</a:t>
                </a:r>
              </a:p>
              <a:p>
                <a:r>
                  <a:rPr lang="en-US" b="1" dirty="0"/>
                  <a:t>Example</a:t>
                </a:r>
                <a:r>
                  <a:rPr lang="en-US" dirty="0"/>
                  <a:t>:</a:t>
                </a:r>
              </a:p>
              <a:p>
                <a14:m>
                  <m:oMath xmlns:m="http://schemas.openxmlformats.org/officeDocument/2006/math">
                    <m:r>
                      <a:rPr lang="en-US" i="1">
                        <a:latin typeface="Cambria Math" panose="02040503050406030204" pitchFamily="18" charset="0"/>
                      </a:rPr>
                      <m:t>𝑆𝑡𝑢𝑑𝑒𝑛𝑡</m:t>
                    </m:r>
                    <m:r>
                      <m:rPr>
                        <m:lit/>
                      </m:rPr>
                      <a:rPr lang="en-US">
                        <a:latin typeface="Cambria Math" panose="02040503050406030204" pitchFamily="18" charset="0"/>
                      </a:rPr>
                      <m:t>_</m:t>
                    </m:r>
                    <m:r>
                      <a:rPr lang="en-US" i="1">
                        <a:latin typeface="Cambria Math" panose="02040503050406030204" pitchFamily="18" charset="0"/>
                      </a:rPr>
                      <m:t>𝐼𝐷</m:t>
                    </m:r>
                    <m:r>
                      <a:rPr lang="en-US">
                        <a:latin typeface="Cambria Math" panose="02040503050406030204" pitchFamily="18" charset="0"/>
                      </a:rPr>
                      <m:t>→</m:t>
                    </m:r>
                    <m:r>
                      <a:rPr lang="en-US" i="1">
                        <a:latin typeface="Cambria Math" panose="02040503050406030204" pitchFamily="18" charset="0"/>
                      </a:rPr>
                      <m:t>𝐷𝑒𝑝𝑡</m:t>
                    </m:r>
                    <m:r>
                      <m:rPr>
                        <m:lit/>
                      </m:rPr>
                      <a:rPr lang="en-US">
                        <a:latin typeface="Cambria Math" panose="02040503050406030204" pitchFamily="18" charset="0"/>
                      </a:rPr>
                      <m:t>_</m:t>
                    </m:r>
                    <m:r>
                      <a:rPr lang="en-US" i="1">
                        <a:latin typeface="Cambria Math" panose="02040503050406030204" pitchFamily="18" charset="0"/>
                      </a:rPr>
                      <m:t>𝐼𝐷</m:t>
                    </m:r>
                  </m:oMath>
                </a14:m>
                <a:endParaRPr lang="en-US" dirty="0"/>
              </a:p>
              <a:p>
                <a14:m>
                  <m:oMath xmlns:m="http://schemas.openxmlformats.org/officeDocument/2006/math">
                    <m:r>
                      <a:rPr lang="en-US" i="1">
                        <a:latin typeface="Cambria Math" panose="02040503050406030204" pitchFamily="18" charset="0"/>
                      </a:rPr>
                      <m:t>𝐷𝑒𝑝𝑡</m:t>
                    </m:r>
                    <m:r>
                      <m:rPr>
                        <m:lit/>
                      </m:rPr>
                      <a:rPr lang="en-US">
                        <a:latin typeface="Cambria Math" panose="02040503050406030204" pitchFamily="18" charset="0"/>
                      </a:rPr>
                      <m:t>_</m:t>
                    </m:r>
                    <m:r>
                      <a:rPr lang="en-US" i="1">
                        <a:latin typeface="Cambria Math" panose="02040503050406030204" pitchFamily="18" charset="0"/>
                      </a:rPr>
                      <m:t>𝐼𝐷</m:t>
                    </m:r>
                    <m:r>
                      <a:rPr lang="en-US">
                        <a:latin typeface="Cambria Math" panose="02040503050406030204" pitchFamily="18" charset="0"/>
                      </a:rPr>
                      <m:t>→</m:t>
                    </m:r>
                    <m:r>
                      <a:rPr lang="en-US" i="1">
                        <a:latin typeface="Cambria Math" panose="02040503050406030204" pitchFamily="18" charset="0"/>
                      </a:rPr>
                      <m:t>𝐷𝑒𝑝𝑡</m:t>
                    </m:r>
                    <m:r>
                      <m:rPr>
                        <m:lit/>
                      </m:rPr>
                      <a:rPr lang="en-US">
                        <a:latin typeface="Cambria Math" panose="02040503050406030204" pitchFamily="18" charset="0"/>
                      </a:rPr>
                      <m:t>_</m:t>
                    </m:r>
                    <m:r>
                      <a:rPr lang="en-US" i="1">
                        <a:latin typeface="Cambria Math" panose="02040503050406030204" pitchFamily="18" charset="0"/>
                      </a:rPr>
                      <m:t>𝑁𝑎𝑚𝑒</m:t>
                    </m:r>
                  </m:oMath>
                </a14:m>
                <a:endParaRPr lang="en-US" dirty="0"/>
              </a:p>
              <a:p>
                <a:r>
                  <a:rPr lang="en-US" dirty="0"/>
                  <a:t>Then:</a:t>
                </a:r>
              </a:p>
              <a:p>
                <a14:m>
                  <m:oMath xmlns:m="http://schemas.openxmlformats.org/officeDocument/2006/math">
                    <m:r>
                      <a:rPr lang="en-US" i="1">
                        <a:latin typeface="Cambria Math" panose="02040503050406030204" pitchFamily="18" charset="0"/>
                      </a:rPr>
                      <m:t>𝑆𝑡𝑢𝑑𝑒𝑛𝑡</m:t>
                    </m:r>
                    <m:r>
                      <m:rPr>
                        <m:lit/>
                      </m:rPr>
                      <a:rPr lang="en-US">
                        <a:latin typeface="Cambria Math" panose="02040503050406030204" pitchFamily="18" charset="0"/>
                      </a:rPr>
                      <m:t>_</m:t>
                    </m:r>
                    <m:r>
                      <a:rPr lang="en-US" i="1">
                        <a:latin typeface="Cambria Math" panose="02040503050406030204" pitchFamily="18" charset="0"/>
                      </a:rPr>
                      <m:t>𝐼𝐷</m:t>
                    </m:r>
                    <m:r>
                      <a:rPr lang="en-US">
                        <a:latin typeface="Cambria Math" panose="02040503050406030204" pitchFamily="18" charset="0"/>
                      </a:rPr>
                      <m:t>→</m:t>
                    </m:r>
                    <m:r>
                      <a:rPr lang="en-US" i="1">
                        <a:latin typeface="Cambria Math" panose="02040503050406030204" pitchFamily="18" charset="0"/>
                      </a:rPr>
                      <m:t>𝐷𝑒𝑝𝑡</m:t>
                    </m:r>
                    <m:r>
                      <m:rPr>
                        <m:lit/>
                      </m:rPr>
                      <a:rPr lang="en-US">
                        <a:latin typeface="Cambria Math" panose="02040503050406030204" pitchFamily="18" charset="0"/>
                      </a:rPr>
                      <m:t>_</m:t>
                    </m:r>
                    <m:r>
                      <a:rPr lang="en-US" i="1">
                        <a:latin typeface="Cambria Math" panose="02040503050406030204" pitchFamily="18" charset="0"/>
                      </a:rPr>
                      <m:t>𝑁𝑎𝑚𝑒</m:t>
                    </m:r>
                  </m:oMath>
                </a14:m>
                <a:endParaRPr lang="en-US" dirty="0"/>
              </a:p>
              <a:p>
                <a:r>
                  <a:rPr lang="en-US" dirty="0"/>
                  <a:t>This is called a </a:t>
                </a:r>
                <a:r>
                  <a:rPr lang="en-US" b="1" dirty="0"/>
                  <a:t>transitive dependency</a:t>
                </a:r>
                <a:endParaRPr lang="en-US" dirty="0"/>
              </a:p>
              <a:p>
                <a:endParaRPr lang="en-US" dirty="0"/>
              </a:p>
            </p:txBody>
          </p:sp>
        </mc:Choice>
        <mc:Fallback xmlns="">
          <p:sp>
            <p:nvSpPr>
              <p:cNvPr id="3" name="Content Placeholder 2">
                <a:extLst>
                  <a:ext uri="{FF2B5EF4-FFF2-40B4-BE49-F238E27FC236}">
                    <a16:creationId xmlns:a16="http://schemas.microsoft.com/office/drawing/2014/main" id="{F157EFC4-E099-432E-D989-B4B4714FD02D}"/>
                  </a:ext>
                </a:extLst>
              </p:cNvPr>
              <p:cNvSpPr>
                <a:spLocks noGrp="1" noRot="1" noChangeAspect="1" noMove="1" noResize="1" noEditPoints="1" noAdjustHandles="1" noChangeArrowheads="1" noChangeShapeType="1" noTextEdit="1"/>
              </p:cNvSpPr>
              <p:nvPr>
                <p:ph idx="1"/>
              </p:nvPr>
            </p:nvSpPr>
            <p:spPr>
              <a:blipFill>
                <a:blip r:embed="rId3"/>
                <a:stretch>
                  <a:fillRect l="-1515" t="-1667" b="-13030"/>
                </a:stretch>
              </a:blipFill>
            </p:spPr>
            <p:txBody>
              <a:bodyPr/>
              <a:lstStyle/>
              <a:p>
                <a:r>
                  <a:rPr lang="en-US">
                    <a:noFill/>
                  </a:rPr>
                  <a:t> </a:t>
                </a:r>
              </a:p>
            </p:txBody>
          </p:sp>
        </mc:Fallback>
      </mc:AlternateContent>
      <p:graphicFrame>
        <p:nvGraphicFramePr>
          <p:cNvPr id="4" name="Table 3">
            <a:extLst>
              <a:ext uri="{FF2B5EF4-FFF2-40B4-BE49-F238E27FC236}">
                <a16:creationId xmlns:a16="http://schemas.microsoft.com/office/drawing/2014/main" id="{852B6D9A-4058-266A-7AA5-0C92CB21565D}"/>
              </a:ext>
            </a:extLst>
          </p:cNvPr>
          <p:cNvGraphicFramePr>
            <a:graphicFrameLocks noGrp="1"/>
          </p:cNvGraphicFramePr>
          <p:nvPr>
            <p:extLst>
              <p:ext uri="{D42A27DB-BD31-4B8C-83A1-F6EECF244321}">
                <p14:modId xmlns:p14="http://schemas.microsoft.com/office/powerpoint/2010/main" val="260566885"/>
              </p:ext>
            </p:extLst>
          </p:nvPr>
        </p:nvGraphicFramePr>
        <p:xfrm>
          <a:off x="6786880" y="3429000"/>
          <a:ext cx="4564743" cy="1483360"/>
        </p:xfrm>
        <a:graphic>
          <a:graphicData uri="http://schemas.openxmlformats.org/drawingml/2006/table">
            <a:tbl>
              <a:tblPr firstRow="1" bandRow="1">
                <a:tableStyleId>{5C22544A-7EE6-4342-B048-85BDC9FD1C3A}</a:tableStyleId>
              </a:tblPr>
              <a:tblGrid>
                <a:gridCol w="1521581">
                  <a:extLst>
                    <a:ext uri="{9D8B030D-6E8A-4147-A177-3AD203B41FA5}">
                      <a16:colId xmlns:a16="http://schemas.microsoft.com/office/drawing/2014/main" val="2859272666"/>
                    </a:ext>
                  </a:extLst>
                </a:gridCol>
                <a:gridCol w="1521581">
                  <a:extLst>
                    <a:ext uri="{9D8B030D-6E8A-4147-A177-3AD203B41FA5}">
                      <a16:colId xmlns:a16="http://schemas.microsoft.com/office/drawing/2014/main" val="3863522898"/>
                    </a:ext>
                  </a:extLst>
                </a:gridCol>
                <a:gridCol w="1521581">
                  <a:extLst>
                    <a:ext uri="{9D8B030D-6E8A-4147-A177-3AD203B41FA5}">
                      <a16:colId xmlns:a16="http://schemas.microsoft.com/office/drawing/2014/main" val="2090361179"/>
                    </a:ext>
                  </a:extLst>
                </a:gridCol>
              </a:tblGrid>
              <a:tr h="370840">
                <a:tc>
                  <a:txBody>
                    <a:bodyPr/>
                    <a:lstStyle/>
                    <a:p>
                      <a:pPr>
                        <a:buNone/>
                      </a:pPr>
                      <a:r>
                        <a:rPr lang="en-US" dirty="0"/>
                        <a:t>StudentID</a:t>
                      </a:r>
                    </a:p>
                  </a:txBody>
                  <a:tcPr anchor="ctr"/>
                </a:tc>
                <a:tc>
                  <a:txBody>
                    <a:bodyPr/>
                    <a:lstStyle/>
                    <a:p>
                      <a:pPr>
                        <a:buNone/>
                      </a:pPr>
                      <a:r>
                        <a:rPr lang="en-US"/>
                        <a:t>DeptID</a:t>
                      </a:r>
                    </a:p>
                  </a:txBody>
                  <a:tcPr anchor="ctr"/>
                </a:tc>
                <a:tc>
                  <a:txBody>
                    <a:bodyPr/>
                    <a:lstStyle/>
                    <a:p>
                      <a:pPr>
                        <a:buNone/>
                      </a:pPr>
                      <a:r>
                        <a:rPr lang="en-US"/>
                        <a:t>DeptName</a:t>
                      </a:r>
                    </a:p>
                  </a:txBody>
                  <a:tcPr anchor="ctr"/>
                </a:tc>
                <a:extLst>
                  <a:ext uri="{0D108BD9-81ED-4DB2-BD59-A6C34878D82A}">
                    <a16:rowId xmlns:a16="http://schemas.microsoft.com/office/drawing/2014/main" val="2529721353"/>
                  </a:ext>
                </a:extLst>
              </a:tr>
              <a:tr h="370840">
                <a:tc>
                  <a:txBody>
                    <a:bodyPr/>
                    <a:lstStyle/>
                    <a:p>
                      <a:pPr>
                        <a:buNone/>
                      </a:pPr>
                      <a:r>
                        <a:rPr lang="en-US"/>
                        <a:t>101</a:t>
                      </a:r>
                    </a:p>
                  </a:txBody>
                  <a:tcPr anchor="ctr"/>
                </a:tc>
                <a:tc>
                  <a:txBody>
                    <a:bodyPr/>
                    <a:lstStyle/>
                    <a:p>
                      <a:pPr>
                        <a:buNone/>
                      </a:pPr>
                      <a:r>
                        <a:rPr lang="en-US"/>
                        <a:t>D01</a:t>
                      </a:r>
                    </a:p>
                  </a:txBody>
                  <a:tcPr anchor="ctr"/>
                </a:tc>
                <a:tc>
                  <a:txBody>
                    <a:bodyPr/>
                    <a:lstStyle/>
                    <a:p>
                      <a:pPr>
                        <a:buNone/>
                      </a:pPr>
                      <a:r>
                        <a:rPr lang="en-US"/>
                        <a:t>Computer</a:t>
                      </a:r>
                    </a:p>
                  </a:txBody>
                  <a:tcPr anchor="ctr"/>
                </a:tc>
                <a:extLst>
                  <a:ext uri="{0D108BD9-81ED-4DB2-BD59-A6C34878D82A}">
                    <a16:rowId xmlns:a16="http://schemas.microsoft.com/office/drawing/2014/main" val="823139539"/>
                  </a:ext>
                </a:extLst>
              </a:tr>
              <a:tr h="370840">
                <a:tc>
                  <a:txBody>
                    <a:bodyPr/>
                    <a:lstStyle/>
                    <a:p>
                      <a:pPr>
                        <a:buNone/>
                      </a:pPr>
                      <a:r>
                        <a:rPr lang="en-US"/>
                        <a:t>102</a:t>
                      </a:r>
                    </a:p>
                  </a:txBody>
                  <a:tcPr anchor="ctr"/>
                </a:tc>
                <a:tc>
                  <a:txBody>
                    <a:bodyPr/>
                    <a:lstStyle/>
                    <a:p>
                      <a:pPr>
                        <a:buNone/>
                      </a:pPr>
                      <a:r>
                        <a:rPr lang="en-US"/>
                        <a:t>D02</a:t>
                      </a:r>
                    </a:p>
                  </a:txBody>
                  <a:tcPr anchor="ctr"/>
                </a:tc>
                <a:tc>
                  <a:txBody>
                    <a:bodyPr/>
                    <a:lstStyle/>
                    <a:p>
                      <a:pPr>
                        <a:buNone/>
                      </a:pPr>
                      <a:r>
                        <a:rPr lang="en-US"/>
                        <a:t>Civil</a:t>
                      </a:r>
                    </a:p>
                  </a:txBody>
                  <a:tcPr anchor="ctr"/>
                </a:tc>
                <a:extLst>
                  <a:ext uri="{0D108BD9-81ED-4DB2-BD59-A6C34878D82A}">
                    <a16:rowId xmlns:a16="http://schemas.microsoft.com/office/drawing/2014/main" val="1048487155"/>
                  </a:ext>
                </a:extLst>
              </a:tr>
              <a:tr h="370840">
                <a:tc>
                  <a:txBody>
                    <a:bodyPr/>
                    <a:lstStyle/>
                    <a:p>
                      <a:pPr>
                        <a:buNone/>
                      </a:pPr>
                      <a:r>
                        <a:rPr lang="en-US"/>
                        <a:t>103</a:t>
                      </a:r>
                    </a:p>
                  </a:txBody>
                  <a:tcPr anchor="ctr"/>
                </a:tc>
                <a:tc>
                  <a:txBody>
                    <a:bodyPr/>
                    <a:lstStyle/>
                    <a:p>
                      <a:pPr>
                        <a:buNone/>
                      </a:pPr>
                      <a:r>
                        <a:rPr lang="en-US"/>
                        <a:t>D01</a:t>
                      </a:r>
                    </a:p>
                  </a:txBody>
                  <a:tcPr anchor="ctr"/>
                </a:tc>
                <a:tc>
                  <a:txBody>
                    <a:bodyPr/>
                    <a:lstStyle/>
                    <a:p>
                      <a:pPr>
                        <a:buNone/>
                      </a:pPr>
                      <a:r>
                        <a:rPr lang="en-US" dirty="0"/>
                        <a:t>Computer</a:t>
                      </a:r>
                    </a:p>
                  </a:txBody>
                  <a:tcPr anchor="ctr"/>
                </a:tc>
                <a:extLst>
                  <a:ext uri="{0D108BD9-81ED-4DB2-BD59-A6C34878D82A}">
                    <a16:rowId xmlns:a16="http://schemas.microsoft.com/office/drawing/2014/main" val="4114033437"/>
                  </a:ext>
                </a:extLst>
              </a:tr>
            </a:tbl>
          </a:graphicData>
        </a:graphic>
      </p:graphicFrame>
    </p:spTree>
    <p:extLst>
      <p:ext uri="{BB962C8B-B14F-4D97-AF65-F5344CB8AC3E}">
        <p14:creationId xmlns:p14="http://schemas.microsoft.com/office/powerpoint/2010/main" val="38505685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30DC1-D29D-4C5B-45B8-756A593A4491}"/>
              </a:ext>
            </a:extLst>
          </p:cNvPr>
          <p:cNvSpPr>
            <a:spLocks noGrp="1"/>
          </p:cNvSpPr>
          <p:nvPr>
            <p:ph type="title"/>
          </p:nvPr>
        </p:nvSpPr>
        <p:spPr/>
        <p:txBody>
          <a:bodyPr/>
          <a:lstStyle/>
          <a:p>
            <a:r>
              <a:rPr lang="en-US" dirty="0"/>
              <a:t>Union Rule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06B94A2-D5B7-4951-323D-30E5E7C6A343}"/>
                  </a:ext>
                </a:extLst>
              </p:cNvPr>
              <p:cNvSpPr>
                <a:spLocks noGrp="1"/>
              </p:cNvSpPr>
              <p:nvPr>
                <p:ph idx="1"/>
              </p:nvPr>
            </p:nvSpPr>
            <p:spPr/>
            <p:txBody>
              <a:bodyPr>
                <a:normAutofit/>
              </a:bodyPr>
              <a:lstStyle/>
              <a:p>
                <a:r>
                  <a:rPr lang="en-US" dirty="0"/>
                  <a:t>If:</a:t>
                </a:r>
                <a14:m>
                  <m:oMath xmlns:m="http://schemas.openxmlformats.org/officeDocument/2006/math">
                    <m:r>
                      <a:rPr lang="en-US" b="0" i="0" smtClean="0">
                        <a:latin typeface="Cambria Math" panose="02040503050406030204" pitchFamily="18" charset="0"/>
                      </a:rPr>
                      <m:t> </m:t>
                    </m:r>
                    <m:r>
                      <a:rPr lang="en-US" b="0" i="1" smtClean="0">
                        <a:latin typeface="Cambria Math" panose="02040503050406030204" pitchFamily="18" charset="0"/>
                      </a:rPr>
                      <m:t> </m:t>
                    </m:r>
                    <m:r>
                      <a:rPr lang="en-US" i="1">
                        <a:latin typeface="Cambria Math" panose="02040503050406030204" pitchFamily="18" charset="0"/>
                      </a:rPr>
                      <m:t>𝑋</m:t>
                    </m:r>
                    <m:r>
                      <a:rPr lang="en-US">
                        <a:latin typeface="Cambria Math" panose="02040503050406030204" pitchFamily="18" charset="0"/>
                      </a:rPr>
                      <m:t>→</m:t>
                    </m:r>
                    <m:r>
                      <a:rPr lang="en-US" i="1">
                        <a:latin typeface="Cambria Math" panose="02040503050406030204" pitchFamily="18" charset="0"/>
                      </a:rPr>
                      <m:t>𝑌</m:t>
                    </m:r>
                  </m:oMath>
                </a14:m>
                <a:r>
                  <a:rPr lang="en-US" dirty="0"/>
                  <a:t>  and</a:t>
                </a:r>
                <a14:m>
                  <m:oMath xmlns:m="http://schemas.openxmlformats.org/officeDocument/2006/math">
                    <m:r>
                      <a:rPr lang="en-US" b="0" i="0" smtClean="0">
                        <a:latin typeface="Cambria Math" panose="02040503050406030204" pitchFamily="18" charset="0"/>
                      </a:rPr>
                      <m:t> </m:t>
                    </m:r>
                    <m:r>
                      <a:rPr lang="en-US" i="1">
                        <a:latin typeface="Cambria Math" panose="02040503050406030204" pitchFamily="18" charset="0"/>
                      </a:rPr>
                      <m:t>𝑋</m:t>
                    </m:r>
                    <m:r>
                      <a:rPr lang="en-US">
                        <a:latin typeface="Cambria Math" panose="02040503050406030204" pitchFamily="18" charset="0"/>
                      </a:rPr>
                      <m:t>→</m:t>
                    </m:r>
                    <m:r>
                      <a:rPr lang="en-US" i="1">
                        <a:latin typeface="Cambria Math" panose="02040503050406030204" pitchFamily="18" charset="0"/>
                      </a:rPr>
                      <m:t>𝑍</m:t>
                    </m:r>
                  </m:oMath>
                </a14:m>
                <a:r>
                  <a:rPr lang="en-US" dirty="0"/>
                  <a:t> </a:t>
                </a:r>
              </a:p>
              <a:p>
                <a:r>
                  <a:rPr lang="en-US" dirty="0"/>
                  <a:t> then: </a:t>
                </a:r>
                <a14:m>
                  <m:oMath xmlns:m="http://schemas.openxmlformats.org/officeDocument/2006/math">
                    <m:r>
                      <a:rPr lang="en-US" b="0" i="0" smtClean="0">
                        <a:latin typeface="Cambria Math" panose="02040503050406030204" pitchFamily="18" charset="0"/>
                      </a:rPr>
                      <m:t> </m:t>
                    </m:r>
                    <m:r>
                      <a:rPr lang="en-US" i="1">
                        <a:latin typeface="Cambria Math" panose="02040503050406030204" pitchFamily="18" charset="0"/>
                      </a:rPr>
                      <m:t>𝑋</m:t>
                    </m:r>
                    <m:r>
                      <a:rPr lang="en-US">
                        <a:latin typeface="Cambria Math" panose="02040503050406030204" pitchFamily="18" charset="0"/>
                      </a:rPr>
                      <m:t>→</m:t>
                    </m:r>
                    <m:r>
                      <a:rPr lang="en-US" i="1">
                        <a:latin typeface="Cambria Math" panose="02040503050406030204" pitchFamily="18" charset="0"/>
                      </a:rPr>
                      <m:t>𝑌𝑍</m:t>
                    </m:r>
                  </m:oMath>
                </a14:m>
                <a:endParaRPr lang="en-US" dirty="0"/>
              </a:p>
              <a:p>
                <a:r>
                  <a:rPr lang="en-US" b="1" dirty="0"/>
                  <a:t>Example  </a:t>
                </a:r>
                <a:r>
                  <a:rPr lang="en-US" dirty="0"/>
                  <a:t>Given:</a:t>
                </a:r>
              </a:p>
              <a:p>
                <a:pPr lvl="1"/>
                <a14:m>
                  <m:oMath xmlns:m="http://schemas.openxmlformats.org/officeDocument/2006/math">
                    <m:r>
                      <a:rPr lang="en-US" i="1">
                        <a:latin typeface="Cambria Math" panose="02040503050406030204" pitchFamily="18" charset="0"/>
                      </a:rPr>
                      <m:t>𝑆𝑡𝑢𝑑𝑒𝑛𝑡</m:t>
                    </m:r>
                    <m:r>
                      <m:rPr>
                        <m:lit/>
                      </m:rPr>
                      <a:rPr lang="en-US">
                        <a:latin typeface="Cambria Math" panose="02040503050406030204" pitchFamily="18" charset="0"/>
                      </a:rPr>
                      <m:t>_</m:t>
                    </m:r>
                    <m:r>
                      <a:rPr lang="en-US" i="1">
                        <a:latin typeface="Cambria Math" panose="02040503050406030204" pitchFamily="18" charset="0"/>
                      </a:rPr>
                      <m:t>𝐼𝐷</m:t>
                    </m:r>
                    <m:r>
                      <a:rPr lang="en-US">
                        <a:latin typeface="Cambria Math" panose="02040503050406030204" pitchFamily="18" charset="0"/>
                      </a:rPr>
                      <m:t>→</m:t>
                    </m:r>
                    <m:r>
                      <a:rPr lang="en-US" i="1">
                        <a:latin typeface="Cambria Math" panose="02040503050406030204" pitchFamily="18" charset="0"/>
                      </a:rPr>
                      <m:t>𝑁𝑎𝑚𝑒</m:t>
                    </m:r>
                  </m:oMath>
                </a14:m>
                <a:endParaRPr lang="en-US" i="1" dirty="0">
                  <a:latin typeface="Cambria Math" panose="02040503050406030204" pitchFamily="18" charset="0"/>
                </a:endParaRPr>
              </a:p>
              <a:p>
                <a:pPr lvl="1"/>
                <a14:m>
                  <m:oMath xmlns:m="http://schemas.openxmlformats.org/officeDocument/2006/math">
                    <m:r>
                      <a:rPr lang="en-US" i="1">
                        <a:latin typeface="Cambria Math" panose="02040503050406030204" pitchFamily="18" charset="0"/>
                      </a:rPr>
                      <m:t>𝑆𝑡𝑢𝑑𝑒𝑛𝑡</m:t>
                    </m:r>
                    <m:r>
                      <m:rPr>
                        <m:lit/>
                      </m:rPr>
                      <a:rPr lang="en-US">
                        <a:latin typeface="Cambria Math" panose="02040503050406030204" pitchFamily="18" charset="0"/>
                      </a:rPr>
                      <m:t>_</m:t>
                    </m:r>
                    <m:r>
                      <a:rPr lang="en-US" i="1">
                        <a:latin typeface="Cambria Math" panose="02040503050406030204" pitchFamily="18" charset="0"/>
                      </a:rPr>
                      <m:t>𝐼𝐷</m:t>
                    </m:r>
                    <m:r>
                      <a:rPr lang="en-US">
                        <a:latin typeface="Cambria Math" panose="02040503050406030204" pitchFamily="18" charset="0"/>
                      </a:rPr>
                      <m:t>→</m:t>
                    </m:r>
                    <m:r>
                      <a:rPr lang="en-US" i="1">
                        <a:latin typeface="Cambria Math" panose="02040503050406030204" pitchFamily="18" charset="0"/>
                      </a:rPr>
                      <m:t>𝐷𝑒𝑝</m:t>
                    </m:r>
                    <m:r>
                      <m:rPr>
                        <m:sty m:val="p"/>
                      </m:rPr>
                      <a:rPr lang="en-US" b="0" i="1" smtClean="0">
                        <a:latin typeface="Cambria Math" panose="02040503050406030204" pitchFamily="18" charset="0"/>
                      </a:rPr>
                      <m:t>tID</m:t>
                    </m:r>
                    <m:r>
                      <a:rPr lang="en-US" b="0" i="1" smtClean="0">
                        <a:latin typeface="Cambria Math" panose="02040503050406030204" pitchFamily="18" charset="0"/>
                      </a:rPr>
                      <m:t>}</m:t>
                    </m:r>
                  </m:oMath>
                </a14:m>
                <a:endParaRPr lang="en-US" dirty="0"/>
              </a:p>
              <a:p>
                <a:r>
                  <a:rPr lang="en-US" dirty="0"/>
                  <a:t>Then:</a:t>
                </a:r>
              </a:p>
              <a:p>
                <a:pPr lvl="1"/>
                <a14:m>
                  <m:oMath xmlns:m="http://schemas.openxmlformats.org/officeDocument/2006/math">
                    <m:r>
                      <a:rPr lang="en-US" i="1">
                        <a:latin typeface="Cambria Math" panose="02040503050406030204" pitchFamily="18" charset="0"/>
                      </a:rPr>
                      <m:t>𝑆𝑡𝑢𝑑𝑒𝑛𝑡</m:t>
                    </m:r>
                    <m:r>
                      <m:rPr>
                        <m:lit/>
                      </m:rPr>
                      <a:rPr lang="en-US">
                        <a:latin typeface="Cambria Math" panose="02040503050406030204" pitchFamily="18" charset="0"/>
                      </a:rPr>
                      <m:t>_</m:t>
                    </m:r>
                    <m:r>
                      <a:rPr lang="en-US" i="1">
                        <a:latin typeface="Cambria Math" panose="02040503050406030204" pitchFamily="18" charset="0"/>
                      </a:rPr>
                      <m:t>𝐼𝐷</m:t>
                    </m:r>
                    <m:r>
                      <a:rPr lang="en-US">
                        <a:latin typeface="Cambria Math" panose="02040503050406030204" pitchFamily="18" charset="0"/>
                      </a:rPr>
                      <m:t>→</m:t>
                    </m:r>
                    <m:r>
                      <a:rPr lang="en-US" b="0" i="0" smtClean="0">
                        <a:latin typeface="Cambria Math" panose="02040503050406030204" pitchFamily="18" charset="0"/>
                      </a:rPr>
                      <m:t>{</m:t>
                    </m:r>
                    <m:r>
                      <m:rPr>
                        <m:sty m:val="p"/>
                      </m:rPr>
                      <a:rPr lang="en-US" b="0" i="0" smtClean="0">
                        <a:latin typeface="Cambria Math" panose="02040503050406030204" pitchFamily="18" charset="0"/>
                      </a:rPr>
                      <m:t>Name</m:t>
                    </m:r>
                    <m:r>
                      <a:rPr lang="en-US" b="0" i="0" smtClean="0">
                        <a:latin typeface="Cambria Math" panose="02040503050406030204" pitchFamily="18" charset="0"/>
                      </a:rPr>
                      <m:t>, </m:t>
                    </m:r>
                    <m:r>
                      <m:rPr>
                        <m:sty m:val="p"/>
                      </m:rPr>
                      <a:rPr lang="en-US" b="0" i="0" smtClean="0">
                        <a:latin typeface="Cambria Math" panose="02040503050406030204" pitchFamily="18" charset="0"/>
                      </a:rPr>
                      <m:t>DeptID</m:t>
                    </m:r>
                    <m:r>
                      <a:rPr lang="en-US" b="0" i="0" smtClean="0">
                        <a:latin typeface="Cambria Math" panose="02040503050406030204" pitchFamily="18" charset="0"/>
                      </a:rPr>
                      <m:t>}</m:t>
                    </m:r>
                  </m:oMath>
                </a14:m>
                <a:endParaRPr lang="ar-AE" dirty="0"/>
              </a:p>
              <a:p>
                <a:r>
                  <a:rPr lang="en-US" dirty="0"/>
                  <a:t>Since, One determinant can determine multiple attributes</a:t>
                </a:r>
              </a:p>
              <a:p>
                <a:r>
                  <a:rPr lang="en-US" dirty="0"/>
                  <a:t>StudentID determines both Name and </a:t>
                </a:r>
                <a:r>
                  <a:rPr lang="en-US" dirty="0" err="1"/>
                  <a:t>DeptID</a:t>
                </a:r>
                <a:endParaRPr lang="en-US" dirty="0"/>
              </a:p>
            </p:txBody>
          </p:sp>
        </mc:Choice>
        <mc:Fallback xmlns="">
          <p:sp>
            <p:nvSpPr>
              <p:cNvPr id="3" name="Content Placeholder 2">
                <a:extLst>
                  <a:ext uri="{FF2B5EF4-FFF2-40B4-BE49-F238E27FC236}">
                    <a16:creationId xmlns:a16="http://schemas.microsoft.com/office/drawing/2014/main" id="{B06B94A2-D5B7-4951-323D-30E5E7C6A343}"/>
                  </a:ext>
                </a:extLst>
              </p:cNvPr>
              <p:cNvSpPr>
                <a:spLocks noGrp="1" noRot="1" noChangeAspect="1" noMove="1" noResize="1" noEditPoints="1" noAdjustHandles="1" noChangeArrowheads="1" noChangeShapeType="1" noTextEdit="1"/>
              </p:cNvSpPr>
              <p:nvPr>
                <p:ph idx="1"/>
              </p:nvPr>
            </p:nvSpPr>
            <p:spPr>
              <a:blipFill>
                <a:blip r:embed="rId2"/>
                <a:stretch>
                  <a:fillRect l="-1515" t="-1667"/>
                </a:stretch>
              </a:blipFill>
            </p:spPr>
            <p:txBody>
              <a:bodyPr/>
              <a:lstStyle/>
              <a:p>
                <a:r>
                  <a:rPr lang="en-US">
                    <a:noFill/>
                  </a:rPr>
                  <a:t> </a:t>
                </a:r>
              </a:p>
            </p:txBody>
          </p:sp>
        </mc:Fallback>
      </mc:AlternateContent>
      <p:graphicFrame>
        <p:nvGraphicFramePr>
          <p:cNvPr id="4" name="Table 3">
            <a:extLst>
              <a:ext uri="{FF2B5EF4-FFF2-40B4-BE49-F238E27FC236}">
                <a16:creationId xmlns:a16="http://schemas.microsoft.com/office/drawing/2014/main" id="{D6765527-4F04-B457-2EB5-283D4B06A398}"/>
              </a:ext>
            </a:extLst>
          </p:cNvPr>
          <p:cNvGraphicFramePr>
            <a:graphicFrameLocks noGrp="1"/>
          </p:cNvGraphicFramePr>
          <p:nvPr>
            <p:extLst>
              <p:ext uri="{D42A27DB-BD31-4B8C-83A1-F6EECF244321}">
                <p14:modId xmlns:p14="http://schemas.microsoft.com/office/powerpoint/2010/main" val="899528758"/>
              </p:ext>
            </p:extLst>
          </p:nvPr>
        </p:nvGraphicFramePr>
        <p:xfrm>
          <a:off x="6126480" y="2570237"/>
          <a:ext cx="4934856" cy="1112520"/>
        </p:xfrm>
        <a:graphic>
          <a:graphicData uri="http://schemas.openxmlformats.org/drawingml/2006/table">
            <a:tbl>
              <a:tblPr firstRow="1" bandRow="1">
                <a:tableStyleId>{5C22544A-7EE6-4342-B048-85BDC9FD1C3A}</a:tableStyleId>
              </a:tblPr>
              <a:tblGrid>
                <a:gridCol w="1644952">
                  <a:extLst>
                    <a:ext uri="{9D8B030D-6E8A-4147-A177-3AD203B41FA5}">
                      <a16:colId xmlns:a16="http://schemas.microsoft.com/office/drawing/2014/main" val="4131237508"/>
                    </a:ext>
                  </a:extLst>
                </a:gridCol>
                <a:gridCol w="1644952">
                  <a:extLst>
                    <a:ext uri="{9D8B030D-6E8A-4147-A177-3AD203B41FA5}">
                      <a16:colId xmlns:a16="http://schemas.microsoft.com/office/drawing/2014/main" val="845139495"/>
                    </a:ext>
                  </a:extLst>
                </a:gridCol>
                <a:gridCol w="1644952">
                  <a:extLst>
                    <a:ext uri="{9D8B030D-6E8A-4147-A177-3AD203B41FA5}">
                      <a16:colId xmlns:a16="http://schemas.microsoft.com/office/drawing/2014/main" val="2191358843"/>
                    </a:ext>
                  </a:extLst>
                </a:gridCol>
              </a:tblGrid>
              <a:tr h="370840">
                <a:tc>
                  <a:txBody>
                    <a:bodyPr/>
                    <a:lstStyle/>
                    <a:p>
                      <a:pPr>
                        <a:buNone/>
                      </a:pPr>
                      <a:r>
                        <a:rPr lang="en-US" dirty="0"/>
                        <a:t>StudentID</a:t>
                      </a:r>
                    </a:p>
                  </a:txBody>
                  <a:tcPr anchor="ctr"/>
                </a:tc>
                <a:tc>
                  <a:txBody>
                    <a:bodyPr/>
                    <a:lstStyle/>
                    <a:p>
                      <a:pPr>
                        <a:buNone/>
                      </a:pPr>
                      <a:r>
                        <a:rPr lang="en-US"/>
                        <a:t>Name</a:t>
                      </a:r>
                    </a:p>
                  </a:txBody>
                  <a:tcPr anchor="ctr"/>
                </a:tc>
                <a:tc>
                  <a:txBody>
                    <a:bodyPr/>
                    <a:lstStyle/>
                    <a:p>
                      <a:pPr>
                        <a:buNone/>
                      </a:pPr>
                      <a:r>
                        <a:rPr lang="en-US" dirty="0" err="1"/>
                        <a:t>DeptID</a:t>
                      </a:r>
                      <a:endParaRPr lang="en-US" dirty="0"/>
                    </a:p>
                  </a:txBody>
                  <a:tcPr anchor="ctr"/>
                </a:tc>
                <a:extLst>
                  <a:ext uri="{0D108BD9-81ED-4DB2-BD59-A6C34878D82A}">
                    <a16:rowId xmlns:a16="http://schemas.microsoft.com/office/drawing/2014/main" val="1748532113"/>
                  </a:ext>
                </a:extLst>
              </a:tr>
              <a:tr h="370840">
                <a:tc>
                  <a:txBody>
                    <a:bodyPr/>
                    <a:lstStyle/>
                    <a:p>
                      <a:pPr>
                        <a:buNone/>
                      </a:pPr>
                      <a:r>
                        <a:rPr lang="en-US"/>
                        <a:t>101</a:t>
                      </a:r>
                    </a:p>
                  </a:txBody>
                  <a:tcPr anchor="ctr"/>
                </a:tc>
                <a:tc>
                  <a:txBody>
                    <a:bodyPr/>
                    <a:lstStyle/>
                    <a:p>
                      <a:pPr>
                        <a:buNone/>
                      </a:pPr>
                      <a:r>
                        <a:rPr lang="en-US"/>
                        <a:t>Ram</a:t>
                      </a:r>
                    </a:p>
                  </a:txBody>
                  <a:tcPr anchor="ctr"/>
                </a:tc>
                <a:tc>
                  <a:txBody>
                    <a:bodyPr/>
                    <a:lstStyle/>
                    <a:p>
                      <a:pPr>
                        <a:buNone/>
                      </a:pPr>
                      <a:r>
                        <a:rPr lang="en-US"/>
                        <a:t>D01</a:t>
                      </a:r>
                    </a:p>
                  </a:txBody>
                  <a:tcPr anchor="ctr"/>
                </a:tc>
                <a:extLst>
                  <a:ext uri="{0D108BD9-81ED-4DB2-BD59-A6C34878D82A}">
                    <a16:rowId xmlns:a16="http://schemas.microsoft.com/office/drawing/2014/main" val="2565563304"/>
                  </a:ext>
                </a:extLst>
              </a:tr>
              <a:tr h="370840">
                <a:tc>
                  <a:txBody>
                    <a:bodyPr/>
                    <a:lstStyle/>
                    <a:p>
                      <a:pPr>
                        <a:buNone/>
                      </a:pPr>
                      <a:r>
                        <a:rPr lang="en-US"/>
                        <a:t>102</a:t>
                      </a:r>
                    </a:p>
                  </a:txBody>
                  <a:tcPr anchor="ctr"/>
                </a:tc>
                <a:tc>
                  <a:txBody>
                    <a:bodyPr/>
                    <a:lstStyle/>
                    <a:p>
                      <a:pPr>
                        <a:buNone/>
                      </a:pPr>
                      <a:r>
                        <a:rPr lang="en-US"/>
                        <a:t>Sita</a:t>
                      </a:r>
                    </a:p>
                  </a:txBody>
                  <a:tcPr anchor="ctr"/>
                </a:tc>
                <a:tc>
                  <a:txBody>
                    <a:bodyPr/>
                    <a:lstStyle/>
                    <a:p>
                      <a:pPr>
                        <a:buNone/>
                      </a:pPr>
                      <a:r>
                        <a:rPr lang="en-US" dirty="0"/>
                        <a:t>D02</a:t>
                      </a:r>
                    </a:p>
                  </a:txBody>
                  <a:tcPr anchor="ctr"/>
                </a:tc>
                <a:extLst>
                  <a:ext uri="{0D108BD9-81ED-4DB2-BD59-A6C34878D82A}">
                    <a16:rowId xmlns:a16="http://schemas.microsoft.com/office/drawing/2014/main" val="4294230610"/>
                  </a:ext>
                </a:extLst>
              </a:tr>
            </a:tbl>
          </a:graphicData>
        </a:graphic>
      </p:graphicFrame>
    </p:spTree>
    <p:extLst>
      <p:ext uri="{BB962C8B-B14F-4D97-AF65-F5344CB8AC3E}">
        <p14:creationId xmlns:p14="http://schemas.microsoft.com/office/powerpoint/2010/main" val="306620087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D77DA-65C0-9922-FC6A-C2800D75F147}"/>
              </a:ext>
            </a:extLst>
          </p:cNvPr>
          <p:cNvSpPr>
            <a:spLocks noGrp="1"/>
          </p:cNvSpPr>
          <p:nvPr>
            <p:ph type="title"/>
          </p:nvPr>
        </p:nvSpPr>
        <p:spPr/>
        <p:txBody>
          <a:bodyPr/>
          <a:lstStyle/>
          <a:p>
            <a:r>
              <a:rPr lang="en-US" dirty="0"/>
              <a:t>Decomposition Rule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4CFB410-9633-E8CE-3171-058EFB13C409}"/>
                  </a:ext>
                </a:extLst>
              </p:cNvPr>
              <p:cNvSpPr>
                <a:spLocks noGrp="1"/>
              </p:cNvSpPr>
              <p:nvPr>
                <p:ph idx="1"/>
              </p:nvPr>
            </p:nvSpPr>
            <p:spPr/>
            <p:txBody>
              <a:bodyPr>
                <a:normAutofit/>
              </a:bodyPr>
              <a:lstStyle/>
              <a:p>
                <a:r>
                  <a:rPr lang="en-US" dirty="0"/>
                  <a:t>If: </a:t>
                </a:r>
                <a14:m>
                  <m:oMath xmlns:m="http://schemas.openxmlformats.org/officeDocument/2006/math">
                    <m:r>
                      <a:rPr lang="en-US" i="1">
                        <a:latin typeface="Cambria Math" panose="02040503050406030204" pitchFamily="18" charset="0"/>
                      </a:rPr>
                      <m:t>𝑋</m:t>
                    </m:r>
                    <m:r>
                      <a:rPr lang="en-US">
                        <a:latin typeface="Cambria Math" panose="02040503050406030204" pitchFamily="18" charset="0"/>
                      </a:rPr>
                      <m:t>→</m:t>
                    </m:r>
                    <m:r>
                      <a:rPr lang="en-US" i="1">
                        <a:latin typeface="Cambria Math" panose="02040503050406030204" pitchFamily="18" charset="0"/>
                      </a:rPr>
                      <m:t>𝑌𝑍</m:t>
                    </m:r>
                  </m:oMath>
                </a14:m>
                <a:endParaRPr lang="en-US" dirty="0"/>
              </a:p>
              <a:p>
                <a:r>
                  <a:rPr lang="en-US" dirty="0"/>
                  <a:t>then: </a:t>
                </a:r>
                <a14:m>
                  <m:oMath xmlns:m="http://schemas.openxmlformats.org/officeDocument/2006/math">
                    <m:r>
                      <a:rPr lang="en-US" b="0" i="0" smtClean="0">
                        <a:latin typeface="Cambria Math" panose="02040503050406030204" pitchFamily="18" charset="0"/>
                      </a:rPr>
                      <m:t> </m:t>
                    </m:r>
                    <m:r>
                      <a:rPr lang="en-US" i="1">
                        <a:latin typeface="Cambria Math" panose="02040503050406030204" pitchFamily="18" charset="0"/>
                      </a:rPr>
                      <m:t>𝑋</m:t>
                    </m:r>
                    <m:r>
                      <a:rPr lang="en-US">
                        <a:latin typeface="Cambria Math" panose="02040503050406030204" pitchFamily="18" charset="0"/>
                      </a:rPr>
                      <m:t>→</m:t>
                    </m:r>
                    <m:r>
                      <a:rPr lang="en-US" i="1">
                        <a:latin typeface="Cambria Math" panose="02040503050406030204" pitchFamily="18" charset="0"/>
                      </a:rPr>
                      <m:t>𝑌</m:t>
                    </m:r>
                  </m:oMath>
                </a14:m>
                <a:r>
                  <a:rPr lang="en-US" dirty="0"/>
                  <a:t> and </a:t>
                </a:r>
                <a14:m>
                  <m:oMath xmlns:m="http://schemas.openxmlformats.org/officeDocument/2006/math">
                    <m:r>
                      <a:rPr lang="en-US" i="1">
                        <a:latin typeface="Cambria Math" panose="02040503050406030204" pitchFamily="18" charset="0"/>
                      </a:rPr>
                      <m:t>𝑋</m:t>
                    </m:r>
                    <m:r>
                      <a:rPr lang="en-US">
                        <a:latin typeface="Cambria Math" panose="02040503050406030204" pitchFamily="18" charset="0"/>
                      </a:rPr>
                      <m:t>→</m:t>
                    </m:r>
                    <m:r>
                      <a:rPr lang="en-US" i="1">
                        <a:latin typeface="Cambria Math" panose="02040503050406030204" pitchFamily="18" charset="0"/>
                      </a:rPr>
                      <m:t>𝑍</m:t>
                    </m:r>
                  </m:oMath>
                </a14:m>
                <a:endParaRPr lang="en-US" dirty="0"/>
              </a:p>
              <a:p>
                <a:r>
                  <a:rPr lang="en-US" b="1" dirty="0"/>
                  <a:t>Example, </a:t>
                </a:r>
                <a:r>
                  <a:rPr lang="en-US" dirty="0"/>
                  <a:t>Given:</a:t>
                </a:r>
              </a:p>
              <a:p>
                <a:pPr lvl="1"/>
                <a14:m>
                  <m:oMath xmlns:m="http://schemas.openxmlformats.org/officeDocument/2006/math">
                    <m:r>
                      <a:rPr lang="en-US" i="1">
                        <a:latin typeface="Cambria Math" panose="02040503050406030204" pitchFamily="18" charset="0"/>
                      </a:rPr>
                      <m:t>𝑆𝑡𝑢𝑑𝑒𝑛𝑡</m:t>
                    </m:r>
                    <m:r>
                      <m:rPr>
                        <m:lit/>
                      </m:rPr>
                      <a:rPr lang="en-US">
                        <a:latin typeface="Cambria Math" panose="02040503050406030204" pitchFamily="18" charset="0"/>
                      </a:rPr>
                      <m:t>_</m:t>
                    </m:r>
                    <m:r>
                      <a:rPr lang="en-US" i="1">
                        <a:latin typeface="Cambria Math" panose="02040503050406030204" pitchFamily="18" charset="0"/>
                      </a:rPr>
                      <m:t>𝐼𝐷</m:t>
                    </m:r>
                    <m:r>
                      <a:rPr lang="en-US">
                        <a:latin typeface="Cambria Math" panose="02040503050406030204" pitchFamily="18" charset="0"/>
                      </a:rPr>
                      <m:t>→</m:t>
                    </m:r>
                    <m:r>
                      <a:rPr lang="en-US" b="0" i="0" smtClean="0">
                        <a:latin typeface="Cambria Math" panose="02040503050406030204" pitchFamily="18" charset="0"/>
                      </a:rPr>
                      <m:t>{</m:t>
                    </m:r>
                    <m:r>
                      <m:rPr>
                        <m:sty m:val="p"/>
                      </m:rPr>
                      <a:rPr lang="en-US" b="0" i="0" smtClean="0">
                        <a:latin typeface="Cambria Math" panose="02040503050406030204" pitchFamily="18" charset="0"/>
                      </a:rPr>
                      <m:t>Name</m:t>
                    </m:r>
                    <m:r>
                      <a:rPr lang="en-US" b="0" i="0" smtClean="0">
                        <a:latin typeface="Cambria Math" panose="02040503050406030204" pitchFamily="18" charset="0"/>
                      </a:rPr>
                      <m:t> , </m:t>
                    </m:r>
                    <m:r>
                      <m:rPr>
                        <m:sty m:val="p"/>
                      </m:rPr>
                      <a:rPr lang="en-US" b="0" i="0" smtClean="0">
                        <a:latin typeface="Cambria Math" panose="02040503050406030204" pitchFamily="18" charset="0"/>
                      </a:rPr>
                      <m:t>DeptID</m:t>
                    </m:r>
                    <m:r>
                      <a:rPr lang="en-US" b="0" i="0" smtClean="0">
                        <a:latin typeface="Cambria Math" panose="02040503050406030204" pitchFamily="18" charset="0"/>
                      </a:rPr>
                      <m:t>}</m:t>
                    </m:r>
                  </m:oMath>
                </a14:m>
                <a:endParaRPr lang="ar-AE" dirty="0"/>
              </a:p>
              <a:p>
                <a:r>
                  <a:rPr lang="en-US" dirty="0"/>
                  <a:t>Then: we can split this into </a:t>
                </a:r>
              </a:p>
              <a:p>
                <a14:m>
                  <m:oMath xmlns:m="http://schemas.openxmlformats.org/officeDocument/2006/math">
                    <m:r>
                      <a:rPr lang="en-US" i="1">
                        <a:latin typeface="Cambria Math" panose="02040503050406030204" pitchFamily="18" charset="0"/>
                      </a:rPr>
                      <m:t>𝑆𝑡𝑢𝑑𝑒𝑛𝑡</m:t>
                    </m:r>
                    <m:r>
                      <m:rPr>
                        <m:lit/>
                      </m:rPr>
                      <a:rPr lang="en-US">
                        <a:latin typeface="Cambria Math" panose="02040503050406030204" pitchFamily="18" charset="0"/>
                      </a:rPr>
                      <m:t>_</m:t>
                    </m:r>
                    <m:r>
                      <a:rPr lang="en-US" i="1">
                        <a:latin typeface="Cambria Math" panose="02040503050406030204" pitchFamily="18" charset="0"/>
                      </a:rPr>
                      <m:t>𝐼𝐷</m:t>
                    </m:r>
                    <m:r>
                      <a:rPr lang="en-US">
                        <a:latin typeface="Cambria Math" panose="02040503050406030204" pitchFamily="18" charset="0"/>
                      </a:rPr>
                      <m:t>→</m:t>
                    </m:r>
                    <m:r>
                      <a:rPr lang="en-US" i="1">
                        <a:latin typeface="Cambria Math" panose="02040503050406030204" pitchFamily="18" charset="0"/>
                      </a:rPr>
                      <m:t>𝑁𝑎𝑚𝑒</m:t>
                    </m:r>
                  </m:oMath>
                </a14:m>
                <a:endParaRPr lang="en-US" dirty="0"/>
              </a:p>
              <a:p>
                <a:r>
                  <a:rPr lang="en-US" dirty="0"/>
                  <a:t>And</a:t>
                </a:r>
              </a:p>
              <a:p>
                <a14:m>
                  <m:oMath xmlns:m="http://schemas.openxmlformats.org/officeDocument/2006/math">
                    <m:r>
                      <a:rPr lang="en-US" i="1">
                        <a:latin typeface="Cambria Math" panose="02040503050406030204" pitchFamily="18" charset="0"/>
                      </a:rPr>
                      <m:t>𝑆𝑡𝑢𝑑𝑒𝑛𝑡</m:t>
                    </m:r>
                    <m:r>
                      <m:rPr>
                        <m:lit/>
                      </m:rPr>
                      <a:rPr lang="en-US">
                        <a:latin typeface="Cambria Math" panose="02040503050406030204" pitchFamily="18" charset="0"/>
                      </a:rPr>
                      <m:t>_</m:t>
                    </m:r>
                    <m:r>
                      <a:rPr lang="en-US" i="1">
                        <a:latin typeface="Cambria Math" panose="02040503050406030204" pitchFamily="18" charset="0"/>
                      </a:rPr>
                      <m:t>𝐼𝐷</m:t>
                    </m:r>
                    <m:r>
                      <a:rPr lang="en-US">
                        <a:latin typeface="Cambria Math" panose="02040503050406030204" pitchFamily="18" charset="0"/>
                      </a:rPr>
                      <m:t>→</m:t>
                    </m:r>
                    <m:r>
                      <a:rPr lang="en-US" i="1">
                        <a:latin typeface="Cambria Math" panose="02040503050406030204" pitchFamily="18" charset="0"/>
                      </a:rPr>
                      <m:t>𝐷𝑒𝑝𝑡</m:t>
                    </m:r>
                    <m:r>
                      <m:rPr>
                        <m:sty m:val="p"/>
                      </m:rPr>
                      <a:rPr lang="en-US" b="0" i="1" smtClean="0">
                        <a:latin typeface="Cambria Math" panose="02040503050406030204" pitchFamily="18" charset="0"/>
                      </a:rPr>
                      <m:t>ID</m:t>
                    </m:r>
                  </m:oMath>
                </a14:m>
                <a:endParaRPr lang="en-US" dirty="0"/>
              </a:p>
              <a:p>
                <a:endParaRPr lang="en-US" dirty="0"/>
              </a:p>
            </p:txBody>
          </p:sp>
        </mc:Choice>
        <mc:Fallback xmlns="">
          <p:sp>
            <p:nvSpPr>
              <p:cNvPr id="3" name="Content Placeholder 2">
                <a:extLst>
                  <a:ext uri="{FF2B5EF4-FFF2-40B4-BE49-F238E27FC236}">
                    <a16:creationId xmlns:a16="http://schemas.microsoft.com/office/drawing/2014/main" id="{34CFB410-9633-E8CE-3171-058EFB13C409}"/>
                  </a:ext>
                </a:extLst>
              </p:cNvPr>
              <p:cNvSpPr>
                <a:spLocks noGrp="1" noRot="1" noChangeAspect="1" noMove="1" noResize="1" noEditPoints="1" noAdjustHandles="1" noChangeArrowheads="1" noChangeShapeType="1" noTextEdit="1"/>
              </p:cNvSpPr>
              <p:nvPr>
                <p:ph idx="1"/>
              </p:nvPr>
            </p:nvSpPr>
            <p:spPr>
              <a:blipFill>
                <a:blip r:embed="rId3"/>
                <a:stretch>
                  <a:fillRect l="-1515" t="-1667"/>
                </a:stretch>
              </a:blipFill>
            </p:spPr>
            <p:txBody>
              <a:bodyPr/>
              <a:lstStyle/>
              <a:p>
                <a:r>
                  <a:rPr lang="en-US">
                    <a:noFill/>
                  </a:rPr>
                  <a:t> </a:t>
                </a:r>
              </a:p>
            </p:txBody>
          </p:sp>
        </mc:Fallback>
      </mc:AlternateContent>
      <p:graphicFrame>
        <p:nvGraphicFramePr>
          <p:cNvPr id="4" name="Table 3">
            <a:extLst>
              <a:ext uri="{FF2B5EF4-FFF2-40B4-BE49-F238E27FC236}">
                <a16:creationId xmlns:a16="http://schemas.microsoft.com/office/drawing/2014/main" id="{83B661A4-2041-5406-4FB9-3970FF90B340}"/>
              </a:ext>
            </a:extLst>
          </p:cNvPr>
          <p:cNvGraphicFramePr>
            <a:graphicFrameLocks noGrp="1"/>
          </p:cNvGraphicFramePr>
          <p:nvPr>
            <p:extLst>
              <p:ext uri="{D42A27DB-BD31-4B8C-83A1-F6EECF244321}">
                <p14:modId xmlns:p14="http://schemas.microsoft.com/office/powerpoint/2010/main" val="2663365428"/>
              </p:ext>
            </p:extLst>
          </p:nvPr>
        </p:nvGraphicFramePr>
        <p:xfrm>
          <a:off x="6007464" y="2113037"/>
          <a:ext cx="5087256" cy="1112520"/>
        </p:xfrm>
        <a:graphic>
          <a:graphicData uri="http://schemas.openxmlformats.org/drawingml/2006/table">
            <a:tbl>
              <a:tblPr firstRow="1" bandRow="1">
                <a:tableStyleId>{5C22544A-7EE6-4342-B048-85BDC9FD1C3A}</a:tableStyleId>
              </a:tblPr>
              <a:tblGrid>
                <a:gridCol w="1695752">
                  <a:extLst>
                    <a:ext uri="{9D8B030D-6E8A-4147-A177-3AD203B41FA5}">
                      <a16:colId xmlns:a16="http://schemas.microsoft.com/office/drawing/2014/main" val="2868726105"/>
                    </a:ext>
                  </a:extLst>
                </a:gridCol>
                <a:gridCol w="1695752">
                  <a:extLst>
                    <a:ext uri="{9D8B030D-6E8A-4147-A177-3AD203B41FA5}">
                      <a16:colId xmlns:a16="http://schemas.microsoft.com/office/drawing/2014/main" val="2737686382"/>
                    </a:ext>
                  </a:extLst>
                </a:gridCol>
                <a:gridCol w="1695752">
                  <a:extLst>
                    <a:ext uri="{9D8B030D-6E8A-4147-A177-3AD203B41FA5}">
                      <a16:colId xmlns:a16="http://schemas.microsoft.com/office/drawing/2014/main" val="3429628990"/>
                    </a:ext>
                  </a:extLst>
                </a:gridCol>
              </a:tblGrid>
              <a:tr h="370840">
                <a:tc>
                  <a:txBody>
                    <a:bodyPr/>
                    <a:lstStyle/>
                    <a:p>
                      <a:pPr>
                        <a:buNone/>
                      </a:pPr>
                      <a:r>
                        <a:rPr lang="en-US" dirty="0"/>
                        <a:t>StudentID</a:t>
                      </a:r>
                    </a:p>
                  </a:txBody>
                  <a:tcPr anchor="ctr"/>
                </a:tc>
                <a:tc>
                  <a:txBody>
                    <a:bodyPr/>
                    <a:lstStyle/>
                    <a:p>
                      <a:pPr>
                        <a:buNone/>
                      </a:pPr>
                      <a:r>
                        <a:rPr lang="en-US"/>
                        <a:t>Name</a:t>
                      </a:r>
                    </a:p>
                  </a:txBody>
                  <a:tcPr anchor="ctr"/>
                </a:tc>
                <a:tc>
                  <a:txBody>
                    <a:bodyPr/>
                    <a:lstStyle/>
                    <a:p>
                      <a:pPr>
                        <a:buNone/>
                      </a:pPr>
                      <a:r>
                        <a:rPr lang="en-US"/>
                        <a:t>DeptID</a:t>
                      </a:r>
                    </a:p>
                  </a:txBody>
                  <a:tcPr anchor="ctr"/>
                </a:tc>
                <a:extLst>
                  <a:ext uri="{0D108BD9-81ED-4DB2-BD59-A6C34878D82A}">
                    <a16:rowId xmlns:a16="http://schemas.microsoft.com/office/drawing/2014/main" val="2918378110"/>
                  </a:ext>
                </a:extLst>
              </a:tr>
              <a:tr h="370840">
                <a:tc>
                  <a:txBody>
                    <a:bodyPr/>
                    <a:lstStyle/>
                    <a:p>
                      <a:pPr>
                        <a:buNone/>
                      </a:pPr>
                      <a:r>
                        <a:rPr lang="en-US"/>
                        <a:t>101</a:t>
                      </a:r>
                    </a:p>
                  </a:txBody>
                  <a:tcPr anchor="ctr"/>
                </a:tc>
                <a:tc>
                  <a:txBody>
                    <a:bodyPr/>
                    <a:lstStyle/>
                    <a:p>
                      <a:pPr>
                        <a:buNone/>
                      </a:pPr>
                      <a:r>
                        <a:rPr lang="en-US"/>
                        <a:t>Ram</a:t>
                      </a:r>
                    </a:p>
                  </a:txBody>
                  <a:tcPr anchor="ctr"/>
                </a:tc>
                <a:tc>
                  <a:txBody>
                    <a:bodyPr/>
                    <a:lstStyle/>
                    <a:p>
                      <a:pPr>
                        <a:buNone/>
                      </a:pPr>
                      <a:r>
                        <a:rPr lang="en-US"/>
                        <a:t>D01</a:t>
                      </a:r>
                    </a:p>
                  </a:txBody>
                  <a:tcPr anchor="ctr"/>
                </a:tc>
                <a:extLst>
                  <a:ext uri="{0D108BD9-81ED-4DB2-BD59-A6C34878D82A}">
                    <a16:rowId xmlns:a16="http://schemas.microsoft.com/office/drawing/2014/main" val="3860900261"/>
                  </a:ext>
                </a:extLst>
              </a:tr>
              <a:tr h="370840">
                <a:tc>
                  <a:txBody>
                    <a:bodyPr/>
                    <a:lstStyle/>
                    <a:p>
                      <a:pPr>
                        <a:buNone/>
                      </a:pPr>
                      <a:r>
                        <a:rPr lang="en-US"/>
                        <a:t>102</a:t>
                      </a:r>
                    </a:p>
                  </a:txBody>
                  <a:tcPr anchor="ctr"/>
                </a:tc>
                <a:tc>
                  <a:txBody>
                    <a:bodyPr/>
                    <a:lstStyle/>
                    <a:p>
                      <a:pPr>
                        <a:buNone/>
                      </a:pPr>
                      <a:r>
                        <a:rPr lang="en-US"/>
                        <a:t>Sita</a:t>
                      </a:r>
                    </a:p>
                  </a:txBody>
                  <a:tcPr anchor="ctr"/>
                </a:tc>
                <a:tc>
                  <a:txBody>
                    <a:bodyPr/>
                    <a:lstStyle/>
                    <a:p>
                      <a:pPr>
                        <a:buNone/>
                      </a:pPr>
                      <a:r>
                        <a:rPr lang="en-US" dirty="0"/>
                        <a:t>D02</a:t>
                      </a:r>
                    </a:p>
                  </a:txBody>
                  <a:tcPr anchor="ctr"/>
                </a:tc>
                <a:extLst>
                  <a:ext uri="{0D108BD9-81ED-4DB2-BD59-A6C34878D82A}">
                    <a16:rowId xmlns:a16="http://schemas.microsoft.com/office/drawing/2014/main" val="1575469704"/>
                  </a:ext>
                </a:extLst>
              </a:tr>
            </a:tbl>
          </a:graphicData>
        </a:graphic>
      </p:graphicFrame>
      <p:graphicFrame>
        <p:nvGraphicFramePr>
          <p:cNvPr id="5" name="Table 4">
            <a:extLst>
              <a:ext uri="{FF2B5EF4-FFF2-40B4-BE49-F238E27FC236}">
                <a16:creationId xmlns:a16="http://schemas.microsoft.com/office/drawing/2014/main" id="{D167FF2B-362F-429A-D222-D067D99C85AF}"/>
              </a:ext>
            </a:extLst>
          </p:cNvPr>
          <p:cNvGraphicFramePr>
            <a:graphicFrameLocks noGrp="1"/>
          </p:cNvGraphicFramePr>
          <p:nvPr>
            <p:extLst>
              <p:ext uri="{D42A27DB-BD31-4B8C-83A1-F6EECF244321}">
                <p14:modId xmlns:p14="http://schemas.microsoft.com/office/powerpoint/2010/main" val="978091134"/>
              </p:ext>
            </p:extLst>
          </p:nvPr>
        </p:nvGraphicFramePr>
        <p:xfrm>
          <a:off x="5767978" y="3951393"/>
          <a:ext cx="2940594" cy="1112520"/>
        </p:xfrm>
        <a:graphic>
          <a:graphicData uri="http://schemas.openxmlformats.org/drawingml/2006/table">
            <a:tbl>
              <a:tblPr firstRow="1" bandRow="1">
                <a:tableStyleId>{5C22544A-7EE6-4342-B048-85BDC9FD1C3A}</a:tableStyleId>
              </a:tblPr>
              <a:tblGrid>
                <a:gridCol w="1470297">
                  <a:extLst>
                    <a:ext uri="{9D8B030D-6E8A-4147-A177-3AD203B41FA5}">
                      <a16:colId xmlns:a16="http://schemas.microsoft.com/office/drawing/2014/main" val="2868726105"/>
                    </a:ext>
                  </a:extLst>
                </a:gridCol>
                <a:gridCol w="1470297">
                  <a:extLst>
                    <a:ext uri="{9D8B030D-6E8A-4147-A177-3AD203B41FA5}">
                      <a16:colId xmlns:a16="http://schemas.microsoft.com/office/drawing/2014/main" val="3429628990"/>
                    </a:ext>
                  </a:extLst>
                </a:gridCol>
              </a:tblGrid>
              <a:tr h="370840">
                <a:tc>
                  <a:txBody>
                    <a:bodyPr/>
                    <a:lstStyle/>
                    <a:p>
                      <a:pPr>
                        <a:buNone/>
                      </a:pPr>
                      <a:r>
                        <a:rPr lang="en-US" dirty="0"/>
                        <a:t>StudentID</a:t>
                      </a:r>
                    </a:p>
                  </a:txBody>
                  <a:tcPr anchor="ctr"/>
                </a:tc>
                <a:tc>
                  <a:txBody>
                    <a:bodyPr/>
                    <a:lstStyle/>
                    <a:p>
                      <a:pPr>
                        <a:buNone/>
                      </a:pPr>
                      <a:r>
                        <a:rPr lang="en-US" dirty="0"/>
                        <a:t>Name</a:t>
                      </a:r>
                    </a:p>
                  </a:txBody>
                  <a:tcPr anchor="ctr"/>
                </a:tc>
                <a:extLst>
                  <a:ext uri="{0D108BD9-81ED-4DB2-BD59-A6C34878D82A}">
                    <a16:rowId xmlns:a16="http://schemas.microsoft.com/office/drawing/2014/main" val="2918378110"/>
                  </a:ext>
                </a:extLst>
              </a:tr>
              <a:tr h="370840">
                <a:tc>
                  <a:txBody>
                    <a:bodyPr/>
                    <a:lstStyle/>
                    <a:p>
                      <a:pPr>
                        <a:buNone/>
                      </a:pPr>
                      <a:r>
                        <a:rPr lang="en-US"/>
                        <a:t>101</a:t>
                      </a:r>
                    </a:p>
                  </a:txBody>
                  <a:tcPr anchor="ctr"/>
                </a:tc>
                <a:tc>
                  <a:txBody>
                    <a:bodyPr/>
                    <a:lstStyle/>
                    <a:p>
                      <a:pPr>
                        <a:buNone/>
                      </a:pPr>
                      <a:r>
                        <a:rPr lang="en-US" dirty="0"/>
                        <a:t>Ram</a:t>
                      </a:r>
                    </a:p>
                  </a:txBody>
                  <a:tcPr anchor="ctr"/>
                </a:tc>
                <a:extLst>
                  <a:ext uri="{0D108BD9-81ED-4DB2-BD59-A6C34878D82A}">
                    <a16:rowId xmlns:a16="http://schemas.microsoft.com/office/drawing/2014/main" val="3860900261"/>
                  </a:ext>
                </a:extLst>
              </a:tr>
              <a:tr h="370840">
                <a:tc>
                  <a:txBody>
                    <a:bodyPr/>
                    <a:lstStyle/>
                    <a:p>
                      <a:pPr>
                        <a:buNone/>
                      </a:pPr>
                      <a:r>
                        <a:rPr lang="en-US"/>
                        <a:t>102</a:t>
                      </a:r>
                    </a:p>
                  </a:txBody>
                  <a:tcPr anchor="ctr"/>
                </a:tc>
                <a:tc>
                  <a:txBody>
                    <a:bodyPr/>
                    <a:lstStyle/>
                    <a:p>
                      <a:pPr>
                        <a:buNone/>
                      </a:pPr>
                      <a:r>
                        <a:rPr lang="en-US" dirty="0"/>
                        <a:t>Sita</a:t>
                      </a:r>
                    </a:p>
                  </a:txBody>
                  <a:tcPr anchor="ctr"/>
                </a:tc>
                <a:extLst>
                  <a:ext uri="{0D108BD9-81ED-4DB2-BD59-A6C34878D82A}">
                    <a16:rowId xmlns:a16="http://schemas.microsoft.com/office/drawing/2014/main" val="1575469704"/>
                  </a:ext>
                </a:extLst>
              </a:tr>
            </a:tbl>
          </a:graphicData>
        </a:graphic>
      </p:graphicFrame>
      <p:graphicFrame>
        <p:nvGraphicFramePr>
          <p:cNvPr id="6" name="Table 5">
            <a:extLst>
              <a:ext uri="{FF2B5EF4-FFF2-40B4-BE49-F238E27FC236}">
                <a16:creationId xmlns:a16="http://schemas.microsoft.com/office/drawing/2014/main" id="{86A45E8C-6E69-42A3-7B0B-199AE4F23C4B}"/>
              </a:ext>
            </a:extLst>
          </p:cNvPr>
          <p:cNvGraphicFramePr>
            <a:graphicFrameLocks noGrp="1"/>
          </p:cNvGraphicFramePr>
          <p:nvPr>
            <p:extLst>
              <p:ext uri="{D42A27DB-BD31-4B8C-83A1-F6EECF244321}">
                <p14:modId xmlns:p14="http://schemas.microsoft.com/office/powerpoint/2010/main" val="3534307796"/>
              </p:ext>
            </p:extLst>
          </p:nvPr>
        </p:nvGraphicFramePr>
        <p:xfrm>
          <a:off x="9171821" y="3951393"/>
          <a:ext cx="2758922" cy="1112520"/>
        </p:xfrm>
        <a:graphic>
          <a:graphicData uri="http://schemas.openxmlformats.org/drawingml/2006/table">
            <a:tbl>
              <a:tblPr firstRow="1" bandRow="1">
                <a:tableStyleId>{5C22544A-7EE6-4342-B048-85BDC9FD1C3A}</a:tableStyleId>
              </a:tblPr>
              <a:tblGrid>
                <a:gridCol w="1379461">
                  <a:extLst>
                    <a:ext uri="{9D8B030D-6E8A-4147-A177-3AD203B41FA5}">
                      <a16:colId xmlns:a16="http://schemas.microsoft.com/office/drawing/2014/main" val="2868726105"/>
                    </a:ext>
                  </a:extLst>
                </a:gridCol>
                <a:gridCol w="1379461">
                  <a:extLst>
                    <a:ext uri="{9D8B030D-6E8A-4147-A177-3AD203B41FA5}">
                      <a16:colId xmlns:a16="http://schemas.microsoft.com/office/drawing/2014/main" val="3429628990"/>
                    </a:ext>
                  </a:extLst>
                </a:gridCol>
              </a:tblGrid>
              <a:tr h="370840">
                <a:tc>
                  <a:txBody>
                    <a:bodyPr/>
                    <a:lstStyle/>
                    <a:p>
                      <a:pPr>
                        <a:buNone/>
                      </a:pPr>
                      <a:r>
                        <a:rPr lang="en-US" dirty="0"/>
                        <a:t>StudentID</a:t>
                      </a:r>
                    </a:p>
                  </a:txBody>
                  <a:tcPr anchor="ctr"/>
                </a:tc>
                <a:tc>
                  <a:txBody>
                    <a:bodyPr/>
                    <a:lstStyle/>
                    <a:p>
                      <a:pPr>
                        <a:buNone/>
                      </a:pPr>
                      <a:r>
                        <a:rPr lang="en-US"/>
                        <a:t>DeptID</a:t>
                      </a:r>
                    </a:p>
                  </a:txBody>
                  <a:tcPr anchor="ctr"/>
                </a:tc>
                <a:extLst>
                  <a:ext uri="{0D108BD9-81ED-4DB2-BD59-A6C34878D82A}">
                    <a16:rowId xmlns:a16="http://schemas.microsoft.com/office/drawing/2014/main" val="2918378110"/>
                  </a:ext>
                </a:extLst>
              </a:tr>
              <a:tr h="370840">
                <a:tc>
                  <a:txBody>
                    <a:bodyPr/>
                    <a:lstStyle/>
                    <a:p>
                      <a:pPr>
                        <a:buNone/>
                      </a:pPr>
                      <a:r>
                        <a:rPr lang="en-US"/>
                        <a:t>101</a:t>
                      </a:r>
                    </a:p>
                  </a:txBody>
                  <a:tcPr anchor="ctr"/>
                </a:tc>
                <a:tc>
                  <a:txBody>
                    <a:bodyPr/>
                    <a:lstStyle/>
                    <a:p>
                      <a:pPr>
                        <a:buNone/>
                      </a:pPr>
                      <a:r>
                        <a:rPr lang="en-US"/>
                        <a:t>D01</a:t>
                      </a:r>
                    </a:p>
                  </a:txBody>
                  <a:tcPr anchor="ctr"/>
                </a:tc>
                <a:extLst>
                  <a:ext uri="{0D108BD9-81ED-4DB2-BD59-A6C34878D82A}">
                    <a16:rowId xmlns:a16="http://schemas.microsoft.com/office/drawing/2014/main" val="3860900261"/>
                  </a:ext>
                </a:extLst>
              </a:tr>
              <a:tr h="370840">
                <a:tc>
                  <a:txBody>
                    <a:bodyPr/>
                    <a:lstStyle/>
                    <a:p>
                      <a:pPr>
                        <a:buNone/>
                      </a:pPr>
                      <a:r>
                        <a:rPr lang="en-US"/>
                        <a:t>102</a:t>
                      </a:r>
                    </a:p>
                  </a:txBody>
                  <a:tcPr anchor="ctr"/>
                </a:tc>
                <a:tc>
                  <a:txBody>
                    <a:bodyPr/>
                    <a:lstStyle/>
                    <a:p>
                      <a:pPr>
                        <a:buNone/>
                      </a:pPr>
                      <a:r>
                        <a:rPr lang="en-US" dirty="0"/>
                        <a:t>D02</a:t>
                      </a:r>
                    </a:p>
                  </a:txBody>
                  <a:tcPr anchor="ctr"/>
                </a:tc>
                <a:extLst>
                  <a:ext uri="{0D108BD9-81ED-4DB2-BD59-A6C34878D82A}">
                    <a16:rowId xmlns:a16="http://schemas.microsoft.com/office/drawing/2014/main" val="1575469704"/>
                  </a:ext>
                </a:extLst>
              </a:tr>
            </a:tbl>
          </a:graphicData>
        </a:graphic>
      </p:graphicFrame>
    </p:spTree>
    <p:extLst>
      <p:ext uri="{BB962C8B-B14F-4D97-AF65-F5344CB8AC3E}">
        <p14:creationId xmlns:p14="http://schemas.microsoft.com/office/powerpoint/2010/main" val="342385331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A70862-13AA-D5DD-9D44-96979BE78AF0}"/>
              </a:ext>
            </a:extLst>
          </p:cNvPr>
          <p:cNvSpPr>
            <a:spLocks noGrp="1"/>
          </p:cNvSpPr>
          <p:nvPr>
            <p:ph type="title"/>
          </p:nvPr>
        </p:nvSpPr>
        <p:spPr/>
        <p:txBody>
          <a:bodyPr/>
          <a:lstStyle/>
          <a:p>
            <a:r>
              <a:rPr lang="en-US" dirty="0"/>
              <a:t>Pseudo-transitivity Rule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7B58516-DF90-DEBE-982E-1E07EDB18733}"/>
                  </a:ext>
                </a:extLst>
              </p:cNvPr>
              <p:cNvSpPr>
                <a:spLocks noGrp="1"/>
              </p:cNvSpPr>
              <p:nvPr>
                <p:ph idx="1"/>
              </p:nvPr>
            </p:nvSpPr>
            <p:spPr/>
            <p:txBody>
              <a:bodyPr>
                <a:normAutofit/>
              </a:bodyPr>
              <a:lstStyle/>
              <a:p>
                <a:r>
                  <a:rPr lang="en-US" dirty="0"/>
                  <a:t>If:</a:t>
                </a:r>
                <a14:m>
                  <m:oMath xmlns:m="http://schemas.openxmlformats.org/officeDocument/2006/math">
                    <m:r>
                      <a:rPr lang="en-US" b="0" i="0" smtClean="0">
                        <a:latin typeface="Cambria Math" panose="02040503050406030204" pitchFamily="18" charset="0"/>
                      </a:rPr>
                      <m:t> </m:t>
                    </m:r>
                    <m:r>
                      <a:rPr lang="en-US" i="1">
                        <a:latin typeface="Cambria Math" panose="02040503050406030204" pitchFamily="18" charset="0"/>
                      </a:rPr>
                      <m:t>𝑋</m:t>
                    </m:r>
                    <m:r>
                      <a:rPr lang="en-US">
                        <a:latin typeface="Cambria Math" panose="02040503050406030204" pitchFamily="18" charset="0"/>
                      </a:rPr>
                      <m:t>→</m:t>
                    </m:r>
                    <m:r>
                      <a:rPr lang="en-US" i="1">
                        <a:latin typeface="Cambria Math" panose="02040503050406030204" pitchFamily="18" charset="0"/>
                      </a:rPr>
                      <m:t>𝑌</m:t>
                    </m:r>
                  </m:oMath>
                </a14:m>
                <a:r>
                  <a:rPr lang="en-US" dirty="0"/>
                  <a:t>  and </a:t>
                </a:r>
                <a14:m>
                  <m:oMath xmlns:m="http://schemas.openxmlformats.org/officeDocument/2006/math">
                    <m:r>
                      <a:rPr lang="en-US" i="1">
                        <a:latin typeface="Cambria Math" panose="02040503050406030204" pitchFamily="18" charset="0"/>
                      </a:rPr>
                      <m:t>𝑊𝑌</m:t>
                    </m:r>
                    <m:r>
                      <a:rPr lang="en-US">
                        <a:latin typeface="Cambria Math" panose="02040503050406030204" pitchFamily="18" charset="0"/>
                      </a:rPr>
                      <m:t>→</m:t>
                    </m:r>
                    <m:r>
                      <a:rPr lang="en-US" i="1">
                        <a:latin typeface="Cambria Math" panose="02040503050406030204" pitchFamily="18" charset="0"/>
                      </a:rPr>
                      <m:t>𝑍</m:t>
                    </m:r>
                  </m:oMath>
                </a14:m>
                <a:r>
                  <a:rPr lang="en-US" dirty="0"/>
                  <a:t>,  then:</a:t>
                </a:r>
                <a14:m>
                  <m:oMath xmlns:m="http://schemas.openxmlformats.org/officeDocument/2006/math">
                    <m:r>
                      <a:rPr lang="en-US" b="0" i="0" smtClean="0">
                        <a:latin typeface="Cambria Math" panose="02040503050406030204" pitchFamily="18" charset="0"/>
                      </a:rPr>
                      <m:t> </m:t>
                    </m:r>
                    <m:r>
                      <a:rPr lang="en-US" i="1">
                        <a:latin typeface="Cambria Math" panose="02040503050406030204" pitchFamily="18" charset="0"/>
                      </a:rPr>
                      <m:t>𝑊𝑋</m:t>
                    </m:r>
                    <m:r>
                      <a:rPr lang="en-US">
                        <a:latin typeface="Cambria Math" panose="02040503050406030204" pitchFamily="18" charset="0"/>
                      </a:rPr>
                      <m:t>→</m:t>
                    </m:r>
                    <m:r>
                      <a:rPr lang="en-US" i="1">
                        <a:latin typeface="Cambria Math" panose="02040503050406030204" pitchFamily="18" charset="0"/>
                      </a:rPr>
                      <m:t>𝑍</m:t>
                    </m:r>
                  </m:oMath>
                </a14:m>
                <a:endParaRPr lang="en-US" dirty="0"/>
              </a:p>
              <a:p>
                <a:r>
                  <a:rPr lang="en-US" b="1" dirty="0"/>
                  <a:t>Example, </a:t>
                </a:r>
                <a:r>
                  <a:rPr lang="en-US" dirty="0"/>
                  <a:t>Given:</a:t>
                </a:r>
              </a:p>
              <a:p>
                <a14:m>
                  <m:oMath xmlns:m="http://schemas.openxmlformats.org/officeDocument/2006/math">
                    <m:r>
                      <a:rPr lang="en-US" i="1">
                        <a:latin typeface="Cambria Math" panose="02040503050406030204" pitchFamily="18" charset="0"/>
                      </a:rPr>
                      <m:t>𝑆𝑡𝑢𝑑𝑒𝑛𝑡</m:t>
                    </m:r>
                    <m:r>
                      <m:rPr>
                        <m:lit/>
                      </m:rPr>
                      <a:rPr lang="en-US">
                        <a:latin typeface="Cambria Math" panose="02040503050406030204" pitchFamily="18" charset="0"/>
                      </a:rPr>
                      <m:t>_</m:t>
                    </m:r>
                    <m:r>
                      <a:rPr lang="en-US" i="1">
                        <a:latin typeface="Cambria Math" panose="02040503050406030204" pitchFamily="18" charset="0"/>
                      </a:rPr>
                      <m:t>𝐼𝐷</m:t>
                    </m:r>
                    <m:r>
                      <a:rPr lang="en-US">
                        <a:latin typeface="Cambria Math" panose="02040503050406030204" pitchFamily="18" charset="0"/>
                      </a:rPr>
                      <m:t>→</m:t>
                    </m:r>
                    <m:r>
                      <a:rPr lang="en-US" i="1">
                        <a:latin typeface="Cambria Math" panose="02040503050406030204" pitchFamily="18" charset="0"/>
                      </a:rPr>
                      <m:t>𝐷𝑒𝑝𝑡</m:t>
                    </m:r>
                    <m:r>
                      <m:rPr>
                        <m:lit/>
                      </m:rPr>
                      <a:rPr lang="en-US">
                        <a:latin typeface="Cambria Math" panose="02040503050406030204" pitchFamily="18" charset="0"/>
                      </a:rPr>
                      <m:t>_</m:t>
                    </m:r>
                    <m:r>
                      <a:rPr lang="en-US" i="1">
                        <a:latin typeface="Cambria Math" panose="02040503050406030204" pitchFamily="18" charset="0"/>
                      </a:rPr>
                      <m:t>𝐼𝐷</m:t>
                    </m:r>
                  </m:oMath>
                </a14:m>
                <a:r>
                  <a:rPr lang="en-US" dirty="0"/>
                  <a:t> </a:t>
                </a:r>
              </a:p>
              <a:p>
                <a:r>
                  <a:rPr lang="en-US" dirty="0"/>
                  <a:t>i.e. StudentID gives </a:t>
                </a:r>
                <a:r>
                  <a:rPr lang="en-US" dirty="0" err="1"/>
                  <a:t>DeptID</a:t>
                </a:r>
                <a:r>
                  <a:rPr lang="en-US" dirty="0"/>
                  <a:t>.</a:t>
                </a:r>
              </a:p>
              <a:p>
                <a:r>
                  <a:rPr lang="en-US" dirty="0"/>
                  <a:t> AND</a:t>
                </a:r>
              </a:p>
              <a:p>
                <a14:m>
                  <m:oMath xmlns:m="http://schemas.openxmlformats.org/officeDocument/2006/math">
                    <m:d>
                      <m:dPr>
                        <m:sepChr m:val=","/>
                        <m:ctrlPr>
                          <a:rPr lang="ar-AE" i="1">
                            <a:latin typeface="Cambria Math" panose="02040503050406030204" pitchFamily="18" charset="0"/>
                          </a:rPr>
                        </m:ctrlPr>
                      </m:dPr>
                      <m:e>
                        <m:r>
                          <m:rPr>
                            <m:sty m:val="p"/>
                          </m:rPr>
                          <a:rPr lang="en-US" b="0" i="1" smtClean="0">
                            <a:latin typeface="Cambria Math" panose="02040503050406030204" pitchFamily="18" charset="0"/>
                          </a:rPr>
                          <m:t>DeptID</m:t>
                        </m:r>
                        <m:r>
                          <a:rPr lang="en-US" b="0" i="1" smtClean="0">
                            <a:latin typeface="Cambria Math" panose="02040503050406030204" pitchFamily="18" charset="0"/>
                          </a:rPr>
                          <m:t>, </m:t>
                        </m:r>
                      </m:e>
                      <m:e>
                        <m:r>
                          <m:rPr>
                            <m:sty m:val="p"/>
                          </m:rPr>
                          <a:rPr lang="en-US" b="0" i="1" smtClean="0">
                            <a:latin typeface="Cambria Math" panose="02040503050406030204" pitchFamily="18" charset="0"/>
                          </a:rPr>
                          <m:t>CourseID</m:t>
                        </m:r>
                      </m:e>
                    </m:d>
                    <m:r>
                      <a:rPr lang="ar-AE">
                        <a:latin typeface="Cambria Math" panose="02040503050406030204" pitchFamily="18" charset="0"/>
                      </a:rPr>
                      <m:t>→</m:t>
                    </m:r>
                    <m:r>
                      <a:rPr lang="ar-AE" i="1">
                        <a:latin typeface="Cambria Math" panose="02040503050406030204" pitchFamily="18" charset="0"/>
                      </a:rPr>
                      <m:t>𝐹𝑎𝑐𝑢𝑙𝑡𝑦</m:t>
                    </m:r>
                  </m:oMath>
                </a14:m>
                <a:endParaRPr lang="ar-AE" dirty="0"/>
              </a:p>
              <a:p>
                <a:r>
                  <a:rPr lang="en-US" dirty="0"/>
                  <a:t>i.e. </a:t>
                </a:r>
                <a:r>
                  <a:rPr lang="en-US" dirty="0" err="1"/>
                  <a:t>DeptID</a:t>
                </a:r>
                <a:r>
                  <a:rPr lang="en-US" dirty="0"/>
                  <a:t> + </a:t>
                </a:r>
                <a:r>
                  <a:rPr lang="en-US" dirty="0" err="1"/>
                  <a:t>CourseID</a:t>
                </a:r>
                <a:r>
                  <a:rPr lang="en-US" dirty="0"/>
                  <a:t> gives Faculty.</a:t>
                </a:r>
              </a:p>
              <a:p>
                <a:r>
                  <a:rPr lang="en-US" dirty="0"/>
                  <a:t>Then:</a:t>
                </a:r>
              </a:p>
              <a:p>
                <a14:m>
                  <m:oMath xmlns:m="http://schemas.openxmlformats.org/officeDocument/2006/math">
                    <m:d>
                      <m:dPr>
                        <m:sepChr m:val=","/>
                        <m:ctrlPr>
                          <a:rPr lang="ar-AE" i="1">
                            <a:latin typeface="Cambria Math" panose="02040503050406030204" pitchFamily="18" charset="0"/>
                          </a:rPr>
                        </m:ctrlPr>
                      </m:dPr>
                      <m:e>
                        <m:r>
                          <a:rPr lang="ar-AE" i="1">
                            <a:latin typeface="Cambria Math" panose="02040503050406030204" pitchFamily="18" charset="0"/>
                          </a:rPr>
                          <m:t>𝑆</m:t>
                        </m:r>
                      </m:e>
                      <m:e>
                        <m:r>
                          <a:rPr lang="ar-AE" i="1">
                            <a:latin typeface="Cambria Math" panose="02040503050406030204" pitchFamily="18" charset="0"/>
                          </a:rPr>
                          <m:t>𝑡𝑢𝑑𝑒𝑛𝑡</m:t>
                        </m:r>
                        <m:r>
                          <m:rPr>
                            <m:lit/>
                          </m:rPr>
                          <a:rPr lang="ar-AE">
                            <a:latin typeface="Cambria Math" panose="02040503050406030204" pitchFamily="18" charset="0"/>
                          </a:rPr>
                          <m:t>_</m:t>
                        </m:r>
                        <m:r>
                          <a:rPr lang="ar-AE" i="1">
                            <a:latin typeface="Cambria Math" panose="02040503050406030204" pitchFamily="18" charset="0"/>
                          </a:rPr>
                          <m:t>𝐼𝐷</m:t>
                        </m:r>
                        <m:r>
                          <a:rPr lang="en-US" b="0" i="1" smtClean="0">
                            <a:latin typeface="Cambria Math" panose="02040503050406030204" pitchFamily="18" charset="0"/>
                          </a:rPr>
                          <m:t>, </m:t>
                        </m:r>
                        <m:r>
                          <a:rPr lang="ar-AE" i="1">
                            <a:latin typeface="Cambria Math" panose="02040503050406030204" pitchFamily="18" charset="0"/>
                          </a:rPr>
                          <m:t>𝐶𝑜𝑢𝑟𝑠𝑒</m:t>
                        </m:r>
                        <m:r>
                          <m:rPr>
                            <m:lit/>
                          </m:rPr>
                          <a:rPr lang="ar-AE">
                            <a:latin typeface="Cambria Math" panose="02040503050406030204" pitchFamily="18" charset="0"/>
                          </a:rPr>
                          <m:t>_</m:t>
                        </m:r>
                        <m:r>
                          <a:rPr lang="ar-AE" i="1">
                            <a:latin typeface="Cambria Math" panose="02040503050406030204" pitchFamily="18" charset="0"/>
                          </a:rPr>
                          <m:t>𝐼𝐷</m:t>
                        </m:r>
                      </m:e>
                    </m:d>
                    <m:r>
                      <a:rPr lang="ar-AE">
                        <a:latin typeface="Cambria Math" panose="02040503050406030204" pitchFamily="18" charset="0"/>
                      </a:rPr>
                      <m:t>→</m:t>
                    </m:r>
                    <m:r>
                      <a:rPr lang="ar-AE" i="1">
                        <a:latin typeface="Cambria Math" panose="02040503050406030204" pitchFamily="18" charset="0"/>
                      </a:rPr>
                      <m:t>𝐹𝑎𝑐𝑢𝑙𝑡𝑦</m:t>
                    </m:r>
                  </m:oMath>
                </a14:m>
                <a:endParaRPr lang="ar-AE" dirty="0"/>
              </a:p>
              <a:p>
                <a:endParaRPr lang="en-US" dirty="0"/>
              </a:p>
            </p:txBody>
          </p:sp>
        </mc:Choice>
        <mc:Fallback xmlns="">
          <p:sp>
            <p:nvSpPr>
              <p:cNvPr id="3" name="Content Placeholder 2">
                <a:extLst>
                  <a:ext uri="{FF2B5EF4-FFF2-40B4-BE49-F238E27FC236}">
                    <a16:creationId xmlns:a16="http://schemas.microsoft.com/office/drawing/2014/main" id="{E7B58516-DF90-DEBE-982E-1E07EDB18733}"/>
                  </a:ext>
                </a:extLst>
              </p:cNvPr>
              <p:cNvSpPr>
                <a:spLocks noGrp="1" noRot="1" noChangeAspect="1" noMove="1" noResize="1" noEditPoints="1" noAdjustHandles="1" noChangeArrowheads="1" noChangeShapeType="1" noTextEdit="1"/>
              </p:cNvSpPr>
              <p:nvPr>
                <p:ph idx="1"/>
              </p:nvPr>
            </p:nvSpPr>
            <p:spPr>
              <a:blipFill>
                <a:blip r:embed="rId2"/>
                <a:stretch>
                  <a:fillRect l="-1515" t="-1667" b="-758"/>
                </a:stretch>
              </a:blipFill>
            </p:spPr>
            <p:txBody>
              <a:bodyPr/>
              <a:lstStyle/>
              <a:p>
                <a:r>
                  <a:rPr lang="en-US">
                    <a:noFill/>
                  </a:rPr>
                  <a:t> </a:t>
                </a:r>
              </a:p>
            </p:txBody>
          </p:sp>
        </mc:Fallback>
      </mc:AlternateContent>
      <p:graphicFrame>
        <p:nvGraphicFramePr>
          <p:cNvPr id="4" name="Table 3">
            <a:extLst>
              <a:ext uri="{FF2B5EF4-FFF2-40B4-BE49-F238E27FC236}">
                <a16:creationId xmlns:a16="http://schemas.microsoft.com/office/drawing/2014/main" id="{3AD58795-FDD8-E698-E408-326A425AE26B}"/>
              </a:ext>
            </a:extLst>
          </p:cNvPr>
          <p:cNvGraphicFramePr>
            <a:graphicFrameLocks noGrp="1"/>
          </p:cNvGraphicFramePr>
          <p:nvPr>
            <p:extLst>
              <p:ext uri="{D42A27DB-BD31-4B8C-83A1-F6EECF244321}">
                <p14:modId xmlns:p14="http://schemas.microsoft.com/office/powerpoint/2010/main" val="1763423118"/>
              </p:ext>
            </p:extLst>
          </p:nvPr>
        </p:nvGraphicFramePr>
        <p:xfrm>
          <a:off x="5188857" y="2316480"/>
          <a:ext cx="6828972" cy="1112520"/>
        </p:xfrm>
        <a:graphic>
          <a:graphicData uri="http://schemas.openxmlformats.org/drawingml/2006/table">
            <a:tbl>
              <a:tblPr firstRow="1" bandRow="1">
                <a:tableStyleId>{5C22544A-7EE6-4342-B048-85BDC9FD1C3A}</a:tableStyleId>
              </a:tblPr>
              <a:tblGrid>
                <a:gridCol w="1707243">
                  <a:extLst>
                    <a:ext uri="{9D8B030D-6E8A-4147-A177-3AD203B41FA5}">
                      <a16:colId xmlns:a16="http://schemas.microsoft.com/office/drawing/2014/main" val="1057106975"/>
                    </a:ext>
                  </a:extLst>
                </a:gridCol>
                <a:gridCol w="1707243">
                  <a:extLst>
                    <a:ext uri="{9D8B030D-6E8A-4147-A177-3AD203B41FA5}">
                      <a16:colId xmlns:a16="http://schemas.microsoft.com/office/drawing/2014/main" val="2920276415"/>
                    </a:ext>
                  </a:extLst>
                </a:gridCol>
                <a:gridCol w="1707243">
                  <a:extLst>
                    <a:ext uri="{9D8B030D-6E8A-4147-A177-3AD203B41FA5}">
                      <a16:colId xmlns:a16="http://schemas.microsoft.com/office/drawing/2014/main" val="4231361729"/>
                    </a:ext>
                  </a:extLst>
                </a:gridCol>
                <a:gridCol w="1707243">
                  <a:extLst>
                    <a:ext uri="{9D8B030D-6E8A-4147-A177-3AD203B41FA5}">
                      <a16:colId xmlns:a16="http://schemas.microsoft.com/office/drawing/2014/main" val="122559899"/>
                    </a:ext>
                  </a:extLst>
                </a:gridCol>
              </a:tblGrid>
              <a:tr h="370840">
                <a:tc>
                  <a:txBody>
                    <a:bodyPr/>
                    <a:lstStyle/>
                    <a:p>
                      <a:pPr>
                        <a:buNone/>
                      </a:pPr>
                      <a:r>
                        <a:rPr lang="en-US" dirty="0"/>
                        <a:t>StudentID</a:t>
                      </a:r>
                    </a:p>
                  </a:txBody>
                  <a:tcPr anchor="ctr"/>
                </a:tc>
                <a:tc>
                  <a:txBody>
                    <a:bodyPr/>
                    <a:lstStyle/>
                    <a:p>
                      <a:pPr>
                        <a:buNone/>
                      </a:pPr>
                      <a:r>
                        <a:rPr lang="en-US"/>
                        <a:t>DeptID</a:t>
                      </a:r>
                    </a:p>
                  </a:txBody>
                  <a:tcPr anchor="ctr"/>
                </a:tc>
                <a:tc>
                  <a:txBody>
                    <a:bodyPr/>
                    <a:lstStyle/>
                    <a:p>
                      <a:pPr>
                        <a:buNone/>
                      </a:pPr>
                      <a:r>
                        <a:rPr lang="en-US"/>
                        <a:t>CourseID</a:t>
                      </a:r>
                    </a:p>
                  </a:txBody>
                  <a:tcPr anchor="ctr"/>
                </a:tc>
                <a:tc>
                  <a:txBody>
                    <a:bodyPr/>
                    <a:lstStyle/>
                    <a:p>
                      <a:pPr>
                        <a:buNone/>
                      </a:pPr>
                      <a:r>
                        <a:rPr lang="en-US"/>
                        <a:t>Faculty</a:t>
                      </a:r>
                    </a:p>
                  </a:txBody>
                  <a:tcPr anchor="ctr"/>
                </a:tc>
                <a:extLst>
                  <a:ext uri="{0D108BD9-81ED-4DB2-BD59-A6C34878D82A}">
                    <a16:rowId xmlns:a16="http://schemas.microsoft.com/office/drawing/2014/main" val="1740209715"/>
                  </a:ext>
                </a:extLst>
              </a:tr>
              <a:tr h="370840">
                <a:tc>
                  <a:txBody>
                    <a:bodyPr/>
                    <a:lstStyle/>
                    <a:p>
                      <a:pPr>
                        <a:buNone/>
                      </a:pPr>
                      <a:r>
                        <a:rPr lang="en-US"/>
                        <a:t>101</a:t>
                      </a:r>
                    </a:p>
                  </a:txBody>
                  <a:tcPr anchor="ctr"/>
                </a:tc>
                <a:tc>
                  <a:txBody>
                    <a:bodyPr/>
                    <a:lstStyle/>
                    <a:p>
                      <a:pPr>
                        <a:buNone/>
                      </a:pPr>
                      <a:r>
                        <a:rPr lang="en-US"/>
                        <a:t>D01</a:t>
                      </a:r>
                    </a:p>
                  </a:txBody>
                  <a:tcPr anchor="ctr"/>
                </a:tc>
                <a:tc>
                  <a:txBody>
                    <a:bodyPr/>
                    <a:lstStyle/>
                    <a:p>
                      <a:pPr>
                        <a:buNone/>
                      </a:pPr>
                      <a:r>
                        <a:rPr lang="en-US"/>
                        <a:t>C101</a:t>
                      </a:r>
                    </a:p>
                  </a:txBody>
                  <a:tcPr anchor="ctr"/>
                </a:tc>
                <a:tc>
                  <a:txBody>
                    <a:bodyPr/>
                    <a:lstStyle/>
                    <a:p>
                      <a:pPr>
                        <a:buNone/>
                      </a:pPr>
                      <a:r>
                        <a:rPr lang="en-US"/>
                        <a:t>Dr. Sharma</a:t>
                      </a:r>
                    </a:p>
                  </a:txBody>
                  <a:tcPr anchor="ctr"/>
                </a:tc>
                <a:extLst>
                  <a:ext uri="{0D108BD9-81ED-4DB2-BD59-A6C34878D82A}">
                    <a16:rowId xmlns:a16="http://schemas.microsoft.com/office/drawing/2014/main" val="2375329744"/>
                  </a:ext>
                </a:extLst>
              </a:tr>
              <a:tr h="370840">
                <a:tc>
                  <a:txBody>
                    <a:bodyPr/>
                    <a:lstStyle/>
                    <a:p>
                      <a:pPr>
                        <a:buNone/>
                      </a:pPr>
                      <a:r>
                        <a:rPr lang="en-US"/>
                        <a:t>102</a:t>
                      </a:r>
                    </a:p>
                  </a:txBody>
                  <a:tcPr anchor="ctr"/>
                </a:tc>
                <a:tc>
                  <a:txBody>
                    <a:bodyPr/>
                    <a:lstStyle/>
                    <a:p>
                      <a:pPr>
                        <a:buNone/>
                      </a:pPr>
                      <a:r>
                        <a:rPr lang="en-US"/>
                        <a:t>D02</a:t>
                      </a:r>
                    </a:p>
                  </a:txBody>
                  <a:tcPr anchor="ctr"/>
                </a:tc>
                <a:tc>
                  <a:txBody>
                    <a:bodyPr/>
                    <a:lstStyle/>
                    <a:p>
                      <a:pPr>
                        <a:buNone/>
                      </a:pPr>
                      <a:r>
                        <a:rPr lang="en-US"/>
                        <a:t>C102</a:t>
                      </a:r>
                    </a:p>
                  </a:txBody>
                  <a:tcPr anchor="ctr"/>
                </a:tc>
                <a:tc>
                  <a:txBody>
                    <a:bodyPr/>
                    <a:lstStyle/>
                    <a:p>
                      <a:pPr>
                        <a:buNone/>
                      </a:pPr>
                      <a:r>
                        <a:rPr lang="en-US" dirty="0"/>
                        <a:t>Dr. Karki</a:t>
                      </a:r>
                    </a:p>
                  </a:txBody>
                  <a:tcPr anchor="ctr"/>
                </a:tc>
                <a:extLst>
                  <a:ext uri="{0D108BD9-81ED-4DB2-BD59-A6C34878D82A}">
                    <a16:rowId xmlns:a16="http://schemas.microsoft.com/office/drawing/2014/main" val="3307313573"/>
                  </a:ext>
                </a:extLst>
              </a:tr>
            </a:tbl>
          </a:graphicData>
        </a:graphic>
      </p:graphicFrame>
    </p:spTree>
    <p:extLst>
      <p:ext uri="{BB962C8B-B14F-4D97-AF65-F5344CB8AC3E}">
        <p14:creationId xmlns:p14="http://schemas.microsoft.com/office/powerpoint/2010/main" val="181714851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6983F2-B3C5-5066-CCBD-55EB8E1EDE99}"/>
              </a:ext>
            </a:extLst>
          </p:cNvPr>
          <p:cNvSpPr>
            <a:spLocks noGrp="1"/>
          </p:cNvSpPr>
          <p:nvPr>
            <p:ph type="title"/>
          </p:nvPr>
        </p:nvSpPr>
        <p:spPr/>
        <p:txBody>
          <a:bodyPr/>
          <a:lstStyle/>
          <a:p>
            <a:r>
              <a:rPr lang="en-US" dirty="0"/>
              <a:t>Applying Armstrong’s axioms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6CFBBEB-8773-34F2-3F80-C2CFF64B7E0F}"/>
                  </a:ext>
                </a:extLst>
              </p:cNvPr>
              <p:cNvSpPr>
                <a:spLocks noGrp="1"/>
              </p:cNvSpPr>
              <p:nvPr>
                <p:ph idx="1"/>
              </p:nvPr>
            </p:nvSpPr>
            <p:spPr/>
            <p:txBody>
              <a:bodyPr/>
              <a:lstStyle/>
              <a:p>
                <a:r>
                  <a:rPr lang="en-US" dirty="0"/>
                  <a:t>Given FDs:</a:t>
                </a:r>
              </a:p>
              <a:p>
                <a:pPr marL="201168" lvl="1"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𝑆𝑡𝑢𝑑𝑒𝑛𝑡</m:t>
                      </m:r>
                      <m:r>
                        <m:rPr>
                          <m:lit/>
                        </m:rPr>
                        <a:rPr lang="en-US">
                          <a:latin typeface="Cambria Math" panose="02040503050406030204" pitchFamily="18" charset="0"/>
                        </a:rPr>
                        <m:t>_</m:t>
                      </m:r>
                      <m:r>
                        <a:rPr lang="en-US" i="1">
                          <a:latin typeface="Cambria Math" panose="02040503050406030204" pitchFamily="18" charset="0"/>
                        </a:rPr>
                        <m:t>𝐼𝐷</m:t>
                      </m:r>
                      <m:r>
                        <a:rPr lang="en-US">
                          <a:latin typeface="Cambria Math" panose="02040503050406030204" pitchFamily="18" charset="0"/>
                        </a:rPr>
                        <m:t>→</m:t>
                      </m:r>
                      <m:r>
                        <a:rPr lang="en-US" i="1">
                          <a:latin typeface="Cambria Math" panose="02040503050406030204" pitchFamily="18" charset="0"/>
                        </a:rPr>
                        <m:t>𝐷𝑒𝑝𝑡</m:t>
                      </m:r>
                      <m:r>
                        <m:rPr>
                          <m:lit/>
                        </m:rPr>
                        <a:rPr lang="en-US">
                          <a:latin typeface="Cambria Math" panose="02040503050406030204" pitchFamily="18" charset="0"/>
                        </a:rPr>
                        <m:t>_</m:t>
                      </m:r>
                      <m:r>
                        <a:rPr lang="en-US" i="1">
                          <a:latin typeface="Cambria Math" panose="02040503050406030204" pitchFamily="18" charset="0"/>
                        </a:rPr>
                        <m:t>𝐼𝐷</m:t>
                      </m:r>
                    </m:oMath>
                  </m:oMathPara>
                </a14:m>
                <a:endParaRPr lang="en-US" dirty="0"/>
              </a:p>
              <a:p>
                <a:pPr marL="201168" lvl="1"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𝐷𝑒𝑝𝑡</m:t>
                      </m:r>
                      <m:r>
                        <m:rPr>
                          <m:lit/>
                        </m:rPr>
                        <a:rPr lang="en-US">
                          <a:latin typeface="Cambria Math" panose="02040503050406030204" pitchFamily="18" charset="0"/>
                        </a:rPr>
                        <m:t>_</m:t>
                      </m:r>
                      <m:r>
                        <a:rPr lang="en-US" i="1">
                          <a:latin typeface="Cambria Math" panose="02040503050406030204" pitchFamily="18" charset="0"/>
                        </a:rPr>
                        <m:t>𝐼𝐷</m:t>
                      </m:r>
                      <m:r>
                        <a:rPr lang="en-US">
                          <a:latin typeface="Cambria Math" panose="02040503050406030204" pitchFamily="18" charset="0"/>
                        </a:rPr>
                        <m:t>→</m:t>
                      </m:r>
                      <m:r>
                        <a:rPr lang="en-US" i="1">
                          <a:latin typeface="Cambria Math" panose="02040503050406030204" pitchFamily="18" charset="0"/>
                        </a:rPr>
                        <m:t>𝐷𝑒𝑝𝑡</m:t>
                      </m:r>
                      <m:r>
                        <m:rPr>
                          <m:lit/>
                        </m:rPr>
                        <a:rPr lang="en-US">
                          <a:latin typeface="Cambria Math" panose="02040503050406030204" pitchFamily="18" charset="0"/>
                        </a:rPr>
                        <m:t>_</m:t>
                      </m:r>
                      <m:r>
                        <a:rPr lang="en-US" i="1">
                          <a:latin typeface="Cambria Math" panose="02040503050406030204" pitchFamily="18" charset="0"/>
                        </a:rPr>
                        <m:t>𝑁𝑎𝑚𝑒</m:t>
                      </m:r>
                    </m:oMath>
                  </m:oMathPara>
                </a14:m>
                <a:endParaRPr lang="en-US" dirty="0"/>
              </a:p>
              <a:p>
                <a:r>
                  <a:rPr lang="en-US" b="1" dirty="0"/>
                  <a:t>Find:</a:t>
                </a:r>
                <a14:m>
                  <m:oMath xmlns:m="http://schemas.openxmlformats.org/officeDocument/2006/math">
                    <m:r>
                      <a:rPr lang="en-US" b="1" i="0" smtClean="0">
                        <a:latin typeface="Cambria Math" panose="02040503050406030204" pitchFamily="18" charset="0"/>
                      </a:rPr>
                      <m:t> </m:t>
                    </m:r>
                    <m:r>
                      <a:rPr lang="en-US" i="1">
                        <a:latin typeface="Cambria Math" panose="02040503050406030204" pitchFamily="18" charset="0"/>
                      </a:rPr>
                      <m:t>𝑆𝑡𝑢𝑑𝑒𝑛𝑡</m:t>
                    </m:r>
                    <m:r>
                      <m:rPr>
                        <m:lit/>
                      </m:rPr>
                      <a:rPr lang="en-US">
                        <a:latin typeface="Cambria Math" panose="02040503050406030204" pitchFamily="18" charset="0"/>
                      </a:rPr>
                      <m:t>_</m:t>
                    </m:r>
                    <m:r>
                      <a:rPr lang="en-US" i="1">
                        <a:latin typeface="Cambria Math" panose="02040503050406030204" pitchFamily="18" charset="0"/>
                      </a:rPr>
                      <m:t>𝐼𝐷</m:t>
                    </m:r>
                    <m:r>
                      <a:rPr lang="en-US">
                        <a:latin typeface="Cambria Math" panose="02040503050406030204" pitchFamily="18" charset="0"/>
                      </a:rPr>
                      <m:t>→</m:t>
                    </m:r>
                    <m:r>
                      <a:rPr lang="en-US" i="1">
                        <a:latin typeface="Cambria Math" panose="02040503050406030204" pitchFamily="18" charset="0"/>
                      </a:rPr>
                      <m:t>𝐷𝑒𝑝𝑡</m:t>
                    </m:r>
                    <m:r>
                      <m:rPr>
                        <m:lit/>
                      </m:rPr>
                      <a:rPr lang="en-US">
                        <a:latin typeface="Cambria Math" panose="02040503050406030204" pitchFamily="18" charset="0"/>
                      </a:rPr>
                      <m:t>_</m:t>
                    </m:r>
                    <m:r>
                      <a:rPr lang="en-US" i="1">
                        <a:latin typeface="Cambria Math" panose="02040503050406030204" pitchFamily="18" charset="0"/>
                      </a:rPr>
                      <m:t>𝑁𝑎𝑚𝑒</m:t>
                    </m:r>
                  </m:oMath>
                </a14:m>
                <a:endParaRPr lang="en-US" dirty="0"/>
              </a:p>
              <a:p>
                <a:r>
                  <a:rPr lang="en-US" dirty="0"/>
                  <a:t>Using </a:t>
                </a:r>
                <a:r>
                  <a:rPr lang="en-US" b="1" dirty="0"/>
                  <a:t>Transitivity</a:t>
                </a:r>
                <a:r>
                  <a:rPr lang="en-US" dirty="0"/>
                  <a:t>:</a:t>
                </a:r>
              </a:p>
              <a:p>
                <a:pPr marL="201168" lvl="1"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𝑆𝑡𝑢𝑑𝑒𝑛𝑡</m:t>
                      </m:r>
                      <m:r>
                        <m:rPr>
                          <m:lit/>
                        </m:rPr>
                        <a:rPr lang="en-US">
                          <a:latin typeface="Cambria Math" panose="02040503050406030204" pitchFamily="18" charset="0"/>
                        </a:rPr>
                        <m:t>_</m:t>
                      </m:r>
                      <m:r>
                        <a:rPr lang="en-US" i="1">
                          <a:latin typeface="Cambria Math" panose="02040503050406030204" pitchFamily="18" charset="0"/>
                        </a:rPr>
                        <m:t>𝐼𝐷</m:t>
                      </m:r>
                      <m:r>
                        <a:rPr lang="en-US">
                          <a:latin typeface="Cambria Math" panose="02040503050406030204" pitchFamily="18" charset="0"/>
                        </a:rPr>
                        <m:t>→</m:t>
                      </m:r>
                      <m:r>
                        <a:rPr lang="en-US" i="1">
                          <a:latin typeface="Cambria Math" panose="02040503050406030204" pitchFamily="18" charset="0"/>
                        </a:rPr>
                        <m:t>𝐷𝑒𝑝𝑡</m:t>
                      </m:r>
                      <m:r>
                        <m:rPr>
                          <m:lit/>
                        </m:rPr>
                        <a:rPr lang="en-US">
                          <a:latin typeface="Cambria Math" panose="02040503050406030204" pitchFamily="18" charset="0"/>
                        </a:rPr>
                        <m:t>_</m:t>
                      </m:r>
                      <m:r>
                        <a:rPr lang="en-US" i="1">
                          <a:latin typeface="Cambria Math" panose="02040503050406030204" pitchFamily="18" charset="0"/>
                        </a:rPr>
                        <m:t>𝐼𝐷</m:t>
                      </m:r>
                    </m:oMath>
                  </m:oMathPara>
                </a14:m>
                <a:endParaRPr lang="en-US" dirty="0"/>
              </a:p>
              <a:p>
                <a:pPr marL="201168" lvl="1"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𝐷𝑒𝑝𝑡</m:t>
                      </m:r>
                      <m:r>
                        <m:rPr>
                          <m:lit/>
                        </m:rPr>
                        <a:rPr lang="en-US">
                          <a:latin typeface="Cambria Math" panose="02040503050406030204" pitchFamily="18" charset="0"/>
                        </a:rPr>
                        <m:t>_</m:t>
                      </m:r>
                      <m:r>
                        <a:rPr lang="en-US" i="1">
                          <a:latin typeface="Cambria Math" panose="02040503050406030204" pitchFamily="18" charset="0"/>
                        </a:rPr>
                        <m:t>𝐼𝐷</m:t>
                      </m:r>
                      <m:r>
                        <a:rPr lang="en-US">
                          <a:latin typeface="Cambria Math" panose="02040503050406030204" pitchFamily="18" charset="0"/>
                        </a:rPr>
                        <m:t>→</m:t>
                      </m:r>
                      <m:r>
                        <a:rPr lang="en-US" i="1">
                          <a:latin typeface="Cambria Math" panose="02040503050406030204" pitchFamily="18" charset="0"/>
                        </a:rPr>
                        <m:t>𝐷𝑒𝑝𝑡</m:t>
                      </m:r>
                      <m:r>
                        <m:rPr>
                          <m:lit/>
                        </m:rPr>
                        <a:rPr lang="en-US">
                          <a:latin typeface="Cambria Math" panose="02040503050406030204" pitchFamily="18" charset="0"/>
                        </a:rPr>
                        <m:t>_</m:t>
                      </m:r>
                      <m:r>
                        <a:rPr lang="en-US" i="1">
                          <a:latin typeface="Cambria Math" panose="02040503050406030204" pitchFamily="18" charset="0"/>
                        </a:rPr>
                        <m:t>𝑁𝑎𝑚𝑒</m:t>
                      </m:r>
                    </m:oMath>
                  </m:oMathPara>
                </a14:m>
                <a:endParaRPr lang="en-US" dirty="0"/>
              </a:p>
              <a:p>
                <a:r>
                  <a:rPr lang="en-US" dirty="0"/>
                  <a:t>Therefore:</a:t>
                </a:r>
                <a14:m>
                  <m:oMath xmlns:m="http://schemas.openxmlformats.org/officeDocument/2006/math">
                    <m:r>
                      <a:rPr lang="en-US" b="0" i="0" smtClean="0">
                        <a:latin typeface="Cambria Math" panose="02040503050406030204" pitchFamily="18" charset="0"/>
                      </a:rPr>
                      <m:t> </m:t>
                    </m:r>
                    <m:r>
                      <a:rPr lang="en-US" i="1">
                        <a:latin typeface="Cambria Math" panose="02040503050406030204" pitchFamily="18" charset="0"/>
                      </a:rPr>
                      <m:t>𝑆𝑡𝑢𝑑𝑒𝑛𝑡</m:t>
                    </m:r>
                    <m:r>
                      <m:rPr>
                        <m:lit/>
                      </m:rPr>
                      <a:rPr lang="en-US">
                        <a:latin typeface="Cambria Math" panose="02040503050406030204" pitchFamily="18" charset="0"/>
                      </a:rPr>
                      <m:t>_</m:t>
                    </m:r>
                    <m:r>
                      <a:rPr lang="en-US" i="1">
                        <a:latin typeface="Cambria Math" panose="02040503050406030204" pitchFamily="18" charset="0"/>
                      </a:rPr>
                      <m:t>𝐼𝐷</m:t>
                    </m:r>
                    <m:r>
                      <a:rPr lang="en-US">
                        <a:latin typeface="Cambria Math" panose="02040503050406030204" pitchFamily="18" charset="0"/>
                      </a:rPr>
                      <m:t>→</m:t>
                    </m:r>
                    <m:r>
                      <a:rPr lang="en-US" i="1">
                        <a:latin typeface="Cambria Math" panose="02040503050406030204" pitchFamily="18" charset="0"/>
                      </a:rPr>
                      <m:t>𝐷𝑒𝑝𝑡</m:t>
                    </m:r>
                    <m:r>
                      <m:rPr>
                        <m:lit/>
                      </m:rPr>
                      <a:rPr lang="en-US">
                        <a:latin typeface="Cambria Math" panose="02040503050406030204" pitchFamily="18" charset="0"/>
                      </a:rPr>
                      <m:t>_</m:t>
                    </m:r>
                    <m:r>
                      <a:rPr lang="en-US" i="1">
                        <a:latin typeface="Cambria Math" panose="02040503050406030204" pitchFamily="18" charset="0"/>
                      </a:rPr>
                      <m:t>𝑁𝑎𝑚𝑒</m:t>
                    </m:r>
                  </m:oMath>
                </a14:m>
                <a:endParaRPr lang="en-US" dirty="0"/>
              </a:p>
              <a:p>
                <a:endParaRPr lang="en-US" dirty="0"/>
              </a:p>
            </p:txBody>
          </p:sp>
        </mc:Choice>
        <mc:Fallback xmlns="">
          <p:sp>
            <p:nvSpPr>
              <p:cNvPr id="3" name="Content Placeholder 2">
                <a:extLst>
                  <a:ext uri="{FF2B5EF4-FFF2-40B4-BE49-F238E27FC236}">
                    <a16:creationId xmlns:a16="http://schemas.microsoft.com/office/drawing/2014/main" id="{C6CFBBEB-8773-34F2-3F80-C2CFF64B7E0F}"/>
                  </a:ext>
                </a:extLst>
              </p:cNvPr>
              <p:cNvSpPr>
                <a:spLocks noGrp="1" noRot="1" noChangeAspect="1" noMove="1" noResize="1" noEditPoints="1" noAdjustHandles="1" noChangeArrowheads="1" noChangeShapeType="1" noTextEdit="1"/>
              </p:cNvSpPr>
              <p:nvPr>
                <p:ph idx="1"/>
              </p:nvPr>
            </p:nvSpPr>
            <p:spPr>
              <a:blipFill>
                <a:blip r:embed="rId2"/>
                <a:stretch>
                  <a:fillRect l="-1515" t="-1667"/>
                </a:stretch>
              </a:blipFill>
            </p:spPr>
            <p:txBody>
              <a:bodyPr/>
              <a:lstStyle/>
              <a:p>
                <a:r>
                  <a:rPr lang="en-US">
                    <a:noFill/>
                  </a:rPr>
                  <a:t> </a:t>
                </a:r>
              </a:p>
            </p:txBody>
          </p:sp>
        </mc:Fallback>
      </mc:AlternateContent>
    </p:spTree>
    <p:extLst>
      <p:ext uri="{BB962C8B-B14F-4D97-AF65-F5344CB8AC3E}">
        <p14:creationId xmlns:p14="http://schemas.microsoft.com/office/powerpoint/2010/main" val="595818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A4DA5-54C2-50E8-3646-99A107143794}"/>
              </a:ext>
            </a:extLst>
          </p:cNvPr>
          <p:cNvSpPr>
            <a:spLocks noGrp="1"/>
          </p:cNvSpPr>
          <p:nvPr>
            <p:ph type="title"/>
          </p:nvPr>
        </p:nvSpPr>
        <p:spPr/>
        <p:txBody>
          <a:bodyPr/>
          <a:lstStyle/>
          <a:p>
            <a:r>
              <a:rPr lang="en-US" dirty="0"/>
              <a:t>Summary of Axioms</a:t>
            </a:r>
          </a:p>
        </p:txBody>
      </p:sp>
      <p:graphicFrame>
        <p:nvGraphicFramePr>
          <p:cNvPr id="4" name="Content Placeholder 3">
            <a:extLst>
              <a:ext uri="{FF2B5EF4-FFF2-40B4-BE49-F238E27FC236}">
                <a16:creationId xmlns:a16="http://schemas.microsoft.com/office/drawing/2014/main" id="{9CF633E3-2327-3878-AF53-D9211FAF245A}"/>
              </a:ext>
            </a:extLst>
          </p:cNvPr>
          <p:cNvGraphicFramePr>
            <a:graphicFrameLocks noGrp="1"/>
          </p:cNvGraphicFramePr>
          <p:nvPr>
            <p:ph idx="1"/>
            <p:extLst>
              <p:ext uri="{D42A27DB-BD31-4B8C-83A1-F6EECF244321}">
                <p14:modId xmlns:p14="http://schemas.microsoft.com/office/powerpoint/2010/main" val="3903884170"/>
              </p:ext>
            </p:extLst>
          </p:nvPr>
        </p:nvGraphicFramePr>
        <p:xfrm>
          <a:off x="1096963" y="1846262"/>
          <a:ext cx="8332788" cy="4077001"/>
        </p:xfrm>
        <a:graphic>
          <a:graphicData uri="http://schemas.openxmlformats.org/drawingml/2006/table">
            <a:tbl>
              <a:tblPr firstRow="1" bandRow="1">
                <a:tableStyleId>{5C22544A-7EE6-4342-B048-85BDC9FD1C3A}</a:tableStyleId>
              </a:tblPr>
              <a:tblGrid>
                <a:gridCol w="2777596">
                  <a:extLst>
                    <a:ext uri="{9D8B030D-6E8A-4147-A177-3AD203B41FA5}">
                      <a16:colId xmlns:a16="http://schemas.microsoft.com/office/drawing/2014/main" val="1456743855"/>
                    </a:ext>
                  </a:extLst>
                </a:gridCol>
                <a:gridCol w="2777596">
                  <a:extLst>
                    <a:ext uri="{9D8B030D-6E8A-4147-A177-3AD203B41FA5}">
                      <a16:colId xmlns:a16="http://schemas.microsoft.com/office/drawing/2014/main" val="570139077"/>
                    </a:ext>
                  </a:extLst>
                </a:gridCol>
                <a:gridCol w="2777596">
                  <a:extLst>
                    <a:ext uri="{9D8B030D-6E8A-4147-A177-3AD203B41FA5}">
                      <a16:colId xmlns:a16="http://schemas.microsoft.com/office/drawing/2014/main" val="4029137443"/>
                    </a:ext>
                  </a:extLst>
                </a:gridCol>
              </a:tblGrid>
              <a:tr h="456358">
                <a:tc>
                  <a:txBody>
                    <a:bodyPr/>
                    <a:lstStyle/>
                    <a:p>
                      <a:pPr>
                        <a:buNone/>
                      </a:pPr>
                      <a:r>
                        <a:rPr lang="en-US" dirty="0"/>
                        <a:t>Axiom</a:t>
                      </a:r>
                    </a:p>
                  </a:txBody>
                  <a:tcPr anchor="ctr"/>
                </a:tc>
                <a:tc>
                  <a:txBody>
                    <a:bodyPr/>
                    <a:lstStyle/>
                    <a:p>
                      <a:pPr>
                        <a:buNone/>
                      </a:pPr>
                      <a:r>
                        <a:rPr lang="en-US"/>
                        <a:t>Rule</a:t>
                      </a:r>
                    </a:p>
                  </a:txBody>
                  <a:tcPr anchor="ctr"/>
                </a:tc>
                <a:tc>
                  <a:txBody>
                    <a:bodyPr/>
                    <a:lstStyle/>
                    <a:p>
                      <a:pPr>
                        <a:buNone/>
                      </a:pPr>
                      <a:r>
                        <a:rPr lang="en-US"/>
                        <a:t>Example</a:t>
                      </a:r>
                    </a:p>
                  </a:txBody>
                  <a:tcPr anchor="ctr"/>
                </a:tc>
                <a:extLst>
                  <a:ext uri="{0D108BD9-81ED-4DB2-BD59-A6C34878D82A}">
                    <a16:rowId xmlns:a16="http://schemas.microsoft.com/office/drawing/2014/main" val="191637541"/>
                  </a:ext>
                </a:extLst>
              </a:tr>
              <a:tr h="456358">
                <a:tc>
                  <a:txBody>
                    <a:bodyPr/>
                    <a:lstStyle/>
                    <a:p>
                      <a:pPr>
                        <a:buNone/>
                      </a:pPr>
                      <a:r>
                        <a:rPr lang="en-US"/>
                        <a:t>Reflexivity</a:t>
                      </a:r>
                    </a:p>
                  </a:txBody>
                  <a:tcPr anchor="ctr"/>
                </a:tc>
                <a:tc>
                  <a:txBody>
                    <a:bodyPr/>
                    <a:lstStyle/>
                    <a:p>
                      <a:pPr>
                        <a:buNone/>
                      </a:pPr>
                      <a:r>
                        <a:rPr lang="en-US"/>
                        <a:t>If Y ⊆ X, then X → Y</a:t>
                      </a:r>
                    </a:p>
                  </a:txBody>
                  <a:tcPr anchor="ctr"/>
                </a:tc>
                <a:tc>
                  <a:txBody>
                    <a:bodyPr/>
                    <a:lstStyle/>
                    <a:p>
                      <a:pPr>
                        <a:buNone/>
                      </a:pPr>
                      <a:r>
                        <a:rPr lang="en-US"/>
                        <a:t>(A,B) → A</a:t>
                      </a:r>
                    </a:p>
                  </a:txBody>
                  <a:tcPr anchor="ctr"/>
                </a:tc>
                <a:extLst>
                  <a:ext uri="{0D108BD9-81ED-4DB2-BD59-A6C34878D82A}">
                    <a16:rowId xmlns:a16="http://schemas.microsoft.com/office/drawing/2014/main" val="1819865950"/>
                  </a:ext>
                </a:extLst>
              </a:tr>
              <a:tr h="456358">
                <a:tc>
                  <a:txBody>
                    <a:bodyPr/>
                    <a:lstStyle/>
                    <a:p>
                      <a:pPr>
                        <a:buNone/>
                      </a:pPr>
                      <a:r>
                        <a:rPr lang="en-US"/>
                        <a:t>Augmentation</a:t>
                      </a:r>
                    </a:p>
                  </a:txBody>
                  <a:tcPr anchor="ctr"/>
                </a:tc>
                <a:tc>
                  <a:txBody>
                    <a:bodyPr/>
                    <a:lstStyle/>
                    <a:p>
                      <a:pPr>
                        <a:buNone/>
                      </a:pPr>
                      <a:r>
                        <a:rPr lang="en-US"/>
                        <a:t>If X → Y, then XZ → YZ</a:t>
                      </a:r>
                    </a:p>
                  </a:txBody>
                  <a:tcPr anchor="ctr"/>
                </a:tc>
                <a:tc>
                  <a:txBody>
                    <a:bodyPr/>
                    <a:lstStyle/>
                    <a:p>
                      <a:pPr>
                        <a:buNone/>
                      </a:pPr>
                      <a:r>
                        <a:rPr lang="en-US"/>
                        <a:t>A → B ⇒ AC → BC</a:t>
                      </a:r>
                    </a:p>
                  </a:txBody>
                  <a:tcPr anchor="ctr"/>
                </a:tc>
                <a:extLst>
                  <a:ext uri="{0D108BD9-81ED-4DB2-BD59-A6C34878D82A}">
                    <a16:rowId xmlns:a16="http://schemas.microsoft.com/office/drawing/2014/main" val="3502324416"/>
                  </a:ext>
                </a:extLst>
              </a:tr>
              <a:tr h="456358">
                <a:tc>
                  <a:txBody>
                    <a:bodyPr/>
                    <a:lstStyle/>
                    <a:p>
                      <a:pPr>
                        <a:buNone/>
                      </a:pPr>
                      <a:r>
                        <a:rPr lang="en-US"/>
                        <a:t>Transitivity</a:t>
                      </a:r>
                    </a:p>
                  </a:txBody>
                  <a:tcPr anchor="ctr"/>
                </a:tc>
                <a:tc>
                  <a:txBody>
                    <a:bodyPr/>
                    <a:lstStyle/>
                    <a:p>
                      <a:pPr>
                        <a:buNone/>
                      </a:pPr>
                      <a:r>
                        <a:rPr lang="en-US"/>
                        <a:t>If X → Y and Y → Z, then X → Z</a:t>
                      </a:r>
                    </a:p>
                  </a:txBody>
                  <a:tcPr anchor="ctr"/>
                </a:tc>
                <a:tc>
                  <a:txBody>
                    <a:bodyPr/>
                    <a:lstStyle/>
                    <a:p>
                      <a:pPr>
                        <a:buNone/>
                      </a:pPr>
                      <a:r>
                        <a:rPr lang="en-US"/>
                        <a:t>A → B, B → C ⇒ A → C</a:t>
                      </a:r>
                    </a:p>
                  </a:txBody>
                  <a:tcPr anchor="ctr"/>
                </a:tc>
                <a:extLst>
                  <a:ext uri="{0D108BD9-81ED-4DB2-BD59-A6C34878D82A}">
                    <a16:rowId xmlns:a16="http://schemas.microsoft.com/office/drawing/2014/main" val="1624084217"/>
                  </a:ext>
                </a:extLst>
              </a:tr>
              <a:tr h="456358">
                <a:tc>
                  <a:txBody>
                    <a:bodyPr/>
                    <a:lstStyle/>
                    <a:p>
                      <a:pPr>
                        <a:buNone/>
                      </a:pPr>
                      <a:r>
                        <a:rPr lang="en-US"/>
                        <a:t>Union</a:t>
                      </a:r>
                    </a:p>
                  </a:txBody>
                  <a:tcPr anchor="ctr"/>
                </a:tc>
                <a:tc>
                  <a:txBody>
                    <a:bodyPr/>
                    <a:lstStyle/>
                    <a:p>
                      <a:pPr>
                        <a:buNone/>
                      </a:pPr>
                      <a:r>
                        <a:rPr lang="en-US"/>
                        <a:t>If X → Y and X → Z, then X → YZ</a:t>
                      </a:r>
                    </a:p>
                  </a:txBody>
                  <a:tcPr anchor="ctr"/>
                </a:tc>
                <a:tc>
                  <a:txBody>
                    <a:bodyPr/>
                    <a:lstStyle/>
                    <a:p>
                      <a:pPr>
                        <a:buNone/>
                      </a:pPr>
                      <a:r>
                        <a:rPr lang="pt-BR"/>
                        <a:t>A → B, A → C ⇒ A → BC</a:t>
                      </a:r>
                    </a:p>
                  </a:txBody>
                  <a:tcPr anchor="ctr"/>
                </a:tc>
                <a:extLst>
                  <a:ext uri="{0D108BD9-81ED-4DB2-BD59-A6C34878D82A}">
                    <a16:rowId xmlns:a16="http://schemas.microsoft.com/office/drawing/2014/main" val="2469945319"/>
                  </a:ext>
                </a:extLst>
              </a:tr>
              <a:tr h="456358">
                <a:tc>
                  <a:txBody>
                    <a:bodyPr/>
                    <a:lstStyle/>
                    <a:p>
                      <a:pPr>
                        <a:buNone/>
                      </a:pPr>
                      <a:r>
                        <a:rPr lang="en-US"/>
                        <a:t>Decomposition</a:t>
                      </a:r>
                    </a:p>
                  </a:txBody>
                  <a:tcPr anchor="ctr"/>
                </a:tc>
                <a:tc>
                  <a:txBody>
                    <a:bodyPr/>
                    <a:lstStyle/>
                    <a:p>
                      <a:pPr>
                        <a:buNone/>
                      </a:pPr>
                      <a:r>
                        <a:rPr lang="en-US"/>
                        <a:t>If X → YZ, then X → Y and X → Z</a:t>
                      </a:r>
                    </a:p>
                  </a:txBody>
                  <a:tcPr anchor="ctr"/>
                </a:tc>
                <a:tc>
                  <a:txBody>
                    <a:bodyPr/>
                    <a:lstStyle/>
                    <a:p>
                      <a:pPr>
                        <a:buNone/>
                      </a:pPr>
                      <a:r>
                        <a:rPr lang="pt-BR"/>
                        <a:t>A → BC ⇒ A → B, A → C</a:t>
                      </a:r>
                    </a:p>
                  </a:txBody>
                  <a:tcPr anchor="ctr"/>
                </a:tc>
                <a:extLst>
                  <a:ext uri="{0D108BD9-81ED-4DB2-BD59-A6C34878D82A}">
                    <a16:rowId xmlns:a16="http://schemas.microsoft.com/office/drawing/2014/main" val="830821964"/>
                  </a:ext>
                </a:extLst>
              </a:tr>
              <a:tr h="787687">
                <a:tc>
                  <a:txBody>
                    <a:bodyPr/>
                    <a:lstStyle/>
                    <a:p>
                      <a:pPr>
                        <a:buNone/>
                      </a:pPr>
                      <a:r>
                        <a:rPr lang="en-US"/>
                        <a:t>Pseudotransitivity</a:t>
                      </a:r>
                    </a:p>
                  </a:txBody>
                  <a:tcPr anchor="ctr"/>
                </a:tc>
                <a:tc>
                  <a:txBody>
                    <a:bodyPr/>
                    <a:lstStyle/>
                    <a:p>
                      <a:pPr>
                        <a:buNone/>
                      </a:pPr>
                      <a:r>
                        <a:rPr lang="en-US"/>
                        <a:t>If X → Y and WY → Z, then WX → Z</a:t>
                      </a:r>
                    </a:p>
                  </a:txBody>
                  <a:tcPr anchor="ctr"/>
                </a:tc>
                <a:tc>
                  <a:txBody>
                    <a:bodyPr/>
                    <a:lstStyle/>
                    <a:p>
                      <a:pPr>
                        <a:buNone/>
                      </a:pPr>
                      <a:r>
                        <a:rPr lang="en-US" dirty="0"/>
                        <a:t>A → B, CB → D ⇒ AC → D</a:t>
                      </a:r>
                    </a:p>
                  </a:txBody>
                  <a:tcPr anchor="ctr"/>
                </a:tc>
                <a:extLst>
                  <a:ext uri="{0D108BD9-81ED-4DB2-BD59-A6C34878D82A}">
                    <a16:rowId xmlns:a16="http://schemas.microsoft.com/office/drawing/2014/main" val="4027055264"/>
                  </a:ext>
                </a:extLst>
              </a:tr>
            </a:tbl>
          </a:graphicData>
        </a:graphic>
      </p:graphicFrame>
    </p:spTree>
    <p:extLst>
      <p:ext uri="{BB962C8B-B14F-4D97-AF65-F5344CB8AC3E}">
        <p14:creationId xmlns:p14="http://schemas.microsoft.com/office/powerpoint/2010/main" val="325655791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5F2EC2-CAA1-9E83-6B51-EDDD31126FB5}"/>
              </a:ext>
            </a:extLst>
          </p:cNvPr>
          <p:cNvSpPr>
            <a:spLocks noGrp="1"/>
          </p:cNvSpPr>
          <p:nvPr>
            <p:ph type="title"/>
          </p:nvPr>
        </p:nvSpPr>
        <p:spPr/>
        <p:txBody>
          <a:bodyPr>
            <a:normAutofit/>
          </a:bodyPr>
          <a:lstStyle/>
          <a:p>
            <a:r>
              <a:rPr lang="en-US" dirty="0"/>
              <a:t>Closure of a Set of Functional Dependencies</a:t>
            </a:r>
          </a:p>
        </p:txBody>
      </p:sp>
      <p:sp>
        <p:nvSpPr>
          <p:cNvPr id="3" name="Content Placeholder 2">
            <a:extLst>
              <a:ext uri="{FF2B5EF4-FFF2-40B4-BE49-F238E27FC236}">
                <a16:creationId xmlns:a16="http://schemas.microsoft.com/office/drawing/2014/main" id="{65EE54B2-C646-2237-882A-60B30317A3CB}"/>
              </a:ext>
            </a:extLst>
          </p:cNvPr>
          <p:cNvSpPr>
            <a:spLocks noGrp="1"/>
          </p:cNvSpPr>
          <p:nvPr>
            <p:ph idx="1"/>
          </p:nvPr>
        </p:nvSpPr>
        <p:spPr/>
        <p:txBody>
          <a:bodyPr>
            <a:normAutofit/>
          </a:bodyPr>
          <a:lstStyle/>
          <a:p>
            <a:r>
              <a:rPr lang="en-US" dirty="0"/>
              <a:t>Closure of a set of functional dependencies (F⁺) is the complete set of all FDs that can be derived from a given set of functional dependencies F using:</a:t>
            </a:r>
          </a:p>
          <a:p>
            <a:pPr lvl="1"/>
            <a:r>
              <a:rPr lang="en-US" dirty="0"/>
              <a:t>Reflexivity, </a:t>
            </a:r>
          </a:p>
          <a:p>
            <a:pPr lvl="1"/>
            <a:r>
              <a:rPr lang="en-US" dirty="0"/>
              <a:t>Augmentation, and </a:t>
            </a:r>
          </a:p>
          <a:p>
            <a:pPr lvl="1"/>
            <a:r>
              <a:rPr lang="en-US" dirty="0"/>
              <a:t>Transitivity.</a:t>
            </a:r>
          </a:p>
          <a:p>
            <a:pPr marL="201168" lvl="1" indent="0" algn="ctr">
              <a:buNone/>
            </a:pPr>
            <a:r>
              <a:rPr lang="en-US" dirty="0"/>
              <a:t>F⁺ = All original FDs + all dependencies that can be logically inferred from them.</a:t>
            </a:r>
          </a:p>
          <a:p>
            <a:r>
              <a:rPr lang="en-US" dirty="0"/>
              <a:t>Closure helps us:</a:t>
            </a:r>
          </a:p>
          <a:p>
            <a:pPr lvl="1"/>
            <a:r>
              <a:rPr lang="en-US" dirty="0"/>
              <a:t>Find candidate keys. </a:t>
            </a:r>
          </a:p>
          <a:p>
            <a:pPr lvl="1"/>
            <a:r>
              <a:rPr lang="en-US" dirty="0"/>
              <a:t>Check whether a dependency is implied by others. </a:t>
            </a:r>
          </a:p>
          <a:p>
            <a:pPr lvl="1"/>
            <a:r>
              <a:rPr lang="en-US" dirty="0"/>
              <a:t>Verify normalization (2NF, 3NF, BCNF). </a:t>
            </a:r>
          </a:p>
          <a:p>
            <a:pPr lvl="1"/>
            <a:r>
              <a:rPr lang="en-US" dirty="0"/>
              <a:t>Remove redundant dependencies.</a:t>
            </a:r>
          </a:p>
          <a:p>
            <a:endParaRPr lang="en-US" dirty="0"/>
          </a:p>
        </p:txBody>
      </p:sp>
    </p:spTree>
    <p:extLst>
      <p:ext uri="{BB962C8B-B14F-4D97-AF65-F5344CB8AC3E}">
        <p14:creationId xmlns:p14="http://schemas.microsoft.com/office/powerpoint/2010/main" val="329143821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C8C41-E81B-D450-657F-75583B86E18F}"/>
              </a:ext>
            </a:extLst>
          </p:cNvPr>
          <p:cNvSpPr>
            <a:spLocks noGrp="1"/>
          </p:cNvSpPr>
          <p:nvPr>
            <p:ph type="title"/>
          </p:nvPr>
        </p:nvSpPr>
        <p:spPr/>
        <p:txBody>
          <a:bodyPr/>
          <a:lstStyle/>
          <a:p>
            <a:r>
              <a:rPr lang="en-US" dirty="0"/>
              <a:t>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582B42B-51B7-6DEE-7B8D-1AF1EFF98EE5}"/>
                  </a:ext>
                </a:extLst>
              </p:cNvPr>
              <p:cNvSpPr>
                <a:spLocks noGrp="1"/>
              </p:cNvSpPr>
              <p:nvPr>
                <p:ph idx="1"/>
              </p:nvPr>
            </p:nvSpPr>
            <p:spPr>
              <a:xfrm>
                <a:off x="1097280" y="1981200"/>
                <a:ext cx="10058400" cy="4590197"/>
              </a:xfrm>
            </p:spPr>
            <p:txBody>
              <a:bodyPr>
                <a:normAutofit/>
              </a:bodyPr>
              <a:lstStyle/>
              <a:p>
                <a:r>
                  <a:rPr lang="en-US" dirty="0"/>
                  <a:t>Consider relation: </a:t>
                </a:r>
                <a:r>
                  <a:rPr lang="en-US" b="1" dirty="0"/>
                  <a:t>R(A, B, C)</a:t>
                </a:r>
                <a:endParaRPr lang="en-US" dirty="0"/>
              </a:p>
              <a:p>
                <a:r>
                  <a:rPr lang="en-US" dirty="0"/>
                  <a:t>Given: </a:t>
                </a:r>
                <a14:m>
                  <m:oMath xmlns:m="http://schemas.openxmlformats.org/officeDocument/2006/math">
                    <m:r>
                      <a:rPr lang="en-US" b="0" i="0" smtClean="0">
                        <a:latin typeface="Cambria Math" panose="02040503050406030204" pitchFamily="18" charset="0"/>
                      </a:rPr>
                      <m:t> </m:t>
                    </m:r>
                    <m:r>
                      <a:rPr lang="en-US" i="1">
                        <a:latin typeface="Cambria Math" panose="02040503050406030204" pitchFamily="18" charset="0"/>
                      </a:rPr>
                      <m:t>𝐹</m:t>
                    </m:r>
                    <m:r>
                      <a:rPr lang="en-US">
                        <a:latin typeface="Cambria Math" panose="02040503050406030204" pitchFamily="18" charset="0"/>
                      </a:rPr>
                      <m:t>=</m:t>
                    </m:r>
                    <m:d>
                      <m:dPr>
                        <m:begChr m:val="{"/>
                        <m:endChr m:val="}"/>
                        <m:sepChr m:val=","/>
                        <m:ctrlPr>
                          <a:rPr lang="en-US" i="1">
                            <a:latin typeface="Cambria Math" panose="02040503050406030204" pitchFamily="18" charset="0"/>
                          </a:rPr>
                        </m:ctrlPr>
                      </m:dPr>
                      <m:e>
                        <m:r>
                          <a:rPr lang="en-US" i="1">
                            <a:latin typeface="Cambria Math" panose="02040503050406030204" pitchFamily="18" charset="0"/>
                          </a:rPr>
                          <m:t>𝐴</m:t>
                        </m:r>
                      </m:e>
                      <m:e>
                        <m:r>
                          <a:rPr lang="en-US">
                            <a:latin typeface="Cambria Math" panose="02040503050406030204" pitchFamily="18" charset="0"/>
                          </a:rPr>
                          <m:t>→</m:t>
                        </m:r>
                        <m:r>
                          <a:rPr lang="en-US" i="1">
                            <a:latin typeface="Cambria Math" panose="02040503050406030204" pitchFamily="18" charset="0"/>
                          </a:rPr>
                          <m:t>𝐵</m:t>
                        </m:r>
                        <m:r>
                          <m:rPr>
                            <m:nor/>
                          </m:rPr>
                          <a:rPr lang="en-US" b="0" i="1" smtClean="0"/>
                          <m:t>,</m:t>
                        </m:r>
                        <m:r>
                          <m:rPr>
                            <m:nor/>
                          </m:rPr>
                          <a:rPr lang="en-US" i="1"/>
                          <m:t> </m:t>
                        </m:r>
                        <m:r>
                          <a:rPr lang="en-US" i="1">
                            <a:latin typeface="Cambria Math" panose="02040503050406030204" pitchFamily="18" charset="0"/>
                          </a:rPr>
                          <m:t>𝐵</m:t>
                        </m:r>
                        <m:r>
                          <a:rPr lang="en-US">
                            <a:latin typeface="Cambria Math" panose="02040503050406030204" pitchFamily="18" charset="0"/>
                          </a:rPr>
                          <m:t>→</m:t>
                        </m:r>
                        <m:r>
                          <a:rPr lang="en-US" i="1">
                            <a:latin typeface="Cambria Math" panose="02040503050406030204" pitchFamily="18" charset="0"/>
                          </a:rPr>
                          <m:t>𝐶</m:t>
                        </m:r>
                      </m:e>
                    </m:d>
                  </m:oMath>
                </a14:m>
                <a:endParaRPr lang="en-US" b="0" dirty="0"/>
              </a:p>
              <a:p>
                <a:r>
                  <a:rPr lang="en-US" b="1" dirty="0"/>
                  <a:t>Original Dependencies</a:t>
                </a:r>
              </a:p>
              <a:p>
                <a:pPr lvl="1"/>
                <a:r>
                  <a:rPr lang="en-US" dirty="0"/>
                  <a:t>A → B , B → C </a:t>
                </a:r>
              </a:p>
              <a:p>
                <a:r>
                  <a:rPr lang="en-US" b="1" dirty="0"/>
                  <a:t>Using Transitivity, </a:t>
                </a:r>
                <a:r>
                  <a:rPr lang="en-US" dirty="0"/>
                  <a:t>Since:</a:t>
                </a:r>
                <a14:m>
                  <m:oMath xmlns:m="http://schemas.openxmlformats.org/officeDocument/2006/math">
                    <m:r>
                      <a:rPr lang="en-US" b="0" i="0" smtClean="0">
                        <a:latin typeface="Cambria Math" panose="02040503050406030204" pitchFamily="18" charset="0"/>
                      </a:rPr>
                      <m:t> </m:t>
                    </m:r>
                    <m:r>
                      <a:rPr lang="en-US" i="1">
                        <a:latin typeface="Cambria Math" panose="02040503050406030204" pitchFamily="18" charset="0"/>
                      </a:rPr>
                      <m:t>𝐴</m:t>
                    </m:r>
                    <m:r>
                      <a:rPr lang="en-US">
                        <a:latin typeface="Cambria Math" panose="02040503050406030204" pitchFamily="18" charset="0"/>
                      </a:rPr>
                      <m:t>→</m:t>
                    </m:r>
                    <m:r>
                      <a:rPr lang="en-US" i="1">
                        <a:latin typeface="Cambria Math" panose="02040503050406030204" pitchFamily="18" charset="0"/>
                      </a:rPr>
                      <m:t>𝐵</m:t>
                    </m:r>
                  </m:oMath>
                </a14:m>
                <a:r>
                  <a:rPr lang="en-US" dirty="0"/>
                  <a:t>  and</a:t>
                </a:r>
                <a14:m>
                  <m:oMath xmlns:m="http://schemas.openxmlformats.org/officeDocument/2006/math">
                    <m:r>
                      <a:rPr lang="en-US" b="0" i="0" smtClean="0">
                        <a:latin typeface="Cambria Math" panose="02040503050406030204" pitchFamily="18" charset="0"/>
                      </a:rPr>
                      <m:t> </m:t>
                    </m:r>
                    <m:r>
                      <a:rPr lang="en-US" i="1">
                        <a:latin typeface="Cambria Math" panose="02040503050406030204" pitchFamily="18" charset="0"/>
                      </a:rPr>
                      <m:t>𝐵</m:t>
                    </m:r>
                    <m:r>
                      <a:rPr lang="en-US">
                        <a:latin typeface="Cambria Math" panose="02040503050406030204" pitchFamily="18" charset="0"/>
                      </a:rPr>
                      <m:t>→</m:t>
                    </m:r>
                    <m:r>
                      <a:rPr lang="en-US" i="1">
                        <a:latin typeface="Cambria Math" panose="02040503050406030204" pitchFamily="18" charset="0"/>
                      </a:rPr>
                      <m:t>𝐶</m:t>
                    </m:r>
                  </m:oMath>
                </a14:m>
                <a:endParaRPr lang="en-US" dirty="0"/>
              </a:p>
              <a:p>
                <a:r>
                  <a:rPr lang="en-US" dirty="0"/>
                  <a:t>Therefore: </a:t>
                </a:r>
                <a14:m>
                  <m:oMath xmlns:m="http://schemas.openxmlformats.org/officeDocument/2006/math">
                    <m:r>
                      <a:rPr lang="en-US" i="1">
                        <a:latin typeface="Cambria Math" panose="02040503050406030204" pitchFamily="18" charset="0"/>
                      </a:rPr>
                      <m:t>𝐴</m:t>
                    </m:r>
                    <m:r>
                      <a:rPr lang="en-US">
                        <a:latin typeface="Cambria Math" panose="02040503050406030204" pitchFamily="18" charset="0"/>
                      </a:rPr>
                      <m:t>→</m:t>
                    </m:r>
                    <m:r>
                      <a:rPr lang="en-US" i="1">
                        <a:latin typeface="Cambria Math" panose="02040503050406030204" pitchFamily="18" charset="0"/>
                      </a:rPr>
                      <m:t>𝐶</m:t>
                    </m:r>
                  </m:oMath>
                </a14:m>
                <a:endParaRPr lang="en-US" dirty="0"/>
              </a:p>
              <a:p>
                <a:r>
                  <a:rPr lang="en-US" b="1" dirty="0"/>
                  <a:t>F⁺ Contains</a:t>
                </a:r>
              </a:p>
              <a:p>
                <a:pPr lvl="1"/>
                <a:r>
                  <a:rPr lang="en-US" dirty="0"/>
                  <a:t>A → B C A</a:t>
                </a:r>
              </a:p>
              <a:p>
                <a:pPr lvl="1"/>
                <a:r>
                  <a:rPr lang="en-US" dirty="0"/>
                  <a:t>B → C BA</a:t>
                </a:r>
              </a:p>
              <a:p>
                <a:pPr lvl="1"/>
                <a:r>
                  <a:rPr lang="en-US" dirty="0"/>
                  <a:t>A → C</a:t>
                </a:r>
              </a:p>
            </p:txBody>
          </p:sp>
        </mc:Choice>
        <mc:Fallback xmlns="">
          <p:sp>
            <p:nvSpPr>
              <p:cNvPr id="3" name="Content Placeholder 2">
                <a:extLst>
                  <a:ext uri="{FF2B5EF4-FFF2-40B4-BE49-F238E27FC236}">
                    <a16:creationId xmlns:a16="http://schemas.microsoft.com/office/drawing/2014/main" id="{2582B42B-51B7-6DEE-7B8D-1AF1EFF98EE5}"/>
                  </a:ext>
                </a:extLst>
              </p:cNvPr>
              <p:cNvSpPr>
                <a:spLocks noGrp="1" noRot="1" noChangeAspect="1" noMove="1" noResize="1" noEditPoints="1" noAdjustHandles="1" noChangeArrowheads="1" noChangeShapeType="1" noTextEdit="1"/>
              </p:cNvSpPr>
              <p:nvPr>
                <p:ph idx="1"/>
              </p:nvPr>
            </p:nvSpPr>
            <p:spPr>
              <a:xfrm>
                <a:off x="1097280" y="1981200"/>
                <a:ext cx="10058400" cy="4590197"/>
              </a:xfrm>
              <a:blipFill>
                <a:blip r:embed="rId2"/>
                <a:stretch>
                  <a:fillRect l="-606" t="-1328"/>
                </a:stretch>
              </a:blipFill>
            </p:spPr>
            <p:txBody>
              <a:bodyPr/>
              <a:lstStyle/>
              <a:p>
                <a:r>
                  <a:rPr lang="en-US">
                    <a:noFill/>
                  </a:rPr>
                  <a:t> </a:t>
                </a:r>
              </a:p>
            </p:txBody>
          </p:sp>
        </mc:Fallback>
      </mc:AlternateContent>
      <p:sp>
        <p:nvSpPr>
          <p:cNvPr id="4" name="Content Placeholder 2">
            <a:extLst>
              <a:ext uri="{FF2B5EF4-FFF2-40B4-BE49-F238E27FC236}">
                <a16:creationId xmlns:a16="http://schemas.microsoft.com/office/drawing/2014/main" id="{975731B0-421C-D8D0-F24A-55AB2DA461A6}"/>
              </a:ext>
            </a:extLst>
          </p:cNvPr>
          <p:cNvSpPr txBox="1">
            <a:spLocks/>
          </p:cNvSpPr>
          <p:nvPr/>
        </p:nvSpPr>
        <p:spPr>
          <a:xfrm>
            <a:off x="6301740" y="1981200"/>
            <a:ext cx="10058400" cy="412242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dirty="0"/>
              <a:t>plus, trivial dependencies such as:</a:t>
            </a:r>
          </a:p>
          <a:p>
            <a:r>
              <a:rPr lang="en-US" dirty="0"/>
              <a:t>AB → A </a:t>
            </a:r>
          </a:p>
          <a:p>
            <a:r>
              <a:rPr lang="en-US" dirty="0"/>
              <a:t>AB → B </a:t>
            </a:r>
          </a:p>
          <a:p>
            <a:r>
              <a:rPr lang="en-US" dirty="0"/>
              <a:t>ABC → A </a:t>
            </a:r>
          </a:p>
          <a:p>
            <a:r>
              <a:rPr lang="en-US" dirty="0"/>
              <a:t>ABC → B </a:t>
            </a:r>
          </a:p>
          <a:p>
            <a:r>
              <a:rPr lang="en-US" dirty="0"/>
              <a:t>etc. </a:t>
            </a:r>
          </a:p>
          <a:p>
            <a:r>
              <a:rPr lang="en-US" dirty="0"/>
              <a:t>These all together form </a:t>
            </a:r>
            <a:r>
              <a:rPr lang="en-US" b="1" dirty="0"/>
              <a:t>F⁺</a:t>
            </a:r>
            <a:r>
              <a:rPr lang="en-US" dirty="0"/>
              <a:t>.</a:t>
            </a:r>
          </a:p>
          <a:p>
            <a:endParaRPr lang="en-US" dirty="0"/>
          </a:p>
        </p:txBody>
      </p:sp>
    </p:spTree>
    <p:extLst>
      <p:ext uri="{BB962C8B-B14F-4D97-AF65-F5344CB8AC3E}">
        <p14:creationId xmlns:p14="http://schemas.microsoft.com/office/powerpoint/2010/main" val="603191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4BD7F-FAC1-F24F-3637-55DBC8B5C9B3}"/>
              </a:ext>
            </a:extLst>
          </p:cNvPr>
          <p:cNvSpPr>
            <a:spLocks noGrp="1"/>
          </p:cNvSpPr>
          <p:nvPr>
            <p:ph type="title"/>
          </p:nvPr>
        </p:nvSpPr>
        <p:spPr/>
        <p:txBody>
          <a:bodyPr/>
          <a:lstStyle/>
          <a:p>
            <a:r>
              <a:rPr lang="en-US" dirty="0"/>
              <a:t>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AF4FFDE-D988-DBAD-3731-2746ECA0708C}"/>
                  </a:ext>
                </a:extLst>
              </p:cNvPr>
              <p:cNvSpPr>
                <a:spLocks noGrp="1"/>
              </p:cNvSpPr>
              <p:nvPr>
                <p:ph idx="1"/>
              </p:nvPr>
            </p:nvSpPr>
            <p:spPr/>
            <p:txBody>
              <a:bodyPr/>
              <a:lstStyle/>
              <a:p>
                <a:r>
                  <a:rPr lang="en-US" dirty="0"/>
                  <a:t>Given Relation is : R(A,B,C,G,H,I), find the </a:t>
                </a:r>
                <a:r>
                  <a:rPr lang="en-US" b="1" dirty="0"/>
                  <a:t>closure set of functional dependencies (F⁺)</a:t>
                </a:r>
                <a:r>
                  <a:rPr lang="en-US" dirty="0"/>
                  <a:t>.</a:t>
                </a:r>
              </a:p>
              <a:p>
                <a:r>
                  <a:rPr lang="en-US" b="1" dirty="0"/>
                  <a:t>Functional Dependencies (F):</a:t>
                </a:r>
                <a:endParaRPr lang="en-US" dirty="0"/>
              </a:p>
              <a:p>
                <a:pPr lvl="1"/>
                <a14:m>
                  <m:oMath xmlns:m="http://schemas.openxmlformats.org/officeDocument/2006/math">
                    <m:r>
                      <a:rPr lang="en-US" i="1">
                        <a:latin typeface="Cambria Math" panose="02040503050406030204" pitchFamily="18" charset="0"/>
                      </a:rPr>
                      <m:t>𝐴</m:t>
                    </m:r>
                    <m:r>
                      <a:rPr lang="en-US">
                        <a:latin typeface="Cambria Math" panose="02040503050406030204" pitchFamily="18" charset="0"/>
                      </a:rPr>
                      <m:t>→</m:t>
                    </m:r>
                    <m:r>
                      <a:rPr lang="en-US" i="1">
                        <a:latin typeface="Cambria Math" panose="02040503050406030204" pitchFamily="18" charset="0"/>
                      </a:rPr>
                      <m:t>𝐵</m:t>
                    </m:r>
                  </m:oMath>
                </a14:m>
                <a:endParaRPr lang="en-US" dirty="0"/>
              </a:p>
              <a:p>
                <a:pPr lvl="1"/>
                <a14:m>
                  <m:oMath xmlns:m="http://schemas.openxmlformats.org/officeDocument/2006/math">
                    <m:r>
                      <a:rPr lang="en-US" i="1">
                        <a:latin typeface="Cambria Math" panose="02040503050406030204" pitchFamily="18" charset="0"/>
                      </a:rPr>
                      <m:t>𝐶𝐺</m:t>
                    </m:r>
                    <m:r>
                      <a:rPr lang="en-US">
                        <a:latin typeface="Cambria Math" panose="02040503050406030204" pitchFamily="18" charset="0"/>
                      </a:rPr>
                      <m:t>→</m:t>
                    </m:r>
                    <m:r>
                      <a:rPr lang="en-US" i="1">
                        <a:latin typeface="Cambria Math" panose="02040503050406030204" pitchFamily="18" charset="0"/>
                      </a:rPr>
                      <m:t>𝐼</m:t>
                    </m:r>
                  </m:oMath>
                </a14:m>
                <a:endParaRPr lang="en-US" dirty="0"/>
              </a:p>
              <a:p>
                <a:pPr lvl="1"/>
                <a14:m>
                  <m:oMath xmlns:m="http://schemas.openxmlformats.org/officeDocument/2006/math">
                    <m:r>
                      <a:rPr lang="en-US" i="1">
                        <a:latin typeface="Cambria Math" panose="02040503050406030204" pitchFamily="18" charset="0"/>
                      </a:rPr>
                      <m:t>𝐴</m:t>
                    </m:r>
                    <m:r>
                      <a:rPr lang="en-US">
                        <a:latin typeface="Cambria Math" panose="02040503050406030204" pitchFamily="18" charset="0"/>
                      </a:rPr>
                      <m:t>→</m:t>
                    </m:r>
                    <m:r>
                      <a:rPr lang="en-US" i="1">
                        <a:latin typeface="Cambria Math" panose="02040503050406030204" pitchFamily="18" charset="0"/>
                      </a:rPr>
                      <m:t>𝐶</m:t>
                    </m:r>
                  </m:oMath>
                </a14:m>
                <a:endParaRPr lang="en-US" dirty="0"/>
              </a:p>
              <a:p>
                <a:pPr lvl="1"/>
                <a14:m>
                  <m:oMath xmlns:m="http://schemas.openxmlformats.org/officeDocument/2006/math">
                    <m:r>
                      <a:rPr lang="en-US" i="1">
                        <a:latin typeface="Cambria Math" panose="02040503050406030204" pitchFamily="18" charset="0"/>
                      </a:rPr>
                      <m:t>𝐵</m:t>
                    </m:r>
                    <m:r>
                      <a:rPr lang="en-US">
                        <a:latin typeface="Cambria Math" panose="02040503050406030204" pitchFamily="18" charset="0"/>
                      </a:rPr>
                      <m:t>→</m:t>
                    </m:r>
                    <m:r>
                      <a:rPr lang="en-US" i="1">
                        <a:latin typeface="Cambria Math" panose="02040503050406030204" pitchFamily="18" charset="0"/>
                      </a:rPr>
                      <m:t>𝐻</m:t>
                    </m:r>
                  </m:oMath>
                </a14:m>
                <a:endParaRPr lang="en-US" dirty="0"/>
              </a:p>
              <a:p>
                <a:pPr lvl="1"/>
                <a14:m>
                  <m:oMath xmlns:m="http://schemas.openxmlformats.org/officeDocument/2006/math">
                    <m:r>
                      <a:rPr lang="en-US" i="1">
                        <a:latin typeface="Cambria Math" panose="02040503050406030204" pitchFamily="18" charset="0"/>
                      </a:rPr>
                      <m:t>𝐶𝐺</m:t>
                    </m:r>
                    <m:r>
                      <a:rPr lang="en-US">
                        <a:latin typeface="Cambria Math" panose="02040503050406030204" pitchFamily="18" charset="0"/>
                      </a:rPr>
                      <m:t>→</m:t>
                    </m:r>
                    <m:r>
                      <a:rPr lang="en-US" i="1">
                        <a:latin typeface="Cambria Math" panose="02040503050406030204" pitchFamily="18" charset="0"/>
                      </a:rPr>
                      <m:t>𝐻</m:t>
                    </m:r>
                  </m:oMath>
                </a14:m>
                <a:endParaRPr lang="en-US" dirty="0"/>
              </a:p>
              <a:p>
                <a:r>
                  <a:rPr lang="en-US" dirty="0"/>
                  <a:t>.FD+ = ?</a:t>
                </a:r>
              </a:p>
              <a:p>
                <a:r>
                  <a:rPr lang="en-US" dirty="0"/>
                  <a:t>Closure set of attributes (X+) = ?</a:t>
                </a:r>
              </a:p>
            </p:txBody>
          </p:sp>
        </mc:Choice>
        <mc:Fallback xmlns="">
          <p:sp>
            <p:nvSpPr>
              <p:cNvPr id="3" name="Content Placeholder 2">
                <a:extLst>
                  <a:ext uri="{FF2B5EF4-FFF2-40B4-BE49-F238E27FC236}">
                    <a16:creationId xmlns:a16="http://schemas.microsoft.com/office/drawing/2014/main" id="{9AF4FFDE-D988-DBAD-3731-2746ECA0708C}"/>
                  </a:ext>
                </a:extLst>
              </p:cNvPr>
              <p:cNvSpPr>
                <a:spLocks noGrp="1" noRot="1" noChangeAspect="1" noMove="1" noResize="1" noEditPoints="1" noAdjustHandles="1" noChangeArrowheads="1" noChangeShapeType="1" noTextEdit="1"/>
              </p:cNvSpPr>
              <p:nvPr>
                <p:ph idx="1"/>
              </p:nvPr>
            </p:nvSpPr>
            <p:spPr>
              <a:blipFill>
                <a:blip r:embed="rId3"/>
                <a:stretch>
                  <a:fillRect l="-606" t="-1667"/>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F3350D41-6F23-7C28-E997-8D606C9C2BFB}"/>
              </a:ext>
            </a:extLst>
          </p:cNvPr>
          <p:cNvSpPr txBox="1"/>
          <p:nvPr/>
        </p:nvSpPr>
        <p:spPr>
          <a:xfrm>
            <a:off x="6096000" y="5545928"/>
            <a:ext cx="6092190" cy="646331"/>
          </a:xfrm>
          <a:prstGeom prst="rect">
            <a:avLst/>
          </a:prstGeom>
          <a:noFill/>
        </p:spPr>
        <p:txBody>
          <a:bodyPr wrap="square">
            <a:spAutoFit/>
          </a:bodyPr>
          <a:lstStyle/>
          <a:p>
            <a:r>
              <a:rPr lang="en-US" dirty="0"/>
              <a:t>find functional dependencies, for R= (ABCDEF), A-&gt;BC, B-&gt;E, C-&gt;EF, E-&gt;CF</a:t>
            </a:r>
          </a:p>
        </p:txBody>
      </p:sp>
    </p:spTree>
    <p:extLst>
      <p:ext uri="{BB962C8B-B14F-4D97-AF65-F5344CB8AC3E}">
        <p14:creationId xmlns:p14="http://schemas.microsoft.com/office/powerpoint/2010/main" val="32671032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508496-9F22-80BB-B9A9-113834E5D8A7}"/>
              </a:ext>
            </a:extLst>
          </p:cNvPr>
          <p:cNvSpPr>
            <a:spLocks noGrp="1"/>
          </p:cNvSpPr>
          <p:nvPr>
            <p:ph type="title"/>
          </p:nvPr>
        </p:nvSpPr>
        <p:spPr/>
        <p:txBody>
          <a:bodyPr/>
          <a:lstStyle/>
          <a:p>
            <a:r>
              <a:rPr lang="en-US" dirty="0"/>
              <a:t>Closure of Attribute Sets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1D58EAC-E106-456B-7E43-E92ABFBC323E}"/>
                  </a:ext>
                </a:extLst>
              </p:cNvPr>
              <p:cNvSpPr>
                <a:spLocks noGrp="1"/>
              </p:cNvSpPr>
              <p:nvPr>
                <p:ph idx="1"/>
              </p:nvPr>
            </p:nvSpPr>
            <p:spPr/>
            <p:txBody>
              <a:bodyPr>
                <a:normAutofit/>
              </a:bodyPr>
              <a:lstStyle/>
              <a:p>
                <a:r>
                  <a:rPr lang="en-US" dirty="0"/>
                  <a:t>The </a:t>
                </a:r>
                <a:r>
                  <a:rPr lang="en-US" b="1" dirty="0"/>
                  <a:t>closure of an attribute set</a:t>
                </a:r>
                <a:r>
                  <a:rPr lang="en-US" dirty="0"/>
                  <a:t>, denoted by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𝑋</m:t>
                        </m:r>
                      </m:e>
                      <m:sup>
                        <m:r>
                          <a:rPr lang="en-US">
                            <a:latin typeface="Cambria Math" panose="02040503050406030204" pitchFamily="18" charset="0"/>
                          </a:rPr>
                          <m:t>+</m:t>
                        </m:r>
                      </m:sup>
                    </m:sSup>
                  </m:oMath>
                </a14:m>
                <a:r>
                  <a:rPr lang="en-US" dirty="0"/>
                  <a:t>, is the </a:t>
                </a:r>
                <a:r>
                  <a:rPr lang="en-US" b="1" dirty="0"/>
                  <a:t>set of all attributes that can be functionally determined by X using a given set of functional dependencies (FDs)</a:t>
                </a:r>
                <a:r>
                  <a:rPr lang="en-US" dirty="0"/>
                  <a:t>.</a:t>
                </a:r>
              </a:p>
              <a:p>
                <a:r>
                  <a:rPr lang="en-US" dirty="0"/>
                  <a:t>Given:</a:t>
                </a:r>
              </a:p>
              <a:p>
                <a:pPr lvl="1"/>
                <a:r>
                  <a:rPr lang="en-US" dirty="0"/>
                  <a:t>Relation </a:t>
                </a:r>
                <a14:m>
                  <m:oMath xmlns:m="http://schemas.openxmlformats.org/officeDocument/2006/math">
                    <m:r>
                      <a:rPr lang="en-US" i="1">
                        <a:latin typeface="Cambria Math" panose="02040503050406030204" pitchFamily="18" charset="0"/>
                      </a:rPr>
                      <m:t>𝑅</m:t>
                    </m:r>
                  </m:oMath>
                </a14:m>
                <a:endParaRPr lang="en-US" dirty="0"/>
              </a:p>
              <a:p>
                <a:pPr lvl="1"/>
                <a:r>
                  <a:rPr lang="en-US" dirty="0"/>
                  <a:t>Set of Functional Dependencies </a:t>
                </a:r>
                <a14:m>
                  <m:oMath xmlns:m="http://schemas.openxmlformats.org/officeDocument/2006/math">
                    <m:r>
                      <a:rPr lang="en-US" i="1">
                        <a:latin typeface="Cambria Math" panose="02040503050406030204" pitchFamily="18" charset="0"/>
                      </a:rPr>
                      <m:t>𝐹</m:t>
                    </m:r>
                  </m:oMath>
                </a14:m>
                <a:endParaRPr lang="en-US" dirty="0"/>
              </a:p>
              <a:p>
                <a:pPr lvl="1"/>
                <a:r>
                  <a:rPr lang="en-US" dirty="0"/>
                  <a:t>Attribute set </a:t>
                </a:r>
                <a14:m>
                  <m:oMath xmlns:m="http://schemas.openxmlformats.org/officeDocument/2006/math">
                    <m:r>
                      <a:rPr lang="en-US" i="1">
                        <a:latin typeface="Cambria Math" panose="02040503050406030204" pitchFamily="18" charset="0"/>
                      </a:rPr>
                      <m:t>𝑋</m:t>
                    </m:r>
                  </m:oMath>
                </a14:m>
                <a:endParaRPr lang="en-US" dirty="0"/>
              </a:p>
              <a:p>
                <a:r>
                  <a:rPr lang="en-US" dirty="0"/>
                  <a:t>The closure of </a:t>
                </a:r>
                <a14:m>
                  <m:oMath xmlns:m="http://schemas.openxmlformats.org/officeDocument/2006/math">
                    <m:r>
                      <a:rPr lang="en-US" i="1">
                        <a:latin typeface="Cambria Math" panose="02040503050406030204" pitchFamily="18" charset="0"/>
                      </a:rPr>
                      <m:t>𝑋</m:t>
                    </m:r>
                  </m:oMath>
                </a14:m>
                <a:r>
                  <a:rPr lang="en-US" dirty="0"/>
                  <a:t>, denoted by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𝑋</m:t>
                        </m:r>
                      </m:e>
                      <m:sup>
                        <m:r>
                          <a:rPr lang="en-US">
                            <a:latin typeface="Cambria Math" panose="02040503050406030204" pitchFamily="18" charset="0"/>
                          </a:rPr>
                          <m:t>+</m:t>
                        </m:r>
                      </m:sup>
                    </m:sSup>
                  </m:oMath>
                </a14:m>
                <a:r>
                  <a:rPr lang="en-US" dirty="0"/>
                  <a:t>, is:</a:t>
                </a:r>
              </a:p>
              <a:p>
                <a:pPr marL="201168" lvl="1" indent="0">
                  <a:buNone/>
                </a:pPr>
                <a14:m>
                  <m:oMathPara xmlns:m="http://schemas.openxmlformats.org/officeDocument/2006/math">
                    <m:oMathParaPr>
                      <m:jc m:val="centerGroup"/>
                    </m:oMathParaPr>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𝑋</m:t>
                          </m:r>
                        </m:e>
                        <m:sup>
                          <m:r>
                            <a:rPr lang="en-US">
                              <a:latin typeface="Cambria Math" panose="02040503050406030204" pitchFamily="18" charset="0"/>
                            </a:rPr>
                            <m:t>+</m:t>
                          </m:r>
                        </m:sup>
                      </m:sSup>
                      <m:r>
                        <a:rPr lang="en-US">
                          <a:latin typeface="Cambria Math" panose="02040503050406030204" pitchFamily="18" charset="0"/>
                        </a:rPr>
                        <m:t>=</m:t>
                      </m:r>
                      <m:d>
                        <m:dPr>
                          <m:begChr m:val="{"/>
                          <m:endChr m:val="}"/>
                          <m:ctrlPr>
                            <a:rPr lang="en-US" i="1">
                              <a:latin typeface="Cambria Math" panose="02040503050406030204" pitchFamily="18" charset="0"/>
                            </a:rPr>
                          </m:ctrlPr>
                        </m:dPr>
                        <m:e>
                          <m:r>
                            <a:rPr lang="en-US" i="1">
                              <a:latin typeface="Cambria Math" panose="02040503050406030204" pitchFamily="18" charset="0"/>
                            </a:rPr>
                            <m:t>𝐴</m:t>
                          </m:r>
                          <m:r>
                            <a:rPr lang="en-US">
                              <a:latin typeface="Cambria Math" panose="02040503050406030204" pitchFamily="18" charset="0"/>
                            </a:rPr>
                            <m:t>∣</m:t>
                          </m:r>
                          <m:r>
                            <a:rPr lang="en-US" i="1">
                              <a:latin typeface="Cambria Math" panose="02040503050406030204" pitchFamily="18" charset="0"/>
                            </a:rPr>
                            <m:t>𝑋</m:t>
                          </m:r>
                          <m:r>
                            <a:rPr lang="en-US">
                              <a:latin typeface="Cambria Math" panose="02040503050406030204" pitchFamily="18" charset="0"/>
                            </a:rPr>
                            <m:t>→</m:t>
                          </m:r>
                          <m:r>
                            <a:rPr lang="en-US" i="1">
                              <a:latin typeface="Cambria Math" panose="02040503050406030204" pitchFamily="18" charset="0"/>
                            </a:rPr>
                            <m:t>𝐴</m:t>
                          </m:r>
                          <m:r>
                            <m:rPr>
                              <m:nor/>
                            </m:rPr>
                            <a:rPr lang="en-US" i="1"/>
                            <m:t> </m:t>
                          </m:r>
                          <m:r>
                            <m:rPr>
                              <m:nor/>
                            </m:rPr>
                            <a:rPr lang="en-US" i="1"/>
                            <m:t>can</m:t>
                          </m:r>
                          <m:r>
                            <m:rPr>
                              <m:nor/>
                            </m:rPr>
                            <a:rPr lang="en-US" i="1"/>
                            <m:t> </m:t>
                          </m:r>
                          <m:r>
                            <m:rPr>
                              <m:nor/>
                            </m:rPr>
                            <a:rPr lang="en-US" i="1"/>
                            <m:t>be</m:t>
                          </m:r>
                          <m:r>
                            <m:rPr>
                              <m:nor/>
                            </m:rPr>
                            <a:rPr lang="en-US" i="1"/>
                            <m:t> </m:t>
                          </m:r>
                          <m:r>
                            <m:rPr>
                              <m:nor/>
                            </m:rPr>
                            <a:rPr lang="en-US" i="1"/>
                            <m:t>derived</m:t>
                          </m:r>
                          <m:r>
                            <m:rPr>
                              <m:nor/>
                            </m:rPr>
                            <a:rPr lang="en-US" i="1"/>
                            <m:t> </m:t>
                          </m:r>
                          <m:r>
                            <m:rPr>
                              <m:nor/>
                            </m:rPr>
                            <a:rPr lang="en-US" i="1"/>
                            <m:t>from</m:t>
                          </m:r>
                          <m:r>
                            <m:rPr>
                              <m:nor/>
                            </m:rPr>
                            <a:rPr lang="en-US" i="1"/>
                            <m:t> </m:t>
                          </m:r>
                          <m:r>
                            <a:rPr lang="en-US" i="1">
                              <a:latin typeface="Cambria Math" panose="02040503050406030204" pitchFamily="18" charset="0"/>
                            </a:rPr>
                            <m:t>𝐹</m:t>
                          </m:r>
                        </m:e>
                      </m:d>
                    </m:oMath>
                  </m:oMathPara>
                </a14:m>
                <a:endParaRPr lang="en-US" b="0" dirty="0"/>
              </a:p>
              <a:p>
                <a:endParaRPr lang="en-US" dirty="0"/>
              </a:p>
            </p:txBody>
          </p:sp>
        </mc:Choice>
        <mc:Fallback xmlns="">
          <p:sp>
            <p:nvSpPr>
              <p:cNvPr id="3" name="Content Placeholder 2">
                <a:extLst>
                  <a:ext uri="{FF2B5EF4-FFF2-40B4-BE49-F238E27FC236}">
                    <a16:creationId xmlns:a16="http://schemas.microsoft.com/office/drawing/2014/main" id="{31D58EAC-E106-456B-7E43-E92ABFBC323E}"/>
                  </a:ext>
                </a:extLst>
              </p:cNvPr>
              <p:cNvSpPr>
                <a:spLocks noGrp="1" noRot="1" noChangeAspect="1" noMove="1" noResize="1" noEditPoints="1" noAdjustHandles="1" noChangeArrowheads="1" noChangeShapeType="1" noTextEdit="1"/>
              </p:cNvSpPr>
              <p:nvPr>
                <p:ph idx="1"/>
              </p:nvPr>
            </p:nvSpPr>
            <p:spPr>
              <a:blipFill>
                <a:blip r:embed="rId3"/>
                <a:stretch>
                  <a:fillRect l="-1515" t="-1667"/>
                </a:stretch>
              </a:blipFill>
            </p:spPr>
            <p:txBody>
              <a:bodyPr/>
              <a:lstStyle/>
              <a:p>
                <a:r>
                  <a:rPr lang="en-US">
                    <a:noFill/>
                  </a:rPr>
                  <a:t> </a:t>
                </a:r>
              </a:p>
            </p:txBody>
          </p:sp>
        </mc:Fallback>
      </mc:AlternateContent>
    </p:spTree>
    <p:extLst>
      <p:ext uri="{BB962C8B-B14F-4D97-AF65-F5344CB8AC3E}">
        <p14:creationId xmlns:p14="http://schemas.microsoft.com/office/powerpoint/2010/main" val="369339796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F28A6-E710-586F-D4DB-4D13108CFCBE}"/>
              </a:ext>
            </a:extLst>
          </p:cNvPr>
          <p:cNvSpPr>
            <a:spLocks noGrp="1"/>
          </p:cNvSpPr>
          <p:nvPr>
            <p:ph type="title"/>
          </p:nvPr>
        </p:nvSpPr>
        <p:spPr/>
        <p:txBody>
          <a:bodyPr/>
          <a:lstStyle/>
          <a:p>
            <a:r>
              <a:rPr lang="en-US" dirty="0"/>
              <a:t>Concept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A62058D-170D-C19F-0762-FF17E552E21E}"/>
                  </a:ext>
                </a:extLst>
              </p:cNvPr>
              <p:cNvSpPr>
                <a:spLocks noGrp="1"/>
              </p:cNvSpPr>
              <p:nvPr>
                <p:ph idx="1"/>
              </p:nvPr>
            </p:nvSpPr>
            <p:spPr/>
            <p:txBody>
              <a:bodyPr/>
              <a:lstStyle/>
              <a:p>
                <a:r>
                  <a:rPr lang="en-US" b="1" dirty="0"/>
                  <a:t>Attribute Closure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𝑋</m:t>
                        </m:r>
                      </m:e>
                      <m:sup>
                        <m:r>
                          <a:rPr lang="en-US">
                            <a:latin typeface="Cambria Math" panose="02040503050406030204" pitchFamily="18" charset="0"/>
                          </a:rPr>
                          <m:t>+</m:t>
                        </m:r>
                      </m:sup>
                    </m:sSup>
                  </m:oMath>
                </a14:m>
                <a:r>
                  <a:rPr lang="en-US" b="1" dirty="0"/>
                  <a:t>) = "What attributes can I reach starting from X?"</a:t>
                </a:r>
                <a:endParaRPr lang="en-US" dirty="0"/>
              </a:p>
              <a:p>
                <a:r>
                  <a:rPr lang="en-US" dirty="0"/>
                  <a:t>For example: If, for given relation R, FDs are</a:t>
                </a:r>
              </a:p>
              <a:p>
                <a:pPr marL="201168" lvl="1"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𝐴</m:t>
                      </m:r>
                      <m:r>
                        <a:rPr lang="en-US">
                          <a:latin typeface="Cambria Math" panose="02040503050406030204" pitchFamily="18" charset="0"/>
                        </a:rPr>
                        <m:t>→</m:t>
                      </m:r>
                      <m:r>
                        <a:rPr lang="en-US" i="1">
                          <a:latin typeface="Cambria Math" panose="02040503050406030204" pitchFamily="18" charset="0"/>
                        </a:rPr>
                        <m:t>𝐵</m:t>
                      </m:r>
                      <m:r>
                        <a:rPr lang="en-US">
                          <a:latin typeface="Cambria Math" panose="02040503050406030204" pitchFamily="18" charset="0"/>
                        </a:rPr>
                        <m:t>, </m:t>
                      </m:r>
                      <m:r>
                        <a:rPr lang="en-US" i="1">
                          <a:latin typeface="Cambria Math" panose="02040503050406030204" pitchFamily="18" charset="0"/>
                        </a:rPr>
                        <m:t>𝐵</m:t>
                      </m:r>
                      <m:r>
                        <a:rPr lang="en-US">
                          <a:latin typeface="Cambria Math" panose="02040503050406030204" pitchFamily="18" charset="0"/>
                        </a:rPr>
                        <m:t>→</m:t>
                      </m:r>
                      <m:r>
                        <a:rPr lang="en-US" i="1">
                          <a:latin typeface="Cambria Math" panose="02040503050406030204" pitchFamily="18" charset="0"/>
                        </a:rPr>
                        <m:t>𝐶</m:t>
                      </m:r>
                      <m:r>
                        <a:rPr lang="en-US">
                          <a:latin typeface="Cambria Math" panose="02040503050406030204" pitchFamily="18" charset="0"/>
                        </a:rPr>
                        <m:t>, </m:t>
                      </m:r>
                      <m:r>
                        <a:rPr lang="en-US" i="1">
                          <a:latin typeface="Cambria Math" panose="02040503050406030204" pitchFamily="18" charset="0"/>
                        </a:rPr>
                        <m:t>𝐶</m:t>
                      </m:r>
                      <m:r>
                        <a:rPr lang="en-US">
                          <a:latin typeface="Cambria Math" panose="02040503050406030204" pitchFamily="18" charset="0"/>
                        </a:rPr>
                        <m:t>→</m:t>
                      </m:r>
                      <m:r>
                        <a:rPr lang="en-US" i="1">
                          <a:latin typeface="Cambria Math" panose="02040503050406030204" pitchFamily="18" charset="0"/>
                        </a:rPr>
                        <m:t>𝐷</m:t>
                      </m:r>
                    </m:oMath>
                  </m:oMathPara>
                </a14:m>
                <a:endParaRPr lang="en-US" dirty="0"/>
              </a:p>
              <a:p>
                <a:r>
                  <a:rPr lang="en-US" dirty="0"/>
                  <a:t>then</a:t>
                </a:r>
              </a:p>
              <a:p>
                <a:pPr marL="201168" lvl="1" indent="0">
                  <a:buNone/>
                </a:pPr>
                <a14:m>
                  <m:oMathPara xmlns:m="http://schemas.openxmlformats.org/officeDocument/2006/math">
                    <m:oMathParaPr>
                      <m:jc m:val="centerGroup"/>
                    </m:oMathParaPr>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𝐴</m:t>
                          </m:r>
                        </m:e>
                        <m:sup>
                          <m:r>
                            <a:rPr lang="en-US">
                              <a:latin typeface="Cambria Math" panose="02040503050406030204" pitchFamily="18" charset="0"/>
                            </a:rPr>
                            <m:t>+</m:t>
                          </m:r>
                        </m:sup>
                      </m:sSup>
                      <m:r>
                        <a:rPr lang="en-US">
                          <a:latin typeface="Cambria Math" panose="02040503050406030204" pitchFamily="18" charset="0"/>
                        </a:rPr>
                        <m:t>=</m:t>
                      </m:r>
                      <m:d>
                        <m:dPr>
                          <m:begChr m:val="{"/>
                          <m:endChr m:val="}"/>
                          <m:sepChr m:val=","/>
                          <m:ctrlPr>
                            <a:rPr lang="en-US" i="1">
                              <a:latin typeface="Cambria Math" panose="02040503050406030204" pitchFamily="18" charset="0"/>
                            </a:rPr>
                          </m:ctrlPr>
                        </m:dPr>
                        <m:e>
                          <m:r>
                            <a:rPr lang="en-US" i="1">
                              <a:latin typeface="Cambria Math" panose="02040503050406030204" pitchFamily="18" charset="0"/>
                            </a:rPr>
                            <m:t>𝐴</m:t>
                          </m:r>
                        </m:e>
                        <m:e>
                          <m:r>
                            <a:rPr lang="en-US" i="1">
                              <a:latin typeface="Cambria Math" panose="02040503050406030204" pitchFamily="18" charset="0"/>
                            </a:rPr>
                            <m:t>𝐵</m:t>
                          </m:r>
                        </m:e>
                        <m:e>
                          <m:r>
                            <a:rPr lang="en-US" i="1">
                              <a:latin typeface="Cambria Math" panose="02040503050406030204" pitchFamily="18" charset="0"/>
                            </a:rPr>
                            <m:t>𝐶</m:t>
                          </m:r>
                        </m:e>
                        <m:e>
                          <m:r>
                            <a:rPr lang="en-US" i="1">
                              <a:latin typeface="Cambria Math" panose="02040503050406030204" pitchFamily="18" charset="0"/>
                            </a:rPr>
                            <m:t>𝐷</m:t>
                          </m:r>
                        </m:e>
                      </m:d>
                    </m:oMath>
                  </m:oMathPara>
                </a14:m>
                <a:endParaRPr lang="en-US" dirty="0"/>
              </a:p>
              <a:p>
                <a:r>
                  <a:rPr lang="en-US" dirty="0"/>
                  <a:t>because starting from A, we can reach B, then C, then D. This is the fundamental idea behind attribute closure.</a:t>
                </a:r>
              </a:p>
              <a:p>
                <a:endParaRPr lang="en-US" dirty="0"/>
              </a:p>
            </p:txBody>
          </p:sp>
        </mc:Choice>
        <mc:Fallback xmlns="">
          <p:sp>
            <p:nvSpPr>
              <p:cNvPr id="3" name="Content Placeholder 2">
                <a:extLst>
                  <a:ext uri="{FF2B5EF4-FFF2-40B4-BE49-F238E27FC236}">
                    <a16:creationId xmlns:a16="http://schemas.microsoft.com/office/drawing/2014/main" id="{CA62058D-170D-C19F-0762-FF17E552E21E}"/>
                  </a:ext>
                </a:extLst>
              </p:cNvPr>
              <p:cNvSpPr>
                <a:spLocks noGrp="1" noRot="1" noChangeAspect="1" noMove="1" noResize="1" noEditPoints="1" noAdjustHandles="1" noChangeArrowheads="1" noChangeShapeType="1" noTextEdit="1"/>
              </p:cNvSpPr>
              <p:nvPr>
                <p:ph idx="1"/>
              </p:nvPr>
            </p:nvSpPr>
            <p:spPr>
              <a:blipFill>
                <a:blip r:embed="rId2"/>
                <a:stretch>
                  <a:fillRect l="-1515" t="-1667"/>
                </a:stretch>
              </a:blipFill>
            </p:spPr>
            <p:txBody>
              <a:bodyPr/>
              <a:lstStyle/>
              <a:p>
                <a:r>
                  <a:rPr lang="en-US">
                    <a:noFill/>
                  </a:rPr>
                  <a:t> </a:t>
                </a:r>
              </a:p>
            </p:txBody>
          </p:sp>
        </mc:Fallback>
      </mc:AlternateContent>
    </p:spTree>
    <p:extLst>
      <p:ext uri="{BB962C8B-B14F-4D97-AF65-F5344CB8AC3E}">
        <p14:creationId xmlns:p14="http://schemas.microsoft.com/office/powerpoint/2010/main" val="142892654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A54EEE-EE2F-A8EB-9ED4-7EB5690158B7}"/>
              </a:ext>
            </a:extLst>
          </p:cNvPr>
          <p:cNvSpPr>
            <a:spLocks noGrp="1"/>
          </p:cNvSpPr>
          <p:nvPr>
            <p:ph type="title"/>
          </p:nvPr>
        </p:nvSpPr>
        <p:spPr/>
        <p:txBody>
          <a:bodyPr/>
          <a:lstStyle/>
          <a:p>
            <a:r>
              <a:rPr lang="en-US" dirty="0"/>
              <a:t>Examples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D388340-99E3-8DA9-A58F-924B24D70566}"/>
                  </a:ext>
                </a:extLst>
              </p:cNvPr>
              <p:cNvSpPr>
                <a:spLocks noGrp="1"/>
              </p:cNvSpPr>
              <p:nvPr>
                <p:ph idx="1"/>
              </p:nvPr>
            </p:nvSpPr>
            <p:spPr/>
            <p:txBody>
              <a:bodyPr>
                <a:normAutofit/>
              </a:bodyPr>
              <a:lstStyle/>
              <a:p>
                <a:r>
                  <a:rPr lang="en-US" dirty="0"/>
                  <a:t>Consider:</a:t>
                </a:r>
                <a14:m>
                  <m:oMath xmlns:m="http://schemas.openxmlformats.org/officeDocument/2006/math">
                    <m:r>
                      <a:rPr lang="en-US" b="0" i="0" smtClean="0">
                        <a:latin typeface="Cambria Math" panose="02040503050406030204" pitchFamily="18" charset="0"/>
                      </a:rPr>
                      <m:t> </m:t>
                    </m:r>
                    <m:r>
                      <a:rPr lang="en-US" i="1">
                        <a:latin typeface="Cambria Math" panose="02040503050406030204" pitchFamily="18" charset="0"/>
                      </a:rPr>
                      <m:t>𝑅</m:t>
                    </m:r>
                    <m:d>
                      <m:dPr>
                        <m:sepChr m:val=","/>
                        <m:ctrlPr>
                          <a:rPr lang="en-US" i="1">
                            <a:latin typeface="Cambria Math" panose="02040503050406030204" pitchFamily="18" charset="0"/>
                          </a:rPr>
                        </m:ctrlPr>
                      </m:dPr>
                      <m:e>
                        <m:r>
                          <a:rPr lang="en-US" i="1">
                            <a:latin typeface="Cambria Math" panose="02040503050406030204" pitchFamily="18" charset="0"/>
                          </a:rPr>
                          <m:t>𝐴</m:t>
                        </m:r>
                      </m:e>
                      <m:e>
                        <m:r>
                          <a:rPr lang="en-US" i="1">
                            <a:latin typeface="Cambria Math" panose="02040503050406030204" pitchFamily="18" charset="0"/>
                          </a:rPr>
                          <m:t>𝐵</m:t>
                        </m:r>
                      </m:e>
                      <m:e>
                        <m:r>
                          <a:rPr lang="en-US" i="1">
                            <a:latin typeface="Cambria Math" panose="02040503050406030204" pitchFamily="18" charset="0"/>
                          </a:rPr>
                          <m:t>𝐶</m:t>
                        </m:r>
                      </m:e>
                      <m:e>
                        <m:r>
                          <a:rPr lang="en-US" i="1">
                            <a:latin typeface="Cambria Math" panose="02040503050406030204" pitchFamily="18" charset="0"/>
                          </a:rPr>
                          <m:t>𝐷</m:t>
                        </m:r>
                      </m:e>
                    </m:d>
                  </m:oMath>
                </a14:m>
                <a:r>
                  <a:rPr lang="en-US" dirty="0"/>
                  <a:t>,  FDs:</a:t>
                </a:r>
                <a14:m>
                  <m:oMath xmlns:m="http://schemas.openxmlformats.org/officeDocument/2006/math">
                    <m:r>
                      <a:rPr lang="en-US" i="1">
                        <a:latin typeface="Cambria Math" panose="02040503050406030204" pitchFamily="18" charset="0"/>
                      </a:rPr>
                      <m:t>𝐴</m:t>
                    </m:r>
                    <m:r>
                      <a:rPr lang="en-US">
                        <a:latin typeface="Cambria Math" panose="02040503050406030204" pitchFamily="18" charset="0"/>
                      </a:rPr>
                      <m:t>→</m:t>
                    </m:r>
                    <m:r>
                      <a:rPr lang="en-US" i="1">
                        <a:latin typeface="Cambria Math" panose="02040503050406030204" pitchFamily="18" charset="0"/>
                      </a:rPr>
                      <m:t>𝐵</m:t>
                    </m:r>
                  </m:oMath>
                </a14:m>
                <a:r>
                  <a:rPr lang="en-US" dirty="0"/>
                  <a:t>, </a:t>
                </a:r>
                <a14:m>
                  <m:oMath xmlns:m="http://schemas.openxmlformats.org/officeDocument/2006/math">
                    <m:r>
                      <a:rPr lang="en-US" i="1">
                        <a:latin typeface="Cambria Math" panose="02040503050406030204" pitchFamily="18" charset="0"/>
                      </a:rPr>
                      <m:t>𝐵</m:t>
                    </m:r>
                    <m:r>
                      <a:rPr lang="en-US">
                        <a:latin typeface="Cambria Math" panose="02040503050406030204" pitchFamily="18" charset="0"/>
                      </a:rPr>
                      <m:t>→</m:t>
                    </m:r>
                    <m:r>
                      <a:rPr lang="en-US" i="1">
                        <a:latin typeface="Cambria Math" panose="02040503050406030204" pitchFamily="18" charset="0"/>
                      </a:rPr>
                      <m:t>𝐶</m:t>
                    </m:r>
                  </m:oMath>
                </a14:m>
                <a:r>
                  <a:rPr lang="en-US" dirty="0"/>
                  <a:t>, </a:t>
                </a:r>
                <a14:m>
                  <m:oMath xmlns:m="http://schemas.openxmlformats.org/officeDocument/2006/math">
                    <m:r>
                      <a:rPr lang="en-US" i="1">
                        <a:latin typeface="Cambria Math" panose="02040503050406030204" pitchFamily="18" charset="0"/>
                      </a:rPr>
                      <m:t>𝐶</m:t>
                    </m:r>
                    <m:r>
                      <a:rPr lang="en-US">
                        <a:latin typeface="Cambria Math" panose="02040503050406030204" pitchFamily="18" charset="0"/>
                      </a:rPr>
                      <m:t>→</m:t>
                    </m:r>
                    <m:r>
                      <a:rPr lang="en-US" i="1">
                        <a:latin typeface="Cambria Math" panose="02040503050406030204" pitchFamily="18" charset="0"/>
                      </a:rPr>
                      <m:t>𝐷</m:t>
                    </m:r>
                  </m:oMath>
                </a14:m>
                <a:r>
                  <a:rPr lang="en-US" dirty="0"/>
                  <a:t>, Find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𝐴</m:t>
                        </m:r>
                      </m:e>
                      <m:sup>
                        <m:r>
                          <a:rPr lang="en-US">
                            <a:latin typeface="Cambria Math" panose="02040503050406030204" pitchFamily="18" charset="0"/>
                          </a:rPr>
                          <m:t>+</m:t>
                        </m:r>
                      </m:sup>
                    </m:sSup>
                  </m:oMath>
                </a14:m>
                <a:r>
                  <a:rPr lang="en-US" dirty="0"/>
                  <a:t>.</a:t>
                </a:r>
              </a:p>
              <a:p>
                <a:r>
                  <a:rPr lang="en-US" dirty="0"/>
                  <a:t>Consider:</a:t>
                </a:r>
                <a14:m>
                  <m:oMath xmlns:m="http://schemas.openxmlformats.org/officeDocument/2006/math">
                    <m:r>
                      <a:rPr lang="en-US" b="0" i="0" smtClean="0">
                        <a:latin typeface="Cambria Math" panose="02040503050406030204" pitchFamily="18" charset="0"/>
                      </a:rPr>
                      <m:t> </m:t>
                    </m:r>
                    <m:r>
                      <a:rPr lang="en-US" i="1">
                        <a:latin typeface="Cambria Math" panose="02040503050406030204" pitchFamily="18" charset="0"/>
                      </a:rPr>
                      <m:t>𝑅</m:t>
                    </m:r>
                    <m:d>
                      <m:dPr>
                        <m:sepChr m:val=","/>
                        <m:ctrlPr>
                          <a:rPr lang="en-US" i="1">
                            <a:latin typeface="Cambria Math" panose="02040503050406030204" pitchFamily="18" charset="0"/>
                          </a:rPr>
                        </m:ctrlPr>
                      </m:dPr>
                      <m:e>
                        <m:r>
                          <a:rPr lang="en-US" i="1">
                            <a:latin typeface="Cambria Math" panose="02040503050406030204" pitchFamily="18" charset="0"/>
                          </a:rPr>
                          <m:t>𝐴</m:t>
                        </m:r>
                      </m:e>
                      <m:e>
                        <m:r>
                          <a:rPr lang="en-US" i="1">
                            <a:latin typeface="Cambria Math" panose="02040503050406030204" pitchFamily="18" charset="0"/>
                          </a:rPr>
                          <m:t>𝐵</m:t>
                        </m:r>
                      </m:e>
                      <m:e>
                        <m:r>
                          <a:rPr lang="en-US" i="1">
                            <a:latin typeface="Cambria Math" panose="02040503050406030204" pitchFamily="18" charset="0"/>
                          </a:rPr>
                          <m:t>𝐶</m:t>
                        </m:r>
                      </m:e>
                      <m:e>
                        <m:r>
                          <a:rPr lang="en-US" i="1">
                            <a:latin typeface="Cambria Math" panose="02040503050406030204" pitchFamily="18" charset="0"/>
                          </a:rPr>
                          <m:t>𝐷</m:t>
                        </m:r>
                      </m:e>
                      <m:e>
                        <m:r>
                          <a:rPr lang="en-US" i="1">
                            <a:latin typeface="Cambria Math" panose="02040503050406030204" pitchFamily="18" charset="0"/>
                          </a:rPr>
                          <m:t>𝐸</m:t>
                        </m:r>
                      </m:e>
                    </m:d>
                  </m:oMath>
                </a14:m>
                <a:r>
                  <a:rPr lang="en-US" dirty="0"/>
                  <a:t>, FDs:, </a:t>
                </a:r>
                <a14:m>
                  <m:oMath xmlns:m="http://schemas.openxmlformats.org/officeDocument/2006/math">
                    <m:r>
                      <a:rPr lang="en-US" i="1">
                        <a:latin typeface="Cambria Math" panose="02040503050406030204" pitchFamily="18" charset="0"/>
                      </a:rPr>
                      <m:t>𝐴</m:t>
                    </m:r>
                    <m:r>
                      <a:rPr lang="en-US">
                        <a:latin typeface="Cambria Math" panose="02040503050406030204" pitchFamily="18" charset="0"/>
                      </a:rPr>
                      <m:t>→</m:t>
                    </m:r>
                    <m:r>
                      <a:rPr lang="en-US" i="1">
                        <a:latin typeface="Cambria Math" panose="02040503050406030204" pitchFamily="18" charset="0"/>
                      </a:rPr>
                      <m:t>𝐵𝐶</m:t>
                    </m:r>
                  </m:oMath>
                </a14:m>
                <a:r>
                  <a:rPr lang="en-US" dirty="0"/>
                  <a:t>, </a:t>
                </a:r>
                <a14:m>
                  <m:oMath xmlns:m="http://schemas.openxmlformats.org/officeDocument/2006/math">
                    <m:r>
                      <a:rPr lang="en-US" i="1">
                        <a:latin typeface="Cambria Math" panose="02040503050406030204" pitchFamily="18" charset="0"/>
                      </a:rPr>
                      <m:t>𝐵</m:t>
                    </m:r>
                    <m:r>
                      <a:rPr lang="en-US">
                        <a:latin typeface="Cambria Math" panose="02040503050406030204" pitchFamily="18" charset="0"/>
                      </a:rPr>
                      <m:t>→</m:t>
                    </m:r>
                    <m:r>
                      <a:rPr lang="en-US" i="1">
                        <a:latin typeface="Cambria Math" panose="02040503050406030204" pitchFamily="18" charset="0"/>
                      </a:rPr>
                      <m:t>𝐷</m:t>
                    </m:r>
                  </m:oMath>
                </a14:m>
                <a:r>
                  <a:rPr lang="en-US" dirty="0"/>
                  <a:t>, </a:t>
                </a:r>
                <a14:m>
                  <m:oMath xmlns:m="http://schemas.openxmlformats.org/officeDocument/2006/math">
                    <m:r>
                      <a:rPr lang="en-US" i="1">
                        <a:latin typeface="Cambria Math" panose="02040503050406030204" pitchFamily="18" charset="0"/>
                      </a:rPr>
                      <m:t>𝐶𝐷</m:t>
                    </m:r>
                    <m:r>
                      <a:rPr lang="en-US">
                        <a:latin typeface="Cambria Math" panose="02040503050406030204" pitchFamily="18" charset="0"/>
                      </a:rPr>
                      <m:t>→</m:t>
                    </m:r>
                    <m:r>
                      <a:rPr lang="en-US" i="1">
                        <a:latin typeface="Cambria Math" panose="02040503050406030204" pitchFamily="18" charset="0"/>
                      </a:rPr>
                      <m:t>𝐸</m:t>
                    </m:r>
                  </m:oMath>
                </a14:m>
                <a:r>
                  <a:rPr lang="en-US" dirty="0"/>
                  <a:t>, Find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𝐴</m:t>
                        </m:r>
                      </m:e>
                      <m:sup>
                        <m:r>
                          <a:rPr lang="en-US">
                            <a:latin typeface="Cambria Math" panose="02040503050406030204" pitchFamily="18" charset="0"/>
                          </a:rPr>
                          <m:t>+</m:t>
                        </m:r>
                      </m:sup>
                    </m:sSup>
                  </m:oMath>
                </a14:m>
                <a:r>
                  <a:rPr lang="en-US" dirty="0"/>
                  <a:t>.</a:t>
                </a:r>
              </a:p>
              <a:p>
                <a:r>
                  <a:rPr lang="en-US" dirty="0"/>
                  <a:t>Relation: </a:t>
                </a:r>
                <a14:m>
                  <m:oMath xmlns:m="http://schemas.openxmlformats.org/officeDocument/2006/math">
                    <m:r>
                      <a:rPr lang="en-US" i="1">
                        <a:latin typeface="Cambria Math" panose="02040503050406030204" pitchFamily="18" charset="0"/>
                      </a:rPr>
                      <m:t>𝑅</m:t>
                    </m:r>
                    <m:d>
                      <m:dPr>
                        <m:sepChr m:val=","/>
                        <m:ctrlPr>
                          <a:rPr lang="en-US" i="1">
                            <a:latin typeface="Cambria Math" panose="02040503050406030204" pitchFamily="18" charset="0"/>
                          </a:rPr>
                        </m:ctrlPr>
                      </m:dPr>
                      <m:e>
                        <m:r>
                          <a:rPr lang="en-US" i="1">
                            <a:latin typeface="Cambria Math" panose="02040503050406030204" pitchFamily="18" charset="0"/>
                          </a:rPr>
                          <m:t>𝐴</m:t>
                        </m:r>
                      </m:e>
                      <m:e>
                        <m:r>
                          <a:rPr lang="en-US" i="1">
                            <a:latin typeface="Cambria Math" panose="02040503050406030204" pitchFamily="18" charset="0"/>
                          </a:rPr>
                          <m:t>𝐵</m:t>
                        </m:r>
                      </m:e>
                      <m:e>
                        <m:r>
                          <a:rPr lang="en-US" i="1">
                            <a:latin typeface="Cambria Math" panose="02040503050406030204" pitchFamily="18" charset="0"/>
                          </a:rPr>
                          <m:t>𝐶</m:t>
                        </m:r>
                      </m:e>
                      <m:e>
                        <m:r>
                          <a:rPr lang="en-US" i="1">
                            <a:latin typeface="Cambria Math" panose="02040503050406030204" pitchFamily="18" charset="0"/>
                          </a:rPr>
                          <m:t>𝐷</m:t>
                        </m:r>
                      </m:e>
                      <m:e>
                        <m:r>
                          <a:rPr lang="en-US" i="1">
                            <a:latin typeface="Cambria Math" panose="02040503050406030204" pitchFamily="18" charset="0"/>
                          </a:rPr>
                          <m:t>𝐸</m:t>
                        </m:r>
                      </m:e>
                      <m:e>
                        <m:r>
                          <a:rPr lang="en-US" i="1">
                            <a:latin typeface="Cambria Math" panose="02040503050406030204" pitchFamily="18" charset="0"/>
                          </a:rPr>
                          <m:t>𝐹</m:t>
                        </m:r>
                      </m:e>
                    </m:d>
                  </m:oMath>
                </a14:m>
                <a:r>
                  <a:rPr lang="en-US" dirty="0"/>
                  <a:t>, FDs: </a:t>
                </a:r>
                <a14:m>
                  <m:oMath xmlns:m="http://schemas.openxmlformats.org/officeDocument/2006/math">
                    <m:r>
                      <a:rPr lang="en-US" i="1">
                        <a:latin typeface="Cambria Math" panose="02040503050406030204" pitchFamily="18" charset="0"/>
                      </a:rPr>
                      <m:t>𝐴</m:t>
                    </m:r>
                    <m:r>
                      <a:rPr lang="en-US">
                        <a:latin typeface="Cambria Math" panose="02040503050406030204" pitchFamily="18" charset="0"/>
                      </a:rPr>
                      <m:t>→</m:t>
                    </m:r>
                    <m:r>
                      <a:rPr lang="en-US" i="1">
                        <a:latin typeface="Cambria Math" panose="02040503050406030204" pitchFamily="18" charset="0"/>
                      </a:rPr>
                      <m:t>𝐵𝐶</m:t>
                    </m:r>
                  </m:oMath>
                </a14:m>
                <a:r>
                  <a:rPr lang="en-US" dirty="0"/>
                  <a:t>, </a:t>
                </a:r>
                <a14:m>
                  <m:oMath xmlns:m="http://schemas.openxmlformats.org/officeDocument/2006/math">
                    <m:r>
                      <a:rPr lang="en-US" i="1">
                        <a:latin typeface="Cambria Math" panose="02040503050406030204" pitchFamily="18" charset="0"/>
                      </a:rPr>
                      <m:t>𝐵</m:t>
                    </m:r>
                    <m:r>
                      <a:rPr lang="en-US">
                        <a:latin typeface="Cambria Math" panose="02040503050406030204" pitchFamily="18" charset="0"/>
                      </a:rPr>
                      <m:t>→</m:t>
                    </m:r>
                    <m:r>
                      <a:rPr lang="en-US" i="1">
                        <a:latin typeface="Cambria Math" panose="02040503050406030204" pitchFamily="18" charset="0"/>
                      </a:rPr>
                      <m:t>𝐸</m:t>
                    </m:r>
                  </m:oMath>
                </a14:m>
                <a:r>
                  <a:rPr lang="en-US" dirty="0"/>
                  <a:t>, </a:t>
                </a:r>
                <a14:m>
                  <m:oMath xmlns:m="http://schemas.openxmlformats.org/officeDocument/2006/math">
                    <m:r>
                      <a:rPr lang="en-US" i="1">
                        <a:latin typeface="Cambria Math" panose="02040503050406030204" pitchFamily="18" charset="0"/>
                      </a:rPr>
                      <m:t>𝐶</m:t>
                    </m:r>
                    <m:r>
                      <a:rPr lang="en-US">
                        <a:latin typeface="Cambria Math" panose="02040503050406030204" pitchFamily="18" charset="0"/>
                      </a:rPr>
                      <m:t>→</m:t>
                    </m:r>
                    <m:r>
                      <a:rPr lang="en-US" i="1">
                        <a:latin typeface="Cambria Math" panose="02040503050406030204" pitchFamily="18" charset="0"/>
                      </a:rPr>
                      <m:t>𝐸𝐹</m:t>
                    </m:r>
                  </m:oMath>
                </a14:m>
                <a:r>
                  <a:rPr lang="en-US" dirty="0"/>
                  <a:t>, </a:t>
                </a:r>
                <a14:m>
                  <m:oMath xmlns:m="http://schemas.openxmlformats.org/officeDocument/2006/math">
                    <m:r>
                      <a:rPr lang="en-US" i="1">
                        <a:latin typeface="Cambria Math" panose="02040503050406030204" pitchFamily="18" charset="0"/>
                      </a:rPr>
                      <m:t>𝐸</m:t>
                    </m:r>
                    <m:r>
                      <a:rPr lang="en-US">
                        <a:latin typeface="Cambria Math" panose="02040503050406030204" pitchFamily="18" charset="0"/>
                      </a:rPr>
                      <m:t>→</m:t>
                    </m:r>
                    <m:r>
                      <a:rPr lang="en-US" i="1">
                        <a:latin typeface="Cambria Math" panose="02040503050406030204" pitchFamily="18" charset="0"/>
                      </a:rPr>
                      <m:t>𝐶𝐹</m:t>
                    </m:r>
                  </m:oMath>
                </a14:m>
                <a:r>
                  <a:rPr lang="en-US" dirty="0"/>
                  <a:t>, Find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𝐴</m:t>
                        </m:r>
                      </m:e>
                      <m:sup>
                        <m:r>
                          <a:rPr lang="en-US">
                            <a:latin typeface="Cambria Math" panose="02040503050406030204" pitchFamily="18" charset="0"/>
                          </a:rPr>
                          <m:t>+</m:t>
                        </m:r>
                      </m:sup>
                    </m:sSup>
                  </m:oMath>
                </a14:m>
                <a:r>
                  <a:rPr lang="en-US" dirty="0"/>
                  <a:t>.</a:t>
                </a:r>
              </a:p>
              <a:p>
                <a:br>
                  <a:rPr lang="en-US" dirty="0"/>
                </a:br>
                <a:r>
                  <a:rPr lang="en-US" b="1" dirty="0"/>
                  <a:t>Why is attribute closure important?</a:t>
                </a:r>
              </a:p>
              <a:p>
                <a:pPr lvl="1"/>
                <a:r>
                  <a:rPr lang="en-US" dirty="0"/>
                  <a:t>Finding Candidate Keys </a:t>
                </a:r>
              </a:p>
              <a:p>
                <a:pPr lvl="1"/>
                <a:r>
                  <a:rPr lang="en-US" dirty="0"/>
                  <a:t>Finding Super Keys </a:t>
                </a:r>
              </a:p>
              <a:p>
                <a:pPr lvl="1"/>
                <a:r>
                  <a:rPr lang="en-US" dirty="0"/>
                  <a:t>Testing FD implication </a:t>
                </a:r>
              </a:p>
              <a:p>
                <a:pPr lvl="1"/>
                <a:r>
                  <a:rPr lang="en-US" dirty="0"/>
                  <a:t>Database normalization </a:t>
                </a:r>
              </a:p>
              <a:p>
                <a:pPr lvl="1"/>
                <a:r>
                  <a:rPr lang="en-US" dirty="0"/>
                  <a:t>Checking lossless decomposition</a:t>
                </a:r>
              </a:p>
              <a:p>
                <a:endParaRPr lang="en-US" dirty="0"/>
              </a:p>
            </p:txBody>
          </p:sp>
        </mc:Choice>
        <mc:Fallback xmlns="">
          <p:sp>
            <p:nvSpPr>
              <p:cNvPr id="3" name="Content Placeholder 2">
                <a:extLst>
                  <a:ext uri="{FF2B5EF4-FFF2-40B4-BE49-F238E27FC236}">
                    <a16:creationId xmlns:a16="http://schemas.microsoft.com/office/drawing/2014/main" id="{0D388340-99E3-8DA9-A58F-924B24D70566}"/>
                  </a:ext>
                </a:extLst>
              </p:cNvPr>
              <p:cNvSpPr>
                <a:spLocks noGrp="1" noRot="1" noChangeAspect="1" noMove="1" noResize="1" noEditPoints="1" noAdjustHandles="1" noChangeArrowheads="1" noChangeShapeType="1" noTextEdit="1"/>
              </p:cNvSpPr>
              <p:nvPr>
                <p:ph idx="1"/>
              </p:nvPr>
            </p:nvSpPr>
            <p:spPr>
              <a:blipFill>
                <a:blip r:embed="rId3"/>
                <a:stretch>
                  <a:fillRect l="-606" t="-1667"/>
                </a:stretch>
              </a:blipFill>
            </p:spPr>
            <p:txBody>
              <a:bodyPr/>
              <a:lstStyle/>
              <a:p>
                <a:r>
                  <a:rPr lang="en-US">
                    <a:noFill/>
                  </a:rPr>
                  <a:t> </a:t>
                </a:r>
              </a:p>
            </p:txBody>
          </p:sp>
        </mc:Fallback>
      </mc:AlternateContent>
    </p:spTree>
    <p:extLst>
      <p:ext uri="{BB962C8B-B14F-4D97-AF65-F5344CB8AC3E}">
        <p14:creationId xmlns:p14="http://schemas.microsoft.com/office/powerpoint/2010/main" val="419232581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62D2EA-0C23-DAC6-A063-AFBE59AA857F}"/>
              </a:ext>
            </a:extLst>
          </p:cNvPr>
          <p:cNvSpPr>
            <a:spLocks noGrp="1"/>
          </p:cNvSpPr>
          <p:nvPr>
            <p:ph type="title"/>
          </p:nvPr>
        </p:nvSpPr>
        <p:spPr/>
        <p:txBody>
          <a:bodyPr/>
          <a:lstStyle/>
          <a:p>
            <a:r>
              <a:rPr lang="en-US" dirty="0"/>
              <a:t>Find Candidate key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0B04319-B16F-CA47-C327-998A2053F991}"/>
                  </a:ext>
                </a:extLst>
              </p:cNvPr>
              <p:cNvSpPr>
                <a:spLocks noGrp="1"/>
              </p:cNvSpPr>
              <p:nvPr>
                <p:ph idx="1"/>
              </p:nvPr>
            </p:nvSpPr>
            <p:spPr/>
            <p:txBody>
              <a:bodyPr>
                <a:normAutofit fontScale="70000" lnSpcReduction="20000"/>
              </a:bodyPr>
              <a:lstStyle/>
              <a:p>
                <a:r>
                  <a:rPr lang="en-US" dirty="0"/>
                  <a:t>A </a:t>
                </a:r>
                <a:r>
                  <a:rPr lang="en-US" b="1" dirty="0"/>
                  <a:t>Candidate Key</a:t>
                </a:r>
                <a:r>
                  <a:rPr lang="en-US" dirty="0"/>
                  <a:t> is the </a:t>
                </a:r>
                <a:r>
                  <a:rPr lang="en-US" b="1" dirty="0"/>
                  <a:t>smallest set of attributes that can uniquely identify every tuple (row) in a relation</a:t>
                </a:r>
                <a:r>
                  <a:rPr lang="en-US" dirty="0"/>
                  <a:t>. A candidate key must satisfy </a:t>
                </a:r>
                <a:r>
                  <a:rPr lang="en-US" b="1" dirty="0"/>
                  <a:t>two conditions</a:t>
                </a:r>
                <a:r>
                  <a:rPr lang="en-US" dirty="0"/>
                  <a:t>:</a:t>
                </a:r>
              </a:p>
              <a:p>
                <a:r>
                  <a:rPr lang="en-US" b="1" dirty="0"/>
                  <a:t>1. Uniqueness (Super Key Property) : </a:t>
                </a:r>
                <a:r>
                  <a:rPr lang="en-US" dirty="0"/>
                  <a:t>The closure of the attribute set must contain </a:t>
                </a:r>
                <a:r>
                  <a:rPr lang="en-US" b="1" dirty="0"/>
                  <a:t>all attributes of the relation</a:t>
                </a:r>
                <a:r>
                  <a:rPr lang="en-US" dirty="0"/>
                  <a:t>.</a:t>
                </a:r>
              </a:p>
              <a:p>
                <a:r>
                  <a:rPr lang="en-US" dirty="0"/>
                  <a:t>If relation is:</a:t>
                </a:r>
                <a14:m>
                  <m:oMath xmlns:m="http://schemas.openxmlformats.org/officeDocument/2006/math">
                    <m:r>
                      <a:rPr lang="en-US" b="0" i="0" smtClean="0">
                        <a:solidFill>
                          <a:schemeClr val="tx1"/>
                        </a:solidFill>
                        <a:latin typeface="Cambria Math" panose="02040503050406030204" pitchFamily="18" charset="0"/>
                      </a:rPr>
                      <m:t> </m:t>
                    </m:r>
                    <m:r>
                      <a:rPr lang="en-US" i="1">
                        <a:solidFill>
                          <a:schemeClr val="tx1"/>
                        </a:solidFill>
                        <a:latin typeface="Cambria Math" panose="02040503050406030204" pitchFamily="18" charset="0"/>
                      </a:rPr>
                      <m:t>𝑅</m:t>
                    </m:r>
                    <m:d>
                      <m:dPr>
                        <m:sepChr m:val=","/>
                        <m:ctrlPr>
                          <a:rPr lang="en-US" i="1">
                            <a:solidFill>
                              <a:schemeClr val="tx1"/>
                            </a:solidFill>
                            <a:latin typeface="Cambria Math" panose="02040503050406030204" pitchFamily="18" charset="0"/>
                          </a:rPr>
                        </m:ctrlPr>
                      </m:dPr>
                      <m:e>
                        <m:r>
                          <a:rPr lang="en-US" i="1">
                            <a:solidFill>
                              <a:schemeClr val="tx1"/>
                            </a:solidFill>
                            <a:latin typeface="Cambria Math" panose="02040503050406030204" pitchFamily="18" charset="0"/>
                          </a:rPr>
                          <m:t>𝐴</m:t>
                        </m:r>
                      </m:e>
                      <m:e>
                        <m:r>
                          <a:rPr lang="en-US" i="1">
                            <a:solidFill>
                              <a:schemeClr val="tx1"/>
                            </a:solidFill>
                            <a:latin typeface="Cambria Math" panose="02040503050406030204" pitchFamily="18" charset="0"/>
                          </a:rPr>
                          <m:t>𝐵</m:t>
                        </m:r>
                      </m:e>
                      <m:e>
                        <m:r>
                          <a:rPr lang="en-US" i="1">
                            <a:solidFill>
                              <a:schemeClr val="tx1"/>
                            </a:solidFill>
                            <a:latin typeface="Cambria Math" panose="02040503050406030204" pitchFamily="18" charset="0"/>
                          </a:rPr>
                          <m:t>𝐶</m:t>
                        </m:r>
                      </m:e>
                      <m:e>
                        <m:r>
                          <a:rPr lang="en-US" i="1">
                            <a:solidFill>
                              <a:schemeClr val="tx1"/>
                            </a:solidFill>
                            <a:latin typeface="Cambria Math" panose="02040503050406030204" pitchFamily="18" charset="0"/>
                          </a:rPr>
                          <m:t>𝐷</m:t>
                        </m:r>
                      </m:e>
                    </m:d>
                  </m:oMath>
                </a14:m>
                <a:r>
                  <a:rPr lang="en-US" dirty="0"/>
                  <a:t>  and</a:t>
                </a:r>
                <a14:m>
                  <m:oMath xmlns:m="http://schemas.openxmlformats.org/officeDocument/2006/math">
                    <m:r>
                      <a:rPr lang="en-US" b="0" i="0" smtClean="0">
                        <a:solidFill>
                          <a:schemeClr val="tx1"/>
                        </a:solidFill>
                        <a:latin typeface="Cambria Math" panose="02040503050406030204" pitchFamily="18" charset="0"/>
                      </a:rPr>
                      <m:t> </m:t>
                    </m:r>
                    <m:sSup>
                      <m:sSupPr>
                        <m:ctrlPr>
                          <a:rPr lang="en-US" i="1">
                            <a:solidFill>
                              <a:schemeClr val="tx1"/>
                            </a:solidFill>
                            <a:latin typeface="Cambria Math" panose="02040503050406030204" pitchFamily="18" charset="0"/>
                          </a:rPr>
                        </m:ctrlPr>
                      </m:sSupPr>
                      <m:e>
                        <m:r>
                          <a:rPr lang="en-US" i="1">
                            <a:solidFill>
                              <a:schemeClr val="tx1"/>
                            </a:solidFill>
                            <a:latin typeface="Cambria Math" panose="02040503050406030204" pitchFamily="18" charset="0"/>
                          </a:rPr>
                          <m:t>𝐴</m:t>
                        </m:r>
                      </m:e>
                      <m:sup>
                        <m:r>
                          <a:rPr lang="en-US">
                            <a:solidFill>
                              <a:schemeClr val="tx1"/>
                            </a:solidFill>
                            <a:latin typeface="Cambria Math" panose="02040503050406030204" pitchFamily="18" charset="0"/>
                          </a:rPr>
                          <m:t>+</m:t>
                        </m:r>
                      </m:sup>
                    </m:sSup>
                    <m:r>
                      <a:rPr lang="en-US">
                        <a:solidFill>
                          <a:schemeClr val="tx1"/>
                        </a:solidFill>
                        <a:latin typeface="Cambria Math" panose="02040503050406030204" pitchFamily="18" charset="0"/>
                      </a:rPr>
                      <m:t>=</m:t>
                    </m:r>
                    <m:d>
                      <m:dPr>
                        <m:begChr m:val="{"/>
                        <m:endChr m:val="}"/>
                        <m:sepChr m:val=","/>
                        <m:ctrlPr>
                          <a:rPr lang="en-US" i="1">
                            <a:solidFill>
                              <a:schemeClr val="tx1"/>
                            </a:solidFill>
                            <a:latin typeface="Cambria Math" panose="02040503050406030204" pitchFamily="18" charset="0"/>
                          </a:rPr>
                        </m:ctrlPr>
                      </m:dPr>
                      <m:e>
                        <m:r>
                          <a:rPr lang="en-US" i="1">
                            <a:solidFill>
                              <a:schemeClr val="tx1"/>
                            </a:solidFill>
                            <a:latin typeface="Cambria Math" panose="02040503050406030204" pitchFamily="18" charset="0"/>
                          </a:rPr>
                          <m:t>𝐴</m:t>
                        </m:r>
                      </m:e>
                      <m:e>
                        <m:r>
                          <a:rPr lang="en-US" i="1">
                            <a:solidFill>
                              <a:schemeClr val="tx1"/>
                            </a:solidFill>
                            <a:latin typeface="Cambria Math" panose="02040503050406030204" pitchFamily="18" charset="0"/>
                          </a:rPr>
                          <m:t>𝐵</m:t>
                        </m:r>
                      </m:e>
                      <m:e>
                        <m:r>
                          <a:rPr lang="en-US" i="1">
                            <a:solidFill>
                              <a:schemeClr val="tx1"/>
                            </a:solidFill>
                            <a:latin typeface="Cambria Math" panose="02040503050406030204" pitchFamily="18" charset="0"/>
                          </a:rPr>
                          <m:t>𝐶</m:t>
                        </m:r>
                      </m:e>
                      <m:e>
                        <m:r>
                          <a:rPr lang="en-US" i="1">
                            <a:solidFill>
                              <a:schemeClr val="tx1"/>
                            </a:solidFill>
                            <a:latin typeface="Cambria Math" panose="02040503050406030204" pitchFamily="18" charset="0"/>
                          </a:rPr>
                          <m:t>𝐷</m:t>
                        </m:r>
                      </m:e>
                    </m:d>
                  </m:oMath>
                </a14:m>
                <a:endParaRPr lang="en-US" dirty="0"/>
              </a:p>
              <a:p>
                <a:r>
                  <a:rPr lang="en-US" dirty="0"/>
                  <a:t>then A is a </a:t>
                </a:r>
                <a:r>
                  <a:rPr lang="en-US" b="1" dirty="0"/>
                  <a:t>Super Key</a:t>
                </a:r>
                <a:r>
                  <a:rPr lang="en-US" dirty="0"/>
                  <a:t>.</a:t>
                </a:r>
              </a:p>
              <a:p>
                <a:r>
                  <a:rPr lang="en-US" b="1" dirty="0"/>
                  <a:t>2. Minimality : </a:t>
                </a:r>
                <a:r>
                  <a:rPr lang="en-US" dirty="0"/>
                  <a:t>No attribute can be removed from the key while still uniquely identifying all tuples.</a:t>
                </a:r>
              </a:p>
              <a:p>
                <a:r>
                  <a:rPr lang="en-US" dirty="0"/>
                  <a:t>Example: Suppose</a:t>
                </a:r>
                <a14:m>
                  <m:oMath xmlns:m="http://schemas.openxmlformats.org/officeDocument/2006/math">
                    <m:r>
                      <a:rPr lang="en-US" b="0" i="0" smtClean="0">
                        <a:solidFill>
                          <a:schemeClr val="tx1"/>
                        </a:solidFill>
                        <a:latin typeface="Cambria Math" panose="02040503050406030204" pitchFamily="18" charset="0"/>
                      </a:rPr>
                      <m:t> </m:t>
                    </m:r>
                    <m:sSup>
                      <m:sSupPr>
                        <m:ctrlPr>
                          <a:rPr lang="en-US" i="1">
                            <a:solidFill>
                              <a:schemeClr val="tx1"/>
                            </a:solidFill>
                            <a:latin typeface="Cambria Math" panose="02040503050406030204" pitchFamily="18" charset="0"/>
                          </a:rPr>
                        </m:ctrlPr>
                      </m:sSupPr>
                      <m:e>
                        <m:d>
                          <m:dPr>
                            <m:ctrlPr>
                              <a:rPr lang="en-US" i="1">
                                <a:solidFill>
                                  <a:schemeClr val="tx1"/>
                                </a:solidFill>
                                <a:latin typeface="Cambria Math" panose="02040503050406030204" pitchFamily="18" charset="0"/>
                              </a:rPr>
                            </m:ctrlPr>
                          </m:dPr>
                          <m:e>
                            <m:r>
                              <a:rPr lang="en-US" i="1">
                                <a:solidFill>
                                  <a:schemeClr val="tx1"/>
                                </a:solidFill>
                                <a:latin typeface="Cambria Math" panose="02040503050406030204" pitchFamily="18" charset="0"/>
                              </a:rPr>
                              <m:t>𝐴𝐵</m:t>
                            </m:r>
                          </m:e>
                        </m:d>
                      </m:e>
                      <m:sup>
                        <m:r>
                          <a:rPr lang="en-US">
                            <a:solidFill>
                              <a:schemeClr val="tx1"/>
                            </a:solidFill>
                            <a:latin typeface="Cambria Math" panose="02040503050406030204" pitchFamily="18" charset="0"/>
                          </a:rPr>
                          <m:t>+</m:t>
                        </m:r>
                      </m:sup>
                    </m:sSup>
                    <m:r>
                      <a:rPr lang="en-US">
                        <a:solidFill>
                          <a:schemeClr val="tx1"/>
                        </a:solidFill>
                        <a:latin typeface="Cambria Math" panose="02040503050406030204" pitchFamily="18" charset="0"/>
                      </a:rPr>
                      <m:t>=</m:t>
                    </m:r>
                    <m:d>
                      <m:dPr>
                        <m:begChr m:val="{"/>
                        <m:endChr m:val="}"/>
                        <m:sepChr m:val=","/>
                        <m:ctrlPr>
                          <a:rPr lang="en-US" i="1">
                            <a:solidFill>
                              <a:schemeClr val="tx1"/>
                            </a:solidFill>
                            <a:latin typeface="Cambria Math" panose="02040503050406030204" pitchFamily="18" charset="0"/>
                          </a:rPr>
                        </m:ctrlPr>
                      </m:dPr>
                      <m:e>
                        <m:r>
                          <a:rPr lang="en-US" i="1">
                            <a:solidFill>
                              <a:schemeClr val="tx1"/>
                            </a:solidFill>
                            <a:latin typeface="Cambria Math" panose="02040503050406030204" pitchFamily="18" charset="0"/>
                          </a:rPr>
                          <m:t>𝐴</m:t>
                        </m:r>
                      </m:e>
                      <m:e>
                        <m:r>
                          <a:rPr lang="en-US" i="1">
                            <a:solidFill>
                              <a:schemeClr val="tx1"/>
                            </a:solidFill>
                            <a:latin typeface="Cambria Math" panose="02040503050406030204" pitchFamily="18" charset="0"/>
                          </a:rPr>
                          <m:t>𝐵</m:t>
                        </m:r>
                      </m:e>
                      <m:e>
                        <m:r>
                          <a:rPr lang="en-US" i="1">
                            <a:solidFill>
                              <a:schemeClr val="tx1"/>
                            </a:solidFill>
                            <a:latin typeface="Cambria Math" panose="02040503050406030204" pitchFamily="18" charset="0"/>
                          </a:rPr>
                          <m:t>𝐶</m:t>
                        </m:r>
                      </m:e>
                      <m:e>
                        <m:r>
                          <a:rPr lang="en-US" i="1">
                            <a:solidFill>
                              <a:schemeClr val="tx1"/>
                            </a:solidFill>
                            <a:latin typeface="Cambria Math" panose="02040503050406030204" pitchFamily="18" charset="0"/>
                          </a:rPr>
                          <m:t>𝐷</m:t>
                        </m:r>
                      </m:e>
                    </m:d>
                  </m:oMath>
                </a14:m>
                <a:endParaRPr lang="en-US" dirty="0"/>
              </a:p>
              <a:p>
                <a:r>
                  <a:rPr lang="en-US" dirty="0"/>
                  <a:t>Then AB is a Super Key.</a:t>
                </a:r>
              </a:p>
              <a:p>
                <a:r>
                  <a:rPr lang="en-US" dirty="0"/>
                  <a:t>Now check: </a:t>
                </a:r>
                <a14:m>
                  <m:oMath xmlns:m="http://schemas.openxmlformats.org/officeDocument/2006/math">
                    <m:r>
                      <a:rPr lang="en-US" b="0" i="0" smtClean="0">
                        <a:solidFill>
                          <a:schemeClr val="tx1"/>
                        </a:solidFill>
                        <a:latin typeface="Cambria Math" panose="02040503050406030204" pitchFamily="18" charset="0"/>
                      </a:rPr>
                      <m:t> </m:t>
                    </m:r>
                    <m:sSup>
                      <m:sSupPr>
                        <m:ctrlPr>
                          <a:rPr lang="en-US" i="1">
                            <a:solidFill>
                              <a:schemeClr val="tx1"/>
                            </a:solidFill>
                            <a:latin typeface="Cambria Math" panose="02040503050406030204" pitchFamily="18" charset="0"/>
                          </a:rPr>
                        </m:ctrlPr>
                      </m:sSupPr>
                      <m:e>
                        <m:r>
                          <a:rPr lang="en-US" i="1">
                            <a:solidFill>
                              <a:schemeClr val="tx1"/>
                            </a:solidFill>
                            <a:latin typeface="Cambria Math" panose="02040503050406030204" pitchFamily="18" charset="0"/>
                          </a:rPr>
                          <m:t>𝐴</m:t>
                        </m:r>
                      </m:e>
                      <m:sup>
                        <m:r>
                          <a:rPr lang="en-US">
                            <a:solidFill>
                              <a:schemeClr val="tx1"/>
                            </a:solidFill>
                            <a:latin typeface="Cambria Math" panose="02040503050406030204" pitchFamily="18" charset="0"/>
                          </a:rPr>
                          <m:t>+</m:t>
                        </m:r>
                      </m:sup>
                    </m:sSup>
                    <m:r>
                      <a:rPr lang="en-US">
                        <a:solidFill>
                          <a:schemeClr val="tx1"/>
                        </a:solidFill>
                        <a:latin typeface="Cambria Math" panose="02040503050406030204" pitchFamily="18" charset="0"/>
                      </a:rPr>
                      <m:t>=</m:t>
                    </m:r>
                    <m:d>
                      <m:dPr>
                        <m:begChr m:val="{"/>
                        <m:endChr m:val="}"/>
                        <m:sepChr m:val=","/>
                        <m:ctrlPr>
                          <a:rPr lang="en-US" i="1">
                            <a:solidFill>
                              <a:schemeClr val="tx1"/>
                            </a:solidFill>
                            <a:latin typeface="Cambria Math" panose="02040503050406030204" pitchFamily="18" charset="0"/>
                          </a:rPr>
                        </m:ctrlPr>
                      </m:dPr>
                      <m:e>
                        <m:r>
                          <a:rPr lang="en-US" i="1">
                            <a:solidFill>
                              <a:schemeClr val="tx1"/>
                            </a:solidFill>
                            <a:latin typeface="Cambria Math" panose="02040503050406030204" pitchFamily="18" charset="0"/>
                          </a:rPr>
                          <m:t>𝐴</m:t>
                        </m:r>
                      </m:e>
                      <m:e>
                        <m:r>
                          <a:rPr lang="en-US" i="1">
                            <a:solidFill>
                              <a:schemeClr val="tx1"/>
                            </a:solidFill>
                            <a:latin typeface="Cambria Math" panose="02040503050406030204" pitchFamily="18" charset="0"/>
                          </a:rPr>
                          <m:t>𝐵</m:t>
                        </m:r>
                      </m:e>
                      <m:e>
                        <m:r>
                          <a:rPr lang="en-US" i="1">
                            <a:solidFill>
                              <a:schemeClr val="tx1"/>
                            </a:solidFill>
                            <a:latin typeface="Cambria Math" panose="02040503050406030204" pitchFamily="18" charset="0"/>
                          </a:rPr>
                          <m:t>𝐶</m:t>
                        </m:r>
                      </m:e>
                      <m:e>
                        <m:r>
                          <a:rPr lang="en-US" i="1">
                            <a:solidFill>
                              <a:schemeClr val="tx1"/>
                            </a:solidFill>
                            <a:latin typeface="Cambria Math" panose="02040503050406030204" pitchFamily="18" charset="0"/>
                          </a:rPr>
                          <m:t>𝐷</m:t>
                        </m:r>
                      </m:e>
                    </m:d>
                  </m:oMath>
                </a14:m>
                <a:endParaRPr lang="en-US" dirty="0"/>
              </a:p>
              <a:p>
                <a:r>
                  <a:rPr lang="en-US" dirty="0"/>
                  <a:t>Since A alone determines everything, B is unnecessary.</a:t>
                </a:r>
              </a:p>
              <a:p>
                <a:r>
                  <a:rPr lang="en-US" dirty="0"/>
                  <a:t>Therefore:</a:t>
                </a:r>
              </a:p>
              <a:p>
                <a:pPr lvl="1"/>
                <a:r>
                  <a:rPr lang="en-US" dirty="0"/>
                  <a:t>AB is </a:t>
                </a:r>
                <a:r>
                  <a:rPr lang="en-US" b="1" dirty="0"/>
                  <a:t>not</a:t>
                </a:r>
                <a:r>
                  <a:rPr lang="en-US" dirty="0"/>
                  <a:t> a Candidate Key. </a:t>
                </a:r>
              </a:p>
              <a:p>
                <a:pPr lvl="1"/>
                <a:r>
                  <a:rPr lang="en-US" dirty="0"/>
                  <a:t>A is the Candidate Key. </a:t>
                </a:r>
              </a:p>
              <a:p>
                <a:endParaRPr lang="en-US" dirty="0"/>
              </a:p>
            </p:txBody>
          </p:sp>
        </mc:Choice>
        <mc:Fallback xmlns="">
          <p:sp>
            <p:nvSpPr>
              <p:cNvPr id="3" name="Content Placeholder 2">
                <a:extLst>
                  <a:ext uri="{FF2B5EF4-FFF2-40B4-BE49-F238E27FC236}">
                    <a16:creationId xmlns:a16="http://schemas.microsoft.com/office/drawing/2014/main" id="{D0B04319-B16F-CA47-C327-998A2053F991}"/>
                  </a:ext>
                </a:extLst>
              </p:cNvPr>
              <p:cNvSpPr>
                <a:spLocks noGrp="1" noRot="1" noChangeAspect="1" noMove="1" noResize="1" noEditPoints="1" noAdjustHandles="1" noChangeArrowheads="1" noChangeShapeType="1" noTextEdit="1"/>
              </p:cNvSpPr>
              <p:nvPr>
                <p:ph idx="1"/>
              </p:nvPr>
            </p:nvSpPr>
            <p:spPr>
              <a:blipFill>
                <a:blip r:embed="rId3"/>
                <a:stretch>
                  <a:fillRect l="-182" t="-1667"/>
                </a:stretch>
              </a:blipFill>
            </p:spPr>
            <p:txBody>
              <a:bodyPr/>
              <a:lstStyle/>
              <a:p>
                <a:r>
                  <a:rPr lang="en-US">
                    <a:noFill/>
                  </a:rPr>
                  <a:t> </a:t>
                </a:r>
              </a:p>
            </p:txBody>
          </p:sp>
        </mc:Fallback>
      </mc:AlternateContent>
    </p:spTree>
    <p:extLst>
      <p:ext uri="{BB962C8B-B14F-4D97-AF65-F5344CB8AC3E}">
        <p14:creationId xmlns:p14="http://schemas.microsoft.com/office/powerpoint/2010/main" val="90136364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D79BC7-412B-4706-0AE6-F943CD466794}"/>
              </a:ext>
            </a:extLst>
          </p:cNvPr>
          <p:cNvSpPr>
            <a:spLocks noGrp="1"/>
          </p:cNvSpPr>
          <p:nvPr>
            <p:ph type="title"/>
          </p:nvPr>
        </p:nvSpPr>
        <p:spPr/>
        <p:txBody>
          <a:bodyPr/>
          <a:lstStyle/>
          <a:p>
            <a:r>
              <a:rPr lang="en-US" dirty="0"/>
              <a:t>Rules: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57C8A56-6786-F474-4C9F-B3E2020A4C25}"/>
                  </a:ext>
                </a:extLst>
              </p:cNvPr>
              <p:cNvSpPr>
                <a:spLocks noGrp="1"/>
              </p:cNvSpPr>
              <p:nvPr>
                <p:ph idx="1"/>
              </p:nvPr>
            </p:nvSpPr>
            <p:spPr/>
            <p:txBody>
              <a:bodyPr>
                <a:normAutofit fontScale="85000" lnSpcReduction="20000"/>
              </a:bodyPr>
              <a:lstStyle/>
              <a:p>
                <a:r>
                  <a:rPr lang="en-US" b="1" dirty="0"/>
                  <a:t>Rule 1: Attributes Never Appearing on RHS Must Be in Every Candidate Key</a:t>
                </a:r>
              </a:p>
              <a:p>
                <a:r>
                  <a:rPr lang="en-US" dirty="0"/>
                  <a:t>Example:</a:t>
                </a:r>
                <a14:m>
                  <m:oMath xmlns:m="http://schemas.openxmlformats.org/officeDocument/2006/math">
                    <m:r>
                      <a:rPr lang="en-US" b="0" i="0" smtClean="0">
                        <a:solidFill>
                          <a:schemeClr val="tx1"/>
                        </a:solidFill>
                        <a:latin typeface="Cambria Math" panose="02040503050406030204" pitchFamily="18" charset="0"/>
                      </a:rPr>
                      <m:t> </m:t>
                    </m:r>
                    <m:r>
                      <a:rPr lang="en-US" i="1">
                        <a:solidFill>
                          <a:schemeClr val="tx1"/>
                        </a:solidFill>
                        <a:latin typeface="Cambria Math" panose="02040503050406030204" pitchFamily="18" charset="0"/>
                      </a:rPr>
                      <m:t>𝑅</m:t>
                    </m:r>
                    <m:d>
                      <m:dPr>
                        <m:sepChr m:val=","/>
                        <m:ctrlPr>
                          <a:rPr lang="en-US" i="1">
                            <a:solidFill>
                              <a:schemeClr val="tx1"/>
                            </a:solidFill>
                            <a:latin typeface="Cambria Math" panose="02040503050406030204" pitchFamily="18" charset="0"/>
                          </a:rPr>
                        </m:ctrlPr>
                      </m:dPr>
                      <m:e>
                        <m:r>
                          <a:rPr lang="en-US" i="1">
                            <a:solidFill>
                              <a:schemeClr val="tx1"/>
                            </a:solidFill>
                            <a:latin typeface="Cambria Math" panose="02040503050406030204" pitchFamily="18" charset="0"/>
                          </a:rPr>
                          <m:t>𝐴</m:t>
                        </m:r>
                      </m:e>
                      <m:e>
                        <m:r>
                          <a:rPr lang="en-US" i="1">
                            <a:solidFill>
                              <a:schemeClr val="tx1"/>
                            </a:solidFill>
                            <a:latin typeface="Cambria Math" panose="02040503050406030204" pitchFamily="18" charset="0"/>
                          </a:rPr>
                          <m:t>𝐵</m:t>
                        </m:r>
                      </m:e>
                      <m:e>
                        <m:r>
                          <a:rPr lang="en-US" i="1">
                            <a:solidFill>
                              <a:schemeClr val="tx1"/>
                            </a:solidFill>
                            <a:latin typeface="Cambria Math" panose="02040503050406030204" pitchFamily="18" charset="0"/>
                          </a:rPr>
                          <m:t>𝐶</m:t>
                        </m:r>
                      </m:e>
                      <m:e>
                        <m:r>
                          <a:rPr lang="en-US" i="1">
                            <a:solidFill>
                              <a:schemeClr val="tx1"/>
                            </a:solidFill>
                            <a:latin typeface="Cambria Math" panose="02040503050406030204" pitchFamily="18" charset="0"/>
                          </a:rPr>
                          <m:t>𝐷</m:t>
                        </m:r>
                      </m:e>
                    </m:d>
                  </m:oMath>
                </a14:m>
                <a:endParaRPr lang="en-US" dirty="0"/>
              </a:p>
              <a:p>
                <a:r>
                  <a:rPr lang="en-US" dirty="0"/>
                  <a:t>FDs:</a:t>
                </a:r>
                <a14:m>
                  <m:oMath xmlns:m="http://schemas.openxmlformats.org/officeDocument/2006/math">
                    <m:r>
                      <a:rPr lang="en-US" b="0" i="0" smtClean="0">
                        <a:solidFill>
                          <a:schemeClr val="tx1"/>
                        </a:solidFill>
                        <a:latin typeface="Cambria Math" panose="02040503050406030204" pitchFamily="18" charset="0"/>
                      </a:rPr>
                      <m:t> </m:t>
                    </m:r>
                    <m:r>
                      <a:rPr lang="en-US" i="1">
                        <a:solidFill>
                          <a:schemeClr val="tx1"/>
                        </a:solidFill>
                        <a:latin typeface="Cambria Math" panose="02040503050406030204" pitchFamily="18" charset="0"/>
                      </a:rPr>
                      <m:t>𝐴</m:t>
                    </m:r>
                    <m:r>
                      <a:rPr lang="en-US">
                        <a:solidFill>
                          <a:schemeClr val="tx1"/>
                        </a:solidFill>
                        <a:latin typeface="Cambria Math" panose="02040503050406030204" pitchFamily="18" charset="0"/>
                      </a:rPr>
                      <m:t>→</m:t>
                    </m:r>
                    <m:r>
                      <a:rPr lang="en-US" i="1">
                        <a:solidFill>
                          <a:schemeClr val="tx1"/>
                        </a:solidFill>
                        <a:latin typeface="Cambria Math" panose="02040503050406030204" pitchFamily="18" charset="0"/>
                      </a:rPr>
                      <m:t>𝐵</m:t>
                    </m:r>
                  </m:oMath>
                </a14:m>
                <a:r>
                  <a:rPr lang="en-US" dirty="0"/>
                  <a:t>, </a:t>
                </a:r>
                <a14:m>
                  <m:oMath xmlns:m="http://schemas.openxmlformats.org/officeDocument/2006/math">
                    <m:r>
                      <a:rPr lang="en-US" i="1">
                        <a:solidFill>
                          <a:schemeClr val="tx1"/>
                        </a:solidFill>
                        <a:latin typeface="Cambria Math" panose="02040503050406030204" pitchFamily="18" charset="0"/>
                      </a:rPr>
                      <m:t>𝐵</m:t>
                    </m:r>
                    <m:r>
                      <a:rPr lang="en-US">
                        <a:solidFill>
                          <a:schemeClr val="tx1"/>
                        </a:solidFill>
                        <a:latin typeface="Cambria Math" panose="02040503050406030204" pitchFamily="18" charset="0"/>
                      </a:rPr>
                      <m:t>→</m:t>
                    </m:r>
                    <m:r>
                      <a:rPr lang="en-US" i="1">
                        <a:solidFill>
                          <a:schemeClr val="tx1"/>
                        </a:solidFill>
                        <a:latin typeface="Cambria Math" panose="02040503050406030204" pitchFamily="18" charset="0"/>
                      </a:rPr>
                      <m:t>𝐶</m:t>
                    </m:r>
                  </m:oMath>
                </a14:m>
                <a:endParaRPr lang="en-US" dirty="0"/>
              </a:p>
              <a:p>
                <a:r>
                  <a:rPr lang="en-US" dirty="0"/>
                  <a:t>Notice D never appears on RHS.</a:t>
                </a:r>
              </a:p>
              <a:p>
                <a:r>
                  <a:rPr lang="en-US" dirty="0"/>
                  <a:t>Therefore, D cannot be derived from any FD., So every Candidate Key must contain D.</a:t>
                </a:r>
              </a:p>
              <a:p>
                <a:r>
                  <a:rPr lang="en-US" b="1" dirty="0"/>
                  <a:t>Rule 2: Find Attribute Closure</a:t>
                </a:r>
              </a:p>
              <a:p>
                <a:pPr lvl="1"/>
                <a:r>
                  <a:rPr lang="en-US" dirty="0"/>
                  <a:t>Compute closure of attribute combinations.</a:t>
                </a:r>
              </a:p>
              <a:p>
                <a:pPr lvl="1"/>
                <a:r>
                  <a:rPr lang="en-US" dirty="0"/>
                  <a:t>If closure contains all attributes of R, then it is a Super Key.</a:t>
                </a:r>
              </a:p>
              <a:p>
                <a:r>
                  <a:rPr lang="en-US" b="1" dirty="0"/>
                  <a:t>Rule 3: Check Minimality</a:t>
                </a:r>
              </a:p>
              <a:p>
                <a:pPr lvl="1"/>
                <a:r>
                  <a:rPr lang="en-US" dirty="0"/>
                  <a:t>Remove one attribute at a time.</a:t>
                </a:r>
              </a:p>
              <a:p>
                <a:pPr lvl="1"/>
                <a:r>
                  <a:rPr lang="en-US" dirty="0"/>
                  <a:t>If closure still gives all attributes, the original set is not minimal.</a:t>
                </a:r>
              </a:p>
              <a:p>
                <a:br>
                  <a:rPr lang="en-US" dirty="0"/>
                </a:br>
                <a:endParaRPr lang="en-US" dirty="0"/>
              </a:p>
            </p:txBody>
          </p:sp>
        </mc:Choice>
        <mc:Fallback xmlns="">
          <p:sp>
            <p:nvSpPr>
              <p:cNvPr id="3" name="Content Placeholder 2">
                <a:extLst>
                  <a:ext uri="{FF2B5EF4-FFF2-40B4-BE49-F238E27FC236}">
                    <a16:creationId xmlns:a16="http://schemas.microsoft.com/office/drawing/2014/main" id="{257C8A56-6786-F474-4C9F-B3E2020A4C25}"/>
                  </a:ext>
                </a:extLst>
              </p:cNvPr>
              <p:cNvSpPr>
                <a:spLocks noGrp="1" noRot="1" noChangeAspect="1" noMove="1" noResize="1" noEditPoints="1" noAdjustHandles="1" noChangeArrowheads="1" noChangeShapeType="1" noTextEdit="1"/>
              </p:cNvSpPr>
              <p:nvPr>
                <p:ph idx="1"/>
              </p:nvPr>
            </p:nvSpPr>
            <p:spPr>
              <a:blipFill>
                <a:blip r:embed="rId2"/>
                <a:stretch>
                  <a:fillRect l="-364" t="-2273"/>
                </a:stretch>
              </a:blipFill>
            </p:spPr>
            <p:txBody>
              <a:bodyPr/>
              <a:lstStyle/>
              <a:p>
                <a:r>
                  <a:rPr lang="en-US">
                    <a:noFill/>
                  </a:rPr>
                  <a:t> </a:t>
                </a:r>
              </a:p>
            </p:txBody>
          </p:sp>
        </mc:Fallback>
      </mc:AlternateContent>
    </p:spTree>
    <p:extLst>
      <p:ext uri="{BB962C8B-B14F-4D97-AF65-F5344CB8AC3E}">
        <p14:creationId xmlns:p14="http://schemas.microsoft.com/office/powerpoint/2010/main" val="213279010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5223AE-B13C-04CF-9CD7-BCEB5E2DF438}"/>
              </a:ext>
            </a:extLst>
          </p:cNvPr>
          <p:cNvSpPr>
            <a:spLocks noGrp="1"/>
          </p:cNvSpPr>
          <p:nvPr>
            <p:ph type="title"/>
          </p:nvPr>
        </p:nvSpPr>
        <p:spPr/>
        <p:txBody>
          <a:bodyPr/>
          <a:lstStyle/>
          <a:p>
            <a:r>
              <a:rPr lang="en-US" dirty="0"/>
              <a:t>Example: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D739B3A-9CBE-71E2-9CFC-5FEA63FF8131}"/>
                  </a:ext>
                </a:extLst>
              </p:cNvPr>
              <p:cNvSpPr>
                <a:spLocks noGrp="1"/>
              </p:cNvSpPr>
              <p:nvPr>
                <p:ph idx="1"/>
              </p:nvPr>
            </p:nvSpPr>
            <p:spPr/>
            <p:txBody>
              <a:bodyPr>
                <a:normAutofit/>
              </a:bodyPr>
              <a:lstStyle/>
              <a:p>
                <a:r>
                  <a:rPr lang="en-US" dirty="0"/>
                  <a:t>Relation:</a:t>
                </a:r>
                <a14:m>
                  <m:oMath xmlns:m="http://schemas.openxmlformats.org/officeDocument/2006/math">
                    <m:r>
                      <a:rPr lang="en-US" b="0" i="0" smtClean="0">
                        <a:latin typeface="Cambria Math" panose="02040503050406030204" pitchFamily="18" charset="0"/>
                      </a:rPr>
                      <m:t> </m:t>
                    </m:r>
                    <m:r>
                      <a:rPr lang="en-US" i="1">
                        <a:latin typeface="Cambria Math" panose="02040503050406030204" pitchFamily="18" charset="0"/>
                      </a:rPr>
                      <m:t>𝑅</m:t>
                    </m:r>
                    <m:d>
                      <m:dPr>
                        <m:sepChr m:val=","/>
                        <m:ctrlPr>
                          <a:rPr lang="en-US" i="1">
                            <a:latin typeface="Cambria Math" panose="02040503050406030204" pitchFamily="18" charset="0"/>
                          </a:rPr>
                        </m:ctrlPr>
                      </m:dPr>
                      <m:e>
                        <m:r>
                          <a:rPr lang="en-US" i="1">
                            <a:latin typeface="Cambria Math" panose="02040503050406030204" pitchFamily="18" charset="0"/>
                          </a:rPr>
                          <m:t>𝐴</m:t>
                        </m:r>
                      </m:e>
                      <m:e>
                        <m:r>
                          <a:rPr lang="en-US" i="1">
                            <a:latin typeface="Cambria Math" panose="02040503050406030204" pitchFamily="18" charset="0"/>
                          </a:rPr>
                          <m:t>𝐵</m:t>
                        </m:r>
                      </m:e>
                      <m:e>
                        <m:r>
                          <a:rPr lang="en-US" i="1">
                            <a:latin typeface="Cambria Math" panose="02040503050406030204" pitchFamily="18" charset="0"/>
                          </a:rPr>
                          <m:t>𝐶</m:t>
                        </m:r>
                      </m:e>
                      <m:e>
                        <m:r>
                          <a:rPr lang="en-US" i="1">
                            <a:latin typeface="Cambria Math" panose="02040503050406030204" pitchFamily="18" charset="0"/>
                          </a:rPr>
                          <m:t>𝐷</m:t>
                        </m:r>
                      </m:e>
                    </m:d>
                  </m:oMath>
                </a14:m>
                <a:r>
                  <a:rPr lang="en-US" dirty="0"/>
                  <a:t>, FDs:</a:t>
                </a:r>
                <a14:m>
                  <m:oMath xmlns:m="http://schemas.openxmlformats.org/officeDocument/2006/math">
                    <m:r>
                      <a:rPr lang="en-US" b="0" i="0" smtClean="0">
                        <a:latin typeface="Cambria Math" panose="02040503050406030204" pitchFamily="18" charset="0"/>
                      </a:rPr>
                      <m:t> </m:t>
                    </m:r>
                    <m:r>
                      <a:rPr lang="en-US" i="1">
                        <a:latin typeface="Cambria Math" panose="02040503050406030204" pitchFamily="18" charset="0"/>
                      </a:rPr>
                      <m:t>𝐴</m:t>
                    </m:r>
                    <m:r>
                      <a:rPr lang="en-US">
                        <a:latin typeface="Cambria Math" panose="02040503050406030204" pitchFamily="18" charset="0"/>
                      </a:rPr>
                      <m:t>→</m:t>
                    </m:r>
                    <m:r>
                      <a:rPr lang="en-US" i="1">
                        <a:latin typeface="Cambria Math" panose="02040503050406030204" pitchFamily="18" charset="0"/>
                      </a:rPr>
                      <m:t>𝐵</m:t>
                    </m:r>
                    <m:r>
                      <a:rPr lang="en-US" b="0" i="1" smtClean="0">
                        <a:latin typeface="Cambria Math" panose="02040503050406030204" pitchFamily="18" charset="0"/>
                      </a:rPr>
                      <m:t>, </m:t>
                    </m:r>
                    <m:r>
                      <a:rPr lang="en-US" i="1">
                        <a:latin typeface="Cambria Math" panose="02040503050406030204" pitchFamily="18" charset="0"/>
                      </a:rPr>
                      <m:t>𝐵</m:t>
                    </m:r>
                    <m:r>
                      <a:rPr lang="en-US">
                        <a:latin typeface="Cambria Math" panose="02040503050406030204" pitchFamily="18" charset="0"/>
                      </a:rPr>
                      <m:t>→</m:t>
                    </m:r>
                    <m:r>
                      <a:rPr lang="en-US" i="1">
                        <a:latin typeface="Cambria Math" panose="02040503050406030204" pitchFamily="18" charset="0"/>
                      </a:rPr>
                      <m:t>𝐶</m:t>
                    </m:r>
                  </m:oMath>
                </a14:m>
                <a:r>
                  <a:rPr lang="en-US" dirty="0"/>
                  <a:t>, </a:t>
                </a:r>
                <a14:m>
                  <m:oMath xmlns:m="http://schemas.openxmlformats.org/officeDocument/2006/math">
                    <m:r>
                      <a:rPr lang="en-US" i="1">
                        <a:latin typeface="Cambria Math" panose="02040503050406030204" pitchFamily="18" charset="0"/>
                      </a:rPr>
                      <m:t>𝐶</m:t>
                    </m:r>
                    <m:r>
                      <a:rPr lang="en-US">
                        <a:latin typeface="Cambria Math" panose="02040503050406030204" pitchFamily="18" charset="0"/>
                      </a:rPr>
                      <m:t>→</m:t>
                    </m:r>
                    <m:r>
                      <a:rPr lang="en-US" i="1">
                        <a:latin typeface="Cambria Math" panose="02040503050406030204" pitchFamily="18" charset="0"/>
                      </a:rPr>
                      <m:t>𝐷</m:t>
                    </m:r>
                  </m:oMath>
                </a14:m>
                <a:r>
                  <a:rPr lang="en-US" dirty="0"/>
                  <a:t>, </a:t>
                </a:r>
                <a:r>
                  <a:rPr lang="en-US" b="1" dirty="0"/>
                  <a:t>Find A⁺. </a:t>
                </a:r>
              </a:p>
              <a:p>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𝐴</m:t>
                        </m:r>
                      </m:e>
                      <m:sup>
                        <m:r>
                          <a:rPr lang="en-US">
                            <a:latin typeface="Cambria Math" panose="02040503050406030204" pitchFamily="18" charset="0"/>
                          </a:rPr>
                          <m:t>+</m:t>
                        </m:r>
                      </m:sup>
                    </m:sSup>
                    <m:r>
                      <a:rPr lang="en-US">
                        <a:latin typeface="Cambria Math" panose="02040503050406030204" pitchFamily="18" charset="0"/>
                      </a:rPr>
                      <m:t>=</m:t>
                    </m:r>
                    <m:d>
                      <m:dPr>
                        <m:begChr m:val="{"/>
                        <m:endChr m:val="}"/>
                        <m:sepChr m:val=","/>
                        <m:ctrlPr>
                          <a:rPr lang="en-US" i="1">
                            <a:latin typeface="Cambria Math" panose="02040503050406030204" pitchFamily="18" charset="0"/>
                          </a:rPr>
                        </m:ctrlPr>
                      </m:dPr>
                      <m:e>
                        <m:r>
                          <a:rPr lang="en-US" i="1">
                            <a:latin typeface="Cambria Math" panose="02040503050406030204" pitchFamily="18" charset="0"/>
                          </a:rPr>
                          <m:t>𝐴</m:t>
                        </m:r>
                      </m:e>
                      <m:e>
                        <m:r>
                          <a:rPr lang="en-US" i="1">
                            <a:latin typeface="Cambria Math" panose="02040503050406030204" pitchFamily="18" charset="0"/>
                          </a:rPr>
                          <m:t>𝐵</m:t>
                        </m:r>
                      </m:e>
                      <m:e>
                        <m:r>
                          <a:rPr lang="en-US" i="1">
                            <a:latin typeface="Cambria Math" panose="02040503050406030204" pitchFamily="18" charset="0"/>
                          </a:rPr>
                          <m:t>𝐶</m:t>
                        </m:r>
                      </m:e>
                      <m:e>
                        <m:r>
                          <a:rPr lang="en-US" i="1">
                            <a:latin typeface="Cambria Math" panose="02040503050406030204" pitchFamily="18" charset="0"/>
                          </a:rPr>
                          <m:t>𝐷</m:t>
                        </m:r>
                      </m:e>
                    </m:d>
                  </m:oMath>
                </a14:m>
                <a:endParaRPr lang="en-US" dirty="0"/>
              </a:p>
              <a:p>
                <a:pPr marL="201168" lvl="1" indent="0">
                  <a:buNone/>
                </a:pPr>
                <a:r>
                  <a:rPr lang="en-US" dirty="0"/>
                  <a:t>i.e. Contains all attributes. So A is a Super Key.</a:t>
                </a:r>
              </a:p>
              <a:p>
                <a:pPr marL="201168" lvl="1" indent="0">
                  <a:buNone/>
                </a:pPr>
                <a:r>
                  <a:rPr lang="en-US" dirty="0"/>
                  <a:t>Since A has only one attribute, nothing can be removed.</a:t>
                </a:r>
              </a:p>
              <a:p>
                <a:r>
                  <a:rPr lang="en-US" dirty="0"/>
                  <a:t>Therefore: </a:t>
                </a:r>
                <a:r>
                  <a:rPr lang="en-US" b="1" dirty="0"/>
                  <a:t>Candidate Key = {A}</a:t>
                </a:r>
              </a:p>
              <a:p>
                <a:r>
                  <a:rPr lang="en-US" b="1" dirty="0"/>
                  <a:t>DIY Example:</a:t>
                </a:r>
                <a:endParaRPr lang="en-US" dirty="0"/>
              </a:p>
              <a:p>
                <a:pPr marL="457200" indent="-457200">
                  <a:buFont typeface="+mj-lt"/>
                  <a:buAutoNum type="arabicPeriod"/>
                </a:pPr>
                <a:r>
                  <a:rPr lang="en-US" dirty="0"/>
                  <a:t>Relation:</a:t>
                </a:r>
                <a14:m>
                  <m:oMath xmlns:m="http://schemas.openxmlformats.org/officeDocument/2006/math">
                    <m:r>
                      <a:rPr lang="en-US" b="0" i="0" smtClean="0">
                        <a:latin typeface="Cambria Math" panose="02040503050406030204" pitchFamily="18" charset="0"/>
                      </a:rPr>
                      <m:t> </m:t>
                    </m:r>
                    <m:r>
                      <a:rPr lang="en-US" i="1">
                        <a:latin typeface="Cambria Math" panose="02040503050406030204" pitchFamily="18" charset="0"/>
                      </a:rPr>
                      <m:t>𝑅</m:t>
                    </m:r>
                    <m:d>
                      <m:dPr>
                        <m:sepChr m:val=","/>
                        <m:ctrlPr>
                          <a:rPr lang="en-US" i="1">
                            <a:latin typeface="Cambria Math" panose="02040503050406030204" pitchFamily="18" charset="0"/>
                          </a:rPr>
                        </m:ctrlPr>
                      </m:dPr>
                      <m:e>
                        <m:r>
                          <a:rPr lang="en-US" i="1">
                            <a:latin typeface="Cambria Math" panose="02040503050406030204" pitchFamily="18" charset="0"/>
                          </a:rPr>
                          <m:t>𝐴</m:t>
                        </m:r>
                      </m:e>
                      <m:e>
                        <m:r>
                          <a:rPr lang="en-US" i="1">
                            <a:latin typeface="Cambria Math" panose="02040503050406030204" pitchFamily="18" charset="0"/>
                          </a:rPr>
                          <m:t>𝐵</m:t>
                        </m:r>
                      </m:e>
                      <m:e>
                        <m:r>
                          <a:rPr lang="en-US" i="1">
                            <a:latin typeface="Cambria Math" panose="02040503050406030204" pitchFamily="18" charset="0"/>
                          </a:rPr>
                          <m:t>𝐶</m:t>
                        </m:r>
                      </m:e>
                      <m:e>
                        <m:r>
                          <a:rPr lang="en-US" i="1">
                            <a:latin typeface="Cambria Math" panose="02040503050406030204" pitchFamily="18" charset="0"/>
                          </a:rPr>
                          <m:t>𝐷</m:t>
                        </m:r>
                      </m:e>
                    </m:d>
                  </m:oMath>
                </a14:m>
                <a:r>
                  <a:rPr lang="en-US" dirty="0"/>
                  <a:t>, FDs:</a:t>
                </a:r>
                <a14:m>
                  <m:oMath xmlns:m="http://schemas.openxmlformats.org/officeDocument/2006/math">
                    <m:r>
                      <a:rPr lang="en-US" b="0" i="0" smtClean="0">
                        <a:latin typeface="Cambria Math" panose="02040503050406030204" pitchFamily="18" charset="0"/>
                      </a:rPr>
                      <m:t> </m:t>
                    </m:r>
                    <m:r>
                      <a:rPr lang="en-US" i="1">
                        <a:latin typeface="Cambria Math" panose="02040503050406030204" pitchFamily="18" charset="0"/>
                      </a:rPr>
                      <m:t>𝐴</m:t>
                    </m:r>
                    <m:r>
                      <a:rPr lang="en-US">
                        <a:latin typeface="Cambria Math" panose="02040503050406030204" pitchFamily="18" charset="0"/>
                      </a:rPr>
                      <m:t>→</m:t>
                    </m:r>
                    <m:r>
                      <a:rPr lang="en-US" i="1">
                        <a:latin typeface="Cambria Math" panose="02040503050406030204" pitchFamily="18" charset="0"/>
                      </a:rPr>
                      <m:t>𝐵</m:t>
                    </m:r>
                  </m:oMath>
                </a14:m>
                <a:r>
                  <a:rPr lang="en-US" dirty="0"/>
                  <a:t>, </a:t>
                </a:r>
                <a14:m>
                  <m:oMath xmlns:m="http://schemas.openxmlformats.org/officeDocument/2006/math">
                    <m:r>
                      <a:rPr lang="en-US" i="1">
                        <a:latin typeface="Cambria Math" panose="02040503050406030204" pitchFamily="18" charset="0"/>
                      </a:rPr>
                      <m:t>𝐶</m:t>
                    </m:r>
                    <m:r>
                      <a:rPr lang="en-US">
                        <a:latin typeface="Cambria Math" panose="02040503050406030204" pitchFamily="18" charset="0"/>
                      </a:rPr>
                      <m:t>→</m:t>
                    </m:r>
                    <m:r>
                      <m:rPr>
                        <m:sty m:val="p"/>
                      </m:rPr>
                      <a:rPr lang="en-US" b="0" i="0" smtClean="0">
                        <a:latin typeface="Cambria Math" panose="02040503050406030204" pitchFamily="18" charset="0"/>
                      </a:rPr>
                      <m:t>D</m:t>
                    </m:r>
                    <m:r>
                      <a:rPr lang="en-US" b="0" i="0" smtClean="0">
                        <a:latin typeface="Cambria Math" panose="02040503050406030204" pitchFamily="18" charset="0"/>
                      </a:rPr>
                      <m:t> </m:t>
                    </m:r>
                  </m:oMath>
                </a14:m>
                <a:r>
                  <a:rPr lang="en-US" dirty="0"/>
                  <a:t>, Find Candidate key.</a:t>
                </a:r>
              </a:p>
              <a:p>
                <a:pPr marL="457200" indent="-457200">
                  <a:buFont typeface="+mj-lt"/>
                  <a:buAutoNum type="arabicPeriod"/>
                </a:pPr>
                <a:r>
                  <a:rPr lang="en-US" dirty="0"/>
                  <a:t>Relation:</a:t>
                </a:r>
                <a14:m>
                  <m:oMath xmlns:m="http://schemas.openxmlformats.org/officeDocument/2006/math">
                    <m:r>
                      <a:rPr lang="en-US" b="0" i="0" smtClean="0">
                        <a:latin typeface="Cambria Math" panose="02040503050406030204" pitchFamily="18" charset="0"/>
                      </a:rPr>
                      <m:t> </m:t>
                    </m:r>
                    <m:r>
                      <a:rPr lang="en-US" i="1">
                        <a:latin typeface="Cambria Math" panose="02040503050406030204" pitchFamily="18" charset="0"/>
                      </a:rPr>
                      <m:t>𝑅</m:t>
                    </m:r>
                    <m:d>
                      <m:dPr>
                        <m:sepChr m:val=","/>
                        <m:ctrlPr>
                          <a:rPr lang="en-US" i="1">
                            <a:latin typeface="Cambria Math" panose="02040503050406030204" pitchFamily="18" charset="0"/>
                          </a:rPr>
                        </m:ctrlPr>
                      </m:dPr>
                      <m:e>
                        <m:r>
                          <a:rPr lang="en-US" i="1">
                            <a:latin typeface="Cambria Math" panose="02040503050406030204" pitchFamily="18" charset="0"/>
                          </a:rPr>
                          <m:t>𝐴</m:t>
                        </m:r>
                      </m:e>
                      <m:e>
                        <m:r>
                          <a:rPr lang="en-US" i="1">
                            <a:latin typeface="Cambria Math" panose="02040503050406030204" pitchFamily="18" charset="0"/>
                          </a:rPr>
                          <m:t>𝐵</m:t>
                        </m:r>
                      </m:e>
                      <m:e>
                        <m:r>
                          <a:rPr lang="en-US" i="1">
                            <a:latin typeface="Cambria Math" panose="02040503050406030204" pitchFamily="18" charset="0"/>
                          </a:rPr>
                          <m:t>𝐶</m:t>
                        </m:r>
                      </m:e>
                      <m:e>
                        <m:r>
                          <a:rPr lang="en-US" i="1">
                            <a:latin typeface="Cambria Math" panose="02040503050406030204" pitchFamily="18" charset="0"/>
                          </a:rPr>
                          <m:t>𝐷</m:t>
                        </m:r>
                      </m:e>
                      <m:e>
                        <m:r>
                          <a:rPr lang="en-US" i="1">
                            <a:latin typeface="Cambria Math" panose="02040503050406030204" pitchFamily="18" charset="0"/>
                          </a:rPr>
                          <m:t>𝐸</m:t>
                        </m:r>
                      </m:e>
                      <m:e>
                        <m:r>
                          <a:rPr lang="en-US" i="1">
                            <a:latin typeface="Cambria Math" panose="02040503050406030204" pitchFamily="18" charset="0"/>
                          </a:rPr>
                          <m:t>𝐹</m:t>
                        </m:r>
                      </m:e>
                    </m:d>
                  </m:oMath>
                </a14:m>
                <a:r>
                  <a:rPr lang="en-US" dirty="0"/>
                  <a:t>,  FDs: </a:t>
                </a:r>
                <a14:m>
                  <m:oMath xmlns:m="http://schemas.openxmlformats.org/officeDocument/2006/math">
                    <m:r>
                      <a:rPr lang="en-US" i="1">
                        <a:latin typeface="Cambria Math" panose="02040503050406030204" pitchFamily="18" charset="0"/>
                      </a:rPr>
                      <m:t>𝐴</m:t>
                    </m:r>
                    <m:r>
                      <a:rPr lang="en-US">
                        <a:latin typeface="Cambria Math" panose="02040503050406030204" pitchFamily="18" charset="0"/>
                      </a:rPr>
                      <m:t>→</m:t>
                    </m:r>
                    <m:r>
                      <a:rPr lang="en-US" i="1">
                        <a:latin typeface="Cambria Math" panose="02040503050406030204" pitchFamily="18" charset="0"/>
                      </a:rPr>
                      <m:t>𝐵𝐶</m:t>
                    </m:r>
                  </m:oMath>
                </a14:m>
                <a:r>
                  <a:rPr lang="en-US" dirty="0"/>
                  <a:t>, </a:t>
                </a:r>
                <a14:m>
                  <m:oMath xmlns:m="http://schemas.openxmlformats.org/officeDocument/2006/math">
                    <m:r>
                      <a:rPr lang="en-US" i="1">
                        <a:latin typeface="Cambria Math" panose="02040503050406030204" pitchFamily="18" charset="0"/>
                      </a:rPr>
                      <m:t>𝐵</m:t>
                    </m:r>
                    <m:r>
                      <a:rPr lang="en-US">
                        <a:latin typeface="Cambria Math" panose="02040503050406030204" pitchFamily="18" charset="0"/>
                      </a:rPr>
                      <m:t>→</m:t>
                    </m:r>
                    <m:r>
                      <a:rPr lang="en-US" i="1">
                        <a:latin typeface="Cambria Math" panose="02040503050406030204" pitchFamily="18" charset="0"/>
                      </a:rPr>
                      <m:t>𝐸</m:t>
                    </m:r>
                  </m:oMath>
                </a14:m>
                <a:r>
                  <a:rPr lang="en-US" dirty="0"/>
                  <a:t>, </a:t>
                </a:r>
                <a14:m>
                  <m:oMath xmlns:m="http://schemas.openxmlformats.org/officeDocument/2006/math">
                    <m:r>
                      <a:rPr lang="en-US" i="1">
                        <a:latin typeface="Cambria Math" panose="02040503050406030204" pitchFamily="18" charset="0"/>
                      </a:rPr>
                      <m:t>𝐶</m:t>
                    </m:r>
                    <m:r>
                      <a:rPr lang="en-US">
                        <a:latin typeface="Cambria Math" panose="02040503050406030204" pitchFamily="18" charset="0"/>
                      </a:rPr>
                      <m:t>→</m:t>
                    </m:r>
                    <m:r>
                      <a:rPr lang="en-US" i="1">
                        <a:latin typeface="Cambria Math" panose="02040503050406030204" pitchFamily="18" charset="0"/>
                      </a:rPr>
                      <m:t>𝐸𝐹</m:t>
                    </m:r>
                  </m:oMath>
                </a14:m>
                <a:r>
                  <a:rPr lang="en-US" dirty="0"/>
                  <a:t>, </a:t>
                </a:r>
                <a14:m>
                  <m:oMath xmlns:m="http://schemas.openxmlformats.org/officeDocument/2006/math">
                    <m:r>
                      <a:rPr lang="en-US" i="1">
                        <a:latin typeface="Cambria Math" panose="02040503050406030204" pitchFamily="18" charset="0"/>
                      </a:rPr>
                      <m:t>𝐸</m:t>
                    </m:r>
                    <m:r>
                      <a:rPr lang="en-US">
                        <a:latin typeface="Cambria Math" panose="02040503050406030204" pitchFamily="18" charset="0"/>
                      </a:rPr>
                      <m:t>→</m:t>
                    </m:r>
                    <m:r>
                      <a:rPr lang="en-US" i="1">
                        <a:latin typeface="Cambria Math" panose="02040503050406030204" pitchFamily="18" charset="0"/>
                      </a:rPr>
                      <m:t>𝐶𝐹</m:t>
                    </m:r>
                  </m:oMath>
                </a14:m>
                <a:endParaRPr lang="en-US" dirty="0"/>
              </a:p>
              <a:p>
                <a:endParaRPr lang="en-US" dirty="0"/>
              </a:p>
            </p:txBody>
          </p:sp>
        </mc:Choice>
        <mc:Fallback xmlns="">
          <p:sp>
            <p:nvSpPr>
              <p:cNvPr id="3" name="Content Placeholder 2">
                <a:extLst>
                  <a:ext uri="{FF2B5EF4-FFF2-40B4-BE49-F238E27FC236}">
                    <a16:creationId xmlns:a16="http://schemas.microsoft.com/office/drawing/2014/main" id="{FD739B3A-9CBE-71E2-9CFC-5FEA63FF8131}"/>
                  </a:ext>
                </a:extLst>
              </p:cNvPr>
              <p:cNvSpPr>
                <a:spLocks noGrp="1" noRot="1" noChangeAspect="1" noMove="1" noResize="1" noEditPoints="1" noAdjustHandles="1" noChangeArrowheads="1" noChangeShapeType="1" noTextEdit="1"/>
              </p:cNvSpPr>
              <p:nvPr>
                <p:ph idx="1"/>
              </p:nvPr>
            </p:nvSpPr>
            <p:spPr>
              <a:blipFill>
                <a:blip r:embed="rId3"/>
                <a:stretch>
                  <a:fillRect l="-1576" t="-1667"/>
                </a:stretch>
              </a:blipFill>
            </p:spPr>
            <p:txBody>
              <a:bodyPr/>
              <a:lstStyle/>
              <a:p>
                <a:r>
                  <a:rPr lang="en-US">
                    <a:noFill/>
                  </a:rPr>
                  <a:t> </a:t>
                </a:r>
              </a:p>
            </p:txBody>
          </p:sp>
        </mc:Fallback>
      </mc:AlternateContent>
    </p:spTree>
    <p:extLst>
      <p:ext uri="{BB962C8B-B14F-4D97-AF65-F5344CB8AC3E}">
        <p14:creationId xmlns:p14="http://schemas.microsoft.com/office/powerpoint/2010/main" val="283372238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303E21-2DCB-8F1F-19FD-A240F1554F4D}"/>
              </a:ext>
            </a:extLst>
          </p:cNvPr>
          <p:cNvSpPr>
            <a:spLocks noGrp="1"/>
          </p:cNvSpPr>
          <p:nvPr>
            <p:ph type="title"/>
          </p:nvPr>
        </p:nvSpPr>
        <p:spPr/>
        <p:txBody>
          <a:bodyPr>
            <a:normAutofit/>
          </a:bodyPr>
          <a:lstStyle/>
          <a:p>
            <a:r>
              <a:rPr lang="en-US" dirty="0"/>
              <a:t>Normalization</a:t>
            </a:r>
          </a:p>
        </p:txBody>
      </p:sp>
      <p:sp>
        <p:nvSpPr>
          <p:cNvPr id="3" name="Content Placeholder 2">
            <a:extLst>
              <a:ext uri="{FF2B5EF4-FFF2-40B4-BE49-F238E27FC236}">
                <a16:creationId xmlns:a16="http://schemas.microsoft.com/office/drawing/2014/main" id="{B1D2C1FB-A728-7443-DE14-FFFF98B406C7}"/>
              </a:ext>
            </a:extLst>
          </p:cNvPr>
          <p:cNvSpPr>
            <a:spLocks noGrp="1"/>
          </p:cNvSpPr>
          <p:nvPr>
            <p:ph idx="1"/>
          </p:nvPr>
        </p:nvSpPr>
        <p:spPr/>
        <p:txBody>
          <a:bodyPr/>
          <a:lstStyle/>
          <a:p>
            <a:r>
              <a:rPr lang="en-US" b="1" dirty="0"/>
              <a:t>Normalization</a:t>
            </a:r>
            <a:r>
              <a:rPr lang="en-US" dirty="0"/>
              <a:t> is the process of organizing data in a relational database to:</a:t>
            </a:r>
          </a:p>
          <a:p>
            <a:pPr lvl="1"/>
            <a:r>
              <a:rPr lang="en-US" dirty="0"/>
              <a:t>Reduce data redundancy (duplicate data) </a:t>
            </a:r>
          </a:p>
          <a:p>
            <a:pPr lvl="1"/>
            <a:r>
              <a:rPr lang="en-US" dirty="0"/>
              <a:t>Eliminate undesirable characteristics such as insertion, update, and deletion anomalies </a:t>
            </a:r>
          </a:p>
          <a:p>
            <a:pPr lvl="1"/>
            <a:r>
              <a:rPr lang="en-US" dirty="0"/>
              <a:t>Improve data consistency and integrity </a:t>
            </a:r>
          </a:p>
          <a:p>
            <a:pPr lvl="1"/>
            <a:r>
              <a:rPr lang="en-US" dirty="0"/>
              <a:t>Make database maintenance easier </a:t>
            </a:r>
          </a:p>
          <a:p>
            <a:r>
              <a:rPr lang="en-US" dirty="0"/>
              <a:t>Normalization divides larger tables into smaller, related tables and establishes relationships between them using keys.</a:t>
            </a:r>
          </a:p>
          <a:p>
            <a:pPr fontAlgn="base"/>
            <a:r>
              <a:rPr lang="en-US" b="1" dirty="0"/>
              <a:t>Before Normalization:</a:t>
            </a:r>
            <a:r>
              <a:rPr lang="en-US" dirty="0"/>
              <a:t> The table is prone to redundancy and anomalies (insertion, update, and deletion).</a:t>
            </a:r>
          </a:p>
          <a:p>
            <a:pPr fontAlgn="base"/>
            <a:r>
              <a:rPr lang="en-US" b="1" dirty="0"/>
              <a:t>After Normalization:</a:t>
            </a:r>
            <a:r>
              <a:rPr lang="en-US" dirty="0"/>
              <a:t> The data is divided into logical tables to ensure consistency, avoid redundancy and remove anomalies making the database efficient and reliable.</a:t>
            </a:r>
          </a:p>
          <a:p>
            <a:endParaRPr lang="en-US" dirty="0"/>
          </a:p>
        </p:txBody>
      </p:sp>
    </p:spTree>
    <p:extLst>
      <p:ext uri="{BB962C8B-B14F-4D97-AF65-F5344CB8AC3E}">
        <p14:creationId xmlns:p14="http://schemas.microsoft.com/office/powerpoint/2010/main" val="108746628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9A9AB3-623B-F528-2047-8DF3C45945C5}"/>
              </a:ext>
            </a:extLst>
          </p:cNvPr>
          <p:cNvSpPr>
            <a:spLocks noGrp="1"/>
          </p:cNvSpPr>
          <p:nvPr>
            <p:ph type="title"/>
          </p:nvPr>
        </p:nvSpPr>
        <p:spPr/>
        <p:txBody>
          <a:bodyPr/>
          <a:lstStyle/>
          <a:p>
            <a:r>
              <a:rPr lang="en-US" dirty="0"/>
              <a:t>What normalization solve?</a:t>
            </a:r>
          </a:p>
        </p:txBody>
      </p:sp>
      <p:sp>
        <p:nvSpPr>
          <p:cNvPr id="13" name="Content Placeholder 12">
            <a:extLst>
              <a:ext uri="{FF2B5EF4-FFF2-40B4-BE49-F238E27FC236}">
                <a16:creationId xmlns:a16="http://schemas.microsoft.com/office/drawing/2014/main" id="{69DC68E6-2A11-B16F-6755-6C8A89524D14}"/>
              </a:ext>
            </a:extLst>
          </p:cNvPr>
          <p:cNvSpPr>
            <a:spLocks noGrp="1"/>
          </p:cNvSpPr>
          <p:nvPr>
            <p:ph idx="1"/>
          </p:nvPr>
        </p:nvSpPr>
        <p:spPr>
          <a:xfrm>
            <a:off x="621030" y="1851660"/>
            <a:ext cx="5977890" cy="4274820"/>
          </a:xfrm>
        </p:spPr>
        <p:txBody>
          <a:bodyPr>
            <a:normAutofit lnSpcReduction="10000"/>
          </a:bodyPr>
          <a:lstStyle/>
          <a:p>
            <a:r>
              <a:rPr lang="en-US" dirty="0"/>
              <a:t>Before normalization, databases suffer from </a:t>
            </a:r>
            <a:r>
              <a:rPr lang="en-US" b="1" dirty="0"/>
              <a:t>three major anomalies</a:t>
            </a:r>
            <a:r>
              <a:rPr lang="en-US" dirty="0"/>
              <a:t>:</a:t>
            </a:r>
          </a:p>
          <a:p>
            <a:r>
              <a:rPr lang="en-US" dirty="0"/>
              <a:t>Update Anomaly</a:t>
            </a:r>
          </a:p>
          <a:p>
            <a:pPr lvl="1"/>
            <a:r>
              <a:rPr lang="en-US" dirty="0"/>
              <a:t>Changing a student's name requires updating multiple records. </a:t>
            </a:r>
          </a:p>
          <a:p>
            <a:pPr lvl="1"/>
            <a:r>
              <a:rPr lang="en-US" dirty="0"/>
              <a:t>i.e. If instructor Sharma changes to Joshi, every DBMS record must be updated.</a:t>
            </a:r>
          </a:p>
          <a:p>
            <a:r>
              <a:rPr lang="en-US" dirty="0"/>
              <a:t>Insert Anomaly</a:t>
            </a:r>
          </a:p>
          <a:p>
            <a:pPr lvl="1"/>
            <a:r>
              <a:rPr lang="en-US" dirty="0"/>
              <a:t>Cannot store a student unless they are enrolled in a subject.</a:t>
            </a:r>
          </a:p>
          <a:p>
            <a:r>
              <a:rPr lang="en-US" dirty="0"/>
              <a:t>Delete Anomaly</a:t>
            </a:r>
          </a:p>
          <a:p>
            <a:pPr lvl="1"/>
            <a:r>
              <a:rPr lang="en-US" dirty="0"/>
              <a:t>Deleting the last student enrolled in AI removes all information about AI.</a:t>
            </a:r>
            <a:br>
              <a:rPr lang="en-US" dirty="0"/>
            </a:br>
            <a:endParaRPr lang="en-US" dirty="0"/>
          </a:p>
          <a:p>
            <a:pPr marL="201168" lvl="1" indent="0">
              <a:buNone/>
            </a:pPr>
            <a:r>
              <a:rPr lang="en-US" sz="2000" dirty="0"/>
              <a:t>Normalization removes these anomalies</a:t>
            </a:r>
            <a:r>
              <a:rPr lang="en-US" dirty="0"/>
              <a:t>.</a:t>
            </a:r>
          </a:p>
          <a:p>
            <a:pPr lvl="1"/>
            <a:endParaRPr lang="en-US" dirty="0"/>
          </a:p>
        </p:txBody>
      </p:sp>
      <p:graphicFrame>
        <p:nvGraphicFramePr>
          <p:cNvPr id="3" name="Table 2">
            <a:extLst>
              <a:ext uri="{FF2B5EF4-FFF2-40B4-BE49-F238E27FC236}">
                <a16:creationId xmlns:a16="http://schemas.microsoft.com/office/drawing/2014/main" id="{8A26F8ED-6A43-04EB-2428-1901AC9CBBF1}"/>
              </a:ext>
            </a:extLst>
          </p:cNvPr>
          <p:cNvGraphicFramePr>
            <a:graphicFrameLocks noGrp="1"/>
          </p:cNvGraphicFramePr>
          <p:nvPr>
            <p:extLst>
              <p:ext uri="{D42A27DB-BD31-4B8C-83A1-F6EECF244321}">
                <p14:modId xmlns:p14="http://schemas.microsoft.com/office/powerpoint/2010/main" val="3100958"/>
              </p:ext>
            </p:extLst>
          </p:nvPr>
        </p:nvGraphicFramePr>
        <p:xfrm>
          <a:off x="6214110" y="2161541"/>
          <a:ext cx="5977890" cy="2136140"/>
        </p:xfrm>
        <a:graphic>
          <a:graphicData uri="http://schemas.openxmlformats.org/drawingml/2006/table">
            <a:tbl>
              <a:tblPr firstRow="1" bandRow="1">
                <a:tableStyleId>{5C22544A-7EE6-4342-B048-85BDC9FD1C3A}</a:tableStyleId>
              </a:tblPr>
              <a:tblGrid>
                <a:gridCol w="912158">
                  <a:extLst>
                    <a:ext uri="{9D8B030D-6E8A-4147-A177-3AD203B41FA5}">
                      <a16:colId xmlns:a16="http://schemas.microsoft.com/office/drawing/2014/main" val="2636863446"/>
                    </a:ext>
                  </a:extLst>
                </a:gridCol>
                <a:gridCol w="1270505">
                  <a:extLst>
                    <a:ext uri="{9D8B030D-6E8A-4147-A177-3AD203B41FA5}">
                      <a16:colId xmlns:a16="http://schemas.microsoft.com/office/drawing/2014/main" val="2201230137"/>
                    </a:ext>
                  </a:extLst>
                </a:gridCol>
                <a:gridCol w="1270505">
                  <a:extLst>
                    <a:ext uri="{9D8B030D-6E8A-4147-A177-3AD203B41FA5}">
                      <a16:colId xmlns:a16="http://schemas.microsoft.com/office/drawing/2014/main" val="1171757669"/>
                    </a:ext>
                  </a:extLst>
                </a:gridCol>
                <a:gridCol w="1329144">
                  <a:extLst>
                    <a:ext uri="{9D8B030D-6E8A-4147-A177-3AD203B41FA5}">
                      <a16:colId xmlns:a16="http://schemas.microsoft.com/office/drawing/2014/main" val="3881847303"/>
                    </a:ext>
                  </a:extLst>
                </a:gridCol>
                <a:gridCol w="1195578">
                  <a:extLst>
                    <a:ext uri="{9D8B030D-6E8A-4147-A177-3AD203B41FA5}">
                      <a16:colId xmlns:a16="http://schemas.microsoft.com/office/drawing/2014/main" val="4152880678"/>
                    </a:ext>
                  </a:extLst>
                </a:gridCol>
              </a:tblGrid>
              <a:tr h="643908">
                <a:tc>
                  <a:txBody>
                    <a:bodyPr/>
                    <a:lstStyle/>
                    <a:p>
                      <a:pPr>
                        <a:buNone/>
                      </a:pPr>
                      <a:r>
                        <a:rPr lang="en-US" dirty="0" err="1"/>
                        <a:t>Stu_ID</a:t>
                      </a:r>
                      <a:endParaRPr lang="en-US" dirty="0"/>
                    </a:p>
                  </a:txBody>
                  <a:tcPr anchor="ctr"/>
                </a:tc>
                <a:tc>
                  <a:txBody>
                    <a:bodyPr/>
                    <a:lstStyle/>
                    <a:p>
                      <a:pPr>
                        <a:buNone/>
                      </a:pPr>
                      <a:r>
                        <a:rPr lang="en-US" dirty="0" err="1"/>
                        <a:t>Stu_Name</a:t>
                      </a:r>
                      <a:endParaRPr lang="en-US" dirty="0"/>
                    </a:p>
                  </a:txBody>
                  <a:tcPr anchor="ctr"/>
                </a:tc>
                <a:tc>
                  <a:txBody>
                    <a:bodyPr/>
                    <a:lstStyle/>
                    <a:p>
                      <a:pPr>
                        <a:buNone/>
                      </a:pPr>
                      <a:r>
                        <a:rPr lang="en-US"/>
                        <a:t>Course_ID</a:t>
                      </a:r>
                    </a:p>
                  </a:txBody>
                  <a:tcPr anchor="ctr"/>
                </a:tc>
                <a:tc>
                  <a:txBody>
                    <a:bodyPr/>
                    <a:lstStyle/>
                    <a:p>
                      <a:pPr>
                        <a:buNone/>
                      </a:pPr>
                      <a:r>
                        <a:rPr lang="en-US"/>
                        <a:t>Course_Name</a:t>
                      </a:r>
                    </a:p>
                  </a:txBody>
                  <a:tcPr anchor="ctr"/>
                </a:tc>
                <a:tc>
                  <a:txBody>
                    <a:bodyPr/>
                    <a:lstStyle/>
                    <a:p>
                      <a:pPr>
                        <a:buNone/>
                      </a:pPr>
                      <a:r>
                        <a:rPr lang="en-US"/>
                        <a:t>Instructor</a:t>
                      </a:r>
                    </a:p>
                  </a:txBody>
                  <a:tcPr anchor="ctr"/>
                </a:tc>
                <a:extLst>
                  <a:ext uri="{0D108BD9-81ED-4DB2-BD59-A6C34878D82A}">
                    <a16:rowId xmlns:a16="http://schemas.microsoft.com/office/drawing/2014/main" val="69387780"/>
                  </a:ext>
                </a:extLst>
              </a:tr>
              <a:tr h="373058">
                <a:tc>
                  <a:txBody>
                    <a:bodyPr/>
                    <a:lstStyle/>
                    <a:p>
                      <a:pPr>
                        <a:buNone/>
                      </a:pPr>
                      <a:r>
                        <a:rPr lang="en-US"/>
                        <a:t>S101</a:t>
                      </a:r>
                    </a:p>
                  </a:txBody>
                  <a:tcPr anchor="ctr"/>
                </a:tc>
                <a:tc>
                  <a:txBody>
                    <a:bodyPr/>
                    <a:lstStyle/>
                    <a:p>
                      <a:pPr>
                        <a:buNone/>
                      </a:pPr>
                      <a:r>
                        <a:rPr lang="en-US"/>
                        <a:t>Ram</a:t>
                      </a:r>
                    </a:p>
                  </a:txBody>
                  <a:tcPr anchor="ctr"/>
                </a:tc>
                <a:tc>
                  <a:txBody>
                    <a:bodyPr/>
                    <a:lstStyle/>
                    <a:p>
                      <a:pPr>
                        <a:buNone/>
                      </a:pPr>
                      <a:r>
                        <a:rPr lang="en-US"/>
                        <a:t>C001</a:t>
                      </a:r>
                    </a:p>
                  </a:txBody>
                  <a:tcPr anchor="ctr"/>
                </a:tc>
                <a:tc>
                  <a:txBody>
                    <a:bodyPr/>
                    <a:lstStyle/>
                    <a:p>
                      <a:pPr>
                        <a:buNone/>
                      </a:pPr>
                      <a:r>
                        <a:rPr lang="en-US"/>
                        <a:t>DBMS</a:t>
                      </a:r>
                    </a:p>
                  </a:txBody>
                  <a:tcPr anchor="ctr"/>
                </a:tc>
                <a:tc>
                  <a:txBody>
                    <a:bodyPr/>
                    <a:lstStyle/>
                    <a:p>
                      <a:pPr>
                        <a:buNone/>
                      </a:pPr>
                      <a:r>
                        <a:rPr lang="en-US"/>
                        <a:t>Sharma</a:t>
                      </a:r>
                    </a:p>
                  </a:txBody>
                  <a:tcPr anchor="ctr"/>
                </a:tc>
                <a:extLst>
                  <a:ext uri="{0D108BD9-81ED-4DB2-BD59-A6C34878D82A}">
                    <a16:rowId xmlns:a16="http://schemas.microsoft.com/office/drawing/2014/main" val="2636478099"/>
                  </a:ext>
                </a:extLst>
              </a:tr>
              <a:tr h="373058">
                <a:tc>
                  <a:txBody>
                    <a:bodyPr/>
                    <a:lstStyle/>
                    <a:p>
                      <a:pPr>
                        <a:buNone/>
                      </a:pPr>
                      <a:r>
                        <a:rPr lang="en-US"/>
                        <a:t>S101</a:t>
                      </a:r>
                    </a:p>
                  </a:txBody>
                  <a:tcPr anchor="ctr"/>
                </a:tc>
                <a:tc>
                  <a:txBody>
                    <a:bodyPr/>
                    <a:lstStyle/>
                    <a:p>
                      <a:pPr>
                        <a:buNone/>
                      </a:pPr>
                      <a:r>
                        <a:rPr lang="en-US"/>
                        <a:t>Ram</a:t>
                      </a:r>
                    </a:p>
                  </a:txBody>
                  <a:tcPr anchor="ctr"/>
                </a:tc>
                <a:tc>
                  <a:txBody>
                    <a:bodyPr/>
                    <a:lstStyle/>
                    <a:p>
                      <a:pPr>
                        <a:buNone/>
                      </a:pPr>
                      <a:r>
                        <a:rPr lang="en-US"/>
                        <a:t>C002</a:t>
                      </a:r>
                    </a:p>
                  </a:txBody>
                  <a:tcPr anchor="ctr"/>
                </a:tc>
                <a:tc>
                  <a:txBody>
                    <a:bodyPr/>
                    <a:lstStyle/>
                    <a:p>
                      <a:pPr>
                        <a:buNone/>
                      </a:pPr>
                      <a:r>
                        <a:rPr lang="en-US"/>
                        <a:t>OS</a:t>
                      </a:r>
                    </a:p>
                  </a:txBody>
                  <a:tcPr anchor="ctr"/>
                </a:tc>
                <a:tc>
                  <a:txBody>
                    <a:bodyPr/>
                    <a:lstStyle/>
                    <a:p>
                      <a:pPr>
                        <a:buNone/>
                      </a:pPr>
                      <a:r>
                        <a:rPr lang="en-US"/>
                        <a:t>Verma</a:t>
                      </a:r>
                    </a:p>
                  </a:txBody>
                  <a:tcPr anchor="ctr"/>
                </a:tc>
                <a:extLst>
                  <a:ext uri="{0D108BD9-81ED-4DB2-BD59-A6C34878D82A}">
                    <a16:rowId xmlns:a16="http://schemas.microsoft.com/office/drawing/2014/main" val="4113563589"/>
                  </a:ext>
                </a:extLst>
              </a:tr>
              <a:tr h="373058">
                <a:tc>
                  <a:txBody>
                    <a:bodyPr/>
                    <a:lstStyle/>
                    <a:p>
                      <a:pPr>
                        <a:buNone/>
                      </a:pPr>
                      <a:r>
                        <a:rPr lang="en-US"/>
                        <a:t>S102</a:t>
                      </a:r>
                    </a:p>
                  </a:txBody>
                  <a:tcPr anchor="ctr"/>
                </a:tc>
                <a:tc>
                  <a:txBody>
                    <a:bodyPr/>
                    <a:lstStyle/>
                    <a:p>
                      <a:pPr>
                        <a:buNone/>
                      </a:pPr>
                      <a:r>
                        <a:rPr lang="en-US"/>
                        <a:t>Hari</a:t>
                      </a:r>
                    </a:p>
                  </a:txBody>
                  <a:tcPr anchor="ctr"/>
                </a:tc>
                <a:tc>
                  <a:txBody>
                    <a:bodyPr/>
                    <a:lstStyle/>
                    <a:p>
                      <a:pPr>
                        <a:buNone/>
                      </a:pPr>
                      <a:r>
                        <a:rPr lang="en-US" dirty="0"/>
                        <a:t>C001</a:t>
                      </a:r>
                    </a:p>
                  </a:txBody>
                  <a:tcPr anchor="ctr"/>
                </a:tc>
                <a:tc>
                  <a:txBody>
                    <a:bodyPr/>
                    <a:lstStyle/>
                    <a:p>
                      <a:pPr>
                        <a:buNone/>
                      </a:pPr>
                      <a:r>
                        <a:rPr lang="en-US"/>
                        <a:t>DBMS</a:t>
                      </a:r>
                    </a:p>
                  </a:txBody>
                  <a:tcPr anchor="ctr"/>
                </a:tc>
                <a:tc>
                  <a:txBody>
                    <a:bodyPr/>
                    <a:lstStyle/>
                    <a:p>
                      <a:pPr>
                        <a:buNone/>
                      </a:pPr>
                      <a:r>
                        <a:rPr lang="en-US"/>
                        <a:t>Sharma</a:t>
                      </a:r>
                    </a:p>
                  </a:txBody>
                  <a:tcPr anchor="ctr"/>
                </a:tc>
                <a:extLst>
                  <a:ext uri="{0D108BD9-81ED-4DB2-BD59-A6C34878D82A}">
                    <a16:rowId xmlns:a16="http://schemas.microsoft.com/office/drawing/2014/main" val="1874246434"/>
                  </a:ext>
                </a:extLst>
              </a:tr>
              <a:tr h="373058">
                <a:tc>
                  <a:txBody>
                    <a:bodyPr/>
                    <a:lstStyle/>
                    <a:p>
                      <a:pPr>
                        <a:buNone/>
                      </a:pPr>
                      <a:r>
                        <a:rPr lang="en-US"/>
                        <a:t>S103</a:t>
                      </a:r>
                    </a:p>
                  </a:txBody>
                  <a:tcPr anchor="ctr"/>
                </a:tc>
                <a:tc>
                  <a:txBody>
                    <a:bodyPr/>
                    <a:lstStyle/>
                    <a:p>
                      <a:pPr>
                        <a:buNone/>
                      </a:pPr>
                      <a:r>
                        <a:rPr lang="en-US"/>
                        <a:t>Sita</a:t>
                      </a:r>
                    </a:p>
                  </a:txBody>
                  <a:tcPr anchor="ctr"/>
                </a:tc>
                <a:tc>
                  <a:txBody>
                    <a:bodyPr/>
                    <a:lstStyle/>
                    <a:p>
                      <a:pPr>
                        <a:buNone/>
                      </a:pPr>
                      <a:r>
                        <a:rPr lang="en-US"/>
                        <a:t>C003</a:t>
                      </a:r>
                    </a:p>
                  </a:txBody>
                  <a:tcPr anchor="ctr"/>
                </a:tc>
                <a:tc>
                  <a:txBody>
                    <a:bodyPr/>
                    <a:lstStyle/>
                    <a:p>
                      <a:pPr>
                        <a:buNone/>
                      </a:pPr>
                      <a:r>
                        <a:rPr lang="en-US"/>
                        <a:t>AI</a:t>
                      </a:r>
                    </a:p>
                  </a:txBody>
                  <a:tcPr anchor="ctr"/>
                </a:tc>
                <a:tc>
                  <a:txBody>
                    <a:bodyPr/>
                    <a:lstStyle/>
                    <a:p>
                      <a:pPr>
                        <a:buNone/>
                      </a:pPr>
                      <a:r>
                        <a:rPr lang="en-US" dirty="0"/>
                        <a:t>Pant</a:t>
                      </a:r>
                    </a:p>
                  </a:txBody>
                  <a:tcPr anchor="ctr"/>
                </a:tc>
                <a:extLst>
                  <a:ext uri="{0D108BD9-81ED-4DB2-BD59-A6C34878D82A}">
                    <a16:rowId xmlns:a16="http://schemas.microsoft.com/office/drawing/2014/main" val="1566311623"/>
                  </a:ext>
                </a:extLst>
              </a:tr>
            </a:tbl>
          </a:graphicData>
        </a:graphic>
      </p:graphicFrame>
      <p:sp>
        <p:nvSpPr>
          <p:cNvPr id="5" name="TextBox 4">
            <a:extLst>
              <a:ext uri="{FF2B5EF4-FFF2-40B4-BE49-F238E27FC236}">
                <a16:creationId xmlns:a16="http://schemas.microsoft.com/office/drawing/2014/main" id="{05B1D9CE-0072-63D2-9AE7-3BB84C106E62}"/>
              </a:ext>
            </a:extLst>
          </p:cNvPr>
          <p:cNvSpPr txBox="1"/>
          <p:nvPr/>
        </p:nvSpPr>
        <p:spPr>
          <a:xfrm>
            <a:off x="6840855" y="1764784"/>
            <a:ext cx="2554605" cy="369332"/>
          </a:xfrm>
          <a:prstGeom prst="rect">
            <a:avLst/>
          </a:prstGeom>
          <a:noFill/>
        </p:spPr>
        <p:txBody>
          <a:bodyPr wrap="square">
            <a:spAutoFit/>
          </a:bodyPr>
          <a:lstStyle/>
          <a:p>
            <a:r>
              <a:rPr lang="en-US" dirty="0" err="1"/>
              <a:t>Student_Course</a:t>
            </a:r>
            <a:r>
              <a:rPr lang="en-US" dirty="0"/>
              <a:t> Table</a:t>
            </a:r>
          </a:p>
        </p:txBody>
      </p:sp>
    </p:spTree>
    <p:extLst>
      <p:ext uri="{BB962C8B-B14F-4D97-AF65-F5344CB8AC3E}">
        <p14:creationId xmlns:p14="http://schemas.microsoft.com/office/powerpoint/2010/main" val="264163990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EDCD271-0542-89FB-DF33-012F0ABDBB2E}"/>
              </a:ext>
            </a:extLst>
          </p:cNvPr>
          <p:cNvPicPr>
            <a:picLocks noChangeAspect="1"/>
          </p:cNvPicPr>
          <p:nvPr/>
        </p:nvPicPr>
        <p:blipFill>
          <a:blip r:embed="rId3"/>
          <a:stretch>
            <a:fillRect/>
          </a:stretch>
        </p:blipFill>
        <p:spPr>
          <a:xfrm>
            <a:off x="5755846" y="848879"/>
            <a:ext cx="5399834" cy="2399926"/>
          </a:xfrm>
          <a:prstGeom prst="rect">
            <a:avLst/>
          </a:prstGeom>
        </p:spPr>
      </p:pic>
      <p:pic>
        <p:nvPicPr>
          <p:cNvPr id="7" name="Picture 6">
            <a:extLst>
              <a:ext uri="{FF2B5EF4-FFF2-40B4-BE49-F238E27FC236}">
                <a16:creationId xmlns:a16="http://schemas.microsoft.com/office/drawing/2014/main" id="{0BA29105-FC74-E10A-2632-D4BABA8321BE}"/>
              </a:ext>
            </a:extLst>
          </p:cNvPr>
          <p:cNvPicPr>
            <a:picLocks noChangeAspect="1"/>
          </p:cNvPicPr>
          <p:nvPr/>
        </p:nvPicPr>
        <p:blipFill>
          <a:blip r:embed="rId4"/>
          <a:stretch>
            <a:fillRect/>
          </a:stretch>
        </p:blipFill>
        <p:spPr>
          <a:xfrm>
            <a:off x="1716872" y="3248805"/>
            <a:ext cx="7281591" cy="3026505"/>
          </a:xfrm>
          <a:prstGeom prst="rect">
            <a:avLst/>
          </a:prstGeom>
        </p:spPr>
      </p:pic>
      <p:sp>
        <p:nvSpPr>
          <p:cNvPr id="9" name="Title 8">
            <a:extLst>
              <a:ext uri="{FF2B5EF4-FFF2-40B4-BE49-F238E27FC236}">
                <a16:creationId xmlns:a16="http://schemas.microsoft.com/office/drawing/2014/main" id="{7DFB18F6-7FB6-569B-397C-5D66B59A4D79}"/>
              </a:ext>
            </a:extLst>
          </p:cNvPr>
          <p:cNvSpPr>
            <a:spLocks noGrp="1"/>
          </p:cNvSpPr>
          <p:nvPr>
            <p:ph type="title"/>
          </p:nvPr>
        </p:nvSpPr>
        <p:spPr/>
        <p:txBody>
          <a:bodyPr/>
          <a:lstStyle/>
          <a:p>
            <a:r>
              <a:rPr lang="en-US" dirty="0"/>
              <a:t>Example:</a:t>
            </a:r>
          </a:p>
        </p:txBody>
      </p:sp>
    </p:spTree>
    <p:extLst>
      <p:ext uri="{BB962C8B-B14F-4D97-AF65-F5344CB8AC3E}">
        <p14:creationId xmlns:p14="http://schemas.microsoft.com/office/powerpoint/2010/main" val="278311749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E2BC4D-5F25-A80D-90CC-2296D563261C}"/>
              </a:ext>
            </a:extLst>
          </p:cNvPr>
          <p:cNvSpPr>
            <a:spLocks noGrp="1"/>
          </p:cNvSpPr>
          <p:nvPr>
            <p:ph type="title"/>
          </p:nvPr>
        </p:nvSpPr>
        <p:spPr/>
        <p:txBody>
          <a:bodyPr/>
          <a:lstStyle/>
          <a:p>
            <a:r>
              <a:rPr lang="en-US" dirty="0"/>
              <a:t>Types of Normal Forms</a:t>
            </a:r>
          </a:p>
        </p:txBody>
      </p:sp>
      <p:graphicFrame>
        <p:nvGraphicFramePr>
          <p:cNvPr id="6" name="Content Placeholder 5">
            <a:extLst>
              <a:ext uri="{FF2B5EF4-FFF2-40B4-BE49-F238E27FC236}">
                <a16:creationId xmlns:a16="http://schemas.microsoft.com/office/drawing/2014/main" id="{53139D27-15F6-EEE3-C7B0-91F6329CFE06}"/>
              </a:ext>
            </a:extLst>
          </p:cNvPr>
          <p:cNvGraphicFramePr>
            <a:graphicFrameLocks noGrp="1"/>
          </p:cNvGraphicFramePr>
          <p:nvPr>
            <p:ph idx="1"/>
            <p:extLst>
              <p:ext uri="{D42A27DB-BD31-4B8C-83A1-F6EECF244321}">
                <p14:modId xmlns:p14="http://schemas.microsoft.com/office/powerpoint/2010/main" val="3925599158"/>
              </p:ext>
            </p:extLst>
          </p:nvPr>
        </p:nvGraphicFramePr>
        <p:xfrm>
          <a:off x="1096963" y="1846262"/>
          <a:ext cx="7955597" cy="4451111"/>
        </p:xfrm>
        <a:graphic>
          <a:graphicData uri="http://schemas.openxmlformats.org/drawingml/2006/table">
            <a:tbl>
              <a:tblPr firstRow="1" bandRow="1">
                <a:tableStyleId>{5C22544A-7EE6-4342-B048-85BDC9FD1C3A}</a:tableStyleId>
              </a:tblPr>
              <a:tblGrid>
                <a:gridCol w="1714817">
                  <a:extLst>
                    <a:ext uri="{9D8B030D-6E8A-4147-A177-3AD203B41FA5}">
                      <a16:colId xmlns:a16="http://schemas.microsoft.com/office/drawing/2014/main" val="434782179"/>
                    </a:ext>
                  </a:extLst>
                </a:gridCol>
                <a:gridCol w="2805661">
                  <a:extLst>
                    <a:ext uri="{9D8B030D-6E8A-4147-A177-3AD203B41FA5}">
                      <a16:colId xmlns:a16="http://schemas.microsoft.com/office/drawing/2014/main" val="589822781"/>
                    </a:ext>
                  </a:extLst>
                </a:gridCol>
                <a:gridCol w="3435119">
                  <a:extLst>
                    <a:ext uri="{9D8B030D-6E8A-4147-A177-3AD203B41FA5}">
                      <a16:colId xmlns:a16="http://schemas.microsoft.com/office/drawing/2014/main" val="1287345089"/>
                    </a:ext>
                  </a:extLst>
                </a:gridCol>
              </a:tblGrid>
              <a:tr h="608786">
                <a:tc>
                  <a:txBody>
                    <a:bodyPr/>
                    <a:lstStyle/>
                    <a:p>
                      <a:pPr>
                        <a:buNone/>
                      </a:pPr>
                      <a:r>
                        <a:rPr lang="en-US" dirty="0"/>
                        <a:t>Normal Form</a:t>
                      </a:r>
                    </a:p>
                  </a:txBody>
                  <a:tcPr anchor="ctr"/>
                </a:tc>
                <a:tc>
                  <a:txBody>
                    <a:bodyPr/>
                    <a:lstStyle/>
                    <a:p>
                      <a:pPr>
                        <a:buNone/>
                      </a:pPr>
                      <a:r>
                        <a:rPr lang="en-US"/>
                        <a:t>Removes</a:t>
                      </a:r>
                    </a:p>
                  </a:txBody>
                  <a:tcPr anchor="ctr"/>
                </a:tc>
                <a:tc>
                  <a:txBody>
                    <a:bodyPr/>
                    <a:lstStyle/>
                    <a:p>
                      <a:pPr>
                        <a:buNone/>
                      </a:pPr>
                      <a:r>
                        <a:rPr lang="en-US"/>
                        <a:t>Key Idea</a:t>
                      </a:r>
                    </a:p>
                  </a:txBody>
                  <a:tcPr anchor="ctr"/>
                </a:tc>
                <a:extLst>
                  <a:ext uri="{0D108BD9-81ED-4DB2-BD59-A6C34878D82A}">
                    <a16:rowId xmlns:a16="http://schemas.microsoft.com/office/drawing/2014/main" val="958487190"/>
                  </a:ext>
                </a:extLst>
              </a:tr>
              <a:tr h="427335">
                <a:tc>
                  <a:txBody>
                    <a:bodyPr/>
                    <a:lstStyle/>
                    <a:p>
                      <a:pPr>
                        <a:buNone/>
                      </a:pPr>
                      <a:r>
                        <a:rPr lang="en-US"/>
                        <a:t>UNF</a:t>
                      </a:r>
                    </a:p>
                  </a:txBody>
                  <a:tcPr anchor="ctr"/>
                </a:tc>
                <a:tc>
                  <a:txBody>
                    <a:bodyPr/>
                    <a:lstStyle/>
                    <a:p>
                      <a:pPr>
                        <a:buNone/>
                      </a:pPr>
                      <a:r>
                        <a:rPr lang="en-US"/>
                        <a:t>Repeating groups</a:t>
                      </a:r>
                    </a:p>
                  </a:txBody>
                  <a:tcPr anchor="ctr"/>
                </a:tc>
                <a:tc>
                  <a:txBody>
                    <a:bodyPr/>
                    <a:lstStyle/>
                    <a:p>
                      <a:pPr>
                        <a:buNone/>
                      </a:pPr>
                      <a:r>
                        <a:rPr lang="en-US"/>
                        <a:t>Multiple values in attributes</a:t>
                      </a:r>
                    </a:p>
                  </a:txBody>
                  <a:tcPr anchor="ctr"/>
                </a:tc>
                <a:extLst>
                  <a:ext uri="{0D108BD9-81ED-4DB2-BD59-A6C34878D82A}">
                    <a16:rowId xmlns:a16="http://schemas.microsoft.com/office/drawing/2014/main" val="1840821408"/>
                  </a:ext>
                </a:extLst>
              </a:tr>
              <a:tr h="427335">
                <a:tc>
                  <a:txBody>
                    <a:bodyPr/>
                    <a:lstStyle/>
                    <a:p>
                      <a:pPr>
                        <a:buNone/>
                      </a:pPr>
                      <a:r>
                        <a:rPr lang="en-US"/>
                        <a:t>1NF</a:t>
                      </a:r>
                    </a:p>
                  </a:txBody>
                  <a:tcPr anchor="ctr"/>
                </a:tc>
                <a:tc>
                  <a:txBody>
                    <a:bodyPr/>
                    <a:lstStyle/>
                    <a:p>
                      <a:pPr>
                        <a:buNone/>
                      </a:pPr>
                      <a:r>
                        <a:rPr lang="en-US"/>
                        <a:t>Non-atomic values</a:t>
                      </a:r>
                    </a:p>
                  </a:txBody>
                  <a:tcPr anchor="ctr"/>
                </a:tc>
                <a:tc>
                  <a:txBody>
                    <a:bodyPr/>
                    <a:lstStyle/>
                    <a:p>
                      <a:pPr>
                        <a:buNone/>
                      </a:pPr>
                      <a:r>
                        <a:rPr lang="en-US"/>
                        <a:t>One value per cell</a:t>
                      </a:r>
                    </a:p>
                  </a:txBody>
                  <a:tcPr anchor="ctr"/>
                </a:tc>
                <a:extLst>
                  <a:ext uri="{0D108BD9-81ED-4DB2-BD59-A6C34878D82A}">
                    <a16:rowId xmlns:a16="http://schemas.microsoft.com/office/drawing/2014/main" val="2109880660"/>
                  </a:ext>
                </a:extLst>
              </a:tr>
              <a:tr h="427335">
                <a:tc>
                  <a:txBody>
                    <a:bodyPr/>
                    <a:lstStyle/>
                    <a:p>
                      <a:pPr>
                        <a:buNone/>
                      </a:pPr>
                      <a:r>
                        <a:rPr lang="en-US"/>
                        <a:t>2NF</a:t>
                      </a:r>
                    </a:p>
                  </a:txBody>
                  <a:tcPr anchor="ctr"/>
                </a:tc>
                <a:tc>
                  <a:txBody>
                    <a:bodyPr/>
                    <a:lstStyle/>
                    <a:p>
                      <a:pPr>
                        <a:buNone/>
                      </a:pPr>
                      <a:r>
                        <a:rPr lang="en-US" dirty="0"/>
                        <a:t>Partial dependency</a:t>
                      </a:r>
                    </a:p>
                  </a:txBody>
                  <a:tcPr anchor="ctr"/>
                </a:tc>
                <a:tc>
                  <a:txBody>
                    <a:bodyPr/>
                    <a:lstStyle/>
                    <a:p>
                      <a:pPr>
                        <a:buNone/>
                      </a:pPr>
                      <a:r>
                        <a:rPr lang="en-US"/>
                        <a:t>Full dependency on entire key</a:t>
                      </a:r>
                    </a:p>
                  </a:txBody>
                  <a:tcPr anchor="ctr"/>
                </a:tc>
                <a:extLst>
                  <a:ext uri="{0D108BD9-81ED-4DB2-BD59-A6C34878D82A}">
                    <a16:rowId xmlns:a16="http://schemas.microsoft.com/office/drawing/2014/main" val="2664094357"/>
                  </a:ext>
                </a:extLst>
              </a:tr>
              <a:tr h="608786">
                <a:tc>
                  <a:txBody>
                    <a:bodyPr/>
                    <a:lstStyle/>
                    <a:p>
                      <a:pPr>
                        <a:buNone/>
                      </a:pPr>
                      <a:r>
                        <a:rPr lang="en-US"/>
                        <a:t>3NF</a:t>
                      </a:r>
                    </a:p>
                  </a:txBody>
                  <a:tcPr anchor="ctr"/>
                </a:tc>
                <a:tc>
                  <a:txBody>
                    <a:bodyPr/>
                    <a:lstStyle/>
                    <a:p>
                      <a:pPr>
                        <a:buNone/>
                      </a:pPr>
                      <a:r>
                        <a:rPr lang="en-US" dirty="0"/>
                        <a:t>Transitive dependency</a:t>
                      </a:r>
                    </a:p>
                  </a:txBody>
                  <a:tcPr anchor="ctr"/>
                </a:tc>
                <a:tc>
                  <a:txBody>
                    <a:bodyPr/>
                    <a:lstStyle/>
                    <a:p>
                      <a:pPr>
                        <a:buNone/>
                      </a:pPr>
                      <a:r>
                        <a:rPr lang="en-US"/>
                        <a:t>Non-key should not determine non-key</a:t>
                      </a:r>
                    </a:p>
                  </a:txBody>
                  <a:tcPr anchor="ctr"/>
                </a:tc>
                <a:extLst>
                  <a:ext uri="{0D108BD9-81ED-4DB2-BD59-A6C34878D82A}">
                    <a16:rowId xmlns:a16="http://schemas.microsoft.com/office/drawing/2014/main" val="1874531978"/>
                  </a:ext>
                </a:extLst>
              </a:tr>
              <a:tr h="608786">
                <a:tc>
                  <a:txBody>
                    <a:bodyPr/>
                    <a:lstStyle/>
                    <a:p>
                      <a:pPr>
                        <a:buNone/>
                      </a:pPr>
                      <a:r>
                        <a:rPr lang="en-US"/>
                        <a:t>BCNF</a:t>
                      </a:r>
                    </a:p>
                  </a:txBody>
                  <a:tcPr anchor="ctr"/>
                </a:tc>
                <a:tc>
                  <a:txBody>
                    <a:bodyPr/>
                    <a:lstStyle/>
                    <a:p>
                      <a:pPr>
                        <a:buNone/>
                      </a:pPr>
                      <a:r>
                        <a:rPr lang="en-US"/>
                        <a:t>Determinant problem</a:t>
                      </a:r>
                    </a:p>
                  </a:txBody>
                  <a:tcPr anchor="ctr"/>
                </a:tc>
                <a:tc>
                  <a:txBody>
                    <a:bodyPr/>
                    <a:lstStyle/>
                    <a:p>
                      <a:pPr>
                        <a:buNone/>
                      </a:pPr>
                      <a:r>
                        <a:rPr lang="en-US"/>
                        <a:t>Every determinant must be a candidate key</a:t>
                      </a:r>
                    </a:p>
                  </a:txBody>
                  <a:tcPr anchor="ctr"/>
                </a:tc>
                <a:extLst>
                  <a:ext uri="{0D108BD9-81ED-4DB2-BD59-A6C34878D82A}">
                    <a16:rowId xmlns:a16="http://schemas.microsoft.com/office/drawing/2014/main" val="1392135458"/>
                  </a:ext>
                </a:extLst>
              </a:tr>
              <a:tr h="608786">
                <a:tc>
                  <a:txBody>
                    <a:bodyPr/>
                    <a:lstStyle/>
                    <a:p>
                      <a:pPr>
                        <a:buNone/>
                      </a:pPr>
                      <a:r>
                        <a:rPr lang="en-US"/>
                        <a:t>4NF</a:t>
                      </a:r>
                    </a:p>
                  </a:txBody>
                  <a:tcPr anchor="ctr"/>
                </a:tc>
                <a:tc>
                  <a:txBody>
                    <a:bodyPr/>
                    <a:lstStyle/>
                    <a:p>
                      <a:pPr>
                        <a:buNone/>
                      </a:pPr>
                      <a:r>
                        <a:rPr lang="en-US"/>
                        <a:t>Multivalued dependency</a:t>
                      </a:r>
                    </a:p>
                  </a:txBody>
                  <a:tcPr anchor="ctr"/>
                </a:tc>
                <a:tc>
                  <a:txBody>
                    <a:bodyPr/>
                    <a:lstStyle/>
                    <a:p>
                      <a:pPr>
                        <a:buNone/>
                      </a:pPr>
                      <a:r>
                        <a:rPr lang="en-US"/>
                        <a:t>Independent multi-valued facts separated</a:t>
                      </a:r>
                    </a:p>
                  </a:txBody>
                  <a:tcPr anchor="ctr"/>
                </a:tc>
                <a:extLst>
                  <a:ext uri="{0D108BD9-81ED-4DB2-BD59-A6C34878D82A}">
                    <a16:rowId xmlns:a16="http://schemas.microsoft.com/office/drawing/2014/main" val="2941507664"/>
                  </a:ext>
                </a:extLst>
              </a:tr>
              <a:tr h="608786">
                <a:tc>
                  <a:txBody>
                    <a:bodyPr/>
                    <a:lstStyle/>
                    <a:p>
                      <a:pPr>
                        <a:buNone/>
                      </a:pPr>
                      <a:r>
                        <a:rPr lang="en-US"/>
                        <a:t>5NF</a:t>
                      </a:r>
                    </a:p>
                  </a:txBody>
                  <a:tcPr anchor="ctr"/>
                </a:tc>
                <a:tc>
                  <a:txBody>
                    <a:bodyPr/>
                    <a:lstStyle/>
                    <a:p>
                      <a:pPr>
                        <a:buNone/>
                      </a:pPr>
                      <a:r>
                        <a:rPr lang="en-US"/>
                        <a:t>Join dependency</a:t>
                      </a:r>
                    </a:p>
                  </a:txBody>
                  <a:tcPr anchor="ctr"/>
                </a:tc>
                <a:tc>
                  <a:txBody>
                    <a:bodyPr/>
                    <a:lstStyle/>
                    <a:p>
                      <a:pPr>
                        <a:buNone/>
                      </a:pPr>
                      <a:r>
                        <a:rPr lang="en-US" dirty="0"/>
                        <a:t>Eliminate redundancy caused by joins</a:t>
                      </a:r>
                    </a:p>
                  </a:txBody>
                  <a:tcPr anchor="ctr"/>
                </a:tc>
                <a:extLst>
                  <a:ext uri="{0D108BD9-81ED-4DB2-BD59-A6C34878D82A}">
                    <a16:rowId xmlns:a16="http://schemas.microsoft.com/office/drawing/2014/main" val="3923801361"/>
                  </a:ext>
                </a:extLst>
              </a:tr>
            </a:tbl>
          </a:graphicData>
        </a:graphic>
      </p:graphicFrame>
    </p:spTree>
    <p:extLst>
      <p:ext uri="{BB962C8B-B14F-4D97-AF65-F5344CB8AC3E}">
        <p14:creationId xmlns:p14="http://schemas.microsoft.com/office/powerpoint/2010/main" val="79683781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6E8926-A034-959C-D324-D63482AEA21B}"/>
              </a:ext>
            </a:extLst>
          </p:cNvPr>
          <p:cNvSpPr>
            <a:spLocks noGrp="1"/>
          </p:cNvSpPr>
          <p:nvPr>
            <p:ph type="title"/>
          </p:nvPr>
        </p:nvSpPr>
        <p:spPr/>
        <p:txBody>
          <a:bodyPr/>
          <a:lstStyle/>
          <a:p>
            <a:r>
              <a:rPr lang="en-US" dirty="0"/>
              <a:t>Normalization Using a Single Example</a:t>
            </a:r>
          </a:p>
        </p:txBody>
      </p:sp>
      <p:sp>
        <p:nvSpPr>
          <p:cNvPr id="10" name="Content Placeholder 9">
            <a:extLst>
              <a:ext uri="{FF2B5EF4-FFF2-40B4-BE49-F238E27FC236}">
                <a16:creationId xmlns:a16="http://schemas.microsoft.com/office/drawing/2014/main" id="{9BAF9CE1-AEE1-C2EF-9713-2F1487C9BB14}"/>
              </a:ext>
            </a:extLst>
          </p:cNvPr>
          <p:cNvSpPr>
            <a:spLocks noGrp="1"/>
          </p:cNvSpPr>
          <p:nvPr>
            <p:ph idx="1"/>
          </p:nvPr>
        </p:nvSpPr>
        <p:spPr/>
        <p:txBody>
          <a:bodyPr/>
          <a:lstStyle/>
          <a:p>
            <a:r>
              <a:rPr lang="en-US" dirty="0"/>
              <a:t>Suppose a college stores student enrollment information as follows.</a:t>
            </a:r>
          </a:p>
          <a:p>
            <a:r>
              <a:rPr lang="en-US" dirty="0"/>
              <a:t>Problems:</a:t>
            </a:r>
          </a:p>
          <a:p>
            <a:pPr lvl="1"/>
            <a:r>
              <a:rPr lang="en-US" dirty="0"/>
              <a:t>Multiple values in one column. </a:t>
            </a:r>
          </a:p>
          <a:p>
            <a:pPr lvl="1"/>
            <a:r>
              <a:rPr lang="en-US" dirty="0"/>
              <a:t>Repeating groups. </a:t>
            </a:r>
          </a:p>
          <a:p>
            <a:pPr lvl="1"/>
            <a:r>
              <a:rPr lang="en-US" dirty="0"/>
              <a:t>Difficult to query.</a:t>
            </a:r>
          </a:p>
          <a:p>
            <a:endParaRPr lang="en-US" dirty="0"/>
          </a:p>
        </p:txBody>
      </p:sp>
      <p:graphicFrame>
        <p:nvGraphicFramePr>
          <p:cNvPr id="11" name="Table 10">
            <a:extLst>
              <a:ext uri="{FF2B5EF4-FFF2-40B4-BE49-F238E27FC236}">
                <a16:creationId xmlns:a16="http://schemas.microsoft.com/office/drawing/2014/main" id="{069B5BE5-D3B0-A61C-AE20-144AE4136B67}"/>
              </a:ext>
            </a:extLst>
          </p:cNvPr>
          <p:cNvGraphicFramePr>
            <a:graphicFrameLocks noGrp="1"/>
          </p:cNvGraphicFramePr>
          <p:nvPr>
            <p:extLst>
              <p:ext uri="{D42A27DB-BD31-4B8C-83A1-F6EECF244321}">
                <p14:modId xmlns:p14="http://schemas.microsoft.com/office/powerpoint/2010/main" val="3277391466"/>
              </p:ext>
            </p:extLst>
          </p:nvPr>
        </p:nvGraphicFramePr>
        <p:xfrm>
          <a:off x="1477011" y="3822701"/>
          <a:ext cx="9237977" cy="2046393"/>
        </p:xfrm>
        <a:graphic>
          <a:graphicData uri="http://schemas.openxmlformats.org/drawingml/2006/table">
            <a:tbl>
              <a:tblPr firstRow="1" bandRow="1">
                <a:tableStyleId>{5C22544A-7EE6-4342-B048-85BDC9FD1C3A}</a:tableStyleId>
              </a:tblPr>
              <a:tblGrid>
                <a:gridCol w="1319711">
                  <a:extLst>
                    <a:ext uri="{9D8B030D-6E8A-4147-A177-3AD203B41FA5}">
                      <a16:colId xmlns:a16="http://schemas.microsoft.com/office/drawing/2014/main" val="2472051736"/>
                    </a:ext>
                  </a:extLst>
                </a:gridCol>
                <a:gridCol w="1319711">
                  <a:extLst>
                    <a:ext uri="{9D8B030D-6E8A-4147-A177-3AD203B41FA5}">
                      <a16:colId xmlns:a16="http://schemas.microsoft.com/office/drawing/2014/main" val="1260289800"/>
                    </a:ext>
                  </a:extLst>
                </a:gridCol>
                <a:gridCol w="1319711">
                  <a:extLst>
                    <a:ext uri="{9D8B030D-6E8A-4147-A177-3AD203B41FA5}">
                      <a16:colId xmlns:a16="http://schemas.microsoft.com/office/drawing/2014/main" val="17455938"/>
                    </a:ext>
                  </a:extLst>
                </a:gridCol>
                <a:gridCol w="1319711">
                  <a:extLst>
                    <a:ext uri="{9D8B030D-6E8A-4147-A177-3AD203B41FA5}">
                      <a16:colId xmlns:a16="http://schemas.microsoft.com/office/drawing/2014/main" val="1334081319"/>
                    </a:ext>
                  </a:extLst>
                </a:gridCol>
                <a:gridCol w="1319711">
                  <a:extLst>
                    <a:ext uri="{9D8B030D-6E8A-4147-A177-3AD203B41FA5}">
                      <a16:colId xmlns:a16="http://schemas.microsoft.com/office/drawing/2014/main" val="3056668033"/>
                    </a:ext>
                  </a:extLst>
                </a:gridCol>
                <a:gridCol w="1319711">
                  <a:extLst>
                    <a:ext uri="{9D8B030D-6E8A-4147-A177-3AD203B41FA5}">
                      <a16:colId xmlns:a16="http://schemas.microsoft.com/office/drawing/2014/main" val="911484349"/>
                    </a:ext>
                  </a:extLst>
                </a:gridCol>
                <a:gridCol w="1319711">
                  <a:extLst>
                    <a:ext uri="{9D8B030D-6E8A-4147-A177-3AD203B41FA5}">
                      <a16:colId xmlns:a16="http://schemas.microsoft.com/office/drawing/2014/main" val="1169031559"/>
                    </a:ext>
                  </a:extLst>
                </a:gridCol>
              </a:tblGrid>
              <a:tr h="682131">
                <a:tc>
                  <a:txBody>
                    <a:bodyPr/>
                    <a:lstStyle/>
                    <a:p>
                      <a:pPr>
                        <a:buNone/>
                      </a:pPr>
                      <a:r>
                        <a:rPr lang="en-US" dirty="0" err="1"/>
                        <a:t>Student_ID</a:t>
                      </a:r>
                      <a:endParaRPr lang="en-US" dirty="0"/>
                    </a:p>
                  </a:txBody>
                  <a:tcPr anchor="ctr"/>
                </a:tc>
                <a:tc>
                  <a:txBody>
                    <a:bodyPr/>
                    <a:lstStyle/>
                    <a:p>
                      <a:pPr>
                        <a:buNone/>
                      </a:pPr>
                      <a:r>
                        <a:rPr lang="en-US"/>
                        <a:t>Student_Name</a:t>
                      </a:r>
                    </a:p>
                  </a:txBody>
                  <a:tcPr anchor="ctr"/>
                </a:tc>
                <a:tc>
                  <a:txBody>
                    <a:bodyPr/>
                    <a:lstStyle/>
                    <a:p>
                      <a:pPr>
                        <a:buNone/>
                      </a:pPr>
                      <a:r>
                        <a:rPr lang="en-US"/>
                        <a:t>Dept_ID</a:t>
                      </a:r>
                    </a:p>
                  </a:txBody>
                  <a:tcPr anchor="ctr"/>
                </a:tc>
                <a:tc>
                  <a:txBody>
                    <a:bodyPr/>
                    <a:lstStyle/>
                    <a:p>
                      <a:pPr>
                        <a:buNone/>
                      </a:pPr>
                      <a:r>
                        <a:rPr lang="en-US"/>
                        <a:t>Dept_Name</a:t>
                      </a:r>
                    </a:p>
                  </a:txBody>
                  <a:tcPr anchor="ctr"/>
                </a:tc>
                <a:tc>
                  <a:txBody>
                    <a:bodyPr/>
                    <a:lstStyle/>
                    <a:p>
                      <a:pPr>
                        <a:buNone/>
                      </a:pPr>
                      <a:r>
                        <a:rPr lang="en-US"/>
                        <a:t>Subjects</a:t>
                      </a:r>
                    </a:p>
                  </a:txBody>
                  <a:tcPr anchor="ctr"/>
                </a:tc>
                <a:tc>
                  <a:txBody>
                    <a:bodyPr/>
                    <a:lstStyle/>
                    <a:p>
                      <a:pPr>
                        <a:buNone/>
                      </a:pPr>
                      <a:r>
                        <a:rPr lang="en-US" dirty="0"/>
                        <a:t>Teachers</a:t>
                      </a:r>
                    </a:p>
                  </a:txBody>
                  <a:tcPr anchor="ctr"/>
                </a:tc>
                <a:tc>
                  <a:txBody>
                    <a:bodyPr/>
                    <a:lstStyle/>
                    <a:p>
                      <a:pPr>
                        <a:buNone/>
                      </a:pPr>
                      <a:r>
                        <a:rPr lang="en-US" dirty="0"/>
                        <a:t>Languages</a:t>
                      </a:r>
                    </a:p>
                  </a:txBody>
                  <a:tcPr anchor="ctr"/>
                </a:tc>
                <a:extLst>
                  <a:ext uri="{0D108BD9-81ED-4DB2-BD59-A6C34878D82A}">
                    <a16:rowId xmlns:a16="http://schemas.microsoft.com/office/drawing/2014/main" val="1551360946"/>
                  </a:ext>
                </a:extLst>
              </a:tr>
              <a:tr h="682131">
                <a:tc>
                  <a:txBody>
                    <a:bodyPr/>
                    <a:lstStyle/>
                    <a:p>
                      <a:pPr>
                        <a:buNone/>
                      </a:pPr>
                      <a:r>
                        <a:rPr lang="en-US"/>
                        <a:t>S101</a:t>
                      </a:r>
                    </a:p>
                  </a:txBody>
                  <a:tcPr anchor="ctr"/>
                </a:tc>
                <a:tc>
                  <a:txBody>
                    <a:bodyPr/>
                    <a:lstStyle/>
                    <a:p>
                      <a:pPr>
                        <a:buNone/>
                      </a:pPr>
                      <a:r>
                        <a:rPr lang="en-US"/>
                        <a:t>Ram</a:t>
                      </a:r>
                    </a:p>
                  </a:txBody>
                  <a:tcPr anchor="ctr"/>
                </a:tc>
                <a:tc>
                  <a:txBody>
                    <a:bodyPr/>
                    <a:lstStyle/>
                    <a:p>
                      <a:pPr>
                        <a:buNone/>
                      </a:pPr>
                      <a:r>
                        <a:rPr lang="en-US" dirty="0"/>
                        <a:t>D1</a:t>
                      </a:r>
                    </a:p>
                  </a:txBody>
                  <a:tcPr anchor="ctr"/>
                </a:tc>
                <a:tc>
                  <a:txBody>
                    <a:bodyPr/>
                    <a:lstStyle/>
                    <a:p>
                      <a:pPr>
                        <a:buNone/>
                      </a:pPr>
                      <a:r>
                        <a:rPr lang="en-US"/>
                        <a:t>Computer</a:t>
                      </a:r>
                    </a:p>
                  </a:txBody>
                  <a:tcPr anchor="ctr"/>
                </a:tc>
                <a:tc>
                  <a:txBody>
                    <a:bodyPr/>
                    <a:lstStyle/>
                    <a:p>
                      <a:pPr>
                        <a:buNone/>
                      </a:pPr>
                      <a:r>
                        <a:rPr lang="en-US" dirty="0"/>
                        <a:t>DBMS, Java</a:t>
                      </a:r>
                    </a:p>
                  </a:txBody>
                  <a:tcPr anchor="ctr"/>
                </a:tc>
                <a:tc>
                  <a:txBody>
                    <a:bodyPr/>
                    <a:lstStyle/>
                    <a:p>
                      <a:pPr>
                        <a:buNone/>
                      </a:pPr>
                      <a:r>
                        <a:rPr lang="en-US" dirty="0"/>
                        <a:t>Kapil, Sunil</a:t>
                      </a:r>
                    </a:p>
                  </a:txBody>
                  <a:tcPr anchor="ctr"/>
                </a:tc>
                <a:tc>
                  <a:txBody>
                    <a:bodyPr/>
                    <a:lstStyle/>
                    <a:p>
                      <a:pPr>
                        <a:buNone/>
                      </a:pPr>
                      <a:r>
                        <a:rPr lang="en-US" dirty="0"/>
                        <a:t>English, Nepali</a:t>
                      </a:r>
                    </a:p>
                  </a:txBody>
                  <a:tcPr anchor="ctr"/>
                </a:tc>
                <a:extLst>
                  <a:ext uri="{0D108BD9-81ED-4DB2-BD59-A6C34878D82A}">
                    <a16:rowId xmlns:a16="http://schemas.microsoft.com/office/drawing/2014/main" val="2971012374"/>
                  </a:ext>
                </a:extLst>
              </a:tr>
              <a:tr h="682131">
                <a:tc>
                  <a:txBody>
                    <a:bodyPr/>
                    <a:lstStyle/>
                    <a:p>
                      <a:pPr>
                        <a:buNone/>
                      </a:pPr>
                      <a:r>
                        <a:rPr lang="en-US"/>
                        <a:t>S102</a:t>
                      </a:r>
                    </a:p>
                  </a:txBody>
                  <a:tcPr anchor="ctr"/>
                </a:tc>
                <a:tc>
                  <a:txBody>
                    <a:bodyPr/>
                    <a:lstStyle/>
                    <a:p>
                      <a:pPr>
                        <a:buNone/>
                      </a:pPr>
                      <a:r>
                        <a:rPr lang="en-US"/>
                        <a:t>Hari</a:t>
                      </a:r>
                    </a:p>
                  </a:txBody>
                  <a:tcPr anchor="ctr"/>
                </a:tc>
                <a:tc>
                  <a:txBody>
                    <a:bodyPr/>
                    <a:lstStyle/>
                    <a:p>
                      <a:pPr>
                        <a:buNone/>
                      </a:pPr>
                      <a:r>
                        <a:rPr lang="en-US"/>
                        <a:t>D2</a:t>
                      </a:r>
                    </a:p>
                  </a:txBody>
                  <a:tcPr anchor="ctr"/>
                </a:tc>
                <a:tc>
                  <a:txBody>
                    <a:bodyPr/>
                    <a:lstStyle/>
                    <a:p>
                      <a:pPr>
                        <a:buNone/>
                      </a:pPr>
                      <a:r>
                        <a:rPr lang="en-US"/>
                        <a:t>Civil</a:t>
                      </a:r>
                    </a:p>
                  </a:txBody>
                  <a:tcPr anchor="ctr"/>
                </a:tc>
                <a:tc>
                  <a:txBody>
                    <a:bodyPr/>
                    <a:lstStyle/>
                    <a:p>
                      <a:pPr>
                        <a:buNone/>
                      </a:pPr>
                      <a:r>
                        <a:rPr lang="en-US" dirty="0"/>
                        <a:t>DBMS, SE</a:t>
                      </a:r>
                    </a:p>
                  </a:txBody>
                  <a:tcPr anchor="ctr"/>
                </a:tc>
                <a:tc>
                  <a:txBody>
                    <a:bodyPr/>
                    <a:lstStyle/>
                    <a:p>
                      <a:pPr>
                        <a:buNone/>
                      </a:pPr>
                      <a:r>
                        <a:rPr lang="en-US" dirty="0"/>
                        <a:t>Kapil, Harendra</a:t>
                      </a:r>
                    </a:p>
                  </a:txBody>
                  <a:tcPr anchor="ctr"/>
                </a:tc>
                <a:tc>
                  <a:txBody>
                    <a:bodyPr/>
                    <a:lstStyle/>
                    <a:p>
                      <a:pPr>
                        <a:buNone/>
                      </a:pPr>
                      <a:r>
                        <a:rPr lang="en-US" dirty="0"/>
                        <a:t>English</a:t>
                      </a:r>
                    </a:p>
                  </a:txBody>
                  <a:tcPr anchor="ctr"/>
                </a:tc>
                <a:extLst>
                  <a:ext uri="{0D108BD9-81ED-4DB2-BD59-A6C34878D82A}">
                    <a16:rowId xmlns:a16="http://schemas.microsoft.com/office/drawing/2014/main" val="4126026316"/>
                  </a:ext>
                </a:extLst>
              </a:tr>
            </a:tbl>
          </a:graphicData>
        </a:graphic>
      </p:graphicFrame>
      <p:sp>
        <p:nvSpPr>
          <p:cNvPr id="13" name="TextBox 12">
            <a:extLst>
              <a:ext uri="{FF2B5EF4-FFF2-40B4-BE49-F238E27FC236}">
                <a16:creationId xmlns:a16="http://schemas.microsoft.com/office/drawing/2014/main" id="{F1932E6C-30ED-9F6D-DC9D-4DF72DFFDC67}"/>
              </a:ext>
            </a:extLst>
          </p:cNvPr>
          <p:cNvSpPr txBox="1"/>
          <p:nvPr/>
        </p:nvSpPr>
        <p:spPr>
          <a:xfrm>
            <a:off x="6096000" y="3344995"/>
            <a:ext cx="3286125" cy="369332"/>
          </a:xfrm>
          <a:prstGeom prst="rect">
            <a:avLst/>
          </a:prstGeom>
          <a:noFill/>
        </p:spPr>
        <p:txBody>
          <a:bodyPr wrap="square">
            <a:spAutoFit/>
          </a:bodyPr>
          <a:lstStyle/>
          <a:p>
            <a:r>
              <a:rPr lang="en-US" dirty="0"/>
              <a:t>UNF (Unnormalized Form)</a:t>
            </a:r>
          </a:p>
        </p:txBody>
      </p:sp>
    </p:spTree>
    <p:extLst>
      <p:ext uri="{BB962C8B-B14F-4D97-AF65-F5344CB8AC3E}">
        <p14:creationId xmlns:p14="http://schemas.microsoft.com/office/powerpoint/2010/main" val="245883800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C437D1-3B8A-0FFE-F00F-6FA248B8196B}"/>
              </a:ext>
            </a:extLst>
          </p:cNvPr>
          <p:cNvSpPr>
            <a:spLocks noGrp="1"/>
          </p:cNvSpPr>
          <p:nvPr>
            <p:ph type="title"/>
          </p:nvPr>
        </p:nvSpPr>
        <p:spPr/>
        <p:txBody>
          <a:bodyPr/>
          <a:lstStyle/>
          <a:p>
            <a:r>
              <a:rPr lang="en-US" dirty="0"/>
              <a:t>First Normal Form </a:t>
            </a:r>
          </a:p>
        </p:txBody>
      </p:sp>
      <p:sp>
        <p:nvSpPr>
          <p:cNvPr id="3" name="Content Placeholder 2">
            <a:extLst>
              <a:ext uri="{FF2B5EF4-FFF2-40B4-BE49-F238E27FC236}">
                <a16:creationId xmlns:a16="http://schemas.microsoft.com/office/drawing/2014/main" id="{B25E9BBC-E12E-0736-4611-B43C4CBD9292}"/>
              </a:ext>
            </a:extLst>
          </p:cNvPr>
          <p:cNvSpPr>
            <a:spLocks noGrp="1"/>
          </p:cNvSpPr>
          <p:nvPr>
            <p:ph idx="1"/>
          </p:nvPr>
        </p:nvSpPr>
        <p:spPr>
          <a:xfrm>
            <a:off x="228600" y="1845734"/>
            <a:ext cx="7406640" cy="4440766"/>
          </a:xfrm>
        </p:spPr>
        <p:txBody>
          <a:bodyPr>
            <a:normAutofit lnSpcReduction="10000"/>
          </a:bodyPr>
          <a:lstStyle/>
          <a:p>
            <a:r>
              <a:rPr lang="en-US" b="1" dirty="0"/>
              <a:t>Rule: </a:t>
            </a:r>
            <a:r>
              <a:rPr lang="en-US" b="1" u="sng" dirty="0"/>
              <a:t>Every cell must contain atomic (indivisible)</a:t>
            </a:r>
            <a:r>
              <a:rPr lang="en-US" u="sng" dirty="0"/>
              <a:t> </a:t>
            </a:r>
            <a:r>
              <a:rPr lang="en-US" b="1" u="sng" dirty="0"/>
              <a:t>values.</a:t>
            </a:r>
          </a:p>
          <a:p>
            <a:r>
              <a:rPr lang="en-US" dirty="0"/>
              <a:t>Convert Multi-valued Attributes into Separate Rows:</a:t>
            </a:r>
          </a:p>
          <a:p>
            <a:r>
              <a:rPr lang="en-US" dirty="0"/>
              <a:t>Problems:</a:t>
            </a:r>
          </a:p>
          <a:p>
            <a:pPr lvl="1"/>
            <a:r>
              <a:rPr lang="en-US" dirty="0"/>
              <a:t>Since no single attribute uniquely </a:t>
            </a:r>
          </a:p>
          <a:p>
            <a:pPr marL="201168" lvl="1" indent="0">
              <a:buNone/>
            </a:pPr>
            <a:r>
              <a:rPr lang="en-US" dirty="0"/>
              <a:t>identifies a row.</a:t>
            </a:r>
          </a:p>
          <a:p>
            <a:pPr lvl="1"/>
            <a:r>
              <a:rPr lang="en-US" dirty="0"/>
              <a:t>Many attributes depend on only </a:t>
            </a:r>
          </a:p>
          <a:p>
            <a:pPr marL="201168" lvl="1" indent="0">
              <a:buNone/>
            </a:pPr>
            <a:r>
              <a:rPr lang="en-US" dirty="0"/>
              <a:t>part of the composite </a:t>
            </a:r>
          </a:p>
          <a:p>
            <a:pPr marL="201168" lvl="1" indent="0">
              <a:buNone/>
            </a:pPr>
            <a:r>
              <a:rPr lang="en-US" dirty="0"/>
              <a:t>    key.</a:t>
            </a:r>
          </a:p>
          <a:p>
            <a:r>
              <a:rPr lang="en-US" b="1" dirty="0"/>
              <a:t>Candidate Key</a:t>
            </a:r>
          </a:p>
          <a:p>
            <a:pPr lvl="1"/>
            <a:r>
              <a:rPr lang="en-US" dirty="0"/>
              <a:t>(</a:t>
            </a:r>
            <a:r>
              <a:rPr lang="en-US" dirty="0" err="1"/>
              <a:t>Stu_ID</a:t>
            </a:r>
            <a:r>
              <a:rPr lang="en-US" dirty="0"/>
              <a:t>, Subject, Language)</a:t>
            </a:r>
          </a:p>
          <a:p>
            <a:r>
              <a:rPr lang="en-US" dirty="0"/>
              <a:t>Since no single attribute uniquely </a:t>
            </a:r>
          </a:p>
          <a:p>
            <a:pPr marL="201168" lvl="1" indent="0">
              <a:buNone/>
            </a:pPr>
            <a:r>
              <a:rPr lang="en-US" dirty="0"/>
              <a:t>identifies a row.</a:t>
            </a:r>
          </a:p>
          <a:p>
            <a:pPr marL="201168" lvl="1" indent="0">
              <a:buNone/>
            </a:pPr>
            <a:endParaRPr lang="en-US" dirty="0"/>
          </a:p>
        </p:txBody>
      </p:sp>
      <p:graphicFrame>
        <p:nvGraphicFramePr>
          <p:cNvPr id="4" name="Table 3">
            <a:extLst>
              <a:ext uri="{FF2B5EF4-FFF2-40B4-BE49-F238E27FC236}">
                <a16:creationId xmlns:a16="http://schemas.microsoft.com/office/drawing/2014/main" id="{412B385F-BC96-7F55-1104-9F148DDDC623}"/>
              </a:ext>
            </a:extLst>
          </p:cNvPr>
          <p:cNvGraphicFramePr>
            <a:graphicFrameLocks noGrp="1"/>
          </p:cNvGraphicFramePr>
          <p:nvPr>
            <p:extLst>
              <p:ext uri="{D42A27DB-BD31-4B8C-83A1-F6EECF244321}">
                <p14:modId xmlns:p14="http://schemas.microsoft.com/office/powerpoint/2010/main" val="3636339233"/>
              </p:ext>
            </p:extLst>
          </p:nvPr>
        </p:nvGraphicFramePr>
        <p:xfrm>
          <a:off x="4206240" y="2743198"/>
          <a:ext cx="7985761" cy="3125896"/>
        </p:xfrm>
        <a:graphic>
          <a:graphicData uri="http://schemas.openxmlformats.org/drawingml/2006/table">
            <a:tbl>
              <a:tblPr firstRow="1" bandRow="1">
                <a:tableStyleId>{5C22544A-7EE6-4342-B048-85BDC9FD1C3A}</a:tableStyleId>
              </a:tblPr>
              <a:tblGrid>
                <a:gridCol w="868680">
                  <a:extLst>
                    <a:ext uri="{9D8B030D-6E8A-4147-A177-3AD203B41FA5}">
                      <a16:colId xmlns:a16="http://schemas.microsoft.com/office/drawing/2014/main" val="412094001"/>
                    </a:ext>
                  </a:extLst>
                </a:gridCol>
                <a:gridCol w="1234440">
                  <a:extLst>
                    <a:ext uri="{9D8B030D-6E8A-4147-A177-3AD203B41FA5}">
                      <a16:colId xmlns:a16="http://schemas.microsoft.com/office/drawing/2014/main" val="1956113474"/>
                    </a:ext>
                  </a:extLst>
                </a:gridCol>
                <a:gridCol w="1051560">
                  <a:extLst>
                    <a:ext uri="{9D8B030D-6E8A-4147-A177-3AD203B41FA5}">
                      <a16:colId xmlns:a16="http://schemas.microsoft.com/office/drawing/2014/main" val="2124318725"/>
                    </a:ext>
                  </a:extLst>
                </a:gridCol>
                <a:gridCol w="1408612">
                  <a:extLst>
                    <a:ext uri="{9D8B030D-6E8A-4147-A177-3AD203B41FA5}">
                      <a16:colId xmlns:a16="http://schemas.microsoft.com/office/drawing/2014/main" val="4144746392"/>
                    </a:ext>
                  </a:extLst>
                </a:gridCol>
                <a:gridCol w="1140823">
                  <a:extLst>
                    <a:ext uri="{9D8B030D-6E8A-4147-A177-3AD203B41FA5}">
                      <a16:colId xmlns:a16="http://schemas.microsoft.com/office/drawing/2014/main" val="2821728353"/>
                    </a:ext>
                  </a:extLst>
                </a:gridCol>
                <a:gridCol w="1140823">
                  <a:extLst>
                    <a:ext uri="{9D8B030D-6E8A-4147-A177-3AD203B41FA5}">
                      <a16:colId xmlns:a16="http://schemas.microsoft.com/office/drawing/2014/main" val="2843878008"/>
                    </a:ext>
                  </a:extLst>
                </a:gridCol>
                <a:gridCol w="1140823">
                  <a:extLst>
                    <a:ext uri="{9D8B030D-6E8A-4147-A177-3AD203B41FA5}">
                      <a16:colId xmlns:a16="http://schemas.microsoft.com/office/drawing/2014/main" val="39780498"/>
                    </a:ext>
                  </a:extLst>
                </a:gridCol>
              </a:tblGrid>
              <a:tr h="698338">
                <a:tc>
                  <a:txBody>
                    <a:bodyPr/>
                    <a:lstStyle/>
                    <a:p>
                      <a:pPr>
                        <a:buNone/>
                      </a:pPr>
                      <a:r>
                        <a:rPr lang="en-US" dirty="0" err="1"/>
                        <a:t>Stu_ID</a:t>
                      </a:r>
                      <a:endParaRPr lang="en-US" dirty="0"/>
                    </a:p>
                  </a:txBody>
                  <a:tcPr anchor="ctr"/>
                </a:tc>
                <a:tc>
                  <a:txBody>
                    <a:bodyPr/>
                    <a:lstStyle/>
                    <a:p>
                      <a:pPr>
                        <a:buNone/>
                      </a:pPr>
                      <a:r>
                        <a:rPr lang="en-US" dirty="0" err="1"/>
                        <a:t>Stu_Name</a:t>
                      </a:r>
                      <a:endParaRPr lang="en-US" dirty="0"/>
                    </a:p>
                  </a:txBody>
                  <a:tcPr anchor="ctr"/>
                </a:tc>
                <a:tc>
                  <a:txBody>
                    <a:bodyPr/>
                    <a:lstStyle/>
                    <a:p>
                      <a:pPr>
                        <a:buNone/>
                      </a:pPr>
                      <a:r>
                        <a:rPr lang="en-US"/>
                        <a:t>Dept_ID</a:t>
                      </a:r>
                    </a:p>
                  </a:txBody>
                  <a:tcPr anchor="ctr"/>
                </a:tc>
                <a:tc>
                  <a:txBody>
                    <a:bodyPr/>
                    <a:lstStyle/>
                    <a:p>
                      <a:pPr>
                        <a:buNone/>
                      </a:pPr>
                      <a:r>
                        <a:rPr lang="en-US"/>
                        <a:t>Dept_Name</a:t>
                      </a:r>
                    </a:p>
                  </a:txBody>
                  <a:tcPr anchor="ctr"/>
                </a:tc>
                <a:tc>
                  <a:txBody>
                    <a:bodyPr/>
                    <a:lstStyle/>
                    <a:p>
                      <a:pPr>
                        <a:buNone/>
                      </a:pPr>
                      <a:r>
                        <a:rPr lang="en-US"/>
                        <a:t>Subject</a:t>
                      </a:r>
                    </a:p>
                  </a:txBody>
                  <a:tcPr anchor="ctr"/>
                </a:tc>
                <a:tc>
                  <a:txBody>
                    <a:bodyPr/>
                    <a:lstStyle/>
                    <a:p>
                      <a:pPr>
                        <a:buNone/>
                      </a:pPr>
                      <a:r>
                        <a:rPr lang="en-US"/>
                        <a:t>Teacher</a:t>
                      </a:r>
                    </a:p>
                  </a:txBody>
                  <a:tcPr anchor="ctr"/>
                </a:tc>
                <a:tc>
                  <a:txBody>
                    <a:bodyPr/>
                    <a:lstStyle/>
                    <a:p>
                      <a:pPr>
                        <a:buNone/>
                      </a:pPr>
                      <a:r>
                        <a:rPr lang="en-US"/>
                        <a:t>Language</a:t>
                      </a:r>
                    </a:p>
                  </a:txBody>
                  <a:tcPr anchor="ctr"/>
                </a:tc>
                <a:extLst>
                  <a:ext uri="{0D108BD9-81ED-4DB2-BD59-A6C34878D82A}">
                    <a16:rowId xmlns:a16="http://schemas.microsoft.com/office/drawing/2014/main" val="1755267605"/>
                  </a:ext>
                </a:extLst>
              </a:tr>
              <a:tr h="404593">
                <a:tc>
                  <a:txBody>
                    <a:bodyPr/>
                    <a:lstStyle/>
                    <a:p>
                      <a:pPr>
                        <a:buNone/>
                      </a:pPr>
                      <a:r>
                        <a:rPr lang="en-US"/>
                        <a:t>S101</a:t>
                      </a:r>
                    </a:p>
                  </a:txBody>
                  <a:tcPr anchor="ctr"/>
                </a:tc>
                <a:tc>
                  <a:txBody>
                    <a:bodyPr/>
                    <a:lstStyle/>
                    <a:p>
                      <a:pPr>
                        <a:buNone/>
                      </a:pPr>
                      <a:r>
                        <a:rPr lang="en-US"/>
                        <a:t>Ram</a:t>
                      </a:r>
                    </a:p>
                  </a:txBody>
                  <a:tcPr anchor="ctr"/>
                </a:tc>
                <a:tc>
                  <a:txBody>
                    <a:bodyPr/>
                    <a:lstStyle/>
                    <a:p>
                      <a:pPr>
                        <a:buNone/>
                      </a:pPr>
                      <a:r>
                        <a:rPr lang="en-US"/>
                        <a:t>D1</a:t>
                      </a:r>
                    </a:p>
                  </a:txBody>
                  <a:tcPr anchor="ctr"/>
                </a:tc>
                <a:tc>
                  <a:txBody>
                    <a:bodyPr/>
                    <a:lstStyle/>
                    <a:p>
                      <a:pPr>
                        <a:buNone/>
                      </a:pPr>
                      <a:r>
                        <a:rPr lang="en-US"/>
                        <a:t>Computer</a:t>
                      </a:r>
                    </a:p>
                  </a:txBody>
                  <a:tcPr anchor="ctr"/>
                </a:tc>
                <a:tc>
                  <a:txBody>
                    <a:bodyPr/>
                    <a:lstStyle/>
                    <a:p>
                      <a:pPr>
                        <a:buNone/>
                      </a:pPr>
                      <a:r>
                        <a:rPr lang="en-US"/>
                        <a:t>DBMS</a:t>
                      </a:r>
                    </a:p>
                  </a:txBody>
                  <a:tcPr anchor="ctr"/>
                </a:tc>
                <a:tc>
                  <a:txBody>
                    <a:bodyPr/>
                    <a:lstStyle/>
                    <a:p>
                      <a:pPr>
                        <a:buNone/>
                      </a:pPr>
                      <a:r>
                        <a:rPr lang="en-US"/>
                        <a:t>Sharma</a:t>
                      </a:r>
                    </a:p>
                  </a:txBody>
                  <a:tcPr anchor="ctr"/>
                </a:tc>
                <a:tc>
                  <a:txBody>
                    <a:bodyPr/>
                    <a:lstStyle/>
                    <a:p>
                      <a:pPr>
                        <a:buNone/>
                      </a:pPr>
                      <a:r>
                        <a:rPr lang="en-US" dirty="0"/>
                        <a:t>English</a:t>
                      </a:r>
                    </a:p>
                  </a:txBody>
                  <a:tcPr anchor="ctr"/>
                </a:tc>
                <a:extLst>
                  <a:ext uri="{0D108BD9-81ED-4DB2-BD59-A6C34878D82A}">
                    <a16:rowId xmlns:a16="http://schemas.microsoft.com/office/drawing/2014/main" val="1480247642"/>
                  </a:ext>
                </a:extLst>
              </a:tr>
              <a:tr h="404593">
                <a:tc>
                  <a:txBody>
                    <a:bodyPr/>
                    <a:lstStyle/>
                    <a:p>
                      <a:pPr>
                        <a:buNone/>
                      </a:pPr>
                      <a:r>
                        <a:rPr lang="en-US"/>
                        <a:t>S101</a:t>
                      </a:r>
                    </a:p>
                  </a:txBody>
                  <a:tcPr anchor="ctr"/>
                </a:tc>
                <a:tc>
                  <a:txBody>
                    <a:bodyPr/>
                    <a:lstStyle/>
                    <a:p>
                      <a:pPr>
                        <a:buNone/>
                      </a:pPr>
                      <a:r>
                        <a:rPr lang="en-US"/>
                        <a:t>Ram</a:t>
                      </a:r>
                    </a:p>
                  </a:txBody>
                  <a:tcPr anchor="ctr"/>
                </a:tc>
                <a:tc>
                  <a:txBody>
                    <a:bodyPr/>
                    <a:lstStyle/>
                    <a:p>
                      <a:pPr>
                        <a:buNone/>
                      </a:pPr>
                      <a:r>
                        <a:rPr lang="en-US"/>
                        <a:t>D1</a:t>
                      </a:r>
                    </a:p>
                  </a:txBody>
                  <a:tcPr anchor="ctr"/>
                </a:tc>
                <a:tc>
                  <a:txBody>
                    <a:bodyPr/>
                    <a:lstStyle/>
                    <a:p>
                      <a:pPr>
                        <a:buNone/>
                      </a:pPr>
                      <a:r>
                        <a:rPr lang="en-US" dirty="0"/>
                        <a:t>Computer</a:t>
                      </a:r>
                    </a:p>
                  </a:txBody>
                  <a:tcPr anchor="ctr"/>
                </a:tc>
                <a:tc>
                  <a:txBody>
                    <a:bodyPr/>
                    <a:lstStyle/>
                    <a:p>
                      <a:pPr>
                        <a:buNone/>
                      </a:pPr>
                      <a:r>
                        <a:rPr lang="en-US"/>
                        <a:t>DBMS</a:t>
                      </a:r>
                    </a:p>
                  </a:txBody>
                  <a:tcPr anchor="ctr"/>
                </a:tc>
                <a:tc>
                  <a:txBody>
                    <a:bodyPr/>
                    <a:lstStyle/>
                    <a:p>
                      <a:pPr>
                        <a:buNone/>
                      </a:pPr>
                      <a:r>
                        <a:rPr lang="en-US"/>
                        <a:t>Sharma</a:t>
                      </a:r>
                    </a:p>
                  </a:txBody>
                  <a:tcPr anchor="ctr"/>
                </a:tc>
                <a:tc>
                  <a:txBody>
                    <a:bodyPr/>
                    <a:lstStyle/>
                    <a:p>
                      <a:pPr>
                        <a:buNone/>
                      </a:pPr>
                      <a:r>
                        <a:rPr lang="en-US"/>
                        <a:t>Nepali</a:t>
                      </a:r>
                    </a:p>
                  </a:txBody>
                  <a:tcPr anchor="ctr"/>
                </a:tc>
                <a:extLst>
                  <a:ext uri="{0D108BD9-81ED-4DB2-BD59-A6C34878D82A}">
                    <a16:rowId xmlns:a16="http://schemas.microsoft.com/office/drawing/2014/main" val="1639502179"/>
                  </a:ext>
                </a:extLst>
              </a:tr>
              <a:tr h="404593">
                <a:tc>
                  <a:txBody>
                    <a:bodyPr/>
                    <a:lstStyle/>
                    <a:p>
                      <a:pPr>
                        <a:buNone/>
                      </a:pPr>
                      <a:r>
                        <a:rPr lang="en-US"/>
                        <a:t>S101</a:t>
                      </a:r>
                    </a:p>
                  </a:txBody>
                  <a:tcPr anchor="ctr"/>
                </a:tc>
                <a:tc>
                  <a:txBody>
                    <a:bodyPr/>
                    <a:lstStyle/>
                    <a:p>
                      <a:pPr>
                        <a:buNone/>
                      </a:pPr>
                      <a:r>
                        <a:rPr lang="en-US"/>
                        <a:t>Ram</a:t>
                      </a:r>
                    </a:p>
                  </a:txBody>
                  <a:tcPr anchor="ctr"/>
                </a:tc>
                <a:tc>
                  <a:txBody>
                    <a:bodyPr/>
                    <a:lstStyle/>
                    <a:p>
                      <a:pPr>
                        <a:buNone/>
                      </a:pPr>
                      <a:r>
                        <a:rPr lang="en-US"/>
                        <a:t>D1</a:t>
                      </a:r>
                    </a:p>
                  </a:txBody>
                  <a:tcPr anchor="ctr"/>
                </a:tc>
                <a:tc>
                  <a:txBody>
                    <a:bodyPr/>
                    <a:lstStyle/>
                    <a:p>
                      <a:pPr>
                        <a:buNone/>
                      </a:pPr>
                      <a:r>
                        <a:rPr lang="en-US" dirty="0"/>
                        <a:t>Computer</a:t>
                      </a:r>
                    </a:p>
                  </a:txBody>
                  <a:tcPr anchor="ctr"/>
                </a:tc>
                <a:tc>
                  <a:txBody>
                    <a:bodyPr/>
                    <a:lstStyle/>
                    <a:p>
                      <a:pPr>
                        <a:buNone/>
                      </a:pPr>
                      <a:r>
                        <a:rPr lang="en-US"/>
                        <a:t>OS</a:t>
                      </a:r>
                    </a:p>
                  </a:txBody>
                  <a:tcPr anchor="ctr"/>
                </a:tc>
                <a:tc>
                  <a:txBody>
                    <a:bodyPr/>
                    <a:lstStyle/>
                    <a:p>
                      <a:pPr>
                        <a:buNone/>
                      </a:pPr>
                      <a:r>
                        <a:rPr lang="en-US"/>
                        <a:t>Verma</a:t>
                      </a:r>
                    </a:p>
                  </a:txBody>
                  <a:tcPr anchor="ctr"/>
                </a:tc>
                <a:tc>
                  <a:txBody>
                    <a:bodyPr/>
                    <a:lstStyle/>
                    <a:p>
                      <a:pPr>
                        <a:buNone/>
                      </a:pPr>
                      <a:r>
                        <a:rPr lang="en-US"/>
                        <a:t>English</a:t>
                      </a:r>
                    </a:p>
                  </a:txBody>
                  <a:tcPr anchor="ctr"/>
                </a:tc>
                <a:extLst>
                  <a:ext uri="{0D108BD9-81ED-4DB2-BD59-A6C34878D82A}">
                    <a16:rowId xmlns:a16="http://schemas.microsoft.com/office/drawing/2014/main" val="4132913392"/>
                  </a:ext>
                </a:extLst>
              </a:tr>
              <a:tr h="404593">
                <a:tc>
                  <a:txBody>
                    <a:bodyPr/>
                    <a:lstStyle/>
                    <a:p>
                      <a:pPr>
                        <a:buNone/>
                      </a:pPr>
                      <a:r>
                        <a:rPr lang="en-US"/>
                        <a:t>S101</a:t>
                      </a:r>
                    </a:p>
                  </a:txBody>
                  <a:tcPr anchor="ctr"/>
                </a:tc>
                <a:tc>
                  <a:txBody>
                    <a:bodyPr/>
                    <a:lstStyle/>
                    <a:p>
                      <a:pPr>
                        <a:buNone/>
                      </a:pPr>
                      <a:r>
                        <a:rPr lang="en-US"/>
                        <a:t>Ram</a:t>
                      </a:r>
                    </a:p>
                  </a:txBody>
                  <a:tcPr anchor="ctr"/>
                </a:tc>
                <a:tc>
                  <a:txBody>
                    <a:bodyPr/>
                    <a:lstStyle/>
                    <a:p>
                      <a:pPr>
                        <a:buNone/>
                      </a:pPr>
                      <a:r>
                        <a:rPr lang="en-US"/>
                        <a:t>D1</a:t>
                      </a:r>
                    </a:p>
                  </a:txBody>
                  <a:tcPr anchor="ctr"/>
                </a:tc>
                <a:tc>
                  <a:txBody>
                    <a:bodyPr/>
                    <a:lstStyle/>
                    <a:p>
                      <a:pPr>
                        <a:buNone/>
                      </a:pPr>
                      <a:r>
                        <a:rPr lang="en-US"/>
                        <a:t>Computer</a:t>
                      </a:r>
                    </a:p>
                  </a:txBody>
                  <a:tcPr anchor="ctr"/>
                </a:tc>
                <a:tc>
                  <a:txBody>
                    <a:bodyPr/>
                    <a:lstStyle/>
                    <a:p>
                      <a:pPr>
                        <a:buNone/>
                      </a:pPr>
                      <a:r>
                        <a:rPr lang="en-US"/>
                        <a:t>OS</a:t>
                      </a:r>
                    </a:p>
                  </a:txBody>
                  <a:tcPr anchor="ctr"/>
                </a:tc>
                <a:tc>
                  <a:txBody>
                    <a:bodyPr/>
                    <a:lstStyle/>
                    <a:p>
                      <a:pPr>
                        <a:buNone/>
                      </a:pPr>
                      <a:r>
                        <a:rPr lang="en-US"/>
                        <a:t>Verma</a:t>
                      </a:r>
                    </a:p>
                  </a:txBody>
                  <a:tcPr anchor="ctr"/>
                </a:tc>
                <a:tc>
                  <a:txBody>
                    <a:bodyPr/>
                    <a:lstStyle/>
                    <a:p>
                      <a:pPr>
                        <a:buNone/>
                      </a:pPr>
                      <a:r>
                        <a:rPr lang="en-US"/>
                        <a:t>Nepali</a:t>
                      </a:r>
                    </a:p>
                  </a:txBody>
                  <a:tcPr anchor="ctr"/>
                </a:tc>
                <a:extLst>
                  <a:ext uri="{0D108BD9-81ED-4DB2-BD59-A6C34878D82A}">
                    <a16:rowId xmlns:a16="http://schemas.microsoft.com/office/drawing/2014/main" val="916441623"/>
                  </a:ext>
                </a:extLst>
              </a:tr>
              <a:tr h="404593">
                <a:tc>
                  <a:txBody>
                    <a:bodyPr/>
                    <a:lstStyle/>
                    <a:p>
                      <a:pPr>
                        <a:buNone/>
                      </a:pPr>
                      <a:r>
                        <a:rPr lang="en-US"/>
                        <a:t>S102</a:t>
                      </a:r>
                    </a:p>
                  </a:txBody>
                  <a:tcPr anchor="ctr"/>
                </a:tc>
                <a:tc>
                  <a:txBody>
                    <a:bodyPr/>
                    <a:lstStyle/>
                    <a:p>
                      <a:pPr>
                        <a:buNone/>
                      </a:pPr>
                      <a:r>
                        <a:rPr lang="en-US"/>
                        <a:t>Hari</a:t>
                      </a:r>
                    </a:p>
                  </a:txBody>
                  <a:tcPr anchor="ctr"/>
                </a:tc>
                <a:tc>
                  <a:txBody>
                    <a:bodyPr/>
                    <a:lstStyle/>
                    <a:p>
                      <a:pPr>
                        <a:buNone/>
                      </a:pPr>
                      <a:r>
                        <a:rPr lang="en-US"/>
                        <a:t>D2</a:t>
                      </a:r>
                    </a:p>
                  </a:txBody>
                  <a:tcPr anchor="ctr"/>
                </a:tc>
                <a:tc>
                  <a:txBody>
                    <a:bodyPr/>
                    <a:lstStyle/>
                    <a:p>
                      <a:pPr>
                        <a:buNone/>
                      </a:pPr>
                      <a:r>
                        <a:rPr lang="en-US"/>
                        <a:t>Civil</a:t>
                      </a:r>
                    </a:p>
                  </a:txBody>
                  <a:tcPr anchor="ctr"/>
                </a:tc>
                <a:tc>
                  <a:txBody>
                    <a:bodyPr/>
                    <a:lstStyle/>
                    <a:p>
                      <a:pPr>
                        <a:buNone/>
                      </a:pPr>
                      <a:r>
                        <a:rPr lang="en-US"/>
                        <a:t>DBMS</a:t>
                      </a:r>
                    </a:p>
                  </a:txBody>
                  <a:tcPr anchor="ctr"/>
                </a:tc>
                <a:tc>
                  <a:txBody>
                    <a:bodyPr/>
                    <a:lstStyle/>
                    <a:p>
                      <a:pPr>
                        <a:buNone/>
                      </a:pPr>
                      <a:r>
                        <a:rPr lang="en-US"/>
                        <a:t>Sharma</a:t>
                      </a:r>
                    </a:p>
                  </a:txBody>
                  <a:tcPr anchor="ctr"/>
                </a:tc>
                <a:tc>
                  <a:txBody>
                    <a:bodyPr/>
                    <a:lstStyle/>
                    <a:p>
                      <a:pPr>
                        <a:buNone/>
                      </a:pPr>
                      <a:r>
                        <a:rPr lang="en-US"/>
                        <a:t>English</a:t>
                      </a:r>
                    </a:p>
                  </a:txBody>
                  <a:tcPr anchor="ctr"/>
                </a:tc>
                <a:extLst>
                  <a:ext uri="{0D108BD9-81ED-4DB2-BD59-A6C34878D82A}">
                    <a16:rowId xmlns:a16="http://schemas.microsoft.com/office/drawing/2014/main" val="3746001846"/>
                  </a:ext>
                </a:extLst>
              </a:tr>
              <a:tr h="404593">
                <a:tc>
                  <a:txBody>
                    <a:bodyPr/>
                    <a:lstStyle/>
                    <a:p>
                      <a:pPr>
                        <a:buNone/>
                      </a:pPr>
                      <a:r>
                        <a:rPr lang="en-US"/>
                        <a:t>S102</a:t>
                      </a:r>
                    </a:p>
                  </a:txBody>
                  <a:tcPr anchor="ctr"/>
                </a:tc>
                <a:tc>
                  <a:txBody>
                    <a:bodyPr/>
                    <a:lstStyle/>
                    <a:p>
                      <a:pPr>
                        <a:buNone/>
                      </a:pPr>
                      <a:r>
                        <a:rPr lang="en-US"/>
                        <a:t>Hari</a:t>
                      </a:r>
                    </a:p>
                  </a:txBody>
                  <a:tcPr anchor="ctr"/>
                </a:tc>
                <a:tc>
                  <a:txBody>
                    <a:bodyPr/>
                    <a:lstStyle/>
                    <a:p>
                      <a:pPr>
                        <a:buNone/>
                      </a:pPr>
                      <a:r>
                        <a:rPr lang="en-US"/>
                        <a:t>D2</a:t>
                      </a:r>
                    </a:p>
                  </a:txBody>
                  <a:tcPr anchor="ctr"/>
                </a:tc>
                <a:tc>
                  <a:txBody>
                    <a:bodyPr/>
                    <a:lstStyle/>
                    <a:p>
                      <a:pPr>
                        <a:buNone/>
                      </a:pPr>
                      <a:r>
                        <a:rPr lang="en-US"/>
                        <a:t>Civil</a:t>
                      </a:r>
                    </a:p>
                  </a:txBody>
                  <a:tcPr anchor="ctr"/>
                </a:tc>
                <a:tc>
                  <a:txBody>
                    <a:bodyPr/>
                    <a:lstStyle/>
                    <a:p>
                      <a:pPr>
                        <a:buNone/>
                      </a:pPr>
                      <a:r>
                        <a:rPr lang="en-US"/>
                        <a:t>CN</a:t>
                      </a:r>
                    </a:p>
                  </a:txBody>
                  <a:tcPr anchor="ctr"/>
                </a:tc>
                <a:tc>
                  <a:txBody>
                    <a:bodyPr/>
                    <a:lstStyle/>
                    <a:p>
                      <a:pPr>
                        <a:buNone/>
                      </a:pPr>
                      <a:r>
                        <a:rPr lang="en-US"/>
                        <a:t>Pant</a:t>
                      </a:r>
                    </a:p>
                  </a:txBody>
                  <a:tcPr anchor="ctr"/>
                </a:tc>
                <a:tc>
                  <a:txBody>
                    <a:bodyPr/>
                    <a:lstStyle/>
                    <a:p>
                      <a:pPr>
                        <a:buNone/>
                      </a:pPr>
                      <a:r>
                        <a:rPr lang="en-US" dirty="0"/>
                        <a:t>English</a:t>
                      </a:r>
                    </a:p>
                  </a:txBody>
                  <a:tcPr anchor="ctr"/>
                </a:tc>
                <a:extLst>
                  <a:ext uri="{0D108BD9-81ED-4DB2-BD59-A6C34878D82A}">
                    <a16:rowId xmlns:a16="http://schemas.microsoft.com/office/drawing/2014/main" val="3668955701"/>
                  </a:ext>
                </a:extLst>
              </a:tr>
            </a:tbl>
          </a:graphicData>
        </a:graphic>
      </p:graphicFrame>
      <p:sp>
        <p:nvSpPr>
          <p:cNvPr id="6" name="TextBox 5">
            <a:extLst>
              <a:ext uri="{FF2B5EF4-FFF2-40B4-BE49-F238E27FC236}">
                <a16:creationId xmlns:a16="http://schemas.microsoft.com/office/drawing/2014/main" id="{9ABC5F7B-24B0-0F56-F136-0534A5E5CA9E}"/>
              </a:ext>
            </a:extLst>
          </p:cNvPr>
          <p:cNvSpPr txBox="1"/>
          <p:nvPr/>
        </p:nvSpPr>
        <p:spPr>
          <a:xfrm>
            <a:off x="8138160" y="1415818"/>
            <a:ext cx="6115050" cy="923330"/>
          </a:xfrm>
          <a:prstGeom prst="rect">
            <a:avLst/>
          </a:prstGeom>
          <a:noFill/>
        </p:spPr>
        <p:txBody>
          <a:bodyPr wrap="square">
            <a:spAutoFit/>
          </a:bodyPr>
          <a:lstStyle/>
          <a:p>
            <a:pPr>
              <a:buNone/>
            </a:pPr>
            <a:r>
              <a:rPr lang="en-US" dirty="0"/>
              <a:t>Now:</a:t>
            </a:r>
          </a:p>
          <a:p>
            <a:pPr>
              <a:buNone/>
            </a:pPr>
            <a:r>
              <a:rPr lang="en-US" dirty="0"/>
              <a:t>✓ No multiple values in one cell</a:t>
            </a:r>
          </a:p>
          <a:p>
            <a:pPr>
              <a:buNone/>
            </a:pPr>
            <a:r>
              <a:rPr lang="en-US" dirty="0"/>
              <a:t>✓ Atomic attributes</a:t>
            </a:r>
          </a:p>
        </p:txBody>
      </p:sp>
    </p:spTree>
    <p:extLst>
      <p:ext uri="{BB962C8B-B14F-4D97-AF65-F5344CB8AC3E}">
        <p14:creationId xmlns:p14="http://schemas.microsoft.com/office/powerpoint/2010/main" val="6222011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70AD1-2B9B-6745-66E4-5E3223F7D4E3}"/>
              </a:ext>
            </a:extLst>
          </p:cNvPr>
          <p:cNvSpPr>
            <a:spLocks noGrp="1"/>
          </p:cNvSpPr>
          <p:nvPr>
            <p:ph type="title"/>
          </p:nvPr>
        </p:nvSpPr>
        <p:spPr/>
        <p:txBody>
          <a:bodyPr/>
          <a:lstStyle/>
          <a:p>
            <a:r>
              <a:rPr lang="en-US" dirty="0"/>
              <a:t>Second Normal Form (2NF)</a:t>
            </a:r>
          </a:p>
        </p:txBody>
      </p:sp>
      <p:sp>
        <p:nvSpPr>
          <p:cNvPr id="3" name="Content Placeholder 2">
            <a:extLst>
              <a:ext uri="{FF2B5EF4-FFF2-40B4-BE49-F238E27FC236}">
                <a16:creationId xmlns:a16="http://schemas.microsoft.com/office/drawing/2014/main" id="{2C6674ED-E955-8B1D-CF45-BD93F3748C25}"/>
              </a:ext>
            </a:extLst>
          </p:cNvPr>
          <p:cNvSpPr>
            <a:spLocks noGrp="1"/>
          </p:cNvSpPr>
          <p:nvPr>
            <p:ph idx="1"/>
          </p:nvPr>
        </p:nvSpPr>
        <p:spPr>
          <a:xfrm>
            <a:off x="342898" y="1886369"/>
            <a:ext cx="4137661" cy="4685027"/>
          </a:xfrm>
        </p:spPr>
        <p:txBody>
          <a:bodyPr>
            <a:normAutofit fontScale="92500" lnSpcReduction="10000"/>
          </a:bodyPr>
          <a:lstStyle/>
          <a:p>
            <a:r>
              <a:rPr lang="en-US" b="1" dirty="0"/>
              <a:t>Rule : </a:t>
            </a:r>
          </a:p>
          <a:p>
            <a:pPr lvl="1"/>
            <a:r>
              <a:rPr lang="en-US" dirty="0"/>
              <a:t>Must be in 1NF </a:t>
            </a:r>
          </a:p>
          <a:p>
            <a:pPr lvl="1"/>
            <a:r>
              <a:rPr lang="en-US" dirty="0"/>
              <a:t>Remove Partial Dependencies</a:t>
            </a:r>
          </a:p>
          <a:p>
            <a:r>
              <a:rPr lang="en-US" dirty="0"/>
              <a:t>Identify Partial Dependencies : </a:t>
            </a:r>
          </a:p>
          <a:p>
            <a:r>
              <a:rPr lang="en-US" dirty="0"/>
              <a:t>Current key  =  (</a:t>
            </a:r>
            <a:r>
              <a:rPr lang="en-US" dirty="0" err="1"/>
              <a:t>Student_ID</a:t>
            </a:r>
            <a:r>
              <a:rPr lang="en-US" dirty="0"/>
              <a:t>, Subject, Language)</a:t>
            </a:r>
          </a:p>
          <a:p>
            <a:r>
              <a:rPr lang="en-US" dirty="0"/>
              <a:t>Dependencies: </a:t>
            </a:r>
          </a:p>
          <a:p>
            <a:pPr lvl="1"/>
            <a:r>
              <a:rPr lang="en-US" dirty="0" err="1"/>
              <a:t>Student_ID</a:t>
            </a:r>
            <a:r>
              <a:rPr lang="en-US" dirty="0"/>
              <a:t> → </a:t>
            </a:r>
            <a:r>
              <a:rPr lang="en-US" dirty="0" err="1"/>
              <a:t>Student_Name</a:t>
            </a:r>
            <a:r>
              <a:rPr lang="en-US" dirty="0"/>
              <a:t>, </a:t>
            </a:r>
            <a:r>
              <a:rPr lang="en-US" dirty="0" err="1"/>
              <a:t>Dept_ID</a:t>
            </a:r>
            <a:endParaRPr lang="en-US" dirty="0"/>
          </a:p>
          <a:p>
            <a:pPr lvl="1"/>
            <a:r>
              <a:rPr lang="en-US" dirty="0" err="1"/>
              <a:t>Dept_ID</a:t>
            </a:r>
            <a:r>
              <a:rPr lang="en-US" dirty="0"/>
              <a:t> → </a:t>
            </a:r>
            <a:r>
              <a:rPr lang="en-US" dirty="0" err="1"/>
              <a:t>Dept_Name</a:t>
            </a:r>
            <a:endParaRPr lang="en-US" dirty="0"/>
          </a:p>
          <a:p>
            <a:pPr lvl="1"/>
            <a:r>
              <a:rPr lang="en-US" dirty="0"/>
              <a:t>Subject → Teacher</a:t>
            </a:r>
          </a:p>
          <a:p>
            <a:r>
              <a:rPr lang="en-US" dirty="0"/>
              <a:t> </a:t>
            </a:r>
            <a:r>
              <a:rPr lang="en-US" dirty="0" err="1"/>
              <a:t>Student_Name</a:t>
            </a:r>
            <a:r>
              <a:rPr lang="en-US" dirty="0"/>
              <a:t> depends only on </a:t>
            </a:r>
            <a:r>
              <a:rPr lang="en-US" dirty="0" err="1"/>
              <a:t>Student_ID</a:t>
            </a:r>
            <a:r>
              <a:rPr lang="en-US" dirty="0"/>
              <a:t>.</a:t>
            </a:r>
          </a:p>
          <a:p>
            <a:r>
              <a:rPr lang="en-US" dirty="0"/>
              <a:t>Teacher depends only on Subject. These are partial dependencies.</a:t>
            </a:r>
          </a:p>
          <a:p>
            <a:endParaRPr lang="en-US" dirty="0"/>
          </a:p>
        </p:txBody>
      </p:sp>
      <p:graphicFrame>
        <p:nvGraphicFramePr>
          <p:cNvPr id="4" name="Table 3">
            <a:extLst>
              <a:ext uri="{FF2B5EF4-FFF2-40B4-BE49-F238E27FC236}">
                <a16:creationId xmlns:a16="http://schemas.microsoft.com/office/drawing/2014/main" id="{124F41D5-92A2-6A59-23D8-6A56AAA9CAC9}"/>
              </a:ext>
            </a:extLst>
          </p:cNvPr>
          <p:cNvGraphicFramePr>
            <a:graphicFrameLocks noGrp="1"/>
          </p:cNvGraphicFramePr>
          <p:nvPr>
            <p:extLst>
              <p:ext uri="{D42A27DB-BD31-4B8C-83A1-F6EECF244321}">
                <p14:modId xmlns:p14="http://schemas.microsoft.com/office/powerpoint/2010/main" val="2253576666"/>
              </p:ext>
            </p:extLst>
          </p:nvPr>
        </p:nvGraphicFramePr>
        <p:xfrm>
          <a:off x="4206239" y="1857585"/>
          <a:ext cx="7985761" cy="3125896"/>
        </p:xfrm>
        <a:graphic>
          <a:graphicData uri="http://schemas.openxmlformats.org/drawingml/2006/table">
            <a:tbl>
              <a:tblPr firstRow="1" bandRow="1">
                <a:tableStyleId>{5C22544A-7EE6-4342-B048-85BDC9FD1C3A}</a:tableStyleId>
              </a:tblPr>
              <a:tblGrid>
                <a:gridCol w="868680">
                  <a:extLst>
                    <a:ext uri="{9D8B030D-6E8A-4147-A177-3AD203B41FA5}">
                      <a16:colId xmlns:a16="http://schemas.microsoft.com/office/drawing/2014/main" val="412094001"/>
                    </a:ext>
                  </a:extLst>
                </a:gridCol>
                <a:gridCol w="1234440">
                  <a:extLst>
                    <a:ext uri="{9D8B030D-6E8A-4147-A177-3AD203B41FA5}">
                      <a16:colId xmlns:a16="http://schemas.microsoft.com/office/drawing/2014/main" val="1956113474"/>
                    </a:ext>
                  </a:extLst>
                </a:gridCol>
                <a:gridCol w="1051560">
                  <a:extLst>
                    <a:ext uri="{9D8B030D-6E8A-4147-A177-3AD203B41FA5}">
                      <a16:colId xmlns:a16="http://schemas.microsoft.com/office/drawing/2014/main" val="2124318725"/>
                    </a:ext>
                  </a:extLst>
                </a:gridCol>
                <a:gridCol w="1408612">
                  <a:extLst>
                    <a:ext uri="{9D8B030D-6E8A-4147-A177-3AD203B41FA5}">
                      <a16:colId xmlns:a16="http://schemas.microsoft.com/office/drawing/2014/main" val="4144746392"/>
                    </a:ext>
                  </a:extLst>
                </a:gridCol>
                <a:gridCol w="1140823">
                  <a:extLst>
                    <a:ext uri="{9D8B030D-6E8A-4147-A177-3AD203B41FA5}">
                      <a16:colId xmlns:a16="http://schemas.microsoft.com/office/drawing/2014/main" val="2821728353"/>
                    </a:ext>
                  </a:extLst>
                </a:gridCol>
                <a:gridCol w="1140823">
                  <a:extLst>
                    <a:ext uri="{9D8B030D-6E8A-4147-A177-3AD203B41FA5}">
                      <a16:colId xmlns:a16="http://schemas.microsoft.com/office/drawing/2014/main" val="2843878008"/>
                    </a:ext>
                  </a:extLst>
                </a:gridCol>
                <a:gridCol w="1140823">
                  <a:extLst>
                    <a:ext uri="{9D8B030D-6E8A-4147-A177-3AD203B41FA5}">
                      <a16:colId xmlns:a16="http://schemas.microsoft.com/office/drawing/2014/main" val="39780498"/>
                    </a:ext>
                  </a:extLst>
                </a:gridCol>
              </a:tblGrid>
              <a:tr h="698338">
                <a:tc>
                  <a:txBody>
                    <a:bodyPr/>
                    <a:lstStyle/>
                    <a:p>
                      <a:pPr>
                        <a:buNone/>
                      </a:pPr>
                      <a:r>
                        <a:rPr lang="en-US" dirty="0" err="1"/>
                        <a:t>Stu_ID</a:t>
                      </a:r>
                      <a:endParaRPr lang="en-US" dirty="0"/>
                    </a:p>
                  </a:txBody>
                  <a:tcPr anchor="ctr"/>
                </a:tc>
                <a:tc>
                  <a:txBody>
                    <a:bodyPr/>
                    <a:lstStyle/>
                    <a:p>
                      <a:pPr>
                        <a:buNone/>
                      </a:pPr>
                      <a:r>
                        <a:rPr lang="en-US" dirty="0" err="1"/>
                        <a:t>Stu_Name</a:t>
                      </a:r>
                      <a:endParaRPr lang="en-US" dirty="0"/>
                    </a:p>
                  </a:txBody>
                  <a:tcPr anchor="ctr"/>
                </a:tc>
                <a:tc>
                  <a:txBody>
                    <a:bodyPr/>
                    <a:lstStyle/>
                    <a:p>
                      <a:pPr>
                        <a:buNone/>
                      </a:pPr>
                      <a:r>
                        <a:rPr lang="en-US"/>
                        <a:t>Dept_ID</a:t>
                      </a:r>
                    </a:p>
                  </a:txBody>
                  <a:tcPr anchor="ctr"/>
                </a:tc>
                <a:tc>
                  <a:txBody>
                    <a:bodyPr/>
                    <a:lstStyle/>
                    <a:p>
                      <a:pPr>
                        <a:buNone/>
                      </a:pPr>
                      <a:r>
                        <a:rPr lang="en-US"/>
                        <a:t>Dept_Name</a:t>
                      </a:r>
                    </a:p>
                  </a:txBody>
                  <a:tcPr anchor="ctr"/>
                </a:tc>
                <a:tc>
                  <a:txBody>
                    <a:bodyPr/>
                    <a:lstStyle/>
                    <a:p>
                      <a:pPr>
                        <a:buNone/>
                      </a:pPr>
                      <a:r>
                        <a:rPr lang="en-US" dirty="0"/>
                        <a:t>Subject</a:t>
                      </a:r>
                    </a:p>
                  </a:txBody>
                  <a:tcPr anchor="ctr"/>
                </a:tc>
                <a:tc>
                  <a:txBody>
                    <a:bodyPr/>
                    <a:lstStyle/>
                    <a:p>
                      <a:pPr>
                        <a:buNone/>
                      </a:pPr>
                      <a:r>
                        <a:rPr lang="en-US"/>
                        <a:t>Teacher</a:t>
                      </a:r>
                    </a:p>
                  </a:txBody>
                  <a:tcPr anchor="ctr"/>
                </a:tc>
                <a:tc>
                  <a:txBody>
                    <a:bodyPr/>
                    <a:lstStyle/>
                    <a:p>
                      <a:pPr>
                        <a:buNone/>
                      </a:pPr>
                      <a:r>
                        <a:rPr lang="en-US"/>
                        <a:t>Language</a:t>
                      </a:r>
                    </a:p>
                  </a:txBody>
                  <a:tcPr anchor="ctr"/>
                </a:tc>
                <a:extLst>
                  <a:ext uri="{0D108BD9-81ED-4DB2-BD59-A6C34878D82A}">
                    <a16:rowId xmlns:a16="http://schemas.microsoft.com/office/drawing/2014/main" val="1755267605"/>
                  </a:ext>
                </a:extLst>
              </a:tr>
              <a:tr h="404593">
                <a:tc>
                  <a:txBody>
                    <a:bodyPr/>
                    <a:lstStyle/>
                    <a:p>
                      <a:pPr>
                        <a:buNone/>
                      </a:pPr>
                      <a:r>
                        <a:rPr lang="en-US" dirty="0"/>
                        <a:t>S101</a:t>
                      </a:r>
                    </a:p>
                  </a:txBody>
                  <a:tcPr anchor="ctr"/>
                </a:tc>
                <a:tc>
                  <a:txBody>
                    <a:bodyPr/>
                    <a:lstStyle/>
                    <a:p>
                      <a:pPr>
                        <a:buNone/>
                      </a:pPr>
                      <a:r>
                        <a:rPr lang="en-US"/>
                        <a:t>Ram</a:t>
                      </a:r>
                    </a:p>
                  </a:txBody>
                  <a:tcPr anchor="ctr"/>
                </a:tc>
                <a:tc>
                  <a:txBody>
                    <a:bodyPr/>
                    <a:lstStyle/>
                    <a:p>
                      <a:pPr>
                        <a:buNone/>
                      </a:pPr>
                      <a:r>
                        <a:rPr lang="en-US"/>
                        <a:t>D1</a:t>
                      </a:r>
                    </a:p>
                  </a:txBody>
                  <a:tcPr anchor="ctr"/>
                </a:tc>
                <a:tc>
                  <a:txBody>
                    <a:bodyPr/>
                    <a:lstStyle/>
                    <a:p>
                      <a:pPr>
                        <a:buNone/>
                      </a:pPr>
                      <a:r>
                        <a:rPr lang="en-US"/>
                        <a:t>Computer</a:t>
                      </a:r>
                    </a:p>
                  </a:txBody>
                  <a:tcPr anchor="ctr"/>
                </a:tc>
                <a:tc>
                  <a:txBody>
                    <a:bodyPr/>
                    <a:lstStyle/>
                    <a:p>
                      <a:pPr>
                        <a:buNone/>
                      </a:pPr>
                      <a:r>
                        <a:rPr lang="en-US"/>
                        <a:t>DBMS</a:t>
                      </a:r>
                    </a:p>
                  </a:txBody>
                  <a:tcPr anchor="ctr"/>
                </a:tc>
                <a:tc>
                  <a:txBody>
                    <a:bodyPr/>
                    <a:lstStyle/>
                    <a:p>
                      <a:pPr>
                        <a:buNone/>
                      </a:pPr>
                      <a:r>
                        <a:rPr lang="en-US"/>
                        <a:t>Sharma</a:t>
                      </a:r>
                    </a:p>
                  </a:txBody>
                  <a:tcPr anchor="ctr"/>
                </a:tc>
                <a:tc>
                  <a:txBody>
                    <a:bodyPr/>
                    <a:lstStyle/>
                    <a:p>
                      <a:pPr>
                        <a:buNone/>
                      </a:pPr>
                      <a:r>
                        <a:rPr lang="en-US" dirty="0"/>
                        <a:t>English</a:t>
                      </a:r>
                    </a:p>
                  </a:txBody>
                  <a:tcPr anchor="ctr"/>
                </a:tc>
                <a:extLst>
                  <a:ext uri="{0D108BD9-81ED-4DB2-BD59-A6C34878D82A}">
                    <a16:rowId xmlns:a16="http://schemas.microsoft.com/office/drawing/2014/main" val="1480247642"/>
                  </a:ext>
                </a:extLst>
              </a:tr>
              <a:tr h="404593">
                <a:tc>
                  <a:txBody>
                    <a:bodyPr/>
                    <a:lstStyle/>
                    <a:p>
                      <a:pPr>
                        <a:buNone/>
                      </a:pPr>
                      <a:r>
                        <a:rPr lang="en-US"/>
                        <a:t>S101</a:t>
                      </a:r>
                    </a:p>
                  </a:txBody>
                  <a:tcPr anchor="ctr"/>
                </a:tc>
                <a:tc>
                  <a:txBody>
                    <a:bodyPr/>
                    <a:lstStyle/>
                    <a:p>
                      <a:pPr>
                        <a:buNone/>
                      </a:pPr>
                      <a:r>
                        <a:rPr lang="en-US"/>
                        <a:t>Ram</a:t>
                      </a:r>
                    </a:p>
                  </a:txBody>
                  <a:tcPr anchor="ctr"/>
                </a:tc>
                <a:tc>
                  <a:txBody>
                    <a:bodyPr/>
                    <a:lstStyle/>
                    <a:p>
                      <a:pPr>
                        <a:buNone/>
                      </a:pPr>
                      <a:r>
                        <a:rPr lang="en-US"/>
                        <a:t>D1</a:t>
                      </a:r>
                    </a:p>
                  </a:txBody>
                  <a:tcPr anchor="ctr"/>
                </a:tc>
                <a:tc>
                  <a:txBody>
                    <a:bodyPr/>
                    <a:lstStyle/>
                    <a:p>
                      <a:pPr>
                        <a:buNone/>
                      </a:pPr>
                      <a:r>
                        <a:rPr lang="en-US" dirty="0"/>
                        <a:t>Computer</a:t>
                      </a:r>
                    </a:p>
                  </a:txBody>
                  <a:tcPr anchor="ctr"/>
                </a:tc>
                <a:tc>
                  <a:txBody>
                    <a:bodyPr/>
                    <a:lstStyle/>
                    <a:p>
                      <a:pPr>
                        <a:buNone/>
                      </a:pPr>
                      <a:r>
                        <a:rPr lang="en-US"/>
                        <a:t>DBMS</a:t>
                      </a:r>
                    </a:p>
                  </a:txBody>
                  <a:tcPr anchor="ctr"/>
                </a:tc>
                <a:tc>
                  <a:txBody>
                    <a:bodyPr/>
                    <a:lstStyle/>
                    <a:p>
                      <a:pPr>
                        <a:buNone/>
                      </a:pPr>
                      <a:r>
                        <a:rPr lang="en-US"/>
                        <a:t>Sharma</a:t>
                      </a:r>
                    </a:p>
                  </a:txBody>
                  <a:tcPr anchor="ctr"/>
                </a:tc>
                <a:tc>
                  <a:txBody>
                    <a:bodyPr/>
                    <a:lstStyle/>
                    <a:p>
                      <a:pPr>
                        <a:buNone/>
                      </a:pPr>
                      <a:r>
                        <a:rPr lang="en-US"/>
                        <a:t>Nepali</a:t>
                      </a:r>
                    </a:p>
                  </a:txBody>
                  <a:tcPr anchor="ctr"/>
                </a:tc>
                <a:extLst>
                  <a:ext uri="{0D108BD9-81ED-4DB2-BD59-A6C34878D82A}">
                    <a16:rowId xmlns:a16="http://schemas.microsoft.com/office/drawing/2014/main" val="1639502179"/>
                  </a:ext>
                </a:extLst>
              </a:tr>
              <a:tr h="404593">
                <a:tc>
                  <a:txBody>
                    <a:bodyPr/>
                    <a:lstStyle/>
                    <a:p>
                      <a:pPr>
                        <a:buNone/>
                      </a:pPr>
                      <a:r>
                        <a:rPr lang="en-US"/>
                        <a:t>S101</a:t>
                      </a:r>
                    </a:p>
                  </a:txBody>
                  <a:tcPr anchor="ctr"/>
                </a:tc>
                <a:tc>
                  <a:txBody>
                    <a:bodyPr/>
                    <a:lstStyle/>
                    <a:p>
                      <a:pPr>
                        <a:buNone/>
                      </a:pPr>
                      <a:r>
                        <a:rPr lang="en-US"/>
                        <a:t>Ram</a:t>
                      </a:r>
                    </a:p>
                  </a:txBody>
                  <a:tcPr anchor="ctr"/>
                </a:tc>
                <a:tc>
                  <a:txBody>
                    <a:bodyPr/>
                    <a:lstStyle/>
                    <a:p>
                      <a:pPr>
                        <a:buNone/>
                      </a:pPr>
                      <a:r>
                        <a:rPr lang="en-US"/>
                        <a:t>D1</a:t>
                      </a:r>
                    </a:p>
                  </a:txBody>
                  <a:tcPr anchor="ctr"/>
                </a:tc>
                <a:tc>
                  <a:txBody>
                    <a:bodyPr/>
                    <a:lstStyle/>
                    <a:p>
                      <a:pPr>
                        <a:buNone/>
                      </a:pPr>
                      <a:r>
                        <a:rPr lang="en-US" dirty="0"/>
                        <a:t>Computer</a:t>
                      </a:r>
                    </a:p>
                  </a:txBody>
                  <a:tcPr anchor="ctr"/>
                </a:tc>
                <a:tc>
                  <a:txBody>
                    <a:bodyPr/>
                    <a:lstStyle/>
                    <a:p>
                      <a:pPr>
                        <a:buNone/>
                      </a:pPr>
                      <a:r>
                        <a:rPr lang="en-US"/>
                        <a:t>OS</a:t>
                      </a:r>
                    </a:p>
                  </a:txBody>
                  <a:tcPr anchor="ctr"/>
                </a:tc>
                <a:tc>
                  <a:txBody>
                    <a:bodyPr/>
                    <a:lstStyle/>
                    <a:p>
                      <a:pPr>
                        <a:buNone/>
                      </a:pPr>
                      <a:r>
                        <a:rPr lang="en-US"/>
                        <a:t>Verma</a:t>
                      </a:r>
                    </a:p>
                  </a:txBody>
                  <a:tcPr anchor="ctr"/>
                </a:tc>
                <a:tc>
                  <a:txBody>
                    <a:bodyPr/>
                    <a:lstStyle/>
                    <a:p>
                      <a:pPr>
                        <a:buNone/>
                      </a:pPr>
                      <a:r>
                        <a:rPr lang="en-US" dirty="0"/>
                        <a:t>English</a:t>
                      </a:r>
                    </a:p>
                  </a:txBody>
                  <a:tcPr anchor="ctr"/>
                </a:tc>
                <a:extLst>
                  <a:ext uri="{0D108BD9-81ED-4DB2-BD59-A6C34878D82A}">
                    <a16:rowId xmlns:a16="http://schemas.microsoft.com/office/drawing/2014/main" val="4132913392"/>
                  </a:ext>
                </a:extLst>
              </a:tr>
              <a:tr h="404593">
                <a:tc>
                  <a:txBody>
                    <a:bodyPr/>
                    <a:lstStyle/>
                    <a:p>
                      <a:pPr>
                        <a:buNone/>
                      </a:pPr>
                      <a:r>
                        <a:rPr lang="en-US"/>
                        <a:t>S101</a:t>
                      </a:r>
                    </a:p>
                  </a:txBody>
                  <a:tcPr anchor="ctr"/>
                </a:tc>
                <a:tc>
                  <a:txBody>
                    <a:bodyPr/>
                    <a:lstStyle/>
                    <a:p>
                      <a:pPr>
                        <a:buNone/>
                      </a:pPr>
                      <a:r>
                        <a:rPr lang="en-US"/>
                        <a:t>Ram</a:t>
                      </a:r>
                    </a:p>
                  </a:txBody>
                  <a:tcPr anchor="ctr"/>
                </a:tc>
                <a:tc>
                  <a:txBody>
                    <a:bodyPr/>
                    <a:lstStyle/>
                    <a:p>
                      <a:pPr>
                        <a:buNone/>
                      </a:pPr>
                      <a:r>
                        <a:rPr lang="en-US"/>
                        <a:t>D1</a:t>
                      </a:r>
                    </a:p>
                  </a:txBody>
                  <a:tcPr anchor="ctr"/>
                </a:tc>
                <a:tc>
                  <a:txBody>
                    <a:bodyPr/>
                    <a:lstStyle/>
                    <a:p>
                      <a:pPr>
                        <a:buNone/>
                      </a:pPr>
                      <a:r>
                        <a:rPr lang="en-US"/>
                        <a:t>Computer</a:t>
                      </a:r>
                    </a:p>
                  </a:txBody>
                  <a:tcPr anchor="ctr"/>
                </a:tc>
                <a:tc>
                  <a:txBody>
                    <a:bodyPr/>
                    <a:lstStyle/>
                    <a:p>
                      <a:pPr>
                        <a:buNone/>
                      </a:pPr>
                      <a:r>
                        <a:rPr lang="en-US"/>
                        <a:t>OS</a:t>
                      </a:r>
                    </a:p>
                  </a:txBody>
                  <a:tcPr anchor="ctr"/>
                </a:tc>
                <a:tc>
                  <a:txBody>
                    <a:bodyPr/>
                    <a:lstStyle/>
                    <a:p>
                      <a:pPr>
                        <a:buNone/>
                      </a:pPr>
                      <a:r>
                        <a:rPr lang="en-US"/>
                        <a:t>Verma</a:t>
                      </a:r>
                    </a:p>
                  </a:txBody>
                  <a:tcPr anchor="ctr"/>
                </a:tc>
                <a:tc>
                  <a:txBody>
                    <a:bodyPr/>
                    <a:lstStyle/>
                    <a:p>
                      <a:pPr>
                        <a:buNone/>
                      </a:pPr>
                      <a:r>
                        <a:rPr lang="en-US"/>
                        <a:t>Nepali</a:t>
                      </a:r>
                    </a:p>
                  </a:txBody>
                  <a:tcPr anchor="ctr"/>
                </a:tc>
                <a:extLst>
                  <a:ext uri="{0D108BD9-81ED-4DB2-BD59-A6C34878D82A}">
                    <a16:rowId xmlns:a16="http://schemas.microsoft.com/office/drawing/2014/main" val="916441623"/>
                  </a:ext>
                </a:extLst>
              </a:tr>
              <a:tr h="404593">
                <a:tc>
                  <a:txBody>
                    <a:bodyPr/>
                    <a:lstStyle/>
                    <a:p>
                      <a:pPr>
                        <a:buNone/>
                      </a:pPr>
                      <a:r>
                        <a:rPr lang="en-US"/>
                        <a:t>S102</a:t>
                      </a:r>
                    </a:p>
                  </a:txBody>
                  <a:tcPr anchor="ctr"/>
                </a:tc>
                <a:tc>
                  <a:txBody>
                    <a:bodyPr/>
                    <a:lstStyle/>
                    <a:p>
                      <a:pPr>
                        <a:buNone/>
                      </a:pPr>
                      <a:r>
                        <a:rPr lang="en-US"/>
                        <a:t>Hari</a:t>
                      </a:r>
                    </a:p>
                  </a:txBody>
                  <a:tcPr anchor="ctr"/>
                </a:tc>
                <a:tc>
                  <a:txBody>
                    <a:bodyPr/>
                    <a:lstStyle/>
                    <a:p>
                      <a:pPr>
                        <a:buNone/>
                      </a:pPr>
                      <a:r>
                        <a:rPr lang="en-US"/>
                        <a:t>D2</a:t>
                      </a:r>
                    </a:p>
                  </a:txBody>
                  <a:tcPr anchor="ctr"/>
                </a:tc>
                <a:tc>
                  <a:txBody>
                    <a:bodyPr/>
                    <a:lstStyle/>
                    <a:p>
                      <a:pPr>
                        <a:buNone/>
                      </a:pPr>
                      <a:r>
                        <a:rPr lang="en-US"/>
                        <a:t>Civil</a:t>
                      </a:r>
                    </a:p>
                  </a:txBody>
                  <a:tcPr anchor="ctr"/>
                </a:tc>
                <a:tc>
                  <a:txBody>
                    <a:bodyPr/>
                    <a:lstStyle/>
                    <a:p>
                      <a:pPr>
                        <a:buNone/>
                      </a:pPr>
                      <a:r>
                        <a:rPr lang="en-US"/>
                        <a:t>DBMS</a:t>
                      </a:r>
                    </a:p>
                  </a:txBody>
                  <a:tcPr anchor="ctr"/>
                </a:tc>
                <a:tc>
                  <a:txBody>
                    <a:bodyPr/>
                    <a:lstStyle/>
                    <a:p>
                      <a:pPr>
                        <a:buNone/>
                      </a:pPr>
                      <a:r>
                        <a:rPr lang="en-US"/>
                        <a:t>Sharma</a:t>
                      </a:r>
                    </a:p>
                  </a:txBody>
                  <a:tcPr anchor="ctr"/>
                </a:tc>
                <a:tc>
                  <a:txBody>
                    <a:bodyPr/>
                    <a:lstStyle/>
                    <a:p>
                      <a:pPr>
                        <a:buNone/>
                      </a:pPr>
                      <a:r>
                        <a:rPr lang="en-US"/>
                        <a:t>English</a:t>
                      </a:r>
                    </a:p>
                  </a:txBody>
                  <a:tcPr anchor="ctr"/>
                </a:tc>
                <a:extLst>
                  <a:ext uri="{0D108BD9-81ED-4DB2-BD59-A6C34878D82A}">
                    <a16:rowId xmlns:a16="http://schemas.microsoft.com/office/drawing/2014/main" val="3746001846"/>
                  </a:ext>
                </a:extLst>
              </a:tr>
              <a:tr h="404593">
                <a:tc>
                  <a:txBody>
                    <a:bodyPr/>
                    <a:lstStyle/>
                    <a:p>
                      <a:pPr>
                        <a:buNone/>
                      </a:pPr>
                      <a:r>
                        <a:rPr lang="en-US"/>
                        <a:t>S102</a:t>
                      </a:r>
                    </a:p>
                  </a:txBody>
                  <a:tcPr anchor="ctr"/>
                </a:tc>
                <a:tc>
                  <a:txBody>
                    <a:bodyPr/>
                    <a:lstStyle/>
                    <a:p>
                      <a:pPr>
                        <a:buNone/>
                      </a:pPr>
                      <a:r>
                        <a:rPr lang="en-US"/>
                        <a:t>Hari</a:t>
                      </a:r>
                    </a:p>
                  </a:txBody>
                  <a:tcPr anchor="ctr"/>
                </a:tc>
                <a:tc>
                  <a:txBody>
                    <a:bodyPr/>
                    <a:lstStyle/>
                    <a:p>
                      <a:pPr>
                        <a:buNone/>
                      </a:pPr>
                      <a:r>
                        <a:rPr lang="en-US"/>
                        <a:t>D2</a:t>
                      </a:r>
                    </a:p>
                  </a:txBody>
                  <a:tcPr anchor="ctr"/>
                </a:tc>
                <a:tc>
                  <a:txBody>
                    <a:bodyPr/>
                    <a:lstStyle/>
                    <a:p>
                      <a:pPr>
                        <a:buNone/>
                      </a:pPr>
                      <a:r>
                        <a:rPr lang="en-US"/>
                        <a:t>Civil</a:t>
                      </a:r>
                    </a:p>
                  </a:txBody>
                  <a:tcPr anchor="ctr"/>
                </a:tc>
                <a:tc>
                  <a:txBody>
                    <a:bodyPr/>
                    <a:lstStyle/>
                    <a:p>
                      <a:pPr>
                        <a:buNone/>
                      </a:pPr>
                      <a:r>
                        <a:rPr lang="en-US"/>
                        <a:t>CN</a:t>
                      </a:r>
                    </a:p>
                  </a:txBody>
                  <a:tcPr anchor="ctr"/>
                </a:tc>
                <a:tc>
                  <a:txBody>
                    <a:bodyPr/>
                    <a:lstStyle/>
                    <a:p>
                      <a:pPr>
                        <a:buNone/>
                      </a:pPr>
                      <a:r>
                        <a:rPr lang="en-US"/>
                        <a:t>Pant</a:t>
                      </a:r>
                    </a:p>
                  </a:txBody>
                  <a:tcPr anchor="ctr"/>
                </a:tc>
                <a:tc>
                  <a:txBody>
                    <a:bodyPr/>
                    <a:lstStyle/>
                    <a:p>
                      <a:pPr>
                        <a:buNone/>
                      </a:pPr>
                      <a:r>
                        <a:rPr lang="en-US" dirty="0"/>
                        <a:t>English</a:t>
                      </a:r>
                    </a:p>
                  </a:txBody>
                  <a:tcPr anchor="ctr"/>
                </a:tc>
                <a:extLst>
                  <a:ext uri="{0D108BD9-81ED-4DB2-BD59-A6C34878D82A}">
                    <a16:rowId xmlns:a16="http://schemas.microsoft.com/office/drawing/2014/main" val="3668955701"/>
                  </a:ext>
                </a:extLst>
              </a:tr>
            </a:tbl>
          </a:graphicData>
        </a:graphic>
      </p:graphicFrame>
    </p:spTree>
    <p:extLst>
      <p:ext uri="{BB962C8B-B14F-4D97-AF65-F5344CB8AC3E}">
        <p14:creationId xmlns:p14="http://schemas.microsoft.com/office/powerpoint/2010/main" val="8941135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CE8D46-5498-BE72-B5F4-19E10606BC81}"/>
              </a:ext>
            </a:extLst>
          </p:cNvPr>
          <p:cNvSpPr>
            <a:spLocks noGrp="1"/>
          </p:cNvSpPr>
          <p:nvPr>
            <p:ph type="title"/>
          </p:nvPr>
        </p:nvSpPr>
        <p:spPr/>
        <p:txBody>
          <a:bodyPr/>
          <a:lstStyle/>
          <a:p>
            <a:r>
              <a:rPr lang="en-US" dirty="0"/>
              <a:t>Decompose it into</a:t>
            </a:r>
          </a:p>
        </p:txBody>
      </p:sp>
      <p:sp>
        <p:nvSpPr>
          <p:cNvPr id="3" name="Content Placeholder 2">
            <a:extLst>
              <a:ext uri="{FF2B5EF4-FFF2-40B4-BE49-F238E27FC236}">
                <a16:creationId xmlns:a16="http://schemas.microsoft.com/office/drawing/2014/main" id="{33FAA4ED-563C-CD59-490D-BB5CC2D97DDD}"/>
              </a:ext>
            </a:extLst>
          </p:cNvPr>
          <p:cNvSpPr>
            <a:spLocks noGrp="1"/>
          </p:cNvSpPr>
          <p:nvPr>
            <p:ph idx="1"/>
          </p:nvPr>
        </p:nvSpPr>
        <p:spPr/>
        <p:txBody>
          <a:bodyPr/>
          <a:lstStyle/>
          <a:p>
            <a:r>
              <a:rPr lang="en-US" dirty="0"/>
              <a:t>Identify Partial Dependencies : </a:t>
            </a:r>
          </a:p>
          <a:p>
            <a:r>
              <a:rPr lang="en-US" dirty="0"/>
              <a:t>Current key  =  (</a:t>
            </a:r>
            <a:r>
              <a:rPr lang="en-US" dirty="0" err="1"/>
              <a:t>Student_ID</a:t>
            </a:r>
            <a:r>
              <a:rPr lang="en-US" dirty="0"/>
              <a:t>, Subject, Language)</a:t>
            </a:r>
          </a:p>
          <a:p>
            <a:r>
              <a:rPr lang="en-US" dirty="0"/>
              <a:t>Dependencies: </a:t>
            </a:r>
          </a:p>
          <a:p>
            <a:pPr lvl="1"/>
            <a:r>
              <a:rPr lang="en-US" dirty="0" err="1"/>
              <a:t>Student_ID</a:t>
            </a:r>
            <a:r>
              <a:rPr lang="en-US" dirty="0"/>
              <a:t> → </a:t>
            </a:r>
            <a:r>
              <a:rPr lang="en-US" dirty="0" err="1"/>
              <a:t>Student_Name</a:t>
            </a:r>
            <a:r>
              <a:rPr lang="en-US" dirty="0"/>
              <a:t>, </a:t>
            </a:r>
            <a:r>
              <a:rPr lang="en-US" dirty="0" err="1"/>
              <a:t>Dept_ID</a:t>
            </a:r>
            <a:r>
              <a:rPr lang="en-US" dirty="0"/>
              <a:t>, </a:t>
            </a:r>
            <a:r>
              <a:rPr lang="en-US" dirty="0" err="1"/>
              <a:t>Dept_name</a:t>
            </a:r>
            <a:endParaRPr lang="en-US" dirty="0"/>
          </a:p>
          <a:p>
            <a:pPr lvl="1"/>
            <a:r>
              <a:rPr lang="en-US" dirty="0" err="1"/>
              <a:t>Dept_ID</a:t>
            </a:r>
            <a:r>
              <a:rPr lang="en-US" dirty="0"/>
              <a:t> → </a:t>
            </a:r>
            <a:r>
              <a:rPr lang="en-US" dirty="0" err="1"/>
              <a:t>Dept_Name</a:t>
            </a:r>
            <a:endParaRPr lang="en-US" dirty="0"/>
          </a:p>
          <a:p>
            <a:pPr lvl="1"/>
            <a:r>
              <a:rPr lang="en-US" dirty="0"/>
              <a:t>Subject → Teacher</a:t>
            </a:r>
          </a:p>
          <a:p>
            <a:endParaRPr lang="en-US" dirty="0"/>
          </a:p>
        </p:txBody>
      </p:sp>
      <p:sp>
        <p:nvSpPr>
          <p:cNvPr id="4" name="Title 1">
            <a:extLst>
              <a:ext uri="{FF2B5EF4-FFF2-40B4-BE49-F238E27FC236}">
                <a16:creationId xmlns:a16="http://schemas.microsoft.com/office/drawing/2014/main" id="{92C62A5F-F49C-B313-E3B7-A457A0552D11}"/>
              </a:ext>
            </a:extLst>
          </p:cNvPr>
          <p:cNvSpPr txBox="1">
            <a:spLocks/>
          </p:cNvSpPr>
          <p:nvPr/>
        </p:nvSpPr>
        <p:spPr>
          <a:xfrm>
            <a:off x="1097280" y="286603"/>
            <a:ext cx="8709660" cy="1450757"/>
          </a:xfrm>
          <a:prstGeom prst="rect">
            <a:avLst/>
          </a:prstGeom>
        </p:spPr>
        <p:txBody>
          <a:bodyPr vert="horz" lIns="91440" tIns="45720" rIns="91440" bIns="45720" rtlCol="0" anchor="b">
            <a:normAutofit/>
          </a:bodyPr>
          <a:lstStyle>
            <a:lvl1pPr marL="0"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endParaRPr lang="en-US" dirty="0"/>
          </a:p>
        </p:txBody>
      </p:sp>
      <p:graphicFrame>
        <p:nvGraphicFramePr>
          <p:cNvPr id="5" name="Content Placeholder 3">
            <a:extLst>
              <a:ext uri="{FF2B5EF4-FFF2-40B4-BE49-F238E27FC236}">
                <a16:creationId xmlns:a16="http://schemas.microsoft.com/office/drawing/2014/main" id="{A531F9E0-1A56-ACBC-C4D3-8ECF0DC61314}"/>
              </a:ext>
            </a:extLst>
          </p:cNvPr>
          <p:cNvGraphicFramePr>
            <a:graphicFrameLocks/>
          </p:cNvGraphicFramePr>
          <p:nvPr>
            <p:extLst>
              <p:ext uri="{D42A27DB-BD31-4B8C-83A1-F6EECF244321}">
                <p14:modId xmlns:p14="http://schemas.microsoft.com/office/powerpoint/2010/main" val="3481586823"/>
              </p:ext>
            </p:extLst>
          </p:nvPr>
        </p:nvGraphicFramePr>
        <p:xfrm>
          <a:off x="206691" y="4892402"/>
          <a:ext cx="5139838" cy="1097280"/>
        </p:xfrm>
        <a:graphic>
          <a:graphicData uri="http://schemas.openxmlformats.org/drawingml/2006/table">
            <a:tbl>
              <a:tblPr firstRow="1" bandRow="1">
                <a:tableStyleId>{5C22544A-7EE6-4342-B048-85BDC9FD1C3A}</a:tableStyleId>
              </a:tblPr>
              <a:tblGrid>
                <a:gridCol w="959169">
                  <a:extLst>
                    <a:ext uri="{9D8B030D-6E8A-4147-A177-3AD203B41FA5}">
                      <a16:colId xmlns:a16="http://schemas.microsoft.com/office/drawing/2014/main" val="3785994975"/>
                    </a:ext>
                  </a:extLst>
                </a:gridCol>
                <a:gridCol w="1280160">
                  <a:extLst>
                    <a:ext uri="{9D8B030D-6E8A-4147-A177-3AD203B41FA5}">
                      <a16:colId xmlns:a16="http://schemas.microsoft.com/office/drawing/2014/main" val="672026554"/>
                    </a:ext>
                  </a:extLst>
                </a:gridCol>
                <a:gridCol w="1165860">
                  <a:extLst>
                    <a:ext uri="{9D8B030D-6E8A-4147-A177-3AD203B41FA5}">
                      <a16:colId xmlns:a16="http://schemas.microsoft.com/office/drawing/2014/main" val="1055285404"/>
                    </a:ext>
                  </a:extLst>
                </a:gridCol>
                <a:gridCol w="1734649">
                  <a:extLst>
                    <a:ext uri="{9D8B030D-6E8A-4147-A177-3AD203B41FA5}">
                      <a16:colId xmlns:a16="http://schemas.microsoft.com/office/drawing/2014/main" val="3546076491"/>
                    </a:ext>
                  </a:extLst>
                </a:gridCol>
              </a:tblGrid>
              <a:tr h="344699">
                <a:tc>
                  <a:txBody>
                    <a:bodyPr/>
                    <a:lstStyle/>
                    <a:p>
                      <a:pPr>
                        <a:buNone/>
                      </a:pPr>
                      <a:r>
                        <a:rPr lang="en-US" dirty="0" err="1"/>
                        <a:t>Stu_ID</a:t>
                      </a:r>
                      <a:endParaRPr lang="en-US" dirty="0"/>
                    </a:p>
                  </a:txBody>
                  <a:tcPr anchor="ctr"/>
                </a:tc>
                <a:tc>
                  <a:txBody>
                    <a:bodyPr/>
                    <a:lstStyle/>
                    <a:p>
                      <a:pPr>
                        <a:buNone/>
                      </a:pPr>
                      <a:r>
                        <a:rPr lang="en-US" dirty="0" err="1"/>
                        <a:t>Stu_Name</a:t>
                      </a:r>
                      <a:endParaRPr lang="en-US" dirty="0"/>
                    </a:p>
                  </a:txBody>
                  <a:tcPr anchor="ctr"/>
                </a:tc>
                <a:tc>
                  <a:txBody>
                    <a:bodyPr/>
                    <a:lstStyle/>
                    <a:p>
                      <a:pPr>
                        <a:buNone/>
                      </a:pPr>
                      <a:r>
                        <a:rPr lang="en-US" dirty="0" err="1"/>
                        <a:t>Dept_ID</a:t>
                      </a:r>
                      <a:endParaRPr lang="en-US" dirty="0"/>
                    </a:p>
                  </a:txBody>
                  <a:tcPr anchor="ctr"/>
                </a:tc>
                <a:tc>
                  <a:txBody>
                    <a:bodyPr/>
                    <a:lstStyle/>
                    <a:p>
                      <a:pPr>
                        <a:buNone/>
                      </a:pPr>
                      <a:r>
                        <a:rPr lang="en-US" dirty="0" err="1"/>
                        <a:t>Dept_name</a:t>
                      </a:r>
                      <a:endParaRPr lang="en-US" dirty="0"/>
                    </a:p>
                  </a:txBody>
                  <a:tcPr anchor="ctr"/>
                </a:tc>
                <a:extLst>
                  <a:ext uri="{0D108BD9-81ED-4DB2-BD59-A6C34878D82A}">
                    <a16:rowId xmlns:a16="http://schemas.microsoft.com/office/drawing/2014/main" val="973631919"/>
                  </a:ext>
                </a:extLst>
              </a:tr>
              <a:tr h="344699">
                <a:tc>
                  <a:txBody>
                    <a:bodyPr/>
                    <a:lstStyle/>
                    <a:p>
                      <a:pPr>
                        <a:buNone/>
                      </a:pPr>
                      <a:r>
                        <a:rPr lang="en-US"/>
                        <a:t>S101</a:t>
                      </a:r>
                    </a:p>
                  </a:txBody>
                  <a:tcPr anchor="ctr"/>
                </a:tc>
                <a:tc>
                  <a:txBody>
                    <a:bodyPr/>
                    <a:lstStyle/>
                    <a:p>
                      <a:pPr>
                        <a:buNone/>
                      </a:pPr>
                      <a:r>
                        <a:rPr lang="en-US"/>
                        <a:t>Ram</a:t>
                      </a:r>
                    </a:p>
                  </a:txBody>
                  <a:tcPr anchor="ctr"/>
                </a:tc>
                <a:tc>
                  <a:txBody>
                    <a:bodyPr/>
                    <a:lstStyle/>
                    <a:p>
                      <a:pPr>
                        <a:buNone/>
                      </a:pPr>
                      <a:r>
                        <a:rPr lang="en-US" dirty="0"/>
                        <a:t>D1</a:t>
                      </a:r>
                    </a:p>
                  </a:txBody>
                  <a:tcPr anchor="ctr"/>
                </a:tc>
                <a:tc>
                  <a:txBody>
                    <a:bodyPr/>
                    <a:lstStyle/>
                    <a:p>
                      <a:pPr>
                        <a:buNone/>
                      </a:pPr>
                      <a:r>
                        <a:rPr lang="en-US" dirty="0"/>
                        <a:t>Computer</a:t>
                      </a:r>
                    </a:p>
                  </a:txBody>
                  <a:tcPr anchor="ctr"/>
                </a:tc>
                <a:extLst>
                  <a:ext uri="{0D108BD9-81ED-4DB2-BD59-A6C34878D82A}">
                    <a16:rowId xmlns:a16="http://schemas.microsoft.com/office/drawing/2014/main" val="1613438799"/>
                  </a:ext>
                </a:extLst>
              </a:tr>
              <a:tr h="344699">
                <a:tc>
                  <a:txBody>
                    <a:bodyPr/>
                    <a:lstStyle/>
                    <a:p>
                      <a:pPr>
                        <a:buNone/>
                      </a:pPr>
                      <a:r>
                        <a:rPr lang="en-US"/>
                        <a:t>S102</a:t>
                      </a:r>
                    </a:p>
                  </a:txBody>
                  <a:tcPr anchor="ctr"/>
                </a:tc>
                <a:tc>
                  <a:txBody>
                    <a:bodyPr/>
                    <a:lstStyle/>
                    <a:p>
                      <a:pPr>
                        <a:buNone/>
                      </a:pPr>
                      <a:r>
                        <a:rPr lang="en-US"/>
                        <a:t>Hari</a:t>
                      </a:r>
                    </a:p>
                  </a:txBody>
                  <a:tcPr anchor="ctr"/>
                </a:tc>
                <a:tc>
                  <a:txBody>
                    <a:bodyPr/>
                    <a:lstStyle/>
                    <a:p>
                      <a:pPr>
                        <a:buNone/>
                      </a:pPr>
                      <a:r>
                        <a:rPr lang="en-US" dirty="0"/>
                        <a:t>D2</a:t>
                      </a:r>
                    </a:p>
                  </a:txBody>
                  <a:tcPr anchor="ctr"/>
                </a:tc>
                <a:tc>
                  <a:txBody>
                    <a:bodyPr/>
                    <a:lstStyle/>
                    <a:p>
                      <a:pPr>
                        <a:buNone/>
                      </a:pPr>
                      <a:r>
                        <a:rPr lang="en-US" dirty="0"/>
                        <a:t>Civil</a:t>
                      </a:r>
                    </a:p>
                  </a:txBody>
                  <a:tcPr anchor="ctr"/>
                </a:tc>
                <a:extLst>
                  <a:ext uri="{0D108BD9-81ED-4DB2-BD59-A6C34878D82A}">
                    <a16:rowId xmlns:a16="http://schemas.microsoft.com/office/drawing/2014/main" val="1583487290"/>
                  </a:ext>
                </a:extLst>
              </a:tr>
            </a:tbl>
          </a:graphicData>
        </a:graphic>
      </p:graphicFrame>
      <p:graphicFrame>
        <p:nvGraphicFramePr>
          <p:cNvPr id="6" name="Table 5">
            <a:extLst>
              <a:ext uri="{FF2B5EF4-FFF2-40B4-BE49-F238E27FC236}">
                <a16:creationId xmlns:a16="http://schemas.microsoft.com/office/drawing/2014/main" id="{51D83188-EE6C-3D5B-C325-7436D3D3668C}"/>
              </a:ext>
            </a:extLst>
          </p:cNvPr>
          <p:cNvGraphicFramePr>
            <a:graphicFrameLocks noGrp="1"/>
          </p:cNvGraphicFramePr>
          <p:nvPr>
            <p:extLst>
              <p:ext uri="{D42A27DB-BD31-4B8C-83A1-F6EECF244321}">
                <p14:modId xmlns:p14="http://schemas.microsoft.com/office/powerpoint/2010/main" val="1197368308"/>
              </p:ext>
            </p:extLst>
          </p:nvPr>
        </p:nvGraphicFramePr>
        <p:xfrm>
          <a:off x="5537780" y="4783668"/>
          <a:ext cx="2516124" cy="1463040"/>
        </p:xfrm>
        <a:graphic>
          <a:graphicData uri="http://schemas.openxmlformats.org/drawingml/2006/table">
            <a:tbl>
              <a:tblPr firstRow="1" bandRow="1">
                <a:tableStyleId>{5C22544A-7EE6-4342-B048-85BDC9FD1C3A}</a:tableStyleId>
              </a:tblPr>
              <a:tblGrid>
                <a:gridCol w="1258062">
                  <a:extLst>
                    <a:ext uri="{9D8B030D-6E8A-4147-A177-3AD203B41FA5}">
                      <a16:colId xmlns:a16="http://schemas.microsoft.com/office/drawing/2014/main" val="2505306754"/>
                    </a:ext>
                  </a:extLst>
                </a:gridCol>
                <a:gridCol w="1258062">
                  <a:extLst>
                    <a:ext uri="{9D8B030D-6E8A-4147-A177-3AD203B41FA5}">
                      <a16:colId xmlns:a16="http://schemas.microsoft.com/office/drawing/2014/main" val="3239914344"/>
                    </a:ext>
                  </a:extLst>
                </a:gridCol>
              </a:tblGrid>
              <a:tr h="362689">
                <a:tc>
                  <a:txBody>
                    <a:bodyPr/>
                    <a:lstStyle/>
                    <a:p>
                      <a:pPr>
                        <a:buNone/>
                      </a:pPr>
                      <a:r>
                        <a:rPr lang="en-US" dirty="0"/>
                        <a:t>Subject</a:t>
                      </a:r>
                    </a:p>
                  </a:txBody>
                  <a:tcPr anchor="ctr"/>
                </a:tc>
                <a:tc>
                  <a:txBody>
                    <a:bodyPr/>
                    <a:lstStyle/>
                    <a:p>
                      <a:pPr>
                        <a:buNone/>
                      </a:pPr>
                      <a:r>
                        <a:rPr lang="en-US"/>
                        <a:t>Teacher</a:t>
                      </a:r>
                    </a:p>
                  </a:txBody>
                  <a:tcPr anchor="ctr"/>
                </a:tc>
                <a:extLst>
                  <a:ext uri="{0D108BD9-81ED-4DB2-BD59-A6C34878D82A}">
                    <a16:rowId xmlns:a16="http://schemas.microsoft.com/office/drawing/2014/main" val="2457071554"/>
                  </a:ext>
                </a:extLst>
              </a:tr>
              <a:tr h="362689">
                <a:tc>
                  <a:txBody>
                    <a:bodyPr/>
                    <a:lstStyle/>
                    <a:p>
                      <a:pPr>
                        <a:buNone/>
                      </a:pPr>
                      <a:r>
                        <a:rPr lang="en-US"/>
                        <a:t>DBMS</a:t>
                      </a:r>
                    </a:p>
                  </a:txBody>
                  <a:tcPr anchor="ctr"/>
                </a:tc>
                <a:tc>
                  <a:txBody>
                    <a:bodyPr/>
                    <a:lstStyle/>
                    <a:p>
                      <a:pPr>
                        <a:buNone/>
                      </a:pPr>
                      <a:r>
                        <a:rPr lang="en-US"/>
                        <a:t>Sharma</a:t>
                      </a:r>
                    </a:p>
                  </a:txBody>
                  <a:tcPr anchor="ctr"/>
                </a:tc>
                <a:extLst>
                  <a:ext uri="{0D108BD9-81ED-4DB2-BD59-A6C34878D82A}">
                    <a16:rowId xmlns:a16="http://schemas.microsoft.com/office/drawing/2014/main" val="3304202158"/>
                  </a:ext>
                </a:extLst>
              </a:tr>
              <a:tr h="362689">
                <a:tc>
                  <a:txBody>
                    <a:bodyPr/>
                    <a:lstStyle/>
                    <a:p>
                      <a:pPr>
                        <a:buNone/>
                      </a:pPr>
                      <a:r>
                        <a:rPr lang="en-US"/>
                        <a:t>OS</a:t>
                      </a:r>
                    </a:p>
                  </a:txBody>
                  <a:tcPr anchor="ctr"/>
                </a:tc>
                <a:tc>
                  <a:txBody>
                    <a:bodyPr/>
                    <a:lstStyle/>
                    <a:p>
                      <a:pPr>
                        <a:buNone/>
                      </a:pPr>
                      <a:r>
                        <a:rPr lang="en-US"/>
                        <a:t>Verma</a:t>
                      </a:r>
                    </a:p>
                  </a:txBody>
                  <a:tcPr anchor="ctr"/>
                </a:tc>
                <a:extLst>
                  <a:ext uri="{0D108BD9-81ED-4DB2-BD59-A6C34878D82A}">
                    <a16:rowId xmlns:a16="http://schemas.microsoft.com/office/drawing/2014/main" val="965609495"/>
                  </a:ext>
                </a:extLst>
              </a:tr>
              <a:tr h="362689">
                <a:tc>
                  <a:txBody>
                    <a:bodyPr/>
                    <a:lstStyle/>
                    <a:p>
                      <a:pPr>
                        <a:buNone/>
                      </a:pPr>
                      <a:r>
                        <a:rPr lang="en-US"/>
                        <a:t>CN</a:t>
                      </a:r>
                    </a:p>
                  </a:txBody>
                  <a:tcPr anchor="ctr"/>
                </a:tc>
                <a:tc>
                  <a:txBody>
                    <a:bodyPr/>
                    <a:lstStyle/>
                    <a:p>
                      <a:pPr>
                        <a:buNone/>
                      </a:pPr>
                      <a:r>
                        <a:rPr lang="en-US" dirty="0"/>
                        <a:t>Pant</a:t>
                      </a:r>
                    </a:p>
                  </a:txBody>
                  <a:tcPr anchor="ctr"/>
                </a:tc>
                <a:extLst>
                  <a:ext uri="{0D108BD9-81ED-4DB2-BD59-A6C34878D82A}">
                    <a16:rowId xmlns:a16="http://schemas.microsoft.com/office/drawing/2014/main" val="248291657"/>
                  </a:ext>
                </a:extLst>
              </a:tr>
            </a:tbl>
          </a:graphicData>
        </a:graphic>
      </p:graphicFrame>
      <p:graphicFrame>
        <p:nvGraphicFramePr>
          <p:cNvPr id="7" name="Table 6">
            <a:extLst>
              <a:ext uri="{FF2B5EF4-FFF2-40B4-BE49-F238E27FC236}">
                <a16:creationId xmlns:a16="http://schemas.microsoft.com/office/drawing/2014/main" id="{F82DD15A-716F-F350-914E-50A415A862D4}"/>
              </a:ext>
            </a:extLst>
          </p:cNvPr>
          <p:cNvGraphicFramePr>
            <a:graphicFrameLocks noGrp="1"/>
          </p:cNvGraphicFramePr>
          <p:nvPr>
            <p:extLst>
              <p:ext uri="{D42A27DB-BD31-4B8C-83A1-F6EECF244321}">
                <p14:modId xmlns:p14="http://schemas.microsoft.com/office/powerpoint/2010/main" val="2136537112"/>
              </p:ext>
            </p:extLst>
          </p:nvPr>
        </p:nvGraphicFramePr>
        <p:xfrm>
          <a:off x="8245155" y="3429000"/>
          <a:ext cx="3946845" cy="2893790"/>
        </p:xfrm>
        <a:graphic>
          <a:graphicData uri="http://schemas.openxmlformats.org/drawingml/2006/table">
            <a:tbl>
              <a:tblPr firstRow="1" bandRow="1">
                <a:tableStyleId>{5C22544A-7EE6-4342-B048-85BDC9FD1C3A}</a:tableStyleId>
              </a:tblPr>
              <a:tblGrid>
                <a:gridCol w="1315615">
                  <a:extLst>
                    <a:ext uri="{9D8B030D-6E8A-4147-A177-3AD203B41FA5}">
                      <a16:colId xmlns:a16="http://schemas.microsoft.com/office/drawing/2014/main" val="213863359"/>
                    </a:ext>
                  </a:extLst>
                </a:gridCol>
                <a:gridCol w="1315615">
                  <a:extLst>
                    <a:ext uri="{9D8B030D-6E8A-4147-A177-3AD203B41FA5}">
                      <a16:colId xmlns:a16="http://schemas.microsoft.com/office/drawing/2014/main" val="2635593483"/>
                    </a:ext>
                  </a:extLst>
                </a:gridCol>
                <a:gridCol w="1315615">
                  <a:extLst>
                    <a:ext uri="{9D8B030D-6E8A-4147-A177-3AD203B41FA5}">
                      <a16:colId xmlns:a16="http://schemas.microsoft.com/office/drawing/2014/main" val="841846570"/>
                    </a:ext>
                  </a:extLst>
                </a:gridCol>
              </a:tblGrid>
              <a:tr h="625262">
                <a:tc>
                  <a:txBody>
                    <a:bodyPr/>
                    <a:lstStyle/>
                    <a:p>
                      <a:pPr>
                        <a:buNone/>
                      </a:pPr>
                      <a:r>
                        <a:rPr lang="en-US" dirty="0" err="1"/>
                        <a:t>Stu_ID</a:t>
                      </a:r>
                      <a:endParaRPr lang="en-US" dirty="0"/>
                    </a:p>
                  </a:txBody>
                  <a:tcPr anchor="ctr"/>
                </a:tc>
                <a:tc>
                  <a:txBody>
                    <a:bodyPr/>
                    <a:lstStyle/>
                    <a:p>
                      <a:pPr>
                        <a:buNone/>
                      </a:pPr>
                      <a:r>
                        <a:rPr lang="en-US"/>
                        <a:t>Subject</a:t>
                      </a:r>
                    </a:p>
                  </a:txBody>
                  <a:tcPr anchor="ctr"/>
                </a:tc>
                <a:tc>
                  <a:txBody>
                    <a:bodyPr/>
                    <a:lstStyle/>
                    <a:p>
                      <a:pPr>
                        <a:buNone/>
                      </a:pPr>
                      <a:r>
                        <a:rPr lang="en-US"/>
                        <a:t>Language</a:t>
                      </a:r>
                    </a:p>
                  </a:txBody>
                  <a:tcPr anchor="ctr"/>
                </a:tc>
                <a:extLst>
                  <a:ext uri="{0D108BD9-81ED-4DB2-BD59-A6C34878D82A}">
                    <a16:rowId xmlns:a16="http://schemas.microsoft.com/office/drawing/2014/main" val="750597701"/>
                  </a:ext>
                </a:extLst>
              </a:tr>
              <a:tr h="378088">
                <a:tc>
                  <a:txBody>
                    <a:bodyPr/>
                    <a:lstStyle/>
                    <a:p>
                      <a:pPr>
                        <a:buNone/>
                      </a:pPr>
                      <a:r>
                        <a:rPr lang="en-US" dirty="0"/>
                        <a:t>S101</a:t>
                      </a:r>
                    </a:p>
                  </a:txBody>
                  <a:tcPr anchor="ctr"/>
                </a:tc>
                <a:tc>
                  <a:txBody>
                    <a:bodyPr/>
                    <a:lstStyle/>
                    <a:p>
                      <a:pPr>
                        <a:buNone/>
                      </a:pPr>
                      <a:r>
                        <a:rPr lang="en-US"/>
                        <a:t>DBMS</a:t>
                      </a:r>
                    </a:p>
                  </a:txBody>
                  <a:tcPr anchor="ctr"/>
                </a:tc>
                <a:tc>
                  <a:txBody>
                    <a:bodyPr/>
                    <a:lstStyle/>
                    <a:p>
                      <a:pPr>
                        <a:buNone/>
                      </a:pPr>
                      <a:r>
                        <a:rPr lang="en-US"/>
                        <a:t>English</a:t>
                      </a:r>
                    </a:p>
                  </a:txBody>
                  <a:tcPr anchor="ctr"/>
                </a:tc>
                <a:extLst>
                  <a:ext uri="{0D108BD9-81ED-4DB2-BD59-A6C34878D82A}">
                    <a16:rowId xmlns:a16="http://schemas.microsoft.com/office/drawing/2014/main" val="4190997854"/>
                  </a:ext>
                </a:extLst>
              </a:tr>
              <a:tr h="378088">
                <a:tc>
                  <a:txBody>
                    <a:bodyPr/>
                    <a:lstStyle/>
                    <a:p>
                      <a:pPr>
                        <a:buNone/>
                      </a:pPr>
                      <a:r>
                        <a:rPr lang="en-US"/>
                        <a:t>S101</a:t>
                      </a:r>
                    </a:p>
                  </a:txBody>
                  <a:tcPr anchor="ctr"/>
                </a:tc>
                <a:tc>
                  <a:txBody>
                    <a:bodyPr/>
                    <a:lstStyle/>
                    <a:p>
                      <a:pPr>
                        <a:buNone/>
                      </a:pPr>
                      <a:r>
                        <a:rPr lang="en-US" dirty="0"/>
                        <a:t>DBMS</a:t>
                      </a:r>
                    </a:p>
                  </a:txBody>
                  <a:tcPr anchor="ctr"/>
                </a:tc>
                <a:tc>
                  <a:txBody>
                    <a:bodyPr/>
                    <a:lstStyle/>
                    <a:p>
                      <a:pPr>
                        <a:buNone/>
                      </a:pPr>
                      <a:r>
                        <a:rPr lang="en-US"/>
                        <a:t>Nepali</a:t>
                      </a:r>
                    </a:p>
                  </a:txBody>
                  <a:tcPr anchor="ctr"/>
                </a:tc>
                <a:extLst>
                  <a:ext uri="{0D108BD9-81ED-4DB2-BD59-A6C34878D82A}">
                    <a16:rowId xmlns:a16="http://schemas.microsoft.com/office/drawing/2014/main" val="2418840407"/>
                  </a:ext>
                </a:extLst>
              </a:tr>
              <a:tr h="378088">
                <a:tc>
                  <a:txBody>
                    <a:bodyPr/>
                    <a:lstStyle/>
                    <a:p>
                      <a:pPr>
                        <a:buNone/>
                      </a:pPr>
                      <a:r>
                        <a:rPr lang="en-US"/>
                        <a:t>S101</a:t>
                      </a:r>
                    </a:p>
                  </a:txBody>
                  <a:tcPr anchor="ctr"/>
                </a:tc>
                <a:tc>
                  <a:txBody>
                    <a:bodyPr/>
                    <a:lstStyle/>
                    <a:p>
                      <a:pPr>
                        <a:buNone/>
                      </a:pPr>
                      <a:r>
                        <a:rPr lang="en-US"/>
                        <a:t>OS</a:t>
                      </a:r>
                    </a:p>
                  </a:txBody>
                  <a:tcPr anchor="ctr"/>
                </a:tc>
                <a:tc>
                  <a:txBody>
                    <a:bodyPr/>
                    <a:lstStyle/>
                    <a:p>
                      <a:pPr>
                        <a:buNone/>
                      </a:pPr>
                      <a:r>
                        <a:rPr lang="en-US"/>
                        <a:t>English</a:t>
                      </a:r>
                    </a:p>
                  </a:txBody>
                  <a:tcPr anchor="ctr"/>
                </a:tc>
                <a:extLst>
                  <a:ext uri="{0D108BD9-81ED-4DB2-BD59-A6C34878D82A}">
                    <a16:rowId xmlns:a16="http://schemas.microsoft.com/office/drawing/2014/main" val="2232269818"/>
                  </a:ext>
                </a:extLst>
              </a:tr>
              <a:tr h="378088">
                <a:tc>
                  <a:txBody>
                    <a:bodyPr/>
                    <a:lstStyle/>
                    <a:p>
                      <a:pPr>
                        <a:buNone/>
                      </a:pPr>
                      <a:r>
                        <a:rPr lang="en-US"/>
                        <a:t>S101</a:t>
                      </a:r>
                    </a:p>
                  </a:txBody>
                  <a:tcPr anchor="ctr"/>
                </a:tc>
                <a:tc>
                  <a:txBody>
                    <a:bodyPr/>
                    <a:lstStyle/>
                    <a:p>
                      <a:pPr>
                        <a:buNone/>
                      </a:pPr>
                      <a:r>
                        <a:rPr lang="en-US"/>
                        <a:t>OS</a:t>
                      </a:r>
                    </a:p>
                  </a:txBody>
                  <a:tcPr anchor="ctr"/>
                </a:tc>
                <a:tc>
                  <a:txBody>
                    <a:bodyPr/>
                    <a:lstStyle/>
                    <a:p>
                      <a:pPr>
                        <a:buNone/>
                      </a:pPr>
                      <a:r>
                        <a:rPr lang="en-US"/>
                        <a:t>Nepali</a:t>
                      </a:r>
                    </a:p>
                  </a:txBody>
                  <a:tcPr anchor="ctr"/>
                </a:tc>
                <a:extLst>
                  <a:ext uri="{0D108BD9-81ED-4DB2-BD59-A6C34878D82A}">
                    <a16:rowId xmlns:a16="http://schemas.microsoft.com/office/drawing/2014/main" val="254113623"/>
                  </a:ext>
                </a:extLst>
              </a:tr>
              <a:tr h="378088">
                <a:tc>
                  <a:txBody>
                    <a:bodyPr/>
                    <a:lstStyle/>
                    <a:p>
                      <a:pPr>
                        <a:buNone/>
                      </a:pPr>
                      <a:r>
                        <a:rPr lang="en-US"/>
                        <a:t>S102</a:t>
                      </a:r>
                    </a:p>
                  </a:txBody>
                  <a:tcPr anchor="ctr"/>
                </a:tc>
                <a:tc>
                  <a:txBody>
                    <a:bodyPr/>
                    <a:lstStyle/>
                    <a:p>
                      <a:pPr>
                        <a:buNone/>
                      </a:pPr>
                      <a:r>
                        <a:rPr lang="en-US"/>
                        <a:t>DBMS</a:t>
                      </a:r>
                    </a:p>
                  </a:txBody>
                  <a:tcPr anchor="ctr"/>
                </a:tc>
                <a:tc>
                  <a:txBody>
                    <a:bodyPr/>
                    <a:lstStyle/>
                    <a:p>
                      <a:pPr>
                        <a:buNone/>
                      </a:pPr>
                      <a:r>
                        <a:rPr lang="en-US"/>
                        <a:t>English</a:t>
                      </a:r>
                    </a:p>
                  </a:txBody>
                  <a:tcPr anchor="ctr"/>
                </a:tc>
                <a:extLst>
                  <a:ext uri="{0D108BD9-81ED-4DB2-BD59-A6C34878D82A}">
                    <a16:rowId xmlns:a16="http://schemas.microsoft.com/office/drawing/2014/main" val="2829322054"/>
                  </a:ext>
                </a:extLst>
              </a:tr>
              <a:tr h="378088">
                <a:tc>
                  <a:txBody>
                    <a:bodyPr/>
                    <a:lstStyle/>
                    <a:p>
                      <a:pPr>
                        <a:buNone/>
                      </a:pPr>
                      <a:r>
                        <a:rPr lang="en-US"/>
                        <a:t>S102</a:t>
                      </a:r>
                    </a:p>
                  </a:txBody>
                  <a:tcPr anchor="ctr"/>
                </a:tc>
                <a:tc>
                  <a:txBody>
                    <a:bodyPr/>
                    <a:lstStyle/>
                    <a:p>
                      <a:pPr>
                        <a:buNone/>
                      </a:pPr>
                      <a:r>
                        <a:rPr lang="en-US"/>
                        <a:t>CN</a:t>
                      </a:r>
                    </a:p>
                  </a:txBody>
                  <a:tcPr anchor="ctr"/>
                </a:tc>
                <a:tc>
                  <a:txBody>
                    <a:bodyPr/>
                    <a:lstStyle/>
                    <a:p>
                      <a:pPr>
                        <a:buNone/>
                      </a:pPr>
                      <a:r>
                        <a:rPr lang="en-US" dirty="0"/>
                        <a:t>English</a:t>
                      </a:r>
                    </a:p>
                  </a:txBody>
                  <a:tcPr anchor="ctr"/>
                </a:tc>
                <a:extLst>
                  <a:ext uri="{0D108BD9-81ED-4DB2-BD59-A6C34878D82A}">
                    <a16:rowId xmlns:a16="http://schemas.microsoft.com/office/drawing/2014/main" val="2070343107"/>
                  </a:ext>
                </a:extLst>
              </a:tr>
            </a:tbl>
          </a:graphicData>
        </a:graphic>
      </p:graphicFrame>
      <p:sp>
        <p:nvSpPr>
          <p:cNvPr id="8" name="TextBox 7">
            <a:extLst>
              <a:ext uri="{FF2B5EF4-FFF2-40B4-BE49-F238E27FC236}">
                <a16:creationId xmlns:a16="http://schemas.microsoft.com/office/drawing/2014/main" id="{E9D60C51-73BB-B8F1-31B6-4122576C7E08}"/>
              </a:ext>
            </a:extLst>
          </p:cNvPr>
          <p:cNvSpPr txBox="1"/>
          <p:nvPr/>
        </p:nvSpPr>
        <p:spPr>
          <a:xfrm>
            <a:off x="206692" y="4523070"/>
            <a:ext cx="1105480" cy="369332"/>
          </a:xfrm>
          <a:prstGeom prst="rect">
            <a:avLst/>
          </a:prstGeom>
          <a:noFill/>
        </p:spPr>
        <p:txBody>
          <a:bodyPr wrap="square">
            <a:spAutoFit/>
          </a:bodyPr>
          <a:lstStyle/>
          <a:p>
            <a:r>
              <a:rPr lang="en-US" dirty="0"/>
              <a:t>STUDENT</a:t>
            </a:r>
          </a:p>
        </p:txBody>
      </p:sp>
      <p:sp>
        <p:nvSpPr>
          <p:cNvPr id="9" name="TextBox 8">
            <a:extLst>
              <a:ext uri="{FF2B5EF4-FFF2-40B4-BE49-F238E27FC236}">
                <a16:creationId xmlns:a16="http://schemas.microsoft.com/office/drawing/2014/main" id="{C611AC5A-0276-6975-F9A7-ADF7A73B1104}"/>
              </a:ext>
            </a:extLst>
          </p:cNvPr>
          <p:cNvSpPr txBox="1"/>
          <p:nvPr/>
        </p:nvSpPr>
        <p:spPr>
          <a:xfrm>
            <a:off x="5452110" y="4338404"/>
            <a:ext cx="1105480" cy="369332"/>
          </a:xfrm>
          <a:prstGeom prst="rect">
            <a:avLst/>
          </a:prstGeom>
          <a:noFill/>
        </p:spPr>
        <p:txBody>
          <a:bodyPr wrap="square">
            <a:spAutoFit/>
          </a:bodyPr>
          <a:lstStyle/>
          <a:p>
            <a:r>
              <a:rPr lang="en-US" dirty="0"/>
              <a:t>SUBJECT</a:t>
            </a:r>
          </a:p>
        </p:txBody>
      </p:sp>
      <p:sp>
        <p:nvSpPr>
          <p:cNvPr id="10" name="TextBox 9">
            <a:extLst>
              <a:ext uri="{FF2B5EF4-FFF2-40B4-BE49-F238E27FC236}">
                <a16:creationId xmlns:a16="http://schemas.microsoft.com/office/drawing/2014/main" id="{D2FAC7A1-C251-972A-E080-8B5AD49D5BEA}"/>
              </a:ext>
            </a:extLst>
          </p:cNvPr>
          <p:cNvSpPr txBox="1"/>
          <p:nvPr/>
        </p:nvSpPr>
        <p:spPr>
          <a:xfrm>
            <a:off x="7892096" y="2881111"/>
            <a:ext cx="1526224" cy="369332"/>
          </a:xfrm>
          <a:prstGeom prst="rect">
            <a:avLst/>
          </a:prstGeom>
          <a:noFill/>
        </p:spPr>
        <p:txBody>
          <a:bodyPr wrap="square">
            <a:spAutoFit/>
          </a:bodyPr>
          <a:lstStyle/>
          <a:p>
            <a:r>
              <a:rPr lang="en-US" dirty="0"/>
              <a:t>Enrollment</a:t>
            </a:r>
          </a:p>
        </p:txBody>
      </p:sp>
    </p:spTree>
    <p:extLst>
      <p:ext uri="{BB962C8B-B14F-4D97-AF65-F5344CB8AC3E}">
        <p14:creationId xmlns:p14="http://schemas.microsoft.com/office/powerpoint/2010/main" val="175502830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3302F2-6833-0038-4D01-45437DCE2FF7}"/>
              </a:ext>
            </a:extLst>
          </p:cNvPr>
          <p:cNvSpPr>
            <a:spLocks noGrp="1"/>
          </p:cNvSpPr>
          <p:nvPr>
            <p:ph type="title"/>
          </p:nvPr>
        </p:nvSpPr>
        <p:spPr/>
        <p:txBody>
          <a:bodyPr/>
          <a:lstStyle/>
          <a:p>
            <a:r>
              <a:rPr lang="en-US" dirty="0"/>
              <a:t>Third Normal Form (3NF)</a:t>
            </a:r>
          </a:p>
        </p:txBody>
      </p:sp>
      <p:sp>
        <p:nvSpPr>
          <p:cNvPr id="3" name="Content Placeholder 2">
            <a:extLst>
              <a:ext uri="{FF2B5EF4-FFF2-40B4-BE49-F238E27FC236}">
                <a16:creationId xmlns:a16="http://schemas.microsoft.com/office/drawing/2014/main" id="{31B090B7-038F-FDB4-AC66-B13A139F8491}"/>
              </a:ext>
            </a:extLst>
          </p:cNvPr>
          <p:cNvSpPr>
            <a:spLocks noGrp="1"/>
          </p:cNvSpPr>
          <p:nvPr>
            <p:ph idx="1"/>
          </p:nvPr>
        </p:nvSpPr>
        <p:spPr/>
        <p:txBody>
          <a:bodyPr/>
          <a:lstStyle/>
          <a:p>
            <a:r>
              <a:rPr lang="en-US" b="1" dirty="0"/>
              <a:t>Rule</a:t>
            </a:r>
          </a:p>
          <a:p>
            <a:pPr lvl="1"/>
            <a:r>
              <a:rPr lang="en-US" dirty="0"/>
              <a:t>Must be in 2NF </a:t>
            </a:r>
          </a:p>
          <a:p>
            <a:pPr lvl="1"/>
            <a:r>
              <a:rPr lang="en-US" dirty="0"/>
              <a:t>Remove Transitive Dependencies</a:t>
            </a:r>
          </a:p>
          <a:p>
            <a:r>
              <a:rPr lang="en-US" b="1" dirty="0"/>
              <a:t>Dependency</a:t>
            </a:r>
          </a:p>
          <a:p>
            <a:pPr marL="201168" lvl="1" indent="0">
              <a:buNone/>
            </a:pPr>
            <a:r>
              <a:rPr lang="en-US" dirty="0" err="1"/>
              <a:t>Student_ID</a:t>
            </a:r>
            <a:r>
              <a:rPr lang="en-US" dirty="0"/>
              <a:t> → </a:t>
            </a:r>
            <a:r>
              <a:rPr lang="en-US" dirty="0" err="1"/>
              <a:t>Dept_ID</a:t>
            </a:r>
            <a:br>
              <a:rPr lang="en-US" dirty="0"/>
            </a:br>
            <a:r>
              <a:rPr lang="en-US" dirty="0" err="1"/>
              <a:t>Dept_ID</a:t>
            </a:r>
            <a:r>
              <a:rPr lang="en-US" dirty="0"/>
              <a:t> → </a:t>
            </a:r>
            <a:r>
              <a:rPr lang="en-US" dirty="0" err="1"/>
              <a:t>Dept_Name</a:t>
            </a:r>
            <a:endParaRPr lang="en-US" dirty="0"/>
          </a:p>
          <a:p>
            <a:r>
              <a:rPr lang="en-US" dirty="0"/>
              <a:t>Thus: </a:t>
            </a:r>
            <a:r>
              <a:rPr lang="en-US" dirty="0" err="1"/>
              <a:t>Student_ID</a:t>
            </a:r>
            <a:r>
              <a:rPr lang="en-US" dirty="0"/>
              <a:t> → </a:t>
            </a:r>
            <a:r>
              <a:rPr lang="en-US" dirty="0" err="1"/>
              <a:t>Dept_Name</a:t>
            </a:r>
            <a:endParaRPr lang="en-US" dirty="0"/>
          </a:p>
          <a:p>
            <a:r>
              <a:rPr lang="en-US" dirty="0"/>
              <a:t>Indirect dependency.</a:t>
            </a:r>
          </a:p>
          <a:p>
            <a:endParaRPr lang="en-US" dirty="0"/>
          </a:p>
        </p:txBody>
      </p:sp>
      <p:graphicFrame>
        <p:nvGraphicFramePr>
          <p:cNvPr id="6" name="Table 5">
            <a:extLst>
              <a:ext uri="{FF2B5EF4-FFF2-40B4-BE49-F238E27FC236}">
                <a16:creationId xmlns:a16="http://schemas.microsoft.com/office/drawing/2014/main" id="{89B3B332-6316-82DD-B91C-3FB72B525BAB}"/>
              </a:ext>
            </a:extLst>
          </p:cNvPr>
          <p:cNvGraphicFramePr>
            <a:graphicFrameLocks noGrp="1"/>
          </p:cNvGraphicFramePr>
          <p:nvPr>
            <p:extLst>
              <p:ext uri="{D42A27DB-BD31-4B8C-83A1-F6EECF244321}">
                <p14:modId xmlns:p14="http://schemas.microsoft.com/office/powerpoint/2010/main" val="1085364549"/>
              </p:ext>
            </p:extLst>
          </p:nvPr>
        </p:nvGraphicFramePr>
        <p:xfrm>
          <a:off x="10030177" y="1737360"/>
          <a:ext cx="2251005" cy="1463040"/>
        </p:xfrm>
        <a:graphic>
          <a:graphicData uri="http://schemas.openxmlformats.org/drawingml/2006/table">
            <a:tbl>
              <a:tblPr firstRow="1" bandRow="1">
                <a:tableStyleId>{5C22544A-7EE6-4342-B048-85BDC9FD1C3A}</a:tableStyleId>
              </a:tblPr>
              <a:tblGrid>
                <a:gridCol w="1016565">
                  <a:extLst>
                    <a:ext uri="{9D8B030D-6E8A-4147-A177-3AD203B41FA5}">
                      <a16:colId xmlns:a16="http://schemas.microsoft.com/office/drawing/2014/main" val="220224083"/>
                    </a:ext>
                  </a:extLst>
                </a:gridCol>
                <a:gridCol w="1234440">
                  <a:extLst>
                    <a:ext uri="{9D8B030D-6E8A-4147-A177-3AD203B41FA5}">
                      <a16:colId xmlns:a16="http://schemas.microsoft.com/office/drawing/2014/main" val="2259892988"/>
                    </a:ext>
                  </a:extLst>
                </a:gridCol>
              </a:tblGrid>
              <a:tr h="362689">
                <a:tc>
                  <a:txBody>
                    <a:bodyPr/>
                    <a:lstStyle/>
                    <a:p>
                      <a:pPr>
                        <a:buNone/>
                      </a:pPr>
                      <a:r>
                        <a:rPr lang="en-US" dirty="0"/>
                        <a:t>Subject</a:t>
                      </a:r>
                    </a:p>
                  </a:txBody>
                  <a:tcPr anchor="ctr"/>
                </a:tc>
                <a:tc>
                  <a:txBody>
                    <a:bodyPr/>
                    <a:lstStyle/>
                    <a:p>
                      <a:pPr>
                        <a:buNone/>
                      </a:pPr>
                      <a:r>
                        <a:rPr lang="en-US" dirty="0"/>
                        <a:t>Teacher</a:t>
                      </a:r>
                    </a:p>
                  </a:txBody>
                  <a:tcPr anchor="ctr"/>
                </a:tc>
                <a:extLst>
                  <a:ext uri="{0D108BD9-81ED-4DB2-BD59-A6C34878D82A}">
                    <a16:rowId xmlns:a16="http://schemas.microsoft.com/office/drawing/2014/main" val="408970064"/>
                  </a:ext>
                </a:extLst>
              </a:tr>
              <a:tr h="362689">
                <a:tc>
                  <a:txBody>
                    <a:bodyPr/>
                    <a:lstStyle/>
                    <a:p>
                      <a:pPr>
                        <a:buNone/>
                      </a:pPr>
                      <a:r>
                        <a:rPr lang="en-US"/>
                        <a:t>DBMS</a:t>
                      </a:r>
                    </a:p>
                  </a:txBody>
                  <a:tcPr anchor="ctr"/>
                </a:tc>
                <a:tc>
                  <a:txBody>
                    <a:bodyPr/>
                    <a:lstStyle/>
                    <a:p>
                      <a:pPr>
                        <a:buNone/>
                      </a:pPr>
                      <a:r>
                        <a:rPr lang="en-US"/>
                        <a:t>Sharma</a:t>
                      </a:r>
                    </a:p>
                  </a:txBody>
                  <a:tcPr anchor="ctr"/>
                </a:tc>
                <a:extLst>
                  <a:ext uri="{0D108BD9-81ED-4DB2-BD59-A6C34878D82A}">
                    <a16:rowId xmlns:a16="http://schemas.microsoft.com/office/drawing/2014/main" val="2445831667"/>
                  </a:ext>
                </a:extLst>
              </a:tr>
              <a:tr h="362689">
                <a:tc>
                  <a:txBody>
                    <a:bodyPr/>
                    <a:lstStyle/>
                    <a:p>
                      <a:pPr>
                        <a:buNone/>
                      </a:pPr>
                      <a:r>
                        <a:rPr lang="en-US"/>
                        <a:t>OS</a:t>
                      </a:r>
                    </a:p>
                  </a:txBody>
                  <a:tcPr anchor="ctr"/>
                </a:tc>
                <a:tc>
                  <a:txBody>
                    <a:bodyPr/>
                    <a:lstStyle/>
                    <a:p>
                      <a:pPr>
                        <a:buNone/>
                      </a:pPr>
                      <a:r>
                        <a:rPr lang="en-US"/>
                        <a:t>Verma</a:t>
                      </a:r>
                    </a:p>
                  </a:txBody>
                  <a:tcPr anchor="ctr"/>
                </a:tc>
                <a:extLst>
                  <a:ext uri="{0D108BD9-81ED-4DB2-BD59-A6C34878D82A}">
                    <a16:rowId xmlns:a16="http://schemas.microsoft.com/office/drawing/2014/main" val="945194909"/>
                  </a:ext>
                </a:extLst>
              </a:tr>
              <a:tr h="362689">
                <a:tc>
                  <a:txBody>
                    <a:bodyPr/>
                    <a:lstStyle/>
                    <a:p>
                      <a:pPr>
                        <a:buNone/>
                      </a:pPr>
                      <a:r>
                        <a:rPr lang="en-US"/>
                        <a:t>CN</a:t>
                      </a:r>
                    </a:p>
                  </a:txBody>
                  <a:tcPr anchor="ctr"/>
                </a:tc>
                <a:tc>
                  <a:txBody>
                    <a:bodyPr/>
                    <a:lstStyle/>
                    <a:p>
                      <a:pPr>
                        <a:buNone/>
                      </a:pPr>
                      <a:r>
                        <a:rPr lang="en-US" dirty="0"/>
                        <a:t>Pant</a:t>
                      </a:r>
                    </a:p>
                  </a:txBody>
                  <a:tcPr anchor="ctr"/>
                </a:tc>
                <a:extLst>
                  <a:ext uri="{0D108BD9-81ED-4DB2-BD59-A6C34878D82A}">
                    <a16:rowId xmlns:a16="http://schemas.microsoft.com/office/drawing/2014/main" val="763572993"/>
                  </a:ext>
                </a:extLst>
              </a:tr>
            </a:tbl>
          </a:graphicData>
        </a:graphic>
      </p:graphicFrame>
      <p:graphicFrame>
        <p:nvGraphicFramePr>
          <p:cNvPr id="8" name="Content Placeholder 3">
            <a:extLst>
              <a:ext uri="{FF2B5EF4-FFF2-40B4-BE49-F238E27FC236}">
                <a16:creationId xmlns:a16="http://schemas.microsoft.com/office/drawing/2014/main" id="{83713BB4-00A2-80B6-CA2D-685B5628E3ED}"/>
              </a:ext>
            </a:extLst>
          </p:cNvPr>
          <p:cNvGraphicFramePr>
            <a:graphicFrameLocks/>
          </p:cNvGraphicFramePr>
          <p:nvPr>
            <p:extLst>
              <p:ext uri="{D42A27DB-BD31-4B8C-83A1-F6EECF244321}">
                <p14:modId xmlns:p14="http://schemas.microsoft.com/office/powerpoint/2010/main" val="3176203137"/>
              </p:ext>
            </p:extLst>
          </p:nvPr>
        </p:nvGraphicFramePr>
        <p:xfrm>
          <a:off x="4789308" y="1845734"/>
          <a:ext cx="5139838" cy="1097280"/>
        </p:xfrm>
        <a:graphic>
          <a:graphicData uri="http://schemas.openxmlformats.org/drawingml/2006/table">
            <a:tbl>
              <a:tblPr firstRow="1" bandRow="1">
                <a:tableStyleId>{5C22544A-7EE6-4342-B048-85BDC9FD1C3A}</a:tableStyleId>
              </a:tblPr>
              <a:tblGrid>
                <a:gridCol w="959169">
                  <a:extLst>
                    <a:ext uri="{9D8B030D-6E8A-4147-A177-3AD203B41FA5}">
                      <a16:colId xmlns:a16="http://schemas.microsoft.com/office/drawing/2014/main" val="3785994975"/>
                    </a:ext>
                  </a:extLst>
                </a:gridCol>
                <a:gridCol w="1280160">
                  <a:extLst>
                    <a:ext uri="{9D8B030D-6E8A-4147-A177-3AD203B41FA5}">
                      <a16:colId xmlns:a16="http://schemas.microsoft.com/office/drawing/2014/main" val="672026554"/>
                    </a:ext>
                  </a:extLst>
                </a:gridCol>
                <a:gridCol w="1165860">
                  <a:extLst>
                    <a:ext uri="{9D8B030D-6E8A-4147-A177-3AD203B41FA5}">
                      <a16:colId xmlns:a16="http://schemas.microsoft.com/office/drawing/2014/main" val="1055285404"/>
                    </a:ext>
                  </a:extLst>
                </a:gridCol>
                <a:gridCol w="1734649">
                  <a:extLst>
                    <a:ext uri="{9D8B030D-6E8A-4147-A177-3AD203B41FA5}">
                      <a16:colId xmlns:a16="http://schemas.microsoft.com/office/drawing/2014/main" val="3546076491"/>
                    </a:ext>
                  </a:extLst>
                </a:gridCol>
              </a:tblGrid>
              <a:tr h="344699">
                <a:tc>
                  <a:txBody>
                    <a:bodyPr/>
                    <a:lstStyle/>
                    <a:p>
                      <a:pPr>
                        <a:buNone/>
                      </a:pPr>
                      <a:r>
                        <a:rPr lang="en-US" dirty="0" err="1"/>
                        <a:t>Stu_ID</a:t>
                      </a:r>
                      <a:endParaRPr lang="en-US" dirty="0"/>
                    </a:p>
                  </a:txBody>
                  <a:tcPr anchor="ctr"/>
                </a:tc>
                <a:tc>
                  <a:txBody>
                    <a:bodyPr/>
                    <a:lstStyle/>
                    <a:p>
                      <a:pPr>
                        <a:buNone/>
                      </a:pPr>
                      <a:r>
                        <a:rPr lang="en-US" dirty="0" err="1"/>
                        <a:t>Stu_Name</a:t>
                      </a:r>
                      <a:endParaRPr lang="en-US" dirty="0"/>
                    </a:p>
                  </a:txBody>
                  <a:tcPr anchor="ctr"/>
                </a:tc>
                <a:tc>
                  <a:txBody>
                    <a:bodyPr/>
                    <a:lstStyle/>
                    <a:p>
                      <a:pPr>
                        <a:buNone/>
                      </a:pPr>
                      <a:r>
                        <a:rPr lang="en-US" dirty="0" err="1"/>
                        <a:t>Dept_ID</a:t>
                      </a:r>
                      <a:endParaRPr lang="en-US" dirty="0"/>
                    </a:p>
                  </a:txBody>
                  <a:tcPr anchor="ctr"/>
                </a:tc>
                <a:tc>
                  <a:txBody>
                    <a:bodyPr/>
                    <a:lstStyle/>
                    <a:p>
                      <a:pPr>
                        <a:buNone/>
                      </a:pPr>
                      <a:r>
                        <a:rPr lang="en-US" dirty="0" err="1"/>
                        <a:t>Dept_name</a:t>
                      </a:r>
                      <a:endParaRPr lang="en-US" dirty="0"/>
                    </a:p>
                  </a:txBody>
                  <a:tcPr anchor="ctr"/>
                </a:tc>
                <a:extLst>
                  <a:ext uri="{0D108BD9-81ED-4DB2-BD59-A6C34878D82A}">
                    <a16:rowId xmlns:a16="http://schemas.microsoft.com/office/drawing/2014/main" val="973631919"/>
                  </a:ext>
                </a:extLst>
              </a:tr>
              <a:tr h="344699">
                <a:tc>
                  <a:txBody>
                    <a:bodyPr/>
                    <a:lstStyle/>
                    <a:p>
                      <a:pPr>
                        <a:buNone/>
                      </a:pPr>
                      <a:r>
                        <a:rPr lang="en-US"/>
                        <a:t>S101</a:t>
                      </a:r>
                    </a:p>
                  </a:txBody>
                  <a:tcPr anchor="ctr"/>
                </a:tc>
                <a:tc>
                  <a:txBody>
                    <a:bodyPr/>
                    <a:lstStyle/>
                    <a:p>
                      <a:pPr>
                        <a:buNone/>
                      </a:pPr>
                      <a:r>
                        <a:rPr lang="en-US"/>
                        <a:t>Ram</a:t>
                      </a:r>
                    </a:p>
                  </a:txBody>
                  <a:tcPr anchor="ctr"/>
                </a:tc>
                <a:tc>
                  <a:txBody>
                    <a:bodyPr/>
                    <a:lstStyle/>
                    <a:p>
                      <a:pPr>
                        <a:buNone/>
                      </a:pPr>
                      <a:r>
                        <a:rPr lang="en-US" dirty="0"/>
                        <a:t>D1</a:t>
                      </a:r>
                    </a:p>
                  </a:txBody>
                  <a:tcPr anchor="ctr"/>
                </a:tc>
                <a:tc>
                  <a:txBody>
                    <a:bodyPr/>
                    <a:lstStyle/>
                    <a:p>
                      <a:pPr>
                        <a:buNone/>
                      </a:pPr>
                      <a:r>
                        <a:rPr lang="en-US" dirty="0"/>
                        <a:t>Computer</a:t>
                      </a:r>
                    </a:p>
                  </a:txBody>
                  <a:tcPr anchor="ctr"/>
                </a:tc>
                <a:extLst>
                  <a:ext uri="{0D108BD9-81ED-4DB2-BD59-A6C34878D82A}">
                    <a16:rowId xmlns:a16="http://schemas.microsoft.com/office/drawing/2014/main" val="1613438799"/>
                  </a:ext>
                </a:extLst>
              </a:tr>
              <a:tr h="344699">
                <a:tc>
                  <a:txBody>
                    <a:bodyPr/>
                    <a:lstStyle/>
                    <a:p>
                      <a:pPr>
                        <a:buNone/>
                      </a:pPr>
                      <a:r>
                        <a:rPr lang="en-US"/>
                        <a:t>S102</a:t>
                      </a:r>
                    </a:p>
                  </a:txBody>
                  <a:tcPr anchor="ctr"/>
                </a:tc>
                <a:tc>
                  <a:txBody>
                    <a:bodyPr/>
                    <a:lstStyle/>
                    <a:p>
                      <a:pPr>
                        <a:buNone/>
                      </a:pPr>
                      <a:r>
                        <a:rPr lang="en-US" dirty="0"/>
                        <a:t>Hari</a:t>
                      </a:r>
                    </a:p>
                  </a:txBody>
                  <a:tcPr anchor="ctr"/>
                </a:tc>
                <a:tc>
                  <a:txBody>
                    <a:bodyPr/>
                    <a:lstStyle/>
                    <a:p>
                      <a:pPr>
                        <a:buNone/>
                      </a:pPr>
                      <a:r>
                        <a:rPr lang="en-US" dirty="0"/>
                        <a:t>D2</a:t>
                      </a:r>
                    </a:p>
                  </a:txBody>
                  <a:tcPr anchor="ctr"/>
                </a:tc>
                <a:tc>
                  <a:txBody>
                    <a:bodyPr/>
                    <a:lstStyle/>
                    <a:p>
                      <a:pPr>
                        <a:buNone/>
                      </a:pPr>
                      <a:r>
                        <a:rPr lang="en-US" dirty="0"/>
                        <a:t>Civil</a:t>
                      </a:r>
                    </a:p>
                  </a:txBody>
                  <a:tcPr anchor="ctr"/>
                </a:tc>
                <a:extLst>
                  <a:ext uri="{0D108BD9-81ED-4DB2-BD59-A6C34878D82A}">
                    <a16:rowId xmlns:a16="http://schemas.microsoft.com/office/drawing/2014/main" val="1583487290"/>
                  </a:ext>
                </a:extLst>
              </a:tr>
            </a:tbl>
          </a:graphicData>
        </a:graphic>
      </p:graphicFrame>
      <p:graphicFrame>
        <p:nvGraphicFramePr>
          <p:cNvPr id="10" name="Table 9">
            <a:extLst>
              <a:ext uri="{FF2B5EF4-FFF2-40B4-BE49-F238E27FC236}">
                <a16:creationId xmlns:a16="http://schemas.microsoft.com/office/drawing/2014/main" id="{7003E423-85BF-0B6C-3601-41F702C3F124}"/>
              </a:ext>
            </a:extLst>
          </p:cNvPr>
          <p:cNvGraphicFramePr>
            <a:graphicFrameLocks noGrp="1"/>
          </p:cNvGraphicFramePr>
          <p:nvPr>
            <p:extLst>
              <p:ext uri="{D42A27DB-BD31-4B8C-83A1-F6EECF244321}">
                <p14:modId xmlns:p14="http://schemas.microsoft.com/office/powerpoint/2010/main" val="3256510479"/>
              </p:ext>
            </p:extLst>
          </p:nvPr>
        </p:nvGraphicFramePr>
        <p:xfrm>
          <a:off x="5982301" y="3308774"/>
          <a:ext cx="3946845" cy="2893790"/>
        </p:xfrm>
        <a:graphic>
          <a:graphicData uri="http://schemas.openxmlformats.org/drawingml/2006/table">
            <a:tbl>
              <a:tblPr firstRow="1" bandRow="1">
                <a:tableStyleId>{5C22544A-7EE6-4342-B048-85BDC9FD1C3A}</a:tableStyleId>
              </a:tblPr>
              <a:tblGrid>
                <a:gridCol w="1315615">
                  <a:extLst>
                    <a:ext uri="{9D8B030D-6E8A-4147-A177-3AD203B41FA5}">
                      <a16:colId xmlns:a16="http://schemas.microsoft.com/office/drawing/2014/main" val="213863359"/>
                    </a:ext>
                  </a:extLst>
                </a:gridCol>
                <a:gridCol w="1315615">
                  <a:extLst>
                    <a:ext uri="{9D8B030D-6E8A-4147-A177-3AD203B41FA5}">
                      <a16:colId xmlns:a16="http://schemas.microsoft.com/office/drawing/2014/main" val="2635593483"/>
                    </a:ext>
                  </a:extLst>
                </a:gridCol>
                <a:gridCol w="1315615">
                  <a:extLst>
                    <a:ext uri="{9D8B030D-6E8A-4147-A177-3AD203B41FA5}">
                      <a16:colId xmlns:a16="http://schemas.microsoft.com/office/drawing/2014/main" val="841846570"/>
                    </a:ext>
                  </a:extLst>
                </a:gridCol>
              </a:tblGrid>
              <a:tr h="625262">
                <a:tc>
                  <a:txBody>
                    <a:bodyPr/>
                    <a:lstStyle/>
                    <a:p>
                      <a:pPr>
                        <a:buNone/>
                      </a:pPr>
                      <a:r>
                        <a:rPr lang="en-US" dirty="0" err="1"/>
                        <a:t>Stu_ID</a:t>
                      </a:r>
                      <a:endParaRPr lang="en-US" dirty="0"/>
                    </a:p>
                  </a:txBody>
                  <a:tcPr anchor="ctr"/>
                </a:tc>
                <a:tc>
                  <a:txBody>
                    <a:bodyPr/>
                    <a:lstStyle/>
                    <a:p>
                      <a:pPr>
                        <a:buNone/>
                      </a:pPr>
                      <a:r>
                        <a:rPr lang="en-US"/>
                        <a:t>Subject</a:t>
                      </a:r>
                    </a:p>
                  </a:txBody>
                  <a:tcPr anchor="ctr"/>
                </a:tc>
                <a:tc>
                  <a:txBody>
                    <a:bodyPr/>
                    <a:lstStyle/>
                    <a:p>
                      <a:pPr>
                        <a:buNone/>
                      </a:pPr>
                      <a:r>
                        <a:rPr lang="en-US"/>
                        <a:t>Language</a:t>
                      </a:r>
                    </a:p>
                  </a:txBody>
                  <a:tcPr anchor="ctr"/>
                </a:tc>
                <a:extLst>
                  <a:ext uri="{0D108BD9-81ED-4DB2-BD59-A6C34878D82A}">
                    <a16:rowId xmlns:a16="http://schemas.microsoft.com/office/drawing/2014/main" val="750597701"/>
                  </a:ext>
                </a:extLst>
              </a:tr>
              <a:tr h="378088">
                <a:tc>
                  <a:txBody>
                    <a:bodyPr/>
                    <a:lstStyle/>
                    <a:p>
                      <a:pPr>
                        <a:buNone/>
                      </a:pPr>
                      <a:r>
                        <a:rPr lang="en-US" dirty="0"/>
                        <a:t>S101</a:t>
                      </a:r>
                    </a:p>
                  </a:txBody>
                  <a:tcPr anchor="ctr"/>
                </a:tc>
                <a:tc>
                  <a:txBody>
                    <a:bodyPr/>
                    <a:lstStyle/>
                    <a:p>
                      <a:pPr>
                        <a:buNone/>
                      </a:pPr>
                      <a:r>
                        <a:rPr lang="en-US"/>
                        <a:t>DBMS</a:t>
                      </a:r>
                    </a:p>
                  </a:txBody>
                  <a:tcPr anchor="ctr"/>
                </a:tc>
                <a:tc>
                  <a:txBody>
                    <a:bodyPr/>
                    <a:lstStyle/>
                    <a:p>
                      <a:pPr>
                        <a:buNone/>
                      </a:pPr>
                      <a:r>
                        <a:rPr lang="en-US"/>
                        <a:t>English</a:t>
                      </a:r>
                    </a:p>
                  </a:txBody>
                  <a:tcPr anchor="ctr"/>
                </a:tc>
                <a:extLst>
                  <a:ext uri="{0D108BD9-81ED-4DB2-BD59-A6C34878D82A}">
                    <a16:rowId xmlns:a16="http://schemas.microsoft.com/office/drawing/2014/main" val="4190997854"/>
                  </a:ext>
                </a:extLst>
              </a:tr>
              <a:tr h="378088">
                <a:tc>
                  <a:txBody>
                    <a:bodyPr/>
                    <a:lstStyle/>
                    <a:p>
                      <a:pPr>
                        <a:buNone/>
                      </a:pPr>
                      <a:r>
                        <a:rPr lang="en-US"/>
                        <a:t>S101</a:t>
                      </a:r>
                    </a:p>
                  </a:txBody>
                  <a:tcPr anchor="ctr"/>
                </a:tc>
                <a:tc>
                  <a:txBody>
                    <a:bodyPr/>
                    <a:lstStyle/>
                    <a:p>
                      <a:pPr>
                        <a:buNone/>
                      </a:pPr>
                      <a:r>
                        <a:rPr lang="en-US" dirty="0"/>
                        <a:t>DBMS</a:t>
                      </a:r>
                    </a:p>
                  </a:txBody>
                  <a:tcPr anchor="ctr"/>
                </a:tc>
                <a:tc>
                  <a:txBody>
                    <a:bodyPr/>
                    <a:lstStyle/>
                    <a:p>
                      <a:pPr>
                        <a:buNone/>
                      </a:pPr>
                      <a:r>
                        <a:rPr lang="en-US"/>
                        <a:t>Nepali</a:t>
                      </a:r>
                    </a:p>
                  </a:txBody>
                  <a:tcPr anchor="ctr"/>
                </a:tc>
                <a:extLst>
                  <a:ext uri="{0D108BD9-81ED-4DB2-BD59-A6C34878D82A}">
                    <a16:rowId xmlns:a16="http://schemas.microsoft.com/office/drawing/2014/main" val="2418840407"/>
                  </a:ext>
                </a:extLst>
              </a:tr>
              <a:tr h="378088">
                <a:tc>
                  <a:txBody>
                    <a:bodyPr/>
                    <a:lstStyle/>
                    <a:p>
                      <a:pPr>
                        <a:buNone/>
                      </a:pPr>
                      <a:r>
                        <a:rPr lang="en-US"/>
                        <a:t>S101</a:t>
                      </a:r>
                    </a:p>
                  </a:txBody>
                  <a:tcPr anchor="ctr"/>
                </a:tc>
                <a:tc>
                  <a:txBody>
                    <a:bodyPr/>
                    <a:lstStyle/>
                    <a:p>
                      <a:pPr>
                        <a:buNone/>
                      </a:pPr>
                      <a:r>
                        <a:rPr lang="en-US"/>
                        <a:t>OS</a:t>
                      </a:r>
                    </a:p>
                  </a:txBody>
                  <a:tcPr anchor="ctr"/>
                </a:tc>
                <a:tc>
                  <a:txBody>
                    <a:bodyPr/>
                    <a:lstStyle/>
                    <a:p>
                      <a:pPr>
                        <a:buNone/>
                      </a:pPr>
                      <a:r>
                        <a:rPr lang="en-US"/>
                        <a:t>English</a:t>
                      </a:r>
                    </a:p>
                  </a:txBody>
                  <a:tcPr anchor="ctr"/>
                </a:tc>
                <a:extLst>
                  <a:ext uri="{0D108BD9-81ED-4DB2-BD59-A6C34878D82A}">
                    <a16:rowId xmlns:a16="http://schemas.microsoft.com/office/drawing/2014/main" val="2232269818"/>
                  </a:ext>
                </a:extLst>
              </a:tr>
              <a:tr h="378088">
                <a:tc>
                  <a:txBody>
                    <a:bodyPr/>
                    <a:lstStyle/>
                    <a:p>
                      <a:pPr>
                        <a:buNone/>
                      </a:pPr>
                      <a:r>
                        <a:rPr lang="en-US"/>
                        <a:t>S101</a:t>
                      </a:r>
                    </a:p>
                  </a:txBody>
                  <a:tcPr anchor="ctr"/>
                </a:tc>
                <a:tc>
                  <a:txBody>
                    <a:bodyPr/>
                    <a:lstStyle/>
                    <a:p>
                      <a:pPr>
                        <a:buNone/>
                      </a:pPr>
                      <a:r>
                        <a:rPr lang="en-US"/>
                        <a:t>OS</a:t>
                      </a:r>
                    </a:p>
                  </a:txBody>
                  <a:tcPr anchor="ctr"/>
                </a:tc>
                <a:tc>
                  <a:txBody>
                    <a:bodyPr/>
                    <a:lstStyle/>
                    <a:p>
                      <a:pPr>
                        <a:buNone/>
                      </a:pPr>
                      <a:r>
                        <a:rPr lang="en-US"/>
                        <a:t>Nepali</a:t>
                      </a:r>
                    </a:p>
                  </a:txBody>
                  <a:tcPr anchor="ctr"/>
                </a:tc>
                <a:extLst>
                  <a:ext uri="{0D108BD9-81ED-4DB2-BD59-A6C34878D82A}">
                    <a16:rowId xmlns:a16="http://schemas.microsoft.com/office/drawing/2014/main" val="254113623"/>
                  </a:ext>
                </a:extLst>
              </a:tr>
              <a:tr h="378088">
                <a:tc>
                  <a:txBody>
                    <a:bodyPr/>
                    <a:lstStyle/>
                    <a:p>
                      <a:pPr>
                        <a:buNone/>
                      </a:pPr>
                      <a:r>
                        <a:rPr lang="en-US"/>
                        <a:t>S102</a:t>
                      </a:r>
                    </a:p>
                  </a:txBody>
                  <a:tcPr anchor="ctr"/>
                </a:tc>
                <a:tc>
                  <a:txBody>
                    <a:bodyPr/>
                    <a:lstStyle/>
                    <a:p>
                      <a:pPr>
                        <a:buNone/>
                      </a:pPr>
                      <a:r>
                        <a:rPr lang="en-US"/>
                        <a:t>DBMS</a:t>
                      </a:r>
                    </a:p>
                  </a:txBody>
                  <a:tcPr anchor="ctr"/>
                </a:tc>
                <a:tc>
                  <a:txBody>
                    <a:bodyPr/>
                    <a:lstStyle/>
                    <a:p>
                      <a:pPr>
                        <a:buNone/>
                      </a:pPr>
                      <a:r>
                        <a:rPr lang="en-US"/>
                        <a:t>English</a:t>
                      </a:r>
                    </a:p>
                  </a:txBody>
                  <a:tcPr anchor="ctr"/>
                </a:tc>
                <a:extLst>
                  <a:ext uri="{0D108BD9-81ED-4DB2-BD59-A6C34878D82A}">
                    <a16:rowId xmlns:a16="http://schemas.microsoft.com/office/drawing/2014/main" val="2829322054"/>
                  </a:ext>
                </a:extLst>
              </a:tr>
              <a:tr h="378088">
                <a:tc>
                  <a:txBody>
                    <a:bodyPr/>
                    <a:lstStyle/>
                    <a:p>
                      <a:pPr>
                        <a:buNone/>
                      </a:pPr>
                      <a:r>
                        <a:rPr lang="en-US"/>
                        <a:t>S102</a:t>
                      </a:r>
                    </a:p>
                  </a:txBody>
                  <a:tcPr anchor="ctr"/>
                </a:tc>
                <a:tc>
                  <a:txBody>
                    <a:bodyPr/>
                    <a:lstStyle/>
                    <a:p>
                      <a:pPr>
                        <a:buNone/>
                      </a:pPr>
                      <a:r>
                        <a:rPr lang="en-US"/>
                        <a:t>CN</a:t>
                      </a:r>
                    </a:p>
                  </a:txBody>
                  <a:tcPr anchor="ctr"/>
                </a:tc>
                <a:tc>
                  <a:txBody>
                    <a:bodyPr/>
                    <a:lstStyle/>
                    <a:p>
                      <a:pPr>
                        <a:buNone/>
                      </a:pPr>
                      <a:r>
                        <a:rPr lang="en-US" dirty="0"/>
                        <a:t>English</a:t>
                      </a:r>
                    </a:p>
                  </a:txBody>
                  <a:tcPr anchor="ctr"/>
                </a:tc>
                <a:extLst>
                  <a:ext uri="{0D108BD9-81ED-4DB2-BD59-A6C34878D82A}">
                    <a16:rowId xmlns:a16="http://schemas.microsoft.com/office/drawing/2014/main" val="2070343107"/>
                  </a:ext>
                </a:extLst>
              </a:tr>
            </a:tbl>
          </a:graphicData>
        </a:graphic>
      </p:graphicFrame>
    </p:spTree>
    <p:extLst>
      <p:ext uri="{BB962C8B-B14F-4D97-AF65-F5344CB8AC3E}">
        <p14:creationId xmlns:p14="http://schemas.microsoft.com/office/powerpoint/2010/main" val="203867759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A64AA6-CE2C-AF7E-24D1-38B24781EE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719DD9-1539-1B70-C9C5-BF06035EF5EB}"/>
              </a:ext>
            </a:extLst>
          </p:cNvPr>
          <p:cNvSpPr>
            <a:spLocks noGrp="1"/>
          </p:cNvSpPr>
          <p:nvPr>
            <p:ph type="title"/>
          </p:nvPr>
        </p:nvSpPr>
        <p:spPr/>
        <p:txBody>
          <a:bodyPr/>
          <a:lstStyle/>
          <a:p>
            <a:r>
              <a:rPr lang="en-US" dirty="0"/>
              <a:t>Third Normal Form (3NF)</a:t>
            </a:r>
          </a:p>
        </p:txBody>
      </p:sp>
      <p:graphicFrame>
        <p:nvGraphicFramePr>
          <p:cNvPr id="5" name="Table 4">
            <a:extLst>
              <a:ext uri="{FF2B5EF4-FFF2-40B4-BE49-F238E27FC236}">
                <a16:creationId xmlns:a16="http://schemas.microsoft.com/office/drawing/2014/main" id="{1F07E09A-4D2A-ACAF-EE6E-55C87A1636D9}"/>
              </a:ext>
            </a:extLst>
          </p:cNvPr>
          <p:cNvGraphicFramePr>
            <a:graphicFrameLocks noGrp="1"/>
          </p:cNvGraphicFramePr>
          <p:nvPr>
            <p:extLst>
              <p:ext uri="{D42A27DB-BD31-4B8C-83A1-F6EECF244321}">
                <p14:modId xmlns:p14="http://schemas.microsoft.com/office/powerpoint/2010/main" val="2377384599"/>
              </p:ext>
            </p:extLst>
          </p:nvPr>
        </p:nvGraphicFramePr>
        <p:xfrm>
          <a:off x="3559388" y="4787054"/>
          <a:ext cx="2567092" cy="1126068"/>
        </p:xfrm>
        <a:graphic>
          <a:graphicData uri="http://schemas.openxmlformats.org/drawingml/2006/table">
            <a:tbl>
              <a:tblPr firstRow="1" bandRow="1">
                <a:tableStyleId>{5C22544A-7EE6-4342-B048-85BDC9FD1C3A}</a:tableStyleId>
              </a:tblPr>
              <a:tblGrid>
                <a:gridCol w="984673">
                  <a:extLst>
                    <a:ext uri="{9D8B030D-6E8A-4147-A177-3AD203B41FA5}">
                      <a16:colId xmlns:a16="http://schemas.microsoft.com/office/drawing/2014/main" val="220224083"/>
                    </a:ext>
                  </a:extLst>
                </a:gridCol>
                <a:gridCol w="1582419">
                  <a:extLst>
                    <a:ext uri="{9D8B030D-6E8A-4147-A177-3AD203B41FA5}">
                      <a16:colId xmlns:a16="http://schemas.microsoft.com/office/drawing/2014/main" val="2259892988"/>
                    </a:ext>
                  </a:extLst>
                </a:gridCol>
              </a:tblGrid>
              <a:tr h="375356">
                <a:tc>
                  <a:txBody>
                    <a:bodyPr/>
                    <a:lstStyle/>
                    <a:p>
                      <a:pPr>
                        <a:buNone/>
                      </a:pPr>
                      <a:r>
                        <a:rPr lang="en-US" dirty="0" err="1"/>
                        <a:t>Dept_ID</a:t>
                      </a:r>
                      <a:endParaRPr lang="en-US" dirty="0"/>
                    </a:p>
                  </a:txBody>
                  <a:tcPr anchor="ctr"/>
                </a:tc>
                <a:tc>
                  <a:txBody>
                    <a:bodyPr/>
                    <a:lstStyle/>
                    <a:p>
                      <a:pPr>
                        <a:buNone/>
                      </a:pPr>
                      <a:r>
                        <a:rPr lang="en-US"/>
                        <a:t>Dept_Name</a:t>
                      </a:r>
                    </a:p>
                  </a:txBody>
                  <a:tcPr anchor="ctr"/>
                </a:tc>
                <a:extLst>
                  <a:ext uri="{0D108BD9-81ED-4DB2-BD59-A6C34878D82A}">
                    <a16:rowId xmlns:a16="http://schemas.microsoft.com/office/drawing/2014/main" val="408970064"/>
                  </a:ext>
                </a:extLst>
              </a:tr>
              <a:tr h="375356">
                <a:tc>
                  <a:txBody>
                    <a:bodyPr/>
                    <a:lstStyle/>
                    <a:p>
                      <a:pPr>
                        <a:buNone/>
                      </a:pPr>
                      <a:r>
                        <a:rPr lang="en-US"/>
                        <a:t>D1</a:t>
                      </a:r>
                    </a:p>
                  </a:txBody>
                  <a:tcPr anchor="ctr"/>
                </a:tc>
                <a:tc>
                  <a:txBody>
                    <a:bodyPr/>
                    <a:lstStyle/>
                    <a:p>
                      <a:pPr>
                        <a:buNone/>
                      </a:pPr>
                      <a:r>
                        <a:rPr lang="en-US"/>
                        <a:t>Computer</a:t>
                      </a:r>
                    </a:p>
                  </a:txBody>
                  <a:tcPr anchor="ctr"/>
                </a:tc>
                <a:extLst>
                  <a:ext uri="{0D108BD9-81ED-4DB2-BD59-A6C34878D82A}">
                    <a16:rowId xmlns:a16="http://schemas.microsoft.com/office/drawing/2014/main" val="2445831667"/>
                  </a:ext>
                </a:extLst>
              </a:tr>
              <a:tr h="375356">
                <a:tc>
                  <a:txBody>
                    <a:bodyPr/>
                    <a:lstStyle/>
                    <a:p>
                      <a:pPr>
                        <a:buNone/>
                      </a:pPr>
                      <a:r>
                        <a:rPr lang="en-US"/>
                        <a:t>D2</a:t>
                      </a:r>
                    </a:p>
                  </a:txBody>
                  <a:tcPr anchor="ctr"/>
                </a:tc>
                <a:tc>
                  <a:txBody>
                    <a:bodyPr/>
                    <a:lstStyle/>
                    <a:p>
                      <a:pPr>
                        <a:buNone/>
                      </a:pPr>
                      <a:r>
                        <a:rPr lang="en-US" dirty="0"/>
                        <a:t>Civil</a:t>
                      </a:r>
                    </a:p>
                  </a:txBody>
                  <a:tcPr anchor="ctr"/>
                </a:tc>
                <a:extLst>
                  <a:ext uri="{0D108BD9-81ED-4DB2-BD59-A6C34878D82A}">
                    <a16:rowId xmlns:a16="http://schemas.microsoft.com/office/drawing/2014/main" val="945194909"/>
                  </a:ext>
                </a:extLst>
              </a:tr>
            </a:tbl>
          </a:graphicData>
        </a:graphic>
      </p:graphicFrame>
      <p:graphicFrame>
        <p:nvGraphicFramePr>
          <p:cNvPr id="6" name="Table 5">
            <a:extLst>
              <a:ext uri="{FF2B5EF4-FFF2-40B4-BE49-F238E27FC236}">
                <a16:creationId xmlns:a16="http://schemas.microsoft.com/office/drawing/2014/main" id="{9512122C-148E-8DEA-4A39-0C81C0459306}"/>
              </a:ext>
            </a:extLst>
          </p:cNvPr>
          <p:cNvGraphicFramePr>
            <a:graphicFrameLocks noGrp="1"/>
          </p:cNvGraphicFramePr>
          <p:nvPr>
            <p:extLst>
              <p:ext uri="{D42A27DB-BD31-4B8C-83A1-F6EECF244321}">
                <p14:modId xmlns:p14="http://schemas.microsoft.com/office/powerpoint/2010/main" val="1854302251"/>
              </p:ext>
            </p:extLst>
          </p:nvPr>
        </p:nvGraphicFramePr>
        <p:xfrm>
          <a:off x="5353198" y="2142914"/>
          <a:ext cx="2567092" cy="1501424"/>
        </p:xfrm>
        <a:graphic>
          <a:graphicData uri="http://schemas.openxmlformats.org/drawingml/2006/table">
            <a:tbl>
              <a:tblPr firstRow="1" bandRow="1">
                <a:tableStyleId>{5C22544A-7EE6-4342-B048-85BDC9FD1C3A}</a:tableStyleId>
              </a:tblPr>
              <a:tblGrid>
                <a:gridCol w="984673">
                  <a:extLst>
                    <a:ext uri="{9D8B030D-6E8A-4147-A177-3AD203B41FA5}">
                      <a16:colId xmlns:a16="http://schemas.microsoft.com/office/drawing/2014/main" val="220224083"/>
                    </a:ext>
                  </a:extLst>
                </a:gridCol>
                <a:gridCol w="1582419">
                  <a:extLst>
                    <a:ext uri="{9D8B030D-6E8A-4147-A177-3AD203B41FA5}">
                      <a16:colId xmlns:a16="http://schemas.microsoft.com/office/drawing/2014/main" val="2259892988"/>
                    </a:ext>
                  </a:extLst>
                </a:gridCol>
              </a:tblGrid>
              <a:tr h="375356">
                <a:tc>
                  <a:txBody>
                    <a:bodyPr/>
                    <a:lstStyle/>
                    <a:p>
                      <a:pPr>
                        <a:buNone/>
                      </a:pPr>
                      <a:r>
                        <a:rPr lang="en-US" dirty="0"/>
                        <a:t>Subject</a:t>
                      </a:r>
                    </a:p>
                  </a:txBody>
                  <a:tcPr anchor="ctr"/>
                </a:tc>
                <a:tc>
                  <a:txBody>
                    <a:bodyPr/>
                    <a:lstStyle/>
                    <a:p>
                      <a:pPr>
                        <a:buNone/>
                      </a:pPr>
                      <a:r>
                        <a:rPr lang="en-US"/>
                        <a:t>Teacher</a:t>
                      </a:r>
                    </a:p>
                  </a:txBody>
                  <a:tcPr anchor="ctr"/>
                </a:tc>
                <a:extLst>
                  <a:ext uri="{0D108BD9-81ED-4DB2-BD59-A6C34878D82A}">
                    <a16:rowId xmlns:a16="http://schemas.microsoft.com/office/drawing/2014/main" val="408970064"/>
                  </a:ext>
                </a:extLst>
              </a:tr>
              <a:tr h="375356">
                <a:tc>
                  <a:txBody>
                    <a:bodyPr/>
                    <a:lstStyle/>
                    <a:p>
                      <a:pPr>
                        <a:buNone/>
                      </a:pPr>
                      <a:r>
                        <a:rPr lang="en-US"/>
                        <a:t>DBMS</a:t>
                      </a:r>
                    </a:p>
                  </a:txBody>
                  <a:tcPr anchor="ctr"/>
                </a:tc>
                <a:tc>
                  <a:txBody>
                    <a:bodyPr/>
                    <a:lstStyle/>
                    <a:p>
                      <a:pPr>
                        <a:buNone/>
                      </a:pPr>
                      <a:r>
                        <a:rPr lang="en-US"/>
                        <a:t>Sharma</a:t>
                      </a:r>
                    </a:p>
                  </a:txBody>
                  <a:tcPr anchor="ctr"/>
                </a:tc>
                <a:extLst>
                  <a:ext uri="{0D108BD9-81ED-4DB2-BD59-A6C34878D82A}">
                    <a16:rowId xmlns:a16="http://schemas.microsoft.com/office/drawing/2014/main" val="2445831667"/>
                  </a:ext>
                </a:extLst>
              </a:tr>
              <a:tr h="375356">
                <a:tc>
                  <a:txBody>
                    <a:bodyPr/>
                    <a:lstStyle/>
                    <a:p>
                      <a:pPr>
                        <a:buNone/>
                      </a:pPr>
                      <a:r>
                        <a:rPr lang="en-US" dirty="0"/>
                        <a:t>OS</a:t>
                      </a:r>
                    </a:p>
                  </a:txBody>
                  <a:tcPr anchor="ctr"/>
                </a:tc>
                <a:tc>
                  <a:txBody>
                    <a:bodyPr/>
                    <a:lstStyle/>
                    <a:p>
                      <a:pPr>
                        <a:buNone/>
                      </a:pPr>
                      <a:r>
                        <a:rPr lang="en-US"/>
                        <a:t>Verma</a:t>
                      </a:r>
                    </a:p>
                  </a:txBody>
                  <a:tcPr anchor="ctr"/>
                </a:tc>
                <a:extLst>
                  <a:ext uri="{0D108BD9-81ED-4DB2-BD59-A6C34878D82A}">
                    <a16:rowId xmlns:a16="http://schemas.microsoft.com/office/drawing/2014/main" val="945194909"/>
                  </a:ext>
                </a:extLst>
              </a:tr>
              <a:tr h="375356">
                <a:tc>
                  <a:txBody>
                    <a:bodyPr/>
                    <a:lstStyle/>
                    <a:p>
                      <a:pPr>
                        <a:buNone/>
                      </a:pPr>
                      <a:r>
                        <a:rPr lang="en-US"/>
                        <a:t>CN</a:t>
                      </a:r>
                    </a:p>
                  </a:txBody>
                  <a:tcPr anchor="ctr"/>
                </a:tc>
                <a:tc>
                  <a:txBody>
                    <a:bodyPr/>
                    <a:lstStyle/>
                    <a:p>
                      <a:pPr>
                        <a:buNone/>
                      </a:pPr>
                      <a:r>
                        <a:rPr lang="en-US" dirty="0"/>
                        <a:t>Pant</a:t>
                      </a:r>
                    </a:p>
                  </a:txBody>
                  <a:tcPr anchor="ctr"/>
                </a:tc>
                <a:extLst>
                  <a:ext uri="{0D108BD9-81ED-4DB2-BD59-A6C34878D82A}">
                    <a16:rowId xmlns:a16="http://schemas.microsoft.com/office/drawing/2014/main" val="763572993"/>
                  </a:ext>
                </a:extLst>
              </a:tr>
            </a:tbl>
          </a:graphicData>
        </a:graphic>
      </p:graphicFrame>
      <p:graphicFrame>
        <p:nvGraphicFramePr>
          <p:cNvPr id="8" name="Content Placeholder 3">
            <a:extLst>
              <a:ext uri="{FF2B5EF4-FFF2-40B4-BE49-F238E27FC236}">
                <a16:creationId xmlns:a16="http://schemas.microsoft.com/office/drawing/2014/main" id="{F8B0BFCE-B123-9A6D-81FE-E415E5A807B6}"/>
              </a:ext>
            </a:extLst>
          </p:cNvPr>
          <p:cNvGraphicFramePr>
            <a:graphicFrameLocks/>
          </p:cNvGraphicFramePr>
          <p:nvPr>
            <p:extLst>
              <p:ext uri="{D42A27DB-BD31-4B8C-83A1-F6EECF244321}">
                <p14:modId xmlns:p14="http://schemas.microsoft.com/office/powerpoint/2010/main" val="2832923325"/>
              </p:ext>
            </p:extLst>
          </p:nvPr>
        </p:nvGraphicFramePr>
        <p:xfrm>
          <a:off x="60960" y="2142914"/>
          <a:ext cx="5139838" cy="1097280"/>
        </p:xfrm>
        <a:graphic>
          <a:graphicData uri="http://schemas.openxmlformats.org/drawingml/2006/table">
            <a:tbl>
              <a:tblPr firstRow="1" bandRow="1">
                <a:tableStyleId>{5C22544A-7EE6-4342-B048-85BDC9FD1C3A}</a:tableStyleId>
              </a:tblPr>
              <a:tblGrid>
                <a:gridCol w="959169">
                  <a:extLst>
                    <a:ext uri="{9D8B030D-6E8A-4147-A177-3AD203B41FA5}">
                      <a16:colId xmlns:a16="http://schemas.microsoft.com/office/drawing/2014/main" val="3785994975"/>
                    </a:ext>
                  </a:extLst>
                </a:gridCol>
                <a:gridCol w="1280160">
                  <a:extLst>
                    <a:ext uri="{9D8B030D-6E8A-4147-A177-3AD203B41FA5}">
                      <a16:colId xmlns:a16="http://schemas.microsoft.com/office/drawing/2014/main" val="672026554"/>
                    </a:ext>
                  </a:extLst>
                </a:gridCol>
                <a:gridCol w="1165860">
                  <a:extLst>
                    <a:ext uri="{9D8B030D-6E8A-4147-A177-3AD203B41FA5}">
                      <a16:colId xmlns:a16="http://schemas.microsoft.com/office/drawing/2014/main" val="1055285404"/>
                    </a:ext>
                  </a:extLst>
                </a:gridCol>
                <a:gridCol w="1734649">
                  <a:extLst>
                    <a:ext uri="{9D8B030D-6E8A-4147-A177-3AD203B41FA5}">
                      <a16:colId xmlns:a16="http://schemas.microsoft.com/office/drawing/2014/main" val="3546076491"/>
                    </a:ext>
                  </a:extLst>
                </a:gridCol>
              </a:tblGrid>
              <a:tr h="344699">
                <a:tc>
                  <a:txBody>
                    <a:bodyPr/>
                    <a:lstStyle/>
                    <a:p>
                      <a:pPr>
                        <a:buNone/>
                      </a:pPr>
                      <a:r>
                        <a:rPr lang="en-US" dirty="0" err="1"/>
                        <a:t>Stu_ID</a:t>
                      </a:r>
                      <a:endParaRPr lang="en-US" dirty="0"/>
                    </a:p>
                  </a:txBody>
                  <a:tcPr anchor="ctr"/>
                </a:tc>
                <a:tc>
                  <a:txBody>
                    <a:bodyPr/>
                    <a:lstStyle/>
                    <a:p>
                      <a:pPr>
                        <a:buNone/>
                      </a:pPr>
                      <a:r>
                        <a:rPr lang="en-US" dirty="0" err="1"/>
                        <a:t>Stu_Name</a:t>
                      </a:r>
                      <a:endParaRPr lang="en-US" dirty="0"/>
                    </a:p>
                  </a:txBody>
                  <a:tcPr anchor="ctr"/>
                </a:tc>
                <a:tc>
                  <a:txBody>
                    <a:bodyPr/>
                    <a:lstStyle/>
                    <a:p>
                      <a:pPr>
                        <a:buNone/>
                      </a:pPr>
                      <a:r>
                        <a:rPr lang="en-US" dirty="0" err="1"/>
                        <a:t>Dept_ID</a:t>
                      </a:r>
                      <a:endParaRPr lang="en-US" dirty="0"/>
                    </a:p>
                  </a:txBody>
                  <a:tcPr anchor="ctr"/>
                </a:tc>
                <a:tc>
                  <a:txBody>
                    <a:bodyPr/>
                    <a:lstStyle/>
                    <a:p>
                      <a:pPr>
                        <a:buNone/>
                      </a:pPr>
                      <a:r>
                        <a:rPr lang="en-US" dirty="0" err="1"/>
                        <a:t>Dept_name</a:t>
                      </a:r>
                      <a:endParaRPr lang="en-US" dirty="0"/>
                    </a:p>
                  </a:txBody>
                  <a:tcPr anchor="ctr"/>
                </a:tc>
                <a:extLst>
                  <a:ext uri="{0D108BD9-81ED-4DB2-BD59-A6C34878D82A}">
                    <a16:rowId xmlns:a16="http://schemas.microsoft.com/office/drawing/2014/main" val="973631919"/>
                  </a:ext>
                </a:extLst>
              </a:tr>
              <a:tr h="344699">
                <a:tc>
                  <a:txBody>
                    <a:bodyPr/>
                    <a:lstStyle/>
                    <a:p>
                      <a:pPr>
                        <a:buNone/>
                      </a:pPr>
                      <a:r>
                        <a:rPr lang="en-US"/>
                        <a:t>S101</a:t>
                      </a:r>
                    </a:p>
                  </a:txBody>
                  <a:tcPr anchor="ctr"/>
                </a:tc>
                <a:tc>
                  <a:txBody>
                    <a:bodyPr/>
                    <a:lstStyle/>
                    <a:p>
                      <a:pPr>
                        <a:buNone/>
                      </a:pPr>
                      <a:r>
                        <a:rPr lang="en-US"/>
                        <a:t>Ram</a:t>
                      </a:r>
                    </a:p>
                  </a:txBody>
                  <a:tcPr anchor="ctr"/>
                </a:tc>
                <a:tc>
                  <a:txBody>
                    <a:bodyPr/>
                    <a:lstStyle/>
                    <a:p>
                      <a:pPr>
                        <a:buNone/>
                      </a:pPr>
                      <a:r>
                        <a:rPr lang="en-US" dirty="0"/>
                        <a:t>D1</a:t>
                      </a:r>
                    </a:p>
                  </a:txBody>
                  <a:tcPr anchor="ctr"/>
                </a:tc>
                <a:tc>
                  <a:txBody>
                    <a:bodyPr/>
                    <a:lstStyle/>
                    <a:p>
                      <a:pPr>
                        <a:buNone/>
                      </a:pPr>
                      <a:r>
                        <a:rPr lang="en-US" dirty="0"/>
                        <a:t>Computer</a:t>
                      </a:r>
                    </a:p>
                  </a:txBody>
                  <a:tcPr anchor="ctr"/>
                </a:tc>
                <a:extLst>
                  <a:ext uri="{0D108BD9-81ED-4DB2-BD59-A6C34878D82A}">
                    <a16:rowId xmlns:a16="http://schemas.microsoft.com/office/drawing/2014/main" val="1613438799"/>
                  </a:ext>
                </a:extLst>
              </a:tr>
              <a:tr h="344699">
                <a:tc>
                  <a:txBody>
                    <a:bodyPr/>
                    <a:lstStyle/>
                    <a:p>
                      <a:pPr>
                        <a:buNone/>
                      </a:pPr>
                      <a:r>
                        <a:rPr lang="en-US"/>
                        <a:t>S102</a:t>
                      </a:r>
                    </a:p>
                  </a:txBody>
                  <a:tcPr anchor="ctr"/>
                </a:tc>
                <a:tc>
                  <a:txBody>
                    <a:bodyPr/>
                    <a:lstStyle/>
                    <a:p>
                      <a:pPr>
                        <a:buNone/>
                      </a:pPr>
                      <a:r>
                        <a:rPr lang="en-US"/>
                        <a:t>Hari</a:t>
                      </a:r>
                    </a:p>
                  </a:txBody>
                  <a:tcPr anchor="ctr"/>
                </a:tc>
                <a:tc>
                  <a:txBody>
                    <a:bodyPr/>
                    <a:lstStyle/>
                    <a:p>
                      <a:pPr>
                        <a:buNone/>
                      </a:pPr>
                      <a:r>
                        <a:rPr lang="en-US" dirty="0"/>
                        <a:t>D2</a:t>
                      </a:r>
                    </a:p>
                  </a:txBody>
                  <a:tcPr anchor="ctr"/>
                </a:tc>
                <a:tc>
                  <a:txBody>
                    <a:bodyPr/>
                    <a:lstStyle/>
                    <a:p>
                      <a:pPr>
                        <a:buNone/>
                      </a:pPr>
                      <a:r>
                        <a:rPr lang="en-US" dirty="0"/>
                        <a:t>Civil</a:t>
                      </a:r>
                    </a:p>
                  </a:txBody>
                  <a:tcPr anchor="ctr"/>
                </a:tc>
                <a:extLst>
                  <a:ext uri="{0D108BD9-81ED-4DB2-BD59-A6C34878D82A}">
                    <a16:rowId xmlns:a16="http://schemas.microsoft.com/office/drawing/2014/main" val="1583487290"/>
                  </a:ext>
                </a:extLst>
              </a:tr>
            </a:tbl>
          </a:graphicData>
        </a:graphic>
      </p:graphicFrame>
      <p:graphicFrame>
        <p:nvGraphicFramePr>
          <p:cNvPr id="7" name="Content Placeholder 3">
            <a:extLst>
              <a:ext uri="{FF2B5EF4-FFF2-40B4-BE49-F238E27FC236}">
                <a16:creationId xmlns:a16="http://schemas.microsoft.com/office/drawing/2014/main" id="{4A517103-035A-8738-E7C9-3267678BAF38}"/>
              </a:ext>
            </a:extLst>
          </p:cNvPr>
          <p:cNvGraphicFramePr>
            <a:graphicFrameLocks/>
          </p:cNvGraphicFramePr>
          <p:nvPr>
            <p:extLst>
              <p:ext uri="{D42A27DB-BD31-4B8C-83A1-F6EECF244321}">
                <p14:modId xmlns:p14="http://schemas.microsoft.com/office/powerpoint/2010/main" val="225972119"/>
              </p:ext>
            </p:extLst>
          </p:nvPr>
        </p:nvGraphicFramePr>
        <p:xfrm>
          <a:off x="60960" y="4787054"/>
          <a:ext cx="3405189" cy="1097280"/>
        </p:xfrm>
        <a:graphic>
          <a:graphicData uri="http://schemas.openxmlformats.org/drawingml/2006/table">
            <a:tbl>
              <a:tblPr firstRow="1" bandRow="1">
                <a:tableStyleId>{5C22544A-7EE6-4342-B048-85BDC9FD1C3A}</a:tableStyleId>
              </a:tblPr>
              <a:tblGrid>
                <a:gridCol w="959169">
                  <a:extLst>
                    <a:ext uri="{9D8B030D-6E8A-4147-A177-3AD203B41FA5}">
                      <a16:colId xmlns:a16="http://schemas.microsoft.com/office/drawing/2014/main" val="3785994975"/>
                    </a:ext>
                  </a:extLst>
                </a:gridCol>
                <a:gridCol w="1280160">
                  <a:extLst>
                    <a:ext uri="{9D8B030D-6E8A-4147-A177-3AD203B41FA5}">
                      <a16:colId xmlns:a16="http://schemas.microsoft.com/office/drawing/2014/main" val="672026554"/>
                    </a:ext>
                  </a:extLst>
                </a:gridCol>
                <a:gridCol w="1165860">
                  <a:extLst>
                    <a:ext uri="{9D8B030D-6E8A-4147-A177-3AD203B41FA5}">
                      <a16:colId xmlns:a16="http://schemas.microsoft.com/office/drawing/2014/main" val="1055285404"/>
                    </a:ext>
                  </a:extLst>
                </a:gridCol>
              </a:tblGrid>
              <a:tr h="344699">
                <a:tc>
                  <a:txBody>
                    <a:bodyPr/>
                    <a:lstStyle/>
                    <a:p>
                      <a:pPr>
                        <a:buNone/>
                      </a:pPr>
                      <a:r>
                        <a:rPr lang="en-US" dirty="0" err="1"/>
                        <a:t>Stu_ID</a:t>
                      </a:r>
                      <a:endParaRPr lang="en-US" dirty="0"/>
                    </a:p>
                  </a:txBody>
                  <a:tcPr anchor="ctr"/>
                </a:tc>
                <a:tc>
                  <a:txBody>
                    <a:bodyPr/>
                    <a:lstStyle/>
                    <a:p>
                      <a:pPr>
                        <a:buNone/>
                      </a:pPr>
                      <a:r>
                        <a:rPr lang="en-US" dirty="0" err="1"/>
                        <a:t>Stu_Name</a:t>
                      </a:r>
                      <a:endParaRPr lang="en-US" dirty="0"/>
                    </a:p>
                  </a:txBody>
                  <a:tcPr anchor="ctr"/>
                </a:tc>
                <a:tc>
                  <a:txBody>
                    <a:bodyPr/>
                    <a:lstStyle/>
                    <a:p>
                      <a:pPr>
                        <a:buNone/>
                      </a:pPr>
                      <a:r>
                        <a:rPr lang="en-US" dirty="0" err="1"/>
                        <a:t>Dept_ID</a:t>
                      </a:r>
                      <a:endParaRPr lang="en-US" dirty="0"/>
                    </a:p>
                  </a:txBody>
                  <a:tcPr anchor="ctr"/>
                </a:tc>
                <a:extLst>
                  <a:ext uri="{0D108BD9-81ED-4DB2-BD59-A6C34878D82A}">
                    <a16:rowId xmlns:a16="http://schemas.microsoft.com/office/drawing/2014/main" val="973631919"/>
                  </a:ext>
                </a:extLst>
              </a:tr>
              <a:tr h="344699">
                <a:tc>
                  <a:txBody>
                    <a:bodyPr/>
                    <a:lstStyle/>
                    <a:p>
                      <a:pPr>
                        <a:buNone/>
                      </a:pPr>
                      <a:r>
                        <a:rPr lang="en-US"/>
                        <a:t>S101</a:t>
                      </a:r>
                    </a:p>
                  </a:txBody>
                  <a:tcPr anchor="ctr"/>
                </a:tc>
                <a:tc>
                  <a:txBody>
                    <a:bodyPr/>
                    <a:lstStyle/>
                    <a:p>
                      <a:pPr>
                        <a:buNone/>
                      </a:pPr>
                      <a:r>
                        <a:rPr lang="en-US"/>
                        <a:t>Ram</a:t>
                      </a:r>
                    </a:p>
                  </a:txBody>
                  <a:tcPr anchor="ctr"/>
                </a:tc>
                <a:tc>
                  <a:txBody>
                    <a:bodyPr/>
                    <a:lstStyle/>
                    <a:p>
                      <a:pPr>
                        <a:buNone/>
                      </a:pPr>
                      <a:r>
                        <a:rPr lang="en-US" dirty="0"/>
                        <a:t>D1</a:t>
                      </a:r>
                    </a:p>
                  </a:txBody>
                  <a:tcPr anchor="ctr"/>
                </a:tc>
                <a:extLst>
                  <a:ext uri="{0D108BD9-81ED-4DB2-BD59-A6C34878D82A}">
                    <a16:rowId xmlns:a16="http://schemas.microsoft.com/office/drawing/2014/main" val="1613438799"/>
                  </a:ext>
                </a:extLst>
              </a:tr>
              <a:tr h="344699">
                <a:tc>
                  <a:txBody>
                    <a:bodyPr/>
                    <a:lstStyle/>
                    <a:p>
                      <a:pPr>
                        <a:buNone/>
                      </a:pPr>
                      <a:r>
                        <a:rPr lang="en-US"/>
                        <a:t>S102</a:t>
                      </a:r>
                    </a:p>
                  </a:txBody>
                  <a:tcPr anchor="ctr"/>
                </a:tc>
                <a:tc>
                  <a:txBody>
                    <a:bodyPr/>
                    <a:lstStyle/>
                    <a:p>
                      <a:pPr>
                        <a:buNone/>
                      </a:pPr>
                      <a:r>
                        <a:rPr lang="en-US" dirty="0"/>
                        <a:t>Hari</a:t>
                      </a:r>
                    </a:p>
                  </a:txBody>
                  <a:tcPr anchor="ctr"/>
                </a:tc>
                <a:tc>
                  <a:txBody>
                    <a:bodyPr/>
                    <a:lstStyle/>
                    <a:p>
                      <a:pPr>
                        <a:buNone/>
                      </a:pPr>
                      <a:r>
                        <a:rPr lang="en-US" dirty="0"/>
                        <a:t>D2</a:t>
                      </a:r>
                    </a:p>
                  </a:txBody>
                  <a:tcPr anchor="ctr"/>
                </a:tc>
                <a:extLst>
                  <a:ext uri="{0D108BD9-81ED-4DB2-BD59-A6C34878D82A}">
                    <a16:rowId xmlns:a16="http://schemas.microsoft.com/office/drawing/2014/main" val="1583487290"/>
                  </a:ext>
                </a:extLst>
              </a:tr>
            </a:tbl>
          </a:graphicData>
        </a:graphic>
      </p:graphicFrame>
      <p:graphicFrame>
        <p:nvGraphicFramePr>
          <p:cNvPr id="10" name="Table 9">
            <a:extLst>
              <a:ext uri="{FF2B5EF4-FFF2-40B4-BE49-F238E27FC236}">
                <a16:creationId xmlns:a16="http://schemas.microsoft.com/office/drawing/2014/main" id="{DFDCFD8A-59D4-523D-ABFA-D6A2CC3D7297}"/>
              </a:ext>
            </a:extLst>
          </p:cNvPr>
          <p:cNvGraphicFramePr>
            <a:graphicFrameLocks noGrp="1"/>
          </p:cNvGraphicFramePr>
          <p:nvPr>
            <p:extLst>
              <p:ext uri="{D42A27DB-BD31-4B8C-83A1-F6EECF244321}">
                <p14:modId xmlns:p14="http://schemas.microsoft.com/office/powerpoint/2010/main" val="216753421"/>
              </p:ext>
            </p:extLst>
          </p:nvPr>
        </p:nvGraphicFramePr>
        <p:xfrm>
          <a:off x="8252775" y="1214178"/>
          <a:ext cx="3946845" cy="2893790"/>
        </p:xfrm>
        <a:graphic>
          <a:graphicData uri="http://schemas.openxmlformats.org/drawingml/2006/table">
            <a:tbl>
              <a:tblPr firstRow="1" bandRow="1">
                <a:tableStyleId>{5C22544A-7EE6-4342-B048-85BDC9FD1C3A}</a:tableStyleId>
              </a:tblPr>
              <a:tblGrid>
                <a:gridCol w="1315615">
                  <a:extLst>
                    <a:ext uri="{9D8B030D-6E8A-4147-A177-3AD203B41FA5}">
                      <a16:colId xmlns:a16="http://schemas.microsoft.com/office/drawing/2014/main" val="213863359"/>
                    </a:ext>
                  </a:extLst>
                </a:gridCol>
                <a:gridCol w="1315615">
                  <a:extLst>
                    <a:ext uri="{9D8B030D-6E8A-4147-A177-3AD203B41FA5}">
                      <a16:colId xmlns:a16="http://schemas.microsoft.com/office/drawing/2014/main" val="2635593483"/>
                    </a:ext>
                  </a:extLst>
                </a:gridCol>
                <a:gridCol w="1315615">
                  <a:extLst>
                    <a:ext uri="{9D8B030D-6E8A-4147-A177-3AD203B41FA5}">
                      <a16:colId xmlns:a16="http://schemas.microsoft.com/office/drawing/2014/main" val="841846570"/>
                    </a:ext>
                  </a:extLst>
                </a:gridCol>
              </a:tblGrid>
              <a:tr h="625262">
                <a:tc>
                  <a:txBody>
                    <a:bodyPr/>
                    <a:lstStyle/>
                    <a:p>
                      <a:pPr>
                        <a:buNone/>
                      </a:pPr>
                      <a:r>
                        <a:rPr lang="en-US" dirty="0" err="1"/>
                        <a:t>Stu_ID</a:t>
                      </a:r>
                      <a:endParaRPr lang="en-US" dirty="0"/>
                    </a:p>
                  </a:txBody>
                  <a:tcPr anchor="ctr"/>
                </a:tc>
                <a:tc>
                  <a:txBody>
                    <a:bodyPr/>
                    <a:lstStyle/>
                    <a:p>
                      <a:pPr>
                        <a:buNone/>
                      </a:pPr>
                      <a:r>
                        <a:rPr lang="en-US" dirty="0"/>
                        <a:t>Subject</a:t>
                      </a:r>
                    </a:p>
                  </a:txBody>
                  <a:tcPr anchor="ctr"/>
                </a:tc>
                <a:tc>
                  <a:txBody>
                    <a:bodyPr/>
                    <a:lstStyle/>
                    <a:p>
                      <a:pPr>
                        <a:buNone/>
                      </a:pPr>
                      <a:r>
                        <a:rPr lang="en-US" dirty="0"/>
                        <a:t>Language</a:t>
                      </a:r>
                    </a:p>
                  </a:txBody>
                  <a:tcPr anchor="ctr"/>
                </a:tc>
                <a:extLst>
                  <a:ext uri="{0D108BD9-81ED-4DB2-BD59-A6C34878D82A}">
                    <a16:rowId xmlns:a16="http://schemas.microsoft.com/office/drawing/2014/main" val="750597701"/>
                  </a:ext>
                </a:extLst>
              </a:tr>
              <a:tr h="378088">
                <a:tc>
                  <a:txBody>
                    <a:bodyPr/>
                    <a:lstStyle/>
                    <a:p>
                      <a:pPr>
                        <a:buNone/>
                      </a:pPr>
                      <a:r>
                        <a:rPr lang="en-US" dirty="0"/>
                        <a:t>S101</a:t>
                      </a:r>
                    </a:p>
                  </a:txBody>
                  <a:tcPr anchor="ctr"/>
                </a:tc>
                <a:tc>
                  <a:txBody>
                    <a:bodyPr/>
                    <a:lstStyle/>
                    <a:p>
                      <a:pPr>
                        <a:buNone/>
                      </a:pPr>
                      <a:r>
                        <a:rPr lang="en-US"/>
                        <a:t>DBMS</a:t>
                      </a:r>
                    </a:p>
                  </a:txBody>
                  <a:tcPr anchor="ctr"/>
                </a:tc>
                <a:tc>
                  <a:txBody>
                    <a:bodyPr/>
                    <a:lstStyle/>
                    <a:p>
                      <a:pPr>
                        <a:buNone/>
                      </a:pPr>
                      <a:r>
                        <a:rPr lang="en-US"/>
                        <a:t>English</a:t>
                      </a:r>
                    </a:p>
                  </a:txBody>
                  <a:tcPr anchor="ctr"/>
                </a:tc>
                <a:extLst>
                  <a:ext uri="{0D108BD9-81ED-4DB2-BD59-A6C34878D82A}">
                    <a16:rowId xmlns:a16="http://schemas.microsoft.com/office/drawing/2014/main" val="4190997854"/>
                  </a:ext>
                </a:extLst>
              </a:tr>
              <a:tr h="378088">
                <a:tc>
                  <a:txBody>
                    <a:bodyPr/>
                    <a:lstStyle/>
                    <a:p>
                      <a:pPr>
                        <a:buNone/>
                      </a:pPr>
                      <a:r>
                        <a:rPr lang="en-US"/>
                        <a:t>S101</a:t>
                      </a:r>
                    </a:p>
                  </a:txBody>
                  <a:tcPr anchor="ctr"/>
                </a:tc>
                <a:tc>
                  <a:txBody>
                    <a:bodyPr/>
                    <a:lstStyle/>
                    <a:p>
                      <a:pPr>
                        <a:buNone/>
                      </a:pPr>
                      <a:r>
                        <a:rPr lang="en-US" dirty="0"/>
                        <a:t>DBMS</a:t>
                      </a:r>
                    </a:p>
                  </a:txBody>
                  <a:tcPr anchor="ctr"/>
                </a:tc>
                <a:tc>
                  <a:txBody>
                    <a:bodyPr/>
                    <a:lstStyle/>
                    <a:p>
                      <a:pPr>
                        <a:buNone/>
                      </a:pPr>
                      <a:r>
                        <a:rPr lang="en-US"/>
                        <a:t>Nepali</a:t>
                      </a:r>
                    </a:p>
                  </a:txBody>
                  <a:tcPr anchor="ctr"/>
                </a:tc>
                <a:extLst>
                  <a:ext uri="{0D108BD9-81ED-4DB2-BD59-A6C34878D82A}">
                    <a16:rowId xmlns:a16="http://schemas.microsoft.com/office/drawing/2014/main" val="2418840407"/>
                  </a:ext>
                </a:extLst>
              </a:tr>
              <a:tr h="378088">
                <a:tc>
                  <a:txBody>
                    <a:bodyPr/>
                    <a:lstStyle/>
                    <a:p>
                      <a:pPr>
                        <a:buNone/>
                      </a:pPr>
                      <a:r>
                        <a:rPr lang="en-US"/>
                        <a:t>S101</a:t>
                      </a:r>
                    </a:p>
                  </a:txBody>
                  <a:tcPr anchor="ctr"/>
                </a:tc>
                <a:tc>
                  <a:txBody>
                    <a:bodyPr/>
                    <a:lstStyle/>
                    <a:p>
                      <a:pPr>
                        <a:buNone/>
                      </a:pPr>
                      <a:r>
                        <a:rPr lang="en-US"/>
                        <a:t>OS</a:t>
                      </a:r>
                    </a:p>
                  </a:txBody>
                  <a:tcPr anchor="ctr"/>
                </a:tc>
                <a:tc>
                  <a:txBody>
                    <a:bodyPr/>
                    <a:lstStyle/>
                    <a:p>
                      <a:pPr>
                        <a:buNone/>
                      </a:pPr>
                      <a:r>
                        <a:rPr lang="en-US"/>
                        <a:t>English</a:t>
                      </a:r>
                    </a:p>
                  </a:txBody>
                  <a:tcPr anchor="ctr"/>
                </a:tc>
                <a:extLst>
                  <a:ext uri="{0D108BD9-81ED-4DB2-BD59-A6C34878D82A}">
                    <a16:rowId xmlns:a16="http://schemas.microsoft.com/office/drawing/2014/main" val="2232269818"/>
                  </a:ext>
                </a:extLst>
              </a:tr>
              <a:tr h="378088">
                <a:tc>
                  <a:txBody>
                    <a:bodyPr/>
                    <a:lstStyle/>
                    <a:p>
                      <a:pPr>
                        <a:buNone/>
                      </a:pPr>
                      <a:r>
                        <a:rPr lang="en-US"/>
                        <a:t>S101</a:t>
                      </a:r>
                    </a:p>
                  </a:txBody>
                  <a:tcPr anchor="ctr"/>
                </a:tc>
                <a:tc>
                  <a:txBody>
                    <a:bodyPr/>
                    <a:lstStyle/>
                    <a:p>
                      <a:pPr>
                        <a:buNone/>
                      </a:pPr>
                      <a:r>
                        <a:rPr lang="en-US" dirty="0"/>
                        <a:t>OS</a:t>
                      </a:r>
                    </a:p>
                  </a:txBody>
                  <a:tcPr anchor="ctr"/>
                </a:tc>
                <a:tc>
                  <a:txBody>
                    <a:bodyPr/>
                    <a:lstStyle/>
                    <a:p>
                      <a:pPr>
                        <a:buNone/>
                      </a:pPr>
                      <a:r>
                        <a:rPr lang="en-US"/>
                        <a:t>Nepali</a:t>
                      </a:r>
                    </a:p>
                  </a:txBody>
                  <a:tcPr anchor="ctr"/>
                </a:tc>
                <a:extLst>
                  <a:ext uri="{0D108BD9-81ED-4DB2-BD59-A6C34878D82A}">
                    <a16:rowId xmlns:a16="http://schemas.microsoft.com/office/drawing/2014/main" val="254113623"/>
                  </a:ext>
                </a:extLst>
              </a:tr>
              <a:tr h="378088">
                <a:tc>
                  <a:txBody>
                    <a:bodyPr/>
                    <a:lstStyle/>
                    <a:p>
                      <a:pPr>
                        <a:buNone/>
                      </a:pPr>
                      <a:r>
                        <a:rPr lang="en-US"/>
                        <a:t>S102</a:t>
                      </a:r>
                    </a:p>
                  </a:txBody>
                  <a:tcPr anchor="ctr"/>
                </a:tc>
                <a:tc>
                  <a:txBody>
                    <a:bodyPr/>
                    <a:lstStyle/>
                    <a:p>
                      <a:pPr>
                        <a:buNone/>
                      </a:pPr>
                      <a:r>
                        <a:rPr lang="en-US" dirty="0"/>
                        <a:t>DBMS</a:t>
                      </a:r>
                    </a:p>
                  </a:txBody>
                  <a:tcPr anchor="ctr"/>
                </a:tc>
                <a:tc>
                  <a:txBody>
                    <a:bodyPr/>
                    <a:lstStyle/>
                    <a:p>
                      <a:pPr>
                        <a:buNone/>
                      </a:pPr>
                      <a:r>
                        <a:rPr lang="en-US"/>
                        <a:t>English</a:t>
                      </a:r>
                    </a:p>
                  </a:txBody>
                  <a:tcPr anchor="ctr"/>
                </a:tc>
                <a:extLst>
                  <a:ext uri="{0D108BD9-81ED-4DB2-BD59-A6C34878D82A}">
                    <a16:rowId xmlns:a16="http://schemas.microsoft.com/office/drawing/2014/main" val="2829322054"/>
                  </a:ext>
                </a:extLst>
              </a:tr>
              <a:tr h="378088">
                <a:tc>
                  <a:txBody>
                    <a:bodyPr/>
                    <a:lstStyle/>
                    <a:p>
                      <a:pPr>
                        <a:buNone/>
                      </a:pPr>
                      <a:r>
                        <a:rPr lang="en-US"/>
                        <a:t>S102</a:t>
                      </a:r>
                    </a:p>
                  </a:txBody>
                  <a:tcPr anchor="ctr"/>
                </a:tc>
                <a:tc>
                  <a:txBody>
                    <a:bodyPr/>
                    <a:lstStyle/>
                    <a:p>
                      <a:pPr>
                        <a:buNone/>
                      </a:pPr>
                      <a:r>
                        <a:rPr lang="en-US"/>
                        <a:t>CN</a:t>
                      </a:r>
                    </a:p>
                  </a:txBody>
                  <a:tcPr anchor="ctr"/>
                </a:tc>
                <a:tc>
                  <a:txBody>
                    <a:bodyPr/>
                    <a:lstStyle/>
                    <a:p>
                      <a:pPr>
                        <a:buNone/>
                      </a:pPr>
                      <a:r>
                        <a:rPr lang="en-US" dirty="0"/>
                        <a:t>English</a:t>
                      </a:r>
                    </a:p>
                  </a:txBody>
                  <a:tcPr anchor="ctr"/>
                </a:tc>
                <a:extLst>
                  <a:ext uri="{0D108BD9-81ED-4DB2-BD59-A6C34878D82A}">
                    <a16:rowId xmlns:a16="http://schemas.microsoft.com/office/drawing/2014/main" val="2070343107"/>
                  </a:ext>
                </a:extLst>
              </a:tr>
            </a:tbl>
          </a:graphicData>
        </a:graphic>
      </p:graphicFrame>
      <p:graphicFrame>
        <p:nvGraphicFramePr>
          <p:cNvPr id="12" name="Table 11">
            <a:extLst>
              <a:ext uri="{FF2B5EF4-FFF2-40B4-BE49-F238E27FC236}">
                <a16:creationId xmlns:a16="http://schemas.microsoft.com/office/drawing/2014/main" id="{49BFD3FD-17F6-2CF1-BEA5-2E2173A84FAE}"/>
              </a:ext>
            </a:extLst>
          </p:cNvPr>
          <p:cNvGraphicFramePr>
            <a:graphicFrameLocks noGrp="1"/>
          </p:cNvGraphicFramePr>
          <p:nvPr>
            <p:extLst>
              <p:ext uri="{D42A27DB-BD31-4B8C-83A1-F6EECF244321}">
                <p14:modId xmlns:p14="http://schemas.microsoft.com/office/powerpoint/2010/main" val="1464801795"/>
              </p:ext>
            </p:extLst>
          </p:nvPr>
        </p:nvGraphicFramePr>
        <p:xfrm>
          <a:off x="6219719" y="4787054"/>
          <a:ext cx="2567092" cy="1501424"/>
        </p:xfrm>
        <a:graphic>
          <a:graphicData uri="http://schemas.openxmlformats.org/drawingml/2006/table">
            <a:tbl>
              <a:tblPr firstRow="1" bandRow="1">
                <a:tableStyleId>{5C22544A-7EE6-4342-B048-85BDC9FD1C3A}</a:tableStyleId>
              </a:tblPr>
              <a:tblGrid>
                <a:gridCol w="984673">
                  <a:extLst>
                    <a:ext uri="{9D8B030D-6E8A-4147-A177-3AD203B41FA5}">
                      <a16:colId xmlns:a16="http://schemas.microsoft.com/office/drawing/2014/main" val="220224083"/>
                    </a:ext>
                  </a:extLst>
                </a:gridCol>
                <a:gridCol w="1582419">
                  <a:extLst>
                    <a:ext uri="{9D8B030D-6E8A-4147-A177-3AD203B41FA5}">
                      <a16:colId xmlns:a16="http://schemas.microsoft.com/office/drawing/2014/main" val="2259892988"/>
                    </a:ext>
                  </a:extLst>
                </a:gridCol>
              </a:tblGrid>
              <a:tr h="375356">
                <a:tc>
                  <a:txBody>
                    <a:bodyPr/>
                    <a:lstStyle/>
                    <a:p>
                      <a:pPr>
                        <a:buNone/>
                      </a:pPr>
                      <a:r>
                        <a:rPr lang="en-US" dirty="0"/>
                        <a:t>Subject</a:t>
                      </a:r>
                    </a:p>
                  </a:txBody>
                  <a:tcPr anchor="ctr"/>
                </a:tc>
                <a:tc>
                  <a:txBody>
                    <a:bodyPr/>
                    <a:lstStyle/>
                    <a:p>
                      <a:pPr>
                        <a:buNone/>
                      </a:pPr>
                      <a:r>
                        <a:rPr lang="en-US"/>
                        <a:t>Teacher</a:t>
                      </a:r>
                    </a:p>
                  </a:txBody>
                  <a:tcPr anchor="ctr"/>
                </a:tc>
                <a:extLst>
                  <a:ext uri="{0D108BD9-81ED-4DB2-BD59-A6C34878D82A}">
                    <a16:rowId xmlns:a16="http://schemas.microsoft.com/office/drawing/2014/main" val="408970064"/>
                  </a:ext>
                </a:extLst>
              </a:tr>
              <a:tr h="375356">
                <a:tc>
                  <a:txBody>
                    <a:bodyPr/>
                    <a:lstStyle/>
                    <a:p>
                      <a:pPr>
                        <a:buNone/>
                      </a:pPr>
                      <a:r>
                        <a:rPr lang="en-US"/>
                        <a:t>DBMS</a:t>
                      </a:r>
                    </a:p>
                  </a:txBody>
                  <a:tcPr anchor="ctr"/>
                </a:tc>
                <a:tc>
                  <a:txBody>
                    <a:bodyPr/>
                    <a:lstStyle/>
                    <a:p>
                      <a:pPr>
                        <a:buNone/>
                      </a:pPr>
                      <a:r>
                        <a:rPr lang="en-US"/>
                        <a:t>Sharma</a:t>
                      </a:r>
                    </a:p>
                  </a:txBody>
                  <a:tcPr anchor="ctr"/>
                </a:tc>
                <a:extLst>
                  <a:ext uri="{0D108BD9-81ED-4DB2-BD59-A6C34878D82A}">
                    <a16:rowId xmlns:a16="http://schemas.microsoft.com/office/drawing/2014/main" val="2445831667"/>
                  </a:ext>
                </a:extLst>
              </a:tr>
              <a:tr h="375356">
                <a:tc>
                  <a:txBody>
                    <a:bodyPr/>
                    <a:lstStyle/>
                    <a:p>
                      <a:pPr>
                        <a:buNone/>
                      </a:pPr>
                      <a:r>
                        <a:rPr lang="en-US"/>
                        <a:t>OS</a:t>
                      </a:r>
                    </a:p>
                  </a:txBody>
                  <a:tcPr anchor="ctr"/>
                </a:tc>
                <a:tc>
                  <a:txBody>
                    <a:bodyPr/>
                    <a:lstStyle/>
                    <a:p>
                      <a:pPr>
                        <a:buNone/>
                      </a:pPr>
                      <a:r>
                        <a:rPr lang="en-US"/>
                        <a:t>Verma</a:t>
                      </a:r>
                    </a:p>
                  </a:txBody>
                  <a:tcPr anchor="ctr"/>
                </a:tc>
                <a:extLst>
                  <a:ext uri="{0D108BD9-81ED-4DB2-BD59-A6C34878D82A}">
                    <a16:rowId xmlns:a16="http://schemas.microsoft.com/office/drawing/2014/main" val="945194909"/>
                  </a:ext>
                </a:extLst>
              </a:tr>
              <a:tr h="375356">
                <a:tc>
                  <a:txBody>
                    <a:bodyPr/>
                    <a:lstStyle/>
                    <a:p>
                      <a:pPr>
                        <a:buNone/>
                      </a:pPr>
                      <a:r>
                        <a:rPr lang="en-US"/>
                        <a:t>CN</a:t>
                      </a:r>
                    </a:p>
                  </a:txBody>
                  <a:tcPr anchor="ctr"/>
                </a:tc>
                <a:tc>
                  <a:txBody>
                    <a:bodyPr/>
                    <a:lstStyle/>
                    <a:p>
                      <a:pPr>
                        <a:buNone/>
                      </a:pPr>
                      <a:r>
                        <a:rPr lang="en-US" dirty="0"/>
                        <a:t>Pant</a:t>
                      </a:r>
                    </a:p>
                  </a:txBody>
                  <a:tcPr anchor="ctr"/>
                </a:tc>
                <a:extLst>
                  <a:ext uri="{0D108BD9-81ED-4DB2-BD59-A6C34878D82A}">
                    <a16:rowId xmlns:a16="http://schemas.microsoft.com/office/drawing/2014/main" val="763572993"/>
                  </a:ext>
                </a:extLst>
              </a:tr>
            </a:tbl>
          </a:graphicData>
        </a:graphic>
      </p:graphicFrame>
      <p:cxnSp>
        <p:nvCxnSpPr>
          <p:cNvPr id="16" name="Straight Connector 15">
            <a:extLst>
              <a:ext uri="{FF2B5EF4-FFF2-40B4-BE49-F238E27FC236}">
                <a16:creationId xmlns:a16="http://schemas.microsoft.com/office/drawing/2014/main" id="{F97427D0-7F3F-C6EF-1CAC-19C55514A15E}"/>
              </a:ext>
            </a:extLst>
          </p:cNvPr>
          <p:cNvCxnSpPr/>
          <p:nvPr/>
        </p:nvCxnSpPr>
        <p:spPr>
          <a:xfrm>
            <a:off x="297180" y="3863340"/>
            <a:ext cx="7531670" cy="0"/>
          </a:xfrm>
          <a:prstGeom prst="line">
            <a:avLst/>
          </a:prstGeom>
          <a:ln w="7620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7" name="TextBox 16">
            <a:extLst>
              <a:ext uri="{FF2B5EF4-FFF2-40B4-BE49-F238E27FC236}">
                <a16:creationId xmlns:a16="http://schemas.microsoft.com/office/drawing/2014/main" id="{9B895F3F-2225-195B-44B7-569B4070756E}"/>
              </a:ext>
            </a:extLst>
          </p:cNvPr>
          <p:cNvSpPr txBox="1"/>
          <p:nvPr/>
        </p:nvSpPr>
        <p:spPr>
          <a:xfrm>
            <a:off x="1485900" y="3429000"/>
            <a:ext cx="1290353" cy="369332"/>
          </a:xfrm>
          <a:prstGeom prst="rect">
            <a:avLst/>
          </a:prstGeom>
          <a:noFill/>
        </p:spPr>
        <p:txBody>
          <a:bodyPr wrap="none" rtlCol="0">
            <a:spAutoFit/>
          </a:bodyPr>
          <a:lstStyle/>
          <a:p>
            <a:r>
              <a:rPr lang="en-US" dirty="0"/>
              <a:t>OLD Tables </a:t>
            </a:r>
          </a:p>
        </p:txBody>
      </p:sp>
      <p:sp>
        <p:nvSpPr>
          <p:cNvPr id="18" name="TextBox 17">
            <a:extLst>
              <a:ext uri="{FF2B5EF4-FFF2-40B4-BE49-F238E27FC236}">
                <a16:creationId xmlns:a16="http://schemas.microsoft.com/office/drawing/2014/main" id="{4866F0A3-5321-FC42-50DE-4C9B43D81390}"/>
              </a:ext>
            </a:extLst>
          </p:cNvPr>
          <p:cNvSpPr txBox="1"/>
          <p:nvPr/>
        </p:nvSpPr>
        <p:spPr>
          <a:xfrm>
            <a:off x="2772662" y="6037018"/>
            <a:ext cx="1341649" cy="369332"/>
          </a:xfrm>
          <a:prstGeom prst="rect">
            <a:avLst/>
          </a:prstGeom>
          <a:noFill/>
        </p:spPr>
        <p:txBody>
          <a:bodyPr wrap="none" rtlCol="0">
            <a:spAutoFit/>
          </a:bodyPr>
          <a:lstStyle/>
          <a:p>
            <a:r>
              <a:rPr lang="en-US" dirty="0"/>
              <a:t>NEW Tables </a:t>
            </a:r>
          </a:p>
        </p:txBody>
      </p:sp>
      <p:sp>
        <p:nvSpPr>
          <p:cNvPr id="20" name="TextBox 19">
            <a:extLst>
              <a:ext uri="{FF2B5EF4-FFF2-40B4-BE49-F238E27FC236}">
                <a16:creationId xmlns:a16="http://schemas.microsoft.com/office/drawing/2014/main" id="{48F2BED8-A633-6595-84F2-3FD0B0463D7B}"/>
              </a:ext>
            </a:extLst>
          </p:cNvPr>
          <p:cNvSpPr txBox="1"/>
          <p:nvPr/>
        </p:nvSpPr>
        <p:spPr>
          <a:xfrm>
            <a:off x="9486792" y="4180312"/>
            <a:ext cx="2352824" cy="369332"/>
          </a:xfrm>
          <a:prstGeom prst="rect">
            <a:avLst/>
          </a:prstGeom>
          <a:noFill/>
        </p:spPr>
        <p:txBody>
          <a:bodyPr wrap="none" rtlCol="0">
            <a:spAutoFit/>
          </a:bodyPr>
          <a:lstStyle/>
          <a:p>
            <a:r>
              <a:rPr lang="en-US" dirty="0"/>
              <a:t>No change in this Table</a:t>
            </a:r>
          </a:p>
        </p:txBody>
      </p:sp>
      <p:sp>
        <p:nvSpPr>
          <p:cNvPr id="22" name="TextBox 21">
            <a:extLst>
              <a:ext uri="{FF2B5EF4-FFF2-40B4-BE49-F238E27FC236}">
                <a16:creationId xmlns:a16="http://schemas.microsoft.com/office/drawing/2014/main" id="{17155E5B-238E-C767-0AF2-22E2FE27C23F}"/>
              </a:ext>
            </a:extLst>
          </p:cNvPr>
          <p:cNvSpPr txBox="1"/>
          <p:nvPr/>
        </p:nvSpPr>
        <p:spPr>
          <a:xfrm>
            <a:off x="5353198" y="1737360"/>
            <a:ext cx="2237600" cy="369332"/>
          </a:xfrm>
          <a:prstGeom prst="rect">
            <a:avLst/>
          </a:prstGeom>
          <a:noFill/>
        </p:spPr>
        <p:txBody>
          <a:bodyPr wrap="none" rtlCol="0">
            <a:spAutoFit/>
          </a:bodyPr>
          <a:lstStyle/>
          <a:p>
            <a:r>
              <a:rPr lang="en-US" dirty="0" err="1"/>
              <a:t>Subject_teacher</a:t>
            </a:r>
            <a:r>
              <a:rPr lang="en-US" dirty="0"/>
              <a:t> table</a:t>
            </a:r>
          </a:p>
        </p:txBody>
      </p:sp>
      <p:sp>
        <p:nvSpPr>
          <p:cNvPr id="24" name="TextBox 23">
            <a:extLst>
              <a:ext uri="{FF2B5EF4-FFF2-40B4-BE49-F238E27FC236}">
                <a16:creationId xmlns:a16="http://schemas.microsoft.com/office/drawing/2014/main" id="{FBB457F4-AF3D-794E-50BB-E676B90E70BE}"/>
              </a:ext>
            </a:extLst>
          </p:cNvPr>
          <p:cNvSpPr txBox="1"/>
          <p:nvPr/>
        </p:nvSpPr>
        <p:spPr>
          <a:xfrm>
            <a:off x="60960" y="1795265"/>
            <a:ext cx="1450910" cy="369332"/>
          </a:xfrm>
          <a:prstGeom prst="rect">
            <a:avLst/>
          </a:prstGeom>
          <a:noFill/>
        </p:spPr>
        <p:txBody>
          <a:bodyPr wrap="none" rtlCol="0">
            <a:spAutoFit/>
          </a:bodyPr>
          <a:lstStyle/>
          <a:p>
            <a:r>
              <a:rPr lang="en-US" dirty="0"/>
              <a:t>Student table</a:t>
            </a:r>
          </a:p>
        </p:txBody>
      </p:sp>
      <p:sp>
        <p:nvSpPr>
          <p:cNvPr id="26" name="TextBox 25">
            <a:extLst>
              <a:ext uri="{FF2B5EF4-FFF2-40B4-BE49-F238E27FC236}">
                <a16:creationId xmlns:a16="http://schemas.microsoft.com/office/drawing/2014/main" id="{AF22B77C-5947-8BC7-7D74-0DD314D4567B}"/>
              </a:ext>
            </a:extLst>
          </p:cNvPr>
          <p:cNvSpPr txBox="1"/>
          <p:nvPr/>
        </p:nvSpPr>
        <p:spPr>
          <a:xfrm>
            <a:off x="3466149" y="4375107"/>
            <a:ext cx="1856470" cy="369332"/>
          </a:xfrm>
          <a:prstGeom prst="rect">
            <a:avLst/>
          </a:prstGeom>
          <a:noFill/>
        </p:spPr>
        <p:txBody>
          <a:bodyPr wrap="none" rtlCol="0">
            <a:spAutoFit/>
          </a:bodyPr>
          <a:lstStyle/>
          <a:p>
            <a:r>
              <a:rPr lang="en-US" dirty="0"/>
              <a:t>Department table</a:t>
            </a:r>
          </a:p>
        </p:txBody>
      </p:sp>
      <p:sp>
        <p:nvSpPr>
          <p:cNvPr id="27" name="TextBox 26">
            <a:extLst>
              <a:ext uri="{FF2B5EF4-FFF2-40B4-BE49-F238E27FC236}">
                <a16:creationId xmlns:a16="http://schemas.microsoft.com/office/drawing/2014/main" id="{FC51DD1E-BE61-22C2-6071-98A0089DAE5A}"/>
              </a:ext>
            </a:extLst>
          </p:cNvPr>
          <p:cNvSpPr txBox="1"/>
          <p:nvPr/>
        </p:nvSpPr>
        <p:spPr>
          <a:xfrm>
            <a:off x="6219719" y="4335609"/>
            <a:ext cx="2237600" cy="369332"/>
          </a:xfrm>
          <a:prstGeom prst="rect">
            <a:avLst/>
          </a:prstGeom>
          <a:noFill/>
        </p:spPr>
        <p:txBody>
          <a:bodyPr wrap="none" rtlCol="0">
            <a:spAutoFit/>
          </a:bodyPr>
          <a:lstStyle/>
          <a:p>
            <a:r>
              <a:rPr lang="en-US" dirty="0" err="1"/>
              <a:t>Subject_teacher</a:t>
            </a:r>
            <a:r>
              <a:rPr lang="en-US" dirty="0"/>
              <a:t> table</a:t>
            </a:r>
          </a:p>
        </p:txBody>
      </p:sp>
      <p:sp>
        <p:nvSpPr>
          <p:cNvPr id="28" name="TextBox 27">
            <a:extLst>
              <a:ext uri="{FF2B5EF4-FFF2-40B4-BE49-F238E27FC236}">
                <a16:creationId xmlns:a16="http://schemas.microsoft.com/office/drawing/2014/main" id="{6FCF063E-0530-9B45-86B7-927C2647D48D}"/>
              </a:ext>
            </a:extLst>
          </p:cNvPr>
          <p:cNvSpPr txBox="1"/>
          <p:nvPr/>
        </p:nvSpPr>
        <p:spPr>
          <a:xfrm>
            <a:off x="60960" y="4396415"/>
            <a:ext cx="1450910" cy="369332"/>
          </a:xfrm>
          <a:prstGeom prst="rect">
            <a:avLst/>
          </a:prstGeom>
          <a:noFill/>
        </p:spPr>
        <p:txBody>
          <a:bodyPr wrap="none" rtlCol="0">
            <a:spAutoFit/>
          </a:bodyPr>
          <a:lstStyle/>
          <a:p>
            <a:r>
              <a:rPr lang="en-US" dirty="0"/>
              <a:t>Student table</a:t>
            </a:r>
          </a:p>
        </p:txBody>
      </p:sp>
      <p:sp>
        <p:nvSpPr>
          <p:cNvPr id="29" name="TextBox 28">
            <a:extLst>
              <a:ext uri="{FF2B5EF4-FFF2-40B4-BE49-F238E27FC236}">
                <a16:creationId xmlns:a16="http://schemas.microsoft.com/office/drawing/2014/main" id="{832B287A-4650-978A-724B-FC18A0B5755E}"/>
              </a:ext>
            </a:extLst>
          </p:cNvPr>
          <p:cNvSpPr txBox="1"/>
          <p:nvPr/>
        </p:nvSpPr>
        <p:spPr>
          <a:xfrm>
            <a:off x="8252775" y="801871"/>
            <a:ext cx="1746953" cy="369332"/>
          </a:xfrm>
          <a:prstGeom prst="rect">
            <a:avLst/>
          </a:prstGeom>
          <a:noFill/>
        </p:spPr>
        <p:txBody>
          <a:bodyPr wrap="none" rtlCol="0">
            <a:spAutoFit/>
          </a:bodyPr>
          <a:lstStyle/>
          <a:p>
            <a:r>
              <a:rPr lang="en-US" dirty="0"/>
              <a:t>Enrollment table</a:t>
            </a:r>
          </a:p>
        </p:txBody>
      </p:sp>
      <p:cxnSp>
        <p:nvCxnSpPr>
          <p:cNvPr id="31" name="Straight Arrow Connector 30">
            <a:extLst>
              <a:ext uri="{FF2B5EF4-FFF2-40B4-BE49-F238E27FC236}">
                <a16:creationId xmlns:a16="http://schemas.microsoft.com/office/drawing/2014/main" id="{F73EBE38-48B1-63BA-6E39-DB8F75B54AD9}"/>
              </a:ext>
            </a:extLst>
          </p:cNvPr>
          <p:cNvCxnSpPr>
            <a:cxnSpLocks/>
            <a:stCxn id="17" idx="2"/>
            <a:endCxn id="26" idx="1"/>
          </p:cNvCxnSpPr>
          <p:nvPr/>
        </p:nvCxnSpPr>
        <p:spPr>
          <a:xfrm>
            <a:off x="2131077" y="3798332"/>
            <a:ext cx="1335072" cy="761441"/>
          </a:xfrm>
          <a:prstGeom prst="straightConnector1">
            <a:avLst/>
          </a:prstGeom>
          <a:ln w="571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3" name="Straight Arrow Connector 32">
            <a:extLst>
              <a:ext uri="{FF2B5EF4-FFF2-40B4-BE49-F238E27FC236}">
                <a16:creationId xmlns:a16="http://schemas.microsoft.com/office/drawing/2014/main" id="{7CAB47CA-B445-13F2-EB7D-20B17E9CCF1E}"/>
              </a:ext>
            </a:extLst>
          </p:cNvPr>
          <p:cNvCxnSpPr>
            <a:cxnSpLocks/>
            <a:stCxn id="17" idx="2"/>
          </p:cNvCxnSpPr>
          <p:nvPr/>
        </p:nvCxnSpPr>
        <p:spPr>
          <a:xfrm flipH="1">
            <a:off x="1485900" y="3798332"/>
            <a:ext cx="645177" cy="751312"/>
          </a:xfrm>
          <a:prstGeom prst="straightConnector1">
            <a:avLst/>
          </a:prstGeom>
          <a:ln w="571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340550982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BC75D9-5EC8-E3F9-A835-71CCBAE4F999}"/>
              </a:ext>
            </a:extLst>
          </p:cNvPr>
          <p:cNvSpPr>
            <a:spLocks noGrp="1"/>
          </p:cNvSpPr>
          <p:nvPr>
            <p:ph type="title"/>
          </p:nvPr>
        </p:nvSpPr>
        <p:spPr/>
        <p:txBody>
          <a:bodyPr/>
          <a:lstStyle/>
          <a:p>
            <a:r>
              <a:rPr lang="en-US" dirty="0"/>
              <a:t> Normal Form (BCNF)</a:t>
            </a:r>
          </a:p>
        </p:txBody>
      </p:sp>
      <p:sp>
        <p:nvSpPr>
          <p:cNvPr id="3" name="Content Placeholder 2">
            <a:extLst>
              <a:ext uri="{FF2B5EF4-FFF2-40B4-BE49-F238E27FC236}">
                <a16:creationId xmlns:a16="http://schemas.microsoft.com/office/drawing/2014/main" id="{5483C582-EC04-355C-12C4-883898AFCA2E}"/>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72617115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36034A-1ADA-3665-AA60-807908B9DB3E}"/>
              </a:ext>
            </a:extLst>
          </p:cNvPr>
          <p:cNvSpPr>
            <a:spLocks noGrp="1"/>
          </p:cNvSpPr>
          <p:nvPr>
            <p:ph type="title"/>
          </p:nvPr>
        </p:nvSpPr>
        <p:spPr/>
        <p:txBody>
          <a:bodyPr/>
          <a:lstStyle/>
          <a:p>
            <a:r>
              <a:rPr lang="en-US" dirty="0"/>
              <a:t>Fourth Normal Form (4NF)</a:t>
            </a:r>
          </a:p>
        </p:txBody>
      </p:sp>
      <p:sp>
        <p:nvSpPr>
          <p:cNvPr id="3" name="Content Placeholder 2">
            <a:extLst>
              <a:ext uri="{FF2B5EF4-FFF2-40B4-BE49-F238E27FC236}">
                <a16:creationId xmlns:a16="http://schemas.microsoft.com/office/drawing/2014/main" id="{DA29B895-229F-799E-DB79-0B6F77C9FEC0}"/>
              </a:ext>
            </a:extLst>
          </p:cNvPr>
          <p:cNvSpPr>
            <a:spLocks noGrp="1"/>
          </p:cNvSpPr>
          <p:nvPr>
            <p:ph idx="1"/>
          </p:nvPr>
        </p:nvSpPr>
        <p:spPr/>
        <p:txBody>
          <a:bodyPr>
            <a:normAutofit/>
          </a:bodyPr>
          <a:lstStyle/>
          <a:p>
            <a:r>
              <a:rPr lang="en-US" b="1" dirty="0"/>
              <a:t>Rule:</a:t>
            </a:r>
          </a:p>
          <a:p>
            <a:pPr lvl="1"/>
            <a:r>
              <a:rPr lang="en-US" dirty="0"/>
              <a:t>Remove Multi-Valued Dependencies.</a:t>
            </a:r>
          </a:p>
          <a:p>
            <a:r>
              <a:rPr lang="en-US" dirty="0"/>
              <a:t>Assume: Student independently:</a:t>
            </a:r>
          </a:p>
          <a:p>
            <a:pPr lvl="1"/>
            <a:r>
              <a:rPr lang="en-US" dirty="0"/>
              <a:t>studies many subjects </a:t>
            </a:r>
          </a:p>
          <a:p>
            <a:pPr lvl="1"/>
            <a:r>
              <a:rPr lang="en-US" dirty="0"/>
              <a:t>knows many languages </a:t>
            </a:r>
          </a:p>
          <a:p>
            <a:r>
              <a:rPr lang="en-US" dirty="0"/>
              <a:t>Dependencies:</a:t>
            </a:r>
          </a:p>
          <a:p>
            <a:pPr lvl="1"/>
            <a:r>
              <a:rPr lang="en-US" dirty="0" err="1"/>
              <a:t>Student_ID</a:t>
            </a:r>
            <a:r>
              <a:rPr lang="en-US" dirty="0"/>
              <a:t> ↠ Subject</a:t>
            </a:r>
            <a:br>
              <a:rPr lang="en-US" dirty="0"/>
            </a:br>
            <a:r>
              <a:rPr lang="en-US" dirty="0" err="1"/>
              <a:t>Student_ID</a:t>
            </a:r>
            <a:r>
              <a:rPr lang="en-US" dirty="0"/>
              <a:t> ↠ Language</a:t>
            </a:r>
          </a:p>
          <a:p>
            <a:r>
              <a:rPr lang="en-US" dirty="0"/>
              <a:t>Subjects and languages are unrelated.</a:t>
            </a:r>
          </a:p>
          <a:p>
            <a:r>
              <a:rPr lang="en-US" dirty="0"/>
              <a:t>This causes unnecessary combinations.</a:t>
            </a:r>
          </a:p>
          <a:p>
            <a:endParaRPr lang="en-US" dirty="0"/>
          </a:p>
        </p:txBody>
      </p:sp>
      <p:graphicFrame>
        <p:nvGraphicFramePr>
          <p:cNvPr id="5" name="Table 4">
            <a:extLst>
              <a:ext uri="{FF2B5EF4-FFF2-40B4-BE49-F238E27FC236}">
                <a16:creationId xmlns:a16="http://schemas.microsoft.com/office/drawing/2014/main" id="{3FB6422E-17FB-196F-89BE-19D603DAF984}"/>
              </a:ext>
            </a:extLst>
          </p:cNvPr>
          <p:cNvGraphicFramePr>
            <a:graphicFrameLocks noGrp="1"/>
          </p:cNvGraphicFramePr>
          <p:nvPr>
            <p:extLst>
              <p:ext uri="{D42A27DB-BD31-4B8C-83A1-F6EECF244321}">
                <p14:modId xmlns:p14="http://schemas.microsoft.com/office/powerpoint/2010/main" val="818189825"/>
              </p:ext>
            </p:extLst>
          </p:nvPr>
        </p:nvGraphicFramePr>
        <p:xfrm>
          <a:off x="7960231" y="101369"/>
          <a:ext cx="3946845" cy="2893790"/>
        </p:xfrm>
        <a:graphic>
          <a:graphicData uri="http://schemas.openxmlformats.org/drawingml/2006/table">
            <a:tbl>
              <a:tblPr firstRow="1" bandRow="1">
                <a:tableStyleId>{5C22544A-7EE6-4342-B048-85BDC9FD1C3A}</a:tableStyleId>
              </a:tblPr>
              <a:tblGrid>
                <a:gridCol w="1315615">
                  <a:extLst>
                    <a:ext uri="{9D8B030D-6E8A-4147-A177-3AD203B41FA5}">
                      <a16:colId xmlns:a16="http://schemas.microsoft.com/office/drawing/2014/main" val="213863359"/>
                    </a:ext>
                  </a:extLst>
                </a:gridCol>
                <a:gridCol w="1315615">
                  <a:extLst>
                    <a:ext uri="{9D8B030D-6E8A-4147-A177-3AD203B41FA5}">
                      <a16:colId xmlns:a16="http://schemas.microsoft.com/office/drawing/2014/main" val="2635593483"/>
                    </a:ext>
                  </a:extLst>
                </a:gridCol>
                <a:gridCol w="1315615">
                  <a:extLst>
                    <a:ext uri="{9D8B030D-6E8A-4147-A177-3AD203B41FA5}">
                      <a16:colId xmlns:a16="http://schemas.microsoft.com/office/drawing/2014/main" val="841846570"/>
                    </a:ext>
                  </a:extLst>
                </a:gridCol>
              </a:tblGrid>
              <a:tr h="625262">
                <a:tc>
                  <a:txBody>
                    <a:bodyPr/>
                    <a:lstStyle/>
                    <a:p>
                      <a:pPr>
                        <a:buNone/>
                      </a:pPr>
                      <a:r>
                        <a:rPr lang="en-US" dirty="0" err="1"/>
                        <a:t>Stu_ID</a:t>
                      </a:r>
                      <a:endParaRPr lang="en-US" dirty="0"/>
                    </a:p>
                  </a:txBody>
                  <a:tcPr anchor="ctr"/>
                </a:tc>
                <a:tc>
                  <a:txBody>
                    <a:bodyPr/>
                    <a:lstStyle/>
                    <a:p>
                      <a:pPr>
                        <a:buNone/>
                      </a:pPr>
                      <a:r>
                        <a:rPr lang="en-US" dirty="0"/>
                        <a:t>Subject</a:t>
                      </a:r>
                    </a:p>
                  </a:txBody>
                  <a:tcPr anchor="ctr"/>
                </a:tc>
                <a:tc>
                  <a:txBody>
                    <a:bodyPr/>
                    <a:lstStyle/>
                    <a:p>
                      <a:pPr>
                        <a:buNone/>
                      </a:pPr>
                      <a:r>
                        <a:rPr lang="en-US" dirty="0"/>
                        <a:t>Language</a:t>
                      </a:r>
                    </a:p>
                  </a:txBody>
                  <a:tcPr anchor="ctr"/>
                </a:tc>
                <a:extLst>
                  <a:ext uri="{0D108BD9-81ED-4DB2-BD59-A6C34878D82A}">
                    <a16:rowId xmlns:a16="http://schemas.microsoft.com/office/drawing/2014/main" val="750597701"/>
                  </a:ext>
                </a:extLst>
              </a:tr>
              <a:tr h="378088">
                <a:tc>
                  <a:txBody>
                    <a:bodyPr/>
                    <a:lstStyle/>
                    <a:p>
                      <a:pPr>
                        <a:buNone/>
                      </a:pPr>
                      <a:r>
                        <a:rPr lang="en-US" dirty="0"/>
                        <a:t>S101</a:t>
                      </a:r>
                    </a:p>
                  </a:txBody>
                  <a:tcPr anchor="ctr"/>
                </a:tc>
                <a:tc>
                  <a:txBody>
                    <a:bodyPr/>
                    <a:lstStyle/>
                    <a:p>
                      <a:pPr>
                        <a:buNone/>
                      </a:pPr>
                      <a:r>
                        <a:rPr lang="en-US" dirty="0"/>
                        <a:t>DBMS</a:t>
                      </a:r>
                    </a:p>
                  </a:txBody>
                  <a:tcPr anchor="ctr"/>
                </a:tc>
                <a:tc>
                  <a:txBody>
                    <a:bodyPr/>
                    <a:lstStyle/>
                    <a:p>
                      <a:pPr>
                        <a:buNone/>
                      </a:pPr>
                      <a:r>
                        <a:rPr lang="en-US"/>
                        <a:t>English</a:t>
                      </a:r>
                    </a:p>
                  </a:txBody>
                  <a:tcPr anchor="ctr"/>
                </a:tc>
                <a:extLst>
                  <a:ext uri="{0D108BD9-81ED-4DB2-BD59-A6C34878D82A}">
                    <a16:rowId xmlns:a16="http://schemas.microsoft.com/office/drawing/2014/main" val="4190997854"/>
                  </a:ext>
                </a:extLst>
              </a:tr>
              <a:tr h="378088">
                <a:tc>
                  <a:txBody>
                    <a:bodyPr/>
                    <a:lstStyle/>
                    <a:p>
                      <a:pPr>
                        <a:buNone/>
                      </a:pPr>
                      <a:r>
                        <a:rPr lang="en-US"/>
                        <a:t>S101</a:t>
                      </a:r>
                    </a:p>
                  </a:txBody>
                  <a:tcPr anchor="ctr"/>
                </a:tc>
                <a:tc>
                  <a:txBody>
                    <a:bodyPr/>
                    <a:lstStyle/>
                    <a:p>
                      <a:pPr>
                        <a:buNone/>
                      </a:pPr>
                      <a:r>
                        <a:rPr lang="en-US" dirty="0"/>
                        <a:t>DBMS</a:t>
                      </a:r>
                    </a:p>
                  </a:txBody>
                  <a:tcPr anchor="ctr"/>
                </a:tc>
                <a:tc>
                  <a:txBody>
                    <a:bodyPr/>
                    <a:lstStyle/>
                    <a:p>
                      <a:pPr>
                        <a:buNone/>
                      </a:pPr>
                      <a:r>
                        <a:rPr lang="en-US"/>
                        <a:t>Nepali</a:t>
                      </a:r>
                    </a:p>
                  </a:txBody>
                  <a:tcPr anchor="ctr"/>
                </a:tc>
                <a:extLst>
                  <a:ext uri="{0D108BD9-81ED-4DB2-BD59-A6C34878D82A}">
                    <a16:rowId xmlns:a16="http://schemas.microsoft.com/office/drawing/2014/main" val="2418840407"/>
                  </a:ext>
                </a:extLst>
              </a:tr>
              <a:tr h="378088">
                <a:tc>
                  <a:txBody>
                    <a:bodyPr/>
                    <a:lstStyle/>
                    <a:p>
                      <a:pPr>
                        <a:buNone/>
                      </a:pPr>
                      <a:r>
                        <a:rPr lang="en-US"/>
                        <a:t>S101</a:t>
                      </a:r>
                    </a:p>
                  </a:txBody>
                  <a:tcPr anchor="ctr"/>
                </a:tc>
                <a:tc>
                  <a:txBody>
                    <a:bodyPr/>
                    <a:lstStyle/>
                    <a:p>
                      <a:pPr>
                        <a:buNone/>
                      </a:pPr>
                      <a:r>
                        <a:rPr lang="en-US" dirty="0"/>
                        <a:t>OS</a:t>
                      </a:r>
                    </a:p>
                  </a:txBody>
                  <a:tcPr anchor="ctr"/>
                </a:tc>
                <a:tc>
                  <a:txBody>
                    <a:bodyPr/>
                    <a:lstStyle/>
                    <a:p>
                      <a:pPr>
                        <a:buNone/>
                      </a:pPr>
                      <a:r>
                        <a:rPr lang="en-US"/>
                        <a:t>English</a:t>
                      </a:r>
                    </a:p>
                  </a:txBody>
                  <a:tcPr anchor="ctr"/>
                </a:tc>
                <a:extLst>
                  <a:ext uri="{0D108BD9-81ED-4DB2-BD59-A6C34878D82A}">
                    <a16:rowId xmlns:a16="http://schemas.microsoft.com/office/drawing/2014/main" val="2232269818"/>
                  </a:ext>
                </a:extLst>
              </a:tr>
              <a:tr h="378088">
                <a:tc>
                  <a:txBody>
                    <a:bodyPr/>
                    <a:lstStyle/>
                    <a:p>
                      <a:pPr>
                        <a:buNone/>
                      </a:pPr>
                      <a:r>
                        <a:rPr lang="en-US"/>
                        <a:t>S101</a:t>
                      </a:r>
                    </a:p>
                  </a:txBody>
                  <a:tcPr anchor="ctr"/>
                </a:tc>
                <a:tc>
                  <a:txBody>
                    <a:bodyPr/>
                    <a:lstStyle/>
                    <a:p>
                      <a:pPr>
                        <a:buNone/>
                      </a:pPr>
                      <a:r>
                        <a:rPr lang="en-US" dirty="0"/>
                        <a:t>OS</a:t>
                      </a:r>
                    </a:p>
                  </a:txBody>
                  <a:tcPr anchor="ctr"/>
                </a:tc>
                <a:tc>
                  <a:txBody>
                    <a:bodyPr/>
                    <a:lstStyle/>
                    <a:p>
                      <a:pPr>
                        <a:buNone/>
                      </a:pPr>
                      <a:r>
                        <a:rPr lang="en-US"/>
                        <a:t>Nepali</a:t>
                      </a:r>
                    </a:p>
                  </a:txBody>
                  <a:tcPr anchor="ctr"/>
                </a:tc>
                <a:extLst>
                  <a:ext uri="{0D108BD9-81ED-4DB2-BD59-A6C34878D82A}">
                    <a16:rowId xmlns:a16="http://schemas.microsoft.com/office/drawing/2014/main" val="254113623"/>
                  </a:ext>
                </a:extLst>
              </a:tr>
              <a:tr h="378088">
                <a:tc>
                  <a:txBody>
                    <a:bodyPr/>
                    <a:lstStyle/>
                    <a:p>
                      <a:pPr>
                        <a:buNone/>
                      </a:pPr>
                      <a:r>
                        <a:rPr lang="en-US"/>
                        <a:t>S102</a:t>
                      </a:r>
                    </a:p>
                  </a:txBody>
                  <a:tcPr anchor="ctr"/>
                </a:tc>
                <a:tc>
                  <a:txBody>
                    <a:bodyPr/>
                    <a:lstStyle/>
                    <a:p>
                      <a:pPr>
                        <a:buNone/>
                      </a:pPr>
                      <a:r>
                        <a:rPr lang="en-US" dirty="0"/>
                        <a:t>DBMS</a:t>
                      </a:r>
                    </a:p>
                  </a:txBody>
                  <a:tcPr anchor="ctr"/>
                </a:tc>
                <a:tc>
                  <a:txBody>
                    <a:bodyPr/>
                    <a:lstStyle/>
                    <a:p>
                      <a:pPr>
                        <a:buNone/>
                      </a:pPr>
                      <a:r>
                        <a:rPr lang="en-US"/>
                        <a:t>English</a:t>
                      </a:r>
                    </a:p>
                  </a:txBody>
                  <a:tcPr anchor="ctr"/>
                </a:tc>
                <a:extLst>
                  <a:ext uri="{0D108BD9-81ED-4DB2-BD59-A6C34878D82A}">
                    <a16:rowId xmlns:a16="http://schemas.microsoft.com/office/drawing/2014/main" val="2829322054"/>
                  </a:ext>
                </a:extLst>
              </a:tr>
              <a:tr h="378088">
                <a:tc>
                  <a:txBody>
                    <a:bodyPr/>
                    <a:lstStyle/>
                    <a:p>
                      <a:pPr>
                        <a:buNone/>
                      </a:pPr>
                      <a:r>
                        <a:rPr lang="en-US"/>
                        <a:t>S102</a:t>
                      </a:r>
                    </a:p>
                  </a:txBody>
                  <a:tcPr anchor="ctr"/>
                </a:tc>
                <a:tc>
                  <a:txBody>
                    <a:bodyPr/>
                    <a:lstStyle/>
                    <a:p>
                      <a:pPr>
                        <a:buNone/>
                      </a:pPr>
                      <a:r>
                        <a:rPr lang="en-US"/>
                        <a:t>CN</a:t>
                      </a:r>
                    </a:p>
                  </a:txBody>
                  <a:tcPr anchor="ctr"/>
                </a:tc>
                <a:tc>
                  <a:txBody>
                    <a:bodyPr/>
                    <a:lstStyle/>
                    <a:p>
                      <a:pPr>
                        <a:buNone/>
                      </a:pPr>
                      <a:r>
                        <a:rPr lang="en-US" dirty="0"/>
                        <a:t>English</a:t>
                      </a:r>
                    </a:p>
                  </a:txBody>
                  <a:tcPr anchor="ctr"/>
                </a:tc>
                <a:extLst>
                  <a:ext uri="{0D108BD9-81ED-4DB2-BD59-A6C34878D82A}">
                    <a16:rowId xmlns:a16="http://schemas.microsoft.com/office/drawing/2014/main" val="2070343107"/>
                  </a:ext>
                </a:extLst>
              </a:tr>
            </a:tbl>
          </a:graphicData>
        </a:graphic>
      </p:graphicFrame>
      <p:sp>
        <p:nvSpPr>
          <p:cNvPr id="7" name="TextBox 6">
            <a:extLst>
              <a:ext uri="{FF2B5EF4-FFF2-40B4-BE49-F238E27FC236}">
                <a16:creationId xmlns:a16="http://schemas.microsoft.com/office/drawing/2014/main" id="{4E3E8E14-1E6A-A9BA-7F4E-3043470CE04D}"/>
              </a:ext>
            </a:extLst>
          </p:cNvPr>
          <p:cNvSpPr txBox="1"/>
          <p:nvPr/>
        </p:nvSpPr>
        <p:spPr>
          <a:xfrm>
            <a:off x="9060176" y="3179268"/>
            <a:ext cx="1746953" cy="369332"/>
          </a:xfrm>
          <a:prstGeom prst="rect">
            <a:avLst/>
          </a:prstGeom>
          <a:noFill/>
        </p:spPr>
        <p:txBody>
          <a:bodyPr wrap="none" rtlCol="0">
            <a:spAutoFit/>
          </a:bodyPr>
          <a:lstStyle/>
          <a:p>
            <a:r>
              <a:rPr lang="en-US" dirty="0"/>
              <a:t>Enrollment table</a:t>
            </a:r>
          </a:p>
        </p:txBody>
      </p:sp>
      <p:graphicFrame>
        <p:nvGraphicFramePr>
          <p:cNvPr id="9" name="Table 8">
            <a:extLst>
              <a:ext uri="{FF2B5EF4-FFF2-40B4-BE49-F238E27FC236}">
                <a16:creationId xmlns:a16="http://schemas.microsoft.com/office/drawing/2014/main" id="{ECDCBC12-C81C-1DDC-7A93-EFBA82B32EC7}"/>
              </a:ext>
            </a:extLst>
          </p:cNvPr>
          <p:cNvGraphicFramePr>
            <a:graphicFrameLocks noGrp="1"/>
          </p:cNvGraphicFramePr>
          <p:nvPr>
            <p:extLst>
              <p:ext uri="{D42A27DB-BD31-4B8C-83A1-F6EECF244321}">
                <p14:modId xmlns:p14="http://schemas.microsoft.com/office/powerpoint/2010/main" val="863567162"/>
              </p:ext>
            </p:extLst>
          </p:nvPr>
        </p:nvGraphicFramePr>
        <p:xfrm>
          <a:off x="5633801" y="4668450"/>
          <a:ext cx="2631230" cy="2137614"/>
        </p:xfrm>
        <a:graphic>
          <a:graphicData uri="http://schemas.openxmlformats.org/drawingml/2006/table">
            <a:tbl>
              <a:tblPr firstRow="1" bandRow="1">
                <a:tableStyleId>{5C22544A-7EE6-4342-B048-85BDC9FD1C3A}</a:tableStyleId>
              </a:tblPr>
              <a:tblGrid>
                <a:gridCol w="1315615">
                  <a:extLst>
                    <a:ext uri="{9D8B030D-6E8A-4147-A177-3AD203B41FA5}">
                      <a16:colId xmlns:a16="http://schemas.microsoft.com/office/drawing/2014/main" val="213863359"/>
                    </a:ext>
                  </a:extLst>
                </a:gridCol>
                <a:gridCol w="1315615">
                  <a:extLst>
                    <a:ext uri="{9D8B030D-6E8A-4147-A177-3AD203B41FA5}">
                      <a16:colId xmlns:a16="http://schemas.microsoft.com/office/drawing/2014/main" val="2635593483"/>
                    </a:ext>
                  </a:extLst>
                </a:gridCol>
              </a:tblGrid>
              <a:tr h="625262">
                <a:tc>
                  <a:txBody>
                    <a:bodyPr/>
                    <a:lstStyle/>
                    <a:p>
                      <a:pPr>
                        <a:buNone/>
                      </a:pPr>
                      <a:r>
                        <a:rPr lang="en-US" dirty="0" err="1"/>
                        <a:t>Stu_ID</a:t>
                      </a:r>
                      <a:endParaRPr lang="en-US" dirty="0"/>
                    </a:p>
                  </a:txBody>
                  <a:tcPr anchor="ctr"/>
                </a:tc>
                <a:tc>
                  <a:txBody>
                    <a:bodyPr/>
                    <a:lstStyle/>
                    <a:p>
                      <a:pPr>
                        <a:buNone/>
                      </a:pPr>
                      <a:r>
                        <a:rPr lang="en-US" dirty="0"/>
                        <a:t>Subject</a:t>
                      </a:r>
                    </a:p>
                  </a:txBody>
                  <a:tcPr anchor="ctr"/>
                </a:tc>
                <a:extLst>
                  <a:ext uri="{0D108BD9-81ED-4DB2-BD59-A6C34878D82A}">
                    <a16:rowId xmlns:a16="http://schemas.microsoft.com/office/drawing/2014/main" val="750597701"/>
                  </a:ext>
                </a:extLst>
              </a:tr>
              <a:tr h="378088">
                <a:tc>
                  <a:txBody>
                    <a:bodyPr/>
                    <a:lstStyle/>
                    <a:p>
                      <a:pPr>
                        <a:buNone/>
                      </a:pPr>
                      <a:r>
                        <a:rPr lang="en-US" dirty="0"/>
                        <a:t>S101</a:t>
                      </a:r>
                    </a:p>
                  </a:txBody>
                  <a:tcPr anchor="ctr"/>
                </a:tc>
                <a:tc>
                  <a:txBody>
                    <a:bodyPr/>
                    <a:lstStyle/>
                    <a:p>
                      <a:pPr>
                        <a:buNone/>
                      </a:pPr>
                      <a:r>
                        <a:rPr lang="en-US" dirty="0"/>
                        <a:t>DBMS</a:t>
                      </a:r>
                    </a:p>
                  </a:txBody>
                  <a:tcPr anchor="ctr"/>
                </a:tc>
                <a:extLst>
                  <a:ext uri="{0D108BD9-81ED-4DB2-BD59-A6C34878D82A}">
                    <a16:rowId xmlns:a16="http://schemas.microsoft.com/office/drawing/2014/main" val="4190997854"/>
                  </a:ext>
                </a:extLst>
              </a:tr>
              <a:tr h="378088">
                <a:tc>
                  <a:txBody>
                    <a:bodyPr/>
                    <a:lstStyle/>
                    <a:p>
                      <a:pPr>
                        <a:buNone/>
                      </a:pPr>
                      <a:r>
                        <a:rPr lang="en-US"/>
                        <a:t>S101</a:t>
                      </a:r>
                    </a:p>
                  </a:txBody>
                  <a:tcPr anchor="ctr"/>
                </a:tc>
                <a:tc>
                  <a:txBody>
                    <a:bodyPr/>
                    <a:lstStyle/>
                    <a:p>
                      <a:pPr>
                        <a:buNone/>
                      </a:pPr>
                      <a:r>
                        <a:rPr lang="en-US" dirty="0"/>
                        <a:t>DBMS</a:t>
                      </a:r>
                    </a:p>
                  </a:txBody>
                  <a:tcPr anchor="ctr"/>
                </a:tc>
                <a:extLst>
                  <a:ext uri="{0D108BD9-81ED-4DB2-BD59-A6C34878D82A}">
                    <a16:rowId xmlns:a16="http://schemas.microsoft.com/office/drawing/2014/main" val="2418840407"/>
                  </a:ext>
                </a:extLst>
              </a:tr>
              <a:tr h="378088">
                <a:tc>
                  <a:txBody>
                    <a:bodyPr/>
                    <a:lstStyle/>
                    <a:p>
                      <a:pPr>
                        <a:buNone/>
                      </a:pPr>
                      <a:r>
                        <a:rPr lang="en-US"/>
                        <a:t>S101</a:t>
                      </a:r>
                    </a:p>
                  </a:txBody>
                  <a:tcPr anchor="ctr"/>
                </a:tc>
                <a:tc>
                  <a:txBody>
                    <a:bodyPr/>
                    <a:lstStyle/>
                    <a:p>
                      <a:pPr>
                        <a:buNone/>
                      </a:pPr>
                      <a:r>
                        <a:rPr lang="en-US" dirty="0"/>
                        <a:t>OS</a:t>
                      </a:r>
                    </a:p>
                  </a:txBody>
                  <a:tcPr anchor="ctr"/>
                </a:tc>
                <a:extLst>
                  <a:ext uri="{0D108BD9-81ED-4DB2-BD59-A6C34878D82A}">
                    <a16:rowId xmlns:a16="http://schemas.microsoft.com/office/drawing/2014/main" val="2232269818"/>
                  </a:ext>
                </a:extLst>
              </a:tr>
              <a:tr h="378088">
                <a:tc>
                  <a:txBody>
                    <a:bodyPr/>
                    <a:lstStyle/>
                    <a:p>
                      <a:pPr>
                        <a:buNone/>
                      </a:pPr>
                      <a:r>
                        <a:rPr lang="en-US"/>
                        <a:t>S101</a:t>
                      </a:r>
                    </a:p>
                  </a:txBody>
                  <a:tcPr anchor="ctr"/>
                </a:tc>
                <a:tc>
                  <a:txBody>
                    <a:bodyPr/>
                    <a:lstStyle/>
                    <a:p>
                      <a:pPr>
                        <a:buNone/>
                      </a:pPr>
                      <a:r>
                        <a:rPr lang="en-US" dirty="0"/>
                        <a:t>OS</a:t>
                      </a:r>
                    </a:p>
                  </a:txBody>
                  <a:tcPr anchor="ctr"/>
                </a:tc>
                <a:extLst>
                  <a:ext uri="{0D108BD9-81ED-4DB2-BD59-A6C34878D82A}">
                    <a16:rowId xmlns:a16="http://schemas.microsoft.com/office/drawing/2014/main" val="254113623"/>
                  </a:ext>
                </a:extLst>
              </a:tr>
            </a:tbl>
          </a:graphicData>
        </a:graphic>
      </p:graphicFrame>
      <p:graphicFrame>
        <p:nvGraphicFramePr>
          <p:cNvPr id="11" name="Table 10">
            <a:extLst>
              <a:ext uri="{FF2B5EF4-FFF2-40B4-BE49-F238E27FC236}">
                <a16:creationId xmlns:a16="http://schemas.microsoft.com/office/drawing/2014/main" id="{846A248D-E26B-5732-2B37-7BF8C3E3EC16}"/>
              </a:ext>
            </a:extLst>
          </p:cNvPr>
          <p:cNvGraphicFramePr>
            <a:graphicFrameLocks noGrp="1"/>
          </p:cNvGraphicFramePr>
          <p:nvPr>
            <p:extLst>
              <p:ext uri="{D42A27DB-BD31-4B8C-83A1-F6EECF244321}">
                <p14:modId xmlns:p14="http://schemas.microsoft.com/office/powerpoint/2010/main" val="1523118250"/>
              </p:ext>
            </p:extLst>
          </p:nvPr>
        </p:nvGraphicFramePr>
        <p:xfrm>
          <a:off x="9275846" y="4668450"/>
          <a:ext cx="2631230" cy="2137614"/>
        </p:xfrm>
        <a:graphic>
          <a:graphicData uri="http://schemas.openxmlformats.org/drawingml/2006/table">
            <a:tbl>
              <a:tblPr firstRow="1" bandRow="1">
                <a:tableStyleId>{5C22544A-7EE6-4342-B048-85BDC9FD1C3A}</a:tableStyleId>
              </a:tblPr>
              <a:tblGrid>
                <a:gridCol w="1315615">
                  <a:extLst>
                    <a:ext uri="{9D8B030D-6E8A-4147-A177-3AD203B41FA5}">
                      <a16:colId xmlns:a16="http://schemas.microsoft.com/office/drawing/2014/main" val="213863359"/>
                    </a:ext>
                  </a:extLst>
                </a:gridCol>
                <a:gridCol w="1315615">
                  <a:extLst>
                    <a:ext uri="{9D8B030D-6E8A-4147-A177-3AD203B41FA5}">
                      <a16:colId xmlns:a16="http://schemas.microsoft.com/office/drawing/2014/main" val="841846570"/>
                    </a:ext>
                  </a:extLst>
                </a:gridCol>
              </a:tblGrid>
              <a:tr h="625262">
                <a:tc>
                  <a:txBody>
                    <a:bodyPr/>
                    <a:lstStyle/>
                    <a:p>
                      <a:pPr>
                        <a:buNone/>
                      </a:pPr>
                      <a:r>
                        <a:rPr lang="en-US" dirty="0" err="1"/>
                        <a:t>Stu_ID</a:t>
                      </a:r>
                      <a:endParaRPr lang="en-US" dirty="0"/>
                    </a:p>
                  </a:txBody>
                  <a:tcPr anchor="ctr"/>
                </a:tc>
                <a:tc>
                  <a:txBody>
                    <a:bodyPr/>
                    <a:lstStyle/>
                    <a:p>
                      <a:pPr>
                        <a:buNone/>
                      </a:pPr>
                      <a:r>
                        <a:rPr lang="en-US" dirty="0"/>
                        <a:t>Language</a:t>
                      </a:r>
                    </a:p>
                  </a:txBody>
                  <a:tcPr anchor="ctr"/>
                </a:tc>
                <a:extLst>
                  <a:ext uri="{0D108BD9-81ED-4DB2-BD59-A6C34878D82A}">
                    <a16:rowId xmlns:a16="http://schemas.microsoft.com/office/drawing/2014/main" val="750597701"/>
                  </a:ext>
                </a:extLst>
              </a:tr>
              <a:tr h="378088">
                <a:tc>
                  <a:txBody>
                    <a:bodyPr/>
                    <a:lstStyle/>
                    <a:p>
                      <a:pPr>
                        <a:buNone/>
                      </a:pPr>
                      <a:r>
                        <a:rPr lang="en-US" dirty="0"/>
                        <a:t>S101</a:t>
                      </a:r>
                    </a:p>
                  </a:txBody>
                  <a:tcPr anchor="ctr"/>
                </a:tc>
                <a:tc>
                  <a:txBody>
                    <a:bodyPr/>
                    <a:lstStyle/>
                    <a:p>
                      <a:pPr>
                        <a:buNone/>
                      </a:pPr>
                      <a:r>
                        <a:rPr lang="en-US"/>
                        <a:t>English</a:t>
                      </a:r>
                    </a:p>
                  </a:txBody>
                  <a:tcPr anchor="ctr"/>
                </a:tc>
                <a:extLst>
                  <a:ext uri="{0D108BD9-81ED-4DB2-BD59-A6C34878D82A}">
                    <a16:rowId xmlns:a16="http://schemas.microsoft.com/office/drawing/2014/main" val="4190997854"/>
                  </a:ext>
                </a:extLst>
              </a:tr>
              <a:tr h="378088">
                <a:tc>
                  <a:txBody>
                    <a:bodyPr/>
                    <a:lstStyle/>
                    <a:p>
                      <a:pPr>
                        <a:buNone/>
                      </a:pPr>
                      <a:r>
                        <a:rPr lang="en-US"/>
                        <a:t>S101</a:t>
                      </a:r>
                    </a:p>
                  </a:txBody>
                  <a:tcPr anchor="ctr"/>
                </a:tc>
                <a:tc>
                  <a:txBody>
                    <a:bodyPr/>
                    <a:lstStyle/>
                    <a:p>
                      <a:pPr>
                        <a:buNone/>
                      </a:pPr>
                      <a:r>
                        <a:rPr lang="en-US"/>
                        <a:t>Nepali</a:t>
                      </a:r>
                    </a:p>
                  </a:txBody>
                  <a:tcPr anchor="ctr"/>
                </a:tc>
                <a:extLst>
                  <a:ext uri="{0D108BD9-81ED-4DB2-BD59-A6C34878D82A}">
                    <a16:rowId xmlns:a16="http://schemas.microsoft.com/office/drawing/2014/main" val="2418840407"/>
                  </a:ext>
                </a:extLst>
              </a:tr>
              <a:tr h="378088">
                <a:tc>
                  <a:txBody>
                    <a:bodyPr/>
                    <a:lstStyle/>
                    <a:p>
                      <a:pPr>
                        <a:buNone/>
                      </a:pPr>
                      <a:r>
                        <a:rPr lang="en-US"/>
                        <a:t>S101</a:t>
                      </a:r>
                    </a:p>
                  </a:txBody>
                  <a:tcPr anchor="ctr"/>
                </a:tc>
                <a:tc>
                  <a:txBody>
                    <a:bodyPr/>
                    <a:lstStyle/>
                    <a:p>
                      <a:pPr>
                        <a:buNone/>
                      </a:pPr>
                      <a:r>
                        <a:rPr lang="en-US"/>
                        <a:t>English</a:t>
                      </a:r>
                    </a:p>
                  </a:txBody>
                  <a:tcPr anchor="ctr"/>
                </a:tc>
                <a:extLst>
                  <a:ext uri="{0D108BD9-81ED-4DB2-BD59-A6C34878D82A}">
                    <a16:rowId xmlns:a16="http://schemas.microsoft.com/office/drawing/2014/main" val="2232269818"/>
                  </a:ext>
                </a:extLst>
              </a:tr>
              <a:tr h="378088">
                <a:tc>
                  <a:txBody>
                    <a:bodyPr/>
                    <a:lstStyle/>
                    <a:p>
                      <a:pPr>
                        <a:buNone/>
                      </a:pPr>
                      <a:r>
                        <a:rPr lang="en-US"/>
                        <a:t>S101</a:t>
                      </a:r>
                    </a:p>
                  </a:txBody>
                  <a:tcPr anchor="ctr"/>
                </a:tc>
                <a:tc>
                  <a:txBody>
                    <a:bodyPr/>
                    <a:lstStyle/>
                    <a:p>
                      <a:pPr>
                        <a:buNone/>
                      </a:pPr>
                      <a:r>
                        <a:rPr lang="en-US" dirty="0"/>
                        <a:t>Nepali</a:t>
                      </a:r>
                    </a:p>
                  </a:txBody>
                  <a:tcPr anchor="ctr"/>
                </a:tc>
                <a:extLst>
                  <a:ext uri="{0D108BD9-81ED-4DB2-BD59-A6C34878D82A}">
                    <a16:rowId xmlns:a16="http://schemas.microsoft.com/office/drawing/2014/main" val="254113623"/>
                  </a:ext>
                </a:extLst>
              </a:tr>
            </a:tbl>
          </a:graphicData>
        </a:graphic>
      </p:graphicFrame>
      <p:sp>
        <p:nvSpPr>
          <p:cNvPr id="13" name="TextBox 12">
            <a:extLst>
              <a:ext uri="{FF2B5EF4-FFF2-40B4-BE49-F238E27FC236}">
                <a16:creationId xmlns:a16="http://schemas.microsoft.com/office/drawing/2014/main" id="{71171C51-0F68-3D56-61FF-5AABEF48F4C9}"/>
              </a:ext>
            </a:extLst>
          </p:cNvPr>
          <p:cNvSpPr txBox="1"/>
          <p:nvPr/>
        </p:nvSpPr>
        <p:spPr>
          <a:xfrm>
            <a:off x="5633801" y="4299118"/>
            <a:ext cx="2260427" cy="369332"/>
          </a:xfrm>
          <a:prstGeom prst="rect">
            <a:avLst/>
          </a:prstGeom>
          <a:noFill/>
        </p:spPr>
        <p:txBody>
          <a:bodyPr wrap="none" rtlCol="0">
            <a:spAutoFit/>
          </a:bodyPr>
          <a:lstStyle/>
          <a:p>
            <a:r>
              <a:rPr lang="en-US" dirty="0" err="1"/>
              <a:t>Student_Subject</a:t>
            </a:r>
            <a:r>
              <a:rPr lang="en-US" dirty="0"/>
              <a:t> table</a:t>
            </a:r>
          </a:p>
        </p:txBody>
      </p:sp>
      <p:sp>
        <p:nvSpPr>
          <p:cNvPr id="14" name="TextBox 13">
            <a:extLst>
              <a:ext uri="{FF2B5EF4-FFF2-40B4-BE49-F238E27FC236}">
                <a16:creationId xmlns:a16="http://schemas.microsoft.com/office/drawing/2014/main" id="{31E6C986-EBE9-48F6-C7AE-2FCDFCE9EDE6}"/>
              </a:ext>
            </a:extLst>
          </p:cNvPr>
          <p:cNvSpPr txBox="1"/>
          <p:nvPr/>
        </p:nvSpPr>
        <p:spPr>
          <a:xfrm>
            <a:off x="9275846" y="4222814"/>
            <a:ext cx="2415598" cy="369332"/>
          </a:xfrm>
          <a:prstGeom prst="rect">
            <a:avLst/>
          </a:prstGeom>
          <a:noFill/>
        </p:spPr>
        <p:txBody>
          <a:bodyPr wrap="none" rtlCol="0">
            <a:spAutoFit/>
          </a:bodyPr>
          <a:lstStyle/>
          <a:p>
            <a:r>
              <a:rPr lang="en-US" dirty="0" err="1"/>
              <a:t>Student_language</a:t>
            </a:r>
            <a:r>
              <a:rPr lang="en-US" dirty="0"/>
              <a:t> table</a:t>
            </a:r>
          </a:p>
        </p:txBody>
      </p:sp>
      <p:cxnSp>
        <p:nvCxnSpPr>
          <p:cNvPr id="16" name="Straight Arrow Connector 15">
            <a:extLst>
              <a:ext uri="{FF2B5EF4-FFF2-40B4-BE49-F238E27FC236}">
                <a16:creationId xmlns:a16="http://schemas.microsoft.com/office/drawing/2014/main" id="{205BD642-4DE8-44C8-749A-550DC8B6AE5C}"/>
              </a:ext>
            </a:extLst>
          </p:cNvPr>
          <p:cNvCxnSpPr>
            <a:stCxn id="7" idx="2"/>
          </p:cNvCxnSpPr>
          <p:nvPr/>
        </p:nvCxnSpPr>
        <p:spPr>
          <a:xfrm flipH="1">
            <a:off x="7894228" y="3548600"/>
            <a:ext cx="2039425" cy="935184"/>
          </a:xfrm>
          <a:prstGeom prst="straightConnector1">
            <a:avLst/>
          </a:prstGeom>
          <a:ln w="3810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7" name="Straight Arrow Connector 16">
            <a:extLst>
              <a:ext uri="{FF2B5EF4-FFF2-40B4-BE49-F238E27FC236}">
                <a16:creationId xmlns:a16="http://schemas.microsoft.com/office/drawing/2014/main" id="{154347BA-BDE2-01C8-7050-492C51E53570}"/>
              </a:ext>
            </a:extLst>
          </p:cNvPr>
          <p:cNvCxnSpPr>
            <a:cxnSpLocks/>
            <a:stCxn id="7" idx="2"/>
            <a:endCxn id="14" idx="0"/>
          </p:cNvCxnSpPr>
          <p:nvPr/>
        </p:nvCxnSpPr>
        <p:spPr>
          <a:xfrm>
            <a:off x="9933653" y="3548600"/>
            <a:ext cx="549992" cy="674214"/>
          </a:xfrm>
          <a:prstGeom prst="straightConnector1">
            <a:avLst/>
          </a:prstGeom>
          <a:ln w="3810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213667559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5E1767-08EA-854D-4924-702FDC015B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5D2C42-97EB-949E-A997-2CE6720DA3A3}"/>
              </a:ext>
            </a:extLst>
          </p:cNvPr>
          <p:cNvSpPr>
            <a:spLocks noGrp="1"/>
          </p:cNvSpPr>
          <p:nvPr>
            <p:ph type="title"/>
          </p:nvPr>
        </p:nvSpPr>
        <p:spPr/>
        <p:txBody>
          <a:bodyPr/>
          <a:lstStyle/>
          <a:p>
            <a:r>
              <a:rPr lang="en-US" dirty="0"/>
              <a:t>Fifth Normal Form (5NF)</a:t>
            </a:r>
          </a:p>
        </p:txBody>
      </p:sp>
      <p:sp>
        <p:nvSpPr>
          <p:cNvPr id="3" name="Content Placeholder 2">
            <a:extLst>
              <a:ext uri="{FF2B5EF4-FFF2-40B4-BE49-F238E27FC236}">
                <a16:creationId xmlns:a16="http://schemas.microsoft.com/office/drawing/2014/main" id="{F4AE22C1-02F7-60E7-8507-1288C202B0F0}"/>
              </a:ext>
            </a:extLst>
          </p:cNvPr>
          <p:cNvSpPr>
            <a:spLocks noGrp="1"/>
          </p:cNvSpPr>
          <p:nvPr>
            <p:ph idx="1"/>
          </p:nvPr>
        </p:nvSpPr>
        <p:spPr>
          <a:xfrm>
            <a:off x="420788" y="1874026"/>
            <a:ext cx="4954367" cy="4449761"/>
          </a:xfrm>
        </p:spPr>
        <p:txBody>
          <a:bodyPr>
            <a:normAutofit/>
          </a:bodyPr>
          <a:lstStyle/>
          <a:p>
            <a:r>
              <a:rPr lang="en-US" b="1" dirty="0"/>
              <a:t>Rule:</a:t>
            </a:r>
          </a:p>
          <a:p>
            <a:pPr lvl="1"/>
            <a:r>
              <a:rPr lang="en-US" dirty="0"/>
              <a:t>Remove Join Dependencies.</a:t>
            </a:r>
          </a:p>
          <a:p>
            <a:pPr marL="0" indent="0">
              <a:buNone/>
            </a:pPr>
            <a:r>
              <a:rPr lang="en-US" dirty="0"/>
              <a:t>Assume: College Additionally Stores</a:t>
            </a:r>
          </a:p>
          <a:p>
            <a:r>
              <a:rPr lang="en-US" dirty="0"/>
              <a:t>A complex dependency may exist between:</a:t>
            </a:r>
          </a:p>
          <a:p>
            <a:pPr lvl="1"/>
            <a:r>
              <a:rPr lang="en-US" dirty="0"/>
              <a:t>Student</a:t>
            </a:r>
          </a:p>
          <a:p>
            <a:pPr lvl="1"/>
            <a:r>
              <a:rPr lang="en-US" dirty="0"/>
              <a:t>Subject</a:t>
            </a:r>
          </a:p>
          <a:p>
            <a:pPr lvl="1"/>
            <a:r>
              <a:rPr lang="en-US" dirty="0"/>
              <a:t>Project</a:t>
            </a:r>
          </a:p>
          <a:p>
            <a:r>
              <a:rPr lang="en-US" dirty="0"/>
              <a:t>The original relation can be </a:t>
            </a:r>
          </a:p>
          <a:p>
            <a:pPr marL="201168" lvl="1" indent="0">
              <a:buNone/>
            </a:pPr>
            <a:r>
              <a:rPr lang="en-US" dirty="0"/>
              <a:t>reconstructed through joins.</a:t>
            </a:r>
          </a:p>
          <a:p>
            <a:r>
              <a:rPr lang="en-US" dirty="0"/>
              <a:t>This removes redundancy </a:t>
            </a:r>
          </a:p>
          <a:p>
            <a:pPr marL="201168" lvl="1" indent="0">
              <a:buNone/>
            </a:pPr>
            <a:r>
              <a:rPr lang="en-US" dirty="0"/>
              <a:t>caused by join dependencies.</a:t>
            </a:r>
          </a:p>
          <a:p>
            <a:endParaRPr lang="en-US" dirty="0"/>
          </a:p>
          <a:p>
            <a:endParaRPr lang="en-US" dirty="0"/>
          </a:p>
        </p:txBody>
      </p:sp>
      <p:graphicFrame>
        <p:nvGraphicFramePr>
          <p:cNvPr id="5" name="Table 4">
            <a:extLst>
              <a:ext uri="{FF2B5EF4-FFF2-40B4-BE49-F238E27FC236}">
                <a16:creationId xmlns:a16="http://schemas.microsoft.com/office/drawing/2014/main" id="{DE8AA032-C49F-01E4-3B1B-A983A0FED542}"/>
              </a:ext>
            </a:extLst>
          </p:cNvPr>
          <p:cNvGraphicFramePr>
            <a:graphicFrameLocks noGrp="1"/>
          </p:cNvGraphicFramePr>
          <p:nvPr>
            <p:extLst>
              <p:ext uri="{D42A27DB-BD31-4B8C-83A1-F6EECF244321}">
                <p14:modId xmlns:p14="http://schemas.microsoft.com/office/powerpoint/2010/main" val="1958448505"/>
              </p:ext>
            </p:extLst>
          </p:nvPr>
        </p:nvGraphicFramePr>
        <p:xfrm>
          <a:off x="7744599" y="328617"/>
          <a:ext cx="3946845" cy="2137614"/>
        </p:xfrm>
        <a:graphic>
          <a:graphicData uri="http://schemas.openxmlformats.org/drawingml/2006/table">
            <a:tbl>
              <a:tblPr firstRow="1" bandRow="1">
                <a:tableStyleId>{5C22544A-7EE6-4342-B048-85BDC9FD1C3A}</a:tableStyleId>
              </a:tblPr>
              <a:tblGrid>
                <a:gridCol w="1315615">
                  <a:extLst>
                    <a:ext uri="{9D8B030D-6E8A-4147-A177-3AD203B41FA5}">
                      <a16:colId xmlns:a16="http://schemas.microsoft.com/office/drawing/2014/main" val="213863359"/>
                    </a:ext>
                  </a:extLst>
                </a:gridCol>
                <a:gridCol w="1315615">
                  <a:extLst>
                    <a:ext uri="{9D8B030D-6E8A-4147-A177-3AD203B41FA5}">
                      <a16:colId xmlns:a16="http://schemas.microsoft.com/office/drawing/2014/main" val="2635593483"/>
                    </a:ext>
                  </a:extLst>
                </a:gridCol>
                <a:gridCol w="1315615">
                  <a:extLst>
                    <a:ext uri="{9D8B030D-6E8A-4147-A177-3AD203B41FA5}">
                      <a16:colId xmlns:a16="http://schemas.microsoft.com/office/drawing/2014/main" val="841846570"/>
                    </a:ext>
                  </a:extLst>
                </a:gridCol>
              </a:tblGrid>
              <a:tr h="625262">
                <a:tc>
                  <a:txBody>
                    <a:bodyPr/>
                    <a:lstStyle/>
                    <a:p>
                      <a:pPr>
                        <a:buNone/>
                      </a:pPr>
                      <a:r>
                        <a:rPr lang="en-US" dirty="0" err="1"/>
                        <a:t>Stu_ID</a:t>
                      </a:r>
                      <a:endParaRPr lang="en-US" dirty="0"/>
                    </a:p>
                  </a:txBody>
                  <a:tcPr anchor="ctr"/>
                </a:tc>
                <a:tc>
                  <a:txBody>
                    <a:bodyPr/>
                    <a:lstStyle/>
                    <a:p>
                      <a:pPr>
                        <a:buNone/>
                      </a:pPr>
                      <a:r>
                        <a:rPr lang="en-US" dirty="0"/>
                        <a:t>Subject</a:t>
                      </a:r>
                    </a:p>
                  </a:txBody>
                  <a:tcPr anchor="ctr"/>
                </a:tc>
                <a:tc>
                  <a:txBody>
                    <a:bodyPr/>
                    <a:lstStyle/>
                    <a:p>
                      <a:pPr>
                        <a:buNone/>
                      </a:pPr>
                      <a:r>
                        <a:rPr lang="en-US" dirty="0"/>
                        <a:t>Projects</a:t>
                      </a:r>
                    </a:p>
                  </a:txBody>
                  <a:tcPr anchor="ctr"/>
                </a:tc>
                <a:extLst>
                  <a:ext uri="{0D108BD9-81ED-4DB2-BD59-A6C34878D82A}">
                    <a16:rowId xmlns:a16="http://schemas.microsoft.com/office/drawing/2014/main" val="750597701"/>
                  </a:ext>
                </a:extLst>
              </a:tr>
              <a:tr h="378088">
                <a:tc>
                  <a:txBody>
                    <a:bodyPr/>
                    <a:lstStyle/>
                    <a:p>
                      <a:pPr>
                        <a:buNone/>
                      </a:pPr>
                      <a:r>
                        <a:rPr lang="en-US" dirty="0"/>
                        <a:t>S101</a:t>
                      </a:r>
                    </a:p>
                  </a:txBody>
                  <a:tcPr anchor="ctr"/>
                </a:tc>
                <a:tc>
                  <a:txBody>
                    <a:bodyPr/>
                    <a:lstStyle/>
                    <a:p>
                      <a:pPr>
                        <a:buNone/>
                      </a:pPr>
                      <a:r>
                        <a:rPr lang="en-US" dirty="0"/>
                        <a:t>DBMS</a:t>
                      </a:r>
                    </a:p>
                  </a:txBody>
                  <a:tcPr anchor="ctr"/>
                </a:tc>
                <a:tc>
                  <a:txBody>
                    <a:bodyPr/>
                    <a:lstStyle/>
                    <a:p>
                      <a:pPr>
                        <a:buNone/>
                      </a:pPr>
                      <a:r>
                        <a:rPr lang="en-US" dirty="0"/>
                        <a:t>P1</a:t>
                      </a:r>
                    </a:p>
                  </a:txBody>
                  <a:tcPr anchor="ctr"/>
                </a:tc>
                <a:extLst>
                  <a:ext uri="{0D108BD9-81ED-4DB2-BD59-A6C34878D82A}">
                    <a16:rowId xmlns:a16="http://schemas.microsoft.com/office/drawing/2014/main" val="4190997854"/>
                  </a:ext>
                </a:extLst>
              </a:tr>
              <a:tr h="378088">
                <a:tc>
                  <a:txBody>
                    <a:bodyPr/>
                    <a:lstStyle/>
                    <a:p>
                      <a:pPr>
                        <a:buNone/>
                      </a:pPr>
                      <a:r>
                        <a:rPr lang="en-US" dirty="0"/>
                        <a:t>S101</a:t>
                      </a:r>
                    </a:p>
                  </a:txBody>
                  <a:tcPr anchor="ctr"/>
                </a:tc>
                <a:tc>
                  <a:txBody>
                    <a:bodyPr/>
                    <a:lstStyle/>
                    <a:p>
                      <a:pPr>
                        <a:buNone/>
                      </a:pPr>
                      <a:r>
                        <a:rPr lang="en-US" dirty="0"/>
                        <a:t>OS</a:t>
                      </a:r>
                    </a:p>
                  </a:txBody>
                  <a:tcPr anchor="ctr"/>
                </a:tc>
                <a:tc>
                  <a:txBody>
                    <a:bodyPr/>
                    <a:lstStyle/>
                    <a:p>
                      <a:pPr>
                        <a:buNone/>
                      </a:pPr>
                      <a:r>
                        <a:rPr lang="en-US" dirty="0"/>
                        <a:t>P2</a:t>
                      </a:r>
                    </a:p>
                  </a:txBody>
                  <a:tcPr anchor="ctr"/>
                </a:tc>
                <a:extLst>
                  <a:ext uri="{0D108BD9-81ED-4DB2-BD59-A6C34878D82A}">
                    <a16:rowId xmlns:a16="http://schemas.microsoft.com/office/drawing/2014/main" val="2232269818"/>
                  </a:ext>
                </a:extLst>
              </a:tr>
              <a:tr h="378088">
                <a:tc>
                  <a:txBody>
                    <a:bodyPr/>
                    <a:lstStyle/>
                    <a:p>
                      <a:pPr>
                        <a:buNone/>
                      </a:pPr>
                      <a:r>
                        <a:rPr lang="en-US"/>
                        <a:t>S102</a:t>
                      </a:r>
                    </a:p>
                  </a:txBody>
                  <a:tcPr anchor="ctr"/>
                </a:tc>
                <a:tc>
                  <a:txBody>
                    <a:bodyPr/>
                    <a:lstStyle/>
                    <a:p>
                      <a:pPr>
                        <a:buNone/>
                      </a:pPr>
                      <a:r>
                        <a:rPr lang="en-US" dirty="0"/>
                        <a:t>DBMS</a:t>
                      </a:r>
                    </a:p>
                  </a:txBody>
                  <a:tcPr anchor="ctr"/>
                </a:tc>
                <a:tc>
                  <a:txBody>
                    <a:bodyPr/>
                    <a:lstStyle/>
                    <a:p>
                      <a:pPr>
                        <a:buNone/>
                      </a:pPr>
                      <a:r>
                        <a:rPr lang="en-US" dirty="0"/>
                        <a:t>P1</a:t>
                      </a:r>
                    </a:p>
                  </a:txBody>
                  <a:tcPr anchor="ctr"/>
                </a:tc>
                <a:extLst>
                  <a:ext uri="{0D108BD9-81ED-4DB2-BD59-A6C34878D82A}">
                    <a16:rowId xmlns:a16="http://schemas.microsoft.com/office/drawing/2014/main" val="2829322054"/>
                  </a:ext>
                </a:extLst>
              </a:tr>
              <a:tr h="378088">
                <a:tc>
                  <a:txBody>
                    <a:bodyPr/>
                    <a:lstStyle/>
                    <a:p>
                      <a:pPr>
                        <a:buNone/>
                      </a:pPr>
                      <a:r>
                        <a:rPr lang="en-US"/>
                        <a:t>S102</a:t>
                      </a:r>
                    </a:p>
                  </a:txBody>
                  <a:tcPr anchor="ctr"/>
                </a:tc>
                <a:tc>
                  <a:txBody>
                    <a:bodyPr/>
                    <a:lstStyle/>
                    <a:p>
                      <a:pPr>
                        <a:buNone/>
                      </a:pPr>
                      <a:r>
                        <a:rPr lang="en-US"/>
                        <a:t>CN</a:t>
                      </a:r>
                    </a:p>
                  </a:txBody>
                  <a:tcPr anchor="ctr"/>
                </a:tc>
                <a:tc>
                  <a:txBody>
                    <a:bodyPr/>
                    <a:lstStyle/>
                    <a:p>
                      <a:pPr>
                        <a:buNone/>
                      </a:pPr>
                      <a:r>
                        <a:rPr lang="en-US" dirty="0"/>
                        <a:t>P3</a:t>
                      </a:r>
                    </a:p>
                  </a:txBody>
                  <a:tcPr anchor="ctr"/>
                </a:tc>
                <a:extLst>
                  <a:ext uri="{0D108BD9-81ED-4DB2-BD59-A6C34878D82A}">
                    <a16:rowId xmlns:a16="http://schemas.microsoft.com/office/drawing/2014/main" val="2070343107"/>
                  </a:ext>
                </a:extLst>
              </a:tr>
            </a:tbl>
          </a:graphicData>
        </a:graphic>
      </p:graphicFrame>
      <p:sp>
        <p:nvSpPr>
          <p:cNvPr id="7" name="TextBox 6">
            <a:extLst>
              <a:ext uri="{FF2B5EF4-FFF2-40B4-BE49-F238E27FC236}">
                <a16:creationId xmlns:a16="http://schemas.microsoft.com/office/drawing/2014/main" id="{3700FBEB-AA51-9E83-25FF-109B7C8CB7E3}"/>
              </a:ext>
            </a:extLst>
          </p:cNvPr>
          <p:cNvSpPr txBox="1"/>
          <p:nvPr/>
        </p:nvSpPr>
        <p:spPr>
          <a:xfrm>
            <a:off x="8910547" y="2450520"/>
            <a:ext cx="1746953" cy="369332"/>
          </a:xfrm>
          <a:prstGeom prst="rect">
            <a:avLst/>
          </a:prstGeom>
          <a:noFill/>
        </p:spPr>
        <p:txBody>
          <a:bodyPr wrap="none" rtlCol="0">
            <a:spAutoFit/>
          </a:bodyPr>
          <a:lstStyle/>
          <a:p>
            <a:r>
              <a:rPr lang="en-US" dirty="0"/>
              <a:t>Enrollment table</a:t>
            </a:r>
          </a:p>
        </p:txBody>
      </p:sp>
      <p:graphicFrame>
        <p:nvGraphicFramePr>
          <p:cNvPr id="9" name="Table 8">
            <a:extLst>
              <a:ext uri="{FF2B5EF4-FFF2-40B4-BE49-F238E27FC236}">
                <a16:creationId xmlns:a16="http://schemas.microsoft.com/office/drawing/2014/main" id="{1F50406A-CBBE-9FC9-BDFE-693C17073A7E}"/>
              </a:ext>
            </a:extLst>
          </p:cNvPr>
          <p:cNvGraphicFramePr>
            <a:graphicFrameLocks noGrp="1"/>
          </p:cNvGraphicFramePr>
          <p:nvPr>
            <p:extLst>
              <p:ext uri="{D42A27DB-BD31-4B8C-83A1-F6EECF244321}">
                <p14:modId xmlns:p14="http://schemas.microsoft.com/office/powerpoint/2010/main" val="2825130560"/>
              </p:ext>
            </p:extLst>
          </p:nvPr>
        </p:nvGraphicFramePr>
        <p:xfrm>
          <a:off x="3653150" y="4299118"/>
          <a:ext cx="2631230" cy="1759526"/>
        </p:xfrm>
        <a:graphic>
          <a:graphicData uri="http://schemas.openxmlformats.org/drawingml/2006/table">
            <a:tbl>
              <a:tblPr firstRow="1" bandRow="1">
                <a:tableStyleId>{5C22544A-7EE6-4342-B048-85BDC9FD1C3A}</a:tableStyleId>
              </a:tblPr>
              <a:tblGrid>
                <a:gridCol w="1315615">
                  <a:extLst>
                    <a:ext uri="{9D8B030D-6E8A-4147-A177-3AD203B41FA5}">
                      <a16:colId xmlns:a16="http://schemas.microsoft.com/office/drawing/2014/main" val="213863359"/>
                    </a:ext>
                  </a:extLst>
                </a:gridCol>
                <a:gridCol w="1315615">
                  <a:extLst>
                    <a:ext uri="{9D8B030D-6E8A-4147-A177-3AD203B41FA5}">
                      <a16:colId xmlns:a16="http://schemas.microsoft.com/office/drawing/2014/main" val="2635593483"/>
                    </a:ext>
                  </a:extLst>
                </a:gridCol>
              </a:tblGrid>
              <a:tr h="625262">
                <a:tc>
                  <a:txBody>
                    <a:bodyPr/>
                    <a:lstStyle/>
                    <a:p>
                      <a:pPr>
                        <a:buNone/>
                      </a:pPr>
                      <a:r>
                        <a:rPr lang="en-US" dirty="0" err="1"/>
                        <a:t>Stu_ID</a:t>
                      </a:r>
                      <a:endParaRPr lang="en-US" dirty="0"/>
                    </a:p>
                  </a:txBody>
                  <a:tcPr anchor="ctr"/>
                </a:tc>
                <a:tc>
                  <a:txBody>
                    <a:bodyPr/>
                    <a:lstStyle/>
                    <a:p>
                      <a:pPr>
                        <a:buNone/>
                      </a:pPr>
                      <a:r>
                        <a:rPr lang="en-US" dirty="0"/>
                        <a:t>Subject</a:t>
                      </a:r>
                    </a:p>
                  </a:txBody>
                  <a:tcPr anchor="ctr"/>
                </a:tc>
                <a:extLst>
                  <a:ext uri="{0D108BD9-81ED-4DB2-BD59-A6C34878D82A}">
                    <a16:rowId xmlns:a16="http://schemas.microsoft.com/office/drawing/2014/main" val="750597701"/>
                  </a:ext>
                </a:extLst>
              </a:tr>
              <a:tr h="378088">
                <a:tc>
                  <a:txBody>
                    <a:bodyPr/>
                    <a:lstStyle/>
                    <a:p>
                      <a:pPr>
                        <a:buNone/>
                      </a:pPr>
                      <a:r>
                        <a:rPr lang="en-US" dirty="0"/>
                        <a:t>S101</a:t>
                      </a:r>
                    </a:p>
                  </a:txBody>
                  <a:tcPr anchor="ctr"/>
                </a:tc>
                <a:tc>
                  <a:txBody>
                    <a:bodyPr/>
                    <a:lstStyle/>
                    <a:p>
                      <a:pPr>
                        <a:buNone/>
                      </a:pPr>
                      <a:r>
                        <a:rPr lang="en-US" dirty="0"/>
                        <a:t>DBMS</a:t>
                      </a:r>
                    </a:p>
                  </a:txBody>
                  <a:tcPr anchor="ctr"/>
                </a:tc>
                <a:extLst>
                  <a:ext uri="{0D108BD9-81ED-4DB2-BD59-A6C34878D82A}">
                    <a16:rowId xmlns:a16="http://schemas.microsoft.com/office/drawing/2014/main" val="4190997854"/>
                  </a:ext>
                </a:extLst>
              </a:tr>
              <a:tr h="378088">
                <a:tc>
                  <a:txBody>
                    <a:bodyPr/>
                    <a:lstStyle/>
                    <a:p>
                      <a:pPr>
                        <a:buNone/>
                      </a:pPr>
                      <a:r>
                        <a:rPr lang="en-US" dirty="0"/>
                        <a:t>S101</a:t>
                      </a:r>
                    </a:p>
                  </a:txBody>
                  <a:tcPr anchor="ctr"/>
                </a:tc>
                <a:tc>
                  <a:txBody>
                    <a:bodyPr/>
                    <a:lstStyle/>
                    <a:p>
                      <a:pPr>
                        <a:buNone/>
                      </a:pPr>
                      <a:r>
                        <a:rPr lang="en-US" dirty="0"/>
                        <a:t>OS</a:t>
                      </a:r>
                    </a:p>
                  </a:txBody>
                  <a:tcPr anchor="ctr"/>
                </a:tc>
                <a:extLst>
                  <a:ext uri="{0D108BD9-81ED-4DB2-BD59-A6C34878D82A}">
                    <a16:rowId xmlns:a16="http://schemas.microsoft.com/office/drawing/2014/main" val="2232269818"/>
                  </a:ext>
                </a:extLst>
              </a:tr>
              <a:tr h="378088">
                <a:tc>
                  <a:txBody>
                    <a:bodyPr/>
                    <a:lstStyle/>
                    <a:p>
                      <a:pPr>
                        <a:buNone/>
                      </a:pPr>
                      <a:r>
                        <a:rPr lang="en-US" dirty="0"/>
                        <a:t>S102</a:t>
                      </a:r>
                    </a:p>
                  </a:txBody>
                  <a:tcPr anchor="ctr"/>
                </a:tc>
                <a:tc>
                  <a:txBody>
                    <a:bodyPr/>
                    <a:lstStyle/>
                    <a:p>
                      <a:pPr>
                        <a:buNone/>
                      </a:pPr>
                      <a:r>
                        <a:rPr lang="en-US" dirty="0"/>
                        <a:t>CN</a:t>
                      </a:r>
                    </a:p>
                  </a:txBody>
                  <a:tcPr anchor="ctr"/>
                </a:tc>
                <a:extLst>
                  <a:ext uri="{0D108BD9-81ED-4DB2-BD59-A6C34878D82A}">
                    <a16:rowId xmlns:a16="http://schemas.microsoft.com/office/drawing/2014/main" val="254113623"/>
                  </a:ext>
                </a:extLst>
              </a:tr>
            </a:tbl>
          </a:graphicData>
        </a:graphic>
      </p:graphicFrame>
      <p:graphicFrame>
        <p:nvGraphicFramePr>
          <p:cNvPr id="11" name="Table 10">
            <a:extLst>
              <a:ext uri="{FF2B5EF4-FFF2-40B4-BE49-F238E27FC236}">
                <a16:creationId xmlns:a16="http://schemas.microsoft.com/office/drawing/2014/main" id="{2D443D4B-9F86-0B0E-D121-7A32D941FCAE}"/>
              </a:ext>
            </a:extLst>
          </p:cNvPr>
          <p:cNvGraphicFramePr>
            <a:graphicFrameLocks noGrp="1"/>
          </p:cNvGraphicFramePr>
          <p:nvPr>
            <p:extLst>
              <p:ext uri="{D42A27DB-BD31-4B8C-83A1-F6EECF244321}">
                <p14:modId xmlns:p14="http://schemas.microsoft.com/office/powerpoint/2010/main" val="3899796638"/>
              </p:ext>
            </p:extLst>
          </p:nvPr>
        </p:nvGraphicFramePr>
        <p:xfrm>
          <a:off x="6494949" y="4186174"/>
          <a:ext cx="2631230" cy="2137614"/>
        </p:xfrm>
        <a:graphic>
          <a:graphicData uri="http://schemas.openxmlformats.org/drawingml/2006/table">
            <a:tbl>
              <a:tblPr firstRow="1" bandRow="1">
                <a:tableStyleId>{5C22544A-7EE6-4342-B048-85BDC9FD1C3A}</a:tableStyleId>
              </a:tblPr>
              <a:tblGrid>
                <a:gridCol w="1315615">
                  <a:extLst>
                    <a:ext uri="{9D8B030D-6E8A-4147-A177-3AD203B41FA5}">
                      <a16:colId xmlns:a16="http://schemas.microsoft.com/office/drawing/2014/main" val="213863359"/>
                    </a:ext>
                  </a:extLst>
                </a:gridCol>
                <a:gridCol w="1315615">
                  <a:extLst>
                    <a:ext uri="{9D8B030D-6E8A-4147-A177-3AD203B41FA5}">
                      <a16:colId xmlns:a16="http://schemas.microsoft.com/office/drawing/2014/main" val="841846570"/>
                    </a:ext>
                  </a:extLst>
                </a:gridCol>
              </a:tblGrid>
              <a:tr h="625262">
                <a:tc>
                  <a:txBody>
                    <a:bodyPr/>
                    <a:lstStyle/>
                    <a:p>
                      <a:pPr>
                        <a:buNone/>
                      </a:pPr>
                      <a:r>
                        <a:rPr lang="en-US" dirty="0" err="1"/>
                        <a:t>Stu_ID</a:t>
                      </a:r>
                      <a:endParaRPr lang="en-US" dirty="0"/>
                    </a:p>
                  </a:txBody>
                  <a:tcPr anchor="ctr"/>
                </a:tc>
                <a:tc>
                  <a:txBody>
                    <a:bodyPr/>
                    <a:lstStyle/>
                    <a:p>
                      <a:pPr>
                        <a:buNone/>
                      </a:pPr>
                      <a:r>
                        <a:rPr lang="en-US" dirty="0"/>
                        <a:t>Projects</a:t>
                      </a:r>
                    </a:p>
                  </a:txBody>
                  <a:tcPr anchor="ctr"/>
                </a:tc>
                <a:extLst>
                  <a:ext uri="{0D108BD9-81ED-4DB2-BD59-A6C34878D82A}">
                    <a16:rowId xmlns:a16="http://schemas.microsoft.com/office/drawing/2014/main" val="750597701"/>
                  </a:ext>
                </a:extLst>
              </a:tr>
              <a:tr h="378088">
                <a:tc>
                  <a:txBody>
                    <a:bodyPr/>
                    <a:lstStyle/>
                    <a:p>
                      <a:pPr>
                        <a:buNone/>
                      </a:pPr>
                      <a:r>
                        <a:rPr lang="en-US" dirty="0"/>
                        <a:t>S101</a:t>
                      </a:r>
                    </a:p>
                  </a:txBody>
                  <a:tcPr anchor="ctr"/>
                </a:tc>
                <a:tc>
                  <a:txBody>
                    <a:bodyPr/>
                    <a:lstStyle/>
                    <a:p>
                      <a:pPr>
                        <a:buNone/>
                      </a:pPr>
                      <a:r>
                        <a:rPr lang="en-US" dirty="0"/>
                        <a:t>P1</a:t>
                      </a:r>
                    </a:p>
                  </a:txBody>
                  <a:tcPr anchor="ctr"/>
                </a:tc>
                <a:extLst>
                  <a:ext uri="{0D108BD9-81ED-4DB2-BD59-A6C34878D82A}">
                    <a16:rowId xmlns:a16="http://schemas.microsoft.com/office/drawing/2014/main" val="4190997854"/>
                  </a:ext>
                </a:extLst>
              </a:tr>
              <a:tr h="378088">
                <a:tc>
                  <a:txBody>
                    <a:bodyPr/>
                    <a:lstStyle/>
                    <a:p>
                      <a:pPr>
                        <a:buNone/>
                      </a:pPr>
                      <a:r>
                        <a:rPr lang="en-US"/>
                        <a:t>S101</a:t>
                      </a:r>
                    </a:p>
                  </a:txBody>
                  <a:tcPr anchor="ctr"/>
                </a:tc>
                <a:tc>
                  <a:txBody>
                    <a:bodyPr/>
                    <a:lstStyle/>
                    <a:p>
                      <a:pPr>
                        <a:buNone/>
                      </a:pPr>
                      <a:r>
                        <a:rPr lang="en-US" dirty="0"/>
                        <a:t>P2</a:t>
                      </a:r>
                    </a:p>
                  </a:txBody>
                  <a:tcPr anchor="ctr"/>
                </a:tc>
                <a:extLst>
                  <a:ext uri="{0D108BD9-81ED-4DB2-BD59-A6C34878D82A}">
                    <a16:rowId xmlns:a16="http://schemas.microsoft.com/office/drawing/2014/main" val="2418840407"/>
                  </a:ext>
                </a:extLst>
              </a:tr>
              <a:tr h="378088">
                <a:tc>
                  <a:txBody>
                    <a:bodyPr/>
                    <a:lstStyle/>
                    <a:p>
                      <a:pPr>
                        <a:buNone/>
                      </a:pPr>
                      <a:r>
                        <a:rPr lang="en-US" dirty="0"/>
                        <a:t>S102</a:t>
                      </a:r>
                    </a:p>
                  </a:txBody>
                  <a:tcPr anchor="ctr"/>
                </a:tc>
                <a:tc>
                  <a:txBody>
                    <a:bodyPr/>
                    <a:lstStyle/>
                    <a:p>
                      <a:pPr>
                        <a:buNone/>
                      </a:pPr>
                      <a:r>
                        <a:rPr lang="en-US" dirty="0"/>
                        <a:t>P1</a:t>
                      </a:r>
                    </a:p>
                  </a:txBody>
                  <a:tcPr anchor="ctr"/>
                </a:tc>
                <a:extLst>
                  <a:ext uri="{0D108BD9-81ED-4DB2-BD59-A6C34878D82A}">
                    <a16:rowId xmlns:a16="http://schemas.microsoft.com/office/drawing/2014/main" val="2232269818"/>
                  </a:ext>
                </a:extLst>
              </a:tr>
              <a:tr h="378088">
                <a:tc>
                  <a:txBody>
                    <a:bodyPr/>
                    <a:lstStyle/>
                    <a:p>
                      <a:pPr>
                        <a:buNone/>
                      </a:pPr>
                      <a:r>
                        <a:rPr lang="en-US" dirty="0"/>
                        <a:t>S102</a:t>
                      </a:r>
                    </a:p>
                  </a:txBody>
                  <a:tcPr anchor="ctr"/>
                </a:tc>
                <a:tc>
                  <a:txBody>
                    <a:bodyPr/>
                    <a:lstStyle/>
                    <a:p>
                      <a:pPr>
                        <a:buNone/>
                      </a:pPr>
                      <a:r>
                        <a:rPr lang="en-US" dirty="0"/>
                        <a:t>P3</a:t>
                      </a:r>
                    </a:p>
                  </a:txBody>
                  <a:tcPr anchor="ctr"/>
                </a:tc>
                <a:extLst>
                  <a:ext uri="{0D108BD9-81ED-4DB2-BD59-A6C34878D82A}">
                    <a16:rowId xmlns:a16="http://schemas.microsoft.com/office/drawing/2014/main" val="254113623"/>
                  </a:ext>
                </a:extLst>
              </a:tr>
            </a:tbl>
          </a:graphicData>
        </a:graphic>
      </p:graphicFrame>
      <p:sp>
        <p:nvSpPr>
          <p:cNvPr id="13" name="TextBox 12">
            <a:extLst>
              <a:ext uri="{FF2B5EF4-FFF2-40B4-BE49-F238E27FC236}">
                <a16:creationId xmlns:a16="http://schemas.microsoft.com/office/drawing/2014/main" id="{55C39052-CD37-B1D3-B4F3-89B4D0A95E9B}"/>
              </a:ext>
            </a:extLst>
          </p:cNvPr>
          <p:cNvSpPr txBox="1"/>
          <p:nvPr/>
        </p:nvSpPr>
        <p:spPr>
          <a:xfrm>
            <a:off x="3653150" y="3929786"/>
            <a:ext cx="2260427" cy="369332"/>
          </a:xfrm>
          <a:prstGeom prst="rect">
            <a:avLst/>
          </a:prstGeom>
          <a:noFill/>
        </p:spPr>
        <p:txBody>
          <a:bodyPr wrap="none" rtlCol="0">
            <a:spAutoFit/>
          </a:bodyPr>
          <a:lstStyle/>
          <a:p>
            <a:r>
              <a:rPr lang="en-US" dirty="0" err="1"/>
              <a:t>Student_Subject</a:t>
            </a:r>
            <a:r>
              <a:rPr lang="en-US" dirty="0"/>
              <a:t> table</a:t>
            </a:r>
          </a:p>
        </p:txBody>
      </p:sp>
      <p:sp>
        <p:nvSpPr>
          <p:cNvPr id="14" name="TextBox 13">
            <a:extLst>
              <a:ext uri="{FF2B5EF4-FFF2-40B4-BE49-F238E27FC236}">
                <a16:creationId xmlns:a16="http://schemas.microsoft.com/office/drawing/2014/main" id="{08F3AE23-287A-58BE-8BD7-078C7311A2B9}"/>
              </a:ext>
            </a:extLst>
          </p:cNvPr>
          <p:cNvSpPr txBox="1"/>
          <p:nvPr/>
        </p:nvSpPr>
        <p:spPr>
          <a:xfrm>
            <a:off x="6494949" y="3740538"/>
            <a:ext cx="2415598" cy="369332"/>
          </a:xfrm>
          <a:prstGeom prst="rect">
            <a:avLst/>
          </a:prstGeom>
          <a:noFill/>
        </p:spPr>
        <p:txBody>
          <a:bodyPr wrap="none" rtlCol="0">
            <a:spAutoFit/>
          </a:bodyPr>
          <a:lstStyle/>
          <a:p>
            <a:r>
              <a:rPr lang="en-US" dirty="0" err="1"/>
              <a:t>Student_language</a:t>
            </a:r>
            <a:r>
              <a:rPr lang="en-US" dirty="0"/>
              <a:t> table</a:t>
            </a:r>
          </a:p>
        </p:txBody>
      </p:sp>
      <p:cxnSp>
        <p:nvCxnSpPr>
          <p:cNvPr id="16" name="Straight Arrow Connector 15">
            <a:extLst>
              <a:ext uri="{FF2B5EF4-FFF2-40B4-BE49-F238E27FC236}">
                <a16:creationId xmlns:a16="http://schemas.microsoft.com/office/drawing/2014/main" id="{9E5F6E58-6024-EC18-485A-2B257A07D493}"/>
              </a:ext>
            </a:extLst>
          </p:cNvPr>
          <p:cNvCxnSpPr>
            <a:cxnSpLocks/>
            <a:stCxn id="7" idx="2"/>
            <a:endCxn id="13" idx="0"/>
          </p:cNvCxnSpPr>
          <p:nvPr/>
        </p:nvCxnSpPr>
        <p:spPr>
          <a:xfrm flipH="1">
            <a:off x="4783364" y="2819852"/>
            <a:ext cx="5000660" cy="1109934"/>
          </a:xfrm>
          <a:prstGeom prst="straightConnector1">
            <a:avLst/>
          </a:prstGeom>
          <a:ln w="3810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7" name="Straight Arrow Connector 16">
            <a:extLst>
              <a:ext uri="{FF2B5EF4-FFF2-40B4-BE49-F238E27FC236}">
                <a16:creationId xmlns:a16="http://schemas.microsoft.com/office/drawing/2014/main" id="{5F164E3B-A42F-86D5-C420-6B3CE3A5DFB9}"/>
              </a:ext>
            </a:extLst>
          </p:cNvPr>
          <p:cNvCxnSpPr>
            <a:cxnSpLocks/>
            <a:stCxn id="7" idx="2"/>
            <a:endCxn id="14" idx="0"/>
          </p:cNvCxnSpPr>
          <p:nvPr/>
        </p:nvCxnSpPr>
        <p:spPr>
          <a:xfrm flipH="1">
            <a:off x="7702748" y="2819852"/>
            <a:ext cx="2081276" cy="920686"/>
          </a:xfrm>
          <a:prstGeom prst="straightConnector1">
            <a:avLst/>
          </a:prstGeom>
          <a:ln w="3810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aphicFrame>
        <p:nvGraphicFramePr>
          <p:cNvPr id="15" name="Table 14">
            <a:extLst>
              <a:ext uri="{FF2B5EF4-FFF2-40B4-BE49-F238E27FC236}">
                <a16:creationId xmlns:a16="http://schemas.microsoft.com/office/drawing/2014/main" id="{32A612F8-776A-BA09-78FE-F837F927A51D}"/>
              </a:ext>
            </a:extLst>
          </p:cNvPr>
          <p:cNvGraphicFramePr>
            <a:graphicFrameLocks noGrp="1"/>
          </p:cNvGraphicFramePr>
          <p:nvPr>
            <p:extLst>
              <p:ext uri="{D42A27DB-BD31-4B8C-83A1-F6EECF244321}">
                <p14:modId xmlns:p14="http://schemas.microsoft.com/office/powerpoint/2010/main" val="179842172"/>
              </p:ext>
            </p:extLst>
          </p:nvPr>
        </p:nvGraphicFramePr>
        <p:xfrm>
          <a:off x="9414333" y="4114453"/>
          <a:ext cx="2631230" cy="1759526"/>
        </p:xfrm>
        <a:graphic>
          <a:graphicData uri="http://schemas.openxmlformats.org/drawingml/2006/table">
            <a:tbl>
              <a:tblPr firstRow="1" bandRow="1">
                <a:tableStyleId>{5C22544A-7EE6-4342-B048-85BDC9FD1C3A}</a:tableStyleId>
              </a:tblPr>
              <a:tblGrid>
                <a:gridCol w="1315615">
                  <a:extLst>
                    <a:ext uri="{9D8B030D-6E8A-4147-A177-3AD203B41FA5}">
                      <a16:colId xmlns:a16="http://schemas.microsoft.com/office/drawing/2014/main" val="213863359"/>
                    </a:ext>
                  </a:extLst>
                </a:gridCol>
                <a:gridCol w="1315615">
                  <a:extLst>
                    <a:ext uri="{9D8B030D-6E8A-4147-A177-3AD203B41FA5}">
                      <a16:colId xmlns:a16="http://schemas.microsoft.com/office/drawing/2014/main" val="841846570"/>
                    </a:ext>
                  </a:extLst>
                </a:gridCol>
              </a:tblGrid>
              <a:tr h="625262">
                <a:tc>
                  <a:txBody>
                    <a:bodyPr/>
                    <a:lstStyle/>
                    <a:p>
                      <a:pPr>
                        <a:buNone/>
                      </a:pPr>
                      <a:r>
                        <a:rPr lang="en-US" dirty="0"/>
                        <a:t>Subject</a:t>
                      </a:r>
                    </a:p>
                  </a:txBody>
                  <a:tcPr anchor="ctr"/>
                </a:tc>
                <a:tc>
                  <a:txBody>
                    <a:bodyPr/>
                    <a:lstStyle/>
                    <a:p>
                      <a:pPr>
                        <a:buNone/>
                      </a:pPr>
                      <a:r>
                        <a:rPr lang="en-US" dirty="0"/>
                        <a:t>Projects</a:t>
                      </a:r>
                    </a:p>
                  </a:txBody>
                  <a:tcPr anchor="ctr"/>
                </a:tc>
                <a:extLst>
                  <a:ext uri="{0D108BD9-81ED-4DB2-BD59-A6C34878D82A}">
                    <a16:rowId xmlns:a16="http://schemas.microsoft.com/office/drawing/2014/main" val="750597701"/>
                  </a:ext>
                </a:extLst>
              </a:tr>
              <a:tr h="378088">
                <a:tc>
                  <a:txBody>
                    <a:bodyPr/>
                    <a:lstStyle/>
                    <a:p>
                      <a:pPr>
                        <a:buNone/>
                      </a:pPr>
                      <a:r>
                        <a:rPr lang="en-US" dirty="0"/>
                        <a:t>DBMS</a:t>
                      </a:r>
                    </a:p>
                  </a:txBody>
                  <a:tcPr anchor="ctr"/>
                </a:tc>
                <a:tc>
                  <a:txBody>
                    <a:bodyPr/>
                    <a:lstStyle/>
                    <a:p>
                      <a:pPr>
                        <a:buNone/>
                      </a:pPr>
                      <a:r>
                        <a:rPr lang="en-US" dirty="0"/>
                        <a:t>P1</a:t>
                      </a:r>
                    </a:p>
                  </a:txBody>
                  <a:tcPr anchor="ctr"/>
                </a:tc>
                <a:extLst>
                  <a:ext uri="{0D108BD9-81ED-4DB2-BD59-A6C34878D82A}">
                    <a16:rowId xmlns:a16="http://schemas.microsoft.com/office/drawing/2014/main" val="4190997854"/>
                  </a:ext>
                </a:extLst>
              </a:tr>
              <a:tr h="378088">
                <a:tc>
                  <a:txBody>
                    <a:bodyPr/>
                    <a:lstStyle/>
                    <a:p>
                      <a:pPr>
                        <a:buNone/>
                      </a:pPr>
                      <a:r>
                        <a:rPr lang="en-US" dirty="0"/>
                        <a:t>OS</a:t>
                      </a:r>
                    </a:p>
                  </a:txBody>
                  <a:tcPr anchor="ctr"/>
                </a:tc>
                <a:tc>
                  <a:txBody>
                    <a:bodyPr/>
                    <a:lstStyle/>
                    <a:p>
                      <a:pPr>
                        <a:buNone/>
                      </a:pPr>
                      <a:r>
                        <a:rPr lang="en-US" dirty="0"/>
                        <a:t>P2</a:t>
                      </a:r>
                    </a:p>
                  </a:txBody>
                  <a:tcPr anchor="ctr"/>
                </a:tc>
                <a:extLst>
                  <a:ext uri="{0D108BD9-81ED-4DB2-BD59-A6C34878D82A}">
                    <a16:rowId xmlns:a16="http://schemas.microsoft.com/office/drawing/2014/main" val="2418840407"/>
                  </a:ext>
                </a:extLst>
              </a:tr>
              <a:tr h="378088">
                <a:tc>
                  <a:txBody>
                    <a:bodyPr/>
                    <a:lstStyle/>
                    <a:p>
                      <a:pPr>
                        <a:buNone/>
                      </a:pPr>
                      <a:r>
                        <a:rPr lang="en-US" dirty="0"/>
                        <a:t>CN</a:t>
                      </a:r>
                    </a:p>
                  </a:txBody>
                  <a:tcPr anchor="ctr"/>
                </a:tc>
                <a:tc>
                  <a:txBody>
                    <a:bodyPr/>
                    <a:lstStyle/>
                    <a:p>
                      <a:pPr>
                        <a:buNone/>
                      </a:pPr>
                      <a:r>
                        <a:rPr lang="en-US" dirty="0"/>
                        <a:t>P3</a:t>
                      </a:r>
                    </a:p>
                  </a:txBody>
                  <a:tcPr anchor="ctr"/>
                </a:tc>
                <a:extLst>
                  <a:ext uri="{0D108BD9-81ED-4DB2-BD59-A6C34878D82A}">
                    <a16:rowId xmlns:a16="http://schemas.microsoft.com/office/drawing/2014/main" val="2232269818"/>
                  </a:ext>
                </a:extLst>
              </a:tr>
            </a:tbl>
          </a:graphicData>
        </a:graphic>
      </p:graphicFrame>
      <p:sp>
        <p:nvSpPr>
          <p:cNvPr id="19" name="TextBox 18">
            <a:extLst>
              <a:ext uri="{FF2B5EF4-FFF2-40B4-BE49-F238E27FC236}">
                <a16:creationId xmlns:a16="http://schemas.microsoft.com/office/drawing/2014/main" id="{383EE3AB-3A8B-14BB-8F6D-A75E1CE63DD1}"/>
              </a:ext>
            </a:extLst>
          </p:cNvPr>
          <p:cNvSpPr txBox="1"/>
          <p:nvPr/>
        </p:nvSpPr>
        <p:spPr>
          <a:xfrm>
            <a:off x="9414333" y="3668817"/>
            <a:ext cx="2239587" cy="369332"/>
          </a:xfrm>
          <a:prstGeom prst="rect">
            <a:avLst/>
          </a:prstGeom>
          <a:noFill/>
        </p:spPr>
        <p:txBody>
          <a:bodyPr wrap="none" rtlCol="0">
            <a:spAutoFit/>
          </a:bodyPr>
          <a:lstStyle/>
          <a:p>
            <a:r>
              <a:rPr lang="en-US" dirty="0" err="1"/>
              <a:t>Subject_project</a:t>
            </a:r>
            <a:r>
              <a:rPr lang="en-US" dirty="0"/>
              <a:t> table</a:t>
            </a:r>
          </a:p>
        </p:txBody>
      </p:sp>
      <p:cxnSp>
        <p:nvCxnSpPr>
          <p:cNvPr id="23" name="Straight Arrow Connector 22">
            <a:extLst>
              <a:ext uri="{FF2B5EF4-FFF2-40B4-BE49-F238E27FC236}">
                <a16:creationId xmlns:a16="http://schemas.microsoft.com/office/drawing/2014/main" id="{C00C8EC4-7C17-F77D-5964-4896DA99D221}"/>
              </a:ext>
            </a:extLst>
          </p:cNvPr>
          <p:cNvCxnSpPr>
            <a:cxnSpLocks/>
            <a:stCxn id="7" idx="2"/>
            <a:endCxn id="19" idx="0"/>
          </p:cNvCxnSpPr>
          <p:nvPr/>
        </p:nvCxnSpPr>
        <p:spPr>
          <a:xfrm>
            <a:off x="9784024" y="2819852"/>
            <a:ext cx="750103" cy="848965"/>
          </a:xfrm>
          <a:prstGeom prst="straightConnector1">
            <a:avLst/>
          </a:prstGeom>
          <a:ln w="3810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8" name="TextBox 27">
            <a:extLst>
              <a:ext uri="{FF2B5EF4-FFF2-40B4-BE49-F238E27FC236}">
                <a16:creationId xmlns:a16="http://schemas.microsoft.com/office/drawing/2014/main" id="{5235ED21-277F-88F4-27E7-B81A3E0080AA}"/>
              </a:ext>
            </a:extLst>
          </p:cNvPr>
          <p:cNvSpPr txBox="1"/>
          <p:nvPr/>
        </p:nvSpPr>
        <p:spPr>
          <a:xfrm>
            <a:off x="5536610" y="1874026"/>
            <a:ext cx="1846692" cy="923330"/>
          </a:xfrm>
          <a:prstGeom prst="rect">
            <a:avLst/>
          </a:prstGeom>
          <a:noFill/>
        </p:spPr>
        <p:txBody>
          <a:bodyPr wrap="square">
            <a:spAutoFit/>
          </a:bodyPr>
          <a:lstStyle/>
          <a:p>
            <a:r>
              <a:rPr lang="en-US" dirty="0"/>
              <a:t>The table can be decomposed into 3 </a:t>
            </a:r>
            <a:r>
              <a:rPr lang="en-US" dirty="0" err="1"/>
              <a:t>firther</a:t>
            </a:r>
            <a:r>
              <a:rPr lang="en-US" dirty="0"/>
              <a:t> tables</a:t>
            </a:r>
          </a:p>
        </p:txBody>
      </p:sp>
    </p:spTree>
    <p:extLst>
      <p:ext uri="{BB962C8B-B14F-4D97-AF65-F5344CB8AC3E}">
        <p14:creationId xmlns:p14="http://schemas.microsoft.com/office/powerpoint/2010/main" val="20499341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0C0985-5C13-712A-6E50-F2A6C69C4733}"/>
              </a:ext>
            </a:extLst>
          </p:cNvPr>
          <p:cNvSpPr>
            <a:spLocks noGrp="1"/>
          </p:cNvSpPr>
          <p:nvPr>
            <p:ph type="title"/>
          </p:nvPr>
        </p:nvSpPr>
        <p:spPr/>
        <p:txBody>
          <a:bodyPr/>
          <a:lstStyle/>
          <a:p>
            <a:r>
              <a:rPr lang="en-US" dirty="0"/>
              <a:t>AT last we get:</a:t>
            </a:r>
          </a:p>
        </p:txBody>
      </p:sp>
      <p:graphicFrame>
        <p:nvGraphicFramePr>
          <p:cNvPr id="4" name="Content Placeholder 3">
            <a:extLst>
              <a:ext uri="{FF2B5EF4-FFF2-40B4-BE49-F238E27FC236}">
                <a16:creationId xmlns:a16="http://schemas.microsoft.com/office/drawing/2014/main" id="{33A7FB75-7EE8-897D-5B16-41B875FB93CA}"/>
              </a:ext>
            </a:extLst>
          </p:cNvPr>
          <p:cNvGraphicFramePr>
            <a:graphicFrameLocks noGrp="1"/>
          </p:cNvGraphicFramePr>
          <p:nvPr>
            <p:ph idx="1"/>
            <p:extLst>
              <p:ext uri="{D42A27DB-BD31-4B8C-83A1-F6EECF244321}">
                <p14:modId xmlns:p14="http://schemas.microsoft.com/office/powerpoint/2010/main" val="3983351924"/>
              </p:ext>
            </p:extLst>
          </p:nvPr>
        </p:nvGraphicFramePr>
        <p:xfrm>
          <a:off x="889001" y="3097532"/>
          <a:ext cx="4094480" cy="365760"/>
        </p:xfrm>
        <a:graphic>
          <a:graphicData uri="http://schemas.openxmlformats.org/drawingml/2006/table">
            <a:tbl>
              <a:tblPr firstRow="1" bandRow="1">
                <a:tableStyleId>{5C22544A-7EE6-4342-B048-85BDC9FD1C3A}</a:tableStyleId>
              </a:tblPr>
              <a:tblGrid>
                <a:gridCol w="2047240">
                  <a:extLst>
                    <a:ext uri="{9D8B030D-6E8A-4147-A177-3AD203B41FA5}">
                      <a16:colId xmlns:a16="http://schemas.microsoft.com/office/drawing/2014/main" val="2207420532"/>
                    </a:ext>
                  </a:extLst>
                </a:gridCol>
                <a:gridCol w="2047240">
                  <a:extLst>
                    <a:ext uri="{9D8B030D-6E8A-4147-A177-3AD203B41FA5}">
                      <a16:colId xmlns:a16="http://schemas.microsoft.com/office/drawing/2014/main" val="1929009134"/>
                    </a:ext>
                  </a:extLst>
                </a:gridCol>
              </a:tblGrid>
              <a:tr h="364492">
                <a:tc>
                  <a:txBody>
                    <a:bodyPr/>
                    <a:lstStyle/>
                    <a:p>
                      <a:pPr>
                        <a:buNone/>
                      </a:pPr>
                      <a:r>
                        <a:rPr lang="en-US" dirty="0" err="1"/>
                        <a:t>Dept_ID</a:t>
                      </a:r>
                      <a:endParaRPr lang="en-US" dirty="0"/>
                    </a:p>
                  </a:txBody>
                  <a:tcPr anchor="ctr"/>
                </a:tc>
                <a:tc>
                  <a:txBody>
                    <a:bodyPr/>
                    <a:lstStyle/>
                    <a:p>
                      <a:pPr>
                        <a:buNone/>
                      </a:pPr>
                      <a:r>
                        <a:rPr lang="en-US" dirty="0" err="1"/>
                        <a:t>Dept_Name</a:t>
                      </a:r>
                      <a:endParaRPr lang="en-US" dirty="0"/>
                    </a:p>
                  </a:txBody>
                  <a:tcPr anchor="ctr"/>
                </a:tc>
                <a:extLst>
                  <a:ext uri="{0D108BD9-81ED-4DB2-BD59-A6C34878D82A}">
                    <a16:rowId xmlns:a16="http://schemas.microsoft.com/office/drawing/2014/main" val="4268322948"/>
                  </a:ext>
                </a:extLst>
              </a:tr>
            </a:tbl>
          </a:graphicData>
        </a:graphic>
      </p:graphicFrame>
      <p:graphicFrame>
        <p:nvGraphicFramePr>
          <p:cNvPr id="5" name="Table 4">
            <a:extLst>
              <a:ext uri="{FF2B5EF4-FFF2-40B4-BE49-F238E27FC236}">
                <a16:creationId xmlns:a16="http://schemas.microsoft.com/office/drawing/2014/main" id="{1942AF25-0F8A-5434-9FC1-3F8387FBAFB3}"/>
              </a:ext>
            </a:extLst>
          </p:cNvPr>
          <p:cNvGraphicFramePr>
            <a:graphicFrameLocks noGrp="1"/>
          </p:cNvGraphicFramePr>
          <p:nvPr>
            <p:extLst>
              <p:ext uri="{D42A27DB-BD31-4B8C-83A1-F6EECF244321}">
                <p14:modId xmlns:p14="http://schemas.microsoft.com/office/powerpoint/2010/main" val="4078511335"/>
              </p:ext>
            </p:extLst>
          </p:nvPr>
        </p:nvGraphicFramePr>
        <p:xfrm>
          <a:off x="889001" y="2326006"/>
          <a:ext cx="5466081" cy="365760"/>
        </p:xfrm>
        <a:graphic>
          <a:graphicData uri="http://schemas.openxmlformats.org/drawingml/2006/table">
            <a:tbl>
              <a:tblPr firstRow="1" bandRow="1">
                <a:tableStyleId>{5C22544A-7EE6-4342-B048-85BDC9FD1C3A}</a:tableStyleId>
              </a:tblPr>
              <a:tblGrid>
                <a:gridCol w="1822027">
                  <a:extLst>
                    <a:ext uri="{9D8B030D-6E8A-4147-A177-3AD203B41FA5}">
                      <a16:colId xmlns:a16="http://schemas.microsoft.com/office/drawing/2014/main" val="3981679608"/>
                    </a:ext>
                  </a:extLst>
                </a:gridCol>
                <a:gridCol w="1822027">
                  <a:extLst>
                    <a:ext uri="{9D8B030D-6E8A-4147-A177-3AD203B41FA5}">
                      <a16:colId xmlns:a16="http://schemas.microsoft.com/office/drawing/2014/main" val="1914019125"/>
                    </a:ext>
                  </a:extLst>
                </a:gridCol>
                <a:gridCol w="1822027">
                  <a:extLst>
                    <a:ext uri="{9D8B030D-6E8A-4147-A177-3AD203B41FA5}">
                      <a16:colId xmlns:a16="http://schemas.microsoft.com/office/drawing/2014/main" val="1635584887"/>
                    </a:ext>
                  </a:extLst>
                </a:gridCol>
              </a:tblGrid>
              <a:tr h="365760">
                <a:tc>
                  <a:txBody>
                    <a:bodyPr/>
                    <a:lstStyle/>
                    <a:p>
                      <a:pPr>
                        <a:buNone/>
                      </a:pPr>
                      <a:r>
                        <a:rPr lang="en-US" dirty="0" err="1"/>
                        <a:t>Student_ID</a:t>
                      </a:r>
                      <a:endParaRPr lang="en-US" dirty="0"/>
                    </a:p>
                  </a:txBody>
                  <a:tcPr anchor="ctr"/>
                </a:tc>
                <a:tc>
                  <a:txBody>
                    <a:bodyPr/>
                    <a:lstStyle/>
                    <a:p>
                      <a:pPr>
                        <a:buNone/>
                      </a:pPr>
                      <a:r>
                        <a:rPr lang="en-US"/>
                        <a:t>Student_Name</a:t>
                      </a:r>
                    </a:p>
                  </a:txBody>
                  <a:tcPr anchor="ctr"/>
                </a:tc>
                <a:tc>
                  <a:txBody>
                    <a:bodyPr/>
                    <a:lstStyle/>
                    <a:p>
                      <a:pPr>
                        <a:buNone/>
                      </a:pPr>
                      <a:r>
                        <a:rPr lang="en-US" dirty="0" err="1"/>
                        <a:t>Dept_ID</a:t>
                      </a:r>
                      <a:endParaRPr lang="en-US" dirty="0"/>
                    </a:p>
                  </a:txBody>
                  <a:tcPr anchor="ctr"/>
                </a:tc>
                <a:extLst>
                  <a:ext uri="{0D108BD9-81ED-4DB2-BD59-A6C34878D82A}">
                    <a16:rowId xmlns:a16="http://schemas.microsoft.com/office/drawing/2014/main" val="2372396844"/>
                  </a:ext>
                </a:extLst>
              </a:tr>
            </a:tbl>
          </a:graphicData>
        </a:graphic>
      </p:graphicFrame>
      <p:sp>
        <p:nvSpPr>
          <p:cNvPr id="7" name="TextBox 6">
            <a:extLst>
              <a:ext uri="{FF2B5EF4-FFF2-40B4-BE49-F238E27FC236}">
                <a16:creationId xmlns:a16="http://schemas.microsoft.com/office/drawing/2014/main" id="{602801F5-2E01-307C-7526-F119431BD538}"/>
              </a:ext>
            </a:extLst>
          </p:cNvPr>
          <p:cNvSpPr txBox="1"/>
          <p:nvPr/>
        </p:nvSpPr>
        <p:spPr>
          <a:xfrm>
            <a:off x="889001" y="1938457"/>
            <a:ext cx="1305559" cy="365760"/>
          </a:xfrm>
          <a:prstGeom prst="rect">
            <a:avLst/>
          </a:prstGeom>
          <a:noFill/>
        </p:spPr>
        <p:txBody>
          <a:bodyPr wrap="square">
            <a:spAutoFit/>
          </a:bodyPr>
          <a:lstStyle/>
          <a:p>
            <a:r>
              <a:rPr lang="en-US" dirty="0"/>
              <a:t>STUDENT</a:t>
            </a:r>
          </a:p>
        </p:txBody>
      </p:sp>
      <p:sp>
        <p:nvSpPr>
          <p:cNvPr id="9" name="TextBox 8">
            <a:extLst>
              <a:ext uri="{FF2B5EF4-FFF2-40B4-BE49-F238E27FC236}">
                <a16:creationId xmlns:a16="http://schemas.microsoft.com/office/drawing/2014/main" id="{7E9ADCFB-2C50-0B4B-030D-0E28AB46E772}"/>
              </a:ext>
            </a:extLst>
          </p:cNvPr>
          <p:cNvSpPr txBox="1"/>
          <p:nvPr/>
        </p:nvSpPr>
        <p:spPr>
          <a:xfrm>
            <a:off x="889000" y="2773920"/>
            <a:ext cx="1602740" cy="369332"/>
          </a:xfrm>
          <a:prstGeom prst="rect">
            <a:avLst/>
          </a:prstGeom>
          <a:noFill/>
        </p:spPr>
        <p:txBody>
          <a:bodyPr wrap="square">
            <a:spAutoFit/>
          </a:bodyPr>
          <a:lstStyle/>
          <a:p>
            <a:r>
              <a:rPr lang="en-US" dirty="0"/>
              <a:t>DEPARTMENT</a:t>
            </a:r>
          </a:p>
        </p:txBody>
      </p:sp>
      <p:graphicFrame>
        <p:nvGraphicFramePr>
          <p:cNvPr id="10" name="Content Placeholder 3">
            <a:extLst>
              <a:ext uri="{FF2B5EF4-FFF2-40B4-BE49-F238E27FC236}">
                <a16:creationId xmlns:a16="http://schemas.microsoft.com/office/drawing/2014/main" id="{9B452D47-A452-D870-7475-87FA2B840D16}"/>
              </a:ext>
            </a:extLst>
          </p:cNvPr>
          <p:cNvGraphicFramePr>
            <a:graphicFrameLocks/>
          </p:cNvGraphicFramePr>
          <p:nvPr>
            <p:extLst>
              <p:ext uri="{D42A27DB-BD31-4B8C-83A1-F6EECF244321}">
                <p14:modId xmlns:p14="http://schemas.microsoft.com/office/powerpoint/2010/main" val="2766756632"/>
              </p:ext>
            </p:extLst>
          </p:nvPr>
        </p:nvGraphicFramePr>
        <p:xfrm>
          <a:off x="889001" y="4008004"/>
          <a:ext cx="4094480" cy="365760"/>
        </p:xfrm>
        <a:graphic>
          <a:graphicData uri="http://schemas.openxmlformats.org/drawingml/2006/table">
            <a:tbl>
              <a:tblPr firstRow="1" bandRow="1">
                <a:tableStyleId>{5C22544A-7EE6-4342-B048-85BDC9FD1C3A}</a:tableStyleId>
              </a:tblPr>
              <a:tblGrid>
                <a:gridCol w="2047240">
                  <a:extLst>
                    <a:ext uri="{9D8B030D-6E8A-4147-A177-3AD203B41FA5}">
                      <a16:colId xmlns:a16="http://schemas.microsoft.com/office/drawing/2014/main" val="2207420532"/>
                    </a:ext>
                  </a:extLst>
                </a:gridCol>
                <a:gridCol w="2047240">
                  <a:extLst>
                    <a:ext uri="{9D8B030D-6E8A-4147-A177-3AD203B41FA5}">
                      <a16:colId xmlns:a16="http://schemas.microsoft.com/office/drawing/2014/main" val="1929009134"/>
                    </a:ext>
                  </a:extLst>
                </a:gridCol>
              </a:tblGrid>
              <a:tr h="364492">
                <a:tc>
                  <a:txBody>
                    <a:bodyPr/>
                    <a:lstStyle/>
                    <a:p>
                      <a:pPr>
                        <a:buNone/>
                      </a:pPr>
                      <a:r>
                        <a:rPr lang="en-US" dirty="0" err="1"/>
                        <a:t>Dept_ID</a:t>
                      </a:r>
                      <a:endParaRPr lang="en-US" dirty="0"/>
                    </a:p>
                  </a:txBody>
                  <a:tcPr anchor="ctr"/>
                </a:tc>
                <a:tc>
                  <a:txBody>
                    <a:bodyPr/>
                    <a:lstStyle/>
                    <a:p>
                      <a:pPr>
                        <a:buNone/>
                      </a:pPr>
                      <a:r>
                        <a:rPr lang="en-US" dirty="0" err="1"/>
                        <a:t>Dept_Name</a:t>
                      </a:r>
                      <a:endParaRPr lang="en-US" dirty="0"/>
                    </a:p>
                  </a:txBody>
                  <a:tcPr anchor="ctr"/>
                </a:tc>
                <a:extLst>
                  <a:ext uri="{0D108BD9-81ED-4DB2-BD59-A6C34878D82A}">
                    <a16:rowId xmlns:a16="http://schemas.microsoft.com/office/drawing/2014/main" val="4268322948"/>
                  </a:ext>
                </a:extLst>
              </a:tr>
            </a:tbl>
          </a:graphicData>
        </a:graphic>
      </p:graphicFrame>
      <p:sp>
        <p:nvSpPr>
          <p:cNvPr id="11" name="TextBox 10">
            <a:extLst>
              <a:ext uri="{FF2B5EF4-FFF2-40B4-BE49-F238E27FC236}">
                <a16:creationId xmlns:a16="http://schemas.microsoft.com/office/drawing/2014/main" id="{85778E46-575F-FB6A-F970-5E3D0A64DC75}"/>
              </a:ext>
            </a:extLst>
          </p:cNvPr>
          <p:cNvSpPr txBox="1"/>
          <p:nvPr/>
        </p:nvSpPr>
        <p:spPr>
          <a:xfrm>
            <a:off x="889000" y="3684392"/>
            <a:ext cx="1602740" cy="369332"/>
          </a:xfrm>
          <a:prstGeom prst="rect">
            <a:avLst/>
          </a:prstGeom>
          <a:noFill/>
        </p:spPr>
        <p:txBody>
          <a:bodyPr wrap="square">
            <a:spAutoFit/>
          </a:bodyPr>
          <a:lstStyle/>
          <a:p>
            <a:r>
              <a:rPr lang="en-US" dirty="0"/>
              <a:t>DEPARTMENT</a:t>
            </a:r>
          </a:p>
        </p:txBody>
      </p:sp>
      <p:graphicFrame>
        <p:nvGraphicFramePr>
          <p:cNvPr id="12" name="Content Placeholder 3">
            <a:extLst>
              <a:ext uri="{FF2B5EF4-FFF2-40B4-BE49-F238E27FC236}">
                <a16:creationId xmlns:a16="http://schemas.microsoft.com/office/drawing/2014/main" id="{A3DA65D6-5EBD-F2AD-8242-215367774A4A}"/>
              </a:ext>
            </a:extLst>
          </p:cNvPr>
          <p:cNvGraphicFramePr>
            <a:graphicFrameLocks/>
          </p:cNvGraphicFramePr>
          <p:nvPr>
            <p:extLst>
              <p:ext uri="{D42A27DB-BD31-4B8C-83A1-F6EECF244321}">
                <p14:modId xmlns:p14="http://schemas.microsoft.com/office/powerpoint/2010/main" val="701145431"/>
              </p:ext>
            </p:extLst>
          </p:nvPr>
        </p:nvGraphicFramePr>
        <p:xfrm>
          <a:off x="889001" y="4925980"/>
          <a:ext cx="4094480" cy="365760"/>
        </p:xfrm>
        <a:graphic>
          <a:graphicData uri="http://schemas.openxmlformats.org/drawingml/2006/table">
            <a:tbl>
              <a:tblPr firstRow="1" bandRow="1">
                <a:tableStyleId>{5C22544A-7EE6-4342-B048-85BDC9FD1C3A}</a:tableStyleId>
              </a:tblPr>
              <a:tblGrid>
                <a:gridCol w="2047240">
                  <a:extLst>
                    <a:ext uri="{9D8B030D-6E8A-4147-A177-3AD203B41FA5}">
                      <a16:colId xmlns:a16="http://schemas.microsoft.com/office/drawing/2014/main" val="2207420532"/>
                    </a:ext>
                  </a:extLst>
                </a:gridCol>
                <a:gridCol w="2047240">
                  <a:extLst>
                    <a:ext uri="{9D8B030D-6E8A-4147-A177-3AD203B41FA5}">
                      <a16:colId xmlns:a16="http://schemas.microsoft.com/office/drawing/2014/main" val="1929009134"/>
                    </a:ext>
                  </a:extLst>
                </a:gridCol>
              </a:tblGrid>
              <a:tr h="364492">
                <a:tc>
                  <a:txBody>
                    <a:bodyPr/>
                    <a:lstStyle/>
                    <a:p>
                      <a:pPr>
                        <a:buNone/>
                      </a:pPr>
                      <a:r>
                        <a:rPr lang="en-US" dirty="0" err="1"/>
                        <a:t>Dept_ID</a:t>
                      </a:r>
                      <a:endParaRPr lang="en-US" dirty="0"/>
                    </a:p>
                  </a:txBody>
                  <a:tcPr anchor="ctr"/>
                </a:tc>
                <a:tc>
                  <a:txBody>
                    <a:bodyPr/>
                    <a:lstStyle/>
                    <a:p>
                      <a:pPr>
                        <a:buNone/>
                      </a:pPr>
                      <a:r>
                        <a:rPr lang="en-US" dirty="0" err="1"/>
                        <a:t>Dept_Name</a:t>
                      </a:r>
                      <a:endParaRPr lang="en-US" dirty="0"/>
                    </a:p>
                  </a:txBody>
                  <a:tcPr anchor="ctr"/>
                </a:tc>
                <a:extLst>
                  <a:ext uri="{0D108BD9-81ED-4DB2-BD59-A6C34878D82A}">
                    <a16:rowId xmlns:a16="http://schemas.microsoft.com/office/drawing/2014/main" val="4268322948"/>
                  </a:ext>
                </a:extLst>
              </a:tr>
            </a:tbl>
          </a:graphicData>
        </a:graphic>
      </p:graphicFrame>
      <p:sp>
        <p:nvSpPr>
          <p:cNvPr id="13" name="TextBox 12">
            <a:extLst>
              <a:ext uri="{FF2B5EF4-FFF2-40B4-BE49-F238E27FC236}">
                <a16:creationId xmlns:a16="http://schemas.microsoft.com/office/drawing/2014/main" id="{2123E9D8-C7DD-7084-FDEC-3CDEA4E239B5}"/>
              </a:ext>
            </a:extLst>
          </p:cNvPr>
          <p:cNvSpPr txBox="1"/>
          <p:nvPr/>
        </p:nvSpPr>
        <p:spPr>
          <a:xfrm>
            <a:off x="889000" y="4602368"/>
            <a:ext cx="1602740" cy="369332"/>
          </a:xfrm>
          <a:prstGeom prst="rect">
            <a:avLst/>
          </a:prstGeom>
          <a:noFill/>
        </p:spPr>
        <p:txBody>
          <a:bodyPr wrap="square">
            <a:spAutoFit/>
          </a:bodyPr>
          <a:lstStyle/>
          <a:p>
            <a:r>
              <a:rPr lang="en-US" dirty="0"/>
              <a:t>SUBJECT</a:t>
            </a:r>
          </a:p>
        </p:txBody>
      </p:sp>
      <p:graphicFrame>
        <p:nvGraphicFramePr>
          <p:cNvPr id="14" name="Content Placeholder 3">
            <a:extLst>
              <a:ext uri="{FF2B5EF4-FFF2-40B4-BE49-F238E27FC236}">
                <a16:creationId xmlns:a16="http://schemas.microsoft.com/office/drawing/2014/main" id="{BC40CACE-A3B9-B152-1752-B206AD36AE24}"/>
              </a:ext>
            </a:extLst>
          </p:cNvPr>
          <p:cNvGraphicFramePr>
            <a:graphicFrameLocks/>
          </p:cNvGraphicFramePr>
          <p:nvPr>
            <p:extLst>
              <p:ext uri="{D42A27DB-BD31-4B8C-83A1-F6EECF244321}">
                <p14:modId xmlns:p14="http://schemas.microsoft.com/office/powerpoint/2010/main" val="2726841897"/>
              </p:ext>
            </p:extLst>
          </p:nvPr>
        </p:nvGraphicFramePr>
        <p:xfrm>
          <a:off x="889001" y="5832176"/>
          <a:ext cx="4094480" cy="365760"/>
        </p:xfrm>
        <a:graphic>
          <a:graphicData uri="http://schemas.openxmlformats.org/drawingml/2006/table">
            <a:tbl>
              <a:tblPr firstRow="1" bandRow="1">
                <a:tableStyleId>{5C22544A-7EE6-4342-B048-85BDC9FD1C3A}</a:tableStyleId>
              </a:tblPr>
              <a:tblGrid>
                <a:gridCol w="2047240">
                  <a:extLst>
                    <a:ext uri="{9D8B030D-6E8A-4147-A177-3AD203B41FA5}">
                      <a16:colId xmlns:a16="http://schemas.microsoft.com/office/drawing/2014/main" val="2207420532"/>
                    </a:ext>
                  </a:extLst>
                </a:gridCol>
                <a:gridCol w="2047240">
                  <a:extLst>
                    <a:ext uri="{9D8B030D-6E8A-4147-A177-3AD203B41FA5}">
                      <a16:colId xmlns:a16="http://schemas.microsoft.com/office/drawing/2014/main" val="1929009134"/>
                    </a:ext>
                  </a:extLst>
                </a:gridCol>
              </a:tblGrid>
              <a:tr h="364492">
                <a:tc>
                  <a:txBody>
                    <a:bodyPr/>
                    <a:lstStyle/>
                    <a:p>
                      <a:pPr>
                        <a:buNone/>
                      </a:pPr>
                      <a:r>
                        <a:rPr lang="en-US" dirty="0" err="1"/>
                        <a:t>Dept_ID</a:t>
                      </a:r>
                      <a:endParaRPr lang="en-US" dirty="0"/>
                    </a:p>
                  </a:txBody>
                  <a:tcPr anchor="ctr"/>
                </a:tc>
                <a:tc>
                  <a:txBody>
                    <a:bodyPr/>
                    <a:lstStyle/>
                    <a:p>
                      <a:pPr>
                        <a:buNone/>
                      </a:pPr>
                      <a:r>
                        <a:rPr lang="en-US" dirty="0" err="1"/>
                        <a:t>Dept_Name</a:t>
                      </a:r>
                      <a:endParaRPr lang="en-US" dirty="0"/>
                    </a:p>
                  </a:txBody>
                  <a:tcPr anchor="ctr"/>
                </a:tc>
                <a:extLst>
                  <a:ext uri="{0D108BD9-81ED-4DB2-BD59-A6C34878D82A}">
                    <a16:rowId xmlns:a16="http://schemas.microsoft.com/office/drawing/2014/main" val="4268322948"/>
                  </a:ext>
                </a:extLst>
              </a:tr>
            </a:tbl>
          </a:graphicData>
        </a:graphic>
      </p:graphicFrame>
      <p:sp>
        <p:nvSpPr>
          <p:cNvPr id="15" name="TextBox 14">
            <a:extLst>
              <a:ext uri="{FF2B5EF4-FFF2-40B4-BE49-F238E27FC236}">
                <a16:creationId xmlns:a16="http://schemas.microsoft.com/office/drawing/2014/main" id="{A56EC4E2-4EA8-F86A-AA31-7B4F22ED6FFF}"/>
              </a:ext>
            </a:extLst>
          </p:cNvPr>
          <p:cNvSpPr txBox="1"/>
          <p:nvPr/>
        </p:nvSpPr>
        <p:spPr>
          <a:xfrm>
            <a:off x="889000" y="5508564"/>
            <a:ext cx="1602740" cy="369332"/>
          </a:xfrm>
          <a:prstGeom prst="rect">
            <a:avLst/>
          </a:prstGeom>
          <a:noFill/>
        </p:spPr>
        <p:txBody>
          <a:bodyPr wrap="square">
            <a:spAutoFit/>
          </a:bodyPr>
          <a:lstStyle/>
          <a:p>
            <a:r>
              <a:rPr lang="en-US" dirty="0"/>
              <a:t>TEACHER</a:t>
            </a:r>
          </a:p>
        </p:txBody>
      </p:sp>
      <p:graphicFrame>
        <p:nvGraphicFramePr>
          <p:cNvPr id="16" name="Content Placeholder 3">
            <a:extLst>
              <a:ext uri="{FF2B5EF4-FFF2-40B4-BE49-F238E27FC236}">
                <a16:creationId xmlns:a16="http://schemas.microsoft.com/office/drawing/2014/main" id="{1AC4ADE5-63B7-8AEF-2FAF-2E48DF0EEE25}"/>
              </a:ext>
            </a:extLst>
          </p:cNvPr>
          <p:cNvGraphicFramePr>
            <a:graphicFrameLocks/>
          </p:cNvGraphicFramePr>
          <p:nvPr>
            <p:extLst>
              <p:ext uri="{D42A27DB-BD31-4B8C-83A1-F6EECF244321}">
                <p14:modId xmlns:p14="http://schemas.microsoft.com/office/powerpoint/2010/main" val="389885238"/>
              </p:ext>
            </p:extLst>
          </p:nvPr>
        </p:nvGraphicFramePr>
        <p:xfrm>
          <a:off x="7564121" y="2591040"/>
          <a:ext cx="4094480" cy="365760"/>
        </p:xfrm>
        <a:graphic>
          <a:graphicData uri="http://schemas.openxmlformats.org/drawingml/2006/table">
            <a:tbl>
              <a:tblPr firstRow="1" bandRow="1">
                <a:tableStyleId>{5C22544A-7EE6-4342-B048-85BDC9FD1C3A}</a:tableStyleId>
              </a:tblPr>
              <a:tblGrid>
                <a:gridCol w="2047240">
                  <a:extLst>
                    <a:ext uri="{9D8B030D-6E8A-4147-A177-3AD203B41FA5}">
                      <a16:colId xmlns:a16="http://schemas.microsoft.com/office/drawing/2014/main" val="2207420532"/>
                    </a:ext>
                  </a:extLst>
                </a:gridCol>
                <a:gridCol w="2047240">
                  <a:extLst>
                    <a:ext uri="{9D8B030D-6E8A-4147-A177-3AD203B41FA5}">
                      <a16:colId xmlns:a16="http://schemas.microsoft.com/office/drawing/2014/main" val="1929009134"/>
                    </a:ext>
                  </a:extLst>
                </a:gridCol>
              </a:tblGrid>
              <a:tr h="364492">
                <a:tc>
                  <a:txBody>
                    <a:bodyPr/>
                    <a:lstStyle/>
                    <a:p>
                      <a:pPr>
                        <a:buNone/>
                      </a:pPr>
                      <a:r>
                        <a:rPr lang="en-US" dirty="0" err="1"/>
                        <a:t>Dept_ID</a:t>
                      </a:r>
                      <a:endParaRPr lang="en-US" dirty="0"/>
                    </a:p>
                  </a:txBody>
                  <a:tcPr anchor="ctr"/>
                </a:tc>
                <a:tc>
                  <a:txBody>
                    <a:bodyPr/>
                    <a:lstStyle/>
                    <a:p>
                      <a:pPr>
                        <a:buNone/>
                      </a:pPr>
                      <a:r>
                        <a:rPr lang="en-US" dirty="0" err="1"/>
                        <a:t>Dept_Name</a:t>
                      </a:r>
                      <a:endParaRPr lang="en-US" dirty="0"/>
                    </a:p>
                  </a:txBody>
                  <a:tcPr anchor="ctr"/>
                </a:tc>
                <a:extLst>
                  <a:ext uri="{0D108BD9-81ED-4DB2-BD59-A6C34878D82A}">
                    <a16:rowId xmlns:a16="http://schemas.microsoft.com/office/drawing/2014/main" val="4268322948"/>
                  </a:ext>
                </a:extLst>
              </a:tr>
            </a:tbl>
          </a:graphicData>
        </a:graphic>
      </p:graphicFrame>
      <p:sp>
        <p:nvSpPr>
          <p:cNvPr id="17" name="TextBox 16">
            <a:extLst>
              <a:ext uri="{FF2B5EF4-FFF2-40B4-BE49-F238E27FC236}">
                <a16:creationId xmlns:a16="http://schemas.microsoft.com/office/drawing/2014/main" id="{11C4DF47-AD84-024B-8D25-9E6669A34591}"/>
              </a:ext>
            </a:extLst>
          </p:cNvPr>
          <p:cNvSpPr txBox="1"/>
          <p:nvPr/>
        </p:nvSpPr>
        <p:spPr>
          <a:xfrm>
            <a:off x="7564120" y="2267428"/>
            <a:ext cx="2491742" cy="369332"/>
          </a:xfrm>
          <a:prstGeom prst="rect">
            <a:avLst/>
          </a:prstGeom>
          <a:noFill/>
        </p:spPr>
        <p:txBody>
          <a:bodyPr wrap="square">
            <a:spAutoFit/>
          </a:bodyPr>
          <a:lstStyle/>
          <a:p>
            <a:r>
              <a:rPr lang="en-US" dirty="0"/>
              <a:t>STUDENT_SUBJECT</a:t>
            </a:r>
          </a:p>
        </p:txBody>
      </p:sp>
      <p:graphicFrame>
        <p:nvGraphicFramePr>
          <p:cNvPr id="18" name="Content Placeholder 3">
            <a:extLst>
              <a:ext uri="{FF2B5EF4-FFF2-40B4-BE49-F238E27FC236}">
                <a16:creationId xmlns:a16="http://schemas.microsoft.com/office/drawing/2014/main" id="{C89FC27F-57FB-0EFB-C08E-9ACCB1A2B39D}"/>
              </a:ext>
            </a:extLst>
          </p:cNvPr>
          <p:cNvGraphicFramePr>
            <a:graphicFrameLocks/>
          </p:cNvGraphicFramePr>
          <p:nvPr>
            <p:extLst>
              <p:ext uri="{D42A27DB-BD31-4B8C-83A1-F6EECF244321}">
                <p14:modId xmlns:p14="http://schemas.microsoft.com/office/powerpoint/2010/main" val="1493552135"/>
              </p:ext>
            </p:extLst>
          </p:nvPr>
        </p:nvGraphicFramePr>
        <p:xfrm>
          <a:off x="7564121" y="3687964"/>
          <a:ext cx="4094480" cy="365760"/>
        </p:xfrm>
        <a:graphic>
          <a:graphicData uri="http://schemas.openxmlformats.org/drawingml/2006/table">
            <a:tbl>
              <a:tblPr firstRow="1" bandRow="1">
                <a:tableStyleId>{5C22544A-7EE6-4342-B048-85BDC9FD1C3A}</a:tableStyleId>
              </a:tblPr>
              <a:tblGrid>
                <a:gridCol w="2047240">
                  <a:extLst>
                    <a:ext uri="{9D8B030D-6E8A-4147-A177-3AD203B41FA5}">
                      <a16:colId xmlns:a16="http://schemas.microsoft.com/office/drawing/2014/main" val="2207420532"/>
                    </a:ext>
                  </a:extLst>
                </a:gridCol>
                <a:gridCol w="2047240">
                  <a:extLst>
                    <a:ext uri="{9D8B030D-6E8A-4147-A177-3AD203B41FA5}">
                      <a16:colId xmlns:a16="http://schemas.microsoft.com/office/drawing/2014/main" val="1929009134"/>
                    </a:ext>
                  </a:extLst>
                </a:gridCol>
              </a:tblGrid>
              <a:tr h="364492">
                <a:tc>
                  <a:txBody>
                    <a:bodyPr/>
                    <a:lstStyle/>
                    <a:p>
                      <a:pPr>
                        <a:buNone/>
                      </a:pPr>
                      <a:r>
                        <a:rPr lang="en-US" dirty="0" err="1"/>
                        <a:t>Dept_ID</a:t>
                      </a:r>
                      <a:endParaRPr lang="en-US" dirty="0"/>
                    </a:p>
                  </a:txBody>
                  <a:tcPr anchor="ctr"/>
                </a:tc>
                <a:tc>
                  <a:txBody>
                    <a:bodyPr/>
                    <a:lstStyle/>
                    <a:p>
                      <a:pPr>
                        <a:buNone/>
                      </a:pPr>
                      <a:r>
                        <a:rPr lang="en-US" dirty="0" err="1"/>
                        <a:t>Dept_Name</a:t>
                      </a:r>
                      <a:endParaRPr lang="en-US" dirty="0"/>
                    </a:p>
                  </a:txBody>
                  <a:tcPr anchor="ctr"/>
                </a:tc>
                <a:extLst>
                  <a:ext uri="{0D108BD9-81ED-4DB2-BD59-A6C34878D82A}">
                    <a16:rowId xmlns:a16="http://schemas.microsoft.com/office/drawing/2014/main" val="4268322948"/>
                  </a:ext>
                </a:extLst>
              </a:tr>
            </a:tbl>
          </a:graphicData>
        </a:graphic>
      </p:graphicFrame>
      <p:sp>
        <p:nvSpPr>
          <p:cNvPr id="19" name="TextBox 18">
            <a:extLst>
              <a:ext uri="{FF2B5EF4-FFF2-40B4-BE49-F238E27FC236}">
                <a16:creationId xmlns:a16="http://schemas.microsoft.com/office/drawing/2014/main" id="{D45EBFF2-E4A9-5CED-45E9-84D12216D6A8}"/>
              </a:ext>
            </a:extLst>
          </p:cNvPr>
          <p:cNvSpPr txBox="1"/>
          <p:nvPr/>
        </p:nvSpPr>
        <p:spPr>
          <a:xfrm>
            <a:off x="7564120" y="3364352"/>
            <a:ext cx="2491742" cy="369332"/>
          </a:xfrm>
          <a:prstGeom prst="rect">
            <a:avLst/>
          </a:prstGeom>
          <a:noFill/>
        </p:spPr>
        <p:txBody>
          <a:bodyPr wrap="square">
            <a:spAutoFit/>
          </a:bodyPr>
          <a:lstStyle/>
          <a:p>
            <a:r>
              <a:rPr lang="en-US" dirty="0"/>
              <a:t>STUDENT_LANGUAGE</a:t>
            </a:r>
          </a:p>
        </p:txBody>
      </p:sp>
      <p:graphicFrame>
        <p:nvGraphicFramePr>
          <p:cNvPr id="20" name="Content Placeholder 3">
            <a:extLst>
              <a:ext uri="{FF2B5EF4-FFF2-40B4-BE49-F238E27FC236}">
                <a16:creationId xmlns:a16="http://schemas.microsoft.com/office/drawing/2014/main" id="{D45A9D48-C62F-3D40-9723-7A796FAA86DE}"/>
              </a:ext>
            </a:extLst>
          </p:cNvPr>
          <p:cNvGraphicFramePr>
            <a:graphicFrameLocks/>
          </p:cNvGraphicFramePr>
          <p:nvPr>
            <p:extLst>
              <p:ext uri="{D42A27DB-BD31-4B8C-83A1-F6EECF244321}">
                <p14:modId xmlns:p14="http://schemas.microsoft.com/office/powerpoint/2010/main" val="2983016386"/>
              </p:ext>
            </p:extLst>
          </p:nvPr>
        </p:nvGraphicFramePr>
        <p:xfrm>
          <a:off x="7564120" y="4704880"/>
          <a:ext cx="4094480" cy="365760"/>
        </p:xfrm>
        <a:graphic>
          <a:graphicData uri="http://schemas.openxmlformats.org/drawingml/2006/table">
            <a:tbl>
              <a:tblPr firstRow="1" bandRow="1">
                <a:tableStyleId>{5C22544A-7EE6-4342-B048-85BDC9FD1C3A}</a:tableStyleId>
              </a:tblPr>
              <a:tblGrid>
                <a:gridCol w="2047240">
                  <a:extLst>
                    <a:ext uri="{9D8B030D-6E8A-4147-A177-3AD203B41FA5}">
                      <a16:colId xmlns:a16="http://schemas.microsoft.com/office/drawing/2014/main" val="2207420532"/>
                    </a:ext>
                  </a:extLst>
                </a:gridCol>
                <a:gridCol w="2047240">
                  <a:extLst>
                    <a:ext uri="{9D8B030D-6E8A-4147-A177-3AD203B41FA5}">
                      <a16:colId xmlns:a16="http://schemas.microsoft.com/office/drawing/2014/main" val="1929009134"/>
                    </a:ext>
                  </a:extLst>
                </a:gridCol>
              </a:tblGrid>
              <a:tr h="364492">
                <a:tc>
                  <a:txBody>
                    <a:bodyPr/>
                    <a:lstStyle/>
                    <a:p>
                      <a:pPr>
                        <a:buNone/>
                      </a:pPr>
                      <a:r>
                        <a:rPr lang="en-US" dirty="0" err="1"/>
                        <a:t>Dept_ID</a:t>
                      </a:r>
                      <a:endParaRPr lang="en-US" dirty="0"/>
                    </a:p>
                  </a:txBody>
                  <a:tcPr anchor="ctr"/>
                </a:tc>
                <a:tc>
                  <a:txBody>
                    <a:bodyPr/>
                    <a:lstStyle/>
                    <a:p>
                      <a:pPr>
                        <a:buNone/>
                      </a:pPr>
                      <a:r>
                        <a:rPr lang="en-US" dirty="0" err="1"/>
                        <a:t>Dept_Name</a:t>
                      </a:r>
                      <a:endParaRPr lang="en-US" dirty="0"/>
                    </a:p>
                  </a:txBody>
                  <a:tcPr anchor="ctr"/>
                </a:tc>
                <a:extLst>
                  <a:ext uri="{0D108BD9-81ED-4DB2-BD59-A6C34878D82A}">
                    <a16:rowId xmlns:a16="http://schemas.microsoft.com/office/drawing/2014/main" val="4268322948"/>
                  </a:ext>
                </a:extLst>
              </a:tr>
            </a:tbl>
          </a:graphicData>
        </a:graphic>
      </p:graphicFrame>
      <p:sp>
        <p:nvSpPr>
          <p:cNvPr id="21" name="TextBox 20">
            <a:extLst>
              <a:ext uri="{FF2B5EF4-FFF2-40B4-BE49-F238E27FC236}">
                <a16:creationId xmlns:a16="http://schemas.microsoft.com/office/drawing/2014/main" id="{A8009058-AD24-E3B9-D13B-513A8E022472}"/>
              </a:ext>
            </a:extLst>
          </p:cNvPr>
          <p:cNvSpPr txBox="1"/>
          <p:nvPr/>
        </p:nvSpPr>
        <p:spPr>
          <a:xfrm>
            <a:off x="7564119" y="4381268"/>
            <a:ext cx="2037080" cy="369332"/>
          </a:xfrm>
          <a:prstGeom prst="rect">
            <a:avLst/>
          </a:prstGeom>
          <a:noFill/>
        </p:spPr>
        <p:txBody>
          <a:bodyPr wrap="square">
            <a:spAutoFit/>
          </a:bodyPr>
          <a:lstStyle/>
          <a:p>
            <a:r>
              <a:rPr lang="en-US" dirty="0"/>
              <a:t>STUDENT_PROJECT</a:t>
            </a:r>
          </a:p>
        </p:txBody>
      </p:sp>
      <p:graphicFrame>
        <p:nvGraphicFramePr>
          <p:cNvPr id="22" name="Content Placeholder 3">
            <a:extLst>
              <a:ext uri="{FF2B5EF4-FFF2-40B4-BE49-F238E27FC236}">
                <a16:creationId xmlns:a16="http://schemas.microsoft.com/office/drawing/2014/main" id="{B5494B92-1603-76BF-75FD-6744065F3CD3}"/>
              </a:ext>
            </a:extLst>
          </p:cNvPr>
          <p:cNvGraphicFramePr>
            <a:graphicFrameLocks/>
          </p:cNvGraphicFramePr>
          <p:nvPr>
            <p:extLst>
              <p:ext uri="{D42A27DB-BD31-4B8C-83A1-F6EECF244321}">
                <p14:modId xmlns:p14="http://schemas.microsoft.com/office/powerpoint/2010/main" val="2983016386"/>
              </p:ext>
            </p:extLst>
          </p:nvPr>
        </p:nvGraphicFramePr>
        <p:xfrm>
          <a:off x="7564120" y="5721796"/>
          <a:ext cx="4094480" cy="365760"/>
        </p:xfrm>
        <a:graphic>
          <a:graphicData uri="http://schemas.openxmlformats.org/drawingml/2006/table">
            <a:tbl>
              <a:tblPr firstRow="1" bandRow="1">
                <a:tableStyleId>{5C22544A-7EE6-4342-B048-85BDC9FD1C3A}</a:tableStyleId>
              </a:tblPr>
              <a:tblGrid>
                <a:gridCol w="2047240">
                  <a:extLst>
                    <a:ext uri="{9D8B030D-6E8A-4147-A177-3AD203B41FA5}">
                      <a16:colId xmlns:a16="http://schemas.microsoft.com/office/drawing/2014/main" val="2207420532"/>
                    </a:ext>
                  </a:extLst>
                </a:gridCol>
                <a:gridCol w="2047240">
                  <a:extLst>
                    <a:ext uri="{9D8B030D-6E8A-4147-A177-3AD203B41FA5}">
                      <a16:colId xmlns:a16="http://schemas.microsoft.com/office/drawing/2014/main" val="1929009134"/>
                    </a:ext>
                  </a:extLst>
                </a:gridCol>
              </a:tblGrid>
              <a:tr h="364492">
                <a:tc>
                  <a:txBody>
                    <a:bodyPr/>
                    <a:lstStyle/>
                    <a:p>
                      <a:pPr>
                        <a:buNone/>
                      </a:pPr>
                      <a:r>
                        <a:rPr lang="en-US" dirty="0" err="1"/>
                        <a:t>Dept_ID</a:t>
                      </a:r>
                      <a:endParaRPr lang="en-US" dirty="0"/>
                    </a:p>
                  </a:txBody>
                  <a:tcPr anchor="ctr"/>
                </a:tc>
                <a:tc>
                  <a:txBody>
                    <a:bodyPr/>
                    <a:lstStyle/>
                    <a:p>
                      <a:pPr>
                        <a:buNone/>
                      </a:pPr>
                      <a:r>
                        <a:rPr lang="en-US" dirty="0" err="1"/>
                        <a:t>Dept_Name</a:t>
                      </a:r>
                      <a:endParaRPr lang="en-US" dirty="0"/>
                    </a:p>
                  </a:txBody>
                  <a:tcPr anchor="ctr"/>
                </a:tc>
                <a:extLst>
                  <a:ext uri="{0D108BD9-81ED-4DB2-BD59-A6C34878D82A}">
                    <a16:rowId xmlns:a16="http://schemas.microsoft.com/office/drawing/2014/main" val="4268322948"/>
                  </a:ext>
                </a:extLst>
              </a:tr>
            </a:tbl>
          </a:graphicData>
        </a:graphic>
      </p:graphicFrame>
      <p:sp>
        <p:nvSpPr>
          <p:cNvPr id="23" name="TextBox 22">
            <a:extLst>
              <a:ext uri="{FF2B5EF4-FFF2-40B4-BE49-F238E27FC236}">
                <a16:creationId xmlns:a16="http://schemas.microsoft.com/office/drawing/2014/main" id="{4BB4BAB4-0317-3D2D-E6FD-ED3EE8632CE0}"/>
              </a:ext>
            </a:extLst>
          </p:cNvPr>
          <p:cNvSpPr txBox="1"/>
          <p:nvPr/>
        </p:nvSpPr>
        <p:spPr>
          <a:xfrm>
            <a:off x="7564118" y="5398184"/>
            <a:ext cx="2037081" cy="369332"/>
          </a:xfrm>
          <a:prstGeom prst="rect">
            <a:avLst/>
          </a:prstGeom>
          <a:noFill/>
        </p:spPr>
        <p:txBody>
          <a:bodyPr wrap="square">
            <a:spAutoFit/>
          </a:bodyPr>
          <a:lstStyle/>
          <a:p>
            <a:r>
              <a:rPr lang="en-US" dirty="0" err="1"/>
              <a:t>Sujbect_Project</a:t>
            </a:r>
            <a:endParaRPr lang="en-US" dirty="0"/>
          </a:p>
        </p:txBody>
      </p:sp>
    </p:spTree>
    <p:extLst>
      <p:ext uri="{BB962C8B-B14F-4D97-AF65-F5344CB8AC3E}">
        <p14:creationId xmlns:p14="http://schemas.microsoft.com/office/powerpoint/2010/main" val="55427346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6AD284-0F5C-396E-0B74-2A576AD03AD4}"/>
              </a:ext>
            </a:extLst>
          </p:cNvPr>
          <p:cNvSpPr>
            <a:spLocks noGrp="1"/>
          </p:cNvSpPr>
          <p:nvPr>
            <p:ph type="title"/>
          </p:nvPr>
        </p:nvSpPr>
        <p:spPr/>
        <p:txBody>
          <a:bodyPr/>
          <a:lstStyle/>
          <a:p>
            <a:r>
              <a:rPr lang="en-US" dirty="0"/>
              <a:t>Fifth Normal Form (5NF)</a:t>
            </a:r>
          </a:p>
        </p:txBody>
      </p:sp>
      <p:sp>
        <p:nvSpPr>
          <p:cNvPr id="3" name="Content Placeholder 2">
            <a:extLst>
              <a:ext uri="{FF2B5EF4-FFF2-40B4-BE49-F238E27FC236}">
                <a16:creationId xmlns:a16="http://schemas.microsoft.com/office/drawing/2014/main" id="{8468B5BB-D7DA-4E93-AC33-1E3C61B86CC0}"/>
              </a:ext>
            </a:extLst>
          </p:cNvPr>
          <p:cNvSpPr>
            <a:spLocks noGrp="1"/>
          </p:cNvSpPr>
          <p:nvPr>
            <p:ph idx="1"/>
          </p:nvPr>
        </p:nvSpPr>
        <p:spPr/>
        <p:txBody>
          <a:bodyPr/>
          <a:lstStyle/>
          <a:p>
            <a:r>
              <a:rPr lang="en-US" b="1" dirty="0"/>
              <a:t>Rule:</a:t>
            </a:r>
          </a:p>
          <a:p>
            <a:pPr lvl="1"/>
            <a:r>
              <a:rPr lang="en-US" dirty="0"/>
              <a:t>Remove Join Dependencies.</a:t>
            </a:r>
          </a:p>
          <a:p>
            <a:endParaRPr lang="en-US" dirty="0"/>
          </a:p>
        </p:txBody>
      </p:sp>
    </p:spTree>
    <p:extLst>
      <p:ext uri="{BB962C8B-B14F-4D97-AF65-F5344CB8AC3E}">
        <p14:creationId xmlns:p14="http://schemas.microsoft.com/office/powerpoint/2010/main" val="365546920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8F785A-D7F4-370C-4776-EFDCF516FD73}"/>
              </a:ext>
            </a:extLst>
          </p:cNvPr>
          <p:cNvSpPr>
            <a:spLocks noGrp="1"/>
          </p:cNvSpPr>
          <p:nvPr>
            <p:ph type="title"/>
          </p:nvPr>
        </p:nvSpPr>
        <p:spPr/>
        <p:txBody>
          <a:bodyPr/>
          <a:lstStyle/>
          <a:p>
            <a:r>
              <a:rPr lang="en-US" dirty="0"/>
              <a:t>De-normalization for Performance</a:t>
            </a:r>
          </a:p>
        </p:txBody>
      </p:sp>
      <p:sp>
        <p:nvSpPr>
          <p:cNvPr id="3" name="Content Placeholder 2">
            <a:extLst>
              <a:ext uri="{FF2B5EF4-FFF2-40B4-BE49-F238E27FC236}">
                <a16:creationId xmlns:a16="http://schemas.microsoft.com/office/drawing/2014/main" id="{A61E5010-F88F-C941-7051-8CF8C4B4340F}"/>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863235510"/>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TM02900769[[fn=Retrospect]]</Template>
  <TotalTime>2787</TotalTime>
  <Words>12129</Words>
  <Application>Microsoft Office PowerPoint</Application>
  <PresentationFormat>Widescreen</PresentationFormat>
  <Paragraphs>2519</Paragraphs>
  <Slides>80</Slides>
  <Notes>40</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80</vt:i4>
      </vt:variant>
    </vt:vector>
  </HeadingPairs>
  <TitlesOfParts>
    <vt:vector size="86" baseType="lpstr">
      <vt:lpstr>Calibri</vt:lpstr>
      <vt:lpstr>Calibri Light</vt:lpstr>
      <vt:lpstr>Cambria Math</vt:lpstr>
      <vt:lpstr>Courier New</vt:lpstr>
      <vt:lpstr>Wingdings</vt:lpstr>
      <vt:lpstr>Retrospect</vt:lpstr>
      <vt:lpstr>Unit 4: Relational Database Design</vt:lpstr>
      <vt:lpstr>Contents </vt:lpstr>
      <vt:lpstr>What is Relational Database Design?</vt:lpstr>
      <vt:lpstr>Integrity Constraints</vt:lpstr>
      <vt:lpstr>Why is Integrity Constraints Important?</vt:lpstr>
      <vt:lpstr>Domain Integrity Constraints</vt:lpstr>
      <vt:lpstr>Primary Types of Domain Constraints</vt:lpstr>
      <vt:lpstr>Implementing Domain Constraints</vt:lpstr>
      <vt:lpstr>Advantages</vt:lpstr>
      <vt:lpstr>Entity Integrity Constraint</vt:lpstr>
      <vt:lpstr>Valid vs InValid Data</vt:lpstr>
      <vt:lpstr>PowerPoint Presentation</vt:lpstr>
      <vt:lpstr>Referential Integrity Constraint</vt:lpstr>
      <vt:lpstr>Example:</vt:lpstr>
      <vt:lpstr>Violations and Handling Violations</vt:lpstr>
      <vt:lpstr>Advantages</vt:lpstr>
      <vt:lpstr>Assertions</vt:lpstr>
      <vt:lpstr>Why do we need Assertion? </vt:lpstr>
      <vt:lpstr>Example:</vt:lpstr>
      <vt:lpstr>Across Multiple Tables</vt:lpstr>
      <vt:lpstr>Advantages           Limitations</vt:lpstr>
      <vt:lpstr>Real-World Applications of Assertions</vt:lpstr>
      <vt:lpstr>BUT…..….. Assertion are Theoretical</vt:lpstr>
      <vt:lpstr>TRIGGERS</vt:lpstr>
      <vt:lpstr>Classification of Triggers</vt:lpstr>
      <vt:lpstr>Types of Triggers</vt:lpstr>
      <vt:lpstr>OLD and NEW Keywords</vt:lpstr>
      <vt:lpstr>Example: Maximum 100 Students per Department.</vt:lpstr>
      <vt:lpstr>Example</vt:lpstr>
      <vt:lpstr>Advantages           Limitations</vt:lpstr>
      <vt:lpstr>Features of Good Relational Designs</vt:lpstr>
      <vt:lpstr>Functional dependencies</vt:lpstr>
      <vt:lpstr>PowerPoint Presentation</vt:lpstr>
      <vt:lpstr>Trivial Functional Dependencies</vt:lpstr>
      <vt:lpstr>Trivial logic</vt:lpstr>
      <vt:lpstr>Non-Trivial Functional Dependency</vt:lpstr>
      <vt:lpstr>Completely Non-Trivial Dependency</vt:lpstr>
      <vt:lpstr>Full Functional Dependency</vt:lpstr>
      <vt:lpstr>Partial Functional Dependency</vt:lpstr>
      <vt:lpstr>Example:</vt:lpstr>
      <vt:lpstr>Removing Partial Dependency (Convert to 2NF)</vt:lpstr>
      <vt:lpstr>Full vs partial dependencies </vt:lpstr>
      <vt:lpstr>Why important?</vt:lpstr>
      <vt:lpstr>Armstrong’s Axioms.</vt:lpstr>
      <vt:lpstr>Armstrong's Axioms</vt:lpstr>
      <vt:lpstr>Reflexivity Rule:</vt:lpstr>
      <vt:lpstr>Reflexivity Rule:</vt:lpstr>
      <vt:lpstr>Augmentation Rule</vt:lpstr>
      <vt:lpstr>Augmentation Rule</vt:lpstr>
      <vt:lpstr>Transitivity Rule</vt:lpstr>
      <vt:lpstr>Union Rule</vt:lpstr>
      <vt:lpstr>Decomposition Rule</vt:lpstr>
      <vt:lpstr>Pseudo-transitivity Rule</vt:lpstr>
      <vt:lpstr>Applying Armstrong’s axioms</vt:lpstr>
      <vt:lpstr>Summary of Axioms</vt:lpstr>
      <vt:lpstr>Closure of a Set of Functional Dependencies</vt:lpstr>
      <vt:lpstr>Example</vt:lpstr>
      <vt:lpstr>Example:</vt:lpstr>
      <vt:lpstr>Closure of Attribute Sets</vt:lpstr>
      <vt:lpstr>Concept </vt:lpstr>
      <vt:lpstr>Examples</vt:lpstr>
      <vt:lpstr>Find Candidate key</vt:lpstr>
      <vt:lpstr>Rules: </vt:lpstr>
      <vt:lpstr>Example: </vt:lpstr>
      <vt:lpstr>Normalization</vt:lpstr>
      <vt:lpstr>What normalization solve?</vt:lpstr>
      <vt:lpstr>Example:</vt:lpstr>
      <vt:lpstr>Types of Normal Forms</vt:lpstr>
      <vt:lpstr>Normalization Using a Single Example</vt:lpstr>
      <vt:lpstr>First Normal Form </vt:lpstr>
      <vt:lpstr>Second Normal Form (2NF)</vt:lpstr>
      <vt:lpstr>Decompose it into</vt:lpstr>
      <vt:lpstr>Third Normal Form (3NF)</vt:lpstr>
      <vt:lpstr>Third Normal Form (3NF)</vt:lpstr>
      <vt:lpstr> Normal Form (BCNF)</vt:lpstr>
      <vt:lpstr>Fourth Normal Form (4NF)</vt:lpstr>
      <vt:lpstr>Fifth Normal Form (5NF)</vt:lpstr>
      <vt:lpstr>AT last we get:</vt:lpstr>
      <vt:lpstr>Fifth Normal Form (5NF)</vt:lpstr>
      <vt:lpstr>De-normalization for Performance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Kapil Dev Pant</dc:creator>
  <cp:lastModifiedBy>Kapil Dev Pant</cp:lastModifiedBy>
  <cp:revision>499</cp:revision>
  <dcterms:created xsi:type="dcterms:W3CDTF">2026-04-28T00:12:22Z</dcterms:created>
  <dcterms:modified xsi:type="dcterms:W3CDTF">2026-06-11T03:48:29Z</dcterms:modified>
</cp:coreProperties>
</file>