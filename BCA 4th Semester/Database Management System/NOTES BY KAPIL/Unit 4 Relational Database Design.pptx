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48" r:id="rId1"/>
  </p:sldMasterIdLst>
  <p:notesMasterIdLst>
    <p:notesMasterId r:id="rId94"/>
  </p:notesMasterIdLst>
  <p:sldIdLst>
    <p:sldId id="256" r:id="rId2"/>
    <p:sldId id="257" r:id="rId3"/>
    <p:sldId id="258" r:id="rId4"/>
    <p:sldId id="259" r:id="rId5"/>
    <p:sldId id="264" r:id="rId6"/>
    <p:sldId id="260" r:id="rId7"/>
    <p:sldId id="262" r:id="rId8"/>
    <p:sldId id="261" r:id="rId9"/>
    <p:sldId id="263" r:id="rId10"/>
    <p:sldId id="265" r:id="rId11"/>
    <p:sldId id="266" r:id="rId12"/>
    <p:sldId id="267" r:id="rId13"/>
    <p:sldId id="268" r:id="rId14"/>
    <p:sldId id="269" r:id="rId15"/>
    <p:sldId id="270" r:id="rId16"/>
    <p:sldId id="271" r:id="rId17"/>
    <p:sldId id="272" r:id="rId18"/>
    <p:sldId id="273" r:id="rId19"/>
    <p:sldId id="274" r:id="rId20"/>
    <p:sldId id="277" r:id="rId21"/>
    <p:sldId id="275" r:id="rId22"/>
    <p:sldId id="276" r:id="rId23"/>
    <p:sldId id="278" r:id="rId24"/>
    <p:sldId id="279" r:id="rId25"/>
    <p:sldId id="285" r:id="rId26"/>
    <p:sldId id="286" r:id="rId27"/>
    <p:sldId id="288" r:id="rId28"/>
    <p:sldId id="280" r:id="rId29"/>
    <p:sldId id="287" r:id="rId30"/>
    <p:sldId id="283" r:id="rId31"/>
    <p:sldId id="281" r:id="rId32"/>
    <p:sldId id="289" r:id="rId33"/>
    <p:sldId id="300" r:id="rId34"/>
    <p:sldId id="295" r:id="rId35"/>
    <p:sldId id="301" r:id="rId36"/>
    <p:sldId id="296" r:id="rId37"/>
    <p:sldId id="297" r:id="rId38"/>
    <p:sldId id="298" r:id="rId39"/>
    <p:sldId id="299" r:id="rId40"/>
    <p:sldId id="302" r:id="rId41"/>
    <p:sldId id="304" r:id="rId42"/>
    <p:sldId id="305" r:id="rId43"/>
    <p:sldId id="294" r:id="rId44"/>
    <p:sldId id="306" r:id="rId45"/>
    <p:sldId id="293" r:id="rId46"/>
    <p:sldId id="307" r:id="rId47"/>
    <p:sldId id="315" r:id="rId48"/>
    <p:sldId id="309" r:id="rId49"/>
    <p:sldId id="316" r:id="rId50"/>
    <p:sldId id="308" r:id="rId51"/>
    <p:sldId id="312" r:id="rId52"/>
    <p:sldId id="313" r:id="rId53"/>
    <p:sldId id="314" r:id="rId54"/>
    <p:sldId id="310" r:id="rId55"/>
    <p:sldId id="311" r:id="rId56"/>
    <p:sldId id="290" r:id="rId57"/>
    <p:sldId id="318" r:id="rId58"/>
    <p:sldId id="319" r:id="rId59"/>
    <p:sldId id="317" r:id="rId60"/>
    <p:sldId id="329" r:id="rId61"/>
    <p:sldId id="328" r:id="rId62"/>
    <p:sldId id="330" r:id="rId63"/>
    <p:sldId id="331" r:id="rId64"/>
    <p:sldId id="332" r:id="rId65"/>
    <p:sldId id="291" r:id="rId66"/>
    <p:sldId id="303" r:id="rId67"/>
    <p:sldId id="321" r:id="rId68"/>
    <p:sldId id="325" r:id="rId69"/>
    <p:sldId id="320" r:id="rId70"/>
    <p:sldId id="322" r:id="rId71"/>
    <p:sldId id="323" r:id="rId72"/>
    <p:sldId id="327" r:id="rId73"/>
    <p:sldId id="326" r:id="rId74"/>
    <p:sldId id="333" r:id="rId75"/>
    <p:sldId id="334" r:id="rId76"/>
    <p:sldId id="339" r:id="rId77"/>
    <p:sldId id="340" r:id="rId78"/>
    <p:sldId id="341" r:id="rId79"/>
    <p:sldId id="335" r:id="rId80"/>
    <p:sldId id="337" r:id="rId81"/>
    <p:sldId id="338" r:id="rId82"/>
    <p:sldId id="292" r:id="rId83"/>
    <p:sldId id="342" r:id="rId84"/>
    <p:sldId id="346" r:id="rId85"/>
    <p:sldId id="343" r:id="rId86"/>
    <p:sldId id="345" r:id="rId87"/>
    <p:sldId id="344" r:id="rId88"/>
    <p:sldId id="347" r:id="rId89"/>
    <p:sldId id="350" r:id="rId90"/>
    <p:sldId id="351" r:id="rId91"/>
    <p:sldId id="348" r:id="rId92"/>
    <p:sldId id="349" r:id="rId9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5D9F9"/>
    <a:srgbClr val="FFE06B"/>
    <a:srgbClr val="D0CFE4"/>
    <a:srgbClr val="AEDC9D"/>
    <a:srgbClr val="F8BBD8"/>
    <a:srgbClr val="F1CE9E"/>
    <a:srgbClr val="02AE8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906" autoAdjust="0"/>
  </p:normalViewPr>
  <p:slideViewPr>
    <p:cSldViewPr snapToGrid="0">
      <p:cViewPr>
        <p:scale>
          <a:sx n="60" d="100"/>
          <a:sy n="60" d="100"/>
        </p:scale>
        <p:origin x="0" y="-28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D40D43-D0CA-44B5-8918-C234F955DB25}" type="datetimeFigureOut">
              <a:rPr lang="en-US" smtClean="0"/>
              <a:t>6/17/2026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ED260-D111-491D-AB9F-FC8569A2A916}" type="slidenum">
              <a:rPr lang="en-US" smtClean="0"/>
              <a:t>‹#›</a:t>
            </a:fld>
            <a:endParaRPr lang="en-US"/>
          </a:p>
        </p:txBody>
      </p:sp>
    </p:spTree>
    <p:extLst>
      <p:ext uri="{BB962C8B-B14F-4D97-AF65-F5344CB8AC3E}">
        <p14:creationId xmlns:p14="http://schemas.microsoft.com/office/powerpoint/2010/main" val="1933685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upgrad.com/blog/integrity-constraints-in-dbms/"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www.alooba.com/skills/concepts/database-design-160/data-integrity-constraints/"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theknowledgeacademy.com/blog/integrity-constraints-in-dbms/"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indent="-457200">
              <a:buFont typeface="+mj-lt"/>
              <a:buAutoNum type="arabicPeriod"/>
            </a:pPr>
            <a:r>
              <a:rPr lang="en-US" dirty="0"/>
              <a:t>Integrity constraints- Domain Constraints, Entity Integrity Constrains, Referential Integrity Constraints, Assertions and Triggers</a:t>
            </a:r>
          </a:p>
          <a:p>
            <a:pPr marL="457200" indent="-457200">
              <a:buFont typeface="+mj-lt"/>
              <a:buAutoNum type="arabicPeriod"/>
            </a:pPr>
            <a:r>
              <a:rPr lang="en-US" dirty="0"/>
              <a:t>Features of Good Relational Designs</a:t>
            </a:r>
          </a:p>
          <a:p>
            <a:pPr marL="457200" indent="-457200">
              <a:buFont typeface="+mj-lt"/>
              <a:buAutoNum type="arabicPeriod"/>
            </a:pPr>
            <a:r>
              <a:rPr lang="en-US" dirty="0"/>
              <a:t>Functional dependencies and Armstrong’s Axioms</a:t>
            </a:r>
          </a:p>
          <a:p>
            <a:pPr marL="457200" indent="-457200">
              <a:buFont typeface="+mj-lt"/>
              <a:buAutoNum type="arabicPeriod"/>
            </a:pPr>
            <a:r>
              <a:rPr lang="en-US" dirty="0"/>
              <a:t>Closure of a Set of Functional Dependencies and Closure of Attribute Sets</a:t>
            </a:r>
          </a:p>
          <a:p>
            <a:pPr marL="457200" indent="-457200">
              <a:buFont typeface="+mj-lt"/>
              <a:buAutoNum type="arabicPeriod"/>
            </a:pPr>
            <a:r>
              <a:rPr lang="en-US" dirty="0"/>
              <a:t>Database Normalization and Normal Forms- 1NF, 2NF, 3NF and BCNF</a:t>
            </a:r>
          </a:p>
          <a:p>
            <a:pPr marL="457200" indent="-457200">
              <a:buFont typeface="+mj-lt"/>
              <a:buAutoNum type="arabicPeriod"/>
            </a:pPr>
            <a:r>
              <a:rPr lang="en-US" dirty="0"/>
              <a:t>De-normalization for Performance</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a:t>
            </a:fld>
            <a:endParaRPr lang="en-US"/>
          </a:p>
        </p:txBody>
      </p:sp>
    </p:spTree>
    <p:extLst>
      <p:ext uri="{BB962C8B-B14F-4D97-AF65-F5344CB8AC3E}">
        <p14:creationId xmlns:p14="http://schemas.microsoft.com/office/powerpoint/2010/main" val="23241875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Integrity constraints are rules that maintain the correctness and consistency of data stored in a database.</a:t>
            </a:r>
          </a:p>
        </p:txBody>
      </p:sp>
      <p:sp>
        <p:nvSpPr>
          <p:cNvPr id="4" name="Slide Number Placeholder 3"/>
          <p:cNvSpPr>
            <a:spLocks noGrp="1"/>
          </p:cNvSpPr>
          <p:nvPr>
            <p:ph type="sldNum" sz="quarter" idx="5"/>
          </p:nvPr>
        </p:nvSpPr>
        <p:spPr/>
        <p:txBody>
          <a:bodyPr/>
          <a:lstStyle/>
          <a:p>
            <a:fld id="{532ED260-D111-491D-AB9F-FC8569A2A916}" type="slidenum">
              <a:rPr lang="en-US" smtClean="0"/>
              <a:t>4</a:t>
            </a:fld>
            <a:endParaRPr lang="en-US"/>
          </a:p>
        </p:txBody>
      </p:sp>
    </p:spTree>
    <p:extLst>
      <p:ext uri="{BB962C8B-B14F-4D97-AF65-F5344CB8AC3E}">
        <p14:creationId xmlns:p14="http://schemas.microsoft.com/office/powerpoint/2010/main" val="36104015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constraint is a database rule that restricts the values that can be stored in an attribute to a predefined set, range, format, or data type. It ensures that only valid and meaningful data is entered into the database.</a:t>
            </a:r>
          </a:p>
          <a:p>
            <a:r>
              <a:rPr lang="en-US" dirty="0"/>
              <a:t>In other words, a domain constraint defines the </a:t>
            </a:r>
            <a:r>
              <a:rPr lang="en-US" b="1" dirty="0"/>
              <a:t>valid range, type, format, and permissible values</a:t>
            </a:r>
            <a:r>
              <a:rPr lang="en-US" dirty="0"/>
              <a:t> for an attribute.</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Core Requirements of Domain Constraints</a:t>
            </a:r>
          </a:p>
          <a:p>
            <a:r>
              <a:rPr lang="en-US" sz="1200" b="1" u="none" strike="noStrike" kern="1200" dirty="0">
                <a:solidFill>
                  <a:schemeClr val="tx1"/>
                </a:solidFill>
                <a:effectLst/>
                <a:latin typeface="+mn-lt"/>
                <a:ea typeface="+mn-ea"/>
                <a:cs typeface="+mn-cs"/>
              </a:rPr>
              <a:t>Atomicity</a:t>
            </a:r>
            <a:r>
              <a:rPr lang="en-US" sz="1200" b="0" u="none" strike="noStrike" kern="1200" dirty="0">
                <a:solidFill>
                  <a:schemeClr val="tx1"/>
                </a:solidFill>
                <a:effectLst/>
                <a:latin typeface="+mn-lt"/>
                <a:ea typeface="+mn-ea"/>
                <a:cs typeface="+mn-cs"/>
              </a:rPr>
              <a:t>: Values must be indivisible or atomic units. Composite or multi-valued entries (like storing two phone numbers or a full address in a single field) violate domain constraints.</a:t>
            </a:r>
          </a:p>
          <a:p>
            <a:r>
              <a:rPr lang="en-US" sz="1200" b="1" u="none" strike="noStrike" kern="1200" dirty="0">
                <a:solidFill>
                  <a:schemeClr val="tx1"/>
                </a:solidFill>
                <a:effectLst/>
                <a:latin typeface="+mn-lt"/>
                <a:ea typeface="+mn-ea"/>
                <a:cs typeface="+mn-cs"/>
              </a:rPr>
              <a:t>Data Type Compliance</a:t>
            </a:r>
            <a:r>
              <a:rPr lang="en-US" sz="1200" b="0" u="none" strike="noStrike" kern="1200" dirty="0">
                <a:solidFill>
                  <a:schemeClr val="tx1"/>
                </a:solidFill>
                <a:effectLst/>
                <a:latin typeface="+mn-lt"/>
                <a:ea typeface="+mn-ea"/>
                <a:cs typeface="+mn-cs"/>
              </a:rPr>
              <a:t>: Every value must match the predetermined system data type (e.g., INT, VARCHAR, DATE) assigned to that specific column. </a:t>
            </a:r>
          </a:p>
          <a:p>
            <a:endParaRPr lang="en-US" sz="1200" b="1" u="none" strike="noStrike" kern="1200" dirty="0">
              <a:solidFill>
                <a:schemeClr val="tx1"/>
              </a:solidFill>
              <a:effectLst/>
              <a:latin typeface="+mn-lt"/>
              <a:ea typeface="+mn-ea"/>
              <a:cs typeface="+mn-cs"/>
            </a:endParaRP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Primary Types of Domain Constraints</a:t>
            </a:r>
          </a:p>
          <a:p>
            <a:r>
              <a:rPr lang="en-US" sz="1200" b="0" u="none" strike="noStrike" kern="1200" dirty="0">
                <a:solidFill>
                  <a:schemeClr val="tx1"/>
                </a:solidFill>
                <a:effectLst/>
                <a:latin typeface="+mn-lt"/>
                <a:ea typeface="+mn-ea"/>
                <a:cs typeface="+mn-cs"/>
              </a:rPr>
              <a:t>The database management system enforces specific attributes using a combination of data types and explicit constraints: </a:t>
            </a:r>
          </a:p>
          <a:p>
            <a:r>
              <a:rPr lang="en-US" sz="1200" b="1" u="none" strike="noStrike" kern="1200" dirty="0">
                <a:solidFill>
                  <a:schemeClr val="tx1"/>
                </a:solidFill>
                <a:effectLst/>
                <a:latin typeface="+mn-lt"/>
                <a:ea typeface="+mn-ea"/>
                <a:cs typeface="+mn-cs"/>
              </a:rPr>
              <a:t>Data Type Declarations</a:t>
            </a:r>
            <a:r>
              <a:rPr lang="en-US" sz="1200" b="0" u="none" strike="noStrike" kern="1200" dirty="0">
                <a:solidFill>
                  <a:schemeClr val="tx1"/>
                </a:solidFill>
                <a:effectLst/>
                <a:latin typeface="+mn-lt"/>
                <a:ea typeface="+mn-ea"/>
                <a:cs typeface="+mn-cs"/>
              </a:rPr>
              <a:t>: Formally defines the category of data. Setting an Age attribute to INT blocks any character string input.</a:t>
            </a:r>
          </a:p>
          <a:p>
            <a:r>
              <a:rPr lang="en-US" sz="1200" b="1" u="none" strike="noStrike" kern="1200" dirty="0">
                <a:solidFill>
                  <a:schemeClr val="tx1"/>
                </a:solidFill>
                <a:effectLst/>
                <a:latin typeface="+mn-lt"/>
                <a:ea typeface="+mn-ea"/>
                <a:cs typeface="+mn-cs"/>
              </a:rPr>
              <a:t>NOT NULL</a:t>
            </a:r>
            <a:r>
              <a:rPr lang="en-US" sz="1200" b="0" u="none" strike="noStrike" kern="1200" dirty="0">
                <a:solidFill>
                  <a:schemeClr val="tx1"/>
                </a:solidFill>
                <a:effectLst/>
                <a:latin typeface="+mn-lt"/>
                <a:ea typeface="+mn-ea"/>
                <a:cs typeface="+mn-cs"/>
              </a:rPr>
              <a:t>: Prevents a column from accepting empty or missing values. Essential fields like </a:t>
            </a:r>
            <a:r>
              <a:rPr lang="en-US" sz="1200" b="0" u="none" strike="noStrike" kern="1200" dirty="0" err="1">
                <a:solidFill>
                  <a:schemeClr val="tx1"/>
                </a:solidFill>
                <a:effectLst/>
                <a:latin typeface="+mn-lt"/>
                <a:ea typeface="+mn-ea"/>
                <a:cs typeface="+mn-cs"/>
              </a:rPr>
              <a:t>customer_name</a:t>
            </a:r>
            <a:r>
              <a:rPr lang="en-US" sz="1200" b="0" u="none" strike="noStrike" kern="1200" dirty="0">
                <a:solidFill>
                  <a:schemeClr val="tx1"/>
                </a:solidFill>
                <a:effectLst/>
                <a:latin typeface="+mn-lt"/>
                <a:ea typeface="+mn-ea"/>
                <a:cs typeface="+mn-cs"/>
              </a:rPr>
              <a:t> or </a:t>
            </a:r>
            <a:r>
              <a:rPr lang="en-US" sz="1200" b="0" u="none" strike="noStrike" kern="1200" dirty="0" err="1">
                <a:solidFill>
                  <a:schemeClr val="tx1"/>
                </a:solidFill>
                <a:effectLst/>
                <a:latin typeface="+mn-lt"/>
                <a:ea typeface="+mn-ea"/>
                <a:cs typeface="+mn-cs"/>
              </a:rPr>
              <a:t>employee_id</a:t>
            </a:r>
            <a:r>
              <a:rPr lang="en-US" sz="1200" b="0" u="none" strike="noStrike" kern="1200" dirty="0">
                <a:solidFill>
                  <a:schemeClr val="tx1"/>
                </a:solidFill>
                <a:effectLst/>
                <a:latin typeface="+mn-lt"/>
                <a:ea typeface="+mn-ea"/>
                <a:cs typeface="+mn-cs"/>
              </a:rPr>
              <a:t> rely on this to maintain completeness.</a:t>
            </a:r>
          </a:p>
          <a:p>
            <a:r>
              <a:rPr lang="en-US" sz="1200" b="1" u="none" strike="noStrike" kern="1200" dirty="0">
                <a:solidFill>
                  <a:schemeClr val="tx1"/>
                </a:solidFill>
                <a:effectLst/>
                <a:latin typeface="+mn-lt"/>
                <a:ea typeface="+mn-ea"/>
                <a:cs typeface="+mn-cs"/>
              </a:rPr>
              <a:t>CHECK Constraints</a:t>
            </a:r>
            <a:r>
              <a:rPr lang="en-US" sz="1200" b="0" u="none" strike="noStrike" kern="1200" dirty="0">
                <a:solidFill>
                  <a:schemeClr val="tx1"/>
                </a:solidFill>
                <a:effectLst/>
                <a:latin typeface="+mn-lt"/>
                <a:ea typeface="+mn-ea"/>
                <a:cs typeface="+mn-cs"/>
              </a:rPr>
              <a:t>: Limits values across specific ranges or sets using a condition. For instance, restricting an Age column to only accept integers between 18 and 65 (CHECK (Age BETWEEN 18 AND 65)).</a:t>
            </a:r>
          </a:p>
          <a:p>
            <a:r>
              <a:rPr lang="en-US" sz="1200" b="1" u="none" strike="noStrike" kern="1200" dirty="0">
                <a:solidFill>
                  <a:schemeClr val="tx1"/>
                </a:solidFill>
                <a:effectLst/>
                <a:latin typeface="+mn-lt"/>
                <a:ea typeface="+mn-ea"/>
                <a:cs typeface="+mn-cs"/>
              </a:rPr>
              <a:t>UNIQUE</a:t>
            </a:r>
            <a:r>
              <a:rPr lang="en-US" sz="1200" b="0" u="none" strike="noStrike" kern="1200" dirty="0">
                <a:solidFill>
                  <a:schemeClr val="tx1"/>
                </a:solidFill>
                <a:effectLst/>
                <a:latin typeface="+mn-lt"/>
                <a:ea typeface="+mn-ea"/>
                <a:cs typeface="+mn-cs"/>
              </a:rPr>
              <a:t>: Ensures all values within the specified column are completely distinct from one another, preventing duplicate records.</a:t>
            </a:r>
          </a:p>
          <a:p>
            <a:r>
              <a:rPr lang="en-US" sz="1200" b="1" u="none" strike="noStrike" kern="1200" dirty="0">
                <a:solidFill>
                  <a:schemeClr val="tx1"/>
                </a:solidFill>
                <a:effectLst/>
                <a:latin typeface="+mn-lt"/>
                <a:ea typeface="+mn-ea"/>
                <a:cs typeface="+mn-cs"/>
              </a:rPr>
              <a:t>DEFAULT</a:t>
            </a:r>
            <a:r>
              <a:rPr lang="en-US" sz="1200" b="0" u="none" strike="noStrike" kern="1200" dirty="0">
                <a:solidFill>
                  <a:schemeClr val="tx1"/>
                </a:solidFill>
                <a:effectLst/>
                <a:latin typeface="+mn-lt"/>
                <a:ea typeface="+mn-ea"/>
                <a:cs typeface="+mn-cs"/>
              </a:rPr>
              <a:t>: Automatically populates a predefined value if the user provides no explicit entry during a row insertion. </a:t>
            </a:r>
          </a:p>
          <a:p>
            <a:r>
              <a:rPr lang="en-US" sz="1200" b="1" u="none" strike="noStrike" kern="1200" dirty="0">
                <a:solidFill>
                  <a:schemeClr val="tx1"/>
                </a:solidFill>
                <a:effectLst/>
                <a:latin typeface="+mn-lt"/>
                <a:ea typeface="+mn-ea"/>
                <a:cs typeface="+mn-cs"/>
              </a:rPr>
              <a:t>Implementing Domain Constraints in SQL</a:t>
            </a:r>
          </a:p>
          <a:p>
            <a:r>
              <a:rPr lang="en-US" sz="1200" b="0" u="none" strike="noStrike" kern="1200" dirty="0">
                <a:solidFill>
                  <a:schemeClr val="tx1"/>
                </a:solidFill>
                <a:effectLst/>
                <a:latin typeface="+mn-lt"/>
                <a:ea typeface="+mn-ea"/>
                <a:cs typeface="+mn-cs"/>
              </a:rPr>
              <a:t>Developers can view and implement domain constraints directly via SQL syntax during table definition. The following technical structure shows how domain restrictions are mapped to attributes</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6</a:t>
            </a:fld>
            <a:endParaRPr lang="en-US"/>
          </a:p>
        </p:txBody>
      </p:sp>
    </p:spTree>
    <p:extLst>
      <p:ext uri="{BB962C8B-B14F-4D97-AF65-F5344CB8AC3E}">
        <p14:creationId xmlns:p14="http://schemas.microsoft.com/office/powerpoint/2010/main" val="41300516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
            </a:r>
            <a:r>
              <a:rPr lang="en-US" b="1" dirty="0"/>
              <a:t>1. Data Type: </a:t>
            </a:r>
            <a:r>
              <a:rPr lang="en-US" dirty="0"/>
              <a:t>Specifies the kind of value.</a:t>
            </a:r>
          </a:p>
          <a:p>
            <a:r>
              <a:rPr lang="en-US" dirty="0"/>
              <a:t>Examples:</a:t>
            </a:r>
          </a:p>
          <a:p>
            <a:pPr rtl="0"/>
            <a:r>
              <a:rPr lang="en-US" sz="1200" kern="1200" dirty="0">
                <a:solidFill>
                  <a:schemeClr val="tx1"/>
                </a:solidFill>
                <a:latin typeface="+mn-lt"/>
                <a:ea typeface="+mn-ea"/>
                <a:cs typeface="+mn-cs"/>
              </a:rPr>
              <a:t>Age INT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Name VARCHAR(50)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Salary DECIMAL(10,2)</a:t>
            </a:r>
          </a:p>
          <a:p>
            <a:r>
              <a:rPr lang="en-US" dirty="0"/>
              <a:t>Valid:</a:t>
            </a:r>
          </a:p>
          <a:p>
            <a:pPr rtl="0"/>
            <a:r>
              <a:rPr lang="en-US" sz="1200" kern="1200" dirty="0">
                <a:solidFill>
                  <a:schemeClr val="tx1"/>
                </a:solidFill>
                <a:latin typeface="+mn-lt"/>
                <a:ea typeface="+mn-ea"/>
                <a:cs typeface="+mn-cs"/>
              </a:rPr>
              <a:t>Age = 25</a:t>
            </a:r>
          </a:p>
          <a:p>
            <a:r>
              <a:rPr lang="en-US" dirty="0"/>
              <a:t>Invalid:</a:t>
            </a:r>
          </a:p>
          <a:p>
            <a:pPr rtl="0"/>
            <a:r>
              <a:rPr lang="en-US" sz="1200" kern="1200" dirty="0">
                <a:solidFill>
                  <a:schemeClr val="tx1"/>
                </a:solidFill>
                <a:latin typeface="+mn-lt"/>
                <a:ea typeface="+mn-ea"/>
                <a:cs typeface="+mn-cs"/>
              </a:rPr>
              <a:t>Age = 'Twenty Five'</a:t>
            </a:r>
          </a:p>
          <a:p>
            <a:br>
              <a:rPr lang="en-US" dirty="0"/>
            </a:br>
            <a:endParaRPr lang="en-US" dirty="0"/>
          </a:p>
          <a:p>
            <a:r>
              <a:rPr lang="en-US" b="1" dirty="0"/>
              <a:t>2. Range of Values: </a:t>
            </a:r>
            <a:r>
              <a:rPr lang="en-US" dirty="0"/>
              <a:t>Restricts values within a specified interval.</a:t>
            </a:r>
          </a:p>
          <a:p>
            <a:r>
              <a:rPr lang="en-US" dirty="0"/>
              <a:t>Example:</a:t>
            </a:r>
          </a:p>
          <a:p>
            <a:pPr rtl="0"/>
            <a:r>
              <a:rPr lang="en-US" sz="1200" kern="1200" dirty="0">
                <a:solidFill>
                  <a:schemeClr val="tx1"/>
                </a:solidFill>
                <a:latin typeface="+mn-lt"/>
                <a:ea typeface="+mn-ea"/>
                <a:cs typeface="+mn-cs"/>
              </a:rPr>
              <a:t>Age INT CHECK(Age BETWEEN 18 AND 60)</a:t>
            </a:r>
          </a:p>
          <a:p>
            <a:r>
              <a:rPr lang="en-US" dirty="0"/>
              <a:t>Valid:</a:t>
            </a:r>
          </a:p>
          <a:p>
            <a:pPr rtl="0"/>
            <a:r>
              <a:rPr lang="en-US" sz="1200" kern="1200" dirty="0">
                <a:solidFill>
                  <a:schemeClr val="tx1"/>
                </a:solidFill>
                <a:latin typeface="+mn-lt"/>
                <a:ea typeface="+mn-ea"/>
                <a:cs typeface="+mn-cs"/>
              </a:rPr>
              <a:t>18</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25</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60</a:t>
            </a:r>
          </a:p>
          <a:p>
            <a:r>
              <a:rPr lang="en-US" dirty="0"/>
              <a:t>Invalid:</a:t>
            </a:r>
          </a:p>
          <a:p>
            <a:pPr rtl="0"/>
            <a:r>
              <a:rPr lang="en-US" sz="1200" kern="1200" dirty="0">
                <a:solidFill>
                  <a:schemeClr val="tx1"/>
                </a:solidFill>
                <a:latin typeface="+mn-lt"/>
                <a:ea typeface="+mn-ea"/>
                <a:cs typeface="+mn-cs"/>
              </a:rPr>
              <a:t>10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75</a:t>
            </a:r>
          </a:p>
          <a:p>
            <a:br>
              <a:rPr lang="en-US" dirty="0"/>
            </a:br>
            <a:endParaRPr lang="en-US" dirty="0"/>
          </a:p>
          <a:p>
            <a:r>
              <a:rPr lang="en-US" b="1" dirty="0"/>
              <a:t>3. Set of Allowed Values: </a:t>
            </a:r>
            <a:r>
              <a:rPr lang="en-US" dirty="0"/>
              <a:t>Only predefined values are accepted.</a:t>
            </a:r>
          </a:p>
          <a:p>
            <a:r>
              <a:rPr lang="en-US" dirty="0"/>
              <a:t>Example:</a:t>
            </a:r>
          </a:p>
          <a:p>
            <a:pPr rtl="0"/>
            <a:r>
              <a:rPr lang="en-US" sz="1200" kern="1200" dirty="0">
                <a:solidFill>
                  <a:schemeClr val="tx1"/>
                </a:solidFill>
                <a:latin typeface="+mn-lt"/>
                <a:ea typeface="+mn-ea"/>
                <a:cs typeface="+mn-cs"/>
              </a:rPr>
              <a:t>Gender VARCHAR(10)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CHECK(Gender IN ('</a:t>
            </a:r>
            <a:r>
              <a:rPr lang="en-US" sz="1200" kern="1200" dirty="0" err="1">
                <a:solidFill>
                  <a:schemeClr val="tx1"/>
                </a:solidFill>
                <a:latin typeface="+mn-lt"/>
                <a:ea typeface="+mn-ea"/>
                <a:cs typeface="+mn-cs"/>
              </a:rPr>
              <a:t>Male','Female','Other</a:t>
            </a:r>
            <a:r>
              <a:rPr lang="en-US" sz="1200" kern="1200" dirty="0">
                <a:solidFill>
                  <a:schemeClr val="tx1"/>
                </a:solidFill>
                <a:latin typeface="+mn-lt"/>
                <a:ea typeface="+mn-ea"/>
                <a:cs typeface="+mn-cs"/>
              </a:rPr>
              <a:t>'))</a:t>
            </a:r>
          </a:p>
          <a:p>
            <a:r>
              <a:rPr lang="en-US" dirty="0"/>
              <a:t>Valid:</a:t>
            </a:r>
          </a:p>
          <a:p>
            <a:pPr rtl="0"/>
            <a:r>
              <a:rPr lang="en-US" sz="1200" kern="1200" dirty="0">
                <a:solidFill>
                  <a:schemeClr val="tx1"/>
                </a:solidFill>
                <a:latin typeface="+mn-lt"/>
                <a:ea typeface="+mn-ea"/>
                <a:cs typeface="+mn-cs"/>
              </a:rPr>
              <a:t>Male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Female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Other</a:t>
            </a:r>
          </a:p>
          <a:p>
            <a:r>
              <a:rPr lang="en-US" dirty="0"/>
              <a:t>Invalid:</a:t>
            </a:r>
          </a:p>
          <a:p>
            <a:pPr rtl="0"/>
            <a:r>
              <a:rPr lang="en-US" sz="1200" kern="1200" dirty="0">
                <a:solidFill>
                  <a:schemeClr val="tx1"/>
                </a:solidFill>
                <a:latin typeface="+mn-lt"/>
                <a:ea typeface="+mn-ea"/>
                <a:cs typeface="+mn-cs"/>
              </a:rPr>
              <a:t>M</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Boy</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Unknown</a:t>
            </a:r>
          </a:p>
          <a:p>
            <a:br>
              <a:rPr lang="en-US" dirty="0"/>
            </a:br>
            <a:endParaRPr lang="en-US" dirty="0"/>
          </a:p>
          <a:p>
            <a:r>
              <a:rPr lang="en-US" b="1" dirty="0"/>
              <a:t>4. Format Restrictions: </a:t>
            </a:r>
            <a:r>
              <a:rPr lang="en-US" dirty="0"/>
              <a:t>Values must follow a specific pattern.</a:t>
            </a:r>
          </a:p>
          <a:p>
            <a:r>
              <a:rPr lang="en-US" dirty="0"/>
              <a:t>Example:</a:t>
            </a:r>
          </a:p>
          <a:p>
            <a:r>
              <a:rPr lang="en-US" dirty="0"/>
              <a:t>Phone number should contain exactly 10 digits.</a:t>
            </a:r>
          </a:p>
          <a:p>
            <a:pPr rtl="0"/>
            <a:r>
              <a:rPr lang="en-US" sz="1200" kern="1200" dirty="0">
                <a:solidFill>
                  <a:schemeClr val="tx1"/>
                </a:solidFill>
                <a:latin typeface="+mn-lt"/>
                <a:ea typeface="+mn-ea"/>
                <a:cs typeface="+mn-cs"/>
              </a:rPr>
              <a:t>Phone CHAR(10)</a:t>
            </a:r>
          </a:p>
          <a:p>
            <a:r>
              <a:rPr lang="en-US" dirty="0"/>
              <a:t>Possible validation:</a:t>
            </a:r>
          </a:p>
          <a:p>
            <a:pPr rtl="0"/>
            <a:r>
              <a:rPr lang="en-US" sz="1200" kern="1200" dirty="0">
                <a:solidFill>
                  <a:schemeClr val="tx1"/>
                </a:solidFill>
                <a:latin typeface="+mn-lt"/>
                <a:ea typeface="+mn-ea"/>
                <a:cs typeface="+mn-cs"/>
              </a:rPr>
              <a:t>CHECK(LENGTH(Phone)=10)</a:t>
            </a:r>
          </a:p>
          <a:p>
            <a:br>
              <a:rPr lang="en-US" dirty="0"/>
            </a:br>
            <a:endParaRPr lang="en-US" dirty="0"/>
          </a:p>
          <a:p>
            <a:r>
              <a:rPr lang="en-US" b="1" dirty="0"/>
              <a:t>5. NULL Restrictions: </a:t>
            </a:r>
            <a:r>
              <a:rPr lang="en-US" dirty="0"/>
              <a:t>A domain may prohibit missing values.</a:t>
            </a:r>
          </a:p>
          <a:p>
            <a:r>
              <a:rPr lang="en-US" dirty="0"/>
              <a:t>Example:</a:t>
            </a:r>
          </a:p>
          <a:p>
            <a:pPr rtl="0"/>
            <a:r>
              <a:rPr lang="en-US" sz="1200" kern="1200" dirty="0">
                <a:solidFill>
                  <a:schemeClr val="tx1"/>
                </a:solidFill>
                <a:latin typeface="+mn-lt"/>
                <a:ea typeface="+mn-ea"/>
                <a:cs typeface="+mn-cs"/>
              </a:rPr>
              <a:t>Name VARCHAR(50) NOT NULL</a:t>
            </a:r>
          </a:p>
          <a:p>
            <a:r>
              <a:rPr lang="en-US" dirty="0"/>
              <a:t>Valid:</a:t>
            </a:r>
          </a:p>
          <a:p>
            <a:pPr rtl="0"/>
            <a:r>
              <a:rPr lang="en-US" sz="1200" kern="1200" dirty="0">
                <a:solidFill>
                  <a:schemeClr val="tx1"/>
                </a:solidFill>
                <a:latin typeface="+mn-lt"/>
                <a:ea typeface="+mn-ea"/>
                <a:cs typeface="+mn-cs"/>
              </a:rPr>
              <a:t>Ram</a:t>
            </a:r>
          </a:p>
          <a:p>
            <a:r>
              <a:rPr lang="en-US" dirty="0"/>
              <a:t>Invalid:</a:t>
            </a:r>
          </a:p>
          <a:p>
            <a:pPr rtl="0"/>
            <a:r>
              <a:rPr lang="en-US" sz="1200" kern="1200" dirty="0">
                <a:solidFill>
                  <a:schemeClr val="tx1"/>
                </a:solidFill>
                <a:latin typeface="+mn-lt"/>
                <a:ea typeface="+mn-ea"/>
                <a:cs typeface="+mn-cs"/>
              </a:rPr>
              <a:t>NULL</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a:t>
            </a:fld>
            <a:endParaRPr lang="en-US"/>
          </a:p>
        </p:txBody>
      </p:sp>
    </p:spTree>
    <p:extLst>
      <p:ext uri="{BB962C8B-B14F-4D97-AF65-F5344CB8AC3E}">
        <p14:creationId xmlns:p14="http://schemas.microsoft.com/office/powerpoint/2010/main" val="2903067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AttributeDomainRoll_NoPositive</a:t>
            </a:r>
            <a:r>
              <a:rPr lang="en-US" dirty="0"/>
              <a:t> </a:t>
            </a:r>
            <a:r>
              <a:rPr lang="en-US" dirty="0" err="1"/>
              <a:t>IntegerNameMaximum</a:t>
            </a:r>
            <a:r>
              <a:rPr lang="en-US" dirty="0"/>
              <a:t> 50 CharactersSemester1–8CGPA0–4EmailValid Email Format</a:t>
            </a:r>
          </a:p>
          <a:p>
            <a:endParaRPr lang="en-US" dirty="0"/>
          </a:p>
          <a:p>
            <a:r>
              <a:rPr lang="en-US" dirty="0"/>
              <a:t>CREATE TABLE Student(</a:t>
            </a:r>
          </a:p>
          <a:p>
            <a:r>
              <a:rPr lang="en-US" dirty="0"/>
              <a:t>    </a:t>
            </a:r>
            <a:r>
              <a:rPr lang="en-US" dirty="0" err="1"/>
              <a:t>Roll_No</a:t>
            </a:r>
            <a:r>
              <a:rPr lang="en-US" dirty="0"/>
              <a:t> INT,</a:t>
            </a:r>
          </a:p>
          <a:p>
            <a:r>
              <a:rPr lang="en-US" dirty="0"/>
              <a:t>    Name VARCHAR(50),</a:t>
            </a:r>
          </a:p>
          <a:p>
            <a:r>
              <a:rPr lang="en-US" dirty="0"/>
              <a:t>    Semester INT CHECK(Semester BETWEEN 1 AND 8),</a:t>
            </a:r>
          </a:p>
          <a:p>
            <a:r>
              <a:rPr lang="en-US" dirty="0"/>
              <a:t>    CGPA DECIMAL(3,2)</a:t>
            </a:r>
          </a:p>
          <a:p>
            <a:r>
              <a:rPr lang="en-US" dirty="0"/>
              <a:t>    CHECK(CGPA BETWEEN 0 AND 4)</a:t>
            </a:r>
          </a:p>
          <a:p>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a:t>
            </a:fld>
            <a:endParaRPr lang="en-US"/>
          </a:p>
        </p:txBody>
      </p:sp>
    </p:spTree>
    <p:extLst>
      <p:ext uri="{BB962C8B-B14F-4D97-AF65-F5344CB8AC3E}">
        <p14:creationId xmlns:p14="http://schemas.microsoft.com/office/powerpoint/2010/main" val="32432134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An </a:t>
            </a:r>
            <a:r>
              <a:rPr lang="en-US" sz="1200" b="1" u="none" strike="noStrike" kern="1200" dirty="0">
                <a:solidFill>
                  <a:schemeClr val="tx1"/>
                </a:solidFill>
                <a:effectLst/>
                <a:latin typeface="+mn-lt"/>
                <a:ea typeface="+mn-ea"/>
                <a:cs typeface="+mn-cs"/>
              </a:rPr>
              <a:t>Entity Integrity Constraint</a:t>
            </a:r>
            <a:r>
              <a:rPr lang="en-US" dirty="0"/>
              <a:t> is a fundamental rule in a Database Management System (DBMS) stating that </a:t>
            </a:r>
            <a:r>
              <a:rPr lang="en-US" sz="1200" b="1" u="none" strike="noStrike" kern="1200" dirty="0">
                <a:solidFill>
                  <a:schemeClr val="tx1"/>
                </a:solidFill>
                <a:effectLst/>
                <a:latin typeface="+mn-lt"/>
                <a:ea typeface="+mn-ea"/>
                <a:cs typeface="+mn-cs"/>
              </a:rPr>
              <a:t>the primary key of a table must be entirely unique and cannot contain any NULL values</a:t>
            </a:r>
            <a:r>
              <a:rPr lang="en-US" dirty="0"/>
              <a:t>. Because a primary key uniquely identifies individual rows (entities) in a relational table, a </a:t>
            </a:r>
            <a:r>
              <a:rPr lang="en-US" sz="1200" b="0" u="none" strike="noStrike" kern="1200" dirty="0">
                <a:solidFill>
                  <a:schemeClr val="tx1"/>
                </a:solidFill>
                <a:effectLst/>
                <a:latin typeface="+mn-lt"/>
                <a:ea typeface="+mn-ea"/>
                <a:cs typeface="+mn-cs"/>
              </a:rPr>
              <a:t>NULL</a:t>
            </a:r>
            <a:r>
              <a:rPr lang="en-US" dirty="0"/>
              <a:t> or duplicate entry would make it impossible for the database to accurately locate or distinguish specific records</a:t>
            </a:r>
          </a:p>
          <a:p>
            <a:endParaRPr lang="en-US" dirty="0"/>
          </a:p>
          <a:p>
            <a:endParaRPr lang="en-US" dirty="0"/>
          </a:p>
          <a:p>
            <a:r>
              <a:rPr lang="en-US" sz="1200" b="1" u="none" strike="noStrike" kern="1200" dirty="0">
                <a:solidFill>
                  <a:schemeClr val="tx1"/>
                </a:solidFill>
                <a:effectLst/>
                <a:latin typeface="+mn-lt"/>
                <a:ea typeface="+mn-ea"/>
                <a:cs typeface="+mn-cs"/>
              </a:rPr>
              <a:t>Core Requirements</a:t>
            </a:r>
          </a:p>
          <a:p>
            <a:r>
              <a:rPr lang="en-US" sz="1200" b="0" u="none" strike="noStrike" kern="1200" dirty="0">
                <a:solidFill>
                  <a:schemeClr val="tx1"/>
                </a:solidFill>
                <a:effectLst/>
                <a:latin typeface="+mn-lt"/>
                <a:ea typeface="+mn-ea"/>
                <a:cs typeface="+mn-cs"/>
              </a:rPr>
              <a:t>To satisfy entity integrity, the designated primary key column(s) must meet two strict conditions</a:t>
            </a:r>
          </a:p>
          <a:p>
            <a:r>
              <a:rPr lang="en-US" sz="1200" b="1" u="none" strike="noStrike" kern="1200" dirty="0">
                <a:solidFill>
                  <a:schemeClr val="tx1"/>
                </a:solidFill>
                <a:effectLst/>
                <a:latin typeface="+mn-lt"/>
                <a:ea typeface="+mn-ea"/>
                <a:cs typeface="+mn-cs"/>
              </a:rPr>
              <a:t>Uniqueness</a:t>
            </a:r>
            <a:r>
              <a:rPr lang="en-US" sz="1200" b="0" u="none" strike="noStrike" kern="1200" dirty="0">
                <a:solidFill>
                  <a:schemeClr val="tx1"/>
                </a:solidFill>
                <a:effectLst/>
                <a:latin typeface="+mn-lt"/>
                <a:ea typeface="+mn-ea"/>
                <a:cs typeface="+mn-cs"/>
              </a:rPr>
              <a:t>: No two rows in the table can share the exact same primary key value.</a:t>
            </a:r>
          </a:p>
          <a:p>
            <a:r>
              <a:rPr lang="en-US" sz="1200" b="1" u="none" strike="noStrike" kern="1200" dirty="0">
                <a:solidFill>
                  <a:schemeClr val="tx1"/>
                </a:solidFill>
                <a:effectLst/>
                <a:latin typeface="+mn-lt"/>
                <a:ea typeface="+mn-ea"/>
                <a:cs typeface="+mn-cs"/>
              </a:rPr>
              <a:t>NOT NULL Property</a:t>
            </a:r>
            <a:r>
              <a:rPr lang="en-US" sz="1200" b="0" u="none" strike="noStrike" kern="1200" dirty="0">
                <a:solidFill>
                  <a:schemeClr val="tx1"/>
                </a:solidFill>
                <a:effectLst/>
                <a:latin typeface="+mn-lt"/>
                <a:ea typeface="+mn-ea"/>
                <a:cs typeface="+mn-cs"/>
              </a:rPr>
              <a:t>: The primary key field cannot be left blank or contain NULL, as a missing value cannot serve as a reliable identifier</a:t>
            </a:r>
          </a:p>
          <a:p>
            <a:endParaRPr lang="en-US" dirty="0"/>
          </a:p>
          <a:p>
            <a:endParaRPr lang="en-US" dirty="0"/>
          </a:p>
          <a:p>
            <a:r>
              <a:rPr lang="en-US" sz="1200" b="1" u="none" strike="noStrike" kern="1200" dirty="0">
                <a:solidFill>
                  <a:schemeClr val="tx1"/>
                </a:solidFill>
                <a:effectLst/>
                <a:latin typeface="+mn-lt"/>
                <a:ea typeface="+mn-ea"/>
                <a:cs typeface="+mn-cs"/>
              </a:rPr>
              <a:t>Why Entity Integrity Matters</a:t>
            </a:r>
          </a:p>
          <a:p>
            <a:r>
              <a:rPr lang="en-US" sz="1200" b="0" u="none" strike="noStrike" kern="1200" dirty="0">
                <a:solidFill>
                  <a:schemeClr val="tx1"/>
                </a:solidFill>
                <a:effectLst/>
                <a:latin typeface="+mn-lt"/>
                <a:ea typeface="+mn-ea"/>
                <a:cs typeface="+mn-cs"/>
              </a:rPr>
              <a:t>Implementing these constraints provides critical foundational benefits to database management: [</a:t>
            </a:r>
            <a:r>
              <a:rPr lang="en-US" sz="1200" b="0" u="none" strike="noStrike" kern="1200" dirty="0">
                <a:solidFill>
                  <a:schemeClr val="tx1"/>
                </a:solidFill>
                <a:effectLst/>
                <a:latin typeface="+mn-lt"/>
                <a:ea typeface="+mn-ea"/>
                <a:cs typeface="+mn-cs"/>
                <a:hlinkClick r:id="rId3"/>
              </a:rPr>
              <a:t>1</a:t>
            </a:r>
            <a:r>
              <a:rPr lang="en-US" sz="1200" b="0" u="none" strike="noStrike" kern="1200" dirty="0">
                <a:solidFill>
                  <a:schemeClr val="tx1"/>
                </a:solidFill>
                <a:effectLst/>
                <a:latin typeface="+mn-lt"/>
                <a:ea typeface="+mn-ea"/>
                <a:cs typeface="+mn-cs"/>
              </a:rPr>
              <a:t>, </a:t>
            </a:r>
            <a:r>
              <a:rPr lang="en-US" sz="1200" b="0" u="none" strike="noStrike" kern="1200" dirty="0">
                <a:solidFill>
                  <a:schemeClr val="tx1"/>
                </a:solidFill>
                <a:effectLst/>
                <a:latin typeface="+mn-lt"/>
                <a:ea typeface="+mn-ea"/>
                <a:cs typeface="+mn-cs"/>
                <a:hlinkClick r:id="rId4"/>
              </a:rPr>
              <a:t>2</a:t>
            </a:r>
            <a:r>
              <a:rPr lang="en-US" sz="1200" b="0" u="none" strike="noStrike" kern="1200" dirty="0">
                <a:solidFill>
                  <a:schemeClr val="tx1"/>
                </a:solidFill>
                <a:effectLst/>
                <a:latin typeface="+mn-lt"/>
                <a:ea typeface="+mn-ea"/>
                <a:cs typeface="+mn-cs"/>
              </a:rPr>
              <a:t>]</a:t>
            </a:r>
          </a:p>
          <a:p>
            <a:r>
              <a:rPr lang="en-US" sz="1200" b="1" u="none" strike="noStrike" kern="1200" dirty="0">
                <a:solidFill>
                  <a:schemeClr val="tx1"/>
                </a:solidFill>
                <a:effectLst/>
                <a:latin typeface="+mn-lt"/>
                <a:ea typeface="+mn-ea"/>
                <a:cs typeface="+mn-cs"/>
              </a:rPr>
              <a:t>Unique Identification</a:t>
            </a:r>
            <a:r>
              <a:rPr lang="en-US" sz="1200" b="0" u="none" strike="noStrike" kern="1200" dirty="0">
                <a:solidFill>
                  <a:schemeClr val="tx1"/>
                </a:solidFill>
                <a:effectLst/>
                <a:latin typeface="+mn-lt"/>
                <a:ea typeface="+mn-ea"/>
                <a:cs typeface="+mn-cs"/>
              </a:rPr>
              <a:t>: Guarantees a reliable method to fetch, update, or delete any specific record without affecting other rows.</a:t>
            </a:r>
          </a:p>
          <a:p>
            <a:r>
              <a:rPr lang="en-US" sz="1200" b="1" u="none" strike="noStrike" kern="1200" dirty="0">
                <a:solidFill>
                  <a:schemeClr val="tx1"/>
                </a:solidFill>
                <a:effectLst/>
                <a:latin typeface="+mn-lt"/>
                <a:ea typeface="+mn-ea"/>
                <a:cs typeface="+mn-cs"/>
              </a:rPr>
              <a:t>Elimination of Duplicates</a:t>
            </a:r>
            <a:r>
              <a:rPr lang="en-US" sz="1200" b="0" u="none" strike="noStrike" kern="1200" dirty="0">
                <a:solidFill>
                  <a:schemeClr val="tx1"/>
                </a:solidFill>
                <a:effectLst/>
                <a:latin typeface="+mn-lt"/>
                <a:ea typeface="+mn-ea"/>
                <a:cs typeface="+mn-cs"/>
              </a:rPr>
              <a:t>: Prevents redundant data entries, ensuring the overall database remains clean and trustworthy.</a:t>
            </a:r>
          </a:p>
          <a:p>
            <a:r>
              <a:rPr lang="en-US" sz="1200" b="1" u="none" strike="noStrike" kern="1200" dirty="0">
                <a:solidFill>
                  <a:schemeClr val="tx1"/>
                </a:solidFill>
                <a:effectLst/>
                <a:latin typeface="+mn-lt"/>
                <a:ea typeface="+mn-ea"/>
                <a:cs typeface="+mn-cs"/>
              </a:rPr>
              <a:t>Enables Relationships</a:t>
            </a:r>
            <a:r>
              <a:rPr lang="en-US" sz="1200" b="0" u="none" strike="noStrike" kern="1200" dirty="0">
                <a:solidFill>
                  <a:schemeClr val="tx1"/>
                </a:solidFill>
                <a:effectLst/>
                <a:latin typeface="+mn-lt"/>
                <a:ea typeface="+mn-ea"/>
                <a:cs typeface="+mn-cs"/>
              </a:rPr>
              <a:t>: Serves as the foundation for referential integrity, since foreign keys in other tables rely on a stable, predictable primary key to link data accurately</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10</a:t>
            </a:fld>
            <a:endParaRPr lang="en-US"/>
          </a:p>
        </p:txBody>
      </p:sp>
    </p:spTree>
    <p:extLst>
      <p:ext uri="{BB962C8B-B14F-4D97-AF65-F5344CB8AC3E}">
        <p14:creationId xmlns:p14="http://schemas.microsoft.com/office/powerpoint/2010/main" val="4164935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constraint maintains valid relationships between tables and prevents the existence of invalid references.</a:t>
            </a:r>
          </a:p>
        </p:txBody>
      </p:sp>
      <p:sp>
        <p:nvSpPr>
          <p:cNvPr id="4" name="Slide Number Placeholder 3"/>
          <p:cNvSpPr>
            <a:spLocks noGrp="1"/>
          </p:cNvSpPr>
          <p:nvPr>
            <p:ph type="sldNum" sz="quarter" idx="5"/>
          </p:nvPr>
        </p:nvSpPr>
        <p:spPr/>
        <p:txBody>
          <a:bodyPr/>
          <a:lstStyle/>
          <a:p>
            <a:fld id="{532ED260-D111-491D-AB9F-FC8569A2A916}" type="slidenum">
              <a:rPr lang="en-US" smtClean="0"/>
              <a:t>13</a:t>
            </a:fld>
            <a:endParaRPr lang="en-US"/>
          </a:p>
        </p:txBody>
      </p:sp>
    </p:spTree>
    <p:extLst>
      <p:ext uri="{BB962C8B-B14F-4D97-AF65-F5344CB8AC3E}">
        <p14:creationId xmlns:p14="http://schemas.microsoft.com/office/powerpoint/2010/main" val="7773436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A Database Management System (DBMS) automatically monitors data modifications to intercept actions that break this constraint: </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Insert (on Child Table):</a:t>
            </a:r>
            <a:r>
              <a:rPr lang="en-US" sz="1200" b="0" u="none" strike="noStrike" kern="1200" dirty="0">
                <a:solidFill>
                  <a:schemeClr val="tx1"/>
                </a:solidFill>
                <a:effectLst/>
                <a:latin typeface="+mn-lt"/>
                <a:ea typeface="+mn-ea"/>
                <a:cs typeface="+mn-cs"/>
              </a:rPr>
              <a:t> Trying to add an order with a </a:t>
            </a:r>
            <a:r>
              <a:rPr lang="en-US" sz="1200" b="0" u="none" strike="noStrike" kern="1200" dirty="0" err="1">
                <a:solidFill>
                  <a:schemeClr val="tx1"/>
                </a:solidFill>
                <a:effectLst/>
                <a:latin typeface="+mn-lt"/>
                <a:ea typeface="+mn-ea"/>
                <a:cs typeface="+mn-cs"/>
              </a:rPr>
              <a:t>Customer_ID</a:t>
            </a:r>
            <a:r>
              <a:rPr lang="en-US" sz="1200" b="0" u="none" strike="noStrike" kern="1200" dirty="0">
                <a:solidFill>
                  <a:schemeClr val="tx1"/>
                </a:solidFill>
                <a:effectLst/>
                <a:latin typeface="+mn-lt"/>
                <a:ea typeface="+mn-ea"/>
                <a:cs typeface="+mn-cs"/>
              </a:rPr>
              <a:t> that does not exist in the parent table.</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Update (on Child Table):</a:t>
            </a:r>
            <a:r>
              <a:rPr lang="en-US" sz="1200" b="0" u="none" strike="noStrike" kern="1200" dirty="0">
                <a:solidFill>
                  <a:schemeClr val="tx1"/>
                </a:solidFill>
                <a:effectLst/>
                <a:latin typeface="+mn-lt"/>
                <a:ea typeface="+mn-ea"/>
                <a:cs typeface="+mn-cs"/>
              </a:rPr>
              <a:t> Modifying a foreign key value to something that does not exist in the parent table.</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Delete (on Parent Table):</a:t>
            </a:r>
            <a:r>
              <a:rPr lang="en-US" sz="1200" b="0" u="none" strike="noStrike" kern="1200" dirty="0">
                <a:solidFill>
                  <a:schemeClr val="tx1"/>
                </a:solidFill>
                <a:effectLst/>
                <a:latin typeface="+mn-lt"/>
                <a:ea typeface="+mn-ea"/>
                <a:cs typeface="+mn-cs"/>
              </a:rPr>
              <a:t> Deleting a customer who already has orders linked to their ID.</a:t>
            </a:r>
          </a:p>
          <a:p>
            <a:r>
              <a:rPr lang="en-US" sz="1200" b="1" u="none" strike="noStrike" kern="1200" dirty="0">
                <a:solidFill>
                  <a:schemeClr val="tx1"/>
                </a:solidFill>
                <a:effectLst/>
                <a:latin typeface="+mn-lt"/>
                <a:ea typeface="+mn-ea"/>
                <a:cs typeface="+mn-cs"/>
              </a:rPr>
              <a:t>Update (on Parent Table):</a:t>
            </a:r>
            <a:r>
              <a:rPr lang="en-US" sz="1200" b="0" u="none" strike="noStrike" kern="1200" dirty="0">
                <a:solidFill>
                  <a:schemeClr val="tx1"/>
                </a:solidFill>
                <a:effectLst/>
                <a:latin typeface="+mn-lt"/>
                <a:ea typeface="+mn-ea"/>
                <a:cs typeface="+mn-cs"/>
              </a:rPr>
              <a:t> Altering a customer's primary key while child rows are actively pointing to it.</a:t>
            </a:r>
          </a:p>
          <a:p>
            <a:endParaRPr lang="en-US" dirty="0"/>
          </a:p>
          <a:p>
            <a:endParaRPr lang="en-US" dirty="0"/>
          </a:p>
          <a:p>
            <a:endParaRPr lang="en-US" dirty="0"/>
          </a:p>
          <a:p>
            <a:r>
              <a:rPr lang="en-US" sz="1200" b="1" u="none" strike="noStrike" kern="1200" dirty="0">
                <a:solidFill>
                  <a:schemeClr val="tx1"/>
                </a:solidFill>
                <a:effectLst/>
                <a:latin typeface="+mn-lt"/>
                <a:ea typeface="+mn-ea"/>
                <a:cs typeface="+mn-cs"/>
              </a:rPr>
              <a:t>Handling Violations: Cascading Actions [</a:t>
            </a:r>
            <a:r>
              <a:rPr lang="en-US" sz="1200" b="1" u="none" strike="noStrike" kern="1200" dirty="0">
                <a:solidFill>
                  <a:schemeClr val="tx1"/>
                </a:solidFill>
                <a:effectLst/>
                <a:latin typeface="+mn-lt"/>
                <a:ea typeface="+mn-ea"/>
                <a:cs typeface="+mn-cs"/>
                <a:hlinkClick r:id="rId3"/>
              </a:rPr>
              <a:t>1</a:t>
            </a:r>
            <a:r>
              <a:rPr lang="en-US" sz="1200" b="1" u="none" strike="noStrike" kern="1200" dirty="0">
                <a:solidFill>
                  <a:schemeClr val="tx1"/>
                </a:solidFill>
                <a:effectLst/>
                <a:latin typeface="+mn-lt"/>
                <a:ea typeface="+mn-ea"/>
                <a:cs typeface="+mn-cs"/>
              </a:rPr>
              <a:t>]</a:t>
            </a:r>
          </a:p>
          <a:p>
            <a:r>
              <a:rPr lang="en-US" sz="1200" b="0" u="none" strike="noStrike" kern="1200" dirty="0">
                <a:solidFill>
                  <a:schemeClr val="tx1"/>
                </a:solidFill>
                <a:effectLst/>
                <a:latin typeface="+mn-lt"/>
                <a:ea typeface="+mn-ea"/>
                <a:cs typeface="+mn-cs"/>
              </a:rPr>
              <a:t>When a user tries to modify or delete a primary key in a parent table, the database can handle the dependent child records using specific rules:</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RESTRICT / NO ACTION (Default):</a:t>
            </a:r>
            <a:r>
              <a:rPr lang="en-US" sz="1200" b="0" u="none" strike="noStrike" kern="1200" dirty="0">
                <a:solidFill>
                  <a:schemeClr val="tx1"/>
                </a:solidFill>
                <a:effectLst/>
                <a:latin typeface="+mn-lt"/>
                <a:ea typeface="+mn-ea"/>
                <a:cs typeface="+mn-cs"/>
              </a:rPr>
              <a:t> The DBMS completely rejects the deletion or update of the parent row until the dependent child rows are manually deleted or altered first.</a:t>
            </a:r>
          </a:p>
          <a:p>
            <a:endParaRPr lang="en-US" sz="1200" b="0"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CASCADE (ON DELETE CASCADE / ON UPDATE CASCADE):</a:t>
            </a:r>
            <a:r>
              <a:rPr lang="en-US" sz="1200" b="0" u="none" strike="noStrike" kern="1200" dirty="0">
                <a:solidFill>
                  <a:schemeClr val="tx1"/>
                </a:solidFill>
                <a:effectLst/>
                <a:latin typeface="+mn-lt"/>
                <a:ea typeface="+mn-ea"/>
                <a:cs typeface="+mn-cs"/>
              </a:rPr>
              <a:t> If a parent row is deleted or modified, all corresponding rows in the child table are automatically deleted or modified alongside it.</a:t>
            </a:r>
          </a:p>
          <a:p>
            <a:r>
              <a:rPr lang="en-US" sz="1200" b="0" u="none" strike="noStrike" kern="1200" dirty="0" err="1">
                <a:solidFill>
                  <a:schemeClr val="tx1"/>
                </a:solidFill>
                <a:effectLst/>
                <a:latin typeface="+mn-lt"/>
                <a:ea typeface="+mn-ea"/>
                <a:cs typeface="+mn-cs"/>
              </a:rPr>
              <a:t>Sql</a:t>
            </a:r>
            <a:r>
              <a:rPr lang="en-US" sz="1200" b="0" u="none" strike="noStrike" kern="1200" dirty="0">
                <a:solidFill>
                  <a:schemeClr val="tx1"/>
                </a:solidFill>
                <a:effectLst/>
                <a:latin typeface="+mn-lt"/>
                <a:ea typeface="+mn-ea"/>
                <a:cs typeface="+mn-cs"/>
              </a:rPr>
              <a:t> :  </a:t>
            </a:r>
            <a:r>
              <a:rPr lang="en-US" dirty="0"/>
              <a:t>FOREIGN KEY(</a:t>
            </a:r>
            <a:r>
              <a:rPr lang="en-US" dirty="0" err="1"/>
              <a:t>Dept_ID</a:t>
            </a:r>
            <a:r>
              <a:rPr lang="en-US" dirty="0"/>
              <a:t>)</a:t>
            </a:r>
            <a:br>
              <a:rPr lang="en-US" dirty="0"/>
            </a:br>
            <a:r>
              <a:rPr lang="en-US" dirty="0"/>
              <a:t>REFERENCES Department(</a:t>
            </a:r>
            <a:r>
              <a:rPr lang="en-US" dirty="0" err="1"/>
              <a:t>Dept_ID</a:t>
            </a:r>
            <a:r>
              <a:rPr lang="en-US" dirty="0"/>
              <a:t>)</a:t>
            </a:r>
            <a:br>
              <a:rPr lang="en-US" dirty="0"/>
            </a:br>
            <a:r>
              <a:rPr lang="en-US" dirty="0"/>
              <a:t>ON UPDATE CASCADE</a:t>
            </a:r>
            <a:endParaRPr lang="en-US" sz="1200" b="0" u="none" strike="noStrike" kern="1200" dirty="0">
              <a:solidFill>
                <a:schemeClr val="tx1"/>
              </a:solidFill>
              <a:effectLst/>
              <a:latin typeface="+mn-lt"/>
              <a:ea typeface="+mn-ea"/>
              <a:cs typeface="+mn-cs"/>
            </a:endParaRPr>
          </a:p>
          <a:p>
            <a:endParaRPr lang="en-US" sz="1200" b="0" u="none" strike="noStrike" kern="1200" dirty="0">
              <a:solidFill>
                <a:schemeClr val="tx1"/>
              </a:solidFill>
              <a:effectLst/>
              <a:latin typeface="+mn-lt"/>
              <a:ea typeface="+mn-ea"/>
              <a:cs typeface="+mn-cs"/>
            </a:endParaRPr>
          </a:p>
          <a:p>
            <a:r>
              <a:rPr lang="en-US" sz="1200" b="0" u="none" strike="noStrike" kern="1200" dirty="0">
                <a:solidFill>
                  <a:schemeClr val="tx1"/>
                </a:solidFill>
                <a:effectLst/>
                <a:latin typeface="+mn-lt"/>
                <a:ea typeface="+mn-ea"/>
                <a:cs typeface="+mn-cs"/>
              </a:rPr>
              <a:t> </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SET NULL:</a:t>
            </a:r>
            <a:r>
              <a:rPr lang="en-US" sz="1200" b="0" u="none" strike="noStrike" kern="1200" dirty="0">
                <a:solidFill>
                  <a:schemeClr val="tx1"/>
                </a:solidFill>
                <a:effectLst/>
                <a:latin typeface="+mn-lt"/>
                <a:ea typeface="+mn-ea"/>
                <a:cs typeface="+mn-cs"/>
              </a:rPr>
              <a:t> If a parent row is deleted, the matching foreign key fields in the child rows are immediately wiped and set to NULL.</a:t>
            </a:r>
          </a:p>
          <a:p>
            <a:endParaRPr lang="en-US" sz="1200" b="1"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SET DEFAULT:</a:t>
            </a:r>
            <a:r>
              <a:rPr lang="en-US" sz="1200" b="0" u="none" strike="noStrike" kern="1200" dirty="0">
                <a:solidFill>
                  <a:schemeClr val="tx1"/>
                </a:solidFill>
                <a:effectLst/>
                <a:latin typeface="+mn-lt"/>
                <a:ea typeface="+mn-ea"/>
                <a:cs typeface="+mn-cs"/>
              </a:rPr>
              <a:t> If a parent row is deleted, the foreign key fields in the child rows revert to a predefined default value.</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15</a:t>
            </a:fld>
            <a:endParaRPr lang="en-US"/>
          </a:p>
        </p:txBody>
      </p:sp>
    </p:spTree>
    <p:extLst>
      <p:ext uri="{BB962C8B-B14F-4D97-AF65-F5344CB8AC3E}">
        <p14:creationId xmlns:p14="http://schemas.microsoft.com/office/powerpoint/2010/main" val="37227720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constraints such as </a:t>
            </a:r>
            <a:r>
              <a:rPr lang="en-US" b="1" dirty="0"/>
              <a:t>PRIMARY KEY</a:t>
            </a:r>
            <a:r>
              <a:rPr lang="en-US" dirty="0"/>
              <a:t>, </a:t>
            </a:r>
            <a:r>
              <a:rPr lang="en-US" b="1" dirty="0"/>
              <a:t>FOREIGN KEY</a:t>
            </a:r>
            <a:r>
              <a:rPr lang="en-US" dirty="0"/>
              <a:t>, or </a:t>
            </a:r>
            <a:r>
              <a:rPr lang="en-US" b="1" dirty="0"/>
              <a:t>CHECK</a:t>
            </a:r>
            <a:r>
              <a:rPr lang="en-US" dirty="0"/>
              <a:t>, which are applied to a specific table or column, an assertion can involve </a:t>
            </a:r>
            <a:r>
              <a:rPr lang="en-US" b="1" dirty="0"/>
              <a:t>multiple tables</a:t>
            </a:r>
            <a:r>
              <a:rPr lang="en-US" dirty="0"/>
              <a:t> and enforce complex business rules.</a:t>
            </a:r>
          </a:p>
          <a:p>
            <a:endParaRPr lang="en-US" dirty="0"/>
          </a:p>
          <a:p>
            <a:r>
              <a:rPr lang="en-US" dirty="0"/>
              <a:t>CREATE ASSERTION </a:t>
            </a:r>
            <a:r>
              <a:rPr lang="en-US" dirty="0" err="1"/>
              <a:t>Age_Check</a:t>
            </a:r>
            <a:endParaRPr lang="en-US" dirty="0"/>
          </a:p>
          <a:p>
            <a:r>
              <a:rPr lang="en-US" dirty="0"/>
              <a:t>CHECK(</a:t>
            </a:r>
          </a:p>
          <a:p>
            <a:r>
              <a:rPr lang="en-US" dirty="0"/>
              <a:t>NOT EXISTS(</a:t>
            </a:r>
          </a:p>
          <a:p>
            <a:r>
              <a:rPr lang="en-US" dirty="0"/>
              <a:t>SELECT *</a:t>
            </a:r>
          </a:p>
          <a:p>
            <a:r>
              <a:rPr lang="en-US" dirty="0"/>
              <a:t>FROM Student</a:t>
            </a:r>
          </a:p>
          <a:p>
            <a:r>
              <a:rPr lang="en-US" dirty="0"/>
              <a:t>WHERE Age &lt; 18</a:t>
            </a:r>
          </a:p>
          <a:p>
            <a:r>
              <a:rPr lang="en-US" dirty="0"/>
              <a:t>)</a:t>
            </a:r>
          </a:p>
          <a:p>
            <a:r>
              <a:rPr lang="en-US" dirty="0"/>
              <a:t>);</a:t>
            </a:r>
          </a:p>
          <a:p>
            <a:endParaRPr lang="en-US" dirty="0"/>
          </a:p>
          <a:p>
            <a:r>
              <a:rPr lang="en-US" dirty="0"/>
              <a:t>Maintains global database consistency.</a:t>
            </a:r>
          </a:p>
        </p:txBody>
      </p:sp>
      <p:sp>
        <p:nvSpPr>
          <p:cNvPr id="4" name="Slide Number Placeholder 3"/>
          <p:cNvSpPr>
            <a:spLocks noGrp="1"/>
          </p:cNvSpPr>
          <p:nvPr>
            <p:ph type="sldNum" sz="quarter" idx="5"/>
          </p:nvPr>
        </p:nvSpPr>
        <p:spPr/>
        <p:txBody>
          <a:bodyPr/>
          <a:lstStyle/>
          <a:p>
            <a:fld id="{532ED260-D111-491D-AB9F-FC8569A2A916}" type="slidenum">
              <a:rPr lang="en-US" smtClean="0"/>
              <a:t>17</a:t>
            </a:fld>
            <a:endParaRPr lang="en-US"/>
          </a:p>
        </p:txBody>
      </p:sp>
    </p:spTree>
    <p:extLst>
      <p:ext uri="{BB962C8B-B14F-4D97-AF65-F5344CB8AC3E}">
        <p14:creationId xmlns:p14="http://schemas.microsoft.com/office/powerpoint/2010/main" val="21914162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Query</a:t>
            </a:r>
          </a:p>
          <a:p>
            <a:pPr rtl="0"/>
            <a:r>
              <a:rPr lang="en-US" sz="1200" kern="1200" dirty="0">
                <a:solidFill>
                  <a:schemeClr val="tx1"/>
                </a:solidFill>
                <a:latin typeface="+mn-lt"/>
                <a:ea typeface="+mn-ea"/>
                <a:cs typeface="+mn-cs"/>
              </a:rPr>
              <a:t>SELECT *</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FROM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Age &lt; 18</a:t>
            </a:r>
          </a:p>
          <a:p>
            <a:r>
              <a:rPr lang="en-US" dirty="0"/>
              <a:t>Finds students younger than 18.</a:t>
            </a:r>
          </a:p>
          <a:p>
            <a:r>
              <a:rPr lang="en-US" b="1" dirty="0"/>
              <a:t>NOT EXISTS</a:t>
            </a:r>
          </a:p>
          <a:p>
            <a:r>
              <a:rPr lang="en-US" dirty="0"/>
              <a:t>Means:</a:t>
            </a:r>
          </a:p>
          <a:p>
            <a:r>
              <a:rPr lang="en-US" dirty="0"/>
              <a:t>"There should be no such students."</a:t>
            </a:r>
          </a:p>
          <a:p>
            <a:endParaRPr lang="en-US" b="1" dirty="0"/>
          </a:p>
          <a:p>
            <a:endParaRPr lang="en-US" b="1" dirty="0"/>
          </a:p>
          <a:p>
            <a:endParaRPr lang="en-US" b="1" dirty="0"/>
          </a:p>
          <a:p>
            <a:endParaRPr lang="en-US" b="1" dirty="0"/>
          </a:p>
          <a:p>
            <a:r>
              <a:rPr lang="en-US" dirty="0"/>
              <a:t>If a student aged 16 is inserted:</a:t>
            </a:r>
          </a:p>
          <a:p>
            <a:pPr rtl="0"/>
            <a:r>
              <a:rPr lang="en-US" sz="1200" kern="1200" dirty="0">
                <a:solidFill>
                  <a:schemeClr val="tx1"/>
                </a:solidFill>
                <a:latin typeface="+mn-lt"/>
                <a:ea typeface="+mn-ea"/>
                <a:cs typeface="+mn-cs"/>
              </a:rPr>
              <a:t>INSERT INTO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VALUES(103,'Hari',16);</a:t>
            </a:r>
          </a:p>
          <a:p>
            <a:r>
              <a:rPr lang="en-US" dirty="0"/>
              <a:t>The assertion becomes FALSE.</a:t>
            </a:r>
          </a:p>
          <a:p>
            <a:r>
              <a:rPr lang="en-US" dirty="0"/>
              <a:t>Result:</a:t>
            </a:r>
          </a:p>
          <a:p>
            <a:r>
              <a:rPr lang="en-US" dirty="0"/>
              <a:t>❌ Insertion rejected.</a:t>
            </a:r>
          </a:p>
          <a:p>
            <a:endParaRPr lang="en-US" b="1" dirty="0"/>
          </a:p>
          <a:p>
            <a:endParaRPr lang="en-US" b="1" dirty="0"/>
          </a:p>
          <a:p>
            <a:endParaRPr lang="en-US" b="1" dirty="0"/>
          </a:p>
          <a:p>
            <a:endParaRPr lang="en-US" b="1" dirty="0"/>
          </a:p>
          <a:p>
            <a:r>
              <a:rPr lang="en-US" b="1" dirty="0"/>
              <a:t>Example 2: Department Capacity</a:t>
            </a:r>
          </a:p>
          <a:p>
            <a:r>
              <a:rPr lang="en-US" dirty="0"/>
              <a:t>Suppose a department can have a maximum of 100 students.</a:t>
            </a:r>
          </a:p>
          <a:p>
            <a:r>
              <a:rPr lang="en-US" dirty="0"/>
              <a:t>CREATE ASSERTION </a:t>
            </a:r>
            <a:r>
              <a:rPr lang="en-US" dirty="0" err="1"/>
              <a:t>Max_Students</a:t>
            </a:r>
            <a:endParaRPr lang="en-US" dirty="0"/>
          </a:p>
          <a:p>
            <a:r>
              <a:rPr lang="en-US" dirty="0"/>
              <a:t>CHECK (</a:t>
            </a:r>
          </a:p>
          <a:p>
            <a:r>
              <a:rPr lang="en-US" dirty="0"/>
              <a:t>NOT EXISTS(</a:t>
            </a:r>
          </a:p>
          <a:p>
            <a:r>
              <a:rPr lang="en-US" dirty="0"/>
              <a:t>SELECT </a:t>
            </a:r>
            <a:r>
              <a:rPr lang="en-US" dirty="0" err="1"/>
              <a:t>Dept_ID</a:t>
            </a:r>
            <a:endParaRPr lang="en-US" dirty="0"/>
          </a:p>
          <a:p>
            <a:r>
              <a:rPr lang="en-US" dirty="0"/>
              <a:t>FROM Student</a:t>
            </a:r>
          </a:p>
          <a:p>
            <a:r>
              <a:rPr lang="en-US" dirty="0"/>
              <a:t>GROUP BY </a:t>
            </a:r>
            <a:r>
              <a:rPr lang="en-US" dirty="0" err="1"/>
              <a:t>Dept_ID</a:t>
            </a:r>
            <a:endParaRPr lang="en-US" dirty="0"/>
          </a:p>
          <a:p>
            <a:r>
              <a:rPr lang="en-US" dirty="0"/>
              <a:t>HAVING COUNT(*) &gt; 100</a:t>
            </a:r>
          </a:p>
          <a:p>
            <a:r>
              <a:rPr lang="en-US" dirty="0"/>
              <a:t>)</a:t>
            </a:r>
          </a:p>
          <a:p>
            <a:r>
              <a:rPr lang="en-US" dirty="0"/>
              <a:t>);</a:t>
            </a:r>
          </a:p>
          <a:p>
            <a:endParaRPr lang="en-US" dirty="0"/>
          </a:p>
          <a:p>
            <a:endParaRPr lang="en-US" dirty="0"/>
          </a:p>
          <a:p>
            <a:endParaRPr lang="en-US" dirty="0"/>
          </a:p>
          <a:p>
            <a:r>
              <a:rPr lang="en-US" b="1" dirty="0"/>
              <a:t>Explanation</a:t>
            </a:r>
          </a:p>
          <a:p>
            <a:r>
              <a:rPr lang="en-US" dirty="0"/>
              <a:t>The assertion checks:</a:t>
            </a:r>
          </a:p>
          <a:p>
            <a:r>
              <a:rPr lang="en-US" dirty="0"/>
              <a:t>Count students in each department. </a:t>
            </a:r>
          </a:p>
          <a:p>
            <a:r>
              <a:rPr lang="en-US" dirty="0"/>
              <a:t>If any department has more than 100 students,</a:t>
            </a:r>
            <a:br>
              <a:rPr lang="en-US" dirty="0"/>
            </a:br>
            <a:r>
              <a:rPr lang="en-US" dirty="0"/>
              <a:t>the assertion fails. </a:t>
            </a:r>
          </a:p>
          <a:p>
            <a:r>
              <a:rPr lang="en-US" dirty="0"/>
              <a:t>Result:</a:t>
            </a:r>
          </a:p>
          <a:p>
            <a:r>
              <a:rPr lang="en-US" dirty="0"/>
              <a:t>❌ Further insertions are blocked.</a:t>
            </a:r>
          </a:p>
          <a:p>
            <a:endParaRPr lang="en-US" b="1" dirty="0"/>
          </a:p>
          <a:p>
            <a:endParaRPr lang="en-US" b="1" dirty="0"/>
          </a:p>
          <a:p>
            <a:endParaRPr lang="en-US" b="1" dirty="0"/>
          </a:p>
          <a:p>
            <a:r>
              <a:rPr lang="en-US" b="1" dirty="0"/>
              <a:t>t</a:t>
            </a:r>
          </a:p>
          <a:p>
            <a:r>
              <a:rPr lang="en-US" b="1" dirty="0"/>
              <a:t>Example 3: Salary Rule</a:t>
            </a:r>
          </a:p>
          <a:p>
            <a:r>
              <a:rPr lang="en-US" dirty="0"/>
              <a:t>Business Rule:</a:t>
            </a:r>
          </a:p>
          <a:p>
            <a:r>
              <a:rPr lang="en-US" dirty="0"/>
              <a:t>No employee should have a salary less than Rs. 15,000.</a:t>
            </a:r>
          </a:p>
          <a:p>
            <a:pPr rtl="0"/>
            <a:r>
              <a:rPr lang="en-US" sz="1200" kern="1200" dirty="0">
                <a:solidFill>
                  <a:schemeClr val="tx1"/>
                </a:solidFill>
                <a:latin typeface="+mn-lt"/>
                <a:ea typeface="+mn-ea"/>
                <a:cs typeface="+mn-cs"/>
              </a:rPr>
              <a:t>CREATE ASSERTION </a:t>
            </a:r>
            <a:r>
              <a:rPr lang="en-US" sz="1200" kern="1200" dirty="0" err="1">
                <a:solidFill>
                  <a:schemeClr val="tx1"/>
                </a:solidFill>
                <a:latin typeface="+mn-lt"/>
                <a:ea typeface="+mn-ea"/>
                <a:cs typeface="+mn-cs"/>
              </a:rPr>
              <a:t>Salary_Check</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CHECK(</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NOT EXISTS(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SELECT *</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FROM Employee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Salary &lt; 15000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t>
            </a:r>
          </a:p>
          <a:p>
            <a:br>
              <a:rPr lang="en-US" dirty="0"/>
            </a:br>
            <a:endParaRPr lang="en-US" dirty="0"/>
          </a:p>
          <a:p>
            <a:r>
              <a:rPr lang="en-US" b="1" dirty="0"/>
              <a:t>Valid Data</a:t>
            </a:r>
          </a:p>
          <a:p>
            <a:r>
              <a:rPr lang="en-US" dirty="0" err="1"/>
              <a:t>Emp_ID</a:t>
            </a:r>
            <a:r>
              <a:rPr lang="en-US" dirty="0"/>
              <a:t>		Salary</a:t>
            </a:r>
          </a:p>
          <a:p>
            <a:r>
              <a:rPr lang="en-US" dirty="0"/>
              <a:t>101		25000</a:t>
            </a:r>
          </a:p>
          <a:p>
            <a:r>
              <a:rPr lang="en-US" dirty="0"/>
              <a:t>102 		30000</a:t>
            </a:r>
          </a:p>
          <a:p>
            <a:r>
              <a:rPr lang="en-US" b="1" dirty="0"/>
              <a:t>Invalid Data</a:t>
            </a:r>
          </a:p>
          <a:p>
            <a:r>
              <a:rPr lang="en-US" dirty="0" err="1"/>
              <a:t>Emp_ID</a:t>
            </a:r>
            <a:r>
              <a:rPr lang="en-US" dirty="0"/>
              <a:t>		Salary</a:t>
            </a:r>
          </a:p>
          <a:p>
            <a:r>
              <a:rPr lang="en-US" dirty="0"/>
              <a:t>103 		10000</a:t>
            </a:r>
          </a:p>
          <a:p>
            <a:r>
              <a:rPr lang="en-US" dirty="0"/>
              <a:t>Result:</a:t>
            </a:r>
          </a:p>
          <a:p>
            <a:r>
              <a:rPr lang="en-US" dirty="0"/>
              <a:t>❌ Rejected</a:t>
            </a:r>
          </a:p>
          <a:p>
            <a:br>
              <a:rPr lang="en-US" dirty="0"/>
            </a:br>
            <a:endParaRPr lang="en-US" dirty="0"/>
          </a:p>
          <a:p>
            <a:r>
              <a:rPr lang="en-US" b="1" dirty="0"/>
              <a:t>Example 4: Bank Balance Rule</a:t>
            </a:r>
          </a:p>
          <a:p>
            <a:r>
              <a:rPr lang="en-US" dirty="0"/>
              <a:t>Rule:</a:t>
            </a:r>
          </a:p>
          <a:p>
            <a:r>
              <a:rPr lang="en-US" dirty="0"/>
              <a:t>Every account balance must remain positive.</a:t>
            </a:r>
          </a:p>
          <a:p>
            <a:pPr rtl="0"/>
            <a:r>
              <a:rPr lang="en-US" sz="1200" kern="1200" dirty="0">
                <a:solidFill>
                  <a:schemeClr val="tx1"/>
                </a:solidFill>
                <a:latin typeface="+mn-lt"/>
                <a:ea typeface="+mn-ea"/>
                <a:cs typeface="+mn-cs"/>
              </a:rPr>
              <a:t>CREATE ASSERTION </a:t>
            </a:r>
            <a:r>
              <a:rPr lang="en-US" sz="1200" kern="1200" dirty="0" err="1">
                <a:solidFill>
                  <a:schemeClr val="tx1"/>
                </a:solidFill>
                <a:latin typeface="+mn-lt"/>
                <a:ea typeface="+mn-ea"/>
                <a:cs typeface="+mn-cs"/>
              </a:rPr>
              <a:t>Positive_Balance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CHECK(</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NOT EXISTS(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SELECT *</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FROM Account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Balance &lt; 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t>
            </a:r>
          </a:p>
          <a:p>
            <a:br>
              <a:rPr lang="en-US" dirty="0"/>
            </a:br>
            <a:endParaRPr lang="en-US" dirty="0"/>
          </a:p>
          <a:p>
            <a:r>
              <a:rPr lang="en-US" b="1" dirty="0"/>
              <a:t>Valid</a:t>
            </a:r>
          </a:p>
          <a:p>
            <a:r>
              <a:rPr lang="en-US" dirty="0" err="1"/>
              <a:t>Account_No</a:t>
            </a:r>
            <a:r>
              <a:rPr lang="en-US" dirty="0"/>
              <a:t>		Balance</a:t>
            </a:r>
          </a:p>
          <a:p>
            <a:r>
              <a:rPr lang="en-US" dirty="0"/>
              <a:t>A101		5000</a:t>
            </a:r>
          </a:p>
          <a:p>
            <a:r>
              <a:rPr lang="en-US" dirty="0"/>
              <a:t>A102		10000</a:t>
            </a:r>
          </a:p>
          <a:p>
            <a:r>
              <a:rPr lang="en-US" b="1" dirty="0"/>
              <a:t>Invalid</a:t>
            </a:r>
          </a:p>
          <a:p>
            <a:r>
              <a:rPr lang="en-US" dirty="0" err="1"/>
              <a:t>Account_No</a:t>
            </a:r>
            <a:r>
              <a:rPr lang="en-US" dirty="0"/>
              <a:t>		Balance</a:t>
            </a:r>
          </a:p>
          <a:p>
            <a:r>
              <a:rPr lang="en-US" dirty="0"/>
              <a:t>A103		-500</a:t>
            </a:r>
          </a:p>
          <a:p>
            <a:r>
              <a:rPr lang="en-US" dirty="0"/>
              <a:t>Result:</a:t>
            </a:r>
          </a:p>
          <a:p>
            <a:r>
              <a:rPr lang="en-US" dirty="0"/>
              <a:t>❌ Transaction rejected</a:t>
            </a:r>
          </a:p>
          <a:p>
            <a:endParaRPr lang="en-US" b="1" dirty="0"/>
          </a:p>
        </p:txBody>
      </p:sp>
      <p:sp>
        <p:nvSpPr>
          <p:cNvPr id="4" name="Slide Number Placeholder 3"/>
          <p:cNvSpPr>
            <a:spLocks noGrp="1"/>
          </p:cNvSpPr>
          <p:nvPr>
            <p:ph type="sldNum" sz="quarter" idx="5"/>
          </p:nvPr>
        </p:nvSpPr>
        <p:spPr/>
        <p:txBody>
          <a:bodyPr/>
          <a:lstStyle/>
          <a:p>
            <a:fld id="{532ED260-D111-491D-AB9F-FC8569A2A916}" type="slidenum">
              <a:rPr lang="en-US" smtClean="0"/>
              <a:t>19</a:t>
            </a:fld>
            <a:endParaRPr lang="en-US"/>
          </a:p>
        </p:txBody>
      </p:sp>
    </p:spTree>
    <p:extLst>
      <p:ext uri="{BB962C8B-B14F-4D97-AF65-F5344CB8AC3E}">
        <p14:creationId xmlns:p14="http://schemas.microsoft.com/office/powerpoint/2010/main" val="1966191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b="1" dirty="0"/>
              <a:t>What it Means</a:t>
            </a:r>
          </a:p>
          <a:p>
            <a:r>
              <a:rPr lang="en-US" dirty="0"/>
              <a:t>"There should NOT exist any department whose total project cost exceeds its budget."</a:t>
            </a:r>
          </a:p>
          <a:p>
            <a:endParaRPr lang="en-US" dirty="0"/>
          </a:p>
          <a:p>
            <a:r>
              <a:rPr lang="en-US" dirty="0"/>
              <a:t>Total Project Cost = 450000</a:t>
            </a:r>
          </a:p>
          <a:p>
            <a:r>
              <a:rPr lang="en-US" dirty="0"/>
              <a:t>Budget = 500000</a:t>
            </a:r>
          </a:p>
          <a:p>
            <a:r>
              <a:rPr lang="en-US" dirty="0"/>
              <a:t>Since:</a:t>
            </a:r>
          </a:p>
          <a:p>
            <a:pPr rtl="0"/>
            <a:r>
              <a:rPr lang="en-US" sz="1200" kern="1200" dirty="0">
                <a:solidFill>
                  <a:schemeClr val="tx1"/>
                </a:solidFill>
                <a:latin typeface="+mn-lt"/>
                <a:ea typeface="+mn-ea"/>
                <a:cs typeface="+mn-cs"/>
              </a:rPr>
              <a:t>450000 ≤ 500000</a:t>
            </a:r>
          </a:p>
          <a:p>
            <a:r>
              <a:rPr lang="en-US" dirty="0"/>
              <a:t>✅ Condition satisfied</a:t>
            </a:r>
          </a:p>
          <a:p>
            <a:endParaRPr lang="en-US" dirty="0"/>
          </a:p>
          <a:p>
            <a:endParaRPr lang="en-US" dirty="0"/>
          </a:p>
          <a:p>
            <a:r>
              <a:rPr lang="en-US" dirty="0"/>
              <a:t>If another project is added:</a:t>
            </a:r>
          </a:p>
          <a:p>
            <a:r>
              <a:rPr lang="en-US" dirty="0" err="1"/>
              <a:t>Project_ID</a:t>
            </a:r>
            <a:r>
              <a:rPr lang="en-US" dirty="0"/>
              <a:t>		</a:t>
            </a:r>
            <a:r>
              <a:rPr lang="en-US" dirty="0" err="1"/>
              <a:t>Dept_ID</a:t>
            </a:r>
            <a:r>
              <a:rPr lang="en-US" dirty="0"/>
              <a:t>	Cost</a:t>
            </a:r>
          </a:p>
          <a:p>
            <a:r>
              <a:rPr lang="en-US" dirty="0"/>
              <a:t>P3 		D1 	100000</a:t>
            </a:r>
          </a:p>
          <a:p>
            <a:r>
              <a:rPr lang="en-US" dirty="0"/>
              <a:t>Total Cost = </a:t>
            </a:r>
            <a:r>
              <a:rPr lang="en-US" sz="1200" kern="1200" dirty="0">
                <a:solidFill>
                  <a:schemeClr val="tx1"/>
                </a:solidFill>
                <a:latin typeface="+mn-lt"/>
                <a:ea typeface="+mn-ea"/>
                <a:cs typeface="+mn-cs"/>
              </a:rPr>
              <a:t>200000 + 250000 + 100000 = 550000</a:t>
            </a:r>
          </a:p>
          <a:p>
            <a:r>
              <a:rPr lang="en-US" dirty="0"/>
              <a:t>Now:</a:t>
            </a:r>
          </a:p>
          <a:p>
            <a:pPr rtl="0"/>
            <a:r>
              <a:rPr lang="en-US" sz="1200" kern="1200" dirty="0">
                <a:solidFill>
                  <a:schemeClr val="tx1"/>
                </a:solidFill>
                <a:latin typeface="+mn-lt"/>
                <a:ea typeface="+mn-ea"/>
                <a:cs typeface="+mn-cs"/>
              </a:rPr>
              <a:t>550000 &gt; 500000</a:t>
            </a:r>
          </a:p>
          <a:p>
            <a:r>
              <a:rPr lang="en-US" dirty="0"/>
              <a:t>❌ Assertion fails</a:t>
            </a:r>
          </a:p>
          <a:p>
            <a:endParaRPr lang="en-US" dirty="0"/>
          </a:p>
          <a:p>
            <a:endParaRPr lang="en-US" dirty="0"/>
          </a:p>
          <a:p>
            <a:endParaRPr lang="en-US" dirty="0"/>
          </a:p>
          <a:p>
            <a:endParaRPr lang="en-US" dirty="0"/>
          </a:p>
          <a:p>
            <a:r>
              <a:rPr lang="en-US" dirty="0"/>
              <a:t>CREATE ASSERTION </a:t>
            </a:r>
            <a:r>
              <a:rPr lang="en-US" dirty="0" err="1"/>
              <a:t>Budget_Check</a:t>
            </a:r>
            <a:endParaRPr lang="en-US" dirty="0"/>
          </a:p>
          <a:p>
            <a:r>
              <a:rPr lang="en-US" dirty="0"/>
              <a:t>CHECK(</a:t>
            </a:r>
          </a:p>
          <a:p>
            <a:r>
              <a:rPr lang="en-US" dirty="0"/>
              <a:t>NOT EXISTS(</a:t>
            </a:r>
          </a:p>
          <a:p>
            <a:r>
              <a:rPr lang="en-US" dirty="0"/>
              <a:t>SELECT *</a:t>
            </a:r>
          </a:p>
          <a:p>
            <a:r>
              <a:rPr lang="en-US" dirty="0"/>
              <a:t>FROM Department D</a:t>
            </a:r>
          </a:p>
          <a:p>
            <a:r>
              <a:rPr lang="en-US" dirty="0"/>
              <a:t>WHERE </a:t>
            </a:r>
            <a:r>
              <a:rPr lang="en-US" dirty="0" err="1"/>
              <a:t>D.Budget</a:t>
            </a:r>
            <a:r>
              <a:rPr lang="en-US" dirty="0"/>
              <a:t> &lt;</a:t>
            </a:r>
          </a:p>
          <a:p>
            <a:r>
              <a:rPr lang="en-US" dirty="0"/>
              <a:t>(</a:t>
            </a:r>
          </a:p>
          <a:p>
            <a:r>
              <a:rPr lang="en-US" dirty="0"/>
              <a:t>SELECT SUM(</a:t>
            </a:r>
            <a:r>
              <a:rPr lang="en-US" dirty="0" err="1"/>
              <a:t>P.Cost</a:t>
            </a:r>
            <a:r>
              <a:rPr lang="en-US" dirty="0"/>
              <a:t>)</a:t>
            </a:r>
          </a:p>
          <a:p>
            <a:r>
              <a:rPr lang="en-US" dirty="0"/>
              <a:t>FROM Project P</a:t>
            </a:r>
          </a:p>
          <a:p>
            <a:r>
              <a:rPr lang="en-US" dirty="0"/>
              <a:t>WHERE </a:t>
            </a:r>
            <a:r>
              <a:rPr lang="en-US" dirty="0" err="1"/>
              <a:t>P.Dept_ID</a:t>
            </a:r>
            <a:r>
              <a:rPr lang="en-US" dirty="0"/>
              <a:t> = </a:t>
            </a:r>
            <a:r>
              <a:rPr lang="en-US" dirty="0" err="1"/>
              <a:t>D.Dept_ID</a:t>
            </a:r>
            <a:endParaRPr lang="en-US" dirty="0"/>
          </a:p>
          <a:p>
            <a:r>
              <a:rPr lang="en-US" dirty="0"/>
              <a:t>)</a:t>
            </a:r>
          </a:p>
          <a:p>
            <a:r>
              <a:rPr lang="en-US" dirty="0"/>
              <a:t>)</a:t>
            </a:r>
          </a:p>
          <a:p>
            <a:r>
              <a:rPr lang="en-US" dirty="0"/>
              <a:t>);</a:t>
            </a:r>
          </a:p>
          <a:p>
            <a:endParaRPr lang="en-US" dirty="0"/>
          </a:p>
          <a:p>
            <a:endParaRPr lang="en-US" dirty="0"/>
          </a:p>
          <a:p>
            <a:endParaRPr lang="en-US" dirty="0"/>
          </a:p>
          <a:p>
            <a:r>
              <a:rPr lang="en-US" b="1" dirty="0"/>
              <a:t>Why use Assertion here instead of CHECK?"</a:t>
            </a:r>
            <a:endParaRPr lang="en-US" dirty="0"/>
          </a:p>
          <a:p>
            <a:r>
              <a:rPr lang="en-US" dirty="0"/>
              <a:t>Answer:</a:t>
            </a:r>
          </a:p>
          <a:p>
            <a:r>
              <a:rPr lang="en-US" dirty="0"/>
              <a:t>Because the rule involves </a:t>
            </a:r>
            <a:r>
              <a:rPr lang="en-US" b="1" dirty="0"/>
              <a:t>multiple rows (SUM of costs)</a:t>
            </a:r>
            <a:r>
              <a:rPr lang="en-US" dirty="0"/>
              <a:t> and </a:t>
            </a:r>
            <a:r>
              <a:rPr lang="en-US" b="1" dirty="0"/>
              <a:t>two tables (Project and Department)</a:t>
            </a:r>
            <a:r>
              <a:rPr lang="en-US" dirty="0"/>
              <a:t>. A CHECK constraint can only validate individual row values, whereas an ASSERTION can validate conditions involving multiple rows and tables.</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20</a:t>
            </a:fld>
            <a:endParaRPr lang="en-US"/>
          </a:p>
        </p:txBody>
      </p:sp>
    </p:spTree>
    <p:extLst>
      <p:ext uri="{BB962C8B-B14F-4D97-AF65-F5344CB8AC3E}">
        <p14:creationId xmlns:p14="http://schemas.microsoft.com/office/powerpoint/2010/main" val="13926092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22</a:t>
            </a:fld>
            <a:endParaRPr lang="en-US"/>
          </a:p>
        </p:txBody>
      </p:sp>
    </p:spTree>
    <p:extLst>
      <p:ext uri="{BB962C8B-B14F-4D97-AF65-F5344CB8AC3E}">
        <p14:creationId xmlns:p14="http://schemas.microsoft.com/office/powerpoint/2010/main" val="39753991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What is Used Instead?</a:t>
            </a:r>
          </a:p>
          <a:p>
            <a:r>
              <a:rPr lang="en-US" dirty="0"/>
              <a:t>In real projects, developers use:</a:t>
            </a:r>
          </a:p>
          <a:p>
            <a:r>
              <a:rPr lang="en-US" b="1" dirty="0"/>
              <a:t>1. CHECK Constraints</a:t>
            </a:r>
          </a:p>
          <a:p>
            <a:r>
              <a:rPr lang="en-US" dirty="0"/>
              <a:t>For simple row-level rules.</a:t>
            </a:r>
          </a:p>
          <a:p>
            <a:pPr rtl="0"/>
            <a:r>
              <a:rPr lang="en-US" sz="1200" kern="1200" dirty="0">
                <a:solidFill>
                  <a:schemeClr val="tx1"/>
                </a:solidFill>
                <a:latin typeface="+mn-lt"/>
                <a:ea typeface="+mn-ea"/>
                <a:cs typeface="+mn-cs"/>
              </a:rPr>
              <a:t>Age &gt;= 18</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Salary &gt; 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CGPA &lt;= 4</a:t>
            </a:r>
          </a:p>
          <a:p>
            <a:r>
              <a:rPr lang="en-US" b="1" dirty="0"/>
              <a:t>2. Triggers</a:t>
            </a:r>
          </a:p>
          <a:p>
            <a:r>
              <a:rPr lang="en-US" dirty="0"/>
              <a:t>For complex business rules.</a:t>
            </a:r>
          </a:p>
          <a:p>
            <a:r>
              <a:rPr lang="en-US" dirty="0"/>
              <a:t>Example:</a:t>
            </a:r>
          </a:p>
          <a:p>
            <a:pPr rtl="0"/>
            <a:r>
              <a:rPr lang="en-US" sz="1200" kern="1200" dirty="0">
                <a:solidFill>
                  <a:schemeClr val="tx1"/>
                </a:solidFill>
                <a:latin typeface="+mn-lt"/>
                <a:ea typeface="+mn-ea"/>
                <a:cs typeface="+mn-cs"/>
              </a:rPr>
              <a:t>Maximum 100 students per department</a:t>
            </a:r>
          </a:p>
          <a:p>
            <a:r>
              <a:rPr lang="en-US" dirty="0"/>
              <a:t>implemented through a BEFORE INSERT trigger.</a:t>
            </a:r>
          </a:p>
          <a:p>
            <a:r>
              <a:rPr lang="en-US" b="1" dirty="0"/>
              <a:t>3. Stored Procedures / Application Logic</a:t>
            </a:r>
          </a:p>
          <a:p>
            <a:r>
              <a:rPr lang="en-US" dirty="0"/>
              <a:t>Sometimes validation is performed in:</a:t>
            </a:r>
          </a:p>
          <a:p>
            <a:r>
              <a:rPr lang="en-US" dirty="0"/>
              <a:t>Java </a:t>
            </a:r>
          </a:p>
          <a:p>
            <a:r>
              <a:rPr lang="en-US" dirty="0"/>
              <a:t>Python </a:t>
            </a:r>
          </a:p>
          <a:p>
            <a:r>
              <a:rPr lang="en-US" dirty="0"/>
              <a:t>PHP </a:t>
            </a:r>
          </a:p>
          <a:p>
            <a:r>
              <a:rPr lang="en-US" dirty="0"/>
              <a:t>Django </a:t>
            </a:r>
          </a:p>
          <a:p>
            <a:r>
              <a:rPr lang="en-US" dirty="0"/>
              <a:t>.NET </a:t>
            </a:r>
          </a:p>
          <a:p>
            <a:r>
              <a:rPr lang="en-US" dirty="0"/>
              <a:t>before data reaches the database.</a:t>
            </a:r>
          </a:p>
          <a:p>
            <a:endParaRPr lang="en-US" dirty="0"/>
          </a:p>
          <a:p>
            <a:endParaRPr lang="en-US" dirty="0"/>
          </a:p>
          <a:p>
            <a:endParaRPr lang="en-US" dirty="0"/>
          </a:p>
          <a:p>
            <a:r>
              <a:rPr lang="en-US" dirty="0"/>
              <a:t>Assertions are database-level integrity constraints used to enforce conditions involving multiple rows or tables. Although they are part of the SQL standard, most modern DBMSs do not support them directly. In practical systems, triggers and application logic are commonly used to achieve the same functionality.</a:t>
            </a:r>
          </a:p>
          <a:p>
            <a:endParaRPr lang="en-US" b="1" dirty="0"/>
          </a:p>
          <a:p>
            <a:r>
              <a:rPr lang="en-US" b="1" dirty="0"/>
              <a:t>For Exams</a:t>
            </a:r>
          </a:p>
          <a:p>
            <a:r>
              <a:rPr lang="en-US" dirty="0"/>
              <a:t>You should still study Assertions because:</a:t>
            </a:r>
          </a:p>
          <a:p>
            <a:r>
              <a:rPr lang="en-US" dirty="0"/>
              <a:t>They are part of the relational model and SQL standard. </a:t>
            </a:r>
          </a:p>
          <a:p>
            <a:r>
              <a:rPr lang="en-US" dirty="0"/>
              <a:t>Universities (including DBMS courses like Pokhara University) ask them in theory exams. </a:t>
            </a:r>
          </a:p>
          <a:p>
            <a:r>
              <a:rPr lang="en-US" dirty="0"/>
              <a:t>They explain why triggers are needed in practice.</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23</a:t>
            </a:fld>
            <a:endParaRPr lang="en-US"/>
          </a:p>
        </p:txBody>
      </p:sp>
    </p:spTree>
    <p:extLst>
      <p:ext uri="{BB962C8B-B14F-4D97-AF65-F5344CB8AC3E}">
        <p14:creationId xmlns:p14="http://schemas.microsoft.com/office/powerpoint/2010/main" val="21422181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Trigger is a database action that automatically runs in response to changes made to data.</a:t>
            </a:r>
          </a:p>
          <a:p>
            <a:endParaRPr lang="en-US" dirty="0"/>
          </a:p>
          <a:p>
            <a:r>
              <a:rPr lang="en-US" b="1" dirty="0"/>
              <a:t>Types of Triggers</a:t>
            </a:r>
          </a:p>
          <a:p>
            <a:endParaRPr lang="en-US" dirty="0"/>
          </a:p>
          <a:p>
            <a:r>
              <a:rPr lang="en-US" dirty="0"/>
              <a:t>Based on timing:</a:t>
            </a:r>
          </a:p>
          <a:p>
            <a:r>
              <a:rPr lang="en-US" dirty="0"/>
              <a:t>BEFORE Trigger </a:t>
            </a:r>
          </a:p>
          <a:p>
            <a:r>
              <a:rPr lang="en-US" dirty="0"/>
              <a:t>AFTER Trigger </a:t>
            </a:r>
          </a:p>
          <a:p>
            <a:endParaRPr lang="en-US" dirty="0"/>
          </a:p>
          <a:p>
            <a:endParaRPr lang="en-US" dirty="0"/>
          </a:p>
          <a:p>
            <a:r>
              <a:rPr lang="en-US" dirty="0"/>
              <a:t>Based on event:</a:t>
            </a:r>
          </a:p>
          <a:p>
            <a:r>
              <a:rPr lang="en-US" dirty="0"/>
              <a:t>INSERT Trigger </a:t>
            </a:r>
          </a:p>
          <a:p>
            <a:r>
              <a:rPr lang="en-US" dirty="0"/>
              <a:t>UPDATE Trigger </a:t>
            </a:r>
          </a:p>
          <a:p>
            <a:r>
              <a:rPr lang="en-US" dirty="0"/>
              <a:t>DELETE Trigger</a:t>
            </a:r>
          </a:p>
          <a:p>
            <a:endParaRPr lang="en-US" dirty="0"/>
          </a:p>
          <a:p>
            <a:endParaRPr lang="en-US" dirty="0"/>
          </a:p>
          <a:p>
            <a:endParaRPr lang="en-US" dirty="0"/>
          </a:p>
          <a:p>
            <a:endParaRPr lang="en-US" dirty="0"/>
          </a:p>
          <a:p>
            <a:endParaRPr lang="en-US" dirty="0"/>
          </a:p>
          <a:p>
            <a:r>
              <a:rPr lang="en-US" b="1" dirty="0"/>
              <a:t>Real-Life Example</a:t>
            </a:r>
          </a:p>
          <a:p>
            <a:r>
              <a:rPr lang="en-US" dirty="0"/>
              <a:t>Suppose a bank has an Account table.</a:t>
            </a:r>
          </a:p>
          <a:p>
            <a:pPr lvl="1"/>
            <a:r>
              <a:rPr lang="en-US" dirty="0"/>
              <a:t>If money is withdrawn, the bank wants to record the transaction in a log table automatically.</a:t>
            </a:r>
          </a:p>
          <a:p>
            <a:pPr lvl="1"/>
            <a:r>
              <a:rPr lang="en-US" dirty="0"/>
              <a:t>Instead of asking programmers to write code every time, a trigger can do it automatically.</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24</a:t>
            </a:fld>
            <a:endParaRPr lang="en-US"/>
          </a:p>
        </p:txBody>
      </p:sp>
    </p:spTree>
    <p:extLst>
      <p:ext uri="{BB962C8B-B14F-4D97-AF65-F5344CB8AC3E}">
        <p14:creationId xmlns:p14="http://schemas.microsoft.com/office/powerpoint/2010/main" val="34936064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u="none" strike="noStrike" kern="1200" dirty="0">
                <a:solidFill>
                  <a:schemeClr val="tx1"/>
                </a:solidFill>
                <a:effectLst/>
                <a:latin typeface="+mn-lt"/>
                <a:ea typeface="+mn-ea"/>
                <a:cs typeface="+mn-cs"/>
              </a:rPr>
              <a:t>By the Firing Operation</a:t>
            </a:r>
          </a:p>
          <a:p>
            <a:r>
              <a:rPr lang="en-US" sz="1200" b="1" u="none" strike="noStrike" kern="1200" dirty="0">
                <a:solidFill>
                  <a:schemeClr val="tx1"/>
                </a:solidFill>
                <a:effectLst/>
                <a:latin typeface="+mn-lt"/>
                <a:ea typeface="+mn-ea"/>
                <a:cs typeface="+mn-cs"/>
              </a:rPr>
              <a:t>DML Triggers</a:t>
            </a:r>
            <a:r>
              <a:rPr lang="en-US" sz="1200" b="0" u="none" strike="noStrike" kern="1200" dirty="0">
                <a:solidFill>
                  <a:schemeClr val="tx1"/>
                </a:solidFill>
                <a:effectLst/>
                <a:latin typeface="+mn-lt"/>
                <a:ea typeface="+mn-ea"/>
                <a:cs typeface="+mn-cs"/>
              </a:rPr>
              <a:t>: Fire in response to Data Manipulation Language events like INSERT, UPDATE, and DELETE.</a:t>
            </a:r>
          </a:p>
          <a:p>
            <a:r>
              <a:rPr lang="en-US" sz="1200" b="1" u="none" strike="noStrike" kern="1200" dirty="0">
                <a:solidFill>
                  <a:schemeClr val="tx1"/>
                </a:solidFill>
                <a:effectLst/>
                <a:latin typeface="+mn-lt"/>
                <a:ea typeface="+mn-ea"/>
                <a:cs typeface="+mn-cs"/>
              </a:rPr>
              <a:t>DDL Triggers</a:t>
            </a:r>
            <a:r>
              <a:rPr lang="en-US" sz="1200" b="0" u="none" strike="noStrike" kern="1200" dirty="0">
                <a:solidFill>
                  <a:schemeClr val="tx1"/>
                </a:solidFill>
                <a:effectLst/>
                <a:latin typeface="+mn-lt"/>
                <a:ea typeface="+mn-ea"/>
                <a:cs typeface="+mn-cs"/>
              </a:rPr>
              <a:t>: Execute during Data Definition Language structural changes like CREATE, ALTER, or DROP.</a:t>
            </a:r>
          </a:p>
          <a:p>
            <a:r>
              <a:rPr lang="en-US" sz="1200" b="1" u="none" strike="noStrike" kern="1200" dirty="0">
                <a:solidFill>
                  <a:schemeClr val="tx1"/>
                </a:solidFill>
                <a:effectLst/>
                <a:latin typeface="+mn-lt"/>
                <a:ea typeface="+mn-ea"/>
                <a:cs typeface="+mn-cs"/>
              </a:rPr>
              <a:t>Logon Triggers</a:t>
            </a:r>
            <a:r>
              <a:rPr lang="en-US" sz="1200" b="0" u="none" strike="noStrike" kern="1200" dirty="0">
                <a:solidFill>
                  <a:schemeClr val="tx1"/>
                </a:solidFill>
                <a:effectLst/>
                <a:latin typeface="+mn-lt"/>
                <a:ea typeface="+mn-ea"/>
                <a:cs typeface="+mn-cs"/>
              </a:rPr>
              <a:t>: Activate when a user session or connection is established with the database server.</a:t>
            </a:r>
          </a:p>
          <a:p>
            <a:r>
              <a:rPr lang="en-US" sz="1200" b="1" u="none" strike="noStrike" kern="1200" dirty="0">
                <a:solidFill>
                  <a:schemeClr val="tx1"/>
                </a:solidFill>
                <a:effectLst/>
                <a:latin typeface="+mn-lt"/>
                <a:ea typeface="+mn-ea"/>
                <a:cs typeface="+mn-cs"/>
              </a:rPr>
              <a:t>2. By Firing Time</a:t>
            </a:r>
          </a:p>
          <a:p>
            <a:r>
              <a:rPr lang="en-US" sz="1200" b="1" u="none" strike="noStrike" kern="1200" dirty="0">
                <a:solidFill>
                  <a:schemeClr val="tx1"/>
                </a:solidFill>
                <a:effectLst/>
                <a:latin typeface="+mn-lt"/>
                <a:ea typeface="+mn-ea"/>
                <a:cs typeface="+mn-cs"/>
              </a:rPr>
              <a:t>BEFORE Triggers</a:t>
            </a:r>
            <a:r>
              <a:rPr lang="en-US" sz="1200" b="0" u="none" strike="noStrike" kern="1200" dirty="0">
                <a:solidFill>
                  <a:schemeClr val="tx1"/>
                </a:solidFill>
                <a:effectLst/>
                <a:latin typeface="+mn-lt"/>
                <a:ea typeface="+mn-ea"/>
                <a:cs typeface="+mn-cs"/>
              </a:rPr>
              <a:t>: Run prior to executing the triggering data change. These are ideal for validating or formatting data before it is permanently saved.</a:t>
            </a:r>
          </a:p>
          <a:p>
            <a:r>
              <a:rPr lang="en-US" sz="1200" b="1" u="none" strike="noStrike" kern="1200" dirty="0">
                <a:solidFill>
                  <a:schemeClr val="tx1"/>
                </a:solidFill>
                <a:effectLst/>
                <a:latin typeface="+mn-lt"/>
                <a:ea typeface="+mn-ea"/>
                <a:cs typeface="+mn-cs"/>
              </a:rPr>
              <a:t>AFTER Triggers</a:t>
            </a:r>
            <a:r>
              <a:rPr lang="en-US" sz="1200" b="0" u="none" strike="noStrike" kern="1200" dirty="0">
                <a:solidFill>
                  <a:schemeClr val="tx1"/>
                </a:solidFill>
                <a:effectLst/>
                <a:latin typeface="+mn-lt"/>
                <a:ea typeface="+mn-ea"/>
                <a:cs typeface="+mn-cs"/>
              </a:rPr>
              <a:t>: Execute only after the primary database operation completes successfully. These are widely used to maintain historical logs or cascade changes to unrelated tables.</a:t>
            </a:r>
          </a:p>
          <a:p>
            <a:endParaRPr lang="en-US" sz="1200" b="0"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INSTEAD OF Triggers</a:t>
            </a:r>
            <a:r>
              <a:rPr lang="en-US" sz="1200" b="0" u="none" strike="noStrike" kern="1200" dirty="0">
                <a:solidFill>
                  <a:schemeClr val="tx1"/>
                </a:solidFill>
                <a:effectLst/>
                <a:latin typeface="+mn-lt"/>
                <a:ea typeface="+mn-ea"/>
                <a:cs typeface="+mn-cs"/>
              </a:rPr>
              <a:t>: Intercept the requested action completely and replace it with custom SQL logic. These are highly critical for allowing updates on non-updatable complex views. </a:t>
            </a:r>
          </a:p>
          <a:p>
            <a:r>
              <a:rPr lang="en-US" sz="1200" b="1" u="none" strike="noStrike" kern="1200" dirty="0">
                <a:solidFill>
                  <a:schemeClr val="tx1"/>
                </a:solidFill>
                <a:effectLst/>
                <a:latin typeface="+mn-lt"/>
                <a:ea typeface="+mn-ea"/>
                <a:cs typeface="+mn-cs"/>
              </a:rPr>
              <a:t>3. By Firing Frequency (Granularity)</a:t>
            </a:r>
          </a:p>
          <a:p>
            <a:r>
              <a:rPr lang="en-US" sz="1200" b="1" u="none" strike="noStrike" kern="1200" dirty="0">
                <a:solidFill>
                  <a:schemeClr val="tx1"/>
                </a:solidFill>
                <a:effectLst/>
                <a:latin typeface="+mn-lt"/>
                <a:ea typeface="+mn-ea"/>
                <a:cs typeface="+mn-cs"/>
              </a:rPr>
              <a:t>Row-Level Triggers</a:t>
            </a:r>
            <a:r>
              <a:rPr lang="en-US" sz="1200" b="0" u="none" strike="noStrike" kern="1200" dirty="0">
                <a:solidFill>
                  <a:schemeClr val="tx1"/>
                </a:solidFill>
                <a:effectLst/>
                <a:latin typeface="+mn-lt"/>
                <a:ea typeface="+mn-ea"/>
                <a:cs typeface="+mn-cs"/>
              </a:rPr>
              <a:t>: Execute independently for every individual row affected by an SQL statement. They use pseudo-records like NEW and OLD to capture runtime column data values. </a:t>
            </a:r>
          </a:p>
          <a:p>
            <a:endParaRPr lang="en-US" sz="1200" b="0" u="none" strike="noStrike" kern="1200" dirty="0">
              <a:solidFill>
                <a:schemeClr val="tx1"/>
              </a:solidFill>
              <a:effectLst/>
              <a:latin typeface="+mn-lt"/>
              <a:ea typeface="+mn-ea"/>
              <a:cs typeface="+mn-cs"/>
            </a:endParaRPr>
          </a:p>
          <a:p>
            <a:r>
              <a:rPr lang="en-US" sz="1200" b="1" u="none" strike="noStrike" kern="1200" dirty="0">
                <a:solidFill>
                  <a:schemeClr val="tx1"/>
                </a:solidFill>
                <a:effectLst/>
                <a:latin typeface="+mn-lt"/>
                <a:ea typeface="+mn-ea"/>
                <a:cs typeface="+mn-cs"/>
              </a:rPr>
              <a:t>Statement-Level Triggers</a:t>
            </a:r>
            <a:r>
              <a:rPr lang="en-US" sz="1200" b="0" u="none" strike="noStrike" kern="1200" dirty="0">
                <a:solidFill>
                  <a:schemeClr val="tx1"/>
                </a:solidFill>
                <a:effectLst/>
                <a:latin typeface="+mn-lt"/>
                <a:ea typeface="+mn-ea"/>
                <a:cs typeface="+mn-cs"/>
              </a:rPr>
              <a:t>: Execute exactly once per SQL statement, regardless of whether that statement modifies zero rows, one row, or millions of rows simultaneously</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25</a:t>
            </a:fld>
            <a:endParaRPr lang="en-US"/>
          </a:p>
        </p:txBody>
      </p:sp>
    </p:spTree>
    <p:extLst>
      <p:ext uri="{BB962C8B-B14F-4D97-AF65-F5344CB8AC3E}">
        <p14:creationId xmlns:p14="http://schemas.microsoft.com/office/powerpoint/2010/main" val="34154252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BEFORE INSERT Trigger</a:t>
            </a:r>
          </a:p>
          <a:p>
            <a:r>
              <a:rPr lang="en-US" b="1" dirty="0"/>
              <a:t>Purpose</a:t>
            </a:r>
          </a:p>
          <a:p>
            <a:r>
              <a:rPr lang="en-US" dirty="0"/>
              <a:t>Validates data before insertion.</a:t>
            </a:r>
          </a:p>
          <a:p>
            <a:r>
              <a:rPr lang="en-US" b="1" dirty="0"/>
              <a:t>Example</a:t>
            </a:r>
          </a:p>
          <a:p>
            <a:r>
              <a:rPr lang="en-US" dirty="0"/>
              <a:t>Prevent students younger than 18 from being inserted.</a:t>
            </a:r>
          </a:p>
          <a:p>
            <a:pPr rtl="0"/>
            <a:r>
              <a:rPr lang="en-US" sz="1200" kern="1200" dirty="0">
                <a:solidFill>
                  <a:schemeClr val="tx1"/>
                </a:solidFill>
                <a:latin typeface="+mn-lt"/>
                <a:ea typeface="+mn-ea"/>
                <a:cs typeface="+mn-cs"/>
              </a:rPr>
              <a:t>CREATE TRIGGER </a:t>
            </a:r>
            <a:r>
              <a:rPr lang="en-US" sz="1200" kern="1200" dirty="0" err="1">
                <a:solidFill>
                  <a:schemeClr val="tx1"/>
                </a:solidFill>
                <a:latin typeface="+mn-lt"/>
                <a:ea typeface="+mn-ea"/>
                <a:cs typeface="+mn-cs"/>
              </a:rPr>
              <a:t>Check_Age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BEFORE INSERT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ON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FOR EACH ROW</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BEGIN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IF </a:t>
            </a:r>
            <a:r>
              <a:rPr lang="en-US" sz="1200" kern="1200" dirty="0" err="1">
                <a:solidFill>
                  <a:schemeClr val="tx1"/>
                </a:solidFill>
                <a:latin typeface="+mn-lt"/>
                <a:ea typeface="+mn-ea"/>
                <a:cs typeface="+mn-cs"/>
              </a:rPr>
              <a:t>NEW.Age</a:t>
            </a:r>
            <a:r>
              <a:rPr lang="en-US" sz="1200" kern="1200" dirty="0">
                <a:solidFill>
                  <a:schemeClr val="tx1"/>
                </a:solidFill>
                <a:latin typeface="+mn-lt"/>
                <a:ea typeface="+mn-ea"/>
                <a:cs typeface="+mn-cs"/>
              </a:rPr>
              <a:t> &lt; 18 THEN</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SIGNAL SQLSTATE '45000'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SET MESSAGE_TEXT='Age must be 18 or above';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END IF;</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END;</a:t>
            </a:r>
          </a:p>
          <a:p>
            <a:br>
              <a:rPr lang="en-US" dirty="0"/>
            </a:br>
            <a:endParaRPr lang="en-US" dirty="0"/>
          </a:p>
          <a:p>
            <a:r>
              <a:rPr lang="en-US" b="1" dirty="0"/>
              <a:t>What Happens?</a:t>
            </a:r>
          </a:p>
          <a:p>
            <a:r>
              <a:rPr lang="en-US" dirty="0"/>
              <a:t>Attempt:</a:t>
            </a:r>
          </a:p>
          <a:p>
            <a:pPr rtl="0"/>
            <a:r>
              <a:rPr lang="en-US" sz="1200" kern="1200" dirty="0">
                <a:solidFill>
                  <a:schemeClr val="tx1"/>
                </a:solidFill>
                <a:latin typeface="+mn-lt"/>
                <a:ea typeface="+mn-ea"/>
                <a:cs typeface="+mn-cs"/>
              </a:rPr>
              <a:t>INSERT INTO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VALUES(101,'Ram',16);</a:t>
            </a:r>
          </a:p>
          <a:p>
            <a:r>
              <a:rPr lang="en-US" dirty="0"/>
              <a:t>Trigger fires:</a:t>
            </a:r>
          </a:p>
          <a:p>
            <a:pPr rtl="0"/>
            <a:r>
              <a:rPr lang="en-US" sz="1200" kern="1200" dirty="0">
                <a:solidFill>
                  <a:schemeClr val="tx1"/>
                </a:solidFill>
                <a:latin typeface="+mn-lt"/>
                <a:ea typeface="+mn-ea"/>
                <a:cs typeface="+mn-cs"/>
              </a:rPr>
              <a:t>16 &lt; 18</a:t>
            </a:r>
          </a:p>
          <a:p>
            <a:r>
              <a:rPr lang="en-US" dirty="0"/>
              <a:t>Result:</a:t>
            </a:r>
          </a:p>
          <a:p>
            <a:r>
              <a:rPr lang="en-US" dirty="0"/>
              <a:t>❌ Insert rejected</a:t>
            </a:r>
          </a:p>
          <a:p>
            <a:br>
              <a:rPr lang="en-US" dirty="0"/>
            </a:br>
            <a:endParaRPr lang="en-US" dirty="0"/>
          </a:p>
          <a:p>
            <a:r>
              <a:rPr lang="en-US" b="1" dirty="0"/>
              <a:t>AFTER INSERT Trigger</a:t>
            </a:r>
          </a:p>
          <a:p>
            <a:r>
              <a:rPr lang="en-US" b="1" dirty="0"/>
              <a:t>Purpose</a:t>
            </a:r>
          </a:p>
          <a:p>
            <a:r>
              <a:rPr lang="en-US" dirty="0"/>
              <a:t>Perform actions after insertion.</a:t>
            </a:r>
          </a:p>
          <a:p>
            <a:r>
              <a:rPr lang="en-US" b="1" dirty="0"/>
              <a:t>Example</a:t>
            </a:r>
          </a:p>
          <a:p>
            <a:r>
              <a:rPr lang="en-US" dirty="0"/>
              <a:t>Audit logging.</a:t>
            </a:r>
          </a:p>
          <a:p>
            <a:br>
              <a:rPr lang="en-US" dirty="0"/>
            </a:br>
            <a:endParaRPr lang="en-US" dirty="0"/>
          </a:p>
          <a:p>
            <a:r>
              <a:rPr lang="en-US" b="1" dirty="0"/>
              <a:t>Student Table</a:t>
            </a:r>
          </a:p>
          <a:p>
            <a:r>
              <a:rPr lang="en-US" dirty="0"/>
              <a:t>Roll_NoName101Ram</a:t>
            </a:r>
          </a:p>
          <a:p>
            <a:r>
              <a:rPr lang="en-US" b="1" dirty="0"/>
              <a:t>Audit Table</a:t>
            </a:r>
          </a:p>
          <a:p>
            <a:r>
              <a:rPr lang="en-US" dirty="0" err="1"/>
              <a:t>ActionStudent</a:t>
            </a:r>
            <a:r>
              <a:rPr lang="en-US" dirty="0"/>
              <a:t> Added</a:t>
            </a:r>
          </a:p>
          <a:p>
            <a:r>
              <a:rPr lang="en-US" dirty="0"/>
              <a:t>Trigger:</a:t>
            </a:r>
          </a:p>
          <a:p>
            <a:pPr rtl="0"/>
            <a:r>
              <a:rPr lang="en-US" sz="1200" kern="1200" dirty="0">
                <a:solidFill>
                  <a:schemeClr val="tx1"/>
                </a:solidFill>
                <a:latin typeface="+mn-lt"/>
                <a:ea typeface="+mn-ea"/>
                <a:cs typeface="+mn-cs"/>
              </a:rPr>
              <a:t>CREATE TRIGGER </a:t>
            </a:r>
            <a:r>
              <a:rPr lang="en-US" sz="1200" kern="1200" dirty="0" err="1">
                <a:solidFill>
                  <a:schemeClr val="tx1"/>
                </a:solidFill>
                <a:latin typeface="+mn-lt"/>
                <a:ea typeface="+mn-ea"/>
                <a:cs typeface="+mn-cs"/>
              </a:rPr>
              <a:t>Student_Log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AFTER INSERT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ON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FOR EACH ROW</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BEGIN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INSERT INTO </a:t>
            </a:r>
            <a:r>
              <a:rPr lang="en-US" sz="1200" kern="1200" dirty="0" err="1">
                <a:solidFill>
                  <a:schemeClr val="tx1"/>
                </a:solidFill>
                <a:latin typeface="+mn-lt"/>
                <a:ea typeface="+mn-ea"/>
                <a:cs typeface="+mn-cs"/>
              </a:rPr>
              <a:t>Audit_Log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VALUES('Student Added');</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END;</a:t>
            </a:r>
          </a:p>
          <a:p>
            <a:br>
              <a:rPr lang="en-US" dirty="0"/>
            </a:br>
            <a:endParaRPr lang="en-US" dirty="0"/>
          </a:p>
          <a:p>
            <a:r>
              <a:rPr lang="en-US" b="1" dirty="0"/>
              <a:t>What Happens?</a:t>
            </a:r>
          </a:p>
          <a:p>
            <a:pPr rtl="0"/>
            <a:r>
              <a:rPr lang="en-US" sz="1200" kern="1200" dirty="0">
                <a:solidFill>
                  <a:schemeClr val="tx1"/>
                </a:solidFill>
                <a:latin typeface="+mn-lt"/>
                <a:ea typeface="+mn-ea"/>
                <a:cs typeface="+mn-cs"/>
              </a:rPr>
              <a:t>INSERT INTO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VALUES(101,'Ram');</a:t>
            </a:r>
          </a:p>
          <a:p>
            <a:r>
              <a:rPr lang="en-US" dirty="0"/>
              <a:t>Result:</a:t>
            </a:r>
          </a:p>
          <a:p>
            <a:r>
              <a:rPr lang="en-US" b="1" dirty="0"/>
              <a:t>Student</a:t>
            </a:r>
          </a:p>
          <a:p>
            <a:r>
              <a:rPr lang="en-US" dirty="0"/>
              <a:t>Roll_NoName101Ram</a:t>
            </a:r>
          </a:p>
          <a:p>
            <a:r>
              <a:rPr lang="en-US" b="1" dirty="0" err="1"/>
              <a:t>Audit_Log</a:t>
            </a:r>
            <a:endParaRPr lang="en-US" b="1" dirty="0"/>
          </a:p>
          <a:p>
            <a:r>
              <a:rPr lang="en-US" dirty="0" err="1"/>
              <a:t>ActionStudent</a:t>
            </a:r>
            <a:r>
              <a:rPr lang="en-US" dirty="0"/>
              <a:t> Added</a:t>
            </a:r>
          </a:p>
          <a:p>
            <a:r>
              <a:rPr lang="en-US" dirty="0"/>
              <a:t>Automatically inserted.</a:t>
            </a:r>
          </a:p>
          <a:p>
            <a:br>
              <a:rPr lang="en-US" dirty="0"/>
            </a:br>
            <a:endParaRPr lang="en-US" dirty="0"/>
          </a:p>
          <a:p>
            <a:r>
              <a:rPr lang="en-US" b="1" dirty="0"/>
              <a:t>BEFORE UPDATE Trigger</a:t>
            </a:r>
          </a:p>
          <a:p>
            <a:r>
              <a:rPr lang="en-US" b="1" dirty="0"/>
              <a:t>Purpose</a:t>
            </a:r>
          </a:p>
          <a:p>
            <a:r>
              <a:rPr lang="en-US" dirty="0"/>
              <a:t>Validate updates before they occur.</a:t>
            </a:r>
          </a:p>
          <a:p>
            <a:r>
              <a:rPr lang="en-US" dirty="0"/>
              <a:t>Example:</a:t>
            </a:r>
          </a:p>
          <a:p>
            <a:r>
              <a:rPr lang="en-US" dirty="0"/>
              <a:t>Salary cannot be reduced below 15000.</a:t>
            </a:r>
          </a:p>
          <a:p>
            <a:pPr rtl="0"/>
            <a:r>
              <a:rPr lang="en-US" sz="1200" kern="1200" dirty="0">
                <a:solidFill>
                  <a:schemeClr val="tx1"/>
                </a:solidFill>
                <a:latin typeface="+mn-lt"/>
                <a:ea typeface="+mn-ea"/>
                <a:cs typeface="+mn-cs"/>
              </a:rPr>
              <a:t>CREATE TRIGGER </a:t>
            </a:r>
            <a:r>
              <a:rPr lang="en-US" sz="1200" kern="1200" dirty="0" err="1">
                <a:solidFill>
                  <a:schemeClr val="tx1"/>
                </a:solidFill>
                <a:latin typeface="+mn-lt"/>
                <a:ea typeface="+mn-ea"/>
                <a:cs typeface="+mn-cs"/>
              </a:rPr>
              <a:t>Check_Salary</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BEFORE UPDATE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ON Employee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FOR EACH ROW</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BEGIN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IF </a:t>
            </a:r>
            <a:r>
              <a:rPr lang="en-US" sz="1200" kern="1200" dirty="0" err="1">
                <a:solidFill>
                  <a:schemeClr val="tx1"/>
                </a:solidFill>
                <a:latin typeface="+mn-lt"/>
                <a:ea typeface="+mn-ea"/>
                <a:cs typeface="+mn-cs"/>
              </a:rPr>
              <a:t>NEW.Salary</a:t>
            </a:r>
            <a:r>
              <a:rPr lang="en-US" sz="1200" kern="1200" dirty="0">
                <a:solidFill>
                  <a:schemeClr val="tx1"/>
                </a:solidFill>
                <a:latin typeface="+mn-lt"/>
                <a:ea typeface="+mn-ea"/>
                <a:cs typeface="+mn-cs"/>
              </a:rPr>
              <a:t> &lt; 15000 THEN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SIGNAL SQLSTATE '45000'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SET MESSAGE_TEXT='Salary too low';</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END IF;</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END;</a:t>
            </a:r>
          </a:p>
          <a:p>
            <a:br>
              <a:rPr lang="en-US" dirty="0"/>
            </a:br>
            <a:endParaRPr lang="en-US" dirty="0"/>
          </a:p>
          <a:p>
            <a:r>
              <a:rPr lang="en-US" b="1" dirty="0"/>
              <a:t>AFTER UPDATE Trigger</a:t>
            </a:r>
          </a:p>
          <a:p>
            <a:r>
              <a:rPr lang="en-US" b="1" dirty="0"/>
              <a:t>Purpose</a:t>
            </a:r>
          </a:p>
          <a:p>
            <a:r>
              <a:rPr lang="en-US" dirty="0"/>
              <a:t>Record changes after updates.</a:t>
            </a:r>
          </a:p>
          <a:p>
            <a:r>
              <a:rPr lang="en-US" dirty="0"/>
              <a:t>Example:</a:t>
            </a:r>
          </a:p>
          <a:p>
            <a:r>
              <a:rPr lang="en-US" dirty="0"/>
              <a:t>Track salary changes.</a:t>
            </a:r>
          </a:p>
          <a:p>
            <a:pPr rtl="0"/>
            <a:r>
              <a:rPr lang="en-US" sz="1200" kern="1200" dirty="0">
                <a:solidFill>
                  <a:schemeClr val="tx1"/>
                </a:solidFill>
                <a:latin typeface="+mn-lt"/>
                <a:ea typeface="+mn-ea"/>
                <a:cs typeface="+mn-cs"/>
              </a:rPr>
              <a:t>CREATE TRIGGER </a:t>
            </a:r>
            <a:r>
              <a:rPr lang="en-US" sz="1200" kern="1200" dirty="0" err="1">
                <a:solidFill>
                  <a:schemeClr val="tx1"/>
                </a:solidFill>
                <a:latin typeface="+mn-lt"/>
                <a:ea typeface="+mn-ea"/>
                <a:cs typeface="+mn-cs"/>
              </a:rPr>
              <a:t>Salary_Audit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AFTER UPDATE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ON Employee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FOR EACH ROW</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BEGIN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INSERT INTO </a:t>
            </a:r>
            <a:r>
              <a:rPr lang="en-US" sz="1200" kern="1200" dirty="0" err="1">
                <a:solidFill>
                  <a:schemeClr val="tx1"/>
                </a:solidFill>
                <a:latin typeface="+mn-lt"/>
                <a:ea typeface="+mn-ea"/>
                <a:cs typeface="+mn-cs"/>
              </a:rPr>
              <a:t>Salary_Log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VALUES(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OLD.Salary</a:t>
            </a:r>
            <a:r>
              <a:rPr lang="en-US" sz="1200" kern="1200" dirty="0">
                <a:solidFill>
                  <a:schemeClr val="tx1"/>
                </a:solidFill>
                <a:latin typeface="+mn-lt"/>
                <a:ea typeface="+mn-ea"/>
                <a:cs typeface="+mn-cs"/>
              </a:rPr>
              <a: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NEW.Salary</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END;</a:t>
            </a:r>
          </a:p>
          <a:p>
            <a:br>
              <a:rPr lang="en-US" dirty="0"/>
            </a:br>
            <a:endParaRPr lang="en-US" dirty="0"/>
          </a:p>
          <a:p>
            <a:r>
              <a:rPr lang="en-US" b="1" dirty="0"/>
              <a:t>BEFORE DELETE Trigger</a:t>
            </a:r>
          </a:p>
          <a:p>
            <a:r>
              <a:rPr lang="en-US" b="1" dirty="0"/>
              <a:t>Purpose</a:t>
            </a:r>
          </a:p>
          <a:p>
            <a:r>
              <a:rPr lang="en-US" dirty="0"/>
              <a:t>Prevent deletion under certain conditions.</a:t>
            </a:r>
          </a:p>
          <a:p>
            <a:r>
              <a:rPr lang="en-US" dirty="0"/>
              <a:t>Example:</a:t>
            </a:r>
          </a:p>
          <a:p>
            <a:r>
              <a:rPr lang="en-US" dirty="0"/>
              <a:t>Do not allow deletion of admin users.</a:t>
            </a:r>
          </a:p>
          <a:p>
            <a:pPr rtl="0"/>
            <a:r>
              <a:rPr lang="en-US" sz="1200" kern="1200" dirty="0">
                <a:solidFill>
                  <a:schemeClr val="tx1"/>
                </a:solidFill>
                <a:latin typeface="+mn-lt"/>
                <a:ea typeface="+mn-ea"/>
                <a:cs typeface="+mn-cs"/>
              </a:rPr>
              <a:t>CREATE TRIGGER </a:t>
            </a:r>
            <a:r>
              <a:rPr lang="en-US" sz="1200" kern="1200" dirty="0" err="1">
                <a:solidFill>
                  <a:schemeClr val="tx1"/>
                </a:solidFill>
                <a:latin typeface="+mn-lt"/>
                <a:ea typeface="+mn-ea"/>
                <a:cs typeface="+mn-cs"/>
              </a:rPr>
              <a:t>Prevent_Admin_Delete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BEFORE DELETE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ON Users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FOR EACH ROW</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BEGIN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IF </a:t>
            </a:r>
            <a:r>
              <a:rPr lang="en-US" sz="1200" kern="1200" dirty="0" err="1">
                <a:solidFill>
                  <a:schemeClr val="tx1"/>
                </a:solidFill>
                <a:latin typeface="+mn-lt"/>
                <a:ea typeface="+mn-ea"/>
                <a:cs typeface="+mn-cs"/>
              </a:rPr>
              <a:t>OLD.Role</a:t>
            </a:r>
            <a:r>
              <a:rPr lang="en-US" sz="1200" kern="1200" dirty="0">
                <a:solidFill>
                  <a:schemeClr val="tx1"/>
                </a:solidFill>
                <a:latin typeface="+mn-lt"/>
                <a:ea typeface="+mn-ea"/>
                <a:cs typeface="+mn-cs"/>
              </a:rPr>
              <a:t>='Admin' THEN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SIGNAL SQLSTATE '45000'</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SET MESSAGE_TEXT='Cannot delete admin';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END IF;</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END;</a:t>
            </a:r>
          </a:p>
          <a:p>
            <a:br>
              <a:rPr lang="en-US" dirty="0"/>
            </a:br>
            <a:endParaRPr lang="en-US" dirty="0"/>
          </a:p>
          <a:p>
            <a:r>
              <a:rPr lang="en-US" b="1" dirty="0"/>
              <a:t>AFTER DELETE Trigger</a:t>
            </a:r>
          </a:p>
          <a:p>
            <a:r>
              <a:rPr lang="en-US" b="1" dirty="0"/>
              <a:t>Purpose</a:t>
            </a:r>
          </a:p>
          <a:p>
            <a:r>
              <a:rPr lang="en-US" dirty="0"/>
              <a:t>Maintain deletion history.</a:t>
            </a:r>
          </a:p>
          <a:p>
            <a:pPr rtl="0"/>
            <a:r>
              <a:rPr lang="en-US" sz="1200" kern="1200" dirty="0">
                <a:solidFill>
                  <a:schemeClr val="tx1"/>
                </a:solidFill>
                <a:latin typeface="+mn-lt"/>
                <a:ea typeface="+mn-ea"/>
                <a:cs typeface="+mn-cs"/>
              </a:rPr>
              <a:t>CREATE TRIGGER </a:t>
            </a:r>
            <a:r>
              <a:rPr lang="en-US" sz="1200" kern="1200" dirty="0" err="1">
                <a:solidFill>
                  <a:schemeClr val="tx1"/>
                </a:solidFill>
                <a:latin typeface="+mn-lt"/>
                <a:ea typeface="+mn-ea"/>
                <a:cs typeface="+mn-cs"/>
              </a:rPr>
              <a:t>Delete_Log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AFTER DELETE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ON Student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FOR EACH ROW</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BEGIN</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INSERT INTO </a:t>
            </a:r>
            <a:r>
              <a:rPr lang="en-US" sz="1200" kern="1200" dirty="0" err="1">
                <a:solidFill>
                  <a:schemeClr val="tx1"/>
                </a:solidFill>
                <a:latin typeface="+mn-lt"/>
                <a:ea typeface="+mn-ea"/>
                <a:cs typeface="+mn-cs"/>
              </a:rPr>
              <a:t>Deleted_Students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VALUES(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OLD.Roll_No</a:t>
            </a:r>
            <a:r>
              <a:rPr lang="en-US" sz="1200" kern="1200" dirty="0">
                <a:solidFill>
                  <a:schemeClr val="tx1"/>
                </a:solidFill>
                <a:latin typeface="+mn-lt"/>
                <a:ea typeface="+mn-ea"/>
                <a:cs typeface="+mn-cs"/>
              </a:rPr>
              <a: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OLD.Name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    );</a:t>
            </a:r>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END;</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26</a:t>
            </a:fld>
            <a:endParaRPr lang="en-US"/>
          </a:p>
        </p:txBody>
      </p:sp>
    </p:spTree>
    <p:extLst>
      <p:ext uri="{BB962C8B-B14F-4D97-AF65-F5344CB8AC3E}">
        <p14:creationId xmlns:p14="http://schemas.microsoft.com/office/powerpoint/2010/main" val="2654950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28</a:t>
            </a:fld>
            <a:endParaRPr lang="en-US"/>
          </a:p>
        </p:txBody>
      </p:sp>
    </p:spTree>
    <p:extLst>
      <p:ext uri="{BB962C8B-B14F-4D97-AF65-F5344CB8AC3E}">
        <p14:creationId xmlns:p14="http://schemas.microsoft.com/office/powerpoint/2010/main" val="41597265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r>
              <a:rPr lang="en-US" b="1" dirty="0"/>
              <a:t>Minimize Data Redundancy</a:t>
            </a:r>
          </a:p>
          <a:p>
            <a:r>
              <a:rPr lang="en-US" b="1" dirty="0"/>
              <a:t>Data Redundancy</a:t>
            </a:r>
          </a:p>
          <a:p>
            <a:r>
              <a:rPr lang="en-US" dirty="0"/>
              <a:t>Repeated storage of the same information.</a:t>
            </a:r>
          </a:p>
          <a:p>
            <a:r>
              <a:rPr lang="en-US" b="1" dirty="0"/>
              <a:t>Bad Design</a:t>
            </a:r>
          </a:p>
          <a:p>
            <a:r>
              <a:rPr lang="en-US" dirty="0"/>
              <a:t>Student	Dept	</a:t>
            </a:r>
            <a:r>
              <a:rPr lang="en-US" dirty="0" err="1"/>
              <a:t>Dept_HOD</a:t>
            </a:r>
            <a:endParaRPr lang="en-US" dirty="0"/>
          </a:p>
          <a:p>
            <a:r>
              <a:rPr lang="en-US" dirty="0"/>
              <a:t>Ram	BCA	Sharma</a:t>
            </a:r>
          </a:p>
          <a:p>
            <a:r>
              <a:rPr lang="en-US" dirty="0"/>
              <a:t>Sita	BCA	Sharma</a:t>
            </a:r>
          </a:p>
          <a:p>
            <a:r>
              <a:rPr lang="en-US" dirty="0"/>
              <a:t>"HOD" is repeated.</a:t>
            </a:r>
          </a:p>
          <a:p>
            <a:r>
              <a:rPr lang="en-US" b="1" dirty="0"/>
              <a:t>Better Design</a:t>
            </a:r>
          </a:p>
          <a:p>
            <a:r>
              <a:rPr lang="en-US" dirty="0"/>
              <a:t>Separate Department table.</a:t>
            </a:r>
          </a:p>
          <a:p>
            <a:r>
              <a:rPr lang="en-US" dirty="0"/>
              <a:t>Benefits:</a:t>
            </a:r>
          </a:p>
          <a:p>
            <a:r>
              <a:rPr lang="en-US" dirty="0"/>
              <a:t>Less storage </a:t>
            </a:r>
          </a:p>
          <a:p>
            <a:r>
              <a:rPr lang="en-US" dirty="0"/>
              <a:t>Easier updates </a:t>
            </a:r>
          </a:p>
          <a:p>
            <a:br>
              <a:rPr lang="en-US" dirty="0"/>
            </a:br>
            <a:endParaRPr lang="en-US" dirty="0"/>
          </a:p>
          <a:p>
            <a:r>
              <a:rPr lang="en-US" b="1" dirty="0"/>
              <a:t>Avoid Update Anomalies</a:t>
            </a:r>
          </a:p>
          <a:p>
            <a:r>
              <a:rPr lang="en-US" b="1" dirty="0"/>
              <a:t>Modification Anomaly</a:t>
            </a:r>
          </a:p>
          <a:p>
            <a:r>
              <a:rPr lang="en-US" dirty="0"/>
              <a:t>Changing a value requires updates in multiple rows.</a:t>
            </a:r>
          </a:p>
          <a:p>
            <a:r>
              <a:rPr lang="en-US" b="1" dirty="0"/>
              <a:t>Example</a:t>
            </a:r>
          </a:p>
          <a:p>
            <a:r>
              <a:rPr lang="en-US" dirty="0"/>
              <a:t>HOD changes from Sharma to Karki.</a:t>
            </a:r>
          </a:p>
          <a:p>
            <a:r>
              <a:rPr lang="en-US" dirty="0"/>
              <a:t>Need to update every BCA record.</a:t>
            </a:r>
          </a:p>
          <a:p>
            <a:r>
              <a:rPr lang="en-US" b="1" dirty="0"/>
              <a:t>Good Design</a:t>
            </a:r>
          </a:p>
          <a:p>
            <a:r>
              <a:rPr lang="en-US" dirty="0"/>
              <a:t>Store HOD information once in Department table.</a:t>
            </a:r>
          </a:p>
          <a:p>
            <a:br>
              <a:rPr lang="en-US" dirty="0"/>
            </a:br>
            <a:endParaRPr lang="en-US" dirty="0"/>
          </a:p>
          <a:p>
            <a:r>
              <a:rPr lang="en-US" b="1" dirty="0"/>
              <a:t>Avoid Insertion Anomalies</a:t>
            </a:r>
          </a:p>
          <a:p>
            <a:r>
              <a:rPr lang="en-US" b="1" dirty="0"/>
              <a:t>Problem</a:t>
            </a:r>
          </a:p>
          <a:p>
            <a:r>
              <a:rPr lang="en-US" dirty="0"/>
              <a:t>Cannot insert department unless a student exists.</a:t>
            </a:r>
          </a:p>
          <a:p>
            <a:r>
              <a:rPr lang="en-US" b="1" dirty="0"/>
              <a:t>Example</a:t>
            </a:r>
          </a:p>
          <a:p>
            <a:r>
              <a:rPr lang="en-US" dirty="0"/>
              <a:t>Cannot add:</a:t>
            </a:r>
          </a:p>
          <a:p>
            <a:r>
              <a:rPr lang="en-US" dirty="0" err="1"/>
              <a:t>Dept_ID</a:t>
            </a:r>
            <a:r>
              <a:rPr lang="en-US" dirty="0"/>
              <a:t>	</a:t>
            </a:r>
            <a:r>
              <a:rPr lang="en-US" dirty="0" err="1"/>
              <a:t>Dept_Name</a:t>
            </a:r>
            <a:endParaRPr lang="en-US" dirty="0"/>
          </a:p>
          <a:p>
            <a:r>
              <a:rPr lang="en-US" dirty="0"/>
              <a:t>D3	Civil</a:t>
            </a:r>
          </a:p>
          <a:p>
            <a:r>
              <a:rPr lang="en-US" dirty="0"/>
              <a:t>if stored only within Student table.</a:t>
            </a:r>
          </a:p>
          <a:p>
            <a:r>
              <a:rPr lang="en-US" b="1" dirty="0"/>
              <a:t>Solution</a:t>
            </a:r>
          </a:p>
          <a:p>
            <a:r>
              <a:rPr lang="en-US" dirty="0"/>
              <a:t>Separate tables.</a:t>
            </a:r>
          </a:p>
          <a:p>
            <a:br>
              <a:rPr lang="en-US" dirty="0"/>
            </a:br>
            <a:endParaRPr lang="en-US" dirty="0"/>
          </a:p>
          <a:p>
            <a:r>
              <a:rPr lang="en-US" b="1" dirty="0"/>
              <a:t>Avoid Deletion Anomalies</a:t>
            </a:r>
          </a:p>
          <a:p>
            <a:r>
              <a:rPr lang="en-US" b="1" dirty="0"/>
              <a:t>Problem</a:t>
            </a:r>
          </a:p>
          <a:p>
            <a:r>
              <a:rPr lang="en-US" dirty="0"/>
              <a:t>Deleting a record causes unintended loss of information.</a:t>
            </a:r>
          </a:p>
          <a:p>
            <a:r>
              <a:rPr lang="en-US" dirty="0"/>
              <a:t>Example:</a:t>
            </a:r>
          </a:p>
          <a:p>
            <a:r>
              <a:rPr lang="en-US" dirty="0"/>
              <a:t>Deleting last BCA student removes department information.</a:t>
            </a:r>
          </a:p>
          <a:p>
            <a:r>
              <a:rPr lang="en-US" b="1" dirty="0"/>
              <a:t>Solution</a:t>
            </a:r>
          </a:p>
          <a:p>
            <a:r>
              <a:rPr lang="en-US" dirty="0"/>
              <a:t>Normalize tables.</a:t>
            </a:r>
          </a:p>
          <a:p>
            <a:br>
              <a:rPr lang="en-US" dirty="0"/>
            </a:br>
            <a:endParaRPr lang="en-US" dirty="0"/>
          </a:p>
          <a:p>
            <a:r>
              <a:rPr lang="en-US" b="1" dirty="0"/>
              <a:t>Consistency and Integrity</a:t>
            </a:r>
          </a:p>
          <a:p>
            <a:r>
              <a:rPr lang="en-US" dirty="0"/>
              <a:t>Good design ensures:</a:t>
            </a:r>
          </a:p>
          <a:p>
            <a:r>
              <a:rPr lang="en-US" dirty="0"/>
              <a:t>✔ Accurate data</a:t>
            </a:r>
          </a:p>
          <a:p>
            <a:r>
              <a:rPr lang="en-US" dirty="0"/>
              <a:t>✔ Consistent relationships</a:t>
            </a:r>
          </a:p>
          <a:p>
            <a:r>
              <a:rPr lang="en-US" dirty="0"/>
              <a:t>✔ Valid references</a:t>
            </a:r>
          </a:p>
          <a:p>
            <a:r>
              <a:rPr lang="en-US" dirty="0"/>
              <a:t>✔ Reliable reporting</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31</a:t>
            </a:fld>
            <a:endParaRPr lang="en-US"/>
          </a:p>
        </p:txBody>
      </p:sp>
    </p:spTree>
    <p:extLst>
      <p:ext uri="{BB962C8B-B14F-4D97-AF65-F5344CB8AC3E}">
        <p14:creationId xmlns:p14="http://schemas.microsoft.com/office/powerpoint/2010/main" val="10692770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b="1" dirty="0"/>
                  <a:t>Determinant (X)</a:t>
                </a:r>
                <a:r>
                  <a:rPr lang="en-US" dirty="0"/>
                  <a:t>: The attribute(s) on the left side.</a:t>
                </a:r>
              </a:p>
              <a:p>
                <a:r>
                  <a:rPr lang="en-US" b="1" dirty="0"/>
                  <a:t>Dependent (Y)</a:t>
                </a:r>
                <a:r>
                  <a:rPr lang="en-US" dirty="0"/>
                  <a:t>: The attribute(s) on the right side. </a:t>
                </a:r>
              </a:p>
              <a:p>
                <a:r>
                  <a:rPr lang="en-US" dirty="0"/>
                  <a:t>Functional dependencies describe </a:t>
                </a:r>
                <a:r>
                  <a:rPr lang="en-US" b="1" dirty="0"/>
                  <a:t>constraints</a:t>
                </a:r>
                <a:r>
                  <a:rPr lang="en-US" dirty="0"/>
                  <a:t> in the data.</a:t>
                </a:r>
                <a:br>
                  <a:rPr lang="en-US" dirty="0"/>
                </a:br>
                <a:endParaRPr lang="en-US" dirty="0"/>
              </a:p>
              <a:p>
                <a:r>
                  <a:rPr lang="en-US" b="1" dirty="0"/>
                  <a:t>Types of Functional Dependencies</a:t>
                </a:r>
              </a:p>
              <a:p>
                <a:br>
                  <a:rPr lang="ar-AE" dirty="0"/>
                </a:br>
                <a:endParaRPr lang="ar-AE" dirty="0"/>
              </a:p>
              <a:p>
                <a:r>
                  <a:rPr lang="en-US" b="1" dirty="0"/>
                  <a:t>Non-Trivial Dependency</a:t>
                </a:r>
              </a:p>
              <a:p>
                <a:r>
                  <a:rPr lang="en-US" dirty="0"/>
                  <a:t>Dependency where: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𝑌</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𝑋</m:t>
                      </m:r>
                    </m:oMath>
                  </m:oMathPara>
                </a14:m>
                <a:endParaRPr lang="en-US" dirty="0"/>
              </a:p>
              <a:p>
                <a:r>
                  <a:rPr lang="en-US" dirty="0"/>
                  <a:t>Example: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𝑅𝑜𝑙𝑙𝑁𝑜</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𝑁𝑎𝑚𝑒</m:t>
                      </m:r>
                    </m:oMath>
                  </m:oMathPara>
                </a14:m>
                <a:endParaRPr lang="en-US" dirty="0"/>
              </a:p>
              <a:p>
                <a:r>
                  <a:rPr lang="en-US" dirty="0"/>
                  <a:t>Name is not part of </a:t>
                </a:r>
                <a:r>
                  <a:rPr lang="en-US" dirty="0" err="1"/>
                  <a:t>RollNo</a:t>
                </a:r>
                <a:r>
                  <a:rPr lang="en-US" dirty="0"/>
                  <a:t>.</a:t>
                </a:r>
              </a:p>
              <a:p>
                <a:br>
                  <a:rPr lang="en-US" dirty="0"/>
                </a:br>
                <a:endParaRPr lang="en-US" dirty="0"/>
              </a:p>
              <a:p>
                <a:r>
                  <a:rPr lang="en-US" b="1" dirty="0"/>
                  <a:t>Fully Functional Dependency</a:t>
                </a:r>
              </a:p>
              <a:p>
                <a:r>
                  <a:rPr lang="en-US" dirty="0"/>
                  <a:t>Attribute depends on the whole key.</a:t>
                </a:r>
              </a:p>
              <a:p>
                <a:r>
                  <a:rPr lang="en-US" dirty="0"/>
                  <a:t>Example:</a:t>
                </a:r>
              </a:p>
              <a:p>
                <a:pPr/>
                <a14:m>
                  <m:oMathPara xmlns:m="http://schemas.openxmlformats.org/officeDocument/2006/math">
                    <m:oMathParaPr>
                      <m:jc m:val="centerGroup"/>
                    </m:oMathParaPr>
                    <m:oMath xmlns:m="http://schemas.openxmlformats.org/officeDocument/2006/math">
                      <m:d>
                        <m:dPr>
                          <m:sepChr m:val=","/>
                          <m:ctrlPr>
                            <a:rPr lang="ar-AE" sz="1200" i="1" kern="1200">
                              <a:solidFill>
                                <a:schemeClr val="tx1"/>
                              </a:solidFill>
                              <a:latin typeface="Cambria Math" panose="02040503050406030204" pitchFamily="18" charset="0"/>
                              <a:ea typeface="+mn-ea"/>
                              <a:cs typeface="+mn-cs"/>
                            </a:rPr>
                          </m:ctrlPr>
                        </m:dPr>
                        <m:e>
                          <m:r>
                            <a:rPr lang="ar-AE" sz="1200" i="1" kern="1200">
                              <a:solidFill>
                                <a:schemeClr val="tx1"/>
                              </a:solidFill>
                              <a:latin typeface="Cambria Math" panose="02040503050406030204" pitchFamily="18" charset="0"/>
                              <a:ea typeface="+mn-ea"/>
                              <a:cs typeface="+mn-cs"/>
                            </a:rPr>
                            <m:t>𝑆</m:t>
                          </m:r>
                        </m:e>
                        <m:e>
                          <m:r>
                            <a:rPr lang="ar-AE" sz="1200" i="1" kern="1200">
                              <a:solidFill>
                                <a:schemeClr val="tx1"/>
                              </a:solidFill>
                              <a:latin typeface="Cambria Math" panose="02040503050406030204" pitchFamily="18" charset="0"/>
                              <a:ea typeface="+mn-ea"/>
                              <a:cs typeface="+mn-cs"/>
                            </a:rPr>
                            <m:t>𝑡𝑢𝑑𝑒𝑛𝑡𝐼𝐷𝐶𝑜𝑢𝑟𝑠𝑒𝐼𝐷</m:t>
                          </m:r>
                        </m:e>
                      </m:d>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𝐺𝑟𝑎𝑑𝑒</m:t>
                      </m:r>
                    </m:oMath>
                  </m:oMathPara>
                </a14:m>
                <a:endParaRPr lang="ar-AE" dirty="0"/>
              </a:p>
              <a:p>
                <a:r>
                  <a:rPr lang="en-US" dirty="0"/>
                  <a:t>Grade depends on both attributes.</a:t>
                </a:r>
              </a:p>
              <a:p>
                <a:br>
                  <a:rPr lang="en-US" dirty="0"/>
                </a:br>
                <a:r>
                  <a:rPr lang="en-US" b="1" dirty="0"/>
                  <a:t>Partial Dependency</a:t>
                </a:r>
              </a:p>
              <a:p>
                <a:r>
                  <a:rPr lang="en-US" dirty="0"/>
                  <a:t>Attribute depends on part of a composite key.</a:t>
                </a:r>
              </a:p>
              <a:p>
                <a:r>
                  <a:rPr lang="en-US" dirty="0"/>
                  <a:t>Example:</a:t>
                </a:r>
              </a:p>
              <a:p>
                <a:pPr/>
                <a14:m>
                  <m:oMathPara xmlns:m="http://schemas.openxmlformats.org/officeDocument/2006/math">
                    <m:oMathParaPr>
                      <m:jc m:val="centerGroup"/>
                    </m:oMathParaPr>
                    <m:oMath xmlns:m="http://schemas.openxmlformats.org/officeDocument/2006/math">
                      <m:d>
                        <m:dPr>
                          <m:sepChr m:val=","/>
                          <m:ctrlPr>
                            <a:rPr lang="ar-AE" sz="1200" i="1" kern="1200">
                              <a:solidFill>
                                <a:schemeClr val="tx1"/>
                              </a:solidFill>
                              <a:latin typeface="Cambria Math" panose="02040503050406030204" pitchFamily="18" charset="0"/>
                              <a:ea typeface="+mn-ea"/>
                              <a:cs typeface="+mn-cs"/>
                            </a:rPr>
                          </m:ctrlPr>
                        </m:dPr>
                        <m:e>
                          <m:r>
                            <a:rPr lang="ar-AE" sz="1200" i="1" kern="1200">
                              <a:solidFill>
                                <a:schemeClr val="tx1"/>
                              </a:solidFill>
                              <a:latin typeface="Cambria Math" panose="02040503050406030204" pitchFamily="18" charset="0"/>
                              <a:ea typeface="+mn-ea"/>
                              <a:cs typeface="+mn-cs"/>
                            </a:rPr>
                            <m:t>𝑆</m:t>
                          </m:r>
                        </m:e>
                        <m:e>
                          <m:r>
                            <a:rPr lang="ar-AE" sz="1200" i="1" kern="1200">
                              <a:solidFill>
                                <a:schemeClr val="tx1"/>
                              </a:solidFill>
                              <a:latin typeface="Cambria Math" panose="02040503050406030204" pitchFamily="18" charset="0"/>
                              <a:ea typeface="+mn-ea"/>
                              <a:cs typeface="+mn-cs"/>
                            </a:rPr>
                            <m:t>𝑡𝑢𝑑𝑒𝑛𝑡𝐼𝐷𝐶𝑜𝑢𝑟𝑠𝑒𝐼𝐷</m:t>
                          </m:r>
                        </m:e>
                      </m:d>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𝑆𝑡𝑢𝑑𝑒𝑛𝑡𝑁𝑎𝑚𝑒</m:t>
                      </m:r>
                    </m:oMath>
                  </m:oMathPara>
                </a14:m>
                <a:endParaRPr lang="ar-AE" dirty="0"/>
              </a:p>
              <a:p>
                <a:r>
                  <a:rPr lang="en-US" dirty="0" err="1"/>
                  <a:t>StudentName</a:t>
                </a:r>
                <a:r>
                  <a:rPr lang="en-US" dirty="0"/>
                  <a:t> depends only on StudentID.</a:t>
                </a:r>
              </a:p>
              <a:p>
                <a:r>
                  <a:rPr lang="en-US" dirty="0"/>
                  <a:t>This leads to redundancy.</a:t>
                </a:r>
              </a:p>
              <a:p>
                <a:br>
                  <a:rPr lang="en-US" dirty="0"/>
                </a:br>
                <a:endParaRPr lang="en-US" dirty="0"/>
              </a:p>
              <a:p>
                <a:r>
                  <a:rPr lang="en-US" b="1" dirty="0"/>
                  <a:t>Transitive Dependency</a:t>
                </a:r>
              </a:p>
              <a:p>
                <a:r>
                  <a:rPr lang="en-US" dirty="0"/>
                  <a:t>When: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r>
                  <a:rPr lang="en-US" dirty="0"/>
                  <a:t>and</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m:t>
                      </m:r>
                    </m:oMath>
                  </m:oMathPara>
                </a14:m>
                <a:endParaRPr lang="en-US" dirty="0"/>
              </a:p>
              <a:p>
                <a:r>
                  <a:rPr lang="en-US" dirty="0"/>
                  <a:t>then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m:t>
                      </m:r>
                    </m:oMath>
                  </m:oMathPara>
                </a14:m>
                <a:endParaRPr lang="en-US" dirty="0"/>
              </a:p>
              <a:p>
                <a:r>
                  <a:rPr lang="en-US" dirty="0"/>
                  <a:t>Example: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𝑆𝑡𝑢𝑑𝑒𝑛𝑡𝐼𝐷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𝐷𝑒𝑝𝑡𝐼𝐷</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𝐷𝑒𝑝𝑡𝐼𝐷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𝐷𝑒𝑝𝑡𝑁𝑎𝑚𝑒</m:t>
                      </m:r>
                    </m:oMath>
                  </m:oMathPara>
                </a14:m>
                <a:endParaRPr lang="en-US" dirty="0"/>
              </a:p>
              <a:p>
                <a:r>
                  <a:rPr lang="en-US" dirty="0"/>
                  <a:t>Therefore: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𝑆𝑡𝑢𝑑𝑒𝑛𝑡𝐼𝐷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𝐷𝑒𝑝𝑡𝑁𝑎𝑚𝑒</m:t>
                      </m:r>
                    </m:oMath>
                  </m:oMathPara>
                </a14:m>
                <a:endParaRPr lang="en-US" dirty="0"/>
              </a:p>
              <a:p>
                <a:endParaRPr lang="en-US" dirty="0"/>
              </a:p>
            </p:txBody>
          </p:sp>
        </mc:Choice>
        <mc:Fallback xmlns="">
          <p:sp>
            <p:nvSpPr>
              <p:cNvPr id="3" name="Notes Placeholder 2"/>
              <p:cNvSpPr>
                <a:spLocks noGrp="1"/>
              </p:cNvSpPr>
              <p:nvPr>
                <p:ph type="body" idx="1"/>
              </p:nvPr>
            </p:nvSpPr>
            <p:spPr/>
            <p:txBody>
              <a:bodyPr/>
              <a:lstStyle/>
              <a:p>
                <a:r>
                  <a:rPr lang="en-US" b="1" dirty="0"/>
                  <a:t>FD Example</a:t>
                </a:r>
              </a:p>
              <a:p>
                <a:r>
                  <a:rPr lang="en-US" b="1" dirty="0"/>
                  <a:t>Student Table</a:t>
                </a:r>
              </a:p>
              <a:p>
                <a:r>
                  <a:rPr lang="en-US" dirty="0"/>
                  <a:t>Roll_NoNameAddress101RamKathmandu102SitaPokhara</a:t>
                </a:r>
              </a:p>
              <a:p>
                <a:r>
                  <a:rPr lang="en-US" dirty="0"/>
                  <a:t>Since </a:t>
                </a:r>
                <a:r>
                  <a:rPr lang="en-US" dirty="0" err="1"/>
                  <a:t>Roll_No</a:t>
                </a:r>
                <a:r>
                  <a:rPr lang="en-US" dirty="0"/>
                  <a:t> uniquely identifies students:</a:t>
                </a:r>
              </a:p>
              <a:p>
                <a:r>
                  <a:rPr lang="en-US" sz="1200" i="0" kern="1200">
                    <a:solidFill>
                      <a:schemeClr val="tx1"/>
                    </a:solidFill>
                    <a:latin typeface="+mn-lt"/>
                    <a:ea typeface="+mn-ea"/>
                    <a:cs typeface="+mn-cs"/>
                  </a:rPr>
                  <a:t>𝑅𝑜𝑙𝑙\_𝑁𝑜→𝑁𝑎𝑚𝑒,𝐴𝑑𝑑𝑟𝑒𝑠𝑠</a:t>
                </a:r>
                <a:endParaRPr lang="en-US" dirty="0"/>
              </a:p>
              <a:p>
                <a:r>
                  <a:rPr lang="en-US" dirty="0" err="1"/>
                  <a:t>Roll_No</a:t>
                </a:r>
                <a:r>
                  <a:rPr lang="en-US" dirty="0"/>
                  <a:t> determines Name and Address.</a:t>
                </a:r>
              </a:p>
              <a:p>
                <a:br>
                  <a:rPr lang="en-US" dirty="0"/>
                </a:br>
                <a:endParaRPr lang="en-US" dirty="0"/>
              </a:p>
              <a:p>
                <a:r>
                  <a:rPr lang="en-US" b="1" dirty="0"/>
                  <a:t>Types of Functional Dependencies</a:t>
                </a:r>
              </a:p>
              <a:p>
                <a:r>
                  <a:rPr lang="en-US" b="1" dirty="0"/>
                  <a:t>1. Trivial Dependency</a:t>
                </a:r>
              </a:p>
              <a:p>
                <a:r>
                  <a:rPr lang="en-US" sz="1200" i="0" kern="1200">
                    <a:solidFill>
                      <a:schemeClr val="tx1"/>
                    </a:solidFill>
                    <a:latin typeface="+mn-lt"/>
                    <a:ea typeface="+mn-ea"/>
                    <a:cs typeface="+mn-cs"/>
                  </a:rPr>
                  <a:t>𝐴,𝐵→𝐴</a:t>
                </a:r>
                <a:endParaRPr lang="en-US" dirty="0"/>
              </a:p>
              <a:p>
                <a:r>
                  <a:rPr lang="en-US" dirty="0"/>
                  <a:t>Since A is part of left side.</a:t>
                </a:r>
              </a:p>
              <a:p>
                <a:r>
                  <a:rPr lang="en-US" b="1" dirty="0"/>
                  <a:t>Example</a:t>
                </a:r>
              </a:p>
              <a:p>
                <a:r>
                  <a:rPr lang="ar-AE" sz="1200" i="0" kern="1200">
                    <a:solidFill>
                      <a:schemeClr val="tx1"/>
                    </a:solidFill>
                    <a:latin typeface="+mn-lt"/>
                    <a:ea typeface="+mn-ea"/>
                    <a:cs typeface="+mn-cs"/>
                  </a:rPr>
                  <a:t>(𝑅ⓜ,𝑜𝑙𝑙𝑁𝑜𝑁𝑎𝑚𝑒)→𝑁𝑎𝑚𝑒</a:t>
                </a:r>
                <a:endParaRPr lang="ar-AE" dirty="0"/>
              </a:p>
              <a:p>
                <a:br>
                  <a:rPr lang="ar-AE" dirty="0"/>
                </a:br>
                <a:endParaRPr lang="ar-AE" dirty="0"/>
              </a:p>
              <a:p>
                <a:r>
                  <a:rPr lang="en-US" b="1" dirty="0"/>
                  <a:t>Non-Trivial Dependency</a:t>
                </a:r>
              </a:p>
              <a:p>
                <a:r>
                  <a:rPr lang="en-US" dirty="0"/>
                  <a:t>Dependency where:</a:t>
                </a:r>
              </a:p>
              <a:p>
                <a:r>
                  <a:rPr lang="en-US" sz="1200" i="0" kern="1200">
                    <a:solidFill>
                      <a:schemeClr val="tx1"/>
                    </a:solidFill>
                    <a:latin typeface="+mn-lt"/>
                    <a:ea typeface="+mn-ea"/>
                    <a:cs typeface="+mn-cs"/>
                  </a:rPr>
                  <a:t>𝑌⊈𝑋</a:t>
                </a:r>
                <a:endParaRPr lang="en-US" dirty="0"/>
              </a:p>
              <a:p>
                <a:r>
                  <a:rPr lang="en-US" dirty="0"/>
                  <a:t>Example:</a:t>
                </a:r>
              </a:p>
              <a:p>
                <a:r>
                  <a:rPr lang="en-US" sz="1200" i="0" kern="1200">
                    <a:solidFill>
                      <a:schemeClr val="tx1"/>
                    </a:solidFill>
                    <a:latin typeface="+mn-lt"/>
                    <a:ea typeface="+mn-ea"/>
                    <a:cs typeface="+mn-cs"/>
                  </a:rPr>
                  <a:t>𝑅𝑜𝑙𝑙𝑁𝑜→𝑁𝑎𝑚𝑒</a:t>
                </a:r>
                <a:endParaRPr lang="en-US" dirty="0"/>
              </a:p>
              <a:p>
                <a:r>
                  <a:rPr lang="en-US" dirty="0"/>
                  <a:t>Name is not part of </a:t>
                </a:r>
                <a:r>
                  <a:rPr lang="en-US" dirty="0" err="1"/>
                  <a:t>RollNo</a:t>
                </a:r>
                <a:r>
                  <a:rPr lang="en-US" dirty="0"/>
                  <a:t>.</a:t>
                </a:r>
              </a:p>
              <a:p>
                <a:br>
                  <a:rPr lang="en-US" dirty="0"/>
                </a:br>
                <a:endParaRPr lang="en-US" dirty="0"/>
              </a:p>
              <a:p>
                <a:r>
                  <a:rPr lang="en-US" b="1" dirty="0"/>
                  <a:t>Fully Functional Dependency</a:t>
                </a:r>
              </a:p>
              <a:p>
                <a:r>
                  <a:rPr lang="en-US" dirty="0"/>
                  <a:t>Attribute depends on the whole key.</a:t>
                </a:r>
              </a:p>
              <a:p>
                <a:r>
                  <a:rPr lang="en-US" dirty="0"/>
                  <a:t>Example:</a:t>
                </a:r>
              </a:p>
              <a:p>
                <a:r>
                  <a:rPr lang="ar-AE" sz="1200" i="0" kern="1200">
                    <a:solidFill>
                      <a:schemeClr val="tx1"/>
                    </a:solidFill>
                    <a:latin typeface="+mn-lt"/>
                    <a:ea typeface="+mn-ea"/>
                    <a:cs typeface="+mn-cs"/>
                  </a:rPr>
                  <a:t>(𝑆ⓜ,𝑡𝑢𝑑𝑒𝑛𝑡𝐼𝐷𝐶𝑜𝑢𝑟𝑠𝑒𝐼𝐷)→𝐺𝑟𝑎𝑑𝑒</a:t>
                </a:r>
                <a:endParaRPr lang="ar-AE" dirty="0"/>
              </a:p>
              <a:p>
                <a:r>
                  <a:rPr lang="en-US" dirty="0"/>
                  <a:t>Grade depends on both attributes.</a:t>
                </a:r>
              </a:p>
              <a:p>
                <a:br>
                  <a:rPr lang="en-US" dirty="0"/>
                </a:br>
                <a:r>
                  <a:rPr lang="en-US" b="1" dirty="0"/>
                  <a:t>Partial Dependency</a:t>
                </a:r>
              </a:p>
              <a:p>
                <a:r>
                  <a:rPr lang="en-US" dirty="0"/>
                  <a:t>Attribute depends on part of a composite key.</a:t>
                </a:r>
              </a:p>
              <a:p>
                <a:r>
                  <a:rPr lang="en-US" dirty="0"/>
                  <a:t>Example:</a:t>
                </a:r>
              </a:p>
              <a:p>
                <a:r>
                  <a:rPr lang="ar-AE" sz="1200" i="0" kern="1200">
                    <a:solidFill>
                      <a:schemeClr val="tx1"/>
                    </a:solidFill>
                    <a:latin typeface="+mn-lt"/>
                    <a:ea typeface="+mn-ea"/>
                    <a:cs typeface="+mn-cs"/>
                  </a:rPr>
                  <a:t>(𝑆ⓜ,𝑡𝑢𝑑𝑒𝑛𝑡𝐼𝐷𝐶𝑜𝑢𝑟𝑠𝑒𝐼𝐷)→𝑆𝑡𝑢𝑑𝑒𝑛𝑡𝑁𝑎𝑚𝑒</a:t>
                </a:r>
                <a:endParaRPr lang="ar-AE" dirty="0"/>
              </a:p>
              <a:p>
                <a:r>
                  <a:rPr lang="en-US" dirty="0" err="1"/>
                  <a:t>StudentName</a:t>
                </a:r>
                <a:r>
                  <a:rPr lang="en-US" dirty="0"/>
                  <a:t> depends only on StudentID.</a:t>
                </a:r>
              </a:p>
              <a:p>
                <a:r>
                  <a:rPr lang="en-US" dirty="0"/>
                  <a:t>This leads to redundancy.</a:t>
                </a:r>
              </a:p>
              <a:p>
                <a:br>
                  <a:rPr lang="en-US" dirty="0"/>
                </a:br>
                <a:endParaRPr lang="en-US" dirty="0"/>
              </a:p>
              <a:p>
                <a:r>
                  <a:rPr lang="en-US" b="1" dirty="0"/>
                  <a:t>Transitive Dependency</a:t>
                </a:r>
              </a:p>
              <a:p>
                <a:r>
                  <a:rPr lang="en-US" dirty="0"/>
                  <a:t>When:</a:t>
                </a:r>
              </a:p>
              <a:p>
                <a:r>
                  <a:rPr lang="en-US" sz="1200" i="0" kern="1200">
                    <a:solidFill>
                      <a:schemeClr val="tx1"/>
                    </a:solidFill>
                    <a:latin typeface="+mn-lt"/>
                    <a:ea typeface="+mn-ea"/>
                    <a:cs typeface="+mn-cs"/>
                  </a:rPr>
                  <a:t>𝐴→𝐵</a:t>
                </a:r>
                <a:endParaRPr lang="en-US" dirty="0"/>
              </a:p>
              <a:p>
                <a:r>
                  <a:rPr lang="en-US" dirty="0"/>
                  <a:t>and</a:t>
                </a:r>
              </a:p>
              <a:p>
                <a:r>
                  <a:rPr lang="en-US" sz="1200" i="0" kern="1200">
                    <a:solidFill>
                      <a:schemeClr val="tx1"/>
                    </a:solidFill>
                    <a:latin typeface="+mn-lt"/>
                    <a:ea typeface="+mn-ea"/>
                    <a:cs typeface="+mn-cs"/>
                  </a:rPr>
                  <a:t>𝐵→𝐶</a:t>
                </a:r>
                <a:endParaRPr lang="en-US" dirty="0"/>
              </a:p>
              <a:p>
                <a:r>
                  <a:rPr lang="en-US" dirty="0"/>
                  <a:t>then</a:t>
                </a:r>
              </a:p>
              <a:p>
                <a:r>
                  <a:rPr lang="en-US" sz="1200" i="0" kern="1200">
                    <a:solidFill>
                      <a:schemeClr val="tx1"/>
                    </a:solidFill>
                    <a:latin typeface="+mn-lt"/>
                    <a:ea typeface="+mn-ea"/>
                    <a:cs typeface="+mn-cs"/>
                  </a:rPr>
                  <a:t>𝐴→𝐶</a:t>
                </a:r>
                <a:endParaRPr lang="en-US" dirty="0"/>
              </a:p>
              <a:p>
                <a:r>
                  <a:rPr lang="en-US" dirty="0"/>
                  <a:t>Example:</a:t>
                </a:r>
              </a:p>
              <a:p>
                <a:r>
                  <a:rPr lang="en-US" sz="1200" i="0" kern="1200">
                    <a:solidFill>
                      <a:schemeClr val="tx1"/>
                    </a:solidFill>
                    <a:latin typeface="+mn-lt"/>
                    <a:ea typeface="+mn-ea"/>
                    <a:cs typeface="+mn-cs"/>
                  </a:rPr>
                  <a:t>𝑆𝑡𝑢𝑑𝑒𝑛𝑡𝐼𝐷→𝐷𝑒𝑝𝑡𝐼𝐷</a:t>
                </a:r>
                <a:endParaRPr lang="en-US" dirty="0"/>
              </a:p>
              <a:p>
                <a:r>
                  <a:rPr lang="en-US" sz="1200" i="0" kern="1200">
                    <a:solidFill>
                      <a:schemeClr val="tx1"/>
                    </a:solidFill>
                    <a:latin typeface="+mn-lt"/>
                    <a:ea typeface="+mn-ea"/>
                    <a:cs typeface="+mn-cs"/>
                  </a:rPr>
                  <a:t>𝐷𝑒𝑝𝑡𝐼𝐷→𝐷𝑒𝑝𝑡𝑁𝑎𝑚𝑒</a:t>
                </a:r>
                <a:endParaRPr lang="en-US" dirty="0"/>
              </a:p>
              <a:p>
                <a:r>
                  <a:rPr lang="en-US" dirty="0"/>
                  <a:t>Therefore:</a:t>
                </a:r>
              </a:p>
              <a:p>
                <a:r>
                  <a:rPr lang="en-US" sz="1200" i="0" kern="1200">
                    <a:solidFill>
                      <a:schemeClr val="tx1"/>
                    </a:solidFill>
                    <a:latin typeface="+mn-lt"/>
                    <a:ea typeface="+mn-ea"/>
                    <a:cs typeface="+mn-cs"/>
                  </a:rPr>
                  <a:t>𝑆𝑡𝑢𝑑𝑒𝑛𝑡𝐼𝐷→𝐷𝑒𝑝𝑡𝑁𝑎𝑚𝑒</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32</a:t>
            </a:fld>
            <a:endParaRPr lang="en-US"/>
          </a:p>
        </p:txBody>
      </p:sp>
    </p:spTree>
    <p:extLst>
      <p:ext uri="{BB962C8B-B14F-4D97-AF65-F5344CB8AC3E}">
        <p14:creationId xmlns:p14="http://schemas.microsoft.com/office/powerpoint/2010/main" val="14670118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Example 2</a:t>
            </a:r>
          </a:p>
          <a:p>
            <a:r>
              <a:rPr lang="en-US" dirty="0"/>
              <a:t>Consider:</a:t>
            </a:r>
          </a:p>
          <a:p>
            <a:r>
              <a:rPr lang="en-US" b="1" dirty="0"/>
              <a:t>(</a:t>
            </a:r>
            <a:r>
              <a:rPr lang="en-US" b="1" dirty="0" err="1"/>
              <a:t>Student_ID</a:t>
            </a:r>
            <a:r>
              <a:rPr lang="en-US" b="1" dirty="0"/>
              <a:t>, </a:t>
            </a:r>
            <a:r>
              <a:rPr lang="en-US" b="1" dirty="0" err="1"/>
              <a:t>Subject_ID</a:t>
            </a:r>
            <a:r>
              <a:rPr lang="en-US" b="1" dirty="0"/>
              <a:t>) → </a:t>
            </a:r>
            <a:r>
              <a:rPr lang="en-US" b="1" dirty="0" err="1"/>
              <a:t>Student_ID</a:t>
            </a:r>
            <a:endParaRPr lang="en-US" dirty="0"/>
          </a:p>
          <a:p>
            <a:r>
              <a:rPr lang="en-US" dirty="0"/>
              <a:t>LHS = {</a:t>
            </a:r>
            <a:r>
              <a:rPr lang="en-US" dirty="0" err="1"/>
              <a:t>Student_ID</a:t>
            </a:r>
            <a:r>
              <a:rPr lang="en-US" dirty="0"/>
              <a:t>, </a:t>
            </a:r>
            <a:r>
              <a:rPr lang="en-US" dirty="0" err="1"/>
              <a:t>Subject_ID</a:t>
            </a:r>
            <a:r>
              <a:rPr lang="en-US" dirty="0"/>
              <a:t>} </a:t>
            </a:r>
          </a:p>
          <a:p>
            <a:r>
              <a:rPr lang="en-US" dirty="0"/>
              <a:t>RHS = {</a:t>
            </a:r>
            <a:r>
              <a:rPr lang="en-US" dirty="0" err="1"/>
              <a:t>Student_ID</a:t>
            </a:r>
            <a:r>
              <a:rPr lang="en-US" dirty="0"/>
              <a:t>} </a:t>
            </a:r>
          </a:p>
          <a:p>
            <a:r>
              <a:rPr lang="en-US" dirty="0"/>
              <a:t>Since </a:t>
            </a:r>
            <a:r>
              <a:rPr lang="en-US" dirty="0" err="1"/>
              <a:t>Student_ID</a:t>
            </a:r>
            <a:r>
              <a:rPr lang="en-US" dirty="0"/>
              <a:t> already exists on the left side, it is a trivial dependency.</a:t>
            </a:r>
          </a:p>
          <a:p>
            <a:br>
              <a:rPr lang="en-US" dirty="0"/>
            </a:br>
            <a:endParaRPr lang="en-US" dirty="0"/>
          </a:p>
          <a:p>
            <a:r>
              <a:rPr lang="en-US" b="1" dirty="0"/>
              <a:t>Example 3</a:t>
            </a:r>
          </a:p>
          <a:p>
            <a:r>
              <a:rPr lang="en-US" b="1" dirty="0"/>
              <a:t>(A, B, C) → (A, C)</a:t>
            </a:r>
            <a:endParaRPr lang="en-US" dirty="0"/>
          </a:p>
          <a:p>
            <a:r>
              <a:rPr lang="en-US" dirty="0"/>
              <a:t>RHS = {A, C} </a:t>
            </a:r>
          </a:p>
          <a:p>
            <a:r>
              <a:rPr lang="en-US" dirty="0"/>
              <a:t>RHS is completely contained in LHS </a:t>
            </a:r>
          </a:p>
          <a:p>
            <a:r>
              <a:rPr lang="en-US" dirty="0"/>
              <a:t>Therefore it is a trivial dependency.</a:t>
            </a:r>
          </a:p>
          <a:p>
            <a:br>
              <a:rPr lang="en-US" dirty="0"/>
            </a:br>
            <a:endParaRPr lang="en-US" dirty="0"/>
          </a:p>
          <a:p>
            <a:r>
              <a:rPr lang="en-US" b="1" dirty="0"/>
              <a:t>Why Is It Called "Trivial"?</a:t>
            </a:r>
          </a:p>
          <a:p>
            <a:r>
              <a:rPr lang="en-US" dirty="0"/>
              <a:t>Because it is always true by definition.</a:t>
            </a:r>
          </a:p>
          <a:p>
            <a:r>
              <a:rPr lang="en-US" dirty="0"/>
              <a:t>If you already know:</a:t>
            </a:r>
          </a:p>
          <a:p>
            <a:r>
              <a:rPr lang="en-US" dirty="0" err="1"/>
              <a:t>Roll_No</a:t>
            </a:r>
            <a:r>
              <a:rPr lang="en-US" dirty="0"/>
              <a:t> = 101 </a:t>
            </a:r>
          </a:p>
          <a:p>
            <a:r>
              <a:rPr lang="en-US" dirty="0"/>
              <a:t>Name = Ram </a:t>
            </a:r>
          </a:p>
          <a:p>
            <a:r>
              <a:rPr lang="en-US" dirty="0"/>
              <a:t>Then asking for </a:t>
            </a:r>
            <a:r>
              <a:rPr lang="en-US" b="1" dirty="0"/>
              <a:t>Name</a:t>
            </a:r>
            <a:r>
              <a:rPr lang="en-US" dirty="0"/>
              <a:t> from </a:t>
            </a:r>
            <a:r>
              <a:rPr lang="en-US" b="1" dirty="0"/>
              <a:t>(</a:t>
            </a:r>
            <a:r>
              <a:rPr lang="en-US" b="1" dirty="0" err="1"/>
              <a:t>Roll_No</a:t>
            </a:r>
            <a:r>
              <a:rPr lang="en-US" b="1" dirty="0"/>
              <a:t>, Name)</a:t>
            </a:r>
            <a:r>
              <a:rPr lang="en-US" dirty="0"/>
              <a:t> doesn't provide any new information.</a:t>
            </a:r>
          </a:p>
        </p:txBody>
      </p:sp>
      <p:sp>
        <p:nvSpPr>
          <p:cNvPr id="4" name="Slide Number Placeholder 3"/>
          <p:cNvSpPr>
            <a:spLocks noGrp="1"/>
          </p:cNvSpPr>
          <p:nvPr>
            <p:ph type="sldNum" sz="quarter" idx="5"/>
          </p:nvPr>
        </p:nvSpPr>
        <p:spPr/>
        <p:txBody>
          <a:bodyPr/>
          <a:lstStyle/>
          <a:p>
            <a:fld id="{532ED260-D111-491D-AB9F-FC8569A2A916}" type="slidenum">
              <a:rPr lang="en-US" smtClean="0"/>
              <a:t>34</a:t>
            </a:fld>
            <a:endParaRPr lang="en-US"/>
          </a:p>
        </p:txBody>
      </p:sp>
    </p:spTree>
    <p:extLst>
      <p:ext uri="{BB962C8B-B14F-4D97-AF65-F5344CB8AC3E}">
        <p14:creationId xmlns:p14="http://schemas.microsoft.com/office/powerpoint/2010/main" val="15967550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b="1" dirty="0"/>
                  <a:t>Example 2</a:t>
                </a:r>
              </a:p>
              <a:p>
                <a:r>
                  <a:rPr lang="en-US" b="1" dirty="0" err="1"/>
                  <a:t>Student_ID</a:t>
                </a:r>
                <a:r>
                  <a:rPr lang="en-US" b="1" dirty="0"/>
                  <a:t> → Department</a:t>
                </a:r>
                <a:endParaRPr lang="en-US" dirty="0"/>
              </a:p>
              <a:p>
                <a:r>
                  <a:rPr lang="en-US" dirty="0"/>
                  <a:t>LHS = {</a:t>
                </a:r>
                <a:r>
                  <a:rPr lang="en-US" dirty="0" err="1"/>
                  <a:t>Student_ID</a:t>
                </a:r>
                <a:r>
                  <a:rPr lang="en-US" dirty="0"/>
                  <a:t>} </a:t>
                </a:r>
              </a:p>
              <a:p>
                <a:r>
                  <a:rPr lang="en-US" dirty="0"/>
                  <a:t>RHS = {Department} </a:t>
                </a:r>
              </a:p>
              <a:p>
                <a:r>
                  <a:rPr lang="en-US" dirty="0"/>
                  <a:t>Since Department is not included in the LHS, it is non-trivial.</a:t>
                </a:r>
              </a:p>
              <a:p>
                <a:br>
                  <a:rPr lang="en-US" dirty="0"/>
                </a:br>
                <a:endParaRPr lang="en-US" dirty="0"/>
              </a:p>
              <a:p>
                <a:r>
                  <a:rPr lang="en-US" b="1" dirty="0"/>
                  <a:t>Example 3</a:t>
                </a:r>
              </a:p>
              <a:p>
                <a:r>
                  <a:rPr lang="en-US" dirty="0"/>
                  <a:t>Consider:</a:t>
                </a:r>
              </a:p>
              <a:p>
                <a:r>
                  <a:rPr lang="en-US" dirty="0" err="1"/>
                  <a:t>Emp_ID</a:t>
                </a:r>
                <a:r>
                  <a:rPr lang="en-US" dirty="0"/>
                  <a:t>	</a:t>
                </a:r>
                <a:r>
                  <a:rPr lang="en-US" dirty="0" err="1"/>
                  <a:t>Emp_Name</a:t>
                </a:r>
                <a:r>
                  <a:rPr lang="en-US" dirty="0"/>
                  <a:t>	Salary</a:t>
                </a:r>
              </a:p>
              <a:p>
                <a:r>
                  <a:rPr lang="en-US" dirty="0"/>
                  <a:t>E101	Hari	50000</a:t>
                </a:r>
              </a:p>
              <a:p>
                <a:r>
                  <a:rPr lang="en-US" dirty="0"/>
                  <a:t>E102	Sita	60000</a:t>
                </a:r>
              </a:p>
              <a:p>
                <a:r>
                  <a:rPr lang="en-US" dirty="0"/>
                  <a:t>Functional Dependencies:</a:t>
                </a:r>
              </a:p>
              <a:p>
                <a:r>
                  <a:rPr lang="en-US" dirty="0" err="1"/>
                  <a:t>Emp_ID</a:t>
                </a:r>
                <a:r>
                  <a:rPr lang="en-US" dirty="0"/>
                  <a:t> → </a:t>
                </a:r>
                <a:r>
                  <a:rPr lang="en-US" dirty="0" err="1"/>
                  <a:t>Emp_Name</a:t>
                </a:r>
                <a:r>
                  <a:rPr lang="en-US" dirty="0"/>
                  <a:t> </a:t>
                </a:r>
              </a:p>
              <a:p>
                <a:r>
                  <a:rPr lang="en-US" dirty="0" err="1"/>
                  <a:t>Emp_ID</a:t>
                </a:r>
                <a:r>
                  <a:rPr lang="en-US" dirty="0"/>
                  <a:t> → Salary </a:t>
                </a:r>
              </a:p>
              <a:p>
                <a:r>
                  <a:rPr lang="en-US" dirty="0"/>
                  <a:t>Both are non-trivial because </a:t>
                </a:r>
                <a:r>
                  <a:rPr lang="en-US" dirty="0" err="1"/>
                  <a:t>Emp_Name</a:t>
                </a:r>
                <a:r>
                  <a:rPr lang="en-US" dirty="0"/>
                  <a:t> and Salary are not part of </a:t>
                </a:r>
                <a:r>
                  <a:rPr lang="en-US" dirty="0" err="1"/>
                  <a:t>Emp_ID</a:t>
                </a:r>
                <a:r>
                  <a:rPr lang="en-US" dirty="0"/>
                  <a:t>.</a:t>
                </a:r>
              </a:p>
              <a:p>
                <a:br>
                  <a:rPr lang="en-US" dirty="0"/>
                </a:br>
                <a:endParaRPr lang="en-US" dirty="0"/>
              </a:p>
              <a:p>
                <a:r>
                  <a:rPr lang="en-US" dirty="0"/>
                  <a:t>Suppose:</a:t>
                </a:r>
              </a:p>
              <a:p>
                <a:r>
                  <a:rPr lang="en-US" dirty="0"/>
                  <a:t>"Knowing a student's Roll Number allows you to determine the student's Name."</a:t>
                </a:r>
              </a:p>
              <a:p>
                <a:r>
                  <a:rPr lang="en-US" b="1" dirty="0" err="1"/>
                  <a:t>Roll_No</a:t>
                </a:r>
                <a:r>
                  <a:rPr lang="en-US" b="1" dirty="0"/>
                  <a:t> → Name</a:t>
                </a:r>
                <a:endParaRPr lang="en-US" dirty="0"/>
              </a:p>
              <a:p>
                <a:r>
                  <a:rPr lang="en-US" dirty="0"/>
                  <a:t>This is non-trivial because Name is new information obtained from </a:t>
                </a:r>
                <a:r>
                  <a:rPr lang="en-US" dirty="0" err="1"/>
                  <a:t>Roll_No</a:t>
                </a:r>
                <a:r>
                  <a:rPr lang="en-US" dirty="0"/>
                  <a:t>.</a:t>
                </a:r>
              </a:p>
              <a:p>
                <a:r>
                  <a:rPr lang="en-US" dirty="0"/>
                  <a:t>Compare with:</a:t>
                </a:r>
              </a:p>
              <a:p>
                <a:r>
                  <a:rPr lang="en-US" dirty="0"/>
                  <a:t>"Knowing Roll Number and Name allows you to know Name."</a:t>
                </a:r>
              </a:p>
              <a:p>
                <a:r>
                  <a:rPr lang="en-US" b="1" dirty="0"/>
                  <a:t>(</a:t>
                </a:r>
                <a:r>
                  <a:rPr lang="en-US" b="1" dirty="0" err="1"/>
                  <a:t>Roll_No</a:t>
                </a:r>
                <a:r>
                  <a:rPr lang="en-US" b="1" dirty="0"/>
                  <a:t>, Name) → Name</a:t>
                </a:r>
                <a:endParaRPr lang="en-US" dirty="0"/>
              </a:p>
              <a:p>
                <a:r>
                  <a:rPr lang="en-US" dirty="0"/>
                  <a:t>This is trivial because Name was already known.</a:t>
                </a:r>
              </a:p>
              <a:p>
                <a:endParaRPr lang="en-US" dirty="0"/>
              </a:p>
              <a:p>
                <a:endParaRPr lang="en-US" dirty="0"/>
              </a:p>
              <a:p>
                <a:endParaRPr lang="en-US" dirty="0"/>
              </a:p>
              <a:p>
                <a:r>
                  <a:rPr lang="en-US" b="1" dirty="0"/>
                  <a:t>Completely Non-Trivial Functional Dependency</a:t>
                </a:r>
              </a:p>
              <a:p>
                <a:r>
                  <a:rPr lang="en-US" dirty="0"/>
                  <a:t>A stronger form is </a:t>
                </a:r>
                <a:r>
                  <a:rPr lang="en-US" b="1" dirty="0"/>
                  <a:t>completely non-trivial dependency</a:t>
                </a:r>
                <a:r>
                  <a:rPr lang="en-US" dirty="0"/>
                  <a:t>.</a:t>
                </a:r>
              </a:p>
              <a:p>
                <a:r>
                  <a:rPr lang="en-US" dirty="0"/>
                  <a:t>A dependency </a:t>
                </a:r>
                <a:r>
                  <a:rPr lang="en-US" b="1" dirty="0"/>
                  <a:t>X → Y</a:t>
                </a:r>
                <a:r>
                  <a:rPr lang="en-US" dirty="0"/>
                  <a:t> is completely non-trivial if:</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𝑋</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𝑌</m:t>
                      </m:r>
                      <m:r>
                        <a:rPr lang="en-US" sz="1200" i="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m:t>
                      </m:r>
                    </m:oMath>
                  </m:oMathPara>
                </a14:m>
                <a:endParaRPr lang="en-US" dirty="0"/>
              </a:p>
              <a:p>
                <a:r>
                  <a:rPr lang="en-US" dirty="0"/>
                  <a:t>That means the LHS and RHS share </a:t>
                </a:r>
                <a:r>
                  <a:rPr lang="en-US" b="1" dirty="0"/>
                  <a:t>no common attributes</a:t>
                </a:r>
                <a:r>
                  <a:rPr lang="en-US" dirty="0"/>
                  <a:t>.</a:t>
                </a:r>
              </a:p>
              <a:p>
                <a:r>
                  <a:rPr lang="en-US" b="1" dirty="0"/>
                  <a:t>Example</a:t>
                </a:r>
              </a:p>
              <a:p>
                <a:r>
                  <a:rPr lang="en-US" b="1" dirty="0" err="1"/>
                  <a:t>Student_ID</a:t>
                </a:r>
                <a:r>
                  <a:rPr lang="en-US" b="1" dirty="0"/>
                  <a:t> → Name</a:t>
                </a:r>
                <a:endParaRPr lang="en-US" dirty="0"/>
              </a:p>
              <a:p>
                <a:r>
                  <a:rPr lang="en-US" dirty="0"/>
                  <a:t>X = {</a:t>
                </a:r>
                <a:r>
                  <a:rPr lang="en-US" dirty="0" err="1"/>
                  <a:t>Student_ID</a:t>
                </a:r>
                <a:r>
                  <a:rPr lang="en-US" dirty="0"/>
                  <a:t>} </a:t>
                </a:r>
              </a:p>
              <a:p>
                <a:r>
                  <a:rPr lang="en-US" dirty="0"/>
                  <a:t>Y = {Name} </a:t>
                </a:r>
              </a:p>
              <a:p>
                <a:r>
                  <a:rPr lang="en-US" dirty="0"/>
                  <a:t>No common attribute </a:t>
                </a:r>
              </a:p>
              <a:p>
                <a:r>
                  <a:rPr lang="en-US" dirty="0"/>
                  <a:t>Hence it is </a:t>
                </a:r>
                <a:r>
                  <a:rPr lang="en-US" b="1" dirty="0"/>
                  <a:t>completely non-trivial</a:t>
                </a:r>
                <a:r>
                  <a:rPr lang="en-US" dirty="0"/>
                  <a:t>.</a:t>
                </a:r>
              </a:p>
              <a:p>
                <a:endParaRPr lang="en-US" dirty="0"/>
              </a:p>
            </p:txBody>
          </p:sp>
        </mc:Choice>
        <mc:Fallback xmlns="">
          <p:sp>
            <p:nvSpPr>
              <p:cNvPr id="3" name="Notes Placeholder 2"/>
              <p:cNvSpPr>
                <a:spLocks noGrp="1"/>
              </p:cNvSpPr>
              <p:nvPr>
                <p:ph type="body" idx="1"/>
              </p:nvPr>
            </p:nvSpPr>
            <p:spPr/>
            <p:txBody>
              <a:bodyPr/>
              <a:lstStyle/>
              <a:p>
                <a:r>
                  <a:rPr lang="en-US" b="1" dirty="0"/>
                  <a:t>Example 2</a:t>
                </a:r>
              </a:p>
              <a:p>
                <a:r>
                  <a:rPr lang="en-US" b="1" dirty="0" err="1"/>
                  <a:t>Student_ID</a:t>
                </a:r>
                <a:r>
                  <a:rPr lang="en-US" b="1" dirty="0"/>
                  <a:t> → Department</a:t>
                </a:r>
                <a:endParaRPr lang="en-US" dirty="0"/>
              </a:p>
              <a:p>
                <a:r>
                  <a:rPr lang="en-US" dirty="0"/>
                  <a:t>LHS = {</a:t>
                </a:r>
                <a:r>
                  <a:rPr lang="en-US" dirty="0" err="1"/>
                  <a:t>Student_ID</a:t>
                </a:r>
                <a:r>
                  <a:rPr lang="en-US" dirty="0"/>
                  <a:t>} </a:t>
                </a:r>
              </a:p>
              <a:p>
                <a:r>
                  <a:rPr lang="en-US" dirty="0"/>
                  <a:t>RHS = {Department} </a:t>
                </a:r>
              </a:p>
              <a:p>
                <a:r>
                  <a:rPr lang="en-US" dirty="0"/>
                  <a:t>Since Department is not included in the LHS, it is non-trivial.</a:t>
                </a:r>
              </a:p>
              <a:p>
                <a:br>
                  <a:rPr lang="en-US" dirty="0"/>
                </a:br>
                <a:endParaRPr lang="en-US" dirty="0"/>
              </a:p>
              <a:p>
                <a:r>
                  <a:rPr lang="en-US" b="1" dirty="0"/>
                  <a:t>Example 3</a:t>
                </a:r>
              </a:p>
              <a:p>
                <a:r>
                  <a:rPr lang="en-US" dirty="0"/>
                  <a:t>Consider:</a:t>
                </a:r>
              </a:p>
              <a:p>
                <a:r>
                  <a:rPr lang="en-US" dirty="0" err="1"/>
                  <a:t>Emp_ID</a:t>
                </a:r>
                <a:r>
                  <a:rPr lang="en-US" dirty="0"/>
                  <a:t>	</a:t>
                </a:r>
                <a:r>
                  <a:rPr lang="en-US" dirty="0" err="1"/>
                  <a:t>Emp_Name</a:t>
                </a:r>
                <a:r>
                  <a:rPr lang="en-US" dirty="0"/>
                  <a:t>	Salary</a:t>
                </a:r>
              </a:p>
              <a:p>
                <a:r>
                  <a:rPr lang="en-US" dirty="0"/>
                  <a:t>E101	Hari	50000</a:t>
                </a:r>
              </a:p>
              <a:p>
                <a:r>
                  <a:rPr lang="en-US" dirty="0"/>
                  <a:t>E102	Sita	60000</a:t>
                </a:r>
              </a:p>
              <a:p>
                <a:r>
                  <a:rPr lang="en-US" dirty="0"/>
                  <a:t>Functional Dependencies:</a:t>
                </a:r>
              </a:p>
              <a:p>
                <a:r>
                  <a:rPr lang="en-US" dirty="0" err="1"/>
                  <a:t>Emp_ID</a:t>
                </a:r>
                <a:r>
                  <a:rPr lang="en-US" dirty="0"/>
                  <a:t> → </a:t>
                </a:r>
                <a:r>
                  <a:rPr lang="en-US" dirty="0" err="1"/>
                  <a:t>Emp_Name</a:t>
                </a:r>
                <a:r>
                  <a:rPr lang="en-US" dirty="0"/>
                  <a:t> </a:t>
                </a:r>
              </a:p>
              <a:p>
                <a:r>
                  <a:rPr lang="en-US" dirty="0" err="1"/>
                  <a:t>Emp_ID</a:t>
                </a:r>
                <a:r>
                  <a:rPr lang="en-US" dirty="0"/>
                  <a:t> → Salary </a:t>
                </a:r>
              </a:p>
              <a:p>
                <a:r>
                  <a:rPr lang="en-US" dirty="0"/>
                  <a:t>Both are non-trivial because </a:t>
                </a:r>
                <a:r>
                  <a:rPr lang="en-US" dirty="0" err="1"/>
                  <a:t>Emp_Name</a:t>
                </a:r>
                <a:r>
                  <a:rPr lang="en-US" dirty="0"/>
                  <a:t> and Salary are not part of </a:t>
                </a:r>
                <a:r>
                  <a:rPr lang="en-US" dirty="0" err="1"/>
                  <a:t>Emp_ID</a:t>
                </a:r>
                <a:r>
                  <a:rPr lang="en-US" dirty="0"/>
                  <a:t>.</a:t>
                </a:r>
              </a:p>
              <a:p>
                <a:br>
                  <a:rPr lang="en-US" dirty="0"/>
                </a:br>
                <a:endParaRPr lang="en-US" dirty="0"/>
              </a:p>
              <a:p>
                <a:r>
                  <a:rPr lang="en-US" dirty="0"/>
                  <a:t>Suppose:</a:t>
                </a:r>
              </a:p>
              <a:p>
                <a:r>
                  <a:rPr lang="en-US" dirty="0"/>
                  <a:t>"Knowing a student's Roll Number allows you to determine the student's Name."</a:t>
                </a:r>
              </a:p>
              <a:p>
                <a:r>
                  <a:rPr lang="en-US" b="1" dirty="0" err="1"/>
                  <a:t>Roll_No</a:t>
                </a:r>
                <a:r>
                  <a:rPr lang="en-US" b="1" dirty="0"/>
                  <a:t> → Name</a:t>
                </a:r>
                <a:endParaRPr lang="en-US" dirty="0"/>
              </a:p>
              <a:p>
                <a:r>
                  <a:rPr lang="en-US" dirty="0"/>
                  <a:t>This is non-trivial because Name is new information obtained from </a:t>
                </a:r>
                <a:r>
                  <a:rPr lang="en-US" dirty="0" err="1"/>
                  <a:t>Roll_No</a:t>
                </a:r>
                <a:r>
                  <a:rPr lang="en-US" dirty="0"/>
                  <a:t>.</a:t>
                </a:r>
              </a:p>
              <a:p>
                <a:r>
                  <a:rPr lang="en-US" dirty="0"/>
                  <a:t>Compare with:</a:t>
                </a:r>
              </a:p>
              <a:p>
                <a:r>
                  <a:rPr lang="en-US" dirty="0"/>
                  <a:t>"Knowing Roll Number and Name allows you to know Name."</a:t>
                </a:r>
              </a:p>
              <a:p>
                <a:r>
                  <a:rPr lang="en-US" b="1" dirty="0"/>
                  <a:t>(</a:t>
                </a:r>
                <a:r>
                  <a:rPr lang="en-US" b="1" dirty="0" err="1"/>
                  <a:t>Roll_No</a:t>
                </a:r>
                <a:r>
                  <a:rPr lang="en-US" b="1" dirty="0"/>
                  <a:t>, Name) → Name</a:t>
                </a:r>
                <a:endParaRPr lang="en-US" dirty="0"/>
              </a:p>
              <a:p>
                <a:r>
                  <a:rPr lang="en-US" dirty="0"/>
                  <a:t>This is trivial because Name was already known.</a:t>
                </a:r>
              </a:p>
              <a:p>
                <a:endParaRPr lang="en-US" dirty="0"/>
              </a:p>
              <a:p>
                <a:endParaRPr lang="en-US" dirty="0"/>
              </a:p>
              <a:p>
                <a:endParaRPr lang="en-US" dirty="0"/>
              </a:p>
              <a:p>
                <a:r>
                  <a:rPr lang="en-US" b="1" dirty="0"/>
                  <a:t>Completely Non-Trivial Functional Dependency</a:t>
                </a:r>
              </a:p>
              <a:p>
                <a:r>
                  <a:rPr lang="en-US" dirty="0"/>
                  <a:t>A stronger form is </a:t>
                </a:r>
                <a:r>
                  <a:rPr lang="en-US" b="1" dirty="0"/>
                  <a:t>completely non-trivial dependency</a:t>
                </a:r>
                <a:r>
                  <a:rPr lang="en-US" dirty="0"/>
                  <a:t>.</a:t>
                </a:r>
              </a:p>
              <a:p>
                <a:r>
                  <a:rPr lang="en-US" dirty="0"/>
                  <a:t>A dependency </a:t>
                </a:r>
                <a:r>
                  <a:rPr lang="en-US" b="1" dirty="0"/>
                  <a:t>X → Y</a:t>
                </a:r>
                <a:r>
                  <a:rPr lang="en-US" dirty="0"/>
                  <a:t> is completely non-trivial if:</a:t>
                </a:r>
              </a:p>
              <a:p>
                <a:r>
                  <a:rPr lang="en-US" sz="1200" i="0" kern="1200">
                    <a:solidFill>
                      <a:schemeClr val="tx1"/>
                    </a:solidFill>
                    <a:latin typeface="+mn-lt"/>
                    <a:ea typeface="+mn-ea"/>
                    <a:cs typeface="+mn-cs"/>
                  </a:rPr>
                  <a:t>𝑋∩𝑌=∅</a:t>
                </a:r>
                <a:endParaRPr lang="en-US" dirty="0"/>
              </a:p>
              <a:p>
                <a:r>
                  <a:rPr lang="en-US" dirty="0"/>
                  <a:t>That means the LHS and RHS share </a:t>
                </a:r>
                <a:r>
                  <a:rPr lang="en-US" b="1" dirty="0"/>
                  <a:t>no common attributes</a:t>
                </a:r>
                <a:r>
                  <a:rPr lang="en-US" dirty="0"/>
                  <a:t>.</a:t>
                </a:r>
              </a:p>
              <a:p>
                <a:r>
                  <a:rPr lang="en-US" b="1" dirty="0"/>
                  <a:t>Example</a:t>
                </a:r>
              </a:p>
              <a:p>
                <a:r>
                  <a:rPr lang="en-US" b="1" dirty="0" err="1"/>
                  <a:t>Student_ID</a:t>
                </a:r>
                <a:r>
                  <a:rPr lang="en-US" b="1" dirty="0"/>
                  <a:t> → Name</a:t>
                </a:r>
                <a:endParaRPr lang="en-US" dirty="0"/>
              </a:p>
              <a:p>
                <a:r>
                  <a:rPr lang="en-US" dirty="0"/>
                  <a:t>X = {</a:t>
                </a:r>
                <a:r>
                  <a:rPr lang="en-US" dirty="0" err="1"/>
                  <a:t>Student_ID</a:t>
                </a:r>
                <a:r>
                  <a:rPr lang="en-US" dirty="0"/>
                  <a:t>} </a:t>
                </a:r>
              </a:p>
              <a:p>
                <a:r>
                  <a:rPr lang="en-US" dirty="0"/>
                  <a:t>Y = {Name} </a:t>
                </a:r>
              </a:p>
              <a:p>
                <a:r>
                  <a:rPr lang="en-US" dirty="0"/>
                  <a:t>No common attribute </a:t>
                </a:r>
              </a:p>
              <a:p>
                <a:r>
                  <a:rPr lang="en-US" dirty="0"/>
                  <a:t>Hence it is </a:t>
                </a:r>
                <a:r>
                  <a:rPr lang="en-US" b="1" dirty="0"/>
                  <a:t>completely non-trivial</a:t>
                </a:r>
                <a:r>
                  <a:rPr lang="en-US" dirty="0"/>
                  <a:t>.</a:t>
                </a:r>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36</a:t>
            </a:fld>
            <a:endParaRPr lang="en-US"/>
          </a:p>
        </p:txBody>
      </p:sp>
    </p:spTree>
    <p:extLst>
      <p:ext uri="{BB962C8B-B14F-4D97-AF65-F5344CB8AC3E}">
        <p14:creationId xmlns:p14="http://schemas.microsoft.com/office/powerpoint/2010/main" val="32259301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Consider:</a:t>
                </a:r>
              </a:p>
              <a:p>
                <a:r>
                  <a:rPr lang="en-US" b="1" dirty="0"/>
                  <a:t>(A, B) → (B, C)</a:t>
                </a:r>
                <a:endParaRPr lang="en-US" dirty="0"/>
              </a:p>
              <a:p>
                <a:r>
                  <a:rPr lang="en-US" dirty="0"/>
                  <a:t>RHS contains B (already in LHS) and C (not in LHS) </a:t>
                </a:r>
              </a:p>
              <a:p>
                <a:r>
                  <a:rPr lang="en-US" dirty="0"/>
                  <a:t>Since the entire RHS is not a subset of the LHS:</a:t>
                </a:r>
              </a:p>
              <a:p>
                <a:pPr/>
                <a14:m>
                  <m:oMathPara xmlns:m="http://schemas.openxmlformats.org/officeDocument/2006/math">
                    <m:oMathParaPr>
                      <m:jc m:val="centerGroup"/>
                    </m:oMathParaPr>
                    <m:oMath xmlns:m="http://schemas.openxmlformats.org/officeDocument/2006/math">
                      <m:d>
                        <m:dPr>
                          <m:sepChr m:val=","/>
                          <m:ctrlPr>
                            <a:rPr lang="ar-AE" sz="1200" i="1" kern="1200">
                              <a:solidFill>
                                <a:schemeClr val="tx1"/>
                              </a:solidFill>
                              <a:latin typeface="Cambria Math" panose="02040503050406030204" pitchFamily="18" charset="0"/>
                              <a:ea typeface="+mn-ea"/>
                              <a:cs typeface="+mn-cs"/>
                            </a:rPr>
                          </m:ctrlPr>
                        </m:dPr>
                        <m:e>
                          <m:r>
                            <a:rPr lang="ar-AE" sz="1200" i="1" kern="1200">
                              <a:solidFill>
                                <a:schemeClr val="tx1"/>
                              </a:solidFill>
                              <a:latin typeface="Cambria Math" panose="02040503050406030204" pitchFamily="18" charset="0"/>
                              <a:ea typeface="+mn-ea"/>
                              <a:cs typeface="+mn-cs"/>
                            </a:rPr>
                            <m:t>𝐵</m:t>
                          </m:r>
                        </m:e>
                        <m:e>
                          <m:r>
                            <a:rPr lang="ar-AE" sz="1200" i="1" kern="1200">
                              <a:solidFill>
                                <a:schemeClr val="tx1"/>
                              </a:solidFill>
                              <a:latin typeface="Cambria Math" panose="02040503050406030204" pitchFamily="18" charset="0"/>
                              <a:ea typeface="+mn-ea"/>
                              <a:cs typeface="+mn-cs"/>
                            </a:rPr>
                            <m:t>𝐶</m:t>
                          </m:r>
                        </m:e>
                      </m:d>
                      <m:r>
                        <a:rPr lang="ar-AE" sz="1200" i="0" kern="1200">
                          <a:solidFill>
                            <a:schemeClr val="tx1"/>
                          </a:solidFill>
                          <a:latin typeface="Cambria Math" panose="02040503050406030204" pitchFamily="18" charset="0"/>
                          <a:ea typeface="+mn-ea"/>
                          <a:cs typeface="+mn-cs"/>
                        </a:rPr>
                        <m:t>⊈</m:t>
                      </m:r>
                      <m:d>
                        <m:dPr>
                          <m:sepChr m:val=","/>
                          <m:ctrlPr>
                            <a:rPr lang="ar-AE" sz="1200" i="1" kern="1200">
                              <a:solidFill>
                                <a:schemeClr val="tx1"/>
                              </a:solidFill>
                              <a:latin typeface="Cambria Math" panose="02040503050406030204" pitchFamily="18" charset="0"/>
                              <a:ea typeface="+mn-ea"/>
                              <a:cs typeface="+mn-cs"/>
                            </a:rPr>
                          </m:ctrlPr>
                        </m:dPr>
                        <m:e>
                          <m:r>
                            <a:rPr lang="ar-AE" sz="1200" i="1" kern="1200">
                              <a:solidFill>
                                <a:schemeClr val="tx1"/>
                              </a:solidFill>
                              <a:latin typeface="Cambria Math" panose="02040503050406030204" pitchFamily="18" charset="0"/>
                              <a:ea typeface="+mn-ea"/>
                              <a:cs typeface="+mn-cs"/>
                            </a:rPr>
                            <m:t>𝐴</m:t>
                          </m:r>
                        </m:e>
                        <m:e>
                          <m:r>
                            <a:rPr lang="ar-AE" sz="1200" i="1" kern="1200">
                              <a:solidFill>
                                <a:schemeClr val="tx1"/>
                              </a:solidFill>
                              <a:latin typeface="Cambria Math" panose="02040503050406030204" pitchFamily="18" charset="0"/>
                              <a:ea typeface="+mn-ea"/>
                              <a:cs typeface="+mn-cs"/>
                            </a:rPr>
                            <m:t>𝐵</m:t>
                          </m:r>
                        </m:e>
                      </m:d>
                    </m:oMath>
                  </m:oMathPara>
                </a14:m>
                <a:endParaRPr lang="ar-AE" dirty="0"/>
              </a:p>
              <a:p>
                <a:r>
                  <a:rPr lang="en-US" dirty="0"/>
                  <a:t>This dependency is </a:t>
                </a:r>
                <a:r>
                  <a:rPr lang="en-US" b="1" dirty="0"/>
                  <a:t>non-trivial</a:t>
                </a:r>
                <a:r>
                  <a:rPr lang="en-US" dirty="0"/>
                  <a:t>, but not completely non-trivial because B appears on both sides.</a:t>
                </a:r>
              </a:p>
              <a:p>
                <a:endParaRPr lang="en-US" dirty="0"/>
              </a:p>
            </p:txBody>
          </p:sp>
        </mc:Choice>
        <mc:Fallback xmlns="">
          <p:sp>
            <p:nvSpPr>
              <p:cNvPr id="3" name="Notes Placeholder 2"/>
              <p:cNvSpPr>
                <a:spLocks noGrp="1"/>
              </p:cNvSpPr>
              <p:nvPr>
                <p:ph type="body" idx="1"/>
              </p:nvPr>
            </p:nvSpPr>
            <p:spPr/>
            <p:txBody>
              <a:bodyPr/>
              <a:lstStyle/>
              <a:p>
                <a:r>
                  <a:rPr lang="en-US" dirty="0"/>
                  <a:t>Consider:</a:t>
                </a:r>
              </a:p>
              <a:p>
                <a:r>
                  <a:rPr lang="en-US" b="1" dirty="0"/>
                  <a:t>(A, B) → (B, C)</a:t>
                </a:r>
                <a:endParaRPr lang="en-US" dirty="0"/>
              </a:p>
              <a:p>
                <a:r>
                  <a:rPr lang="en-US" dirty="0"/>
                  <a:t>RHS contains B (already in LHS) and C (not in LHS) </a:t>
                </a:r>
              </a:p>
              <a:p>
                <a:r>
                  <a:rPr lang="en-US" dirty="0"/>
                  <a:t>Since the entire RHS is not a subset of the LHS:</a:t>
                </a:r>
              </a:p>
              <a:p>
                <a:r>
                  <a:rPr lang="ar-AE" sz="1200" i="0" kern="1200">
                    <a:solidFill>
                      <a:schemeClr val="tx1"/>
                    </a:solidFill>
                    <a:latin typeface="+mn-lt"/>
                    <a:ea typeface="+mn-ea"/>
                    <a:cs typeface="+mn-cs"/>
                  </a:rPr>
                  <a:t>(𝐵ⓜ,𝐶)⊈(𝐴ⓜ,𝐵)</a:t>
                </a:r>
                <a:endParaRPr lang="ar-AE" dirty="0"/>
              </a:p>
              <a:p>
                <a:r>
                  <a:rPr lang="en-US" dirty="0"/>
                  <a:t>This dependency is </a:t>
                </a:r>
                <a:r>
                  <a:rPr lang="en-US" b="1" dirty="0"/>
                  <a:t>non-trivial</a:t>
                </a:r>
                <a:r>
                  <a:rPr lang="en-US" dirty="0"/>
                  <a:t>, but not completely non-trivial because B appears on both sides.</a:t>
                </a:r>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37</a:t>
            </a:fld>
            <a:endParaRPr lang="en-US"/>
          </a:p>
        </p:txBody>
      </p:sp>
    </p:spTree>
    <p:extLst>
      <p:ext uri="{BB962C8B-B14F-4D97-AF65-F5344CB8AC3E}">
        <p14:creationId xmlns:p14="http://schemas.microsoft.com/office/powerpoint/2010/main" val="22559674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t>
            </a:r>
            <a:r>
              <a:rPr lang="en-US" b="1" dirty="0"/>
              <a:t>partial dependency</a:t>
            </a:r>
            <a:r>
              <a:rPr lang="en-US" dirty="0"/>
              <a:t> occurs when a </a:t>
            </a:r>
            <a:r>
              <a:rPr lang="en-US" b="1" dirty="0"/>
              <a:t>non-key attribute depends on only a part of a composite primary key</a:t>
            </a:r>
            <a:r>
              <a:rPr lang="en-US" dirty="0"/>
              <a:t>, rather than on the entire composite key.</a:t>
            </a:r>
          </a:p>
          <a:p>
            <a:r>
              <a:rPr lang="en-US" dirty="0"/>
              <a:t>Partial dependencies are important because they cause data redundancy and violate </a:t>
            </a:r>
            <a:r>
              <a:rPr lang="en-US" b="1" dirty="0"/>
              <a:t>Second Normal Form (2NF)</a:t>
            </a:r>
            <a:r>
              <a:rPr lang="en-US" dirty="0"/>
              <a:t>.</a:t>
            </a:r>
          </a:p>
          <a:p>
            <a:endParaRPr lang="en-US" dirty="0"/>
          </a:p>
          <a:p>
            <a:r>
              <a:rPr lang="en-US" dirty="0"/>
              <a:t>A functional dependency </a:t>
            </a:r>
            <a:r>
              <a:rPr lang="en-US" b="1" dirty="0"/>
              <a:t>X → Y</a:t>
            </a:r>
            <a:r>
              <a:rPr lang="en-US" dirty="0"/>
              <a:t> is called a </a:t>
            </a:r>
            <a:r>
              <a:rPr lang="en-US" b="1" dirty="0"/>
              <a:t>partial dependency</a:t>
            </a:r>
            <a:r>
              <a:rPr lang="en-US" dirty="0"/>
              <a:t> if:</a:t>
            </a:r>
          </a:p>
          <a:p>
            <a:r>
              <a:rPr lang="en-US" b="1" dirty="0"/>
              <a:t>X is a composite key</a:t>
            </a:r>
            <a:r>
              <a:rPr lang="en-US" dirty="0"/>
              <a:t> (contains more than one attribute). </a:t>
            </a:r>
          </a:p>
          <a:p>
            <a:r>
              <a:rPr lang="en-US" b="1" dirty="0"/>
              <a:t>Y is a non-prime attribute</a:t>
            </a:r>
            <a:r>
              <a:rPr lang="en-US" dirty="0"/>
              <a:t> (not part of any candidate key). </a:t>
            </a:r>
          </a:p>
          <a:p>
            <a:r>
              <a:rPr lang="en-US" dirty="0"/>
              <a:t>Y depends on only a subset of X.</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39</a:t>
            </a:fld>
            <a:endParaRPr lang="en-US"/>
          </a:p>
        </p:txBody>
      </p:sp>
    </p:spTree>
    <p:extLst>
      <p:ext uri="{BB962C8B-B14F-4D97-AF65-F5344CB8AC3E}">
        <p14:creationId xmlns:p14="http://schemas.microsoft.com/office/powerpoint/2010/main" val="949592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40</a:t>
            </a:fld>
            <a:endParaRPr lang="en-US"/>
          </a:p>
        </p:txBody>
      </p:sp>
    </p:spTree>
    <p:extLst>
      <p:ext uri="{BB962C8B-B14F-4D97-AF65-F5344CB8AC3E}">
        <p14:creationId xmlns:p14="http://schemas.microsoft.com/office/powerpoint/2010/main" val="34009939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Dependency			Type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Student_ID</a:t>
            </a:r>
            <a:r>
              <a:rPr lang="en-US" dirty="0"/>
              <a:t> → </a:t>
            </a:r>
            <a:r>
              <a:rPr lang="en-US" dirty="0" err="1"/>
              <a:t>Student_Name</a:t>
            </a:r>
            <a:r>
              <a:rPr lang="en-US" dirty="0"/>
              <a:t>		Partial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Subject_ID</a:t>
            </a:r>
            <a:r>
              <a:rPr lang="en-US" dirty="0"/>
              <a:t> → </a:t>
            </a:r>
            <a:r>
              <a:rPr lang="en-US" dirty="0" err="1"/>
              <a:t>Subject_Name</a:t>
            </a:r>
            <a:r>
              <a:rPr lang="en-US" dirty="0"/>
              <a:t>		Partial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Student_ID</a:t>
            </a:r>
            <a:r>
              <a:rPr lang="en-US" dirty="0"/>
              <a:t>, </a:t>
            </a:r>
            <a:r>
              <a:rPr lang="en-US" dirty="0" err="1"/>
              <a:t>Subject_ID</a:t>
            </a:r>
            <a:r>
              <a:rPr lang="en-US" dirty="0"/>
              <a:t>) → Marks	Full FD</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42</a:t>
            </a:fld>
            <a:endParaRPr lang="en-US"/>
          </a:p>
        </p:txBody>
      </p:sp>
    </p:spTree>
    <p:extLst>
      <p:ext uri="{BB962C8B-B14F-4D97-AF65-F5344CB8AC3E}">
        <p14:creationId xmlns:p14="http://schemas.microsoft.com/office/powerpoint/2010/main" val="17039923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b="1" dirty="0"/>
                  <a:t>Identify Candidate Keys</a:t>
                </a:r>
              </a:p>
              <a:p>
                <a:r>
                  <a:rPr lang="en-US" dirty="0"/>
                  <a:t>A candidate key is an attribute (or set of attributes) that uniquely identifies each row.</a:t>
                </a:r>
              </a:p>
              <a:p>
                <a:r>
                  <a:rPr lang="en-US" b="1" dirty="0"/>
                  <a:t>Example</a:t>
                </a:r>
              </a:p>
              <a:p>
                <a:r>
                  <a:rPr lang="en-US" dirty="0" err="1"/>
                  <a:t>Roll_No</a:t>
                </a:r>
                <a:r>
                  <a:rPr lang="en-US" dirty="0"/>
                  <a:t>	Name	Department</a:t>
                </a:r>
              </a:p>
              <a:p>
                <a:r>
                  <a:rPr lang="en-US" dirty="0"/>
                  <a:t>101	Ram	BCA</a:t>
                </a:r>
              </a:p>
              <a:p>
                <a:r>
                  <a:rPr lang="en-US" dirty="0"/>
                  <a:t>102</a:t>
                </a:r>
                <a:r>
                  <a:rPr lang="en-US"/>
                  <a:t>	Shyam	BBA</a:t>
                </a:r>
                <a:endParaRPr lang="en-US" dirty="0"/>
              </a:p>
              <a:p>
                <a:r>
                  <a:rPr lang="en-US" dirty="0"/>
                  <a:t>Given: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𝑅𝑜𝑙𝑙</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𝑁𝑜</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𝑁𝑎𝑚𝑒</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𝐷𝑒𝑝𝑎𝑟𝑡𝑚𝑒𝑛𝑡</m:t>
                      </m:r>
                    </m:oMath>
                  </m:oMathPara>
                </a14:m>
                <a:endParaRPr lang="en-US" dirty="0"/>
              </a:p>
              <a:p>
                <a:r>
                  <a:rPr lang="en-US" dirty="0"/>
                  <a:t>Since </a:t>
                </a:r>
                <a:r>
                  <a:rPr lang="en-US" dirty="0" err="1"/>
                  <a:t>Roll_No</a:t>
                </a:r>
                <a:r>
                  <a:rPr lang="en-US" dirty="0"/>
                  <a:t> determines all other attributes, </a:t>
                </a:r>
                <a:r>
                  <a:rPr lang="en-US" dirty="0" err="1"/>
                  <a:t>Roll_No</a:t>
                </a:r>
                <a:r>
                  <a:rPr lang="en-US" dirty="0"/>
                  <a:t> is a </a:t>
                </a:r>
                <a:r>
                  <a:rPr lang="en-US" b="1" dirty="0"/>
                  <a:t>candidate key</a:t>
                </a:r>
                <a:r>
                  <a:rPr lang="en-US" dirty="0"/>
                  <a:t>.</a:t>
                </a:r>
              </a:p>
              <a:p>
                <a:r>
                  <a:rPr lang="en-US" dirty="0"/>
                  <a:t>Without functional dependencies, identifying keys would be difficult.</a:t>
                </a:r>
              </a:p>
              <a:p>
                <a:br>
                  <a:rPr lang="en-US" dirty="0"/>
                </a:br>
                <a:endParaRPr lang="en-US" dirty="0"/>
              </a:p>
              <a:p>
                <a:r>
                  <a:rPr lang="en-US" b="1" dirty="0"/>
                  <a:t>2. Reduce Data Redundancy</a:t>
                </a:r>
              </a:p>
              <a:p>
                <a:r>
                  <a:rPr lang="en-US" dirty="0"/>
                  <a:t>Consider:</a:t>
                </a:r>
              </a:p>
              <a:p>
                <a:r>
                  <a:rPr lang="en-US" dirty="0"/>
                  <a:t>Student_IDStudent_NameSubjectTeacherS101RamDBMSHariS101RamOSSitaS101RamCNGita</a:t>
                </a:r>
              </a:p>
              <a:p>
                <a:r>
                  <a:rPr lang="en-US" dirty="0"/>
                  <a:t>Here: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𝑆𝑡𝑢𝑑𝑒𝑛𝑡</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𝑆𝑡𝑢𝑑𝑒𝑛𝑡</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𝑁𝑎𝑚𝑒</m:t>
                      </m:r>
                    </m:oMath>
                  </m:oMathPara>
                </a14:m>
                <a:endParaRPr lang="en-US" dirty="0"/>
              </a:p>
              <a:p>
                <a:r>
                  <a:rPr lang="en-US" dirty="0"/>
                  <a:t>The student's name is repeated multiple times.</a:t>
                </a:r>
              </a:p>
              <a:p>
                <a:r>
                  <a:rPr lang="en-US" dirty="0"/>
                  <a:t>Functional dependencies help identify such redundancy and guide decomposition into separate tables.</a:t>
                </a:r>
              </a:p>
              <a:p>
                <a:br>
                  <a:rPr lang="en-US" dirty="0"/>
                </a:br>
                <a:endParaRPr lang="en-US" dirty="0"/>
              </a:p>
              <a:p>
                <a:r>
                  <a:rPr lang="en-US" b="1" dirty="0"/>
                  <a:t>3. Prevent Update Anomalies</a:t>
                </a:r>
              </a:p>
              <a:p>
                <a:r>
                  <a:rPr lang="en-US" dirty="0"/>
                  <a:t>Suppose Ram changes his name.</a:t>
                </a:r>
              </a:p>
              <a:p>
                <a:r>
                  <a:rPr lang="en-US" dirty="0"/>
                  <a:t>Without normalization:</a:t>
                </a:r>
              </a:p>
              <a:p>
                <a:r>
                  <a:rPr lang="en-US" dirty="0"/>
                  <a:t>Student_IDStudent_NameS101RamS101RamS101Ram</a:t>
                </a:r>
              </a:p>
              <a:p>
                <a:r>
                  <a:rPr lang="en-US" dirty="0"/>
                  <a:t>Every row must be updated.</a:t>
                </a:r>
              </a:p>
              <a:p>
                <a:r>
                  <a:rPr lang="en-US" dirty="0"/>
                  <a:t>Missing even one update causes inconsistency.</a:t>
                </a:r>
              </a:p>
              <a:p>
                <a:r>
                  <a:rPr lang="en-US" dirty="0"/>
                  <a:t>Functional dependencies help identify these situations and eliminate them through normalization.</a:t>
                </a:r>
              </a:p>
              <a:p>
                <a:br>
                  <a:rPr lang="en-US" dirty="0"/>
                </a:br>
                <a:endParaRPr lang="en-US" dirty="0"/>
              </a:p>
              <a:p>
                <a:r>
                  <a:rPr lang="en-US" b="1" dirty="0"/>
                  <a:t>4. Prevent Insert Anomalies</a:t>
                </a:r>
              </a:p>
              <a:p>
                <a:r>
                  <a:rPr lang="en-US" dirty="0"/>
                  <a:t>Consider:</a:t>
                </a:r>
              </a:p>
              <a:p>
                <a:r>
                  <a:rPr lang="en-US" dirty="0"/>
                  <a:t>Student_IDStudent_NameSubjectS101RamDBMS</a:t>
                </a:r>
              </a:p>
              <a:p>
                <a:r>
                  <a:rPr lang="en-US" dirty="0"/>
                  <a:t>Suppose a new student joins but hasn't selected a subject yet.</a:t>
                </a:r>
              </a:p>
              <a:p>
                <a:r>
                  <a:rPr lang="en-US" dirty="0"/>
                  <a:t>Where do you store the student information?</a:t>
                </a:r>
              </a:p>
              <a:p>
                <a:r>
                  <a:rPr lang="en-US" dirty="0"/>
                  <a:t>This is an insert anomaly.</a:t>
                </a:r>
              </a:p>
              <a:p>
                <a:r>
                  <a:rPr lang="en-US" dirty="0"/>
                  <a:t>Proper decomposition based on functional dependencies solves this problem.</a:t>
                </a:r>
              </a:p>
              <a:p>
                <a:br>
                  <a:rPr lang="en-US" dirty="0"/>
                </a:br>
                <a:endParaRPr lang="en-US" dirty="0"/>
              </a:p>
              <a:p>
                <a:r>
                  <a:rPr lang="en-US" b="1" dirty="0"/>
                  <a:t>5. Prevent Delete Anomalies</a:t>
                </a:r>
              </a:p>
              <a:p>
                <a:r>
                  <a:rPr lang="en-US" dirty="0"/>
                  <a:t>Suppose:</a:t>
                </a:r>
              </a:p>
              <a:p>
                <a:r>
                  <a:rPr lang="en-US" dirty="0"/>
                  <a:t>Student_IDStudent_NameSubjectS101RamDBMS</a:t>
                </a:r>
              </a:p>
              <a:p>
                <a:r>
                  <a:rPr lang="en-US" dirty="0"/>
                  <a:t>If this row is deleted because Ram drops DBMS, student information is also lost.</a:t>
                </a:r>
              </a:p>
              <a:p>
                <a:r>
                  <a:rPr lang="en-US" dirty="0"/>
                  <a:t>This is a delete anomaly.</a:t>
                </a:r>
              </a:p>
              <a:p>
                <a:r>
                  <a:rPr lang="en-US" dirty="0"/>
                  <a:t>Functional dependencies help detect such design flaws.</a:t>
                </a:r>
              </a:p>
              <a:p>
                <a:br>
                  <a:rPr lang="en-US" dirty="0"/>
                </a:br>
                <a:endParaRPr lang="en-US" dirty="0"/>
              </a:p>
              <a:p>
                <a:r>
                  <a:rPr lang="en-US" b="1" dirty="0"/>
                  <a:t>6. Foundation of Normalization</a:t>
                </a:r>
              </a:p>
              <a:p>
                <a:r>
                  <a:rPr lang="en-US" dirty="0"/>
                  <a:t>Functional dependencies are the basis for normalization.</a:t>
                </a:r>
              </a:p>
              <a:p>
                <a:r>
                  <a:rPr lang="en-US" dirty="0"/>
                  <a:t>Normal </a:t>
                </a:r>
                <a:r>
                  <a:rPr lang="en-US" dirty="0" err="1"/>
                  <a:t>FormUses</a:t>
                </a:r>
                <a:r>
                  <a:rPr lang="en-US" dirty="0"/>
                  <a:t> Functional Dependencies?1NFNo (mainly atomic values)2NFYes (remove partial dependencies)3NFYes (remove transitive dependencies)</a:t>
                </a:r>
                <a:r>
                  <a:rPr lang="en-US" dirty="0" err="1"/>
                  <a:t>BCNFYes</a:t>
                </a:r>
                <a:r>
                  <a:rPr lang="en-US" dirty="0"/>
                  <a:t> (every determinant must be a candidate key)</a:t>
                </a:r>
              </a:p>
              <a:p>
                <a:r>
                  <a:rPr lang="en-US" dirty="0"/>
                  <a:t>Without FDs, normalization cannot be performed correctly.</a:t>
                </a:r>
              </a:p>
              <a:p>
                <a:br>
                  <a:rPr lang="en-US" dirty="0"/>
                </a:br>
                <a:endParaRPr lang="en-US" dirty="0"/>
              </a:p>
              <a:p>
                <a:r>
                  <a:rPr lang="en-US" b="1" dirty="0"/>
                  <a:t>7. Improve Database Consistency</a:t>
                </a:r>
              </a:p>
              <a:p>
                <a:r>
                  <a:rPr lang="en-US" dirty="0"/>
                  <a:t>Example: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𝐸𝑚𝑝𝑙𝑜𝑦𝑒𝑒</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𝑆𝑎𝑙𝑎𝑟𝑦</m:t>
                      </m:r>
                    </m:oMath>
                  </m:oMathPara>
                </a14:m>
                <a:endParaRPr lang="en-US" dirty="0"/>
              </a:p>
              <a:p>
                <a:r>
                  <a:rPr lang="en-US" dirty="0"/>
                  <a:t>If </a:t>
                </a:r>
                <a:r>
                  <a:rPr lang="en-US" dirty="0" err="1"/>
                  <a:t>Employee_ID</a:t>
                </a:r>
                <a:r>
                  <a:rPr lang="en-US" dirty="0"/>
                  <a:t> 101 has two different salaries stored in different rows, the FD is violated.</a:t>
                </a:r>
              </a:p>
              <a:p>
                <a:r>
                  <a:rPr lang="en-US" dirty="0"/>
                  <a:t>FDs define rules that maintain consistency.</a:t>
                </a:r>
              </a:p>
              <a:p>
                <a:br>
                  <a:rPr lang="en-US" dirty="0"/>
                </a:br>
                <a:endParaRPr lang="en-US" dirty="0"/>
              </a:p>
              <a:p>
                <a:r>
                  <a:rPr lang="en-US" b="1" dirty="0"/>
                  <a:t>8. Help in Database Decomposition</a:t>
                </a:r>
              </a:p>
              <a:p>
                <a:r>
                  <a:rPr lang="en-US" dirty="0"/>
                  <a:t>Suppose:</a:t>
                </a:r>
              </a:p>
              <a:p>
                <a:r>
                  <a:rPr lang="en-US" dirty="0" err="1"/>
                  <a:t>Student_IDStudent_NameDept_Name</a:t>
                </a:r>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𝑆𝑡𝑢𝑑𝑒𝑛𝑡</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𝑆𝑡𝑢𝑑𝑒𝑛𝑡</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𝑁𝑎𝑚𝑒</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𝐷𝑒𝑝𝑡</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𝐷𝑒𝑝𝑡</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𝑁𝑎𝑚𝑒</m:t>
                      </m:r>
                    </m:oMath>
                  </m:oMathPara>
                </a14:m>
                <a:endParaRPr lang="en-US" dirty="0"/>
              </a:p>
              <a:p>
                <a:r>
                  <a:rPr lang="en-US" dirty="0"/>
                  <a:t>Using these dependencies, we can decompose the table into:</a:t>
                </a:r>
              </a:p>
              <a:p>
                <a:r>
                  <a:rPr lang="en-US" b="1" dirty="0"/>
                  <a:t>Student</a:t>
                </a:r>
              </a:p>
              <a:p>
                <a:r>
                  <a:rPr lang="en-US" dirty="0"/>
                  <a:t>| </a:t>
                </a:r>
                <a:r>
                  <a:rPr lang="en-US" dirty="0" err="1"/>
                  <a:t>Student_ID</a:t>
                </a:r>
                <a:r>
                  <a:rPr lang="en-US" dirty="0"/>
                  <a:t> | </a:t>
                </a:r>
                <a:r>
                  <a:rPr lang="en-US" dirty="0" err="1"/>
                  <a:t>Student_Name</a:t>
                </a:r>
                <a:r>
                  <a:rPr lang="en-US" dirty="0"/>
                  <a:t> | </a:t>
                </a:r>
                <a:r>
                  <a:rPr lang="en-US" dirty="0" err="1"/>
                  <a:t>Dept_ID</a:t>
                </a:r>
                <a:r>
                  <a:rPr lang="en-US" dirty="0"/>
                  <a:t> |</a:t>
                </a:r>
              </a:p>
              <a:p>
                <a:r>
                  <a:rPr lang="en-US" b="1" dirty="0"/>
                  <a:t>Department</a:t>
                </a:r>
              </a:p>
              <a:p>
                <a:r>
                  <a:rPr lang="en-US" dirty="0"/>
                  <a:t>| </a:t>
                </a:r>
                <a:r>
                  <a:rPr lang="en-US" dirty="0" err="1"/>
                  <a:t>Dept_ID</a:t>
                </a:r>
                <a:r>
                  <a:rPr lang="en-US" dirty="0"/>
                  <a:t> | </a:t>
                </a:r>
                <a:r>
                  <a:rPr lang="en-US" dirty="0" err="1"/>
                  <a:t>Dept_Name</a:t>
                </a:r>
                <a:r>
                  <a:rPr lang="en-US" dirty="0"/>
                  <a:t> |</a:t>
                </a:r>
              </a:p>
              <a:p>
                <a:r>
                  <a:rPr lang="en-US" dirty="0"/>
                  <a:t>This reduces redundancy and improves maintainability.</a:t>
                </a:r>
              </a:p>
              <a:p>
                <a:br>
                  <a:rPr lang="en-US" dirty="0"/>
                </a:br>
                <a:endParaRPr lang="en-US" dirty="0"/>
              </a:p>
              <a:p>
                <a:r>
                  <a:rPr lang="en-US" b="1" dirty="0"/>
                  <a:t>9. Help Query Optimization</a:t>
                </a:r>
              </a:p>
              <a:p>
                <a:r>
                  <a:rPr lang="en-US" dirty="0"/>
                  <a:t>Database designers and query optimizers can use functional dependencies to:</a:t>
                </a:r>
              </a:p>
              <a:p>
                <a:r>
                  <a:rPr lang="en-US" dirty="0"/>
                  <a:t>Eliminate unnecessary joins </a:t>
                </a:r>
              </a:p>
              <a:p>
                <a:r>
                  <a:rPr lang="en-US" dirty="0"/>
                  <a:t>Improve query plans </a:t>
                </a:r>
              </a:p>
              <a:p>
                <a:r>
                  <a:rPr lang="en-US" dirty="0"/>
                  <a:t>Reduce storage requirements </a:t>
                </a:r>
              </a:p>
              <a:p>
                <a:r>
                  <a:rPr lang="en-US" dirty="0"/>
                  <a:t>Although users may not see it directly, DBMS engines often use dependency information internally.</a:t>
                </a:r>
              </a:p>
              <a:p>
                <a:br>
                  <a:rPr lang="en-US" dirty="0"/>
                </a:br>
                <a:endParaRPr lang="en-US" dirty="0"/>
              </a:p>
              <a:p>
                <a:r>
                  <a:rPr lang="en-US" b="1" dirty="0"/>
                  <a:t>Real-World Example</a:t>
                </a:r>
              </a:p>
              <a:p>
                <a:r>
                  <a:rPr lang="en-US" dirty="0"/>
                  <a:t>Consider a college ERP system (similar to the timetable and ERP systems you've been designing):</a:t>
                </a:r>
              </a:p>
              <a:p>
                <a:r>
                  <a:rPr lang="en-US" b="1" dirty="0"/>
                  <a:t>Faculty Table</a:t>
                </a:r>
              </a:p>
              <a:p>
                <a:r>
                  <a:rPr lang="en-US" dirty="0" err="1"/>
                  <a:t>Faculty_IDFaculty_NameEmail</a:t>
                </a:r>
                <a:endParaRPr lang="en-US" dirty="0"/>
              </a:p>
              <a:p>
                <a:r>
                  <a:rPr lang="en-US" dirty="0"/>
                  <a:t>FD:</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𝐹𝑎𝑐𝑢𝑙𝑡𝑦</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𝐼𝐷</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𝐹𝑎𝑐𝑢𝑙𝑡𝑦</m:t>
                      </m:r>
                      <m:r>
                        <m:rPr>
                          <m:lit/>
                        </m:rPr>
                        <a:rPr lang="en-US" sz="1200" i="0" kern="1200">
                          <a:solidFill>
                            <a:schemeClr val="tx1"/>
                          </a:solidFill>
                          <a:latin typeface="Cambria Math" panose="02040503050406030204" pitchFamily="18" charset="0"/>
                          <a:ea typeface="+mn-ea"/>
                          <a:cs typeface="+mn-cs"/>
                        </a:rPr>
                        <m:t>_</m:t>
                      </m:r>
                      <m:r>
                        <a:rPr lang="en-US" sz="1200" i="1" kern="1200">
                          <a:solidFill>
                            <a:schemeClr val="tx1"/>
                          </a:solidFill>
                          <a:latin typeface="Cambria Math" panose="02040503050406030204" pitchFamily="18" charset="0"/>
                          <a:ea typeface="+mn-ea"/>
                          <a:cs typeface="+mn-cs"/>
                        </a:rPr>
                        <m:t>𝑁𝑎𝑚𝑒</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𝐸𝑚𝑎𝑖𝑙</m:t>
                      </m:r>
                    </m:oMath>
                  </m:oMathPara>
                </a14:m>
                <a:endParaRPr lang="en-US" dirty="0"/>
              </a:p>
              <a:p>
                <a:r>
                  <a:rPr lang="en-US" dirty="0"/>
                  <a:t>This tells us:</a:t>
                </a:r>
              </a:p>
              <a:p>
                <a:r>
                  <a:rPr lang="en-US" dirty="0" err="1"/>
                  <a:t>Faculty_ID</a:t>
                </a:r>
                <a:r>
                  <a:rPr lang="en-US" dirty="0"/>
                  <a:t> uniquely identifies a faculty member. </a:t>
                </a:r>
              </a:p>
              <a:p>
                <a:r>
                  <a:rPr lang="en-US" dirty="0" err="1"/>
                  <a:t>Faculty_Name</a:t>
                </a:r>
                <a:r>
                  <a:rPr lang="en-US" dirty="0"/>
                  <a:t> and Email should not be repeatedly stored in timetable records. </a:t>
                </a:r>
              </a:p>
              <a:p>
                <a:r>
                  <a:rPr lang="en-US" dirty="0"/>
                  <a:t>Instead, timetable tables should reference </a:t>
                </a:r>
                <a:r>
                  <a:rPr lang="en-US" dirty="0" err="1"/>
                  <a:t>Faculty_ID</a:t>
                </a:r>
                <a:r>
                  <a:rPr lang="en-US" dirty="0"/>
                  <a:t>. </a:t>
                </a:r>
              </a:p>
              <a:p>
                <a:r>
                  <a:rPr lang="en-US" dirty="0"/>
                  <a:t>This leads to a cleaner and more scalable design.</a:t>
                </a:r>
              </a:p>
              <a:p>
                <a:endParaRPr lang="en-US" dirty="0"/>
              </a:p>
            </p:txBody>
          </p:sp>
        </mc:Choice>
        <mc:Fallback xmlns="">
          <p:sp>
            <p:nvSpPr>
              <p:cNvPr id="3" name="Notes Placeholder 2"/>
              <p:cNvSpPr>
                <a:spLocks noGrp="1"/>
              </p:cNvSpPr>
              <p:nvPr>
                <p:ph type="body" idx="1"/>
              </p:nvPr>
            </p:nvSpPr>
            <p:spPr/>
            <p:txBody>
              <a:bodyPr/>
              <a:lstStyle/>
              <a:p>
                <a:r>
                  <a:rPr lang="en-US" b="1" dirty="0"/>
                  <a:t>Identify Candidate Keys</a:t>
                </a:r>
              </a:p>
              <a:p>
                <a:r>
                  <a:rPr lang="en-US" dirty="0"/>
                  <a:t>A candidate key is an attribute (or set of attributes) that uniquely identifies each row.</a:t>
                </a:r>
              </a:p>
              <a:p>
                <a:r>
                  <a:rPr lang="en-US" b="1" dirty="0"/>
                  <a:t>Example</a:t>
                </a:r>
              </a:p>
              <a:p>
                <a:r>
                  <a:rPr lang="en-US" dirty="0"/>
                  <a:t>Roll_NoNameDepartment101RamBCA102ShyamBBA</a:t>
                </a:r>
              </a:p>
              <a:p>
                <a:r>
                  <a:rPr lang="en-US" dirty="0"/>
                  <a:t>Given:</a:t>
                </a:r>
              </a:p>
              <a:p>
                <a:r>
                  <a:rPr lang="en-US" sz="1200" i="0" kern="1200">
                    <a:solidFill>
                      <a:schemeClr val="tx1"/>
                    </a:solidFill>
                    <a:latin typeface="+mn-lt"/>
                    <a:ea typeface="+mn-ea"/>
                    <a:cs typeface="+mn-cs"/>
                  </a:rPr>
                  <a:t>𝑅𝑜𝑙𝑙\_𝑁𝑜→𝑁𝑎𝑚𝑒,𝐷𝑒𝑝𝑎𝑟𝑡𝑚𝑒𝑛𝑡</a:t>
                </a:r>
                <a:endParaRPr lang="en-US" dirty="0"/>
              </a:p>
              <a:p>
                <a:r>
                  <a:rPr lang="en-US" dirty="0"/>
                  <a:t>Since </a:t>
                </a:r>
                <a:r>
                  <a:rPr lang="en-US" dirty="0" err="1"/>
                  <a:t>Roll_No</a:t>
                </a:r>
                <a:r>
                  <a:rPr lang="en-US" dirty="0"/>
                  <a:t> determines all other attributes, </a:t>
                </a:r>
                <a:r>
                  <a:rPr lang="en-US" dirty="0" err="1"/>
                  <a:t>Roll_No</a:t>
                </a:r>
                <a:r>
                  <a:rPr lang="en-US" dirty="0"/>
                  <a:t> is a </a:t>
                </a:r>
                <a:r>
                  <a:rPr lang="en-US" b="1" dirty="0"/>
                  <a:t>candidate key</a:t>
                </a:r>
                <a:r>
                  <a:rPr lang="en-US" dirty="0"/>
                  <a:t>.</a:t>
                </a:r>
              </a:p>
              <a:p>
                <a:r>
                  <a:rPr lang="en-US" dirty="0"/>
                  <a:t>Without functional dependencies, identifying keys would be difficult.</a:t>
                </a:r>
              </a:p>
              <a:p>
                <a:br>
                  <a:rPr lang="en-US" dirty="0"/>
                </a:br>
                <a:endParaRPr lang="en-US" dirty="0"/>
              </a:p>
              <a:p>
                <a:r>
                  <a:rPr lang="en-US" b="1" dirty="0"/>
                  <a:t>2. Reduce Data Redundancy</a:t>
                </a:r>
              </a:p>
              <a:p>
                <a:r>
                  <a:rPr lang="en-US" dirty="0"/>
                  <a:t>Consider:</a:t>
                </a:r>
              </a:p>
              <a:p>
                <a:r>
                  <a:rPr lang="en-US" dirty="0"/>
                  <a:t>Student_IDStudent_NameSubjectTeacherS101RamDBMSHariS101RamOSSitaS101RamCNGita</a:t>
                </a:r>
              </a:p>
              <a:p>
                <a:r>
                  <a:rPr lang="en-US" dirty="0"/>
                  <a:t>Here:</a:t>
                </a:r>
              </a:p>
              <a:p>
                <a:r>
                  <a:rPr lang="en-US" sz="1200" i="0" kern="1200">
                    <a:solidFill>
                      <a:schemeClr val="tx1"/>
                    </a:solidFill>
                    <a:latin typeface="+mn-lt"/>
                    <a:ea typeface="+mn-ea"/>
                    <a:cs typeface="+mn-cs"/>
                  </a:rPr>
                  <a:t>𝑆𝑡𝑢𝑑𝑒𝑛𝑡\_𝐼𝐷→𝑆𝑡𝑢𝑑𝑒𝑛𝑡\_𝑁𝑎𝑚𝑒</a:t>
                </a:r>
                <a:endParaRPr lang="en-US" dirty="0"/>
              </a:p>
              <a:p>
                <a:r>
                  <a:rPr lang="en-US" dirty="0"/>
                  <a:t>The student's name is repeated multiple times.</a:t>
                </a:r>
              </a:p>
              <a:p>
                <a:r>
                  <a:rPr lang="en-US" dirty="0"/>
                  <a:t>Functional dependencies help identify such redundancy and guide decomposition into separate tables.</a:t>
                </a:r>
              </a:p>
              <a:p>
                <a:br>
                  <a:rPr lang="en-US" dirty="0"/>
                </a:br>
                <a:endParaRPr lang="en-US" dirty="0"/>
              </a:p>
              <a:p>
                <a:r>
                  <a:rPr lang="en-US" b="1" dirty="0"/>
                  <a:t>3. Prevent Update Anomalies</a:t>
                </a:r>
              </a:p>
              <a:p>
                <a:r>
                  <a:rPr lang="en-US" dirty="0"/>
                  <a:t>Suppose Ram changes his name.</a:t>
                </a:r>
              </a:p>
              <a:p>
                <a:r>
                  <a:rPr lang="en-US" dirty="0"/>
                  <a:t>Without normalization:</a:t>
                </a:r>
              </a:p>
              <a:p>
                <a:r>
                  <a:rPr lang="en-US" dirty="0"/>
                  <a:t>Student_IDStudent_NameS101RamS101RamS101Ram</a:t>
                </a:r>
              </a:p>
              <a:p>
                <a:r>
                  <a:rPr lang="en-US" dirty="0"/>
                  <a:t>Every row must be updated.</a:t>
                </a:r>
              </a:p>
              <a:p>
                <a:r>
                  <a:rPr lang="en-US" dirty="0"/>
                  <a:t>Missing even one update causes inconsistency.</a:t>
                </a:r>
              </a:p>
              <a:p>
                <a:r>
                  <a:rPr lang="en-US" dirty="0"/>
                  <a:t>Functional dependencies help identify these situations and eliminate them through normalization.</a:t>
                </a:r>
              </a:p>
              <a:p>
                <a:br>
                  <a:rPr lang="en-US" dirty="0"/>
                </a:br>
                <a:endParaRPr lang="en-US" dirty="0"/>
              </a:p>
              <a:p>
                <a:r>
                  <a:rPr lang="en-US" b="1" dirty="0"/>
                  <a:t>4. Prevent Insert Anomalies</a:t>
                </a:r>
              </a:p>
              <a:p>
                <a:r>
                  <a:rPr lang="en-US" dirty="0"/>
                  <a:t>Consider:</a:t>
                </a:r>
              </a:p>
              <a:p>
                <a:r>
                  <a:rPr lang="en-US" dirty="0"/>
                  <a:t>Student_IDStudent_NameSubjectS101RamDBMS</a:t>
                </a:r>
              </a:p>
              <a:p>
                <a:r>
                  <a:rPr lang="en-US" dirty="0"/>
                  <a:t>Suppose a new student joins but hasn't selected a subject yet.</a:t>
                </a:r>
              </a:p>
              <a:p>
                <a:r>
                  <a:rPr lang="en-US" dirty="0"/>
                  <a:t>Where do you store the student information?</a:t>
                </a:r>
              </a:p>
              <a:p>
                <a:r>
                  <a:rPr lang="en-US" dirty="0"/>
                  <a:t>This is an insert anomaly.</a:t>
                </a:r>
              </a:p>
              <a:p>
                <a:r>
                  <a:rPr lang="en-US" dirty="0"/>
                  <a:t>Proper decomposition based on functional dependencies solves this problem.</a:t>
                </a:r>
              </a:p>
              <a:p>
                <a:br>
                  <a:rPr lang="en-US" dirty="0"/>
                </a:br>
                <a:endParaRPr lang="en-US" dirty="0"/>
              </a:p>
              <a:p>
                <a:r>
                  <a:rPr lang="en-US" b="1" dirty="0"/>
                  <a:t>5. Prevent Delete Anomalies</a:t>
                </a:r>
              </a:p>
              <a:p>
                <a:r>
                  <a:rPr lang="en-US" dirty="0"/>
                  <a:t>Suppose:</a:t>
                </a:r>
              </a:p>
              <a:p>
                <a:r>
                  <a:rPr lang="en-US" dirty="0"/>
                  <a:t>Student_IDStudent_NameSubjectS101RamDBMS</a:t>
                </a:r>
              </a:p>
              <a:p>
                <a:r>
                  <a:rPr lang="en-US" dirty="0"/>
                  <a:t>If this row is deleted because Ram drops DBMS, student information is also lost.</a:t>
                </a:r>
              </a:p>
              <a:p>
                <a:r>
                  <a:rPr lang="en-US" dirty="0"/>
                  <a:t>This is a delete anomaly.</a:t>
                </a:r>
              </a:p>
              <a:p>
                <a:r>
                  <a:rPr lang="en-US" dirty="0"/>
                  <a:t>Functional dependencies help detect such design flaws.</a:t>
                </a:r>
              </a:p>
              <a:p>
                <a:br>
                  <a:rPr lang="en-US" dirty="0"/>
                </a:br>
                <a:endParaRPr lang="en-US" dirty="0"/>
              </a:p>
              <a:p>
                <a:r>
                  <a:rPr lang="en-US" b="1" dirty="0"/>
                  <a:t>6. Foundation of Normalization</a:t>
                </a:r>
              </a:p>
              <a:p>
                <a:r>
                  <a:rPr lang="en-US" dirty="0"/>
                  <a:t>Functional dependencies are the basis for normalization.</a:t>
                </a:r>
              </a:p>
              <a:p>
                <a:r>
                  <a:rPr lang="en-US" dirty="0"/>
                  <a:t>Normal </a:t>
                </a:r>
                <a:r>
                  <a:rPr lang="en-US" dirty="0" err="1"/>
                  <a:t>FormUses</a:t>
                </a:r>
                <a:r>
                  <a:rPr lang="en-US" dirty="0"/>
                  <a:t> Functional Dependencies?1NFNo (mainly atomic values)2NFYes (remove partial dependencies)3NFYes (remove transitive dependencies)</a:t>
                </a:r>
                <a:r>
                  <a:rPr lang="en-US" dirty="0" err="1"/>
                  <a:t>BCNFYes</a:t>
                </a:r>
                <a:r>
                  <a:rPr lang="en-US" dirty="0"/>
                  <a:t> (every determinant must be a candidate key)</a:t>
                </a:r>
              </a:p>
              <a:p>
                <a:r>
                  <a:rPr lang="en-US" dirty="0"/>
                  <a:t>Without FDs, normalization cannot be performed correctly.</a:t>
                </a:r>
              </a:p>
              <a:p>
                <a:br>
                  <a:rPr lang="en-US" dirty="0"/>
                </a:br>
                <a:endParaRPr lang="en-US" dirty="0"/>
              </a:p>
              <a:p>
                <a:r>
                  <a:rPr lang="en-US" b="1" dirty="0"/>
                  <a:t>7. Improve Database Consistency</a:t>
                </a:r>
              </a:p>
              <a:p>
                <a:r>
                  <a:rPr lang="en-US" dirty="0"/>
                  <a:t>Example:</a:t>
                </a:r>
              </a:p>
              <a:p>
                <a:r>
                  <a:rPr lang="en-US" sz="1200" i="0" kern="1200">
                    <a:solidFill>
                      <a:schemeClr val="tx1"/>
                    </a:solidFill>
                    <a:latin typeface="+mn-lt"/>
                    <a:ea typeface="+mn-ea"/>
                    <a:cs typeface="+mn-cs"/>
                  </a:rPr>
                  <a:t>𝐸𝑚𝑝𝑙𝑜𝑦𝑒𝑒\_𝐼𝐷→𝑆𝑎𝑙𝑎𝑟𝑦</a:t>
                </a:r>
                <a:endParaRPr lang="en-US" dirty="0"/>
              </a:p>
              <a:p>
                <a:r>
                  <a:rPr lang="en-US" dirty="0"/>
                  <a:t>If </a:t>
                </a:r>
                <a:r>
                  <a:rPr lang="en-US" dirty="0" err="1"/>
                  <a:t>Employee_ID</a:t>
                </a:r>
                <a:r>
                  <a:rPr lang="en-US" dirty="0"/>
                  <a:t> 101 has two different salaries stored in different rows, the FD is violated.</a:t>
                </a:r>
              </a:p>
              <a:p>
                <a:r>
                  <a:rPr lang="en-US" dirty="0"/>
                  <a:t>FDs define rules that maintain consistency.</a:t>
                </a:r>
              </a:p>
              <a:p>
                <a:br>
                  <a:rPr lang="en-US" dirty="0"/>
                </a:br>
                <a:endParaRPr lang="en-US" dirty="0"/>
              </a:p>
              <a:p>
                <a:r>
                  <a:rPr lang="en-US" b="1" dirty="0"/>
                  <a:t>8. Help in Database Decomposition</a:t>
                </a:r>
              </a:p>
              <a:p>
                <a:r>
                  <a:rPr lang="en-US" dirty="0"/>
                  <a:t>Suppose:</a:t>
                </a:r>
              </a:p>
              <a:p>
                <a:r>
                  <a:rPr lang="en-US" dirty="0" err="1"/>
                  <a:t>Student_IDStudent_NameDept_Name</a:t>
                </a:r>
                <a:endParaRPr lang="en-US" dirty="0"/>
              </a:p>
              <a:p>
                <a:r>
                  <a:rPr lang="en-US" dirty="0"/>
                  <a:t>FDs:</a:t>
                </a:r>
              </a:p>
              <a:p>
                <a:r>
                  <a:rPr lang="en-US" sz="1200" i="0" kern="1200">
                    <a:solidFill>
                      <a:schemeClr val="tx1"/>
                    </a:solidFill>
                    <a:latin typeface="+mn-lt"/>
                    <a:ea typeface="+mn-ea"/>
                    <a:cs typeface="+mn-cs"/>
                  </a:rPr>
                  <a:t>𝑆𝑡𝑢𝑑𝑒𝑛𝑡\_𝐼𝐷→𝑆𝑡𝑢𝑑𝑒𝑛𝑡\_𝑁𝑎𝑚𝑒</a:t>
                </a:r>
                <a:endParaRPr lang="en-US" dirty="0"/>
              </a:p>
              <a:p>
                <a:r>
                  <a:rPr lang="en-US" sz="1200" i="0" kern="1200">
                    <a:solidFill>
                      <a:schemeClr val="tx1"/>
                    </a:solidFill>
                    <a:latin typeface="+mn-lt"/>
                    <a:ea typeface="+mn-ea"/>
                    <a:cs typeface="+mn-cs"/>
                  </a:rPr>
                  <a:t>𝐷𝑒𝑝𝑡\_𝐼𝐷→𝐷𝑒𝑝𝑡\_𝑁𝑎𝑚𝑒</a:t>
                </a:r>
                <a:endParaRPr lang="en-US" dirty="0"/>
              </a:p>
              <a:p>
                <a:r>
                  <a:rPr lang="en-US" dirty="0"/>
                  <a:t>Using these dependencies, we can decompose the table into:</a:t>
                </a:r>
              </a:p>
              <a:p>
                <a:r>
                  <a:rPr lang="en-US" b="1" dirty="0"/>
                  <a:t>Student</a:t>
                </a:r>
              </a:p>
              <a:p>
                <a:r>
                  <a:rPr lang="en-US" dirty="0"/>
                  <a:t>| </a:t>
                </a:r>
                <a:r>
                  <a:rPr lang="en-US" dirty="0" err="1"/>
                  <a:t>Student_ID</a:t>
                </a:r>
                <a:r>
                  <a:rPr lang="en-US" dirty="0"/>
                  <a:t> | </a:t>
                </a:r>
                <a:r>
                  <a:rPr lang="en-US" dirty="0" err="1"/>
                  <a:t>Student_Name</a:t>
                </a:r>
                <a:r>
                  <a:rPr lang="en-US" dirty="0"/>
                  <a:t> | </a:t>
                </a:r>
                <a:r>
                  <a:rPr lang="en-US" dirty="0" err="1"/>
                  <a:t>Dept_ID</a:t>
                </a:r>
                <a:r>
                  <a:rPr lang="en-US" dirty="0"/>
                  <a:t> |</a:t>
                </a:r>
              </a:p>
              <a:p>
                <a:r>
                  <a:rPr lang="en-US" b="1" dirty="0"/>
                  <a:t>Department</a:t>
                </a:r>
              </a:p>
              <a:p>
                <a:r>
                  <a:rPr lang="en-US" dirty="0"/>
                  <a:t>| </a:t>
                </a:r>
                <a:r>
                  <a:rPr lang="en-US" dirty="0" err="1"/>
                  <a:t>Dept_ID</a:t>
                </a:r>
                <a:r>
                  <a:rPr lang="en-US" dirty="0"/>
                  <a:t> | </a:t>
                </a:r>
                <a:r>
                  <a:rPr lang="en-US" dirty="0" err="1"/>
                  <a:t>Dept_Name</a:t>
                </a:r>
                <a:r>
                  <a:rPr lang="en-US" dirty="0"/>
                  <a:t> |</a:t>
                </a:r>
              </a:p>
              <a:p>
                <a:r>
                  <a:rPr lang="en-US" dirty="0"/>
                  <a:t>This reduces redundancy and improves maintainability.</a:t>
                </a:r>
              </a:p>
              <a:p>
                <a:br>
                  <a:rPr lang="en-US" dirty="0"/>
                </a:br>
                <a:endParaRPr lang="en-US" dirty="0"/>
              </a:p>
              <a:p>
                <a:r>
                  <a:rPr lang="en-US" b="1" dirty="0"/>
                  <a:t>9. Help Query Optimization</a:t>
                </a:r>
              </a:p>
              <a:p>
                <a:r>
                  <a:rPr lang="en-US" dirty="0"/>
                  <a:t>Database designers and query optimizers can use functional dependencies to:</a:t>
                </a:r>
              </a:p>
              <a:p>
                <a:r>
                  <a:rPr lang="en-US" dirty="0"/>
                  <a:t>Eliminate unnecessary joins </a:t>
                </a:r>
              </a:p>
              <a:p>
                <a:r>
                  <a:rPr lang="en-US" dirty="0"/>
                  <a:t>Improve query plans </a:t>
                </a:r>
              </a:p>
              <a:p>
                <a:r>
                  <a:rPr lang="en-US" dirty="0"/>
                  <a:t>Reduce storage requirements </a:t>
                </a:r>
              </a:p>
              <a:p>
                <a:r>
                  <a:rPr lang="en-US" dirty="0"/>
                  <a:t>Although users may not see it directly, DBMS engines often use dependency information internally.</a:t>
                </a:r>
              </a:p>
              <a:p>
                <a:br>
                  <a:rPr lang="en-US" dirty="0"/>
                </a:br>
                <a:endParaRPr lang="en-US" dirty="0"/>
              </a:p>
              <a:p>
                <a:r>
                  <a:rPr lang="en-US" b="1" dirty="0"/>
                  <a:t>Real-World Example</a:t>
                </a:r>
              </a:p>
              <a:p>
                <a:r>
                  <a:rPr lang="en-US" dirty="0"/>
                  <a:t>Consider a college ERP system (similar to the timetable and ERP systems you've been designing):</a:t>
                </a:r>
              </a:p>
              <a:p>
                <a:r>
                  <a:rPr lang="en-US" b="1" dirty="0"/>
                  <a:t>Faculty Table</a:t>
                </a:r>
              </a:p>
              <a:p>
                <a:r>
                  <a:rPr lang="en-US" dirty="0" err="1"/>
                  <a:t>Faculty_IDFaculty_NameEmail</a:t>
                </a:r>
                <a:endParaRPr lang="en-US" dirty="0"/>
              </a:p>
              <a:p>
                <a:r>
                  <a:rPr lang="en-US" dirty="0"/>
                  <a:t>FD:</a:t>
                </a:r>
              </a:p>
              <a:p>
                <a:r>
                  <a:rPr lang="en-US" sz="1200" i="0" kern="1200">
                    <a:solidFill>
                      <a:schemeClr val="tx1"/>
                    </a:solidFill>
                    <a:latin typeface="+mn-lt"/>
                    <a:ea typeface="+mn-ea"/>
                    <a:cs typeface="+mn-cs"/>
                  </a:rPr>
                  <a:t>𝐹𝑎𝑐𝑢𝑙𝑡𝑦\_𝐼𝐷→𝐹𝑎𝑐𝑢𝑙𝑡𝑦\_𝑁𝑎𝑚𝑒,𝐸𝑚𝑎𝑖𝑙</a:t>
                </a:r>
                <a:endParaRPr lang="en-US" dirty="0"/>
              </a:p>
              <a:p>
                <a:r>
                  <a:rPr lang="en-US" dirty="0"/>
                  <a:t>This tells us:</a:t>
                </a:r>
              </a:p>
              <a:p>
                <a:r>
                  <a:rPr lang="en-US" dirty="0" err="1"/>
                  <a:t>Faculty_ID</a:t>
                </a:r>
                <a:r>
                  <a:rPr lang="en-US" dirty="0"/>
                  <a:t> uniquely identifies a faculty member. </a:t>
                </a:r>
              </a:p>
              <a:p>
                <a:r>
                  <a:rPr lang="en-US" dirty="0" err="1"/>
                  <a:t>Faculty_Name</a:t>
                </a:r>
                <a:r>
                  <a:rPr lang="en-US" dirty="0"/>
                  <a:t> and Email should not be repeatedly stored in timetable records. </a:t>
                </a:r>
              </a:p>
              <a:p>
                <a:r>
                  <a:rPr lang="en-US" dirty="0"/>
                  <a:t>Instead, timetable tables should reference </a:t>
                </a:r>
                <a:r>
                  <a:rPr lang="en-US" dirty="0" err="1"/>
                  <a:t>Faculty_ID</a:t>
                </a:r>
                <a:r>
                  <a:rPr lang="en-US" dirty="0"/>
                  <a:t>. </a:t>
                </a:r>
              </a:p>
              <a:p>
                <a:r>
                  <a:rPr lang="en-US" dirty="0"/>
                  <a:t>This leads to a cleaner and more scalable design.</a:t>
                </a:r>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43</a:t>
            </a:fld>
            <a:endParaRPr lang="en-US"/>
          </a:p>
        </p:txBody>
      </p:sp>
    </p:spTree>
    <p:extLst>
      <p:ext uri="{BB962C8B-B14F-4D97-AF65-F5344CB8AC3E}">
        <p14:creationId xmlns:p14="http://schemas.microsoft.com/office/powerpoint/2010/main" val="17443075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Reasoning</a:t>
            </a:r>
          </a:p>
          <a:p>
            <a:r>
              <a:rPr lang="en-US" dirty="0"/>
              <a:t>StudentID 101 gives:</a:t>
            </a:r>
          </a:p>
          <a:p>
            <a:r>
              <a:rPr lang="en-US" dirty="0"/>
              <a:t>StudentID = 101</a:t>
            </a:r>
          </a:p>
          <a:p>
            <a:r>
              <a:rPr lang="en-US" dirty="0"/>
              <a:t>↓</a:t>
            </a:r>
          </a:p>
          <a:p>
            <a:r>
              <a:rPr lang="en-US" dirty="0" err="1"/>
              <a:t>DeptID</a:t>
            </a:r>
            <a:r>
              <a:rPr lang="en-US" dirty="0"/>
              <a:t> = D01</a:t>
            </a:r>
          </a:p>
          <a:p>
            <a:r>
              <a:rPr lang="en-US" dirty="0"/>
              <a:t>↓</a:t>
            </a:r>
          </a:p>
          <a:p>
            <a:r>
              <a:rPr lang="en-US" dirty="0" err="1"/>
              <a:t>DeptName</a:t>
            </a:r>
            <a:r>
              <a:rPr lang="en-US" dirty="0"/>
              <a:t> = Computer</a:t>
            </a:r>
          </a:p>
          <a:p>
            <a:r>
              <a:rPr lang="en-US" dirty="0"/>
              <a:t>Therefore:</a:t>
            </a:r>
          </a:p>
          <a:p>
            <a:r>
              <a:rPr lang="en-US" dirty="0"/>
              <a:t>StudentID → </a:t>
            </a:r>
            <a:r>
              <a:rPr lang="en-US" dirty="0" err="1"/>
              <a:t>DeptName</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50</a:t>
            </a:fld>
            <a:endParaRPr lang="en-US"/>
          </a:p>
        </p:txBody>
      </p:sp>
    </p:spTree>
    <p:extLst>
      <p:ext uri="{BB962C8B-B14F-4D97-AF65-F5344CB8AC3E}">
        <p14:creationId xmlns:p14="http://schemas.microsoft.com/office/powerpoint/2010/main" val="7344276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XY </a:t>
            </a:r>
            <a:r>
              <a:rPr lang="en-US" dirty="0">
                <a:sym typeface="Wingdings" panose="05000000000000000000" pitchFamily="2" charset="2"/>
              </a:rPr>
              <a:t> z    != XZ ,  YZ</a:t>
            </a:r>
          </a:p>
          <a:p>
            <a:r>
              <a:rPr lang="en-US" dirty="0">
                <a:sym typeface="Wingdings" panose="05000000000000000000" pitchFamily="2" charset="2"/>
              </a:rPr>
              <a:t>We can decompose </a:t>
            </a:r>
            <a:r>
              <a:rPr lang="en-US" dirty="0" err="1">
                <a:sym typeface="Wingdings" panose="05000000000000000000" pitchFamily="2" charset="2"/>
              </a:rPr>
              <a:t>lefet</a:t>
            </a:r>
            <a:r>
              <a:rPr lang="en-US" dirty="0">
                <a:sym typeface="Wingdings" panose="05000000000000000000" pitchFamily="2" charset="2"/>
              </a:rPr>
              <a:t> hand side</a:t>
            </a:r>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52</a:t>
            </a:fld>
            <a:endParaRPr lang="en-US"/>
          </a:p>
        </p:txBody>
      </p:sp>
    </p:spTree>
    <p:extLst>
      <p:ext uri="{BB962C8B-B14F-4D97-AF65-F5344CB8AC3E}">
        <p14:creationId xmlns:p14="http://schemas.microsoft.com/office/powerpoint/2010/main" val="24969086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Note: </a:t>
                </a:r>
              </a:p>
              <a:p>
                <a:r>
                  <a:rPr lang="en-US" b="1" dirty="0"/>
                  <a:t>Finding attribute closure </a:t>
                </a:r>
                <a14:m>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𝑋</m:t>
                        </m:r>
                      </m:e>
                      <m:sup>
                        <m:r>
                          <a:rPr lang="en-US" sz="1200" i="0" kern="1200">
                            <a:solidFill>
                              <a:schemeClr val="tx1"/>
                            </a:solidFill>
                            <a:latin typeface="Cambria Math" panose="02040503050406030204" pitchFamily="18" charset="0"/>
                            <a:ea typeface="+mn-ea"/>
                            <a:cs typeface="+mn-cs"/>
                          </a:rPr>
                          <m:t>+</m:t>
                        </m:r>
                      </m:sup>
                    </m:sSup>
                  </m:oMath>
                </a14:m>
                <a:r>
                  <a:rPr lang="en-US" dirty="0"/>
                  <a:t>→ Usually no need for explicit augmentation. </a:t>
                </a:r>
              </a:p>
              <a:p>
                <a:r>
                  <a:rPr lang="en-US" b="1" dirty="0"/>
                  <a:t>Finding useful FDs in </a:t>
                </a:r>
                <a14:m>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𝐹</m:t>
                        </m:r>
                      </m:e>
                      <m:sup>
                        <m:r>
                          <a:rPr lang="en-US" sz="1200" i="0" kern="1200">
                            <a:solidFill>
                              <a:schemeClr val="tx1"/>
                            </a:solidFill>
                            <a:latin typeface="Cambria Math" panose="02040503050406030204" pitchFamily="18" charset="0"/>
                            <a:ea typeface="+mn-ea"/>
                            <a:cs typeface="+mn-cs"/>
                          </a:rPr>
                          <m:t>+</m:t>
                        </m:r>
                      </m:sup>
                    </m:sSup>
                  </m:oMath>
                </a14:m>
                <a:r>
                  <a:rPr lang="en-US" dirty="0"/>
                  <a:t>→ Mostly use reflexivity, transitivity, union, decomposition. </a:t>
                </a:r>
              </a:p>
              <a:p>
                <a:r>
                  <a:rPr lang="en-US" b="1" dirty="0"/>
                  <a:t>Proving a specific FD</a:t>
                </a:r>
                <a:r>
                  <a:rPr lang="en-US" dirty="0"/>
                  <a:t> → Augmentation may become necessary.</a:t>
                </a:r>
              </a:p>
            </p:txBody>
          </p:sp>
        </mc:Choice>
        <mc:Fallback xmlns="">
          <p:sp>
            <p:nvSpPr>
              <p:cNvPr id="3" name="Notes Placeholder 2"/>
              <p:cNvSpPr>
                <a:spLocks noGrp="1"/>
              </p:cNvSpPr>
              <p:nvPr>
                <p:ph type="body" idx="1"/>
              </p:nvPr>
            </p:nvSpPr>
            <p:spPr/>
            <p:txBody>
              <a:bodyPr/>
              <a:lstStyle/>
              <a:p>
                <a:r>
                  <a:rPr lang="en-US" dirty="0"/>
                  <a:t>Note: </a:t>
                </a:r>
              </a:p>
              <a:p>
                <a:r>
                  <a:rPr lang="en-US" b="1" dirty="0"/>
                  <a:t>Finding attribute closure </a:t>
                </a:r>
                <a:r>
                  <a:rPr lang="en-US" sz="1200" i="0" kern="1200">
                    <a:solidFill>
                      <a:schemeClr val="tx1"/>
                    </a:solidFill>
                    <a:latin typeface="+mn-lt"/>
                    <a:ea typeface="+mn-ea"/>
                    <a:cs typeface="+mn-cs"/>
                  </a:rPr>
                  <a:t>𝑋^+</a:t>
                </a:r>
                <a:r>
                  <a:rPr lang="en-US" dirty="0"/>
                  <a:t>→ Usually no need for explicit augmentation. </a:t>
                </a:r>
              </a:p>
              <a:p>
                <a:r>
                  <a:rPr lang="en-US" b="1" dirty="0"/>
                  <a:t>Finding useful FDs in </a:t>
                </a:r>
                <a:r>
                  <a:rPr lang="en-US" sz="1200" i="0" kern="1200">
                    <a:solidFill>
                      <a:schemeClr val="tx1"/>
                    </a:solidFill>
                    <a:latin typeface="+mn-lt"/>
                    <a:ea typeface="+mn-ea"/>
                    <a:cs typeface="+mn-cs"/>
                  </a:rPr>
                  <a:t>𝐹^+</a:t>
                </a:r>
                <a:r>
                  <a:rPr lang="en-US" dirty="0"/>
                  <a:t>→ Mostly use reflexivity, transitivity, union, decomposition. </a:t>
                </a:r>
              </a:p>
              <a:p>
                <a:r>
                  <a:rPr lang="en-US" b="1" dirty="0"/>
                  <a:t>Proving a specific FD</a:t>
                </a:r>
                <a:r>
                  <a:rPr lang="en-US" dirty="0"/>
                  <a:t> → Augmentation may become necessary.</a:t>
                </a:r>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58</a:t>
            </a:fld>
            <a:endParaRPr lang="en-US"/>
          </a:p>
        </p:txBody>
      </p:sp>
    </p:spTree>
    <p:extLst>
      <p:ext uri="{BB962C8B-B14F-4D97-AF65-F5344CB8AC3E}">
        <p14:creationId xmlns:p14="http://schemas.microsoft.com/office/powerpoint/2010/main" val="24143856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Attribute closure tells us all the attributes that can be obtained or inferred starting </a:t>
            </a:r>
          </a:p>
          <a:p>
            <a:r>
              <a:rPr lang="en-US" b="1" dirty="0"/>
              <a:t>Why Do We Need Attribute Closure?</a:t>
            </a:r>
          </a:p>
          <a:p>
            <a:pPr lvl="1"/>
            <a:r>
              <a:rPr lang="en-US" dirty="0"/>
              <a:t>Attribute closure is used to:</a:t>
            </a:r>
          </a:p>
          <a:p>
            <a:pPr lvl="1"/>
            <a:r>
              <a:rPr lang="en-US" dirty="0"/>
              <a:t>Find </a:t>
            </a:r>
            <a:r>
              <a:rPr lang="en-US" b="1" dirty="0"/>
              <a:t>Candidate Keys</a:t>
            </a:r>
            <a:r>
              <a:rPr lang="en-US" dirty="0"/>
              <a:t> </a:t>
            </a:r>
          </a:p>
          <a:p>
            <a:pPr lvl="1"/>
            <a:r>
              <a:rPr lang="en-US" dirty="0"/>
              <a:t>Check whether an FD is implied by a set of FDs </a:t>
            </a:r>
          </a:p>
          <a:p>
            <a:pPr lvl="1"/>
            <a:r>
              <a:rPr lang="en-US" dirty="0"/>
              <a:t>Find </a:t>
            </a:r>
            <a:r>
              <a:rPr lang="en-US" b="1" dirty="0"/>
              <a:t>Super Keys</a:t>
            </a:r>
            <a:r>
              <a:rPr lang="en-US" dirty="0"/>
              <a:t> </a:t>
            </a:r>
          </a:p>
          <a:p>
            <a:pPr lvl="1"/>
            <a:r>
              <a:rPr lang="en-US" dirty="0"/>
              <a:t>Perform </a:t>
            </a:r>
            <a:r>
              <a:rPr lang="en-US" b="1" dirty="0"/>
              <a:t>Normalization</a:t>
            </a:r>
            <a:r>
              <a:rPr lang="en-US" dirty="0"/>
              <a:t> </a:t>
            </a:r>
          </a:p>
          <a:p>
            <a:pPr lvl="1"/>
            <a:r>
              <a:rPr lang="en-US" dirty="0"/>
              <a:t>Determine whether a decomposition is lossless</a:t>
            </a:r>
          </a:p>
          <a:p>
            <a:r>
              <a:rPr lang="en-US" dirty="0"/>
              <a:t>from a given attribute set.</a:t>
            </a:r>
          </a:p>
        </p:txBody>
      </p:sp>
      <p:sp>
        <p:nvSpPr>
          <p:cNvPr id="4" name="Slide Number Placeholder 3"/>
          <p:cNvSpPr>
            <a:spLocks noGrp="1"/>
          </p:cNvSpPr>
          <p:nvPr>
            <p:ph type="sldNum" sz="quarter" idx="5"/>
          </p:nvPr>
        </p:nvSpPr>
        <p:spPr/>
        <p:txBody>
          <a:bodyPr/>
          <a:lstStyle/>
          <a:p>
            <a:fld id="{532ED260-D111-491D-AB9F-FC8569A2A916}" type="slidenum">
              <a:rPr lang="en-US" smtClean="0"/>
              <a:t>59</a:t>
            </a:fld>
            <a:endParaRPr lang="en-US"/>
          </a:p>
        </p:txBody>
      </p:sp>
    </p:spTree>
    <p:extLst>
      <p:ext uri="{BB962C8B-B14F-4D97-AF65-F5344CB8AC3E}">
        <p14:creationId xmlns:p14="http://schemas.microsoft.com/office/powerpoint/2010/main" val="5173942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61</a:t>
            </a:fld>
            <a:endParaRPr lang="en-US"/>
          </a:p>
        </p:txBody>
      </p:sp>
    </p:spTree>
    <p:extLst>
      <p:ext uri="{BB962C8B-B14F-4D97-AF65-F5344CB8AC3E}">
        <p14:creationId xmlns:p14="http://schemas.microsoft.com/office/powerpoint/2010/main" val="29350357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br>
                  <a:rPr lang="en-US" dirty="0"/>
                </a:br>
                <a:endParaRPr lang="en-US" dirty="0"/>
              </a:p>
              <a:p>
                <a:r>
                  <a:rPr lang="en-US" b="1" dirty="0"/>
                  <a:t>Rules for Finding Candidate Keys</a:t>
                </a:r>
              </a:p>
              <a:p>
                <a:r>
                  <a:rPr lang="en-US" b="1" dirty="0"/>
                  <a:t>Rule 1: Attributes Never Appearing on RHS Must Be in Every Candidate Key</a:t>
                </a:r>
              </a:p>
              <a:p>
                <a:r>
                  <a:rPr lang="en-US" dirty="0"/>
                  <a:t>Example: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m:t>
                      </m:r>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m:t>
                      </m:r>
                    </m:oMath>
                  </m:oMathPara>
                </a14:m>
                <a:endParaRPr lang="en-US" dirty="0"/>
              </a:p>
              <a:p>
                <a:r>
                  <a:rPr lang="en-US" dirty="0"/>
                  <a:t>Notice D never appears on RHS.</a:t>
                </a:r>
              </a:p>
              <a:p>
                <a:r>
                  <a:rPr lang="en-US" dirty="0"/>
                  <a:t>Therefore D cannot be derived from any FD.</a:t>
                </a:r>
              </a:p>
              <a:p>
                <a:r>
                  <a:rPr lang="en-US" dirty="0"/>
                  <a:t>So every Candidate Key must contain D.</a:t>
                </a:r>
              </a:p>
              <a:p>
                <a:br>
                  <a:rPr lang="en-US" dirty="0"/>
                </a:br>
                <a:endParaRPr lang="en-US" dirty="0"/>
              </a:p>
              <a:p>
                <a:r>
                  <a:rPr lang="en-US" b="1" dirty="0"/>
                  <a:t>Rule 2: Find Attribute Closure</a:t>
                </a:r>
              </a:p>
              <a:p>
                <a:r>
                  <a:rPr lang="en-US" dirty="0"/>
                  <a:t>Compute closure of attribute combinations.</a:t>
                </a:r>
              </a:p>
              <a:p>
                <a:r>
                  <a:rPr lang="en-US" dirty="0"/>
                  <a:t>If closure contains all attributes of R, then it is a Super Key.</a:t>
                </a:r>
              </a:p>
              <a:p>
                <a:br>
                  <a:rPr lang="en-US" dirty="0"/>
                </a:br>
                <a:endParaRPr lang="en-US" dirty="0"/>
              </a:p>
              <a:p>
                <a:r>
                  <a:rPr lang="en-US" b="1" dirty="0"/>
                  <a:t>Rule 3: Check Minimality</a:t>
                </a:r>
              </a:p>
              <a:p>
                <a:r>
                  <a:rPr lang="en-US" dirty="0"/>
                  <a:t>Remove one attribute at a time.</a:t>
                </a:r>
              </a:p>
              <a:p>
                <a:r>
                  <a:rPr lang="en-US" dirty="0"/>
                  <a:t>If closure still gives all attributes, the original set is not minimal.</a:t>
                </a:r>
              </a:p>
              <a:p>
                <a:br>
                  <a:rPr lang="en-US" dirty="0"/>
                </a:br>
                <a:endParaRPr lang="en-US" dirty="0"/>
              </a:p>
              <a:p>
                <a:r>
                  <a:rPr lang="en-US" b="1" dirty="0"/>
                  <a:t>Example 1</a:t>
                </a:r>
              </a:p>
              <a:p>
                <a:r>
                  <a:rPr lang="en-US" dirty="0"/>
                  <a:t>Relation: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m:t>
                      </m:r>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m:t>
                      </m:r>
                    </m:oMath>
                  </m:oMathPara>
                </a14:m>
                <a:endParaRPr lang="en-US" dirty="0"/>
              </a:p>
              <a:p>
                <a:br>
                  <a:rPr lang="en-US" dirty="0"/>
                </a:br>
                <a:endParaRPr lang="en-US" dirty="0"/>
              </a:p>
              <a:p>
                <a:r>
                  <a:rPr lang="en-US" b="1" dirty="0"/>
                  <a:t>Find A⁺</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𝐴</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Contains all attributes.</a:t>
                </a:r>
              </a:p>
              <a:p>
                <a:r>
                  <a:rPr lang="en-US" dirty="0"/>
                  <a:t>So A is a Super Key.</a:t>
                </a:r>
              </a:p>
              <a:p>
                <a:r>
                  <a:rPr lang="en-US" dirty="0"/>
                  <a:t>Since A has only one attribute, nothing can be removed.</a:t>
                </a:r>
              </a:p>
              <a:p>
                <a:r>
                  <a:rPr lang="en-US" dirty="0"/>
                  <a:t>Therefore:</a:t>
                </a:r>
              </a:p>
              <a:p>
                <a:r>
                  <a:rPr lang="en-US" b="1" dirty="0"/>
                  <a:t>Candidate Key = {A}</a:t>
                </a:r>
                <a:endParaRPr lang="en-US" dirty="0"/>
              </a:p>
              <a:p>
                <a:br>
                  <a:rPr lang="en-US" dirty="0"/>
                </a:br>
                <a:endParaRPr lang="en-US" dirty="0"/>
              </a:p>
              <a:p>
                <a:r>
                  <a:rPr lang="en-US" b="1" dirty="0"/>
                  <a:t>Example 2</a:t>
                </a:r>
              </a:p>
              <a:p>
                <a:r>
                  <a:rPr lang="en-US" dirty="0"/>
                  <a:t>Relation: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m:t>
                      </m:r>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m:t>
                      </m:r>
                    </m:oMath>
                  </m:oMathPara>
                </a14:m>
                <a:endParaRPr lang="en-US" dirty="0"/>
              </a:p>
              <a:p>
                <a:br>
                  <a:rPr lang="en-US" dirty="0"/>
                </a:br>
                <a:endParaRPr lang="en-US" dirty="0"/>
              </a:p>
              <a:p>
                <a:r>
                  <a:rPr lang="en-US" b="1" dirty="0"/>
                  <a:t>Find AC⁺</a:t>
                </a:r>
              </a:p>
              <a:p>
                <a:r>
                  <a:rPr lang="en-US" dirty="0"/>
                  <a:t>Start:</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𝐶</m:t>
                          </m:r>
                        </m:e>
                      </m:d>
                    </m:oMath>
                  </m:oMathPara>
                </a14:m>
                <a:endParaRPr lang="en-US" dirty="0"/>
              </a:p>
              <a:p>
                <a:r>
                  <a:rPr lang="en-US" dirty="0"/>
                  <a:t>Apply:</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d>
                    </m:oMath>
                  </m:oMathPara>
                </a14:m>
                <a:endParaRPr lang="en-US" dirty="0"/>
              </a:p>
              <a:p>
                <a:r>
                  <a:rPr lang="en-US" dirty="0"/>
                  <a:t>Apply:</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Contains all attributes.</a:t>
                </a:r>
              </a:p>
              <a:p>
                <a:r>
                  <a:rPr lang="en-US" dirty="0"/>
                  <a:t>So AC is a Super Key.</a:t>
                </a:r>
              </a:p>
              <a:p>
                <a:br>
                  <a:rPr lang="en-US" dirty="0"/>
                </a:br>
                <a:endParaRPr lang="en-US" dirty="0"/>
              </a:p>
              <a:p>
                <a:r>
                  <a:rPr lang="en-US" dirty="0"/>
                  <a:t>Check subsets:</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𝐴</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d>
                    </m:oMath>
                  </m:oMathPara>
                </a14:m>
                <a:endParaRPr lang="en-US" dirty="0"/>
              </a:p>
              <a:p>
                <a:r>
                  <a:rPr lang="en-US" dirty="0"/>
                  <a:t>Not all attributes.</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Not all attributes.</a:t>
                </a:r>
              </a:p>
              <a:p>
                <a:r>
                  <a:rPr lang="en-US" dirty="0"/>
                  <a:t>Therefore neither A nor C alone is sufficient.</a:t>
                </a:r>
              </a:p>
              <a:p>
                <a:r>
                  <a:rPr lang="en-US" dirty="0"/>
                  <a:t>Hence:</a:t>
                </a:r>
              </a:p>
              <a:p>
                <a:r>
                  <a:rPr lang="en-US" b="1" dirty="0"/>
                  <a:t>Candidate Key = {AC}</a:t>
                </a:r>
                <a:endParaRPr lang="en-US" dirty="0"/>
              </a:p>
              <a:p>
                <a:br>
                  <a:rPr lang="en-US" dirty="0"/>
                </a:br>
                <a:endParaRPr lang="en-US" dirty="0"/>
              </a:p>
              <a:p>
                <a:r>
                  <a:rPr lang="en-US" b="1" dirty="0"/>
                  <a:t>Example 3</a:t>
                </a:r>
              </a:p>
              <a:p>
                <a:r>
                  <a:rPr lang="en-US" dirty="0"/>
                  <a:t>Relation: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m:t>
                      </m:r>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𝐵𝐶</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𝐸𝐹</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𝐸</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𝐶𝐹</m:t>
                      </m:r>
                    </m:oMath>
                  </m:oMathPara>
                </a14:m>
                <a:endParaRPr lang="en-US" dirty="0"/>
              </a:p>
              <a:p>
                <a:br>
                  <a:rPr lang="en-US" dirty="0"/>
                </a:br>
                <a:endParaRPr lang="en-US" dirty="0"/>
              </a:p>
              <a:p>
                <a:r>
                  <a:rPr lang="en-US" b="1" dirty="0"/>
                  <a:t>Step 1: Find attributes not on RHS</a:t>
                </a:r>
              </a:p>
              <a:p>
                <a:r>
                  <a:rPr lang="en-US" dirty="0"/>
                  <a:t>RHS contains:</a:t>
                </a:r>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Attributes not on RHS:</a:t>
                </a:r>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Therefore every Candidate Key must contain A and D.</a:t>
                </a:r>
              </a:p>
              <a:p>
                <a:br>
                  <a:rPr lang="en-US" dirty="0"/>
                </a:br>
                <a:endParaRPr lang="en-US" dirty="0"/>
              </a:p>
              <a:p>
                <a:r>
                  <a:rPr lang="en-US" b="1" dirty="0"/>
                  <a:t>Step 2: Find (AD)⁺</a:t>
                </a:r>
              </a:p>
              <a:p>
                <a:r>
                  <a:rPr lang="en-US" dirty="0"/>
                  <a:t>Start:</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d>
                            <m:dPr>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𝐴𝐷</m:t>
                              </m:r>
                            </m:e>
                          </m:d>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Using</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𝐵𝐶</m:t>
                      </m:r>
                    </m:oMath>
                  </m:oMathPara>
                </a14:m>
                <a:endParaRPr lang="en-US" dirty="0"/>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Using</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m:t>
                      </m:r>
                    </m:oMath>
                  </m:oMathPara>
                </a14:m>
                <a:endParaRPr lang="en-US" dirty="0"/>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e>
                          <m:r>
                            <a:rPr lang="en-US" sz="1200" i="1" kern="1200">
                              <a:solidFill>
                                <a:schemeClr val="tx1"/>
                              </a:solidFill>
                              <a:latin typeface="Cambria Math" panose="02040503050406030204" pitchFamily="18" charset="0"/>
                              <a:ea typeface="+mn-ea"/>
                              <a:cs typeface="+mn-cs"/>
                            </a:rPr>
                            <m:t>𝐸</m:t>
                          </m:r>
                        </m:e>
                      </m:d>
                    </m:oMath>
                  </m:oMathPara>
                </a14:m>
                <a:endParaRPr lang="en-US" dirty="0"/>
              </a:p>
              <a:p>
                <a:r>
                  <a:rPr lang="en-US" dirty="0"/>
                  <a:t>Using</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𝐹</m:t>
                      </m:r>
                    </m:oMath>
                  </m:oMathPara>
                </a14:m>
                <a:endParaRPr lang="en-US" dirty="0"/>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All attributes obtained.</a:t>
                </a:r>
              </a:p>
              <a:p>
                <a:r>
                  <a:rPr lang="en-US" dirty="0"/>
                  <a:t>Therefore:</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d>
                            <m:dPr>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𝐴𝐷</m:t>
                              </m:r>
                            </m:e>
                          </m:d>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𝑅</m:t>
                      </m:r>
                    </m:oMath>
                  </m:oMathPara>
                </a14:m>
                <a:endParaRPr lang="en-US" dirty="0"/>
              </a:p>
              <a:p>
                <a:r>
                  <a:rPr lang="en-US" dirty="0"/>
                  <a:t>So AD is a Super Key.</a:t>
                </a:r>
              </a:p>
              <a:p>
                <a:br>
                  <a:rPr lang="en-US" dirty="0"/>
                </a:br>
                <a:endParaRPr lang="en-US" dirty="0"/>
              </a:p>
              <a:p>
                <a:r>
                  <a:rPr lang="en-US" b="1" dirty="0"/>
                  <a:t>Step 3: Check Minimality</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𝐴</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Missing D.</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𝐷</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Missing others.</a:t>
                </a:r>
              </a:p>
              <a:p>
                <a:r>
                  <a:rPr lang="en-US" dirty="0"/>
                  <a:t>Neither A nor D alone works.</a:t>
                </a:r>
              </a:p>
              <a:p>
                <a:r>
                  <a:rPr lang="en-US" dirty="0"/>
                  <a:t>Therefore:</a:t>
                </a:r>
              </a:p>
              <a:p>
                <a:r>
                  <a:rPr lang="en-US" b="1" dirty="0"/>
                  <a:t>Candidate Key = {AD}</a:t>
                </a:r>
                <a:endParaRPr lang="en-US" dirty="0"/>
              </a:p>
              <a:p>
                <a:endParaRPr lang="en-US" dirty="0"/>
              </a:p>
              <a:p>
                <a:endParaRPr lang="en-US" dirty="0"/>
              </a:p>
            </p:txBody>
          </p:sp>
        </mc:Choice>
        <mc:Fallback xmlns="">
          <p:sp>
            <p:nvSpPr>
              <p:cNvPr id="3" name="Notes Placeholder 2"/>
              <p:cNvSpPr>
                <a:spLocks noGrp="1"/>
              </p:cNvSpPr>
              <p:nvPr>
                <p:ph type="body" idx="1"/>
              </p:nvPr>
            </p:nvSpPr>
            <p:spPr/>
            <p:txBody>
              <a:bodyPr/>
              <a:lstStyle/>
              <a:p>
                <a:br>
                  <a:rPr lang="en-US" dirty="0"/>
                </a:br>
                <a:endParaRPr lang="en-US" dirty="0"/>
              </a:p>
              <a:p>
                <a:r>
                  <a:rPr lang="en-US" b="1" dirty="0"/>
                  <a:t>Rules for Finding Candidate Keys</a:t>
                </a:r>
              </a:p>
              <a:p>
                <a:r>
                  <a:rPr lang="en-US" b="1" dirty="0"/>
                  <a:t>Rule 1: Attributes Never Appearing on RHS Must Be in Every Candidate Key</a:t>
                </a:r>
              </a:p>
              <a:p>
                <a:r>
                  <a:rPr lang="en-US" dirty="0"/>
                  <a:t>Example:</a:t>
                </a:r>
              </a:p>
              <a:p>
                <a:pPr/>
                <a:r>
                  <a:rPr lang="en-US" sz="1200" i="0" kern="1200">
                    <a:solidFill>
                      <a:schemeClr val="tx1"/>
                    </a:solidFill>
                    <a:latin typeface="Cambria Math" panose="02040503050406030204" pitchFamily="18" charset="0"/>
                    <a:ea typeface="+mn-ea"/>
                    <a:cs typeface="+mn-cs"/>
                  </a:rPr>
                  <a:t>𝑅(𝐴ⓜ,𝐵ⓜ,𝐶ⓜ,𝐷)</a:t>
                </a:r>
                <a:endParaRPr lang="en-US" dirty="0"/>
              </a:p>
              <a:p>
                <a:r>
                  <a:rPr lang="en-US" dirty="0"/>
                  <a:t>FDs:</a:t>
                </a:r>
              </a:p>
              <a:p>
                <a:pPr/>
                <a:r>
                  <a:rPr lang="en-US" sz="1200" i="0" kern="1200">
                    <a:solidFill>
                      <a:schemeClr val="tx1"/>
                    </a:solidFill>
                    <a:latin typeface="Cambria Math" panose="02040503050406030204" pitchFamily="18" charset="0"/>
                    <a:ea typeface="+mn-ea"/>
                    <a:cs typeface="+mn-cs"/>
                  </a:rPr>
                  <a:t>𝐴→𝐵</a:t>
                </a:r>
                <a:endParaRPr lang="en-US" dirty="0"/>
              </a:p>
              <a:p>
                <a:pPr/>
                <a:r>
                  <a:rPr lang="en-US" sz="1200" i="0" kern="1200">
                    <a:solidFill>
                      <a:schemeClr val="tx1"/>
                    </a:solidFill>
                    <a:latin typeface="Cambria Math" panose="02040503050406030204" pitchFamily="18" charset="0"/>
                    <a:ea typeface="+mn-ea"/>
                    <a:cs typeface="+mn-cs"/>
                  </a:rPr>
                  <a:t>𝐵→𝐶</a:t>
                </a:r>
                <a:endParaRPr lang="en-US" dirty="0"/>
              </a:p>
              <a:p>
                <a:r>
                  <a:rPr lang="en-US" dirty="0"/>
                  <a:t>Notice D never appears on RHS.</a:t>
                </a:r>
              </a:p>
              <a:p>
                <a:r>
                  <a:rPr lang="en-US" dirty="0"/>
                  <a:t>Therefore D cannot be derived from any FD.</a:t>
                </a:r>
              </a:p>
              <a:p>
                <a:r>
                  <a:rPr lang="en-US" dirty="0"/>
                  <a:t>So every Candidate Key must contain D.</a:t>
                </a:r>
              </a:p>
              <a:p>
                <a:br>
                  <a:rPr lang="en-US" dirty="0"/>
                </a:br>
                <a:endParaRPr lang="en-US" dirty="0"/>
              </a:p>
              <a:p>
                <a:r>
                  <a:rPr lang="en-US" b="1" dirty="0"/>
                  <a:t>Rule 2: Find Attribute Closure</a:t>
                </a:r>
              </a:p>
              <a:p>
                <a:r>
                  <a:rPr lang="en-US" dirty="0"/>
                  <a:t>Compute closure of attribute combinations.</a:t>
                </a:r>
              </a:p>
              <a:p>
                <a:r>
                  <a:rPr lang="en-US" dirty="0"/>
                  <a:t>If closure contains all attributes of R, then it is a Super Key.</a:t>
                </a:r>
              </a:p>
              <a:p>
                <a:br>
                  <a:rPr lang="en-US" dirty="0"/>
                </a:br>
                <a:endParaRPr lang="en-US" dirty="0"/>
              </a:p>
              <a:p>
                <a:r>
                  <a:rPr lang="en-US" b="1" dirty="0"/>
                  <a:t>Rule 3: Check Minimality</a:t>
                </a:r>
              </a:p>
              <a:p>
                <a:r>
                  <a:rPr lang="en-US" dirty="0"/>
                  <a:t>Remove one attribute at a time.</a:t>
                </a:r>
              </a:p>
              <a:p>
                <a:r>
                  <a:rPr lang="en-US" dirty="0"/>
                  <a:t>If closure still gives all attributes, the original set is not minimal.</a:t>
                </a:r>
              </a:p>
              <a:p>
                <a:br>
                  <a:rPr lang="en-US" dirty="0"/>
                </a:br>
                <a:endParaRPr lang="en-US" dirty="0"/>
              </a:p>
              <a:p>
                <a:r>
                  <a:rPr lang="en-US" b="1" dirty="0"/>
                  <a:t>Example 1</a:t>
                </a:r>
              </a:p>
              <a:p>
                <a:r>
                  <a:rPr lang="en-US" dirty="0"/>
                  <a:t>Relation:</a:t>
                </a:r>
              </a:p>
              <a:p>
                <a:pPr/>
                <a:r>
                  <a:rPr lang="en-US" sz="1200" i="0" kern="1200">
                    <a:solidFill>
                      <a:schemeClr val="tx1"/>
                    </a:solidFill>
                    <a:latin typeface="Cambria Math" panose="02040503050406030204" pitchFamily="18" charset="0"/>
                    <a:ea typeface="+mn-ea"/>
                    <a:cs typeface="+mn-cs"/>
                  </a:rPr>
                  <a:t>𝑅(𝐴ⓜ,𝐵ⓜ,𝐶ⓜ,𝐷)</a:t>
                </a:r>
                <a:endParaRPr lang="en-US" dirty="0"/>
              </a:p>
              <a:p>
                <a:r>
                  <a:rPr lang="en-US" dirty="0"/>
                  <a:t>FDs:</a:t>
                </a:r>
              </a:p>
              <a:p>
                <a:pPr/>
                <a:r>
                  <a:rPr lang="en-US" sz="1200" i="0" kern="1200">
                    <a:solidFill>
                      <a:schemeClr val="tx1"/>
                    </a:solidFill>
                    <a:latin typeface="Cambria Math" panose="02040503050406030204" pitchFamily="18" charset="0"/>
                    <a:ea typeface="+mn-ea"/>
                    <a:cs typeface="+mn-cs"/>
                  </a:rPr>
                  <a:t>𝐴→𝐵</a:t>
                </a:r>
                <a:endParaRPr lang="en-US" dirty="0"/>
              </a:p>
              <a:p>
                <a:pPr/>
                <a:r>
                  <a:rPr lang="en-US" sz="1200" i="0" kern="1200">
                    <a:solidFill>
                      <a:schemeClr val="tx1"/>
                    </a:solidFill>
                    <a:latin typeface="Cambria Math" panose="02040503050406030204" pitchFamily="18" charset="0"/>
                    <a:ea typeface="+mn-ea"/>
                    <a:cs typeface="+mn-cs"/>
                  </a:rPr>
                  <a:t>𝐵→𝐶</a:t>
                </a:r>
                <a:endParaRPr lang="en-US" dirty="0"/>
              </a:p>
              <a:p>
                <a:pPr/>
                <a:r>
                  <a:rPr lang="en-US" sz="1200" i="0" kern="1200">
                    <a:solidFill>
                      <a:schemeClr val="tx1"/>
                    </a:solidFill>
                    <a:latin typeface="Cambria Math" panose="02040503050406030204" pitchFamily="18" charset="0"/>
                    <a:ea typeface="+mn-ea"/>
                    <a:cs typeface="+mn-cs"/>
                  </a:rPr>
                  <a:t>𝐶→𝐷</a:t>
                </a:r>
                <a:endParaRPr lang="en-US" dirty="0"/>
              </a:p>
              <a:p>
                <a:br>
                  <a:rPr lang="en-US" dirty="0"/>
                </a:br>
                <a:endParaRPr lang="en-US" dirty="0"/>
              </a:p>
              <a:p>
                <a:r>
                  <a:rPr lang="en-US" b="1" dirty="0"/>
                  <a:t>Find A⁺</a:t>
                </a:r>
              </a:p>
              <a:p>
                <a:pPr/>
                <a:r>
                  <a:rPr lang="en-US" sz="1200" i="0" kern="1200">
                    <a:solidFill>
                      <a:schemeClr val="tx1"/>
                    </a:solidFill>
                    <a:latin typeface="Cambria Math" panose="02040503050406030204" pitchFamily="18" charset="0"/>
                    <a:ea typeface="+mn-ea"/>
                    <a:cs typeface="+mn-cs"/>
                  </a:rPr>
                  <a:t>𝐴^+={𝐴ⓜ,𝐵ⓜ,𝐶ⓜ,𝐷}</a:t>
                </a:r>
                <a:endParaRPr lang="en-US" dirty="0"/>
              </a:p>
              <a:p>
                <a:r>
                  <a:rPr lang="en-US" dirty="0"/>
                  <a:t>Contains all attributes.</a:t>
                </a:r>
              </a:p>
              <a:p>
                <a:r>
                  <a:rPr lang="en-US" dirty="0"/>
                  <a:t>So A is a Super Key.</a:t>
                </a:r>
              </a:p>
              <a:p>
                <a:r>
                  <a:rPr lang="en-US" dirty="0"/>
                  <a:t>Since A has only one attribute, nothing can be removed.</a:t>
                </a:r>
              </a:p>
              <a:p>
                <a:r>
                  <a:rPr lang="en-US" dirty="0"/>
                  <a:t>Therefore:</a:t>
                </a:r>
              </a:p>
              <a:p>
                <a:r>
                  <a:rPr lang="en-US" b="1" dirty="0"/>
                  <a:t>Candidate Key = {A}</a:t>
                </a:r>
                <a:endParaRPr lang="en-US" dirty="0"/>
              </a:p>
              <a:p>
                <a:br>
                  <a:rPr lang="en-US" dirty="0"/>
                </a:br>
                <a:endParaRPr lang="en-US" dirty="0"/>
              </a:p>
              <a:p>
                <a:r>
                  <a:rPr lang="en-US" b="1" dirty="0"/>
                  <a:t>Example 2</a:t>
                </a:r>
              </a:p>
              <a:p>
                <a:r>
                  <a:rPr lang="en-US" dirty="0"/>
                  <a:t>Relation:</a:t>
                </a:r>
              </a:p>
              <a:p>
                <a:pPr/>
                <a:r>
                  <a:rPr lang="en-US" sz="1200" i="0" kern="1200">
                    <a:solidFill>
                      <a:schemeClr val="tx1"/>
                    </a:solidFill>
                    <a:latin typeface="Cambria Math" panose="02040503050406030204" pitchFamily="18" charset="0"/>
                    <a:ea typeface="+mn-ea"/>
                    <a:cs typeface="+mn-cs"/>
                  </a:rPr>
                  <a:t>𝑅(𝐴ⓜ,𝐵ⓜ,𝐶ⓜ,𝐷)</a:t>
                </a:r>
                <a:endParaRPr lang="en-US" dirty="0"/>
              </a:p>
              <a:p>
                <a:r>
                  <a:rPr lang="en-US" dirty="0"/>
                  <a:t>FDs:</a:t>
                </a:r>
              </a:p>
              <a:p>
                <a:pPr/>
                <a:r>
                  <a:rPr lang="en-US" sz="1200" i="0" kern="1200">
                    <a:solidFill>
                      <a:schemeClr val="tx1"/>
                    </a:solidFill>
                    <a:latin typeface="Cambria Math" panose="02040503050406030204" pitchFamily="18" charset="0"/>
                    <a:ea typeface="+mn-ea"/>
                    <a:cs typeface="+mn-cs"/>
                  </a:rPr>
                  <a:t>𝐴→𝐵</a:t>
                </a:r>
                <a:endParaRPr lang="en-US" dirty="0"/>
              </a:p>
              <a:p>
                <a:pPr/>
                <a:r>
                  <a:rPr lang="en-US" sz="1200" i="0" kern="1200">
                    <a:solidFill>
                      <a:schemeClr val="tx1"/>
                    </a:solidFill>
                    <a:latin typeface="Cambria Math" panose="02040503050406030204" pitchFamily="18" charset="0"/>
                    <a:ea typeface="+mn-ea"/>
                    <a:cs typeface="+mn-cs"/>
                  </a:rPr>
                  <a:t>𝐶→𝐷</a:t>
                </a:r>
                <a:endParaRPr lang="en-US" dirty="0"/>
              </a:p>
              <a:p>
                <a:br>
                  <a:rPr lang="en-US" dirty="0"/>
                </a:br>
                <a:endParaRPr lang="en-US" dirty="0"/>
              </a:p>
              <a:p>
                <a:r>
                  <a:rPr lang="en-US" b="1" dirty="0"/>
                  <a:t>Find AC⁺</a:t>
                </a:r>
              </a:p>
              <a:p>
                <a:r>
                  <a:rPr lang="en-US" dirty="0"/>
                  <a:t>Start:</a:t>
                </a:r>
              </a:p>
              <a:p>
                <a:pPr/>
                <a:r>
                  <a:rPr lang="en-US" sz="1200" i="0" kern="1200">
                    <a:solidFill>
                      <a:schemeClr val="tx1"/>
                    </a:solidFill>
                    <a:latin typeface="Cambria Math" panose="02040503050406030204" pitchFamily="18" charset="0"/>
                    <a:ea typeface="+mn-ea"/>
                    <a:cs typeface="+mn-cs"/>
                  </a:rPr>
                  <a:t>𝐴𝐶^+={𝐴ⓜ,𝐶}</a:t>
                </a:r>
                <a:endParaRPr lang="en-US" dirty="0"/>
              </a:p>
              <a:p>
                <a:r>
                  <a:rPr lang="en-US" dirty="0"/>
                  <a:t>Apply:</a:t>
                </a:r>
              </a:p>
              <a:p>
                <a:pPr/>
                <a:r>
                  <a:rPr lang="en-US" sz="1200" i="0" kern="1200">
                    <a:solidFill>
                      <a:schemeClr val="tx1"/>
                    </a:solidFill>
                    <a:latin typeface="Cambria Math" panose="02040503050406030204" pitchFamily="18" charset="0"/>
                    <a:ea typeface="+mn-ea"/>
                    <a:cs typeface="+mn-cs"/>
                  </a:rPr>
                  <a:t>𝐴→𝐵</a:t>
                </a:r>
                <a:endParaRPr lang="en-US" dirty="0"/>
              </a:p>
              <a:p>
                <a:pPr/>
                <a:r>
                  <a:rPr lang="en-US" sz="1200" i="0" kern="1200">
                    <a:solidFill>
                      <a:schemeClr val="tx1"/>
                    </a:solidFill>
                    <a:latin typeface="Cambria Math" panose="02040503050406030204" pitchFamily="18" charset="0"/>
                    <a:ea typeface="+mn-ea"/>
                    <a:cs typeface="+mn-cs"/>
                  </a:rPr>
                  <a:t>𝐴𝐶^+={𝐴ⓜ,𝐵ⓜ,𝐶}</a:t>
                </a:r>
                <a:endParaRPr lang="en-US" dirty="0"/>
              </a:p>
              <a:p>
                <a:r>
                  <a:rPr lang="en-US" dirty="0"/>
                  <a:t>Apply:</a:t>
                </a:r>
              </a:p>
              <a:p>
                <a:pPr/>
                <a:r>
                  <a:rPr lang="en-US" sz="1200" i="0" kern="1200">
                    <a:solidFill>
                      <a:schemeClr val="tx1"/>
                    </a:solidFill>
                    <a:latin typeface="Cambria Math" panose="02040503050406030204" pitchFamily="18" charset="0"/>
                    <a:ea typeface="+mn-ea"/>
                    <a:cs typeface="+mn-cs"/>
                  </a:rPr>
                  <a:t>𝐶→𝐷</a:t>
                </a:r>
                <a:endParaRPr lang="en-US" dirty="0"/>
              </a:p>
              <a:p>
                <a:pPr/>
                <a:r>
                  <a:rPr lang="en-US" sz="1200" i="0" kern="1200">
                    <a:solidFill>
                      <a:schemeClr val="tx1"/>
                    </a:solidFill>
                    <a:latin typeface="Cambria Math" panose="02040503050406030204" pitchFamily="18" charset="0"/>
                    <a:ea typeface="+mn-ea"/>
                    <a:cs typeface="+mn-cs"/>
                  </a:rPr>
                  <a:t>𝐴𝐶^+={𝐴ⓜ,𝐵ⓜ,𝐶ⓜ,𝐷}</a:t>
                </a:r>
                <a:endParaRPr lang="en-US" dirty="0"/>
              </a:p>
              <a:p>
                <a:r>
                  <a:rPr lang="en-US" dirty="0"/>
                  <a:t>Contains all attributes.</a:t>
                </a:r>
              </a:p>
              <a:p>
                <a:r>
                  <a:rPr lang="en-US" dirty="0"/>
                  <a:t>So AC is a Super Key.</a:t>
                </a:r>
              </a:p>
              <a:p>
                <a:br>
                  <a:rPr lang="en-US" dirty="0"/>
                </a:br>
                <a:endParaRPr lang="en-US" dirty="0"/>
              </a:p>
              <a:p>
                <a:r>
                  <a:rPr lang="en-US" dirty="0"/>
                  <a:t>Check subsets:</a:t>
                </a:r>
              </a:p>
              <a:p>
                <a:pPr/>
                <a:r>
                  <a:rPr lang="en-US" sz="1200" i="0" kern="1200">
                    <a:solidFill>
                      <a:schemeClr val="tx1"/>
                    </a:solidFill>
                    <a:latin typeface="Cambria Math" panose="02040503050406030204" pitchFamily="18" charset="0"/>
                    <a:ea typeface="+mn-ea"/>
                    <a:cs typeface="+mn-cs"/>
                  </a:rPr>
                  <a:t>𝐴^+={𝐴ⓜ,𝐵}</a:t>
                </a:r>
                <a:endParaRPr lang="en-US" dirty="0"/>
              </a:p>
              <a:p>
                <a:r>
                  <a:rPr lang="en-US" dirty="0"/>
                  <a:t>Not all attributes.</a:t>
                </a:r>
              </a:p>
              <a:p>
                <a:pPr/>
                <a:r>
                  <a:rPr lang="en-US" sz="1200" i="0" kern="1200">
                    <a:solidFill>
                      <a:schemeClr val="tx1"/>
                    </a:solidFill>
                    <a:latin typeface="Cambria Math" panose="02040503050406030204" pitchFamily="18" charset="0"/>
                    <a:ea typeface="+mn-ea"/>
                    <a:cs typeface="+mn-cs"/>
                  </a:rPr>
                  <a:t>𝐶^+={𝐶ⓜ,𝐷}</a:t>
                </a:r>
                <a:endParaRPr lang="en-US" dirty="0"/>
              </a:p>
              <a:p>
                <a:r>
                  <a:rPr lang="en-US" dirty="0"/>
                  <a:t>Not all attributes.</a:t>
                </a:r>
              </a:p>
              <a:p>
                <a:r>
                  <a:rPr lang="en-US" dirty="0"/>
                  <a:t>Therefore neither A nor C alone is sufficient.</a:t>
                </a:r>
              </a:p>
              <a:p>
                <a:r>
                  <a:rPr lang="en-US" dirty="0"/>
                  <a:t>Hence:</a:t>
                </a:r>
              </a:p>
              <a:p>
                <a:r>
                  <a:rPr lang="en-US" b="1" dirty="0"/>
                  <a:t>Candidate Key = {AC}</a:t>
                </a:r>
                <a:endParaRPr lang="en-US" dirty="0"/>
              </a:p>
              <a:p>
                <a:br>
                  <a:rPr lang="en-US" dirty="0"/>
                </a:br>
                <a:endParaRPr lang="en-US" dirty="0"/>
              </a:p>
              <a:p>
                <a:r>
                  <a:rPr lang="en-US" b="1" dirty="0"/>
                  <a:t>Example 3</a:t>
                </a:r>
              </a:p>
              <a:p>
                <a:r>
                  <a:rPr lang="en-US" dirty="0"/>
                  <a:t>Relation:</a:t>
                </a:r>
              </a:p>
              <a:p>
                <a:pPr/>
                <a:r>
                  <a:rPr lang="en-US" sz="1200" i="0" kern="1200">
                    <a:solidFill>
                      <a:schemeClr val="tx1"/>
                    </a:solidFill>
                    <a:latin typeface="Cambria Math" panose="02040503050406030204" pitchFamily="18" charset="0"/>
                    <a:ea typeface="+mn-ea"/>
                    <a:cs typeface="+mn-cs"/>
                  </a:rPr>
                  <a:t>𝑅(𝐴ⓜ,𝐵ⓜ,𝐶ⓜ,𝐷ⓜ,𝐸ⓜ,𝐹)</a:t>
                </a:r>
                <a:endParaRPr lang="en-US" dirty="0"/>
              </a:p>
              <a:p>
                <a:r>
                  <a:rPr lang="en-US" dirty="0"/>
                  <a:t>FDs:</a:t>
                </a:r>
              </a:p>
              <a:p>
                <a:pPr/>
                <a:r>
                  <a:rPr lang="en-US" sz="1200" i="0" kern="1200">
                    <a:solidFill>
                      <a:schemeClr val="tx1"/>
                    </a:solidFill>
                    <a:latin typeface="Cambria Math" panose="02040503050406030204" pitchFamily="18" charset="0"/>
                    <a:ea typeface="+mn-ea"/>
                    <a:cs typeface="+mn-cs"/>
                  </a:rPr>
                  <a:t>𝐴→𝐵𝐶</a:t>
                </a:r>
                <a:endParaRPr lang="en-US" dirty="0"/>
              </a:p>
              <a:p>
                <a:pPr/>
                <a:r>
                  <a:rPr lang="en-US" sz="1200" i="0" kern="1200">
                    <a:solidFill>
                      <a:schemeClr val="tx1"/>
                    </a:solidFill>
                    <a:latin typeface="Cambria Math" panose="02040503050406030204" pitchFamily="18" charset="0"/>
                    <a:ea typeface="+mn-ea"/>
                    <a:cs typeface="+mn-cs"/>
                  </a:rPr>
                  <a:t>𝐵→𝐸</a:t>
                </a:r>
                <a:endParaRPr lang="en-US" dirty="0"/>
              </a:p>
              <a:p>
                <a:pPr/>
                <a:r>
                  <a:rPr lang="en-US" sz="1200" i="0" kern="1200">
                    <a:solidFill>
                      <a:schemeClr val="tx1"/>
                    </a:solidFill>
                    <a:latin typeface="Cambria Math" panose="02040503050406030204" pitchFamily="18" charset="0"/>
                    <a:ea typeface="+mn-ea"/>
                    <a:cs typeface="+mn-cs"/>
                  </a:rPr>
                  <a:t>𝐶→𝐸𝐹</a:t>
                </a:r>
                <a:endParaRPr lang="en-US" dirty="0"/>
              </a:p>
              <a:p>
                <a:pPr/>
                <a:r>
                  <a:rPr lang="en-US" sz="1200" i="0" kern="1200">
                    <a:solidFill>
                      <a:schemeClr val="tx1"/>
                    </a:solidFill>
                    <a:latin typeface="Cambria Math" panose="02040503050406030204" pitchFamily="18" charset="0"/>
                    <a:ea typeface="+mn-ea"/>
                    <a:cs typeface="+mn-cs"/>
                  </a:rPr>
                  <a:t>𝐸→𝐶𝐹</a:t>
                </a:r>
                <a:endParaRPr lang="en-US" dirty="0"/>
              </a:p>
              <a:p>
                <a:br>
                  <a:rPr lang="en-US" dirty="0"/>
                </a:br>
                <a:endParaRPr lang="en-US" dirty="0"/>
              </a:p>
              <a:p>
                <a:r>
                  <a:rPr lang="en-US" b="1" dirty="0"/>
                  <a:t>Step 1: Find attributes not on RHS</a:t>
                </a:r>
              </a:p>
              <a:p>
                <a:r>
                  <a:rPr lang="en-US" dirty="0"/>
                  <a:t>RHS contains:</a:t>
                </a:r>
              </a:p>
              <a:p>
                <a:pPr/>
                <a:r>
                  <a:rPr lang="en-US" sz="1200" i="0" kern="1200">
                    <a:solidFill>
                      <a:schemeClr val="tx1"/>
                    </a:solidFill>
                    <a:latin typeface="Cambria Math" panose="02040503050406030204" pitchFamily="18" charset="0"/>
                    <a:ea typeface="+mn-ea"/>
                    <a:cs typeface="+mn-cs"/>
                  </a:rPr>
                  <a:t>{𝐵ⓜ,𝐶ⓜ,𝐸ⓜ,𝐹}</a:t>
                </a:r>
                <a:endParaRPr lang="en-US" dirty="0"/>
              </a:p>
              <a:p>
                <a:r>
                  <a:rPr lang="en-US" dirty="0"/>
                  <a:t>Attributes not on RHS:</a:t>
                </a:r>
              </a:p>
              <a:p>
                <a:pPr/>
                <a:r>
                  <a:rPr lang="en-US" sz="1200" i="0" kern="1200">
                    <a:solidFill>
                      <a:schemeClr val="tx1"/>
                    </a:solidFill>
                    <a:latin typeface="Cambria Math" panose="02040503050406030204" pitchFamily="18" charset="0"/>
                    <a:ea typeface="+mn-ea"/>
                    <a:cs typeface="+mn-cs"/>
                  </a:rPr>
                  <a:t>{𝐴ⓜ,𝐷}</a:t>
                </a:r>
                <a:endParaRPr lang="en-US" dirty="0"/>
              </a:p>
              <a:p>
                <a:r>
                  <a:rPr lang="en-US" dirty="0"/>
                  <a:t>Therefore every Candidate Key must contain A and D.</a:t>
                </a:r>
              </a:p>
              <a:p>
                <a:br>
                  <a:rPr lang="en-US" dirty="0"/>
                </a:br>
                <a:endParaRPr lang="en-US" dirty="0"/>
              </a:p>
              <a:p>
                <a:r>
                  <a:rPr lang="en-US" b="1" dirty="0"/>
                  <a:t>Step 2: Find (AD)⁺</a:t>
                </a:r>
              </a:p>
              <a:p>
                <a:r>
                  <a:rPr lang="en-US" dirty="0"/>
                  <a:t>Start:</a:t>
                </a:r>
              </a:p>
              <a:p>
                <a:pPr/>
                <a:r>
                  <a:rPr lang="en-US" sz="1200" i="0" kern="1200">
                    <a:solidFill>
                      <a:schemeClr val="tx1"/>
                    </a:solidFill>
                    <a:latin typeface="Cambria Math" panose="02040503050406030204" pitchFamily="18" charset="0"/>
                    <a:ea typeface="+mn-ea"/>
                    <a:cs typeface="+mn-cs"/>
                  </a:rPr>
                  <a:t>(𝐴𝐷)^+={𝐴ⓜ,𝐷}</a:t>
                </a:r>
                <a:endParaRPr lang="en-US" dirty="0"/>
              </a:p>
              <a:p>
                <a:r>
                  <a:rPr lang="en-US" dirty="0"/>
                  <a:t>Using</a:t>
                </a:r>
              </a:p>
              <a:p>
                <a:pPr/>
                <a:r>
                  <a:rPr lang="en-US" sz="1200" i="0" kern="1200">
                    <a:solidFill>
                      <a:schemeClr val="tx1"/>
                    </a:solidFill>
                    <a:latin typeface="Cambria Math" panose="02040503050406030204" pitchFamily="18" charset="0"/>
                    <a:ea typeface="+mn-ea"/>
                    <a:cs typeface="+mn-cs"/>
                  </a:rPr>
                  <a:t>𝐴→𝐵𝐶</a:t>
                </a:r>
                <a:endParaRPr lang="en-US" dirty="0"/>
              </a:p>
              <a:p>
                <a:pPr/>
                <a:r>
                  <a:rPr lang="en-US" sz="1200" i="0" kern="1200">
                    <a:solidFill>
                      <a:schemeClr val="tx1"/>
                    </a:solidFill>
                    <a:latin typeface="Cambria Math" panose="02040503050406030204" pitchFamily="18" charset="0"/>
                    <a:ea typeface="+mn-ea"/>
                    <a:cs typeface="+mn-cs"/>
                  </a:rPr>
                  <a:t>{𝐴ⓜ,𝐵ⓜ,𝐶ⓜ,𝐷}</a:t>
                </a:r>
                <a:endParaRPr lang="en-US" dirty="0"/>
              </a:p>
              <a:p>
                <a:r>
                  <a:rPr lang="en-US" dirty="0"/>
                  <a:t>Using</a:t>
                </a:r>
              </a:p>
              <a:p>
                <a:pPr/>
                <a:r>
                  <a:rPr lang="en-US" sz="1200" i="0" kern="1200">
                    <a:solidFill>
                      <a:schemeClr val="tx1"/>
                    </a:solidFill>
                    <a:latin typeface="Cambria Math" panose="02040503050406030204" pitchFamily="18" charset="0"/>
                    <a:ea typeface="+mn-ea"/>
                    <a:cs typeface="+mn-cs"/>
                  </a:rPr>
                  <a:t>𝐵→𝐸</a:t>
                </a:r>
                <a:endParaRPr lang="en-US" dirty="0"/>
              </a:p>
              <a:p>
                <a:pPr/>
                <a:r>
                  <a:rPr lang="en-US" sz="1200" i="0" kern="1200">
                    <a:solidFill>
                      <a:schemeClr val="tx1"/>
                    </a:solidFill>
                    <a:latin typeface="Cambria Math" panose="02040503050406030204" pitchFamily="18" charset="0"/>
                    <a:ea typeface="+mn-ea"/>
                    <a:cs typeface="+mn-cs"/>
                  </a:rPr>
                  <a:t>{𝐴ⓜ,𝐵ⓜ,𝐶ⓜ,𝐷ⓜ,𝐸}</a:t>
                </a:r>
                <a:endParaRPr lang="en-US" dirty="0"/>
              </a:p>
              <a:p>
                <a:r>
                  <a:rPr lang="en-US" dirty="0"/>
                  <a:t>Using</a:t>
                </a:r>
              </a:p>
              <a:p>
                <a:pPr/>
                <a:r>
                  <a:rPr lang="en-US" sz="1200" i="0" kern="1200">
                    <a:solidFill>
                      <a:schemeClr val="tx1"/>
                    </a:solidFill>
                    <a:latin typeface="Cambria Math" panose="02040503050406030204" pitchFamily="18" charset="0"/>
                    <a:ea typeface="+mn-ea"/>
                    <a:cs typeface="+mn-cs"/>
                  </a:rPr>
                  <a:t>𝐶→𝐹</a:t>
                </a:r>
                <a:endParaRPr lang="en-US" dirty="0"/>
              </a:p>
              <a:p>
                <a:pPr/>
                <a:r>
                  <a:rPr lang="en-US" sz="1200" i="0" kern="1200">
                    <a:solidFill>
                      <a:schemeClr val="tx1"/>
                    </a:solidFill>
                    <a:latin typeface="Cambria Math" panose="02040503050406030204" pitchFamily="18" charset="0"/>
                    <a:ea typeface="+mn-ea"/>
                    <a:cs typeface="+mn-cs"/>
                  </a:rPr>
                  <a:t>{𝐴ⓜ,𝐵ⓜ,𝐶ⓜ,𝐷ⓜ,𝐸ⓜ,𝐹}</a:t>
                </a:r>
                <a:endParaRPr lang="en-US" dirty="0"/>
              </a:p>
              <a:p>
                <a:r>
                  <a:rPr lang="en-US" dirty="0"/>
                  <a:t>All attributes obtained.</a:t>
                </a:r>
              </a:p>
              <a:p>
                <a:r>
                  <a:rPr lang="en-US" dirty="0"/>
                  <a:t>Therefore:</a:t>
                </a:r>
              </a:p>
              <a:p>
                <a:pPr/>
                <a:r>
                  <a:rPr lang="en-US" sz="1200" i="0" kern="1200">
                    <a:solidFill>
                      <a:schemeClr val="tx1"/>
                    </a:solidFill>
                    <a:latin typeface="Cambria Math" panose="02040503050406030204" pitchFamily="18" charset="0"/>
                    <a:ea typeface="+mn-ea"/>
                    <a:cs typeface="+mn-cs"/>
                  </a:rPr>
                  <a:t>(𝐴𝐷)^+=𝑅</a:t>
                </a:r>
                <a:endParaRPr lang="en-US" dirty="0"/>
              </a:p>
              <a:p>
                <a:r>
                  <a:rPr lang="en-US" dirty="0"/>
                  <a:t>So AD is a Super Key.</a:t>
                </a:r>
              </a:p>
              <a:p>
                <a:br>
                  <a:rPr lang="en-US" dirty="0"/>
                </a:br>
                <a:endParaRPr lang="en-US" dirty="0"/>
              </a:p>
              <a:p>
                <a:r>
                  <a:rPr lang="en-US" b="1" dirty="0"/>
                  <a:t>Step 3: Check Minimality</a:t>
                </a:r>
              </a:p>
              <a:p>
                <a:pPr/>
                <a:r>
                  <a:rPr lang="en-US" sz="1200" i="0" kern="1200">
                    <a:solidFill>
                      <a:schemeClr val="tx1"/>
                    </a:solidFill>
                    <a:latin typeface="Cambria Math" panose="02040503050406030204" pitchFamily="18" charset="0"/>
                    <a:ea typeface="+mn-ea"/>
                    <a:cs typeface="+mn-cs"/>
                  </a:rPr>
                  <a:t>𝐴^+={𝐴ⓜ,𝐵ⓜ,𝐶ⓜ,𝐸ⓜ,𝐹}</a:t>
                </a:r>
                <a:endParaRPr lang="en-US" dirty="0"/>
              </a:p>
              <a:p>
                <a:r>
                  <a:rPr lang="en-US" dirty="0"/>
                  <a:t>Missing D.</a:t>
                </a:r>
              </a:p>
              <a:p>
                <a:pPr/>
                <a:r>
                  <a:rPr lang="en-US" sz="1200" i="0" kern="1200">
                    <a:solidFill>
                      <a:schemeClr val="tx1"/>
                    </a:solidFill>
                    <a:latin typeface="Cambria Math" panose="02040503050406030204" pitchFamily="18" charset="0"/>
                    <a:ea typeface="+mn-ea"/>
                    <a:cs typeface="+mn-cs"/>
                  </a:rPr>
                  <a:t>𝐷^+={𝐷}</a:t>
                </a:r>
                <a:endParaRPr lang="en-US" dirty="0"/>
              </a:p>
              <a:p>
                <a:r>
                  <a:rPr lang="en-US" dirty="0"/>
                  <a:t>Missing others.</a:t>
                </a:r>
              </a:p>
              <a:p>
                <a:r>
                  <a:rPr lang="en-US" dirty="0"/>
                  <a:t>Neither A nor D alone works.</a:t>
                </a:r>
              </a:p>
              <a:p>
                <a:r>
                  <a:rPr lang="en-US" dirty="0"/>
                  <a:t>Therefore:</a:t>
                </a:r>
              </a:p>
              <a:p>
                <a:r>
                  <a:rPr lang="en-US" b="1" dirty="0"/>
                  <a:t>Candidate Key = {AD}</a:t>
                </a:r>
                <a:endParaRPr lang="en-US"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62</a:t>
            </a:fld>
            <a:endParaRPr lang="en-US"/>
          </a:p>
        </p:txBody>
      </p:sp>
    </p:spTree>
    <p:extLst>
      <p:ext uri="{BB962C8B-B14F-4D97-AF65-F5344CB8AC3E}">
        <p14:creationId xmlns:p14="http://schemas.microsoft.com/office/powerpoint/2010/main" val="27192180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b="1" dirty="0"/>
                  <a:t>Example 2</a:t>
                </a:r>
              </a:p>
              <a:p>
                <a:r>
                  <a:rPr lang="en-US" dirty="0"/>
                  <a:t>Relation: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m:t>
                      </m:r>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m:t>
                      </m:r>
                    </m:oMath>
                  </m:oMathPara>
                </a14:m>
                <a:endParaRPr lang="en-US" dirty="0"/>
              </a:p>
              <a:p>
                <a:br>
                  <a:rPr lang="en-US" dirty="0"/>
                </a:br>
                <a:endParaRPr lang="en-US" dirty="0"/>
              </a:p>
              <a:p>
                <a:r>
                  <a:rPr lang="en-US" b="1" dirty="0"/>
                  <a:t>Find AC⁺</a:t>
                </a:r>
              </a:p>
              <a:p>
                <a:r>
                  <a:rPr lang="en-US" dirty="0"/>
                  <a:t>Start:</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𝐶</m:t>
                          </m:r>
                        </m:e>
                      </m:d>
                    </m:oMath>
                  </m:oMathPara>
                </a14:m>
                <a:endParaRPr lang="en-US" dirty="0"/>
              </a:p>
              <a:p>
                <a:r>
                  <a:rPr lang="en-US" dirty="0"/>
                  <a:t>Apply:</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d>
                    </m:oMath>
                  </m:oMathPara>
                </a14:m>
                <a:endParaRPr lang="en-US" dirty="0"/>
              </a:p>
              <a:p>
                <a:r>
                  <a:rPr lang="en-US" dirty="0"/>
                  <a:t>Apply:</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𝐷</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Contains all attributes.</a:t>
                </a:r>
              </a:p>
              <a:p>
                <a:r>
                  <a:rPr lang="en-US" dirty="0"/>
                  <a:t>So AC is a Super Key.</a:t>
                </a:r>
              </a:p>
              <a:p>
                <a:br>
                  <a:rPr lang="en-US" dirty="0"/>
                </a:br>
                <a:endParaRPr lang="en-US" dirty="0"/>
              </a:p>
              <a:p>
                <a:r>
                  <a:rPr lang="en-US" dirty="0"/>
                  <a:t>Check subsets:</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𝐴</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d>
                    </m:oMath>
                  </m:oMathPara>
                </a14:m>
                <a:endParaRPr lang="en-US" dirty="0"/>
              </a:p>
              <a:p>
                <a:r>
                  <a:rPr lang="en-US" dirty="0"/>
                  <a:t>Not all attributes.</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𝐶</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Not all attributes.</a:t>
                </a:r>
              </a:p>
              <a:p>
                <a:r>
                  <a:rPr lang="en-US" dirty="0"/>
                  <a:t>Therefore neither A nor C alone is sufficient.</a:t>
                </a:r>
              </a:p>
              <a:p>
                <a:r>
                  <a:rPr lang="en-US" dirty="0"/>
                  <a:t>Hence:</a:t>
                </a:r>
              </a:p>
              <a:p>
                <a:r>
                  <a:rPr lang="en-US" b="1" dirty="0"/>
                  <a:t>Candidate Key = {AC}</a:t>
                </a:r>
                <a:endParaRPr lang="en-US" dirty="0"/>
              </a:p>
              <a:p>
                <a:r>
                  <a:rPr lang="en-US" dirty="0"/>
                  <a:t>.</a:t>
                </a:r>
              </a:p>
              <a:p>
                <a:endParaRPr lang="en-US" dirty="0"/>
              </a:p>
              <a:p>
                <a:endParaRPr lang="en-US" dirty="0"/>
              </a:p>
              <a:p>
                <a:endParaRPr lang="en-US" dirty="0"/>
              </a:p>
              <a:p>
                <a:r>
                  <a:rPr lang="en-US" b="1" dirty="0"/>
                  <a:t>Example 3</a:t>
                </a:r>
              </a:p>
              <a:p>
                <a:r>
                  <a:rPr lang="en-US" dirty="0"/>
                  <a:t>Relation:</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𝑅</m:t>
                      </m:r>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FDs:</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𝐵𝐶</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𝐸𝐹</m:t>
                      </m:r>
                    </m:oMath>
                  </m:oMathPara>
                </a14:m>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𝐸</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𝐶𝐹</m:t>
                      </m:r>
                    </m:oMath>
                  </m:oMathPara>
                </a14:m>
                <a:endParaRPr lang="en-US" dirty="0"/>
              </a:p>
              <a:p>
                <a:br>
                  <a:rPr lang="en-US" dirty="0"/>
                </a:br>
                <a:endParaRPr lang="en-US" dirty="0"/>
              </a:p>
              <a:p>
                <a:r>
                  <a:rPr lang="en-US" b="1" dirty="0"/>
                  <a:t>Step 1: Find attributes not on RHS</a:t>
                </a:r>
              </a:p>
              <a:p>
                <a:r>
                  <a:rPr lang="en-US" dirty="0"/>
                  <a:t>RHS contains:</a:t>
                </a:r>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Attributes not on RHS:</a:t>
                </a:r>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Therefore every Candidate Key must contain A and D.</a:t>
                </a:r>
              </a:p>
              <a:p>
                <a:br>
                  <a:rPr lang="en-US" dirty="0"/>
                </a:br>
                <a:endParaRPr lang="en-US" dirty="0"/>
              </a:p>
              <a:p>
                <a:r>
                  <a:rPr lang="en-US" b="1" dirty="0"/>
                  <a:t>Step 2: Find (AD)⁺</a:t>
                </a:r>
              </a:p>
              <a:p>
                <a:r>
                  <a:rPr lang="en-US" dirty="0"/>
                  <a:t>Start:</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d>
                            <m:dPr>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𝐴𝐷</m:t>
                              </m:r>
                            </m:e>
                          </m:d>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Using</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𝐴</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𝐵𝐶</m:t>
                      </m:r>
                    </m:oMath>
                  </m:oMathPara>
                </a14:m>
                <a:endParaRPr lang="en-US" dirty="0"/>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Using</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𝐵</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𝐸</m:t>
                      </m:r>
                    </m:oMath>
                  </m:oMathPara>
                </a14:m>
                <a:endParaRPr lang="en-US" dirty="0"/>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e>
                          <m:r>
                            <a:rPr lang="en-US" sz="1200" i="1" kern="1200">
                              <a:solidFill>
                                <a:schemeClr val="tx1"/>
                              </a:solidFill>
                              <a:latin typeface="Cambria Math" panose="02040503050406030204" pitchFamily="18" charset="0"/>
                              <a:ea typeface="+mn-ea"/>
                              <a:cs typeface="+mn-cs"/>
                            </a:rPr>
                            <m:t>𝐸</m:t>
                          </m:r>
                        </m:e>
                      </m:d>
                    </m:oMath>
                  </m:oMathPara>
                </a14:m>
                <a:endParaRPr lang="en-US" dirty="0"/>
              </a:p>
              <a:p>
                <a:r>
                  <a:rPr lang="en-US" dirty="0"/>
                  <a:t>Using</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𝐶</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𝐹</m:t>
                      </m:r>
                    </m:oMath>
                  </m:oMathPara>
                </a14:m>
                <a:endParaRPr lang="en-US" dirty="0"/>
              </a:p>
              <a:p>
                <a:pPr/>
                <a14:m>
                  <m:oMathPara xmlns:m="http://schemas.openxmlformats.org/officeDocument/2006/math">
                    <m:oMathParaPr>
                      <m:jc m:val="centerGroup"/>
                    </m:oMathParaPr>
                    <m:oMath xmlns:m="http://schemas.openxmlformats.org/officeDocument/2006/math">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𝐷</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All attributes obtained.</a:t>
                </a:r>
              </a:p>
              <a:p>
                <a:r>
                  <a:rPr lang="en-US" dirty="0"/>
                  <a:t>Therefore:</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d>
                            <m:dPr>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𝐴𝐷</m:t>
                              </m:r>
                            </m:e>
                          </m:d>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𝑅</m:t>
                      </m:r>
                    </m:oMath>
                  </m:oMathPara>
                </a14:m>
                <a:endParaRPr lang="en-US" dirty="0"/>
              </a:p>
              <a:p>
                <a:r>
                  <a:rPr lang="en-US" dirty="0"/>
                  <a:t>So AD is a Super Key.</a:t>
                </a:r>
              </a:p>
              <a:p>
                <a:br>
                  <a:rPr lang="en-US" dirty="0"/>
                </a:br>
                <a:endParaRPr lang="en-US" dirty="0"/>
              </a:p>
              <a:p>
                <a:r>
                  <a:rPr lang="en-US" b="1" dirty="0"/>
                  <a:t>Step 3: Check Minimality</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𝐴</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𝐴</m:t>
                          </m:r>
                        </m:e>
                        <m:e>
                          <m:r>
                            <a:rPr lang="en-US" sz="1200" i="1" kern="1200">
                              <a:solidFill>
                                <a:schemeClr val="tx1"/>
                              </a:solidFill>
                              <a:latin typeface="Cambria Math" panose="02040503050406030204" pitchFamily="18" charset="0"/>
                              <a:ea typeface="+mn-ea"/>
                              <a:cs typeface="+mn-cs"/>
                            </a:rPr>
                            <m:t>𝐵</m:t>
                          </m:r>
                        </m:e>
                        <m:e>
                          <m:r>
                            <a:rPr lang="en-US" sz="1200" i="1" kern="1200">
                              <a:solidFill>
                                <a:schemeClr val="tx1"/>
                              </a:solidFill>
                              <a:latin typeface="Cambria Math" panose="02040503050406030204" pitchFamily="18" charset="0"/>
                              <a:ea typeface="+mn-ea"/>
                              <a:cs typeface="+mn-cs"/>
                            </a:rPr>
                            <m:t>𝐶</m:t>
                          </m:r>
                        </m:e>
                        <m:e>
                          <m:r>
                            <a:rPr lang="en-US" sz="1200" i="1" kern="1200">
                              <a:solidFill>
                                <a:schemeClr val="tx1"/>
                              </a:solidFill>
                              <a:latin typeface="Cambria Math" panose="02040503050406030204" pitchFamily="18" charset="0"/>
                              <a:ea typeface="+mn-ea"/>
                              <a:cs typeface="+mn-cs"/>
                            </a:rPr>
                            <m:t>𝐸</m:t>
                          </m:r>
                        </m:e>
                        <m:e>
                          <m:r>
                            <a:rPr lang="en-US" sz="1200" i="1" kern="1200">
                              <a:solidFill>
                                <a:schemeClr val="tx1"/>
                              </a:solidFill>
                              <a:latin typeface="Cambria Math" panose="02040503050406030204" pitchFamily="18" charset="0"/>
                              <a:ea typeface="+mn-ea"/>
                              <a:cs typeface="+mn-cs"/>
                            </a:rPr>
                            <m:t>𝐹</m:t>
                          </m:r>
                        </m:e>
                      </m:d>
                    </m:oMath>
                  </m:oMathPara>
                </a14:m>
                <a:endParaRPr lang="en-US" dirty="0"/>
              </a:p>
              <a:p>
                <a:r>
                  <a:rPr lang="en-US" dirty="0"/>
                  <a:t>Missing D.</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𝐷</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𝐷</m:t>
                          </m:r>
                        </m:e>
                      </m:d>
                    </m:oMath>
                  </m:oMathPara>
                </a14:m>
                <a:endParaRPr lang="en-US" dirty="0"/>
              </a:p>
              <a:p>
                <a:r>
                  <a:rPr lang="en-US" dirty="0"/>
                  <a:t>Missing others.</a:t>
                </a:r>
              </a:p>
              <a:p>
                <a:r>
                  <a:rPr lang="en-US" dirty="0"/>
                  <a:t>Neither A nor D alone works.</a:t>
                </a:r>
              </a:p>
              <a:p>
                <a:r>
                  <a:rPr lang="en-US" dirty="0"/>
                  <a:t>Therefore:</a:t>
                </a:r>
              </a:p>
              <a:p>
                <a:r>
                  <a:rPr lang="en-US" b="1" dirty="0"/>
                  <a:t>Candidate Key = {AD}</a:t>
                </a:r>
                <a:endParaRPr lang="en-US" dirty="0"/>
              </a:p>
              <a:p>
                <a:endParaRPr lang="en-US" dirty="0"/>
              </a:p>
              <a:p>
                <a:endParaRPr lang="en-US" dirty="0"/>
              </a:p>
              <a:p>
                <a:endParaRPr lang="en-US" dirty="0"/>
              </a:p>
              <a:p>
                <a:endParaRPr lang="en-US" dirty="0"/>
              </a:p>
              <a:p>
                <a:endParaRPr lang="en-US" dirty="0"/>
              </a:p>
              <a:p>
                <a:r>
                  <a:rPr lang="en-US" b="1" dirty="0"/>
                  <a:t>Shortcut Method</a:t>
                </a:r>
              </a:p>
              <a:p>
                <a:r>
                  <a:rPr lang="en-US" b="1" dirty="0"/>
                  <a:t>Step 1</a:t>
                </a:r>
              </a:p>
              <a:p>
                <a:r>
                  <a:rPr lang="en-US" dirty="0"/>
                  <a:t>Write all attributes that never appear on RHS.</a:t>
                </a:r>
              </a:p>
              <a:p>
                <a:r>
                  <a:rPr lang="en-US" dirty="0"/>
                  <a:t>These must be part of every candidate key.</a:t>
                </a:r>
              </a:p>
              <a:p>
                <a:r>
                  <a:rPr lang="en-US" b="1" dirty="0"/>
                  <a:t>Step 2</a:t>
                </a:r>
              </a:p>
              <a:p>
                <a:r>
                  <a:rPr lang="en-US" dirty="0"/>
                  <a:t>Compute closure of that set.</a:t>
                </a:r>
              </a:p>
              <a:p>
                <a:r>
                  <a:rPr lang="en-US" b="1" dirty="0"/>
                  <a:t>Step 3</a:t>
                </a:r>
              </a:p>
              <a:p>
                <a:r>
                  <a:rPr lang="en-US" dirty="0"/>
                  <a:t>If closure is not all attributes, add attributes one by one and recompute.</a:t>
                </a:r>
              </a:p>
              <a:p>
                <a:r>
                  <a:rPr lang="en-US" b="1" dirty="0"/>
                  <a:t>Step 4</a:t>
                </a:r>
              </a:p>
              <a:p>
                <a:r>
                  <a:rPr lang="en-US" dirty="0"/>
                  <a:t>When closure contains all attributes, check minimality.</a:t>
                </a:r>
              </a:p>
              <a:p>
                <a:endParaRPr lang="en-US" dirty="0"/>
              </a:p>
            </p:txBody>
          </p:sp>
        </mc:Choice>
        <mc:Fallback xmlns="">
          <p:sp>
            <p:nvSpPr>
              <p:cNvPr id="3" name="Notes Placeholder 2"/>
              <p:cNvSpPr>
                <a:spLocks noGrp="1"/>
              </p:cNvSpPr>
              <p:nvPr>
                <p:ph type="body" idx="1"/>
              </p:nvPr>
            </p:nvSpPr>
            <p:spPr/>
            <p:txBody>
              <a:bodyPr/>
              <a:lstStyle/>
              <a:p>
                <a:r>
                  <a:rPr lang="en-US" b="1" dirty="0"/>
                  <a:t>Example 2</a:t>
                </a:r>
              </a:p>
              <a:p>
                <a:r>
                  <a:rPr lang="en-US" dirty="0"/>
                  <a:t>Relation:</a:t>
                </a:r>
              </a:p>
              <a:p>
                <a:r>
                  <a:rPr lang="en-US" sz="1200" i="0" kern="1200">
                    <a:solidFill>
                      <a:schemeClr val="tx1"/>
                    </a:solidFill>
                    <a:latin typeface="+mn-lt"/>
                    <a:ea typeface="+mn-ea"/>
                    <a:cs typeface="+mn-cs"/>
                  </a:rPr>
                  <a:t>𝑅(𝐴ⓜ,𝐵ⓜ,𝐶ⓜ,𝐷)</a:t>
                </a:r>
                <a:endParaRPr lang="en-US" dirty="0"/>
              </a:p>
              <a:p>
                <a:r>
                  <a:rPr lang="en-US" dirty="0"/>
                  <a:t>FDs:</a:t>
                </a:r>
              </a:p>
              <a:p>
                <a:r>
                  <a:rPr lang="en-US" sz="1200" i="0" kern="1200">
                    <a:solidFill>
                      <a:schemeClr val="tx1"/>
                    </a:solidFill>
                    <a:latin typeface="+mn-lt"/>
                    <a:ea typeface="+mn-ea"/>
                    <a:cs typeface="+mn-cs"/>
                  </a:rPr>
                  <a:t>𝐴→𝐵</a:t>
                </a:r>
                <a:endParaRPr lang="en-US" dirty="0"/>
              </a:p>
              <a:p>
                <a:r>
                  <a:rPr lang="en-US" sz="1200" i="0" kern="1200">
                    <a:solidFill>
                      <a:schemeClr val="tx1"/>
                    </a:solidFill>
                    <a:latin typeface="+mn-lt"/>
                    <a:ea typeface="+mn-ea"/>
                    <a:cs typeface="+mn-cs"/>
                  </a:rPr>
                  <a:t>𝐶→𝐷</a:t>
                </a:r>
                <a:endParaRPr lang="en-US" dirty="0"/>
              </a:p>
              <a:p>
                <a:br>
                  <a:rPr lang="en-US" dirty="0"/>
                </a:br>
                <a:endParaRPr lang="en-US" dirty="0"/>
              </a:p>
              <a:p>
                <a:r>
                  <a:rPr lang="en-US" b="1" dirty="0"/>
                  <a:t>Find AC⁺</a:t>
                </a:r>
              </a:p>
              <a:p>
                <a:r>
                  <a:rPr lang="en-US" dirty="0"/>
                  <a:t>Start:</a:t>
                </a:r>
              </a:p>
              <a:p>
                <a:r>
                  <a:rPr lang="en-US" sz="1200" i="0" kern="1200">
                    <a:solidFill>
                      <a:schemeClr val="tx1"/>
                    </a:solidFill>
                    <a:latin typeface="+mn-lt"/>
                    <a:ea typeface="+mn-ea"/>
                    <a:cs typeface="+mn-cs"/>
                  </a:rPr>
                  <a:t>𝐴𝐶^+={𝐴ⓜ,𝐶}</a:t>
                </a:r>
                <a:endParaRPr lang="en-US" dirty="0"/>
              </a:p>
              <a:p>
                <a:r>
                  <a:rPr lang="en-US" dirty="0"/>
                  <a:t>Apply:</a:t>
                </a:r>
              </a:p>
              <a:p>
                <a:r>
                  <a:rPr lang="en-US" sz="1200" i="0" kern="1200">
                    <a:solidFill>
                      <a:schemeClr val="tx1"/>
                    </a:solidFill>
                    <a:latin typeface="+mn-lt"/>
                    <a:ea typeface="+mn-ea"/>
                    <a:cs typeface="+mn-cs"/>
                  </a:rPr>
                  <a:t>𝐴→𝐵</a:t>
                </a:r>
                <a:endParaRPr lang="en-US" dirty="0"/>
              </a:p>
              <a:p>
                <a:r>
                  <a:rPr lang="en-US" sz="1200" i="0" kern="1200">
                    <a:solidFill>
                      <a:schemeClr val="tx1"/>
                    </a:solidFill>
                    <a:latin typeface="+mn-lt"/>
                    <a:ea typeface="+mn-ea"/>
                    <a:cs typeface="+mn-cs"/>
                  </a:rPr>
                  <a:t>𝐴𝐶^+={𝐴ⓜ,𝐵ⓜ,𝐶}</a:t>
                </a:r>
                <a:endParaRPr lang="en-US" dirty="0"/>
              </a:p>
              <a:p>
                <a:r>
                  <a:rPr lang="en-US" dirty="0"/>
                  <a:t>Apply:</a:t>
                </a:r>
              </a:p>
              <a:p>
                <a:r>
                  <a:rPr lang="en-US" sz="1200" i="0" kern="1200">
                    <a:solidFill>
                      <a:schemeClr val="tx1"/>
                    </a:solidFill>
                    <a:latin typeface="+mn-lt"/>
                    <a:ea typeface="+mn-ea"/>
                    <a:cs typeface="+mn-cs"/>
                  </a:rPr>
                  <a:t>𝐶→𝐷</a:t>
                </a:r>
                <a:endParaRPr lang="en-US" dirty="0"/>
              </a:p>
              <a:p>
                <a:r>
                  <a:rPr lang="en-US" sz="1200" i="0" kern="1200">
                    <a:solidFill>
                      <a:schemeClr val="tx1"/>
                    </a:solidFill>
                    <a:latin typeface="+mn-lt"/>
                    <a:ea typeface="+mn-ea"/>
                    <a:cs typeface="+mn-cs"/>
                  </a:rPr>
                  <a:t>𝐴𝐶^+={𝐴ⓜ,𝐵ⓜ,𝐶ⓜ,𝐷}</a:t>
                </a:r>
                <a:endParaRPr lang="en-US" dirty="0"/>
              </a:p>
              <a:p>
                <a:r>
                  <a:rPr lang="en-US" dirty="0"/>
                  <a:t>Contains all attributes.</a:t>
                </a:r>
              </a:p>
              <a:p>
                <a:r>
                  <a:rPr lang="en-US" dirty="0"/>
                  <a:t>So AC is a Super Key.</a:t>
                </a:r>
              </a:p>
              <a:p>
                <a:br>
                  <a:rPr lang="en-US" dirty="0"/>
                </a:br>
                <a:endParaRPr lang="en-US" dirty="0"/>
              </a:p>
              <a:p>
                <a:r>
                  <a:rPr lang="en-US" dirty="0"/>
                  <a:t>Check subsets:</a:t>
                </a:r>
              </a:p>
              <a:p>
                <a:r>
                  <a:rPr lang="en-US" sz="1200" i="0" kern="1200">
                    <a:solidFill>
                      <a:schemeClr val="tx1"/>
                    </a:solidFill>
                    <a:latin typeface="+mn-lt"/>
                    <a:ea typeface="+mn-ea"/>
                    <a:cs typeface="+mn-cs"/>
                  </a:rPr>
                  <a:t>𝐴^+={𝐴ⓜ,𝐵}</a:t>
                </a:r>
                <a:endParaRPr lang="en-US" dirty="0"/>
              </a:p>
              <a:p>
                <a:r>
                  <a:rPr lang="en-US" dirty="0"/>
                  <a:t>Not all attributes.</a:t>
                </a:r>
              </a:p>
              <a:p>
                <a:r>
                  <a:rPr lang="en-US" sz="1200" i="0" kern="1200">
                    <a:solidFill>
                      <a:schemeClr val="tx1"/>
                    </a:solidFill>
                    <a:latin typeface="+mn-lt"/>
                    <a:ea typeface="+mn-ea"/>
                    <a:cs typeface="+mn-cs"/>
                  </a:rPr>
                  <a:t>𝐶^+={𝐶ⓜ,𝐷}</a:t>
                </a:r>
                <a:endParaRPr lang="en-US" dirty="0"/>
              </a:p>
              <a:p>
                <a:r>
                  <a:rPr lang="en-US" dirty="0"/>
                  <a:t>Not all attributes.</a:t>
                </a:r>
              </a:p>
              <a:p>
                <a:r>
                  <a:rPr lang="en-US" dirty="0"/>
                  <a:t>Therefore neither A nor C alone is sufficient.</a:t>
                </a:r>
              </a:p>
              <a:p>
                <a:r>
                  <a:rPr lang="en-US" dirty="0"/>
                  <a:t>Hence:</a:t>
                </a:r>
              </a:p>
              <a:p>
                <a:r>
                  <a:rPr lang="en-US" b="1" dirty="0"/>
                  <a:t>Candidate Key = {AC}</a:t>
                </a:r>
                <a:endParaRPr lang="en-US" dirty="0"/>
              </a:p>
              <a:p>
                <a:r>
                  <a:rPr lang="en-US" dirty="0"/>
                  <a:t>.</a:t>
                </a:r>
              </a:p>
              <a:p>
                <a:endParaRPr lang="en-US" dirty="0"/>
              </a:p>
              <a:p>
                <a:endParaRPr lang="en-US" dirty="0"/>
              </a:p>
              <a:p>
                <a:endParaRPr lang="en-US" dirty="0"/>
              </a:p>
              <a:p>
                <a:r>
                  <a:rPr lang="en-US" b="1" dirty="0"/>
                  <a:t>Example 3</a:t>
                </a:r>
              </a:p>
              <a:p>
                <a:r>
                  <a:rPr lang="en-US" dirty="0"/>
                  <a:t>Relation:</a:t>
                </a:r>
              </a:p>
              <a:p>
                <a:r>
                  <a:rPr lang="en-US" sz="1200" i="0" kern="1200">
                    <a:solidFill>
                      <a:schemeClr val="tx1"/>
                    </a:solidFill>
                    <a:latin typeface="+mn-lt"/>
                    <a:ea typeface="+mn-ea"/>
                    <a:cs typeface="+mn-cs"/>
                  </a:rPr>
                  <a:t>𝑅(𝐴ⓜ,𝐵ⓜ,𝐶ⓜ,𝐷ⓜ,𝐸ⓜ,𝐹)</a:t>
                </a:r>
                <a:endParaRPr lang="en-US" dirty="0"/>
              </a:p>
              <a:p>
                <a:r>
                  <a:rPr lang="en-US" dirty="0"/>
                  <a:t>FDs:</a:t>
                </a:r>
              </a:p>
              <a:p>
                <a:r>
                  <a:rPr lang="en-US" sz="1200" i="0" kern="1200">
                    <a:solidFill>
                      <a:schemeClr val="tx1"/>
                    </a:solidFill>
                    <a:latin typeface="+mn-lt"/>
                    <a:ea typeface="+mn-ea"/>
                    <a:cs typeface="+mn-cs"/>
                  </a:rPr>
                  <a:t>𝐴→𝐵𝐶</a:t>
                </a:r>
                <a:endParaRPr lang="en-US" dirty="0"/>
              </a:p>
              <a:p>
                <a:r>
                  <a:rPr lang="en-US" sz="1200" i="0" kern="1200">
                    <a:solidFill>
                      <a:schemeClr val="tx1"/>
                    </a:solidFill>
                    <a:latin typeface="+mn-lt"/>
                    <a:ea typeface="+mn-ea"/>
                    <a:cs typeface="+mn-cs"/>
                  </a:rPr>
                  <a:t>𝐵→𝐸</a:t>
                </a:r>
                <a:endParaRPr lang="en-US" dirty="0"/>
              </a:p>
              <a:p>
                <a:r>
                  <a:rPr lang="en-US" sz="1200" i="0" kern="1200">
                    <a:solidFill>
                      <a:schemeClr val="tx1"/>
                    </a:solidFill>
                    <a:latin typeface="+mn-lt"/>
                    <a:ea typeface="+mn-ea"/>
                    <a:cs typeface="+mn-cs"/>
                  </a:rPr>
                  <a:t>𝐶→𝐸𝐹</a:t>
                </a:r>
                <a:endParaRPr lang="en-US" dirty="0"/>
              </a:p>
              <a:p>
                <a:r>
                  <a:rPr lang="en-US" sz="1200" i="0" kern="1200">
                    <a:solidFill>
                      <a:schemeClr val="tx1"/>
                    </a:solidFill>
                    <a:latin typeface="+mn-lt"/>
                    <a:ea typeface="+mn-ea"/>
                    <a:cs typeface="+mn-cs"/>
                  </a:rPr>
                  <a:t>𝐸→𝐶𝐹</a:t>
                </a:r>
                <a:endParaRPr lang="en-US" dirty="0"/>
              </a:p>
              <a:p>
                <a:br>
                  <a:rPr lang="en-US" dirty="0"/>
                </a:br>
                <a:endParaRPr lang="en-US" dirty="0"/>
              </a:p>
              <a:p>
                <a:r>
                  <a:rPr lang="en-US" b="1" dirty="0"/>
                  <a:t>Step 1: Find attributes not on RHS</a:t>
                </a:r>
              </a:p>
              <a:p>
                <a:r>
                  <a:rPr lang="en-US" dirty="0"/>
                  <a:t>RHS contains:</a:t>
                </a:r>
              </a:p>
              <a:p>
                <a:r>
                  <a:rPr lang="en-US" sz="1200" i="0" kern="1200">
                    <a:solidFill>
                      <a:schemeClr val="tx1"/>
                    </a:solidFill>
                    <a:latin typeface="+mn-lt"/>
                    <a:ea typeface="+mn-ea"/>
                    <a:cs typeface="+mn-cs"/>
                  </a:rPr>
                  <a:t>{𝐵ⓜ,𝐶ⓜ,𝐸ⓜ,𝐹}</a:t>
                </a:r>
                <a:endParaRPr lang="en-US" dirty="0"/>
              </a:p>
              <a:p>
                <a:r>
                  <a:rPr lang="en-US" dirty="0"/>
                  <a:t>Attributes not on RHS:</a:t>
                </a:r>
              </a:p>
              <a:p>
                <a:r>
                  <a:rPr lang="en-US" sz="1200" i="0" kern="1200">
                    <a:solidFill>
                      <a:schemeClr val="tx1"/>
                    </a:solidFill>
                    <a:latin typeface="+mn-lt"/>
                    <a:ea typeface="+mn-ea"/>
                    <a:cs typeface="+mn-cs"/>
                  </a:rPr>
                  <a:t>{𝐴ⓜ,𝐷}</a:t>
                </a:r>
                <a:endParaRPr lang="en-US" dirty="0"/>
              </a:p>
              <a:p>
                <a:r>
                  <a:rPr lang="en-US" dirty="0"/>
                  <a:t>Therefore every Candidate Key must contain A and D.</a:t>
                </a:r>
              </a:p>
              <a:p>
                <a:br>
                  <a:rPr lang="en-US" dirty="0"/>
                </a:br>
                <a:endParaRPr lang="en-US" dirty="0"/>
              </a:p>
              <a:p>
                <a:r>
                  <a:rPr lang="en-US" b="1" dirty="0"/>
                  <a:t>Step 2: Find (AD)⁺</a:t>
                </a:r>
              </a:p>
              <a:p>
                <a:r>
                  <a:rPr lang="en-US" dirty="0"/>
                  <a:t>Start:</a:t>
                </a:r>
              </a:p>
              <a:p>
                <a:r>
                  <a:rPr lang="en-US" sz="1200" i="0" kern="1200">
                    <a:solidFill>
                      <a:schemeClr val="tx1"/>
                    </a:solidFill>
                    <a:latin typeface="+mn-lt"/>
                    <a:ea typeface="+mn-ea"/>
                    <a:cs typeface="+mn-cs"/>
                  </a:rPr>
                  <a:t>(𝐴𝐷)^+={𝐴ⓜ,𝐷}</a:t>
                </a:r>
                <a:endParaRPr lang="en-US" dirty="0"/>
              </a:p>
              <a:p>
                <a:r>
                  <a:rPr lang="en-US" dirty="0"/>
                  <a:t>Using</a:t>
                </a:r>
              </a:p>
              <a:p>
                <a:r>
                  <a:rPr lang="en-US" sz="1200" i="0" kern="1200">
                    <a:solidFill>
                      <a:schemeClr val="tx1"/>
                    </a:solidFill>
                    <a:latin typeface="+mn-lt"/>
                    <a:ea typeface="+mn-ea"/>
                    <a:cs typeface="+mn-cs"/>
                  </a:rPr>
                  <a:t>𝐴→𝐵𝐶</a:t>
                </a:r>
                <a:endParaRPr lang="en-US" dirty="0"/>
              </a:p>
              <a:p>
                <a:r>
                  <a:rPr lang="en-US" sz="1200" i="0" kern="1200">
                    <a:solidFill>
                      <a:schemeClr val="tx1"/>
                    </a:solidFill>
                    <a:latin typeface="+mn-lt"/>
                    <a:ea typeface="+mn-ea"/>
                    <a:cs typeface="+mn-cs"/>
                  </a:rPr>
                  <a:t>{𝐴ⓜ,𝐵ⓜ,𝐶ⓜ,𝐷}</a:t>
                </a:r>
                <a:endParaRPr lang="en-US" dirty="0"/>
              </a:p>
              <a:p>
                <a:r>
                  <a:rPr lang="en-US" dirty="0"/>
                  <a:t>Using</a:t>
                </a:r>
              </a:p>
              <a:p>
                <a:r>
                  <a:rPr lang="en-US" sz="1200" i="0" kern="1200">
                    <a:solidFill>
                      <a:schemeClr val="tx1"/>
                    </a:solidFill>
                    <a:latin typeface="+mn-lt"/>
                    <a:ea typeface="+mn-ea"/>
                    <a:cs typeface="+mn-cs"/>
                  </a:rPr>
                  <a:t>𝐵→𝐸</a:t>
                </a:r>
                <a:endParaRPr lang="en-US" dirty="0"/>
              </a:p>
              <a:p>
                <a:r>
                  <a:rPr lang="en-US" sz="1200" i="0" kern="1200">
                    <a:solidFill>
                      <a:schemeClr val="tx1"/>
                    </a:solidFill>
                    <a:latin typeface="+mn-lt"/>
                    <a:ea typeface="+mn-ea"/>
                    <a:cs typeface="+mn-cs"/>
                  </a:rPr>
                  <a:t>{𝐴ⓜ,𝐵ⓜ,𝐶ⓜ,𝐷ⓜ,𝐸}</a:t>
                </a:r>
                <a:endParaRPr lang="en-US" dirty="0"/>
              </a:p>
              <a:p>
                <a:r>
                  <a:rPr lang="en-US" dirty="0"/>
                  <a:t>Using</a:t>
                </a:r>
              </a:p>
              <a:p>
                <a:r>
                  <a:rPr lang="en-US" sz="1200" i="0" kern="1200">
                    <a:solidFill>
                      <a:schemeClr val="tx1"/>
                    </a:solidFill>
                    <a:latin typeface="+mn-lt"/>
                    <a:ea typeface="+mn-ea"/>
                    <a:cs typeface="+mn-cs"/>
                  </a:rPr>
                  <a:t>𝐶→𝐹</a:t>
                </a:r>
                <a:endParaRPr lang="en-US" dirty="0"/>
              </a:p>
              <a:p>
                <a:r>
                  <a:rPr lang="en-US" sz="1200" i="0" kern="1200">
                    <a:solidFill>
                      <a:schemeClr val="tx1"/>
                    </a:solidFill>
                    <a:latin typeface="+mn-lt"/>
                    <a:ea typeface="+mn-ea"/>
                    <a:cs typeface="+mn-cs"/>
                  </a:rPr>
                  <a:t>{𝐴ⓜ,𝐵ⓜ,𝐶ⓜ,𝐷ⓜ,𝐸ⓜ,𝐹}</a:t>
                </a:r>
                <a:endParaRPr lang="en-US" dirty="0"/>
              </a:p>
              <a:p>
                <a:r>
                  <a:rPr lang="en-US" dirty="0"/>
                  <a:t>All attributes obtained.</a:t>
                </a:r>
              </a:p>
              <a:p>
                <a:r>
                  <a:rPr lang="en-US" dirty="0"/>
                  <a:t>Therefore:</a:t>
                </a:r>
              </a:p>
              <a:p>
                <a:r>
                  <a:rPr lang="en-US" sz="1200" i="0" kern="1200">
                    <a:solidFill>
                      <a:schemeClr val="tx1"/>
                    </a:solidFill>
                    <a:latin typeface="+mn-lt"/>
                    <a:ea typeface="+mn-ea"/>
                    <a:cs typeface="+mn-cs"/>
                  </a:rPr>
                  <a:t>(𝐴𝐷)^+=𝑅</a:t>
                </a:r>
                <a:endParaRPr lang="en-US" dirty="0"/>
              </a:p>
              <a:p>
                <a:r>
                  <a:rPr lang="en-US" dirty="0"/>
                  <a:t>So AD is a Super Key.</a:t>
                </a:r>
              </a:p>
              <a:p>
                <a:br>
                  <a:rPr lang="en-US" dirty="0"/>
                </a:br>
                <a:endParaRPr lang="en-US" dirty="0"/>
              </a:p>
              <a:p>
                <a:r>
                  <a:rPr lang="en-US" b="1" dirty="0"/>
                  <a:t>Step 3: Check Minimality</a:t>
                </a:r>
              </a:p>
              <a:p>
                <a:r>
                  <a:rPr lang="en-US" sz="1200" i="0" kern="1200">
                    <a:solidFill>
                      <a:schemeClr val="tx1"/>
                    </a:solidFill>
                    <a:latin typeface="+mn-lt"/>
                    <a:ea typeface="+mn-ea"/>
                    <a:cs typeface="+mn-cs"/>
                  </a:rPr>
                  <a:t>𝐴^+={𝐴ⓜ,𝐵ⓜ,𝐶ⓜ,𝐸ⓜ,𝐹}</a:t>
                </a:r>
                <a:endParaRPr lang="en-US" dirty="0"/>
              </a:p>
              <a:p>
                <a:r>
                  <a:rPr lang="en-US" dirty="0"/>
                  <a:t>Missing D.</a:t>
                </a:r>
              </a:p>
              <a:p>
                <a:r>
                  <a:rPr lang="en-US" sz="1200" i="0" kern="1200">
                    <a:solidFill>
                      <a:schemeClr val="tx1"/>
                    </a:solidFill>
                    <a:latin typeface="+mn-lt"/>
                    <a:ea typeface="+mn-ea"/>
                    <a:cs typeface="+mn-cs"/>
                  </a:rPr>
                  <a:t>𝐷^+={𝐷}</a:t>
                </a:r>
                <a:endParaRPr lang="en-US" dirty="0"/>
              </a:p>
              <a:p>
                <a:r>
                  <a:rPr lang="en-US" dirty="0"/>
                  <a:t>Missing others.</a:t>
                </a:r>
              </a:p>
              <a:p>
                <a:r>
                  <a:rPr lang="en-US" dirty="0"/>
                  <a:t>Neither A nor D alone works.</a:t>
                </a:r>
              </a:p>
              <a:p>
                <a:r>
                  <a:rPr lang="en-US" dirty="0"/>
                  <a:t>Therefore:</a:t>
                </a:r>
              </a:p>
              <a:p>
                <a:r>
                  <a:rPr lang="en-US" b="1" dirty="0"/>
                  <a:t>Candidate Key = {AD}</a:t>
                </a:r>
                <a:endParaRPr lang="en-US" dirty="0"/>
              </a:p>
              <a:p>
                <a:endParaRPr lang="en-US" dirty="0"/>
              </a:p>
              <a:p>
                <a:endParaRPr lang="en-US" dirty="0"/>
              </a:p>
              <a:p>
                <a:endParaRPr lang="en-US" dirty="0"/>
              </a:p>
              <a:p>
                <a:endParaRPr lang="en-US" dirty="0"/>
              </a:p>
              <a:p>
                <a:endParaRPr lang="en-US" dirty="0"/>
              </a:p>
              <a:p>
                <a:r>
                  <a:rPr lang="en-US" b="1" dirty="0"/>
                  <a:t>Shortcut Method</a:t>
                </a:r>
              </a:p>
              <a:p>
                <a:r>
                  <a:rPr lang="en-US" b="1" dirty="0"/>
                  <a:t>Step 1</a:t>
                </a:r>
              </a:p>
              <a:p>
                <a:r>
                  <a:rPr lang="en-US" dirty="0"/>
                  <a:t>Write all attributes that never appear on RHS.</a:t>
                </a:r>
              </a:p>
              <a:p>
                <a:r>
                  <a:rPr lang="en-US" dirty="0"/>
                  <a:t>These must be part of every candidate key.</a:t>
                </a:r>
              </a:p>
              <a:p>
                <a:r>
                  <a:rPr lang="en-US" b="1" dirty="0"/>
                  <a:t>Step 2</a:t>
                </a:r>
              </a:p>
              <a:p>
                <a:r>
                  <a:rPr lang="en-US" dirty="0"/>
                  <a:t>Compute closure of that set.</a:t>
                </a:r>
              </a:p>
              <a:p>
                <a:r>
                  <a:rPr lang="en-US" b="1" dirty="0"/>
                  <a:t>Step 3</a:t>
                </a:r>
              </a:p>
              <a:p>
                <a:r>
                  <a:rPr lang="en-US" dirty="0"/>
                  <a:t>If closure is not all attributes, add attributes one by one and recompute.</a:t>
                </a:r>
              </a:p>
              <a:p>
                <a:r>
                  <a:rPr lang="en-US" b="1" dirty="0"/>
                  <a:t>Step 4</a:t>
                </a:r>
              </a:p>
              <a:p>
                <a:r>
                  <a:rPr lang="en-US" dirty="0"/>
                  <a:t>When closure contains all attributes, check minimality.</a:t>
                </a:r>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64</a:t>
            </a:fld>
            <a:endParaRPr lang="en-US"/>
          </a:p>
        </p:txBody>
      </p:sp>
    </p:spTree>
    <p:extLst>
      <p:ext uri="{BB962C8B-B14F-4D97-AF65-F5344CB8AC3E}">
        <p14:creationId xmlns:p14="http://schemas.microsoft.com/office/powerpoint/2010/main" val="30873322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Features of Database Normalization</a:t>
            </a:r>
          </a:p>
          <a:p>
            <a:pPr fontAlgn="base"/>
            <a:r>
              <a:rPr lang="en-US" sz="1200" b="1" i="0" kern="1200" dirty="0">
                <a:solidFill>
                  <a:schemeClr val="tx1"/>
                </a:solidFill>
                <a:effectLst/>
                <a:latin typeface="+mn-lt"/>
                <a:ea typeface="+mn-ea"/>
                <a:cs typeface="+mn-cs"/>
              </a:rPr>
              <a:t>Elimination of Data Redundancy: </a:t>
            </a:r>
            <a:r>
              <a:rPr lang="en-US" sz="1200" b="0" i="0" kern="1200" dirty="0">
                <a:solidFill>
                  <a:schemeClr val="tx1"/>
                </a:solidFill>
                <a:effectLst/>
                <a:latin typeface="+mn-lt"/>
                <a:ea typeface="+mn-ea"/>
                <a:cs typeface="+mn-cs"/>
              </a:rPr>
              <a:t>One of the main features of normalization is to eliminate the data redundancy that can occur in a database. Data redundancy refers to the repetition of data in different parts of the database. Normalization helps in reducing or eliminating this redundancy, which can improve the efficiency and consistency of the database.</a:t>
            </a:r>
          </a:p>
          <a:p>
            <a:pPr fontAlgn="base"/>
            <a:r>
              <a:rPr lang="en-US" sz="1200" b="1" i="0" kern="1200" dirty="0">
                <a:solidFill>
                  <a:schemeClr val="tx1"/>
                </a:solidFill>
                <a:effectLst/>
                <a:latin typeface="+mn-lt"/>
                <a:ea typeface="+mn-ea"/>
                <a:cs typeface="+mn-cs"/>
              </a:rPr>
              <a:t>Ensuring Data Consistency: </a:t>
            </a:r>
            <a:r>
              <a:rPr lang="en-US" sz="1200" b="0" i="0" kern="1200" dirty="0">
                <a:solidFill>
                  <a:schemeClr val="tx1"/>
                </a:solidFill>
                <a:effectLst/>
                <a:latin typeface="+mn-lt"/>
                <a:ea typeface="+mn-ea"/>
                <a:cs typeface="+mn-cs"/>
              </a:rPr>
              <a:t>Normalization helps in ensuring that the data in the database is consistent and accurate. By eliminating redundancy, normalization helps in preventing inconsistencies and contradictions that can arise due to different versions of the same data.</a:t>
            </a:r>
          </a:p>
          <a:p>
            <a:pPr fontAlgn="base"/>
            <a:r>
              <a:rPr lang="en-US" sz="1200" b="1" i="0" kern="1200" dirty="0">
                <a:solidFill>
                  <a:schemeClr val="tx1"/>
                </a:solidFill>
                <a:effectLst/>
                <a:latin typeface="+mn-lt"/>
                <a:ea typeface="+mn-ea"/>
                <a:cs typeface="+mn-cs"/>
              </a:rPr>
              <a:t>Simplification of Data Management:</a:t>
            </a:r>
            <a:r>
              <a:rPr lang="en-US" sz="1200" b="0" i="0" kern="1200" dirty="0">
                <a:solidFill>
                  <a:schemeClr val="tx1"/>
                </a:solidFill>
                <a:effectLst/>
                <a:latin typeface="+mn-lt"/>
                <a:ea typeface="+mn-ea"/>
                <a:cs typeface="+mn-cs"/>
              </a:rPr>
              <a:t> Normalization simplifies the process of managing data in a database. By breaking down a complex data structure into simpler tables, normalization makes it easier to manage the data, update it, and retrieve it.</a:t>
            </a:r>
          </a:p>
          <a:p>
            <a:pPr fontAlgn="base"/>
            <a:r>
              <a:rPr lang="en-US" sz="1200" b="1" i="0" kern="1200" dirty="0">
                <a:solidFill>
                  <a:schemeClr val="tx1"/>
                </a:solidFill>
                <a:effectLst/>
                <a:latin typeface="+mn-lt"/>
                <a:ea typeface="+mn-ea"/>
                <a:cs typeface="+mn-cs"/>
              </a:rPr>
              <a:t>Improved Database Design:</a:t>
            </a:r>
            <a:r>
              <a:rPr lang="en-US" sz="1200" b="0" i="0" kern="1200" dirty="0">
                <a:solidFill>
                  <a:schemeClr val="tx1"/>
                </a:solidFill>
                <a:effectLst/>
                <a:latin typeface="+mn-lt"/>
                <a:ea typeface="+mn-ea"/>
                <a:cs typeface="+mn-cs"/>
              </a:rPr>
              <a:t> Normalization helps in improving the overall design of the database. By organizing the data in a structured and systematic way, normalization makes it easier to design and maintain the database. It also makes the database more flexible and adaptable to changing business needs.</a:t>
            </a:r>
          </a:p>
          <a:p>
            <a:pPr fontAlgn="base"/>
            <a:r>
              <a:rPr lang="en-US" sz="1200" b="1" i="0" kern="1200" dirty="0">
                <a:solidFill>
                  <a:schemeClr val="tx1"/>
                </a:solidFill>
                <a:effectLst/>
                <a:latin typeface="+mn-lt"/>
                <a:ea typeface="+mn-ea"/>
                <a:cs typeface="+mn-cs"/>
              </a:rPr>
              <a:t>Standardization: </a:t>
            </a:r>
            <a:r>
              <a:rPr lang="en-US" sz="1200" b="0" i="0" kern="1200" dirty="0">
                <a:solidFill>
                  <a:schemeClr val="tx1"/>
                </a:solidFill>
                <a:effectLst/>
                <a:latin typeface="+mn-lt"/>
                <a:ea typeface="+mn-ea"/>
                <a:cs typeface="+mn-cs"/>
              </a:rPr>
              <a:t>Normalization helps in standardizing the data in the database. By organizing the data into tables and defining relationships between them, normalization helps in ensuring that the data is stored in a consistent and uniform manner.</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65</a:t>
            </a:fld>
            <a:endParaRPr lang="en-US"/>
          </a:p>
        </p:txBody>
      </p:sp>
    </p:spTree>
    <p:extLst>
      <p:ext uri="{BB962C8B-B14F-4D97-AF65-F5344CB8AC3E}">
        <p14:creationId xmlns:p14="http://schemas.microsoft.com/office/powerpoint/2010/main" val="16121397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66</a:t>
            </a:fld>
            <a:endParaRPr lang="en-US"/>
          </a:p>
        </p:txBody>
      </p:sp>
    </p:spTree>
    <p:extLst>
      <p:ext uri="{BB962C8B-B14F-4D97-AF65-F5344CB8AC3E}">
        <p14:creationId xmlns:p14="http://schemas.microsoft.com/office/powerpoint/2010/main" val="16898495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Before Normalization:</a:t>
            </a:r>
            <a:r>
              <a:rPr lang="en-US" sz="1200" b="0" i="0" kern="1200" dirty="0">
                <a:solidFill>
                  <a:schemeClr val="tx1"/>
                </a:solidFill>
                <a:effectLst/>
                <a:latin typeface="+mn-lt"/>
                <a:ea typeface="+mn-ea"/>
                <a:cs typeface="+mn-cs"/>
              </a:rPr>
              <a:t> The table is prone to redundancy and anomalies (insertion, update, and deletion).</a:t>
            </a:r>
          </a:p>
          <a:p>
            <a:pPr fontAlgn="base"/>
            <a:r>
              <a:rPr lang="en-US" sz="1200" b="1" i="0" kern="1200" dirty="0">
                <a:solidFill>
                  <a:schemeClr val="tx1"/>
                </a:solidFill>
                <a:effectLst/>
                <a:latin typeface="+mn-lt"/>
                <a:ea typeface="+mn-ea"/>
                <a:cs typeface="+mn-cs"/>
              </a:rPr>
              <a:t>After Normalization:</a:t>
            </a:r>
            <a:r>
              <a:rPr lang="en-US" sz="1200" b="0" i="0" kern="1200" dirty="0">
                <a:solidFill>
                  <a:schemeClr val="tx1"/>
                </a:solidFill>
                <a:effectLst/>
                <a:latin typeface="+mn-lt"/>
                <a:ea typeface="+mn-ea"/>
                <a:cs typeface="+mn-cs"/>
              </a:rPr>
              <a:t> The data is divided into logical tables to ensure consistency, avoid redundancy and remove anomalies making the database efficient and reliable.</a:t>
            </a:r>
          </a:p>
          <a:p>
            <a:pPr fontAlgn="base"/>
            <a:r>
              <a:rPr lang="en-US" sz="1200" b="1" i="0" kern="1200" dirty="0">
                <a:solidFill>
                  <a:schemeClr val="tx1"/>
                </a:solidFill>
                <a:effectLst/>
                <a:latin typeface="+mn-lt"/>
                <a:ea typeface="+mn-ea"/>
                <a:cs typeface="+mn-cs"/>
              </a:rPr>
              <a:t>Problems in the </a:t>
            </a:r>
            <a:r>
              <a:rPr lang="en-US" sz="1200" b="1" i="0" kern="1200" dirty="0" err="1">
                <a:solidFill>
                  <a:schemeClr val="tx1"/>
                </a:solidFill>
                <a:effectLst/>
                <a:latin typeface="+mn-lt"/>
                <a:ea typeface="+mn-ea"/>
                <a:cs typeface="+mn-cs"/>
              </a:rPr>
              <a:t>Employee_Department</a:t>
            </a:r>
            <a:r>
              <a:rPr lang="en-US" sz="1200" b="1" i="0" kern="1200" dirty="0">
                <a:solidFill>
                  <a:schemeClr val="tx1"/>
                </a:solidFill>
                <a:effectLst/>
                <a:latin typeface="+mn-lt"/>
                <a:ea typeface="+mn-ea"/>
                <a:cs typeface="+mn-cs"/>
              </a:rPr>
              <a:t> Relation</a:t>
            </a:r>
          </a:p>
          <a:p>
            <a:pPr fontAlgn="base"/>
            <a:r>
              <a:rPr lang="en-US" sz="1200" b="0" i="0" kern="1200" dirty="0">
                <a:solidFill>
                  <a:schemeClr val="tx1"/>
                </a:solidFill>
                <a:effectLst/>
                <a:latin typeface="+mn-lt"/>
                <a:ea typeface="+mn-ea"/>
                <a:cs typeface="+mn-cs"/>
              </a:rPr>
              <a:t>If a new department is created but no employee is assigned to it yet, we cannot store its location because we need an employee record to insert. It shows insertion anomaly.</a:t>
            </a:r>
          </a:p>
          <a:p>
            <a:pPr fontAlgn="base"/>
            <a:r>
              <a:rPr lang="en-US" sz="1200" b="0" i="0" kern="1200" dirty="0">
                <a:solidFill>
                  <a:schemeClr val="tx1"/>
                </a:solidFill>
                <a:effectLst/>
                <a:latin typeface="+mn-lt"/>
                <a:ea typeface="+mn-ea"/>
                <a:cs typeface="+mn-cs"/>
              </a:rPr>
              <a:t>If the location of the HR department changes, we must update it in multiple rows (for both Nick Wise and Lily Case). If one row is missed, the data becomes inconsistent.</a:t>
            </a:r>
          </a:p>
          <a:p>
            <a:pPr fontAlgn="base"/>
            <a:r>
              <a:rPr lang="en-US" sz="1200" b="0" i="0" kern="1200" dirty="0">
                <a:solidFill>
                  <a:schemeClr val="tx1"/>
                </a:solidFill>
                <a:effectLst/>
                <a:latin typeface="+mn-lt"/>
                <a:ea typeface="+mn-ea"/>
                <a:cs typeface="+mn-cs"/>
              </a:rPr>
              <a:t>If all employees in the IT department leave, we lose the department information, including its location.</a:t>
            </a:r>
          </a:p>
          <a:p>
            <a:pPr fontAlgn="base"/>
            <a:r>
              <a:rPr lang="en-US" sz="1200" b="0" i="0" kern="1200" dirty="0">
                <a:solidFill>
                  <a:schemeClr val="tx1"/>
                </a:solidFill>
                <a:effectLst/>
                <a:latin typeface="+mn-lt"/>
                <a:ea typeface="+mn-ea"/>
                <a:cs typeface="+mn-cs"/>
              </a:rPr>
              <a:t>The department location is repeated for every employee in the same department. It is data redundant.</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67</a:t>
            </a:fld>
            <a:endParaRPr lang="en-US"/>
          </a:p>
        </p:txBody>
      </p:sp>
    </p:spTree>
    <p:extLst>
      <p:ext uri="{BB962C8B-B14F-4D97-AF65-F5344CB8AC3E}">
        <p14:creationId xmlns:p14="http://schemas.microsoft.com/office/powerpoint/2010/main" val="23560766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Normal Form		Question to 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1NF		Are all values atomic?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2NF		Is there any partial dependency?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3NF		Is there any transitive dependency?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BCNF		Is every determinant a candidate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4NF		Is there any multivalued dependency?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5NF		Is there any join dependency causing redundancy?</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68</a:t>
            </a:fld>
            <a:endParaRPr lang="en-US"/>
          </a:p>
        </p:txBody>
      </p:sp>
    </p:spTree>
    <p:extLst>
      <p:ext uri="{BB962C8B-B14F-4D97-AF65-F5344CB8AC3E}">
        <p14:creationId xmlns:p14="http://schemas.microsoft.com/office/powerpoint/2010/main" val="39124822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Remaining Problems</a:t>
            </a:r>
          </a:p>
          <a:p>
            <a:r>
              <a:rPr lang="en-US" dirty="0"/>
              <a:t>Notice:</a:t>
            </a:r>
          </a:p>
          <a:p>
            <a:pPr rtl="0"/>
            <a:r>
              <a:rPr lang="en-US" sz="1200" kern="1200" dirty="0" err="1">
                <a:solidFill>
                  <a:schemeClr val="tx1"/>
                </a:solidFill>
                <a:latin typeface="+mn-lt"/>
                <a:ea typeface="+mn-ea"/>
                <a:cs typeface="+mn-cs"/>
              </a:rPr>
              <a:t>Student_ID</a:t>
            </a:r>
            <a:r>
              <a:rPr lang="en-US" sz="1200" kern="1200" dirty="0">
                <a:solidFill>
                  <a:schemeClr val="tx1"/>
                </a:solidFill>
                <a:latin typeface="+mn-lt"/>
                <a:ea typeface="+mn-ea"/>
                <a:cs typeface="+mn-cs"/>
              </a:rPr>
              <a:t> → </a:t>
            </a:r>
            <a:r>
              <a:rPr lang="en-US" sz="1200" kern="1200" dirty="0" err="1">
                <a:solidFill>
                  <a:schemeClr val="tx1"/>
                </a:solidFill>
                <a:latin typeface="+mn-lt"/>
                <a:ea typeface="+mn-ea"/>
                <a:cs typeface="+mn-cs"/>
              </a:rPr>
              <a:t>Student_Name</a:t>
            </a:r>
            <a:r>
              <a:rPr lang="en-US" sz="1200" kern="1200" dirty="0">
                <a:solidFill>
                  <a:schemeClr val="tx1"/>
                </a:solidFill>
                <a:latin typeface="+mn-lt"/>
                <a:ea typeface="+mn-ea"/>
                <a:cs typeface="+mn-cs"/>
              </a:rPr>
              <a:t>, </a:t>
            </a:r>
            <a:r>
              <a:rPr lang="en-US" sz="1200" kern="1200" dirty="0" err="1">
                <a:solidFill>
                  <a:schemeClr val="tx1"/>
                </a:solidFill>
                <a:latin typeface="+mn-lt"/>
                <a:ea typeface="+mn-ea"/>
                <a:cs typeface="+mn-cs"/>
              </a:rPr>
              <a:t>Dept_ID</a:t>
            </a:r>
            <a:br>
              <a:rPr lang="en-US" sz="1200" kern="1200" dirty="0">
                <a:solidFill>
                  <a:schemeClr val="tx1"/>
                </a:solidFill>
                <a:latin typeface="+mn-lt"/>
                <a:ea typeface="+mn-ea"/>
                <a:cs typeface="+mn-cs"/>
              </a:rPr>
            </a:br>
            <a:r>
              <a:rPr lang="en-US" sz="1200" kern="1200" dirty="0" err="1">
                <a:solidFill>
                  <a:schemeClr val="tx1"/>
                </a:solidFill>
                <a:latin typeface="+mn-lt"/>
                <a:ea typeface="+mn-ea"/>
                <a:cs typeface="+mn-cs"/>
              </a:rPr>
              <a:t>Dept_ID</a:t>
            </a:r>
            <a:r>
              <a:rPr lang="en-US" sz="1200" kern="1200" dirty="0">
                <a:solidFill>
                  <a:schemeClr val="tx1"/>
                </a:solidFill>
                <a:latin typeface="+mn-lt"/>
                <a:ea typeface="+mn-ea"/>
                <a:cs typeface="+mn-cs"/>
              </a:rPr>
              <a:t> → </a:t>
            </a:r>
            <a:r>
              <a:rPr lang="en-US" sz="1200" kern="1200" dirty="0" err="1">
                <a:solidFill>
                  <a:schemeClr val="tx1"/>
                </a:solidFill>
                <a:latin typeface="+mn-lt"/>
                <a:ea typeface="+mn-ea"/>
                <a:cs typeface="+mn-cs"/>
              </a:rPr>
              <a:t>Dept_Name</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Subject → Teacher</a:t>
            </a:r>
          </a:p>
          <a:p>
            <a:r>
              <a:rPr lang="en-US" dirty="0"/>
              <a:t>Many attributes depend on only part of the composite key.</a:t>
            </a:r>
          </a:p>
          <a:p>
            <a:r>
              <a:rPr lang="en-US" dirty="0"/>
              <a:t>Thus not in 2NF.</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70</a:t>
            </a:fld>
            <a:endParaRPr lang="en-US"/>
          </a:p>
        </p:txBody>
      </p:sp>
    </p:spTree>
    <p:extLst>
      <p:ext uri="{BB962C8B-B14F-4D97-AF65-F5344CB8AC3E}">
        <p14:creationId xmlns:p14="http://schemas.microsoft.com/office/powerpoint/2010/main" val="37822680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Student_Name</a:t>
            </a:r>
            <a:r>
              <a:rPr lang="en-US" dirty="0"/>
              <a:t> depends only on </a:t>
            </a:r>
            <a:r>
              <a:rPr lang="en-US" dirty="0" err="1"/>
              <a:t>Student_ID</a:t>
            </a:r>
            <a:r>
              <a:rPr lang="en-US" dirty="0"/>
              <a:t>.</a:t>
            </a:r>
          </a:p>
          <a:p>
            <a:r>
              <a:rPr lang="en-US" dirty="0"/>
              <a:t>Teacher depends only on Subject.</a:t>
            </a:r>
          </a:p>
          <a:p>
            <a:r>
              <a:rPr lang="en-US" dirty="0"/>
              <a:t>These are partial dependencies.</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71</a:t>
            </a:fld>
            <a:endParaRPr lang="en-US"/>
          </a:p>
        </p:txBody>
      </p:sp>
    </p:spTree>
    <p:extLst>
      <p:ext uri="{BB962C8B-B14F-4D97-AF65-F5344CB8AC3E}">
        <p14:creationId xmlns:p14="http://schemas.microsoft.com/office/powerpoint/2010/main" val="9099649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Remaining Problem</a:t>
            </a:r>
          </a:p>
          <a:p>
            <a:r>
              <a:rPr lang="en-US" dirty="0"/>
              <a:t>In STUDENT:</a:t>
            </a:r>
          </a:p>
          <a:p>
            <a:r>
              <a:rPr lang="en-US" dirty="0" err="1"/>
              <a:t>Student_ID</a:t>
            </a:r>
            <a:r>
              <a:rPr lang="en-US" dirty="0"/>
              <a:t>	</a:t>
            </a:r>
            <a:r>
              <a:rPr lang="en-US" dirty="0" err="1"/>
              <a:t>Student_Name</a:t>
            </a:r>
            <a:r>
              <a:rPr lang="en-US" dirty="0"/>
              <a:t>		</a:t>
            </a:r>
            <a:r>
              <a:rPr lang="en-US" dirty="0" err="1"/>
              <a:t>Dept_ID</a:t>
            </a:r>
            <a:endParaRPr lang="en-US" dirty="0"/>
          </a:p>
          <a:p>
            <a:r>
              <a:rPr lang="en-US" dirty="0"/>
              <a:t>S101	Ram		D1</a:t>
            </a:r>
          </a:p>
          <a:p>
            <a:r>
              <a:rPr lang="en-US" dirty="0"/>
              <a:t>S102	Hari		D2</a:t>
            </a:r>
          </a:p>
          <a:p>
            <a:r>
              <a:rPr lang="en-US" dirty="0"/>
              <a:t>We still have:</a:t>
            </a:r>
          </a:p>
          <a:p>
            <a:pPr rtl="0"/>
            <a:r>
              <a:rPr lang="en-US" sz="1200" kern="1200" dirty="0" err="1">
                <a:solidFill>
                  <a:schemeClr val="tx1"/>
                </a:solidFill>
                <a:latin typeface="+mn-lt"/>
                <a:ea typeface="+mn-ea"/>
                <a:cs typeface="+mn-cs"/>
              </a:rPr>
              <a:t>Dept_ID</a:t>
            </a:r>
            <a:r>
              <a:rPr lang="en-US" sz="1200" kern="1200" dirty="0">
                <a:solidFill>
                  <a:schemeClr val="tx1"/>
                </a:solidFill>
                <a:latin typeface="+mn-lt"/>
                <a:ea typeface="+mn-ea"/>
                <a:cs typeface="+mn-cs"/>
              </a:rPr>
              <a:t> → </a:t>
            </a:r>
            <a:r>
              <a:rPr lang="en-US" sz="1200" kern="1200" dirty="0" err="1">
                <a:solidFill>
                  <a:schemeClr val="tx1"/>
                </a:solidFill>
                <a:latin typeface="+mn-lt"/>
                <a:ea typeface="+mn-ea"/>
                <a:cs typeface="+mn-cs"/>
              </a:rPr>
              <a:t>Dept_Name</a:t>
            </a:r>
            <a:endParaRPr lang="en-US" sz="1200" kern="1200" dirty="0">
              <a:solidFill>
                <a:schemeClr val="tx1"/>
              </a:solidFill>
              <a:latin typeface="+mn-lt"/>
              <a:ea typeface="+mn-ea"/>
              <a:cs typeface="+mn-cs"/>
            </a:endParaRPr>
          </a:p>
          <a:p>
            <a:r>
              <a:rPr lang="en-US" dirty="0"/>
              <a:t>Transitive dependency exists.</a:t>
            </a:r>
          </a:p>
          <a:p>
            <a:r>
              <a:rPr lang="en-US" dirty="0"/>
              <a:t>Not in 3NF.</a:t>
            </a:r>
          </a:p>
          <a:p>
            <a:endParaRPr lang="en-US" dirty="0"/>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72</a:t>
            </a:fld>
            <a:endParaRPr lang="en-US"/>
          </a:p>
        </p:txBody>
      </p:sp>
    </p:spTree>
    <p:extLst>
      <p:ext uri="{BB962C8B-B14F-4D97-AF65-F5344CB8AC3E}">
        <p14:creationId xmlns:p14="http://schemas.microsoft.com/office/powerpoint/2010/main" val="2479267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This a Problem?</a:t>
            </a:r>
          </a:p>
          <a:p>
            <a:r>
              <a:rPr lang="en-US" b="1" dirty="0"/>
              <a:t>1. Update Anomaly</a:t>
            </a:r>
          </a:p>
          <a:p>
            <a:r>
              <a:rPr lang="en-US" dirty="0"/>
              <a:t>Suppose:</a:t>
            </a:r>
          </a:p>
          <a:p>
            <a:r>
              <a:rPr lang="en-US" dirty="0"/>
              <a:t>Computer department changes name to:</a:t>
            </a:r>
          </a:p>
          <a:p>
            <a:r>
              <a:rPr lang="en-US" dirty="0"/>
              <a:t>"Computer Engineering"</a:t>
            </a:r>
          </a:p>
          <a:p>
            <a:r>
              <a:rPr lang="en-US" dirty="0"/>
              <a:t>Current table:</a:t>
            </a:r>
          </a:p>
          <a:p>
            <a:r>
              <a:rPr lang="en-US" dirty="0"/>
              <a:t>Student_IDStudent_NameDept_IDDept_NameS101RamD1ComputerS103SitaD1Computer</a:t>
            </a:r>
          </a:p>
          <a:p>
            <a:r>
              <a:rPr lang="en-US" dirty="0"/>
              <a:t>We must update every student row.</a:t>
            </a:r>
          </a:p>
          <a:p>
            <a:r>
              <a:rPr lang="en-US" dirty="0"/>
              <a:t>If one row is missed:</a:t>
            </a:r>
          </a:p>
          <a:p>
            <a:r>
              <a:rPr lang="en-US" dirty="0"/>
              <a:t>Student_IDStudent_NameDept_IDDept_NameS101RamD1Computer EngineeringS103SitaD1Computer</a:t>
            </a:r>
          </a:p>
          <a:p>
            <a:r>
              <a:rPr lang="en-US" dirty="0"/>
              <a:t>Database becomes inconsistent.</a:t>
            </a:r>
          </a:p>
          <a:p>
            <a:br>
              <a:rPr lang="en-US" dirty="0"/>
            </a:br>
            <a:endParaRPr lang="en-US" dirty="0"/>
          </a:p>
          <a:p>
            <a:r>
              <a:rPr lang="en-US" b="1" dirty="0"/>
              <a:t>2. Insertion Anomaly</a:t>
            </a:r>
          </a:p>
          <a:p>
            <a:r>
              <a:rPr lang="en-US" dirty="0"/>
              <a:t>Suppose a new department is created:</a:t>
            </a:r>
          </a:p>
          <a:p>
            <a:r>
              <a:rPr lang="en-US" dirty="0"/>
              <a:t>Dept_IDDept_NameD3Electronics</a:t>
            </a:r>
          </a:p>
          <a:p>
            <a:r>
              <a:rPr lang="en-US" dirty="0"/>
              <a:t>But no student has joined yet.</a:t>
            </a:r>
          </a:p>
          <a:p>
            <a:r>
              <a:rPr lang="en-US" dirty="0"/>
              <a:t>In STUDENT table, we cannot store this information because there is no </a:t>
            </a:r>
            <a:r>
              <a:rPr lang="en-US" dirty="0" err="1"/>
              <a:t>Student_ID</a:t>
            </a:r>
            <a:r>
              <a:rPr lang="en-US" dirty="0"/>
              <a:t>.</a:t>
            </a:r>
          </a:p>
          <a:p>
            <a:br>
              <a:rPr lang="en-US" dirty="0"/>
            </a:br>
            <a:endParaRPr lang="en-US" dirty="0"/>
          </a:p>
          <a:p>
            <a:r>
              <a:rPr lang="en-US" b="1" dirty="0"/>
              <a:t>3. Deletion Anomaly</a:t>
            </a:r>
          </a:p>
          <a:p>
            <a:r>
              <a:rPr lang="en-US" dirty="0"/>
              <a:t>Suppose Sita is the only student in Computer department.</a:t>
            </a:r>
          </a:p>
          <a:p>
            <a:r>
              <a:rPr lang="en-US" dirty="0"/>
              <a:t>If Sita's record is deleted:</a:t>
            </a:r>
          </a:p>
          <a:p>
            <a:r>
              <a:rPr lang="en-US" dirty="0" err="1"/>
              <a:t>Student_ID</a:t>
            </a:r>
            <a:r>
              <a:rPr lang="en-US" dirty="0"/>
              <a:t>	</a:t>
            </a:r>
            <a:r>
              <a:rPr lang="en-US" dirty="0" err="1"/>
              <a:t>Student_Name</a:t>
            </a:r>
            <a:r>
              <a:rPr lang="en-US" dirty="0"/>
              <a:t>		</a:t>
            </a:r>
            <a:r>
              <a:rPr lang="en-US" dirty="0" err="1"/>
              <a:t>Dept_ID</a:t>
            </a:r>
            <a:r>
              <a:rPr lang="en-US" dirty="0"/>
              <a:t>	</a:t>
            </a:r>
            <a:r>
              <a:rPr lang="en-US" dirty="0" err="1"/>
              <a:t>Dept_Name</a:t>
            </a:r>
            <a:r>
              <a:rPr lang="en-US" dirty="0"/>
              <a:t>	</a:t>
            </a:r>
          </a:p>
          <a:p>
            <a:r>
              <a:rPr lang="en-US" dirty="0"/>
              <a:t>S103	Sita	D1	Computer</a:t>
            </a:r>
          </a:p>
          <a:p>
            <a:r>
              <a:rPr lang="en-US" dirty="0"/>
              <a:t>The information: </a:t>
            </a:r>
            <a:r>
              <a:rPr lang="en-US" sz="1200" kern="1200" dirty="0">
                <a:solidFill>
                  <a:schemeClr val="tx1"/>
                </a:solidFill>
                <a:latin typeface="+mn-lt"/>
                <a:ea typeface="+mn-ea"/>
                <a:cs typeface="+mn-cs"/>
              </a:rPr>
              <a:t>D1 = </a:t>
            </a:r>
            <a:r>
              <a:rPr lang="en-US" sz="1200" kern="1200" dirty="0" err="1">
                <a:solidFill>
                  <a:schemeClr val="tx1"/>
                </a:solidFill>
                <a:latin typeface="+mn-lt"/>
                <a:ea typeface="+mn-ea"/>
                <a:cs typeface="+mn-cs"/>
              </a:rPr>
              <a:t>Computer</a:t>
            </a:r>
            <a:r>
              <a:rPr lang="en-US" dirty="0" err="1"/>
              <a:t>is</a:t>
            </a:r>
            <a:r>
              <a:rPr lang="en-US" dirty="0"/>
              <a:t> also lost.</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73</a:t>
            </a:fld>
            <a:endParaRPr lang="en-US"/>
          </a:p>
        </p:txBody>
      </p:sp>
    </p:spTree>
    <p:extLst>
      <p:ext uri="{BB962C8B-B14F-4D97-AF65-F5344CB8AC3E}">
        <p14:creationId xmlns:p14="http://schemas.microsoft.com/office/powerpoint/2010/main" val="376386037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Idea</a:t>
            </a:r>
          </a:p>
          <a:p>
            <a:r>
              <a:rPr lang="en-US" dirty="0"/>
              <a:t>Every attribute that determines another attribute must itself uniquely identify a tuple (i.e., be a candidate key or super key).</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75</a:t>
            </a:fld>
            <a:endParaRPr lang="en-US"/>
          </a:p>
        </p:txBody>
      </p:sp>
    </p:spTree>
    <p:extLst>
      <p:ext uri="{BB962C8B-B14F-4D97-AF65-F5344CB8AC3E}">
        <p14:creationId xmlns:p14="http://schemas.microsoft.com/office/powerpoint/2010/main" val="28985879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b="1" dirty="0"/>
                  <a:t>Step 1: Find Candidate Key</a:t>
                </a:r>
              </a:p>
              <a:p>
                <a:r>
                  <a:rPr lang="en-US" dirty="0"/>
                  <a:t>Let's find closure of (StudentID, Course).</a:t>
                </a:r>
              </a:p>
              <a:p>
                <a:pPr/>
                <a14:m>
                  <m:oMathPara xmlns:m="http://schemas.openxmlformats.org/officeDocument/2006/math">
                    <m:oMathParaPr>
                      <m:jc m:val="centerGroup"/>
                    </m:oMathParaPr>
                    <m:oMath xmlns:m="http://schemas.openxmlformats.org/officeDocument/2006/math">
                      <m:sSup>
                        <m:sSupPr>
                          <m:ctrlPr>
                            <a:rPr lang="en-US" sz="1200" i="1" kern="1200">
                              <a:solidFill>
                                <a:schemeClr val="tx1"/>
                              </a:solidFill>
                              <a:latin typeface="Cambria Math" panose="02040503050406030204" pitchFamily="18" charset="0"/>
                              <a:ea typeface="+mn-ea"/>
                              <a:cs typeface="+mn-cs"/>
                            </a:rPr>
                          </m:ctrlPr>
                        </m:sSupPr>
                        <m:e>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𝑆</m:t>
                              </m:r>
                            </m:e>
                            <m:e>
                              <m:r>
                                <a:rPr lang="en-US" sz="1200" i="1" kern="1200">
                                  <a:solidFill>
                                    <a:schemeClr val="tx1"/>
                                  </a:solidFill>
                                  <a:latin typeface="Cambria Math" panose="02040503050406030204" pitchFamily="18" charset="0"/>
                                  <a:ea typeface="+mn-ea"/>
                                  <a:cs typeface="+mn-cs"/>
                                </a:rPr>
                                <m:t>𝑡𝑢𝑑𝑒𝑛𝑡𝐼𝐷𝐶𝑜𝑢𝑟𝑠𝑒</m:t>
                              </m:r>
                            </m:e>
                          </m:d>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𝑆</m:t>
                          </m:r>
                        </m:e>
                        <m:e>
                          <m:r>
                            <a:rPr lang="en-US" sz="1200" i="1" kern="1200">
                              <a:solidFill>
                                <a:schemeClr val="tx1"/>
                              </a:solidFill>
                              <a:latin typeface="Cambria Math" panose="02040503050406030204" pitchFamily="18" charset="0"/>
                              <a:ea typeface="+mn-ea"/>
                              <a:cs typeface="+mn-cs"/>
                            </a:rPr>
                            <m:t>𝑡</m:t>
                          </m:r>
                        </m:e>
                        <m:e>
                          <m:r>
                            <a:rPr lang="en-US" sz="1200" i="1" kern="1200">
                              <a:solidFill>
                                <a:schemeClr val="tx1"/>
                              </a:solidFill>
                              <a:latin typeface="Cambria Math" panose="02040503050406030204" pitchFamily="18" charset="0"/>
                              <a:ea typeface="+mn-ea"/>
                              <a:cs typeface="+mn-cs"/>
                            </a:rPr>
                            <m:t>𝑢𝑑𝑒𝑛𝑡𝐼𝐷𝐶𝑜𝑢𝑟𝑠𝑒𝐼𝑛𝑠𝑡𝑟𝑢𝑐𝑡𝑜𝑟</m:t>
                          </m:r>
                        </m:e>
                      </m:d>
                    </m:oMath>
                  </m:oMathPara>
                </a14:m>
                <a:endParaRPr lang="en-US" dirty="0"/>
              </a:p>
              <a:p>
                <a:r>
                  <a:rPr lang="en-US" dirty="0"/>
                  <a:t>Therefore,</a:t>
                </a:r>
              </a:p>
              <a:p>
                <a:r>
                  <a:rPr lang="en-US" b="1" dirty="0"/>
                  <a:t>Candidate Key = (StudentID, Course)</a:t>
                </a:r>
                <a:endParaRPr lang="en-US" dirty="0"/>
              </a:p>
              <a:p>
                <a:br>
                  <a:rPr lang="en-US" dirty="0"/>
                </a:br>
                <a:endParaRPr lang="en-US" dirty="0"/>
              </a:p>
              <a:p>
                <a:r>
                  <a:rPr lang="en-US" b="1" dirty="0"/>
                  <a:t>Step 2: Check Each FD</a:t>
                </a:r>
              </a:p>
              <a:p>
                <a:r>
                  <a:rPr lang="en-US" b="1" dirty="0"/>
                  <a:t>FD 1</a:t>
                </a:r>
              </a:p>
              <a:p>
                <a:pPr/>
                <a14:m>
                  <m:oMathPara xmlns:m="http://schemas.openxmlformats.org/officeDocument/2006/math">
                    <m:oMathParaPr>
                      <m:jc m:val="centerGroup"/>
                    </m:oMathParaPr>
                    <m:oMath xmlns:m="http://schemas.openxmlformats.org/officeDocument/2006/math">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𝑆</m:t>
                          </m:r>
                        </m:e>
                        <m:e>
                          <m:r>
                            <a:rPr lang="en-US" sz="1200" i="1" kern="1200">
                              <a:solidFill>
                                <a:schemeClr val="tx1"/>
                              </a:solidFill>
                              <a:latin typeface="Cambria Math" panose="02040503050406030204" pitchFamily="18" charset="0"/>
                              <a:ea typeface="+mn-ea"/>
                              <a:cs typeface="+mn-cs"/>
                            </a:rPr>
                            <m:t>𝑡𝑢𝑑𝑒𝑛𝑡𝐼𝐷𝐶𝑜𝑢𝑟𝑠𝑒</m:t>
                          </m:r>
                        </m:e>
                      </m:d>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𝐼𝑛𝑠𝑡𝑟𝑢𝑐𝑡𝑜𝑟</m:t>
                      </m:r>
                    </m:oMath>
                  </m:oMathPara>
                </a14:m>
                <a:endParaRPr lang="en-US" dirty="0"/>
              </a:p>
              <a:p>
                <a:r>
                  <a:rPr lang="en-US" dirty="0"/>
                  <a:t>Left side is a candidate key.</a:t>
                </a:r>
              </a:p>
              <a:p>
                <a:r>
                  <a:rPr lang="en-US" dirty="0"/>
                  <a:t>✅ Satisfies BCNF</a:t>
                </a:r>
              </a:p>
              <a:p>
                <a:br>
                  <a:rPr lang="en-US" dirty="0"/>
                </a:br>
                <a:endParaRPr lang="en-US" dirty="0"/>
              </a:p>
              <a:p>
                <a:r>
                  <a:rPr lang="en-US" b="1" dirty="0"/>
                  <a:t>FD 2</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𝐼𝑛𝑠𝑡𝑟𝑢𝑐𝑡𝑜𝑟</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𝐶𝑜𝑢𝑟𝑠𝑒</m:t>
                      </m:r>
                    </m:oMath>
                  </m:oMathPara>
                </a14:m>
                <a:endParaRPr lang="en-US" dirty="0"/>
              </a:p>
              <a:p>
                <a:r>
                  <a:rPr lang="en-US" dirty="0"/>
                  <a:t>Let's check whether Instructor is a </a:t>
                </a:r>
                <a:r>
                  <a:rPr lang="en-US" dirty="0" err="1"/>
                  <a:t>superkey</a:t>
                </a:r>
                <a:r>
                  <a:rPr lang="en-US" dirty="0"/>
                  <a:t>.</a:t>
                </a:r>
              </a:p>
              <a:p>
                <a:r>
                  <a:rPr lang="en-US" dirty="0"/>
                  <a:t>Closure:</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𝐼𝑛𝑠𝑡𝑟𝑢𝑐𝑡𝑜</m:t>
                      </m:r>
                      <m:sSup>
                        <m:sSupPr>
                          <m:ctrlPr>
                            <a:rPr lang="en-US" sz="1200" i="1" kern="1200">
                              <a:solidFill>
                                <a:schemeClr val="tx1"/>
                              </a:solidFill>
                              <a:latin typeface="Cambria Math" panose="02040503050406030204" pitchFamily="18" charset="0"/>
                              <a:ea typeface="+mn-ea"/>
                              <a:cs typeface="+mn-cs"/>
                            </a:rPr>
                          </m:ctrlPr>
                        </m:sSupPr>
                        <m:e>
                          <m:r>
                            <a:rPr lang="en-US" sz="1200" i="1" kern="1200">
                              <a:solidFill>
                                <a:schemeClr val="tx1"/>
                              </a:solidFill>
                              <a:latin typeface="Cambria Math" panose="02040503050406030204" pitchFamily="18" charset="0"/>
                              <a:ea typeface="+mn-ea"/>
                              <a:cs typeface="+mn-cs"/>
                            </a:rPr>
                            <m:t>𝑟</m:t>
                          </m:r>
                        </m:e>
                        <m:sup>
                          <m:r>
                            <a:rPr lang="en-US" sz="1200" i="0" kern="1200">
                              <a:solidFill>
                                <a:schemeClr val="tx1"/>
                              </a:solidFill>
                              <a:latin typeface="Cambria Math" panose="02040503050406030204" pitchFamily="18" charset="0"/>
                              <a:ea typeface="+mn-ea"/>
                              <a:cs typeface="+mn-cs"/>
                            </a:rPr>
                            <m:t>+</m:t>
                          </m:r>
                        </m:sup>
                      </m:sSup>
                      <m:r>
                        <a:rPr lang="en-US" sz="1200" i="0" kern="1200">
                          <a:solidFill>
                            <a:schemeClr val="tx1"/>
                          </a:solidFill>
                          <a:latin typeface="Cambria Math" panose="02040503050406030204" pitchFamily="18" charset="0"/>
                          <a:ea typeface="+mn-ea"/>
                          <a:cs typeface="+mn-cs"/>
                        </a:rPr>
                        <m:t>=</m:t>
                      </m:r>
                      <m:d>
                        <m:dPr>
                          <m:begChr m:val="{"/>
                          <m:endChr m:val="}"/>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𝐼</m:t>
                          </m:r>
                        </m:e>
                        <m:e>
                          <m:r>
                            <a:rPr lang="en-US" sz="1200" i="1" kern="1200">
                              <a:solidFill>
                                <a:schemeClr val="tx1"/>
                              </a:solidFill>
                              <a:latin typeface="Cambria Math" panose="02040503050406030204" pitchFamily="18" charset="0"/>
                              <a:ea typeface="+mn-ea"/>
                              <a:cs typeface="+mn-cs"/>
                            </a:rPr>
                            <m:t>𝑛𝑠𝑡𝑟𝑢𝑐𝑡𝑜𝑟𝐶𝑜𝑢𝑟𝑠𝑒</m:t>
                          </m:r>
                        </m:e>
                      </m:d>
                    </m:oMath>
                  </m:oMathPara>
                </a14:m>
                <a:endParaRPr lang="en-US" dirty="0"/>
              </a:p>
              <a:p>
                <a:r>
                  <a:rPr lang="en-US" dirty="0"/>
                  <a:t>It does NOT contain StudentID.</a:t>
                </a:r>
              </a:p>
              <a:p>
                <a:r>
                  <a:rPr lang="en-US" dirty="0"/>
                  <a:t>Therefore Instructor is </a:t>
                </a:r>
                <a:r>
                  <a:rPr lang="en-US" b="1" dirty="0"/>
                  <a:t>not a </a:t>
                </a:r>
                <a:r>
                  <a:rPr lang="en-US" b="1" dirty="0" err="1"/>
                  <a:t>superkey</a:t>
                </a:r>
                <a:r>
                  <a:rPr lang="en-US" dirty="0"/>
                  <a:t>.</a:t>
                </a:r>
              </a:p>
              <a:p>
                <a:r>
                  <a:rPr lang="en-US" dirty="0"/>
                  <a:t>❌ Violates BCNF</a:t>
                </a:r>
              </a:p>
              <a:p>
                <a:br>
                  <a:rPr lang="en-US" dirty="0"/>
                </a:br>
                <a:endParaRPr lang="en-US" dirty="0"/>
              </a:p>
              <a:p>
                <a:r>
                  <a:rPr lang="en-US" b="1" dirty="0"/>
                  <a:t>What is the Mistake?</a:t>
                </a:r>
              </a:p>
              <a:p>
                <a:r>
                  <a:rPr lang="en-US" dirty="0"/>
                  <a:t>Look at the table:</a:t>
                </a:r>
              </a:p>
              <a:p>
                <a:r>
                  <a:rPr lang="en-US" dirty="0" err="1"/>
                  <a:t>InstructorCourseRamDBMSRamDBMSRamDBMSHariAIHariAI</a:t>
                </a:r>
                <a:endParaRPr lang="en-US" dirty="0"/>
              </a:p>
              <a:p>
                <a:r>
                  <a:rPr lang="en-US" dirty="0"/>
                  <a:t>Notice that Course information is repeated many times.</a:t>
                </a:r>
              </a:p>
              <a:p>
                <a:r>
                  <a:rPr lang="en-US" b="1" dirty="0"/>
                  <a:t>Redundancy Problem</a:t>
                </a:r>
              </a:p>
              <a:p>
                <a:r>
                  <a:rPr lang="en-US" dirty="0"/>
                  <a:t>If Ram teaches DBMS, we are storing that fact repeatedly for every student.</a:t>
                </a:r>
              </a:p>
              <a:p>
                <a:br>
                  <a:rPr lang="en-US" dirty="0"/>
                </a:br>
                <a:endParaRPr lang="en-US" dirty="0"/>
              </a:p>
              <a:p>
                <a:r>
                  <a:rPr lang="en-US" b="1" dirty="0"/>
                  <a:t>Update Anomaly</a:t>
                </a:r>
              </a:p>
              <a:p>
                <a:r>
                  <a:rPr lang="en-US" dirty="0"/>
                  <a:t>Suppose Ram starts teaching "Advanced DBMS".</a:t>
                </a:r>
              </a:p>
              <a:p>
                <a:r>
                  <a:rPr lang="en-US" dirty="0"/>
                  <a:t>We must update every row containing Ram.</a:t>
                </a:r>
              </a:p>
              <a:p>
                <a:r>
                  <a:rPr lang="en-US" dirty="0"/>
                  <a:t>StudentIDCourseInstructorS1Advanced DBMSRamS2DBMSRamS5DBMSRam</a:t>
                </a:r>
              </a:p>
              <a:p>
                <a:r>
                  <a:rPr lang="en-US" dirty="0"/>
                  <a:t>Now the database becomes inconsistent.</a:t>
                </a:r>
              </a:p>
              <a:p>
                <a:br>
                  <a:rPr lang="en-US" dirty="0"/>
                </a:br>
                <a:endParaRPr lang="en-US" dirty="0"/>
              </a:p>
              <a:p>
                <a:r>
                  <a:rPr lang="en-US" b="1" dirty="0"/>
                  <a:t>Insertion Anomaly</a:t>
                </a:r>
              </a:p>
              <a:p>
                <a:r>
                  <a:rPr lang="en-US" dirty="0"/>
                  <a:t>Suppose a new instructor "Shyam" will teach Networks but no student has enrolled yet.</a:t>
                </a:r>
              </a:p>
              <a:p>
                <a:r>
                  <a:rPr lang="en-US" dirty="0"/>
                  <a:t>Can we insert:</a:t>
                </a:r>
              </a:p>
              <a:p>
                <a:r>
                  <a:rPr lang="en-US" dirty="0" err="1"/>
                  <a:t>StudentIDCourseInstructor?NetworksShyam</a:t>
                </a:r>
                <a:endParaRPr lang="en-US" dirty="0"/>
              </a:p>
              <a:p>
                <a:r>
                  <a:rPr lang="en-US" dirty="0"/>
                  <a:t>No, because StudentID is required.</a:t>
                </a:r>
              </a:p>
              <a:p>
                <a:r>
                  <a:rPr lang="en-US" dirty="0"/>
                  <a:t>❌ Cannot store instructor-course information independently.</a:t>
                </a:r>
              </a:p>
              <a:p>
                <a:br>
                  <a:rPr lang="en-US" dirty="0"/>
                </a:br>
                <a:endParaRPr lang="en-US" dirty="0"/>
              </a:p>
              <a:p>
                <a:r>
                  <a:rPr lang="en-US" b="1" dirty="0"/>
                  <a:t>Deletion Anomaly</a:t>
                </a:r>
              </a:p>
              <a:p>
                <a:r>
                  <a:rPr lang="en-US" dirty="0"/>
                  <a:t>Suppose S4 is the only student enrolled in AI.</a:t>
                </a:r>
              </a:p>
              <a:p>
                <a:r>
                  <a:rPr lang="en-US" dirty="0"/>
                  <a:t>StudentIDCourseInstructorS4AIHari</a:t>
                </a:r>
              </a:p>
              <a:p>
                <a:r>
                  <a:rPr lang="en-US" dirty="0"/>
                  <a:t>If we delete S4:</a:t>
                </a:r>
              </a:p>
              <a:p>
                <a:pPr rtl="0"/>
                <a:r>
                  <a:rPr lang="en-US" sz="1200" kern="1200" dirty="0">
                    <a:solidFill>
                      <a:schemeClr val="tx1"/>
                    </a:solidFill>
                    <a:latin typeface="+mn-lt"/>
                    <a:ea typeface="+mn-ea"/>
                    <a:cs typeface="+mn-cs"/>
                  </a:rPr>
                  <a:t>DELETE FROM Teaching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StudentID='S4';</a:t>
                </a:r>
              </a:p>
              <a:p>
                <a:r>
                  <a:rPr lang="en-US" dirty="0"/>
                  <a:t>Information that Hari teaches AI is lost.</a:t>
                </a:r>
              </a:p>
              <a:p>
                <a:r>
                  <a:rPr lang="en-US" dirty="0"/>
                  <a:t>❌ Deletion anomaly</a:t>
                </a:r>
              </a:p>
              <a:p>
                <a:br>
                  <a:rPr lang="en-US" dirty="0"/>
                </a:br>
                <a:endParaRPr lang="en-US" dirty="0"/>
              </a:p>
              <a:p>
                <a:r>
                  <a:rPr lang="en-US" b="1" dirty="0"/>
                  <a:t>BCNF Decomposition (Solution)</a:t>
                </a:r>
              </a:p>
              <a:p>
                <a:r>
                  <a:rPr lang="en-US" dirty="0"/>
                  <a:t>Split the table into:</a:t>
                </a:r>
              </a:p>
              <a:p>
                <a:r>
                  <a:rPr lang="en-US" b="1" dirty="0" err="1"/>
                  <a:t>InstructorCourse</a:t>
                </a:r>
                <a:endParaRPr lang="en-US" b="1" dirty="0"/>
              </a:p>
              <a:p>
                <a:r>
                  <a:rPr lang="en-US" dirty="0" err="1"/>
                  <a:t>InstructorCourseRamDBMSHariAI</a:t>
                </a:r>
                <a:endParaRPr lang="en-US" dirty="0"/>
              </a:p>
              <a:p>
                <a:br>
                  <a:rPr lang="en-US" dirty="0"/>
                </a:br>
                <a:endParaRPr lang="en-US" dirty="0"/>
              </a:p>
              <a:p>
                <a:r>
                  <a:rPr lang="en-US" b="1" dirty="0" err="1"/>
                  <a:t>StudentInstructor</a:t>
                </a:r>
                <a:endParaRPr lang="en-US" b="1" dirty="0"/>
              </a:p>
              <a:p>
                <a:r>
                  <a:rPr lang="en-US" dirty="0"/>
                  <a:t>StudentIDInstructorS1RamS2RamS3HariS4HariS5Ram</a:t>
                </a:r>
              </a:p>
              <a:p>
                <a:br>
                  <a:rPr lang="en-US" dirty="0"/>
                </a:br>
                <a:endParaRPr lang="en-US" dirty="0"/>
              </a:p>
              <a:p>
                <a:r>
                  <a:rPr lang="en-US" b="1" dirty="0"/>
                  <a:t>Check BCNF Again</a:t>
                </a:r>
              </a:p>
              <a:p>
                <a:r>
                  <a:rPr lang="en-US" b="1" dirty="0" err="1"/>
                  <a:t>InstructorCourse</a:t>
                </a:r>
                <a:endParaRPr lang="en-US" b="1" dirty="0"/>
              </a:p>
              <a:p>
                <a:r>
                  <a:rPr lang="en-US" dirty="0"/>
                  <a:t>FD:</a:t>
                </a:r>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𝐼𝑛𝑠𝑡𝑟𝑢𝑐𝑡𝑜𝑟</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𝐶𝑜𝑢𝑟𝑠𝑒</m:t>
                      </m:r>
                    </m:oMath>
                  </m:oMathPara>
                </a14:m>
                <a:endParaRPr lang="en-US" dirty="0"/>
              </a:p>
              <a:p>
                <a:r>
                  <a:rPr lang="en-US" dirty="0"/>
                  <a:t>Instructor is the key.</a:t>
                </a:r>
              </a:p>
              <a:p>
                <a:r>
                  <a:rPr lang="en-US" dirty="0"/>
                  <a:t>✅ BCNF</a:t>
                </a:r>
              </a:p>
              <a:p>
                <a:br>
                  <a:rPr lang="en-US" dirty="0"/>
                </a:br>
                <a:endParaRPr lang="en-US" dirty="0"/>
              </a:p>
              <a:p>
                <a:r>
                  <a:rPr lang="en-US" b="1" dirty="0" err="1"/>
                  <a:t>StudentInstructor</a:t>
                </a:r>
                <a:endParaRPr lang="en-US" b="1" dirty="0"/>
              </a:p>
              <a:p>
                <a:r>
                  <a:rPr lang="en-US" dirty="0"/>
                  <a:t>No non-key determinant exists.</a:t>
                </a:r>
              </a:p>
              <a:p>
                <a:r>
                  <a:rPr lang="en-US" dirty="0"/>
                  <a:t>Key:</a:t>
                </a:r>
              </a:p>
              <a:p>
                <a:pPr/>
                <a14:m>
                  <m:oMathPara xmlns:m="http://schemas.openxmlformats.org/officeDocument/2006/math">
                    <m:oMathParaPr>
                      <m:jc m:val="centerGroup"/>
                    </m:oMathParaPr>
                    <m:oMath xmlns:m="http://schemas.openxmlformats.org/officeDocument/2006/math">
                      <m:d>
                        <m:dPr>
                          <m:sepChr m:val=","/>
                          <m:ctrlPr>
                            <a:rPr lang="en-US" sz="1200" i="1" kern="1200">
                              <a:solidFill>
                                <a:schemeClr val="tx1"/>
                              </a:solidFill>
                              <a:latin typeface="Cambria Math" panose="02040503050406030204" pitchFamily="18" charset="0"/>
                              <a:ea typeface="+mn-ea"/>
                              <a:cs typeface="+mn-cs"/>
                            </a:rPr>
                          </m:ctrlPr>
                        </m:dPr>
                        <m:e>
                          <m:r>
                            <a:rPr lang="en-US" sz="1200" i="1" kern="1200">
                              <a:solidFill>
                                <a:schemeClr val="tx1"/>
                              </a:solidFill>
                              <a:latin typeface="Cambria Math" panose="02040503050406030204" pitchFamily="18" charset="0"/>
                              <a:ea typeface="+mn-ea"/>
                              <a:cs typeface="+mn-cs"/>
                            </a:rPr>
                            <m:t>𝑆</m:t>
                          </m:r>
                        </m:e>
                        <m:e>
                          <m:r>
                            <a:rPr lang="en-US" sz="1200" i="1" kern="1200">
                              <a:solidFill>
                                <a:schemeClr val="tx1"/>
                              </a:solidFill>
                              <a:latin typeface="Cambria Math" panose="02040503050406030204" pitchFamily="18" charset="0"/>
                              <a:ea typeface="+mn-ea"/>
                              <a:cs typeface="+mn-cs"/>
                            </a:rPr>
                            <m:t>𝑡𝑢𝑑𝑒𝑛𝑡𝐼𝐷𝐼𝑛𝑠𝑡𝑟𝑢𝑐𝑡𝑜𝑟</m:t>
                          </m:r>
                        </m:e>
                      </m:d>
                    </m:oMath>
                  </m:oMathPara>
                </a14:m>
                <a:endParaRPr lang="en-US" dirty="0"/>
              </a:p>
              <a:p>
                <a:r>
                  <a:rPr lang="en-US" dirty="0"/>
                  <a:t>✅ BCNF</a:t>
                </a:r>
              </a:p>
            </p:txBody>
          </p:sp>
        </mc:Choice>
        <mc:Fallback xmlns="">
          <p:sp>
            <p:nvSpPr>
              <p:cNvPr id="3" name="Notes Placeholder 2"/>
              <p:cNvSpPr>
                <a:spLocks noGrp="1"/>
              </p:cNvSpPr>
              <p:nvPr>
                <p:ph type="body" idx="1"/>
              </p:nvPr>
            </p:nvSpPr>
            <p:spPr/>
            <p:txBody>
              <a:bodyPr/>
              <a:lstStyle/>
              <a:p>
                <a:r>
                  <a:rPr lang="en-US" b="1" dirty="0"/>
                  <a:t>Step 1: Find Candidate Key</a:t>
                </a:r>
              </a:p>
              <a:p>
                <a:r>
                  <a:rPr lang="en-US" dirty="0"/>
                  <a:t>Let's find closure of (StudentID, Course).</a:t>
                </a:r>
              </a:p>
              <a:p>
                <a:r>
                  <a:rPr lang="en-US" sz="1200" i="0" kern="1200">
                    <a:solidFill>
                      <a:schemeClr val="tx1"/>
                    </a:solidFill>
                    <a:latin typeface="+mn-lt"/>
                    <a:ea typeface="+mn-ea"/>
                    <a:cs typeface="+mn-cs"/>
                  </a:rPr>
                  <a:t>(𝑆ⓜ,𝑡𝑢𝑑𝑒𝑛𝑡𝐼𝐷𝐶𝑜𝑢𝑟𝑠𝑒)^+={𝑆ⓜ,𝑡ⓜ,𝑢𝑑𝑒𝑛𝑡𝐼𝐷𝐶𝑜𝑢𝑟𝑠𝑒𝐼𝑛𝑠𝑡𝑟𝑢𝑐𝑡𝑜𝑟}</a:t>
                </a:r>
                <a:endParaRPr lang="en-US" dirty="0"/>
              </a:p>
              <a:p>
                <a:r>
                  <a:rPr lang="en-US" dirty="0"/>
                  <a:t>Therefore,</a:t>
                </a:r>
              </a:p>
              <a:p>
                <a:r>
                  <a:rPr lang="en-US" b="1" dirty="0"/>
                  <a:t>Candidate Key = (StudentID, Course)</a:t>
                </a:r>
                <a:endParaRPr lang="en-US" dirty="0"/>
              </a:p>
              <a:p>
                <a:br>
                  <a:rPr lang="en-US" dirty="0"/>
                </a:br>
                <a:endParaRPr lang="en-US" dirty="0"/>
              </a:p>
              <a:p>
                <a:r>
                  <a:rPr lang="en-US" b="1" dirty="0"/>
                  <a:t>Step 2: Check Each FD</a:t>
                </a:r>
              </a:p>
              <a:p>
                <a:r>
                  <a:rPr lang="en-US" b="1" dirty="0"/>
                  <a:t>FD 1</a:t>
                </a:r>
              </a:p>
              <a:p>
                <a:r>
                  <a:rPr lang="en-US" sz="1200" i="0" kern="1200">
                    <a:solidFill>
                      <a:schemeClr val="tx1"/>
                    </a:solidFill>
                    <a:latin typeface="+mn-lt"/>
                    <a:ea typeface="+mn-ea"/>
                    <a:cs typeface="+mn-cs"/>
                  </a:rPr>
                  <a:t>(𝑆ⓜ,𝑡𝑢𝑑𝑒𝑛𝑡𝐼𝐷𝐶𝑜𝑢𝑟𝑠𝑒)→𝐼𝑛𝑠𝑡𝑟𝑢𝑐𝑡𝑜𝑟</a:t>
                </a:r>
                <a:endParaRPr lang="en-US" dirty="0"/>
              </a:p>
              <a:p>
                <a:r>
                  <a:rPr lang="en-US" dirty="0"/>
                  <a:t>Left side is a candidate key.</a:t>
                </a:r>
              </a:p>
              <a:p>
                <a:r>
                  <a:rPr lang="en-US" dirty="0"/>
                  <a:t>✅ Satisfies BCNF</a:t>
                </a:r>
              </a:p>
              <a:p>
                <a:br>
                  <a:rPr lang="en-US" dirty="0"/>
                </a:br>
                <a:endParaRPr lang="en-US" dirty="0"/>
              </a:p>
              <a:p>
                <a:r>
                  <a:rPr lang="en-US" b="1" dirty="0"/>
                  <a:t>FD 2</a:t>
                </a:r>
              </a:p>
              <a:p>
                <a:r>
                  <a:rPr lang="en-US" sz="1200" i="0" kern="1200">
                    <a:solidFill>
                      <a:schemeClr val="tx1"/>
                    </a:solidFill>
                    <a:latin typeface="+mn-lt"/>
                    <a:ea typeface="+mn-ea"/>
                    <a:cs typeface="+mn-cs"/>
                  </a:rPr>
                  <a:t>𝐼𝑛𝑠𝑡𝑟𝑢𝑐𝑡𝑜𝑟→𝐶𝑜𝑢𝑟𝑠𝑒</a:t>
                </a:r>
                <a:endParaRPr lang="en-US" dirty="0"/>
              </a:p>
              <a:p>
                <a:r>
                  <a:rPr lang="en-US" dirty="0"/>
                  <a:t>Let's check whether Instructor is a </a:t>
                </a:r>
                <a:r>
                  <a:rPr lang="en-US" dirty="0" err="1"/>
                  <a:t>superkey</a:t>
                </a:r>
                <a:r>
                  <a:rPr lang="en-US" dirty="0"/>
                  <a:t>.</a:t>
                </a:r>
              </a:p>
              <a:p>
                <a:r>
                  <a:rPr lang="en-US" dirty="0"/>
                  <a:t>Closure:</a:t>
                </a:r>
              </a:p>
              <a:p>
                <a:r>
                  <a:rPr lang="en-US" sz="1200" i="0" kern="1200">
                    <a:solidFill>
                      <a:schemeClr val="tx1"/>
                    </a:solidFill>
                    <a:latin typeface="+mn-lt"/>
                    <a:ea typeface="+mn-ea"/>
                    <a:cs typeface="+mn-cs"/>
                  </a:rPr>
                  <a:t>𝐼𝑛𝑠𝑡𝑟𝑢𝑐𝑡𝑜𝑟^+={𝐼ⓜ,𝑛𝑠𝑡𝑟𝑢𝑐𝑡𝑜𝑟𝐶𝑜𝑢𝑟𝑠𝑒}</a:t>
                </a:r>
                <a:endParaRPr lang="en-US" dirty="0"/>
              </a:p>
              <a:p>
                <a:r>
                  <a:rPr lang="en-US" dirty="0"/>
                  <a:t>It does NOT contain StudentID.</a:t>
                </a:r>
              </a:p>
              <a:p>
                <a:r>
                  <a:rPr lang="en-US" dirty="0"/>
                  <a:t>Therefore Instructor is </a:t>
                </a:r>
                <a:r>
                  <a:rPr lang="en-US" b="1" dirty="0"/>
                  <a:t>not a </a:t>
                </a:r>
                <a:r>
                  <a:rPr lang="en-US" b="1" dirty="0" err="1"/>
                  <a:t>superkey</a:t>
                </a:r>
                <a:r>
                  <a:rPr lang="en-US" dirty="0"/>
                  <a:t>.</a:t>
                </a:r>
              </a:p>
              <a:p>
                <a:r>
                  <a:rPr lang="en-US" dirty="0"/>
                  <a:t>❌ Violates BCNF</a:t>
                </a:r>
              </a:p>
              <a:p>
                <a:br>
                  <a:rPr lang="en-US" dirty="0"/>
                </a:br>
                <a:endParaRPr lang="en-US" dirty="0"/>
              </a:p>
              <a:p>
                <a:r>
                  <a:rPr lang="en-US" b="1" dirty="0"/>
                  <a:t>What is the Mistake?</a:t>
                </a:r>
              </a:p>
              <a:p>
                <a:r>
                  <a:rPr lang="en-US" dirty="0"/>
                  <a:t>Look at the table:</a:t>
                </a:r>
              </a:p>
              <a:p>
                <a:r>
                  <a:rPr lang="en-US" dirty="0" err="1"/>
                  <a:t>InstructorCourseRamDBMSRamDBMSRamDBMSHariAIHariAI</a:t>
                </a:r>
                <a:endParaRPr lang="en-US" dirty="0"/>
              </a:p>
              <a:p>
                <a:r>
                  <a:rPr lang="en-US" dirty="0"/>
                  <a:t>Notice that Course information is repeated many times.</a:t>
                </a:r>
              </a:p>
              <a:p>
                <a:r>
                  <a:rPr lang="en-US" b="1" dirty="0"/>
                  <a:t>Redundancy Problem</a:t>
                </a:r>
              </a:p>
              <a:p>
                <a:r>
                  <a:rPr lang="en-US" dirty="0"/>
                  <a:t>If Ram teaches DBMS, we are storing that fact repeatedly for every student.</a:t>
                </a:r>
              </a:p>
              <a:p>
                <a:br>
                  <a:rPr lang="en-US" dirty="0"/>
                </a:br>
                <a:endParaRPr lang="en-US" dirty="0"/>
              </a:p>
              <a:p>
                <a:r>
                  <a:rPr lang="en-US" b="1" dirty="0"/>
                  <a:t>Update Anomaly</a:t>
                </a:r>
              </a:p>
              <a:p>
                <a:r>
                  <a:rPr lang="en-US" dirty="0"/>
                  <a:t>Suppose Ram starts teaching "Advanced DBMS".</a:t>
                </a:r>
              </a:p>
              <a:p>
                <a:r>
                  <a:rPr lang="en-US" dirty="0"/>
                  <a:t>We must update every row containing Ram.</a:t>
                </a:r>
              </a:p>
              <a:p>
                <a:r>
                  <a:rPr lang="en-US" dirty="0"/>
                  <a:t>StudentIDCourseInstructorS1Advanced DBMSRamS2DBMSRamS5DBMSRam</a:t>
                </a:r>
              </a:p>
              <a:p>
                <a:r>
                  <a:rPr lang="en-US" dirty="0"/>
                  <a:t>Now the database becomes inconsistent.</a:t>
                </a:r>
              </a:p>
              <a:p>
                <a:br>
                  <a:rPr lang="en-US" dirty="0"/>
                </a:br>
                <a:endParaRPr lang="en-US" dirty="0"/>
              </a:p>
              <a:p>
                <a:r>
                  <a:rPr lang="en-US" b="1" dirty="0"/>
                  <a:t>Insertion Anomaly</a:t>
                </a:r>
              </a:p>
              <a:p>
                <a:r>
                  <a:rPr lang="en-US" dirty="0"/>
                  <a:t>Suppose a new instructor "Shyam" will teach Networks but no student has enrolled yet.</a:t>
                </a:r>
              </a:p>
              <a:p>
                <a:r>
                  <a:rPr lang="en-US" dirty="0"/>
                  <a:t>Can we insert:</a:t>
                </a:r>
              </a:p>
              <a:p>
                <a:r>
                  <a:rPr lang="en-US" dirty="0" err="1"/>
                  <a:t>StudentIDCourseInstructor?NetworksShyam</a:t>
                </a:r>
                <a:endParaRPr lang="en-US" dirty="0"/>
              </a:p>
              <a:p>
                <a:r>
                  <a:rPr lang="en-US" dirty="0"/>
                  <a:t>No, because StudentID is required.</a:t>
                </a:r>
              </a:p>
              <a:p>
                <a:r>
                  <a:rPr lang="en-US" dirty="0"/>
                  <a:t>❌ Cannot store instructor-course information independently.</a:t>
                </a:r>
              </a:p>
              <a:p>
                <a:br>
                  <a:rPr lang="en-US" dirty="0"/>
                </a:br>
                <a:endParaRPr lang="en-US" dirty="0"/>
              </a:p>
              <a:p>
                <a:r>
                  <a:rPr lang="en-US" b="1" dirty="0"/>
                  <a:t>Deletion Anomaly</a:t>
                </a:r>
              </a:p>
              <a:p>
                <a:r>
                  <a:rPr lang="en-US" dirty="0"/>
                  <a:t>Suppose S4 is the only student enrolled in AI.</a:t>
                </a:r>
              </a:p>
              <a:p>
                <a:r>
                  <a:rPr lang="en-US" dirty="0"/>
                  <a:t>StudentIDCourseInstructorS4AIHari</a:t>
                </a:r>
              </a:p>
              <a:p>
                <a:r>
                  <a:rPr lang="en-US" dirty="0"/>
                  <a:t>If we delete S4:</a:t>
                </a:r>
              </a:p>
              <a:p>
                <a:pPr rtl="0"/>
                <a:r>
                  <a:rPr lang="en-US" sz="1200" kern="1200" dirty="0">
                    <a:solidFill>
                      <a:schemeClr val="tx1"/>
                    </a:solidFill>
                    <a:latin typeface="+mn-lt"/>
                    <a:ea typeface="+mn-ea"/>
                    <a:cs typeface="+mn-cs"/>
                  </a:rPr>
                  <a:t>DELETE FROM Teaching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StudentID='S4';</a:t>
                </a:r>
              </a:p>
              <a:p>
                <a:r>
                  <a:rPr lang="en-US" dirty="0"/>
                  <a:t>Information that Hari teaches AI is lost.</a:t>
                </a:r>
              </a:p>
              <a:p>
                <a:r>
                  <a:rPr lang="en-US" dirty="0"/>
                  <a:t>❌ Deletion anomaly</a:t>
                </a:r>
              </a:p>
              <a:p>
                <a:br>
                  <a:rPr lang="en-US" dirty="0"/>
                </a:br>
                <a:endParaRPr lang="en-US" dirty="0"/>
              </a:p>
              <a:p>
                <a:r>
                  <a:rPr lang="en-US" b="1" dirty="0"/>
                  <a:t>BCNF Decomposition (Solution)</a:t>
                </a:r>
              </a:p>
              <a:p>
                <a:r>
                  <a:rPr lang="en-US" dirty="0"/>
                  <a:t>Split the table into:</a:t>
                </a:r>
              </a:p>
              <a:p>
                <a:r>
                  <a:rPr lang="en-US" b="1" dirty="0" err="1"/>
                  <a:t>InstructorCourse</a:t>
                </a:r>
                <a:endParaRPr lang="en-US" b="1" dirty="0"/>
              </a:p>
              <a:p>
                <a:r>
                  <a:rPr lang="en-US" dirty="0" err="1"/>
                  <a:t>InstructorCourseRamDBMSHariAI</a:t>
                </a:r>
                <a:endParaRPr lang="en-US" dirty="0"/>
              </a:p>
              <a:p>
                <a:br>
                  <a:rPr lang="en-US" dirty="0"/>
                </a:br>
                <a:endParaRPr lang="en-US" dirty="0"/>
              </a:p>
              <a:p>
                <a:r>
                  <a:rPr lang="en-US" b="1" dirty="0" err="1"/>
                  <a:t>StudentInstructor</a:t>
                </a:r>
                <a:endParaRPr lang="en-US" b="1" dirty="0"/>
              </a:p>
              <a:p>
                <a:r>
                  <a:rPr lang="en-US" dirty="0"/>
                  <a:t>StudentIDInstructorS1RamS2RamS3HariS4HariS5Ram</a:t>
                </a:r>
              </a:p>
              <a:p>
                <a:br>
                  <a:rPr lang="en-US" dirty="0"/>
                </a:br>
                <a:endParaRPr lang="en-US" dirty="0"/>
              </a:p>
              <a:p>
                <a:r>
                  <a:rPr lang="en-US" b="1" dirty="0"/>
                  <a:t>Check BCNF Again</a:t>
                </a:r>
              </a:p>
              <a:p>
                <a:r>
                  <a:rPr lang="en-US" b="1" dirty="0" err="1"/>
                  <a:t>InstructorCourse</a:t>
                </a:r>
                <a:endParaRPr lang="en-US" b="1" dirty="0"/>
              </a:p>
              <a:p>
                <a:r>
                  <a:rPr lang="en-US" dirty="0"/>
                  <a:t>FD:</a:t>
                </a:r>
              </a:p>
              <a:p>
                <a:r>
                  <a:rPr lang="en-US" sz="1200" i="0" kern="1200">
                    <a:solidFill>
                      <a:schemeClr val="tx1"/>
                    </a:solidFill>
                    <a:latin typeface="+mn-lt"/>
                    <a:ea typeface="+mn-ea"/>
                    <a:cs typeface="+mn-cs"/>
                  </a:rPr>
                  <a:t>𝐼𝑛𝑠𝑡𝑟𝑢𝑐𝑡𝑜𝑟→𝐶𝑜𝑢𝑟𝑠𝑒</a:t>
                </a:r>
                <a:endParaRPr lang="en-US" dirty="0"/>
              </a:p>
              <a:p>
                <a:r>
                  <a:rPr lang="en-US" dirty="0"/>
                  <a:t>Instructor is the key.</a:t>
                </a:r>
              </a:p>
              <a:p>
                <a:r>
                  <a:rPr lang="en-US" dirty="0"/>
                  <a:t>✅ BCNF</a:t>
                </a:r>
              </a:p>
              <a:p>
                <a:br>
                  <a:rPr lang="en-US" dirty="0"/>
                </a:br>
                <a:endParaRPr lang="en-US" dirty="0"/>
              </a:p>
              <a:p>
                <a:r>
                  <a:rPr lang="en-US" b="1" dirty="0" err="1"/>
                  <a:t>StudentInstructor</a:t>
                </a:r>
                <a:endParaRPr lang="en-US" b="1" dirty="0"/>
              </a:p>
              <a:p>
                <a:r>
                  <a:rPr lang="en-US" dirty="0"/>
                  <a:t>No non-key determinant exists.</a:t>
                </a:r>
              </a:p>
              <a:p>
                <a:r>
                  <a:rPr lang="en-US" dirty="0"/>
                  <a:t>Key:</a:t>
                </a:r>
              </a:p>
              <a:p>
                <a:r>
                  <a:rPr lang="en-US" sz="1200" i="0" kern="1200">
                    <a:solidFill>
                      <a:schemeClr val="tx1"/>
                    </a:solidFill>
                    <a:latin typeface="+mn-lt"/>
                    <a:ea typeface="+mn-ea"/>
                    <a:cs typeface="+mn-cs"/>
                  </a:rPr>
                  <a:t>(𝑆ⓜ,𝑡𝑢𝑑𝑒𝑛𝑡𝐼𝐷𝐼𝑛𝑠𝑡𝑟𝑢𝑐𝑡𝑜𝑟)</a:t>
                </a:r>
                <a:endParaRPr lang="en-US" dirty="0"/>
              </a:p>
              <a:p>
                <a:r>
                  <a:rPr lang="en-US" dirty="0"/>
                  <a:t>✅ BCNF</a:t>
                </a:r>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76</a:t>
            </a:fld>
            <a:endParaRPr lang="en-US"/>
          </a:p>
        </p:txBody>
      </p:sp>
    </p:spTree>
    <p:extLst>
      <p:ext uri="{BB962C8B-B14F-4D97-AF65-F5344CB8AC3E}">
        <p14:creationId xmlns:p14="http://schemas.microsoft.com/office/powerpoint/2010/main" val="24212409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What is the Mistake?</a:t>
            </a:r>
          </a:p>
          <a:p>
            <a:r>
              <a:rPr lang="en-US" dirty="0"/>
              <a:t>Look at the table:</a:t>
            </a:r>
          </a:p>
          <a:p>
            <a:r>
              <a:rPr lang="en-US" dirty="0" err="1"/>
              <a:t>InstructorCourseRamDBMSRamDBMSRamDBMSHariAIHariAI</a:t>
            </a:r>
            <a:endParaRPr lang="en-US" dirty="0"/>
          </a:p>
          <a:p>
            <a:r>
              <a:rPr lang="en-US" dirty="0"/>
              <a:t>Notice that Course information is repeated many times.</a:t>
            </a:r>
          </a:p>
          <a:p>
            <a:r>
              <a:rPr lang="en-US" b="1" dirty="0"/>
              <a:t>Redundancy Problem</a:t>
            </a:r>
          </a:p>
          <a:p>
            <a:r>
              <a:rPr lang="en-US" dirty="0"/>
              <a:t>If Ram teaches DBMS, we are storing that fact repeatedly for every student.</a:t>
            </a:r>
          </a:p>
          <a:p>
            <a:br>
              <a:rPr lang="en-US" dirty="0"/>
            </a:br>
            <a:endParaRPr lang="en-US" dirty="0"/>
          </a:p>
          <a:p>
            <a:r>
              <a:rPr lang="en-US" b="1" dirty="0"/>
              <a:t>Update Anomaly</a:t>
            </a:r>
          </a:p>
          <a:p>
            <a:r>
              <a:rPr lang="en-US" dirty="0"/>
              <a:t>Suppose Ram starts teaching "Advanced DBMS".</a:t>
            </a:r>
          </a:p>
          <a:p>
            <a:r>
              <a:rPr lang="en-US" dirty="0"/>
              <a:t>We must update every row containing Ram.</a:t>
            </a:r>
          </a:p>
          <a:p>
            <a:r>
              <a:rPr lang="en-US" dirty="0"/>
              <a:t>StudentIDCourseInstructorS1Advanced DBMSRamS2DBMSRamS5DBMSRam</a:t>
            </a:r>
          </a:p>
          <a:p>
            <a:r>
              <a:rPr lang="en-US" dirty="0"/>
              <a:t>Now the database becomes inconsistent.</a:t>
            </a:r>
          </a:p>
          <a:p>
            <a:br>
              <a:rPr lang="en-US" dirty="0"/>
            </a:br>
            <a:endParaRPr lang="en-US" dirty="0"/>
          </a:p>
          <a:p>
            <a:r>
              <a:rPr lang="en-US" b="1" dirty="0"/>
              <a:t>Insertion Anomaly</a:t>
            </a:r>
          </a:p>
          <a:p>
            <a:r>
              <a:rPr lang="en-US" dirty="0"/>
              <a:t>Suppose a new instructor "Shyam" will teach Networks but no student has enrolled yet.</a:t>
            </a:r>
          </a:p>
          <a:p>
            <a:r>
              <a:rPr lang="en-US" dirty="0"/>
              <a:t>Can we insert:</a:t>
            </a:r>
          </a:p>
          <a:p>
            <a:r>
              <a:rPr lang="en-US" dirty="0" err="1"/>
              <a:t>StudentIDCourseInstructor?NetworksShyam</a:t>
            </a:r>
            <a:endParaRPr lang="en-US" dirty="0"/>
          </a:p>
          <a:p>
            <a:r>
              <a:rPr lang="en-US" dirty="0"/>
              <a:t>No, because StudentID is required.</a:t>
            </a:r>
          </a:p>
          <a:p>
            <a:r>
              <a:rPr lang="en-US" dirty="0"/>
              <a:t>❌ Cannot store instructor-course information independently.</a:t>
            </a:r>
          </a:p>
          <a:p>
            <a:br>
              <a:rPr lang="en-US" dirty="0"/>
            </a:br>
            <a:endParaRPr lang="en-US" dirty="0"/>
          </a:p>
          <a:p>
            <a:r>
              <a:rPr lang="en-US" b="1" dirty="0"/>
              <a:t>Deletion Anomaly</a:t>
            </a:r>
          </a:p>
          <a:p>
            <a:r>
              <a:rPr lang="en-US" dirty="0"/>
              <a:t>Suppose S4 is the only student enrolled in AI.</a:t>
            </a:r>
          </a:p>
          <a:p>
            <a:r>
              <a:rPr lang="en-US" dirty="0"/>
              <a:t>StudentIDCourseInstructorS4AIHari</a:t>
            </a:r>
          </a:p>
          <a:p>
            <a:r>
              <a:rPr lang="en-US" dirty="0"/>
              <a:t>If we delete S4:</a:t>
            </a:r>
          </a:p>
          <a:p>
            <a:pPr rtl="0"/>
            <a:r>
              <a:rPr lang="en-US" sz="1200" kern="1200" dirty="0">
                <a:solidFill>
                  <a:schemeClr val="tx1"/>
                </a:solidFill>
                <a:latin typeface="+mn-lt"/>
                <a:ea typeface="+mn-ea"/>
                <a:cs typeface="+mn-cs"/>
              </a:rPr>
              <a:t>DELETE FROM Teaching</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StudentID='S4';</a:t>
            </a:r>
          </a:p>
          <a:p>
            <a:r>
              <a:rPr lang="en-US" dirty="0"/>
              <a:t>Information that Hari teaches AI is lost.</a:t>
            </a:r>
          </a:p>
          <a:p>
            <a:r>
              <a:rPr lang="en-US" dirty="0"/>
              <a:t>❌ Deletion anomaly</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77</a:t>
            </a:fld>
            <a:endParaRPr lang="en-US"/>
          </a:p>
        </p:txBody>
      </p:sp>
    </p:spTree>
    <p:extLst>
      <p:ext uri="{BB962C8B-B14F-4D97-AF65-F5344CB8AC3E}">
        <p14:creationId xmlns:p14="http://schemas.microsoft.com/office/powerpoint/2010/main" val="325935602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b="1" dirty="0"/>
                  <a:t>Examination-Oriented Definition</a:t>
                </a:r>
              </a:p>
              <a:p>
                <a:r>
                  <a:rPr lang="en-US" b="1" dirty="0"/>
                  <a:t>A relation is in Boyce-Codd Normal Form (BCNF) if for every non-trivial functional dependency </a:t>
                </a:r>
                <a14:m>
                  <m:oMath xmlns:m="http://schemas.openxmlformats.org/officeDocument/2006/math">
                    <m:r>
                      <a:rPr lang="en-US" sz="1200" i="1" kern="1200">
                        <a:solidFill>
                          <a:schemeClr val="tx1"/>
                        </a:solidFill>
                        <a:latin typeface="Cambria Math" panose="02040503050406030204" pitchFamily="18" charset="0"/>
                        <a:ea typeface="+mn-ea"/>
                        <a:cs typeface="+mn-cs"/>
                      </a:rPr>
                      <m:t>𝑋</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𝑌</m:t>
                    </m:r>
                  </m:oMath>
                </a14:m>
                <a:r>
                  <a:rPr lang="en-US" b="1" dirty="0"/>
                  <a:t>, the determinant </a:t>
                </a:r>
                <a14:m>
                  <m:oMath xmlns:m="http://schemas.openxmlformats.org/officeDocument/2006/math">
                    <m:r>
                      <a:rPr lang="en-US" sz="1200" i="1" kern="1200">
                        <a:solidFill>
                          <a:schemeClr val="tx1"/>
                        </a:solidFill>
                        <a:latin typeface="Cambria Math" panose="02040503050406030204" pitchFamily="18" charset="0"/>
                        <a:ea typeface="+mn-ea"/>
                        <a:cs typeface="+mn-cs"/>
                      </a:rPr>
                      <m:t>𝑋</m:t>
                    </m:r>
                  </m:oMath>
                </a14:m>
                <a:r>
                  <a:rPr lang="en-US" b="1" dirty="0"/>
                  <a:t>is a </a:t>
                </a:r>
                <a:r>
                  <a:rPr lang="en-US" b="1" dirty="0" err="1"/>
                  <a:t>superkey</a:t>
                </a:r>
                <a:r>
                  <a:rPr lang="en-US" b="1" dirty="0"/>
                  <a:t> of the relation.</a:t>
                </a:r>
                <a:endParaRPr lang="en-US" dirty="0"/>
              </a:p>
              <a:p>
                <a:pPr/>
                <a14:m>
                  <m:oMathPara xmlns:m="http://schemas.openxmlformats.org/officeDocument/2006/math">
                    <m:oMathParaPr>
                      <m:jc m:val="centerGroup"/>
                    </m:oMathParaPr>
                    <m:oMath xmlns:m="http://schemas.openxmlformats.org/officeDocument/2006/math">
                      <m:r>
                        <a:rPr lang="en-US" sz="1200" i="1" kern="1200">
                          <a:solidFill>
                            <a:schemeClr val="tx1"/>
                          </a:solidFill>
                          <a:latin typeface="Cambria Math" panose="02040503050406030204" pitchFamily="18" charset="0"/>
                          <a:ea typeface="+mn-ea"/>
                          <a:cs typeface="+mn-cs"/>
                        </a:rPr>
                        <m:t>𝑋</m:t>
                      </m:r>
                      <m:r>
                        <a:rPr lang="en-US" sz="1200" i="0" kern="1200">
                          <a:solidFill>
                            <a:schemeClr val="tx1"/>
                          </a:solidFill>
                          <a:latin typeface="Cambria Math" panose="02040503050406030204" pitchFamily="18" charset="0"/>
                          <a:ea typeface="+mn-ea"/>
                          <a:cs typeface="+mn-cs"/>
                        </a:rPr>
                        <m:t>→</m:t>
                      </m:r>
                      <m:r>
                        <a:rPr lang="en-US" sz="1200" i="1" kern="1200">
                          <a:solidFill>
                            <a:schemeClr val="tx1"/>
                          </a:solidFill>
                          <a:latin typeface="Cambria Math" panose="02040503050406030204" pitchFamily="18" charset="0"/>
                          <a:ea typeface="+mn-ea"/>
                          <a:cs typeface="+mn-cs"/>
                        </a:rPr>
                        <m:t>𝑌</m:t>
                      </m:r>
                    </m:oMath>
                  </m:oMathPara>
                </a14:m>
                <a:endParaRPr lang="en-US" dirty="0"/>
              </a:p>
              <a:p>
                <a:r>
                  <a:rPr lang="en-US" b="1" dirty="0"/>
                  <a:t>Shortcut for Exams</a:t>
                </a:r>
              </a:p>
              <a:p>
                <a:r>
                  <a:rPr lang="en-US" dirty="0"/>
                  <a:t>Ask these two questions:</a:t>
                </a:r>
              </a:p>
              <a:p>
                <a:r>
                  <a:rPr lang="en-US" dirty="0"/>
                  <a:t>What are the candidate keys? </a:t>
                </a:r>
              </a:p>
              <a:p>
                <a:r>
                  <a:rPr lang="en-US" dirty="0"/>
                  <a:t>Is the left side of every FD a </a:t>
                </a:r>
                <a:r>
                  <a:rPr lang="en-US" dirty="0" err="1"/>
                  <a:t>superkey</a:t>
                </a:r>
                <a:r>
                  <a:rPr lang="en-US" dirty="0"/>
                  <a:t>? </a:t>
                </a:r>
              </a:p>
              <a:p>
                <a:r>
                  <a:rPr lang="en-US" dirty="0"/>
                  <a:t>If </a:t>
                </a:r>
                <a:r>
                  <a:rPr lang="en-US" b="1" dirty="0"/>
                  <a:t>YES</a:t>
                </a:r>
                <a:r>
                  <a:rPr lang="en-US" dirty="0"/>
                  <a:t> → BCNF. </a:t>
                </a:r>
              </a:p>
              <a:p>
                <a:r>
                  <a:rPr lang="en-US" dirty="0"/>
                  <a:t>If </a:t>
                </a:r>
                <a:r>
                  <a:rPr lang="en-US" b="1" dirty="0"/>
                  <a:t>NO</a:t>
                </a:r>
                <a:r>
                  <a:rPr lang="en-US" dirty="0"/>
                  <a:t> → Not BCNF and decomposition is required. </a:t>
                </a:r>
              </a:p>
              <a:p>
                <a:r>
                  <a:rPr lang="en-US" dirty="0"/>
                  <a:t>A common exam question is:</a:t>
                </a:r>
              </a:p>
              <a:p>
                <a:r>
                  <a:rPr lang="en-US" b="1" dirty="0"/>
                  <a:t>R(A, B, C), F = {A → B, B → C}</a:t>
                </a:r>
                <a:endParaRPr lang="en-US" dirty="0"/>
              </a:p>
              <a:p>
                <a:r>
                  <a:rPr lang="en-US" dirty="0"/>
                  <a:t>Candidate Key = A </a:t>
                </a:r>
              </a:p>
              <a:p>
                <a:r>
                  <a:rPr lang="en-US" dirty="0"/>
                  <a:t>B → C violates BCNF because B is not a </a:t>
                </a:r>
                <a:r>
                  <a:rPr lang="en-US" dirty="0" err="1"/>
                  <a:t>superkey</a:t>
                </a:r>
                <a:r>
                  <a:rPr lang="en-US" dirty="0"/>
                  <a:t>. </a:t>
                </a:r>
              </a:p>
              <a:p>
                <a:r>
                  <a:rPr lang="en-US" dirty="0"/>
                  <a:t>Decompose into: </a:t>
                </a:r>
              </a:p>
              <a:p>
                <a:pPr lvl="1"/>
                <a:r>
                  <a:rPr lang="en-US" dirty="0"/>
                  <a:t>R₁(B, C) </a:t>
                </a:r>
              </a:p>
              <a:p>
                <a:pPr lvl="1"/>
                <a:r>
                  <a:rPr lang="en-US" dirty="0"/>
                  <a:t>R₂(A, B) </a:t>
                </a:r>
              </a:p>
              <a:p>
                <a:r>
                  <a:rPr lang="en-US" dirty="0"/>
                  <a:t>This is the standard BCNF decomposition procedure used in university exams</a:t>
                </a:r>
              </a:p>
              <a:p>
                <a:endParaRPr lang="en-US" dirty="0"/>
              </a:p>
            </p:txBody>
          </p:sp>
        </mc:Choice>
        <mc:Fallback xmlns="">
          <p:sp>
            <p:nvSpPr>
              <p:cNvPr id="3" name="Notes Placeholder 2"/>
              <p:cNvSpPr>
                <a:spLocks noGrp="1"/>
              </p:cNvSpPr>
              <p:nvPr>
                <p:ph type="body" idx="1"/>
              </p:nvPr>
            </p:nvSpPr>
            <p:spPr/>
            <p:txBody>
              <a:bodyPr/>
              <a:lstStyle/>
              <a:p>
                <a:r>
                  <a:rPr lang="en-US" b="1" dirty="0"/>
                  <a:t>Examination-Oriented Definition</a:t>
                </a:r>
              </a:p>
              <a:p>
                <a:r>
                  <a:rPr lang="en-US" b="1" dirty="0"/>
                  <a:t>A relation is in Boyce-Codd Normal Form (BCNF) if for every non-trivial functional dependency </a:t>
                </a:r>
                <a:r>
                  <a:rPr lang="en-US" sz="1200" i="0" kern="1200">
                    <a:solidFill>
                      <a:schemeClr val="tx1"/>
                    </a:solidFill>
                    <a:latin typeface="+mn-lt"/>
                    <a:ea typeface="+mn-ea"/>
                    <a:cs typeface="+mn-cs"/>
                  </a:rPr>
                  <a:t>𝑋→𝑌</a:t>
                </a:r>
                <a:r>
                  <a:rPr lang="en-US" b="1" dirty="0"/>
                  <a:t>, the determinant </a:t>
                </a:r>
                <a:r>
                  <a:rPr lang="en-US" sz="1200" i="0" kern="1200">
                    <a:solidFill>
                      <a:schemeClr val="tx1"/>
                    </a:solidFill>
                    <a:latin typeface="+mn-lt"/>
                    <a:ea typeface="+mn-ea"/>
                    <a:cs typeface="+mn-cs"/>
                  </a:rPr>
                  <a:t>𝑋</a:t>
                </a:r>
                <a:r>
                  <a:rPr lang="en-US" b="1" dirty="0"/>
                  <a:t>is a </a:t>
                </a:r>
                <a:r>
                  <a:rPr lang="en-US" b="1" dirty="0" err="1"/>
                  <a:t>superkey</a:t>
                </a:r>
                <a:r>
                  <a:rPr lang="en-US" b="1" dirty="0"/>
                  <a:t> of the relation.</a:t>
                </a:r>
                <a:endParaRPr lang="en-US" dirty="0"/>
              </a:p>
              <a:p>
                <a:r>
                  <a:rPr lang="en-US" sz="1200" i="0" kern="1200">
                    <a:solidFill>
                      <a:schemeClr val="tx1"/>
                    </a:solidFill>
                    <a:latin typeface="+mn-lt"/>
                    <a:ea typeface="+mn-ea"/>
                    <a:cs typeface="+mn-cs"/>
                  </a:rPr>
                  <a:t>𝑋→𝑌</a:t>
                </a:r>
                <a:endParaRPr lang="en-US" dirty="0"/>
              </a:p>
              <a:p>
                <a:r>
                  <a:rPr lang="en-US" b="1" dirty="0"/>
                  <a:t>Shortcut for Exams</a:t>
                </a:r>
              </a:p>
              <a:p>
                <a:r>
                  <a:rPr lang="en-US" dirty="0"/>
                  <a:t>Ask these two questions:</a:t>
                </a:r>
              </a:p>
              <a:p>
                <a:r>
                  <a:rPr lang="en-US" dirty="0"/>
                  <a:t>What are the candidate keys? </a:t>
                </a:r>
              </a:p>
              <a:p>
                <a:r>
                  <a:rPr lang="en-US" dirty="0"/>
                  <a:t>Is the left side of every FD a </a:t>
                </a:r>
                <a:r>
                  <a:rPr lang="en-US" dirty="0" err="1"/>
                  <a:t>superkey</a:t>
                </a:r>
                <a:r>
                  <a:rPr lang="en-US" dirty="0"/>
                  <a:t>? </a:t>
                </a:r>
              </a:p>
              <a:p>
                <a:r>
                  <a:rPr lang="en-US" dirty="0"/>
                  <a:t>If </a:t>
                </a:r>
                <a:r>
                  <a:rPr lang="en-US" b="1" dirty="0"/>
                  <a:t>YES</a:t>
                </a:r>
                <a:r>
                  <a:rPr lang="en-US" dirty="0"/>
                  <a:t> → BCNF. </a:t>
                </a:r>
              </a:p>
              <a:p>
                <a:r>
                  <a:rPr lang="en-US" dirty="0"/>
                  <a:t>If </a:t>
                </a:r>
                <a:r>
                  <a:rPr lang="en-US" b="1" dirty="0"/>
                  <a:t>NO</a:t>
                </a:r>
                <a:r>
                  <a:rPr lang="en-US" dirty="0"/>
                  <a:t> → Not BCNF and decomposition is required. </a:t>
                </a:r>
              </a:p>
              <a:p>
                <a:r>
                  <a:rPr lang="en-US" dirty="0"/>
                  <a:t>A common exam question is:</a:t>
                </a:r>
              </a:p>
              <a:p>
                <a:r>
                  <a:rPr lang="en-US" b="1" dirty="0"/>
                  <a:t>R(A, B, C), F = {A → B, B → C}</a:t>
                </a:r>
                <a:endParaRPr lang="en-US" dirty="0"/>
              </a:p>
              <a:p>
                <a:r>
                  <a:rPr lang="en-US" dirty="0"/>
                  <a:t>Candidate Key = A </a:t>
                </a:r>
              </a:p>
              <a:p>
                <a:r>
                  <a:rPr lang="en-US" dirty="0"/>
                  <a:t>B → C violates BCNF because B is not a </a:t>
                </a:r>
                <a:r>
                  <a:rPr lang="en-US" dirty="0" err="1"/>
                  <a:t>superkey</a:t>
                </a:r>
                <a:r>
                  <a:rPr lang="en-US" dirty="0"/>
                  <a:t>. </a:t>
                </a:r>
              </a:p>
              <a:p>
                <a:r>
                  <a:rPr lang="en-US" dirty="0"/>
                  <a:t>Decompose into: </a:t>
                </a:r>
              </a:p>
              <a:p>
                <a:pPr lvl="1"/>
                <a:r>
                  <a:rPr lang="en-US" dirty="0"/>
                  <a:t>R₁(B, C) </a:t>
                </a:r>
              </a:p>
              <a:p>
                <a:pPr lvl="1"/>
                <a:r>
                  <a:rPr lang="en-US" dirty="0"/>
                  <a:t>R₂(A, B) </a:t>
                </a:r>
              </a:p>
              <a:p>
                <a:r>
                  <a:rPr lang="en-US" dirty="0"/>
                  <a:t>This is the standard BCNF decomposition procedure used in university exams</a:t>
                </a:r>
              </a:p>
              <a:p>
                <a:endParaRPr lang="en-US" dirty="0"/>
              </a:p>
            </p:txBody>
          </p:sp>
        </mc:Fallback>
      </mc:AlternateContent>
      <p:sp>
        <p:nvSpPr>
          <p:cNvPr id="4" name="Slide Number Placeholder 3"/>
          <p:cNvSpPr>
            <a:spLocks noGrp="1"/>
          </p:cNvSpPr>
          <p:nvPr>
            <p:ph type="sldNum" sz="quarter" idx="5"/>
          </p:nvPr>
        </p:nvSpPr>
        <p:spPr/>
        <p:txBody>
          <a:bodyPr/>
          <a:lstStyle/>
          <a:p>
            <a:fld id="{532ED260-D111-491D-AB9F-FC8569A2A916}" type="slidenum">
              <a:rPr lang="en-US" smtClean="0"/>
              <a:t>78</a:t>
            </a:fld>
            <a:endParaRPr lang="en-US"/>
          </a:p>
        </p:txBody>
      </p:sp>
    </p:spTree>
    <p:extLst>
      <p:ext uri="{BB962C8B-B14F-4D97-AF65-F5344CB8AC3E}">
        <p14:creationId xmlns:p14="http://schemas.microsoft.com/office/powerpoint/2010/main" val="6195731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Normalization is ideal for data consistency, but in large systems joins can become expensive.</a:t>
            </a:r>
          </a:p>
          <a:p>
            <a:r>
              <a:rPr lang="en-US" dirty="0"/>
              <a:t>De-normalization is used when:</a:t>
            </a:r>
          </a:p>
          <a:p>
            <a:r>
              <a:rPr lang="en-US" b="1" dirty="0"/>
              <a:t>1. Faster Query Performance</a:t>
            </a:r>
          </a:p>
          <a:p>
            <a:r>
              <a:rPr lang="en-US" dirty="0"/>
              <a:t>Suppose an e-commerce site has millions of orders.</a:t>
            </a:r>
          </a:p>
          <a:p>
            <a:r>
              <a:rPr lang="en-US" dirty="0"/>
              <a:t>Every page load requiring 5–10 joins can be slow.</a:t>
            </a:r>
          </a:p>
          <a:p>
            <a:r>
              <a:rPr lang="en-US" dirty="0"/>
              <a:t>By storing frequently used information together, retrieval becomes faster.</a:t>
            </a:r>
          </a:p>
          <a:p>
            <a:r>
              <a:rPr lang="en-US" b="1" dirty="0"/>
              <a:t>Example</a:t>
            </a:r>
          </a:p>
          <a:p>
            <a:r>
              <a:rPr lang="en-US" dirty="0"/>
              <a:t>Instead of:</a:t>
            </a:r>
          </a:p>
          <a:p>
            <a:pPr rtl="0"/>
            <a:r>
              <a:rPr lang="en-US" sz="1200" kern="1200" dirty="0">
                <a:solidFill>
                  <a:schemeClr val="tx1"/>
                </a:solidFill>
                <a:latin typeface="+mn-lt"/>
                <a:ea typeface="+mn-ea"/>
                <a:cs typeface="+mn-cs"/>
              </a:rPr>
              <a:t>Order → Customer → Address</a:t>
            </a:r>
          </a:p>
          <a:p>
            <a:r>
              <a:rPr lang="en-US" dirty="0"/>
              <a:t>Store customer name directly in Order table.</a:t>
            </a:r>
          </a:p>
          <a:p>
            <a:pPr rtl="0"/>
            <a:r>
              <a:rPr lang="en-US" sz="1200" kern="1200" dirty="0" err="1">
                <a:solidFill>
                  <a:schemeClr val="tx1"/>
                </a:solidFill>
                <a:latin typeface="+mn-lt"/>
                <a:ea typeface="+mn-ea"/>
                <a:cs typeface="+mn-cs"/>
              </a:rPr>
              <a:t>OrderID</a:t>
            </a:r>
            <a:r>
              <a:rPr lang="en-US" sz="1200" kern="1200" dirty="0">
                <a:solidFill>
                  <a:schemeClr val="tx1"/>
                </a:solidFill>
                <a:latin typeface="+mn-lt"/>
                <a:ea typeface="+mn-ea"/>
                <a:cs typeface="+mn-cs"/>
              </a:rPr>
              <a:t> | </a:t>
            </a:r>
            <a:r>
              <a:rPr lang="en-US" sz="1200" kern="1200" dirty="0" err="1">
                <a:solidFill>
                  <a:schemeClr val="tx1"/>
                </a:solidFill>
                <a:latin typeface="+mn-lt"/>
                <a:ea typeface="+mn-ea"/>
                <a:cs typeface="+mn-cs"/>
              </a:rPr>
              <a:t>CustomerName</a:t>
            </a:r>
            <a:endParaRPr lang="en-US" sz="1200" kern="1200" dirty="0">
              <a:solidFill>
                <a:schemeClr val="tx1"/>
              </a:solidFill>
              <a:latin typeface="+mn-lt"/>
              <a:ea typeface="+mn-ea"/>
              <a:cs typeface="+mn-cs"/>
            </a:endParaRPr>
          </a:p>
          <a:p>
            <a:br>
              <a:rPr lang="en-US" dirty="0"/>
            </a:br>
            <a:endParaRPr lang="en-US" dirty="0"/>
          </a:p>
          <a:p>
            <a:r>
              <a:rPr lang="en-US" b="1" dirty="0"/>
              <a:t>2. Reduce Complex Joins</a:t>
            </a:r>
          </a:p>
          <a:p>
            <a:r>
              <a:rPr lang="en-US" dirty="0"/>
              <a:t>Multiple joins consume:</a:t>
            </a:r>
          </a:p>
          <a:p>
            <a:r>
              <a:rPr lang="en-US" dirty="0"/>
              <a:t>CPU </a:t>
            </a:r>
          </a:p>
          <a:p>
            <a:r>
              <a:rPr lang="en-US" dirty="0"/>
              <a:t>Memory </a:t>
            </a:r>
          </a:p>
          <a:p>
            <a:r>
              <a:rPr lang="en-US" dirty="0"/>
              <a:t>Disk I/O </a:t>
            </a:r>
          </a:p>
          <a:p>
            <a:r>
              <a:rPr lang="en-US" dirty="0"/>
              <a:t>De-normalization reduces these operations.</a:t>
            </a:r>
          </a:p>
          <a:p>
            <a:r>
              <a:rPr lang="en-US" b="1" dirty="0"/>
              <a:t>Before</a:t>
            </a:r>
          </a:p>
          <a:p>
            <a:pPr rtl="0"/>
            <a:r>
              <a:rPr lang="en-US" sz="1200" kern="1200" dirty="0">
                <a:solidFill>
                  <a:schemeClr val="tx1"/>
                </a:solidFill>
                <a:latin typeface="+mn-lt"/>
                <a:ea typeface="+mn-ea"/>
                <a:cs typeface="+mn-cs"/>
              </a:rPr>
              <a:t>Order</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Customer</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Product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Supplier</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Category</a:t>
            </a:r>
          </a:p>
          <a:p>
            <a:r>
              <a:rPr lang="en-US" b="1" dirty="0"/>
              <a:t>After</a:t>
            </a:r>
          </a:p>
          <a:p>
            <a:r>
              <a:rPr lang="en-US" dirty="0"/>
              <a:t>Store frequently accessed fields together.</a:t>
            </a:r>
          </a:p>
          <a:p>
            <a:r>
              <a:rPr lang="en-US" dirty="0"/>
              <a:t>Fewer joins.</a:t>
            </a:r>
          </a:p>
          <a:p>
            <a:br>
              <a:rPr lang="en-US" dirty="0"/>
            </a:br>
            <a:endParaRPr lang="en-US" dirty="0"/>
          </a:p>
          <a:p>
            <a:r>
              <a:rPr lang="en-US" b="1" dirty="0"/>
              <a:t>3. Improve Reporting and Analytics</a:t>
            </a:r>
          </a:p>
          <a:p>
            <a:r>
              <a:rPr lang="en-US" dirty="0"/>
              <a:t>Reports often require data from many tables.</a:t>
            </a:r>
          </a:p>
          <a:p>
            <a:r>
              <a:rPr lang="en-US" dirty="0"/>
              <a:t>Instead of joining every time, create a de-normalized reporting table.</a:t>
            </a:r>
          </a:p>
          <a:p>
            <a:r>
              <a:rPr lang="en-US" b="1" dirty="0"/>
              <a:t>Example</a:t>
            </a:r>
          </a:p>
          <a:p>
            <a:r>
              <a:rPr lang="en-US" dirty="0"/>
              <a:t>Sales Report Table</a:t>
            </a:r>
          </a:p>
          <a:p>
            <a:r>
              <a:rPr lang="en-US" dirty="0" err="1"/>
              <a:t>DateProductCustomerAmount</a:t>
            </a:r>
            <a:endParaRPr lang="en-US" dirty="0"/>
          </a:p>
          <a:p>
            <a:r>
              <a:rPr lang="en-US" dirty="0"/>
              <a:t>All information is already available.</a:t>
            </a:r>
          </a:p>
          <a:p>
            <a:r>
              <a:rPr lang="en-US" dirty="0"/>
              <a:t>Reports run much faster.</a:t>
            </a:r>
          </a:p>
          <a:p>
            <a:br>
              <a:rPr lang="en-US" dirty="0"/>
            </a:br>
            <a:endParaRPr lang="en-US" dirty="0"/>
          </a:p>
          <a:p>
            <a:r>
              <a:rPr lang="en-US" b="1" dirty="0"/>
              <a:t>4. Data Warehousing</a:t>
            </a:r>
          </a:p>
          <a:p>
            <a:r>
              <a:rPr lang="en-US" dirty="0"/>
              <a:t>Most data warehouses use de-normalized structures such as:</a:t>
            </a:r>
          </a:p>
          <a:p>
            <a:r>
              <a:rPr lang="en-US" dirty="0"/>
              <a:t>Star Schema </a:t>
            </a:r>
          </a:p>
          <a:p>
            <a:r>
              <a:rPr lang="en-US" dirty="0"/>
              <a:t>Snowflake Schema (partially normalized) </a:t>
            </a:r>
          </a:p>
          <a:p>
            <a:r>
              <a:rPr lang="en-US" dirty="0"/>
              <a:t>Fact tables often contain redundant information for fast analysis.</a:t>
            </a:r>
          </a:p>
          <a:p>
            <a:endParaRPr lang="en-US" dirty="0"/>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82</a:t>
            </a:fld>
            <a:endParaRPr lang="en-US"/>
          </a:p>
        </p:txBody>
      </p:sp>
    </p:spTree>
    <p:extLst>
      <p:ext uri="{BB962C8B-B14F-4D97-AF65-F5344CB8AC3E}">
        <p14:creationId xmlns:p14="http://schemas.microsoft.com/office/powerpoint/2010/main" val="130811606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Normalization is ideal for data consistency, but in large systems joins can become expensive.</a:t>
            </a:r>
          </a:p>
          <a:p>
            <a:r>
              <a:rPr lang="en-US" dirty="0"/>
              <a:t>De-normalization is used when:</a:t>
            </a:r>
          </a:p>
          <a:p>
            <a:r>
              <a:rPr lang="en-US" b="1" dirty="0"/>
              <a:t>1. Faster Query Performance</a:t>
            </a:r>
          </a:p>
          <a:p>
            <a:r>
              <a:rPr lang="en-US" dirty="0"/>
              <a:t>Suppose an e-commerce site has millions of orders.</a:t>
            </a:r>
          </a:p>
          <a:p>
            <a:r>
              <a:rPr lang="en-US" dirty="0"/>
              <a:t>Every page load requiring 5–10 joins can be slow.</a:t>
            </a:r>
          </a:p>
          <a:p>
            <a:r>
              <a:rPr lang="en-US" dirty="0"/>
              <a:t>By storing frequently used information together, retrieval becomes faster.</a:t>
            </a:r>
          </a:p>
          <a:p>
            <a:r>
              <a:rPr lang="en-US" b="1" dirty="0"/>
              <a:t>Example</a:t>
            </a:r>
          </a:p>
          <a:p>
            <a:r>
              <a:rPr lang="en-US" dirty="0"/>
              <a:t>Instead of:</a:t>
            </a:r>
          </a:p>
          <a:p>
            <a:pPr rtl="0"/>
            <a:r>
              <a:rPr lang="en-US" sz="1200" kern="1200" dirty="0">
                <a:solidFill>
                  <a:schemeClr val="tx1"/>
                </a:solidFill>
                <a:latin typeface="+mn-lt"/>
                <a:ea typeface="+mn-ea"/>
                <a:cs typeface="+mn-cs"/>
              </a:rPr>
              <a:t>Order → Customer → Address</a:t>
            </a:r>
          </a:p>
          <a:p>
            <a:r>
              <a:rPr lang="en-US" dirty="0"/>
              <a:t>Store customer name directly in Order table.</a:t>
            </a:r>
          </a:p>
          <a:p>
            <a:pPr rtl="0"/>
            <a:r>
              <a:rPr lang="en-US" sz="1200" kern="1200" dirty="0" err="1">
                <a:solidFill>
                  <a:schemeClr val="tx1"/>
                </a:solidFill>
                <a:latin typeface="+mn-lt"/>
                <a:ea typeface="+mn-ea"/>
                <a:cs typeface="+mn-cs"/>
              </a:rPr>
              <a:t>OrderID</a:t>
            </a:r>
            <a:r>
              <a:rPr lang="en-US" sz="1200" kern="1200" dirty="0">
                <a:solidFill>
                  <a:schemeClr val="tx1"/>
                </a:solidFill>
                <a:latin typeface="+mn-lt"/>
                <a:ea typeface="+mn-ea"/>
                <a:cs typeface="+mn-cs"/>
              </a:rPr>
              <a:t> | </a:t>
            </a:r>
            <a:r>
              <a:rPr lang="en-US" sz="1200" kern="1200" dirty="0" err="1">
                <a:solidFill>
                  <a:schemeClr val="tx1"/>
                </a:solidFill>
                <a:latin typeface="+mn-lt"/>
                <a:ea typeface="+mn-ea"/>
                <a:cs typeface="+mn-cs"/>
              </a:rPr>
              <a:t>CustomerName</a:t>
            </a:r>
            <a:endParaRPr lang="en-US" sz="1200" kern="1200" dirty="0">
              <a:solidFill>
                <a:schemeClr val="tx1"/>
              </a:solidFill>
              <a:latin typeface="+mn-lt"/>
              <a:ea typeface="+mn-ea"/>
              <a:cs typeface="+mn-cs"/>
            </a:endParaRPr>
          </a:p>
          <a:p>
            <a:br>
              <a:rPr lang="en-US" dirty="0"/>
            </a:br>
            <a:endParaRPr lang="en-US" dirty="0"/>
          </a:p>
          <a:p>
            <a:r>
              <a:rPr lang="en-US" b="1" dirty="0"/>
              <a:t>2. Reduce Complex Joins</a:t>
            </a:r>
          </a:p>
          <a:p>
            <a:r>
              <a:rPr lang="en-US" dirty="0"/>
              <a:t>Multiple joins consume:</a:t>
            </a:r>
          </a:p>
          <a:p>
            <a:r>
              <a:rPr lang="en-US" dirty="0"/>
              <a:t>CPU </a:t>
            </a:r>
          </a:p>
          <a:p>
            <a:r>
              <a:rPr lang="en-US" dirty="0"/>
              <a:t>Memory </a:t>
            </a:r>
          </a:p>
          <a:p>
            <a:r>
              <a:rPr lang="en-US" dirty="0"/>
              <a:t>Disk I/O </a:t>
            </a:r>
          </a:p>
          <a:p>
            <a:r>
              <a:rPr lang="en-US" dirty="0"/>
              <a:t>De-normalization reduces these operations.</a:t>
            </a:r>
          </a:p>
          <a:p>
            <a:r>
              <a:rPr lang="en-US" b="1" dirty="0"/>
              <a:t>Before</a:t>
            </a:r>
          </a:p>
          <a:p>
            <a:pPr rtl="0"/>
            <a:r>
              <a:rPr lang="en-US" sz="1200" kern="1200" dirty="0">
                <a:solidFill>
                  <a:schemeClr val="tx1"/>
                </a:solidFill>
                <a:latin typeface="+mn-lt"/>
                <a:ea typeface="+mn-ea"/>
                <a:cs typeface="+mn-cs"/>
              </a:rPr>
              <a:t>Order</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Customer</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Product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Supplier</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Category</a:t>
            </a:r>
          </a:p>
          <a:p>
            <a:r>
              <a:rPr lang="en-US" b="1" dirty="0"/>
              <a:t>After</a:t>
            </a:r>
          </a:p>
          <a:p>
            <a:r>
              <a:rPr lang="en-US" dirty="0"/>
              <a:t>Store frequently accessed fields together.</a:t>
            </a:r>
          </a:p>
          <a:p>
            <a:r>
              <a:rPr lang="en-US" dirty="0"/>
              <a:t>Fewer joins.</a:t>
            </a:r>
          </a:p>
          <a:p>
            <a:br>
              <a:rPr lang="en-US" dirty="0"/>
            </a:br>
            <a:endParaRPr lang="en-US" dirty="0"/>
          </a:p>
          <a:p>
            <a:r>
              <a:rPr lang="en-US" b="1" dirty="0"/>
              <a:t>3. Improve Reporting and Analytics</a:t>
            </a:r>
          </a:p>
          <a:p>
            <a:r>
              <a:rPr lang="en-US" dirty="0"/>
              <a:t>Reports often require data from many tables.</a:t>
            </a:r>
          </a:p>
          <a:p>
            <a:r>
              <a:rPr lang="en-US" dirty="0"/>
              <a:t>Instead of joining every time, create a de-normalized reporting table.</a:t>
            </a:r>
          </a:p>
          <a:p>
            <a:r>
              <a:rPr lang="en-US" b="1" dirty="0"/>
              <a:t>Example</a:t>
            </a:r>
          </a:p>
          <a:p>
            <a:r>
              <a:rPr lang="en-US" dirty="0"/>
              <a:t>Sales Report Table</a:t>
            </a:r>
          </a:p>
          <a:p>
            <a:r>
              <a:rPr lang="en-US" dirty="0" err="1"/>
              <a:t>DateProductCustomerAmount</a:t>
            </a:r>
            <a:endParaRPr lang="en-US" dirty="0"/>
          </a:p>
          <a:p>
            <a:r>
              <a:rPr lang="en-US" dirty="0"/>
              <a:t>All information is already available.</a:t>
            </a:r>
          </a:p>
          <a:p>
            <a:r>
              <a:rPr lang="en-US" dirty="0"/>
              <a:t>Reports run much faster.</a:t>
            </a:r>
          </a:p>
          <a:p>
            <a:br>
              <a:rPr lang="en-US" dirty="0"/>
            </a:br>
            <a:endParaRPr lang="en-US" dirty="0"/>
          </a:p>
          <a:p>
            <a:r>
              <a:rPr lang="en-US" b="1" dirty="0"/>
              <a:t>4. Data Warehousing</a:t>
            </a:r>
          </a:p>
          <a:p>
            <a:r>
              <a:rPr lang="en-US" dirty="0"/>
              <a:t>Most data warehouses use de-normalized structures such as:</a:t>
            </a:r>
          </a:p>
          <a:p>
            <a:r>
              <a:rPr lang="en-US" dirty="0"/>
              <a:t>Star Schema </a:t>
            </a:r>
          </a:p>
          <a:p>
            <a:r>
              <a:rPr lang="en-US" dirty="0"/>
              <a:t>Snowflake Schema (partially normalized) </a:t>
            </a:r>
          </a:p>
          <a:p>
            <a:r>
              <a:rPr lang="en-US" dirty="0"/>
              <a:t>Fact tables often contain redundant information for fast analysis.</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83</a:t>
            </a:fld>
            <a:endParaRPr lang="en-US"/>
          </a:p>
        </p:txBody>
      </p:sp>
    </p:spTree>
    <p:extLst>
      <p:ext uri="{BB962C8B-B14F-4D97-AF65-F5344CB8AC3E}">
        <p14:creationId xmlns:p14="http://schemas.microsoft.com/office/powerpoint/2010/main" val="8068219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85</a:t>
            </a:fld>
            <a:endParaRPr lang="en-US"/>
          </a:p>
        </p:txBody>
      </p:sp>
    </p:spTree>
    <p:extLst>
      <p:ext uri="{BB962C8B-B14F-4D97-AF65-F5344CB8AC3E}">
        <p14:creationId xmlns:p14="http://schemas.microsoft.com/office/powerpoint/2010/main" val="37923059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86</a:t>
            </a:fld>
            <a:endParaRPr lang="en-US"/>
          </a:p>
        </p:txBody>
      </p:sp>
    </p:spTree>
    <p:extLst>
      <p:ext uri="{BB962C8B-B14F-4D97-AF65-F5344CB8AC3E}">
        <p14:creationId xmlns:p14="http://schemas.microsoft.com/office/powerpoint/2010/main" val="19590160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2: Online Shopping Cart</a:t>
            </a:r>
          </a:p>
          <a:p>
            <a:r>
              <a:rPr lang="en-US" b="1" dirty="0"/>
              <a:t>Normalized</a:t>
            </a:r>
          </a:p>
          <a:p>
            <a:r>
              <a:rPr lang="en-US" b="1" dirty="0"/>
              <a:t>Product</a:t>
            </a:r>
          </a:p>
          <a:p>
            <a:r>
              <a:rPr lang="en-US" dirty="0"/>
              <a:t>ProductIDNamePriceP1Laptop1000</a:t>
            </a:r>
          </a:p>
          <a:p>
            <a:r>
              <a:rPr lang="en-US" b="1" dirty="0"/>
              <a:t>Cart</a:t>
            </a:r>
          </a:p>
          <a:p>
            <a:r>
              <a:rPr lang="en-US" dirty="0"/>
              <a:t>CartIDProductIDQty1P12</a:t>
            </a:r>
          </a:p>
          <a:p>
            <a:r>
              <a:rPr lang="en-US" dirty="0"/>
              <a:t>To display cart:</a:t>
            </a:r>
          </a:p>
          <a:p>
            <a:pPr rtl="0"/>
            <a:r>
              <a:rPr lang="en-US" sz="1200" kern="1200" dirty="0">
                <a:solidFill>
                  <a:schemeClr val="tx1"/>
                </a:solidFill>
                <a:latin typeface="+mn-lt"/>
                <a:ea typeface="+mn-ea"/>
                <a:cs typeface="+mn-cs"/>
              </a:rPr>
              <a:t>SELECT *</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FROM Cart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JOIN Product;</a:t>
            </a:r>
          </a:p>
          <a:p>
            <a:r>
              <a:rPr lang="en-US" dirty="0"/>
              <a:t>Thousands of users may perform this query every second.</a:t>
            </a:r>
          </a:p>
          <a:p>
            <a:br>
              <a:rPr lang="en-US" dirty="0"/>
            </a:br>
            <a:endParaRPr lang="en-US" dirty="0"/>
          </a:p>
          <a:p>
            <a:r>
              <a:rPr lang="en-US" b="1" dirty="0"/>
              <a:t>De-normalized</a:t>
            </a:r>
          </a:p>
          <a:p>
            <a:r>
              <a:rPr lang="en-US" b="1" dirty="0"/>
              <a:t>Cart</a:t>
            </a:r>
          </a:p>
          <a:p>
            <a:r>
              <a:rPr lang="en-US" dirty="0"/>
              <a:t>CartIDProductIDProductNamePriceQty1P1Laptop10002</a:t>
            </a:r>
          </a:p>
          <a:p>
            <a:r>
              <a:rPr lang="en-US" dirty="0"/>
              <a:t>No join needed.</a:t>
            </a:r>
          </a:p>
          <a:p>
            <a:r>
              <a:rPr lang="en-US" dirty="0"/>
              <a:t>Page loads faster.</a:t>
            </a:r>
          </a:p>
          <a:p>
            <a:br>
              <a:rPr lang="en-US" dirty="0"/>
            </a:br>
            <a:endParaRPr lang="en-US" dirty="0"/>
          </a:p>
          <a:p>
            <a:r>
              <a:rPr lang="en-US" b="1" dirty="0"/>
              <a:t>Case 3: Student Management System</a:t>
            </a:r>
          </a:p>
          <a:p>
            <a:r>
              <a:rPr lang="en-US" dirty="0"/>
              <a:t>Suppose your university database contains:</a:t>
            </a:r>
          </a:p>
          <a:p>
            <a:r>
              <a:rPr lang="en-US" b="1" dirty="0"/>
              <a:t>Student</a:t>
            </a:r>
          </a:p>
          <a:p>
            <a:r>
              <a:rPr lang="en-US" dirty="0"/>
              <a:t>StudentIDNameDeptID101HariD1</a:t>
            </a:r>
          </a:p>
          <a:p>
            <a:r>
              <a:rPr lang="en-US" b="1" dirty="0"/>
              <a:t>Department</a:t>
            </a:r>
          </a:p>
          <a:p>
            <a:r>
              <a:rPr lang="en-US" dirty="0"/>
              <a:t>DeptIDDeptNameD1Computer</a:t>
            </a:r>
          </a:p>
          <a:p>
            <a:r>
              <a:rPr lang="en-US" dirty="0"/>
              <a:t>Every report requires:</a:t>
            </a:r>
          </a:p>
          <a:p>
            <a:pPr rtl="0"/>
            <a:r>
              <a:rPr lang="en-US" sz="1200" kern="1200" dirty="0">
                <a:solidFill>
                  <a:schemeClr val="tx1"/>
                </a:solidFill>
                <a:latin typeface="+mn-lt"/>
                <a:ea typeface="+mn-ea"/>
                <a:cs typeface="+mn-cs"/>
              </a:rPr>
              <a:t>Student JOIN Department</a:t>
            </a:r>
          </a:p>
          <a:p>
            <a:br>
              <a:rPr lang="en-US" dirty="0"/>
            </a:br>
            <a:endParaRPr lang="en-US" dirty="0"/>
          </a:p>
          <a:p>
            <a:r>
              <a:rPr lang="en-US" b="1" dirty="0"/>
              <a:t>De-normalized</a:t>
            </a:r>
          </a:p>
          <a:p>
            <a:r>
              <a:rPr lang="en-US" b="1" dirty="0"/>
              <a:t>Student</a:t>
            </a:r>
          </a:p>
          <a:p>
            <a:r>
              <a:rPr lang="en-US" dirty="0"/>
              <a:t>StudentIDNameDeptIDDeptName101HariD1Computer</a:t>
            </a:r>
          </a:p>
          <a:p>
            <a:r>
              <a:rPr lang="en-US" dirty="0"/>
              <a:t>Now reports run faster.</a:t>
            </a:r>
          </a:p>
          <a:p>
            <a:r>
              <a:rPr lang="en-US" b="1" dirty="0"/>
              <a:t>Why Useful?</a:t>
            </a:r>
          </a:p>
          <a:p>
            <a:r>
              <a:rPr lang="en-US" dirty="0"/>
              <a:t>If thousands of student records are displayed every day, eliminating joins can significantly reduce query time.</a:t>
            </a:r>
          </a:p>
          <a:p>
            <a:br>
              <a:rPr lang="en-US" dirty="0"/>
            </a:br>
            <a:endParaRPr lang="en-US" dirty="0"/>
          </a:p>
          <a:p>
            <a:r>
              <a:rPr lang="en-US" b="1" dirty="0"/>
              <a:t>Case 4: Storing Calculated Values</a:t>
            </a:r>
          </a:p>
          <a:p>
            <a:r>
              <a:rPr lang="en-US" dirty="0"/>
              <a:t>This is one of the most common forms of de-normalization.</a:t>
            </a:r>
          </a:p>
          <a:p>
            <a:r>
              <a:rPr lang="en-US" b="1" dirty="0"/>
              <a:t>Normalized</a:t>
            </a:r>
          </a:p>
          <a:p>
            <a:r>
              <a:rPr lang="en-US" b="1" dirty="0" err="1"/>
              <a:t>OrderItem</a:t>
            </a:r>
            <a:endParaRPr lang="en-US" b="1" dirty="0"/>
          </a:p>
          <a:p>
            <a:r>
              <a:rPr lang="en-US" dirty="0"/>
              <a:t>QtyPrice5100</a:t>
            </a:r>
          </a:p>
          <a:p>
            <a:r>
              <a:rPr lang="en-US" dirty="0"/>
              <a:t>Total is calculated each time:</a:t>
            </a:r>
          </a:p>
          <a:p>
            <a:pPr rtl="0"/>
            <a:r>
              <a:rPr lang="en-US" sz="1200" kern="1200" dirty="0">
                <a:solidFill>
                  <a:schemeClr val="tx1"/>
                </a:solidFill>
                <a:latin typeface="+mn-lt"/>
                <a:ea typeface="+mn-ea"/>
                <a:cs typeface="+mn-cs"/>
              </a:rPr>
              <a:t>Total = Qty × Price</a:t>
            </a:r>
          </a:p>
          <a:p>
            <a:br>
              <a:rPr lang="en-US" dirty="0"/>
            </a:br>
            <a:endParaRPr lang="en-US" dirty="0"/>
          </a:p>
          <a:p>
            <a:r>
              <a:rPr lang="en-US" b="1" dirty="0"/>
              <a:t>De-normalized</a:t>
            </a:r>
          </a:p>
          <a:p>
            <a:r>
              <a:rPr lang="en-US" b="1" dirty="0" err="1"/>
              <a:t>OrderItem</a:t>
            </a:r>
            <a:endParaRPr lang="en-US" b="1" dirty="0"/>
          </a:p>
          <a:p>
            <a:r>
              <a:rPr lang="en-US" dirty="0"/>
              <a:t>QtyPriceTotal5100500</a:t>
            </a:r>
          </a:p>
          <a:p>
            <a:r>
              <a:rPr lang="en-US" dirty="0"/>
              <a:t>Total is stored.</a:t>
            </a:r>
          </a:p>
          <a:p>
            <a:r>
              <a:rPr lang="en-US" dirty="0"/>
              <a:t>No calculation needed.</a:t>
            </a:r>
          </a:p>
          <a:p>
            <a:r>
              <a:rPr lang="en-US" b="1" dirty="0"/>
              <a:t>Real Example</a:t>
            </a:r>
          </a:p>
          <a:p>
            <a:r>
              <a:rPr lang="en-US" dirty="0"/>
              <a:t>Food delivery apps:</a:t>
            </a:r>
          </a:p>
          <a:p>
            <a:r>
              <a:rPr lang="en-US" dirty="0"/>
              <a:t>Food price </a:t>
            </a:r>
          </a:p>
          <a:p>
            <a:r>
              <a:rPr lang="en-US" dirty="0"/>
              <a:t>Tax </a:t>
            </a:r>
          </a:p>
          <a:p>
            <a:r>
              <a:rPr lang="en-US" dirty="0"/>
              <a:t>Delivery charge </a:t>
            </a:r>
          </a:p>
          <a:p>
            <a:r>
              <a:rPr lang="en-US" dirty="0"/>
              <a:t>Discount </a:t>
            </a:r>
          </a:p>
          <a:p>
            <a:r>
              <a:rPr lang="en-US" dirty="0"/>
              <a:t>Final amount is often stored directly rather than recalculated every time.</a:t>
            </a:r>
          </a:p>
          <a:p>
            <a:br>
              <a:rPr lang="en-US" dirty="0"/>
            </a:br>
            <a:endParaRPr lang="en-US" dirty="0"/>
          </a:p>
          <a:p>
            <a:r>
              <a:rPr lang="en-US" b="1" dirty="0"/>
              <a:t>Case 5: Social Media (Facebook/Instagram)</a:t>
            </a:r>
          </a:p>
          <a:p>
            <a:r>
              <a:rPr lang="en-US" b="1" dirty="0"/>
              <a:t>Normalized</a:t>
            </a:r>
          </a:p>
          <a:p>
            <a:r>
              <a:rPr lang="en-US" b="1" dirty="0"/>
              <a:t>Post</a:t>
            </a:r>
          </a:p>
          <a:p>
            <a:r>
              <a:rPr lang="en-US" dirty="0" err="1"/>
              <a:t>PostIDContent</a:t>
            </a:r>
            <a:endParaRPr lang="en-US" dirty="0"/>
          </a:p>
          <a:p>
            <a:r>
              <a:rPr lang="en-US" b="1" dirty="0"/>
              <a:t>Likes</a:t>
            </a:r>
          </a:p>
          <a:p>
            <a:r>
              <a:rPr lang="en-US" dirty="0" err="1"/>
              <a:t>LikeIDPostID</a:t>
            </a:r>
            <a:endParaRPr lang="en-US" dirty="0"/>
          </a:p>
          <a:p>
            <a:r>
              <a:rPr lang="en-US" dirty="0"/>
              <a:t>To display likes:</a:t>
            </a:r>
          </a:p>
          <a:p>
            <a:pPr rtl="0"/>
            <a:r>
              <a:rPr lang="en-US" sz="1200" kern="1200" dirty="0">
                <a:solidFill>
                  <a:schemeClr val="tx1"/>
                </a:solidFill>
                <a:latin typeface="+mn-lt"/>
                <a:ea typeface="+mn-ea"/>
                <a:cs typeface="+mn-cs"/>
              </a:rPr>
              <a:t>SELECT COUNT(*)</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FROM Likes</a:t>
            </a:r>
            <a:br>
              <a:rPr lang="en-US" sz="1200" kern="1200" dirty="0">
                <a:solidFill>
                  <a:schemeClr val="tx1"/>
                </a:solidFill>
                <a:latin typeface="+mn-lt"/>
                <a:ea typeface="+mn-ea"/>
                <a:cs typeface="+mn-cs"/>
              </a:rPr>
            </a:br>
            <a:r>
              <a:rPr lang="en-US" sz="1200" kern="1200" dirty="0">
                <a:solidFill>
                  <a:schemeClr val="tx1"/>
                </a:solidFill>
                <a:latin typeface="+mn-lt"/>
                <a:ea typeface="+mn-ea"/>
                <a:cs typeface="+mn-cs"/>
              </a:rPr>
              <a:t>WHERE </a:t>
            </a:r>
            <a:r>
              <a:rPr lang="en-US" sz="1200" kern="1200" dirty="0" err="1">
                <a:solidFill>
                  <a:schemeClr val="tx1"/>
                </a:solidFill>
                <a:latin typeface="+mn-lt"/>
                <a:ea typeface="+mn-ea"/>
                <a:cs typeface="+mn-cs"/>
              </a:rPr>
              <a:t>PostID</a:t>
            </a:r>
            <a:r>
              <a:rPr lang="en-US" sz="1200" kern="1200" dirty="0">
                <a:solidFill>
                  <a:schemeClr val="tx1"/>
                </a:solidFill>
                <a:latin typeface="+mn-lt"/>
                <a:ea typeface="+mn-ea"/>
                <a:cs typeface="+mn-cs"/>
              </a:rPr>
              <a:t> = 1;</a:t>
            </a:r>
          </a:p>
          <a:p>
            <a:r>
              <a:rPr lang="en-US" dirty="0"/>
              <a:t>For millions of posts, counting repeatedly becomes expensive.</a:t>
            </a:r>
          </a:p>
          <a:p>
            <a:br>
              <a:rPr lang="en-US" dirty="0"/>
            </a:br>
            <a:endParaRPr lang="en-US" dirty="0"/>
          </a:p>
          <a:p>
            <a:r>
              <a:rPr lang="en-US" b="1" dirty="0"/>
              <a:t>De-normalized</a:t>
            </a:r>
          </a:p>
          <a:p>
            <a:r>
              <a:rPr lang="en-US" b="1" dirty="0"/>
              <a:t>Post</a:t>
            </a:r>
          </a:p>
          <a:p>
            <a:r>
              <a:rPr lang="en-US" dirty="0"/>
              <a:t>PostIDContentLikeCount1Hello1250</a:t>
            </a:r>
          </a:p>
          <a:p>
            <a:r>
              <a:rPr lang="en-US" dirty="0"/>
              <a:t>When someone likes the post:</a:t>
            </a:r>
          </a:p>
          <a:p>
            <a:pPr rtl="0"/>
            <a:r>
              <a:rPr lang="en-US" sz="1200" kern="1200" dirty="0" err="1">
                <a:solidFill>
                  <a:schemeClr val="tx1"/>
                </a:solidFill>
                <a:latin typeface="+mn-lt"/>
                <a:ea typeface="+mn-ea"/>
                <a:cs typeface="+mn-cs"/>
              </a:rPr>
              <a:t>LikeCount</a:t>
            </a:r>
            <a:r>
              <a:rPr lang="en-US" sz="1200" kern="1200" dirty="0">
                <a:solidFill>
                  <a:schemeClr val="tx1"/>
                </a:solidFill>
                <a:latin typeface="+mn-lt"/>
                <a:ea typeface="+mn-ea"/>
                <a:cs typeface="+mn-cs"/>
              </a:rPr>
              <a:t> = </a:t>
            </a:r>
            <a:r>
              <a:rPr lang="en-US" sz="1200" kern="1200" dirty="0" err="1">
                <a:solidFill>
                  <a:schemeClr val="tx1"/>
                </a:solidFill>
                <a:latin typeface="+mn-lt"/>
                <a:ea typeface="+mn-ea"/>
                <a:cs typeface="+mn-cs"/>
              </a:rPr>
              <a:t>LikeCount</a:t>
            </a:r>
            <a:r>
              <a:rPr lang="en-US" sz="1200" kern="1200" dirty="0">
                <a:solidFill>
                  <a:schemeClr val="tx1"/>
                </a:solidFill>
                <a:latin typeface="+mn-lt"/>
                <a:ea typeface="+mn-ea"/>
                <a:cs typeface="+mn-cs"/>
              </a:rPr>
              <a:t> + 1</a:t>
            </a:r>
          </a:p>
          <a:p>
            <a:r>
              <a:rPr lang="en-US" dirty="0"/>
              <a:t>No need to count all likes again.</a:t>
            </a:r>
          </a:p>
          <a:p>
            <a:r>
              <a:rPr lang="en-US" b="1" dirty="0"/>
              <a:t>Real Systems</a:t>
            </a:r>
          </a:p>
          <a:p>
            <a:r>
              <a:rPr lang="en-US" dirty="0"/>
              <a:t>Most social media platforms store:</a:t>
            </a:r>
          </a:p>
          <a:p>
            <a:r>
              <a:rPr lang="en-US" dirty="0" err="1"/>
              <a:t>LikeCount</a:t>
            </a:r>
            <a:r>
              <a:rPr lang="en-US" dirty="0"/>
              <a:t> </a:t>
            </a:r>
          </a:p>
          <a:p>
            <a:r>
              <a:rPr lang="en-US" dirty="0" err="1"/>
              <a:t>CommentCount</a:t>
            </a:r>
            <a:r>
              <a:rPr lang="en-US" dirty="0"/>
              <a:t> </a:t>
            </a:r>
          </a:p>
          <a:p>
            <a:r>
              <a:rPr lang="en-US" dirty="0" err="1"/>
              <a:t>ShareCount</a:t>
            </a:r>
            <a:r>
              <a:rPr lang="en-US" dirty="0"/>
              <a:t> </a:t>
            </a:r>
          </a:p>
          <a:p>
            <a:r>
              <a:rPr lang="en-US" dirty="0" err="1"/>
              <a:t>ViewCount</a:t>
            </a:r>
            <a:r>
              <a:rPr lang="en-US" dirty="0"/>
              <a:t> </a:t>
            </a:r>
          </a:p>
          <a:p>
            <a:r>
              <a:rPr lang="en-US" dirty="0"/>
              <a:t>These are de-normalized fields.</a:t>
            </a:r>
          </a:p>
          <a:p>
            <a:br>
              <a:rPr lang="en-US" dirty="0"/>
            </a:br>
            <a:endParaRPr lang="en-US" dirty="0"/>
          </a:p>
          <a:p>
            <a:r>
              <a:rPr lang="en-US" b="1" dirty="0"/>
              <a:t>Case 6: Banking Statements</a:t>
            </a:r>
          </a:p>
          <a:p>
            <a:r>
              <a:rPr lang="en-US" b="1" dirty="0"/>
              <a:t>Normalized</a:t>
            </a:r>
          </a:p>
          <a:p>
            <a:r>
              <a:rPr lang="en-US" b="1" dirty="0"/>
              <a:t>Customer</a:t>
            </a:r>
          </a:p>
          <a:p>
            <a:r>
              <a:rPr lang="en-US" dirty="0" err="1"/>
              <a:t>CustomerIDName</a:t>
            </a:r>
            <a:endParaRPr lang="en-US" dirty="0"/>
          </a:p>
          <a:p>
            <a:r>
              <a:rPr lang="en-US" b="1" dirty="0"/>
              <a:t>Transaction</a:t>
            </a:r>
          </a:p>
          <a:p>
            <a:r>
              <a:rPr lang="en-US" dirty="0" err="1"/>
              <a:t>TransactionIDCustomerID</a:t>
            </a:r>
            <a:endParaRPr lang="en-US" dirty="0"/>
          </a:p>
          <a:p>
            <a:r>
              <a:rPr lang="en-US" dirty="0"/>
              <a:t>Statement generation requires joins.</a:t>
            </a:r>
          </a:p>
          <a:p>
            <a:br>
              <a:rPr lang="en-US" dirty="0"/>
            </a:br>
            <a:endParaRPr lang="en-US" dirty="0"/>
          </a:p>
          <a:p>
            <a:r>
              <a:rPr lang="en-US" b="1" dirty="0"/>
              <a:t>De-normalized</a:t>
            </a:r>
          </a:p>
          <a:p>
            <a:r>
              <a:rPr lang="en-US" b="1" dirty="0"/>
              <a:t>Transaction</a:t>
            </a:r>
          </a:p>
          <a:p>
            <a:r>
              <a:rPr lang="en-US" dirty="0" err="1"/>
              <a:t>TransactionIDCustomerIDCustomerName</a:t>
            </a:r>
            <a:endParaRPr lang="en-US" dirty="0"/>
          </a:p>
          <a:p>
            <a:r>
              <a:rPr lang="en-US" dirty="0"/>
              <a:t>Historical transactions remain intact even if customer details change later.</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87</a:t>
            </a:fld>
            <a:endParaRPr lang="en-US"/>
          </a:p>
        </p:txBody>
      </p:sp>
    </p:spTree>
    <p:extLst>
      <p:ext uri="{BB962C8B-B14F-4D97-AF65-F5344CB8AC3E}">
        <p14:creationId xmlns:p14="http://schemas.microsoft.com/office/powerpoint/2010/main" val="422522526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88</a:t>
            </a:fld>
            <a:endParaRPr lang="en-US"/>
          </a:p>
        </p:txBody>
      </p:sp>
    </p:spTree>
    <p:extLst>
      <p:ext uri="{BB962C8B-B14F-4D97-AF65-F5344CB8AC3E}">
        <p14:creationId xmlns:p14="http://schemas.microsoft.com/office/powerpoint/2010/main" val="37475578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Question 4: Normalization Case Study</a:t>
            </a:r>
          </a:p>
          <a:p>
            <a:r>
              <a:rPr lang="en-US" dirty="0"/>
              <a:t>An online bookstore maintains the following relation:</a:t>
            </a:r>
          </a:p>
          <a:p>
            <a:r>
              <a:rPr lang="en-US" dirty="0" err="1"/>
              <a:t>OrderIDCustomerNameCustomerAddressBookIDBookTitleQuantity</a:t>
            </a:r>
            <a:endParaRPr lang="en-US" dirty="0"/>
          </a:p>
          <a:p>
            <a:r>
              <a:rPr lang="en-US" dirty="0"/>
              <a:t>Analyze the relation and:</a:t>
            </a:r>
          </a:p>
          <a:p>
            <a:r>
              <a:rPr lang="en-US" dirty="0"/>
              <a:t>Identify redundancy issues. </a:t>
            </a:r>
          </a:p>
          <a:p>
            <a:r>
              <a:rPr lang="en-US" dirty="0"/>
              <a:t>Discuss possible insertion, deletion, and update anomalies. </a:t>
            </a:r>
          </a:p>
          <a:p>
            <a:r>
              <a:rPr lang="en-US" dirty="0"/>
              <a:t>Convert the relation into: </a:t>
            </a:r>
          </a:p>
          <a:p>
            <a:pPr lvl="1"/>
            <a:r>
              <a:rPr lang="en-US" dirty="0"/>
              <a:t>1NF </a:t>
            </a:r>
          </a:p>
          <a:p>
            <a:pPr lvl="1"/>
            <a:r>
              <a:rPr lang="en-US" dirty="0"/>
              <a:t>2NF </a:t>
            </a:r>
          </a:p>
          <a:p>
            <a:pPr lvl="1"/>
            <a:r>
              <a:rPr lang="en-US" dirty="0"/>
              <a:t>3NF </a:t>
            </a:r>
          </a:p>
          <a:p>
            <a:r>
              <a:rPr lang="en-US" dirty="0"/>
              <a:t>Justify each decomposition. </a:t>
            </a:r>
          </a:p>
          <a:p>
            <a:br>
              <a:rPr lang="en-US" dirty="0"/>
            </a:br>
            <a:endParaRPr lang="en-US" dirty="0"/>
          </a:p>
          <a:p>
            <a:r>
              <a:rPr lang="en-US" b="1" dirty="0"/>
              <a:t>Question 5: BCNF Evaluation</a:t>
            </a:r>
          </a:p>
          <a:p>
            <a:r>
              <a:rPr lang="en-US" dirty="0"/>
              <a:t>Given:</a:t>
            </a:r>
          </a:p>
          <a:p>
            <a:r>
              <a:rPr lang="en-US" b="1" dirty="0"/>
              <a:t>R(StudentID, </a:t>
            </a:r>
            <a:r>
              <a:rPr lang="en-US" b="1" dirty="0" err="1"/>
              <a:t>CourseID</a:t>
            </a:r>
            <a:r>
              <a:rPr lang="en-US" b="1" dirty="0"/>
              <a:t>, Instructor)</a:t>
            </a:r>
            <a:endParaRPr lang="en-US" dirty="0"/>
          </a:p>
          <a:p>
            <a:r>
              <a:rPr lang="en-US" dirty="0"/>
              <a:t>Functional Dependencies:</a:t>
            </a:r>
          </a:p>
          <a:p>
            <a:r>
              <a:rPr lang="en-US" dirty="0"/>
              <a:t>StudentID, </a:t>
            </a:r>
            <a:r>
              <a:rPr lang="en-US" dirty="0" err="1"/>
              <a:t>CourseID</a:t>
            </a:r>
            <a:r>
              <a:rPr lang="en-US" dirty="0"/>
              <a:t> → Instructor </a:t>
            </a:r>
          </a:p>
          <a:p>
            <a:r>
              <a:rPr lang="en-US" dirty="0"/>
              <a:t>Instructor → </a:t>
            </a:r>
            <a:r>
              <a:rPr lang="en-US" dirty="0" err="1"/>
              <a:t>CourseID</a:t>
            </a:r>
            <a:r>
              <a:rPr lang="en-US" dirty="0"/>
              <a:t> </a:t>
            </a:r>
          </a:p>
          <a:p>
            <a:r>
              <a:rPr lang="en-US" dirty="0"/>
              <a:t>Tasks:</a:t>
            </a:r>
          </a:p>
          <a:p>
            <a:r>
              <a:rPr lang="en-US" dirty="0"/>
              <a:t>Determine the candidate keys. </a:t>
            </a:r>
          </a:p>
          <a:p>
            <a:r>
              <a:rPr lang="en-US" dirty="0"/>
              <a:t>Check whether the relation is in: </a:t>
            </a:r>
          </a:p>
          <a:p>
            <a:pPr lvl="1"/>
            <a:r>
              <a:rPr lang="en-US" dirty="0"/>
              <a:t>1NF </a:t>
            </a:r>
          </a:p>
          <a:p>
            <a:pPr lvl="1"/>
            <a:r>
              <a:rPr lang="en-US" dirty="0"/>
              <a:t>2NF </a:t>
            </a:r>
          </a:p>
          <a:p>
            <a:pPr lvl="1"/>
            <a:r>
              <a:rPr lang="en-US" dirty="0"/>
              <a:t>3NF </a:t>
            </a:r>
          </a:p>
          <a:p>
            <a:pPr lvl="1"/>
            <a:r>
              <a:rPr lang="en-US" dirty="0"/>
              <a:t>BCNF </a:t>
            </a:r>
          </a:p>
          <a:p>
            <a:r>
              <a:rPr lang="en-US" dirty="0"/>
              <a:t>If BCNF is violated, perform BCNF decomposition and explain why. </a:t>
            </a:r>
          </a:p>
          <a:p>
            <a:br>
              <a:rPr lang="en-US" dirty="0"/>
            </a:br>
            <a:endParaRPr lang="en-US" dirty="0"/>
          </a:p>
          <a:p>
            <a:r>
              <a:rPr lang="en-US" b="1" dirty="0"/>
              <a:t>Question 6: De-normalization for Performance</a:t>
            </a:r>
          </a:p>
          <a:p>
            <a:r>
              <a:rPr lang="en-US" dirty="0"/>
              <a:t>A large e-commerce platform stores:</a:t>
            </a:r>
          </a:p>
          <a:p>
            <a:r>
              <a:rPr lang="en-US" dirty="0"/>
              <a:t>Customer(</a:t>
            </a:r>
            <a:r>
              <a:rPr lang="en-US" dirty="0" err="1"/>
              <a:t>CustomerID</a:t>
            </a:r>
            <a:r>
              <a:rPr lang="en-US" dirty="0"/>
              <a:t>, Name, Email) </a:t>
            </a:r>
          </a:p>
          <a:p>
            <a:r>
              <a:rPr lang="en-US" dirty="0"/>
              <a:t>Orders(</a:t>
            </a:r>
            <a:r>
              <a:rPr lang="en-US" dirty="0" err="1"/>
              <a:t>OrderID</a:t>
            </a:r>
            <a:r>
              <a:rPr lang="en-US" dirty="0"/>
              <a:t>, </a:t>
            </a:r>
            <a:r>
              <a:rPr lang="en-US" dirty="0" err="1"/>
              <a:t>CustomerID</a:t>
            </a:r>
            <a:r>
              <a:rPr lang="en-US" dirty="0"/>
              <a:t>, </a:t>
            </a:r>
            <a:r>
              <a:rPr lang="en-US" dirty="0" err="1"/>
              <a:t>OrderDate</a:t>
            </a:r>
            <a:r>
              <a:rPr lang="en-US" dirty="0"/>
              <a:t>) </a:t>
            </a:r>
          </a:p>
          <a:p>
            <a:r>
              <a:rPr lang="en-US" dirty="0"/>
              <a:t>The reporting team frequently generates reports containing:</a:t>
            </a:r>
          </a:p>
          <a:p>
            <a:r>
              <a:rPr lang="en-US" dirty="0" err="1"/>
              <a:t>OrderID</a:t>
            </a:r>
            <a:r>
              <a:rPr lang="en-US" dirty="0"/>
              <a:t> </a:t>
            </a:r>
          </a:p>
          <a:p>
            <a:r>
              <a:rPr lang="en-US" dirty="0" err="1"/>
              <a:t>CustomerName</a:t>
            </a:r>
            <a:r>
              <a:rPr lang="en-US" dirty="0"/>
              <a:t> </a:t>
            </a:r>
          </a:p>
          <a:p>
            <a:r>
              <a:rPr lang="en-US" dirty="0" err="1"/>
              <a:t>CustomerEmail</a:t>
            </a:r>
            <a:r>
              <a:rPr lang="en-US" dirty="0"/>
              <a:t> </a:t>
            </a:r>
          </a:p>
          <a:p>
            <a:r>
              <a:rPr lang="en-US" dirty="0" err="1"/>
              <a:t>OrderDate</a:t>
            </a:r>
            <a:r>
              <a:rPr lang="en-US" dirty="0"/>
              <a:t> </a:t>
            </a:r>
          </a:p>
          <a:p>
            <a:r>
              <a:rPr lang="en-US" dirty="0"/>
              <a:t>Tasks:</a:t>
            </a:r>
          </a:p>
          <a:p>
            <a:r>
              <a:rPr lang="en-US" dirty="0"/>
              <a:t>Explain the joins required in the normalized design. </a:t>
            </a:r>
          </a:p>
          <a:p>
            <a:r>
              <a:rPr lang="en-US" dirty="0"/>
              <a:t>Propose a de-normalized design. </a:t>
            </a:r>
          </a:p>
          <a:p>
            <a:r>
              <a:rPr lang="en-US" dirty="0"/>
              <a:t>Discuss performance benefits. </a:t>
            </a:r>
          </a:p>
          <a:p>
            <a:r>
              <a:rPr lang="en-US" dirty="0"/>
              <a:t>Analyze possible risks and consistency issues introduced by de-normalization. </a:t>
            </a:r>
          </a:p>
          <a:p>
            <a:r>
              <a:rPr lang="en-US" dirty="0"/>
              <a:t>Recommend whether de-normalization should be implemented and justify your answer.</a:t>
            </a:r>
          </a:p>
          <a:p>
            <a:endParaRPr lang="en-US" dirty="0"/>
          </a:p>
        </p:txBody>
      </p:sp>
      <p:sp>
        <p:nvSpPr>
          <p:cNvPr id="4" name="Slide Number Placeholder 3"/>
          <p:cNvSpPr>
            <a:spLocks noGrp="1"/>
          </p:cNvSpPr>
          <p:nvPr>
            <p:ph type="sldNum" sz="quarter" idx="5"/>
          </p:nvPr>
        </p:nvSpPr>
        <p:spPr/>
        <p:txBody>
          <a:bodyPr/>
          <a:lstStyle/>
          <a:p>
            <a:fld id="{532ED260-D111-491D-AB9F-FC8569A2A916}" type="slidenum">
              <a:rPr lang="en-US" smtClean="0"/>
              <a:t>89</a:t>
            </a:fld>
            <a:endParaRPr lang="en-US"/>
          </a:p>
        </p:txBody>
      </p:sp>
    </p:spTree>
    <p:extLst>
      <p:ext uri="{BB962C8B-B14F-4D97-AF65-F5344CB8AC3E}">
        <p14:creationId xmlns:p14="http://schemas.microsoft.com/office/powerpoint/2010/main" val="18784231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FE69D54-FA1C-4D9A-AFB3-4E944F34CC09}"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5D5CB-4213-4614-B9B5-778CED923BCA}"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295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FE69D54-FA1C-4D9A-AFB3-4E944F34CC09}"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401742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E69D54-FA1C-4D9A-AFB3-4E944F34CC09}"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5D5CB-4213-4614-B9B5-778CED923BCA}"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51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FE69D54-FA1C-4D9A-AFB3-4E944F34CC09}" type="datetimeFigureOut">
              <a:rPr lang="en-US" smtClean="0"/>
              <a:t>6/17/2026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922856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FE69D54-FA1C-4D9A-AFB3-4E944F34CC09}" type="datetimeFigureOut">
              <a:rPr lang="en-US" smtClean="0"/>
              <a:t>6/17/2026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8140637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FE69D54-FA1C-4D9A-AFB3-4E944F34CC09}" type="datetimeFigureOut">
              <a:rPr lang="en-US" smtClean="0"/>
              <a:t>6/17/2026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1205204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BFE69D54-FA1C-4D9A-AFB3-4E944F34CC09}" type="datetimeFigureOut">
              <a:rPr lang="en-US" smtClean="0"/>
              <a:t>6/17/2026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5759705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BFE69D54-FA1C-4D9A-AFB3-4E944F34CC09}" type="datetimeFigureOut">
              <a:rPr lang="en-US" smtClean="0"/>
              <a:t>6/17/2026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5EF5D5CB-4213-4614-B9B5-778CED923BCA}" type="slidenum">
              <a:rPr lang="en-US" smtClean="0"/>
              <a:t>‹#›</a:t>
            </a:fld>
            <a:endParaRPr lang="en-US"/>
          </a:p>
        </p:txBody>
      </p:sp>
    </p:spTree>
    <p:extLst>
      <p:ext uri="{BB962C8B-B14F-4D97-AF65-F5344CB8AC3E}">
        <p14:creationId xmlns:p14="http://schemas.microsoft.com/office/powerpoint/2010/main" val="115448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FE69D54-FA1C-4D9A-AFB3-4E944F34CC09}" type="datetimeFigureOut">
              <a:rPr lang="en-US" smtClean="0"/>
              <a:t>6/17/2026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3295804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FE69D54-FA1C-4D9A-AFB3-4E944F34CC09}"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4366881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FE69D54-FA1C-4D9A-AFB3-4E944F34CC09}" type="datetimeFigureOut">
              <a:rPr lang="en-US" smtClean="0"/>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5D5CB-4213-4614-B9B5-778CED923BCA}" type="slidenum">
              <a:rPr lang="en-US" smtClean="0"/>
              <a:t>‹#›</a:t>
            </a:fld>
            <a:endParaRPr lang="en-US"/>
          </a:p>
        </p:txBody>
      </p:sp>
    </p:spTree>
    <p:extLst>
      <p:ext uri="{BB962C8B-B14F-4D97-AF65-F5344CB8AC3E}">
        <p14:creationId xmlns:p14="http://schemas.microsoft.com/office/powerpoint/2010/main" val="4140486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BFE69D54-FA1C-4D9A-AFB3-4E944F34CC09}" type="datetimeFigureOut">
              <a:rPr lang="en-US" smtClean="0"/>
              <a:t>6/17/2026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5EF5D5CB-4213-4614-B9B5-778CED923BCA}"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7070087"/>
      </p:ext>
    </p:extLst>
  </p:cSld>
  <p:clrMap bg1="lt1" tx1="dk1" bg2="lt2" tx2="dk2" accent1="accent1" accent2="accent2" accent3="accent3" accent4="accent4" accent5="accent5" accent6="accent6" hlink="hlink" folHlink="folHlink"/>
  <p:sldLayoutIdLst>
    <p:sldLayoutId id="2147483849" r:id="rId1"/>
    <p:sldLayoutId id="2147483850" r:id="rId2"/>
    <p:sldLayoutId id="2147483851" r:id="rId3"/>
    <p:sldLayoutId id="2147483852" r:id="rId4"/>
    <p:sldLayoutId id="2147483853" r:id="rId5"/>
    <p:sldLayoutId id="2147483854" r:id="rId6"/>
    <p:sldLayoutId id="2147483855" r:id="rId7"/>
    <p:sldLayoutId id="2147483856" r:id="rId8"/>
    <p:sldLayoutId id="2147483857" r:id="rId9"/>
    <p:sldLayoutId id="2147483858" r:id="rId10"/>
    <p:sldLayoutId id="2147483859"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F92FD-177D-09D1-F99D-F97142F5255D}"/>
              </a:ext>
            </a:extLst>
          </p:cNvPr>
          <p:cNvSpPr>
            <a:spLocks noGrp="1"/>
          </p:cNvSpPr>
          <p:nvPr>
            <p:ph type="ctrTitle"/>
          </p:nvPr>
        </p:nvSpPr>
        <p:spPr/>
        <p:txBody>
          <a:bodyPr/>
          <a:lstStyle/>
          <a:p>
            <a:r>
              <a:rPr lang="en-US" dirty="0"/>
              <a:t>Unit 4: Relational Database Design</a:t>
            </a:r>
          </a:p>
        </p:txBody>
      </p:sp>
      <p:sp>
        <p:nvSpPr>
          <p:cNvPr id="3" name="Subtitle 2">
            <a:extLst>
              <a:ext uri="{FF2B5EF4-FFF2-40B4-BE49-F238E27FC236}">
                <a16:creationId xmlns:a16="http://schemas.microsoft.com/office/drawing/2014/main" id="{226880BC-5E15-C96D-53C8-42C54B9E05F4}"/>
              </a:ext>
            </a:extLst>
          </p:cNvPr>
          <p:cNvSpPr>
            <a:spLocks noGrp="1"/>
          </p:cNvSpPr>
          <p:nvPr>
            <p:ph type="subTitle" idx="1"/>
          </p:nvPr>
        </p:nvSpPr>
        <p:spPr/>
        <p:txBody>
          <a:bodyPr/>
          <a:lstStyle/>
          <a:p>
            <a:r>
              <a:rPr lang="en-US" dirty="0"/>
              <a:t>Kapil@nast.edu.np</a:t>
            </a:r>
          </a:p>
        </p:txBody>
      </p:sp>
    </p:spTree>
    <p:extLst>
      <p:ext uri="{BB962C8B-B14F-4D97-AF65-F5344CB8AC3E}">
        <p14:creationId xmlns:p14="http://schemas.microsoft.com/office/powerpoint/2010/main" val="37697569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CE064-23E7-CF00-BA02-E0567AF0075B}"/>
              </a:ext>
            </a:extLst>
          </p:cNvPr>
          <p:cNvSpPr>
            <a:spLocks noGrp="1"/>
          </p:cNvSpPr>
          <p:nvPr>
            <p:ph type="title"/>
          </p:nvPr>
        </p:nvSpPr>
        <p:spPr/>
        <p:txBody>
          <a:bodyPr/>
          <a:lstStyle/>
          <a:p>
            <a:r>
              <a:rPr lang="en-US" dirty="0"/>
              <a:t>Contents </a:t>
            </a:r>
          </a:p>
        </p:txBody>
      </p:sp>
      <p:sp>
        <p:nvSpPr>
          <p:cNvPr id="3" name="Content Placeholder 2">
            <a:extLst>
              <a:ext uri="{FF2B5EF4-FFF2-40B4-BE49-F238E27FC236}">
                <a16:creationId xmlns:a16="http://schemas.microsoft.com/office/drawing/2014/main" id="{35D99880-F3BF-CC5A-AB68-1F9B9297DC0B}"/>
              </a:ext>
            </a:extLst>
          </p:cNvPr>
          <p:cNvSpPr>
            <a:spLocks noGrp="1"/>
          </p:cNvSpPr>
          <p:nvPr>
            <p:ph idx="1"/>
          </p:nvPr>
        </p:nvSpPr>
        <p:spPr>
          <a:xfrm>
            <a:off x="677334" y="2160589"/>
            <a:ext cx="6957906" cy="3880773"/>
          </a:xfrm>
        </p:spPr>
        <p:txBody>
          <a:bodyPr>
            <a:normAutofit/>
          </a:bodyPr>
          <a:lstStyle/>
          <a:p>
            <a:pPr marL="457200" indent="-457200">
              <a:buFont typeface="+mj-lt"/>
              <a:buAutoNum type="arabicPeriod"/>
            </a:pPr>
            <a:r>
              <a:rPr lang="en-US" dirty="0"/>
              <a:t>Integrity constraints- Domain Constraints, Entity Integrity Constrains, Referential Integrity Constraints, Assertions and Triggers</a:t>
            </a:r>
          </a:p>
          <a:p>
            <a:pPr marL="457200" indent="-457200">
              <a:buFont typeface="+mj-lt"/>
              <a:buAutoNum type="arabicPeriod"/>
            </a:pPr>
            <a:r>
              <a:rPr lang="en-US" dirty="0"/>
              <a:t>Features of Good Relational Designs</a:t>
            </a:r>
          </a:p>
          <a:p>
            <a:pPr marL="457200" indent="-457200">
              <a:buFont typeface="+mj-lt"/>
              <a:buAutoNum type="arabicPeriod"/>
            </a:pPr>
            <a:r>
              <a:rPr lang="en-US" dirty="0"/>
              <a:t>Functional dependencies and Armstrong’s Axioms</a:t>
            </a:r>
          </a:p>
          <a:p>
            <a:pPr marL="457200" indent="-457200">
              <a:buFont typeface="+mj-lt"/>
              <a:buAutoNum type="arabicPeriod"/>
            </a:pPr>
            <a:r>
              <a:rPr lang="en-US" dirty="0"/>
              <a:t>Closure of a Set of Functional Dependencies and Closure of Attribute Sets</a:t>
            </a:r>
          </a:p>
          <a:p>
            <a:pPr marL="457200" indent="-457200">
              <a:buFont typeface="+mj-lt"/>
              <a:buAutoNum type="arabicPeriod"/>
            </a:pPr>
            <a:r>
              <a:rPr lang="en-US" dirty="0"/>
              <a:t>Database Normalization and Normal Forms- 1NF, 2NF, 3NF and BCNF</a:t>
            </a:r>
          </a:p>
          <a:p>
            <a:pPr marL="457200" indent="-457200">
              <a:buFont typeface="+mj-lt"/>
              <a:buAutoNum type="arabicPeriod"/>
            </a:pPr>
            <a:r>
              <a:rPr lang="en-US" dirty="0"/>
              <a:t>De-normalization for Performance</a:t>
            </a:r>
          </a:p>
        </p:txBody>
      </p:sp>
    </p:spTree>
    <p:extLst>
      <p:ext uri="{BB962C8B-B14F-4D97-AF65-F5344CB8AC3E}">
        <p14:creationId xmlns:p14="http://schemas.microsoft.com/office/powerpoint/2010/main" val="19373627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804F9-DEBB-3E5B-9D42-2C9AAD2B9B39}"/>
              </a:ext>
            </a:extLst>
          </p:cNvPr>
          <p:cNvSpPr>
            <a:spLocks noGrp="1"/>
          </p:cNvSpPr>
          <p:nvPr>
            <p:ph type="title"/>
          </p:nvPr>
        </p:nvSpPr>
        <p:spPr/>
        <p:txBody>
          <a:bodyPr/>
          <a:lstStyle/>
          <a:p>
            <a:r>
              <a:rPr lang="en-US" dirty="0"/>
              <a:t>What is Relational Database Design?</a:t>
            </a:r>
          </a:p>
        </p:txBody>
      </p:sp>
      <p:graphicFrame>
        <p:nvGraphicFramePr>
          <p:cNvPr id="7" name="Content Placeholder 6">
            <a:extLst>
              <a:ext uri="{FF2B5EF4-FFF2-40B4-BE49-F238E27FC236}">
                <a16:creationId xmlns:a16="http://schemas.microsoft.com/office/drawing/2014/main" id="{3CC66ACF-F08A-EE2D-A792-353F32C9F669}"/>
              </a:ext>
            </a:extLst>
          </p:cNvPr>
          <p:cNvGraphicFramePr>
            <a:graphicFrameLocks noGrp="1"/>
          </p:cNvGraphicFramePr>
          <p:nvPr>
            <p:ph idx="1"/>
            <p:extLst>
              <p:ext uri="{D42A27DB-BD31-4B8C-83A1-F6EECF244321}">
                <p14:modId xmlns:p14="http://schemas.microsoft.com/office/powerpoint/2010/main" val="1617245964"/>
              </p:ext>
            </p:extLst>
          </p:nvPr>
        </p:nvGraphicFramePr>
        <p:xfrm>
          <a:off x="1097280" y="4876453"/>
          <a:ext cx="8596312" cy="1483360"/>
        </p:xfrm>
        <a:graphic>
          <a:graphicData uri="http://schemas.openxmlformats.org/drawingml/2006/table">
            <a:tbl>
              <a:tblPr firstRow="1" bandRow="1">
                <a:tableStyleId>{5C22544A-7EE6-4342-B048-85BDC9FD1C3A}</a:tableStyleId>
              </a:tblPr>
              <a:tblGrid>
                <a:gridCol w="2149078">
                  <a:extLst>
                    <a:ext uri="{9D8B030D-6E8A-4147-A177-3AD203B41FA5}">
                      <a16:colId xmlns:a16="http://schemas.microsoft.com/office/drawing/2014/main" val="4130872777"/>
                    </a:ext>
                  </a:extLst>
                </a:gridCol>
                <a:gridCol w="2149078">
                  <a:extLst>
                    <a:ext uri="{9D8B030D-6E8A-4147-A177-3AD203B41FA5}">
                      <a16:colId xmlns:a16="http://schemas.microsoft.com/office/drawing/2014/main" val="3891184594"/>
                    </a:ext>
                  </a:extLst>
                </a:gridCol>
                <a:gridCol w="2149078">
                  <a:extLst>
                    <a:ext uri="{9D8B030D-6E8A-4147-A177-3AD203B41FA5}">
                      <a16:colId xmlns:a16="http://schemas.microsoft.com/office/drawing/2014/main" val="877656399"/>
                    </a:ext>
                  </a:extLst>
                </a:gridCol>
                <a:gridCol w="2149078">
                  <a:extLst>
                    <a:ext uri="{9D8B030D-6E8A-4147-A177-3AD203B41FA5}">
                      <a16:colId xmlns:a16="http://schemas.microsoft.com/office/drawing/2014/main" val="3803703379"/>
                    </a:ext>
                  </a:extLst>
                </a:gridCol>
              </a:tblGrid>
              <a:tr h="370840">
                <a:tc>
                  <a:txBody>
                    <a:bodyPr/>
                    <a:lstStyle/>
                    <a:p>
                      <a:pPr>
                        <a:buNone/>
                      </a:pPr>
                      <a:r>
                        <a:rPr lang="en-US" dirty="0"/>
                        <a:t>Roll No</a:t>
                      </a:r>
                    </a:p>
                  </a:txBody>
                  <a:tcPr anchor="ctr"/>
                </a:tc>
                <a:tc>
                  <a:txBody>
                    <a:bodyPr/>
                    <a:lstStyle/>
                    <a:p>
                      <a:pPr>
                        <a:buNone/>
                      </a:pPr>
                      <a:r>
                        <a:rPr lang="en-US"/>
                        <a:t>Name</a:t>
                      </a:r>
                    </a:p>
                  </a:txBody>
                  <a:tcPr anchor="ctr"/>
                </a:tc>
                <a:tc>
                  <a:txBody>
                    <a:bodyPr/>
                    <a:lstStyle/>
                    <a:p>
                      <a:pPr>
                        <a:buNone/>
                      </a:pPr>
                      <a:r>
                        <a:rPr lang="en-US"/>
                        <a:t>Address</a:t>
                      </a:r>
                    </a:p>
                  </a:txBody>
                  <a:tcPr anchor="ctr"/>
                </a:tc>
                <a:tc>
                  <a:txBody>
                    <a:bodyPr/>
                    <a:lstStyle/>
                    <a:p>
                      <a:endParaRPr lang="en-US"/>
                    </a:p>
                  </a:txBody>
                  <a:tcPr/>
                </a:tc>
                <a:extLst>
                  <a:ext uri="{0D108BD9-81ED-4DB2-BD59-A6C34878D82A}">
                    <a16:rowId xmlns:a16="http://schemas.microsoft.com/office/drawing/2014/main" val="635587097"/>
                  </a:ext>
                </a:extLst>
              </a:tr>
              <a:tr h="370840">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Kathmandu</a:t>
                      </a:r>
                    </a:p>
                  </a:txBody>
                  <a:tcPr anchor="ctr"/>
                </a:tc>
                <a:tc>
                  <a:txBody>
                    <a:bodyPr/>
                    <a:lstStyle/>
                    <a:p>
                      <a:endParaRPr lang="en-US"/>
                    </a:p>
                  </a:txBody>
                  <a:tcPr/>
                </a:tc>
                <a:extLst>
                  <a:ext uri="{0D108BD9-81ED-4DB2-BD59-A6C34878D82A}">
                    <a16:rowId xmlns:a16="http://schemas.microsoft.com/office/drawing/2014/main" val="3931342870"/>
                  </a:ext>
                </a:extLst>
              </a:tr>
              <a:tr h="370840">
                <a:tc>
                  <a:txBody>
                    <a:bodyPr/>
                    <a:lstStyle/>
                    <a:p>
                      <a:pPr>
                        <a:buNone/>
                      </a:pPr>
                      <a:r>
                        <a:rPr lang="en-US"/>
                        <a:t>102</a:t>
                      </a:r>
                    </a:p>
                  </a:txBody>
                  <a:tcPr anchor="ctr"/>
                </a:tc>
                <a:tc>
                  <a:txBody>
                    <a:bodyPr/>
                    <a:lstStyle/>
                    <a:p>
                      <a:pPr>
                        <a:buNone/>
                      </a:pPr>
                      <a:r>
                        <a:rPr lang="en-US"/>
                        <a:t>Sita</a:t>
                      </a:r>
                    </a:p>
                  </a:txBody>
                  <a:tcPr anchor="ctr"/>
                </a:tc>
                <a:tc>
                  <a:txBody>
                    <a:bodyPr/>
                    <a:lstStyle/>
                    <a:p>
                      <a:pPr>
                        <a:buNone/>
                      </a:pPr>
                      <a:r>
                        <a:rPr lang="en-US" dirty="0"/>
                        <a:t>Pokhara</a:t>
                      </a:r>
                    </a:p>
                  </a:txBody>
                  <a:tcPr anchor="ctr"/>
                </a:tc>
                <a:tc>
                  <a:txBody>
                    <a:bodyPr/>
                    <a:lstStyle/>
                    <a:p>
                      <a:endParaRPr lang="en-US" dirty="0"/>
                    </a:p>
                  </a:txBody>
                  <a:tcPr/>
                </a:tc>
                <a:extLst>
                  <a:ext uri="{0D108BD9-81ED-4DB2-BD59-A6C34878D82A}">
                    <a16:rowId xmlns:a16="http://schemas.microsoft.com/office/drawing/2014/main" val="1555501306"/>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709225861"/>
                  </a:ext>
                </a:extLst>
              </a:tr>
            </a:tbl>
          </a:graphicData>
        </a:graphic>
      </p:graphicFrame>
      <p:sp>
        <p:nvSpPr>
          <p:cNvPr id="4" name="Content Placeholder 2">
            <a:extLst>
              <a:ext uri="{FF2B5EF4-FFF2-40B4-BE49-F238E27FC236}">
                <a16:creationId xmlns:a16="http://schemas.microsoft.com/office/drawing/2014/main" id="{420166AC-8EA3-0E0E-5E62-656783995031}"/>
              </a:ext>
            </a:extLst>
          </p:cNvPr>
          <p:cNvSpPr txBox="1">
            <a:spLocks/>
          </p:cNvSpPr>
          <p:nvPr/>
        </p:nvSpPr>
        <p:spPr>
          <a:xfrm>
            <a:off x="676978" y="1737360"/>
            <a:ext cx="859666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Relational database design is the process of organizing data into relations (tables) to:</a:t>
            </a:r>
          </a:p>
          <a:p>
            <a:r>
              <a:rPr lang="en-US" dirty="0"/>
              <a:t>Reduce redundancy </a:t>
            </a:r>
          </a:p>
          <a:p>
            <a:r>
              <a:rPr lang="en-US" dirty="0"/>
              <a:t>Improve consistency </a:t>
            </a:r>
          </a:p>
          <a:p>
            <a:r>
              <a:rPr lang="en-US" dirty="0"/>
              <a:t>Ensure data integrity </a:t>
            </a:r>
          </a:p>
          <a:p>
            <a:r>
              <a:rPr lang="en-US" dirty="0"/>
              <a:t>Simplify data retrieval </a:t>
            </a:r>
          </a:p>
          <a:p>
            <a:r>
              <a:rPr lang="en-US" dirty="0"/>
              <a:t>Maintain relationships among data</a:t>
            </a:r>
          </a:p>
          <a:p>
            <a:pPr marL="0" indent="0">
              <a:buNone/>
            </a:pPr>
            <a:r>
              <a:rPr lang="en-US" dirty="0"/>
              <a:t>A well-designed database stores data efficiently and avoids duplication.</a:t>
            </a:r>
          </a:p>
        </p:txBody>
      </p:sp>
    </p:spTree>
    <p:extLst>
      <p:ext uri="{BB962C8B-B14F-4D97-AF65-F5344CB8AC3E}">
        <p14:creationId xmlns:p14="http://schemas.microsoft.com/office/powerpoint/2010/main" val="1244441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FAC16-3858-4E0E-BAB1-A0D2BDEF4CA8}"/>
              </a:ext>
            </a:extLst>
          </p:cNvPr>
          <p:cNvSpPr>
            <a:spLocks noGrp="1"/>
          </p:cNvSpPr>
          <p:nvPr>
            <p:ph type="title"/>
          </p:nvPr>
        </p:nvSpPr>
        <p:spPr/>
        <p:txBody>
          <a:bodyPr/>
          <a:lstStyle/>
          <a:p>
            <a:r>
              <a:rPr lang="en-US" dirty="0"/>
              <a:t>Integrity Constraints</a:t>
            </a:r>
          </a:p>
        </p:txBody>
      </p:sp>
      <p:sp>
        <p:nvSpPr>
          <p:cNvPr id="3" name="Content Placeholder 2">
            <a:extLst>
              <a:ext uri="{FF2B5EF4-FFF2-40B4-BE49-F238E27FC236}">
                <a16:creationId xmlns:a16="http://schemas.microsoft.com/office/drawing/2014/main" id="{BB920212-A238-4579-0A33-D32FCFBC14D9}"/>
              </a:ext>
            </a:extLst>
          </p:cNvPr>
          <p:cNvSpPr>
            <a:spLocks noGrp="1"/>
          </p:cNvSpPr>
          <p:nvPr>
            <p:ph idx="1"/>
          </p:nvPr>
        </p:nvSpPr>
        <p:spPr/>
        <p:txBody>
          <a:bodyPr>
            <a:normAutofit lnSpcReduction="10000"/>
          </a:bodyPr>
          <a:lstStyle/>
          <a:p>
            <a:r>
              <a:rPr lang="en-US" dirty="0"/>
              <a:t>Integrity constraints are rules that ensure:</a:t>
            </a:r>
          </a:p>
          <a:p>
            <a:pPr lvl="1"/>
            <a:r>
              <a:rPr lang="en-US" dirty="0"/>
              <a:t>Accuracy</a:t>
            </a:r>
          </a:p>
          <a:p>
            <a:pPr lvl="1"/>
            <a:r>
              <a:rPr lang="en-US" dirty="0"/>
              <a:t>Consistency</a:t>
            </a:r>
          </a:p>
          <a:p>
            <a:pPr lvl="1"/>
            <a:r>
              <a:rPr lang="en-US" dirty="0"/>
              <a:t>Validity </a:t>
            </a:r>
          </a:p>
          <a:p>
            <a:pPr lvl="1"/>
            <a:r>
              <a:rPr lang="en-US" dirty="0"/>
              <a:t>Reliability of data</a:t>
            </a:r>
          </a:p>
          <a:p>
            <a:pPr marL="201168" lvl="1" indent="0">
              <a:buNone/>
            </a:pPr>
            <a:r>
              <a:rPr lang="en-US" dirty="0"/>
              <a:t>of data stored in a database.</a:t>
            </a:r>
          </a:p>
          <a:p>
            <a:pPr marL="201168" lvl="1" indent="0">
              <a:buNone/>
            </a:pPr>
            <a:r>
              <a:rPr lang="en-US" dirty="0"/>
              <a:t>They prevent the insertion of incorrect, inconsistent, or duplicate data into database tables.</a:t>
            </a:r>
          </a:p>
          <a:p>
            <a:pPr marL="201168" lvl="1" indent="0">
              <a:buNone/>
            </a:pPr>
            <a:r>
              <a:rPr lang="en-US" dirty="0"/>
              <a:t>Types: </a:t>
            </a:r>
          </a:p>
          <a:p>
            <a:pPr marL="544068" lvl="1" indent="-342900">
              <a:buAutoNum type="arabicPeriod"/>
            </a:pPr>
            <a:r>
              <a:rPr lang="en-US" dirty="0"/>
              <a:t>Domain Constraints</a:t>
            </a:r>
          </a:p>
          <a:p>
            <a:pPr marL="544068" lvl="1" indent="-342900">
              <a:buAutoNum type="arabicPeriod"/>
            </a:pPr>
            <a:r>
              <a:rPr lang="en-US" dirty="0"/>
              <a:t>Entity Integrity Constraints</a:t>
            </a:r>
          </a:p>
          <a:p>
            <a:pPr marL="544068" lvl="1" indent="-342900">
              <a:buAutoNum type="arabicPeriod"/>
            </a:pPr>
            <a:r>
              <a:rPr lang="en-US" dirty="0"/>
              <a:t>Referential Integrity Constraints </a:t>
            </a:r>
          </a:p>
          <a:p>
            <a:pPr marL="544068" lvl="1" indent="-342900">
              <a:buAutoNum type="arabicPeriod"/>
            </a:pPr>
            <a:r>
              <a:rPr lang="en-US" dirty="0"/>
              <a:t>Assertions</a:t>
            </a:r>
          </a:p>
          <a:p>
            <a:pPr marL="544068" lvl="1" indent="-342900">
              <a:buAutoNum type="arabicPeriod"/>
            </a:pPr>
            <a:r>
              <a:rPr lang="en-US" dirty="0"/>
              <a:t>Triggers</a:t>
            </a:r>
          </a:p>
        </p:txBody>
      </p:sp>
    </p:spTree>
    <p:extLst>
      <p:ext uri="{BB962C8B-B14F-4D97-AF65-F5344CB8AC3E}">
        <p14:creationId xmlns:p14="http://schemas.microsoft.com/office/powerpoint/2010/main" val="1844515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DE027-215B-0366-8006-794D07434FFA}"/>
              </a:ext>
            </a:extLst>
          </p:cNvPr>
          <p:cNvSpPr>
            <a:spLocks noGrp="1"/>
          </p:cNvSpPr>
          <p:nvPr>
            <p:ph type="title"/>
          </p:nvPr>
        </p:nvSpPr>
        <p:spPr/>
        <p:txBody>
          <a:bodyPr/>
          <a:lstStyle/>
          <a:p>
            <a:r>
              <a:rPr lang="en-US" dirty="0"/>
              <a:t>Why is Integrity Constraints Important?</a:t>
            </a:r>
          </a:p>
        </p:txBody>
      </p:sp>
      <p:graphicFrame>
        <p:nvGraphicFramePr>
          <p:cNvPr id="5" name="Content Placeholder 4">
            <a:extLst>
              <a:ext uri="{FF2B5EF4-FFF2-40B4-BE49-F238E27FC236}">
                <a16:creationId xmlns:a16="http://schemas.microsoft.com/office/drawing/2014/main" id="{93782B19-CE89-FB8B-7AEE-32E286C0E92A}"/>
              </a:ext>
            </a:extLst>
          </p:cNvPr>
          <p:cNvGraphicFramePr>
            <a:graphicFrameLocks noGrp="1"/>
          </p:cNvGraphicFramePr>
          <p:nvPr>
            <p:ph idx="1"/>
            <p:extLst>
              <p:ext uri="{D42A27DB-BD31-4B8C-83A1-F6EECF244321}">
                <p14:modId xmlns:p14="http://schemas.microsoft.com/office/powerpoint/2010/main" val="1935160129"/>
              </p:ext>
            </p:extLst>
          </p:nvPr>
        </p:nvGraphicFramePr>
        <p:xfrm>
          <a:off x="1096963" y="2100263"/>
          <a:ext cx="5561745" cy="1463040"/>
        </p:xfrm>
        <a:graphic>
          <a:graphicData uri="http://schemas.openxmlformats.org/drawingml/2006/table">
            <a:tbl>
              <a:tblPr firstRow="1" bandRow="1">
                <a:tableStyleId>{5C22544A-7EE6-4342-B048-85BDC9FD1C3A}</a:tableStyleId>
              </a:tblPr>
              <a:tblGrid>
                <a:gridCol w="1853915">
                  <a:extLst>
                    <a:ext uri="{9D8B030D-6E8A-4147-A177-3AD203B41FA5}">
                      <a16:colId xmlns:a16="http://schemas.microsoft.com/office/drawing/2014/main" val="3117448667"/>
                    </a:ext>
                  </a:extLst>
                </a:gridCol>
                <a:gridCol w="1853915">
                  <a:extLst>
                    <a:ext uri="{9D8B030D-6E8A-4147-A177-3AD203B41FA5}">
                      <a16:colId xmlns:a16="http://schemas.microsoft.com/office/drawing/2014/main" val="460476906"/>
                    </a:ext>
                  </a:extLst>
                </a:gridCol>
                <a:gridCol w="1853915">
                  <a:extLst>
                    <a:ext uri="{9D8B030D-6E8A-4147-A177-3AD203B41FA5}">
                      <a16:colId xmlns:a16="http://schemas.microsoft.com/office/drawing/2014/main" val="2732485796"/>
                    </a:ext>
                  </a:extLst>
                </a:gridCol>
              </a:tblGrid>
              <a:tr h="362689">
                <a:tc>
                  <a:txBody>
                    <a:bodyPr/>
                    <a:lstStyle/>
                    <a:p>
                      <a:pPr>
                        <a:buNone/>
                      </a:pPr>
                      <a:r>
                        <a:rPr lang="en-US" dirty="0" err="1"/>
                        <a:t>Roll_No</a:t>
                      </a:r>
                      <a:endParaRPr lang="en-US" dirty="0"/>
                    </a:p>
                  </a:txBody>
                  <a:tcPr anchor="ctr"/>
                </a:tc>
                <a:tc>
                  <a:txBody>
                    <a:bodyPr/>
                    <a:lstStyle/>
                    <a:p>
                      <a:pPr>
                        <a:buNone/>
                      </a:pPr>
                      <a:r>
                        <a:rPr lang="en-US"/>
                        <a:t>Name</a:t>
                      </a:r>
                    </a:p>
                  </a:txBody>
                  <a:tcPr anchor="ctr"/>
                </a:tc>
                <a:tc>
                  <a:txBody>
                    <a:bodyPr/>
                    <a:lstStyle/>
                    <a:p>
                      <a:pPr>
                        <a:buNone/>
                      </a:pPr>
                      <a:r>
                        <a:rPr lang="en-US"/>
                        <a:t>Age</a:t>
                      </a:r>
                    </a:p>
                  </a:txBody>
                  <a:tcPr anchor="ctr"/>
                </a:tc>
                <a:extLst>
                  <a:ext uri="{0D108BD9-81ED-4DB2-BD59-A6C34878D82A}">
                    <a16:rowId xmlns:a16="http://schemas.microsoft.com/office/drawing/2014/main" val="3856383206"/>
                  </a:ext>
                </a:extLst>
              </a:tr>
              <a:tr h="362689">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20</a:t>
                      </a:r>
                    </a:p>
                  </a:txBody>
                  <a:tcPr anchor="ctr"/>
                </a:tc>
                <a:extLst>
                  <a:ext uri="{0D108BD9-81ED-4DB2-BD59-A6C34878D82A}">
                    <a16:rowId xmlns:a16="http://schemas.microsoft.com/office/drawing/2014/main" val="3760316587"/>
                  </a:ext>
                </a:extLst>
              </a:tr>
              <a:tr h="362689">
                <a:tc>
                  <a:txBody>
                    <a:bodyPr/>
                    <a:lstStyle/>
                    <a:p>
                      <a:pPr>
                        <a:buNone/>
                      </a:pPr>
                      <a:r>
                        <a:rPr lang="en-US"/>
                        <a:t>NULL</a:t>
                      </a:r>
                    </a:p>
                  </a:txBody>
                  <a:tcPr anchor="ctr"/>
                </a:tc>
                <a:tc>
                  <a:txBody>
                    <a:bodyPr/>
                    <a:lstStyle/>
                    <a:p>
                      <a:pPr>
                        <a:buNone/>
                      </a:pPr>
                      <a:r>
                        <a:rPr lang="en-US"/>
                        <a:t>Sita</a:t>
                      </a:r>
                    </a:p>
                  </a:txBody>
                  <a:tcPr anchor="ctr"/>
                </a:tc>
                <a:tc>
                  <a:txBody>
                    <a:bodyPr/>
                    <a:lstStyle/>
                    <a:p>
                      <a:pPr>
                        <a:buNone/>
                      </a:pPr>
                      <a:r>
                        <a:rPr lang="en-US"/>
                        <a:t>19</a:t>
                      </a:r>
                    </a:p>
                  </a:txBody>
                  <a:tcPr anchor="ctr"/>
                </a:tc>
                <a:extLst>
                  <a:ext uri="{0D108BD9-81ED-4DB2-BD59-A6C34878D82A}">
                    <a16:rowId xmlns:a16="http://schemas.microsoft.com/office/drawing/2014/main" val="1921667231"/>
                  </a:ext>
                </a:extLst>
              </a:tr>
              <a:tr h="362689">
                <a:tc>
                  <a:txBody>
                    <a:bodyPr/>
                    <a:lstStyle/>
                    <a:p>
                      <a:pPr>
                        <a:buNone/>
                      </a:pPr>
                      <a:r>
                        <a:rPr lang="en-US"/>
                        <a:t>101</a:t>
                      </a:r>
                    </a:p>
                  </a:txBody>
                  <a:tcPr anchor="ctr"/>
                </a:tc>
                <a:tc>
                  <a:txBody>
                    <a:bodyPr/>
                    <a:lstStyle/>
                    <a:p>
                      <a:pPr>
                        <a:buNone/>
                      </a:pPr>
                      <a:r>
                        <a:rPr lang="en-US"/>
                        <a:t>Hari</a:t>
                      </a:r>
                    </a:p>
                  </a:txBody>
                  <a:tcPr anchor="ctr"/>
                </a:tc>
                <a:tc>
                  <a:txBody>
                    <a:bodyPr/>
                    <a:lstStyle/>
                    <a:p>
                      <a:pPr>
                        <a:buNone/>
                      </a:pPr>
                      <a:r>
                        <a:rPr lang="en-US" dirty="0"/>
                        <a:t>21</a:t>
                      </a:r>
                    </a:p>
                  </a:txBody>
                  <a:tcPr anchor="ctr"/>
                </a:tc>
                <a:extLst>
                  <a:ext uri="{0D108BD9-81ED-4DB2-BD59-A6C34878D82A}">
                    <a16:rowId xmlns:a16="http://schemas.microsoft.com/office/drawing/2014/main" val="3857160040"/>
                  </a:ext>
                </a:extLst>
              </a:tr>
            </a:tbl>
          </a:graphicData>
        </a:graphic>
      </p:graphicFrame>
      <p:sp>
        <p:nvSpPr>
          <p:cNvPr id="4" name="Content Placeholder 2">
            <a:extLst>
              <a:ext uri="{FF2B5EF4-FFF2-40B4-BE49-F238E27FC236}">
                <a16:creationId xmlns:a16="http://schemas.microsoft.com/office/drawing/2014/main" id="{B7C61019-A9A0-DBD4-C4DF-6406CCF5A1F6}"/>
              </a:ext>
            </a:extLst>
          </p:cNvPr>
          <p:cNvSpPr txBox="1">
            <a:spLocks/>
          </p:cNvSpPr>
          <p:nvPr/>
        </p:nvSpPr>
        <p:spPr>
          <a:xfrm>
            <a:off x="1066800" y="3794193"/>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Problems:</a:t>
            </a:r>
          </a:p>
          <a:p>
            <a:pPr lvl="1"/>
            <a:r>
              <a:rPr lang="en-US" dirty="0"/>
              <a:t>Primary key is NULL. </a:t>
            </a:r>
          </a:p>
          <a:p>
            <a:pPr lvl="1"/>
            <a:r>
              <a:rPr lang="en-US" dirty="0"/>
              <a:t>Duplicate </a:t>
            </a:r>
            <a:r>
              <a:rPr lang="en-US" dirty="0" err="1"/>
              <a:t>Roll_No</a:t>
            </a:r>
            <a:r>
              <a:rPr lang="en-US" dirty="0"/>
              <a:t> exists. </a:t>
            </a:r>
          </a:p>
          <a:p>
            <a:pPr lvl="1"/>
            <a:r>
              <a:rPr lang="en-US" dirty="0"/>
              <a:t>Data becomes unreliable. </a:t>
            </a:r>
          </a:p>
          <a:p>
            <a:r>
              <a:rPr lang="en-US" dirty="0"/>
              <a:t>Integrity constraints prevent such situations.</a:t>
            </a:r>
          </a:p>
        </p:txBody>
      </p:sp>
      <p:sp>
        <p:nvSpPr>
          <p:cNvPr id="6" name="Content Placeholder 2">
            <a:extLst>
              <a:ext uri="{FF2B5EF4-FFF2-40B4-BE49-F238E27FC236}">
                <a16:creationId xmlns:a16="http://schemas.microsoft.com/office/drawing/2014/main" id="{786B3248-3376-0736-130B-3C9D67D24547}"/>
              </a:ext>
            </a:extLst>
          </p:cNvPr>
          <p:cNvSpPr txBox="1">
            <a:spLocks/>
          </p:cNvSpPr>
          <p:nvPr/>
        </p:nvSpPr>
        <p:spPr>
          <a:xfrm>
            <a:off x="6126480" y="3794193"/>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b="1" dirty="0"/>
              <a:t>Benefits</a:t>
            </a:r>
          </a:p>
          <a:p>
            <a:pPr lvl="1"/>
            <a:r>
              <a:rPr lang="en-US" dirty="0"/>
              <a:t>Maintains data accuracy </a:t>
            </a:r>
          </a:p>
          <a:p>
            <a:pPr lvl="1"/>
            <a:r>
              <a:rPr lang="en-US" dirty="0"/>
              <a:t>Ensures consistency </a:t>
            </a:r>
          </a:p>
          <a:p>
            <a:pPr lvl="1"/>
            <a:r>
              <a:rPr lang="en-US" dirty="0"/>
              <a:t>Reduces redundancy </a:t>
            </a:r>
          </a:p>
          <a:p>
            <a:pPr lvl="1"/>
            <a:r>
              <a:rPr lang="en-US" dirty="0"/>
              <a:t>Prevents invalid entries </a:t>
            </a:r>
          </a:p>
          <a:p>
            <a:pPr lvl="1"/>
            <a:r>
              <a:rPr lang="en-US" dirty="0"/>
              <a:t>Preserves relationships between tables</a:t>
            </a:r>
          </a:p>
        </p:txBody>
      </p:sp>
    </p:spTree>
    <p:extLst>
      <p:ext uri="{BB962C8B-B14F-4D97-AF65-F5344CB8AC3E}">
        <p14:creationId xmlns:p14="http://schemas.microsoft.com/office/powerpoint/2010/main" val="41333871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B7BF4-EFD4-4BA9-1487-149977FDD8A1}"/>
              </a:ext>
            </a:extLst>
          </p:cNvPr>
          <p:cNvSpPr>
            <a:spLocks noGrp="1"/>
          </p:cNvSpPr>
          <p:nvPr>
            <p:ph type="title"/>
          </p:nvPr>
        </p:nvSpPr>
        <p:spPr/>
        <p:txBody>
          <a:bodyPr/>
          <a:lstStyle/>
          <a:p>
            <a:r>
              <a:rPr lang="en-US" dirty="0"/>
              <a:t>Domain Integrity Constraints</a:t>
            </a:r>
          </a:p>
        </p:txBody>
      </p:sp>
      <p:sp>
        <p:nvSpPr>
          <p:cNvPr id="3" name="Content Placeholder 2">
            <a:extLst>
              <a:ext uri="{FF2B5EF4-FFF2-40B4-BE49-F238E27FC236}">
                <a16:creationId xmlns:a16="http://schemas.microsoft.com/office/drawing/2014/main" id="{B2419C49-C61F-4B4C-C3CC-1EAB09A76B49}"/>
              </a:ext>
            </a:extLst>
          </p:cNvPr>
          <p:cNvSpPr>
            <a:spLocks noGrp="1"/>
          </p:cNvSpPr>
          <p:nvPr>
            <p:ph idx="1"/>
          </p:nvPr>
        </p:nvSpPr>
        <p:spPr/>
        <p:txBody>
          <a:bodyPr>
            <a:normAutofit lnSpcReduction="10000"/>
          </a:bodyPr>
          <a:lstStyle/>
          <a:p>
            <a:r>
              <a:rPr lang="en-US" dirty="0"/>
              <a:t>A domain constraint specifies the permissible values that can be stored in an attribute.</a:t>
            </a:r>
          </a:p>
          <a:p>
            <a:r>
              <a:rPr lang="en-US" dirty="0"/>
              <a:t>They serve as the most fundamental type of integrity constraint to ensure</a:t>
            </a:r>
          </a:p>
          <a:p>
            <a:pPr lvl="1"/>
            <a:r>
              <a:rPr lang="en-US" dirty="0"/>
              <a:t>data accuracy, </a:t>
            </a:r>
          </a:p>
          <a:p>
            <a:pPr lvl="1"/>
            <a:r>
              <a:rPr lang="en-US" dirty="0"/>
              <a:t>completeness, </a:t>
            </a:r>
          </a:p>
          <a:p>
            <a:pPr lvl="1"/>
            <a:r>
              <a:rPr lang="en-US" dirty="0"/>
              <a:t>Validity</a:t>
            </a:r>
          </a:p>
          <a:p>
            <a:pPr lvl="1"/>
            <a:r>
              <a:rPr lang="en-US" dirty="0"/>
              <a:t>Consistency</a:t>
            </a:r>
          </a:p>
          <a:p>
            <a:pPr lvl="1"/>
            <a:r>
              <a:rPr lang="en-US" dirty="0"/>
              <a:t>Database reliability</a:t>
            </a:r>
          </a:p>
          <a:p>
            <a:pPr lvl="1"/>
            <a:r>
              <a:rPr lang="en-US" dirty="0"/>
              <a:t>Reduce application errors</a:t>
            </a:r>
          </a:p>
          <a:p>
            <a:pPr marL="201168" lvl="1" indent="0">
              <a:buNone/>
            </a:pPr>
            <a:r>
              <a:rPr lang="en-US" dirty="0"/>
              <a:t>Any data entry or modification violating these rules is automatically rejected by the system</a:t>
            </a:r>
          </a:p>
          <a:p>
            <a:pPr marL="201168" lvl="1" indent="0">
              <a:buNone/>
            </a:pPr>
            <a:endParaRPr lang="en-US" dirty="0"/>
          </a:p>
          <a:p>
            <a:pPr marL="201168" lvl="1" indent="0">
              <a:buNone/>
            </a:pPr>
            <a:r>
              <a:rPr lang="en-US" b="1" u="sng" dirty="0"/>
              <a:t>Core Requirement of Domain Constraints </a:t>
            </a:r>
          </a:p>
          <a:p>
            <a:pPr marL="544068" lvl="1" indent="-342900">
              <a:buAutoNum type="arabicPeriod"/>
            </a:pPr>
            <a:r>
              <a:rPr lang="en-US" dirty="0"/>
              <a:t>Atomicity: Values must be indivisible or atomic units</a:t>
            </a:r>
          </a:p>
          <a:p>
            <a:pPr marL="544068" lvl="1" indent="-342900">
              <a:buAutoNum type="arabicPeriod"/>
            </a:pPr>
            <a:r>
              <a:rPr lang="en-US" dirty="0"/>
              <a:t>Data Type compliance : Every value must match the predetermined system data type</a:t>
            </a:r>
          </a:p>
        </p:txBody>
      </p:sp>
    </p:spTree>
    <p:extLst>
      <p:ext uri="{BB962C8B-B14F-4D97-AF65-F5344CB8AC3E}">
        <p14:creationId xmlns:p14="http://schemas.microsoft.com/office/powerpoint/2010/main" val="351975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BC7E7-57B4-D264-22EF-883C76138057}"/>
              </a:ext>
            </a:extLst>
          </p:cNvPr>
          <p:cNvSpPr>
            <a:spLocks noGrp="1"/>
          </p:cNvSpPr>
          <p:nvPr>
            <p:ph type="title"/>
          </p:nvPr>
        </p:nvSpPr>
        <p:spPr/>
        <p:txBody>
          <a:bodyPr/>
          <a:lstStyle/>
          <a:p>
            <a:r>
              <a:rPr lang="en-US" dirty="0"/>
              <a:t>Primary Types of Domain Constraints</a:t>
            </a:r>
          </a:p>
        </p:txBody>
      </p:sp>
      <p:sp>
        <p:nvSpPr>
          <p:cNvPr id="3" name="Content Placeholder 2">
            <a:extLst>
              <a:ext uri="{FF2B5EF4-FFF2-40B4-BE49-F238E27FC236}">
                <a16:creationId xmlns:a16="http://schemas.microsoft.com/office/drawing/2014/main" id="{7495625D-F977-79D0-CF74-68B660DF1290}"/>
              </a:ext>
            </a:extLst>
          </p:cNvPr>
          <p:cNvSpPr>
            <a:spLocks noGrp="1"/>
          </p:cNvSpPr>
          <p:nvPr>
            <p:ph idx="1"/>
          </p:nvPr>
        </p:nvSpPr>
        <p:spPr/>
        <p:txBody>
          <a:bodyPr/>
          <a:lstStyle/>
          <a:p>
            <a:r>
              <a:rPr lang="en-US" dirty="0"/>
              <a:t>The database management system enforces specific attributes using a combination of data types and explicit constraints:</a:t>
            </a:r>
          </a:p>
          <a:p>
            <a:pPr lvl="1"/>
            <a:r>
              <a:rPr lang="en-US" dirty="0"/>
              <a:t>Data Type Declaration: Specifies the kind of value.</a:t>
            </a:r>
          </a:p>
          <a:p>
            <a:pPr lvl="1"/>
            <a:r>
              <a:rPr lang="en-US" dirty="0"/>
              <a:t>NOT NULL: A domain may prohibit missing values.</a:t>
            </a:r>
          </a:p>
          <a:p>
            <a:pPr lvl="1"/>
            <a:r>
              <a:rPr lang="en-US" dirty="0"/>
              <a:t>CHECK: Restricts values within a specified interval.</a:t>
            </a:r>
          </a:p>
          <a:p>
            <a:pPr lvl="1"/>
            <a:r>
              <a:rPr lang="en-US" dirty="0"/>
              <a:t>UNIQUE: Unique Values </a:t>
            </a:r>
            <a:r>
              <a:rPr lang="en-US" dirty="0" err="1"/>
              <a:t>i.e</a:t>
            </a:r>
            <a:r>
              <a:rPr lang="en-US" dirty="0"/>
              <a:t> no </a:t>
            </a:r>
            <a:r>
              <a:rPr lang="en-US" dirty="0" err="1"/>
              <a:t>repitiotion</a:t>
            </a:r>
            <a:endParaRPr lang="en-US" dirty="0"/>
          </a:p>
          <a:p>
            <a:pPr lvl="1"/>
            <a:r>
              <a:rPr lang="en-US" dirty="0"/>
              <a:t>DEFAULT:  Gives a default value</a:t>
            </a:r>
          </a:p>
          <a:p>
            <a:endParaRPr lang="en-US" dirty="0"/>
          </a:p>
        </p:txBody>
      </p:sp>
    </p:spTree>
    <p:extLst>
      <p:ext uri="{BB962C8B-B14F-4D97-AF65-F5344CB8AC3E}">
        <p14:creationId xmlns:p14="http://schemas.microsoft.com/office/powerpoint/2010/main" val="40271920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1E1C6-28B7-3EB6-1A61-E96769EBFA04}"/>
              </a:ext>
            </a:extLst>
          </p:cNvPr>
          <p:cNvSpPr>
            <a:spLocks noGrp="1"/>
          </p:cNvSpPr>
          <p:nvPr>
            <p:ph type="title"/>
          </p:nvPr>
        </p:nvSpPr>
        <p:spPr/>
        <p:txBody>
          <a:bodyPr/>
          <a:lstStyle/>
          <a:p>
            <a:r>
              <a:rPr lang="en-US" dirty="0"/>
              <a:t>Implementing Domain Constraints</a:t>
            </a:r>
          </a:p>
        </p:txBody>
      </p:sp>
      <p:sp>
        <p:nvSpPr>
          <p:cNvPr id="3" name="Content Placeholder 2">
            <a:extLst>
              <a:ext uri="{FF2B5EF4-FFF2-40B4-BE49-F238E27FC236}">
                <a16:creationId xmlns:a16="http://schemas.microsoft.com/office/drawing/2014/main" id="{719BD791-8F55-07D6-9EB5-C2FC91A16C2F}"/>
              </a:ext>
            </a:extLst>
          </p:cNvPr>
          <p:cNvSpPr>
            <a:spLocks noGrp="1"/>
          </p:cNvSpPr>
          <p:nvPr>
            <p:ph idx="1"/>
          </p:nvPr>
        </p:nvSpPr>
        <p:spPr/>
        <p:txBody>
          <a:bodyPr/>
          <a:lstStyle/>
          <a:p>
            <a:r>
              <a:rPr lang="en-US" dirty="0">
                <a:solidFill>
                  <a:srgbClr val="FF0000"/>
                </a:solidFill>
              </a:rPr>
              <a:t>CREATE TABLE </a:t>
            </a:r>
            <a:r>
              <a:rPr lang="en-US" dirty="0"/>
              <a:t>Employees (</a:t>
            </a:r>
          </a:p>
          <a:p>
            <a:r>
              <a:rPr lang="en-US" dirty="0"/>
              <a:t>    </a:t>
            </a:r>
            <a:r>
              <a:rPr lang="en-US" dirty="0" err="1"/>
              <a:t>EmployeeID</a:t>
            </a:r>
            <a:r>
              <a:rPr lang="en-US" dirty="0"/>
              <a:t> INT </a:t>
            </a:r>
            <a:r>
              <a:rPr lang="en-US" dirty="0">
                <a:solidFill>
                  <a:srgbClr val="FF0000"/>
                </a:solidFill>
              </a:rPr>
              <a:t>PRIMARY KEY,</a:t>
            </a:r>
          </a:p>
          <a:p>
            <a:r>
              <a:rPr lang="en-US" dirty="0"/>
              <a:t>    FirstName VARCHAR(50) </a:t>
            </a:r>
            <a:r>
              <a:rPr lang="en-US" dirty="0">
                <a:solidFill>
                  <a:srgbClr val="FF0000"/>
                </a:solidFill>
              </a:rPr>
              <a:t>NOT NULL</a:t>
            </a:r>
            <a:r>
              <a:rPr lang="en-US" dirty="0"/>
              <a:t>,           	 -- Restricts null entries</a:t>
            </a:r>
          </a:p>
          <a:p>
            <a:r>
              <a:rPr lang="en-US" dirty="0"/>
              <a:t>    Age INT </a:t>
            </a:r>
            <a:r>
              <a:rPr lang="en-US" dirty="0">
                <a:solidFill>
                  <a:srgbClr val="FF0000"/>
                </a:solidFill>
              </a:rPr>
              <a:t>CHECK</a:t>
            </a:r>
            <a:r>
              <a:rPr lang="en-US" dirty="0"/>
              <a:t> (Age &gt;= 18 </a:t>
            </a:r>
            <a:r>
              <a:rPr lang="en-US" dirty="0">
                <a:solidFill>
                  <a:srgbClr val="FF0000"/>
                </a:solidFill>
              </a:rPr>
              <a:t>AND</a:t>
            </a:r>
            <a:r>
              <a:rPr lang="en-US" dirty="0"/>
              <a:t> Age &lt;= 65),  	 -- Restricts values to a specific range</a:t>
            </a:r>
          </a:p>
          <a:p>
            <a:r>
              <a:rPr lang="en-US" dirty="0"/>
              <a:t>    Email VARCHAR(100) </a:t>
            </a:r>
            <a:r>
              <a:rPr lang="en-US" dirty="0">
                <a:solidFill>
                  <a:srgbClr val="FF0000"/>
                </a:solidFill>
              </a:rPr>
              <a:t>UNIQUE</a:t>
            </a:r>
            <a:r>
              <a:rPr lang="en-US" dirty="0"/>
              <a:t>,                		 -- Enforces unique attribute values</a:t>
            </a:r>
          </a:p>
          <a:p>
            <a:r>
              <a:rPr lang="en-US" dirty="0"/>
              <a:t>    Country VARCHAR(50) </a:t>
            </a:r>
            <a:r>
              <a:rPr lang="en-US" dirty="0">
                <a:solidFill>
                  <a:srgbClr val="FF0000"/>
                </a:solidFill>
              </a:rPr>
              <a:t>DEFAULT</a:t>
            </a:r>
            <a:r>
              <a:rPr lang="en-US" dirty="0"/>
              <a:t> ‘Nepal'      	  -- Standard default assignment</a:t>
            </a:r>
          </a:p>
          <a:p>
            <a:r>
              <a:rPr lang="en-US" dirty="0"/>
              <a:t>);</a:t>
            </a:r>
          </a:p>
          <a:p>
            <a:endParaRPr lang="en-US" dirty="0"/>
          </a:p>
        </p:txBody>
      </p:sp>
      <p:sp>
        <p:nvSpPr>
          <p:cNvPr id="5" name="TextBox 4">
            <a:extLst>
              <a:ext uri="{FF2B5EF4-FFF2-40B4-BE49-F238E27FC236}">
                <a16:creationId xmlns:a16="http://schemas.microsoft.com/office/drawing/2014/main" id="{D56973D5-8608-2237-E1DE-6D268F6F04F5}"/>
              </a:ext>
            </a:extLst>
          </p:cNvPr>
          <p:cNvSpPr txBox="1"/>
          <p:nvPr/>
        </p:nvSpPr>
        <p:spPr>
          <a:xfrm>
            <a:off x="1036320" y="5216837"/>
            <a:ext cx="6092190" cy="646331"/>
          </a:xfrm>
          <a:prstGeom prst="rect">
            <a:avLst/>
          </a:prstGeom>
          <a:noFill/>
        </p:spPr>
        <p:txBody>
          <a:bodyPr wrap="square">
            <a:spAutoFit/>
          </a:bodyPr>
          <a:lstStyle/>
          <a:p>
            <a:r>
              <a:rPr lang="en-US" dirty="0"/>
              <a:t>INSERT INTO Employees</a:t>
            </a:r>
          </a:p>
          <a:p>
            <a:r>
              <a:rPr lang="en-US" dirty="0"/>
              <a:t>VALUES(102,'Hari',15,’hari@gmail.com’, ‘Japan’);</a:t>
            </a:r>
          </a:p>
        </p:txBody>
      </p:sp>
      <p:sp>
        <p:nvSpPr>
          <p:cNvPr id="7" name="TextBox 6">
            <a:extLst>
              <a:ext uri="{FF2B5EF4-FFF2-40B4-BE49-F238E27FC236}">
                <a16:creationId xmlns:a16="http://schemas.microsoft.com/office/drawing/2014/main" id="{BE8468B3-6D00-2813-2CD0-A6FB767DBFE1}"/>
              </a:ext>
            </a:extLst>
          </p:cNvPr>
          <p:cNvSpPr txBox="1"/>
          <p:nvPr/>
        </p:nvSpPr>
        <p:spPr>
          <a:xfrm>
            <a:off x="6126480" y="5216836"/>
            <a:ext cx="6092190" cy="646331"/>
          </a:xfrm>
          <a:prstGeom prst="rect">
            <a:avLst/>
          </a:prstGeom>
          <a:noFill/>
        </p:spPr>
        <p:txBody>
          <a:bodyPr wrap="square">
            <a:spAutoFit/>
          </a:bodyPr>
          <a:lstStyle/>
          <a:p>
            <a:r>
              <a:rPr lang="en-US" dirty="0"/>
              <a:t>INSERT INTO Employees</a:t>
            </a:r>
          </a:p>
          <a:p>
            <a:r>
              <a:rPr lang="en-US" dirty="0"/>
              <a:t>VALUES(101,'Ram',21,’Ram@gmail.com');</a:t>
            </a:r>
          </a:p>
        </p:txBody>
      </p:sp>
      <p:sp>
        <p:nvSpPr>
          <p:cNvPr id="8" name="TextBox 7">
            <a:extLst>
              <a:ext uri="{FF2B5EF4-FFF2-40B4-BE49-F238E27FC236}">
                <a16:creationId xmlns:a16="http://schemas.microsoft.com/office/drawing/2014/main" id="{57A12D95-01EC-0913-C045-6C694FE4764E}"/>
              </a:ext>
            </a:extLst>
          </p:cNvPr>
          <p:cNvSpPr txBox="1"/>
          <p:nvPr/>
        </p:nvSpPr>
        <p:spPr>
          <a:xfrm>
            <a:off x="4471143" y="5960534"/>
            <a:ext cx="2043957" cy="369332"/>
          </a:xfrm>
          <a:prstGeom prst="rect">
            <a:avLst/>
          </a:prstGeom>
          <a:noFill/>
        </p:spPr>
        <p:txBody>
          <a:bodyPr wrap="none" rtlCol="0">
            <a:spAutoFit/>
          </a:bodyPr>
          <a:lstStyle/>
          <a:p>
            <a:r>
              <a:rPr lang="en-US" dirty="0">
                <a:solidFill>
                  <a:srgbClr val="FF0000"/>
                </a:solidFill>
              </a:rPr>
              <a:t>Which one is valid? </a:t>
            </a:r>
          </a:p>
        </p:txBody>
      </p:sp>
    </p:spTree>
    <p:extLst>
      <p:ext uri="{BB962C8B-B14F-4D97-AF65-F5344CB8AC3E}">
        <p14:creationId xmlns:p14="http://schemas.microsoft.com/office/powerpoint/2010/main" val="5707361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D9AFA1-47E5-C252-372B-B2A066DFDD8F}"/>
              </a:ext>
            </a:extLst>
          </p:cNvPr>
          <p:cNvSpPr>
            <a:spLocks noGrp="1"/>
          </p:cNvSpPr>
          <p:nvPr>
            <p:ph type="title"/>
          </p:nvPr>
        </p:nvSpPr>
        <p:spPr/>
        <p:txBody>
          <a:bodyPr/>
          <a:lstStyle/>
          <a:p>
            <a:r>
              <a:rPr lang="en-US" dirty="0"/>
              <a:t>Advantages</a:t>
            </a:r>
          </a:p>
        </p:txBody>
      </p:sp>
      <p:sp>
        <p:nvSpPr>
          <p:cNvPr id="3" name="Content Placeholder 2">
            <a:extLst>
              <a:ext uri="{FF2B5EF4-FFF2-40B4-BE49-F238E27FC236}">
                <a16:creationId xmlns:a16="http://schemas.microsoft.com/office/drawing/2014/main" id="{D35ABA4F-1F6E-E9F3-CC40-78FDB247C9AA}"/>
              </a:ext>
            </a:extLst>
          </p:cNvPr>
          <p:cNvSpPr>
            <a:spLocks noGrp="1"/>
          </p:cNvSpPr>
          <p:nvPr>
            <p:ph idx="1"/>
          </p:nvPr>
        </p:nvSpPr>
        <p:spPr>
          <a:xfrm>
            <a:off x="1097280" y="1845734"/>
            <a:ext cx="4777740" cy="4023360"/>
          </a:xfrm>
        </p:spPr>
        <p:txBody>
          <a:bodyPr/>
          <a:lstStyle/>
          <a:p>
            <a:r>
              <a:rPr lang="en-US" dirty="0"/>
              <a:t>1. Improved Data Quality</a:t>
            </a:r>
          </a:p>
          <a:p>
            <a:pPr lvl="1"/>
            <a:r>
              <a:rPr lang="en-US" dirty="0"/>
              <a:t>Only valid values are stored.</a:t>
            </a:r>
          </a:p>
          <a:p>
            <a:r>
              <a:rPr lang="en-US" dirty="0"/>
              <a:t>2. Better Consistency</a:t>
            </a:r>
          </a:p>
          <a:p>
            <a:pPr lvl="1"/>
            <a:r>
              <a:rPr lang="en-US" dirty="0"/>
              <a:t>Data follows predefined rules.</a:t>
            </a:r>
          </a:p>
          <a:p>
            <a:r>
              <a:rPr lang="en-US" dirty="0"/>
              <a:t>3. Reduced Errors</a:t>
            </a:r>
          </a:p>
          <a:p>
            <a:pPr lvl="1"/>
            <a:r>
              <a:rPr lang="en-US" dirty="0"/>
              <a:t>Prevents accidental incorrect entries.</a:t>
            </a:r>
          </a:p>
          <a:p>
            <a:r>
              <a:rPr lang="en-US" dirty="0"/>
              <a:t>4. Easier Data Validation</a:t>
            </a:r>
          </a:p>
          <a:p>
            <a:pPr lvl="1"/>
            <a:r>
              <a:rPr lang="en-US" dirty="0"/>
              <a:t>Database automatically checks values.</a:t>
            </a:r>
          </a:p>
          <a:p>
            <a:r>
              <a:rPr lang="en-US" dirty="0"/>
              <a:t>5. Increased Reliability</a:t>
            </a:r>
          </a:p>
          <a:p>
            <a:pPr lvl="1"/>
            <a:r>
              <a:rPr lang="en-US" dirty="0"/>
              <a:t>Reports and analysis become more accurate.</a:t>
            </a:r>
          </a:p>
          <a:p>
            <a:pPr marL="0" indent="0">
              <a:buNone/>
            </a:pPr>
            <a:endParaRPr lang="en-US" dirty="0"/>
          </a:p>
        </p:txBody>
      </p:sp>
      <p:sp>
        <p:nvSpPr>
          <p:cNvPr id="4" name="Content Placeholder 2">
            <a:extLst>
              <a:ext uri="{FF2B5EF4-FFF2-40B4-BE49-F238E27FC236}">
                <a16:creationId xmlns:a16="http://schemas.microsoft.com/office/drawing/2014/main" id="{314DC072-1CE2-71DF-3AD2-9A3F22F586AA}"/>
              </a:ext>
            </a:extLst>
          </p:cNvPr>
          <p:cNvSpPr txBox="1">
            <a:spLocks/>
          </p:cNvSpPr>
          <p:nvPr/>
        </p:nvSpPr>
        <p:spPr>
          <a:xfrm>
            <a:off x="6096000" y="1845734"/>
            <a:ext cx="477774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Not all Complex business can enforce solely by Domain Constraints, they need </a:t>
            </a:r>
          </a:p>
          <a:p>
            <a:pPr lvl="1"/>
            <a:r>
              <a:rPr lang="en-US" dirty="0"/>
              <a:t>Triggers</a:t>
            </a:r>
          </a:p>
          <a:p>
            <a:pPr lvl="1"/>
            <a:r>
              <a:rPr lang="en-US" dirty="0"/>
              <a:t>Procedures</a:t>
            </a:r>
          </a:p>
          <a:p>
            <a:pPr lvl="1"/>
            <a:r>
              <a:rPr lang="en-US" dirty="0"/>
              <a:t>Assertions</a:t>
            </a:r>
          </a:p>
        </p:txBody>
      </p:sp>
    </p:spTree>
    <p:extLst>
      <p:ext uri="{BB962C8B-B14F-4D97-AF65-F5344CB8AC3E}">
        <p14:creationId xmlns:p14="http://schemas.microsoft.com/office/powerpoint/2010/main" val="2748432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1DAF6-66A7-EA3F-21D6-7F44C9DD28B4}"/>
              </a:ext>
            </a:extLst>
          </p:cNvPr>
          <p:cNvSpPr>
            <a:spLocks noGrp="1"/>
          </p:cNvSpPr>
          <p:nvPr>
            <p:ph type="title"/>
          </p:nvPr>
        </p:nvSpPr>
        <p:spPr/>
        <p:txBody>
          <a:bodyPr/>
          <a:lstStyle/>
          <a:p>
            <a:r>
              <a:rPr lang="en-US" dirty="0"/>
              <a:t>Entity Integrity Constraint</a:t>
            </a:r>
          </a:p>
        </p:txBody>
      </p:sp>
      <p:sp>
        <p:nvSpPr>
          <p:cNvPr id="3" name="Content Placeholder 2">
            <a:extLst>
              <a:ext uri="{FF2B5EF4-FFF2-40B4-BE49-F238E27FC236}">
                <a16:creationId xmlns:a16="http://schemas.microsoft.com/office/drawing/2014/main" id="{F2D584D7-E653-A818-C963-295B3143D3C3}"/>
              </a:ext>
            </a:extLst>
          </p:cNvPr>
          <p:cNvSpPr>
            <a:spLocks noGrp="1"/>
          </p:cNvSpPr>
          <p:nvPr>
            <p:ph idx="1"/>
          </p:nvPr>
        </p:nvSpPr>
        <p:spPr>
          <a:xfrm>
            <a:off x="1097280" y="1845734"/>
            <a:ext cx="10058400" cy="4212166"/>
          </a:xfrm>
        </p:spPr>
        <p:txBody>
          <a:bodyPr>
            <a:normAutofit fontScale="92500" lnSpcReduction="10000"/>
          </a:bodyPr>
          <a:lstStyle/>
          <a:p>
            <a:r>
              <a:rPr lang="en-US" b="1" dirty="0"/>
              <a:t>Entity Integrity Constraint</a:t>
            </a:r>
            <a:r>
              <a:rPr lang="en-US" dirty="0"/>
              <a:t> is a rule that ensures that every row (tuple) in a table can be uniquely identified but cannot contain any NULL values.</a:t>
            </a:r>
          </a:p>
          <a:p>
            <a:r>
              <a:rPr lang="en-US" dirty="0"/>
              <a:t>Entity Integrity is enforced through the </a:t>
            </a:r>
            <a:r>
              <a:rPr lang="en-US" b="1" dirty="0"/>
              <a:t>Primary Key</a:t>
            </a:r>
            <a:r>
              <a:rPr lang="en-US" dirty="0"/>
              <a:t>.</a:t>
            </a:r>
          </a:p>
          <a:p>
            <a:r>
              <a:rPr lang="en-US" dirty="0"/>
              <a:t>Formal Definition:</a:t>
            </a:r>
          </a:p>
          <a:p>
            <a:pPr lvl="1"/>
            <a:r>
              <a:rPr lang="en-US" dirty="0"/>
              <a:t>For any relation </a:t>
            </a:r>
            <a:r>
              <a:rPr lang="en-US" b="1" dirty="0"/>
              <a:t>R</a:t>
            </a:r>
            <a:r>
              <a:rPr lang="en-US" dirty="0"/>
              <a:t> having a primary key </a:t>
            </a:r>
            <a:r>
              <a:rPr lang="en-US" b="1" dirty="0"/>
              <a:t>PK</a:t>
            </a:r>
            <a:r>
              <a:rPr lang="en-US" dirty="0"/>
              <a:t>:</a:t>
            </a:r>
          </a:p>
          <a:p>
            <a:pPr lvl="1"/>
            <a:r>
              <a:rPr lang="en-US" dirty="0"/>
              <a:t>Primary Key values must be unique. </a:t>
            </a:r>
          </a:p>
          <a:p>
            <a:pPr lvl="1"/>
            <a:r>
              <a:rPr lang="en-US" dirty="0"/>
              <a:t>Primary Key values cannot be NULL. </a:t>
            </a:r>
          </a:p>
          <a:p>
            <a:pPr lvl="1"/>
            <a:r>
              <a:rPr lang="en-US" dirty="0"/>
              <a:t>No two tuples can have the same primary key value.</a:t>
            </a:r>
          </a:p>
          <a:p>
            <a:r>
              <a:rPr lang="en-US" b="1" dirty="0"/>
              <a:t>Why Entity Integrity Matters? </a:t>
            </a:r>
          </a:p>
          <a:p>
            <a:r>
              <a:rPr lang="en-US" dirty="0"/>
              <a:t>Implementing these constraints provides critical foundational benefits to database management:</a:t>
            </a:r>
          </a:p>
          <a:p>
            <a:pPr lvl="1"/>
            <a:r>
              <a:rPr lang="en-US" b="1" dirty="0"/>
              <a:t>Unique Identification</a:t>
            </a:r>
          </a:p>
          <a:p>
            <a:pPr lvl="1"/>
            <a:r>
              <a:rPr lang="en-US" b="1" dirty="0"/>
              <a:t>Elimination of Duplicates</a:t>
            </a:r>
          </a:p>
          <a:p>
            <a:pPr lvl="1"/>
            <a:r>
              <a:rPr lang="en-US" b="1" dirty="0"/>
              <a:t>Enables Relationships</a:t>
            </a:r>
            <a:r>
              <a:rPr lang="en-US" dirty="0"/>
              <a:t>:</a:t>
            </a:r>
          </a:p>
          <a:p>
            <a:endParaRPr lang="en-US" dirty="0"/>
          </a:p>
        </p:txBody>
      </p:sp>
    </p:spTree>
    <p:extLst>
      <p:ext uri="{BB962C8B-B14F-4D97-AF65-F5344CB8AC3E}">
        <p14:creationId xmlns:p14="http://schemas.microsoft.com/office/powerpoint/2010/main" val="40820427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B0342-4720-A1B3-DE39-C0BAB6B57849}"/>
              </a:ext>
            </a:extLst>
          </p:cNvPr>
          <p:cNvSpPr>
            <a:spLocks noGrp="1"/>
          </p:cNvSpPr>
          <p:nvPr>
            <p:ph type="title"/>
          </p:nvPr>
        </p:nvSpPr>
        <p:spPr/>
        <p:txBody>
          <a:bodyPr/>
          <a:lstStyle/>
          <a:p>
            <a:r>
              <a:rPr lang="en-US" dirty="0"/>
              <a:t>Valid vs </a:t>
            </a:r>
            <a:r>
              <a:rPr lang="en-US" dirty="0" err="1"/>
              <a:t>InValid</a:t>
            </a:r>
            <a:r>
              <a:rPr lang="en-US" dirty="0"/>
              <a:t> Data</a:t>
            </a:r>
          </a:p>
        </p:txBody>
      </p:sp>
      <p:graphicFrame>
        <p:nvGraphicFramePr>
          <p:cNvPr id="4" name="Content Placeholder 3">
            <a:extLst>
              <a:ext uri="{FF2B5EF4-FFF2-40B4-BE49-F238E27FC236}">
                <a16:creationId xmlns:a16="http://schemas.microsoft.com/office/drawing/2014/main" id="{E92CA899-D148-078B-F1D8-5A18A2428C92}"/>
              </a:ext>
            </a:extLst>
          </p:cNvPr>
          <p:cNvGraphicFramePr>
            <a:graphicFrameLocks noGrp="1"/>
          </p:cNvGraphicFramePr>
          <p:nvPr>
            <p:ph idx="1"/>
            <p:extLst>
              <p:ext uri="{D42A27DB-BD31-4B8C-83A1-F6EECF244321}">
                <p14:modId xmlns:p14="http://schemas.microsoft.com/office/powerpoint/2010/main" val="3576945394"/>
              </p:ext>
            </p:extLst>
          </p:nvPr>
        </p:nvGraphicFramePr>
        <p:xfrm>
          <a:off x="1097280" y="1913529"/>
          <a:ext cx="10607040" cy="3030942"/>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3075963938"/>
                    </a:ext>
                  </a:extLst>
                </a:gridCol>
                <a:gridCol w="2651760">
                  <a:extLst>
                    <a:ext uri="{9D8B030D-6E8A-4147-A177-3AD203B41FA5}">
                      <a16:colId xmlns:a16="http://schemas.microsoft.com/office/drawing/2014/main" val="3325071350"/>
                    </a:ext>
                  </a:extLst>
                </a:gridCol>
                <a:gridCol w="2651760">
                  <a:extLst>
                    <a:ext uri="{9D8B030D-6E8A-4147-A177-3AD203B41FA5}">
                      <a16:colId xmlns:a16="http://schemas.microsoft.com/office/drawing/2014/main" val="3591100345"/>
                    </a:ext>
                  </a:extLst>
                </a:gridCol>
                <a:gridCol w="2651760">
                  <a:extLst>
                    <a:ext uri="{9D8B030D-6E8A-4147-A177-3AD203B41FA5}">
                      <a16:colId xmlns:a16="http://schemas.microsoft.com/office/drawing/2014/main" val="4111259982"/>
                    </a:ext>
                  </a:extLst>
                </a:gridCol>
              </a:tblGrid>
              <a:tr h="302116">
                <a:tc>
                  <a:txBody>
                    <a:bodyPr/>
                    <a:lstStyle/>
                    <a:p>
                      <a:r>
                        <a:rPr lang="en-US" dirty="0"/>
                        <a:t>StudentID</a:t>
                      </a:r>
                    </a:p>
                  </a:txBody>
                  <a:tcPr/>
                </a:tc>
                <a:tc>
                  <a:txBody>
                    <a:bodyPr/>
                    <a:lstStyle/>
                    <a:p>
                      <a:r>
                        <a:rPr lang="en-US" dirty="0" err="1"/>
                        <a:t>StudentName</a:t>
                      </a:r>
                      <a:endParaRPr lang="en-US" dirty="0"/>
                    </a:p>
                  </a:txBody>
                  <a:tcPr/>
                </a:tc>
                <a:tc>
                  <a:txBody>
                    <a:bodyPr/>
                    <a:lstStyle/>
                    <a:p>
                      <a:r>
                        <a:rPr lang="en-US" dirty="0"/>
                        <a:t>Course</a:t>
                      </a:r>
                    </a:p>
                  </a:txBody>
                  <a:tcPr/>
                </a:tc>
                <a:tc>
                  <a:txBody>
                    <a:bodyPr/>
                    <a:lstStyle/>
                    <a:p>
                      <a:r>
                        <a:rPr lang="en-US" dirty="0"/>
                        <a:t>Status</a:t>
                      </a:r>
                    </a:p>
                  </a:txBody>
                  <a:tcPr/>
                </a:tc>
                <a:extLst>
                  <a:ext uri="{0D108BD9-81ED-4DB2-BD59-A6C34878D82A}">
                    <a16:rowId xmlns:a16="http://schemas.microsoft.com/office/drawing/2014/main" val="3772255889"/>
                  </a:ext>
                </a:extLst>
              </a:tr>
              <a:tr h="521460">
                <a:tc>
                  <a:txBody>
                    <a:bodyPr/>
                    <a:lstStyle/>
                    <a:p>
                      <a:r>
                        <a:rPr lang="en-US" dirty="0"/>
                        <a:t>101</a:t>
                      </a:r>
                    </a:p>
                  </a:txBody>
                  <a:tcPr/>
                </a:tc>
                <a:tc>
                  <a:txBody>
                    <a:bodyPr/>
                    <a:lstStyle/>
                    <a:p>
                      <a:r>
                        <a:rPr lang="en-US" dirty="0"/>
                        <a:t>Ram</a:t>
                      </a:r>
                    </a:p>
                  </a:txBody>
                  <a:tcPr/>
                </a:tc>
                <a:tc>
                  <a:txBody>
                    <a:bodyPr/>
                    <a:lstStyle/>
                    <a:p>
                      <a:r>
                        <a:rPr lang="en-US" dirty="0"/>
                        <a:t>Computer Science</a:t>
                      </a:r>
                    </a:p>
                  </a:txBody>
                  <a:tcPr/>
                </a:tc>
                <a:tc>
                  <a:txBody>
                    <a:bodyPr/>
                    <a:lstStyle/>
                    <a:p>
                      <a:r>
                        <a:rPr lang="en-US" sz="1800" b="1" u="none" strike="noStrike" kern="1200" dirty="0">
                          <a:solidFill>
                            <a:schemeClr val="dk1"/>
                          </a:solidFill>
                          <a:effectLst/>
                          <a:latin typeface="+mn-lt"/>
                          <a:ea typeface="+mn-ea"/>
                          <a:cs typeface="+mn-cs"/>
                        </a:rPr>
                        <a:t>Valid</a:t>
                      </a:r>
                      <a:r>
                        <a:rPr lang="en-US" dirty="0"/>
                        <a:t>: Unique and non-null.</a:t>
                      </a:r>
                    </a:p>
                  </a:txBody>
                  <a:tcPr/>
                </a:tc>
                <a:extLst>
                  <a:ext uri="{0D108BD9-81ED-4DB2-BD59-A6C34878D82A}">
                    <a16:rowId xmlns:a16="http://schemas.microsoft.com/office/drawing/2014/main" val="563659516"/>
                  </a:ext>
                </a:extLst>
              </a:tr>
              <a:tr h="521460">
                <a:tc>
                  <a:txBody>
                    <a:bodyPr/>
                    <a:lstStyle/>
                    <a:p>
                      <a:r>
                        <a:rPr lang="en-US" dirty="0"/>
                        <a:t>102</a:t>
                      </a:r>
                    </a:p>
                  </a:txBody>
                  <a:tcPr/>
                </a:tc>
                <a:tc>
                  <a:txBody>
                    <a:bodyPr/>
                    <a:lstStyle/>
                    <a:p>
                      <a:r>
                        <a:rPr lang="en-US" dirty="0"/>
                        <a:t>Shyam</a:t>
                      </a:r>
                    </a:p>
                  </a:txBody>
                  <a:tcPr/>
                </a:tc>
                <a:tc>
                  <a:txBody>
                    <a:bodyPr/>
                    <a:lstStyle/>
                    <a:p>
                      <a:r>
                        <a:rPr lang="en-US" dirty="0"/>
                        <a:t>Mathematics</a:t>
                      </a:r>
                    </a:p>
                  </a:txBody>
                  <a:tcPr/>
                </a:tc>
                <a:tc>
                  <a:txBody>
                    <a:bodyPr/>
                    <a:lstStyle/>
                    <a:p>
                      <a:r>
                        <a:rPr lang="en-US" sz="1800" b="1" u="none" strike="noStrike" kern="1200" dirty="0">
                          <a:solidFill>
                            <a:schemeClr val="dk1"/>
                          </a:solidFill>
                          <a:effectLst/>
                          <a:latin typeface="+mn-lt"/>
                          <a:ea typeface="+mn-ea"/>
                          <a:cs typeface="+mn-cs"/>
                        </a:rPr>
                        <a:t>Valid</a:t>
                      </a:r>
                      <a:r>
                        <a:rPr lang="en-US" dirty="0"/>
                        <a:t>: Unique and non-null.</a:t>
                      </a:r>
                    </a:p>
                  </a:txBody>
                  <a:tcPr/>
                </a:tc>
                <a:extLst>
                  <a:ext uri="{0D108BD9-81ED-4DB2-BD59-A6C34878D82A}">
                    <a16:rowId xmlns:a16="http://schemas.microsoft.com/office/drawing/2014/main" val="126167939"/>
                  </a:ext>
                </a:extLst>
              </a:tr>
              <a:tr h="744942">
                <a:tc>
                  <a:txBody>
                    <a:bodyPr/>
                    <a:lstStyle/>
                    <a:p>
                      <a:r>
                        <a:rPr lang="en-US" dirty="0"/>
                        <a:t>101</a:t>
                      </a:r>
                    </a:p>
                  </a:txBody>
                  <a:tcPr/>
                </a:tc>
                <a:tc>
                  <a:txBody>
                    <a:bodyPr/>
                    <a:lstStyle/>
                    <a:p>
                      <a:r>
                        <a:rPr lang="en-US" dirty="0"/>
                        <a:t>Hari</a:t>
                      </a:r>
                    </a:p>
                  </a:txBody>
                  <a:tcPr/>
                </a:tc>
                <a:tc>
                  <a:txBody>
                    <a:bodyPr/>
                    <a:lstStyle/>
                    <a:p>
                      <a:r>
                        <a:rPr lang="en-US" dirty="0"/>
                        <a:t>Mathematics</a:t>
                      </a:r>
                    </a:p>
                  </a:txBody>
                  <a:tcPr/>
                </a:tc>
                <a:tc>
                  <a:txBody>
                    <a:bodyPr/>
                    <a:lstStyle/>
                    <a:p>
                      <a:r>
                        <a:rPr lang="en-US" sz="1800" b="1" u="none" strike="noStrike" kern="1200" dirty="0">
                          <a:solidFill>
                            <a:schemeClr val="dk1"/>
                          </a:solidFill>
                          <a:effectLst/>
                          <a:latin typeface="+mn-lt"/>
                          <a:ea typeface="+mn-ea"/>
                          <a:cs typeface="+mn-cs"/>
                        </a:rPr>
                        <a:t>Invalid</a:t>
                      </a:r>
                      <a:r>
                        <a:rPr lang="en-US" dirty="0"/>
                        <a:t>: Violates uniqueness (Duplicate ID).</a:t>
                      </a:r>
                    </a:p>
                  </a:txBody>
                  <a:tcPr/>
                </a:tc>
                <a:extLst>
                  <a:ext uri="{0D108BD9-81ED-4DB2-BD59-A6C34878D82A}">
                    <a16:rowId xmlns:a16="http://schemas.microsoft.com/office/drawing/2014/main" val="865607464"/>
                  </a:ext>
                </a:extLst>
              </a:tr>
              <a:tr h="521460">
                <a:tc>
                  <a:txBody>
                    <a:bodyPr/>
                    <a:lstStyle/>
                    <a:p>
                      <a:r>
                        <a:rPr lang="en-US" dirty="0"/>
                        <a:t>NULL</a:t>
                      </a:r>
                    </a:p>
                  </a:txBody>
                  <a:tcPr/>
                </a:tc>
                <a:tc>
                  <a:txBody>
                    <a:bodyPr/>
                    <a:lstStyle/>
                    <a:p>
                      <a:r>
                        <a:rPr lang="en-US" dirty="0"/>
                        <a:t>Om</a:t>
                      </a:r>
                    </a:p>
                  </a:txBody>
                  <a:tcPr/>
                </a:tc>
                <a:tc>
                  <a:txBody>
                    <a:bodyPr/>
                    <a:lstStyle/>
                    <a:p>
                      <a:r>
                        <a:rPr lang="en-US" dirty="0"/>
                        <a:t>Chemistry</a:t>
                      </a:r>
                    </a:p>
                  </a:txBody>
                  <a:tcPr/>
                </a:tc>
                <a:tc>
                  <a:txBody>
                    <a:bodyPr/>
                    <a:lstStyle/>
                    <a:p>
                      <a:r>
                        <a:rPr lang="en-US" sz="1800" b="1" u="none" strike="noStrike" kern="1200" dirty="0">
                          <a:solidFill>
                            <a:schemeClr val="dk1"/>
                          </a:solidFill>
                          <a:effectLst/>
                          <a:latin typeface="+mn-lt"/>
                          <a:ea typeface="+mn-ea"/>
                          <a:cs typeface="+mn-cs"/>
                        </a:rPr>
                        <a:t>Invalid</a:t>
                      </a:r>
                      <a:r>
                        <a:rPr lang="en-US" dirty="0"/>
                        <a:t>: Violates </a:t>
                      </a:r>
                      <a:r>
                        <a:rPr lang="en-US" sz="1800" b="0" u="none" strike="noStrike" kern="1200" dirty="0">
                          <a:solidFill>
                            <a:schemeClr val="dk1"/>
                          </a:solidFill>
                          <a:effectLst/>
                          <a:latin typeface="+mn-lt"/>
                          <a:ea typeface="+mn-ea"/>
                          <a:cs typeface="+mn-cs"/>
                        </a:rPr>
                        <a:t>NOT NULL</a:t>
                      </a:r>
                      <a:r>
                        <a:rPr lang="en-US" dirty="0"/>
                        <a:t> restriction.</a:t>
                      </a:r>
                    </a:p>
                  </a:txBody>
                  <a:tcPr/>
                </a:tc>
                <a:extLst>
                  <a:ext uri="{0D108BD9-81ED-4DB2-BD59-A6C34878D82A}">
                    <a16:rowId xmlns:a16="http://schemas.microsoft.com/office/drawing/2014/main" val="1084065419"/>
                  </a:ext>
                </a:extLst>
              </a:tr>
            </a:tbl>
          </a:graphicData>
        </a:graphic>
      </p:graphicFrame>
      <p:sp>
        <p:nvSpPr>
          <p:cNvPr id="6" name="TextBox 5">
            <a:extLst>
              <a:ext uri="{FF2B5EF4-FFF2-40B4-BE49-F238E27FC236}">
                <a16:creationId xmlns:a16="http://schemas.microsoft.com/office/drawing/2014/main" id="{59481668-6957-3853-CAED-7B1677413023}"/>
              </a:ext>
            </a:extLst>
          </p:cNvPr>
          <p:cNvSpPr txBox="1"/>
          <p:nvPr/>
        </p:nvSpPr>
        <p:spPr>
          <a:xfrm>
            <a:off x="1097280" y="4791162"/>
            <a:ext cx="6092190" cy="1477328"/>
          </a:xfrm>
          <a:prstGeom prst="rect">
            <a:avLst/>
          </a:prstGeom>
          <a:noFill/>
        </p:spPr>
        <p:txBody>
          <a:bodyPr wrap="square">
            <a:spAutoFit/>
          </a:bodyPr>
          <a:lstStyle/>
          <a:p>
            <a:r>
              <a:rPr lang="en-US" b="0" u="none" strike="noStrike" dirty="0">
                <a:effectLst/>
                <a:latin typeface="Courier New" panose="02070309020205020404" pitchFamily="49" charset="0"/>
              </a:rPr>
              <a:t>CREATE TABLE Students ( </a:t>
            </a:r>
          </a:p>
          <a:p>
            <a:r>
              <a:rPr lang="en-US" b="0" u="none" strike="noStrike" dirty="0">
                <a:effectLst/>
                <a:latin typeface="Courier New" panose="02070309020205020404" pitchFamily="49" charset="0"/>
              </a:rPr>
              <a:t>StudentID INT PRIMARY KEY,</a:t>
            </a:r>
          </a:p>
          <a:p>
            <a:r>
              <a:rPr lang="en-US" b="0" u="none" strike="noStrike" dirty="0" err="1">
                <a:effectLst/>
                <a:latin typeface="Courier New" panose="02070309020205020404" pitchFamily="49" charset="0"/>
              </a:rPr>
              <a:t>StudentName</a:t>
            </a:r>
            <a:r>
              <a:rPr lang="en-US" b="0" u="none" strike="noStrike" dirty="0">
                <a:effectLst/>
                <a:latin typeface="Courier New" panose="02070309020205020404" pitchFamily="49" charset="0"/>
              </a:rPr>
              <a:t> VARCHAR(50) NOT NULL, </a:t>
            </a:r>
          </a:p>
          <a:p>
            <a:r>
              <a:rPr lang="en-US" b="0" u="none" strike="noStrike" dirty="0">
                <a:effectLst/>
                <a:latin typeface="Courier New" panose="02070309020205020404" pitchFamily="49" charset="0"/>
              </a:rPr>
              <a:t>Course VARCHAR(50) </a:t>
            </a:r>
          </a:p>
          <a:p>
            <a:r>
              <a:rPr lang="en-US" b="0" u="none" strike="noStrike" dirty="0">
                <a:effectLst/>
                <a:latin typeface="Courier New" panose="02070309020205020404" pitchFamily="49" charset="0"/>
              </a:rPr>
              <a:t>);</a:t>
            </a:r>
            <a:endParaRPr lang="en-US" dirty="0"/>
          </a:p>
        </p:txBody>
      </p:sp>
    </p:spTree>
    <p:extLst>
      <p:ext uri="{BB962C8B-B14F-4D97-AF65-F5344CB8AC3E}">
        <p14:creationId xmlns:p14="http://schemas.microsoft.com/office/powerpoint/2010/main" val="1520118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C15F5-F296-BF51-1731-1A0327BBA949}"/>
              </a:ext>
            </a:extLst>
          </p:cNvPr>
          <p:cNvSpPr>
            <a:spLocks noGrp="1"/>
          </p:cNvSpPr>
          <p:nvPr>
            <p:ph type="title"/>
          </p:nvPr>
        </p:nvSpPr>
        <p:spPr/>
        <p:txBody>
          <a:bodyPr/>
          <a:lstStyle/>
          <a:p>
            <a:endParaRPr lang="en-US" dirty="0"/>
          </a:p>
        </p:txBody>
      </p:sp>
      <p:graphicFrame>
        <p:nvGraphicFramePr>
          <p:cNvPr id="5" name="Content Placeholder 3">
            <a:extLst>
              <a:ext uri="{FF2B5EF4-FFF2-40B4-BE49-F238E27FC236}">
                <a16:creationId xmlns:a16="http://schemas.microsoft.com/office/drawing/2014/main" id="{25F0F687-0803-C833-7581-D7FF550695AA}"/>
              </a:ext>
            </a:extLst>
          </p:cNvPr>
          <p:cNvGraphicFramePr>
            <a:graphicFrameLocks/>
          </p:cNvGraphicFramePr>
          <p:nvPr>
            <p:extLst>
              <p:ext uri="{D42A27DB-BD31-4B8C-83A1-F6EECF244321}">
                <p14:modId xmlns:p14="http://schemas.microsoft.com/office/powerpoint/2010/main" val="2696596375"/>
              </p:ext>
            </p:extLst>
          </p:nvPr>
        </p:nvGraphicFramePr>
        <p:xfrm>
          <a:off x="1097280" y="1805940"/>
          <a:ext cx="8595360" cy="1948500"/>
        </p:xfrm>
        <a:graphic>
          <a:graphicData uri="http://schemas.openxmlformats.org/drawingml/2006/table">
            <a:tbl>
              <a:tblPr firstRow="1" bandRow="1">
                <a:tableStyleId>{5C22544A-7EE6-4342-B048-85BDC9FD1C3A}</a:tableStyleId>
              </a:tblPr>
              <a:tblGrid>
                <a:gridCol w="2865120">
                  <a:extLst>
                    <a:ext uri="{9D8B030D-6E8A-4147-A177-3AD203B41FA5}">
                      <a16:colId xmlns:a16="http://schemas.microsoft.com/office/drawing/2014/main" val="867723487"/>
                    </a:ext>
                  </a:extLst>
                </a:gridCol>
                <a:gridCol w="2865120">
                  <a:extLst>
                    <a:ext uri="{9D8B030D-6E8A-4147-A177-3AD203B41FA5}">
                      <a16:colId xmlns:a16="http://schemas.microsoft.com/office/drawing/2014/main" val="616294776"/>
                    </a:ext>
                  </a:extLst>
                </a:gridCol>
                <a:gridCol w="2865120">
                  <a:extLst>
                    <a:ext uri="{9D8B030D-6E8A-4147-A177-3AD203B41FA5}">
                      <a16:colId xmlns:a16="http://schemas.microsoft.com/office/drawing/2014/main" val="1386121531"/>
                    </a:ext>
                  </a:extLst>
                </a:gridCol>
              </a:tblGrid>
              <a:tr h="389700">
                <a:tc>
                  <a:txBody>
                    <a:bodyPr/>
                    <a:lstStyle/>
                    <a:p>
                      <a:pPr>
                        <a:buNone/>
                      </a:pPr>
                      <a:r>
                        <a:rPr lang="en-US" dirty="0"/>
                        <a:t>Entity Integrity</a:t>
                      </a:r>
                    </a:p>
                  </a:txBody>
                  <a:tcPr anchor="ctr"/>
                </a:tc>
                <a:tc>
                  <a:txBody>
                    <a:bodyPr/>
                    <a:lstStyle/>
                    <a:p>
                      <a:pPr>
                        <a:buNone/>
                      </a:pPr>
                      <a:r>
                        <a:rPr lang="en-US" dirty="0"/>
                        <a:t>Domain Integrity</a:t>
                      </a:r>
                    </a:p>
                  </a:txBody>
                  <a:tcPr anchor="ctr"/>
                </a:tc>
                <a:tc>
                  <a:txBody>
                    <a:bodyPr/>
                    <a:lstStyle/>
                    <a:p>
                      <a:pPr>
                        <a:buNone/>
                      </a:pPr>
                      <a:r>
                        <a:rPr lang="en-US" dirty="0"/>
                        <a:t>Referential Integrity</a:t>
                      </a:r>
                    </a:p>
                  </a:txBody>
                  <a:tcPr anchor="ctr"/>
                </a:tc>
                <a:extLst>
                  <a:ext uri="{0D108BD9-81ED-4DB2-BD59-A6C34878D82A}">
                    <a16:rowId xmlns:a16="http://schemas.microsoft.com/office/drawing/2014/main" val="1042591678"/>
                  </a:ext>
                </a:extLst>
              </a:tr>
              <a:tr h="389700">
                <a:tc>
                  <a:txBody>
                    <a:bodyPr/>
                    <a:lstStyle/>
                    <a:p>
                      <a:pPr>
                        <a:buNone/>
                      </a:pPr>
                      <a:r>
                        <a:rPr lang="en-US"/>
                        <a:t>Ensures row identification</a:t>
                      </a:r>
                    </a:p>
                  </a:txBody>
                  <a:tcPr anchor="ctr"/>
                </a:tc>
                <a:tc>
                  <a:txBody>
                    <a:bodyPr/>
                    <a:lstStyle/>
                    <a:p>
                      <a:pPr>
                        <a:buNone/>
                      </a:pPr>
                      <a:r>
                        <a:rPr lang="en-US"/>
                        <a:t>Ensures valid values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Maintains relationships</a:t>
                      </a:r>
                    </a:p>
                  </a:txBody>
                  <a:tcPr anchor="ctr"/>
                </a:tc>
                <a:extLst>
                  <a:ext uri="{0D108BD9-81ED-4DB2-BD59-A6C34878D82A}">
                    <a16:rowId xmlns:a16="http://schemas.microsoft.com/office/drawing/2014/main" val="287278756"/>
                  </a:ext>
                </a:extLst>
              </a:tr>
              <a:tr h="389700">
                <a:tc>
                  <a:txBody>
                    <a:bodyPr/>
                    <a:lstStyle/>
                    <a:p>
                      <a:pPr>
                        <a:buNone/>
                      </a:pPr>
                      <a:r>
                        <a:rPr lang="en-US" dirty="0"/>
                        <a:t>Uses Primary Key</a:t>
                      </a:r>
                    </a:p>
                  </a:txBody>
                  <a:tcPr anchor="ctr"/>
                </a:tc>
                <a:tc>
                  <a:txBody>
                    <a:bodyPr/>
                    <a:lstStyle/>
                    <a:p>
                      <a:pPr>
                        <a:buNone/>
                      </a:pPr>
                      <a:r>
                        <a:rPr lang="en-US" dirty="0"/>
                        <a:t>Uses Data Type, CHECK</a:t>
                      </a:r>
                    </a:p>
                  </a:txBody>
                  <a:tcPr anchor="ctr"/>
                </a:tc>
                <a:tc>
                  <a:txBody>
                    <a:bodyPr/>
                    <a:lstStyle/>
                    <a:p>
                      <a:pPr>
                        <a:buNone/>
                      </a:pPr>
                      <a:r>
                        <a:rPr lang="en-US" dirty="0"/>
                        <a:t>Uses Foreign Key</a:t>
                      </a:r>
                    </a:p>
                  </a:txBody>
                  <a:tcPr anchor="ctr"/>
                </a:tc>
                <a:extLst>
                  <a:ext uri="{0D108BD9-81ED-4DB2-BD59-A6C34878D82A}">
                    <a16:rowId xmlns:a16="http://schemas.microsoft.com/office/drawing/2014/main" val="2586770737"/>
                  </a:ext>
                </a:extLst>
              </a:tr>
              <a:tr h="389700">
                <a:tc>
                  <a:txBody>
                    <a:bodyPr/>
                    <a:lstStyle/>
                    <a:p>
                      <a:pPr>
                        <a:buNone/>
                      </a:pPr>
                      <a:r>
                        <a:rPr lang="en-US"/>
                        <a:t>No NULL in PK</a:t>
                      </a:r>
                    </a:p>
                  </a:txBody>
                  <a:tcPr anchor="ctr"/>
                </a:tc>
                <a:tc>
                  <a:txBody>
                    <a:bodyPr/>
                    <a:lstStyle/>
                    <a:p>
                      <a:pPr>
                        <a:buNone/>
                      </a:pPr>
                      <a:r>
                        <a:rPr lang="en-US" dirty="0"/>
                        <a:t>Valid domain values</a:t>
                      </a:r>
                    </a:p>
                  </a:txBody>
                  <a:tcPr anchor="ctr"/>
                </a:tc>
                <a:tc>
                  <a:txBody>
                    <a:bodyPr/>
                    <a:lstStyle/>
                    <a:p>
                      <a:pPr>
                        <a:buNone/>
                      </a:pPr>
                      <a:r>
                        <a:rPr lang="en-US" dirty="0"/>
                        <a:t>Works between tables</a:t>
                      </a:r>
                    </a:p>
                  </a:txBody>
                  <a:tcPr anchor="ctr"/>
                </a:tc>
                <a:extLst>
                  <a:ext uri="{0D108BD9-81ED-4DB2-BD59-A6C34878D82A}">
                    <a16:rowId xmlns:a16="http://schemas.microsoft.com/office/drawing/2014/main" val="786051362"/>
                  </a:ext>
                </a:extLst>
              </a:tr>
              <a:tr h="389700">
                <a:tc>
                  <a:txBody>
                    <a:bodyPr/>
                    <a:lstStyle/>
                    <a:p>
                      <a:pPr>
                        <a:buNone/>
                      </a:pPr>
                      <a:r>
                        <a:rPr lang="en-US" dirty="0"/>
                        <a:t>Prevents duplicate records</a:t>
                      </a:r>
                    </a:p>
                  </a:txBody>
                  <a:tcPr anchor="ctr"/>
                </a:tc>
                <a:tc>
                  <a:txBody>
                    <a:bodyPr/>
                    <a:lstStyle/>
                    <a:p>
                      <a:pPr>
                        <a:buNone/>
                      </a:pPr>
                      <a:r>
                        <a:rPr lang="en-US" dirty="0"/>
                        <a:t>Prevents invalid entries</a:t>
                      </a:r>
                    </a:p>
                  </a:txBody>
                  <a:tcPr anchor="ctr"/>
                </a:tc>
                <a:tc>
                  <a:txBody>
                    <a:bodyPr/>
                    <a:lstStyle/>
                    <a:p>
                      <a:pPr>
                        <a:buNone/>
                      </a:pPr>
                      <a:r>
                        <a:rPr lang="en-US" dirty="0"/>
                        <a:t>Prevents invalid references</a:t>
                      </a:r>
                    </a:p>
                  </a:txBody>
                  <a:tcPr anchor="ctr"/>
                </a:tc>
                <a:extLst>
                  <a:ext uri="{0D108BD9-81ED-4DB2-BD59-A6C34878D82A}">
                    <a16:rowId xmlns:a16="http://schemas.microsoft.com/office/drawing/2014/main" val="957400088"/>
                  </a:ext>
                </a:extLst>
              </a:tr>
            </a:tbl>
          </a:graphicData>
        </a:graphic>
      </p:graphicFrame>
      <p:sp>
        <p:nvSpPr>
          <p:cNvPr id="7" name="Content Placeholder 6">
            <a:extLst>
              <a:ext uri="{FF2B5EF4-FFF2-40B4-BE49-F238E27FC236}">
                <a16:creationId xmlns:a16="http://schemas.microsoft.com/office/drawing/2014/main" id="{F861F92E-1D98-8D0C-39EB-38BBA03E71C2}"/>
              </a:ext>
            </a:extLst>
          </p:cNvPr>
          <p:cNvSpPr>
            <a:spLocks noGrp="1"/>
          </p:cNvSpPr>
          <p:nvPr>
            <p:ph idx="1"/>
          </p:nvPr>
        </p:nvSpPr>
        <p:spPr>
          <a:xfrm>
            <a:off x="1097280" y="3685860"/>
            <a:ext cx="10058400" cy="2183234"/>
          </a:xfrm>
        </p:spPr>
        <p:txBody>
          <a:bodyPr/>
          <a:lstStyle/>
          <a:p>
            <a:endParaRPr lang="en-US" dirty="0"/>
          </a:p>
        </p:txBody>
      </p:sp>
    </p:spTree>
    <p:extLst>
      <p:ext uri="{BB962C8B-B14F-4D97-AF65-F5344CB8AC3E}">
        <p14:creationId xmlns:p14="http://schemas.microsoft.com/office/powerpoint/2010/main" val="25351507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8A9F-D600-A088-864C-D79C5A661A86}"/>
              </a:ext>
            </a:extLst>
          </p:cNvPr>
          <p:cNvSpPr>
            <a:spLocks noGrp="1"/>
          </p:cNvSpPr>
          <p:nvPr>
            <p:ph type="title"/>
          </p:nvPr>
        </p:nvSpPr>
        <p:spPr/>
        <p:txBody>
          <a:bodyPr/>
          <a:lstStyle/>
          <a:p>
            <a:r>
              <a:rPr lang="en-US" dirty="0"/>
              <a:t>Referential Integrity Constraint</a:t>
            </a:r>
          </a:p>
        </p:txBody>
      </p:sp>
      <p:sp>
        <p:nvSpPr>
          <p:cNvPr id="3" name="Content Placeholder 2">
            <a:extLst>
              <a:ext uri="{FF2B5EF4-FFF2-40B4-BE49-F238E27FC236}">
                <a16:creationId xmlns:a16="http://schemas.microsoft.com/office/drawing/2014/main" id="{2C0E4368-319A-8FBF-6532-0ECAE764021B}"/>
              </a:ext>
            </a:extLst>
          </p:cNvPr>
          <p:cNvSpPr>
            <a:spLocks noGrp="1"/>
          </p:cNvSpPr>
          <p:nvPr>
            <p:ph idx="1"/>
          </p:nvPr>
        </p:nvSpPr>
        <p:spPr/>
        <p:txBody>
          <a:bodyPr/>
          <a:lstStyle/>
          <a:p>
            <a:r>
              <a:rPr lang="en-US" dirty="0"/>
              <a:t>Referential Integrity Constraint is a rule that ensures consistency between related tables in a database.</a:t>
            </a:r>
          </a:p>
          <a:p>
            <a:pPr lvl="1"/>
            <a:r>
              <a:rPr lang="en-US" dirty="0"/>
              <a:t>Maintains consistency between related tables.</a:t>
            </a:r>
          </a:p>
          <a:p>
            <a:r>
              <a:rPr lang="en-US" dirty="0"/>
              <a:t>A Foreign Key value in one table must either match an existing Primary Key value in the referenced table or be NULL (if allowed).</a:t>
            </a:r>
          </a:p>
          <a:p>
            <a:r>
              <a:rPr lang="en-US" b="1" dirty="0"/>
              <a:t>Core Components: </a:t>
            </a:r>
            <a:r>
              <a:rPr lang="en-US" dirty="0"/>
              <a:t>Referential integrity works by binding two specific columns across two distinct tables:</a:t>
            </a:r>
          </a:p>
          <a:p>
            <a:pPr lvl="1"/>
            <a:r>
              <a:rPr lang="en-US" b="1" dirty="0"/>
              <a:t>Parent Table (Referenced Table):</a:t>
            </a:r>
            <a:r>
              <a:rPr lang="en-US" dirty="0"/>
              <a:t> Contains the primary key </a:t>
            </a:r>
          </a:p>
          <a:p>
            <a:pPr lvl="1"/>
            <a:r>
              <a:rPr lang="en-US" b="1" dirty="0"/>
              <a:t>Child Table (Referencing Table):</a:t>
            </a:r>
            <a:r>
              <a:rPr lang="en-US" dirty="0"/>
              <a:t> Contains the foreign key that points back to the parent table's primary key</a:t>
            </a:r>
          </a:p>
          <a:p>
            <a:endParaRPr lang="en-US" dirty="0"/>
          </a:p>
          <a:p>
            <a:endParaRPr lang="en-US" dirty="0"/>
          </a:p>
        </p:txBody>
      </p:sp>
    </p:spTree>
    <p:extLst>
      <p:ext uri="{BB962C8B-B14F-4D97-AF65-F5344CB8AC3E}">
        <p14:creationId xmlns:p14="http://schemas.microsoft.com/office/powerpoint/2010/main" val="36885823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2FB70-84DF-001D-F14D-2C0A50F2E4A6}"/>
              </a:ext>
            </a:extLst>
          </p:cNvPr>
          <p:cNvSpPr>
            <a:spLocks noGrp="1"/>
          </p:cNvSpPr>
          <p:nvPr>
            <p:ph type="title"/>
          </p:nvPr>
        </p:nvSpPr>
        <p:spPr/>
        <p:txBody>
          <a:bodyPr/>
          <a:lstStyle/>
          <a:p>
            <a:r>
              <a:rPr lang="en-US" dirty="0"/>
              <a:t>Example:</a:t>
            </a:r>
          </a:p>
        </p:txBody>
      </p:sp>
      <p:graphicFrame>
        <p:nvGraphicFramePr>
          <p:cNvPr id="5" name="Content Placeholder 3">
            <a:extLst>
              <a:ext uri="{FF2B5EF4-FFF2-40B4-BE49-F238E27FC236}">
                <a16:creationId xmlns:a16="http://schemas.microsoft.com/office/drawing/2014/main" id="{74F0BC5E-19D0-69AB-6D2F-B281A7AFB9D9}"/>
              </a:ext>
            </a:extLst>
          </p:cNvPr>
          <p:cNvGraphicFramePr>
            <a:graphicFrameLocks/>
          </p:cNvGraphicFramePr>
          <p:nvPr>
            <p:extLst>
              <p:ext uri="{D42A27DB-BD31-4B8C-83A1-F6EECF244321}">
                <p14:modId xmlns:p14="http://schemas.microsoft.com/office/powerpoint/2010/main" val="2704623099"/>
              </p:ext>
            </p:extLst>
          </p:nvPr>
        </p:nvGraphicFramePr>
        <p:xfrm>
          <a:off x="1097280" y="1863687"/>
          <a:ext cx="3406140" cy="1463040"/>
        </p:xfrm>
        <a:graphic>
          <a:graphicData uri="http://schemas.openxmlformats.org/drawingml/2006/table">
            <a:tbl>
              <a:tblPr firstRow="1" bandRow="1">
                <a:tableStyleId>{5C22544A-7EE6-4342-B048-85BDC9FD1C3A}</a:tableStyleId>
              </a:tblPr>
              <a:tblGrid>
                <a:gridCol w="1703070">
                  <a:extLst>
                    <a:ext uri="{9D8B030D-6E8A-4147-A177-3AD203B41FA5}">
                      <a16:colId xmlns:a16="http://schemas.microsoft.com/office/drawing/2014/main" val="1104044002"/>
                    </a:ext>
                  </a:extLst>
                </a:gridCol>
                <a:gridCol w="1703070">
                  <a:extLst>
                    <a:ext uri="{9D8B030D-6E8A-4147-A177-3AD203B41FA5}">
                      <a16:colId xmlns:a16="http://schemas.microsoft.com/office/drawing/2014/main" val="4183685560"/>
                    </a:ext>
                  </a:extLst>
                </a:gridCol>
              </a:tblGrid>
              <a:tr h="362689">
                <a:tc>
                  <a:txBody>
                    <a:bodyPr/>
                    <a:lstStyle/>
                    <a:p>
                      <a:pPr>
                        <a:buNone/>
                      </a:pPr>
                      <a:r>
                        <a:rPr lang="en-US" dirty="0" err="1"/>
                        <a:t>Dept_ID</a:t>
                      </a:r>
                      <a:endParaRPr lang="en-US" dirty="0"/>
                    </a:p>
                  </a:txBody>
                  <a:tcPr anchor="ctr"/>
                </a:tc>
                <a:tc>
                  <a:txBody>
                    <a:bodyPr/>
                    <a:lstStyle/>
                    <a:p>
                      <a:pPr>
                        <a:buNone/>
                      </a:pPr>
                      <a:r>
                        <a:rPr lang="en-US"/>
                        <a:t>Dept_Name</a:t>
                      </a:r>
                    </a:p>
                  </a:txBody>
                  <a:tcPr anchor="ctr"/>
                </a:tc>
                <a:extLst>
                  <a:ext uri="{0D108BD9-81ED-4DB2-BD59-A6C34878D82A}">
                    <a16:rowId xmlns:a16="http://schemas.microsoft.com/office/drawing/2014/main" val="3106426115"/>
                  </a:ext>
                </a:extLst>
              </a:tr>
              <a:tr h="362689">
                <a:tc>
                  <a:txBody>
                    <a:bodyPr/>
                    <a:lstStyle/>
                    <a:p>
                      <a:pPr>
                        <a:buNone/>
                      </a:pPr>
                      <a:r>
                        <a:rPr lang="en-US"/>
                        <a:t>D1</a:t>
                      </a:r>
                    </a:p>
                  </a:txBody>
                  <a:tcPr anchor="ctr"/>
                </a:tc>
                <a:tc>
                  <a:txBody>
                    <a:bodyPr/>
                    <a:lstStyle/>
                    <a:p>
                      <a:pPr>
                        <a:buNone/>
                      </a:pPr>
                      <a:r>
                        <a:rPr lang="en-US"/>
                        <a:t>BCA</a:t>
                      </a:r>
                    </a:p>
                  </a:txBody>
                  <a:tcPr anchor="ctr"/>
                </a:tc>
                <a:extLst>
                  <a:ext uri="{0D108BD9-81ED-4DB2-BD59-A6C34878D82A}">
                    <a16:rowId xmlns:a16="http://schemas.microsoft.com/office/drawing/2014/main" val="579727903"/>
                  </a:ext>
                </a:extLst>
              </a:tr>
              <a:tr h="362689">
                <a:tc>
                  <a:txBody>
                    <a:bodyPr/>
                    <a:lstStyle/>
                    <a:p>
                      <a:pPr>
                        <a:buNone/>
                      </a:pPr>
                      <a:r>
                        <a:rPr lang="en-US"/>
                        <a:t>D2</a:t>
                      </a:r>
                    </a:p>
                  </a:txBody>
                  <a:tcPr anchor="ctr"/>
                </a:tc>
                <a:tc>
                  <a:txBody>
                    <a:bodyPr/>
                    <a:lstStyle/>
                    <a:p>
                      <a:pPr>
                        <a:buNone/>
                      </a:pPr>
                      <a:r>
                        <a:rPr lang="en-US"/>
                        <a:t>BBA</a:t>
                      </a:r>
                    </a:p>
                  </a:txBody>
                  <a:tcPr anchor="ctr"/>
                </a:tc>
                <a:extLst>
                  <a:ext uri="{0D108BD9-81ED-4DB2-BD59-A6C34878D82A}">
                    <a16:rowId xmlns:a16="http://schemas.microsoft.com/office/drawing/2014/main" val="1096090267"/>
                  </a:ext>
                </a:extLst>
              </a:tr>
              <a:tr h="362689">
                <a:tc>
                  <a:txBody>
                    <a:bodyPr/>
                    <a:lstStyle/>
                    <a:p>
                      <a:pPr>
                        <a:buNone/>
                      </a:pPr>
                      <a:r>
                        <a:rPr lang="en-US"/>
                        <a:t>D3</a:t>
                      </a:r>
                    </a:p>
                  </a:txBody>
                  <a:tcPr anchor="ctr"/>
                </a:tc>
                <a:tc>
                  <a:txBody>
                    <a:bodyPr/>
                    <a:lstStyle/>
                    <a:p>
                      <a:pPr>
                        <a:buNone/>
                      </a:pPr>
                      <a:r>
                        <a:rPr lang="en-US" dirty="0"/>
                        <a:t>Civil</a:t>
                      </a:r>
                    </a:p>
                  </a:txBody>
                  <a:tcPr anchor="ctr"/>
                </a:tc>
                <a:extLst>
                  <a:ext uri="{0D108BD9-81ED-4DB2-BD59-A6C34878D82A}">
                    <a16:rowId xmlns:a16="http://schemas.microsoft.com/office/drawing/2014/main" val="1062303624"/>
                  </a:ext>
                </a:extLst>
              </a:tr>
            </a:tbl>
          </a:graphicData>
        </a:graphic>
      </p:graphicFrame>
      <p:graphicFrame>
        <p:nvGraphicFramePr>
          <p:cNvPr id="9" name="Content Placeholder 7">
            <a:extLst>
              <a:ext uri="{FF2B5EF4-FFF2-40B4-BE49-F238E27FC236}">
                <a16:creationId xmlns:a16="http://schemas.microsoft.com/office/drawing/2014/main" id="{56DC2AE7-CD5A-3546-6387-177CC05DE09D}"/>
              </a:ext>
            </a:extLst>
          </p:cNvPr>
          <p:cNvGraphicFramePr>
            <a:graphicFrameLocks/>
          </p:cNvGraphicFramePr>
          <p:nvPr>
            <p:extLst>
              <p:ext uri="{D42A27DB-BD31-4B8C-83A1-F6EECF244321}">
                <p14:modId xmlns:p14="http://schemas.microsoft.com/office/powerpoint/2010/main" val="3053617386"/>
              </p:ext>
            </p:extLst>
          </p:nvPr>
        </p:nvGraphicFramePr>
        <p:xfrm>
          <a:off x="5139688" y="1863687"/>
          <a:ext cx="6015992" cy="2354156"/>
        </p:xfrm>
        <a:graphic>
          <a:graphicData uri="http://schemas.openxmlformats.org/drawingml/2006/table">
            <a:tbl>
              <a:tblPr firstRow="1" bandRow="1">
                <a:tableStyleId>{5C22544A-7EE6-4342-B048-85BDC9FD1C3A}</a:tableStyleId>
              </a:tblPr>
              <a:tblGrid>
                <a:gridCol w="992548">
                  <a:extLst>
                    <a:ext uri="{9D8B030D-6E8A-4147-A177-3AD203B41FA5}">
                      <a16:colId xmlns:a16="http://schemas.microsoft.com/office/drawing/2014/main" val="1816615315"/>
                    </a:ext>
                  </a:extLst>
                </a:gridCol>
                <a:gridCol w="808590">
                  <a:extLst>
                    <a:ext uri="{9D8B030D-6E8A-4147-A177-3AD203B41FA5}">
                      <a16:colId xmlns:a16="http://schemas.microsoft.com/office/drawing/2014/main" val="1623173794"/>
                    </a:ext>
                  </a:extLst>
                </a:gridCol>
                <a:gridCol w="1026228">
                  <a:extLst>
                    <a:ext uri="{9D8B030D-6E8A-4147-A177-3AD203B41FA5}">
                      <a16:colId xmlns:a16="http://schemas.microsoft.com/office/drawing/2014/main" val="129556741"/>
                    </a:ext>
                  </a:extLst>
                </a:gridCol>
                <a:gridCol w="3188626">
                  <a:extLst>
                    <a:ext uri="{9D8B030D-6E8A-4147-A177-3AD203B41FA5}">
                      <a16:colId xmlns:a16="http://schemas.microsoft.com/office/drawing/2014/main" val="2333702487"/>
                    </a:ext>
                  </a:extLst>
                </a:gridCol>
              </a:tblGrid>
              <a:tr h="428519">
                <a:tc>
                  <a:txBody>
                    <a:bodyPr/>
                    <a:lstStyle/>
                    <a:p>
                      <a:pPr>
                        <a:buNone/>
                      </a:pPr>
                      <a:r>
                        <a:rPr lang="en-US" dirty="0" err="1"/>
                        <a:t>Roll_No</a:t>
                      </a:r>
                      <a:endParaRPr lang="en-US" dirty="0"/>
                    </a:p>
                  </a:txBody>
                  <a:tcPr anchor="ctr"/>
                </a:tc>
                <a:tc>
                  <a:txBody>
                    <a:bodyPr/>
                    <a:lstStyle/>
                    <a:p>
                      <a:pPr>
                        <a:buNone/>
                      </a:pPr>
                      <a:r>
                        <a:rPr lang="en-US" dirty="0"/>
                        <a:t>Name</a:t>
                      </a:r>
                    </a:p>
                  </a:txBody>
                  <a:tcPr anchor="ctr"/>
                </a:tc>
                <a:tc>
                  <a:txBody>
                    <a:bodyPr/>
                    <a:lstStyle/>
                    <a:p>
                      <a:pPr>
                        <a:buNone/>
                      </a:pPr>
                      <a:r>
                        <a:rPr lang="en-US" dirty="0" err="1"/>
                        <a:t>Dept_ID</a:t>
                      </a:r>
                      <a:endParaRPr lang="en-US" dirty="0"/>
                    </a:p>
                  </a:txBody>
                  <a:tcPr anchor="ctr"/>
                </a:tc>
                <a:tc>
                  <a:txBody>
                    <a:bodyPr/>
                    <a:lstStyle/>
                    <a:p>
                      <a:pPr>
                        <a:buNone/>
                      </a:pPr>
                      <a:r>
                        <a:rPr lang="en-US" dirty="0"/>
                        <a:t>Status</a:t>
                      </a:r>
                    </a:p>
                  </a:txBody>
                  <a:tcPr anchor="ctr"/>
                </a:tc>
                <a:extLst>
                  <a:ext uri="{0D108BD9-81ED-4DB2-BD59-A6C34878D82A}">
                    <a16:rowId xmlns:a16="http://schemas.microsoft.com/office/drawing/2014/main" val="2540373214"/>
                  </a:ext>
                </a:extLst>
              </a:tr>
              <a:tr h="428519">
                <a:tc>
                  <a:txBody>
                    <a:bodyPr/>
                    <a:lstStyle/>
                    <a:p>
                      <a:pPr>
                        <a:buNone/>
                      </a:pPr>
                      <a:r>
                        <a:rPr lang="en-US"/>
                        <a:t>101</a:t>
                      </a:r>
                    </a:p>
                  </a:txBody>
                  <a:tcPr anchor="ctr"/>
                </a:tc>
                <a:tc>
                  <a:txBody>
                    <a:bodyPr/>
                    <a:lstStyle/>
                    <a:p>
                      <a:pPr>
                        <a:buNone/>
                      </a:pPr>
                      <a:r>
                        <a:rPr lang="en-US" dirty="0"/>
                        <a:t>Ram</a:t>
                      </a:r>
                    </a:p>
                  </a:txBody>
                  <a:tcPr anchor="ctr"/>
                </a:tc>
                <a:tc>
                  <a:txBody>
                    <a:bodyPr/>
                    <a:lstStyle/>
                    <a:p>
                      <a:pPr>
                        <a:buNone/>
                      </a:pPr>
                      <a:r>
                        <a:rPr lang="en-US" dirty="0"/>
                        <a:t>D1</a:t>
                      </a:r>
                    </a:p>
                  </a:txBody>
                  <a:tcPr anchor="ctr"/>
                </a:tc>
                <a:tc>
                  <a:txBody>
                    <a:bodyPr/>
                    <a:lstStyle/>
                    <a:p>
                      <a:pPr>
                        <a:buNone/>
                      </a:pPr>
                      <a:r>
                        <a:rPr lang="en-US" dirty="0"/>
                        <a:t>Valid: Matches BCA</a:t>
                      </a:r>
                    </a:p>
                  </a:txBody>
                  <a:tcPr anchor="ctr"/>
                </a:tc>
                <a:extLst>
                  <a:ext uri="{0D108BD9-81ED-4DB2-BD59-A6C34878D82A}">
                    <a16:rowId xmlns:a16="http://schemas.microsoft.com/office/drawing/2014/main" val="1862003066"/>
                  </a:ext>
                </a:extLst>
              </a:tr>
              <a:tr h="428519">
                <a:tc>
                  <a:txBody>
                    <a:bodyPr/>
                    <a:lstStyle/>
                    <a:p>
                      <a:pPr>
                        <a:buNone/>
                      </a:pPr>
                      <a:r>
                        <a:rPr lang="en-US" dirty="0"/>
                        <a:t>102</a:t>
                      </a:r>
                    </a:p>
                  </a:txBody>
                  <a:tcPr anchor="ctr"/>
                </a:tc>
                <a:tc>
                  <a:txBody>
                    <a:bodyPr/>
                    <a:lstStyle/>
                    <a:p>
                      <a:pPr>
                        <a:buNone/>
                      </a:pPr>
                      <a:r>
                        <a:rPr lang="en-US" dirty="0"/>
                        <a:t>Sita</a:t>
                      </a:r>
                    </a:p>
                  </a:txBody>
                  <a:tcPr anchor="ctr"/>
                </a:tc>
                <a:tc>
                  <a:txBody>
                    <a:bodyPr/>
                    <a:lstStyle/>
                    <a:p>
                      <a:pPr>
                        <a:buNone/>
                      </a:pPr>
                      <a:r>
                        <a:rPr lang="en-US" dirty="0"/>
                        <a:t>D2</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Valid: Matches BBA</a:t>
                      </a:r>
                    </a:p>
                  </a:txBody>
                  <a:tcPr anchor="ctr"/>
                </a:tc>
                <a:extLst>
                  <a:ext uri="{0D108BD9-81ED-4DB2-BD59-A6C34878D82A}">
                    <a16:rowId xmlns:a16="http://schemas.microsoft.com/office/drawing/2014/main" val="2566337083"/>
                  </a:ext>
                </a:extLst>
              </a:tr>
              <a:tr h="428519">
                <a:tc>
                  <a:txBody>
                    <a:bodyPr/>
                    <a:lstStyle/>
                    <a:p>
                      <a:pPr>
                        <a:buNone/>
                      </a:pPr>
                      <a:r>
                        <a:rPr lang="en-US" dirty="0"/>
                        <a:t>103</a:t>
                      </a:r>
                    </a:p>
                  </a:txBody>
                  <a:tcPr anchor="ctr"/>
                </a:tc>
                <a:tc>
                  <a:txBody>
                    <a:bodyPr/>
                    <a:lstStyle/>
                    <a:p>
                      <a:pPr>
                        <a:buNone/>
                      </a:pPr>
                      <a:r>
                        <a:rPr lang="en-US" dirty="0"/>
                        <a:t>Lanka</a:t>
                      </a:r>
                    </a:p>
                  </a:txBody>
                  <a:tcPr anchor="ctr"/>
                </a:tc>
                <a:tc>
                  <a:txBody>
                    <a:bodyPr/>
                    <a:lstStyle/>
                    <a:p>
                      <a:pPr>
                        <a:buNone/>
                      </a:pPr>
                      <a:r>
                        <a:rPr lang="en-US" dirty="0"/>
                        <a:t>NULL</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Valid can be null</a:t>
                      </a:r>
                    </a:p>
                  </a:txBody>
                  <a:tcPr anchor="ctr"/>
                </a:tc>
                <a:extLst>
                  <a:ext uri="{0D108BD9-81ED-4DB2-BD59-A6C34878D82A}">
                    <a16:rowId xmlns:a16="http://schemas.microsoft.com/office/drawing/2014/main" val="206453704"/>
                  </a:ext>
                </a:extLst>
              </a:tr>
              <a:tr h="428519">
                <a:tc>
                  <a:txBody>
                    <a:bodyPr/>
                    <a:lstStyle/>
                    <a:p>
                      <a:pPr>
                        <a:buNone/>
                      </a:pPr>
                      <a:r>
                        <a:rPr lang="en-US" dirty="0"/>
                        <a:t>104</a:t>
                      </a:r>
                    </a:p>
                  </a:txBody>
                  <a:tcPr anchor="ctr"/>
                </a:tc>
                <a:tc>
                  <a:txBody>
                    <a:bodyPr/>
                    <a:lstStyle/>
                    <a:p>
                      <a:pPr>
                        <a:buNone/>
                      </a:pPr>
                      <a:r>
                        <a:rPr lang="en-US" dirty="0"/>
                        <a:t>Hari</a:t>
                      </a:r>
                    </a:p>
                  </a:txBody>
                  <a:tcPr anchor="ctr"/>
                </a:tc>
                <a:tc>
                  <a:txBody>
                    <a:bodyPr/>
                    <a:lstStyle/>
                    <a:p>
                      <a:pPr>
                        <a:buNone/>
                      </a:pPr>
                      <a:r>
                        <a:rPr lang="en-US" dirty="0"/>
                        <a:t>D4</a:t>
                      </a:r>
                    </a:p>
                  </a:txBody>
                  <a:tcPr anchor="ctr"/>
                </a:tc>
                <a:tc>
                  <a:txBody>
                    <a:bodyPr/>
                    <a:lstStyle/>
                    <a:p>
                      <a:pPr>
                        <a:buNone/>
                      </a:pPr>
                      <a:r>
                        <a:rPr lang="en-US" sz="1800" b="1" u="none" strike="noStrike" kern="1200" dirty="0">
                          <a:solidFill>
                            <a:schemeClr val="dk1"/>
                          </a:solidFill>
                          <a:effectLst/>
                          <a:latin typeface="+mn-lt"/>
                          <a:ea typeface="+mn-ea"/>
                          <a:cs typeface="+mn-cs"/>
                        </a:rPr>
                        <a:t>Violated &amp; Rejected</a:t>
                      </a:r>
                      <a:r>
                        <a:rPr lang="en-US" dirty="0"/>
                        <a:t> ( Dept D4 does not exist)</a:t>
                      </a:r>
                    </a:p>
                  </a:txBody>
                  <a:tcPr anchor="ctr"/>
                </a:tc>
                <a:extLst>
                  <a:ext uri="{0D108BD9-81ED-4DB2-BD59-A6C34878D82A}">
                    <a16:rowId xmlns:a16="http://schemas.microsoft.com/office/drawing/2014/main" val="1174080282"/>
                  </a:ext>
                </a:extLst>
              </a:tr>
            </a:tbl>
          </a:graphicData>
        </a:graphic>
      </p:graphicFrame>
      <p:sp>
        <p:nvSpPr>
          <p:cNvPr id="11" name="Content Placeholder 10">
            <a:extLst>
              <a:ext uri="{FF2B5EF4-FFF2-40B4-BE49-F238E27FC236}">
                <a16:creationId xmlns:a16="http://schemas.microsoft.com/office/drawing/2014/main" id="{D178CFC4-36F9-7276-B271-86B637574F94}"/>
              </a:ext>
            </a:extLst>
          </p:cNvPr>
          <p:cNvSpPr>
            <a:spLocks noGrp="1"/>
          </p:cNvSpPr>
          <p:nvPr>
            <p:ph idx="1"/>
          </p:nvPr>
        </p:nvSpPr>
        <p:spPr>
          <a:xfrm>
            <a:off x="1097280" y="3708757"/>
            <a:ext cx="4011612" cy="2450888"/>
          </a:xfrm>
        </p:spPr>
        <p:txBody>
          <a:bodyPr/>
          <a:lstStyle/>
          <a:p>
            <a:r>
              <a:rPr lang="en-US" b="1" u="sng" dirty="0"/>
              <a:t>Creating Parent table: </a:t>
            </a:r>
            <a:br>
              <a:rPr lang="en-US" dirty="0"/>
            </a:br>
            <a:r>
              <a:rPr lang="en-US" dirty="0"/>
              <a:t>CREATE TABLE Department(</a:t>
            </a:r>
          </a:p>
          <a:p>
            <a:r>
              <a:rPr lang="en-US" dirty="0"/>
              <a:t>    </a:t>
            </a:r>
            <a:r>
              <a:rPr lang="en-US" dirty="0" err="1"/>
              <a:t>Dept_ID</a:t>
            </a:r>
            <a:r>
              <a:rPr lang="en-US" dirty="0"/>
              <a:t> VARCHAR(5) PRIMARY KEY,</a:t>
            </a:r>
          </a:p>
          <a:p>
            <a:r>
              <a:rPr lang="en-US" dirty="0"/>
              <a:t>    </a:t>
            </a:r>
            <a:r>
              <a:rPr lang="en-US" dirty="0" err="1"/>
              <a:t>Dept_Name</a:t>
            </a:r>
            <a:r>
              <a:rPr lang="en-US" dirty="0"/>
              <a:t> VARCHAR(30)</a:t>
            </a:r>
          </a:p>
          <a:p>
            <a:r>
              <a:rPr lang="en-US" dirty="0"/>
              <a:t>);</a:t>
            </a:r>
          </a:p>
        </p:txBody>
      </p:sp>
      <p:sp>
        <p:nvSpPr>
          <p:cNvPr id="14" name="Content Placeholder 10">
            <a:extLst>
              <a:ext uri="{FF2B5EF4-FFF2-40B4-BE49-F238E27FC236}">
                <a16:creationId xmlns:a16="http://schemas.microsoft.com/office/drawing/2014/main" id="{4D8EF79C-CB29-6CE8-1042-F71F4C605E18}"/>
              </a:ext>
            </a:extLst>
          </p:cNvPr>
          <p:cNvSpPr txBox="1">
            <a:spLocks/>
          </p:cNvSpPr>
          <p:nvPr/>
        </p:nvSpPr>
        <p:spPr>
          <a:xfrm>
            <a:off x="5476874" y="4344170"/>
            <a:ext cx="5341620" cy="2450888"/>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0">
              <a:spcBef>
                <a:spcPts val="0"/>
              </a:spcBef>
              <a:spcAft>
                <a:spcPts val="0"/>
              </a:spcAft>
            </a:pPr>
            <a:r>
              <a:rPr lang="en-US" b="1" u="sng" dirty="0"/>
              <a:t>Creating Child table: </a:t>
            </a:r>
            <a:br>
              <a:rPr lang="en-US" dirty="0"/>
            </a:br>
            <a:r>
              <a:rPr lang="en-US" dirty="0"/>
              <a:t>CREATE TABLE Student(</a:t>
            </a:r>
          </a:p>
          <a:p>
            <a:pPr marL="0">
              <a:spcBef>
                <a:spcPts val="0"/>
              </a:spcBef>
              <a:spcAft>
                <a:spcPts val="0"/>
              </a:spcAft>
            </a:pPr>
            <a:r>
              <a:rPr lang="en-US" dirty="0"/>
              <a:t>    </a:t>
            </a:r>
            <a:r>
              <a:rPr lang="en-US" dirty="0" err="1"/>
              <a:t>Roll_No</a:t>
            </a:r>
            <a:r>
              <a:rPr lang="en-US" dirty="0"/>
              <a:t> INT PRIMARY KEY,</a:t>
            </a:r>
          </a:p>
          <a:p>
            <a:pPr marL="0">
              <a:spcBef>
                <a:spcPts val="0"/>
              </a:spcBef>
              <a:spcAft>
                <a:spcPts val="0"/>
              </a:spcAft>
            </a:pPr>
            <a:r>
              <a:rPr lang="en-US" dirty="0"/>
              <a:t>    Name VARCHAR(50),</a:t>
            </a:r>
          </a:p>
          <a:p>
            <a:pPr marL="0">
              <a:spcBef>
                <a:spcPts val="0"/>
              </a:spcBef>
              <a:spcAft>
                <a:spcPts val="0"/>
              </a:spcAft>
            </a:pPr>
            <a:r>
              <a:rPr lang="en-US" dirty="0"/>
              <a:t>    </a:t>
            </a:r>
            <a:r>
              <a:rPr lang="en-US" dirty="0" err="1"/>
              <a:t>Dept_ID</a:t>
            </a:r>
            <a:r>
              <a:rPr lang="en-US" dirty="0"/>
              <a:t> VARCHAR(5),</a:t>
            </a:r>
          </a:p>
          <a:p>
            <a:pPr marL="0">
              <a:spcBef>
                <a:spcPts val="0"/>
              </a:spcBef>
              <a:spcAft>
                <a:spcPts val="0"/>
              </a:spcAft>
            </a:pPr>
            <a:r>
              <a:rPr lang="en-US" dirty="0"/>
              <a:t>    FOREIGN KEY (</a:t>
            </a:r>
            <a:r>
              <a:rPr lang="en-US" dirty="0" err="1"/>
              <a:t>Dept_ID</a:t>
            </a:r>
            <a:r>
              <a:rPr lang="en-US" dirty="0"/>
              <a:t>)</a:t>
            </a:r>
          </a:p>
          <a:p>
            <a:pPr marL="0">
              <a:spcBef>
                <a:spcPts val="0"/>
              </a:spcBef>
              <a:spcAft>
                <a:spcPts val="0"/>
              </a:spcAft>
            </a:pPr>
            <a:r>
              <a:rPr lang="en-US" dirty="0"/>
              <a:t>    REFERENCES Department(</a:t>
            </a:r>
            <a:r>
              <a:rPr lang="en-US" dirty="0" err="1"/>
              <a:t>Dept_ID</a:t>
            </a:r>
            <a:r>
              <a:rPr lang="en-US" dirty="0"/>
              <a:t>)</a:t>
            </a:r>
          </a:p>
          <a:p>
            <a:pPr marL="0">
              <a:spcBef>
                <a:spcPts val="0"/>
              </a:spcBef>
              <a:spcAft>
                <a:spcPts val="0"/>
              </a:spcAft>
            </a:pPr>
            <a:r>
              <a:rPr lang="en-US" dirty="0"/>
              <a:t>);</a:t>
            </a:r>
          </a:p>
        </p:txBody>
      </p:sp>
    </p:spTree>
    <p:extLst>
      <p:ext uri="{BB962C8B-B14F-4D97-AF65-F5344CB8AC3E}">
        <p14:creationId xmlns:p14="http://schemas.microsoft.com/office/powerpoint/2010/main" val="20337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2E5FE-7304-27D9-D7D4-15E8A373F307}"/>
              </a:ext>
            </a:extLst>
          </p:cNvPr>
          <p:cNvSpPr>
            <a:spLocks noGrp="1"/>
          </p:cNvSpPr>
          <p:nvPr>
            <p:ph type="title"/>
          </p:nvPr>
        </p:nvSpPr>
        <p:spPr/>
        <p:txBody>
          <a:bodyPr/>
          <a:lstStyle/>
          <a:p>
            <a:r>
              <a:rPr lang="en-US" dirty="0"/>
              <a:t>Violations and Handling Violations</a:t>
            </a:r>
          </a:p>
        </p:txBody>
      </p:sp>
      <p:sp>
        <p:nvSpPr>
          <p:cNvPr id="3" name="Content Placeholder 2">
            <a:extLst>
              <a:ext uri="{FF2B5EF4-FFF2-40B4-BE49-F238E27FC236}">
                <a16:creationId xmlns:a16="http://schemas.microsoft.com/office/drawing/2014/main" id="{E7CC52CE-C88E-326B-063C-555F386FDF81}"/>
              </a:ext>
            </a:extLst>
          </p:cNvPr>
          <p:cNvSpPr>
            <a:spLocks noGrp="1"/>
          </p:cNvSpPr>
          <p:nvPr>
            <p:ph idx="1"/>
          </p:nvPr>
        </p:nvSpPr>
        <p:spPr/>
        <p:txBody>
          <a:bodyPr>
            <a:normAutofit/>
          </a:bodyPr>
          <a:lstStyle/>
          <a:p>
            <a:r>
              <a:rPr lang="en-US" dirty="0"/>
              <a:t>DBMS automatically monitors data modifications to intercept actions that break this constraint. So, the following </a:t>
            </a:r>
            <a:r>
              <a:rPr lang="en-US" b="1" dirty="0"/>
              <a:t>Operations</a:t>
            </a:r>
            <a:r>
              <a:rPr lang="en-US" dirty="0"/>
              <a:t> that can violate Referential Integrity: </a:t>
            </a:r>
          </a:p>
          <a:p>
            <a:pPr marL="544068" lvl="1" indent="-342900">
              <a:buFont typeface="+mj-lt"/>
              <a:buAutoNum type="arabicPeriod"/>
            </a:pPr>
            <a:r>
              <a:rPr lang="en-US" dirty="0"/>
              <a:t>Insert (on Child Table)</a:t>
            </a:r>
          </a:p>
          <a:p>
            <a:pPr marL="544068" lvl="1" indent="-342900">
              <a:buFont typeface="+mj-lt"/>
              <a:buAutoNum type="arabicPeriod"/>
            </a:pPr>
            <a:r>
              <a:rPr lang="en-US" dirty="0"/>
              <a:t>Update (on Child Table)</a:t>
            </a:r>
          </a:p>
          <a:p>
            <a:pPr marL="544068" lvl="1" indent="-342900">
              <a:buFont typeface="+mj-lt"/>
              <a:buAutoNum type="arabicPeriod"/>
            </a:pPr>
            <a:r>
              <a:rPr lang="en-US" dirty="0"/>
              <a:t>Delete (on Parent Table)</a:t>
            </a:r>
          </a:p>
          <a:p>
            <a:pPr marL="544068" lvl="1" indent="-342900">
              <a:buFont typeface="+mj-lt"/>
              <a:buAutoNum type="arabicPeriod"/>
            </a:pPr>
            <a:r>
              <a:rPr lang="en-US" dirty="0"/>
              <a:t>Update (on Parent Table</a:t>
            </a:r>
          </a:p>
          <a:p>
            <a:r>
              <a:rPr lang="en-US" b="1" u="sng" dirty="0"/>
              <a:t>We can Handle that by: </a:t>
            </a:r>
          </a:p>
          <a:p>
            <a:pPr marL="544068" lvl="1" indent="-342900">
              <a:buFont typeface="+mj-lt"/>
              <a:buAutoNum type="arabicPeriod"/>
            </a:pPr>
            <a:r>
              <a:rPr lang="en-US" dirty="0"/>
              <a:t>RESTRICT / NO ACTION (Default  : ON DELETE RESTRICT</a:t>
            </a:r>
          </a:p>
          <a:p>
            <a:pPr marL="544068" lvl="1" indent="-342900">
              <a:buFont typeface="+mj-lt"/>
              <a:buAutoNum type="arabicPeriod"/>
            </a:pPr>
            <a:r>
              <a:rPr lang="en-US" dirty="0"/>
              <a:t>CASCADE  : ON DELETE CASCADE  Or ON UPDATE CASCADE</a:t>
            </a:r>
          </a:p>
          <a:p>
            <a:pPr marL="544068" lvl="1" indent="-342900">
              <a:buFont typeface="+mj-lt"/>
              <a:buAutoNum type="arabicPeriod"/>
            </a:pPr>
            <a:r>
              <a:rPr lang="en-US" dirty="0"/>
              <a:t>SET NULL : ON DELETE SET NULL</a:t>
            </a:r>
          </a:p>
          <a:p>
            <a:pPr marL="544068" lvl="1" indent="-342900">
              <a:buFont typeface="+mj-lt"/>
              <a:buAutoNum type="arabicPeriod"/>
            </a:pPr>
            <a:r>
              <a:rPr lang="en-US" dirty="0"/>
              <a:t>SET DEFAULT : ON DELETE SET DEFAULT</a:t>
            </a:r>
          </a:p>
        </p:txBody>
      </p:sp>
      <p:sp>
        <p:nvSpPr>
          <p:cNvPr id="5" name="TextBox 4">
            <a:extLst>
              <a:ext uri="{FF2B5EF4-FFF2-40B4-BE49-F238E27FC236}">
                <a16:creationId xmlns:a16="http://schemas.microsoft.com/office/drawing/2014/main" id="{619A98BE-206B-60FE-D033-31738BD9F1E4}"/>
              </a:ext>
            </a:extLst>
          </p:cNvPr>
          <p:cNvSpPr txBox="1"/>
          <p:nvPr/>
        </p:nvSpPr>
        <p:spPr>
          <a:xfrm>
            <a:off x="7000875" y="3488082"/>
            <a:ext cx="2893402" cy="369332"/>
          </a:xfrm>
          <a:prstGeom prst="rect">
            <a:avLst/>
          </a:prstGeom>
          <a:noFill/>
        </p:spPr>
        <p:txBody>
          <a:bodyPr wrap="square">
            <a:spAutoFit/>
          </a:bodyPr>
          <a:lstStyle/>
          <a:p>
            <a:r>
              <a:rPr lang="en-US" dirty="0"/>
              <a:t>What are Orphan Records?</a:t>
            </a:r>
          </a:p>
        </p:txBody>
      </p:sp>
    </p:spTree>
    <p:extLst>
      <p:ext uri="{BB962C8B-B14F-4D97-AF65-F5344CB8AC3E}">
        <p14:creationId xmlns:p14="http://schemas.microsoft.com/office/powerpoint/2010/main" val="8246486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64FC1-8505-3953-324D-5EAD3DCFA3D1}"/>
              </a:ext>
            </a:extLst>
          </p:cNvPr>
          <p:cNvSpPr>
            <a:spLocks noGrp="1"/>
          </p:cNvSpPr>
          <p:nvPr>
            <p:ph type="title"/>
          </p:nvPr>
        </p:nvSpPr>
        <p:spPr/>
        <p:txBody>
          <a:bodyPr/>
          <a:lstStyle/>
          <a:p>
            <a:r>
              <a:rPr lang="en-US" dirty="0"/>
              <a:t>Advantages</a:t>
            </a:r>
          </a:p>
        </p:txBody>
      </p:sp>
      <p:sp>
        <p:nvSpPr>
          <p:cNvPr id="3" name="Content Placeholder 2">
            <a:extLst>
              <a:ext uri="{FF2B5EF4-FFF2-40B4-BE49-F238E27FC236}">
                <a16:creationId xmlns:a16="http://schemas.microsoft.com/office/drawing/2014/main" id="{4F44CE32-DB65-7896-1BFB-59BC1FD41F29}"/>
              </a:ext>
            </a:extLst>
          </p:cNvPr>
          <p:cNvSpPr>
            <a:spLocks noGrp="1"/>
          </p:cNvSpPr>
          <p:nvPr>
            <p:ph idx="1"/>
          </p:nvPr>
        </p:nvSpPr>
        <p:spPr/>
        <p:txBody>
          <a:bodyPr>
            <a:normAutofit/>
          </a:bodyPr>
          <a:lstStyle/>
          <a:p>
            <a:pPr marL="457200" indent="-457200">
              <a:buFont typeface="+mj-lt"/>
              <a:buAutoNum type="arabicPeriod"/>
            </a:pPr>
            <a:r>
              <a:rPr lang="en-US" b="1" dirty="0"/>
              <a:t>Maintains Consistency</a:t>
            </a:r>
          </a:p>
          <a:p>
            <a:pPr marL="292608" lvl="1" indent="0">
              <a:buNone/>
            </a:pPr>
            <a:r>
              <a:rPr lang="en-US" dirty="0"/>
              <a:t>Related tables remain synchronized.</a:t>
            </a:r>
          </a:p>
          <a:p>
            <a:pPr marL="457200" indent="-457200">
              <a:buFont typeface="+mj-lt"/>
              <a:buAutoNum type="arabicPeriod"/>
            </a:pPr>
            <a:r>
              <a:rPr lang="en-US" b="1" dirty="0"/>
              <a:t>Prevents Invalid References</a:t>
            </a:r>
          </a:p>
          <a:p>
            <a:pPr marL="292608" lvl="1" indent="0">
              <a:buNone/>
            </a:pPr>
            <a:r>
              <a:rPr lang="en-US" dirty="0"/>
              <a:t>Foreign keys must point to existing records.</a:t>
            </a:r>
          </a:p>
          <a:p>
            <a:pPr marL="457200" indent="-457200">
              <a:buFont typeface="+mj-lt"/>
              <a:buAutoNum type="arabicPeriod"/>
            </a:pPr>
            <a:r>
              <a:rPr lang="en-US" b="1" dirty="0"/>
              <a:t>Eliminates Orphan Records</a:t>
            </a:r>
          </a:p>
          <a:p>
            <a:pPr marL="292608" lvl="1" indent="0">
              <a:buNone/>
            </a:pPr>
            <a:r>
              <a:rPr lang="en-US" dirty="0"/>
              <a:t>Every child record has a valid parent.</a:t>
            </a:r>
          </a:p>
          <a:p>
            <a:pPr marL="457200" indent="-457200">
              <a:buFont typeface="+mj-lt"/>
              <a:buAutoNum type="arabicPeriod"/>
            </a:pPr>
            <a:r>
              <a:rPr lang="en-US" b="1" dirty="0"/>
              <a:t>Improves Data Accuracy</a:t>
            </a:r>
          </a:p>
          <a:p>
            <a:pPr marL="292608" lvl="1" indent="0">
              <a:buNone/>
            </a:pPr>
            <a:r>
              <a:rPr lang="en-US" dirty="0"/>
              <a:t>Relationships remain meaningful.</a:t>
            </a:r>
          </a:p>
          <a:p>
            <a:pPr marL="457200" indent="-457200">
              <a:buFont typeface="+mj-lt"/>
              <a:buAutoNum type="arabicPeriod"/>
            </a:pPr>
            <a:r>
              <a:rPr lang="en-US" b="1" dirty="0"/>
              <a:t>Supports Reliable Queries</a:t>
            </a:r>
          </a:p>
          <a:p>
            <a:pPr marL="292608" lvl="1" indent="0">
              <a:buNone/>
            </a:pPr>
            <a:r>
              <a:rPr lang="en-US" dirty="0"/>
              <a:t>Joins produce correct results.</a:t>
            </a:r>
          </a:p>
          <a:p>
            <a:pPr marL="457200" indent="-457200">
              <a:buFont typeface="+mj-lt"/>
              <a:buAutoNum type="arabicPeriod"/>
            </a:pPr>
            <a:endParaRPr lang="en-US" dirty="0"/>
          </a:p>
        </p:txBody>
      </p:sp>
    </p:spTree>
    <p:extLst>
      <p:ext uri="{BB962C8B-B14F-4D97-AF65-F5344CB8AC3E}">
        <p14:creationId xmlns:p14="http://schemas.microsoft.com/office/powerpoint/2010/main" val="3883890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3D72A-7B5A-F45C-E6F9-B29BB450F787}"/>
              </a:ext>
            </a:extLst>
          </p:cNvPr>
          <p:cNvSpPr>
            <a:spLocks noGrp="1"/>
          </p:cNvSpPr>
          <p:nvPr>
            <p:ph type="title"/>
          </p:nvPr>
        </p:nvSpPr>
        <p:spPr/>
        <p:txBody>
          <a:bodyPr/>
          <a:lstStyle/>
          <a:p>
            <a:r>
              <a:rPr lang="en-US" dirty="0"/>
              <a:t>Assertions</a:t>
            </a:r>
          </a:p>
        </p:txBody>
      </p:sp>
      <p:sp>
        <p:nvSpPr>
          <p:cNvPr id="3" name="Content Placeholder 2">
            <a:extLst>
              <a:ext uri="{FF2B5EF4-FFF2-40B4-BE49-F238E27FC236}">
                <a16:creationId xmlns:a16="http://schemas.microsoft.com/office/drawing/2014/main" id="{4A0EF0A5-18F0-252B-86D0-86DFBBA2D6F7}"/>
              </a:ext>
            </a:extLst>
          </p:cNvPr>
          <p:cNvSpPr>
            <a:spLocks noGrp="1"/>
          </p:cNvSpPr>
          <p:nvPr>
            <p:ph idx="1"/>
          </p:nvPr>
        </p:nvSpPr>
        <p:spPr/>
        <p:txBody>
          <a:bodyPr/>
          <a:lstStyle/>
          <a:p>
            <a:r>
              <a:rPr lang="en-US" dirty="0"/>
              <a:t>Assertions are conditions that must always remain true for the entire database. </a:t>
            </a:r>
          </a:p>
          <a:p>
            <a:r>
              <a:rPr lang="en-US" dirty="0"/>
              <a:t>In other words, An Assertion is a condition that the database must always satisfy. If any operation (INSERT, UPDATE, DELETE) violates the condition, the operation is rejected.</a:t>
            </a:r>
          </a:p>
          <a:p>
            <a:r>
              <a:rPr lang="en-US" b="1" dirty="0"/>
              <a:t>Characteristics</a:t>
            </a:r>
          </a:p>
          <a:p>
            <a:r>
              <a:rPr lang="en-US" dirty="0"/>
              <a:t>Apply to one or more tables </a:t>
            </a:r>
          </a:p>
          <a:p>
            <a:r>
              <a:rPr lang="en-US" dirty="0"/>
              <a:t>Enforce business rules </a:t>
            </a:r>
          </a:p>
          <a:p>
            <a:r>
              <a:rPr lang="en-US" dirty="0"/>
              <a:t>Checked whenever data changes</a:t>
            </a:r>
          </a:p>
          <a:p>
            <a:endParaRPr lang="en-US" dirty="0"/>
          </a:p>
        </p:txBody>
      </p:sp>
    </p:spTree>
    <p:extLst>
      <p:ext uri="{BB962C8B-B14F-4D97-AF65-F5344CB8AC3E}">
        <p14:creationId xmlns:p14="http://schemas.microsoft.com/office/powerpoint/2010/main" val="3863508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B5283-5378-7241-B84C-938C8888EB26}"/>
              </a:ext>
            </a:extLst>
          </p:cNvPr>
          <p:cNvSpPr>
            <a:spLocks noGrp="1"/>
          </p:cNvSpPr>
          <p:nvPr>
            <p:ph type="title"/>
          </p:nvPr>
        </p:nvSpPr>
        <p:spPr/>
        <p:txBody>
          <a:bodyPr/>
          <a:lstStyle/>
          <a:p>
            <a:r>
              <a:rPr lang="en-US" dirty="0"/>
              <a:t>Why do we need Assertion? </a:t>
            </a:r>
          </a:p>
        </p:txBody>
      </p:sp>
      <p:sp>
        <p:nvSpPr>
          <p:cNvPr id="3" name="Content Placeholder 2">
            <a:extLst>
              <a:ext uri="{FF2B5EF4-FFF2-40B4-BE49-F238E27FC236}">
                <a16:creationId xmlns:a16="http://schemas.microsoft.com/office/drawing/2014/main" id="{92DC469D-3D52-E047-7EF1-67C45E2AEEC9}"/>
              </a:ext>
            </a:extLst>
          </p:cNvPr>
          <p:cNvSpPr>
            <a:spLocks noGrp="1"/>
          </p:cNvSpPr>
          <p:nvPr>
            <p:ph idx="1"/>
          </p:nvPr>
        </p:nvSpPr>
        <p:spPr/>
        <p:txBody>
          <a:bodyPr>
            <a:normAutofit lnSpcReduction="10000"/>
          </a:bodyPr>
          <a:lstStyle/>
          <a:p>
            <a:r>
              <a:rPr lang="en-US" dirty="0"/>
              <a:t>Many real-world business rules cannot be enforced using simple constraints.</a:t>
            </a:r>
          </a:p>
          <a:p>
            <a:r>
              <a:rPr lang="en-US" b="1" dirty="0"/>
              <a:t>Example</a:t>
            </a:r>
          </a:p>
          <a:p>
            <a:r>
              <a:rPr lang="en-US" dirty="0"/>
              <a:t>In a university:</a:t>
            </a:r>
          </a:p>
          <a:p>
            <a:pPr lvl="1"/>
            <a:r>
              <a:rPr lang="en-US" dirty="0"/>
              <a:t>A student must be at least 18 years old. </a:t>
            </a:r>
          </a:p>
          <a:p>
            <a:pPr lvl="1"/>
            <a:r>
              <a:rPr lang="en-US" dirty="0"/>
              <a:t>A department cannot have more than 100 students. </a:t>
            </a:r>
          </a:p>
          <a:p>
            <a:pPr lvl="1"/>
            <a:r>
              <a:rPr lang="en-US" dirty="0"/>
              <a:t>Total allocated project budget should not exceed the available budget. </a:t>
            </a:r>
          </a:p>
          <a:p>
            <a:r>
              <a:rPr lang="en-US" dirty="0"/>
              <a:t>These rules may involve multiple rows or multiple tables.</a:t>
            </a:r>
          </a:p>
          <a:p>
            <a:r>
              <a:rPr lang="en-US" dirty="0"/>
              <a:t>Whenever data is: Inserted, Updated , Deleted , the DBMS checks the assertion condition.</a:t>
            </a:r>
          </a:p>
          <a:p>
            <a:r>
              <a:rPr lang="en-US" b="1" dirty="0"/>
              <a:t>If Condition is TRUE : </a:t>
            </a:r>
            <a:r>
              <a:rPr lang="en-US" dirty="0"/>
              <a:t>Operation succeeds</a:t>
            </a:r>
          </a:p>
          <a:p>
            <a:r>
              <a:rPr lang="en-US" b="1" dirty="0"/>
              <a:t>If Condition is FALSE : </a:t>
            </a:r>
            <a:r>
              <a:rPr lang="en-US" dirty="0"/>
              <a:t>Operation is rejected</a:t>
            </a:r>
          </a:p>
        </p:txBody>
      </p:sp>
    </p:spTree>
    <p:extLst>
      <p:ext uri="{BB962C8B-B14F-4D97-AF65-F5344CB8AC3E}">
        <p14:creationId xmlns:p14="http://schemas.microsoft.com/office/powerpoint/2010/main" val="17304273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03FD0-5F03-22B6-0EFB-AB3B9BED4C94}"/>
              </a:ext>
            </a:extLst>
          </p:cNvPr>
          <p:cNvSpPr>
            <a:spLocks noGrp="1"/>
          </p:cNvSpPr>
          <p:nvPr>
            <p:ph type="title"/>
          </p:nvPr>
        </p:nvSpPr>
        <p:spPr>
          <a:xfrm>
            <a:off x="1097280" y="286603"/>
            <a:ext cx="10058400" cy="810677"/>
          </a:xfrm>
        </p:spPr>
        <p:txBody>
          <a:bodyPr/>
          <a:lstStyle/>
          <a:p>
            <a:r>
              <a:rPr lang="en-US" dirty="0"/>
              <a:t>Example:</a:t>
            </a:r>
          </a:p>
        </p:txBody>
      </p:sp>
      <p:sp>
        <p:nvSpPr>
          <p:cNvPr id="4" name="Content Placeholder 2">
            <a:extLst>
              <a:ext uri="{FF2B5EF4-FFF2-40B4-BE49-F238E27FC236}">
                <a16:creationId xmlns:a16="http://schemas.microsoft.com/office/drawing/2014/main" id="{7CD973C4-2723-65F5-F7DF-E732D5F56E7C}"/>
              </a:ext>
            </a:extLst>
          </p:cNvPr>
          <p:cNvSpPr txBox="1">
            <a:spLocks/>
          </p:cNvSpPr>
          <p:nvPr/>
        </p:nvSpPr>
        <p:spPr>
          <a:xfrm>
            <a:off x="1066800" y="1097280"/>
            <a:ext cx="10058400" cy="4892040"/>
          </a:xfrm>
          <a:prstGeom prst="rect">
            <a:avLst/>
          </a:prstGeom>
        </p:spPr>
        <p:txBody>
          <a:bodyPr vert="horz" lIns="0" tIns="45720" rIns="0" bIns="45720" rtlCol="0">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solidFill>
                  <a:srgbClr val="FF0000"/>
                </a:solidFill>
              </a:rPr>
              <a:t>CREATE ASSERTION</a:t>
            </a:r>
            <a:r>
              <a:rPr lang="en-US" dirty="0"/>
              <a:t> </a:t>
            </a:r>
            <a:r>
              <a:rPr lang="en-US" dirty="0" err="1"/>
              <a:t>assertion_name</a:t>
            </a:r>
            <a:r>
              <a:rPr lang="en-US" dirty="0"/>
              <a:t>              // Creates new assertion with name </a:t>
            </a:r>
            <a:r>
              <a:rPr lang="en-US" dirty="0" err="1"/>
              <a:t>Assertion_name</a:t>
            </a:r>
            <a:endParaRPr lang="en-US" dirty="0"/>
          </a:p>
          <a:p>
            <a:r>
              <a:rPr lang="en-US" dirty="0">
                <a:solidFill>
                  <a:srgbClr val="FF0000"/>
                </a:solidFill>
              </a:rPr>
              <a:t>CHECK </a:t>
            </a:r>
            <a:r>
              <a:rPr lang="en-US" dirty="0"/>
              <a:t>(</a:t>
            </a:r>
            <a:r>
              <a:rPr lang="en-US" dirty="0">
                <a:solidFill>
                  <a:srgbClr val="FF0000"/>
                </a:solidFill>
              </a:rPr>
              <a:t>condition</a:t>
            </a:r>
            <a:r>
              <a:rPr lang="en-US" dirty="0"/>
              <a:t>);			//check for condition = rule that must always be true</a:t>
            </a:r>
          </a:p>
          <a:p>
            <a:pPr marL="201168" lvl="1" indent="0">
              <a:buNone/>
            </a:pPr>
            <a:endParaRPr lang="en-US" dirty="0"/>
          </a:p>
          <a:p>
            <a:pPr marL="201168" lvl="1" indent="0">
              <a:buNone/>
            </a:pPr>
            <a:endParaRPr lang="en-US" dirty="0"/>
          </a:p>
          <a:p>
            <a:pPr marL="201168" lvl="1" indent="0">
              <a:buNone/>
            </a:pPr>
            <a:endParaRPr lang="en-US" dirty="0"/>
          </a:p>
          <a:p>
            <a:pPr marL="201168" lvl="1" indent="0">
              <a:buNone/>
            </a:pPr>
            <a:endParaRPr lang="en-US" dirty="0"/>
          </a:p>
          <a:p>
            <a:pPr marL="201168" lvl="1" indent="0">
              <a:buNone/>
            </a:pPr>
            <a:endParaRPr lang="en-US" dirty="0"/>
          </a:p>
          <a:p>
            <a:pPr marL="201168" lvl="1" indent="0">
              <a:buNone/>
            </a:pPr>
            <a:r>
              <a:rPr lang="en-US" i="1" dirty="0"/>
              <a:t>CREATE ASSERTION </a:t>
            </a:r>
            <a:r>
              <a:rPr lang="en-US" i="1" dirty="0" err="1"/>
              <a:t>Student_Age_Check</a:t>
            </a:r>
            <a:endParaRPr lang="en-US" i="1" dirty="0"/>
          </a:p>
          <a:p>
            <a:pPr marL="201168" lvl="1" indent="0">
              <a:buNone/>
            </a:pPr>
            <a:r>
              <a:rPr lang="en-US" i="1" dirty="0"/>
              <a:t>CHECK (</a:t>
            </a:r>
          </a:p>
          <a:p>
            <a:pPr marL="201168" lvl="1" indent="0">
              <a:buNone/>
            </a:pPr>
            <a:r>
              <a:rPr lang="en-US" i="1" dirty="0"/>
              <a:t>NOT EXISTS(</a:t>
            </a:r>
          </a:p>
          <a:p>
            <a:pPr marL="201168" lvl="1" indent="0">
              <a:buNone/>
            </a:pPr>
            <a:r>
              <a:rPr lang="en-US" i="1" dirty="0"/>
              <a:t>SELECT *</a:t>
            </a:r>
          </a:p>
          <a:p>
            <a:pPr marL="201168" lvl="1" indent="0">
              <a:buNone/>
            </a:pPr>
            <a:r>
              <a:rPr lang="en-US" i="1" dirty="0"/>
              <a:t>FROM Student</a:t>
            </a:r>
          </a:p>
          <a:p>
            <a:pPr marL="201168" lvl="1" indent="0">
              <a:buNone/>
            </a:pPr>
            <a:r>
              <a:rPr lang="en-US" i="1" dirty="0"/>
              <a:t>WHERE Age &lt; 18</a:t>
            </a:r>
          </a:p>
          <a:p>
            <a:pPr marL="201168" lvl="1" indent="0">
              <a:buNone/>
            </a:pPr>
            <a:r>
              <a:rPr lang="en-US" i="1" dirty="0"/>
              <a:t>)</a:t>
            </a:r>
          </a:p>
          <a:p>
            <a:pPr marL="201168" lvl="1" indent="0">
              <a:buNone/>
            </a:pPr>
            <a:r>
              <a:rPr lang="en-US" i="1" dirty="0"/>
              <a:t>);</a:t>
            </a:r>
          </a:p>
        </p:txBody>
      </p:sp>
      <p:graphicFrame>
        <p:nvGraphicFramePr>
          <p:cNvPr id="7" name="Content Placeholder 6">
            <a:extLst>
              <a:ext uri="{FF2B5EF4-FFF2-40B4-BE49-F238E27FC236}">
                <a16:creationId xmlns:a16="http://schemas.microsoft.com/office/drawing/2014/main" id="{835D36B8-8BF3-C0E9-826E-E0D93FE12192}"/>
              </a:ext>
            </a:extLst>
          </p:cNvPr>
          <p:cNvGraphicFramePr>
            <a:graphicFrameLocks noGrp="1"/>
          </p:cNvGraphicFramePr>
          <p:nvPr>
            <p:ph idx="1"/>
            <p:extLst>
              <p:ext uri="{D42A27DB-BD31-4B8C-83A1-F6EECF244321}">
                <p14:modId xmlns:p14="http://schemas.microsoft.com/office/powerpoint/2010/main" val="2608961631"/>
              </p:ext>
            </p:extLst>
          </p:nvPr>
        </p:nvGraphicFramePr>
        <p:xfrm>
          <a:off x="1097280" y="2049780"/>
          <a:ext cx="3986822" cy="1112520"/>
        </p:xfrm>
        <a:graphic>
          <a:graphicData uri="http://schemas.openxmlformats.org/drawingml/2006/table">
            <a:tbl>
              <a:tblPr firstRow="1" bandRow="1">
                <a:tableStyleId>{5C22544A-7EE6-4342-B048-85BDC9FD1C3A}</a:tableStyleId>
              </a:tblPr>
              <a:tblGrid>
                <a:gridCol w="1303337">
                  <a:extLst>
                    <a:ext uri="{9D8B030D-6E8A-4147-A177-3AD203B41FA5}">
                      <a16:colId xmlns:a16="http://schemas.microsoft.com/office/drawing/2014/main" val="2534450761"/>
                    </a:ext>
                  </a:extLst>
                </a:gridCol>
                <a:gridCol w="1211580">
                  <a:extLst>
                    <a:ext uri="{9D8B030D-6E8A-4147-A177-3AD203B41FA5}">
                      <a16:colId xmlns:a16="http://schemas.microsoft.com/office/drawing/2014/main" val="1330047570"/>
                    </a:ext>
                  </a:extLst>
                </a:gridCol>
                <a:gridCol w="1471905">
                  <a:extLst>
                    <a:ext uri="{9D8B030D-6E8A-4147-A177-3AD203B41FA5}">
                      <a16:colId xmlns:a16="http://schemas.microsoft.com/office/drawing/2014/main" val="2875530485"/>
                    </a:ext>
                  </a:extLst>
                </a:gridCol>
              </a:tblGrid>
              <a:tr h="370840">
                <a:tc>
                  <a:txBody>
                    <a:bodyPr/>
                    <a:lstStyle/>
                    <a:p>
                      <a:pPr>
                        <a:buNone/>
                      </a:pPr>
                      <a:r>
                        <a:rPr lang="en-US" dirty="0" err="1"/>
                        <a:t>Roll_No</a:t>
                      </a:r>
                      <a:endParaRPr lang="en-US" dirty="0"/>
                    </a:p>
                  </a:txBody>
                  <a:tcPr anchor="ctr"/>
                </a:tc>
                <a:tc>
                  <a:txBody>
                    <a:bodyPr/>
                    <a:lstStyle/>
                    <a:p>
                      <a:pPr>
                        <a:buNone/>
                      </a:pPr>
                      <a:r>
                        <a:rPr lang="en-US"/>
                        <a:t>Name</a:t>
                      </a:r>
                    </a:p>
                  </a:txBody>
                  <a:tcPr anchor="ctr"/>
                </a:tc>
                <a:tc>
                  <a:txBody>
                    <a:bodyPr/>
                    <a:lstStyle/>
                    <a:p>
                      <a:pPr>
                        <a:buNone/>
                      </a:pPr>
                      <a:r>
                        <a:rPr lang="en-US"/>
                        <a:t>Age</a:t>
                      </a:r>
                    </a:p>
                  </a:txBody>
                  <a:tcPr anchor="ctr"/>
                </a:tc>
                <a:extLst>
                  <a:ext uri="{0D108BD9-81ED-4DB2-BD59-A6C34878D82A}">
                    <a16:rowId xmlns:a16="http://schemas.microsoft.com/office/drawing/2014/main" val="1011276032"/>
                  </a:ext>
                </a:extLst>
              </a:tr>
              <a:tr h="370840">
                <a:tc>
                  <a:txBody>
                    <a:bodyPr/>
                    <a:lstStyle/>
                    <a:p>
                      <a:pPr>
                        <a:buNone/>
                      </a:pPr>
                      <a:r>
                        <a:rPr lang="en-US"/>
                        <a:t>101</a:t>
                      </a:r>
                    </a:p>
                  </a:txBody>
                  <a:tcPr anchor="ctr"/>
                </a:tc>
                <a:tc>
                  <a:txBody>
                    <a:bodyPr/>
                    <a:lstStyle/>
                    <a:p>
                      <a:pPr>
                        <a:buNone/>
                      </a:pPr>
                      <a:r>
                        <a:rPr lang="en-US" dirty="0"/>
                        <a:t>Ram</a:t>
                      </a:r>
                    </a:p>
                  </a:txBody>
                  <a:tcPr anchor="ctr"/>
                </a:tc>
                <a:tc>
                  <a:txBody>
                    <a:bodyPr/>
                    <a:lstStyle/>
                    <a:p>
                      <a:pPr>
                        <a:buNone/>
                      </a:pPr>
                      <a:r>
                        <a:rPr lang="en-US" dirty="0"/>
                        <a:t>20</a:t>
                      </a:r>
                    </a:p>
                  </a:txBody>
                  <a:tcPr anchor="ctr"/>
                </a:tc>
                <a:extLst>
                  <a:ext uri="{0D108BD9-81ED-4DB2-BD59-A6C34878D82A}">
                    <a16:rowId xmlns:a16="http://schemas.microsoft.com/office/drawing/2014/main" val="3720353122"/>
                  </a:ext>
                </a:extLst>
              </a:tr>
              <a:tr h="370840">
                <a:tc>
                  <a:txBody>
                    <a:bodyPr/>
                    <a:lstStyle/>
                    <a:p>
                      <a:pPr>
                        <a:buNone/>
                      </a:pPr>
                      <a:r>
                        <a:rPr lang="en-US"/>
                        <a:t>102</a:t>
                      </a:r>
                    </a:p>
                  </a:txBody>
                  <a:tcPr anchor="ctr"/>
                </a:tc>
                <a:tc>
                  <a:txBody>
                    <a:bodyPr/>
                    <a:lstStyle/>
                    <a:p>
                      <a:pPr>
                        <a:buNone/>
                      </a:pPr>
                      <a:r>
                        <a:rPr lang="en-US"/>
                        <a:t>Sita</a:t>
                      </a:r>
                    </a:p>
                  </a:txBody>
                  <a:tcPr anchor="ctr"/>
                </a:tc>
                <a:tc>
                  <a:txBody>
                    <a:bodyPr/>
                    <a:lstStyle/>
                    <a:p>
                      <a:pPr>
                        <a:buNone/>
                      </a:pPr>
                      <a:r>
                        <a:rPr lang="en-US" dirty="0"/>
                        <a:t>22</a:t>
                      </a:r>
                    </a:p>
                  </a:txBody>
                  <a:tcPr anchor="ctr"/>
                </a:tc>
                <a:extLst>
                  <a:ext uri="{0D108BD9-81ED-4DB2-BD59-A6C34878D82A}">
                    <a16:rowId xmlns:a16="http://schemas.microsoft.com/office/drawing/2014/main" val="71357538"/>
                  </a:ext>
                </a:extLst>
              </a:tr>
            </a:tbl>
          </a:graphicData>
        </a:graphic>
      </p:graphicFrame>
      <p:sp>
        <p:nvSpPr>
          <p:cNvPr id="9" name="TextBox 8">
            <a:extLst>
              <a:ext uri="{FF2B5EF4-FFF2-40B4-BE49-F238E27FC236}">
                <a16:creationId xmlns:a16="http://schemas.microsoft.com/office/drawing/2014/main" id="{D8620537-4B33-EE59-97C4-270386A62D4F}"/>
              </a:ext>
            </a:extLst>
          </p:cNvPr>
          <p:cNvSpPr txBox="1"/>
          <p:nvPr/>
        </p:nvSpPr>
        <p:spPr>
          <a:xfrm>
            <a:off x="5852160" y="2342971"/>
            <a:ext cx="6092190" cy="1200329"/>
          </a:xfrm>
          <a:prstGeom prst="rect">
            <a:avLst/>
          </a:prstGeom>
          <a:noFill/>
        </p:spPr>
        <p:txBody>
          <a:bodyPr wrap="square">
            <a:spAutoFit/>
          </a:bodyPr>
          <a:lstStyle/>
          <a:p>
            <a:r>
              <a:rPr lang="en-US" b="1" dirty="0"/>
              <a:t>- What happens when you search?</a:t>
            </a:r>
          </a:p>
          <a:p>
            <a:r>
              <a:rPr lang="en-US" i="1" dirty="0">
                <a:solidFill>
                  <a:schemeClr val="tx1">
                    <a:lumMod val="75000"/>
                    <a:lumOff val="25000"/>
                  </a:schemeClr>
                </a:solidFill>
              </a:rPr>
              <a:t>SELECT *</a:t>
            </a:r>
          </a:p>
          <a:p>
            <a:r>
              <a:rPr lang="en-US" i="1" dirty="0">
                <a:solidFill>
                  <a:schemeClr val="tx1">
                    <a:lumMod val="75000"/>
                    <a:lumOff val="25000"/>
                  </a:schemeClr>
                </a:solidFill>
              </a:rPr>
              <a:t>FROM Student</a:t>
            </a:r>
          </a:p>
          <a:p>
            <a:r>
              <a:rPr lang="en-US" i="1" dirty="0">
                <a:solidFill>
                  <a:schemeClr val="tx1">
                    <a:lumMod val="75000"/>
                    <a:lumOff val="25000"/>
                  </a:schemeClr>
                </a:solidFill>
              </a:rPr>
              <a:t>WHERE Age &lt; 18;</a:t>
            </a:r>
          </a:p>
        </p:txBody>
      </p:sp>
      <p:sp>
        <p:nvSpPr>
          <p:cNvPr id="10" name="TextBox 9">
            <a:extLst>
              <a:ext uri="{FF2B5EF4-FFF2-40B4-BE49-F238E27FC236}">
                <a16:creationId xmlns:a16="http://schemas.microsoft.com/office/drawing/2014/main" id="{3355CE37-74C0-1683-946F-A8AA0E72279A}"/>
              </a:ext>
            </a:extLst>
          </p:cNvPr>
          <p:cNvSpPr txBox="1"/>
          <p:nvPr/>
        </p:nvSpPr>
        <p:spPr>
          <a:xfrm>
            <a:off x="5852160" y="3842980"/>
            <a:ext cx="6092190" cy="923330"/>
          </a:xfrm>
          <a:prstGeom prst="rect">
            <a:avLst/>
          </a:prstGeom>
          <a:noFill/>
        </p:spPr>
        <p:txBody>
          <a:bodyPr wrap="square">
            <a:spAutoFit/>
          </a:bodyPr>
          <a:lstStyle/>
          <a:p>
            <a:r>
              <a:rPr lang="en-US" b="1" dirty="0"/>
              <a:t>- What happens when you insert?</a:t>
            </a:r>
          </a:p>
          <a:p>
            <a:r>
              <a:rPr lang="en-US" i="1" dirty="0">
                <a:solidFill>
                  <a:schemeClr val="tx1">
                    <a:lumMod val="75000"/>
                    <a:lumOff val="25000"/>
                  </a:schemeClr>
                </a:solidFill>
              </a:rPr>
              <a:t>INSERT INTO Student</a:t>
            </a:r>
          </a:p>
          <a:p>
            <a:r>
              <a:rPr lang="en-US" i="1" dirty="0">
                <a:solidFill>
                  <a:schemeClr val="tx1">
                    <a:lumMod val="75000"/>
                    <a:lumOff val="25000"/>
                  </a:schemeClr>
                </a:solidFill>
              </a:rPr>
              <a:t>VALUES(103,'Hari',16);</a:t>
            </a:r>
          </a:p>
        </p:txBody>
      </p:sp>
    </p:spTree>
    <p:extLst>
      <p:ext uri="{BB962C8B-B14F-4D97-AF65-F5344CB8AC3E}">
        <p14:creationId xmlns:p14="http://schemas.microsoft.com/office/powerpoint/2010/main" val="37105507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D3D67-EEBC-8A39-5969-CAC488109F49}"/>
              </a:ext>
            </a:extLst>
          </p:cNvPr>
          <p:cNvSpPr>
            <a:spLocks noGrp="1"/>
          </p:cNvSpPr>
          <p:nvPr>
            <p:ph type="title"/>
          </p:nvPr>
        </p:nvSpPr>
        <p:spPr>
          <a:xfrm>
            <a:off x="1097280" y="286603"/>
            <a:ext cx="10058400" cy="810677"/>
          </a:xfrm>
        </p:spPr>
        <p:txBody>
          <a:bodyPr/>
          <a:lstStyle/>
          <a:p>
            <a:r>
              <a:rPr lang="en-US" dirty="0"/>
              <a:t>Across Multiple Tables</a:t>
            </a:r>
          </a:p>
        </p:txBody>
      </p:sp>
      <p:sp>
        <p:nvSpPr>
          <p:cNvPr id="4" name="Content Placeholder 2">
            <a:extLst>
              <a:ext uri="{FF2B5EF4-FFF2-40B4-BE49-F238E27FC236}">
                <a16:creationId xmlns:a16="http://schemas.microsoft.com/office/drawing/2014/main" id="{E225B7C2-6887-BD5D-2320-0AE151F1764F}"/>
              </a:ext>
            </a:extLst>
          </p:cNvPr>
          <p:cNvSpPr txBox="1">
            <a:spLocks/>
          </p:cNvSpPr>
          <p:nvPr/>
        </p:nvSpPr>
        <p:spPr>
          <a:xfrm>
            <a:off x="979169" y="4559717"/>
            <a:ext cx="581406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Let us take an example, we have two table: and we need to make a rule that; Total cost of the project must not exceed department budget.</a:t>
            </a:r>
          </a:p>
        </p:txBody>
      </p:sp>
      <p:graphicFrame>
        <p:nvGraphicFramePr>
          <p:cNvPr id="8" name="Content Placeholder 6">
            <a:extLst>
              <a:ext uri="{FF2B5EF4-FFF2-40B4-BE49-F238E27FC236}">
                <a16:creationId xmlns:a16="http://schemas.microsoft.com/office/drawing/2014/main" id="{DFA575DB-74D3-26B0-2DE8-2CAD1734E461}"/>
              </a:ext>
            </a:extLst>
          </p:cNvPr>
          <p:cNvGraphicFramePr>
            <a:graphicFrameLocks/>
          </p:cNvGraphicFramePr>
          <p:nvPr>
            <p:extLst>
              <p:ext uri="{D42A27DB-BD31-4B8C-83A1-F6EECF244321}">
                <p14:modId xmlns:p14="http://schemas.microsoft.com/office/powerpoint/2010/main" val="1664521258"/>
              </p:ext>
            </p:extLst>
          </p:nvPr>
        </p:nvGraphicFramePr>
        <p:xfrm>
          <a:off x="1066800" y="3638987"/>
          <a:ext cx="2789237" cy="741680"/>
        </p:xfrm>
        <a:graphic>
          <a:graphicData uri="http://schemas.openxmlformats.org/drawingml/2006/table">
            <a:tbl>
              <a:tblPr firstRow="1" bandRow="1">
                <a:tableStyleId>{5C22544A-7EE6-4342-B048-85BDC9FD1C3A}</a:tableStyleId>
              </a:tblPr>
              <a:tblGrid>
                <a:gridCol w="1349057">
                  <a:extLst>
                    <a:ext uri="{9D8B030D-6E8A-4147-A177-3AD203B41FA5}">
                      <a16:colId xmlns:a16="http://schemas.microsoft.com/office/drawing/2014/main" val="4190346284"/>
                    </a:ext>
                  </a:extLst>
                </a:gridCol>
                <a:gridCol w="1440180">
                  <a:extLst>
                    <a:ext uri="{9D8B030D-6E8A-4147-A177-3AD203B41FA5}">
                      <a16:colId xmlns:a16="http://schemas.microsoft.com/office/drawing/2014/main" val="1413711097"/>
                    </a:ext>
                  </a:extLst>
                </a:gridCol>
              </a:tblGrid>
              <a:tr h="370840">
                <a:tc>
                  <a:txBody>
                    <a:bodyPr/>
                    <a:lstStyle/>
                    <a:p>
                      <a:pPr>
                        <a:buNone/>
                      </a:pPr>
                      <a:r>
                        <a:rPr lang="en-US" dirty="0" err="1"/>
                        <a:t>Dept_ID</a:t>
                      </a:r>
                      <a:endParaRPr lang="en-US" dirty="0"/>
                    </a:p>
                  </a:txBody>
                  <a:tcPr anchor="ctr"/>
                </a:tc>
                <a:tc>
                  <a:txBody>
                    <a:bodyPr/>
                    <a:lstStyle/>
                    <a:p>
                      <a:pPr>
                        <a:buNone/>
                      </a:pPr>
                      <a:r>
                        <a:rPr lang="en-US"/>
                        <a:t>Budget</a:t>
                      </a:r>
                    </a:p>
                  </a:txBody>
                  <a:tcPr anchor="ctr"/>
                </a:tc>
                <a:extLst>
                  <a:ext uri="{0D108BD9-81ED-4DB2-BD59-A6C34878D82A}">
                    <a16:rowId xmlns:a16="http://schemas.microsoft.com/office/drawing/2014/main" val="2290081719"/>
                  </a:ext>
                </a:extLst>
              </a:tr>
              <a:tr h="370840">
                <a:tc>
                  <a:txBody>
                    <a:bodyPr/>
                    <a:lstStyle/>
                    <a:p>
                      <a:pPr>
                        <a:buNone/>
                      </a:pPr>
                      <a:r>
                        <a:rPr lang="en-US"/>
                        <a:t>D1</a:t>
                      </a:r>
                    </a:p>
                  </a:txBody>
                  <a:tcPr anchor="ctr"/>
                </a:tc>
                <a:tc>
                  <a:txBody>
                    <a:bodyPr/>
                    <a:lstStyle/>
                    <a:p>
                      <a:pPr>
                        <a:buNone/>
                      </a:pPr>
                      <a:r>
                        <a:rPr lang="en-US" dirty="0"/>
                        <a:t>500000</a:t>
                      </a:r>
                    </a:p>
                  </a:txBody>
                  <a:tcPr anchor="ctr"/>
                </a:tc>
                <a:extLst>
                  <a:ext uri="{0D108BD9-81ED-4DB2-BD59-A6C34878D82A}">
                    <a16:rowId xmlns:a16="http://schemas.microsoft.com/office/drawing/2014/main" val="541219173"/>
                  </a:ext>
                </a:extLst>
              </a:tr>
            </a:tbl>
          </a:graphicData>
        </a:graphic>
      </p:graphicFrame>
      <p:graphicFrame>
        <p:nvGraphicFramePr>
          <p:cNvPr id="11" name="Content Placeholder 10">
            <a:extLst>
              <a:ext uri="{FF2B5EF4-FFF2-40B4-BE49-F238E27FC236}">
                <a16:creationId xmlns:a16="http://schemas.microsoft.com/office/drawing/2014/main" id="{FA3F88D0-65FA-9665-9536-C1653BA53726}"/>
              </a:ext>
            </a:extLst>
          </p:cNvPr>
          <p:cNvGraphicFramePr>
            <a:graphicFrameLocks noGrp="1"/>
          </p:cNvGraphicFramePr>
          <p:nvPr>
            <p:ph idx="1"/>
            <p:extLst>
              <p:ext uri="{D42A27DB-BD31-4B8C-83A1-F6EECF244321}">
                <p14:modId xmlns:p14="http://schemas.microsoft.com/office/powerpoint/2010/main" val="1225938443"/>
              </p:ext>
            </p:extLst>
          </p:nvPr>
        </p:nvGraphicFramePr>
        <p:xfrm>
          <a:off x="1096962" y="1735654"/>
          <a:ext cx="4999038" cy="1483360"/>
        </p:xfrm>
        <a:graphic>
          <a:graphicData uri="http://schemas.openxmlformats.org/drawingml/2006/table">
            <a:tbl>
              <a:tblPr firstRow="1" bandRow="1">
                <a:tableStyleId>{5C22544A-7EE6-4342-B048-85BDC9FD1C3A}</a:tableStyleId>
              </a:tblPr>
              <a:tblGrid>
                <a:gridCol w="1666346">
                  <a:extLst>
                    <a:ext uri="{9D8B030D-6E8A-4147-A177-3AD203B41FA5}">
                      <a16:colId xmlns:a16="http://schemas.microsoft.com/office/drawing/2014/main" val="2174505845"/>
                    </a:ext>
                  </a:extLst>
                </a:gridCol>
                <a:gridCol w="1666346">
                  <a:extLst>
                    <a:ext uri="{9D8B030D-6E8A-4147-A177-3AD203B41FA5}">
                      <a16:colId xmlns:a16="http://schemas.microsoft.com/office/drawing/2014/main" val="3257938989"/>
                    </a:ext>
                  </a:extLst>
                </a:gridCol>
                <a:gridCol w="1666346">
                  <a:extLst>
                    <a:ext uri="{9D8B030D-6E8A-4147-A177-3AD203B41FA5}">
                      <a16:colId xmlns:a16="http://schemas.microsoft.com/office/drawing/2014/main" val="3203464528"/>
                    </a:ext>
                  </a:extLst>
                </a:gridCol>
              </a:tblGrid>
              <a:tr h="370840">
                <a:tc>
                  <a:txBody>
                    <a:bodyPr/>
                    <a:lstStyle/>
                    <a:p>
                      <a:pPr>
                        <a:buNone/>
                      </a:pPr>
                      <a:r>
                        <a:rPr lang="en-US" dirty="0" err="1"/>
                        <a:t>Project_ID</a:t>
                      </a:r>
                      <a:endParaRPr lang="en-US" dirty="0"/>
                    </a:p>
                  </a:txBody>
                  <a:tcPr anchor="ctr"/>
                </a:tc>
                <a:tc>
                  <a:txBody>
                    <a:bodyPr/>
                    <a:lstStyle/>
                    <a:p>
                      <a:pPr>
                        <a:buNone/>
                      </a:pPr>
                      <a:r>
                        <a:rPr lang="en-US"/>
                        <a:t>Dept_ID</a:t>
                      </a:r>
                    </a:p>
                  </a:txBody>
                  <a:tcPr anchor="ctr"/>
                </a:tc>
                <a:tc>
                  <a:txBody>
                    <a:bodyPr/>
                    <a:lstStyle/>
                    <a:p>
                      <a:pPr>
                        <a:buNone/>
                      </a:pPr>
                      <a:r>
                        <a:rPr lang="en-US" dirty="0"/>
                        <a:t>Cost</a:t>
                      </a:r>
                    </a:p>
                  </a:txBody>
                  <a:tcPr anchor="ctr"/>
                </a:tc>
                <a:extLst>
                  <a:ext uri="{0D108BD9-81ED-4DB2-BD59-A6C34878D82A}">
                    <a16:rowId xmlns:a16="http://schemas.microsoft.com/office/drawing/2014/main" val="2283672461"/>
                  </a:ext>
                </a:extLst>
              </a:tr>
              <a:tr h="370840">
                <a:tc>
                  <a:txBody>
                    <a:bodyPr/>
                    <a:lstStyle/>
                    <a:p>
                      <a:pPr>
                        <a:buNone/>
                      </a:pPr>
                      <a:r>
                        <a:rPr lang="en-US"/>
                        <a:t>P1</a:t>
                      </a:r>
                    </a:p>
                  </a:txBody>
                  <a:tcPr anchor="ctr"/>
                </a:tc>
                <a:tc>
                  <a:txBody>
                    <a:bodyPr/>
                    <a:lstStyle/>
                    <a:p>
                      <a:pPr>
                        <a:buNone/>
                      </a:pPr>
                      <a:r>
                        <a:rPr lang="en-US"/>
                        <a:t>D1</a:t>
                      </a:r>
                    </a:p>
                  </a:txBody>
                  <a:tcPr anchor="ctr"/>
                </a:tc>
                <a:tc>
                  <a:txBody>
                    <a:bodyPr/>
                    <a:lstStyle/>
                    <a:p>
                      <a:pPr>
                        <a:buNone/>
                      </a:pPr>
                      <a:r>
                        <a:rPr lang="en-US"/>
                        <a:t>200000</a:t>
                      </a:r>
                    </a:p>
                  </a:txBody>
                  <a:tcPr anchor="ctr"/>
                </a:tc>
                <a:extLst>
                  <a:ext uri="{0D108BD9-81ED-4DB2-BD59-A6C34878D82A}">
                    <a16:rowId xmlns:a16="http://schemas.microsoft.com/office/drawing/2014/main" val="47308993"/>
                  </a:ext>
                </a:extLst>
              </a:tr>
              <a:tr h="370840">
                <a:tc>
                  <a:txBody>
                    <a:bodyPr/>
                    <a:lstStyle/>
                    <a:p>
                      <a:pPr>
                        <a:buNone/>
                      </a:pPr>
                      <a:r>
                        <a:rPr lang="en-US"/>
                        <a:t>P2</a:t>
                      </a:r>
                    </a:p>
                  </a:txBody>
                  <a:tcPr anchor="ctr"/>
                </a:tc>
                <a:tc>
                  <a:txBody>
                    <a:bodyPr/>
                    <a:lstStyle/>
                    <a:p>
                      <a:pPr>
                        <a:buNone/>
                      </a:pPr>
                      <a:r>
                        <a:rPr lang="en-US"/>
                        <a:t>D1</a:t>
                      </a:r>
                    </a:p>
                  </a:txBody>
                  <a:tcPr anchor="ctr"/>
                </a:tc>
                <a:tc>
                  <a:txBody>
                    <a:bodyPr/>
                    <a:lstStyle/>
                    <a:p>
                      <a:pPr>
                        <a:buNone/>
                      </a:pPr>
                      <a:r>
                        <a:rPr lang="en-US" dirty="0"/>
                        <a:t>250000</a:t>
                      </a:r>
                    </a:p>
                  </a:txBody>
                  <a:tcPr anchor="ctr"/>
                </a:tc>
                <a:extLst>
                  <a:ext uri="{0D108BD9-81ED-4DB2-BD59-A6C34878D82A}">
                    <a16:rowId xmlns:a16="http://schemas.microsoft.com/office/drawing/2014/main" val="2488088049"/>
                  </a:ext>
                </a:extLst>
              </a:tr>
              <a:tr h="370840">
                <a:tc>
                  <a:txBody>
                    <a:bodyPr/>
                    <a:lstStyle/>
                    <a:p>
                      <a:pPr>
                        <a:buNone/>
                      </a:pPr>
                      <a:endParaRPr lang="en-US"/>
                    </a:p>
                  </a:txBody>
                  <a:tcPr anchor="ctr"/>
                </a:tc>
                <a:tc>
                  <a:txBody>
                    <a:bodyPr/>
                    <a:lstStyle/>
                    <a:p>
                      <a:pPr>
                        <a:buNone/>
                      </a:pPr>
                      <a:endParaRPr lang="en-US"/>
                    </a:p>
                  </a:txBody>
                  <a:tcPr anchor="ctr"/>
                </a:tc>
                <a:tc>
                  <a:txBody>
                    <a:bodyPr/>
                    <a:lstStyle/>
                    <a:p>
                      <a:pPr>
                        <a:buNone/>
                      </a:pPr>
                      <a:endParaRPr lang="en-US" dirty="0"/>
                    </a:p>
                  </a:txBody>
                  <a:tcPr anchor="ctr"/>
                </a:tc>
                <a:extLst>
                  <a:ext uri="{0D108BD9-81ED-4DB2-BD59-A6C34878D82A}">
                    <a16:rowId xmlns:a16="http://schemas.microsoft.com/office/drawing/2014/main" val="3427077603"/>
                  </a:ext>
                </a:extLst>
              </a:tr>
            </a:tbl>
          </a:graphicData>
        </a:graphic>
      </p:graphicFrame>
      <p:sp>
        <p:nvSpPr>
          <p:cNvPr id="12" name="Content Placeholder 2">
            <a:extLst>
              <a:ext uri="{FF2B5EF4-FFF2-40B4-BE49-F238E27FC236}">
                <a16:creationId xmlns:a16="http://schemas.microsoft.com/office/drawing/2014/main" id="{6752562B-3309-9026-FDA4-B241A5724B5D}"/>
              </a:ext>
            </a:extLst>
          </p:cNvPr>
          <p:cNvSpPr txBox="1">
            <a:spLocks/>
          </p:cNvSpPr>
          <p:nvPr/>
        </p:nvSpPr>
        <p:spPr>
          <a:xfrm>
            <a:off x="1066800" y="1128077"/>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One major advantage of assertions is that they can involve multiple tables.</a:t>
            </a:r>
          </a:p>
        </p:txBody>
      </p:sp>
      <p:sp>
        <p:nvSpPr>
          <p:cNvPr id="13" name="Content Placeholder 2">
            <a:extLst>
              <a:ext uri="{FF2B5EF4-FFF2-40B4-BE49-F238E27FC236}">
                <a16:creationId xmlns:a16="http://schemas.microsoft.com/office/drawing/2014/main" id="{ADAA53C5-D3B4-6253-6F30-79BDF1952D19}"/>
              </a:ext>
            </a:extLst>
          </p:cNvPr>
          <p:cNvSpPr txBox="1">
            <a:spLocks/>
          </p:cNvSpPr>
          <p:nvPr/>
        </p:nvSpPr>
        <p:spPr>
          <a:xfrm>
            <a:off x="7025640" y="1752164"/>
            <a:ext cx="4632960" cy="4023360"/>
          </a:xfrm>
          <a:prstGeom prst="rect">
            <a:avLst/>
          </a:prstGeom>
        </p:spPr>
        <p:txBody>
          <a:bodyPr vert="horz" lIns="0" tIns="45720" rIns="0" bIns="45720" rtlCol="0">
            <a:normAutofit fontScale="77500" lnSpcReduction="2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nSpc>
                <a:spcPct val="120000"/>
              </a:lnSpc>
              <a:spcBef>
                <a:spcPts val="600"/>
              </a:spcBef>
              <a:spcAft>
                <a:spcPts val="0"/>
              </a:spcAft>
            </a:pPr>
            <a:r>
              <a:rPr lang="en-US" i="1" dirty="0"/>
              <a:t>CREATE ASSERTION </a:t>
            </a:r>
            <a:r>
              <a:rPr lang="en-US" i="1" dirty="0" err="1"/>
              <a:t>Budget_Check</a:t>
            </a:r>
            <a:endParaRPr lang="en-US" i="1" dirty="0"/>
          </a:p>
          <a:p>
            <a:pPr>
              <a:lnSpc>
                <a:spcPct val="120000"/>
              </a:lnSpc>
              <a:spcBef>
                <a:spcPts val="600"/>
              </a:spcBef>
              <a:spcAft>
                <a:spcPts val="0"/>
              </a:spcAft>
            </a:pPr>
            <a:r>
              <a:rPr lang="en-US" i="1" dirty="0"/>
              <a:t>CHECK(</a:t>
            </a:r>
          </a:p>
          <a:p>
            <a:pPr>
              <a:lnSpc>
                <a:spcPct val="120000"/>
              </a:lnSpc>
              <a:spcBef>
                <a:spcPts val="600"/>
              </a:spcBef>
              <a:spcAft>
                <a:spcPts val="0"/>
              </a:spcAft>
            </a:pPr>
            <a:r>
              <a:rPr lang="en-US" i="1" dirty="0"/>
              <a:t>NOT EXISTS(</a:t>
            </a:r>
          </a:p>
          <a:p>
            <a:pPr>
              <a:lnSpc>
                <a:spcPct val="120000"/>
              </a:lnSpc>
              <a:spcBef>
                <a:spcPts val="600"/>
              </a:spcBef>
              <a:spcAft>
                <a:spcPts val="0"/>
              </a:spcAft>
            </a:pPr>
            <a:r>
              <a:rPr lang="en-US" i="1" dirty="0"/>
              <a:t>    SELECT </a:t>
            </a:r>
            <a:r>
              <a:rPr lang="en-US" i="1" dirty="0" err="1"/>
              <a:t>Dept_ID</a:t>
            </a:r>
            <a:endParaRPr lang="en-US" i="1" dirty="0"/>
          </a:p>
          <a:p>
            <a:pPr>
              <a:lnSpc>
                <a:spcPct val="120000"/>
              </a:lnSpc>
              <a:spcBef>
                <a:spcPts val="600"/>
              </a:spcBef>
              <a:spcAft>
                <a:spcPts val="0"/>
              </a:spcAft>
            </a:pPr>
            <a:r>
              <a:rPr lang="en-US" i="1" dirty="0"/>
              <a:t>    FROM Project</a:t>
            </a:r>
          </a:p>
          <a:p>
            <a:pPr>
              <a:lnSpc>
                <a:spcPct val="120000"/>
              </a:lnSpc>
              <a:spcBef>
                <a:spcPts val="600"/>
              </a:spcBef>
              <a:spcAft>
                <a:spcPts val="0"/>
              </a:spcAft>
            </a:pPr>
            <a:r>
              <a:rPr lang="en-US" i="1" dirty="0"/>
              <a:t>    GROUP BY </a:t>
            </a:r>
            <a:r>
              <a:rPr lang="en-US" i="1" dirty="0" err="1"/>
              <a:t>Dept_ID</a:t>
            </a:r>
            <a:endParaRPr lang="en-US" i="1" dirty="0"/>
          </a:p>
          <a:p>
            <a:pPr>
              <a:lnSpc>
                <a:spcPct val="120000"/>
              </a:lnSpc>
              <a:spcBef>
                <a:spcPts val="600"/>
              </a:spcBef>
              <a:spcAft>
                <a:spcPts val="0"/>
              </a:spcAft>
            </a:pPr>
            <a:r>
              <a:rPr lang="en-US" i="1" dirty="0"/>
              <a:t>    HAVING SUM(Cost) &gt;</a:t>
            </a:r>
          </a:p>
          <a:p>
            <a:pPr>
              <a:lnSpc>
                <a:spcPct val="120000"/>
              </a:lnSpc>
              <a:spcBef>
                <a:spcPts val="600"/>
              </a:spcBef>
              <a:spcAft>
                <a:spcPts val="0"/>
              </a:spcAft>
            </a:pPr>
            <a:r>
              <a:rPr lang="en-US" i="1" dirty="0"/>
              <a:t>    (</a:t>
            </a:r>
          </a:p>
          <a:p>
            <a:pPr>
              <a:lnSpc>
                <a:spcPct val="120000"/>
              </a:lnSpc>
              <a:spcBef>
                <a:spcPts val="600"/>
              </a:spcBef>
              <a:spcAft>
                <a:spcPts val="0"/>
              </a:spcAft>
            </a:pPr>
            <a:r>
              <a:rPr lang="en-US" i="1" dirty="0"/>
              <a:t>        SELECT Budget</a:t>
            </a:r>
          </a:p>
          <a:p>
            <a:pPr>
              <a:lnSpc>
                <a:spcPct val="120000"/>
              </a:lnSpc>
              <a:spcBef>
                <a:spcPts val="600"/>
              </a:spcBef>
              <a:spcAft>
                <a:spcPts val="0"/>
              </a:spcAft>
            </a:pPr>
            <a:r>
              <a:rPr lang="en-US" i="1" dirty="0"/>
              <a:t>        FROM Department</a:t>
            </a:r>
          </a:p>
          <a:p>
            <a:pPr>
              <a:lnSpc>
                <a:spcPct val="120000"/>
              </a:lnSpc>
              <a:spcBef>
                <a:spcPts val="600"/>
              </a:spcBef>
              <a:spcAft>
                <a:spcPts val="0"/>
              </a:spcAft>
            </a:pPr>
            <a:r>
              <a:rPr lang="en-US" i="1" dirty="0"/>
              <a:t>        WHERE </a:t>
            </a:r>
            <a:r>
              <a:rPr lang="en-US" i="1" dirty="0" err="1"/>
              <a:t>Department.Dept_ID</a:t>
            </a:r>
            <a:r>
              <a:rPr lang="en-US" i="1" dirty="0"/>
              <a:t> = </a:t>
            </a:r>
            <a:r>
              <a:rPr lang="en-US" i="1" dirty="0" err="1"/>
              <a:t>Project.Dept_ID</a:t>
            </a:r>
            <a:endParaRPr lang="en-US" i="1" dirty="0"/>
          </a:p>
          <a:p>
            <a:pPr>
              <a:lnSpc>
                <a:spcPct val="120000"/>
              </a:lnSpc>
              <a:spcBef>
                <a:spcPts val="600"/>
              </a:spcBef>
              <a:spcAft>
                <a:spcPts val="0"/>
              </a:spcAft>
            </a:pPr>
            <a:r>
              <a:rPr lang="en-US" i="1" dirty="0"/>
              <a:t>    )));</a:t>
            </a:r>
          </a:p>
        </p:txBody>
      </p:sp>
    </p:spTree>
    <p:extLst>
      <p:ext uri="{BB962C8B-B14F-4D97-AF65-F5344CB8AC3E}">
        <p14:creationId xmlns:p14="http://schemas.microsoft.com/office/powerpoint/2010/main" val="281659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60F80-C8B5-309C-7BBB-606B61FFEB9A}"/>
              </a:ext>
            </a:extLst>
          </p:cNvPr>
          <p:cNvSpPr>
            <a:spLocks noGrp="1"/>
          </p:cNvSpPr>
          <p:nvPr>
            <p:ph type="title"/>
          </p:nvPr>
        </p:nvSpPr>
        <p:spPr/>
        <p:txBody>
          <a:bodyPr/>
          <a:lstStyle/>
          <a:p>
            <a:r>
              <a:rPr lang="en-US" dirty="0"/>
              <a:t>Advantages 				      Limitations</a:t>
            </a:r>
          </a:p>
        </p:txBody>
      </p:sp>
      <p:sp>
        <p:nvSpPr>
          <p:cNvPr id="3" name="Content Placeholder 2">
            <a:extLst>
              <a:ext uri="{FF2B5EF4-FFF2-40B4-BE49-F238E27FC236}">
                <a16:creationId xmlns:a16="http://schemas.microsoft.com/office/drawing/2014/main" id="{810FE8E4-B0B7-8C6F-3061-B853CA77D1A3}"/>
              </a:ext>
            </a:extLst>
          </p:cNvPr>
          <p:cNvSpPr>
            <a:spLocks noGrp="1"/>
          </p:cNvSpPr>
          <p:nvPr>
            <p:ph idx="1"/>
          </p:nvPr>
        </p:nvSpPr>
        <p:spPr/>
        <p:txBody>
          <a:bodyPr>
            <a:normAutofit/>
          </a:bodyPr>
          <a:lstStyle/>
          <a:p>
            <a:pPr marL="457200" indent="-457200">
              <a:buFont typeface="+mj-lt"/>
              <a:buAutoNum type="arabicPeriod"/>
            </a:pPr>
            <a:r>
              <a:rPr lang="en-US" b="1" dirty="0"/>
              <a:t>Enforce Complex Business Rules</a:t>
            </a:r>
          </a:p>
          <a:p>
            <a:pPr marL="292608" lvl="1" indent="0">
              <a:buNone/>
            </a:pPr>
            <a:r>
              <a:rPr lang="en-US" dirty="0"/>
              <a:t>Can express conditions involving many tables.</a:t>
            </a:r>
          </a:p>
          <a:p>
            <a:pPr marL="457200" indent="-457200">
              <a:buFont typeface="+mj-lt"/>
              <a:buAutoNum type="arabicPeriod"/>
            </a:pPr>
            <a:r>
              <a:rPr lang="en-US" b="1" dirty="0"/>
              <a:t>Improve Data Integrity</a:t>
            </a:r>
          </a:p>
          <a:p>
            <a:pPr marL="292608" lvl="1" indent="0">
              <a:buNone/>
            </a:pPr>
            <a:r>
              <a:rPr lang="en-US" dirty="0"/>
              <a:t>Ensures database remains consistent.</a:t>
            </a:r>
          </a:p>
          <a:p>
            <a:pPr marL="457200" indent="-457200">
              <a:buFont typeface="+mj-lt"/>
              <a:buAutoNum type="arabicPeriod"/>
            </a:pPr>
            <a:r>
              <a:rPr lang="en-US" b="1" dirty="0"/>
              <a:t>Centralized Validation</a:t>
            </a:r>
          </a:p>
          <a:p>
            <a:pPr marL="292608" lvl="1" indent="0">
              <a:buNone/>
            </a:pPr>
            <a:r>
              <a:rPr lang="en-US" dirty="0"/>
              <a:t>Rules are stored in one place.</a:t>
            </a:r>
          </a:p>
          <a:p>
            <a:pPr marL="457200" indent="-457200">
              <a:buFont typeface="+mj-lt"/>
              <a:buAutoNum type="arabicPeriod"/>
            </a:pPr>
            <a:r>
              <a:rPr lang="en-US" b="1" dirty="0"/>
              <a:t>Database Independence</a:t>
            </a:r>
          </a:p>
          <a:p>
            <a:pPr marL="292608" lvl="1" indent="0">
              <a:buNone/>
            </a:pPr>
            <a:r>
              <a:rPr lang="en-US" dirty="0"/>
              <a:t>Validation remains in database rather than application code.</a:t>
            </a:r>
          </a:p>
          <a:p>
            <a:pPr marL="457200" indent="-457200">
              <a:buFont typeface="+mj-lt"/>
              <a:buAutoNum type="arabicPeriod"/>
            </a:pPr>
            <a:r>
              <a:rPr lang="en-US" b="1" dirty="0"/>
              <a:t>Better Reliability</a:t>
            </a:r>
          </a:p>
          <a:p>
            <a:pPr marL="292608" lvl="1" indent="0">
              <a:buNone/>
            </a:pPr>
            <a:r>
              <a:rPr lang="en-US" dirty="0"/>
              <a:t>Invalid transactions are automatically rejected.</a:t>
            </a:r>
          </a:p>
          <a:p>
            <a:pPr marL="457200" indent="-457200">
              <a:buFont typeface="+mj-lt"/>
              <a:buAutoNum type="arabicPeriod"/>
            </a:pPr>
            <a:endParaRPr lang="en-US" dirty="0"/>
          </a:p>
        </p:txBody>
      </p:sp>
      <p:sp>
        <p:nvSpPr>
          <p:cNvPr id="4" name="Content Placeholder 2">
            <a:extLst>
              <a:ext uri="{FF2B5EF4-FFF2-40B4-BE49-F238E27FC236}">
                <a16:creationId xmlns:a16="http://schemas.microsoft.com/office/drawing/2014/main" id="{35BD618D-0108-F9D2-99AC-F93E3AFD3547}"/>
              </a:ext>
            </a:extLst>
          </p:cNvPr>
          <p:cNvSpPr txBox="1">
            <a:spLocks/>
          </p:cNvSpPr>
          <p:nvPr/>
        </p:nvSpPr>
        <p:spPr>
          <a:xfrm>
            <a:off x="1249680" y="1998134"/>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457200" indent="-457200" algn="r">
              <a:buFont typeface="+mj-lt"/>
              <a:buAutoNum type="arabicPeriod"/>
            </a:pPr>
            <a:r>
              <a:rPr lang="en-US" b="1" dirty="0"/>
              <a:t>Performance Overhead</a:t>
            </a:r>
          </a:p>
          <a:p>
            <a:pPr marL="292608" lvl="1" indent="0" algn="r">
              <a:buNone/>
            </a:pPr>
            <a:r>
              <a:rPr lang="en-US" dirty="0"/>
              <a:t>Complex assertions may be expensive to check.</a:t>
            </a:r>
          </a:p>
          <a:p>
            <a:pPr marL="457200" indent="-457200" algn="r">
              <a:buFont typeface="+mj-lt"/>
              <a:buAutoNum type="arabicPeriod"/>
            </a:pPr>
            <a:r>
              <a:rPr lang="en-US" b="1" dirty="0"/>
              <a:t>Limited DBMS Support</a:t>
            </a:r>
          </a:p>
          <a:p>
            <a:pPr marL="292608" lvl="1" indent="0" algn="r">
              <a:buNone/>
            </a:pPr>
            <a:r>
              <a:rPr lang="en-US" dirty="0"/>
              <a:t>	Many modern DBMSs (including </a:t>
            </a:r>
            <a:r>
              <a:rPr lang="en-US" b="1" dirty="0"/>
              <a:t>MySQL</a:t>
            </a:r>
            <a:r>
              <a:rPr lang="en-US" dirty="0"/>
              <a:t>) </a:t>
            </a:r>
          </a:p>
          <a:p>
            <a:pPr marL="292608" lvl="1" indent="0" algn="r">
              <a:buNone/>
            </a:pPr>
            <a:r>
              <a:rPr lang="en-US" dirty="0"/>
              <a:t>do </a:t>
            </a:r>
            <a:r>
              <a:rPr lang="en-US" b="1" dirty="0"/>
              <a:t>not fully support CREATE ASSERTION</a:t>
            </a:r>
            <a:r>
              <a:rPr lang="en-US" dirty="0"/>
              <a:t>.</a:t>
            </a:r>
          </a:p>
          <a:p>
            <a:pPr marL="457200" indent="-457200" algn="r">
              <a:buFont typeface="+mj-lt"/>
              <a:buAutoNum type="arabicPeriod"/>
            </a:pPr>
            <a:r>
              <a:rPr lang="en-US" b="1" dirty="0"/>
              <a:t>Difficult to Maintain</a:t>
            </a:r>
          </a:p>
          <a:p>
            <a:pPr marL="292608" lvl="1" indent="0" algn="r">
              <a:buNone/>
            </a:pPr>
            <a:r>
              <a:rPr lang="en-US" dirty="0"/>
              <a:t>Large assertions can become complex.</a:t>
            </a:r>
          </a:p>
          <a:p>
            <a:pPr marL="457200" indent="-457200" algn="r">
              <a:buFont typeface="+mj-lt"/>
              <a:buAutoNum type="arabicPeriod"/>
            </a:pPr>
            <a:r>
              <a:rPr lang="en-US" b="1" dirty="0"/>
              <a:t>Often Replaced by Triggers</a:t>
            </a:r>
          </a:p>
          <a:p>
            <a:pPr marL="292608" lvl="1" indent="0" algn="r">
              <a:buNone/>
            </a:pPr>
            <a:r>
              <a:rPr lang="en-US" dirty="0"/>
              <a:t>Many databases use triggers instead.</a:t>
            </a:r>
          </a:p>
        </p:txBody>
      </p:sp>
    </p:spTree>
    <p:extLst>
      <p:ext uri="{BB962C8B-B14F-4D97-AF65-F5344CB8AC3E}">
        <p14:creationId xmlns:p14="http://schemas.microsoft.com/office/powerpoint/2010/main" val="2487192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0B5EE-D583-C5A4-979F-8733F1B62CDF}"/>
              </a:ext>
            </a:extLst>
          </p:cNvPr>
          <p:cNvSpPr>
            <a:spLocks noGrp="1"/>
          </p:cNvSpPr>
          <p:nvPr>
            <p:ph type="title"/>
          </p:nvPr>
        </p:nvSpPr>
        <p:spPr/>
        <p:txBody>
          <a:bodyPr/>
          <a:lstStyle/>
          <a:p>
            <a:r>
              <a:rPr lang="en-US" dirty="0"/>
              <a:t>Real-World Applications of Assertions</a:t>
            </a:r>
          </a:p>
        </p:txBody>
      </p:sp>
      <p:sp>
        <p:nvSpPr>
          <p:cNvPr id="3" name="Content Placeholder 2">
            <a:extLst>
              <a:ext uri="{FF2B5EF4-FFF2-40B4-BE49-F238E27FC236}">
                <a16:creationId xmlns:a16="http://schemas.microsoft.com/office/drawing/2014/main" id="{3177308D-1A0E-13C8-459E-0BCAE7BEC014}"/>
              </a:ext>
            </a:extLst>
          </p:cNvPr>
          <p:cNvSpPr>
            <a:spLocks noGrp="1"/>
          </p:cNvSpPr>
          <p:nvPr>
            <p:ph idx="1"/>
          </p:nvPr>
        </p:nvSpPr>
        <p:spPr>
          <a:xfrm>
            <a:off x="1097280" y="1845734"/>
            <a:ext cx="4968240" cy="4023360"/>
          </a:xfrm>
        </p:spPr>
        <p:txBody>
          <a:bodyPr>
            <a:normAutofit/>
          </a:bodyPr>
          <a:lstStyle/>
          <a:p>
            <a:r>
              <a:rPr lang="en-US" b="1" dirty="0"/>
              <a:t>University System</a:t>
            </a:r>
          </a:p>
          <a:p>
            <a:pPr lvl="1"/>
            <a:r>
              <a:rPr lang="en-US" dirty="0"/>
              <a:t>Maximum students per class </a:t>
            </a:r>
          </a:p>
          <a:p>
            <a:pPr lvl="1"/>
            <a:r>
              <a:rPr lang="en-US" dirty="0"/>
              <a:t>Minimum CGPA requirements </a:t>
            </a:r>
          </a:p>
          <a:p>
            <a:r>
              <a:rPr lang="en-US" b="1" dirty="0"/>
              <a:t>Banking System</a:t>
            </a:r>
          </a:p>
          <a:p>
            <a:pPr lvl="1"/>
            <a:r>
              <a:rPr lang="en-US" dirty="0"/>
              <a:t>Account balance must remain positive </a:t>
            </a:r>
          </a:p>
          <a:p>
            <a:pPr lvl="1"/>
            <a:r>
              <a:rPr lang="en-US" dirty="0"/>
              <a:t>Daily withdrawal limit </a:t>
            </a:r>
          </a:p>
          <a:p>
            <a:r>
              <a:rPr lang="en-US" b="1" dirty="0"/>
              <a:t>Hospital System</a:t>
            </a:r>
          </a:p>
          <a:p>
            <a:pPr lvl="1"/>
            <a:r>
              <a:rPr lang="en-US" dirty="0"/>
              <a:t>Doctor workload limits </a:t>
            </a:r>
          </a:p>
          <a:p>
            <a:pPr lvl="1"/>
            <a:r>
              <a:rPr lang="en-US" dirty="0"/>
              <a:t>Room occupancy limits </a:t>
            </a:r>
          </a:p>
          <a:p>
            <a:r>
              <a:rPr lang="en-US" b="1" dirty="0"/>
              <a:t>Airline Reservation System</a:t>
            </a:r>
          </a:p>
          <a:p>
            <a:pPr lvl="1"/>
            <a:r>
              <a:rPr lang="en-US" dirty="0"/>
              <a:t>Seat bookings cannot exceed available seats</a:t>
            </a:r>
          </a:p>
          <a:p>
            <a:endParaRPr lang="en-US" dirty="0"/>
          </a:p>
        </p:txBody>
      </p:sp>
      <p:sp>
        <p:nvSpPr>
          <p:cNvPr id="4" name="Content Placeholder 2">
            <a:extLst>
              <a:ext uri="{FF2B5EF4-FFF2-40B4-BE49-F238E27FC236}">
                <a16:creationId xmlns:a16="http://schemas.microsoft.com/office/drawing/2014/main" id="{A7CE67B6-97BB-E347-9659-807D15B47AA2}"/>
              </a:ext>
            </a:extLst>
          </p:cNvPr>
          <p:cNvSpPr txBox="1">
            <a:spLocks/>
          </p:cNvSpPr>
          <p:nvPr/>
        </p:nvSpPr>
        <p:spPr>
          <a:xfrm>
            <a:off x="6225540" y="1845733"/>
            <a:ext cx="5751342" cy="4725663"/>
          </a:xfrm>
          <a:prstGeom prst="rect">
            <a:avLst/>
          </a:prstGeom>
        </p:spPr>
        <p:txBody>
          <a:bodyPr vert="horz" lIns="0" tIns="45720" rIns="0" bIns="45720" rtlCol="0">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b="1" dirty="0"/>
              <a:t>Rule: </a:t>
            </a:r>
            <a:r>
              <a:rPr lang="en-US" dirty="0"/>
              <a:t>A semester should not contain more than 60 students.</a:t>
            </a:r>
          </a:p>
          <a:p>
            <a:r>
              <a:rPr lang="en-US" i="1" dirty="0"/>
              <a:t>SQL: </a:t>
            </a:r>
          </a:p>
          <a:p>
            <a:pPr marL="0">
              <a:spcBef>
                <a:spcPts val="600"/>
              </a:spcBef>
              <a:spcAft>
                <a:spcPts val="0"/>
              </a:spcAft>
            </a:pPr>
            <a:r>
              <a:rPr lang="en-US" i="1" dirty="0"/>
              <a:t>CREATE ASSERTION </a:t>
            </a:r>
            <a:r>
              <a:rPr lang="en-US" i="1" dirty="0" err="1"/>
              <a:t>Semester_Limit</a:t>
            </a:r>
            <a:endParaRPr lang="en-US" i="1" dirty="0"/>
          </a:p>
          <a:p>
            <a:pPr marL="0">
              <a:spcBef>
                <a:spcPts val="600"/>
              </a:spcBef>
              <a:spcAft>
                <a:spcPts val="0"/>
              </a:spcAft>
            </a:pPr>
            <a:r>
              <a:rPr lang="en-US" i="1" dirty="0"/>
              <a:t>CHECK(</a:t>
            </a:r>
          </a:p>
          <a:p>
            <a:pPr marL="0">
              <a:spcBef>
                <a:spcPts val="600"/>
              </a:spcBef>
              <a:spcAft>
                <a:spcPts val="0"/>
              </a:spcAft>
            </a:pPr>
            <a:r>
              <a:rPr lang="en-US" i="1" dirty="0"/>
              <a:t>NOT EXISTS(</a:t>
            </a:r>
          </a:p>
          <a:p>
            <a:pPr marL="0">
              <a:spcBef>
                <a:spcPts val="600"/>
              </a:spcBef>
              <a:spcAft>
                <a:spcPts val="0"/>
              </a:spcAft>
            </a:pPr>
            <a:r>
              <a:rPr lang="en-US" i="1" dirty="0"/>
              <a:t>SELECT Semester</a:t>
            </a:r>
          </a:p>
          <a:p>
            <a:pPr marL="0">
              <a:spcBef>
                <a:spcPts val="600"/>
              </a:spcBef>
              <a:spcAft>
                <a:spcPts val="0"/>
              </a:spcAft>
            </a:pPr>
            <a:r>
              <a:rPr lang="en-US" i="1" dirty="0"/>
              <a:t>FROM Student</a:t>
            </a:r>
          </a:p>
          <a:p>
            <a:pPr marL="0">
              <a:spcBef>
                <a:spcPts val="600"/>
              </a:spcBef>
              <a:spcAft>
                <a:spcPts val="0"/>
              </a:spcAft>
            </a:pPr>
            <a:r>
              <a:rPr lang="en-US" i="1" dirty="0"/>
              <a:t>GROUP BY Semester</a:t>
            </a:r>
          </a:p>
          <a:p>
            <a:pPr marL="0">
              <a:spcBef>
                <a:spcPts val="600"/>
              </a:spcBef>
              <a:spcAft>
                <a:spcPts val="0"/>
              </a:spcAft>
            </a:pPr>
            <a:r>
              <a:rPr lang="en-US" i="1" dirty="0"/>
              <a:t>HAVING COUNT(*) &gt; 60</a:t>
            </a:r>
          </a:p>
          <a:p>
            <a:pPr marL="0">
              <a:spcBef>
                <a:spcPts val="600"/>
              </a:spcBef>
              <a:spcAft>
                <a:spcPts val="0"/>
              </a:spcAft>
            </a:pPr>
            <a:r>
              <a:rPr lang="en-US" i="1" dirty="0"/>
              <a:t>)</a:t>
            </a:r>
          </a:p>
          <a:p>
            <a:pPr marL="0">
              <a:spcBef>
                <a:spcPts val="600"/>
              </a:spcBef>
              <a:spcAft>
                <a:spcPts val="0"/>
              </a:spcAft>
            </a:pPr>
            <a:r>
              <a:rPr lang="en-US" i="1" dirty="0"/>
              <a:t>);</a:t>
            </a:r>
          </a:p>
          <a:p>
            <a:pPr marL="0">
              <a:spcBef>
                <a:spcPts val="600"/>
              </a:spcBef>
              <a:spcAft>
                <a:spcPts val="0"/>
              </a:spcAft>
            </a:pPr>
            <a:r>
              <a:rPr lang="en-US" i="1" dirty="0"/>
              <a:t>This means every semester must have count less than 60</a:t>
            </a:r>
          </a:p>
        </p:txBody>
      </p:sp>
    </p:spTree>
    <p:extLst>
      <p:ext uri="{BB962C8B-B14F-4D97-AF65-F5344CB8AC3E}">
        <p14:creationId xmlns:p14="http://schemas.microsoft.com/office/powerpoint/2010/main" val="18767047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7006F-FF46-B08F-0A97-9EE36A2AB072}"/>
              </a:ext>
            </a:extLst>
          </p:cNvPr>
          <p:cNvSpPr>
            <a:spLocks noGrp="1"/>
          </p:cNvSpPr>
          <p:nvPr>
            <p:ph type="title"/>
          </p:nvPr>
        </p:nvSpPr>
        <p:spPr/>
        <p:txBody>
          <a:bodyPr/>
          <a:lstStyle/>
          <a:p>
            <a:r>
              <a:rPr lang="en-US"/>
              <a:t>BUT…..….. </a:t>
            </a:r>
            <a:r>
              <a:rPr lang="en-US" dirty="0"/>
              <a:t>Assertion are Theoretical</a:t>
            </a:r>
          </a:p>
        </p:txBody>
      </p:sp>
      <p:graphicFrame>
        <p:nvGraphicFramePr>
          <p:cNvPr id="15" name="Content Placeholder 13">
            <a:extLst>
              <a:ext uri="{FF2B5EF4-FFF2-40B4-BE49-F238E27FC236}">
                <a16:creationId xmlns:a16="http://schemas.microsoft.com/office/drawing/2014/main" id="{FCDCC2B7-2D19-BA8F-B7A6-AB1607592B8A}"/>
              </a:ext>
            </a:extLst>
          </p:cNvPr>
          <p:cNvGraphicFramePr>
            <a:graphicFrameLocks/>
          </p:cNvGraphicFramePr>
          <p:nvPr>
            <p:extLst>
              <p:ext uri="{D42A27DB-BD31-4B8C-83A1-F6EECF244321}">
                <p14:modId xmlns:p14="http://schemas.microsoft.com/office/powerpoint/2010/main" val="1464125936"/>
              </p:ext>
            </p:extLst>
          </p:nvPr>
        </p:nvGraphicFramePr>
        <p:xfrm>
          <a:off x="7848282" y="3057314"/>
          <a:ext cx="3901758" cy="2225040"/>
        </p:xfrm>
        <a:graphic>
          <a:graphicData uri="http://schemas.openxmlformats.org/drawingml/2006/table">
            <a:tbl>
              <a:tblPr firstRow="1" bandRow="1">
                <a:tableStyleId>{5C22544A-7EE6-4342-B048-85BDC9FD1C3A}</a:tableStyleId>
              </a:tblPr>
              <a:tblGrid>
                <a:gridCol w="1638618">
                  <a:extLst>
                    <a:ext uri="{9D8B030D-6E8A-4147-A177-3AD203B41FA5}">
                      <a16:colId xmlns:a16="http://schemas.microsoft.com/office/drawing/2014/main" val="2369692370"/>
                    </a:ext>
                  </a:extLst>
                </a:gridCol>
                <a:gridCol w="2263140">
                  <a:extLst>
                    <a:ext uri="{9D8B030D-6E8A-4147-A177-3AD203B41FA5}">
                      <a16:colId xmlns:a16="http://schemas.microsoft.com/office/drawing/2014/main" val="288782064"/>
                    </a:ext>
                  </a:extLst>
                </a:gridCol>
              </a:tblGrid>
              <a:tr h="370840">
                <a:tc>
                  <a:txBody>
                    <a:bodyPr/>
                    <a:lstStyle/>
                    <a:p>
                      <a:pPr>
                        <a:buNone/>
                      </a:pPr>
                      <a:r>
                        <a:rPr lang="en-US" dirty="0"/>
                        <a:t>DBMS</a:t>
                      </a:r>
                    </a:p>
                  </a:txBody>
                  <a:tcPr anchor="ctr"/>
                </a:tc>
                <a:tc>
                  <a:txBody>
                    <a:bodyPr/>
                    <a:lstStyle/>
                    <a:p>
                      <a:pPr>
                        <a:buNone/>
                      </a:pPr>
                      <a:r>
                        <a:rPr lang="en-US"/>
                        <a:t>Assertion Support</a:t>
                      </a:r>
                    </a:p>
                  </a:txBody>
                  <a:tcPr anchor="ctr"/>
                </a:tc>
                <a:extLst>
                  <a:ext uri="{0D108BD9-81ED-4DB2-BD59-A6C34878D82A}">
                    <a16:rowId xmlns:a16="http://schemas.microsoft.com/office/drawing/2014/main" val="21633732"/>
                  </a:ext>
                </a:extLst>
              </a:tr>
              <a:tr h="370840">
                <a:tc>
                  <a:txBody>
                    <a:bodyPr/>
                    <a:lstStyle/>
                    <a:p>
                      <a:pPr>
                        <a:buNone/>
                      </a:pPr>
                      <a:r>
                        <a:rPr lang="en-US"/>
                        <a:t>MySQL</a:t>
                      </a:r>
                    </a:p>
                  </a:txBody>
                  <a:tcPr anchor="ctr"/>
                </a:tc>
                <a:tc>
                  <a:txBody>
                    <a:bodyPr/>
                    <a:lstStyle/>
                    <a:p>
                      <a:pPr>
                        <a:buNone/>
                      </a:pPr>
                      <a:r>
                        <a:rPr lang="en-US"/>
                        <a:t>❌ No</a:t>
                      </a:r>
                    </a:p>
                  </a:txBody>
                  <a:tcPr anchor="ctr"/>
                </a:tc>
                <a:extLst>
                  <a:ext uri="{0D108BD9-81ED-4DB2-BD59-A6C34878D82A}">
                    <a16:rowId xmlns:a16="http://schemas.microsoft.com/office/drawing/2014/main" val="3244146814"/>
                  </a:ext>
                </a:extLst>
              </a:tr>
              <a:tr h="370840">
                <a:tc>
                  <a:txBody>
                    <a:bodyPr/>
                    <a:lstStyle/>
                    <a:p>
                      <a:pPr>
                        <a:buNone/>
                      </a:pPr>
                      <a:r>
                        <a:rPr lang="en-US"/>
                        <a:t>MariaDB</a:t>
                      </a:r>
                    </a:p>
                  </a:txBody>
                  <a:tcPr anchor="ctr"/>
                </a:tc>
                <a:tc>
                  <a:txBody>
                    <a:bodyPr/>
                    <a:lstStyle/>
                    <a:p>
                      <a:pPr>
                        <a:buNone/>
                      </a:pPr>
                      <a:r>
                        <a:rPr lang="en-US"/>
                        <a:t>❌ No</a:t>
                      </a:r>
                    </a:p>
                  </a:txBody>
                  <a:tcPr anchor="ctr"/>
                </a:tc>
                <a:extLst>
                  <a:ext uri="{0D108BD9-81ED-4DB2-BD59-A6C34878D82A}">
                    <a16:rowId xmlns:a16="http://schemas.microsoft.com/office/drawing/2014/main" val="326777935"/>
                  </a:ext>
                </a:extLst>
              </a:tr>
              <a:tr h="370840">
                <a:tc>
                  <a:txBody>
                    <a:bodyPr/>
                    <a:lstStyle/>
                    <a:p>
                      <a:pPr>
                        <a:buNone/>
                      </a:pPr>
                      <a:r>
                        <a:rPr lang="en-US"/>
                        <a:t>PostgreSQL</a:t>
                      </a:r>
                    </a:p>
                  </a:txBody>
                  <a:tcPr anchor="ctr"/>
                </a:tc>
                <a:tc>
                  <a:txBody>
                    <a:bodyPr/>
                    <a:lstStyle/>
                    <a:p>
                      <a:pPr>
                        <a:buNone/>
                      </a:pPr>
                      <a:r>
                        <a:rPr lang="en-US"/>
                        <a:t>❌ No</a:t>
                      </a:r>
                    </a:p>
                  </a:txBody>
                  <a:tcPr anchor="ctr"/>
                </a:tc>
                <a:extLst>
                  <a:ext uri="{0D108BD9-81ED-4DB2-BD59-A6C34878D82A}">
                    <a16:rowId xmlns:a16="http://schemas.microsoft.com/office/drawing/2014/main" val="1277313734"/>
                  </a:ext>
                </a:extLst>
              </a:tr>
              <a:tr h="370840">
                <a:tc>
                  <a:txBody>
                    <a:bodyPr/>
                    <a:lstStyle/>
                    <a:p>
                      <a:pPr>
                        <a:buNone/>
                      </a:pPr>
                      <a:r>
                        <a:rPr lang="en-US"/>
                        <a:t>SQL Server</a:t>
                      </a:r>
                    </a:p>
                  </a:txBody>
                  <a:tcPr anchor="ctr"/>
                </a:tc>
                <a:tc>
                  <a:txBody>
                    <a:bodyPr/>
                    <a:lstStyle/>
                    <a:p>
                      <a:pPr>
                        <a:buNone/>
                      </a:pPr>
                      <a:r>
                        <a:rPr lang="en-US"/>
                        <a:t>❌ No</a:t>
                      </a:r>
                    </a:p>
                  </a:txBody>
                  <a:tcPr anchor="ctr"/>
                </a:tc>
                <a:extLst>
                  <a:ext uri="{0D108BD9-81ED-4DB2-BD59-A6C34878D82A}">
                    <a16:rowId xmlns:a16="http://schemas.microsoft.com/office/drawing/2014/main" val="2628565667"/>
                  </a:ext>
                </a:extLst>
              </a:tr>
              <a:tr h="370840">
                <a:tc>
                  <a:txBody>
                    <a:bodyPr/>
                    <a:lstStyle/>
                    <a:p>
                      <a:pPr>
                        <a:buNone/>
                      </a:pPr>
                      <a:r>
                        <a:rPr lang="en-US"/>
                        <a:t>Oracle</a:t>
                      </a:r>
                    </a:p>
                  </a:txBody>
                  <a:tcPr anchor="ctr"/>
                </a:tc>
                <a:tc>
                  <a:txBody>
                    <a:bodyPr/>
                    <a:lstStyle/>
                    <a:p>
                      <a:pPr>
                        <a:buNone/>
                      </a:pPr>
                      <a:r>
                        <a:rPr lang="en-US" dirty="0"/>
                        <a:t>❌ No</a:t>
                      </a:r>
                    </a:p>
                  </a:txBody>
                  <a:tcPr anchor="ctr"/>
                </a:tc>
                <a:extLst>
                  <a:ext uri="{0D108BD9-81ED-4DB2-BD59-A6C34878D82A}">
                    <a16:rowId xmlns:a16="http://schemas.microsoft.com/office/drawing/2014/main" val="2172222180"/>
                  </a:ext>
                </a:extLst>
              </a:tr>
            </a:tbl>
          </a:graphicData>
        </a:graphic>
      </p:graphicFrame>
      <p:sp>
        <p:nvSpPr>
          <p:cNvPr id="17" name="Content Placeholder 16">
            <a:extLst>
              <a:ext uri="{FF2B5EF4-FFF2-40B4-BE49-F238E27FC236}">
                <a16:creationId xmlns:a16="http://schemas.microsoft.com/office/drawing/2014/main" id="{28DB2626-3B3F-2EB5-5B70-BA9322FCCA2C}"/>
              </a:ext>
            </a:extLst>
          </p:cNvPr>
          <p:cNvSpPr>
            <a:spLocks noGrp="1"/>
          </p:cNvSpPr>
          <p:nvPr>
            <p:ph idx="1"/>
          </p:nvPr>
        </p:nvSpPr>
        <p:spPr>
          <a:xfrm>
            <a:off x="1097280" y="1845734"/>
            <a:ext cx="6751002" cy="4023360"/>
          </a:xfrm>
        </p:spPr>
        <p:txBody>
          <a:bodyPr>
            <a:normAutofit/>
          </a:bodyPr>
          <a:lstStyle/>
          <a:p>
            <a:r>
              <a:rPr lang="en-US" b="1" dirty="0"/>
              <a:t>In Practice</a:t>
            </a:r>
          </a:p>
          <a:p>
            <a:pPr lvl="1"/>
            <a:r>
              <a:rPr lang="en-US" dirty="0"/>
              <a:t>Most popular DBMSs </a:t>
            </a:r>
            <a:r>
              <a:rPr lang="en-US" dirty="0">
                <a:solidFill>
                  <a:srgbClr val="FF0000"/>
                </a:solidFill>
              </a:rPr>
              <a:t>do </a:t>
            </a:r>
            <a:r>
              <a:rPr lang="en-US" b="1" dirty="0">
                <a:solidFill>
                  <a:srgbClr val="FF0000"/>
                </a:solidFill>
              </a:rPr>
              <a:t>not </a:t>
            </a:r>
            <a:r>
              <a:rPr lang="en-US" b="1" dirty="0"/>
              <a:t>implement CREATE ASSERTION</a:t>
            </a:r>
            <a:r>
              <a:rPr lang="en-US" dirty="0"/>
              <a:t>.</a:t>
            </a:r>
          </a:p>
          <a:p>
            <a:pPr lvl="1"/>
            <a:r>
              <a:rPr lang="en-US" dirty="0"/>
              <a:t>Because assertions can be expensive to check whenever any related table changes</a:t>
            </a:r>
          </a:p>
          <a:p>
            <a:r>
              <a:rPr lang="en-US" dirty="0"/>
              <a:t>They are intended to enforce database-wide rules such as:</a:t>
            </a:r>
          </a:p>
          <a:p>
            <a:pPr lvl="1"/>
            <a:r>
              <a:rPr lang="en-US" dirty="0"/>
              <a:t>Maximum 100 students per department </a:t>
            </a:r>
          </a:p>
          <a:p>
            <a:pPr lvl="1"/>
            <a:r>
              <a:rPr lang="en-US" dirty="0"/>
              <a:t>Total project cost ≤ department budget </a:t>
            </a:r>
          </a:p>
          <a:p>
            <a:pPr lvl="1"/>
            <a:r>
              <a:rPr lang="en-US" dirty="0"/>
              <a:t>Total salary expense ≤ company budget </a:t>
            </a:r>
          </a:p>
          <a:p>
            <a:r>
              <a:rPr lang="en-US" dirty="0"/>
              <a:t>So, from a relational database theory perspective, assertions are a valid and important concept.</a:t>
            </a:r>
          </a:p>
          <a:p>
            <a:r>
              <a:rPr lang="en-US" dirty="0">
                <a:solidFill>
                  <a:srgbClr val="FF0000"/>
                </a:solidFill>
              </a:rPr>
              <a:t>CHECK</a:t>
            </a:r>
            <a:r>
              <a:rPr lang="en-US" dirty="0"/>
              <a:t>,</a:t>
            </a:r>
            <a:r>
              <a:rPr lang="en-US" dirty="0">
                <a:solidFill>
                  <a:srgbClr val="FF0000"/>
                </a:solidFill>
              </a:rPr>
              <a:t> TRIGGERS </a:t>
            </a:r>
            <a:r>
              <a:rPr lang="en-US" dirty="0" err="1"/>
              <a:t>and,</a:t>
            </a:r>
            <a:r>
              <a:rPr lang="en-US" dirty="0" err="1">
                <a:solidFill>
                  <a:srgbClr val="FF0000"/>
                </a:solidFill>
              </a:rPr>
              <a:t>Stored</a:t>
            </a:r>
            <a:r>
              <a:rPr lang="en-US" dirty="0">
                <a:solidFill>
                  <a:srgbClr val="FF0000"/>
                </a:solidFill>
              </a:rPr>
              <a:t> Procedures</a:t>
            </a:r>
            <a:r>
              <a:rPr lang="en-US" dirty="0"/>
              <a:t> are used instead.</a:t>
            </a:r>
          </a:p>
          <a:p>
            <a:endParaRPr lang="en-US" dirty="0"/>
          </a:p>
        </p:txBody>
      </p:sp>
    </p:spTree>
    <p:extLst>
      <p:ext uri="{BB962C8B-B14F-4D97-AF65-F5344CB8AC3E}">
        <p14:creationId xmlns:p14="http://schemas.microsoft.com/office/powerpoint/2010/main" val="41791534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3E0DB-2F1A-782E-B617-E905CF4D55C0}"/>
              </a:ext>
            </a:extLst>
          </p:cNvPr>
          <p:cNvSpPr>
            <a:spLocks noGrp="1"/>
          </p:cNvSpPr>
          <p:nvPr>
            <p:ph type="title"/>
          </p:nvPr>
        </p:nvSpPr>
        <p:spPr/>
        <p:txBody>
          <a:bodyPr/>
          <a:lstStyle/>
          <a:p>
            <a:r>
              <a:rPr lang="en-US" dirty="0"/>
              <a:t>TRIGGERS</a:t>
            </a:r>
          </a:p>
        </p:txBody>
      </p:sp>
      <p:sp>
        <p:nvSpPr>
          <p:cNvPr id="3" name="Content Placeholder 2">
            <a:extLst>
              <a:ext uri="{FF2B5EF4-FFF2-40B4-BE49-F238E27FC236}">
                <a16:creationId xmlns:a16="http://schemas.microsoft.com/office/drawing/2014/main" id="{E63226F0-2B2C-2787-CBAB-3A01AD2139CE}"/>
              </a:ext>
            </a:extLst>
          </p:cNvPr>
          <p:cNvSpPr>
            <a:spLocks noGrp="1"/>
          </p:cNvSpPr>
          <p:nvPr>
            <p:ph idx="1"/>
          </p:nvPr>
        </p:nvSpPr>
        <p:spPr>
          <a:xfrm>
            <a:off x="1097280" y="1845734"/>
            <a:ext cx="10058400" cy="4166446"/>
          </a:xfrm>
        </p:spPr>
        <p:txBody>
          <a:bodyPr>
            <a:normAutofit/>
          </a:bodyPr>
          <a:lstStyle/>
          <a:p>
            <a:r>
              <a:rPr lang="en-US" dirty="0"/>
              <a:t>A </a:t>
            </a:r>
            <a:r>
              <a:rPr lang="en-US" b="1" dirty="0"/>
              <a:t>Trigger</a:t>
            </a:r>
            <a:r>
              <a:rPr lang="en-US" dirty="0"/>
              <a:t> is a special stored procedure that automatically executes (fires) when a specified event occurs on a table or view. </a:t>
            </a:r>
          </a:p>
          <a:p>
            <a:r>
              <a:rPr lang="nb-NO" b="1" dirty="0"/>
              <a:t>Trigger Events</a:t>
            </a:r>
          </a:p>
          <a:p>
            <a:pPr lvl="1"/>
            <a:r>
              <a:rPr lang="nb-NO" dirty="0"/>
              <a:t>INSERT </a:t>
            </a:r>
          </a:p>
          <a:p>
            <a:pPr lvl="1"/>
            <a:r>
              <a:rPr lang="nb-NO" dirty="0"/>
              <a:t>UPDATE </a:t>
            </a:r>
          </a:p>
          <a:p>
            <a:pPr lvl="1"/>
            <a:r>
              <a:rPr lang="nb-NO" dirty="0"/>
              <a:t>DELETE</a:t>
            </a:r>
          </a:p>
          <a:p>
            <a:r>
              <a:rPr lang="en-US" b="1" dirty="0"/>
              <a:t>Why are Triggers Needed?</a:t>
            </a:r>
          </a:p>
          <a:p>
            <a:pPr lvl="1"/>
            <a:r>
              <a:rPr lang="en-US" dirty="0"/>
              <a:t>Enforce complex business rules </a:t>
            </a:r>
          </a:p>
          <a:p>
            <a:pPr lvl="1"/>
            <a:r>
              <a:rPr lang="en-US" dirty="0"/>
              <a:t>Maintain data integrity </a:t>
            </a:r>
          </a:p>
          <a:p>
            <a:pPr lvl="1"/>
            <a:r>
              <a:rPr lang="en-US" dirty="0"/>
              <a:t>Keep audit logs </a:t>
            </a:r>
          </a:p>
          <a:p>
            <a:pPr lvl="1"/>
            <a:r>
              <a:rPr lang="en-US" dirty="0"/>
              <a:t>Automatically update related tables </a:t>
            </a:r>
          </a:p>
          <a:p>
            <a:pPr lvl="1"/>
            <a:r>
              <a:rPr lang="en-US" dirty="0"/>
              <a:t>Validate data before insertion </a:t>
            </a:r>
          </a:p>
          <a:p>
            <a:endParaRPr lang="en-US" dirty="0"/>
          </a:p>
        </p:txBody>
      </p:sp>
      <p:sp>
        <p:nvSpPr>
          <p:cNvPr id="12" name="Content Placeholder 2">
            <a:extLst>
              <a:ext uri="{FF2B5EF4-FFF2-40B4-BE49-F238E27FC236}">
                <a16:creationId xmlns:a16="http://schemas.microsoft.com/office/drawing/2014/main" id="{419A7E03-3071-2E62-BD3B-7B6AC996709E}"/>
              </a:ext>
            </a:extLst>
          </p:cNvPr>
          <p:cNvSpPr txBox="1">
            <a:spLocks/>
          </p:cNvSpPr>
          <p:nvPr/>
        </p:nvSpPr>
        <p:spPr>
          <a:xfrm>
            <a:off x="5506329" y="2177240"/>
            <a:ext cx="6451208" cy="4166446"/>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endParaRPr lang="en-US" dirty="0"/>
          </a:p>
        </p:txBody>
      </p:sp>
      <p:sp>
        <p:nvSpPr>
          <p:cNvPr id="14" name="TextBox 13">
            <a:extLst>
              <a:ext uri="{FF2B5EF4-FFF2-40B4-BE49-F238E27FC236}">
                <a16:creationId xmlns:a16="http://schemas.microsoft.com/office/drawing/2014/main" id="{CE145387-B558-C183-4DCC-D09921B947A4}"/>
              </a:ext>
            </a:extLst>
          </p:cNvPr>
          <p:cNvSpPr txBox="1"/>
          <p:nvPr/>
        </p:nvSpPr>
        <p:spPr>
          <a:xfrm>
            <a:off x="5297071" y="2677622"/>
            <a:ext cx="6869723" cy="2554545"/>
          </a:xfrm>
          <a:prstGeom prst="rect">
            <a:avLst/>
          </a:prstGeom>
          <a:noFill/>
        </p:spPr>
        <p:txBody>
          <a:bodyPr wrap="square">
            <a:spAutoFit/>
          </a:bodyPr>
          <a:lstStyle/>
          <a:p>
            <a:r>
              <a:rPr lang="en-US" sz="2000" b="0" i="1" u="none" strike="noStrike" dirty="0">
                <a:solidFill>
                  <a:schemeClr val="accent2"/>
                </a:solidFill>
                <a:effectLst/>
                <a:latin typeface="Courier New" panose="02070309020205020404" pitchFamily="49" charset="0"/>
              </a:rPr>
              <a:t>SQL:</a:t>
            </a:r>
          </a:p>
          <a:p>
            <a:r>
              <a:rPr lang="en-US" sz="2000" b="0" i="1" u="none" strike="noStrike" dirty="0">
                <a:solidFill>
                  <a:srgbClr val="7030A0"/>
                </a:solidFill>
                <a:effectLst/>
                <a:latin typeface="Courier New" panose="02070309020205020404" pitchFamily="49" charset="0"/>
              </a:rPr>
              <a:t>CREATE</a:t>
            </a:r>
            <a:r>
              <a:rPr lang="en-US" sz="2000" b="0" i="1" u="none" strike="noStrike" dirty="0">
                <a:effectLst/>
                <a:latin typeface="Courier New" panose="02070309020205020404" pitchFamily="49" charset="0"/>
              </a:rPr>
              <a:t> TRIGGER </a:t>
            </a:r>
            <a:r>
              <a:rPr lang="en-US" sz="2000" b="0" i="1" u="none" strike="noStrike" dirty="0" err="1">
                <a:effectLst/>
                <a:latin typeface="Courier New" panose="02070309020205020404" pitchFamily="49" charset="0"/>
              </a:rPr>
              <a:t>trigger_name</a:t>
            </a:r>
            <a:r>
              <a:rPr lang="en-US" sz="2000" b="0" i="1" u="none" strike="noStrike" dirty="0">
                <a:effectLst/>
                <a:latin typeface="Courier New" panose="02070309020205020404" pitchFamily="49" charset="0"/>
              </a:rPr>
              <a:t> </a:t>
            </a:r>
          </a:p>
          <a:p>
            <a:r>
              <a:rPr lang="en-US" sz="2000" b="0" i="1" u="none" strike="noStrike" dirty="0">
                <a:effectLst/>
                <a:latin typeface="Courier New" panose="02070309020205020404" pitchFamily="49" charset="0"/>
              </a:rPr>
              <a:t>[BEFORE | AFTER] [</a:t>
            </a:r>
            <a:r>
              <a:rPr lang="en-US" sz="2000" i="1" dirty="0">
                <a:solidFill>
                  <a:srgbClr val="7030A0"/>
                </a:solidFill>
                <a:latin typeface="Courier New" panose="02070309020205020404" pitchFamily="49" charset="0"/>
              </a:rPr>
              <a:t>INSERT</a:t>
            </a:r>
            <a:r>
              <a:rPr lang="en-US" sz="2000" b="0" i="1" u="none" strike="noStrike" dirty="0">
                <a:effectLst/>
                <a:latin typeface="Courier New" panose="02070309020205020404" pitchFamily="49" charset="0"/>
              </a:rPr>
              <a:t> | </a:t>
            </a:r>
            <a:r>
              <a:rPr lang="en-US" sz="2000" i="1" dirty="0">
                <a:solidFill>
                  <a:srgbClr val="7030A0"/>
                </a:solidFill>
                <a:latin typeface="Courier New" panose="02070309020205020404" pitchFamily="49" charset="0"/>
              </a:rPr>
              <a:t>UPDATE</a:t>
            </a:r>
            <a:r>
              <a:rPr lang="en-US" sz="2000" b="0" i="1" u="none" strike="noStrike" dirty="0">
                <a:effectLst/>
                <a:latin typeface="Courier New" panose="02070309020205020404" pitchFamily="49" charset="0"/>
              </a:rPr>
              <a:t> | </a:t>
            </a:r>
            <a:r>
              <a:rPr lang="en-US" sz="2000" i="1" dirty="0">
                <a:solidFill>
                  <a:srgbClr val="7030A0"/>
                </a:solidFill>
                <a:latin typeface="Courier New" panose="02070309020205020404" pitchFamily="49" charset="0"/>
              </a:rPr>
              <a:t>DELETE</a:t>
            </a:r>
            <a:r>
              <a:rPr lang="en-US" sz="2000" b="0" i="1" u="none" strike="noStrike" dirty="0">
                <a:effectLst/>
                <a:latin typeface="Courier New" panose="02070309020205020404" pitchFamily="49" charset="0"/>
              </a:rPr>
              <a:t>] </a:t>
            </a:r>
          </a:p>
          <a:p>
            <a:r>
              <a:rPr lang="en-US" sz="2000" i="1" dirty="0">
                <a:solidFill>
                  <a:srgbClr val="7030A0"/>
                </a:solidFill>
                <a:latin typeface="Courier New" panose="02070309020205020404" pitchFamily="49" charset="0"/>
              </a:rPr>
              <a:t>ON</a:t>
            </a:r>
            <a:r>
              <a:rPr lang="en-US" sz="2000" b="0" i="1" u="none" strike="noStrike" dirty="0">
                <a:effectLst/>
                <a:latin typeface="Courier New" panose="02070309020205020404" pitchFamily="49" charset="0"/>
              </a:rPr>
              <a:t> </a:t>
            </a:r>
            <a:r>
              <a:rPr lang="en-US" sz="2000" b="0" i="1" u="none" strike="noStrike" dirty="0" err="1">
                <a:effectLst/>
                <a:latin typeface="Courier New" panose="02070309020205020404" pitchFamily="49" charset="0"/>
              </a:rPr>
              <a:t>table_name</a:t>
            </a:r>
            <a:r>
              <a:rPr lang="en-US" sz="2000" b="0" i="1" u="none" strike="noStrike" dirty="0">
                <a:effectLst/>
                <a:latin typeface="Courier New" panose="02070309020205020404" pitchFamily="49" charset="0"/>
              </a:rPr>
              <a:t> </a:t>
            </a:r>
          </a:p>
          <a:p>
            <a:r>
              <a:rPr lang="en-US" sz="2000" i="1" dirty="0">
                <a:solidFill>
                  <a:srgbClr val="7030A0"/>
                </a:solidFill>
                <a:latin typeface="Courier New" panose="02070309020205020404" pitchFamily="49" charset="0"/>
              </a:rPr>
              <a:t>FOR</a:t>
            </a:r>
            <a:r>
              <a:rPr lang="en-US" sz="2000" b="0" i="1" u="none" strike="noStrike" dirty="0">
                <a:effectLst/>
                <a:latin typeface="Courier New" panose="02070309020205020404" pitchFamily="49" charset="0"/>
              </a:rPr>
              <a:t> EACH </a:t>
            </a:r>
            <a:r>
              <a:rPr lang="en-US" sz="2000" i="1" dirty="0">
                <a:solidFill>
                  <a:srgbClr val="7030A0"/>
                </a:solidFill>
                <a:latin typeface="Courier New" panose="02070309020205020404" pitchFamily="49" charset="0"/>
              </a:rPr>
              <a:t>ROW</a:t>
            </a:r>
            <a:r>
              <a:rPr lang="en-US" sz="2000" b="0" i="1" u="none" strike="noStrike" dirty="0">
                <a:effectLst/>
                <a:latin typeface="Courier New" panose="02070309020205020404" pitchFamily="49" charset="0"/>
              </a:rPr>
              <a:t> </a:t>
            </a:r>
          </a:p>
          <a:p>
            <a:r>
              <a:rPr lang="en-US" sz="2000" i="1" dirty="0">
                <a:solidFill>
                  <a:srgbClr val="7030A0"/>
                </a:solidFill>
                <a:latin typeface="Courier New" panose="02070309020205020404" pitchFamily="49" charset="0"/>
              </a:rPr>
              <a:t>BEGIN</a:t>
            </a:r>
            <a:r>
              <a:rPr lang="en-US" sz="2000" b="0" i="1" u="none" strike="noStrike" dirty="0">
                <a:effectLst/>
                <a:latin typeface="Courier New" panose="02070309020205020404" pitchFamily="49" charset="0"/>
              </a:rPr>
              <a:t> </a:t>
            </a:r>
          </a:p>
          <a:p>
            <a:r>
              <a:rPr lang="en-US" sz="2000" b="0" i="1" u="none" strike="noStrike" dirty="0">
                <a:effectLst/>
                <a:latin typeface="Courier New" panose="02070309020205020404" pitchFamily="49" charset="0"/>
              </a:rPr>
              <a:t>-- SQL execution logic goes here</a:t>
            </a:r>
          </a:p>
          <a:p>
            <a:r>
              <a:rPr lang="en-US" sz="2000" i="1" dirty="0">
                <a:solidFill>
                  <a:srgbClr val="7030A0"/>
                </a:solidFill>
                <a:latin typeface="Courier New" panose="02070309020205020404" pitchFamily="49" charset="0"/>
              </a:rPr>
              <a:t>END</a:t>
            </a:r>
            <a:r>
              <a:rPr lang="en-US" sz="2000" b="0" i="1" u="none" strike="noStrike" dirty="0">
                <a:effectLst/>
                <a:latin typeface="Courier New" panose="02070309020205020404" pitchFamily="49" charset="0"/>
              </a:rPr>
              <a:t>;</a:t>
            </a:r>
            <a:endParaRPr lang="en-US" sz="2000" i="1" dirty="0"/>
          </a:p>
        </p:txBody>
      </p:sp>
    </p:spTree>
    <p:extLst>
      <p:ext uri="{BB962C8B-B14F-4D97-AF65-F5344CB8AC3E}">
        <p14:creationId xmlns:p14="http://schemas.microsoft.com/office/powerpoint/2010/main" val="28963837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DBF3A-98BB-E7D9-BD14-DB0DA29810B6}"/>
              </a:ext>
            </a:extLst>
          </p:cNvPr>
          <p:cNvSpPr>
            <a:spLocks noGrp="1"/>
          </p:cNvSpPr>
          <p:nvPr>
            <p:ph type="title"/>
          </p:nvPr>
        </p:nvSpPr>
        <p:spPr>
          <a:xfrm>
            <a:off x="1097280" y="286604"/>
            <a:ext cx="10058400" cy="815366"/>
          </a:xfrm>
        </p:spPr>
        <p:txBody>
          <a:bodyPr/>
          <a:lstStyle/>
          <a:p>
            <a:r>
              <a:rPr lang="en-US" dirty="0"/>
              <a:t>Classification of Triggers</a:t>
            </a:r>
          </a:p>
        </p:txBody>
      </p:sp>
      <p:sp>
        <p:nvSpPr>
          <p:cNvPr id="3" name="Content Placeholder 2">
            <a:extLst>
              <a:ext uri="{FF2B5EF4-FFF2-40B4-BE49-F238E27FC236}">
                <a16:creationId xmlns:a16="http://schemas.microsoft.com/office/drawing/2014/main" id="{AD9C35E3-F9D9-89A2-4D2C-ED85F919CDEA}"/>
              </a:ext>
            </a:extLst>
          </p:cNvPr>
          <p:cNvSpPr>
            <a:spLocks noGrp="1"/>
          </p:cNvSpPr>
          <p:nvPr>
            <p:ph idx="1"/>
          </p:nvPr>
        </p:nvSpPr>
        <p:spPr>
          <a:xfrm>
            <a:off x="1097280" y="1101970"/>
            <a:ext cx="10058400" cy="5298830"/>
          </a:xfrm>
        </p:spPr>
        <p:txBody>
          <a:bodyPr>
            <a:normAutofit/>
          </a:bodyPr>
          <a:lstStyle/>
          <a:p>
            <a:r>
              <a:rPr lang="en-US" dirty="0"/>
              <a:t>Database engines group triggers based on what operation initiates them, when they execute, and how many times they run.</a:t>
            </a:r>
          </a:p>
          <a:p>
            <a:pPr marL="457200" indent="-457200">
              <a:buFont typeface="+mj-lt"/>
              <a:buAutoNum type="arabicPeriod"/>
            </a:pPr>
            <a:r>
              <a:rPr lang="en-US" b="1" dirty="0"/>
              <a:t>By the Firing Operation</a:t>
            </a:r>
          </a:p>
          <a:p>
            <a:pPr marL="749808" lvl="1" indent="-457200">
              <a:buFont typeface="+mj-lt"/>
              <a:buAutoNum type="arabicPeriod"/>
            </a:pPr>
            <a:r>
              <a:rPr lang="en-US" dirty="0"/>
              <a:t>DML Triggers:  </a:t>
            </a:r>
            <a:r>
              <a:rPr lang="en-US" dirty="0">
                <a:solidFill>
                  <a:schemeClr val="tx1"/>
                </a:solidFill>
              </a:rPr>
              <a:t>INSERT, UPDATE, and DELETE.</a:t>
            </a:r>
            <a:endParaRPr lang="en-US" dirty="0"/>
          </a:p>
          <a:p>
            <a:pPr marL="749808" lvl="1" indent="-457200">
              <a:buFont typeface="+mj-lt"/>
              <a:buAutoNum type="arabicPeriod"/>
            </a:pPr>
            <a:r>
              <a:rPr lang="en-US" dirty="0"/>
              <a:t>DDL Triggers:. </a:t>
            </a:r>
            <a:r>
              <a:rPr lang="en-US" dirty="0">
                <a:solidFill>
                  <a:schemeClr val="tx1"/>
                </a:solidFill>
              </a:rPr>
              <a:t>CREATE, ALTER, or DROP.</a:t>
            </a:r>
            <a:endParaRPr lang="en-US" dirty="0"/>
          </a:p>
          <a:p>
            <a:pPr marL="749808" lvl="1" indent="-457200">
              <a:buFont typeface="+mj-lt"/>
              <a:buAutoNum type="arabicPeriod"/>
            </a:pPr>
            <a:r>
              <a:rPr lang="en-US" dirty="0"/>
              <a:t>Logon Triggers:  </a:t>
            </a:r>
            <a:r>
              <a:rPr lang="en-US" dirty="0">
                <a:solidFill>
                  <a:schemeClr val="tx1"/>
                </a:solidFill>
              </a:rPr>
              <a:t>user session or connection is established with the database server</a:t>
            </a:r>
            <a:endParaRPr lang="en-US" dirty="0"/>
          </a:p>
          <a:p>
            <a:pPr marL="457200" indent="-457200">
              <a:buFont typeface="+mj-lt"/>
              <a:buAutoNum type="arabicPeriod"/>
            </a:pPr>
            <a:r>
              <a:rPr lang="en-US" b="1" dirty="0"/>
              <a:t>By Firing Time</a:t>
            </a:r>
          </a:p>
          <a:p>
            <a:pPr marL="749808" lvl="1" indent="-457200">
              <a:buFont typeface="+mj-lt"/>
              <a:buAutoNum type="arabicPeriod"/>
            </a:pPr>
            <a:r>
              <a:rPr lang="en-US" dirty="0"/>
              <a:t>BEFORE Triggers:  </a:t>
            </a:r>
            <a:r>
              <a:rPr lang="en-US" dirty="0">
                <a:solidFill>
                  <a:schemeClr val="tx1"/>
                </a:solidFill>
              </a:rPr>
              <a:t>Run prior to executing the triggering data </a:t>
            </a:r>
            <a:endParaRPr lang="en-US" dirty="0"/>
          </a:p>
          <a:p>
            <a:pPr marL="749808" lvl="1" indent="-457200">
              <a:buFont typeface="+mj-lt"/>
              <a:buAutoNum type="arabicPeriod"/>
            </a:pPr>
            <a:r>
              <a:rPr lang="en-US" dirty="0"/>
              <a:t>AFTER Triggers:   </a:t>
            </a:r>
            <a:r>
              <a:rPr lang="en-US" dirty="0">
                <a:solidFill>
                  <a:schemeClr val="tx1"/>
                </a:solidFill>
              </a:rPr>
              <a:t>Execute only after operation</a:t>
            </a:r>
            <a:endParaRPr lang="en-US" dirty="0"/>
          </a:p>
          <a:p>
            <a:pPr marL="749808" lvl="1" indent="-457200">
              <a:buFont typeface="+mj-lt"/>
              <a:buAutoNum type="arabicPeriod"/>
            </a:pPr>
            <a:r>
              <a:rPr lang="en-US" dirty="0"/>
              <a:t>INSTEAD OF Triggers:  </a:t>
            </a:r>
            <a:r>
              <a:rPr lang="en-US" dirty="0">
                <a:solidFill>
                  <a:schemeClr val="tx1"/>
                </a:solidFill>
              </a:rPr>
              <a:t>Intercept the requested action completely and replace it with custom SQL logic</a:t>
            </a:r>
            <a:endParaRPr lang="en-US" dirty="0"/>
          </a:p>
          <a:p>
            <a:pPr marL="457200" indent="-457200">
              <a:buFont typeface="+mj-lt"/>
              <a:buAutoNum type="arabicPeriod"/>
            </a:pPr>
            <a:r>
              <a:rPr lang="en-US" b="1" dirty="0"/>
              <a:t>By Firing Frequency (Granularity)</a:t>
            </a:r>
          </a:p>
          <a:p>
            <a:pPr marL="749808" lvl="1" indent="-457200">
              <a:buFont typeface="+mj-lt"/>
              <a:buAutoNum type="arabicPeriod"/>
            </a:pPr>
            <a:r>
              <a:rPr lang="en-US" dirty="0"/>
              <a:t>Row-Level Triggers: </a:t>
            </a:r>
            <a:r>
              <a:rPr lang="en-US" dirty="0">
                <a:solidFill>
                  <a:schemeClr val="tx1"/>
                </a:solidFill>
              </a:rPr>
              <a:t>Execute independently for every individual row </a:t>
            </a:r>
            <a:endParaRPr lang="en-US" dirty="0"/>
          </a:p>
          <a:p>
            <a:pPr marL="749808" lvl="1" indent="-457200">
              <a:buFont typeface="+mj-lt"/>
              <a:buAutoNum type="arabicPeriod"/>
            </a:pPr>
            <a:r>
              <a:rPr lang="en-US" dirty="0"/>
              <a:t>Statement-Level Triggers:  </a:t>
            </a:r>
            <a:r>
              <a:rPr lang="en-US" dirty="0">
                <a:solidFill>
                  <a:schemeClr val="tx1"/>
                </a:solidFill>
              </a:rPr>
              <a:t>statement modifies zero rows, one row, or millions of rows simultaneously</a:t>
            </a:r>
            <a:endParaRPr lang="en-US" dirty="0"/>
          </a:p>
        </p:txBody>
      </p:sp>
    </p:spTree>
    <p:extLst>
      <p:ext uri="{BB962C8B-B14F-4D97-AF65-F5344CB8AC3E}">
        <p14:creationId xmlns:p14="http://schemas.microsoft.com/office/powerpoint/2010/main" val="2386107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CFCE7-3ED7-98CE-8BC7-0A9659E1C13D}"/>
              </a:ext>
            </a:extLst>
          </p:cNvPr>
          <p:cNvSpPr>
            <a:spLocks noGrp="1"/>
          </p:cNvSpPr>
          <p:nvPr>
            <p:ph type="title"/>
          </p:nvPr>
        </p:nvSpPr>
        <p:spPr/>
        <p:txBody>
          <a:bodyPr/>
          <a:lstStyle/>
          <a:p>
            <a:r>
              <a:rPr lang="en-US" dirty="0"/>
              <a:t>Types of Triggers</a:t>
            </a:r>
          </a:p>
        </p:txBody>
      </p:sp>
      <p:sp>
        <p:nvSpPr>
          <p:cNvPr id="3" name="Content Placeholder 2">
            <a:extLst>
              <a:ext uri="{FF2B5EF4-FFF2-40B4-BE49-F238E27FC236}">
                <a16:creationId xmlns:a16="http://schemas.microsoft.com/office/drawing/2014/main" id="{0417E6DE-569E-7D98-5F8B-AB16466AEE01}"/>
              </a:ext>
            </a:extLst>
          </p:cNvPr>
          <p:cNvSpPr>
            <a:spLocks noGrp="1"/>
          </p:cNvSpPr>
          <p:nvPr>
            <p:ph idx="1"/>
          </p:nvPr>
        </p:nvSpPr>
        <p:spPr/>
        <p:txBody>
          <a:bodyPr/>
          <a:lstStyle/>
          <a:p>
            <a:pPr marL="457200" indent="-457200">
              <a:buFont typeface="+mj-lt"/>
              <a:buAutoNum type="arabicPeriod"/>
            </a:pPr>
            <a:r>
              <a:rPr lang="en-US" dirty="0"/>
              <a:t>Based on timing:</a:t>
            </a:r>
          </a:p>
          <a:p>
            <a:pPr marL="749808" lvl="1" indent="-457200">
              <a:buFont typeface="+mj-lt"/>
              <a:buAutoNum type="arabicPeriod"/>
            </a:pPr>
            <a:r>
              <a:rPr lang="en-US" dirty="0"/>
              <a:t>BEFORE Trigger</a:t>
            </a:r>
          </a:p>
          <a:p>
            <a:pPr marL="749808" lvl="1" indent="-457200">
              <a:buFont typeface="+mj-lt"/>
              <a:buAutoNum type="arabicPeriod"/>
            </a:pPr>
            <a:r>
              <a:rPr lang="en-US" dirty="0"/>
              <a:t>AFTER Trigger</a:t>
            </a:r>
          </a:p>
          <a:p>
            <a:pPr marL="457200" indent="-457200">
              <a:buFont typeface="+mj-lt"/>
              <a:buAutoNum type="arabicPeriod"/>
            </a:pPr>
            <a:r>
              <a:rPr lang="en-US" dirty="0"/>
              <a:t>Based on event:</a:t>
            </a:r>
          </a:p>
          <a:p>
            <a:pPr marL="749808" lvl="1" indent="-457200">
              <a:buFont typeface="+mj-lt"/>
              <a:buAutoNum type="arabicPeriod"/>
            </a:pPr>
            <a:r>
              <a:rPr lang="en-US" dirty="0"/>
              <a:t>INSERT Trigger </a:t>
            </a:r>
          </a:p>
          <a:p>
            <a:pPr marL="749808" lvl="1" indent="-457200">
              <a:buFont typeface="+mj-lt"/>
              <a:buAutoNum type="arabicPeriod"/>
            </a:pPr>
            <a:r>
              <a:rPr lang="en-US" dirty="0"/>
              <a:t>UPDATE Trigger </a:t>
            </a:r>
          </a:p>
          <a:p>
            <a:pPr marL="749808" lvl="1" indent="-457200">
              <a:buFont typeface="+mj-lt"/>
              <a:buAutoNum type="arabicPeriod"/>
            </a:pPr>
            <a:r>
              <a:rPr lang="en-US" dirty="0"/>
              <a:t>DELETE Trigger</a:t>
            </a:r>
          </a:p>
        </p:txBody>
      </p:sp>
    </p:spTree>
    <p:extLst>
      <p:ext uri="{BB962C8B-B14F-4D97-AF65-F5344CB8AC3E}">
        <p14:creationId xmlns:p14="http://schemas.microsoft.com/office/powerpoint/2010/main" val="41531948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976BB-0B55-3E2F-4192-CB191A213DEF}"/>
              </a:ext>
            </a:extLst>
          </p:cNvPr>
          <p:cNvSpPr>
            <a:spLocks noGrp="1"/>
          </p:cNvSpPr>
          <p:nvPr>
            <p:ph type="title"/>
          </p:nvPr>
        </p:nvSpPr>
        <p:spPr/>
        <p:txBody>
          <a:bodyPr/>
          <a:lstStyle/>
          <a:p>
            <a:r>
              <a:rPr lang="en-US" dirty="0"/>
              <a:t>OLD and NEW Keywords</a:t>
            </a:r>
          </a:p>
        </p:txBody>
      </p:sp>
      <p:graphicFrame>
        <p:nvGraphicFramePr>
          <p:cNvPr id="5" name="Content Placeholder 4">
            <a:extLst>
              <a:ext uri="{FF2B5EF4-FFF2-40B4-BE49-F238E27FC236}">
                <a16:creationId xmlns:a16="http://schemas.microsoft.com/office/drawing/2014/main" id="{CFF8FB6E-10E7-9E52-543C-203D8252197D}"/>
              </a:ext>
            </a:extLst>
          </p:cNvPr>
          <p:cNvGraphicFramePr>
            <a:graphicFrameLocks noGrp="1"/>
          </p:cNvGraphicFramePr>
          <p:nvPr>
            <p:ph idx="1"/>
            <p:extLst>
              <p:ext uri="{D42A27DB-BD31-4B8C-83A1-F6EECF244321}">
                <p14:modId xmlns:p14="http://schemas.microsoft.com/office/powerpoint/2010/main" val="195144406"/>
              </p:ext>
            </p:extLst>
          </p:nvPr>
        </p:nvGraphicFramePr>
        <p:xfrm>
          <a:off x="5806122" y="3730831"/>
          <a:ext cx="3840798" cy="741680"/>
        </p:xfrm>
        <a:graphic>
          <a:graphicData uri="http://schemas.openxmlformats.org/drawingml/2006/table">
            <a:tbl>
              <a:tblPr firstRow="1" bandRow="1">
                <a:tableStyleId>{5C22544A-7EE6-4342-B048-85BDC9FD1C3A}</a:tableStyleId>
              </a:tblPr>
              <a:tblGrid>
                <a:gridCol w="1920399">
                  <a:extLst>
                    <a:ext uri="{9D8B030D-6E8A-4147-A177-3AD203B41FA5}">
                      <a16:colId xmlns:a16="http://schemas.microsoft.com/office/drawing/2014/main" val="2856695791"/>
                    </a:ext>
                  </a:extLst>
                </a:gridCol>
                <a:gridCol w="1920399">
                  <a:extLst>
                    <a:ext uri="{9D8B030D-6E8A-4147-A177-3AD203B41FA5}">
                      <a16:colId xmlns:a16="http://schemas.microsoft.com/office/drawing/2014/main" val="1181174477"/>
                    </a:ext>
                  </a:extLst>
                </a:gridCol>
              </a:tblGrid>
              <a:tr h="370840">
                <a:tc>
                  <a:txBody>
                    <a:bodyPr/>
                    <a:lstStyle/>
                    <a:p>
                      <a:pPr>
                        <a:buNone/>
                      </a:pPr>
                      <a:r>
                        <a:rPr lang="en-US" dirty="0" err="1"/>
                        <a:t>Emp_ID</a:t>
                      </a:r>
                      <a:endParaRPr lang="en-US" dirty="0"/>
                    </a:p>
                  </a:txBody>
                  <a:tcPr anchor="ctr"/>
                </a:tc>
                <a:tc>
                  <a:txBody>
                    <a:bodyPr/>
                    <a:lstStyle/>
                    <a:p>
                      <a:pPr>
                        <a:buNone/>
                      </a:pPr>
                      <a:r>
                        <a:rPr lang="en-US"/>
                        <a:t>Salary</a:t>
                      </a:r>
                    </a:p>
                  </a:txBody>
                  <a:tcPr anchor="ctr"/>
                </a:tc>
                <a:extLst>
                  <a:ext uri="{0D108BD9-81ED-4DB2-BD59-A6C34878D82A}">
                    <a16:rowId xmlns:a16="http://schemas.microsoft.com/office/drawing/2014/main" val="1931873970"/>
                  </a:ext>
                </a:extLst>
              </a:tr>
              <a:tr h="370840">
                <a:tc>
                  <a:txBody>
                    <a:bodyPr/>
                    <a:lstStyle/>
                    <a:p>
                      <a:pPr>
                        <a:buNone/>
                      </a:pPr>
                      <a:r>
                        <a:rPr lang="en-US"/>
                        <a:t>101</a:t>
                      </a:r>
                    </a:p>
                  </a:txBody>
                  <a:tcPr anchor="ctr"/>
                </a:tc>
                <a:tc>
                  <a:txBody>
                    <a:bodyPr/>
                    <a:lstStyle/>
                    <a:p>
                      <a:pPr>
                        <a:buNone/>
                      </a:pPr>
                      <a:r>
                        <a:rPr lang="en-US" dirty="0"/>
                        <a:t>30000</a:t>
                      </a:r>
                    </a:p>
                  </a:txBody>
                  <a:tcPr anchor="ctr"/>
                </a:tc>
                <a:extLst>
                  <a:ext uri="{0D108BD9-81ED-4DB2-BD59-A6C34878D82A}">
                    <a16:rowId xmlns:a16="http://schemas.microsoft.com/office/drawing/2014/main" val="828651225"/>
                  </a:ext>
                </a:extLst>
              </a:tr>
            </a:tbl>
          </a:graphicData>
        </a:graphic>
      </p:graphicFrame>
      <p:sp>
        <p:nvSpPr>
          <p:cNvPr id="4" name="Content Placeholder 2">
            <a:extLst>
              <a:ext uri="{FF2B5EF4-FFF2-40B4-BE49-F238E27FC236}">
                <a16:creationId xmlns:a16="http://schemas.microsoft.com/office/drawing/2014/main" id="{9CAC9CB6-16E3-EC0A-E5E1-47DF9F4349D0}"/>
              </a:ext>
            </a:extLst>
          </p:cNvPr>
          <p:cNvSpPr txBox="1">
            <a:spLocks/>
          </p:cNvSpPr>
          <p:nvPr/>
        </p:nvSpPr>
        <p:spPr>
          <a:xfrm>
            <a:off x="1097280" y="1924891"/>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457200" indent="-457200">
              <a:buFont typeface="+mj-lt"/>
              <a:buAutoNum type="arabicPeriod"/>
            </a:pPr>
            <a:r>
              <a:rPr lang="en-US" dirty="0"/>
              <a:t>NEW:  Represents the new data.</a:t>
            </a:r>
          </a:p>
          <a:p>
            <a:pPr marL="292608" lvl="1" indent="0">
              <a:buFont typeface="Calibri" pitchFamily="34" charset="0"/>
              <a:buNone/>
            </a:pPr>
            <a:r>
              <a:rPr lang="en-US" dirty="0"/>
              <a:t>Udes in INSERT and UPDATE, </a:t>
            </a:r>
          </a:p>
          <a:p>
            <a:pPr marL="457200" indent="-457200">
              <a:buFont typeface="+mj-lt"/>
              <a:buAutoNum type="arabicPeriod"/>
            </a:pPr>
            <a:r>
              <a:rPr lang="en-US" dirty="0"/>
              <a:t>OLD: Represents existing data before change.</a:t>
            </a:r>
          </a:p>
          <a:p>
            <a:pPr marL="292608" lvl="1" indent="0">
              <a:buFont typeface="Calibri" pitchFamily="34" charset="0"/>
              <a:buNone/>
            </a:pPr>
            <a:r>
              <a:rPr lang="en-US" dirty="0"/>
              <a:t>Used in UPDATE and DELETE</a:t>
            </a:r>
          </a:p>
          <a:p>
            <a:pPr marL="292608" lvl="1" indent="0">
              <a:buFont typeface="Calibri" pitchFamily="34" charset="0"/>
              <a:buNone/>
            </a:pPr>
            <a:endParaRPr lang="en-US" dirty="0"/>
          </a:p>
          <a:p>
            <a:pPr marL="292608" lvl="1" indent="0">
              <a:buFont typeface="Calibri" pitchFamily="34" charset="0"/>
              <a:buNone/>
            </a:pPr>
            <a:r>
              <a:rPr lang="en-US" dirty="0"/>
              <a:t>Example: Now we try to update data; </a:t>
            </a:r>
          </a:p>
          <a:p>
            <a:pPr marL="292608" lvl="1" indent="0">
              <a:buNone/>
            </a:pPr>
            <a:r>
              <a:rPr lang="en-US" i="1" dirty="0">
                <a:solidFill>
                  <a:srgbClr val="7030A0"/>
                </a:solidFill>
              </a:rPr>
              <a:t>UPDATE</a:t>
            </a:r>
            <a:r>
              <a:rPr lang="en-US" i="1" dirty="0"/>
              <a:t> Employee</a:t>
            </a:r>
          </a:p>
          <a:p>
            <a:pPr marL="292608" lvl="1" indent="0">
              <a:buNone/>
            </a:pPr>
            <a:r>
              <a:rPr lang="en-US" i="1" dirty="0">
                <a:solidFill>
                  <a:srgbClr val="7030A0"/>
                </a:solidFill>
              </a:rPr>
              <a:t>SET</a:t>
            </a:r>
            <a:r>
              <a:rPr lang="en-US" i="1" dirty="0"/>
              <a:t> Salary=40000</a:t>
            </a:r>
          </a:p>
          <a:p>
            <a:pPr marL="292608" lvl="1" indent="0">
              <a:buNone/>
            </a:pPr>
            <a:r>
              <a:rPr lang="en-US" i="1" dirty="0">
                <a:solidFill>
                  <a:srgbClr val="7030A0"/>
                </a:solidFill>
              </a:rPr>
              <a:t>WHERE</a:t>
            </a:r>
            <a:r>
              <a:rPr lang="en-US" i="1" dirty="0"/>
              <a:t> </a:t>
            </a:r>
            <a:r>
              <a:rPr lang="en-US" i="1" dirty="0" err="1"/>
              <a:t>Emp_ID</a:t>
            </a:r>
            <a:r>
              <a:rPr lang="en-US" i="1" dirty="0"/>
              <a:t>=101;</a:t>
            </a:r>
          </a:p>
        </p:txBody>
      </p:sp>
      <p:sp>
        <p:nvSpPr>
          <p:cNvPr id="6" name="TextBox 5">
            <a:extLst>
              <a:ext uri="{FF2B5EF4-FFF2-40B4-BE49-F238E27FC236}">
                <a16:creationId xmlns:a16="http://schemas.microsoft.com/office/drawing/2014/main" id="{E4DCC030-D3E4-CB71-9315-B021DAF8555C}"/>
              </a:ext>
            </a:extLst>
          </p:cNvPr>
          <p:cNvSpPr txBox="1"/>
          <p:nvPr/>
        </p:nvSpPr>
        <p:spPr>
          <a:xfrm>
            <a:off x="5806122" y="3361499"/>
            <a:ext cx="1545488" cy="369332"/>
          </a:xfrm>
          <a:prstGeom prst="rect">
            <a:avLst/>
          </a:prstGeom>
          <a:noFill/>
        </p:spPr>
        <p:txBody>
          <a:bodyPr wrap="none" rtlCol="0">
            <a:spAutoFit/>
          </a:bodyPr>
          <a:lstStyle/>
          <a:p>
            <a:r>
              <a:rPr lang="en-US" dirty="0"/>
              <a:t>Before Update</a:t>
            </a:r>
          </a:p>
        </p:txBody>
      </p:sp>
      <p:sp>
        <p:nvSpPr>
          <p:cNvPr id="7" name="TextBox 6">
            <a:extLst>
              <a:ext uri="{FF2B5EF4-FFF2-40B4-BE49-F238E27FC236}">
                <a16:creationId xmlns:a16="http://schemas.microsoft.com/office/drawing/2014/main" id="{DBCCE111-905D-4022-BD0C-F0F32D478408}"/>
              </a:ext>
            </a:extLst>
          </p:cNvPr>
          <p:cNvSpPr txBox="1"/>
          <p:nvPr/>
        </p:nvSpPr>
        <p:spPr>
          <a:xfrm>
            <a:off x="5806122" y="4841843"/>
            <a:ext cx="3953646" cy="923330"/>
          </a:xfrm>
          <a:prstGeom prst="rect">
            <a:avLst/>
          </a:prstGeom>
          <a:noFill/>
        </p:spPr>
        <p:txBody>
          <a:bodyPr wrap="none" rtlCol="0">
            <a:spAutoFit/>
          </a:bodyPr>
          <a:lstStyle/>
          <a:p>
            <a:r>
              <a:rPr lang="en-US" dirty="0"/>
              <a:t>After Update: Inside trigger we can see: </a:t>
            </a:r>
          </a:p>
          <a:p>
            <a:r>
              <a:rPr lang="en-US" dirty="0"/>
              <a:t>Old. SALARY = 30000</a:t>
            </a:r>
          </a:p>
          <a:p>
            <a:r>
              <a:rPr lang="en-US" dirty="0" err="1"/>
              <a:t>NEW.Salary</a:t>
            </a:r>
            <a:r>
              <a:rPr lang="en-US" dirty="0"/>
              <a:t> = 40000</a:t>
            </a:r>
          </a:p>
        </p:txBody>
      </p:sp>
    </p:spTree>
    <p:extLst>
      <p:ext uri="{BB962C8B-B14F-4D97-AF65-F5344CB8AC3E}">
        <p14:creationId xmlns:p14="http://schemas.microsoft.com/office/powerpoint/2010/main" val="31351094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BCB7D-CBFC-776A-F9D2-062AD574FF83}"/>
              </a:ext>
            </a:extLst>
          </p:cNvPr>
          <p:cNvSpPr>
            <a:spLocks noGrp="1"/>
          </p:cNvSpPr>
          <p:nvPr>
            <p:ph type="title"/>
          </p:nvPr>
        </p:nvSpPr>
        <p:spPr/>
        <p:txBody>
          <a:bodyPr>
            <a:normAutofit/>
          </a:bodyPr>
          <a:lstStyle/>
          <a:p>
            <a:r>
              <a:rPr lang="en-US" dirty="0"/>
              <a:t>Example: </a:t>
            </a:r>
            <a:r>
              <a:rPr lang="en-US" sz="2800" dirty="0"/>
              <a:t>Maximum 100 Students per Department.</a:t>
            </a:r>
            <a:endParaRPr lang="en-US" dirty="0"/>
          </a:p>
        </p:txBody>
      </p:sp>
      <p:sp>
        <p:nvSpPr>
          <p:cNvPr id="3" name="Content Placeholder 2">
            <a:extLst>
              <a:ext uri="{FF2B5EF4-FFF2-40B4-BE49-F238E27FC236}">
                <a16:creationId xmlns:a16="http://schemas.microsoft.com/office/drawing/2014/main" id="{65C702DD-B2B6-E49E-3A35-664C1BBB9434}"/>
              </a:ext>
            </a:extLst>
          </p:cNvPr>
          <p:cNvSpPr>
            <a:spLocks noGrp="1"/>
          </p:cNvSpPr>
          <p:nvPr>
            <p:ph idx="1"/>
          </p:nvPr>
        </p:nvSpPr>
        <p:spPr>
          <a:xfrm>
            <a:off x="1097280" y="1845734"/>
            <a:ext cx="4472941" cy="4486486"/>
          </a:xfrm>
        </p:spPr>
        <p:txBody>
          <a:bodyPr>
            <a:normAutofit fontScale="85000" lnSpcReduction="20000"/>
          </a:bodyPr>
          <a:lstStyle/>
          <a:p>
            <a:pPr>
              <a:spcBef>
                <a:spcPts val="600"/>
              </a:spcBef>
              <a:spcAft>
                <a:spcPts val="0"/>
              </a:spcAft>
            </a:pPr>
            <a:r>
              <a:rPr lang="en-US" i="1" dirty="0"/>
              <a:t>CREATE TRIGGER </a:t>
            </a:r>
            <a:r>
              <a:rPr lang="en-US" i="1" dirty="0" err="1"/>
              <a:t>Check_Department_Limit</a:t>
            </a:r>
            <a:endParaRPr lang="en-US" i="1" dirty="0"/>
          </a:p>
          <a:p>
            <a:pPr>
              <a:spcBef>
                <a:spcPts val="600"/>
              </a:spcBef>
              <a:spcAft>
                <a:spcPts val="0"/>
              </a:spcAft>
            </a:pPr>
            <a:r>
              <a:rPr lang="en-US" i="1" dirty="0"/>
              <a:t>BEFORE INSERT</a:t>
            </a:r>
          </a:p>
          <a:p>
            <a:pPr>
              <a:spcBef>
                <a:spcPts val="600"/>
              </a:spcBef>
              <a:spcAft>
                <a:spcPts val="0"/>
              </a:spcAft>
            </a:pPr>
            <a:r>
              <a:rPr lang="en-US" i="1" dirty="0"/>
              <a:t>ON Student</a:t>
            </a:r>
          </a:p>
          <a:p>
            <a:pPr>
              <a:spcBef>
                <a:spcPts val="600"/>
              </a:spcBef>
              <a:spcAft>
                <a:spcPts val="0"/>
              </a:spcAft>
            </a:pPr>
            <a:r>
              <a:rPr lang="en-US" i="1" dirty="0"/>
              <a:t>FOR EACH ROW</a:t>
            </a:r>
          </a:p>
          <a:p>
            <a:pPr>
              <a:spcBef>
                <a:spcPts val="600"/>
              </a:spcBef>
              <a:spcAft>
                <a:spcPts val="0"/>
              </a:spcAft>
            </a:pPr>
            <a:r>
              <a:rPr lang="en-US" i="1" dirty="0"/>
              <a:t>BEGIN</a:t>
            </a:r>
          </a:p>
          <a:p>
            <a:pPr>
              <a:spcBef>
                <a:spcPts val="600"/>
              </a:spcBef>
              <a:spcAft>
                <a:spcPts val="0"/>
              </a:spcAft>
            </a:pPr>
            <a:r>
              <a:rPr lang="en-US" i="1" dirty="0"/>
              <a:t>IF(</a:t>
            </a:r>
          </a:p>
          <a:p>
            <a:pPr>
              <a:spcBef>
                <a:spcPts val="600"/>
              </a:spcBef>
              <a:spcAft>
                <a:spcPts val="0"/>
              </a:spcAft>
            </a:pPr>
            <a:r>
              <a:rPr lang="en-US" i="1" dirty="0"/>
              <a:t>    SELECT COUNT(*)</a:t>
            </a:r>
          </a:p>
          <a:p>
            <a:pPr>
              <a:spcBef>
                <a:spcPts val="600"/>
              </a:spcBef>
              <a:spcAft>
                <a:spcPts val="0"/>
              </a:spcAft>
            </a:pPr>
            <a:r>
              <a:rPr lang="en-US" i="1" dirty="0"/>
              <a:t>    FROM Student</a:t>
            </a:r>
          </a:p>
          <a:p>
            <a:pPr>
              <a:spcBef>
                <a:spcPts val="600"/>
              </a:spcBef>
              <a:spcAft>
                <a:spcPts val="0"/>
              </a:spcAft>
            </a:pPr>
            <a:r>
              <a:rPr lang="en-US" i="1" dirty="0"/>
              <a:t>    WHERE </a:t>
            </a:r>
            <a:r>
              <a:rPr lang="en-US" i="1" dirty="0" err="1"/>
              <a:t>Dept_ID</a:t>
            </a:r>
            <a:r>
              <a:rPr lang="en-US" i="1" dirty="0"/>
              <a:t>=</a:t>
            </a:r>
            <a:r>
              <a:rPr lang="en-US" i="1" dirty="0" err="1"/>
              <a:t>NEW.Dept_ID</a:t>
            </a:r>
            <a:endParaRPr lang="en-US" i="1" dirty="0"/>
          </a:p>
          <a:p>
            <a:pPr>
              <a:spcBef>
                <a:spcPts val="600"/>
              </a:spcBef>
              <a:spcAft>
                <a:spcPts val="0"/>
              </a:spcAft>
            </a:pPr>
            <a:r>
              <a:rPr lang="en-US" i="1" dirty="0"/>
              <a:t>) &gt;=100</a:t>
            </a:r>
          </a:p>
          <a:p>
            <a:pPr>
              <a:spcBef>
                <a:spcPts val="600"/>
              </a:spcBef>
              <a:spcAft>
                <a:spcPts val="0"/>
              </a:spcAft>
            </a:pPr>
            <a:r>
              <a:rPr lang="en-US" i="1" dirty="0"/>
              <a:t>THEN</a:t>
            </a:r>
          </a:p>
          <a:p>
            <a:pPr>
              <a:spcBef>
                <a:spcPts val="600"/>
              </a:spcBef>
              <a:spcAft>
                <a:spcPts val="0"/>
              </a:spcAft>
            </a:pPr>
            <a:r>
              <a:rPr lang="en-US" i="1" dirty="0"/>
              <a:t>    SIGNAL SQLSTATE '45000'</a:t>
            </a:r>
          </a:p>
          <a:p>
            <a:pPr>
              <a:spcBef>
                <a:spcPts val="600"/>
              </a:spcBef>
              <a:spcAft>
                <a:spcPts val="0"/>
              </a:spcAft>
            </a:pPr>
            <a:r>
              <a:rPr lang="en-US" i="1" dirty="0"/>
              <a:t>    SET MESSAGE_TEXT=</a:t>
            </a:r>
          </a:p>
          <a:p>
            <a:pPr>
              <a:spcBef>
                <a:spcPts val="600"/>
              </a:spcBef>
              <a:spcAft>
                <a:spcPts val="0"/>
              </a:spcAft>
            </a:pPr>
            <a:r>
              <a:rPr lang="en-US" i="1" dirty="0"/>
              <a:t>    'Department Full';</a:t>
            </a:r>
          </a:p>
          <a:p>
            <a:pPr>
              <a:spcBef>
                <a:spcPts val="600"/>
              </a:spcBef>
              <a:spcAft>
                <a:spcPts val="0"/>
              </a:spcAft>
            </a:pPr>
            <a:r>
              <a:rPr lang="en-US" i="1" dirty="0"/>
              <a:t>END IF;</a:t>
            </a:r>
          </a:p>
          <a:p>
            <a:pPr>
              <a:spcBef>
                <a:spcPts val="600"/>
              </a:spcBef>
              <a:spcAft>
                <a:spcPts val="0"/>
              </a:spcAft>
            </a:pPr>
            <a:r>
              <a:rPr lang="en-US" i="1" dirty="0"/>
              <a:t>END;</a:t>
            </a:r>
          </a:p>
        </p:txBody>
      </p:sp>
      <p:sp>
        <p:nvSpPr>
          <p:cNvPr id="4" name="Content Placeholder 2">
            <a:extLst>
              <a:ext uri="{FF2B5EF4-FFF2-40B4-BE49-F238E27FC236}">
                <a16:creationId xmlns:a16="http://schemas.microsoft.com/office/drawing/2014/main" id="{8036879A-FB60-C5C2-6A68-627CD4D6BF83}"/>
              </a:ext>
            </a:extLst>
          </p:cNvPr>
          <p:cNvSpPr txBox="1">
            <a:spLocks/>
          </p:cNvSpPr>
          <p:nvPr/>
        </p:nvSpPr>
        <p:spPr>
          <a:xfrm>
            <a:off x="6096000" y="1845734"/>
            <a:ext cx="5059680" cy="4486486"/>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spcBef>
                <a:spcPts val="600"/>
              </a:spcBef>
              <a:spcAft>
                <a:spcPts val="0"/>
              </a:spcAft>
            </a:pPr>
            <a:r>
              <a:rPr lang="en-US" i="1" dirty="0"/>
              <a:t>Let there are 100 students in BCA department. </a:t>
            </a:r>
          </a:p>
          <a:p>
            <a:pPr>
              <a:spcBef>
                <a:spcPts val="600"/>
              </a:spcBef>
              <a:spcAft>
                <a:spcPts val="0"/>
              </a:spcAft>
            </a:pPr>
            <a:r>
              <a:rPr lang="en-US" i="1" dirty="0"/>
              <a:t>We try to insert: </a:t>
            </a:r>
          </a:p>
          <a:p>
            <a:pPr>
              <a:spcBef>
                <a:spcPts val="600"/>
              </a:spcBef>
              <a:spcAft>
                <a:spcPts val="0"/>
              </a:spcAft>
            </a:pPr>
            <a:r>
              <a:rPr lang="en-US" i="1" dirty="0"/>
              <a:t>INSERT INTO Student</a:t>
            </a:r>
          </a:p>
          <a:p>
            <a:pPr>
              <a:spcBef>
                <a:spcPts val="600"/>
              </a:spcBef>
              <a:spcAft>
                <a:spcPts val="0"/>
              </a:spcAft>
            </a:pPr>
            <a:r>
              <a:rPr lang="en-US" i="1" dirty="0"/>
              <a:t>VALUES(501,'Hari','BCA’);</a:t>
            </a:r>
          </a:p>
          <a:p>
            <a:pPr>
              <a:spcBef>
                <a:spcPts val="600"/>
              </a:spcBef>
              <a:spcAft>
                <a:spcPts val="0"/>
              </a:spcAft>
            </a:pPr>
            <a:endParaRPr lang="en-US" i="1" dirty="0"/>
          </a:p>
          <a:p>
            <a:pPr>
              <a:spcBef>
                <a:spcPts val="600"/>
              </a:spcBef>
              <a:spcAft>
                <a:spcPts val="0"/>
              </a:spcAft>
            </a:pPr>
            <a:r>
              <a:rPr lang="en-US" i="1" dirty="0"/>
              <a:t>Triggers fires for count = 101, </a:t>
            </a:r>
            <a:br>
              <a:rPr lang="en-US" i="1" dirty="0"/>
            </a:br>
            <a:r>
              <a:rPr lang="en-US" i="1" dirty="0"/>
              <a:t>then Insertion is blocked and output comes as Department full.</a:t>
            </a:r>
          </a:p>
        </p:txBody>
      </p:sp>
      <p:sp>
        <p:nvSpPr>
          <p:cNvPr id="6" name="TextBox 5">
            <a:extLst>
              <a:ext uri="{FF2B5EF4-FFF2-40B4-BE49-F238E27FC236}">
                <a16:creationId xmlns:a16="http://schemas.microsoft.com/office/drawing/2014/main" id="{BFF18AC3-5FAD-3310-F694-5A3A81AF37A7}"/>
              </a:ext>
            </a:extLst>
          </p:cNvPr>
          <p:cNvSpPr txBox="1"/>
          <p:nvPr/>
        </p:nvSpPr>
        <p:spPr>
          <a:xfrm>
            <a:off x="6126480" y="4854892"/>
            <a:ext cx="6092190" cy="1477328"/>
          </a:xfrm>
          <a:prstGeom prst="rect">
            <a:avLst/>
          </a:prstGeom>
          <a:noFill/>
        </p:spPr>
        <p:txBody>
          <a:bodyPr wrap="square">
            <a:spAutoFit/>
          </a:bodyPr>
          <a:lstStyle/>
          <a:p>
            <a:r>
              <a:rPr lang="en-US" b="1" i="1" u="sng" dirty="0"/>
              <a:t>ASSERTION EQUIVALENT CODE:</a:t>
            </a:r>
          </a:p>
          <a:p>
            <a:r>
              <a:rPr lang="en-US" i="1" dirty="0"/>
              <a:t>CREATE ASSERTION </a:t>
            </a:r>
            <a:r>
              <a:rPr lang="en-US" i="1" dirty="0" err="1"/>
              <a:t>Max_Students</a:t>
            </a:r>
            <a:endParaRPr lang="en-US" i="1" dirty="0"/>
          </a:p>
          <a:p>
            <a:r>
              <a:rPr lang="en-US" i="1" dirty="0"/>
              <a:t>CHECK(</a:t>
            </a:r>
          </a:p>
          <a:p>
            <a:r>
              <a:rPr lang="en-US" i="1" dirty="0"/>
              <a:t>COUNT(*) &lt;=100</a:t>
            </a:r>
          </a:p>
          <a:p>
            <a:r>
              <a:rPr lang="en-US" i="1" dirty="0"/>
              <a:t>);</a:t>
            </a:r>
          </a:p>
        </p:txBody>
      </p:sp>
    </p:spTree>
    <p:extLst>
      <p:ext uri="{BB962C8B-B14F-4D97-AF65-F5344CB8AC3E}">
        <p14:creationId xmlns:p14="http://schemas.microsoft.com/office/powerpoint/2010/main" val="21512701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38E52-FA98-8A36-7A04-074410E527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E43DA-71EF-45A1-6F04-31D9C262C2DB}"/>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8CAC2D58-3265-8702-2203-E112FABC144E}"/>
              </a:ext>
            </a:extLst>
          </p:cNvPr>
          <p:cNvSpPr>
            <a:spLocks noGrp="1"/>
          </p:cNvSpPr>
          <p:nvPr>
            <p:ph idx="1"/>
          </p:nvPr>
        </p:nvSpPr>
        <p:spPr/>
        <p:txBody>
          <a:bodyPr/>
          <a:lstStyle/>
          <a:p>
            <a:r>
              <a:rPr lang="en-US" b="1" u="sng" dirty="0"/>
              <a:t>Prevent deletion of all students.</a:t>
            </a:r>
          </a:p>
          <a:p>
            <a:pPr>
              <a:spcBef>
                <a:spcPts val="600"/>
              </a:spcBef>
              <a:spcAft>
                <a:spcPts val="0"/>
              </a:spcAft>
            </a:pPr>
            <a:r>
              <a:rPr lang="en-US" i="1" dirty="0"/>
              <a:t>CREATE TRIGGER </a:t>
            </a:r>
            <a:r>
              <a:rPr lang="en-US" i="1" dirty="0" err="1"/>
              <a:t>Prevent_Delete</a:t>
            </a:r>
            <a:endParaRPr lang="en-US" i="1" dirty="0"/>
          </a:p>
          <a:p>
            <a:pPr>
              <a:spcBef>
                <a:spcPts val="600"/>
              </a:spcBef>
              <a:spcAft>
                <a:spcPts val="0"/>
              </a:spcAft>
            </a:pPr>
            <a:r>
              <a:rPr lang="en-US" i="1" dirty="0"/>
              <a:t>BEFORE DELETE</a:t>
            </a:r>
          </a:p>
          <a:p>
            <a:pPr>
              <a:spcBef>
                <a:spcPts val="600"/>
              </a:spcBef>
              <a:spcAft>
                <a:spcPts val="0"/>
              </a:spcAft>
            </a:pPr>
            <a:r>
              <a:rPr lang="en-US" i="1" dirty="0"/>
              <a:t>ON Student</a:t>
            </a:r>
          </a:p>
          <a:p>
            <a:pPr>
              <a:spcBef>
                <a:spcPts val="600"/>
              </a:spcBef>
              <a:spcAft>
                <a:spcPts val="0"/>
              </a:spcAft>
            </a:pPr>
            <a:r>
              <a:rPr lang="en-US" i="1" dirty="0"/>
              <a:t>FOR EACH ROW</a:t>
            </a:r>
          </a:p>
          <a:p>
            <a:pPr>
              <a:spcBef>
                <a:spcPts val="600"/>
              </a:spcBef>
              <a:spcAft>
                <a:spcPts val="0"/>
              </a:spcAft>
            </a:pPr>
            <a:r>
              <a:rPr lang="en-US" i="1" dirty="0"/>
              <a:t>BEGIN</a:t>
            </a:r>
          </a:p>
          <a:p>
            <a:pPr>
              <a:spcBef>
                <a:spcPts val="600"/>
              </a:spcBef>
              <a:spcAft>
                <a:spcPts val="0"/>
              </a:spcAft>
            </a:pPr>
            <a:r>
              <a:rPr lang="en-US" i="1" dirty="0"/>
              <a:t>SIGNAL SQLSTATE '45000'</a:t>
            </a:r>
          </a:p>
          <a:p>
            <a:pPr>
              <a:spcBef>
                <a:spcPts val="600"/>
              </a:spcBef>
              <a:spcAft>
                <a:spcPts val="0"/>
              </a:spcAft>
            </a:pPr>
            <a:r>
              <a:rPr lang="en-US" i="1" dirty="0"/>
              <a:t>SET MESSAGE_TEXT='Deletion Not Allowed';</a:t>
            </a:r>
          </a:p>
          <a:p>
            <a:pPr>
              <a:spcBef>
                <a:spcPts val="600"/>
              </a:spcBef>
              <a:spcAft>
                <a:spcPts val="0"/>
              </a:spcAft>
            </a:pPr>
            <a:r>
              <a:rPr lang="en-US" i="1" dirty="0"/>
              <a:t>END;</a:t>
            </a:r>
          </a:p>
        </p:txBody>
      </p:sp>
    </p:spTree>
    <p:extLst>
      <p:ext uri="{BB962C8B-B14F-4D97-AF65-F5344CB8AC3E}">
        <p14:creationId xmlns:p14="http://schemas.microsoft.com/office/powerpoint/2010/main" val="34942641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AF7DC-39AD-B770-96F1-B593D213E2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9A3EB6-6F67-E5E5-31E5-DB84C46EF8C6}"/>
              </a:ext>
            </a:extLst>
          </p:cNvPr>
          <p:cNvSpPr>
            <a:spLocks noGrp="1"/>
          </p:cNvSpPr>
          <p:nvPr>
            <p:ph type="title"/>
          </p:nvPr>
        </p:nvSpPr>
        <p:spPr/>
        <p:txBody>
          <a:bodyPr/>
          <a:lstStyle/>
          <a:p>
            <a:r>
              <a:rPr lang="en-US" dirty="0"/>
              <a:t>Advantages 				      Limitations</a:t>
            </a:r>
          </a:p>
        </p:txBody>
      </p:sp>
      <p:sp>
        <p:nvSpPr>
          <p:cNvPr id="3" name="Content Placeholder 2">
            <a:extLst>
              <a:ext uri="{FF2B5EF4-FFF2-40B4-BE49-F238E27FC236}">
                <a16:creationId xmlns:a16="http://schemas.microsoft.com/office/drawing/2014/main" id="{3F9E93CC-69B4-9D15-7338-876796E8C160}"/>
              </a:ext>
            </a:extLst>
          </p:cNvPr>
          <p:cNvSpPr>
            <a:spLocks noGrp="1"/>
          </p:cNvSpPr>
          <p:nvPr>
            <p:ph idx="1"/>
          </p:nvPr>
        </p:nvSpPr>
        <p:spPr/>
        <p:txBody>
          <a:bodyPr>
            <a:normAutofit/>
          </a:bodyPr>
          <a:lstStyle/>
          <a:p>
            <a:pPr marL="457200" indent="-457200">
              <a:buFont typeface="+mj-lt"/>
              <a:buAutoNum type="arabicPeriod"/>
            </a:pPr>
            <a:r>
              <a:rPr lang="en-US" b="1" dirty="0"/>
              <a:t>Automatic Execution</a:t>
            </a:r>
          </a:p>
          <a:p>
            <a:pPr marL="292608" lvl="1" indent="0">
              <a:buNone/>
            </a:pPr>
            <a:r>
              <a:rPr lang="en-US" dirty="0"/>
              <a:t>No manual intervention required.</a:t>
            </a:r>
          </a:p>
          <a:p>
            <a:pPr marL="457200" indent="-457200">
              <a:buFont typeface="+mj-lt"/>
              <a:buAutoNum type="arabicPeriod"/>
            </a:pPr>
            <a:r>
              <a:rPr lang="en-US" b="1" dirty="0"/>
              <a:t>Enforces Business Rules</a:t>
            </a:r>
          </a:p>
          <a:p>
            <a:pPr marL="292608" lvl="1" indent="0">
              <a:buNone/>
            </a:pPr>
            <a:r>
              <a:rPr lang="en-US" dirty="0"/>
              <a:t>Can implement complex constraints.</a:t>
            </a:r>
          </a:p>
          <a:p>
            <a:pPr marL="457200" indent="-457200">
              <a:buFont typeface="+mj-lt"/>
              <a:buAutoNum type="arabicPeriod"/>
            </a:pPr>
            <a:r>
              <a:rPr lang="en-US" b="1" dirty="0"/>
              <a:t>Maintains Data Integrity</a:t>
            </a:r>
          </a:p>
          <a:p>
            <a:pPr marL="292608" lvl="1" indent="0">
              <a:buNone/>
            </a:pPr>
            <a:r>
              <a:rPr lang="en-US" dirty="0"/>
              <a:t>Ensures consistency.</a:t>
            </a:r>
          </a:p>
          <a:p>
            <a:pPr marL="457200" indent="-457200">
              <a:buFont typeface="+mj-lt"/>
              <a:buAutoNum type="arabicPeriod"/>
            </a:pPr>
            <a:r>
              <a:rPr lang="en-US" b="1" dirty="0"/>
              <a:t>Audit Logging</a:t>
            </a:r>
          </a:p>
          <a:p>
            <a:pPr marL="292608" lvl="1" indent="0">
              <a:buNone/>
            </a:pPr>
            <a:r>
              <a:rPr lang="en-US" dirty="0"/>
              <a:t>Tracks inserts, updates, deletions.</a:t>
            </a:r>
          </a:p>
          <a:p>
            <a:pPr marL="457200" indent="-457200">
              <a:buFont typeface="+mj-lt"/>
              <a:buAutoNum type="arabicPeriod"/>
            </a:pPr>
            <a:r>
              <a:rPr lang="en-US" b="1" dirty="0"/>
              <a:t>Security</a:t>
            </a:r>
          </a:p>
          <a:p>
            <a:pPr marL="292608" lvl="1" indent="0">
              <a:buNone/>
            </a:pPr>
            <a:r>
              <a:rPr lang="en-US" dirty="0"/>
              <a:t>Can prevent unauthorized actions</a:t>
            </a:r>
          </a:p>
        </p:txBody>
      </p:sp>
      <p:sp>
        <p:nvSpPr>
          <p:cNvPr id="4" name="Content Placeholder 2">
            <a:extLst>
              <a:ext uri="{FF2B5EF4-FFF2-40B4-BE49-F238E27FC236}">
                <a16:creationId xmlns:a16="http://schemas.microsoft.com/office/drawing/2014/main" id="{25EDB9EA-6D1A-44FC-C91E-BFE916B6C3D4}"/>
              </a:ext>
            </a:extLst>
          </p:cNvPr>
          <p:cNvSpPr txBox="1">
            <a:spLocks/>
          </p:cNvSpPr>
          <p:nvPr/>
        </p:nvSpPr>
        <p:spPr>
          <a:xfrm>
            <a:off x="6743700" y="1998134"/>
            <a:ext cx="456438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457200" indent="-457200" algn="r">
              <a:buFont typeface="+mj-lt"/>
              <a:buAutoNum type="arabicPeriod"/>
            </a:pPr>
            <a:r>
              <a:rPr lang="en-US" b="1" dirty="0"/>
              <a:t>Hidden Logic</a:t>
            </a:r>
          </a:p>
          <a:p>
            <a:pPr marL="292608" lvl="1" indent="0" algn="r">
              <a:buNone/>
            </a:pPr>
            <a:r>
              <a:rPr lang="en-US" dirty="0"/>
              <a:t>Triggers execute automatically and may be difficult to notice.</a:t>
            </a:r>
          </a:p>
          <a:p>
            <a:pPr marL="457200" indent="-457200" algn="r">
              <a:buFont typeface="+mj-lt"/>
              <a:buAutoNum type="arabicPeriod"/>
            </a:pPr>
            <a:r>
              <a:rPr lang="en-US" b="1" dirty="0"/>
              <a:t>Performance Overhead</a:t>
            </a:r>
          </a:p>
          <a:p>
            <a:pPr marL="292608" lvl="1" indent="0" algn="r">
              <a:buNone/>
            </a:pPr>
            <a:r>
              <a:rPr lang="en-US" dirty="0"/>
              <a:t>Too many triggers can slow down operations.</a:t>
            </a:r>
          </a:p>
          <a:p>
            <a:pPr marL="457200" indent="-457200" algn="r">
              <a:buFont typeface="+mj-lt"/>
              <a:buAutoNum type="arabicPeriod"/>
            </a:pPr>
            <a:r>
              <a:rPr lang="en-US" b="1" dirty="0"/>
              <a:t>Difficult Debugging</a:t>
            </a:r>
          </a:p>
          <a:p>
            <a:pPr marL="292608" lvl="1" indent="0" algn="r">
              <a:buNone/>
            </a:pPr>
            <a:r>
              <a:rPr lang="en-US" dirty="0"/>
              <a:t>Errors may be harder to trace.</a:t>
            </a:r>
          </a:p>
          <a:p>
            <a:pPr marL="457200" indent="-457200" algn="r">
              <a:buFont typeface="+mj-lt"/>
              <a:buAutoNum type="arabicPeriod"/>
            </a:pPr>
            <a:r>
              <a:rPr lang="en-US" b="1" dirty="0"/>
              <a:t>Complex Maintenance</a:t>
            </a:r>
          </a:p>
          <a:p>
            <a:pPr marL="292608" lvl="1" indent="0" algn="r">
              <a:buNone/>
            </a:pPr>
            <a:r>
              <a:rPr lang="en-US" dirty="0"/>
              <a:t>Large systems may contain many triggers.</a:t>
            </a:r>
          </a:p>
        </p:txBody>
      </p:sp>
    </p:spTree>
    <p:extLst>
      <p:ext uri="{BB962C8B-B14F-4D97-AF65-F5344CB8AC3E}">
        <p14:creationId xmlns:p14="http://schemas.microsoft.com/office/powerpoint/2010/main" val="1649138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57975-477C-2502-1582-CC7F7C064E05}"/>
              </a:ext>
            </a:extLst>
          </p:cNvPr>
          <p:cNvSpPr>
            <a:spLocks noGrp="1"/>
          </p:cNvSpPr>
          <p:nvPr>
            <p:ph type="title"/>
          </p:nvPr>
        </p:nvSpPr>
        <p:spPr/>
        <p:txBody>
          <a:bodyPr/>
          <a:lstStyle/>
          <a:p>
            <a:r>
              <a:rPr lang="en-US" dirty="0"/>
              <a:t>Features of Good Relational Designs</a:t>
            </a:r>
          </a:p>
        </p:txBody>
      </p:sp>
      <p:sp>
        <p:nvSpPr>
          <p:cNvPr id="3" name="Content Placeholder 2">
            <a:extLst>
              <a:ext uri="{FF2B5EF4-FFF2-40B4-BE49-F238E27FC236}">
                <a16:creationId xmlns:a16="http://schemas.microsoft.com/office/drawing/2014/main" id="{E9D71B71-F0BC-81C0-13DB-39916B7DC6CE}"/>
              </a:ext>
            </a:extLst>
          </p:cNvPr>
          <p:cNvSpPr>
            <a:spLocks noGrp="1"/>
          </p:cNvSpPr>
          <p:nvPr>
            <p:ph idx="1"/>
          </p:nvPr>
        </p:nvSpPr>
        <p:spPr/>
        <p:txBody>
          <a:bodyPr/>
          <a:lstStyle/>
          <a:p>
            <a:r>
              <a:rPr lang="en-US" dirty="0"/>
              <a:t>A good database design should:</a:t>
            </a:r>
          </a:p>
          <a:p>
            <a:pPr marL="457200" indent="-457200">
              <a:buFont typeface="+mj-lt"/>
              <a:buAutoNum type="arabicPeriod"/>
            </a:pPr>
            <a:r>
              <a:rPr lang="en-US" dirty="0"/>
              <a:t>Minimize redundancy </a:t>
            </a:r>
          </a:p>
          <a:p>
            <a:pPr marL="457200" indent="-457200">
              <a:buFont typeface="+mj-lt"/>
              <a:buAutoNum type="arabicPeriod"/>
            </a:pPr>
            <a:r>
              <a:rPr lang="en-US" dirty="0"/>
              <a:t>Avoid update anomalies </a:t>
            </a:r>
          </a:p>
          <a:p>
            <a:pPr marL="457200" indent="-457200">
              <a:buFont typeface="+mj-lt"/>
              <a:buAutoNum type="arabicPeriod"/>
            </a:pPr>
            <a:r>
              <a:rPr lang="en-US" dirty="0"/>
              <a:t>Ensure consistency </a:t>
            </a:r>
          </a:p>
          <a:p>
            <a:pPr marL="457200" indent="-457200">
              <a:buFont typeface="+mj-lt"/>
              <a:buAutoNum type="arabicPeriod"/>
            </a:pPr>
            <a:r>
              <a:rPr lang="en-US" dirty="0"/>
              <a:t>Support data integrity </a:t>
            </a:r>
          </a:p>
          <a:p>
            <a:pPr marL="457200" indent="-457200">
              <a:buFont typeface="+mj-lt"/>
              <a:buAutoNum type="arabicPeriod"/>
            </a:pPr>
            <a:r>
              <a:rPr lang="en-US" dirty="0"/>
              <a:t>Facilitate efficient queries </a:t>
            </a:r>
          </a:p>
          <a:p>
            <a:pPr marL="457200" indent="-457200">
              <a:buFont typeface="+mj-lt"/>
              <a:buAutoNum type="arabicPeriod"/>
            </a:pPr>
            <a:r>
              <a:rPr lang="en-US" dirty="0"/>
              <a:t>Be easy to maintain</a:t>
            </a:r>
          </a:p>
          <a:p>
            <a:endParaRPr lang="en-US" dirty="0"/>
          </a:p>
        </p:txBody>
      </p:sp>
    </p:spTree>
    <p:extLst>
      <p:ext uri="{BB962C8B-B14F-4D97-AF65-F5344CB8AC3E}">
        <p14:creationId xmlns:p14="http://schemas.microsoft.com/office/powerpoint/2010/main" val="26740145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EB570-D60A-5EBC-3135-BBE61FF67368}"/>
              </a:ext>
            </a:extLst>
          </p:cNvPr>
          <p:cNvSpPr>
            <a:spLocks noGrp="1"/>
          </p:cNvSpPr>
          <p:nvPr>
            <p:ph type="title"/>
          </p:nvPr>
        </p:nvSpPr>
        <p:spPr/>
        <p:txBody>
          <a:bodyPr>
            <a:normAutofit/>
          </a:bodyPr>
          <a:lstStyle/>
          <a:p>
            <a:r>
              <a:rPr lang="en-US" dirty="0"/>
              <a:t>Functional dependencies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6C01DA63-0A7A-E2B2-D85F-8205B019F7EE}"/>
                  </a:ext>
                </a:extLst>
              </p:cNvPr>
              <p:cNvSpPr txBox="1">
                <a:spLocks/>
              </p:cNvSpPr>
              <p:nvPr/>
            </p:nvSpPr>
            <p:spPr>
              <a:xfrm>
                <a:off x="845820" y="1860974"/>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A functional dependency describes a relationship between attributes in a table.</a:t>
                </a:r>
              </a:p>
              <a:p>
                <a:r>
                  <a:rPr lang="en-US" dirty="0"/>
                  <a:t>It states that the value of one attribute uniquely determines the value of another attribute</a:t>
                </a:r>
              </a:p>
              <a:p>
                <a:pPr marL="201168" lvl="1" indent="0" algn="ctr">
                  <a:buFont typeface="Calibri" pitchFamily="34" charset="0"/>
                  <a:buNone/>
                </a:pPr>
                <a:r>
                  <a:rPr lang="en-US" sz="2800" dirty="0"/>
                  <a:t>X→Y</a:t>
                </a:r>
              </a:p>
              <a:p>
                <a:pPr marL="201168" lvl="1" indent="0">
                  <a:buFont typeface="Calibri" pitchFamily="34" charset="0"/>
                  <a:buNone/>
                </a:pPr>
                <a:r>
                  <a:rPr lang="en-US" b="1" dirty="0"/>
                  <a:t>		X </a:t>
                </a:r>
                <a:r>
                  <a:rPr lang="en-US" dirty="0"/>
                  <a:t>(Left Hand Side): Called the Determinant.</a:t>
                </a:r>
              </a:p>
              <a:p>
                <a:pPr marL="201168" lvl="1" indent="0">
                  <a:buFont typeface="Calibri" pitchFamily="34" charset="0"/>
                  <a:buNone/>
                </a:pPr>
                <a:r>
                  <a:rPr lang="en-US" b="1" dirty="0"/>
                  <a:t>		Y </a:t>
                </a:r>
                <a:r>
                  <a:rPr lang="en-US" dirty="0"/>
                  <a:t>(Right Hand Side): Called the Dependent</a:t>
                </a:r>
              </a:p>
              <a:p>
                <a:r>
                  <a:rPr lang="en-US" dirty="0"/>
                  <a:t>Means: "If two tuples have the same value of X, they must have the same value of Y."</a:t>
                </a:r>
              </a:p>
              <a:p>
                <a:r>
                  <a:rPr lang="en-US" dirty="0"/>
                  <a:t>Since </a:t>
                </a:r>
                <a:r>
                  <a:rPr lang="en-US" dirty="0" err="1"/>
                  <a:t>Roll_No</a:t>
                </a:r>
                <a:r>
                  <a:rPr lang="en-US" dirty="0"/>
                  <a:t> uniquely identifies students:</a:t>
                </a:r>
              </a:p>
              <a:p>
                <a:pPr marL="201168" lvl="1" indent="0">
                  <a:buNone/>
                </a:pPr>
                <a14:m>
                  <m:oMathPara xmlns:m="http://schemas.openxmlformats.org/officeDocument/2006/math">
                    <m:oMathParaPr>
                      <m:jc m:val="centerGroup"/>
                    </m:oMathParaPr>
                    <m:oMath xmlns:m="http://schemas.openxmlformats.org/officeDocument/2006/math">
                      <m:r>
                        <a:rPr lang="en-US" i="1">
                          <a:solidFill>
                            <a:schemeClr val="tx1"/>
                          </a:solidFill>
                          <a:latin typeface="Cambria Math" panose="02040503050406030204" pitchFamily="18" charset="0"/>
                        </a:rPr>
                        <m:t>𝑅𝑜𝑙𝑙</m:t>
                      </m:r>
                      <m:r>
                        <m:rPr>
                          <m:lit/>
                        </m:rPr>
                        <a:rPr lang="en-US">
                          <a:solidFill>
                            <a:schemeClr val="tx1"/>
                          </a:solidFill>
                          <a:latin typeface="Cambria Math" panose="02040503050406030204" pitchFamily="18" charset="0"/>
                        </a:rPr>
                        <m:t>_</m:t>
                      </m:r>
                      <m:r>
                        <a:rPr lang="en-US" i="1">
                          <a:solidFill>
                            <a:schemeClr val="tx1"/>
                          </a:solidFill>
                          <a:latin typeface="Cambria Math" panose="02040503050406030204" pitchFamily="18" charset="0"/>
                        </a:rPr>
                        <m:t>𝑁𝑜</m:t>
                      </m:r>
                      <m:r>
                        <a:rPr lang="en-US">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𝑁𝑎𝑚𝑒</m:t>
                      </m:r>
                    </m:oMath>
                  </m:oMathPara>
                </a14:m>
                <a:endParaRPr lang="en-US" i="1" dirty="0">
                  <a:solidFill>
                    <a:schemeClr val="tx1"/>
                  </a:solidFill>
                  <a:latin typeface="Cambria Math" panose="02040503050406030204" pitchFamily="18" charset="0"/>
                </a:endParaRPr>
              </a:p>
              <a:p>
                <a:pPr marL="201168" lvl="1" inden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solidFill>
                          <a:latin typeface="Cambria Math" panose="02040503050406030204" pitchFamily="18" charset="0"/>
                        </a:rPr>
                        <m:t>Roll</m:t>
                      </m:r>
                      <m:r>
                        <a:rPr lang="en-US" b="0" i="0" smtClean="0">
                          <a:solidFill>
                            <a:schemeClr val="tx1"/>
                          </a:solidFill>
                          <a:latin typeface="Cambria Math" panose="02040503050406030204" pitchFamily="18" charset="0"/>
                        </a:rPr>
                        <m:t>_</m:t>
                      </m:r>
                      <m:r>
                        <m:rPr>
                          <m:sty m:val="p"/>
                        </m:rPr>
                        <a:rPr lang="en-US" b="0" i="0" smtClean="0">
                          <a:solidFill>
                            <a:schemeClr val="tx1"/>
                          </a:solidFill>
                          <a:latin typeface="Cambria Math" panose="02040503050406030204" pitchFamily="18" charset="0"/>
                        </a:rPr>
                        <m:t>No</m:t>
                      </m:r>
                      <m:r>
                        <a:rPr lang="en-US" b="0" i="0" smtClean="0">
                          <a:solidFill>
                            <a:schemeClr val="tx1"/>
                          </a:solidFill>
                          <a:latin typeface="Cambria Math" panose="02040503050406030204" pitchFamily="18" charset="0"/>
                        </a:rPr>
                        <m:t> →</m:t>
                      </m:r>
                      <m:r>
                        <a:rPr lang="en-US" i="1">
                          <a:solidFill>
                            <a:schemeClr val="tx1"/>
                          </a:solidFill>
                          <a:latin typeface="Cambria Math" panose="02040503050406030204" pitchFamily="18" charset="0"/>
                        </a:rPr>
                        <m:t>𝐴𝑑𝑑𝑟𝑒𝑠𝑠</m:t>
                      </m:r>
                    </m:oMath>
                  </m:oMathPara>
                </a14:m>
                <a:endParaRPr lang="en-US" dirty="0"/>
              </a:p>
              <a:p>
                <a:r>
                  <a:rPr lang="en-US" dirty="0" err="1"/>
                  <a:t>Roll_No</a:t>
                </a:r>
                <a:r>
                  <a:rPr lang="en-US" dirty="0"/>
                  <a:t> always corresponds to exactly one  Name and one Address.</a:t>
                </a:r>
              </a:p>
              <a:p>
                <a:endParaRPr lang="en-US" dirty="0"/>
              </a:p>
              <a:p>
                <a:pPr marL="0" indent="0">
                  <a:buFont typeface="Calibri" panose="020F0502020204030204" pitchFamily="34" charset="0"/>
                  <a:buNone/>
                </a:pPr>
                <a:endParaRPr lang="en-US" dirty="0"/>
              </a:p>
            </p:txBody>
          </p:sp>
        </mc:Choice>
        <mc:Fallback xmlns="">
          <p:sp>
            <p:nvSpPr>
              <p:cNvPr id="4" name="Content Placeholder 2">
                <a:extLst>
                  <a:ext uri="{FF2B5EF4-FFF2-40B4-BE49-F238E27FC236}">
                    <a16:creationId xmlns:a16="http://schemas.microsoft.com/office/drawing/2014/main" id="{6C01DA63-0A7A-E2B2-D85F-8205B019F7EE}"/>
                  </a:ext>
                </a:extLst>
              </p:cNvPr>
              <p:cNvSpPr txBox="1">
                <a:spLocks noRot="1" noChangeAspect="1" noMove="1" noResize="1" noEditPoints="1" noAdjustHandles="1" noChangeArrowheads="1" noChangeShapeType="1" noTextEdit="1"/>
              </p:cNvSpPr>
              <p:nvPr/>
            </p:nvSpPr>
            <p:spPr>
              <a:xfrm>
                <a:off x="845820" y="1860974"/>
                <a:ext cx="10058400" cy="4023360"/>
              </a:xfrm>
              <a:prstGeom prst="rect">
                <a:avLst/>
              </a:prstGeom>
              <a:blipFill>
                <a:blip r:embed="rId3"/>
                <a:stretch>
                  <a:fillRect l="-667" t="-1515"/>
                </a:stretch>
              </a:blipFill>
            </p:spPr>
            <p:txBody>
              <a:bodyPr/>
              <a:lstStyle/>
              <a:p>
                <a:r>
                  <a:rPr lang="en-US">
                    <a:noFill/>
                  </a:rPr>
                  <a:t> </a:t>
                </a:r>
              </a:p>
            </p:txBody>
          </p:sp>
        </mc:Fallback>
      </mc:AlternateContent>
      <p:graphicFrame>
        <p:nvGraphicFramePr>
          <p:cNvPr id="7" name="Content Placeholder 6">
            <a:extLst>
              <a:ext uri="{FF2B5EF4-FFF2-40B4-BE49-F238E27FC236}">
                <a16:creationId xmlns:a16="http://schemas.microsoft.com/office/drawing/2014/main" id="{15A6CF63-E0AD-8695-4A34-15319F81A4B8}"/>
              </a:ext>
            </a:extLst>
          </p:cNvPr>
          <p:cNvGraphicFramePr>
            <a:graphicFrameLocks noGrp="1"/>
          </p:cNvGraphicFramePr>
          <p:nvPr>
            <p:ph idx="1"/>
            <p:extLst>
              <p:ext uri="{D42A27DB-BD31-4B8C-83A1-F6EECF244321}">
                <p14:modId xmlns:p14="http://schemas.microsoft.com/office/powerpoint/2010/main" val="3284553507"/>
              </p:ext>
            </p:extLst>
          </p:nvPr>
        </p:nvGraphicFramePr>
        <p:xfrm>
          <a:off x="8161020" y="4400974"/>
          <a:ext cx="3794760" cy="1483360"/>
        </p:xfrm>
        <a:graphic>
          <a:graphicData uri="http://schemas.openxmlformats.org/drawingml/2006/table">
            <a:tbl>
              <a:tblPr firstRow="1" bandRow="1">
                <a:tableStyleId>{5C22544A-7EE6-4342-B048-85BDC9FD1C3A}</a:tableStyleId>
              </a:tblPr>
              <a:tblGrid>
                <a:gridCol w="1264920">
                  <a:extLst>
                    <a:ext uri="{9D8B030D-6E8A-4147-A177-3AD203B41FA5}">
                      <a16:colId xmlns:a16="http://schemas.microsoft.com/office/drawing/2014/main" val="2064071662"/>
                    </a:ext>
                  </a:extLst>
                </a:gridCol>
                <a:gridCol w="1264920">
                  <a:extLst>
                    <a:ext uri="{9D8B030D-6E8A-4147-A177-3AD203B41FA5}">
                      <a16:colId xmlns:a16="http://schemas.microsoft.com/office/drawing/2014/main" val="716482732"/>
                    </a:ext>
                  </a:extLst>
                </a:gridCol>
                <a:gridCol w="1264920">
                  <a:extLst>
                    <a:ext uri="{9D8B030D-6E8A-4147-A177-3AD203B41FA5}">
                      <a16:colId xmlns:a16="http://schemas.microsoft.com/office/drawing/2014/main" val="966096951"/>
                    </a:ext>
                  </a:extLst>
                </a:gridCol>
              </a:tblGrid>
              <a:tr h="370840">
                <a:tc>
                  <a:txBody>
                    <a:bodyPr/>
                    <a:lstStyle/>
                    <a:p>
                      <a:r>
                        <a:rPr lang="en-US" dirty="0" err="1"/>
                        <a:t>Roll_no</a:t>
                      </a:r>
                      <a:endParaRPr lang="en-US" dirty="0"/>
                    </a:p>
                  </a:txBody>
                  <a:tcPr/>
                </a:tc>
                <a:tc>
                  <a:txBody>
                    <a:bodyPr/>
                    <a:lstStyle/>
                    <a:p>
                      <a:r>
                        <a:rPr lang="en-US" dirty="0"/>
                        <a:t>Name</a:t>
                      </a:r>
                    </a:p>
                  </a:txBody>
                  <a:tcPr/>
                </a:tc>
                <a:tc>
                  <a:txBody>
                    <a:bodyPr/>
                    <a:lstStyle/>
                    <a:p>
                      <a:r>
                        <a:rPr lang="en-US" dirty="0"/>
                        <a:t>Address</a:t>
                      </a:r>
                    </a:p>
                  </a:txBody>
                  <a:tcPr/>
                </a:tc>
                <a:extLst>
                  <a:ext uri="{0D108BD9-81ED-4DB2-BD59-A6C34878D82A}">
                    <a16:rowId xmlns:a16="http://schemas.microsoft.com/office/drawing/2014/main" val="751874466"/>
                  </a:ext>
                </a:extLst>
              </a:tr>
              <a:tr h="370840">
                <a:tc>
                  <a:txBody>
                    <a:bodyPr/>
                    <a:lstStyle/>
                    <a:p>
                      <a:r>
                        <a:rPr lang="en-US" dirty="0"/>
                        <a:t>101</a:t>
                      </a:r>
                    </a:p>
                  </a:txBody>
                  <a:tcPr/>
                </a:tc>
                <a:tc>
                  <a:txBody>
                    <a:bodyPr/>
                    <a:lstStyle/>
                    <a:p>
                      <a:r>
                        <a:rPr lang="en-US" dirty="0"/>
                        <a:t>Ram</a:t>
                      </a:r>
                    </a:p>
                  </a:txBody>
                  <a:tcPr/>
                </a:tc>
                <a:tc>
                  <a:txBody>
                    <a:bodyPr/>
                    <a:lstStyle/>
                    <a:p>
                      <a:r>
                        <a:rPr lang="en-US" dirty="0"/>
                        <a:t>Kathmandu</a:t>
                      </a:r>
                    </a:p>
                  </a:txBody>
                  <a:tcPr/>
                </a:tc>
                <a:extLst>
                  <a:ext uri="{0D108BD9-81ED-4DB2-BD59-A6C34878D82A}">
                    <a16:rowId xmlns:a16="http://schemas.microsoft.com/office/drawing/2014/main" val="728253061"/>
                  </a:ext>
                </a:extLst>
              </a:tr>
              <a:tr h="370840">
                <a:tc>
                  <a:txBody>
                    <a:bodyPr/>
                    <a:lstStyle/>
                    <a:p>
                      <a:r>
                        <a:rPr lang="en-US" dirty="0"/>
                        <a:t>102</a:t>
                      </a:r>
                    </a:p>
                  </a:txBody>
                  <a:tcPr/>
                </a:tc>
                <a:tc>
                  <a:txBody>
                    <a:bodyPr/>
                    <a:lstStyle/>
                    <a:p>
                      <a:r>
                        <a:rPr lang="en-US" dirty="0"/>
                        <a:t>Sita</a:t>
                      </a:r>
                    </a:p>
                  </a:txBody>
                  <a:tcPr/>
                </a:tc>
                <a:tc>
                  <a:txBody>
                    <a:bodyPr/>
                    <a:lstStyle/>
                    <a:p>
                      <a:r>
                        <a:rPr lang="en-US" dirty="0"/>
                        <a:t>Pokhara</a:t>
                      </a:r>
                    </a:p>
                  </a:txBody>
                  <a:tcPr/>
                </a:tc>
                <a:extLst>
                  <a:ext uri="{0D108BD9-81ED-4DB2-BD59-A6C34878D82A}">
                    <a16:rowId xmlns:a16="http://schemas.microsoft.com/office/drawing/2014/main" val="1091313022"/>
                  </a:ext>
                </a:extLst>
              </a:tr>
              <a:tr h="370840">
                <a:tc>
                  <a:txBody>
                    <a:bodyPr/>
                    <a:lstStyle/>
                    <a:p>
                      <a:r>
                        <a:rPr lang="en-US" dirty="0"/>
                        <a:t>101</a:t>
                      </a:r>
                    </a:p>
                  </a:txBody>
                  <a:tcPr/>
                </a:tc>
                <a:tc>
                  <a:txBody>
                    <a:bodyPr/>
                    <a:lstStyle/>
                    <a:p>
                      <a:r>
                        <a:rPr lang="en-US" dirty="0"/>
                        <a:t>Ram</a:t>
                      </a:r>
                    </a:p>
                  </a:txBody>
                  <a:tcPr/>
                </a:tc>
                <a:tc>
                  <a:txBody>
                    <a:bodyPr/>
                    <a:lstStyle/>
                    <a:p>
                      <a:r>
                        <a:rPr lang="en-US" dirty="0"/>
                        <a:t>Kathmandu</a:t>
                      </a:r>
                    </a:p>
                  </a:txBody>
                  <a:tcPr/>
                </a:tc>
                <a:extLst>
                  <a:ext uri="{0D108BD9-81ED-4DB2-BD59-A6C34878D82A}">
                    <a16:rowId xmlns:a16="http://schemas.microsoft.com/office/drawing/2014/main" val="1780486527"/>
                  </a:ext>
                </a:extLst>
              </a:tr>
            </a:tbl>
          </a:graphicData>
        </a:graphic>
      </p:graphicFrame>
    </p:spTree>
    <p:extLst>
      <p:ext uri="{BB962C8B-B14F-4D97-AF65-F5344CB8AC3E}">
        <p14:creationId xmlns:p14="http://schemas.microsoft.com/office/powerpoint/2010/main" val="35401062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DCE1EA3-6E0B-18B4-FDE4-79BD27353CC4}"/>
              </a:ext>
            </a:extLst>
          </p:cNvPr>
          <p:cNvPicPr>
            <a:picLocks noChangeAspect="1"/>
          </p:cNvPicPr>
          <p:nvPr/>
        </p:nvPicPr>
        <p:blipFill>
          <a:blip r:embed="rId2"/>
          <a:stretch>
            <a:fillRect/>
          </a:stretch>
        </p:blipFill>
        <p:spPr>
          <a:xfrm>
            <a:off x="4267200" y="1153456"/>
            <a:ext cx="6888480" cy="4925065"/>
          </a:xfrm>
          <a:prstGeom prst="rect">
            <a:avLst/>
          </a:prstGeom>
        </p:spPr>
      </p:pic>
      <p:sp>
        <p:nvSpPr>
          <p:cNvPr id="2" name="Title 1">
            <a:extLst>
              <a:ext uri="{FF2B5EF4-FFF2-40B4-BE49-F238E27FC236}">
                <a16:creationId xmlns:a16="http://schemas.microsoft.com/office/drawing/2014/main" id="{D2784038-8953-D877-30C6-0FE7A993A4C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D6086E8-5000-D23C-35C0-66CE5A288972}"/>
              </a:ext>
            </a:extLst>
          </p:cNvPr>
          <p:cNvSpPr>
            <a:spLocks noGrp="1"/>
          </p:cNvSpPr>
          <p:nvPr>
            <p:ph idx="1"/>
          </p:nvPr>
        </p:nvSpPr>
        <p:spPr>
          <a:xfrm>
            <a:off x="1097280" y="1845734"/>
            <a:ext cx="4650377" cy="4023360"/>
          </a:xfrm>
        </p:spPr>
        <p:txBody>
          <a:bodyPr/>
          <a:lstStyle/>
          <a:p>
            <a:endParaRPr lang="en-US" dirty="0"/>
          </a:p>
        </p:txBody>
      </p:sp>
    </p:spTree>
    <p:extLst>
      <p:ext uri="{BB962C8B-B14F-4D97-AF65-F5344CB8AC3E}">
        <p14:creationId xmlns:p14="http://schemas.microsoft.com/office/powerpoint/2010/main" val="25201042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C2D71-4630-39D3-5A68-C2C0F5ACE14A}"/>
              </a:ext>
            </a:extLst>
          </p:cNvPr>
          <p:cNvSpPr>
            <a:spLocks noGrp="1"/>
          </p:cNvSpPr>
          <p:nvPr>
            <p:ph type="title"/>
          </p:nvPr>
        </p:nvSpPr>
        <p:spPr/>
        <p:txBody>
          <a:bodyPr/>
          <a:lstStyle/>
          <a:p>
            <a:r>
              <a:rPr lang="en-US" dirty="0"/>
              <a:t>Trivial Functional Dependencies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97926F9C-8D50-5B08-F3C6-E5A6498D9CE3}"/>
                  </a:ext>
                </a:extLst>
              </p:cNvPr>
              <p:cNvSpPr txBox="1">
                <a:spLocks/>
              </p:cNvSpPr>
              <p:nvPr/>
            </p:nvSpPr>
            <p:spPr>
              <a:xfrm>
                <a:off x="838200" y="1766994"/>
                <a:ext cx="10058400" cy="4023360"/>
              </a:xfrm>
              <a:prstGeom prst="rect">
                <a:avLst/>
              </a:prstGeom>
            </p:spPr>
            <p:txBody>
              <a:bodyPr vert="horz" lIns="0" tIns="45720" rIns="0" bIns="45720" rtlCol="0">
                <a:normAutofit fontScale="925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A dependency is trivial if the right side is a subset of the left side. These are always  valid (True)</a:t>
                </a:r>
              </a:p>
              <a:p>
                <a:r>
                  <a:rPr lang="en-US" b="1" dirty="0"/>
                  <a:t>Example</a:t>
                </a:r>
              </a:p>
              <a:p>
                <a:pPr marL="201168" lvl="1" indent="0">
                  <a:buFont typeface="Calibri" pitchFamily="34" charset="0"/>
                  <a:buNone/>
                </a:pPr>
                <a14:m>
                  <m:oMathPara xmlns:m="http://schemas.openxmlformats.org/officeDocument/2006/math">
                    <m:oMathParaPr>
                      <m:jc m:val="centerGroup"/>
                    </m:oMathParaPr>
                    <m:oMath xmlns:m="http://schemas.openxmlformats.org/officeDocument/2006/math">
                      <m:d>
                        <m:dPr>
                          <m:sepChr m:val=","/>
                          <m:ctrlPr>
                            <a:rPr lang="ar-AE" i="1">
                              <a:latin typeface="Cambria Math" panose="02040503050406030204" pitchFamily="18" charset="0"/>
                            </a:rPr>
                          </m:ctrlPr>
                        </m:dPr>
                        <m:e>
                          <m:r>
                            <a:rPr lang="ar-AE" i="1">
                              <a:latin typeface="Cambria Math" panose="02040503050406030204" pitchFamily="18" charset="0"/>
                            </a:rPr>
                            <m:t>𝐴</m:t>
                          </m:r>
                        </m:e>
                        <m:e>
                          <m:r>
                            <a:rPr lang="ar-AE" i="1">
                              <a:latin typeface="Cambria Math" panose="02040503050406030204" pitchFamily="18" charset="0"/>
                            </a:rPr>
                            <m:t>𝐵</m:t>
                          </m:r>
                        </m:e>
                      </m:d>
                      <m:r>
                        <a:rPr lang="ar-AE">
                          <a:latin typeface="Cambria Math" panose="02040503050406030204" pitchFamily="18" charset="0"/>
                        </a:rPr>
                        <m:t>→</m:t>
                      </m:r>
                      <m:r>
                        <a:rPr lang="ar-AE" i="1">
                          <a:latin typeface="Cambria Math" panose="02040503050406030204" pitchFamily="18" charset="0"/>
                        </a:rPr>
                        <m:t>𝐴</m:t>
                      </m:r>
                    </m:oMath>
                  </m:oMathPara>
                </a14:m>
                <a:endParaRPr lang="ar-AE" dirty="0"/>
              </a:p>
              <a:p>
                <a:pPr marL="201168" lvl="1" indent="0">
                  <a:buFont typeface="Calibri" pitchFamily="34" charset="0"/>
                  <a:buNone/>
                </a:pPr>
                <a14:m>
                  <m:oMathPara xmlns:m="http://schemas.openxmlformats.org/officeDocument/2006/math">
                    <m:oMathParaPr>
                      <m:jc m:val="centerGroup"/>
                    </m:oMathParaPr>
                    <m:oMath xmlns:m="http://schemas.openxmlformats.org/officeDocument/2006/math">
                      <m:d>
                        <m:dPr>
                          <m:sepChr m:val=","/>
                          <m:ctrlPr>
                            <a:rPr lang="ar-AE" i="1">
                              <a:latin typeface="Cambria Math" panose="02040503050406030204" pitchFamily="18" charset="0"/>
                            </a:rPr>
                          </m:ctrlPr>
                        </m:dPr>
                        <m:e/>
                        <m:e>
                          <m:r>
                            <m:rPr>
                              <m:sty m:val="p"/>
                            </m:rPr>
                            <a:rPr lang="en-US" i="1" smtClean="0">
                              <a:latin typeface="Cambria Math" panose="02040503050406030204" pitchFamily="18" charset="0"/>
                            </a:rPr>
                            <m:t>St</m:t>
                          </m:r>
                          <m:r>
                            <a:rPr lang="ar-AE" i="1">
                              <a:latin typeface="Cambria Math" panose="02040503050406030204" pitchFamily="18" charset="0"/>
                            </a:rPr>
                            <m:t>𝑢𝑑𝑒𝑛𝑡𝐼𝐷</m:t>
                          </m:r>
                          <m:r>
                            <a:rPr lang="en-US" i="1" smtClean="0">
                              <a:latin typeface="Cambria Math" panose="02040503050406030204" pitchFamily="18" charset="0"/>
                            </a:rPr>
                            <m:t>,  </m:t>
                          </m:r>
                          <m:r>
                            <a:rPr lang="ar-AE" i="1">
                              <a:latin typeface="Cambria Math" panose="02040503050406030204" pitchFamily="18" charset="0"/>
                            </a:rPr>
                            <m:t>𝑆𝑢𝑏𝑗𝑒𝑐𝑡</m:t>
                          </m:r>
                        </m:e>
                      </m:d>
                      <m:r>
                        <a:rPr lang="ar-AE">
                          <a:latin typeface="Cambria Math" panose="02040503050406030204" pitchFamily="18" charset="0"/>
                        </a:rPr>
                        <m:t>→</m:t>
                      </m:r>
                      <m:r>
                        <a:rPr lang="ar-AE" i="1">
                          <a:latin typeface="Cambria Math" panose="02040503050406030204" pitchFamily="18" charset="0"/>
                        </a:rPr>
                        <m:t>𝑆𝑢𝑏𝑗𝑒𝑐𝑡</m:t>
                      </m:r>
                    </m:oMath>
                  </m:oMathPara>
                </a14:m>
                <a:endParaRPr lang="ar-AE" dirty="0"/>
              </a:p>
              <a:p>
                <a:r>
                  <a:rPr lang="en-US" dirty="0"/>
                  <a:t>Since Subject is already part of the left side. That means every attribute in Y is already included in X.</a:t>
                </a:r>
              </a:p>
              <a:p>
                <a:r>
                  <a:rPr lang="en-US" dirty="0"/>
                  <a:t>Functional Dependency: : </a:t>
                </a:r>
                <a:r>
                  <a:rPr lang="en-US" b="1" dirty="0"/>
                  <a:t>(</a:t>
                </a:r>
                <a:r>
                  <a:rPr lang="en-US" b="1" dirty="0" err="1"/>
                  <a:t>Roll_No</a:t>
                </a:r>
                <a:r>
                  <a:rPr lang="en-US" b="1" dirty="0"/>
                  <a:t>, Name) → Name</a:t>
                </a:r>
                <a:endParaRPr lang="en-US" dirty="0"/>
              </a:p>
              <a:p>
                <a:r>
                  <a:rPr lang="en-US" dirty="0"/>
                  <a:t>Why is it trivial?</a:t>
                </a:r>
              </a:p>
              <a:p>
                <a:r>
                  <a:rPr lang="en-US" dirty="0"/>
                  <a:t>LHS = {</a:t>
                </a:r>
                <a:r>
                  <a:rPr lang="en-US" dirty="0" err="1"/>
                  <a:t>Roll_No</a:t>
                </a:r>
                <a:r>
                  <a:rPr lang="en-US" dirty="0"/>
                  <a:t>, Name}  &amp;  RHS = {Name} </a:t>
                </a:r>
              </a:p>
              <a:p>
                <a:r>
                  <a:rPr lang="en-US" dirty="0"/>
                  <a:t>RHS is a subset of LHS </a:t>
                </a:r>
              </a:p>
              <a:p>
                <a:r>
                  <a:rPr lang="en-US" dirty="0"/>
                  <a:t>Therefore: </a:t>
                </a:r>
                <a:r>
                  <a:rPr lang="en-US" b="1" dirty="0"/>
                  <a:t>(</a:t>
                </a:r>
                <a:r>
                  <a:rPr lang="en-US" b="1" dirty="0" err="1"/>
                  <a:t>Roll_No</a:t>
                </a:r>
                <a:r>
                  <a:rPr lang="en-US" b="1" dirty="0"/>
                  <a:t>, Name) → Name</a:t>
                </a:r>
                <a:r>
                  <a:rPr lang="en-US" dirty="0"/>
                  <a:t> is a </a:t>
                </a:r>
                <a:r>
                  <a:rPr lang="en-US" b="1" dirty="0"/>
                  <a:t>trivial dependency</a:t>
                </a:r>
                <a:r>
                  <a:rPr lang="en-US" dirty="0"/>
                  <a:t>.</a:t>
                </a:r>
              </a:p>
              <a:p>
                <a:endParaRPr lang="en-US" dirty="0"/>
              </a:p>
              <a:p>
                <a:endParaRPr lang="en-US" dirty="0"/>
              </a:p>
            </p:txBody>
          </p:sp>
        </mc:Choice>
        <mc:Fallback xmlns="">
          <p:sp>
            <p:nvSpPr>
              <p:cNvPr id="4" name="Content Placeholder 2">
                <a:extLst>
                  <a:ext uri="{FF2B5EF4-FFF2-40B4-BE49-F238E27FC236}">
                    <a16:creationId xmlns:a16="http://schemas.microsoft.com/office/drawing/2014/main" id="{97926F9C-8D50-5B08-F3C6-E5A6498D9CE3}"/>
                  </a:ext>
                </a:extLst>
              </p:cNvPr>
              <p:cNvSpPr txBox="1">
                <a:spLocks noRot="1" noChangeAspect="1" noMove="1" noResize="1" noEditPoints="1" noAdjustHandles="1" noChangeArrowheads="1" noChangeShapeType="1" noTextEdit="1"/>
              </p:cNvSpPr>
              <p:nvPr/>
            </p:nvSpPr>
            <p:spPr>
              <a:xfrm>
                <a:off x="838200" y="1766994"/>
                <a:ext cx="10058400" cy="4023360"/>
              </a:xfrm>
              <a:prstGeom prst="rect">
                <a:avLst/>
              </a:prstGeom>
              <a:blipFill>
                <a:blip r:embed="rId3"/>
                <a:stretch>
                  <a:fillRect l="-1515" t="-1515" b="-23636"/>
                </a:stretch>
              </a:blipFill>
            </p:spPr>
            <p:txBody>
              <a:bodyPr/>
              <a:lstStyle/>
              <a:p>
                <a:r>
                  <a:rPr lang="en-US">
                    <a:noFill/>
                  </a:rPr>
                  <a:t> </a:t>
                </a:r>
              </a:p>
            </p:txBody>
          </p:sp>
        </mc:Fallback>
      </mc:AlternateContent>
      <p:graphicFrame>
        <p:nvGraphicFramePr>
          <p:cNvPr id="7" name="Content Placeholder 6">
            <a:extLst>
              <a:ext uri="{FF2B5EF4-FFF2-40B4-BE49-F238E27FC236}">
                <a16:creationId xmlns:a16="http://schemas.microsoft.com/office/drawing/2014/main" id="{9BBB388C-C6CD-A6DA-B650-083E03A18649}"/>
              </a:ext>
            </a:extLst>
          </p:cNvPr>
          <p:cNvGraphicFramePr>
            <a:graphicFrameLocks noGrp="1"/>
          </p:cNvGraphicFramePr>
          <p:nvPr>
            <p:ph idx="1"/>
            <p:extLst>
              <p:ext uri="{D42A27DB-BD31-4B8C-83A1-F6EECF244321}">
                <p14:modId xmlns:p14="http://schemas.microsoft.com/office/powerpoint/2010/main" val="300636127"/>
              </p:ext>
            </p:extLst>
          </p:nvPr>
        </p:nvGraphicFramePr>
        <p:xfrm>
          <a:off x="7421880" y="3739728"/>
          <a:ext cx="4137978" cy="1112520"/>
        </p:xfrm>
        <a:graphic>
          <a:graphicData uri="http://schemas.openxmlformats.org/drawingml/2006/table">
            <a:tbl>
              <a:tblPr firstRow="1" bandRow="1">
                <a:tableStyleId>{5C22544A-7EE6-4342-B048-85BDC9FD1C3A}</a:tableStyleId>
              </a:tblPr>
              <a:tblGrid>
                <a:gridCol w="1379326">
                  <a:extLst>
                    <a:ext uri="{9D8B030D-6E8A-4147-A177-3AD203B41FA5}">
                      <a16:colId xmlns:a16="http://schemas.microsoft.com/office/drawing/2014/main" val="2469237928"/>
                    </a:ext>
                  </a:extLst>
                </a:gridCol>
                <a:gridCol w="1379326">
                  <a:extLst>
                    <a:ext uri="{9D8B030D-6E8A-4147-A177-3AD203B41FA5}">
                      <a16:colId xmlns:a16="http://schemas.microsoft.com/office/drawing/2014/main" val="2000551504"/>
                    </a:ext>
                  </a:extLst>
                </a:gridCol>
                <a:gridCol w="1379326">
                  <a:extLst>
                    <a:ext uri="{9D8B030D-6E8A-4147-A177-3AD203B41FA5}">
                      <a16:colId xmlns:a16="http://schemas.microsoft.com/office/drawing/2014/main" val="3019657128"/>
                    </a:ext>
                  </a:extLst>
                </a:gridCol>
              </a:tblGrid>
              <a:tr h="370840">
                <a:tc>
                  <a:txBody>
                    <a:bodyPr/>
                    <a:lstStyle/>
                    <a:p>
                      <a:pPr>
                        <a:buNone/>
                      </a:pPr>
                      <a:r>
                        <a:rPr lang="en-US" dirty="0" err="1"/>
                        <a:t>Roll_No</a:t>
                      </a:r>
                      <a:endParaRPr lang="en-US" dirty="0"/>
                    </a:p>
                  </a:txBody>
                  <a:tcPr anchor="ctr"/>
                </a:tc>
                <a:tc>
                  <a:txBody>
                    <a:bodyPr/>
                    <a:lstStyle/>
                    <a:p>
                      <a:pPr>
                        <a:buNone/>
                      </a:pPr>
                      <a:r>
                        <a:rPr lang="en-US"/>
                        <a:t>Name</a:t>
                      </a:r>
                    </a:p>
                  </a:txBody>
                  <a:tcPr anchor="ctr"/>
                </a:tc>
                <a:tc>
                  <a:txBody>
                    <a:bodyPr/>
                    <a:lstStyle/>
                    <a:p>
                      <a:pPr>
                        <a:buNone/>
                      </a:pPr>
                      <a:r>
                        <a:rPr lang="en-US"/>
                        <a:t>Department</a:t>
                      </a:r>
                    </a:p>
                  </a:txBody>
                  <a:tcPr anchor="ctr"/>
                </a:tc>
                <a:extLst>
                  <a:ext uri="{0D108BD9-81ED-4DB2-BD59-A6C34878D82A}">
                    <a16:rowId xmlns:a16="http://schemas.microsoft.com/office/drawing/2014/main" val="2199150460"/>
                  </a:ext>
                </a:extLst>
              </a:tr>
              <a:tr h="370840">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BCA</a:t>
                      </a:r>
                    </a:p>
                  </a:txBody>
                  <a:tcPr anchor="ctr"/>
                </a:tc>
                <a:extLst>
                  <a:ext uri="{0D108BD9-81ED-4DB2-BD59-A6C34878D82A}">
                    <a16:rowId xmlns:a16="http://schemas.microsoft.com/office/drawing/2014/main" val="3701604074"/>
                  </a:ext>
                </a:extLst>
              </a:tr>
              <a:tr h="370840">
                <a:tc>
                  <a:txBody>
                    <a:bodyPr/>
                    <a:lstStyle/>
                    <a:p>
                      <a:pPr>
                        <a:buNone/>
                      </a:pPr>
                      <a:r>
                        <a:rPr lang="en-US"/>
                        <a:t>102</a:t>
                      </a:r>
                    </a:p>
                  </a:txBody>
                  <a:tcPr anchor="ctr"/>
                </a:tc>
                <a:tc>
                  <a:txBody>
                    <a:bodyPr/>
                    <a:lstStyle/>
                    <a:p>
                      <a:pPr>
                        <a:buNone/>
                      </a:pPr>
                      <a:r>
                        <a:rPr lang="en-US"/>
                        <a:t>Shyam</a:t>
                      </a:r>
                    </a:p>
                  </a:txBody>
                  <a:tcPr anchor="ctr"/>
                </a:tc>
                <a:tc>
                  <a:txBody>
                    <a:bodyPr/>
                    <a:lstStyle/>
                    <a:p>
                      <a:pPr>
                        <a:buNone/>
                      </a:pPr>
                      <a:r>
                        <a:rPr lang="en-US" dirty="0"/>
                        <a:t>BBA</a:t>
                      </a:r>
                    </a:p>
                  </a:txBody>
                  <a:tcPr anchor="ctr"/>
                </a:tc>
                <a:extLst>
                  <a:ext uri="{0D108BD9-81ED-4DB2-BD59-A6C34878D82A}">
                    <a16:rowId xmlns:a16="http://schemas.microsoft.com/office/drawing/2014/main" val="2331358532"/>
                  </a:ext>
                </a:extLst>
              </a:tr>
            </a:tbl>
          </a:graphicData>
        </a:graphic>
      </p:graphicFrame>
    </p:spTree>
    <p:extLst>
      <p:ext uri="{BB962C8B-B14F-4D97-AF65-F5344CB8AC3E}">
        <p14:creationId xmlns:p14="http://schemas.microsoft.com/office/powerpoint/2010/main" val="2930284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D0E6F-540A-3BA1-A30D-74BD386FBD7A}"/>
              </a:ext>
            </a:extLst>
          </p:cNvPr>
          <p:cNvSpPr>
            <a:spLocks noGrp="1"/>
          </p:cNvSpPr>
          <p:nvPr>
            <p:ph type="title"/>
          </p:nvPr>
        </p:nvSpPr>
        <p:spPr/>
        <p:txBody>
          <a:bodyPr/>
          <a:lstStyle/>
          <a:p>
            <a:r>
              <a:rPr lang="en-US" dirty="0"/>
              <a:t>Trivial logic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5F8A28-2BB3-B7C7-C2EF-05DD2417D8DD}"/>
                  </a:ext>
                </a:extLst>
              </p:cNvPr>
              <p:cNvSpPr>
                <a:spLocks noGrp="1"/>
              </p:cNvSpPr>
              <p:nvPr>
                <p:ph idx="1"/>
              </p:nvPr>
            </p:nvSpPr>
            <p:spPr/>
            <p:txBody>
              <a:bodyPr>
                <a:normAutofit lnSpcReduction="10000"/>
              </a:bodyPr>
              <a:lstStyle/>
              <a:p>
                <a:r>
                  <a:rPr lang="en-US" dirty="0"/>
                  <a:t>Suppose someone says:</a:t>
                </a:r>
              </a:p>
              <a:p>
                <a:r>
                  <a:rPr lang="en-US" dirty="0"/>
                  <a:t>"If I know your Name and Phone Number, then I know your Name."</a:t>
                </a:r>
              </a:p>
              <a:p>
                <a:r>
                  <a:rPr lang="en-US" dirty="0"/>
                  <a:t>This statement is always true because the Name is already included in the information you know.</a:t>
                </a:r>
              </a:p>
              <a:p>
                <a:r>
                  <a:rPr lang="en-US" dirty="0"/>
                  <a:t>Similarly:</a:t>
                </a:r>
              </a:p>
              <a:p>
                <a:r>
                  <a:rPr lang="en-US" b="1" dirty="0"/>
                  <a:t>(Name, </a:t>
                </a:r>
                <a:r>
                  <a:rPr lang="en-US" b="1" dirty="0" err="1"/>
                  <a:t>Phone_No</a:t>
                </a:r>
                <a:r>
                  <a:rPr lang="en-US" b="1" dirty="0"/>
                  <a:t>) → Name    </a:t>
                </a:r>
                <a:r>
                  <a:rPr lang="en-US" dirty="0"/>
                  <a:t>is a trivial dependency.</a:t>
                </a:r>
              </a:p>
              <a:p>
                <a:endParaRPr lang="en-US" dirty="0"/>
              </a:p>
              <a:p>
                <a:r>
                  <a:rPr lang="en-US" b="1" dirty="0"/>
                  <a:t>Rule to Remember</a:t>
                </a:r>
              </a:p>
              <a:p>
                <a:r>
                  <a:rPr lang="en-US" dirty="0"/>
                  <a:t>A dependency is </a:t>
                </a:r>
                <a:r>
                  <a:rPr lang="en-US" b="1" dirty="0"/>
                  <a:t>trivial</a:t>
                </a:r>
                <a:r>
                  <a:rPr lang="en-US" dirty="0"/>
                  <a:t> if the RHS is already contained within the LHS:</a:t>
                </a:r>
              </a:p>
              <a:p>
                <a14:m>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r>
                      <m:rPr>
                        <m:nor/>
                      </m:rPr>
                      <a:rPr lang="en-US" i="1"/>
                      <m:t> </m:t>
                    </m:r>
                    <m:r>
                      <m:rPr>
                        <m:nor/>
                      </m:rPr>
                      <a:rPr lang="en-US" i="1"/>
                      <m:t>is</m:t>
                    </m:r>
                    <m:r>
                      <m:rPr>
                        <m:nor/>
                      </m:rPr>
                      <a:rPr lang="en-US" i="1"/>
                      <m:t> </m:t>
                    </m:r>
                    <m:r>
                      <m:rPr>
                        <m:nor/>
                      </m:rPr>
                      <a:rPr lang="en-US" i="1"/>
                      <m:t>trivial</m:t>
                    </m:r>
                    <m:r>
                      <m:rPr>
                        <m:nor/>
                      </m:rPr>
                      <a:rPr lang="en-US" i="1"/>
                      <m:t> </m:t>
                    </m:r>
                    <m:r>
                      <m:rPr>
                        <m:nor/>
                      </m:rPr>
                      <a:rPr lang="en-US" i="1"/>
                      <m:t>if</m:t>
                    </m:r>
                    <m:r>
                      <m:rPr>
                        <m:nor/>
                      </m:rPr>
                      <a:rPr lang="en-US" i="1"/>
                      <m:t> </m:t>
                    </m:r>
                    <m:r>
                      <a:rPr lang="en-US" i="1">
                        <a:latin typeface="Cambria Math" panose="02040503050406030204" pitchFamily="18" charset="0"/>
                      </a:rPr>
                      <m:t>𝑌</m:t>
                    </m:r>
                    <m:r>
                      <a:rPr lang="en-US">
                        <a:latin typeface="Cambria Math" panose="02040503050406030204" pitchFamily="18" charset="0"/>
                      </a:rPr>
                      <m:t>⊆</m:t>
                    </m:r>
                    <m:r>
                      <a:rPr lang="en-US" i="1">
                        <a:latin typeface="Cambria Math" panose="02040503050406030204" pitchFamily="18" charset="0"/>
                      </a:rPr>
                      <m:t>𝑋</m:t>
                    </m:r>
                  </m:oMath>
                </a14:m>
                <a:endParaRPr lang="en-US" b="0" dirty="0"/>
              </a:p>
              <a:p>
                <a:endParaRPr lang="en-US" dirty="0"/>
              </a:p>
            </p:txBody>
          </p:sp>
        </mc:Choice>
        <mc:Fallback xmlns="">
          <p:sp>
            <p:nvSpPr>
              <p:cNvPr id="3" name="Content Placeholder 2">
                <a:extLst>
                  <a:ext uri="{FF2B5EF4-FFF2-40B4-BE49-F238E27FC236}">
                    <a16:creationId xmlns:a16="http://schemas.microsoft.com/office/drawing/2014/main" id="{005F8A28-2BB3-B7C7-C2EF-05DD2417D8DD}"/>
                  </a:ext>
                </a:extLst>
              </p:cNvPr>
              <p:cNvSpPr>
                <a:spLocks noGrp="1" noRot="1" noChangeAspect="1" noMove="1" noResize="1" noEditPoints="1" noAdjustHandles="1" noChangeArrowheads="1" noChangeShapeType="1" noTextEdit="1"/>
              </p:cNvSpPr>
              <p:nvPr>
                <p:ph idx="1"/>
              </p:nvPr>
            </p:nvSpPr>
            <p:spPr>
              <a:blipFill>
                <a:blip r:embed="rId2"/>
                <a:stretch>
                  <a:fillRect l="-1515" t="-2273" b="-12424"/>
                </a:stretch>
              </a:blipFill>
            </p:spPr>
            <p:txBody>
              <a:bodyPr/>
              <a:lstStyle/>
              <a:p>
                <a:r>
                  <a:rPr lang="en-US">
                    <a:noFill/>
                  </a:rPr>
                  <a:t> </a:t>
                </a:r>
              </a:p>
            </p:txBody>
          </p:sp>
        </mc:Fallback>
      </mc:AlternateContent>
    </p:spTree>
    <p:extLst>
      <p:ext uri="{BB962C8B-B14F-4D97-AF65-F5344CB8AC3E}">
        <p14:creationId xmlns:p14="http://schemas.microsoft.com/office/powerpoint/2010/main" val="1573209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FB273-9703-3D67-43EC-EEDB976C9ADB}"/>
              </a:ext>
            </a:extLst>
          </p:cNvPr>
          <p:cNvSpPr>
            <a:spLocks noGrp="1"/>
          </p:cNvSpPr>
          <p:nvPr>
            <p:ph type="title"/>
          </p:nvPr>
        </p:nvSpPr>
        <p:spPr/>
        <p:txBody>
          <a:bodyPr/>
          <a:lstStyle/>
          <a:p>
            <a:r>
              <a:rPr lang="en-US" dirty="0"/>
              <a:t>Non-Trivial Functional Dependency</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64386E0E-3E31-F104-A0A5-5950CD687CBD}"/>
                  </a:ext>
                </a:extLst>
              </p:cNvPr>
              <p:cNvSpPr txBox="1">
                <a:spLocks/>
              </p:cNvSpPr>
              <p:nvPr/>
            </p:nvSpPr>
            <p:spPr>
              <a:xfrm>
                <a:off x="769620" y="1783080"/>
                <a:ext cx="10058400" cy="4023360"/>
              </a:xfrm>
              <a:prstGeom prst="rect">
                <a:avLst/>
              </a:prstGeom>
            </p:spPr>
            <p:txBody>
              <a:bodyPr vert="horz" lIns="0" tIns="45720" rIns="0" bIns="45720" rtlCol="0">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A dependency is non-trivial if the right side is not a subset of the left side.</a:t>
                </a:r>
              </a:p>
              <a:p>
                <a:r>
                  <a:rPr lang="en-US" b="1" dirty="0"/>
                  <a:t>Example</a:t>
                </a:r>
              </a:p>
              <a:p>
                <a:pPr marL="201168" lvl="1" indent="0">
                  <a:buFont typeface="Calibri" pitchFamily="34" charse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𝑆𝑡𝑢𝑑𝑒𝑛𝑡𝐼𝐷</m:t>
                      </m:r>
                      <m:r>
                        <a:rPr lang="en-US">
                          <a:latin typeface="Cambria Math" panose="02040503050406030204" pitchFamily="18" charset="0"/>
                        </a:rPr>
                        <m:t>→</m:t>
                      </m:r>
                      <m:r>
                        <a:rPr lang="en-US" i="1">
                          <a:latin typeface="Cambria Math" panose="02040503050406030204" pitchFamily="18" charset="0"/>
                        </a:rPr>
                        <m:t>𝑆𝑡𝑢𝑑𝑒𝑛𝑡𝑁𝑎𝑚𝑒</m:t>
                      </m:r>
                    </m:oMath>
                  </m:oMathPara>
                </a14:m>
                <a:endParaRPr lang="en-US" dirty="0"/>
              </a:p>
              <a:p>
                <a:r>
                  <a:rPr lang="en-US" dirty="0"/>
                  <a:t>A functional dependency </a:t>
                </a:r>
                <a:r>
                  <a:rPr lang="en-US" b="1" dirty="0"/>
                  <a:t>X → Y</a:t>
                </a:r>
                <a:r>
                  <a:rPr lang="en-US" dirty="0"/>
                  <a:t> is </a:t>
                </a:r>
                <a:r>
                  <a:rPr lang="en-US" b="1" dirty="0"/>
                  <a:t>non-trivial</a:t>
                </a:r>
                <a:r>
                  <a:rPr lang="en-US" dirty="0"/>
                  <a:t> if:</a:t>
                </a:r>
              </a:p>
              <a:p>
                <a:pPr marL="201168" lvl="1" indent="0">
                  <a:buFont typeface="Calibri" pitchFamily="34" charse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𝑌</m:t>
                      </m:r>
                      <m:r>
                        <a:rPr lang="en-US">
                          <a:latin typeface="Cambria Math" panose="02040503050406030204" pitchFamily="18" charset="0"/>
                        </a:rPr>
                        <m:t>⊈</m:t>
                      </m:r>
                      <m:r>
                        <a:rPr lang="en-US" i="1">
                          <a:latin typeface="Cambria Math" panose="02040503050406030204" pitchFamily="18" charset="0"/>
                        </a:rPr>
                        <m:t>𝑋</m:t>
                      </m:r>
                    </m:oMath>
                  </m:oMathPara>
                </a14:m>
                <a:endParaRPr lang="en-US" dirty="0"/>
              </a:p>
              <a:p>
                <a:r>
                  <a:rPr lang="en-US" dirty="0"/>
                  <a:t>That means at least one attribute in Y is not present in X.</a:t>
                </a:r>
              </a:p>
              <a:p>
                <a:r>
                  <a:rPr lang="en-US" dirty="0"/>
                  <a:t>Functional Dependency:: </a:t>
                </a:r>
                <a:r>
                  <a:rPr lang="en-US" b="1" dirty="0" err="1"/>
                  <a:t>Student_ID</a:t>
                </a:r>
                <a:r>
                  <a:rPr lang="en-US" b="1" dirty="0"/>
                  <a:t> → Name </a:t>
                </a:r>
                <a:r>
                  <a:rPr lang="en-US" dirty="0"/>
                  <a:t>Why is it non-trivial?</a:t>
                </a:r>
              </a:p>
              <a:p>
                <a:r>
                  <a:rPr lang="en-US" dirty="0"/>
                  <a:t>LHS = {</a:t>
                </a:r>
                <a:r>
                  <a:rPr lang="en-US" dirty="0" err="1"/>
                  <a:t>Student_ID</a:t>
                </a:r>
                <a:r>
                  <a:rPr lang="en-US" dirty="0"/>
                  <a:t>}  &amp; RHS = {Name} </a:t>
                </a:r>
              </a:p>
              <a:p>
                <a:r>
                  <a:rPr lang="en-US" dirty="0"/>
                  <a:t>Name is not part of </a:t>
                </a:r>
                <a:r>
                  <a:rPr lang="en-US" dirty="0" err="1"/>
                  <a:t>Student_ID</a:t>
                </a:r>
                <a:r>
                  <a:rPr lang="en-US" dirty="0"/>
                  <a:t> </a:t>
                </a:r>
              </a:p>
              <a:p>
                <a:r>
                  <a:rPr lang="en-US" dirty="0"/>
                  <a:t>Therefore: : </a:t>
                </a:r>
                <a:r>
                  <a:rPr lang="en-US" b="1" dirty="0" err="1"/>
                  <a:t>Student_ID</a:t>
                </a:r>
                <a:r>
                  <a:rPr lang="en-US" b="1" dirty="0"/>
                  <a:t> → Name</a:t>
                </a:r>
                <a:r>
                  <a:rPr lang="en-US" dirty="0"/>
                  <a:t> is a </a:t>
                </a:r>
                <a:r>
                  <a:rPr lang="en-US" b="1" dirty="0"/>
                  <a:t>non-trivial dependency</a:t>
                </a:r>
                <a:r>
                  <a:rPr lang="en-US" dirty="0"/>
                  <a:t>.</a:t>
                </a:r>
              </a:p>
              <a:p>
                <a:endParaRPr lang="en-US" dirty="0"/>
              </a:p>
            </p:txBody>
          </p:sp>
        </mc:Choice>
        <mc:Fallback xmlns="">
          <p:sp>
            <p:nvSpPr>
              <p:cNvPr id="4" name="Content Placeholder 2">
                <a:extLst>
                  <a:ext uri="{FF2B5EF4-FFF2-40B4-BE49-F238E27FC236}">
                    <a16:creationId xmlns:a16="http://schemas.microsoft.com/office/drawing/2014/main" id="{64386E0E-3E31-F104-A0A5-5950CD687CBD}"/>
                  </a:ext>
                </a:extLst>
              </p:cNvPr>
              <p:cNvSpPr txBox="1">
                <a:spLocks noRot="1" noChangeAspect="1" noMove="1" noResize="1" noEditPoints="1" noAdjustHandles="1" noChangeArrowheads="1" noChangeShapeType="1" noTextEdit="1"/>
              </p:cNvSpPr>
              <p:nvPr/>
            </p:nvSpPr>
            <p:spPr>
              <a:xfrm>
                <a:off x="769620" y="1783080"/>
                <a:ext cx="10058400" cy="4023360"/>
              </a:xfrm>
              <a:prstGeom prst="rect">
                <a:avLst/>
              </a:prstGeom>
              <a:blipFill>
                <a:blip r:embed="rId3"/>
                <a:stretch>
                  <a:fillRect l="-606" t="-2273"/>
                </a:stretch>
              </a:blipFill>
            </p:spPr>
            <p:txBody>
              <a:bodyPr/>
              <a:lstStyle/>
              <a:p>
                <a:r>
                  <a:rPr lang="en-US">
                    <a:noFill/>
                  </a:rPr>
                  <a:t> </a:t>
                </a:r>
              </a:p>
            </p:txBody>
          </p:sp>
        </mc:Fallback>
      </mc:AlternateContent>
      <p:graphicFrame>
        <p:nvGraphicFramePr>
          <p:cNvPr id="7" name="Content Placeholder 6">
            <a:extLst>
              <a:ext uri="{FF2B5EF4-FFF2-40B4-BE49-F238E27FC236}">
                <a16:creationId xmlns:a16="http://schemas.microsoft.com/office/drawing/2014/main" id="{FEC1E737-AB88-0B2E-15F9-C0AAA0EA57DB}"/>
              </a:ext>
            </a:extLst>
          </p:cNvPr>
          <p:cNvGraphicFramePr>
            <a:graphicFrameLocks noGrp="1"/>
          </p:cNvGraphicFramePr>
          <p:nvPr>
            <p:ph idx="1"/>
            <p:extLst>
              <p:ext uri="{D42A27DB-BD31-4B8C-83A1-F6EECF244321}">
                <p14:modId xmlns:p14="http://schemas.microsoft.com/office/powerpoint/2010/main" val="1397399668"/>
              </p:ext>
            </p:extLst>
          </p:nvPr>
        </p:nvGraphicFramePr>
        <p:xfrm>
          <a:off x="7315199" y="4308257"/>
          <a:ext cx="4503420" cy="1112520"/>
        </p:xfrm>
        <a:graphic>
          <a:graphicData uri="http://schemas.openxmlformats.org/drawingml/2006/table">
            <a:tbl>
              <a:tblPr firstRow="1" bandRow="1">
                <a:tableStyleId>{5C22544A-7EE6-4342-B048-85BDC9FD1C3A}</a:tableStyleId>
              </a:tblPr>
              <a:tblGrid>
                <a:gridCol w="1501140">
                  <a:extLst>
                    <a:ext uri="{9D8B030D-6E8A-4147-A177-3AD203B41FA5}">
                      <a16:colId xmlns:a16="http://schemas.microsoft.com/office/drawing/2014/main" val="3538286695"/>
                    </a:ext>
                  </a:extLst>
                </a:gridCol>
                <a:gridCol w="1501140">
                  <a:extLst>
                    <a:ext uri="{9D8B030D-6E8A-4147-A177-3AD203B41FA5}">
                      <a16:colId xmlns:a16="http://schemas.microsoft.com/office/drawing/2014/main" val="2095804178"/>
                    </a:ext>
                  </a:extLst>
                </a:gridCol>
                <a:gridCol w="1501140">
                  <a:extLst>
                    <a:ext uri="{9D8B030D-6E8A-4147-A177-3AD203B41FA5}">
                      <a16:colId xmlns:a16="http://schemas.microsoft.com/office/drawing/2014/main" val="2933234367"/>
                    </a:ext>
                  </a:extLst>
                </a:gridCol>
              </a:tblGrid>
              <a:tr h="370840">
                <a:tc>
                  <a:txBody>
                    <a:bodyPr/>
                    <a:lstStyle/>
                    <a:p>
                      <a:pPr>
                        <a:buNone/>
                      </a:pPr>
                      <a:r>
                        <a:rPr lang="en-US" dirty="0" err="1"/>
                        <a:t>Student_ID</a:t>
                      </a:r>
                      <a:endParaRPr lang="en-US" dirty="0"/>
                    </a:p>
                  </a:txBody>
                  <a:tcPr anchor="ctr"/>
                </a:tc>
                <a:tc>
                  <a:txBody>
                    <a:bodyPr/>
                    <a:lstStyle/>
                    <a:p>
                      <a:pPr>
                        <a:buNone/>
                      </a:pPr>
                      <a:r>
                        <a:rPr lang="en-US"/>
                        <a:t>Name</a:t>
                      </a:r>
                    </a:p>
                  </a:txBody>
                  <a:tcPr anchor="ctr"/>
                </a:tc>
                <a:tc>
                  <a:txBody>
                    <a:bodyPr/>
                    <a:lstStyle/>
                    <a:p>
                      <a:pPr>
                        <a:buNone/>
                      </a:pPr>
                      <a:r>
                        <a:rPr lang="en-US"/>
                        <a:t>Department</a:t>
                      </a:r>
                    </a:p>
                  </a:txBody>
                  <a:tcPr anchor="ctr"/>
                </a:tc>
                <a:extLst>
                  <a:ext uri="{0D108BD9-81ED-4DB2-BD59-A6C34878D82A}">
                    <a16:rowId xmlns:a16="http://schemas.microsoft.com/office/drawing/2014/main" val="2623182902"/>
                  </a:ext>
                </a:extLst>
              </a:tr>
              <a:tr h="370840">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BCA</a:t>
                      </a:r>
                    </a:p>
                  </a:txBody>
                  <a:tcPr anchor="ctr"/>
                </a:tc>
                <a:extLst>
                  <a:ext uri="{0D108BD9-81ED-4DB2-BD59-A6C34878D82A}">
                    <a16:rowId xmlns:a16="http://schemas.microsoft.com/office/drawing/2014/main" val="410407192"/>
                  </a:ext>
                </a:extLst>
              </a:tr>
              <a:tr h="370840">
                <a:tc>
                  <a:txBody>
                    <a:bodyPr/>
                    <a:lstStyle/>
                    <a:p>
                      <a:pPr>
                        <a:buNone/>
                      </a:pPr>
                      <a:r>
                        <a:rPr lang="en-US"/>
                        <a:t>102</a:t>
                      </a:r>
                    </a:p>
                  </a:txBody>
                  <a:tcPr anchor="ctr"/>
                </a:tc>
                <a:tc>
                  <a:txBody>
                    <a:bodyPr/>
                    <a:lstStyle/>
                    <a:p>
                      <a:pPr>
                        <a:buNone/>
                      </a:pPr>
                      <a:r>
                        <a:rPr lang="en-US"/>
                        <a:t>Shyam</a:t>
                      </a:r>
                    </a:p>
                  </a:txBody>
                  <a:tcPr anchor="ctr"/>
                </a:tc>
                <a:tc>
                  <a:txBody>
                    <a:bodyPr/>
                    <a:lstStyle/>
                    <a:p>
                      <a:pPr>
                        <a:buNone/>
                      </a:pPr>
                      <a:r>
                        <a:rPr lang="en-US" dirty="0"/>
                        <a:t>BBA</a:t>
                      </a:r>
                    </a:p>
                  </a:txBody>
                  <a:tcPr anchor="ctr"/>
                </a:tc>
                <a:extLst>
                  <a:ext uri="{0D108BD9-81ED-4DB2-BD59-A6C34878D82A}">
                    <a16:rowId xmlns:a16="http://schemas.microsoft.com/office/drawing/2014/main" val="2994581241"/>
                  </a:ext>
                </a:extLst>
              </a:tr>
            </a:tbl>
          </a:graphicData>
        </a:graphic>
      </p:graphicFrame>
    </p:spTree>
    <p:extLst>
      <p:ext uri="{BB962C8B-B14F-4D97-AF65-F5344CB8AC3E}">
        <p14:creationId xmlns:p14="http://schemas.microsoft.com/office/powerpoint/2010/main" val="25660307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6C7BF-000F-DE73-3786-E0C6F622469A}"/>
              </a:ext>
            </a:extLst>
          </p:cNvPr>
          <p:cNvSpPr>
            <a:spLocks noGrp="1"/>
          </p:cNvSpPr>
          <p:nvPr>
            <p:ph type="title"/>
          </p:nvPr>
        </p:nvSpPr>
        <p:spPr/>
        <p:txBody>
          <a:bodyPr/>
          <a:lstStyle/>
          <a:p>
            <a:r>
              <a:rPr lang="en-US" dirty="0"/>
              <a:t>Completely Non-Trivial Dependency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A3F90C-8A84-FC5C-55C4-D26CEC23818D}"/>
                  </a:ext>
                </a:extLst>
              </p:cNvPr>
              <p:cNvSpPr>
                <a:spLocks noGrp="1"/>
              </p:cNvSpPr>
              <p:nvPr>
                <p:ph idx="1"/>
              </p:nvPr>
            </p:nvSpPr>
            <p:spPr/>
            <p:txBody>
              <a:bodyPr>
                <a:normAutofit fontScale="92500" lnSpcReduction="10000"/>
              </a:bodyPr>
              <a:lstStyle/>
              <a:p>
                <a:r>
                  <a:rPr lang="en-US" dirty="0"/>
                  <a:t>When the left side and right side have no common attributes.</a:t>
                </a:r>
                <a:endParaRPr lang="en-US" b="1" dirty="0"/>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𝑅𝑜𝑙𝑙</m:t>
                      </m:r>
                      <m:r>
                        <m:rPr>
                          <m:lit/>
                        </m:rPr>
                        <a:rPr lang="en-US">
                          <a:latin typeface="Cambria Math" panose="02040503050406030204" pitchFamily="18" charset="0"/>
                        </a:rPr>
                        <m:t>_</m:t>
                      </m:r>
                      <m:r>
                        <a:rPr lang="en-US" i="1">
                          <a:latin typeface="Cambria Math" panose="02040503050406030204" pitchFamily="18" charset="0"/>
                        </a:rPr>
                        <m:t>𝑁𝑜</m:t>
                      </m:r>
                      <m:r>
                        <a:rPr lang="en-US">
                          <a:latin typeface="Cambria Math" panose="02040503050406030204" pitchFamily="18" charset="0"/>
                        </a:rPr>
                        <m:t>→</m:t>
                      </m:r>
                      <m:r>
                        <a:rPr lang="en-US" i="1">
                          <a:latin typeface="Cambria Math" panose="02040503050406030204" pitchFamily="18" charset="0"/>
                        </a:rPr>
                        <m:t>𝐴𝑑𝑑𝑟𝑒𝑠𝑠</m:t>
                      </m:r>
                    </m:oMath>
                  </m:oMathPara>
                </a14:m>
                <a:endParaRPr lang="en-US" dirty="0"/>
              </a:p>
              <a:p>
                <a:r>
                  <a:rPr lang="en-US" dirty="0"/>
                  <a:t>A stronger form is </a:t>
                </a:r>
                <a:r>
                  <a:rPr lang="en-US" b="1" dirty="0"/>
                  <a:t>completely non-trivial dependency</a:t>
                </a:r>
                <a:r>
                  <a:rPr lang="en-US" dirty="0"/>
                  <a:t>.</a:t>
                </a:r>
              </a:p>
              <a:p>
                <a:r>
                  <a:rPr lang="en-US" dirty="0"/>
                  <a:t>A dependency </a:t>
                </a:r>
                <a:r>
                  <a:rPr lang="en-US" b="1" dirty="0"/>
                  <a:t>X → Y</a:t>
                </a:r>
                <a:r>
                  <a:rPr lang="en-US" dirty="0"/>
                  <a:t> is completely non-trivial if:</a:t>
                </a:r>
              </a:p>
              <a:p>
                <a14:m>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r>
                      <a:rPr lang="en-US">
                        <a:latin typeface="Cambria Math" panose="02040503050406030204" pitchFamily="18" charset="0"/>
                      </a:rPr>
                      <m:t>=</m:t>
                    </m:r>
                    <m:r>
                      <a:rPr lang="en-US">
                        <a:latin typeface="Cambria Math" panose="02040503050406030204" pitchFamily="18" charset="0"/>
                      </a:rPr>
                      <m:t>∅</m:t>
                    </m:r>
                  </m:oMath>
                </a14:m>
                <a:endParaRPr lang="en-US" dirty="0"/>
              </a:p>
              <a:p>
                <a:r>
                  <a:rPr lang="en-US" dirty="0"/>
                  <a:t>That means the LHS and RHS share </a:t>
                </a:r>
                <a:r>
                  <a:rPr lang="en-US" b="1" dirty="0"/>
                  <a:t>no common attributes</a:t>
                </a:r>
                <a:r>
                  <a:rPr lang="en-US" dirty="0"/>
                  <a:t>.</a:t>
                </a:r>
              </a:p>
              <a:p>
                <a:r>
                  <a:rPr lang="en-US" b="1" dirty="0"/>
                  <a:t>Example: </a:t>
                </a:r>
                <a:r>
                  <a:rPr lang="en-US" b="1" dirty="0" err="1"/>
                  <a:t>Student_ID</a:t>
                </a:r>
                <a:r>
                  <a:rPr lang="en-US" b="1" dirty="0"/>
                  <a:t> → Name</a:t>
                </a:r>
                <a:endParaRPr lang="en-US" dirty="0"/>
              </a:p>
              <a:p>
                <a:pPr lvl="1"/>
                <a:r>
                  <a:rPr lang="en-US" dirty="0"/>
                  <a:t>X = {</a:t>
                </a:r>
                <a:r>
                  <a:rPr lang="en-US" dirty="0" err="1"/>
                  <a:t>Student_ID</a:t>
                </a:r>
                <a:r>
                  <a:rPr lang="en-US" dirty="0"/>
                  <a:t>} </a:t>
                </a:r>
              </a:p>
              <a:p>
                <a:pPr lvl="1"/>
                <a:r>
                  <a:rPr lang="en-US" dirty="0"/>
                  <a:t>Y = {Name} </a:t>
                </a:r>
              </a:p>
              <a:p>
                <a:pPr lvl="1"/>
                <a:r>
                  <a:rPr lang="en-US" dirty="0"/>
                  <a:t>No common attribute </a:t>
                </a:r>
              </a:p>
              <a:p>
                <a:r>
                  <a:rPr lang="en-US" dirty="0"/>
                  <a:t>Hence it is </a:t>
                </a:r>
                <a:r>
                  <a:rPr lang="en-US" b="1" dirty="0"/>
                  <a:t>completely non-trivial</a:t>
                </a:r>
                <a:r>
                  <a:rPr lang="en-US" dirty="0"/>
                  <a:t>.</a:t>
                </a:r>
              </a:p>
            </p:txBody>
          </p:sp>
        </mc:Choice>
        <mc:Fallback xmlns="">
          <p:sp>
            <p:nvSpPr>
              <p:cNvPr id="3" name="Content Placeholder 2">
                <a:extLst>
                  <a:ext uri="{FF2B5EF4-FFF2-40B4-BE49-F238E27FC236}">
                    <a16:creationId xmlns:a16="http://schemas.microsoft.com/office/drawing/2014/main" id="{9DA3F90C-8A84-FC5C-55C4-D26CEC23818D}"/>
                  </a:ext>
                </a:extLst>
              </p:cNvPr>
              <p:cNvSpPr>
                <a:spLocks noGrp="1" noRot="1" noChangeAspect="1" noMove="1" noResize="1" noEditPoints="1" noAdjustHandles="1" noChangeArrowheads="1" noChangeShapeType="1" noTextEdit="1"/>
              </p:cNvSpPr>
              <p:nvPr>
                <p:ph idx="1"/>
              </p:nvPr>
            </p:nvSpPr>
            <p:spPr>
              <a:blipFill>
                <a:blip r:embed="rId3"/>
                <a:stretch>
                  <a:fillRect l="-1455" t="-1970" b="-758"/>
                </a:stretch>
              </a:blipFill>
            </p:spPr>
            <p:txBody>
              <a:bodyPr/>
              <a:lstStyle/>
              <a:p>
                <a:r>
                  <a:rPr lang="en-US">
                    <a:noFill/>
                  </a:rPr>
                  <a:t> </a:t>
                </a:r>
              </a:p>
            </p:txBody>
          </p:sp>
        </mc:Fallback>
      </mc:AlternateContent>
    </p:spTree>
    <p:extLst>
      <p:ext uri="{BB962C8B-B14F-4D97-AF65-F5344CB8AC3E}">
        <p14:creationId xmlns:p14="http://schemas.microsoft.com/office/powerpoint/2010/main" val="18921967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211C1-E005-5346-511E-D04913CC4E05}"/>
              </a:ext>
            </a:extLst>
          </p:cNvPr>
          <p:cNvSpPr>
            <a:spLocks noGrp="1"/>
          </p:cNvSpPr>
          <p:nvPr>
            <p:ph type="title"/>
          </p:nvPr>
        </p:nvSpPr>
        <p:spPr/>
        <p:txBody>
          <a:bodyPr/>
          <a:lstStyle/>
          <a:p>
            <a:r>
              <a:rPr lang="en-US" dirty="0"/>
              <a:t>Full Functional Dependency</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E904FFD5-AD00-0B2D-910E-2B830355C04B}"/>
                  </a:ext>
                </a:extLst>
              </p:cNvPr>
              <p:cNvSpPr txBox="1">
                <a:spLocks/>
              </p:cNvSpPr>
              <p:nvPr/>
            </p:nvSpPr>
            <p:spPr>
              <a:xfrm>
                <a:off x="1066800" y="2335952"/>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An attribute is fully functionally dependent on a set of attributes if it depends on the entire key and not on part of it.</a:t>
                </a:r>
              </a:p>
              <a:p>
                <a:endParaRPr lang="en-US" dirty="0"/>
              </a:p>
              <a:p>
                <a:r>
                  <a:rPr lang="en-US" dirty="0"/>
                  <a:t>Primary Key:</a:t>
                </a:r>
              </a:p>
              <a:p>
                <a:pPr marL="201168" lvl="1" indent="0">
                  <a:buFont typeface="Calibri" pitchFamily="34" charset="0"/>
                  <a:buNone/>
                </a:pPr>
                <a14:m>
                  <m:oMathPara xmlns:m="http://schemas.openxmlformats.org/officeDocument/2006/math">
                    <m:oMathParaPr>
                      <m:jc m:val="centerGroup"/>
                    </m:oMathParaPr>
                    <m:oMath xmlns:m="http://schemas.openxmlformats.org/officeDocument/2006/math">
                      <m:d>
                        <m:dPr>
                          <m:sepChr m:val=","/>
                          <m:ctrlPr>
                            <a:rPr lang="ar-AE" i="1" smtClean="0">
                              <a:latin typeface="Cambria Math" panose="02040503050406030204" pitchFamily="18" charset="0"/>
                            </a:rPr>
                          </m:ctrlPr>
                        </m:dPr>
                        <m:e>
                          <m:r>
                            <a:rPr lang="ar-AE" i="1">
                              <a:latin typeface="Cambria Math" panose="02040503050406030204" pitchFamily="18" charset="0"/>
                            </a:rPr>
                            <m:t>𝑅</m:t>
                          </m:r>
                          <m:r>
                            <m:rPr>
                              <m:sty m:val="p"/>
                            </m:rPr>
                            <a:rPr lang="en-US" i="1" smtClean="0">
                              <a:latin typeface="Cambria Math" panose="02040503050406030204" pitchFamily="18" charset="0"/>
                            </a:rPr>
                            <m:t>oll</m:t>
                          </m:r>
                          <m:r>
                            <a:rPr lang="en-US" i="1" smtClean="0">
                              <a:latin typeface="Cambria Math" panose="02040503050406030204" pitchFamily="18" charset="0"/>
                            </a:rPr>
                            <m:t>_</m:t>
                          </m:r>
                        </m:e>
                        <m:e>
                          <m:r>
                            <a:rPr lang="ar-AE" i="1">
                              <a:latin typeface="Cambria Math" panose="02040503050406030204" pitchFamily="18" charset="0"/>
                            </a:rPr>
                            <m:t>𝑁𝑜</m:t>
                          </m:r>
                          <m:r>
                            <a:rPr lang="en-US" i="1" smtClean="0">
                              <a:latin typeface="Cambria Math" panose="02040503050406030204" pitchFamily="18" charset="0"/>
                            </a:rPr>
                            <m:t>,  </m:t>
                          </m:r>
                          <m:r>
                            <a:rPr lang="ar-AE" i="1">
                              <a:latin typeface="Cambria Math" panose="02040503050406030204" pitchFamily="18" charset="0"/>
                            </a:rPr>
                            <m:t>𝑆𝑢𝑏𝑗𝑒</m:t>
                          </m:r>
                          <m:r>
                            <a:rPr lang="ar-AE" i="1" smtClean="0">
                              <a:latin typeface="Cambria Math" panose="02040503050406030204" pitchFamily="18" charset="0"/>
                            </a:rPr>
                            <m:t>𝑐</m:t>
                          </m:r>
                          <m:r>
                            <a:rPr lang="ar-AE" i="1">
                              <a:latin typeface="Cambria Math" panose="02040503050406030204" pitchFamily="18" charset="0"/>
                            </a:rPr>
                            <m:t>𝑡</m:t>
                          </m:r>
                        </m:e>
                      </m:d>
                    </m:oMath>
                  </m:oMathPara>
                </a14:m>
                <a:endParaRPr lang="ar-AE" dirty="0"/>
              </a:p>
              <a:p>
                <a:r>
                  <a:rPr lang="en-US" dirty="0"/>
                  <a:t>Dependency:</a:t>
                </a:r>
              </a:p>
              <a:p>
                <a:pPr marL="201168" lvl="1" indent="0">
                  <a:buFont typeface="Calibri" pitchFamily="34" charset="0"/>
                  <a:buNone/>
                </a:pPr>
                <a14:m>
                  <m:oMathPara xmlns:m="http://schemas.openxmlformats.org/officeDocument/2006/math">
                    <m:oMathParaPr>
                      <m:jc m:val="centerGroup"/>
                    </m:oMathParaPr>
                    <m:oMath xmlns:m="http://schemas.openxmlformats.org/officeDocument/2006/math">
                      <m:d>
                        <m:dPr>
                          <m:sepChr m:val=","/>
                          <m:ctrlPr>
                            <a:rPr lang="ar-AE" i="1">
                              <a:latin typeface="Cambria Math" panose="02040503050406030204" pitchFamily="18" charset="0"/>
                            </a:rPr>
                          </m:ctrlPr>
                        </m:dPr>
                        <m:e>
                          <m:r>
                            <a:rPr lang="ar-AE" i="1">
                              <a:latin typeface="Cambria Math" panose="02040503050406030204" pitchFamily="18" charset="0"/>
                            </a:rPr>
                            <m:t>𝑅</m:t>
                          </m:r>
                        </m:e>
                        <m:e>
                          <m:r>
                            <a:rPr lang="ar-AE" i="1">
                              <a:latin typeface="Cambria Math" panose="02040503050406030204" pitchFamily="18" charset="0"/>
                            </a:rPr>
                            <m:t>𝑜𝑙𝑙</m:t>
                          </m:r>
                          <m:r>
                            <m:rPr>
                              <m:lit/>
                            </m:rPr>
                            <a:rPr lang="ar-AE">
                              <a:latin typeface="Cambria Math" panose="02040503050406030204" pitchFamily="18" charset="0"/>
                            </a:rPr>
                            <m:t>_</m:t>
                          </m:r>
                          <m:r>
                            <a:rPr lang="ar-AE" i="1">
                              <a:latin typeface="Cambria Math" panose="02040503050406030204" pitchFamily="18" charset="0"/>
                            </a:rPr>
                            <m:t>𝑁𝑜</m:t>
                          </m:r>
                          <m:r>
                            <a:rPr lang="en-US" i="1" smtClean="0">
                              <a:latin typeface="Cambria Math" panose="02040503050406030204" pitchFamily="18" charset="0"/>
                            </a:rPr>
                            <m:t>,  </m:t>
                          </m:r>
                          <m:r>
                            <a:rPr lang="ar-AE" i="1">
                              <a:latin typeface="Cambria Math" panose="02040503050406030204" pitchFamily="18" charset="0"/>
                            </a:rPr>
                            <m:t>𝑆𝑢𝑏𝑗𝑒𝑐𝑡</m:t>
                          </m:r>
                        </m:e>
                      </m:d>
                      <m:r>
                        <a:rPr lang="ar-AE">
                          <a:latin typeface="Cambria Math" panose="02040503050406030204" pitchFamily="18" charset="0"/>
                        </a:rPr>
                        <m:t>→</m:t>
                      </m:r>
                      <m:r>
                        <a:rPr lang="ar-AE" i="1">
                          <a:latin typeface="Cambria Math" panose="02040503050406030204" pitchFamily="18" charset="0"/>
                        </a:rPr>
                        <m:t>𝐺𝑟𝑎𝑑𝑒</m:t>
                      </m:r>
                    </m:oMath>
                  </m:oMathPara>
                </a14:m>
                <a:endParaRPr lang="ar-AE" dirty="0"/>
              </a:p>
              <a:p>
                <a:r>
                  <a:rPr lang="en-US" dirty="0"/>
                  <a:t>Grade depends on both </a:t>
                </a:r>
                <a:r>
                  <a:rPr lang="en-US" dirty="0" err="1"/>
                  <a:t>Roll_No</a:t>
                </a:r>
                <a:r>
                  <a:rPr lang="en-US" dirty="0"/>
                  <a:t> and Subject.</a:t>
                </a:r>
              </a:p>
              <a:p>
                <a:r>
                  <a:rPr lang="en-US" dirty="0"/>
                  <a:t>This is a </a:t>
                </a:r>
                <a:r>
                  <a:rPr lang="en-US" b="1" dirty="0"/>
                  <a:t>Full Functional Dependency</a:t>
                </a:r>
                <a:r>
                  <a:rPr lang="en-US" dirty="0"/>
                  <a:t>.</a:t>
                </a:r>
              </a:p>
              <a:p>
                <a:endParaRPr lang="en-US" dirty="0"/>
              </a:p>
            </p:txBody>
          </p:sp>
        </mc:Choice>
        <mc:Fallback xmlns="">
          <p:sp>
            <p:nvSpPr>
              <p:cNvPr id="4" name="Content Placeholder 2">
                <a:extLst>
                  <a:ext uri="{FF2B5EF4-FFF2-40B4-BE49-F238E27FC236}">
                    <a16:creationId xmlns:a16="http://schemas.microsoft.com/office/drawing/2014/main" id="{E904FFD5-AD00-0B2D-910E-2B830355C04B}"/>
                  </a:ext>
                </a:extLst>
              </p:cNvPr>
              <p:cNvSpPr txBox="1">
                <a:spLocks noRot="1" noChangeAspect="1" noMove="1" noResize="1" noEditPoints="1" noAdjustHandles="1" noChangeArrowheads="1" noChangeShapeType="1" noTextEdit="1"/>
              </p:cNvSpPr>
              <p:nvPr/>
            </p:nvSpPr>
            <p:spPr>
              <a:xfrm>
                <a:off x="1066800" y="2335952"/>
                <a:ext cx="10058400" cy="4023360"/>
              </a:xfrm>
              <a:prstGeom prst="rect">
                <a:avLst/>
              </a:prstGeom>
              <a:blipFill>
                <a:blip r:embed="rId2"/>
                <a:stretch>
                  <a:fillRect l="-606" t="-1515" r="-242"/>
                </a:stretch>
              </a:blipFill>
            </p:spPr>
            <p:txBody>
              <a:bodyPr/>
              <a:lstStyle/>
              <a:p>
                <a:r>
                  <a:rPr lang="en-US">
                    <a:noFill/>
                  </a:rPr>
                  <a:t> </a:t>
                </a:r>
              </a:p>
            </p:txBody>
          </p:sp>
        </mc:Fallback>
      </mc:AlternateContent>
      <p:graphicFrame>
        <p:nvGraphicFramePr>
          <p:cNvPr id="7" name="Content Placeholder 6">
            <a:extLst>
              <a:ext uri="{FF2B5EF4-FFF2-40B4-BE49-F238E27FC236}">
                <a16:creationId xmlns:a16="http://schemas.microsoft.com/office/drawing/2014/main" id="{579EA523-2B63-E44C-4257-193EA7068C8D}"/>
              </a:ext>
            </a:extLst>
          </p:cNvPr>
          <p:cNvGraphicFramePr>
            <a:graphicFrameLocks noGrp="1"/>
          </p:cNvGraphicFramePr>
          <p:nvPr>
            <p:ph idx="1"/>
            <p:extLst>
              <p:ext uri="{D42A27DB-BD31-4B8C-83A1-F6EECF244321}">
                <p14:modId xmlns:p14="http://schemas.microsoft.com/office/powerpoint/2010/main" val="1475459159"/>
              </p:ext>
            </p:extLst>
          </p:nvPr>
        </p:nvGraphicFramePr>
        <p:xfrm>
          <a:off x="7544656" y="2872740"/>
          <a:ext cx="3920514" cy="1112520"/>
        </p:xfrm>
        <a:graphic>
          <a:graphicData uri="http://schemas.openxmlformats.org/drawingml/2006/table">
            <a:tbl>
              <a:tblPr firstRow="1" bandRow="1">
                <a:tableStyleId>{5C22544A-7EE6-4342-B048-85BDC9FD1C3A}</a:tableStyleId>
              </a:tblPr>
              <a:tblGrid>
                <a:gridCol w="1458668">
                  <a:extLst>
                    <a:ext uri="{9D8B030D-6E8A-4147-A177-3AD203B41FA5}">
                      <a16:colId xmlns:a16="http://schemas.microsoft.com/office/drawing/2014/main" val="4209064394"/>
                    </a:ext>
                  </a:extLst>
                </a:gridCol>
                <a:gridCol w="1406769">
                  <a:extLst>
                    <a:ext uri="{9D8B030D-6E8A-4147-A177-3AD203B41FA5}">
                      <a16:colId xmlns:a16="http://schemas.microsoft.com/office/drawing/2014/main" val="142002838"/>
                    </a:ext>
                  </a:extLst>
                </a:gridCol>
                <a:gridCol w="1055077">
                  <a:extLst>
                    <a:ext uri="{9D8B030D-6E8A-4147-A177-3AD203B41FA5}">
                      <a16:colId xmlns:a16="http://schemas.microsoft.com/office/drawing/2014/main" val="560999834"/>
                    </a:ext>
                  </a:extLst>
                </a:gridCol>
              </a:tblGrid>
              <a:tr h="370840">
                <a:tc>
                  <a:txBody>
                    <a:bodyPr/>
                    <a:lstStyle/>
                    <a:p>
                      <a:pPr>
                        <a:buNone/>
                      </a:pPr>
                      <a:r>
                        <a:rPr lang="en-US" dirty="0" err="1"/>
                        <a:t>Roll_No</a:t>
                      </a:r>
                      <a:endParaRPr lang="en-US" dirty="0"/>
                    </a:p>
                  </a:txBody>
                  <a:tcPr anchor="ctr"/>
                </a:tc>
                <a:tc>
                  <a:txBody>
                    <a:bodyPr/>
                    <a:lstStyle/>
                    <a:p>
                      <a:pPr>
                        <a:buNone/>
                      </a:pPr>
                      <a:r>
                        <a:rPr lang="en-US"/>
                        <a:t>Subject</a:t>
                      </a:r>
                    </a:p>
                  </a:txBody>
                  <a:tcPr anchor="ctr"/>
                </a:tc>
                <a:tc>
                  <a:txBody>
                    <a:bodyPr/>
                    <a:lstStyle/>
                    <a:p>
                      <a:pPr>
                        <a:buNone/>
                      </a:pPr>
                      <a:r>
                        <a:rPr lang="en-US" dirty="0"/>
                        <a:t>Grade</a:t>
                      </a:r>
                    </a:p>
                  </a:txBody>
                  <a:tcPr anchor="ctr"/>
                </a:tc>
                <a:extLst>
                  <a:ext uri="{0D108BD9-81ED-4DB2-BD59-A6C34878D82A}">
                    <a16:rowId xmlns:a16="http://schemas.microsoft.com/office/drawing/2014/main" val="988743128"/>
                  </a:ext>
                </a:extLst>
              </a:tr>
              <a:tr h="370840">
                <a:tc>
                  <a:txBody>
                    <a:bodyPr/>
                    <a:lstStyle/>
                    <a:p>
                      <a:pPr>
                        <a:buNone/>
                      </a:pPr>
                      <a:r>
                        <a:rPr lang="en-US"/>
                        <a:t>101</a:t>
                      </a:r>
                    </a:p>
                  </a:txBody>
                  <a:tcPr anchor="ctr"/>
                </a:tc>
                <a:tc>
                  <a:txBody>
                    <a:bodyPr/>
                    <a:lstStyle/>
                    <a:p>
                      <a:pPr>
                        <a:buNone/>
                      </a:pPr>
                      <a:r>
                        <a:rPr lang="en-US"/>
                        <a:t>DBMS</a:t>
                      </a:r>
                    </a:p>
                  </a:txBody>
                  <a:tcPr anchor="ctr"/>
                </a:tc>
                <a:tc>
                  <a:txBody>
                    <a:bodyPr/>
                    <a:lstStyle/>
                    <a:p>
                      <a:pPr>
                        <a:buNone/>
                      </a:pPr>
                      <a:r>
                        <a:rPr lang="en-US"/>
                        <a:t>A</a:t>
                      </a:r>
                    </a:p>
                  </a:txBody>
                  <a:tcPr anchor="ctr"/>
                </a:tc>
                <a:extLst>
                  <a:ext uri="{0D108BD9-81ED-4DB2-BD59-A6C34878D82A}">
                    <a16:rowId xmlns:a16="http://schemas.microsoft.com/office/drawing/2014/main" val="3396491467"/>
                  </a:ext>
                </a:extLst>
              </a:tr>
              <a:tr h="370840">
                <a:tc>
                  <a:txBody>
                    <a:bodyPr/>
                    <a:lstStyle/>
                    <a:p>
                      <a:pPr>
                        <a:buNone/>
                      </a:pPr>
                      <a:r>
                        <a:rPr lang="en-US"/>
                        <a:t>101</a:t>
                      </a:r>
                    </a:p>
                  </a:txBody>
                  <a:tcPr anchor="ctr"/>
                </a:tc>
                <a:tc>
                  <a:txBody>
                    <a:bodyPr/>
                    <a:lstStyle/>
                    <a:p>
                      <a:pPr>
                        <a:buNone/>
                      </a:pPr>
                      <a:r>
                        <a:rPr lang="en-US"/>
                        <a:t>OS</a:t>
                      </a:r>
                    </a:p>
                  </a:txBody>
                  <a:tcPr anchor="ctr"/>
                </a:tc>
                <a:tc>
                  <a:txBody>
                    <a:bodyPr/>
                    <a:lstStyle/>
                    <a:p>
                      <a:pPr>
                        <a:buNone/>
                      </a:pPr>
                      <a:r>
                        <a:rPr lang="en-US" dirty="0"/>
                        <a:t>B</a:t>
                      </a:r>
                    </a:p>
                  </a:txBody>
                  <a:tcPr anchor="ctr"/>
                </a:tc>
                <a:extLst>
                  <a:ext uri="{0D108BD9-81ED-4DB2-BD59-A6C34878D82A}">
                    <a16:rowId xmlns:a16="http://schemas.microsoft.com/office/drawing/2014/main" val="1815768626"/>
                  </a:ext>
                </a:extLst>
              </a:tr>
            </a:tbl>
          </a:graphicData>
        </a:graphic>
      </p:graphicFrame>
    </p:spTree>
    <p:extLst>
      <p:ext uri="{BB962C8B-B14F-4D97-AF65-F5344CB8AC3E}">
        <p14:creationId xmlns:p14="http://schemas.microsoft.com/office/powerpoint/2010/main" val="10693503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F5A1D-D5D1-CB12-E013-18CCE522D2D7}"/>
              </a:ext>
            </a:extLst>
          </p:cNvPr>
          <p:cNvSpPr>
            <a:spLocks noGrp="1"/>
          </p:cNvSpPr>
          <p:nvPr>
            <p:ph type="title"/>
          </p:nvPr>
        </p:nvSpPr>
        <p:spPr/>
        <p:txBody>
          <a:bodyPr/>
          <a:lstStyle/>
          <a:p>
            <a:r>
              <a:rPr lang="en-US" dirty="0"/>
              <a:t>Partial Functional Dependency</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893788F2-52D0-1981-EF28-BEBD5430B75E}"/>
                  </a:ext>
                </a:extLst>
              </p:cNvPr>
              <p:cNvSpPr txBox="1">
                <a:spLocks/>
              </p:cNvSpPr>
              <p:nvPr/>
            </p:nvSpPr>
            <p:spPr>
              <a:xfrm>
                <a:off x="1066800" y="1737360"/>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Occurs when a non-key attribute depends on only part of a composite key.</a:t>
                </a:r>
              </a:p>
              <a:p>
                <a:r>
                  <a:rPr lang="en-US" dirty="0"/>
                  <a:t>A functional dependency </a:t>
                </a:r>
                <a:r>
                  <a:rPr lang="en-US" b="1" dirty="0"/>
                  <a:t>X → Y</a:t>
                </a:r>
                <a:r>
                  <a:rPr lang="en-US" dirty="0"/>
                  <a:t> is called a </a:t>
                </a:r>
                <a:r>
                  <a:rPr lang="en-US" b="1" dirty="0"/>
                  <a:t>partial dependency</a:t>
                </a:r>
                <a:r>
                  <a:rPr lang="en-US" dirty="0"/>
                  <a:t> if:</a:t>
                </a:r>
              </a:p>
              <a:p>
                <a:pPr lvl="1"/>
                <a:r>
                  <a:rPr lang="en-US" b="1" dirty="0"/>
                  <a:t>X is a composite key</a:t>
                </a:r>
                <a:r>
                  <a:rPr lang="en-US" dirty="0"/>
                  <a:t> (contains more than one attribute). </a:t>
                </a:r>
              </a:p>
              <a:p>
                <a:pPr lvl="1"/>
                <a:r>
                  <a:rPr lang="en-US" b="1" dirty="0"/>
                  <a:t>Y is a non-prime attribute</a:t>
                </a:r>
                <a:r>
                  <a:rPr lang="en-US" dirty="0"/>
                  <a:t> (not part of any candidate key). </a:t>
                </a:r>
              </a:p>
              <a:p>
                <a:pPr lvl="1"/>
                <a:r>
                  <a:rPr lang="en-US" dirty="0"/>
                  <a:t>Y depends on only a subset of X. </a:t>
                </a:r>
              </a:p>
              <a:p>
                <a:r>
                  <a:rPr lang="en-US" dirty="0"/>
                  <a:t>Example: Primary Key: </a:t>
                </a:r>
                <a14:m>
                  <m:oMath xmlns:m="http://schemas.openxmlformats.org/officeDocument/2006/math">
                    <m:r>
                      <a:rPr lang="en-US" i="1" smtClean="0">
                        <a:latin typeface="Cambria Math" panose="02040503050406030204" pitchFamily="18" charset="0"/>
                      </a:rPr>
                      <m:t>(</m:t>
                    </m:r>
                    <m:r>
                      <a:rPr lang="en-US" i="1">
                        <a:latin typeface="Cambria Math" panose="02040503050406030204" pitchFamily="18" charset="0"/>
                      </a:rPr>
                      <m:t>𝑅𝑜𝑙𝑙</m:t>
                    </m:r>
                    <m:r>
                      <m:rPr>
                        <m:lit/>
                      </m:rPr>
                      <a:rPr lang="en-US">
                        <a:latin typeface="Cambria Math" panose="02040503050406030204" pitchFamily="18" charset="0"/>
                      </a:rPr>
                      <m:t>_</m:t>
                    </m:r>
                    <m:r>
                      <a:rPr lang="en-US" i="1">
                        <a:latin typeface="Cambria Math" panose="02040503050406030204" pitchFamily="18" charset="0"/>
                      </a:rPr>
                      <m:t>𝑁𝑜</m:t>
                    </m:r>
                    <m:r>
                      <a:rPr lang="en-US" smtClean="0">
                        <a:latin typeface="Cambria Math" panose="02040503050406030204" pitchFamily="18" charset="0"/>
                      </a:rPr>
                      <m:t>, </m:t>
                    </m:r>
                    <m:r>
                      <a:rPr lang="en-US" i="1">
                        <a:latin typeface="Cambria Math" panose="02040503050406030204" pitchFamily="18" charset="0"/>
                      </a:rPr>
                      <m:t>𝑆</m:t>
                    </m:r>
                    <m:r>
                      <m:rPr>
                        <m:sty m:val="p"/>
                      </m:rPr>
                      <a:rPr lang="en-US" smtClean="0">
                        <a:latin typeface="Cambria Math" panose="02040503050406030204" pitchFamily="18" charset="0"/>
                      </a:rPr>
                      <m:t>ubject</m:t>
                    </m:r>
                    <m:r>
                      <a:rPr lang="en-US" smtClean="0">
                        <a:latin typeface="Cambria Math" panose="02040503050406030204" pitchFamily="18" charset="0"/>
                      </a:rPr>
                      <m:t>)</m:t>
                    </m:r>
                  </m:oMath>
                </a14:m>
                <a:r>
                  <a:rPr lang="en-US" dirty="0"/>
                  <a:t>.  Dependency:</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𝑅𝑜𝑙𝑙</m:t>
                    </m:r>
                    <m:r>
                      <m:rPr>
                        <m:lit/>
                      </m:rPr>
                      <a:rPr lang="en-US">
                        <a:latin typeface="Cambria Math" panose="02040503050406030204" pitchFamily="18" charset="0"/>
                      </a:rPr>
                      <m:t>_</m:t>
                    </m:r>
                    <m:r>
                      <a:rPr lang="en-US" i="1">
                        <a:latin typeface="Cambria Math" panose="02040503050406030204" pitchFamily="18" charset="0"/>
                      </a:rPr>
                      <m:t>𝑁𝑜</m:t>
                    </m:r>
                    <m:r>
                      <a:rPr lang="en-US">
                        <a:latin typeface="Cambria Math" panose="02040503050406030204" pitchFamily="18" charset="0"/>
                      </a:rPr>
                      <m:t>→</m:t>
                    </m:r>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𝑁𝑎𝑚𝑒</m:t>
                    </m:r>
                  </m:oMath>
                </a14:m>
                <a:endParaRPr lang="en-US" dirty="0"/>
              </a:p>
              <a:p>
                <a:r>
                  <a:rPr lang="en-US" dirty="0" err="1"/>
                  <a:t>Student_Name</a:t>
                </a:r>
                <a:r>
                  <a:rPr lang="en-US" dirty="0"/>
                  <a:t> depends only on </a:t>
                </a:r>
                <a:r>
                  <a:rPr lang="en-US" dirty="0" err="1"/>
                  <a:t>Roll_No</a:t>
                </a:r>
                <a:r>
                  <a:rPr lang="en-US" dirty="0"/>
                  <a:t>, not on Subject.</a:t>
                </a:r>
              </a:p>
              <a:p>
                <a:r>
                  <a:rPr lang="en-US" dirty="0"/>
                  <a:t>This is a </a:t>
                </a:r>
                <a:r>
                  <a:rPr lang="en-US" b="1" dirty="0"/>
                  <a:t>Partial Dependency</a:t>
                </a:r>
                <a:r>
                  <a:rPr lang="en-US" dirty="0"/>
                  <a:t>.</a:t>
                </a:r>
              </a:p>
              <a:p>
                <a:r>
                  <a:rPr lang="en-US" b="1" dirty="0"/>
                  <a:t>Problem: </a:t>
                </a:r>
                <a:r>
                  <a:rPr lang="en-US" dirty="0"/>
                  <a:t>Partial dependency causes redundancy and violates </a:t>
                </a:r>
                <a:r>
                  <a:rPr lang="en-US" b="1" dirty="0"/>
                  <a:t>2NF</a:t>
                </a:r>
                <a:r>
                  <a:rPr lang="en-US" dirty="0"/>
                  <a:t>.</a:t>
                </a:r>
              </a:p>
              <a:p>
                <a:endParaRPr lang="en-US" dirty="0"/>
              </a:p>
            </p:txBody>
          </p:sp>
        </mc:Choice>
        <mc:Fallback xmlns="">
          <p:sp>
            <p:nvSpPr>
              <p:cNvPr id="4" name="Content Placeholder 2">
                <a:extLst>
                  <a:ext uri="{FF2B5EF4-FFF2-40B4-BE49-F238E27FC236}">
                    <a16:creationId xmlns:a16="http://schemas.microsoft.com/office/drawing/2014/main" id="{893788F2-52D0-1981-EF28-BEBD5430B75E}"/>
                  </a:ext>
                </a:extLst>
              </p:cNvPr>
              <p:cNvSpPr txBox="1">
                <a:spLocks noRot="1" noChangeAspect="1" noMove="1" noResize="1" noEditPoints="1" noAdjustHandles="1" noChangeArrowheads="1" noChangeShapeType="1" noTextEdit="1"/>
              </p:cNvSpPr>
              <p:nvPr/>
            </p:nvSpPr>
            <p:spPr>
              <a:xfrm>
                <a:off x="1066800" y="1737360"/>
                <a:ext cx="10058400" cy="4023360"/>
              </a:xfrm>
              <a:prstGeom prst="rect">
                <a:avLst/>
              </a:prstGeom>
              <a:blipFill>
                <a:blip r:embed="rId3"/>
                <a:stretch>
                  <a:fillRect l="-1515" t="-1515" b="-3333"/>
                </a:stretch>
              </a:blipFill>
            </p:spPr>
            <p:txBody>
              <a:bodyPr/>
              <a:lstStyle/>
              <a:p>
                <a:r>
                  <a:rPr lang="en-US">
                    <a:noFill/>
                  </a:rPr>
                  <a:t> </a:t>
                </a:r>
              </a:p>
            </p:txBody>
          </p:sp>
        </mc:Fallback>
      </mc:AlternateContent>
      <p:sp>
        <p:nvSpPr>
          <p:cNvPr id="12" name="Content Placeholder 11">
            <a:extLst>
              <a:ext uri="{FF2B5EF4-FFF2-40B4-BE49-F238E27FC236}">
                <a16:creationId xmlns:a16="http://schemas.microsoft.com/office/drawing/2014/main" id="{5E08C21D-5E3B-EE10-3A03-F56ED75EA278}"/>
              </a:ext>
            </a:extLst>
          </p:cNvPr>
          <p:cNvSpPr>
            <a:spLocks noGrp="1"/>
          </p:cNvSpPr>
          <p:nvPr>
            <p:ph idx="1"/>
          </p:nvPr>
        </p:nvSpPr>
        <p:spPr>
          <a:xfrm>
            <a:off x="4488180" y="6017684"/>
            <a:ext cx="10058400" cy="4023360"/>
          </a:xfrm>
        </p:spPr>
        <p:txBody>
          <a:bodyPr/>
          <a:lstStyle/>
          <a:p>
            <a:endParaRPr lang="en-US" dirty="0"/>
          </a:p>
        </p:txBody>
      </p:sp>
    </p:spTree>
    <p:extLst>
      <p:ext uri="{BB962C8B-B14F-4D97-AF65-F5344CB8AC3E}">
        <p14:creationId xmlns:p14="http://schemas.microsoft.com/office/powerpoint/2010/main" val="7490280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BD78-C490-6D91-EFF1-2AD0EBE3553A}"/>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BC8E7582-6900-947A-26F1-836DF9FA5430}"/>
              </a:ext>
            </a:extLst>
          </p:cNvPr>
          <p:cNvSpPr>
            <a:spLocks noGrp="1"/>
          </p:cNvSpPr>
          <p:nvPr>
            <p:ph idx="1"/>
          </p:nvPr>
        </p:nvSpPr>
        <p:spPr>
          <a:xfrm>
            <a:off x="716280" y="1737360"/>
            <a:ext cx="10058400" cy="4023360"/>
          </a:xfrm>
        </p:spPr>
        <p:txBody>
          <a:bodyPr>
            <a:normAutofit fontScale="92500" lnSpcReduction="10000"/>
          </a:bodyPr>
          <a:lstStyle/>
          <a:p>
            <a:r>
              <a:rPr lang="en-US" b="1" dirty="0"/>
              <a:t>Primary Key: </a:t>
            </a:r>
            <a:r>
              <a:rPr lang="en-US" dirty="0"/>
              <a:t>The combination: </a:t>
            </a:r>
            <a:r>
              <a:rPr lang="en-US" b="1" dirty="0"/>
              <a:t>(</a:t>
            </a:r>
            <a:r>
              <a:rPr lang="en-US" b="1" dirty="0" err="1"/>
              <a:t>Student_ID</a:t>
            </a:r>
            <a:r>
              <a:rPr lang="en-US" b="1" dirty="0"/>
              <a:t>, </a:t>
            </a:r>
            <a:r>
              <a:rPr lang="en-US" b="1" dirty="0" err="1"/>
              <a:t>Subject_ID</a:t>
            </a:r>
            <a:r>
              <a:rPr lang="en-US" b="1" dirty="0"/>
              <a:t>) </a:t>
            </a:r>
            <a:r>
              <a:rPr lang="en-US" dirty="0"/>
              <a:t>uniquely identifies each record.</a:t>
            </a:r>
          </a:p>
          <a:p>
            <a:r>
              <a:rPr lang="en-US" dirty="0"/>
              <a:t>Functional Dependencies</a:t>
            </a:r>
          </a:p>
          <a:p>
            <a:pPr lvl="1"/>
            <a:r>
              <a:rPr lang="en-US" dirty="0"/>
              <a:t>(</a:t>
            </a:r>
            <a:r>
              <a:rPr lang="en-US" dirty="0" err="1"/>
              <a:t>Student_ID</a:t>
            </a:r>
            <a:r>
              <a:rPr lang="en-US" dirty="0"/>
              <a:t>, </a:t>
            </a:r>
            <a:r>
              <a:rPr lang="en-US" dirty="0" err="1"/>
              <a:t>Subject_ID</a:t>
            </a:r>
            <a:r>
              <a:rPr lang="en-US" dirty="0"/>
              <a:t>) → Marks</a:t>
            </a:r>
          </a:p>
          <a:p>
            <a:pPr lvl="1"/>
            <a:r>
              <a:rPr lang="en-US" dirty="0" err="1"/>
              <a:t>Student_ID</a:t>
            </a:r>
            <a:r>
              <a:rPr lang="en-US" dirty="0"/>
              <a:t> → </a:t>
            </a:r>
            <a:r>
              <a:rPr lang="en-US" dirty="0" err="1"/>
              <a:t>Student_Name</a:t>
            </a:r>
            <a:endParaRPr lang="en-US" dirty="0"/>
          </a:p>
          <a:p>
            <a:pPr lvl="1"/>
            <a:r>
              <a:rPr lang="en-US" dirty="0" err="1"/>
              <a:t>Subject_ID</a:t>
            </a:r>
            <a:r>
              <a:rPr lang="en-US" dirty="0"/>
              <a:t> → </a:t>
            </a:r>
            <a:r>
              <a:rPr lang="en-US" dirty="0" err="1"/>
              <a:t>Subject_Name</a:t>
            </a:r>
            <a:endParaRPr lang="en-US" dirty="0"/>
          </a:p>
          <a:p>
            <a:pPr lvl="1"/>
            <a:endParaRPr lang="en-US" dirty="0"/>
          </a:p>
          <a:p>
            <a:pPr lvl="1"/>
            <a:r>
              <a:rPr lang="en-US" dirty="0"/>
              <a:t>Lets consider, </a:t>
            </a:r>
            <a:r>
              <a:rPr lang="en-US" dirty="0" err="1"/>
              <a:t>Student_Id</a:t>
            </a:r>
            <a:r>
              <a:rPr lang="en-US" dirty="0"/>
              <a:t> </a:t>
            </a:r>
            <a:r>
              <a:rPr lang="en-US" dirty="0">
                <a:sym typeface="Wingdings" panose="05000000000000000000" pitchFamily="2" charset="2"/>
              </a:rPr>
              <a:t> </a:t>
            </a:r>
            <a:r>
              <a:rPr lang="en-US" dirty="0" err="1">
                <a:sym typeface="Wingdings" panose="05000000000000000000" pitchFamily="2" charset="2"/>
              </a:rPr>
              <a:t>Stu_Name</a:t>
            </a:r>
            <a:endParaRPr lang="en-US" dirty="0">
              <a:sym typeface="Wingdings" panose="05000000000000000000" pitchFamily="2" charset="2"/>
            </a:endParaRPr>
          </a:p>
          <a:p>
            <a:r>
              <a:rPr lang="en-US" dirty="0">
                <a:sym typeface="Wingdings" panose="05000000000000000000" pitchFamily="2" charset="2"/>
              </a:rPr>
              <a:t>Here  </a:t>
            </a:r>
            <a:r>
              <a:rPr lang="en-US" dirty="0"/>
              <a:t>Primary Key = (</a:t>
            </a:r>
            <a:r>
              <a:rPr lang="en-US" dirty="0" err="1"/>
              <a:t>Student_ID</a:t>
            </a:r>
            <a:r>
              <a:rPr lang="en-US" dirty="0"/>
              <a:t>, </a:t>
            </a:r>
            <a:r>
              <a:rPr lang="en-US" dirty="0" err="1"/>
              <a:t>Subject_ID</a:t>
            </a:r>
            <a:r>
              <a:rPr lang="en-US" dirty="0"/>
              <a:t>) </a:t>
            </a:r>
          </a:p>
          <a:p>
            <a:r>
              <a:rPr lang="en-US" dirty="0" err="1"/>
              <a:t>Student_Name</a:t>
            </a:r>
            <a:r>
              <a:rPr lang="en-US" dirty="0"/>
              <a:t> depends only on </a:t>
            </a:r>
            <a:r>
              <a:rPr lang="en-US" dirty="0" err="1"/>
              <a:t>Student_ID</a:t>
            </a:r>
            <a:r>
              <a:rPr lang="en-US" dirty="0"/>
              <a:t>  , It does not need </a:t>
            </a:r>
            <a:r>
              <a:rPr lang="en-US" dirty="0" err="1"/>
              <a:t>Subject_ID</a:t>
            </a:r>
            <a:r>
              <a:rPr lang="en-US" dirty="0"/>
              <a:t> </a:t>
            </a:r>
          </a:p>
          <a:p>
            <a:r>
              <a:rPr lang="en-US" dirty="0"/>
              <a:t>Therefore: </a:t>
            </a:r>
            <a:r>
              <a:rPr lang="en-US" b="1" dirty="0" err="1"/>
              <a:t>Student_ID</a:t>
            </a:r>
            <a:r>
              <a:rPr lang="en-US" b="1" dirty="0"/>
              <a:t> → </a:t>
            </a:r>
            <a:r>
              <a:rPr lang="en-US" b="1" dirty="0" err="1"/>
              <a:t>Student_Name</a:t>
            </a:r>
            <a:r>
              <a:rPr lang="en-US" dirty="0"/>
              <a:t> is a </a:t>
            </a:r>
            <a:r>
              <a:rPr lang="en-US" b="1" dirty="0"/>
              <a:t>partial dependency</a:t>
            </a:r>
            <a:r>
              <a:rPr lang="en-US" dirty="0"/>
              <a:t>.</a:t>
            </a:r>
          </a:p>
          <a:p>
            <a:r>
              <a:rPr lang="en-US" dirty="0"/>
              <a:t>Similarly: </a:t>
            </a:r>
            <a:r>
              <a:rPr lang="en-US" b="1" dirty="0" err="1"/>
              <a:t>Subject_ID</a:t>
            </a:r>
            <a:r>
              <a:rPr lang="en-US" b="1" dirty="0"/>
              <a:t> → </a:t>
            </a:r>
            <a:r>
              <a:rPr lang="en-US" b="1" dirty="0" err="1"/>
              <a:t>Subject_Name</a:t>
            </a:r>
            <a:r>
              <a:rPr lang="en-US" b="1" dirty="0"/>
              <a:t> </a:t>
            </a:r>
            <a:r>
              <a:rPr lang="en-US" dirty="0"/>
              <a:t>is also a partial dependency</a:t>
            </a:r>
          </a:p>
        </p:txBody>
      </p:sp>
      <p:graphicFrame>
        <p:nvGraphicFramePr>
          <p:cNvPr id="7" name="Content Placeholder 6">
            <a:extLst>
              <a:ext uri="{FF2B5EF4-FFF2-40B4-BE49-F238E27FC236}">
                <a16:creationId xmlns:a16="http://schemas.microsoft.com/office/drawing/2014/main" id="{70A16598-FA72-BAF8-ACA5-93567265926F}"/>
              </a:ext>
            </a:extLst>
          </p:cNvPr>
          <p:cNvGraphicFramePr>
            <a:graphicFrameLocks/>
          </p:cNvGraphicFramePr>
          <p:nvPr>
            <p:extLst>
              <p:ext uri="{D42A27DB-BD31-4B8C-83A1-F6EECF244321}">
                <p14:modId xmlns:p14="http://schemas.microsoft.com/office/powerpoint/2010/main" val="2843436936"/>
              </p:ext>
            </p:extLst>
          </p:nvPr>
        </p:nvGraphicFramePr>
        <p:xfrm>
          <a:off x="5166170" y="2311817"/>
          <a:ext cx="7025830" cy="1483360"/>
        </p:xfrm>
        <a:graphic>
          <a:graphicData uri="http://schemas.openxmlformats.org/drawingml/2006/table">
            <a:tbl>
              <a:tblPr firstRow="1" bandRow="1">
                <a:tableStyleId>{5C22544A-7EE6-4342-B048-85BDC9FD1C3A}</a:tableStyleId>
              </a:tblPr>
              <a:tblGrid>
                <a:gridCol w="1441452">
                  <a:extLst>
                    <a:ext uri="{9D8B030D-6E8A-4147-A177-3AD203B41FA5}">
                      <a16:colId xmlns:a16="http://schemas.microsoft.com/office/drawing/2014/main" val="54446326"/>
                    </a:ext>
                  </a:extLst>
                </a:gridCol>
                <a:gridCol w="1319515">
                  <a:extLst>
                    <a:ext uri="{9D8B030D-6E8A-4147-A177-3AD203B41FA5}">
                      <a16:colId xmlns:a16="http://schemas.microsoft.com/office/drawing/2014/main" val="544397278"/>
                    </a:ext>
                  </a:extLst>
                </a:gridCol>
                <a:gridCol w="1366641">
                  <a:extLst>
                    <a:ext uri="{9D8B030D-6E8A-4147-A177-3AD203B41FA5}">
                      <a16:colId xmlns:a16="http://schemas.microsoft.com/office/drawing/2014/main" val="3156228728"/>
                    </a:ext>
                  </a:extLst>
                </a:gridCol>
                <a:gridCol w="2120650">
                  <a:extLst>
                    <a:ext uri="{9D8B030D-6E8A-4147-A177-3AD203B41FA5}">
                      <a16:colId xmlns:a16="http://schemas.microsoft.com/office/drawing/2014/main" val="2920091614"/>
                    </a:ext>
                  </a:extLst>
                </a:gridCol>
                <a:gridCol w="777572">
                  <a:extLst>
                    <a:ext uri="{9D8B030D-6E8A-4147-A177-3AD203B41FA5}">
                      <a16:colId xmlns:a16="http://schemas.microsoft.com/office/drawing/2014/main" val="1516385202"/>
                    </a:ext>
                  </a:extLst>
                </a:gridCol>
              </a:tblGrid>
              <a:tr h="370840">
                <a:tc>
                  <a:txBody>
                    <a:bodyPr/>
                    <a:lstStyle/>
                    <a:p>
                      <a:pPr>
                        <a:buNone/>
                      </a:pPr>
                      <a:r>
                        <a:rPr lang="en-US" dirty="0" err="1"/>
                        <a:t>Student_ID</a:t>
                      </a:r>
                      <a:endParaRPr lang="en-US" dirty="0"/>
                    </a:p>
                  </a:txBody>
                  <a:tcPr anchor="ctr"/>
                </a:tc>
                <a:tc>
                  <a:txBody>
                    <a:bodyPr/>
                    <a:lstStyle/>
                    <a:p>
                      <a:pPr>
                        <a:buNone/>
                      </a:pPr>
                      <a:r>
                        <a:rPr lang="en-US"/>
                        <a:t>Subject_ID</a:t>
                      </a:r>
                    </a:p>
                  </a:txBody>
                  <a:tcPr anchor="ctr"/>
                </a:tc>
                <a:tc>
                  <a:txBody>
                    <a:bodyPr/>
                    <a:lstStyle/>
                    <a:p>
                      <a:pPr>
                        <a:buNone/>
                      </a:pPr>
                      <a:r>
                        <a:rPr lang="en-US" dirty="0" err="1"/>
                        <a:t>Stu_Name</a:t>
                      </a:r>
                      <a:endParaRPr lang="en-US" dirty="0"/>
                    </a:p>
                  </a:txBody>
                  <a:tcPr anchor="ctr"/>
                </a:tc>
                <a:tc>
                  <a:txBody>
                    <a:bodyPr/>
                    <a:lstStyle/>
                    <a:p>
                      <a:pPr>
                        <a:buNone/>
                      </a:pPr>
                      <a:r>
                        <a:rPr lang="en-US"/>
                        <a:t>Subject_Name</a:t>
                      </a:r>
                    </a:p>
                  </a:txBody>
                  <a:tcPr anchor="ctr"/>
                </a:tc>
                <a:tc>
                  <a:txBody>
                    <a:bodyPr/>
                    <a:lstStyle/>
                    <a:p>
                      <a:pPr>
                        <a:buNone/>
                      </a:pPr>
                      <a:r>
                        <a:rPr lang="en-US"/>
                        <a:t>Marks</a:t>
                      </a:r>
                    </a:p>
                  </a:txBody>
                  <a:tcPr anchor="ctr"/>
                </a:tc>
                <a:extLst>
                  <a:ext uri="{0D108BD9-81ED-4DB2-BD59-A6C34878D82A}">
                    <a16:rowId xmlns:a16="http://schemas.microsoft.com/office/drawing/2014/main" val="3932005534"/>
                  </a:ext>
                </a:extLst>
              </a:tr>
              <a:tr h="370840">
                <a:tc>
                  <a:txBody>
                    <a:bodyPr/>
                    <a:lstStyle/>
                    <a:p>
                      <a:pPr>
                        <a:buNone/>
                      </a:pPr>
                      <a:r>
                        <a:rPr lang="en-US"/>
                        <a:t>S101</a:t>
                      </a:r>
                    </a:p>
                  </a:txBody>
                  <a:tcPr anchor="ctr"/>
                </a:tc>
                <a:tc>
                  <a:txBody>
                    <a:bodyPr/>
                    <a:lstStyle/>
                    <a:p>
                      <a:pPr>
                        <a:buNone/>
                      </a:pPr>
                      <a:r>
                        <a:rPr lang="en-US"/>
                        <a:t>DBMS</a:t>
                      </a:r>
                    </a:p>
                  </a:txBody>
                  <a:tcPr anchor="ctr"/>
                </a:tc>
                <a:tc>
                  <a:txBody>
                    <a:bodyPr/>
                    <a:lstStyle/>
                    <a:p>
                      <a:pPr>
                        <a:buNone/>
                      </a:pPr>
                      <a:r>
                        <a:rPr lang="en-US"/>
                        <a:t>Ram</a:t>
                      </a:r>
                    </a:p>
                  </a:txBody>
                  <a:tcPr anchor="ctr"/>
                </a:tc>
                <a:tc>
                  <a:txBody>
                    <a:bodyPr/>
                    <a:lstStyle/>
                    <a:p>
                      <a:pPr>
                        <a:buNone/>
                      </a:pPr>
                      <a:r>
                        <a:rPr lang="en-US"/>
                        <a:t>Database Systems</a:t>
                      </a:r>
                    </a:p>
                  </a:txBody>
                  <a:tcPr anchor="ctr"/>
                </a:tc>
                <a:tc>
                  <a:txBody>
                    <a:bodyPr/>
                    <a:lstStyle/>
                    <a:p>
                      <a:pPr>
                        <a:buNone/>
                      </a:pPr>
                      <a:r>
                        <a:rPr lang="en-US" dirty="0"/>
                        <a:t>85</a:t>
                      </a:r>
                    </a:p>
                  </a:txBody>
                  <a:tcPr anchor="ctr"/>
                </a:tc>
                <a:extLst>
                  <a:ext uri="{0D108BD9-81ED-4DB2-BD59-A6C34878D82A}">
                    <a16:rowId xmlns:a16="http://schemas.microsoft.com/office/drawing/2014/main" val="1662674600"/>
                  </a:ext>
                </a:extLst>
              </a:tr>
              <a:tr h="370840">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Ram</a:t>
                      </a:r>
                    </a:p>
                  </a:txBody>
                  <a:tcPr anchor="ctr"/>
                </a:tc>
                <a:tc>
                  <a:txBody>
                    <a:bodyPr/>
                    <a:lstStyle/>
                    <a:p>
                      <a:pPr>
                        <a:buNone/>
                      </a:pPr>
                      <a:r>
                        <a:rPr lang="en-US"/>
                        <a:t>Operating Systems</a:t>
                      </a:r>
                    </a:p>
                  </a:txBody>
                  <a:tcPr anchor="ctr"/>
                </a:tc>
                <a:tc>
                  <a:txBody>
                    <a:bodyPr/>
                    <a:lstStyle/>
                    <a:p>
                      <a:pPr>
                        <a:buNone/>
                      </a:pPr>
                      <a:r>
                        <a:rPr lang="en-US"/>
                        <a:t>78</a:t>
                      </a:r>
                    </a:p>
                  </a:txBody>
                  <a:tcPr anchor="ctr"/>
                </a:tc>
                <a:extLst>
                  <a:ext uri="{0D108BD9-81ED-4DB2-BD59-A6C34878D82A}">
                    <a16:rowId xmlns:a16="http://schemas.microsoft.com/office/drawing/2014/main" val="1706536443"/>
                  </a:ext>
                </a:extLst>
              </a:tr>
              <a:tr h="370840">
                <a:tc>
                  <a:txBody>
                    <a:bodyPr/>
                    <a:lstStyle/>
                    <a:p>
                      <a:pPr>
                        <a:buNone/>
                      </a:pPr>
                      <a:r>
                        <a:rPr lang="en-US" dirty="0"/>
                        <a:t>S102</a:t>
                      </a:r>
                    </a:p>
                  </a:txBody>
                  <a:tcPr anchor="ctr"/>
                </a:tc>
                <a:tc>
                  <a:txBody>
                    <a:bodyPr/>
                    <a:lstStyle/>
                    <a:p>
                      <a:pPr>
                        <a:buNone/>
                      </a:pPr>
                      <a:r>
                        <a:rPr lang="en-US" dirty="0"/>
                        <a:t>DBMS</a:t>
                      </a:r>
                    </a:p>
                  </a:txBody>
                  <a:tcPr anchor="ctr"/>
                </a:tc>
                <a:tc>
                  <a:txBody>
                    <a:bodyPr/>
                    <a:lstStyle/>
                    <a:p>
                      <a:pPr>
                        <a:buNone/>
                      </a:pPr>
                      <a:r>
                        <a:rPr lang="en-US"/>
                        <a:t>Shyam</a:t>
                      </a:r>
                    </a:p>
                  </a:txBody>
                  <a:tcPr anchor="ctr"/>
                </a:tc>
                <a:tc>
                  <a:txBody>
                    <a:bodyPr/>
                    <a:lstStyle/>
                    <a:p>
                      <a:pPr>
                        <a:buNone/>
                      </a:pPr>
                      <a:r>
                        <a:rPr lang="en-US"/>
                        <a:t>Database Systems</a:t>
                      </a:r>
                    </a:p>
                  </a:txBody>
                  <a:tcPr anchor="ctr"/>
                </a:tc>
                <a:tc>
                  <a:txBody>
                    <a:bodyPr/>
                    <a:lstStyle/>
                    <a:p>
                      <a:pPr>
                        <a:buNone/>
                      </a:pPr>
                      <a:r>
                        <a:rPr lang="en-US" dirty="0"/>
                        <a:t>90</a:t>
                      </a:r>
                    </a:p>
                  </a:txBody>
                  <a:tcPr anchor="ctr"/>
                </a:tc>
                <a:extLst>
                  <a:ext uri="{0D108BD9-81ED-4DB2-BD59-A6C34878D82A}">
                    <a16:rowId xmlns:a16="http://schemas.microsoft.com/office/drawing/2014/main" val="4061622329"/>
                  </a:ext>
                </a:extLst>
              </a:tr>
            </a:tbl>
          </a:graphicData>
        </a:graphic>
      </p:graphicFrame>
    </p:spTree>
    <p:extLst>
      <p:ext uri="{BB962C8B-B14F-4D97-AF65-F5344CB8AC3E}">
        <p14:creationId xmlns:p14="http://schemas.microsoft.com/office/powerpoint/2010/main" val="3282729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DABF68-8FCC-794D-2728-DDBC73BEDCBB}"/>
              </a:ext>
            </a:extLst>
          </p:cNvPr>
          <p:cNvSpPr>
            <a:spLocks noGrp="1"/>
          </p:cNvSpPr>
          <p:nvPr>
            <p:ph type="title"/>
          </p:nvPr>
        </p:nvSpPr>
        <p:spPr/>
        <p:txBody>
          <a:bodyPr/>
          <a:lstStyle/>
          <a:p>
            <a:r>
              <a:rPr lang="en-US" dirty="0"/>
              <a:t>Removing Partial Dependency (Convert to 2NF)</a:t>
            </a:r>
          </a:p>
        </p:txBody>
      </p:sp>
      <p:sp>
        <p:nvSpPr>
          <p:cNvPr id="4" name="Content Placeholder 2">
            <a:extLst>
              <a:ext uri="{FF2B5EF4-FFF2-40B4-BE49-F238E27FC236}">
                <a16:creationId xmlns:a16="http://schemas.microsoft.com/office/drawing/2014/main" id="{4913418C-2FF9-5FB6-96A4-73F92696975B}"/>
              </a:ext>
            </a:extLst>
          </p:cNvPr>
          <p:cNvSpPr txBox="1">
            <a:spLocks/>
          </p:cNvSpPr>
          <p:nvPr/>
        </p:nvSpPr>
        <p:spPr>
          <a:xfrm>
            <a:off x="457200" y="1874735"/>
            <a:ext cx="10058400" cy="4075006"/>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Split the table: </a:t>
            </a:r>
          </a:p>
          <a:p>
            <a:r>
              <a:rPr lang="en-US" dirty="0"/>
              <a:t>Now:</a:t>
            </a:r>
          </a:p>
          <a:p>
            <a:pPr lvl="1"/>
            <a:r>
              <a:rPr lang="en-US" dirty="0" err="1"/>
              <a:t>Student_Name</a:t>
            </a:r>
            <a:r>
              <a:rPr lang="en-US" dirty="0"/>
              <a:t> depends only on </a:t>
            </a:r>
            <a:r>
              <a:rPr lang="en-US" dirty="0" err="1"/>
              <a:t>Student_ID</a:t>
            </a:r>
            <a:r>
              <a:rPr lang="en-US" dirty="0"/>
              <a:t>. </a:t>
            </a:r>
          </a:p>
          <a:p>
            <a:pPr lvl="1"/>
            <a:r>
              <a:rPr lang="en-US" dirty="0" err="1"/>
              <a:t>Subject_Name</a:t>
            </a:r>
            <a:r>
              <a:rPr lang="en-US" dirty="0"/>
              <a:t> depends only on </a:t>
            </a:r>
            <a:r>
              <a:rPr lang="en-US" dirty="0" err="1"/>
              <a:t>Subject_ID</a:t>
            </a:r>
            <a:r>
              <a:rPr lang="en-US" dirty="0"/>
              <a:t>. </a:t>
            </a:r>
          </a:p>
          <a:p>
            <a:pPr lvl="1"/>
            <a:r>
              <a:rPr lang="en-US" dirty="0"/>
              <a:t>Marks depends on the full key (</a:t>
            </a:r>
            <a:r>
              <a:rPr lang="en-US" dirty="0" err="1"/>
              <a:t>Student_ID</a:t>
            </a:r>
            <a:r>
              <a:rPr lang="en-US" dirty="0"/>
              <a:t>, </a:t>
            </a:r>
            <a:r>
              <a:rPr lang="en-US" dirty="0" err="1"/>
              <a:t>Subject_ID</a:t>
            </a:r>
            <a:r>
              <a:rPr lang="en-US" dirty="0"/>
              <a:t>). </a:t>
            </a:r>
          </a:p>
          <a:p>
            <a:r>
              <a:rPr lang="en-US" dirty="0"/>
              <a:t>Hence, No partial dependencies remain.</a:t>
            </a:r>
          </a:p>
          <a:p>
            <a:endParaRPr lang="en-US" dirty="0"/>
          </a:p>
        </p:txBody>
      </p:sp>
      <p:graphicFrame>
        <p:nvGraphicFramePr>
          <p:cNvPr id="6" name="Content Placeholder 4">
            <a:extLst>
              <a:ext uri="{FF2B5EF4-FFF2-40B4-BE49-F238E27FC236}">
                <a16:creationId xmlns:a16="http://schemas.microsoft.com/office/drawing/2014/main" id="{D8D9A005-CE70-5585-730C-1F757F215F61}"/>
              </a:ext>
            </a:extLst>
          </p:cNvPr>
          <p:cNvGraphicFramePr>
            <a:graphicFrameLocks/>
          </p:cNvGraphicFramePr>
          <p:nvPr>
            <p:extLst>
              <p:ext uri="{D42A27DB-BD31-4B8C-83A1-F6EECF244321}">
                <p14:modId xmlns:p14="http://schemas.microsoft.com/office/powerpoint/2010/main" val="3628473697"/>
              </p:ext>
            </p:extLst>
          </p:nvPr>
        </p:nvGraphicFramePr>
        <p:xfrm>
          <a:off x="596264" y="4871511"/>
          <a:ext cx="2985136" cy="1112520"/>
        </p:xfrm>
        <a:graphic>
          <a:graphicData uri="http://schemas.openxmlformats.org/drawingml/2006/table">
            <a:tbl>
              <a:tblPr firstRow="1" bandRow="1">
                <a:tableStyleId>{5C22544A-7EE6-4342-B048-85BDC9FD1C3A}</a:tableStyleId>
              </a:tblPr>
              <a:tblGrid>
                <a:gridCol w="1259626">
                  <a:extLst>
                    <a:ext uri="{9D8B030D-6E8A-4147-A177-3AD203B41FA5}">
                      <a16:colId xmlns:a16="http://schemas.microsoft.com/office/drawing/2014/main" val="2929148547"/>
                    </a:ext>
                  </a:extLst>
                </a:gridCol>
                <a:gridCol w="1725510">
                  <a:extLst>
                    <a:ext uri="{9D8B030D-6E8A-4147-A177-3AD203B41FA5}">
                      <a16:colId xmlns:a16="http://schemas.microsoft.com/office/drawing/2014/main" val="2106015784"/>
                    </a:ext>
                  </a:extLst>
                </a:gridCol>
              </a:tblGrid>
              <a:tr h="370840">
                <a:tc>
                  <a:txBody>
                    <a:bodyPr/>
                    <a:lstStyle/>
                    <a:p>
                      <a:pPr>
                        <a:buNone/>
                      </a:pPr>
                      <a:r>
                        <a:rPr lang="en-US" dirty="0" err="1"/>
                        <a:t>Student_ID</a:t>
                      </a:r>
                      <a:endParaRPr lang="en-US" dirty="0"/>
                    </a:p>
                  </a:txBody>
                  <a:tcPr anchor="ctr"/>
                </a:tc>
                <a:tc>
                  <a:txBody>
                    <a:bodyPr/>
                    <a:lstStyle/>
                    <a:p>
                      <a:pPr>
                        <a:buNone/>
                      </a:pPr>
                      <a:r>
                        <a:rPr lang="en-US" dirty="0" err="1"/>
                        <a:t>Student_Name</a:t>
                      </a:r>
                      <a:endParaRPr lang="en-US" dirty="0"/>
                    </a:p>
                  </a:txBody>
                  <a:tcPr anchor="ctr"/>
                </a:tc>
                <a:extLst>
                  <a:ext uri="{0D108BD9-81ED-4DB2-BD59-A6C34878D82A}">
                    <a16:rowId xmlns:a16="http://schemas.microsoft.com/office/drawing/2014/main" val="2629889314"/>
                  </a:ext>
                </a:extLst>
              </a:tr>
              <a:tr h="370840">
                <a:tc>
                  <a:txBody>
                    <a:bodyPr/>
                    <a:lstStyle/>
                    <a:p>
                      <a:pPr>
                        <a:buNone/>
                      </a:pPr>
                      <a:r>
                        <a:rPr lang="en-US"/>
                        <a:t>S101</a:t>
                      </a:r>
                    </a:p>
                  </a:txBody>
                  <a:tcPr anchor="ctr"/>
                </a:tc>
                <a:tc>
                  <a:txBody>
                    <a:bodyPr/>
                    <a:lstStyle/>
                    <a:p>
                      <a:pPr>
                        <a:buNone/>
                      </a:pPr>
                      <a:r>
                        <a:rPr lang="en-US"/>
                        <a:t>Ram</a:t>
                      </a:r>
                    </a:p>
                  </a:txBody>
                  <a:tcPr anchor="ctr"/>
                </a:tc>
                <a:extLst>
                  <a:ext uri="{0D108BD9-81ED-4DB2-BD59-A6C34878D82A}">
                    <a16:rowId xmlns:a16="http://schemas.microsoft.com/office/drawing/2014/main" val="4192719370"/>
                  </a:ext>
                </a:extLst>
              </a:tr>
              <a:tr h="370840">
                <a:tc>
                  <a:txBody>
                    <a:bodyPr/>
                    <a:lstStyle/>
                    <a:p>
                      <a:pPr>
                        <a:buNone/>
                      </a:pPr>
                      <a:r>
                        <a:rPr lang="en-US"/>
                        <a:t>S102</a:t>
                      </a:r>
                    </a:p>
                  </a:txBody>
                  <a:tcPr anchor="ctr"/>
                </a:tc>
                <a:tc>
                  <a:txBody>
                    <a:bodyPr/>
                    <a:lstStyle/>
                    <a:p>
                      <a:pPr>
                        <a:buNone/>
                      </a:pPr>
                      <a:r>
                        <a:rPr lang="en-US" dirty="0"/>
                        <a:t>Shyam</a:t>
                      </a:r>
                    </a:p>
                  </a:txBody>
                  <a:tcPr anchor="ctr"/>
                </a:tc>
                <a:extLst>
                  <a:ext uri="{0D108BD9-81ED-4DB2-BD59-A6C34878D82A}">
                    <a16:rowId xmlns:a16="http://schemas.microsoft.com/office/drawing/2014/main" val="536860278"/>
                  </a:ext>
                </a:extLst>
              </a:tr>
            </a:tbl>
          </a:graphicData>
        </a:graphic>
      </p:graphicFrame>
      <p:graphicFrame>
        <p:nvGraphicFramePr>
          <p:cNvPr id="7" name="Content Placeholder 4">
            <a:extLst>
              <a:ext uri="{FF2B5EF4-FFF2-40B4-BE49-F238E27FC236}">
                <a16:creationId xmlns:a16="http://schemas.microsoft.com/office/drawing/2014/main" id="{84FB1941-FD23-A2CD-B7A4-A6BBA501D465}"/>
              </a:ext>
            </a:extLst>
          </p:cNvPr>
          <p:cNvGraphicFramePr>
            <a:graphicFrameLocks/>
          </p:cNvGraphicFramePr>
          <p:nvPr>
            <p:extLst>
              <p:ext uri="{D42A27DB-BD31-4B8C-83A1-F6EECF244321}">
                <p14:modId xmlns:p14="http://schemas.microsoft.com/office/powerpoint/2010/main" val="3083726829"/>
              </p:ext>
            </p:extLst>
          </p:nvPr>
        </p:nvGraphicFramePr>
        <p:xfrm>
          <a:off x="4053679" y="4871511"/>
          <a:ext cx="3627441" cy="1112520"/>
        </p:xfrm>
        <a:graphic>
          <a:graphicData uri="http://schemas.openxmlformats.org/drawingml/2006/table">
            <a:tbl>
              <a:tblPr firstRow="1" bandRow="1">
                <a:tableStyleId>{5C22544A-7EE6-4342-B048-85BDC9FD1C3A}</a:tableStyleId>
              </a:tblPr>
              <a:tblGrid>
                <a:gridCol w="1220207">
                  <a:extLst>
                    <a:ext uri="{9D8B030D-6E8A-4147-A177-3AD203B41FA5}">
                      <a16:colId xmlns:a16="http://schemas.microsoft.com/office/drawing/2014/main" val="2929148547"/>
                    </a:ext>
                  </a:extLst>
                </a:gridCol>
                <a:gridCol w="2407234">
                  <a:extLst>
                    <a:ext uri="{9D8B030D-6E8A-4147-A177-3AD203B41FA5}">
                      <a16:colId xmlns:a16="http://schemas.microsoft.com/office/drawing/2014/main" val="2106015784"/>
                    </a:ext>
                  </a:extLst>
                </a:gridCol>
              </a:tblGrid>
              <a:tr h="370840">
                <a:tc>
                  <a:txBody>
                    <a:bodyPr/>
                    <a:lstStyle/>
                    <a:p>
                      <a:pPr>
                        <a:buNone/>
                      </a:pPr>
                      <a:r>
                        <a:rPr lang="en-US" dirty="0" err="1"/>
                        <a:t>Subject_ID</a:t>
                      </a:r>
                      <a:endParaRPr lang="en-US" dirty="0"/>
                    </a:p>
                  </a:txBody>
                  <a:tcPr anchor="ctr"/>
                </a:tc>
                <a:tc>
                  <a:txBody>
                    <a:bodyPr/>
                    <a:lstStyle/>
                    <a:p>
                      <a:pPr>
                        <a:buNone/>
                      </a:pPr>
                      <a:r>
                        <a:rPr lang="en-US" dirty="0" err="1"/>
                        <a:t>Subject_Name</a:t>
                      </a:r>
                      <a:endParaRPr lang="en-US" dirty="0"/>
                    </a:p>
                  </a:txBody>
                  <a:tcPr anchor="ctr"/>
                </a:tc>
                <a:extLst>
                  <a:ext uri="{0D108BD9-81ED-4DB2-BD59-A6C34878D82A}">
                    <a16:rowId xmlns:a16="http://schemas.microsoft.com/office/drawing/2014/main" val="2629889314"/>
                  </a:ext>
                </a:extLst>
              </a:tr>
              <a:tr h="370840">
                <a:tc>
                  <a:txBody>
                    <a:bodyPr/>
                    <a:lstStyle/>
                    <a:p>
                      <a:pPr>
                        <a:buNone/>
                      </a:pPr>
                      <a:r>
                        <a:rPr lang="en-US"/>
                        <a:t>DBMS</a:t>
                      </a:r>
                    </a:p>
                  </a:txBody>
                  <a:tcPr anchor="ctr"/>
                </a:tc>
                <a:tc>
                  <a:txBody>
                    <a:bodyPr/>
                    <a:lstStyle/>
                    <a:p>
                      <a:pPr>
                        <a:buNone/>
                      </a:pPr>
                      <a:r>
                        <a:rPr lang="en-US" dirty="0"/>
                        <a:t>Database Systems</a:t>
                      </a:r>
                    </a:p>
                  </a:txBody>
                  <a:tcPr anchor="ctr"/>
                </a:tc>
                <a:extLst>
                  <a:ext uri="{0D108BD9-81ED-4DB2-BD59-A6C34878D82A}">
                    <a16:rowId xmlns:a16="http://schemas.microsoft.com/office/drawing/2014/main" val="4192719370"/>
                  </a:ext>
                </a:extLst>
              </a:tr>
              <a:tr h="370840">
                <a:tc>
                  <a:txBody>
                    <a:bodyPr/>
                    <a:lstStyle/>
                    <a:p>
                      <a:pPr>
                        <a:buNone/>
                      </a:pPr>
                      <a:r>
                        <a:rPr lang="en-US"/>
                        <a:t>OS</a:t>
                      </a:r>
                    </a:p>
                  </a:txBody>
                  <a:tcPr anchor="ctr"/>
                </a:tc>
                <a:tc>
                  <a:txBody>
                    <a:bodyPr/>
                    <a:lstStyle/>
                    <a:p>
                      <a:pPr>
                        <a:buNone/>
                      </a:pPr>
                      <a:r>
                        <a:rPr lang="en-US" dirty="0"/>
                        <a:t>Operating Systems</a:t>
                      </a:r>
                    </a:p>
                  </a:txBody>
                  <a:tcPr anchor="ctr"/>
                </a:tc>
                <a:extLst>
                  <a:ext uri="{0D108BD9-81ED-4DB2-BD59-A6C34878D82A}">
                    <a16:rowId xmlns:a16="http://schemas.microsoft.com/office/drawing/2014/main" val="536860278"/>
                  </a:ext>
                </a:extLst>
              </a:tr>
            </a:tbl>
          </a:graphicData>
        </a:graphic>
      </p:graphicFrame>
      <p:graphicFrame>
        <p:nvGraphicFramePr>
          <p:cNvPr id="10" name="Content Placeholder 9">
            <a:extLst>
              <a:ext uri="{FF2B5EF4-FFF2-40B4-BE49-F238E27FC236}">
                <a16:creationId xmlns:a16="http://schemas.microsoft.com/office/drawing/2014/main" id="{AAE6AE67-3549-B54F-B1E0-CF0B5CA6E8B6}"/>
              </a:ext>
            </a:extLst>
          </p:cNvPr>
          <p:cNvGraphicFramePr>
            <a:graphicFrameLocks noGrp="1"/>
          </p:cNvGraphicFramePr>
          <p:nvPr>
            <p:ph idx="1"/>
            <p:extLst>
              <p:ext uri="{D42A27DB-BD31-4B8C-83A1-F6EECF244321}">
                <p14:modId xmlns:p14="http://schemas.microsoft.com/office/powerpoint/2010/main" val="3829843212"/>
              </p:ext>
            </p:extLst>
          </p:nvPr>
        </p:nvGraphicFramePr>
        <p:xfrm>
          <a:off x="7867649" y="4567557"/>
          <a:ext cx="4185285" cy="1483360"/>
        </p:xfrm>
        <a:graphic>
          <a:graphicData uri="http://schemas.openxmlformats.org/drawingml/2006/table">
            <a:tbl>
              <a:tblPr firstRow="1" bandRow="1">
                <a:tableStyleId>{5C22544A-7EE6-4342-B048-85BDC9FD1C3A}</a:tableStyleId>
              </a:tblPr>
              <a:tblGrid>
                <a:gridCol w="1395095">
                  <a:extLst>
                    <a:ext uri="{9D8B030D-6E8A-4147-A177-3AD203B41FA5}">
                      <a16:colId xmlns:a16="http://schemas.microsoft.com/office/drawing/2014/main" val="3252466307"/>
                    </a:ext>
                  </a:extLst>
                </a:gridCol>
                <a:gridCol w="1395095">
                  <a:extLst>
                    <a:ext uri="{9D8B030D-6E8A-4147-A177-3AD203B41FA5}">
                      <a16:colId xmlns:a16="http://schemas.microsoft.com/office/drawing/2014/main" val="46040608"/>
                    </a:ext>
                  </a:extLst>
                </a:gridCol>
                <a:gridCol w="1395095">
                  <a:extLst>
                    <a:ext uri="{9D8B030D-6E8A-4147-A177-3AD203B41FA5}">
                      <a16:colId xmlns:a16="http://schemas.microsoft.com/office/drawing/2014/main" val="2987781755"/>
                    </a:ext>
                  </a:extLst>
                </a:gridCol>
              </a:tblGrid>
              <a:tr h="370840">
                <a:tc>
                  <a:txBody>
                    <a:bodyPr/>
                    <a:lstStyle/>
                    <a:p>
                      <a:pPr>
                        <a:buNone/>
                      </a:pPr>
                      <a:r>
                        <a:rPr lang="en-US" dirty="0" err="1"/>
                        <a:t>Student_ID</a:t>
                      </a:r>
                      <a:endParaRPr lang="en-US" dirty="0"/>
                    </a:p>
                  </a:txBody>
                  <a:tcPr anchor="ctr"/>
                </a:tc>
                <a:tc>
                  <a:txBody>
                    <a:bodyPr/>
                    <a:lstStyle/>
                    <a:p>
                      <a:pPr>
                        <a:buNone/>
                      </a:pPr>
                      <a:r>
                        <a:rPr lang="en-US"/>
                        <a:t>Subject_ID</a:t>
                      </a:r>
                    </a:p>
                  </a:txBody>
                  <a:tcPr anchor="ctr"/>
                </a:tc>
                <a:tc>
                  <a:txBody>
                    <a:bodyPr/>
                    <a:lstStyle/>
                    <a:p>
                      <a:pPr>
                        <a:buNone/>
                      </a:pPr>
                      <a:r>
                        <a:rPr lang="en-US"/>
                        <a:t>Marks</a:t>
                      </a:r>
                    </a:p>
                  </a:txBody>
                  <a:tcPr anchor="ctr"/>
                </a:tc>
                <a:extLst>
                  <a:ext uri="{0D108BD9-81ED-4DB2-BD59-A6C34878D82A}">
                    <a16:rowId xmlns:a16="http://schemas.microsoft.com/office/drawing/2014/main" val="2172757861"/>
                  </a:ext>
                </a:extLst>
              </a:tr>
              <a:tr h="370840">
                <a:tc>
                  <a:txBody>
                    <a:bodyPr/>
                    <a:lstStyle/>
                    <a:p>
                      <a:pPr>
                        <a:buNone/>
                      </a:pPr>
                      <a:r>
                        <a:rPr lang="en-US"/>
                        <a:t>S101</a:t>
                      </a:r>
                    </a:p>
                  </a:txBody>
                  <a:tcPr anchor="ctr"/>
                </a:tc>
                <a:tc>
                  <a:txBody>
                    <a:bodyPr/>
                    <a:lstStyle/>
                    <a:p>
                      <a:pPr>
                        <a:buNone/>
                      </a:pPr>
                      <a:r>
                        <a:rPr lang="en-US"/>
                        <a:t>DBMS</a:t>
                      </a:r>
                    </a:p>
                  </a:txBody>
                  <a:tcPr anchor="ctr"/>
                </a:tc>
                <a:tc>
                  <a:txBody>
                    <a:bodyPr/>
                    <a:lstStyle/>
                    <a:p>
                      <a:pPr>
                        <a:buNone/>
                      </a:pPr>
                      <a:r>
                        <a:rPr lang="en-US"/>
                        <a:t>85</a:t>
                      </a:r>
                    </a:p>
                  </a:txBody>
                  <a:tcPr anchor="ctr"/>
                </a:tc>
                <a:extLst>
                  <a:ext uri="{0D108BD9-81ED-4DB2-BD59-A6C34878D82A}">
                    <a16:rowId xmlns:a16="http://schemas.microsoft.com/office/drawing/2014/main" val="1849686774"/>
                  </a:ext>
                </a:extLst>
              </a:tr>
              <a:tr h="370840">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dirty="0"/>
                        <a:t>78</a:t>
                      </a:r>
                    </a:p>
                  </a:txBody>
                  <a:tcPr anchor="ctr"/>
                </a:tc>
                <a:extLst>
                  <a:ext uri="{0D108BD9-81ED-4DB2-BD59-A6C34878D82A}">
                    <a16:rowId xmlns:a16="http://schemas.microsoft.com/office/drawing/2014/main" val="1584650789"/>
                  </a:ext>
                </a:extLst>
              </a:tr>
              <a:tr h="370840">
                <a:tc>
                  <a:txBody>
                    <a:bodyPr/>
                    <a:lstStyle/>
                    <a:p>
                      <a:pPr>
                        <a:buNone/>
                      </a:pPr>
                      <a:r>
                        <a:rPr lang="en-US" dirty="0"/>
                        <a:t>S102</a:t>
                      </a:r>
                    </a:p>
                  </a:txBody>
                  <a:tcPr anchor="ctr"/>
                </a:tc>
                <a:tc>
                  <a:txBody>
                    <a:bodyPr/>
                    <a:lstStyle/>
                    <a:p>
                      <a:pPr>
                        <a:buNone/>
                      </a:pPr>
                      <a:r>
                        <a:rPr lang="en-US"/>
                        <a:t>DBMS</a:t>
                      </a:r>
                    </a:p>
                  </a:txBody>
                  <a:tcPr anchor="ctr"/>
                </a:tc>
                <a:tc>
                  <a:txBody>
                    <a:bodyPr/>
                    <a:lstStyle/>
                    <a:p>
                      <a:pPr>
                        <a:buNone/>
                      </a:pPr>
                      <a:r>
                        <a:rPr lang="en-US" dirty="0"/>
                        <a:t>90</a:t>
                      </a:r>
                    </a:p>
                  </a:txBody>
                  <a:tcPr anchor="ctr"/>
                </a:tc>
                <a:extLst>
                  <a:ext uri="{0D108BD9-81ED-4DB2-BD59-A6C34878D82A}">
                    <a16:rowId xmlns:a16="http://schemas.microsoft.com/office/drawing/2014/main" val="1321638464"/>
                  </a:ext>
                </a:extLst>
              </a:tr>
            </a:tbl>
          </a:graphicData>
        </a:graphic>
      </p:graphicFrame>
      <p:graphicFrame>
        <p:nvGraphicFramePr>
          <p:cNvPr id="11" name="Content Placeholder 6">
            <a:extLst>
              <a:ext uri="{FF2B5EF4-FFF2-40B4-BE49-F238E27FC236}">
                <a16:creationId xmlns:a16="http://schemas.microsoft.com/office/drawing/2014/main" id="{862A49F4-C245-0B4D-FF07-40C37B1EE348}"/>
              </a:ext>
            </a:extLst>
          </p:cNvPr>
          <p:cNvGraphicFramePr>
            <a:graphicFrameLocks/>
          </p:cNvGraphicFramePr>
          <p:nvPr>
            <p:extLst>
              <p:ext uri="{D42A27DB-BD31-4B8C-83A1-F6EECF244321}">
                <p14:modId xmlns:p14="http://schemas.microsoft.com/office/powerpoint/2010/main" val="2563232326"/>
              </p:ext>
            </p:extLst>
          </p:nvPr>
        </p:nvGraphicFramePr>
        <p:xfrm>
          <a:off x="5166170" y="1840445"/>
          <a:ext cx="7025830" cy="1483360"/>
        </p:xfrm>
        <a:graphic>
          <a:graphicData uri="http://schemas.openxmlformats.org/drawingml/2006/table">
            <a:tbl>
              <a:tblPr firstRow="1" bandRow="1">
                <a:tableStyleId>{5C22544A-7EE6-4342-B048-85BDC9FD1C3A}</a:tableStyleId>
              </a:tblPr>
              <a:tblGrid>
                <a:gridCol w="1441452">
                  <a:extLst>
                    <a:ext uri="{9D8B030D-6E8A-4147-A177-3AD203B41FA5}">
                      <a16:colId xmlns:a16="http://schemas.microsoft.com/office/drawing/2014/main" val="54446326"/>
                    </a:ext>
                  </a:extLst>
                </a:gridCol>
                <a:gridCol w="1319515">
                  <a:extLst>
                    <a:ext uri="{9D8B030D-6E8A-4147-A177-3AD203B41FA5}">
                      <a16:colId xmlns:a16="http://schemas.microsoft.com/office/drawing/2014/main" val="544397278"/>
                    </a:ext>
                  </a:extLst>
                </a:gridCol>
                <a:gridCol w="1366641">
                  <a:extLst>
                    <a:ext uri="{9D8B030D-6E8A-4147-A177-3AD203B41FA5}">
                      <a16:colId xmlns:a16="http://schemas.microsoft.com/office/drawing/2014/main" val="3156228728"/>
                    </a:ext>
                  </a:extLst>
                </a:gridCol>
                <a:gridCol w="2120650">
                  <a:extLst>
                    <a:ext uri="{9D8B030D-6E8A-4147-A177-3AD203B41FA5}">
                      <a16:colId xmlns:a16="http://schemas.microsoft.com/office/drawing/2014/main" val="2920091614"/>
                    </a:ext>
                  </a:extLst>
                </a:gridCol>
                <a:gridCol w="777572">
                  <a:extLst>
                    <a:ext uri="{9D8B030D-6E8A-4147-A177-3AD203B41FA5}">
                      <a16:colId xmlns:a16="http://schemas.microsoft.com/office/drawing/2014/main" val="1516385202"/>
                    </a:ext>
                  </a:extLst>
                </a:gridCol>
              </a:tblGrid>
              <a:tr h="370840">
                <a:tc>
                  <a:txBody>
                    <a:bodyPr/>
                    <a:lstStyle/>
                    <a:p>
                      <a:pPr>
                        <a:buNone/>
                      </a:pPr>
                      <a:r>
                        <a:rPr lang="en-US" dirty="0" err="1"/>
                        <a:t>Student_ID</a:t>
                      </a:r>
                      <a:endParaRPr lang="en-US" dirty="0"/>
                    </a:p>
                  </a:txBody>
                  <a:tcPr anchor="ctr"/>
                </a:tc>
                <a:tc>
                  <a:txBody>
                    <a:bodyPr/>
                    <a:lstStyle/>
                    <a:p>
                      <a:pPr>
                        <a:buNone/>
                      </a:pPr>
                      <a:r>
                        <a:rPr lang="en-US"/>
                        <a:t>Subject_ID</a:t>
                      </a:r>
                    </a:p>
                  </a:txBody>
                  <a:tcPr anchor="ctr"/>
                </a:tc>
                <a:tc>
                  <a:txBody>
                    <a:bodyPr/>
                    <a:lstStyle/>
                    <a:p>
                      <a:pPr>
                        <a:buNone/>
                      </a:pPr>
                      <a:r>
                        <a:rPr lang="en-US" dirty="0" err="1"/>
                        <a:t>Stu_Name</a:t>
                      </a:r>
                      <a:endParaRPr lang="en-US" dirty="0"/>
                    </a:p>
                  </a:txBody>
                  <a:tcPr anchor="ctr"/>
                </a:tc>
                <a:tc>
                  <a:txBody>
                    <a:bodyPr/>
                    <a:lstStyle/>
                    <a:p>
                      <a:pPr>
                        <a:buNone/>
                      </a:pPr>
                      <a:r>
                        <a:rPr lang="en-US"/>
                        <a:t>Subject_Name</a:t>
                      </a:r>
                    </a:p>
                  </a:txBody>
                  <a:tcPr anchor="ctr"/>
                </a:tc>
                <a:tc>
                  <a:txBody>
                    <a:bodyPr/>
                    <a:lstStyle/>
                    <a:p>
                      <a:pPr>
                        <a:buNone/>
                      </a:pPr>
                      <a:r>
                        <a:rPr lang="en-US"/>
                        <a:t>Marks</a:t>
                      </a:r>
                    </a:p>
                  </a:txBody>
                  <a:tcPr anchor="ctr"/>
                </a:tc>
                <a:extLst>
                  <a:ext uri="{0D108BD9-81ED-4DB2-BD59-A6C34878D82A}">
                    <a16:rowId xmlns:a16="http://schemas.microsoft.com/office/drawing/2014/main" val="3932005534"/>
                  </a:ext>
                </a:extLst>
              </a:tr>
              <a:tr h="370840">
                <a:tc>
                  <a:txBody>
                    <a:bodyPr/>
                    <a:lstStyle/>
                    <a:p>
                      <a:pPr>
                        <a:buNone/>
                      </a:pPr>
                      <a:r>
                        <a:rPr lang="en-US"/>
                        <a:t>S101</a:t>
                      </a:r>
                    </a:p>
                  </a:txBody>
                  <a:tcPr anchor="ctr"/>
                </a:tc>
                <a:tc>
                  <a:txBody>
                    <a:bodyPr/>
                    <a:lstStyle/>
                    <a:p>
                      <a:pPr>
                        <a:buNone/>
                      </a:pPr>
                      <a:r>
                        <a:rPr lang="en-US"/>
                        <a:t>DBMS</a:t>
                      </a:r>
                    </a:p>
                  </a:txBody>
                  <a:tcPr anchor="ctr"/>
                </a:tc>
                <a:tc>
                  <a:txBody>
                    <a:bodyPr/>
                    <a:lstStyle/>
                    <a:p>
                      <a:pPr>
                        <a:buNone/>
                      </a:pPr>
                      <a:r>
                        <a:rPr lang="en-US"/>
                        <a:t>Ram</a:t>
                      </a:r>
                    </a:p>
                  </a:txBody>
                  <a:tcPr anchor="ctr"/>
                </a:tc>
                <a:tc>
                  <a:txBody>
                    <a:bodyPr/>
                    <a:lstStyle/>
                    <a:p>
                      <a:pPr>
                        <a:buNone/>
                      </a:pPr>
                      <a:r>
                        <a:rPr lang="en-US"/>
                        <a:t>Database Systems</a:t>
                      </a:r>
                    </a:p>
                  </a:txBody>
                  <a:tcPr anchor="ctr"/>
                </a:tc>
                <a:tc>
                  <a:txBody>
                    <a:bodyPr/>
                    <a:lstStyle/>
                    <a:p>
                      <a:pPr>
                        <a:buNone/>
                      </a:pPr>
                      <a:r>
                        <a:rPr lang="en-US" dirty="0"/>
                        <a:t>85</a:t>
                      </a:r>
                    </a:p>
                  </a:txBody>
                  <a:tcPr anchor="ctr"/>
                </a:tc>
                <a:extLst>
                  <a:ext uri="{0D108BD9-81ED-4DB2-BD59-A6C34878D82A}">
                    <a16:rowId xmlns:a16="http://schemas.microsoft.com/office/drawing/2014/main" val="1662674600"/>
                  </a:ext>
                </a:extLst>
              </a:tr>
              <a:tr h="370840">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Ram</a:t>
                      </a:r>
                    </a:p>
                  </a:txBody>
                  <a:tcPr anchor="ctr"/>
                </a:tc>
                <a:tc>
                  <a:txBody>
                    <a:bodyPr/>
                    <a:lstStyle/>
                    <a:p>
                      <a:pPr>
                        <a:buNone/>
                      </a:pPr>
                      <a:r>
                        <a:rPr lang="en-US"/>
                        <a:t>Operating Systems</a:t>
                      </a:r>
                    </a:p>
                  </a:txBody>
                  <a:tcPr anchor="ctr"/>
                </a:tc>
                <a:tc>
                  <a:txBody>
                    <a:bodyPr/>
                    <a:lstStyle/>
                    <a:p>
                      <a:pPr>
                        <a:buNone/>
                      </a:pPr>
                      <a:r>
                        <a:rPr lang="en-US"/>
                        <a:t>78</a:t>
                      </a:r>
                    </a:p>
                  </a:txBody>
                  <a:tcPr anchor="ctr"/>
                </a:tc>
                <a:extLst>
                  <a:ext uri="{0D108BD9-81ED-4DB2-BD59-A6C34878D82A}">
                    <a16:rowId xmlns:a16="http://schemas.microsoft.com/office/drawing/2014/main" val="1706536443"/>
                  </a:ext>
                </a:extLst>
              </a:tr>
              <a:tr h="370840">
                <a:tc>
                  <a:txBody>
                    <a:bodyPr/>
                    <a:lstStyle/>
                    <a:p>
                      <a:pPr>
                        <a:buNone/>
                      </a:pPr>
                      <a:r>
                        <a:rPr lang="en-US" dirty="0"/>
                        <a:t>S102</a:t>
                      </a:r>
                    </a:p>
                  </a:txBody>
                  <a:tcPr anchor="ctr"/>
                </a:tc>
                <a:tc>
                  <a:txBody>
                    <a:bodyPr/>
                    <a:lstStyle/>
                    <a:p>
                      <a:pPr>
                        <a:buNone/>
                      </a:pPr>
                      <a:r>
                        <a:rPr lang="en-US" dirty="0"/>
                        <a:t>DBMS</a:t>
                      </a:r>
                    </a:p>
                  </a:txBody>
                  <a:tcPr anchor="ctr"/>
                </a:tc>
                <a:tc>
                  <a:txBody>
                    <a:bodyPr/>
                    <a:lstStyle/>
                    <a:p>
                      <a:pPr>
                        <a:buNone/>
                      </a:pPr>
                      <a:r>
                        <a:rPr lang="en-US"/>
                        <a:t>Shyam</a:t>
                      </a:r>
                    </a:p>
                  </a:txBody>
                  <a:tcPr anchor="ctr"/>
                </a:tc>
                <a:tc>
                  <a:txBody>
                    <a:bodyPr/>
                    <a:lstStyle/>
                    <a:p>
                      <a:pPr>
                        <a:buNone/>
                      </a:pPr>
                      <a:r>
                        <a:rPr lang="en-US"/>
                        <a:t>Database Systems</a:t>
                      </a:r>
                    </a:p>
                  </a:txBody>
                  <a:tcPr anchor="ctr"/>
                </a:tc>
                <a:tc>
                  <a:txBody>
                    <a:bodyPr/>
                    <a:lstStyle/>
                    <a:p>
                      <a:pPr>
                        <a:buNone/>
                      </a:pPr>
                      <a:r>
                        <a:rPr lang="en-US" dirty="0"/>
                        <a:t>90</a:t>
                      </a:r>
                    </a:p>
                  </a:txBody>
                  <a:tcPr anchor="ctr"/>
                </a:tc>
                <a:extLst>
                  <a:ext uri="{0D108BD9-81ED-4DB2-BD59-A6C34878D82A}">
                    <a16:rowId xmlns:a16="http://schemas.microsoft.com/office/drawing/2014/main" val="4061622329"/>
                  </a:ext>
                </a:extLst>
              </a:tr>
            </a:tbl>
          </a:graphicData>
        </a:graphic>
      </p:graphicFrame>
      <p:sp>
        <p:nvSpPr>
          <p:cNvPr id="12" name="TextBox 11">
            <a:extLst>
              <a:ext uri="{FF2B5EF4-FFF2-40B4-BE49-F238E27FC236}">
                <a16:creationId xmlns:a16="http://schemas.microsoft.com/office/drawing/2014/main" id="{DC225237-C9FC-5426-D97D-5D4884ACCEFA}"/>
              </a:ext>
            </a:extLst>
          </p:cNvPr>
          <p:cNvSpPr txBox="1"/>
          <p:nvPr/>
        </p:nvSpPr>
        <p:spPr>
          <a:xfrm>
            <a:off x="547956" y="4433492"/>
            <a:ext cx="1515158" cy="369332"/>
          </a:xfrm>
          <a:prstGeom prst="rect">
            <a:avLst/>
          </a:prstGeom>
          <a:noFill/>
        </p:spPr>
        <p:txBody>
          <a:bodyPr wrap="none" rtlCol="0">
            <a:spAutoFit/>
          </a:bodyPr>
          <a:lstStyle/>
          <a:p>
            <a:r>
              <a:rPr lang="en-US" b="1" dirty="0"/>
              <a:t>Student Table</a:t>
            </a:r>
          </a:p>
        </p:txBody>
      </p:sp>
      <p:sp>
        <p:nvSpPr>
          <p:cNvPr id="13" name="TextBox 12">
            <a:extLst>
              <a:ext uri="{FF2B5EF4-FFF2-40B4-BE49-F238E27FC236}">
                <a16:creationId xmlns:a16="http://schemas.microsoft.com/office/drawing/2014/main" id="{8FA6330F-450F-C7A9-DEE3-8922B02B0E71}"/>
              </a:ext>
            </a:extLst>
          </p:cNvPr>
          <p:cNvSpPr txBox="1"/>
          <p:nvPr/>
        </p:nvSpPr>
        <p:spPr>
          <a:xfrm>
            <a:off x="4016620" y="4415610"/>
            <a:ext cx="1449628" cy="369332"/>
          </a:xfrm>
          <a:prstGeom prst="rect">
            <a:avLst/>
          </a:prstGeom>
          <a:noFill/>
        </p:spPr>
        <p:txBody>
          <a:bodyPr wrap="none" rtlCol="0">
            <a:spAutoFit/>
          </a:bodyPr>
          <a:lstStyle/>
          <a:p>
            <a:r>
              <a:rPr lang="en-US" b="1" dirty="0"/>
              <a:t>Subject Table</a:t>
            </a:r>
          </a:p>
        </p:txBody>
      </p:sp>
      <p:sp>
        <p:nvSpPr>
          <p:cNvPr id="14" name="TextBox 13">
            <a:extLst>
              <a:ext uri="{FF2B5EF4-FFF2-40B4-BE49-F238E27FC236}">
                <a16:creationId xmlns:a16="http://schemas.microsoft.com/office/drawing/2014/main" id="{67B8E8C9-00F9-2983-59E6-1BDD03186F92}"/>
              </a:ext>
            </a:extLst>
          </p:cNvPr>
          <p:cNvSpPr txBox="1"/>
          <p:nvPr/>
        </p:nvSpPr>
        <p:spPr>
          <a:xfrm>
            <a:off x="7867649" y="4163935"/>
            <a:ext cx="1797352" cy="369332"/>
          </a:xfrm>
          <a:prstGeom prst="rect">
            <a:avLst/>
          </a:prstGeom>
          <a:noFill/>
        </p:spPr>
        <p:txBody>
          <a:bodyPr wrap="none" rtlCol="0">
            <a:spAutoFit/>
          </a:bodyPr>
          <a:lstStyle/>
          <a:p>
            <a:r>
              <a:rPr lang="en-US" b="1" dirty="0"/>
              <a:t>Enrollment Table</a:t>
            </a:r>
          </a:p>
        </p:txBody>
      </p:sp>
    </p:spTree>
    <p:extLst>
      <p:ext uri="{BB962C8B-B14F-4D97-AF65-F5344CB8AC3E}">
        <p14:creationId xmlns:p14="http://schemas.microsoft.com/office/powerpoint/2010/main" val="14282253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1FFEA-CA63-C252-AD6D-237E86845DF0}"/>
              </a:ext>
            </a:extLst>
          </p:cNvPr>
          <p:cNvSpPr>
            <a:spLocks noGrp="1"/>
          </p:cNvSpPr>
          <p:nvPr>
            <p:ph type="title"/>
          </p:nvPr>
        </p:nvSpPr>
        <p:spPr/>
        <p:txBody>
          <a:bodyPr/>
          <a:lstStyle/>
          <a:p>
            <a:r>
              <a:rPr lang="en-US" dirty="0"/>
              <a:t>Full vs partial dependencies </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8061337B-19F0-47ED-441D-45B096D021E1}"/>
                  </a:ext>
                </a:extLst>
              </p:cNvPr>
              <p:cNvSpPr>
                <a:spLocks noGrp="1"/>
              </p:cNvSpPr>
              <p:nvPr>
                <p:ph sz="half" idx="1"/>
              </p:nvPr>
            </p:nvSpPr>
            <p:spPr/>
            <p:txBody>
              <a:bodyPr>
                <a:normAutofit fontScale="92500" lnSpcReduction="20000"/>
              </a:bodyPr>
              <a:lstStyle/>
              <a:p>
                <a:r>
                  <a:rPr lang="en-US" dirty="0"/>
                  <a:t>A non-key attribute depends on the </a:t>
                </a:r>
                <a:r>
                  <a:rPr lang="en-US" b="1" dirty="0"/>
                  <a:t>entire composite key</a:t>
                </a:r>
                <a:r>
                  <a:rPr lang="en-US" dirty="0"/>
                  <a:t>.</a:t>
                </a:r>
              </a:p>
              <a:p>
                <a:r>
                  <a:rPr lang="en-US" dirty="0"/>
                  <a:t>Example:</a:t>
                </a:r>
              </a:p>
              <a:p>
                <a:r>
                  <a:rPr lang="en-US" b="1" dirty="0"/>
                  <a:t>(</a:t>
                </a:r>
                <a:r>
                  <a:rPr lang="en-US" b="1" dirty="0" err="1"/>
                  <a:t>Student_ID</a:t>
                </a:r>
                <a:r>
                  <a:rPr lang="en-US" b="1" dirty="0"/>
                  <a:t>, </a:t>
                </a:r>
                <a:r>
                  <a:rPr lang="en-US" b="1" dirty="0" err="1"/>
                  <a:t>Subject_ID</a:t>
                </a:r>
                <a:r>
                  <a:rPr lang="en-US" b="1" dirty="0"/>
                  <a:t>) → Marks</a:t>
                </a:r>
                <a:endParaRPr lang="en-US" dirty="0"/>
              </a:p>
              <a:p>
                <a:r>
                  <a:rPr lang="en-US" dirty="0"/>
                  <a:t>Marks cannot be determined using only </a:t>
                </a:r>
                <a:r>
                  <a:rPr lang="en-US" dirty="0" err="1"/>
                  <a:t>Student_ID</a:t>
                </a:r>
                <a:r>
                  <a:rPr lang="en-US" dirty="0"/>
                  <a:t> or only </a:t>
                </a:r>
                <a:r>
                  <a:rPr lang="en-US" dirty="0" err="1"/>
                  <a:t>Subject_ID</a:t>
                </a:r>
                <a:r>
                  <a:rPr lang="en-US" dirty="0"/>
                  <a:t>.</a:t>
                </a:r>
              </a:p>
              <a:p>
                <a:r>
                  <a:rPr lang="en-US" dirty="0"/>
                  <a:t>i.e.</a:t>
                </a:r>
              </a:p>
              <a:p>
                <a:r>
                  <a:rPr lang="en-US" dirty="0"/>
                  <a:t>Primary Key:</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m:rPr>
                          <m:sty m:val="p"/>
                        </m:rPr>
                        <a:rPr lang="en-US">
                          <a:latin typeface="Cambria Math" panose="02040503050406030204" pitchFamily="18" charset="0"/>
                        </a:rPr>
                        <m:t>Subject</m:t>
                      </m:r>
                      <m:r>
                        <a:rPr lang="en-US">
                          <a:latin typeface="Cambria Math" panose="02040503050406030204" pitchFamily="18" charset="0"/>
                        </a:rPr>
                        <m:t>_</m:t>
                      </m:r>
                      <m:r>
                        <m:rPr>
                          <m:sty m:val="p"/>
                        </m:rPr>
                        <a:rPr lang="en-US">
                          <a:latin typeface="Cambria Math" panose="02040503050406030204" pitchFamily="18" charset="0"/>
                        </a:rPr>
                        <m:t>ID</m:t>
                      </m:r>
                    </m:oMath>
                  </m:oMathPara>
                </a14:m>
                <a:endParaRPr lang="en-US" dirty="0"/>
              </a:p>
              <a:p>
                <a:r>
                  <a:rPr lang="en-US" dirty="0"/>
                  <a:t>Full Dependencies:</a:t>
                </a:r>
              </a:p>
              <a:p>
                <a:pPr marL="201168"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b="0" i="1" smtClean="0">
                          <a:latin typeface="Cambria Math" panose="02040503050406030204" pitchFamily="18" charset="0"/>
                        </a:rPr>
                        <m:t>, </m:t>
                      </m:r>
                      <m:r>
                        <m:rPr>
                          <m:sty m:val="p"/>
                        </m:rPr>
                        <a:rPr lang="en-US" b="0" i="1" smtClean="0">
                          <a:latin typeface="Cambria Math" panose="02040503050406030204" pitchFamily="18" charset="0"/>
                        </a:rPr>
                        <m:t>Subject</m:t>
                      </m:r>
                      <m:r>
                        <a:rPr lang="en-US" b="0" i="1" smtClean="0">
                          <a:latin typeface="Cambria Math" panose="02040503050406030204" pitchFamily="18" charset="0"/>
                        </a:rPr>
                        <m:t> _</m:t>
                      </m:r>
                      <m:r>
                        <m:rPr>
                          <m:sty m:val="p"/>
                        </m:rPr>
                        <a:rPr lang="en-US" b="0" i="1" smtClean="0">
                          <a:latin typeface="Cambria Math" panose="02040503050406030204" pitchFamily="18" charset="0"/>
                        </a:rPr>
                        <m:t>ID</m:t>
                      </m:r>
                      <m:r>
                        <a:rPr lang="en-US" b="0" i="1" smtClean="0">
                          <a:latin typeface="Cambria Math" panose="02040503050406030204" pitchFamily="18" charset="0"/>
                        </a:rPr>
                        <m:t>)</m:t>
                      </m:r>
                      <m:r>
                        <a:rPr lang="en-US">
                          <a:latin typeface="Cambria Math" panose="02040503050406030204" pitchFamily="18" charset="0"/>
                        </a:rPr>
                        <m:t>→</m:t>
                      </m:r>
                      <m:r>
                        <m:rPr>
                          <m:sty m:val="p"/>
                        </m:rPr>
                        <a:rPr lang="en-US" b="0" i="0" smtClean="0">
                          <a:latin typeface="Cambria Math" panose="02040503050406030204" pitchFamily="18" charset="0"/>
                        </a:rPr>
                        <m:t>Marks</m:t>
                      </m:r>
                    </m:oMath>
                  </m:oMathPara>
                </a14:m>
                <a:endParaRPr lang="en-US" dirty="0"/>
              </a:p>
            </p:txBody>
          </p:sp>
        </mc:Choice>
        <mc:Fallback xmlns="">
          <p:sp>
            <p:nvSpPr>
              <p:cNvPr id="5" name="Content Placeholder 4">
                <a:extLst>
                  <a:ext uri="{FF2B5EF4-FFF2-40B4-BE49-F238E27FC236}">
                    <a16:creationId xmlns:a16="http://schemas.microsoft.com/office/drawing/2014/main" id="{8061337B-19F0-47ED-441D-45B096D021E1}"/>
                  </a:ext>
                </a:extLst>
              </p:cNvPr>
              <p:cNvSpPr>
                <a:spLocks noGrp="1" noRot="1" noChangeAspect="1" noMove="1" noResize="1" noEditPoints="1" noAdjustHandles="1" noChangeArrowheads="1" noChangeShapeType="1" noTextEdit="1"/>
              </p:cNvSpPr>
              <p:nvPr>
                <p:ph sz="half" idx="1"/>
              </p:nvPr>
            </p:nvSpPr>
            <p:spPr>
              <a:blipFill>
                <a:blip r:embed="rId3"/>
                <a:stretch>
                  <a:fillRect l="-2963" t="-25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4F1FDEFE-23D4-4A4E-73DD-ABC0B5E7F92B}"/>
                  </a:ext>
                </a:extLst>
              </p:cNvPr>
              <p:cNvSpPr>
                <a:spLocks noGrp="1"/>
              </p:cNvSpPr>
              <p:nvPr>
                <p:ph sz="half" idx="2"/>
              </p:nvPr>
            </p:nvSpPr>
            <p:spPr/>
            <p:txBody>
              <a:bodyPr>
                <a:normAutofit fontScale="92500" lnSpcReduction="20000"/>
              </a:bodyPr>
              <a:lstStyle/>
              <a:p>
                <a:r>
                  <a:rPr lang="en-US" dirty="0"/>
                  <a:t>A non-key attribute depends on only part of the composite key.</a:t>
                </a:r>
              </a:p>
              <a:p>
                <a:r>
                  <a:rPr lang="en-US" dirty="0"/>
                  <a:t>Example:</a:t>
                </a:r>
              </a:p>
              <a:p>
                <a:r>
                  <a:rPr lang="en-US" b="1" dirty="0" err="1"/>
                  <a:t>Student_ID</a:t>
                </a:r>
                <a:r>
                  <a:rPr lang="en-US" b="1" dirty="0"/>
                  <a:t> → </a:t>
                </a:r>
                <a:r>
                  <a:rPr lang="en-US" b="1" dirty="0" err="1"/>
                  <a:t>Student_Name</a:t>
                </a:r>
                <a:endParaRPr lang="en-US" dirty="0"/>
              </a:p>
              <a:p>
                <a:r>
                  <a:rPr lang="en-US" dirty="0" err="1"/>
                  <a:t>Student_Name</a:t>
                </a:r>
                <a:r>
                  <a:rPr lang="en-US" dirty="0"/>
                  <a:t> depends on only one part of the key.</a:t>
                </a:r>
              </a:p>
              <a:p>
                <a:r>
                  <a:rPr lang="en-US" dirty="0" err="1"/>
                  <a:t>i.e</a:t>
                </a:r>
                <a:endParaRPr lang="en-US" dirty="0"/>
              </a:p>
              <a:p>
                <a:r>
                  <a:rPr lang="en-US" dirty="0"/>
                  <a:t>Primary Key:</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m:rPr>
                          <m:sty m:val="p"/>
                        </m:rPr>
                        <a:rPr lang="en-US" b="0" i="0" smtClean="0">
                          <a:latin typeface="Cambria Math" panose="02040503050406030204" pitchFamily="18" charset="0"/>
                        </a:rPr>
                        <m:t>Subject</m:t>
                      </m:r>
                      <m:r>
                        <a:rPr lang="en-US" b="0" i="0" smtClean="0">
                          <a:latin typeface="Cambria Math" panose="02040503050406030204" pitchFamily="18" charset="0"/>
                        </a:rPr>
                        <m:t>_</m:t>
                      </m:r>
                      <m:r>
                        <m:rPr>
                          <m:sty m:val="p"/>
                        </m:rPr>
                        <a:rPr lang="en-US" b="0" i="0" smtClean="0">
                          <a:latin typeface="Cambria Math" panose="02040503050406030204" pitchFamily="18" charset="0"/>
                        </a:rPr>
                        <m:t>ID</m:t>
                      </m:r>
                    </m:oMath>
                  </m:oMathPara>
                </a14:m>
                <a:endParaRPr lang="en-US" dirty="0"/>
              </a:p>
              <a:p>
                <a:r>
                  <a:rPr lang="en-US" dirty="0"/>
                  <a:t>Partial Dependencies:</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𝑁𝑎𝑚𝑒</m:t>
                      </m:r>
                    </m:oMath>
                  </m:oMathPara>
                </a14:m>
                <a:endParaRPr lang="en-US" dirty="0"/>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𝑆𝑢𝑏𝑗𝑒𝑐𝑡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𝑆𝑢𝑏𝑗𝑒𝑐𝑡</m:t>
                      </m:r>
                      <m:r>
                        <m:rPr>
                          <m:lit/>
                        </m:rPr>
                        <a:rPr lang="en-US">
                          <a:latin typeface="Cambria Math" panose="02040503050406030204" pitchFamily="18" charset="0"/>
                        </a:rPr>
                        <m:t>_</m:t>
                      </m:r>
                      <m:r>
                        <a:rPr lang="en-US" i="1">
                          <a:latin typeface="Cambria Math" panose="02040503050406030204" pitchFamily="18" charset="0"/>
                        </a:rPr>
                        <m:t>𝑁𝑎𝑚𝑒</m:t>
                      </m:r>
                    </m:oMath>
                  </m:oMathPara>
                </a14:m>
                <a:endParaRPr lang="en-US" dirty="0"/>
              </a:p>
              <a:p>
                <a:endParaRPr lang="en-US" dirty="0"/>
              </a:p>
            </p:txBody>
          </p:sp>
        </mc:Choice>
        <mc:Fallback xmlns="">
          <p:sp>
            <p:nvSpPr>
              <p:cNvPr id="6" name="Content Placeholder 5">
                <a:extLst>
                  <a:ext uri="{FF2B5EF4-FFF2-40B4-BE49-F238E27FC236}">
                    <a16:creationId xmlns:a16="http://schemas.microsoft.com/office/drawing/2014/main" id="{4F1FDEFE-23D4-4A4E-73DD-ABC0B5E7F92B}"/>
                  </a:ext>
                </a:extLst>
              </p:cNvPr>
              <p:cNvSpPr>
                <a:spLocks noGrp="1" noRot="1" noChangeAspect="1" noMove="1" noResize="1" noEditPoints="1" noAdjustHandles="1" noChangeArrowheads="1" noChangeShapeType="1" noTextEdit="1"/>
              </p:cNvSpPr>
              <p:nvPr>
                <p:ph sz="half" idx="2"/>
              </p:nvPr>
            </p:nvSpPr>
            <p:spPr>
              <a:blipFill>
                <a:blip r:embed="rId4"/>
                <a:stretch>
                  <a:fillRect l="-2963" t="-2576" r="-988" b="-7727"/>
                </a:stretch>
              </a:blipFill>
            </p:spPr>
            <p:txBody>
              <a:bodyPr/>
              <a:lstStyle/>
              <a:p>
                <a:r>
                  <a:rPr lang="en-US">
                    <a:noFill/>
                  </a:rPr>
                  <a:t> </a:t>
                </a:r>
              </a:p>
            </p:txBody>
          </p:sp>
        </mc:Fallback>
      </mc:AlternateContent>
    </p:spTree>
    <p:extLst>
      <p:ext uri="{BB962C8B-B14F-4D97-AF65-F5344CB8AC3E}">
        <p14:creationId xmlns:p14="http://schemas.microsoft.com/office/powerpoint/2010/main" val="1228858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5318D-BC50-1967-E115-6BFBBEA40187}"/>
              </a:ext>
            </a:extLst>
          </p:cNvPr>
          <p:cNvSpPr>
            <a:spLocks noGrp="1"/>
          </p:cNvSpPr>
          <p:nvPr>
            <p:ph type="title"/>
          </p:nvPr>
        </p:nvSpPr>
        <p:spPr/>
        <p:txBody>
          <a:bodyPr/>
          <a:lstStyle/>
          <a:p>
            <a:r>
              <a:rPr lang="en-US" dirty="0"/>
              <a:t>Why important?</a:t>
            </a:r>
          </a:p>
        </p:txBody>
      </p:sp>
      <p:sp>
        <p:nvSpPr>
          <p:cNvPr id="3" name="Content Placeholder 2">
            <a:extLst>
              <a:ext uri="{FF2B5EF4-FFF2-40B4-BE49-F238E27FC236}">
                <a16:creationId xmlns:a16="http://schemas.microsoft.com/office/drawing/2014/main" id="{6A33DFD2-1A6C-DB61-2B10-1CA9D545C695}"/>
              </a:ext>
            </a:extLst>
          </p:cNvPr>
          <p:cNvSpPr>
            <a:spLocks noGrp="1"/>
          </p:cNvSpPr>
          <p:nvPr>
            <p:ph idx="1"/>
          </p:nvPr>
        </p:nvSpPr>
        <p:spPr/>
        <p:txBody>
          <a:bodyPr/>
          <a:lstStyle/>
          <a:p>
            <a:r>
              <a:rPr lang="en-US" dirty="0"/>
              <a:t>FDs help in:</a:t>
            </a:r>
          </a:p>
          <a:p>
            <a:pPr lvl="1"/>
            <a:r>
              <a:rPr lang="en-US" dirty="0"/>
              <a:t>Identifying candidate keys. </a:t>
            </a:r>
          </a:p>
          <a:p>
            <a:pPr lvl="1"/>
            <a:r>
              <a:rPr lang="en-US" dirty="0"/>
              <a:t>Eliminating redundancy. </a:t>
            </a:r>
          </a:p>
          <a:p>
            <a:pPr lvl="1"/>
            <a:r>
              <a:rPr lang="en-US" dirty="0"/>
              <a:t>Detecting anomalies. </a:t>
            </a:r>
          </a:p>
          <a:p>
            <a:pPr lvl="1"/>
            <a:r>
              <a:rPr lang="en-US" dirty="0"/>
              <a:t>Performing normalization (1NF, 2NF, 3NF, BCNF).</a:t>
            </a:r>
          </a:p>
          <a:p>
            <a:pPr lvl="1"/>
            <a:r>
              <a:rPr lang="en-US" dirty="0"/>
              <a:t>Improve consistence and data integrity</a:t>
            </a:r>
          </a:p>
          <a:p>
            <a:endParaRPr lang="en-US" dirty="0"/>
          </a:p>
        </p:txBody>
      </p:sp>
    </p:spTree>
    <p:extLst>
      <p:ext uri="{BB962C8B-B14F-4D97-AF65-F5344CB8AC3E}">
        <p14:creationId xmlns:p14="http://schemas.microsoft.com/office/powerpoint/2010/main" val="5519428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20D0B-A501-8676-F1B5-AC5E6A7BCA05}"/>
              </a:ext>
            </a:extLst>
          </p:cNvPr>
          <p:cNvSpPr>
            <a:spLocks noGrp="1"/>
          </p:cNvSpPr>
          <p:nvPr>
            <p:ph type="title"/>
          </p:nvPr>
        </p:nvSpPr>
        <p:spPr/>
        <p:txBody>
          <a:bodyPr/>
          <a:lstStyle/>
          <a:p>
            <a:r>
              <a:rPr lang="en-US" dirty="0"/>
              <a:t>Armstrong’s Axioms.</a:t>
            </a:r>
          </a:p>
        </p:txBody>
      </p:sp>
      <p:sp>
        <p:nvSpPr>
          <p:cNvPr id="3" name="Content Placeholder 2">
            <a:extLst>
              <a:ext uri="{FF2B5EF4-FFF2-40B4-BE49-F238E27FC236}">
                <a16:creationId xmlns:a16="http://schemas.microsoft.com/office/drawing/2014/main" id="{E09EA0B9-9B0A-65C6-E352-1ED699920564}"/>
              </a:ext>
            </a:extLst>
          </p:cNvPr>
          <p:cNvSpPr>
            <a:spLocks noGrp="1"/>
          </p:cNvSpPr>
          <p:nvPr>
            <p:ph idx="1"/>
          </p:nvPr>
        </p:nvSpPr>
        <p:spPr>
          <a:xfrm>
            <a:off x="1097280" y="1845734"/>
            <a:ext cx="10058400" cy="4440766"/>
          </a:xfrm>
        </p:spPr>
        <p:txBody>
          <a:bodyPr>
            <a:normAutofit fontScale="92500" lnSpcReduction="10000"/>
          </a:bodyPr>
          <a:lstStyle/>
          <a:p>
            <a:r>
              <a:rPr lang="en-US" dirty="0"/>
              <a:t>Proposed by William W. Armstrong (1974),  formed the theoretical foundation for reasoning about functional dependencies in relational databases.</a:t>
            </a:r>
          </a:p>
          <a:p>
            <a:r>
              <a:rPr lang="en-US" dirty="0"/>
              <a:t>Armstrong's Axioms are a set of inference rules used to derive all valid functional dependencies from a given set of functional dependencies.</a:t>
            </a:r>
          </a:p>
          <a:p>
            <a:r>
              <a:rPr lang="en-US" b="1" dirty="0"/>
              <a:t>Three Basic Rules</a:t>
            </a:r>
          </a:p>
          <a:p>
            <a:pPr marL="544068" lvl="1" indent="-342900">
              <a:buFont typeface="+mj-lt"/>
              <a:buAutoNum type="arabicPeriod"/>
            </a:pPr>
            <a:r>
              <a:rPr lang="en-US" dirty="0"/>
              <a:t>Reflexivity </a:t>
            </a:r>
          </a:p>
          <a:p>
            <a:pPr marL="544068" lvl="1" indent="-342900">
              <a:buFont typeface="+mj-lt"/>
              <a:buAutoNum type="arabicPeriod"/>
            </a:pPr>
            <a:r>
              <a:rPr lang="en-US" dirty="0"/>
              <a:t>Augmentation </a:t>
            </a:r>
          </a:p>
          <a:p>
            <a:pPr marL="544068" lvl="1" indent="-342900">
              <a:buFont typeface="+mj-lt"/>
              <a:buAutoNum type="arabicPeriod"/>
            </a:pPr>
            <a:r>
              <a:rPr lang="en-US" dirty="0"/>
              <a:t>Transitivity</a:t>
            </a:r>
          </a:p>
          <a:p>
            <a:r>
              <a:rPr lang="en-US" dirty="0"/>
              <a:t>Why Are Armstrong's Axioms Important?</a:t>
            </a:r>
          </a:p>
          <a:p>
            <a:pPr lvl="1"/>
            <a:r>
              <a:rPr lang="en-US" dirty="0"/>
              <a:t>Find new functional dependencies.</a:t>
            </a:r>
          </a:p>
          <a:p>
            <a:pPr lvl="1"/>
            <a:r>
              <a:rPr lang="en-US" dirty="0"/>
              <a:t>Compute attribute closures.</a:t>
            </a:r>
          </a:p>
          <a:p>
            <a:pPr lvl="1"/>
            <a:r>
              <a:rPr lang="en-US" dirty="0"/>
              <a:t>Identify candidate keys.</a:t>
            </a:r>
          </a:p>
          <a:p>
            <a:pPr lvl="1"/>
            <a:r>
              <a:rPr lang="en-US" dirty="0"/>
              <a:t>Verify normalization (2NF, 3NF, BCNF).</a:t>
            </a:r>
          </a:p>
          <a:p>
            <a:pPr lvl="1"/>
            <a:r>
              <a:rPr lang="en-US" dirty="0"/>
              <a:t>Determine whether a dependency is implied by others.</a:t>
            </a:r>
          </a:p>
        </p:txBody>
      </p:sp>
    </p:spTree>
    <p:extLst>
      <p:ext uri="{BB962C8B-B14F-4D97-AF65-F5344CB8AC3E}">
        <p14:creationId xmlns:p14="http://schemas.microsoft.com/office/powerpoint/2010/main" val="7411125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5121C-CD30-3474-FEA5-70725CC808BC}"/>
              </a:ext>
            </a:extLst>
          </p:cNvPr>
          <p:cNvSpPr>
            <a:spLocks noGrp="1"/>
          </p:cNvSpPr>
          <p:nvPr>
            <p:ph type="title"/>
          </p:nvPr>
        </p:nvSpPr>
        <p:spPr/>
        <p:txBody>
          <a:bodyPr/>
          <a:lstStyle/>
          <a:p>
            <a:r>
              <a:rPr lang="en-US" dirty="0"/>
              <a:t>Armstrong's Axioms</a:t>
            </a:r>
            <a:endParaRPr lang="en-US" b="1" dirty="0"/>
          </a:p>
        </p:txBody>
      </p:sp>
      <p:sp>
        <p:nvSpPr>
          <p:cNvPr id="3" name="Content Placeholder 2">
            <a:extLst>
              <a:ext uri="{FF2B5EF4-FFF2-40B4-BE49-F238E27FC236}">
                <a16:creationId xmlns:a16="http://schemas.microsoft.com/office/drawing/2014/main" id="{6E4CA14E-CE7C-12D6-25F8-B0C18EE11ACD}"/>
              </a:ext>
            </a:extLst>
          </p:cNvPr>
          <p:cNvSpPr>
            <a:spLocks noGrp="1"/>
          </p:cNvSpPr>
          <p:nvPr>
            <p:ph idx="1"/>
          </p:nvPr>
        </p:nvSpPr>
        <p:spPr/>
        <p:txBody>
          <a:bodyPr/>
          <a:lstStyle/>
          <a:p>
            <a:r>
              <a:rPr lang="en-US" dirty="0"/>
              <a:t>A set of inference rules used to derive new functional dependencies.</a:t>
            </a:r>
          </a:p>
          <a:p>
            <a:r>
              <a:rPr lang="en-US" dirty="0"/>
              <a:t>Developed by William Armstrong.</a:t>
            </a:r>
          </a:p>
          <a:p>
            <a:r>
              <a:rPr lang="en-US" b="1" dirty="0"/>
              <a:t>Three Basic Rules</a:t>
            </a:r>
          </a:p>
          <a:p>
            <a:r>
              <a:rPr lang="en-US" dirty="0"/>
              <a:t>Reflexivity </a:t>
            </a:r>
          </a:p>
          <a:p>
            <a:r>
              <a:rPr lang="en-US" dirty="0"/>
              <a:t>Augmentation </a:t>
            </a:r>
          </a:p>
          <a:p>
            <a:r>
              <a:rPr lang="en-US" dirty="0"/>
              <a:t>Transitivity</a:t>
            </a:r>
          </a:p>
          <a:p>
            <a:endParaRPr lang="en-US" dirty="0"/>
          </a:p>
        </p:txBody>
      </p:sp>
    </p:spTree>
    <p:extLst>
      <p:ext uri="{BB962C8B-B14F-4D97-AF65-F5344CB8AC3E}">
        <p14:creationId xmlns:p14="http://schemas.microsoft.com/office/powerpoint/2010/main" val="26564661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DA1DF-9E73-B22E-C9AB-393B7D41C417}"/>
              </a:ext>
            </a:extLst>
          </p:cNvPr>
          <p:cNvSpPr>
            <a:spLocks noGrp="1"/>
          </p:cNvSpPr>
          <p:nvPr>
            <p:ph type="title"/>
          </p:nvPr>
        </p:nvSpPr>
        <p:spPr/>
        <p:txBody>
          <a:bodyPr/>
          <a:lstStyle/>
          <a:p>
            <a:r>
              <a:rPr lang="en-US" dirty="0"/>
              <a:t>Reflexivity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91BF39-A3E7-EFDD-476F-544683D9413F}"/>
                  </a:ext>
                </a:extLst>
              </p:cNvPr>
              <p:cNvSpPr>
                <a:spLocks noGrp="1"/>
              </p:cNvSpPr>
              <p:nvPr>
                <p:ph idx="1"/>
              </p:nvPr>
            </p:nvSpPr>
            <p:spPr/>
            <p:txBody>
              <a:bodyPr>
                <a:normAutofit/>
              </a:bodyPr>
              <a:lstStyle/>
              <a:p>
                <a:r>
                  <a:rPr lang="en-US" b="1" dirty="0"/>
                  <a:t>Statement: </a:t>
                </a:r>
                <a:r>
                  <a:rPr lang="en-US" dirty="0"/>
                  <a:t>If:</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𝑌</m:t>
                    </m:r>
                    <m:r>
                      <a:rPr lang="en-US">
                        <a:latin typeface="Cambria Math" panose="02040503050406030204" pitchFamily="18" charset="0"/>
                      </a:rPr>
                      <m:t>⊆</m:t>
                    </m:r>
                    <m:r>
                      <a:rPr lang="en-US" i="1">
                        <a:latin typeface="Cambria Math" panose="02040503050406030204" pitchFamily="18" charset="0"/>
                      </a:rPr>
                      <m:t>𝑋</m:t>
                    </m:r>
                  </m:oMath>
                </a14:m>
                <a:r>
                  <a:rPr lang="en-US" dirty="0"/>
                  <a:t>,  then:</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m:oMathPara>
                </a14:m>
                <a:endParaRPr lang="en-US" dirty="0"/>
              </a:p>
              <a:p>
                <a:r>
                  <a:rPr lang="en-US" b="1" dirty="0"/>
                  <a:t>Meaning:  </a:t>
                </a:r>
                <a:r>
                  <a:rPr lang="en-US" dirty="0"/>
                  <a:t>If Y is a subset of X, then X functionally determines Y.</a:t>
                </a:r>
              </a:p>
              <a:p>
                <a:r>
                  <a:rPr lang="en-US" b="1" dirty="0"/>
                  <a:t>Example , </a:t>
                </a:r>
              </a:p>
              <a:p>
                <a:r>
                  <a:rPr lang="en-US" dirty="0"/>
                  <a:t>Suppose:</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d>
                        <m:dPr>
                          <m:begChr m:val="{"/>
                          <m:endChr m:val="}"/>
                          <m:sepChr m:val=","/>
                          <m:ctrlPr>
                            <a:rPr lang="ar-AE" i="1">
                              <a:latin typeface="Cambria Math" panose="02040503050406030204" pitchFamily="18" charset="0"/>
                            </a:rPr>
                          </m:ctrlPr>
                        </m:dPr>
                        <m:e>
                          <m:r>
                            <a:rPr lang="ar-AE" i="1">
                              <a:latin typeface="Cambria Math" panose="02040503050406030204" pitchFamily="18" charset="0"/>
                            </a:rPr>
                            <m:t>𝑆</m:t>
                          </m:r>
                        </m:e>
                        <m:e>
                          <m:r>
                            <a:rPr lang="ar-AE" i="1">
                              <a:latin typeface="Cambria Math" panose="02040503050406030204" pitchFamily="18" charset="0"/>
                            </a:rPr>
                            <m:t>𝑡𝑢𝑑𝑒𝑛𝑡</m:t>
                          </m:r>
                          <m:r>
                            <m:rPr>
                              <m:lit/>
                            </m:rPr>
                            <a:rPr lang="ar-AE">
                              <a:latin typeface="Cambria Math" panose="02040503050406030204" pitchFamily="18" charset="0"/>
                            </a:rPr>
                            <m:t>_</m:t>
                          </m:r>
                          <m:r>
                            <a:rPr lang="ar-AE" i="1">
                              <a:latin typeface="Cambria Math" panose="02040503050406030204" pitchFamily="18" charset="0"/>
                            </a:rPr>
                            <m:t>𝐼𝐷</m:t>
                          </m:r>
                          <m:r>
                            <a:rPr lang="en-US" b="0" i="1" smtClean="0">
                              <a:latin typeface="Cambria Math" panose="02040503050406030204" pitchFamily="18" charset="0"/>
                            </a:rPr>
                            <m:t>, </m:t>
                          </m:r>
                          <m:r>
                            <a:rPr lang="ar-AE" i="1">
                              <a:latin typeface="Cambria Math" panose="02040503050406030204" pitchFamily="18" charset="0"/>
                            </a:rPr>
                            <m:t>𝑁𝑎𝑚𝑒</m:t>
                          </m:r>
                        </m:e>
                      </m:d>
                    </m:oMath>
                  </m:oMathPara>
                </a14:m>
                <a:endParaRPr lang="ar-AE" dirty="0"/>
              </a:p>
              <a:p>
                <a:r>
                  <a:rPr lang="en-US" dirty="0"/>
                  <a:t>Then:</a:t>
                </a:r>
              </a:p>
              <a:p>
                <a:r>
                  <a:rPr lang="en-US" dirty="0"/>
                  <a:t>(</a:t>
                </a:r>
                <a:r>
                  <a:rPr lang="en-US" dirty="0" err="1"/>
                  <a:t>Student_ID</a:t>
                </a:r>
                <a:r>
                  <a:rPr lang="en-US" dirty="0"/>
                  <a:t>, Name)</a:t>
                </a:r>
                <a14:m>
                  <m:oMath xmlns:m="http://schemas.openxmlformats.org/officeDocument/2006/math">
                    <m:r>
                      <a:rPr lang="ar-AE">
                        <a:latin typeface="Cambria Math" panose="02040503050406030204" pitchFamily="18" charset="0"/>
                      </a:rPr>
                      <m:t>→</m:t>
                    </m:r>
                    <m:r>
                      <a:rPr lang="ar-AE" i="1">
                        <a:latin typeface="Cambria Math" panose="02040503050406030204" pitchFamily="18" charset="0"/>
                      </a:rPr>
                      <m:t>𝑁𝑎𝑚𝑒</m:t>
                    </m:r>
                  </m:oMath>
                </a14:m>
                <a:endParaRPr lang="en-US" dirty="0"/>
              </a:p>
              <a:p>
                <a:r>
                  <a:rPr lang="en-US" dirty="0"/>
                  <a:t>Since Name is already part of the left side, This is a </a:t>
                </a:r>
                <a:r>
                  <a:rPr lang="en-US" b="1" dirty="0"/>
                  <a:t>trivial functional dependency</a:t>
                </a:r>
                <a:r>
                  <a:rPr lang="en-US" dirty="0"/>
                  <a:t>.</a:t>
                </a:r>
              </a:p>
              <a:p>
                <a:endParaRPr lang="en-US" dirty="0"/>
              </a:p>
            </p:txBody>
          </p:sp>
        </mc:Choice>
        <mc:Fallback xmlns="">
          <p:sp>
            <p:nvSpPr>
              <p:cNvPr id="3" name="Content Placeholder 2">
                <a:extLst>
                  <a:ext uri="{FF2B5EF4-FFF2-40B4-BE49-F238E27FC236}">
                    <a16:creationId xmlns:a16="http://schemas.microsoft.com/office/drawing/2014/main" id="{9F91BF39-A3E7-EFDD-476F-544683D9413F}"/>
                  </a:ext>
                </a:extLst>
              </p:cNvPr>
              <p:cNvSpPr>
                <a:spLocks noGrp="1" noRot="1" noChangeAspect="1" noMove="1" noResize="1" noEditPoints="1" noAdjustHandles="1" noChangeArrowheads="1" noChangeShapeType="1" noTextEdit="1"/>
              </p:cNvSpPr>
              <p:nvPr>
                <p:ph idx="1"/>
              </p:nvPr>
            </p:nvSpPr>
            <p:spPr>
              <a:blipFill>
                <a:blip r:embed="rId2"/>
                <a:stretch>
                  <a:fillRect l="-1515" t="-1667" b="-5303"/>
                </a:stretch>
              </a:blipFill>
            </p:spPr>
            <p:txBody>
              <a:bodyPr/>
              <a:lstStyle/>
              <a:p>
                <a:r>
                  <a:rPr lang="en-US">
                    <a:noFill/>
                  </a:rPr>
                  <a:t> </a:t>
                </a:r>
              </a:p>
            </p:txBody>
          </p:sp>
        </mc:Fallback>
      </mc:AlternateContent>
    </p:spTree>
    <p:extLst>
      <p:ext uri="{BB962C8B-B14F-4D97-AF65-F5344CB8AC3E}">
        <p14:creationId xmlns:p14="http://schemas.microsoft.com/office/powerpoint/2010/main" val="4973164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8581E-7138-B661-0955-E4EE2D9C3C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4E119-F3B9-2432-54E4-F1403F932228}"/>
              </a:ext>
            </a:extLst>
          </p:cNvPr>
          <p:cNvSpPr>
            <a:spLocks noGrp="1"/>
          </p:cNvSpPr>
          <p:nvPr>
            <p:ph type="title"/>
          </p:nvPr>
        </p:nvSpPr>
        <p:spPr/>
        <p:txBody>
          <a:bodyPr/>
          <a:lstStyle/>
          <a:p>
            <a:r>
              <a:rPr lang="en-US" dirty="0"/>
              <a:t>Reflexivity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57BF9-8FCE-8C74-A8EF-D53C42FC202B}"/>
                  </a:ext>
                </a:extLst>
              </p:cNvPr>
              <p:cNvSpPr>
                <a:spLocks noGrp="1"/>
              </p:cNvSpPr>
              <p:nvPr>
                <p:ph idx="1"/>
              </p:nvPr>
            </p:nvSpPr>
            <p:spPr/>
            <p:txBody>
              <a:bodyPr>
                <a:normAutofit lnSpcReduction="10000"/>
              </a:bodyPr>
              <a:lstStyle/>
              <a:p>
                <a:r>
                  <a:rPr lang="en-US" dirty="0"/>
                  <a:t>From this table, we can observe:</a:t>
                </a:r>
              </a:p>
              <a:p>
                <a:pPr lvl="1"/>
                <a:r>
                  <a:rPr lang="en-US" dirty="0"/>
                  <a:t>StudentID → Name </a:t>
                </a:r>
              </a:p>
              <a:p>
                <a:pPr lvl="1"/>
                <a:r>
                  <a:rPr lang="en-US" dirty="0"/>
                  <a:t>StudentID → </a:t>
                </a:r>
                <a:r>
                  <a:rPr lang="en-US" dirty="0" err="1"/>
                  <a:t>DeptID</a:t>
                </a:r>
                <a:r>
                  <a:rPr lang="en-US" dirty="0"/>
                  <a:t> </a:t>
                </a:r>
              </a:p>
              <a:p>
                <a:pPr lvl="1"/>
                <a:r>
                  <a:rPr lang="en-US" dirty="0" err="1"/>
                  <a:t>DeptID</a:t>
                </a:r>
                <a:r>
                  <a:rPr lang="en-US" dirty="0"/>
                  <a:t> → </a:t>
                </a:r>
                <a:r>
                  <a:rPr lang="en-US" dirty="0" err="1"/>
                  <a:t>DeptName</a:t>
                </a:r>
                <a:endParaRPr lang="en-US" dirty="0"/>
              </a:p>
              <a:p>
                <a:r>
                  <a:rPr lang="en-US" b="1" dirty="0"/>
                  <a:t>Rule: </a:t>
                </a:r>
                <a:r>
                  <a:rPr lang="en-US" dirty="0"/>
                  <a:t>If:</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𝑌</m:t>
                    </m:r>
                    <m:r>
                      <a:rPr lang="en-US">
                        <a:latin typeface="Cambria Math" panose="02040503050406030204" pitchFamily="18" charset="0"/>
                      </a:rPr>
                      <m:t>⊆</m:t>
                    </m:r>
                    <m:r>
                      <a:rPr lang="en-US" i="1">
                        <a:latin typeface="Cambria Math" panose="02040503050406030204" pitchFamily="18" charset="0"/>
                      </a:rPr>
                      <m:t>𝑋</m:t>
                    </m:r>
                  </m:oMath>
                </a14:m>
                <a:r>
                  <a:rPr lang="en-US" dirty="0"/>
                  <a:t>,  then:</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endParaRPr lang="en-US" dirty="0"/>
              </a:p>
              <a:p>
                <a:r>
                  <a:rPr lang="en-US" b="1" dirty="0"/>
                  <a:t>Example , </a:t>
                </a:r>
              </a:p>
              <a:p>
                <a14:m>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Student</m:t>
                    </m:r>
                    <m:r>
                      <a:rPr lang="en-US" b="0" i="0" smtClean="0">
                        <a:latin typeface="Cambria Math" panose="02040503050406030204" pitchFamily="18" charset="0"/>
                      </a:rPr>
                      <m:t>_</m:t>
                    </m:r>
                    <m:r>
                      <m:rPr>
                        <m:sty m:val="p"/>
                      </m:rPr>
                      <a:rPr lang="en-US" b="0" i="0" smtClean="0">
                        <a:latin typeface="Cambria Math" panose="02040503050406030204" pitchFamily="18" charset="0"/>
                      </a:rPr>
                      <m:t>ID</m:t>
                    </m:r>
                    <m:r>
                      <a:rPr lang="en-US" b="0" i="0" smtClean="0">
                        <a:latin typeface="Cambria Math" panose="02040503050406030204" pitchFamily="18" charset="0"/>
                      </a:rPr>
                      <m:t>,  </m:t>
                    </m:r>
                    <m:r>
                      <m:rPr>
                        <m:sty m:val="p"/>
                      </m:rPr>
                      <a:rPr lang="en-US" b="0" i="0" smtClean="0">
                        <a:latin typeface="Cambria Math" panose="02040503050406030204" pitchFamily="18" charset="0"/>
                      </a:rPr>
                      <m:t>Name</m:t>
                    </m:r>
                    <m:r>
                      <a:rPr lang="en-US" b="0" i="0" smtClean="0">
                        <a:latin typeface="Cambria Math" panose="02040503050406030204" pitchFamily="18" charset="0"/>
                      </a:rPr>
                      <m:t>}</m:t>
                    </m:r>
                  </m:oMath>
                </a14:m>
                <a:endParaRPr lang="en-US" i="1" dirty="0">
                  <a:latin typeface="Cambria Math" panose="02040503050406030204" pitchFamily="18" charset="0"/>
                </a:endParaRPr>
              </a:p>
              <a:p>
                <a14:m>
                  <m:oMath xmlns:m="http://schemas.openxmlformats.org/officeDocument/2006/math">
                    <m:r>
                      <m:rPr>
                        <m:sty m:val="p"/>
                      </m:rPr>
                      <a:rPr lang="en-US" b="0" i="1" smtClean="0">
                        <a:latin typeface="Cambria Math" panose="02040503050406030204" pitchFamily="18" charset="0"/>
                      </a:rPr>
                      <m:t>Y</m:t>
                    </m:r>
                    <m:r>
                      <a:rPr lang="en-US">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Name</m:t>
                    </m:r>
                    <m:r>
                      <a:rPr lang="en-US" b="0" i="0" smtClean="0">
                        <a:latin typeface="Cambria Math" panose="02040503050406030204" pitchFamily="18" charset="0"/>
                      </a:rPr>
                      <m:t>}</m:t>
                    </m:r>
                  </m:oMath>
                </a14:m>
                <a:r>
                  <a:rPr lang="en-US" dirty="0"/>
                  <a:t>  Since  Y is already part of  X, </a:t>
                </a:r>
              </a:p>
              <a:p>
                <a:r>
                  <a:rPr lang="en-US" dirty="0"/>
                  <a:t>If you know both StudentID and Name, you obviously know Name.</a:t>
                </a:r>
              </a:p>
              <a:p>
                <a:r>
                  <a:rPr lang="en-US" dirty="0"/>
                  <a:t>This rule is almost "common sense."</a:t>
                </a:r>
              </a:p>
              <a:p>
                <a:endParaRPr lang="en-US" dirty="0"/>
              </a:p>
            </p:txBody>
          </p:sp>
        </mc:Choice>
        <mc:Fallback xmlns="">
          <p:sp>
            <p:nvSpPr>
              <p:cNvPr id="3" name="Content Placeholder 2">
                <a:extLst>
                  <a:ext uri="{FF2B5EF4-FFF2-40B4-BE49-F238E27FC236}">
                    <a16:creationId xmlns:a16="http://schemas.microsoft.com/office/drawing/2014/main" id="{A4057BF9-8FCE-8C74-A8EF-D53C42FC202B}"/>
                  </a:ext>
                </a:extLst>
              </p:cNvPr>
              <p:cNvSpPr>
                <a:spLocks noGrp="1" noRot="1" noChangeAspect="1" noMove="1" noResize="1" noEditPoints="1" noAdjustHandles="1" noChangeArrowheads="1" noChangeShapeType="1" noTextEdit="1"/>
              </p:cNvSpPr>
              <p:nvPr>
                <p:ph idx="1"/>
              </p:nvPr>
            </p:nvSpPr>
            <p:spPr>
              <a:blipFill>
                <a:blip r:embed="rId2"/>
                <a:stretch>
                  <a:fillRect l="-1515" t="-2273"/>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7D86A792-B117-9214-49FA-7BF30A56D50F}"/>
              </a:ext>
            </a:extLst>
          </p:cNvPr>
          <p:cNvGraphicFramePr>
            <a:graphicFrameLocks noGrp="1"/>
          </p:cNvGraphicFramePr>
          <p:nvPr>
            <p:extLst>
              <p:ext uri="{D42A27DB-BD31-4B8C-83A1-F6EECF244321}">
                <p14:modId xmlns:p14="http://schemas.microsoft.com/office/powerpoint/2010/main" val="320107086"/>
              </p:ext>
            </p:extLst>
          </p:nvPr>
        </p:nvGraphicFramePr>
        <p:xfrm>
          <a:off x="5855064" y="1845734"/>
          <a:ext cx="5239656" cy="1854200"/>
        </p:xfrm>
        <a:graphic>
          <a:graphicData uri="http://schemas.openxmlformats.org/drawingml/2006/table">
            <a:tbl>
              <a:tblPr firstRow="1" bandRow="1">
                <a:tableStyleId>{5C22544A-7EE6-4342-B048-85BDC9FD1C3A}</a:tableStyleId>
              </a:tblPr>
              <a:tblGrid>
                <a:gridCol w="1309914">
                  <a:extLst>
                    <a:ext uri="{9D8B030D-6E8A-4147-A177-3AD203B41FA5}">
                      <a16:colId xmlns:a16="http://schemas.microsoft.com/office/drawing/2014/main" val="181611801"/>
                    </a:ext>
                  </a:extLst>
                </a:gridCol>
                <a:gridCol w="1309914">
                  <a:extLst>
                    <a:ext uri="{9D8B030D-6E8A-4147-A177-3AD203B41FA5}">
                      <a16:colId xmlns:a16="http://schemas.microsoft.com/office/drawing/2014/main" val="3078483893"/>
                    </a:ext>
                  </a:extLst>
                </a:gridCol>
                <a:gridCol w="1309914">
                  <a:extLst>
                    <a:ext uri="{9D8B030D-6E8A-4147-A177-3AD203B41FA5}">
                      <a16:colId xmlns:a16="http://schemas.microsoft.com/office/drawing/2014/main" val="1311095851"/>
                    </a:ext>
                  </a:extLst>
                </a:gridCol>
                <a:gridCol w="1309914">
                  <a:extLst>
                    <a:ext uri="{9D8B030D-6E8A-4147-A177-3AD203B41FA5}">
                      <a16:colId xmlns:a16="http://schemas.microsoft.com/office/drawing/2014/main" val="1007363839"/>
                    </a:ext>
                  </a:extLst>
                </a:gridCol>
              </a:tblGrid>
              <a:tr h="370840">
                <a:tc>
                  <a:txBody>
                    <a:bodyPr/>
                    <a:lstStyle/>
                    <a:p>
                      <a:pPr>
                        <a:buNone/>
                      </a:pPr>
                      <a:r>
                        <a:rPr lang="en-US" dirty="0"/>
                        <a:t>StudentID</a:t>
                      </a:r>
                    </a:p>
                  </a:txBody>
                  <a:tcPr anchor="ctr"/>
                </a:tc>
                <a:tc>
                  <a:txBody>
                    <a:bodyPr/>
                    <a:lstStyle/>
                    <a:p>
                      <a:pPr>
                        <a:buNone/>
                      </a:pPr>
                      <a:r>
                        <a:rPr lang="en-US"/>
                        <a:t>Name</a:t>
                      </a:r>
                    </a:p>
                  </a:txBody>
                  <a:tcPr anchor="ctr"/>
                </a:tc>
                <a:tc>
                  <a:txBody>
                    <a:bodyPr/>
                    <a:lstStyle/>
                    <a:p>
                      <a:pPr>
                        <a:buNone/>
                      </a:pPr>
                      <a:r>
                        <a:rPr lang="en-US"/>
                        <a:t>DeptID</a:t>
                      </a:r>
                    </a:p>
                  </a:txBody>
                  <a:tcPr anchor="ctr"/>
                </a:tc>
                <a:tc>
                  <a:txBody>
                    <a:bodyPr/>
                    <a:lstStyle/>
                    <a:p>
                      <a:pPr>
                        <a:buNone/>
                      </a:pPr>
                      <a:r>
                        <a:rPr lang="en-US"/>
                        <a:t>DeptName</a:t>
                      </a:r>
                    </a:p>
                  </a:txBody>
                  <a:tcPr anchor="ctr"/>
                </a:tc>
                <a:extLst>
                  <a:ext uri="{0D108BD9-81ED-4DB2-BD59-A6C34878D82A}">
                    <a16:rowId xmlns:a16="http://schemas.microsoft.com/office/drawing/2014/main" val="478649874"/>
                  </a:ext>
                </a:extLst>
              </a:tr>
              <a:tr h="370840">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D01</a:t>
                      </a:r>
                    </a:p>
                  </a:txBody>
                  <a:tcPr anchor="ctr"/>
                </a:tc>
                <a:tc>
                  <a:txBody>
                    <a:bodyPr/>
                    <a:lstStyle/>
                    <a:p>
                      <a:pPr>
                        <a:buNone/>
                      </a:pPr>
                      <a:r>
                        <a:rPr lang="en-US"/>
                        <a:t>Computer</a:t>
                      </a:r>
                    </a:p>
                  </a:txBody>
                  <a:tcPr anchor="ctr"/>
                </a:tc>
                <a:extLst>
                  <a:ext uri="{0D108BD9-81ED-4DB2-BD59-A6C34878D82A}">
                    <a16:rowId xmlns:a16="http://schemas.microsoft.com/office/drawing/2014/main" val="1371106894"/>
                  </a:ext>
                </a:extLst>
              </a:tr>
              <a:tr h="370840">
                <a:tc>
                  <a:txBody>
                    <a:bodyPr/>
                    <a:lstStyle/>
                    <a:p>
                      <a:pPr>
                        <a:buNone/>
                      </a:pPr>
                      <a:r>
                        <a:rPr lang="en-US"/>
                        <a:t>102</a:t>
                      </a:r>
                    </a:p>
                  </a:txBody>
                  <a:tcPr anchor="ctr"/>
                </a:tc>
                <a:tc>
                  <a:txBody>
                    <a:bodyPr/>
                    <a:lstStyle/>
                    <a:p>
                      <a:pPr>
                        <a:buNone/>
                      </a:pPr>
                      <a:r>
                        <a:rPr lang="en-US"/>
                        <a:t>Sita</a:t>
                      </a:r>
                    </a:p>
                  </a:txBody>
                  <a:tcPr anchor="ctr"/>
                </a:tc>
                <a:tc>
                  <a:txBody>
                    <a:bodyPr/>
                    <a:lstStyle/>
                    <a:p>
                      <a:pPr>
                        <a:buNone/>
                      </a:pPr>
                      <a:r>
                        <a:rPr lang="en-US"/>
                        <a:t>D02</a:t>
                      </a:r>
                    </a:p>
                  </a:txBody>
                  <a:tcPr anchor="ctr"/>
                </a:tc>
                <a:tc>
                  <a:txBody>
                    <a:bodyPr/>
                    <a:lstStyle/>
                    <a:p>
                      <a:pPr>
                        <a:buNone/>
                      </a:pPr>
                      <a:r>
                        <a:rPr lang="en-US"/>
                        <a:t>Civil</a:t>
                      </a:r>
                    </a:p>
                  </a:txBody>
                  <a:tcPr anchor="ctr"/>
                </a:tc>
                <a:extLst>
                  <a:ext uri="{0D108BD9-81ED-4DB2-BD59-A6C34878D82A}">
                    <a16:rowId xmlns:a16="http://schemas.microsoft.com/office/drawing/2014/main" val="1058347660"/>
                  </a:ext>
                </a:extLst>
              </a:tr>
              <a:tr h="370840">
                <a:tc>
                  <a:txBody>
                    <a:bodyPr/>
                    <a:lstStyle/>
                    <a:p>
                      <a:pPr>
                        <a:buNone/>
                      </a:pPr>
                      <a:r>
                        <a:rPr lang="en-US"/>
                        <a:t>103</a:t>
                      </a:r>
                    </a:p>
                  </a:txBody>
                  <a:tcPr anchor="ctr"/>
                </a:tc>
                <a:tc>
                  <a:txBody>
                    <a:bodyPr/>
                    <a:lstStyle/>
                    <a:p>
                      <a:pPr>
                        <a:buNone/>
                      </a:pPr>
                      <a:r>
                        <a:rPr lang="en-US"/>
                        <a:t>Hari</a:t>
                      </a:r>
                    </a:p>
                  </a:txBody>
                  <a:tcPr anchor="ctr"/>
                </a:tc>
                <a:tc>
                  <a:txBody>
                    <a:bodyPr/>
                    <a:lstStyle/>
                    <a:p>
                      <a:pPr>
                        <a:buNone/>
                      </a:pPr>
                      <a:r>
                        <a:rPr lang="en-US"/>
                        <a:t>D01</a:t>
                      </a:r>
                    </a:p>
                  </a:txBody>
                  <a:tcPr anchor="ctr"/>
                </a:tc>
                <a:tc>
                  <a:txBody>
                    <a:bodyPr/>
                    <a:lstStyle/>
                    <a:p>
                      <a:pPr>
                        <a:buNone/>
                      </a:pPr>
                      <a:r>
                        <a:rPr lang="en-US"/>
                        <a:t>Computer</a:t>
                      </a:r>
                    </a:p>
                  </a:txBody>
                  <a:tcPr anchor="ctr"/>
                </a:tc>
                <a:extLst>
                  <a:ext uri="{0D108BD9-81ED-4DB2-BD59-A6C34878D82A}">
                    <a16:rowId xmlns:a16="http://schemas.microsoft.com/office/drawing/2014/main" val="2832000962"/>
                  </a:ext>
                </a:extLst>
              </a:tr>
              <a:tr h="370840">
                <a:tc>
                  <a:txBody>
                    <a:bodyPr/>
                    <a:lstStyle/>
                    <a:p>
                      <a:pPr>
                        <a:buNone/>
                      </a:pPr>
                      <a:r>
                        <a:rPr lang="en-US"/>
                        <a:t>104</a:t>
                      </a:r>
                    </a:p>
                  </a:txBody>
                  <a:tcPr anchor="ctr"/>
                </a:tc>
                <a:tc>
                  <a:txBody>
                    <a:bodyPr/>
                    <a:lstStyle/>
                    <a:p>
                      <a:pPr>
                        <a:buNone/>
                      </a:pPr>
                      <a:r>
                        <a:rPr lang="en-US"/>
                        <a:t>Gita</a:t>
                      </a:r>
                    </a:p>
                  </a:txBody>
                  <a:tcPr anchor="ctr"/>
                </a:tc>
                <a:tc>
                  <a:txBody>
                    <a:bodyPr/>
                    <a:lstStyle/>
                    <a:p>
                      <a:pPr>
                        <a:buNone/>
                      </a:pPr>
                      <a:r>
                        <a:rPr lang="en-US"/>
                        <a:t>D03</a:t>
                      </a:r>
                    </a:p>
                  </a:txBody>
                  <a:tcPr anchor="ctr"/>
                </a:tc>
                <a:tc>
                  <a:txBody>
                    <a:bodyPr/>
                    <a:lstStyle/>
                    <a:p>
                      <a:pPr>
                        <a:buNone/>
                      </a:pPr>
                      <a:r>
                        <a:rPr lang="en-US" dirty="0"/>
                        <a:t>Electrical</a:t>
                      </a:r>
                    </a:p>
                  </a:txBody>
                  <a:tcPr anchor="ctr"/>
                </a:tc>
                <a:extLst>
                  <a:ext uri="{0D108BD9-81ED-4DB2-BD59-A6C34878D82A}">
                    <a16:rowId xmlns:a16="http://schemas.microsoft.com/office/drawing/2014/main" val="3594729113"/>
                  </a:ext>
                </a:extLst>
              </a:tr>
            </a:tbl>
          </a:graphicData>
        </a:graphic>
      </p:graphicFrame>
      <p:graphicFrame>
        <p:nvGraphicFramePr>
          <p:cNvPr id="5" name="Table 4">
            <a:extLst>
              <a:ext uri="{FF2B5EF4-FFF2-40B4-BE49-F238E27FC236}">
                <a16:creationId xmlns:a16="http://schemas.microsoft.com/office/drawing/2014/main" id="{9F39EE89-D32C-C5A7-E489-50B9770C6498}"/>
              </a:ext>
            </a:extLst>
          </p:cNvPr>
          <p:cNvGraphicFramePr>
            <a:graphicFrameLocks noGrp="1"/>
          </p:cNvGraphicFramePr>
          <p:nvPr>
            <p:extLst>
              <p:ext uri="{D42A27DB-BD31-4B8C-83A1-F6EECF244321}">
                <p14:modId xmlns:p14="http://schemas.microsoft.com/office/powerpoint/2010/main" val="885954951"/>
              </p:ext>
            </p:extLst>
          </p:nvPr>
        </p:nvGraphicFramePr>
        <p:xfrm>
          <a:off x="8302171" y="4345579"/>
          <a:ext cx="3563258" cy="1483360"/>
        </p:xfrm>
        <a:graphic>
          <a:graphicData uri="http://schemas.openxmlformats.org/drawingml/2006/table">
            <a:tbl>
              <a:tblPr firstRow="1" bandRow="1">
                <a:tableStyleId>{5C22544A-7EE6-4342-B048-85BDC9FD1C3A}</a:tableStyleId>
              </a:tblPr>
              <a:tblGrid>
                <a:gridCol w="1781629">
                  <a:extLst>
                    <a:ext uri="{9D8B030D-6E8A-4147-A177-3AD203B41FA5}">
                      <a16:colId xmlns:a16="http://schemas.microsoft.com/office/drawing/2014/main" val="299875729"/>
                    </a:ext>
                  </a:extLst>
                </a:gridCol>
                <a:gridCol w="1781629">
                  <a:extLst>
                    <a:ext uri="{9D8B030D-6E8A-4147-A177-3AD203B41FA5}">
                      <a16:colId xmlns:a16="http://schemas.microsoft.com/office/drawing/2014/main" val="2294923908"/>
                    </a:ext>
                  </a:extLst>
                </a:gridCol>
              </a:tblGrid>
              <a:tr h="370840">
                <a:tc>
                  <a:txBody>
                    <a:bodyPr/>
                    <a:lstStyle/>
                    <a:p>
                      <a:pPr>
                        <a:buNone/>
                      </a:pPr>
                      <a:r>
                        <a:rPr lang="en-US" dirty="0"/>
                        <a:t>StudentID</a:t>
                      </a:r>
                    </a:p>
                  </a:txBody>
                  <a:tcPr anchor="ctr"/>
                </a:tc>
                <a:tc>
                  <a:txBody>
                    <a:bodyPr/>
                    <a:lstStyle/>
                    <a:p>
                      <a:pPr>
                        <a:buNone/>
                      </a:pPr>
                      <a:r>
                        <a:rPr lang="en-US"/>
                        <a:t>Name</a:t>
                      </a:r>
                    </a:p>
                  </a:txBody>
                  <a:tcPr anchor="ctr"/>
                </a:tc>
                <a:extLst>
                  <a:ext uri="{0D108BD9-81ED-4DB2-BD59-A6C34878D82A}">
                    <a16:rowId xmlns:a16="http://schemas.microsoft.com/office/drawing/2014/main" val="1342963589"/>
                  </a:ext>
                </a:extLst>
              </a:tr>
              <a:tr h="370840">
                <a:tc>
                  <a:txBody>
                    <a:bodyPr/>
                    <a:lstStyle/>
                    <a:p>
                      <a:pPr>
                        <a:buNone/>
                      </a:pPr>
                      <a:r>
                        <a:rPr lang="en-US"/>
                        <a:t>101</a:t>
                      </a:r>
                    </a:p>
                  </a:txBody>
                  <a:tcPr anchor="ctr"/>
                </a:tc>
                <a:tc>
                  <a:txBody>
                    <a:bodyPr/>
                    <a:lstStyle/>
                    <a:p>
                      <a:pPr>
                        <a:buNone/>
                      </a:pPr>
                      <a:r>
                        <a:rPr lang="en-US"/>
                        <a:t>Ram</a:t>
                      </a:r>
                    </a:p>
                  </a:txBody>
                  <a:tcPr anchor="ctr"/>
                </a:tc>
                <a:extLst>
                  <a:ext uri="{0D108BD9-81ED-4DB2-BD59-A6C34878D82A}">
                    <a16:rowId xmlns:a16="http://schemas.microsoft.com/office/drawing/2014/main" val="3415410998"/>
                  </a:ext>
                </a:extLst>
              </a:tr>
              <a:tr h="370840">
                <a:tc>
                  <a:txBody>
                    <a:bodyPr/>
                    <a:lstStyle/>
                    <a:p>
                      <a:pPr>
                        <a:buNone/>
                      </a:pPr>
                      <a:r>
                        <a:rPr lang="en-US" dirty="0"/>
                        <a:t>102</a:t>
                      </a:r>
                    </a:p>
                  </a:txBody>
                  <a:tcPr anchor="ctr"/>
                </a:tc>
                <a:tc>
                  <a:txBody>
                    <a:bodyPr/>
                    <a:lstStyle/>
                    <a:p>
                      <a:pPr>
                        <a:buNone/>
                      </a:pPr>
                      <a:r>
                        <a:rPr lang="en-US" dirty="0"/>
                        <a:t>Sita</a:t>
                      </a:r>
                    </a:p>
                  </a:txBody>
                  <a:tcPr anchor="ctr"/>
                </a:tc>
                <a:extLst>
                  <a:ext uri="{0D108BD9-81ED-4DB2-BD59-A6C34878D82A}">
                    <a16:rowId xmlns:a16="http://schemas.microsoft.com/office/drawing/2014/main" val="3147211787"/>
                  </a:ext>
                </a:extLst>
              </a:tr>
              <a:tr h="370840">
                <a:tc>
                  <a:txBody>
                    <a:bodyPr/>
                    <a:lstStyle/>
                    <a:p>
                      <a:r>
                        <a:rPr lang="en-US" dirty="0"/>
                        <a:t>103</a:t>
                      </a:r>
                    </a:p>
                  </a:txBody>
                  <a:tcPr/>
                </a:tc>
                <a:tc>
                  <a:txBody>
                    <a:bodyPr/>
                    <a:lstStyle/>
                    <a:p>
                      <a:r>
                        <a:rPr lang="en-US" dirty="0"/>
                        <a:t>Hari </a:t>
                      </a:r>
                    </a:p>
                  </a:txBody>
                  <a:tcPr/>
                </a:tc>
                <a:extLst>
                  <a:ext uri="{0D108BD9-81ED-4DB2-BD59-A6C34878D82A}">
                    <a16:rowId xmlns:a16="http://schemas.microsoft.com/office/drawing/2014/main" val="2827427274"/>
                  </a:ext>
                </a:extLst>
              </a:tr>
            </a:tbl>
          </a:graphicData>
        </a:graphic>
      </p:graphicFrame>
    </p:spTree>
    <p:extLst>
      <p:ext uri="{BB962C8B-B14F-4D97-AF65-F5344CB8AC3E}">
        <p14:creationId xmlns:p14="http://schemas.microsoft.com/office/powerpoint/2010/main" val="34032824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B1F5-2C69-D62B-7153-41ED6EEB0B5A}"/>
              </a:ext>
            </a:extLst>
          </p:cNvPr>
          <p:cNvSpPr>
            <a:spLocks noGrp="1"/>
          </p:cNvSpPr>
          <p:nvPr>
            <p:ph type="title"/>
          </p:nvPr>
        </p:nvSpPr>
        <p:spPr/>
        <p:txBody>
          <a:bodyPr/>
          <a:lstStyle/>
          <a:p>
            <a:r>
              <a:rPr lang="en-US" dirty="0"/>
              <a:t>Augmentation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B75C5A-C412-ADF3-F1C3-B8B36D6643AD}"/>
                  </a:ext>
                </a:extLst>
              </p:cNvPr>
              <p:cNvSpPr>
                <a:spLocks noGrp="1"/>
              </p:cNvSpPr>
              <p:nvPr>
                <p:ph idx="1"/>
              </p:nvPr>
            </p:nvSpPr>
            <p:spPr/>
            <p:txBody>
              <a:bodyPr>
                <a:normAutofit/>
              </a:bodyPr>
              <a:lstStyle/>
              <a:p>
                <a:r>
                  <a:rPr lang="en-US" dirty="0"/>
                  <a:t>If: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r>
                  <a:rPr lang="en-US" dirty="0"/>
                  <a:t>, then: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𝑋𝑍</m:t>
                    </m:r>
                    <m:r>
                      <a:rPr lang="en-US">
                        <a:latin typeface="Cambria Math" panose="02040503050406030204" pitchFamily="18" charset="0"/>
                      </a:rPr>
                      <m:t>→</m:t>
                    </m:r>
                    <m:r>
                      <a:rPr lang="en-US" i="1">
                        <a:latin typeface="Cambria Math" panose="02040503050406030204" pitchFamily="18" charset="0"/>
                      </a:rPr>
                      <m:t>𝑌𝑍</m:t>
                    </m:r>
                  </m:oMath>
                </a14:m>
                <a:endParaRPr lang="en-US" dirty="0"/>
              </a:p>
              <a:p>
                <a:r>
                  <a:rPr lang="en-US" dirty="0"/>
                  <a:t>where Z is any set of attributes.</a:t>
                </a:r>
              </a:p>
              <a:p>
                <a:r>
                  <a:rPr lang="en-US" b="1" dirty="0"/>
                  <a:t>Meaning:  </a:t>
                </a:r>
                <a:r>
                  <a:rPr lang="en-US" dirty="0"/>
                  <a:t>If X determines Y, then adding the same attributes to both sides preserves the dependency.</a:t>
                </a:r>
              </a:p>
              <a:p>
                <a:r>
                  <a:rPr lang="en-US" b="1" dirty="0"/>
                  <a:t>Example, </a:t>
                </a:r>
                <a:r>
                  <a:rPr lang="en-US" dirty="0"/>
                  <a:t>Given:</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𝑁𝑎𝑚𝑒</m:t>
                    </m:r>
                  </m:oMath>
                </a14:m>
                <a:endParaRPr lang="en-US" dirty="0"/>
              </a:p>
              <a:p>
                <a:r>
                  <a:rPr lang="en-US" dirty="0"/>
                  <a:t>Add </a:t>
                </a:r>
                <a:r>
                  <a:rPr lang="en-US" dirty="0" err="1"/>
                  <a:t>Subject_ID</a:t>
                </a:r>
                <a:r>
                  <a:rPr lang="en-US" dirty="0"/>
                  <a:t> to both sides:</a:t>
                </a:r>
              </a:p>
              <a:p>
                <a14:m>
                  <m:oMath xmlns:m="http://schemas.openxmlformats.org/officeDocument/2006/math">
                    <m:d>
                      <m:dPr>
                        <m:sepChr m:val=","/>
                        <m:ctrlPr>
                          <a:rPr lang="ar-AE" i="1">
                            <a:latin typeface="Cambria Math" panose="02040503050406030204" pitchFamily="18" charset="0"/>
                          </a:rPr>
                        </m:ctrlPr>
                      </m:dPr>
                      <m:e>
                        <m:r>
                          <a:rPr lang="ar-AE" i="1">
                            <a:latin typeface="Cambria Math" panose="02040503050406030204" pitchFamily="18" charset="0"/>
                          </a:rPr>
                          <m:t>𝑆</m:t>
                        </m:r>
                      </m:e>
                      <m:e>
                        <m:r>
                          <a:rPr lang="ar-AE" i="1">
                            <a:latin typeface="Cambria Math" panose="02040503050406030204" pitchFamily="18" charset="0"/>
                          </a:rPr>
                          <m:t>𝑡𝑢𝑑𝑒𝑛𝑡</m:t>
                        </m:r>
                        <m:r>
                          <m:rPr>
                            <m:lit/>
                          </m:rPr>
                          <a:rPr lang="ar-AE">
                            <a:latin typeface="Cambria Math" panose="02040503050406030204" pitchFamily="18" charset="0"/>
                          </a:rPr>
                          <m:t>_</m:t>
                        </m:r>
                        <m:r>
                          <a:rPr lang="ar-AE" i="1">
                            <a:latin typeface="Cambria Math" panose="02040503050406030204" pitchFamily="18" charset="0"/>
                          </a:rPr>
                          <m:t>𝐼𝐷𝑆𝑢𝑏𝑗𝑒𝑐𝑡</m:t>
                        </m:r>
                        <m:r>
                          <m:rPr>
                            <m:lit/>
                          </m:rPr>
                          <a:rPr lang="ar-AE">
                            <a:latin typeface="Cambria Math" panose="02040503050406030204" pitchFamily="18" charset="0"/>
                          </a:rPr>
                          <m:t>_</m:t>
                        </m:r>
                        <m:r>
                          <a:rPr lang="ar-AE" i="1">
                            <a:latin typeface="Cambria Math" panose="02040503050406030204" pitchFamily="18" charset="0"/>
                          </a:rPr>
                          <m:t>𝐼𝐷</m:t>
                        </m:r>
                      </m:e>
                    </m:d>
                    <m:r>
                      <a:rPr lang="ar-AE">
                        <a:latin typeface="Cambria Math" panose="02040503050406030204" pitchFamily="18" charset="0"/>
                      </a:rPr>
                      <m:t>→</m:t>
                    </m:r>
                    <m:d>
                      <m:dPr>
                        <m:sepChr m:val=","/>
                        <m:ctrlPr>
                          <a:rPr lang="ar-AE" i="1">
                            <a:latin typeface="Cambria Math" panose="02040503050406030204" pitchFamily="18" charset="0"/>
                          </a:rPr>
                        </m:ctrlPr>
                      </m:dPr>
                      <m:e>
                        <m:r>
                          <a:rPr lang="ar-AE" i="1">
                            <a:latin typeface="Cambria Math" panose="02040503050406030204" pitchFamily="18" charset="0"/>
                          </a:rPr>
                          <m:t>𝑆</m:t>
                        </m:r>
                      </m:e>
                      <m:e>
                        <m:r>
                          <a:rPr lang="ar-AE" i="1">
                            <a:latin typeface="Cambria Math" panose="02040503050406030204" pitchFamily="18" charset="0"/>
                          </a:rPr>
                          <m:t>𝑡𝑢𝑑𝑒𝑛𝑡</m:t>
                        </m:r>
                        <m:r>
                          <m:rPr>
                            <m:lit/>
                          </m:rPr>
                          <a:rPr lang="ar-AE">
                            <a:latin typeface="Cambria Math" panose="02040503050406030204" pitchFamily="18" charset="0"/>
                          </a:rPr>
                          <m:t>_</m:t>
                        </m:r>
                        <m:r>
                          <a:rPr lang="ar-AE" i="1">
                            <a:latin typeface="Cambria Math" panose="02040503050406030204" pitchFamily="18" charset="0"/>
                          </a:rPr>
                          <m:t>𝑁𝑎𝑚𝑒𝑆𝑢𝑏𝑗𝑒𝑐𝑡</m:t>
                        </m:r>
                        <m:r>
                          <m:rPr>
                            <m:lit/>
                          </m:rPr>
                          <a:rPr lang="ar-AE">
                            <a:latin typeface="Cambria Math" panose="02040503050406030204" pitchFamily="18" charset="0"/>
                          </a:rPr>
                          <m:t>_</m:t>
                        </m:r>
                        <m:r>
                          <a:rPr lang="ar-AE" i="1">
                            <a:latin typeface="Cambria Math" panose="02040503050406030204" pitchFamily="18" charset="0"/>
                          </a:rPr>
                          <m:t>𝐼𝐷</m:t>
                        </m:r>
                      </m:e>
                    </m:d>
                  </m:oMath>
                </a14:m>
                <a:endParaRPr lang="ar-AE" dirty="0"/>
              </a:p>
              <a:p>
                <a:r>
                  <a:rPr lang="en-US" dirty="0"/>
                  <a:t>The dependency still holds.</a:t>
                </a:r>
              </a:p>
              <a:p>
                <a:endParaRPr lang="en-US" dirty="0"/>
              </a:p>
            </p:txBody>
          </p:sp>
        </mc:Choice>
        <mc:Fallback xmlns="">
          <p:sp>
            <p:nvSpPr>
              <p:cNvPr id="3" name="Content Placeholder 2">
                <a:extLst>
                  <a:ext uri="{FF2B5EF4-FFF2-40B4-BE49-F238E27FC236}">
                    <a16:creationId xmlns:a16="http://schemas.microsoft.com/office/drawing/2014/main" id="{E6B75C5A-C412-ADF3-F1C3-B8B36D6643AD}"/>
                  </a:ext>
                </a:extLst>
              </p:cNvPr>
              <p:cNvSpPr>
                <a:spLocks noGrp="1" noRot="1" noChangeAspect="1" noMove="1" noResize="1" noEditPoints="1" noAdjustHandles="1" noChangeArrowheads="1" noChangeShapeType="1" noTextEdit="1"/>
              </p:cNvSpPr>
              <p:nvPr>
                <p:ph idx="1"/>
              </p:nvPr>
            </p:nvSpPr>
            <p:spPr>
              <a:blipFill>
                <a:blip r:embed="rId2"/>
                <a:stretch>
                  <a:fillRect l="-1515" t="-1667"/>
                </a:stretch>
              </a:blipFill>
            </p:spPr>
            <p:txBody>
              <a:bodyPr/>
              <a:lstStyle/>
              <a:p>
                <a:r>
                  <a:rPr lang="en-US">
                    <a:noFill/>
                  </a:rPr>
                  <a:t> </a:t>
                </a:r>
              </a:p>
            </p:txBody>
          </p:sp>
        </mc:Fallback>
      </mc:AlternateContent>
    </p:spTree>
    <p:extLst>
      <p:ext uri="{BB962C8B-B14F-4D97-AF65-F5344CB8AC3E}">
        <p14:creationId xmlns:p14="http://schemas.microsoft.com/office/powerpoint/2010/main" val="18176377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6F547-4904-014B-00DB-BB0EE1442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498FF-D71C-D654-7632-E5EE15F621F9}"/>
              </a:ext>
            </a:extLst>
          </p:cNvPr>
          <p:cNvSpPr>
            <a:spLocks noGrp="1"/>
          </p:cNvSpPr>
          <p:nvPr>
            <p:ph type="title"/>
          </p:nvPr>
        </p:nvSpPr>
        <p:spPr/>
        <p:txBody>
          <a:bodyPr/>
          <a:lstStyle/>
          <a:p>
            <a:r>
              <a:rPr lang="en-US" dirty="0"/>
              <a:t>Augmentation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3BF196-22FD-5D4B-8E70-6A99E27DA4B3}"/>
                  </a:ext>
                </a:extLst>
              </p:cNvPr>
              <p:cNvSpPr>
                <a:spLocks noGrp="1"/>
              </p:cNvSpPr>
              <p:nvPr>
                <p:ph idx="1"/>
              </p:nvPr>
            </p:nvSpPr>
            <p:spPr>
              <a:xfrm>
                <a:off x="1097279" y="1845734"/>
                <a:ext cx="6370321" cy="4489752"/>
              </a:xfrm>
            </p:spPr>
            <p:txBody>
              <a:bodyPr>
                <a:normAutofit/>
              </a:bodyPr>
              <a:lstStyle/>
              <a:p>
                <a:r>
                  <a:rPr lang="en-US" dirty="0"/>
                  <a:t>If: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r>
                  <a:rPr lang="en-US" dirty="0"/>
                  <a:t>, then: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𝑋𝑍</m:t>
                    </m:r>
                    <m:r>
                      <a:rPr lang="en-US">
                        <a:latin typeface="Cambria Math" panose="02040503050406030204" pitchFamily="18" charset="0"/>
                      </a:rPr>
                      <m:t>→</m:t>
                    </m:r>
                    <m:r>
                      <a:rPr lang="en-US" i="1">
                        <a:latin typeface="Cambria Math" panose="02040503050406030204" pitchFamily="18" charset="0"/>
                      </a:rPr>
                      <m:t>𝑌𝑍</m:t>
                    </m:r>
                    <m:r>
                      <a:rPr lang="en-US" b="0" i="0" smtClean="0">
                        <a:latin typeface="Cambria Math" panose="02040503050406030204" pitchFamily="18" charset="0"/>
                      </a:rPr>
                      <m:t>, </m:t>
                    </m:r>
                  </m:oMath>
                </a14:m>
                <a:r>
                  <a:rPr lang="en-US" dirty="0"/>
                  <a:t>  where Z is any set of attributes.</a:t>
                </a:r>
              </a:p>
              <a:p>
                <a:r>
                  <a:rPr lang="en-US" b="1" dirty="0"/>
                  <a:t>Example, </a:t>
                </a:r>
                <a:r>
                  <a:rPr lang="en-US" dirty="0"/>
                  <a:t>Given:</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𝑁𝑎𝑚𝑒</m:t>
                    </m:r>
                  </m:oMath>
                </a14:m>
                <a:endParaRPr lang="en-US" dirty="0"/>
              </a:p>
              <a:p>
                <a:r>
                  <a:rPr lang="en-US" dirty="0"/>
                  <a:t>Add </a:t>
                </a:r>
                <a:r>
                  <a:rPr lang="en-US" dirty="0" err="1"/>
                  <a:t>Dept_ID</a:t>
                </a:r>
                <a:r>
                  <a:rPr lang="en-US" dirty="0"/>
                  <a:t> to both sides:</a:t>
                </a:r>
              </a:p>
              <a:p>
                <a:r>
                  <a:rPr lang="en-US" dirty="0"/>
                  <a:t>{</a:t>
                </a:r>
                <a:r>
                  <a:rPr lang="en-US" dirty="0" err="1"/>
                  <a:t>Student_ID</a:t>
                </a:r>
                <a:r>
                  <a:rPr lang="en-US" dirty="0"/>
                  <a:t>, </a:t>
                </a:r>
                <a:r>
                  <a:rPr lang="en-US" dirty="0" err="1"/>
                  <a:t>Dept_ID</a:t>
                </a:r>
                <a:r>
                  <a:rPr lang="en-US" dirty="0"/>
                  <a:t>}</a:t>
                </a:r>
                <a14:m>
                  <m:oMath xmlns:m="http://schemas.openxmlformats.org/officeDocument/2006/math">
                    <m:r>
                      <a:rPr lang="ar-AE">
                        <a:latin typeface="Cambria Math" panose="02040503050406030204" pitchFamily="18" charset="0"/>
                      </a:rPr>
                      <m:t>→</m:t>
                    </m:r>
                    <m:r>
                      <a:rPr lang="en-US" b="0" i="0" smtClean="0">
                        <a:latin typeface="Cambria Math" panose="02040503050406030204" pitchFamily="18" charset="0"/>
                      </a:rPr>
                      <m:t> {</m:t>
                    </m:r>
                    <m:r>
                      <m:rPr>
                        <m:sty m:val="p"/>
                      </m:rPr>
                      <a:rPr lang="en-US" b="0" i="0" smtClean="0">
                        <a:latin typeface="Cambria Math" panose="02040503050406030204" pitchFamily="18" charset="0"/>
                      </a:rPr>
                      <m:t>Name</m:t>
                    </m:r>
                    <m:r>
                      <a:rPr lang="en-US" b="0" i="0" smtClean="0">
                        <a:latin typeface="Cambria Math" panose="02040503050406030204" pitchFamily="18" charset="0"/>
                      </a:rPr>
                      <m:t>, </m:t>
                    </m:r>
                    <m:r>
                      <m:rPr>
                        <m:sty m:val="p"/>
                      </m:rPr>
                      <a:rPr lang="en-US" b="0" i="0" smtClean="0">
                        <a:latin typeface="Cambria Math" panose="02040503050406030204" pitchFamily="18" charset="0"/>
                      </a:rPr>
                      <m:t>Dept</m:t>
                    </m:r>
                    <m:r>
                      <a:rPr lang="en-US" b="0" i="0" smtClean="0">
                        <a:latin typeface="Cambria Math" panose="02040503050406030204" pitchFamily="18" charset="0"/>
                      </a:rPr>
                      <m:t>_</m:t>
                    </m:r>
                    <m:r>
                      <m:rPr>
                        <m:sty m:val="p"/>
                      </m:rPr>
                      <a:rPr lang="en-US" b="0" i="0" smtClean="0">
                        <a:latin typeface="Cambria Math" panose="02040503050406030204" pitchFamily="18" charset="0"/>
                      </a:rPr>
                      <m:t>ID</m:t>
                    </m:r>
                    <m:r>
                      <a:rPr lang="en-US" b="0" i="0" smtClean="0">
                        <a:latin typeface="Cambria Math" panose="02040503050406030204" pitchFamily="18" charset="0"/>
                      </a:rPr>
                      <m:t>}</m:t>
                    </m:r>
                  </m:oMath>
                </a14:m>
                <a:endParaRPr lang="ar-AE" dirty="0"/>
              </a:p>
              <a:p>
                <a:r>
                  <a:rPr lang="en-US" dirty="0"/>
                  <a:t>The dependency still holds. Then the new table will become.</a:t>
                </a:r>
              </a:p>
              <a:p>
                <a:pPr lvl="1"/>
                <a:r>
                  <a:rPr lang="en-US" dirty="0"/>
                  <a:t>Knowing StudentID and </a:t>
                </a:r>
                <a:r>
                  <a:rPr lang="en-US" dirty="0" err="1"/>
                  <a:t>DeptID</a:t>
                </a:r>
                <a:r>
                  <a:rPr lang="en-US" dirty="0"/>
                  <a:t> still uniquely determines Name and </a:t>
                </a:r>
                <a:r>
                  <a:rPr lang="en-US" dirty="0" err="1"/>
                  <a:t>DeptID</a:t>
                </a:r>
                <a:r>
                  <a:rPr lang="en-US" dirty="0"/>
                  <a:t>.</a:t>
                </a:r>
              </a:p>
              <a:p>
                <a:pPr lvl="1"/>
                <a:r>
                  <a:rPr lang="en-US" dirty="0"/>
                  <a:t>We simply attached the same attribute (</a:t>
                </a:r>
                <a:r>
                  <a:rPr lang="en-US" dirty="0" err="1"/>
                  <a:t>DeptID</a:t>
                </a:r>
                <a:r>
                  <a:rPr lang="en-US" dirty="0"/>
                  <a:t>) to both sides.</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1F3BF196-22FD-5D4B-8E70-6A99E27DA4B3}"/>
                  </a:ext>
                </a:extLst>
              </p:cNvPr>
              <p:cNvSpPr>
                <a:spLocks noGrp="1" noRot="1" noChangeAspect="1" noMove="1" noResize="1" noEditPoints="1" noAdjustHandles="1" noChangeArrowheads="1" noChangeShapeType="1" noTextEdit="1"/>
              </p:cNvSpPr>
              <p:nvPr>
                <p:ph idx="1"/>
              </p:nvPr>
            </p:nvSpPr>
            <p:spPr>
              <a:xfrm>
                <a:off x="1097279" y="1845734"/>
                <a:ext cx="6370321" cy="4489752"/>
              </a:xfrm>
              <a:blipFill>
                <a:blip r:embed="rId2"/>
                <a:stretch>
                  <a:fillRect l="-2392" t="-1495" r="-2010" b="-1087"/>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6082DE12-277A-B7C1-A4ED-32CF55CCF923}"/>
              </a:ext>
            </a:extLst>
          </p:cNvPr>
          <p:cNvGraphicFramePr>
            <a:graphicFrameLocks noGrp="1"/>
          </p:cNvGraphicFramePr>
          <p:nvPr>
            <p:extLst>
              <p:ext uri="{D42A27DB-BD31-4B8C-83A1-F6EECF244321}">
                <p14:modId xmlns:p14="http://schemas.microsoft.com/office/powerpoint/2010/main" val="2519175627"/>
              </p:ext>
            </p:extLst>
          </p:nvPr>
        </p:nvGraphicFramePr>
        <p:xfrm>
          <a:off x="8055429" y="2316480"/>
          <a:ext cx="2757714" cy="1112520"/>
        </p:xfrm>
        <a:graphic>
          <a:graphicData uri="http://schemas.openxmlformats.org/drawingml/2006/table">
            <a:tbl>
              <a:tblPr firstRow="1" bandRow="1">
                <a:tableStyleId>{5C22544A-7EE6-4342-B048-85BDC9FD1C3A}</a:tableStyleId>
              </a:tblPr>
              <a:tblGrid>
                <a:gridCol w="1378857">
                  <a:extLst>
                    <a:ext uri="{9D8B030D-6E8A-4147-A177-3AD203B41FA5}">
                      <a16:colId xmlns:a16="http://schemas.microsoft.com/office/drawing/2014/main" val="3869260874"/>
                    </a:ext>
                  </a:extLst>
                </a:gridCol>
                <a:gridCol w="1378857">
                  <a:extLst>
                    <a:ext uri="{9D8B030D-6E8A-4147-A177-3AD203B41FA5}">
                      <a16:colId xmlns:a16="http://schemas.microsoft.com/office/drawing/2014/main" val="2093289675"/>
                    </a:ext>
                  </a:extLst>
                </a:gridCol>
              </a:tblGrid>
              <a:tr h="370840">
                <a:tc>
                  <a:txBody>
                    <a:bodyPr/>
                    <a:lstStyle/>
                    <a:p>
                      <a:pPr>
                        <a:buNone/>
                      </a:pPr>
                      <a:r>
                        <a:rPr lang="en-US" dirty="0"/>
                        <a:t>StudentID</a:t>
                      </a:r>
                    </a:p>
                  </a:txBody>
                  <a:tcPr anchor="ctr"/>
                </a:tc>
                <a:tc>
                  <a:txBody>
                    <a:bodyPr/>
                    <a:lstStyle/>
                    <a:p>
                      <a:pPr>
                        <a:buNone/>
                      </a:pPr>
                      <a:r>
                        <a:rPr lang="en-US"/>
                        <a:t>Name</a:t>
                      </a:r>
                    </a:p>
                  </a:txBody>
                  <a:tcPr anchor="ctr"/>
                </a:tc>
                <a:extLst>
                  <a:ext uri="{0D108BD9-81ED-4DB2-BD59-A6C34878D82A}">
                    <a16:rowId xmlns:a16="http://schemas.microsoft.com/office/drawing/2014/main" val="262870237"/>
                  </a:ext>
                </a:extLst>
              </a:tr>
              <a:tr h="370840">
                <a:tc>
                  <a:txBody>
                    <a:bodyPr/>
                    <a:lstStyle/>
                    <a:p>
                      <a:pPr>
                        <a:buNone/>
                      </a:pPr>
                      <a:r>
                        <a:rPr lang="en-US"/>
                        <a:t>101</a:t>
                      </a:r>
                    </a:p>
                  </a:txBody>
                  <a:tcPr anchor="ctr"/>
                </a:tc>
                <a:tc>
                  <a:txBody>
                    <a:bodyPr/>
                    <a:lstStyle/>
                    <a:p>
                      <a:pPr>
                        <a:buNone/>
                      </a:pPr>
                      <a:r>
                        <a:rPr lang="en-US"/>
                        <a:t>Ram</a:t>
                      </a:r>
                    </a:p>
                  </a:txBody>
                  <a:tcPr anchor="ctr"/>
                </a:tc>
                <a:extLst>
                  <a:ext uri="{0D108BD9-81ED-4DB2-BD59-A6C34878D82A}">
                    <a16:rowId xmlns:a16="http://schemas.microsoft.com/office/drawing/2014/main" val="965039675"/>
                  </a:ext>
                </a:extLst>
              </a:tr>
              <a:tr h="370840">
                <a:tc>
                  <a:txBody>
                    <a:bodyPr/>
                    <a:lstStyle/>
                    <a:p>
                      <a:pPr>
                        <a:buNone/>
                      </a:pPr>
                      <a:r>
                        <a:rPr lang="en-US"/>
                        <a:t>102</a:t>
                      </a:r>
                    </a:p>
                  </a:txBody>
                  <a:tcPr anchor="ctr"/>
                </a:tc>
                <a:tc>
                  <a:txBody>
                    <a:bodyPr/>
                    <a:lstStyle/>
                    <a:p>
                      <a:pPr>
                        <a:buNone/>
                      </a:pPr>
                      <a:r>
                        <a:rPr lang="en-US" dirty="0"/>
                        <a:t>Sita</a:t>
                      </a:r>
                    </a:p>
                  </a:txBody>
                  <a:tcPr anchor="ctr"/>
                </a:tc>
                <a:extLst>
                  <a:ext uri="{0D108BD9-81ED-4DB2-BD59-A6C34878D82A}">
                    <a16:rowId xmlns:a16="http://schemas.microsoft.com/office/drawing/2014/main" val="974668775"/>
                  </a:ext>
                </a:extLst>
              </a:tr>
            </a:tbl>
          </a:graphicData>
        </a:graphic>
      </p:graphicFrame>
      <p:graphicFrame>
        <p:nvGraphicFramePr>
          <p:cNvPr id="5" name="Table 4">
            <a:extLst>
              <a:ext uri="{FF2B5EF4-FFF2-40B4-BE49-F238E27FC236}">
                <a16:creationId xmlns:a16="http://schemas.microsoft.com/office/drawing/2014/main" id="{725ADFA7-595C-22ED-3F23-677B7B78D637}"/>
              </a:ext>
            </a:extLst>
          </p:cNvPr>
          <p:cNvGraphicFramePr>
            <a:graphicFrameLocks noGrp="1"/>
          </p:cNvGraphicFramePr>
          <p:nvPr>
            <p:extLst>
              <p:ext uri="{D42A27DB-BD31-4B8C-83A1-F6EECF244321}">
                <p14:modId xmlns:p14="http://schemas.microsoft.com/office/powerpoint/2010/main" val="2994016459"/>
              </p:ext>
            </p:extLst>
          </p:nvPr>
        </p:nvGraphicFramePr>
        <p:xfrm>
          <a:off x="7823199" y="4564381"/>
          <a:ext cx="4368801" cy="1112520"/>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2113417007"/>
                    </a:ext>
                  </a:extLst>
                </a:gridCol>
                <a:gridCol w="1456267">
                  <a:extLst>
                    <a:ext uri="{9D8B030D-6E8A-4147-A177-3AD203B41FA5}">
                      <a16:colId xmlns:a16="http://schemas.microsoft.com/office/drawing/2014/main" val="3247373409"/>
                    </a:ext>
                  </a:extLst>
                </a:gridCol>
                <a:gridCol w="1456267">
                  <a:extLst>
                    <a:ext uri="{9D8B030D-6E8A-4147-A177-3AD203B41FA5}">
                      <a16:colId xmlns:a16="http://schemas.microsoft.com/office/drawing/2014/main" val="2731609257"/>
                    </a:ext>
                  </a:extLst>
                </a:gridCol>
              </a:tblGrid>
              <a:tr h="370840">
                <a:tc>
                  <a:txBody>
                    <a:bodyPr/>
                    <a:lstStyle/>
                    <a:p>
                      <a:pPr>
                        <a:buNone/>
                      </a:pPr>
                      <a:r>
                        <a:rPr lang="en-US" dirty="0"/>
                        <a:t>StudentID</a:t>
                      </a:r>
                    </a:p>
                  </a:txBody>
                  <a:tcPr anchor="ctr"/>
                </a:tc>
                <a:tc>
                  <a:txBody>
                    <a:bodyPr/>
                    <a:lstStyle/>
                    <a:p>
                      <a:pPr>
                        <a:buNone/>
                      </a:pPr>
                      <a:r>
                        <a:rPr lang="en-US"/>
                        <a:t>DeptID</a:t>
                      </a:r>
                    </a:p>
                  </a:txBody>
                  <a:tcPr anchor="ctr"/>
                </a:tc>
                <a:tc>
                  <a:txBody>
                    <a:bodyPr/>
                    <a:lstStyle/>
                    <a:p>
                      <a:pPr>
                        <a:buNone/>
                      </a:pPr>
                      <a:r>
                        <a:rPr lang="en-US"/>
                        <a:t>Name</a:t>
                      </a:r>
                    </a:p>
                  </a:txBody>
                  <a:tcPr anchor="ctr"/>
                </a:tc>
                <a:extLst>
                  <a:ext uri="{0D108BD9-81ED-4DB2-BD59-A6C34878D82A}">
                    <a16:rowId xmlns:a16="http://schemas.microsoft.com/office/drawing/2014/main" val="313273270"/>
                  </a:ext>
                </a:extLst>
              </a:tr>
              <a:tr h="370840">
                <a:tc>
                  <a:txBody>
                    <a:bodyPr/>
                    <a:lstStyle/>
                    <a:p>
                      <a:pPr>
                        <a:buNone/>
                      </a:pPr>
                      <a:r>
                        <a:rPr lang="en-US"/>
                        <a:t>101</a:t>
                      </a:r>
                    </a:p>
                  </a:txBody>
                  <a:tcPr anchor="ctr"/>
                </a:tc>
                <a:tc>
                  <a:txBody>
                    <a:bodyPr/>
                    <a:lstStyle/>
                    <a:p>
                      <a:pPr>
                        <a:buNone/>
                      </a:pPr>
                      <a:r>
                        <a:rPr lang="en-US"/>
                        <a:t>D01</a:t>
                      </a:r>
                    </a:p>
                  </a:txBody>
                  <a:tcPr anchor="ctr"/>
                </a:tc>
                <a:tc>
                  <a:txBody>
                    <a:bodyPr/>
                    <a:lstStyle/>
                    <a:p>
                      <a:pPr>
                        <a:buNone/>
                      </a:pPr>
                      <a:r>
                        <a:rPr lang="en-US"/>
                        <a:t>Ram</a:t>
                      </a:r>
                    </a:p>
                  </a:txBody>
                  <a:tcPr anchor="ctr"/>
                </a:tc>
                <a:extLst>
                  <a:ext uri="{0D108BD9-81ED-4DB2-BD59-A6C34878D82A}">
                    <a16:rowId xmlns:a16="http://schemas.microsoft.com/office/drawing/2014/main" val="1896086407"/>
                  </a:ext>
                </a:extLst>
              </a:tr>
              <a:tr h="370840">
                <a:tc>
                  <a:txBody>
                    <a:bodyPr/>
                    <a:lstStyle/>
                    <a:p>
                      <a:pPr>
                        <a:buNone/>
                      </a:pPr>
                      <a:r>
                        <a:rPr lang="en-US"/>
                        <a:t>102</a:t>
                      </a:r>
                    </a:p>
                  </a:txBody>
                  <a:tcPr anchor="ctr"/>
                </a:tc>
                <a:tc>
                  <a:txBody>
                    <a:bodyPr/>
                    <a:lstStyle/>
                    <a:p>
                      <a:pPr>
                        <a:buNone/>
                      </a:pPr>
                      <a:r>
                        <a:rPr lang="en-US"/>
                        <a:t>D02</a:t>
                      </a:r>
                    </a:p>
                  </a:txBody>
                  <a:tcPr anchor="ctr"/>
                </a:tc>
                <a:tc>
                  <a:txBody>
                    <a:bodyPr/>
                    <a:lstStyle/>
                    <a:p>
                      <a:pPr>
                        <a:buNone/>
                      </a:pPr>
                      <a:r>
                        <a:rPr lang="en-US" dirty="0"/>
                        <a:t>Sita</a:t>
                      </a:r>
                    </a:p>
                  </a:txBody>
                  <a:tcPr anchor="ctr"/>
                </a:tc>
                <a:extLst>
                  <a:ext uri="{0D108BD9-81ED-4DB2-BD59-A6C34878D82A}">
                    <a16:rowId xmlns:a16="http://schemas.microsoft.com/office/drawing/2014/main" val="3005368035"/>
                  </a:ext>
                </a:extLst>
              </a:tr>
            </a:tbl>
          </a:graphicData>
        </a:graphic>
      </p:graphicFrame>
    </p:spTree>
    <p:extLst>
      <p:ext uri="{BB962C8B-B14F-4D97-AF65-F5344CB8AC3E}">
        <p14:creationId xmlns:p14="http://schemas.microsoft.com/office/powerpoint/2010/main" val="15802058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8656D-E7A5-B19A-0EB8-4D594EB12693}"/>
              </a:ext>
            </a:extLst>
          </p:cNvPr>
          <p:cNvSpPr>
            <a:spLocks noGrp="1"/>
          </p:cNvSpPr>
          <p:nvPr>
            <p:ph type="title"/>
          </p:nvPr>
        </p:nvSpPr>
        <p:spPr/>
        <p:txBody>
          <a:bodyPr/>
          <a:lstStyle/>
          <a:p>
            <a:r>
              <a:rPr lang="en-US" dirty="0"/>
              <a:t>Transitivity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57EFC4-E099-432E-D989-B4B4714FD02D}"/>
                  </a:ext>
                </a:extLst>
              </p:cNvPr>
              <p:cNvSpPr>
                <a:spLocks noGrp="1"/>
              </p:cNvSpPr>
              <p:nvPr>
                <p:ph idx="1"/>
              </p:nvPr>
            </p:nvSpPr>
            <p:spPr/>
            <p:txBody>
              <a:bodyPr>
                <a:normAutofit/>
              </a:bodyPr>
              <a:lstStyle/>
              <a:p>
                <a:r>
                  <a:rPr lang="en-US" dirty="0"/>
                  <a:t>If: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r>
                  <a:rPr lang="en-US" dirty="0"/>
                  <a:t>,  and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𝑌</m:t>
                    </m:r>
                    <m:r>
                      <a:rPr lang="en-US">
                        <a:latin typeface="Cambria Math" panose="02040503050406030204" pitchFamily="18" charset="0"/>
                      </a:rPr>
                      <m:t>→</m:t>
                    </m:r>
                    <m:r>
                      <a:rPr lang="en-US" i="1">
                        <a:latin typeface="Cambria Math" panose="02040503050406030204" pitchFamily="18" charset="0"/>
                      </a:rPr>
                      <m:t>𝑍</m:t>
                    </m:r>
                  </m:oMath>
                </a14:m>
                <a:r>
                  <a:rPr lang="en-US" dirty="0"/>
                  <a:t>, then:</a:t>
                </a:r>
              </a:p>
              <a:p>
                <a14:m>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𝑍</m:t>
                    </m:r>
                  </m:oMath>
                </a14:m>
                <a:endParaRPr lang="en-US" dirty="0"/>
              </a:p>
              <a:p>
                <a:r>
                  <a:rPr lang="en-US" b="1" dirty="0"/>
                  <a:t>Meaning: </a:t>
                </a:r>
                <a:r>
                  <a:rPr lang="en-US" dirty="0"/>
                  <a:t>If X determines Y and Y determines Z, then X indirectly determines Z.</a:t>
                </a:r>
              </a:p>
              <a:p>
                <a:r>
                  <a:rPr lang="en-US" b="1" dirty="0"/>
                  <a:t>Example</a:t>
                </a:r>
                <a:r>
                  <a:rPr lang="en-US" dirty="0"/>
                  <a:t>:</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oMath>
                </a14:m>
                <a:endParaRPr lang="en-US" dirty="0"/>
              </a:p>
              <a:p>
                <a14:m>
                  <m:oMath xmlns:m="http://schemas.openxmlformats.org/officeDocument/2006/math">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𝑁𝑎𝑚𝑒</m:t>
                    </m:r>
                  </m:oMath>
                </a14:m>
                <a:endParaRPr lang="en-US" dirty="0"/>
              </a:p>
              <a:p>
                <a:r>
                  <a:rPr lang="en-US" dirty="0"/>
                  <a:t>Then:</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𝑁𝑎𝑚𝑒</m:t>
                    </m:r>
                  </m:oMath>
                </a14:m>
                <a:endParaRPr lang="en-US" dirty="0"/>
              </a:p>
              <a:p>
                <a:r>
                  <a:rPr lang="en-US" dirty="0"/>
                  <a:t>This is called a </a:t>
                </a:r>
                <a:r>
                  <a:rPr lang="en-US" b="1" dirty="0"/>
                  <a:t>transitive dependency</a:t>
                </a:r>
                <a:endParaRPr lang="en-US" dirty="0"/>
              </a:p>
              <a:p>
                <a:endParaRPr lang="en-US" dirty="0"/>
              </a:p>
            </p:txBody>
          </p:sp>
        </mc:Choice>
        <mc:Fallback xmlns="">
          <p:sp>
            <p:nvSpPr>
              <p:cNvPr id="3" name="Content Placeholder 2">
                <a:extLst>
                  <a:ext uri="{FF2B5EF4-FFF2-40B4-BE49-F238E27FC236}">
                    <a16:creationId xmlns:a16="http://schemas.microsoft.com/office/drawing/2014/main" id="{F157EFC4-E099-432E-D989-B4B4714FD02D}"/>
                  </a:ext>
                </a:extLst>
              </p:cNvPr>
              <p:cNvSpPr>
                <a:spLocks noGrp="1" noRot="1" noChangeAspect="1" noMove="1" noResize="1" noEditPoints="1" noAdjustHandles="1" noChangeArrowheads="1" noChangeShapeType="1" noTextEdit="1"/>
              </p:cNvSpPr>
              <p:nvPr>
                <p:ph idx="1"/>
              </p:nvPr>
            </p:nvSpPr>
            <p:spPr>
              <a:blipFill>
                <a:blip r:embed="rId3"/>
                <a:stretch>
                  <a:fillRect l="-1515" t="-1667" b="-13030"/>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852B6D9A-4058-266A-7AA5-0C92CB21565D}"/>
              </a:ext>
            </a:extLst>
          </p:cNvPr>
          <p:cNvGraphicFramePr>
            <a:graphicFrameLocks noGrp="1"/>
          </p:cNvGraphicFramePr>
          <p:nvPr>
            <p:extLst>
              <p:ext uri="{D42A27DB-BD31-4B8C-83A1-F6EECF244321}">
                <p14:modId xmlns:p14="http://schemas.microsoft.com/office/powerpoint/2010/main" val="260566885"/>
              </p:ext>
            </p:extLst>
          </p:nvPr>
        </p:nvGraphicFramePr>
        <p:xfrm>
          <a:off x="6786880" y="3429000"/>
          <a:ext cx="4564743" cy="1483360"/>
        </p:xfrm>
        <a:graphic>
          <a:graphicData uri="http://schemas.openxmlformats.org/drawingml/2006/table">
            <a:tbl>
              <a:tblPr firstRow="1" bandRow="1">
                <a:tableStyleId>{5C22544A-7EE6-4342-B048-85BDC9FD1C3A}</a:tableStyleId>
              </a:tblPr>
              <a:tblGrid>
                <a:gridCol w="1521581">
                  <a:extLst>
                    <a:ext uri="{9D8B030D-6E8A-4147-A177-3AD203B41FA5}">
                      <a16:colId xmlns:a16="http://schemas.microsoft.com/office/drawing/2014/main" val="2859272666"/>
                    </a:ext>
                  </a:extLst>
                </a:gridCol>
                <a:gridCol w="1521581">
                  <a:extLst>
                    <a:ext uri="{9D8B030D-6E8A-4147-A177-3AD203B41FA5}">
                      <a16:colId xmlns:a16="http://schemas.microsoft.com/office/drawing/2014/main" val="3863522898"/>
                    </a:ext>
                  </a:extLst>
                </a:gridCol>
                <a:gridCol w="1521581">
                  <a:extLst>
                    <a:ext uri="{9D8B030D-6E8A-4147-A177-3AD203B41FA5}">
                      <a16:colId xmlns:a16="http://schemas.microsoft.com/office/drawing/2014/main" val="2090361179"/>
                    </a:ext>
                  </a:extLst>
                </a:gridCol>
              </a:tblGrid>
              <a:tr h="370840">
                <a:tc>
                  <a:txBody>
                    <a:bodyPr/>
                    <a:lstStyle/>
                    <a:p>
                      <a:pPr>
                        <a:buNone/>
                      </a:pPr>
                      <a:r>
                        <a:rPr lang="en-US" dirty="0"/>
                        <a:t>StudentID</a:t>
                      </a:r>
                    </a:p>
                  </a:txBody>
                  <a:tcPr anchor="ctr"/>
                </a:tc>
                <a:tc>
                  <a:txBody>
                    <a:bodyPr/>
                    <a:lstStyle/>
                    <a:p>
                      <a:pPr>
                        <a:buNone/>
                      </a:pPr>
                      <a:r>
                        <a:rPr lang="en-US"/>
                        <a:t>DeptID</a:t>
                      </a:r>
                    </a:p>
                  </a:txBody>
                  <a:tcPr anchor="ctr"/>
                </a:tc>
                <a:tc>
                  <a:txBody>
                    <a:bodyPr/>
                    <a:lstStyle/>
                    <a:p>
                      <a:pPr>
                        <a:buNone/>
                      </a:pPr>
                      <a:r>
                        <a:rPr lang="en-US"/>
                        <a:t>DeptName</a:t>
                      </a:r>
                    </a:p>
                  </a:txBody>
                  <a:tcPr anchor="ctr"/>
                </a:tc>
                <a:extLst>
                  <a:ext uri="{0D108BD9-81ED-4DB2-BD59-A6C34878D82A}">
                    <a16:rowId xmlns:a16="http://schemas.microsoft.com/office/drawing/2014/main" val="2529721353"/>
                  </a:ext>
                </a:extLst>
              </a:tr>
              <a:tr h="370840">
                <a:tc>
                  <a:txBody>
                    <a:bodyPr/>
                    <a:lstStyle/>
                    <a:p>
                      <a:pPr>
                        <a:buNone/>
                      </a:pPr>
                      <a:r>
                        <a:rPr lang="en-US"/>
                        <a:t>101</a:t>
                      </a:r>
                    </a:p>
                  </a:txBody>
                  <a:tcPr anchor="ctr"/>
                </a:tc>
                <a:tc>
                  <a:txBody>
                    <a:bodyPr/>
                    <a:lstStyle/>
                    <a:p>
                      <a:pPr>
                        <a:buNone/>
                      </a:pPr>
                      <a:r>
                        <a:rPr lang="en-US"/>
                        <a:t>D01</a:t>
                      </a:r>
                    </a:p>
                  </a:txBody>
                  <a:tcPr anchor="ctr"/>
                </a:tc>
                <a:tc>
                  <a:txBody>
                    <a:bodyPr/>
                    <a:lstStyle/>
                    <a:p>
                      <a:pPr>
                        <a:buNone/>
                      </a:pPr>
                      <a:r>
                        <a:rPr lang="en-US"/>
                        <a:t>Computer</a:t>
                      </a:r>
                    </a:p>
                  </a:txBody>
                  <a:tcPr anchor="ctr"/>
                </a:tc>
                <a:extLst>
                  <a:ext uri="{0D108BD9-81ED-4DB2-BD59-A6C34878D82A}">
                    <a16:rowId xmlns:a16="http://schemas.microsoft.com/office/drawing/2014/main" val="823139539"/>
                  </a:ext>
                </a:extLst>
              </a:tr>
              <a:tr h="370840">
                <a:tc>
                  <a:txBody>
                    <a:bodyPr/>
                    <a:lstStyle/>
                    <a:p>
                      <a:pPr>
                        <a:buNone/>
                      </a:pPr>
                      <a:r>
                        <a:rPr lang="en-US"/>
                        <a:t>102</a:t>
                      </a:r>
                    </a:p>
                  </a:txBody>
                  <a:tcPr anchor="ctr"/>
                </a:tc>
                <a:tc>
                  <a:txBody>
                    <a:bodyPr/>
                    <a:lstStyle/>
                    <a:p>
                      <a:pPr>
                        <a:buNone/>
                      </a:pPr>
                      <a:r>
                        <a:rPr lang="en-US"/>
                        <a:t>D02</a:t>
                      </a:r>
                    </a:p>
                  </a:txBody>
                  <a:tcPr anchor="ctr"/>
                </a:tc>
                <a:tc>
                  <a:txBody>
                    <a:bodyPr/>
                    <a:lstStyle/>
                    <a:p>
                      <a:pPr>
                        <a:buNone/>
                      </a:pPr>
                      <a:r>
                        <a:rPr lang="en-US"/>
                        <a:t>Civil</a:t>
                      </a:r>
                    </a:p>
                  </a:txBody>
                  <a:tcPr anchor="ctr"/>
                </a:tc>
                <a:extLst>
                  <a:ext uri="{0D108BD9-81ED-4DB2-BD59-A6C34878D82A}">
                    <a16:rowId xmlns:a16="http://schemas.microsoft.com/office/drawing/2014/main" val="1048487155"/>
                  </a:ext>
                </a:extLst>
              </a:tr>
              <a:tr h="370840">
                <a:tc>
                  <a:txBody>
                    <a:bodyPr/>
                    <a:lstStyle/>
                    <a:p>
                      <a:pPr>
                        <a:buNone/>
                      </a:pPr>
                      <a:r>
                        <a:rPr lang="en-US"/>
                        <a:t>103</a:t>
                      </a:r>
                    </a:p>
                  </a:txBody>
                  <a:tcPr anchor="ctr"/>
                </a:tc>
                <a:tc>
                  <a:txBody>
                    <a:bodyPr/>
                    <a:lstStyle/>
                    <a:p>
                      <a:pPr>
                        <a:buNone/>
                      </a:pPr>
                      <a:r>
                        <a:rPr lang="en-US"/>
                        <a:t>D01</a:t>
                      </a:r>
                    </a:p>
                  </a:txBody>
                  <a:tcPr anchor="ctr"/>
                </a:tc>
                <a:tc>
                  <a:txBody>
                    <a:bodyPr/>
                    <a:lstStyle/>
                    <a:p>
                      <a:pPr>
                        <a:buNone/>
                      </a:pPr>
                      <a:r>
                        <a:rPr lang="en-US" dirty="0"/>
                        <a:t>Computer</a:t>
                      </a:r>
                    </a:p>
                  </a:txBody>
                  <a:tcPr anchor="ctr"/>
                </a:tc>
                <a:extLst>
                  <a:ext uri="{0D108BD9-81ED-4DB2-BD59-A6C34878D82A}">
                    <a16:rowId xmlns:a16="http://schemas.microsoft.com/office/drawing/2014/main" val="4114033437"/>
                  </a:ext>
                </a:extLst>
              </a:tr>
            </a:tbl>
          </a:graphicData>
        </a:graphic>
      </p:graphicFrame>
    </p:spTree>
    <p:extLst>
      <p:ext uri="{BB962C8B-B14F-4D97-AF65-F5344CB8AC3E}">
        <p14:creationId xmlns:p14="http://schemas.microsoft.com/office/powerpoint/2010/main" val="3850568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30DC1-D29D-4C5B-45B8-756A593A4491}"/>
              </a:ext>
            </a:extLst>
          </p:cNvPr>
          <p:cNvSpPr>
            <a:spLocks noGrp="1"/>
          </p:cNvSpPr>
          <p:nvPr>
            <p:ph type="title"/>
          </p:nvPr>
        </p:nvSpPr>
        <p:spPr/>
        <p:txBody>
          <a:bodyPr/>
          <a:lstStyle/>
          <a:p>
            <a:r>
              <a:rPr lang="en-US" dirty="0"/>
              <a:t>Union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06B94A2-D5B7-4951-323D-30E5E7C6A343}"/>
                  </a:ext>
                </a:extLst>
              </p:cNvPr>
              <p:cNvSpPr>
                <a:spLocks noGrp="1"/>
              </p:cNvSpPr>
              <p:nvPr>
                <p:ph idx="1"/>
              </p:nvPr>
            </p:nvSpPr>
            <p:spPr/>
            <p:txBody>
              <a:bodyPr>
                <a:normAutofit/>
              </a:bodyPr>
              <a:lstStyle/>
              <a:p>
                <a:r>
                  <a:rPr lang="en-US" dirty="0"/>
                  <a:t>If:</a:t>
                </a:r>
                <a14:m>
                  <m:oMath xmlns:m="http://schemas.openxmlformats.org/officeDocument/2006/math">
                    <m:r>
                      <a:rPr lang="en-US" b="0" i="0" smtClean="0">
                        <a:latin typeface="Cambria Math" panose="02040503050406030204" pitchFamily="18" charset="0"/>
                      </a:rPr>
                      <m:t> </m:t>
                    </m:r>
                    <m:r>
                      <a:rPr lang="en-US" b="0" i="1"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r>
                  <a:rPr lang="en-US" dirty="0"/>
                  <a:t>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𝑍</m:t>
                    </m:r>
                  </m:oMath>
                </a14:m>
                <a:r>
                  <a:rPr lang="en-US" dirty="0"/>
                  <a:t> </a:t>
                </a:r>
              </a:p>
              <a:p>
                <a:r>
                  <a:rPr lang="en-US" dirty="0"/>
                  <a:t> then: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𝑌𝑍</m:t>
                    </m:r>
                  </m:oMath>
                </a14:m>
                <a:endParaRPr lang="en-US" dirty="0"/>
              </a:p>
              <a:p>
                <a:r>
                  <a:rPr lang="en-US" b="1" dirty="0"/>
                  <a:t>Example  </a:t>
                </a:r>
                <a:r>
                  <a:rPr lang="en-US" dirty="0"/>
                  <a:t>Given:</a:t>
                </a:r>
              </a:p>
              <a:p>
                <a:pPr lvl="1"/>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𝑁𝑎𝑚𝑒</m:t>
                    </m:r>
                  </m:oMath>
                </a14:m>
                <a:endParaRPr lang="en-US" i="1" dirty="0">
                  <a:latin typeface="Cambria Math" panose="02040503050406030204" pitchFamily="18" charset="0"/>
                </a:endParaRPr>
              </a:p>
              <a:p>
                <a:pPr lvl="1"/>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m:t>
                    </m:r>
                    <m:r>
                      <m:rPr>
                        <m:sty m:val="p"/>
                      </m:rPr>
                      <a:rPr lang="en-US" b="0" i="1" smtClean="0">
                        <a:latin typeface="Cambria Math" panose="02040503050406030204" pitchFamily="18" charset="0"/>
                      </a:rPr>
                      <m:t>tID</m:t>
                    </m:r>
                    <m:r>
                      <a:rPr lang="en-US" b="0" i="1" smtClean="0">
                        <a:latin typeface="Cambria Math" panose="02040503050406030204" pitchFamily="18" charset="0"/>
                      </a:rPr>
                      <m:t>}</m:t>
                    </m:r>
                  </m:oMath>
                </a14:m>
                <a:endParaRPr lang="en-US" dirty="0"/>
              </a:p>
              <a:p>
                <a:r>
                  <a:rPr lang="en-US" dirty="0"/>
                  <a:t>Then:</a:t>
                </a:r>
              </a:p>
              <a:p>
                <a:pPr lvl="1"/>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Name</m:t>
                    </m:r>
                    <m:r>
                      <a:rPr lang="en-US" b="0" i="0" smtClean="0">
                        <a:latin typeface="Cambria Math" panose="02040503050406030204" pitchFamily="18" charset="0"/>
                      </a:rPr>
                      <m:t>, </m:t>
                    </m:r>
                    <m:r>
                      <m:rPr>
                        <m:sty m:val="p"/>
                      </m:rPr>
                      <a:rPr lang="en-US" b="0" i="0" smtClean="0">
                        <a:latin typeface="Cambria Math" panose="02040503050406030204" pitchFamily="18" charset="0"/>
                      </a:rPr>
                      <m:t>DeptID</m:t>
                    </m:r>
                    <m:r>
                      <a:rPr lang="en-US" b="0" i="0" smtClean="0">
                        <a:latin typeface="Cambria Math" panose="02040503050406030204" pitchFamily="18" charset="0"/>
                      </a:rPr>
                      <m:t>}</m:t>
                    </m:r>
                  </m:oMath>
                </a14:m>
                <a:endParaRPr lang="ar-AE" dirty="0"/>
              </a:p>
              <a:p>
                <a:r>
                  <a:rPr lang="en-US" dirty="0"/>
                  <a:t>Since, One determinant can determine multiple attributes</a:t>
                </a:r>
              </a:p>
              <a:p>
                <a:r>
                  <a:rPr lang="en-US" dirty="0"/>
                  <a:t>StudentID determines both Name and </a:t>
                </a:r>
                <a:r>
                  <a:rPr lang="en-US" dirty="0" err="1"/>
                  <a:t>DeptID</a:t>
                </a:r>
                <a:endParaRPr lang="en-US" dirty="0"/>
              </a:p>
            </p:txBody>
          </p:sp>
        </mc:Choice>
        <mc:Fallback xmlns="">
          <p:sp>
            <p:nvSpPr>
              <p:cNvPr id="3" name="Content Placeholder 2">
                <a:extLst>
                  <a:ext uri="{FF2B5EF4-FFF2-40B4-BE49-F238E27FC236}">
                    <a16:creationId xmlns:a16="http://schemas.microsoft.com/office/drawing/2014/main" id="{B06B94A2-D5B7-4951-323D-30E5E7C6A343}"/>
                  </a:ext>
                </a:extLst>
              </p:cNvPr>
              <p:cNvSpPr>
                <a:spLocks noGrp="1" noRot="1" noChangeAspect="1" noMove="1" noResize="1" noEditPoints="1" noAdjustHandles="1" noChangeArrowheads="1" noChangeShapeType="1" noTextEdit="1"/>
              </p:cNvSpPr>
              <p:nvPr>
                <p:ph idx="1"/>
              </p:nvPr>
            </p:nvSpPr>
            <p:spPr>
              <a:blipFill>
                <a:blip r:embed="rId2"/>
                <a:stretch>
                  <a:fillRect l="-1515" t="-1667"/>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D6765527-4F04-B457-2EB5-283D4B06A398}"/>
              </a:ext>
            </a:extLst>
          </p:cNvPr>
          <p:cNvGraphicFramePr>
            <a:graphicFrameLocks noGrp="1"/>
          </p:cNvGraphicFramePr>
          <p:nvPr>
            <p:extLst>
              <p:ext uri="{D42A27DB-BD31-4B8C-83A1-F6EECF244321}">
                <p14:modId xmlns:p14="http://schemas.microsoft.com/office/powerpoint/2010/main" val="899528758"/>
              </p:ext>
            </p:extLst>
          </p:nvPr>
        </p:nvGraphicFramePr>
        <p:xfrm>
          <a:off x="6126480" y="2570237"/>
          <a:ext cx="4934856" cy="1112520"/>
        </p:xfrm>
        <a:graphic>
          <a:graphicData uri="http://schemas.openxmlformats.org/drawingml/2006/table">
            <a:tbl>
              <a:tblPr firstRow="1" bandRow="1">
                <a:tableStyleId>{5C22544A-7EE6-4342-B048-85BDC9FD1C3A}</a:tableStyleId>
              </a:tblPr>
              <a:tblGrid>
                <a:gridCol w="1644952">
                  <a:extLst>
                    <a:ext uri="{9D8B030D-6E8A-4147-A177-3AD203B41FA5}">
                      <a16:colId xmlns:a16="http://schemas.microsoft.com/office/drawing/2014/main" val="4131237508"/>
                    </a:ext>
                  </a:extLst>
                </a:gridCol>
                <a:gridCol w="1644952">
                  <a:extLst>
                    <a:ext uri="{9D8B030D-6E8A-4147-A177-3AD203B41FA5}">
                      <a16:colId xmlns:a16="http://schemas.microsoft.com/office/drawing/2014/main" val="845139495"/>
                    </a:ext>
                  </a:extLst>
                </a:gridCol>
                <a:gridCol w="1644952">
                  <a:extLst>
                    <a:ext uri="{9D8B030D-6E8A-4147-A177-3AD203B41FA5}">
                      <a16:colId xmlns:a16="http://schemas.microsoft.com/office/drawing/2014/main" val="2191358843"/>
                    </a:ext>
                  </a:extLst>
                </a:gridCol>
              </a:tblGrid>
              <a:tr h="370840">
                <a:tc>
                  <a:txBody>
                    <a:bodyPr/>
                    <a:lstStyle/>
                    <a:p>
                      <a:pPr>
                        <a:buNone/>
                      </a:pPr>
                      <a:r>
                        <a:rPr lang="en-US" dirty="0"/>
                        <a:t>StudentID</a:t>
                      </a:r>
                    </a:p>
                  </a:txBody>
                  <a:tcPr anchor="ctr"/>
                </a:tc>
                <a:tc>
                  <a:txBody>
                    <a:bodyPr/>
                    <a:lstStyle/>
                    <a:p>
                      <a:pPr>
                        <a:buNone/>
                      </a:pPr>
                      <a:r>
                        <a:rPr lang="en-US"/>
                        <a:t>Name</a:t>
                      </a:r>
                    </a:p>
                  </a:txBody>
                  <a:tcPr anchor="ctr"/>
                </a:tc>
                <a:tc>
                  <a:txBody>
                    <a:bodyPr/>
                    <a:lstStyle/>
                    <a:p>
                      <a:pPr>
                        <a:buNone/>
                      </a:pPr>
                      <a:r>
                        <a:rPr lang="en-US" dirty="0" err="1"/>
                        <a:t>DeptID</a:t>
                      </a:r>
                      <a:endParaRPr lang="en-US" dirty="0"/>
                    </a:p>
                  </a:txBody>
                  <a:tcPr anchor="ctr"/>
                </a:tc>
                <a:extLst>
                  <a:ext uri="{0D108BD9-81ED-4DB2-BD59-A6C34878D82A}">
                    <a16:rowId xmlns:a16="http://schemas.microsoft.com/office/drawing/2014/main" val="1748532113"/>
                  </a:ext>
                </a:extLst>
              </a:tr>
              <a:tr h="370840">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D01</a:t>
                      </a:r>
                    </a:p>
                  </a:txBody>
                  <a:tcPr anchor="ctr"/>
                </a:tc>
                <a:extLst>
                  <a:ext uri="{0D108BD9-81ED-4DB2-BD59-A6C34878D82A}">
                    <a16:rowId xmlns:a16="http://schemas.microsoft.com/office/drawing/2014/main" val="2565563304"/>
                  </a:ext>
                </a:extLst>
              </a:tr>
              <a:tr h="370840">
                <a:tc>
                  <a:txBody>
                    <a:bodyPr/>
                    <a:lstStyle/>
                    <a:p>
                      <a:pPr>
                        <a:buNone/>
                      </a:pPr>
                      <a:r>
                        <a:rPr lang="en-US"/>
                        <a:t>102</a:t>
                      </a:r>
                    </a:p>
                  </a:txBody>
                  <a:tcPr anchor="ctr"/>
                </a:tc>
                <a:tc>
                  <a:txBody>
                    <a:bodyPr/>
                    <a:lstStyle/>
                    <a:p>
                      <a:pPr>
                        <a:buNone/>
                      </a:pPr>
                      <a:r>
                        <a:rPr lang="en-US"/>
                        <a:t>Sita</a:t>
                      </a:r>
                    </a:p>
                  </a:txBody>
                  <a:tcPr anchor="ctr"/>
                </a:tc>
                <a:tc>
                  <a:txBody>
                    <a:bodyPr/>
                    <a:lstStyle/>
                    <a:p>
                      <a:pPr>
                        <a:buNone/>
                      </a:pPr>
                      <a:r>
                        <a:rPr lang="en-US" dirty="0"/>
                        <a:t>D02</a:t>
                      </a:r>
                    </a:p>
                  </a:txBody>
                  <a:tcPr anchor="ctr"/>
                </a:tc>
                <a:extLst>
                  <a:ext uri="{0D108BD9-81ED-4DB2-BD59-A6C34878D82A}">
                    <a16:rowId xmlns:a16="http://schemas.microsoft.com/office/drawing/2014/main" val="4294230610"/>
                  </a:ext>
                </a:extLst>
              </a:tr>
            </a:tbl>
          </a:graphicData>
        </a:graphic>
      </p:graphicFrame>
    </p:spTree>
    <p:extLst>
      <p:ext uri="{BB962C8B-B14F-4D97-AF65-F5344CB8AC3E}">
        <p14:creationId xmlns:p14="http://schemas.microsoft.com/office/powerpoint/2010/main" val="30662008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D77DA-65C0-9922-FC6A-C2800D75F147}"/>
              </a:ext>
            </a:extLst>
          </p:cNvPr>
          <p:cNvSpPr>
            <a:spLocks noGrp="1"/>
          </p:cNvSpPr>
          <p:nvPr>
            <p:ph type="title"/>
          </p:nvPr>
        </p:nvSpPr>
        <p:spPr/>
        <p:txBody>
          <a:bodyPr/>
          <a:lstStyle/>
          <a:p>
            <a:r>
              <a:rPr lang="en-US" dirty="0"/>
              <a:t>Decomposition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4CFB410-9633-E8CE-3171-058EFB13C409}"/>
                  </a:ext>
                </a:extLst>
              </p:cNvPr>
              <p:cNvSpPr>
                <a:spLocks noGrp="1"/>
              </p:cNvSpPr>
              <p:nvPr>
                <p:ph idx="1"/>
              </p:nvPr>
            </p:nvSpPr>
            <p:spPr/>
            <p:txBody>
              <a:bodyPr>
                <a:normAutofit/>
              </a:bodyPr>
              <a:lstStyle/>
              <a:p>
                <a:r>
                  <a:rPr lang="en-US" dirty="0"/>
                  <a:t>If: </a:t>
                </a:r>
                <a14:m>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𝑌𝑍</m:t>
                    </m:r>
                  </m:oMath>
                </a14:m>
                <a:endParaRPr lang="en-US" dirty="0"/>
              </a:p>
              <a:p>
                <a:r>
                  <a:rPr lang="en-US" dirty="0"/>
                  <a:t>then: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r>
                  <a:rPr lang="en-US" dirty="0"/>
                  <a:t> and </a:t>
                </a:r>
                <a14:m>
                  <m:oMath xmlns:m="http://schemas.openxmlformats.org/officeDocument/2006/math">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𝑍</m:t>
                    </m:r>
                  </m:oMath>
                </a14:m>
                <a:endParaRPr lang="en-US" dirty="0"/>
              </a:p>
              <a:p>
                <a:r>
                  <a:rPr lang="en-US" b="1" dirty="0"/>
                  <a:t>Example, </a:t>
                </a:r>
                <a:r>
                  <a:rPr lang="en-US" dirty="0"/>
                  <a:t>Given:</a:t>
                </a:r>
              </a:p>
              <a:p>
                <a:pPr lvl="1"/>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Name</m:t>
                    </m:r>
                    <m:r>
                      <a:rPr lang="en-US" b="0" i="0" smtClean="0">
                        <a:latin typeface="Cambria Math" panose="02040503050406030204" pitchFamily="18" charset="0"/>
                      </a:rPr>
                      <m:t> , </m:t>
                    </m:r>
                    <m:r>
                      <m:rPr>
                        <m:sty m:val="p"/>
                      </m:rPr>
                      <a:rPr lang="en-US" b="0" i="0" smtClean="0">
                        <a:latin typeface="Cambria Math" panose="02040503050406030204" pitchFamily="18" charset="0"/>
                      </a:rPr>
                      <m:t>DeptID</m:t>
                    </m:r>
                    <m:r>
                      <a:rPr lang="en-US" b="0" i="0" smtClean="0">
                        <a:latin typeface="Cambria Math" panose="02040503050406030204" pitchFamily="18" charset="0"/>
                      </a:rPr>
                      <m:t>}</m:t>
                    </m:r>
                  </m:oMath>
                </a14:m>
                <a:endParaRPr lang="ar-AE" dirty="0"/>
              </a:p>
              <a:p>
                <a:r>
                  <a:rPr lang="en-US" dirty="0"/>
                  <a:t>Then: we can split this into </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𝑁𝑎𝑚𝑒</m:t>
                    </m:r>
                  </m:oMath>
                </a14:m>
                <a:endParaRPr lang="en-US" dirty="0"/>
              </a:p>
              <a:p>
                <a:r>
                  <a:rPr lang="en-US" dirty="0"/>
                  <a:t>And</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sty m:val="p"/>
                      </m:rPr>
                      <a:rPr lang="en-US" b="0" i="1" smtClean="0">
                        <a:latin typeface="Cambria Math" panose="02040503050406030204" pitchFamily="18" charset="0"/>
                      </a:rPr>
                      <m:t>ID</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34CFB410-9633-E8CE-3171-058EFB13C409}"/>
                  </a:ext>
                </a:extLst>
              </p:cNvPr>
              <p:cNvSpPr>
                <a:spLocks noGrp="1" noRot="1" noChangeAspect="1" noMove="1" noResize="1" noEditPoints="1" noAdjustHandles="1" noChangeArrowheads="1" noChangeShapeType="1" noTextEdit="1"/>
              </p:cNvSpPr>
              <p:nvPr>
                <p:ph idx="1"/>
              </p:nvPr>
            </p:nvSpPr>
            <p:spPr>
              <a:blipFill>
                <a:blip r:embed="rId3"/>
                <a:stretch>
                  <a:fillRect l="-1515" t="-1667"/>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83B661A4-2041-5406-4FB9-3970FF90B340}"/>
              </a:ext>
            </a:extLst>
          </p:cNvPr>
          <p:cNvGraphicFramePr>
            <a:graphicFrameLocks noGrp="1"/>
          </p:cNvGraphicFramePr>
          <p:nvPr>
            <p:extLst>
              <p:ext uri="{D42A27DB-BD31-4B8C-83A1-F6EECF244321}">
                <p14:modId xmlns:p14="http://schemas.microsoft.com/office/powerpoint/2010/main" val="2663365428"/>
              </p:ext>
            </p:extLst>
          </p:nvPr>
        </p:nvGraphicFramePr>
        <p:xfrm>
          <a:off x="6007464" y="2113037"/>
          <a:ext cx="5087256" cy="1112520"/>
        </p:xfrm>
        <a:graphic>
          <a:graphicData uri="http://schemas.openxmlformats.org/drawingml/2006/table">
            <a:tbl>
              <a:tblPr firstRow="1" bandRow="1">
                <a:tableStyleId>{5C22544A-7EE6-4342-B048-85BDC9FD1C3A}</a:tableStyleId>
              </a:tblPr>
              <a:tblGrid>
                <a:gridCol w="1695752">
                  <a:extLst>
                    <a:ext uri="{9D8B030D-6E8A-4147-A177-3AD203B41FA5}">
                      <a16:colId xmlns:a16="http://schemas.microsoft.com/office/drawing/2014/main" val="2868726105"/>
                    </a:ext>
                  </a:extLst>
                </a:gridCol>
                <a:gridCol w="1695752">
                  <a:extLst>
                    <a:ext uri="{9D8B030D-6E8A-4147-A177-3AD203B41FA5}">
                      <a16:colId xmlns:a16="http://schemas.microsoft.com/office/drawing/2014/main" val="2737686382"/>
                    </a:ext>
                  </a:extLst>
                </a:gridCol>
                <a:gridCol w="1695752">
                  <a:extLst>
                    <a:ext uri="{9D8B030D-6E8A-4147-A177-3AD203B41FA5}">
                      <a16:colId xmlns:a16="http://schemas.microsoft.com/office/drawing/2014/main" val="3429628990"/>
                    </a:ext>
                  </a:extLst>
                </a:gridCol>
              </a:tblGrid>
              <a:tr h="370840">
                <a:tc>
                  <a:txBody>
                    <a:bodyPr/>
                    <a:lstStyle/>
                    <a:p>
                      <a:pPr>
                        <a:buNone/>
                      </a:pPr>
                      <a:r>
                        <a:rPr lang="en-US" dirty="0"/>
                        <a:t>StudentID</a:t>
                      </a:r>
                    </a:p>
                  </a:txBody>
                  <a:tcPr anchor="ctr"/>
                </a:tc>
                <a:tc>
                  <a:txBody>
                    <a:bodyPr/>
                    <a:lstStyle/>
                    <a:p>
                      <a:pPr>
                        <a:buNone/>
                      </a:pPr>
                      <a:r>
                        <a:rPr lang="en-US"/>
                        <a:t>Name</a:t>
                      </a:r>
                    </a:p>
                  </a:txBody>
                  <a:tcPr anchor="ctr"/>
                </a:tc>
                <a:tc>
                  <a:txBody>
                    <a:bodyPr/>
                    <a:lstStyle/>
                    <a:p>
                      <a:pPr>
                        <a:buNone/>
                      </a:pPr>
                      <a:r>
                        <a:rPr lang="en-US"/>
                        <a:t>DeptID</a:t>
                      </a:r>
                    </a:p>
                  </a:txBody>
                  <a:tcPr anchor="ctr"/>
                </a:tc>
                <a:extLst>
                  <a:ext uri="{0D108BD9-81ED-4DB2-BD59-A6C34878D82A}">
                    <a16:rowId xmlns:a16="http://schemas.microsoft.com/office/drawing/2014/main" val="2918378110"/>
                  </a:ext>
                </a:extLst>
              </a:tr>
              <a:tr h="370840">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D01</a:t>
                      </a:r>
                    </a:p>
                  </a:txBody>
                  <a:tcPr anchor="ctr"/>
                </a:tc>
                <a:extLst>
                  <a:ext uri="{0D108BD9-81ED-4DB2-BD59-A6C34878D82A}">
                    <a16:rowId xmlns:a16="http://schemas.microsoft.com/office/drawing/2014/main" val="3860900261"/>
                  </a:ext>
                </a:extLst>
              </a:tr>
              <a:tr h="370840">
                <a:tc>
                  <a:txBody>
                    <a:bodyPr/>
                    <a:lstStyle/>
                    <a:p>
                      <a:pPr>
                        <a:buNone/>
                      </a:pPr>
                      <a:r>
                        <a:rPr lang="en-US"/>
                        <a:t>102</a:t>
                      </a:r>
                    </a:p>
                  </a:txBody>
                  <a:tcPr anchor="ctr"/>
                </a:tc>
                <a:tc>
                  <a:txBody>
                    <a:bodyPr/>
                    <a:lstStyle/>
                    <a:p>
                      <a:pPr>
                        <a:buNone/>
                      </a:pPr>
                      <a:r>
                        <a:rPr lang="en-US"/>
                        <a:t>Sita</a:t>
                      </a:r>
                    </a:p>
                  </a:txBody>
                  <a:tcPr anchor="ctr"/>
                </a:tc>
                <a:tc>
                  <a:txBody>
                    <a:bodyPr/>
                    <a:lstStyle/>
                    <a:p>
                      <a:pPr>
                        <a:buNone/>
                      </a:pPr>
                      <a:r>
                        <a:rPr lang="en-US" dirty="0"/>
                        <a:t>D02</a:t>
                      </a:r>
                    </a:p>
                  </a:txBody>
                  <a:tcPr anchor="ctr"/>
                </a:tc>
                <a:extLst>
                  <a:ext uri="{0D108BD9-81ED-4DB2-BD59-A6C34878D82A}">
                    <a16:rowId xmlns:a16="http://schemas.microsoft.com/office/drawing/2014/main" val="1575469704"/>
                  </a:ext>
                </a:extLst>
              </a:tr>
            </a:tbl>
          </a:graphicData>
        </a:graphic>
      </p:graphicFrame>
      <p:graphicFrame>
        <p:nvGraphicFramePr>
          <p:cNvPr id="5" name="Table 4">
            <a:extLst>
              <a:ext uri="{FF2B5EF4-FFF2-40B4-BE49-F238E27FC236}">
                <a16:creationId xmlns:a16="http://schemas.microsoft.com/office/drawing/2014/main" id="{D167FF2B-362F-429A-D222-D067D99C85AF}"/>
              </a:ext>
            </a:extLst>
          </p:cNvPr>
          <p:cNvGraphicFramePr>
            <a:graphicFrameLocks noGrp="1"/>
          </p:cNvGraphicFramePr>
          <p:nvPr>
            <p:extLst>
              <p:ext uri="{D42A27DB-BD31-4B8C-83A1-F6EECF244321}">
                <p14:modId xmlns:p14="http://schemas.microsoft.com/office/powerpoint/2010/main" val="978091134"/>
              </p:ext>
            </p:extLst>
          </p:nvPr>
        </p:nvGraphicFramePr>
        <p:xfrm>
          <a:off x="5767978" y="3951393"/>
          <a:ext cx="2940594" cy="1112520"/>
        </p:xfrm>
        <a:graphic>
          <a:graphicData uri="http://schemas.openxmlformats.org/drawingml/2006/table">
            <a:tbl>
              <a:tblPr firstRow="1" bandRow="1">
                <a:tableStyleId>{5C22544A-7EE6-4342-B048-85BDC9FD1C3A}</a:tableStyleId>
              </a:tblPr>
              <a:tblGrid>
                <a:gridCol w="1470297">
                  <a:extLst>
                    <a:ext uri="{9D8B030D-6E8A-4147-A177-3AD203B41FA5}">
                      <a16:colId xmlns:a16="http://schemas.microsoft.com/office/drawing/2014/main" val="2868726105"/>
                    </a:ext>
                  </a:extLst>
                </a:gridCol>
                <a:gridCol w="1470297">
                  <a:extLst>
                    <a:ext uri="{9D8B030D-6E8A-4147-A177-3AD203B41FA5}">
                      <a16:colId xmlns:a16="http://schemas.microsoft.com/office/drawing/2014/main" val="3429628990"/>
                    </a:ext>
                  </a:extLst>
                </a:gridCol>
              </a:tblGrid>
              <a:tr h="370840">
                <a:tc>
                  <a:txBody>
                    <a:bodyPr/>
                    <a:lstStyle/>
                    <a:p>
                      <a:pPr>
                        <a:buNone/>
                      </a:pPr>
                      <a:r>
                        <a:rPr lang="en-US" dirty="0"/>
                        <a:t>StudentID</a:t>
                      </a:r>
                    </a:p>
                  </a:txBody>
                  <a:tcPr anchor="ctr"/>
                </a:tc>
                <a:tc>
                  <a:txBody>
                    <a:bodyPr/>
                    <a:lstStyle/>
                    <a:p>
                      <a:pPr>
                        <a:buNone/>
                      </a:pPr>
                      <a:r>
                        <a:rPr lang="en-US" dirty="0"/>
                        <a:t>Name</a:t>
                      </a:r>
                    </a:p>
                  </a:txBody>
                  <a:tcPr anchor="ctr"/>
                </a:tc>
                <a:extLst>
                  <a:ext uri="{0D108BD9-81ED-4DB2-BD59-A6C34878D82A}">
                    <a16:rowId xmlns:a16="http://schemas.microsoft.com/office/drawing/2014/main" val="2918378110"/>
                  </a:ext>
                </a:extLst>
              </a:tr>
              <a:tr h="370840">
                <a:tc>
                  <a:txBody>
                    <a:bodyPr/>
                    <a:lstStyle/>
                    <a:p>
                      <a:pPr>
                        <a:buNone/>
                      </a:pPr>
                      <a:r>
                        <a:rPr lang="en-US"/>
                        <a:t>101</a:t>
                      </a:r>
                    </a:p>
                  </a:txBody>
                  <a:tcPr anchor="ctr"/>
                </a:tc>
                <a:tc>
                  <a:txBody>
                    <a:bodyPr/>
                    <a:lstStyle/>
                    <a:p>
                      <a:pPr>
                        <a:buNone/>
                      </a:pPr>
                      <a:r>
                        <a:rPr lang="en-US" dirty="0"/>
                        <a:t>Ram</a:t>
                      </a:r>
                    </a:p>
                  </a:txBody>
                  <a:tcPr anchor="ctr"/>
                </a:tc>
                <a:extLst>
                  <a:ext uri="{0D108BD9-81ED-4DB2-BD59-A6C34878D82A}">
                    <a16:rowId xmlns:a16="http://schemas.microsoft.com/office/drawing/2014/main" val="3860900261"/>
                  </a:ext>
                </a:extLst>
              </a:tr>
              <a:tr h="370840">
                <a:tc>
                  <a:txBody>
                    <a:bodyPr/>
                    <a:lstStyle/>
                    <a:p>
                      <a:pPr>
                        <a:buNone/>
                      </a:pPr>
                      <a:r>
                        <a:rPr lang="en-US"/>
                        <a:t>102</a:t>
                      </a:r>
                    </a:p>
                  </a:txBody>
                  <a:tcPr anchor="ctr"/>
                </a:tc>
                <a:tc>
                  <a:txBody>
                    <a:bodyPr/>
                    <a:lstStyle/>
                    <a:p>
                      <a:pPr>
                        <a:buNone/>
                      </a:pPr>
                      <a:r>
                        <a:rPr lang="en-US" dirty="0"/>
                        <a:t>Sita</a:t>
                      </a:r>
                    </a:p>
                  </a:txBody>
                  <a:tcPr anchor="ctr"/>
                </a:tc>
                <a:extLst>
                  <a:ext uri="{0D108BD9-81ED-4DB2-BD59-A6C34878D82A}">
                    <a16:rowId xmlns:a16="http://schemas.microsoft.com/office/drawing/2014/main" val="1575469704"/>
                  </a:ext>
                </a:extLst>
              </a:tr>
            </a:tbl>
          </a:graphicData>
        </a:graphic>
      </p:graphicFrame>
      <p:graphicFrame>
        <p:nvGraphicFramePr>
          <p:cNvPr id="6" name="Table 5">
            <a:extLst>
              <a:ext uri="{FF2B5EF4-FFF2-40B4-BE49-F238E27FC236}">
                <a16:creationId xmlns:a16="http://schemas.microsoft.com/office/drawing/2014/main" id="{86A45E8C-6E69-42A3-7B0B-199AE4F23C4B}"/>
              </a:ext>
            </a:extLst>
          </p:cNvPr>
          <p:cNvGraphicFramePr>
            <a:graphicFrameLocks noGrp="1"/>
          </p:cNvGraphicFramePr>
          <p:nvPr>
            <p:extLst>
              <p:ext uri="{D42A27DB-BD31-4B8C-83A1-F6EECF244321}">
                <p14:modId xmlns:p14="http://schemas.microsoft.com/office/powerpoint/2010/main" val="3534307796"/>
              </p:ext>
            </p:extLst>
          </p:nvPr>
        </p:nvGraphicFramePr>
        <p:xfrm>
          <a:off x="9171821" y="3951393"/>
          <a:ext cx="2758922" cy="1112520"/>
        </p:xfrm>
        <a:graphic>
          <a:graphicData uri="http://schemas.openxmlformats.org/drawingml/2006/table">
            <a:tbl>
              <a:tblPr firstRow="1" bandRow="1">
                <a:tableStyleId>{5C22544A-7EE6-4342-B048-85BDC9FD1C3A}</a:tableStyleId>
              </a:tblPr>
              <a:tblGrid>
                <a:gridCol w="1379461">
                  <a:extLst>
                    <a:ext uri="{9D8B030D-6E8A-4147-A177-3AD203B41FA5}">
                      <a16:colId xmlns:a16="http://schemas.microsoft.com/office/drawing/2014/main" val="2868726105"/>
                    </a:ext>
                  </a:extLst>
                </a:gridCol>
                <a:gridCol w="1379461">
                  <a:extLst>
                    <a:ext uri="{9D8B030D-6E8A-4147-A177-3AD203B41FA5}">
                      <a16:colId xmlns:a16="http://schemas.microsoft.com/office/drawing/2014/main" val="3429628990"/>
                    </a:ext>
                  </a:extLst>
                </a:gridCol>
              </a:tblGrid>
              <a:tr h="370840">
                <a:tc>
                  <a:txBody>
                    <a:bodyPr/>
                    <a:lstStyle/>
                    <a:p>
                      <a:pPr>
                        <a:buNone/>
                      </a:pPr>
                      <a:r>
                        <a:rPr lang="en-US" dirty="0"/>
                        <a:t>StudentID</a:t>
                      </a:r>
                    </a:p>
                  </a:txBody>
                  <a:tcPr anchor="ctr"/>
                </a:tc>
                <a:tc>
                  <a:txBody>
                    <a:bodyPr/>
                    <a:lstStyle/>
                    <a:p>
                      <a:pPr>
                        <a:buNone/>
                      </a:pPr>
                      <a:r>
                        <a:rPr lang="en-US"/>
                        <a:t>DeptID</a:t>
                      </a:r>
                    </a:p>
                  </a:txBody>
                  <a:tcPr anchor="ctr"/>
                </a:tc>
                <a:extLst>
                  <a:ext uri="{0D108BD9-81ED-4DB2-BD59-A6C34878D82A}">
                    <a16:rowId xmlns:a16="http://schemas.microsoft.com/office/drawing/2014/main" val="2918378110"/>
                  </a:ext>
                </a:extLst>
              </a:tr>
              <a:tr h="370840">
                <a:tc>
                  <a:txBody>
                    <a:bodyPr/>
                    <a:lstStyle/>
                    <a:p>
                      <a:pPr>
                        <a:buNone/>
                      </a:pPr>
                      <a:r>
                        <a:rPr lang="en-US"/>
                        <a:t>101</a:t>
                      </a:r>
                    </a:p>
                  </a:txBody>
                  <a:tcPr anchor="ctr"/>
                </a:tc>
                <a:tc>
                  <a:txBody>
                    <a:bodyPr/>
                    <a:lstStyle/>
                    <a:p>
                      <a:pPr>
                        <a:buNone/>
                      </a:pPr>
                      <a:r>
                        <a:rPr lang="en-US"/>
                        <a:t>D01</a:t>
                      </a:r>
                    </a:p>
                  </a:txBody>
                  <a:tcPr anchor="ctr"/>
                </a:tc>
                <a:extLst>
                  <a:ext uri="{0D108BD9-81ED-4DB2-BD59-A6C34878D82A}">
                    <a16:rowId xmlns:a16="http://schemas.microsoft.com/office/drawing/2014/main" val="3860900261"/>
                  </a:ext>
                </a:extLst>
              </a:tr>
              <a:tr h="370840">
                <a:tc>
                  <a:txBody>
                    <a:bodyPr/>
                    <a:lstStyle/>
                    <a:p>
                      <a:pPr>
                        <a:buNone/>
                      </a:pPr>
                      <a:r>
                        <a:rPr lang="en-US"/>
                        <a:t>102</a:t>
                      </a:r>
                    </a:p>
                  </a:txBody>
                  <a:tcPr anchor="ctr"/>
                </a:tc>
                <a:tc>
                  <a:txBody>
                    <a:bodyPr/>
                    <a:lstStyle/>
                    <a:p>
                      <a:pPr>
                        <a:buNone/>
                      </a:pPr>
                      <a:r>
                        <a:rPr lang="en-US" dirty="0"/>
                        <a:t>D02</a:t>
                      </a:r>
                    </a:p>
                  </a:txBody>
                  <a:tcPr anchor="ctr"/>
                </a:tc>
                <a:extLst>
                  <a:ext uri="{0D108BD9-81ED-4DB2-BD59-A6C34878D82A}">
                    <a16:rowId xmlns:a16="http://schemas.microsoft.com/office/drawing/2014/main" val="1575469704"/>
                  </a:ext>
                </a:extLst>
              </a:tr>
            </a:tbl>
          </a:graphicData>
        </a:graphic>
      </p:graphicFrame>
    </p:spTree>
    <p:extLst>
      <p:ext uri="{BB962C8B-B14F-4D97-AF65-F5344CB8AC3E}">
        <p14:creationId xmlns:p14="http://schemas.microsoft.com/office/powerpoint/2010/main" val="34238533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70862-13AA-D5DD-9D44-96979BE78AF0}"/>
              </a:ext>
            </a:extLst>
          </p:cNvPr>
          <p:cNvSpPr>
            <a:spLocks noGrp="1"/>
          </p:cNvSpPr>
          <p:nvPr>
            <p:ph type="title"/>
          </p:nvPr>
        </p:nvSpPr>
        <p:spPr/>
        <p:txBody>
          <a:bodyPr/>
          <a:lstStyle/>
          <a:p>
            <a:r>
              <a:rPr lang="en-US" dirty="0"/>
              <a:t>Pseudo-transitivity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B58516-DF90-DEBE-982E-1E07EDB18733}"/>
                  </a:ext>
                </a:extLst>
              </p:cNvPr>
              <p:cNvSpPr>
                <a:spLocks noGrp="1"/>
              </p:cNvSpPr>
              <p:nvPr>
                <p:ph idx="1"/>
              </p:nvPr>
            </p:nvSpPr>
            <p:spPr/>
            <p:txBody>
              <a:bodyPr>
                <a:normAutofit/>
              </a:bodyPr>
              <a:lstStyle/>
              <a:p>
                <a:r>
                  <a:rPr lang="en-US" dirty="0"/>
                  <a:t>If:</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𝑌</m:t>
                    </m:r>
                  </m:oMath>
                </a14:m>
                <a:r>
                  <a:rPr lang="en-US" dirty="0"/>
                  <a:t>  and </a:t>
                </a:r>
                <a14:m>
                  <m:oMath xmlns:m="http://schemas.openxmlformats.org/officeDocument/2006/math">
                    <m:r>
                      <a:rPr lang="en-US" i="1">
                        <a:latin typeface="Cambria Math" panose="02040503050406030204" pitchFamily="18" charset="0"/>
                      </a:rPr>
                      <m:t>𝑊𝑌</m:t>
                    </m:r>
                    <m:r>
                      <a:rPr lang="en-US">
                        <a:latin typeface="Cambria Math" panose="02040503050406030204" pitchFamily="18" charset="0"/>
                      </a:rPr>
                      <m:t>→</m:t>
                    </m:r>
                    <m:r>
                      <a:rPr lang="en-US" i="1">
                        <a:latin typeface="Cambria Math" panose="02040503050406030204" pitchFamily="18" charset="0"/>
                      </a:rPr>
                      <m:t>𝑍</m:t>
                    </m:r>
                  </m:oMath>
                </a14:m>
                <a:r>
                  <a:rPr lang="en-US" dirty="0"/>
                  <a:t>,  then:</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𝑊𝑋</m:t>
                    </m:r>
                    <m:r>
                      <a:rPr lang="en-US">
                        <a:latin typeface="Cambria Math" panose="02040503050406030204" pitchFamily="18" charset="0"/>
                      </a:rPr>
                      <m:t>→</m:t>
                    </m:r>
                    <m:r>
                      <a:rPr lang="en-US" i="1">
                        <a:latin typeface="Cambria Math" panose="02040503050406030204" pitchFamily="18" charset="0"/>
                      </a:rPr>
                      <m:t>𝑍</m:t>
                    </m:r>
                  </m:oMath>
                </a14:m>
                <a:endParaRPr lang="en-US" dirty="0"/>
              </a:p>
              <a:p>
                <a:r>
                  <a:rPr lang="en-US" b="1" dirty="0"/>
                  <a:t>Example, </a:t>
                </a:r>
                <a:r>
                  <a:rPr lang="en-US" dirty="0"/>
                  <a:t>Given:</a:t>
                </a:r>
              </a:p>
              <a:p>
                <a14:m>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oMath>
                </a14:m>
                <a:r>
                  <a:rPr lang="en-US" dirty="0"/>
                  <a:t> </a:t>
                </a:r>
              </a:p>
              <a:p>
                <a:r>
                  <a:rPr lang="en-US" dirty="0"/>
                  <a:t>i.e. StudentID gives </a:t>
                </a:r>
                <a:r>
                  <a:rPr lang="en-US" dirty="0" err="1"/>
                  <a:t>DeptID</a:t>
                </a:r>
                <a:r>
                  <a:rPr lang="en-US" dirty="0"/>
                  <a:t>.</a:t>
                </a:r>
              </a:p>
              <a:p>
                <a:r>
                  <a:rPr lang="en-US" dirty="0"/>
                  <a:t> AND</a:t>
                </a:r>
              </a:p>
              <a:p>
                <a14:m>
                  <m:oMath xmlns:m="http://schemas.openxmlformats.org/officeDocument/2006/math">
                    <m:d>
                      <m:dPr>
                        <m:sepChr m:val=","/>
                        <m:ctrlPr>
                          <a:rPr lang="ar-AE" i="1">
                            <a:latin typeface="Cambria Math" panose="02040503050406030204" pitchFamily="18" charset="0"/>
                          </a:rPr>
                        </m:ctrlPr>
                      </m:dPr>
                      <m:e>
                        <m:r>
                          <m:rPr>
                            <m:sty m:val="p"/>
                          </m:rPr>
                          <a:rPr lang="en-US" b="0" i="1" smtClean="0">
                            <a:latin typeface="Cambria Math" panose="02040503050406030204" pitchFamily="18" charset="0"/>
                          </a:rPr>
                          <m:t>DeptID</m:t>
                        </m:r>
                        <m:r>
                          <a:rPr lang="en-US" b="0" i="1" smtClean="0">
                            <a:latin typeface="Cambria Math" panose="02040503050406030204" pitchFamily="18" charset="0"/>
                          </a:rPr>
                          <m:t>, </m:t>
                        </m:r>
                      </m:e>
                      <m:e>
                        <m:r>
                          <m:rPr>
                            <m:sty m:val="p"/>
                          </m:rPr>
                          <a:rPr lang="en-US" b="0" i="1" smtClean="0">
                            <a:latin typeface="Cambria Math" panose="02040503050406030204" pitchFamily="18" charset="0"/>
                          </a:rPr>
                          <m:t>CourseID</m:t>
                        </m:r>
                      </m:e>
                    </m:d>
                    <m:r>
                      <a:rPr lang="ar-AE">
                        <a:latin typeface="Cambria Math" panose="02040503050406030204" pitchFamily="18" charset="0"/>
                      </a:rPr>
                      <m:t>→</m:t>
                    </m:r>
                    <m:r>
                      <a:rPr lang="ar-AE" i="1">
                        <a:latin typeface="Cambria Math" panose="02040503050406030204" pitchFamily="18" charset="0"/>
                      </a:rPr>
                      <m:t>𝐹𝑎𝑐𝑢𝑙𝑡𝑦</m:t>
                    </m:r>
                  </m:oMath>
                </a14:m>
                <a:endParaRPr lang="ar-AE" dirty="0"/>
              </a:p>
              <a:p>
                <a:r>
                  <a:rPr lang="en-US" dirty="0"/>
                  <a:t>i.e. </a:t>
                </a:r>
                <a:r>
                  <a:rPr lang="en-US" dirty="0" err="1"/>
                  <a:t>DeptID</a:t>
                </a:r>
                <a:r>
                  <a:rPr lang="en-US" dirty="0"/>
                  <a:t> + </a:t>
                </a:r>
                <a:r>
                  <a:rPr lang="en-US" dirty="0" err="1"/>
                  <a:t>CourseID</a:t>
                </a:r>
                <a:r>
                  <a:rPr lang="en-US" dirty="0"/>
                  <a:t> gives Faculty.</a:t>
                </a:r>
              </a:p>
              <a:p>
                <a:r>
                  <a:rPr lang="en-US" dirty="0"/>
                  <a:t>Then:</a:t>
                </a:r>
              </a:p>
              <a:p>
                <a14:m>
                  <m:oMath xmlns:m="http://schemas.openxmlformats.org/officeDocument/2006/math">
                    <m:d>
                      <m:dPr>
                        <m:sepChr m:val=","/>
                        <m:ctrlPr>
                          <a:rPr lang="ar-AE" i="1">
                            <a:latin typeface="Cambria Math" panose="02040503050406030204" pitchFamily="18" charset="0"/>
                          </a:rPr>
                        </m:ctrlPr>
                      </m:dPr>
                      <m:e>
                        <m:r>
                          <a:rPr lang="ar-AE" i="1">
                            <a:latin typeface="Cambria Math" panose="02040503050406030204" pitchFamily="18" charset="0"/>
                          </a:rPr>
                          <m:t>𝑆</m:t>
                        </m:r>
                      </m:e>
                      <m:e>
                        <m:r>
                          <a:rPr lang="ar-AE" i="1">
                            <a:latin typeface="Cambria Math" panose="02040503050406030204" pitchFamily="18" charset="0"/>
                          </a:rPr>
                          <m:t>𝑡𝑢𝑑𝑒𝑛𝑡</m:t>
                        </m:r>
                        <m:r>
                          <m:rPr>
                            <m:lit/>
                          </m:rPr>
                          <a:rPr lang="ar-AE">
                            <a:latin typeface="Cambria Math" panose="02040503050406030204" pitchFamily="18" charset="0"/>
                          </a:rPr>
                          <m:t>_</m:t>
                        </m:r>
                        <m:r>
                          <a:rPr lang="ar-AE" i="1">
                            <a:latin typeface="Cambria Math" panose="02040503050406030204" pitchFamily="18" charset="0"/>
                          </a:rPr>
                          <m:t>𝐼𝐷</m:t>
                        </m:r>
                        <m:r>
                          <a:rPr lang="en-US" b="0" i="1" smtClean="0">
                            <a:latin typeface="Cambria Math" panose="02040503050406030204" pitchFamily="18" charset="0"/>
                          </a:rPr>
                          <m:t>, </m:t>
                        </m:r>
                        <m:r>
                          <a:rPr lang="ar-AE" i="1">
                            <a:latin typeface="Cambria Math" panose="02040503050406030204" pitchFamily="18" charset="0"/>
                          </a:rPr>
                          <m:t>𝐶𝑜𝑢𝑟𝑠𝑒</m:t>
                        </m:r>
                        <m:r>
                          <m:rPr>
                            <m:lit/>
                          </m:rPr>
                          <a:rPr lang="ar-AE">
                            <a:latin typeface="Cambria Math" panose="02040503050406030204" pitchFamily="18" charset="0"/>
                          </a:rPr>
                          <m:t>_</m:t>
                        </m:r>
                        <m:r>
                          <a:rPr lang="ar-AE" i="1">
                            <a:latin typeface="Cambria Math" panose="02040503050406030204" pitchFamily="18" charset="0"/>
                          </a:rPr>
                          <m:t>𝐼𝐷</m:t>
                        </m:r>
                      </m:e>
                    </m:d>
                    <m:r>
                      <a:rPr lang="ar-AE">
                        <a:latin typeface="Cambria Math" panose="02040503050406030204" pitchFamily="18" charset="0"/>
                      </a:rPr>
                      <m:t>→</m:t>
                    </m:r>
                    <m:r>
                      <a:rPr lang="ar-AE" i="1">
                        <a:latin typeface="Cambria Math" panose="02040503050406030204" pitchFamily="18" charset="0"/>
                      </a:rPr>
                      <m:t>𝐹𝑎𝑐𝑢𝑙𝑡𝑦</m:t>
                    </m:r>
                  </m:oMath>
                </a14:m>
                <a:endParaRPr lang="ar-AE" dirty="0"/>
              </a:p>
              <a:p>
                <a:endParaRPr lang="en-US" dirty="0"/>
              </a:p>
            </p:txBody>
          </p:sp>
        </mc:Choice>
        <mc:Fallback xmlns="">
          <p:sp>
            <p:nvSpPr>
              <p:cNvPr id="3" name="Content Placeholder 2">
                <a:extLst>
                  <a:ext uri="{FF2B5EF4-FFF2-40B4-BE49-F238E27FC236}">
                    <a16:creationId xmlns:a16="http://schemas.microsoft.com/office/drawing/2014/main" id="{E7B58516-DF90-DEBE-982E-1E07EDB18733}"/>
                  </a:ext>
                </a:extLst>
              </p:cNvPr>
              <p:cNvSpPr>
                <a:spLocks noGrp="1" noRot="1" noChangeAspect="1" noMove="1" noResize="1" noEditPoints="1" noAdjustHandles="1" noChangeArrowheads="1" noChangeShapeType="1" noTextEdit="1"/>
              </p:cNvSpPr>
              <p:nvPr>
                <p:ph idx="1"/>
              </p:nvPr>
            </p:nvSpPr>
            <p:spPr>
              <a:blipFill>
                <a:blip r:embed="rId2"/>
                <a:stretch>
                  <a:fillRect l="-1515" t="-1667" b="-758"/>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3AD58795-FDD8-E698-E408-326A425AE26B}"/>
              </a:ext>
            </a:extLst>
          </p:cNvPr>
          <p:cNvGraphicFramePr>
            <a:graphicFrameLocks noGrp="1"/>
          </p:cNvGraphicFramePr>
          <p:nvPr>
            <p:extLst>
              <p:ext uri="{D42A27DB-BD31-4B8C-83A1-F6EECF244321}">
                <p14:modId xmlns:p14="http://schemas.microsoft.com/office/powerpoint/2010/main" val="1763423118"/>
              </p:ext>
            </p:extLst>
          </p:nvPr>
        </p:nvGraphicFramePr>
        <p:xfrm>
          <a:off x="5188857" y="2316480"/>
          <a:ext cx="6828972" cy="1112520"/>
        </p:xfrm>
        <a:graphic>
          <a:graphicData uri="http://schemas.openxmlformats.org/drawingml/2006/table">
            <a:tbl>
              <a:tblPr firstRow="1" bandRow="1">
                <a:tableStyleId>{5C22544A-7EE6-4342-B048-85BDC9FD1C3A}</a:tableStyleId>
              </a:tblPr>
              <a:tblGrid>
                <a:gridCol w="1707243">
                  <a:extLst>
                    <a:ext uri="{9D8B030D-6E8A-4147-A177-3AD203B41FA5}">
                      <a16:colId xmlns:a16="http://schemas.microsoft.com/office/drawing/2014/main" val="1057106975"/>
                    </a:ext>
                  </a:extLst>
                </a:gridCol>
                <a:gridCol w="1707243">
                  <a:extLst>
                    <a:ext uri="{9D8B030D-6E8A-4147-A177-3AD203B41FA5}">
                      <a16:colId xmlns:a16="http://schemas.microsoft.com/office/drawing/2014/main" val="2920276415"/>
                    </a:ext>
                  </a:extLst>
                </a:gridCol>
                <a:gridCol w="1707243">
                  <a:extLst>
                    <a:ext uri="{9D8B030D-6E8A-4147-A177-3AD203B41FA5}">
                      <a16:colId xmlns:a16="http://schemas.microsoft.com/office/drawing/2014/main" val="4231361729"/>
                    </a:ext>
                  </a:extLst>
                </a:gridCol>
                <a:gridCol w="1707243">
                  <a:extLst>
                    <a:ext uri="{9D8B030D-6E8A-4147-A177-3AD203B41FA5}">
                      <a16:colId xmlns:a16="http://schemas.microsoft.com/office/drawing/2014/main" val="122559899"/>
                    </a:ext>
                  </a:extLst>
                </a:gridCol>
              </a:tblGrid>
              <a:tr h="370840">
                <a:tc>
                  <a:txBody>
                    <a:bodyPr/>
                    <a:lstStyle/>
                    <a:p>
                      <a:pPr>
                        <a:buNone/>
                      </a:pPr>
                      <a:r>
                        <a:rPr lang="en-US" dirty="0"/>
                        <a:t>StudentID</a:t>
                      </a:r>
                    </a:p>
                  </a:txBody>
                  <a:tcPr anchor="ctr"/>
                </a:tc>
                <a:tc>
                  <a:txBody>
                    <a:bodyPr/>
                    <a:lstStyle/>
                    <a:p>
                      <a:pPr>
                        <a:buNone/>
                      </a:pPr>
                      <a:r>
                        <a:rPr lang="en-US"/>
                        <a:t>DeptID</a:t>
                      </a:r>
                    </a:p>
                  </a:txBody>
                  <a:tcPr anchor="ctr"/>
                </a:tc>
                <a:tc>
                  <a:txBody>
                    <a:bodyPr/>
                    <a:lstStyle/>
                    <a:p>
                      <a:pPr>
                        <a:buNone/>
                      </a:pPr>
                      <a:r>
                        <a:rPr lang="en-US"/>
                        <a:t>CourseID</a:t>
                      </a:r>
                    </a:p>
                  </a:txBody>
                  <a:tcPr anchor="ctr"/>
                </a:tc>
                <a:tc>
                  <a:txBody>
                    <a:bodyPr/>
                    <a:lstStyle/>
                    <a:p>
                      <a:pPr>
                        <a:buNone/>
                      </a:pPr>
                      <a:r>
                        <a:rPr lang="en-US"/>
                        <a:t>Faculty</a:t>
                      </a:r>
                    </a:p>
                  </a:txBody>
                  <a:tcPr anchor="ctr"/>
                </a:tc>
                <a:extLst>
                  <a:ext uri="{0D108BD9-81ED-4DB2-BD59-A6C34878D82A}">
                    <a16:rowId xmlns:a16="http://schemas.microsoft.com/office/drawing/2014/main" val="1740209715"/>
                  </a:ext>
                </a:extLst>
              </a:tr>
              <a:tr h="370840">
                <a:tc>
                  <a:txBody>
                    <a:bodyPr/>
                    <a:lstStyle/>
                    <a:p>
                      <a:pPr>
                        <a:buNone/>
                      </a:pPr>
                      <a:r>
                        <a:rPr lang="en-US"/>
                        <a:t>101</a:t>
                      </a:r>
                    </a:p>
                  </a:txBody>
                  <a:tcPr anchor="ctr"/>
                </a:tc>
                <a:tc>
                  <a:txBody>
                    <a:bodyPr/>
                    <a:lstStyle/>
                    <a:p>
                      <a:pPr>
                        <a:buNone/>
                      </a:pPr>
                      <a:r>
                        <a:rPr lang="en-US"/>
                        <a:t>D01</a:t>
                      </a:r>
                    </a:p>
                  </a:txBody>
                  <a:tcPr anchor="ctr"/>
                </a:tc>
                <a:tc>
                  <a:txBody>
                    <a:bodyPr/>
                    <a:lstStyle/>
                    <a:p>
                      <a:pPr>
                        <a:buNone/>
                      </a:pPr>
                      <a:r>
                        <a:rPr lang="en-US"/>
                        <a:t>C101</a:t>
                      </a:r>
                    </a:p>
                  </a:txBody>
                  <a:tcPr anchor="ctr"/>
                </a:tc>
                <a:tc>
                  <a:txBody>
                    <a:bodyPr/>
                    <a:lstStyle/>
                    <a:p>
                      <a:pPr>
                        <a:buNone/>
                      </a:pPr>
                      <a:r>
                        <a:rPr lang="en-US"/>
                        <a:t>Dr. Sharma</a:t>
                      </a:r>
                    </a:p>
                  </a:txBody>
                  <a:tcPr anchor="ctr"/>
                </a:tc>
                <a:extLst>
                  <a:ext uri="{0D108BD9-81ED-4DB2-BD59-A6C34878D82A}">
                    <a16:rowId xmlns:a16="http://schemas.microsoft.com/office/drawing/2014/main" val="2375329744"/>
                  </a:ext>
                </a:extLst>
              </a:tr>
              <a:tr h="370840">
                <a:tc>
                  <a:txBody>
                    <a:bodyPr/>
                    <a:lstStyle/>
                    <a:p>
                      <a:pPr>
                        <a:buNone/>
                      </a:pPr>
                      <a:r>
                        <a:rPr lang="en-US"/>
                        <a:t>102</a:t>
                      </a:r>
                    </a:p>
                  </a:txBody>
                  <a:tcPr anchor="ctr"/>
                </a:tc>
                <a:tc>
                  <a:txBody>
                    <a:bodyPr/>
                    <a:lstStyle/>
                    <a:p>
                      <a:pPr>
                        <a:buNone/>
                      </a:pPr>
                      <a:r>
                        <a:rPr lang="en-US"/>
                        <a:t>D02</a:t>
                      </a:r>
                    </a:p>
                  </a:txBody>
                  <a:tcPr anchor="ctr"/>
                </a:tc>
                <a:tc>
                  <a:txBody>
                    <a:bodyPr/>
                    <a:lstStyle/>
                    <a:p>
                      <a:pPr>
                        <a:buNone/>
                      </a:pPr>
                      <a:r>
                        <a:rPr lang="en-US"/>
                        <a:t>C102</a:t>
                      </a:r>
                    </a:p>
                  </a:txBody>
                  <a:tcPr anchor="ctr"/>
                </a:tc>
                <a:tc>
                  <a:txBody>
                    <a:bodyPr/>
                    <a:lstStyle/>
                    <a:p>
                      <a:pPr>
                        <a:buNone/>
                      </a:pPr>
                      <a:r>
                        <a:rPr lang="en-US" dirty="0"/>
                        <a:t>Dr. Karki</a:t>
                      </a:r>
                    </a:p>
                  </a:txBody>
                  <a:tcPr anchor="ctr"/>
                </a:tc>
                <a:extLst>
                  <a:ext uri="{0D108BD9-81ED-4DB2-BD59-A6C34878D82A}">
                    <a16:rowId xmlns:a16="http://schemas.microsoft.com/office/drawing/2014/main" val="3307313573"/>
                  </a:ext>
                </a:extLst>
              </a:tr>
            </a:tbl>
          </a:graphicData>
        </a:graphic>
      </p:graphicFrame>
    </p:spTree>
    <p:extLst>
      <p:ext uri="{BB962C8B-B14F-4D97-AF65-F5344CB8AC3E}">
        <p14:creationId xmlns:p14="http://schemas.microsoft.com/office/powerpoint/2010/main" val="18171485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983F2-B3C5-5066-CCBD-55EB8E1EDE99}"/>
              </a:ext>
            </a:extLst>
          </p:cNvPr>
          <p:cNvSpPr>
            <a:spLocks noGrp="1"/>
          </p:cNvSpPr>
          <p:nvPr>
            <p:ph type="title"/>
          </p:nvPr>
        </p:nvSpPr>
        <p:spPr/>
        <p:txBody>
          <a:bodyPr/>
          <a:lstStyle/>
          <a:p>
            <a:r>
              <a:rPr lang="en-US" dirty="0"/>
              <a:t>Applying Armstrong’s axioms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CFBBEB-8773-34F2-3F80-C2CFF64B7E0F}"/>
                  </a:ext>
                </a:extLst>
              </p:cNvPr>
              <p:cNvSpPr>
                <a:spLocks noGrp="1"/>
              </p:cNvSpPr>
              <p:nvPr>
                <p:ph idx="1"/>
              </p:nvPr>
            </p:nvSpPr>
            <p:spPr/>
            <p:txBody>
              <a:bodyPr/>
              <a:lstStyle/>
              <a:p>
                <a:r>
                  <a:rPr lang="en-US" dirty="0"/>
                  <a:t>Given FDs:</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oMath>
                  </m:oMathPara>
                </a14:m>
                <a:endParaRPr lang="en-US" dirty="0"/>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𝑁𝑎𝑚𝑒</m:t>
                      </m:r>
                    </m:oMath>
                  </m:oMathPara>
                </a14:m>
                <a:endParaRPr lang="en-US" dirty="0"/>
              </a:p>
              <a:p>
                <a:r>
                  <a:rPr lang="en-US" b="1" dirty="0"/>
                  <a:t>Find:</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𝑁𝑎𝑚𝑒</m:t>
                    </m:r>
                  </m:oMath>
                </a14:m>
                <a:endParaRPr lang="en-US" dirty="0"/>
              </a:p>
              <a:p>
                <a:r>
                  <a:rPr lang="en-US" dirty="0"/>
                  <a:t>Using </a:t>
                </a:r>
                <a:r>
                  <a:rPr lang="en-US" b="1" dirty="0"/>
                  <a:t>Transitivity</a:t>
                </a:r>
                <a:r>
                  <a:rPr lang="en-US" dirty="0"/>
                  <a:t>:</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oMath>
                  </m:oMathPara>
                </a14:m>
                <a:endParaRPr lang="en-US" dirty="0"/>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𝑁𝑎𝑚𝑒</m:t>
                      </m:r>
                    </m:oMath>
                  </m:oMathPara>
                </a14:m>
                <a:endParaRPr lang="en-US" dirty="0"/>
              </a:p>
              <a:p>
                <a:r>
                  <a:rPr lang="en-US" dirty="0"/>
                  <a:t>Therefore: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𝑆𝑡𝑢𝑑𝑒𝑛𝑡</m:t>
                    </m:r>
                    <m:r>
                      <m:rPr>
                        <m:lit/>
                      </m:rPr>
                      <a:rPr lang="en-US">
                        <a:latin typeface="Cambria Math" panose="02040503050406030204" pitchFamily="18" charset="0"/>
                      </a:rPr>
                      <m:t>_</m:t>
                    </m:r>
                    <m:r>
                      <a:rPr lang="en-US" i="1">
                        <a:latin typeface="Cambria Math" panose="02040503050406030204" pitchFamily="18" charset="0"/>
                      </a:rPr>
                      <m:t>𝐼𝐷</m:t>
                    </m:r>
                    <m:r>
                      <a:rPr lang="en-US">
                        <a:latin typeface="Cambria Math" panose="02040503050406030204" pitchFamily="18" charset="0"/>
                      </a:rPr>
                      <m:t>→</m:t>
                    </m:r>
                    <m:r>
                      <a:rPr lang="en-US" i="1">
                        <a:latin typeface="Cambria Math" panose="02040503050406030204" pitchFamily="18" charset="0"/>
                      </a:rPr>
                      <m:t>𝐷𝑒𝑝𝑡</m:t>
                    </m:r>
                    <m:r>
                      <m:rPr>
                        <m:lit/>
                      </m:rPr>
                      <a:rPr lang="en-US">
                        <a:latin typeface="Cambria Math" panose="02040503050406030204" pitchFamily="18" charset="0"/>
                      </a:rPr>
                      <m:t>_</m:t>
                    </m:r>
                    <m:r>
                      <a:rPr lang="en-US" i="1">
                        <a:latin typeface="Cambria Math" panose="02040503050406030204" pitchFamily="18" charset="0"/>
                      </a:rPr>
                      <m:t>𝑁𝑎𝑚𝑒</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C6CFBBEB-8773-34F2-3F80-C2CFF64B7E0F}"/>
                  </a:ext>
                </a:extLst>
              </p:cNvPr>
              <p:cNvSpPr>
                <a:spLocks noGrp="1" noRot="1" noChangeAspect="1" noMove="1" noResize="1" noEditPoints="1" noAdjustHandles="1" noChangeArrowheads="1" noChangeShapeType="1" noTextEdit="1"/>
              </p:cNvSpPr>
              <p:nvPr>
                <p:ph idx="1"/>
              </p:nvPr>
            </p:nvSpPr>
            <p:spPr>
              <a:blipFill>
                <a:blip r:embed="rId2"/>
                <a:stretch>
                  <a:fillRect l="-1515" t="-1667"/>
                </a:stretch>
              </a:blipFill>
            </p:spPr>
            <p:txBody>
              <a:bodyPr/>
              <a:lstStyle/>
              <a:p>
                <a:r>
                  <a:rPr lang="en-US">
                    <a:noFill/>
                  </a:rPr>
                  <a:t> </a:t>
                </a:r>
              </a:p>
            </p:txBody>
          </p:sp>
        </mc:Fallback>
      </mc:AlternateContent>
    </p:spTree>
    <p:extLst>
      <p:ext uri="{BB962C8B-B14F-4D97-AF65-F5344CB8AC3E}">
        <p14:creationId xmlns:p14="http://schemas.microsoft.com/office/powerpoint/2010/main" val="59581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A4DA5-54C2-50E8-3646-99A107143794}"/>
              </a:ext>
            </a:extLst>
          </p:cNvPr>
          <p:cNvSpPr>
            <a:spLocks noGrp="1"/>
          </p:cNvSpPr>
          <p:nvPr>
            <p:ph type="title"/>
          </p:nvPr>
        </p:nvSpPr>
        <p:spPr/>
        <p:txBody>
          <a:bodyPr/>
          <a:lstStyle/>
          <a:p>
            <a:r>
              <a:rPr lang="en-US" dirty="0"/>
              <a:t>Summary of Axioms</a:t>
            </a:r>
          </a:p>
        </p:txBody>
      </p:sp>
      <p:graphicFrame>
        <p:nvGraphicFramePr>
          <p:cNvPr id="4" name="Content Placeholder 3">
            <a:extLst>
              <a:ext uri="{FF2B5EF4-FFF2-40B4-BE49-F238E27FC236}">
                <a16:creationId xmlns:a16="http://schemas.microsoft.com/office/drawing/2014/main" id="{9CF633E3-2327-3878-AF53-D9211FAF245A}"/>
              </a:ext>
            </a:extLst>
          </p:cNvPr>
          <p:cNvGraphicFramePr>
            <a:graphicFrameLocks noGrp="1"/>
          </p:cNvGraphicFramePr>
          <p:nvPr>
            <p:ph idx="1"/>
            <p:extLst>
              <p:ext uri="{D42A27DB-BD31-4B8C-83A1-F6EECF244321}">
                <p14:modId xmlns:p14="http://schemas.microsoft.com/office/powerpoint/2010/main" val="3903884170"/>
              </p:ext>
            </p:extLst>
          </p:nvPr>
        </p:nvGraphicFramePr>
        <p:xfrm>
          <a:off x="1096963" y="1846262"/>
          <a:ext cx="8332788" cy="4077001"/>
        </p:xfrm>
        <a:graphic>
          <a:graphicData uri="http://schemas.openxmlformats.org/drawingml/2006/table">
            <a:tbl>
              <a:tblPr firstRow="1" bandRow="1">
                <a:tableStyleId>{5C22544A-7EE6-4342-B048-85BDC9FD1C3A}</a:tableStyleId>
              </a:tblPr>
              <a:tblGrid>
                <a:gridCol w="2777596">
                  <a:extLst>
                    <a:ext uri="{9D8B030D-6E8A-4147-A177-3AD203B41FA5}">
                      <a16:colId xmlns:a16="http://schemas.microsoft.com/office/drawing/2014/main" val="1456743855"/>
                    </a:ext>
                  </a:extLst>
                </a:gridCol>
                <a:gridCol w="2777596">
                  <a:extLst>
                    <a:ext uri="{9D8B030D-6E8A-4147-A177-3AD203B41FA5}">
                      <a16:colId xmlns:a16="http://schemas.microsoft.com/office/drawing/2014/main" val="570139077"/>
                    </a:ext>
                  </a:extLst>
                </a:gridCol>
                <a:gridCol w="2777596">
                  <a:extLst>
                    <a:ext uri="{9D8B030D-6E8A-4147-A177-3AD203B41FA5}">
                      <a16:colId xmlns:a16="http://schemas.microsoft.com/office/drawing/2014/main" val="4029137443"/>
                    </a:ext>
                  </a:extLst>
                </a:gridCol>
              </a:tblGrid>
              <a:tr h="456358">
                <a:tc>
                  <a:txBody>
                    <a:bodyPr/>
                    <a:lstStyle/>
                    <a:p>
                      <a:pPr>
                        <a:buNone/>
                      </a:pPr>
                      <a:r>
                        <a:rPr lang="en-US" dirty="0"/>
                        <a:t>Axiom</a:t>
                      </a:r>
                    </a:p>
                  </a:txBody>
                  <a:tcPr anchor="ctr"/>
                </a:tc>
                <a:tc>
                  <a:txBody>
                    <a:bodyPr/>
                    <a:lstStyle/>
                    <a:p>
                      <a:pPr>
                        <a:buNone/>
                      </a:pPr>
                      <a:r>
                        <a:rPr lang="en-US"/>
                        <a:t>Rule</a:t>
                      </a:r>
                    </a:p>
                  </a:txBody>
                  <a:tcPr anchor="ctr"/>
                </a:tc>
                <a:tc>
                  <a:txBody>
                    <a:bodyPr/>
                    <a:lstStyle/>
                    <a:p>
                      <a:pPr>
                        <a:buNone/>
                      </a:pPr>
                      <a:r>
                        <a:rPr lang="en-US"/>
                        <a:t>Example</a:t>
                      </a:r>
                    </a:p>
                  </a:txBody>
                  <a:tcPr anchor="ctr"/>
                </a:tc>
                <a:extLst>
                  <a:ext uri="{0D108BD9-81ED-4DB2-BD59-A6C34878D82A}">
                    <a16:rowId xmlns:a16="http://schemas.microsoft.com/office/drawing/2014/main" val="191637541"/>
                  </a:ext>
                </a:extLst>
              </a:tr>
              <a:tr h="456358">
                <a:tc>
                  <a:txBody>
                    <a:bodyPr/>
                    <a:lstStyle/>
                    <a:p>
                      <a:pPr>
                        <a:buNone/>
                      </a:pPr>
                      <a:r>
                        <a:rPr lang="en-US"/>
                        <a:t>Reflexivity</a:t>
                      </a:r>
                    </a:p>
                  </a:txBody>
                  <a:tcPr anchor="ctr"/>
                </a:tc>
                <a:tc>
                  <a:txBody>
                    <a:bodyPr/>
                    <a:lstStyle/>
                    <a:p>
                      <a:pPr>
                        <a:buNone/>
                      </a:pPr>
                      <a:r>
                        <a:rPr lang="en-US"/>
                        <a:t>If Y ⊆ X, then X → Y</a:t>
                      </a:r>
                    </a:p>
                  </a:txBody>
                  <a:tcPr anchor="ctr"/>
                </a:tc>
                <a:tc>
                  <a:txBody>
                    <a:bodyPr/>
                    <a:lstStyle/>
                    <a:p>
                      <a:pPr>
                        <a:buNone/>
                      </a:pPr>
                      <a:r>
                        <a:rPr lang="en-US"/>
                        <a:t>(A,B) → A</a:t>
                      </a:r>
                    </a:p>
                  </a:txBody>
                  <a:tcPr anchor="ctr"/>
                </a:tc>
                <a:extLst>
                  <a:ext uri="{0D108BD9-81ED-4DB2-BD59-A6C34878D82A}">
                    <a16:rowId xmlns:a16="http://schemas.microsoft.com/office/drawing/2014/main" val="1819865950"/>
                  </a:ext>
                </a:extLst>
              </a:tr>
              <a:tr h="456358">
                <a:tc>
                  <a:txBody>
                    <a:bodyPr/>
                    <a:lstStyle/>
                    <a:p>
                      <a:pPr>
                        <a:buNone/>
                      </a:pPr>
                      <a:r>
                        <a:rPr lang="en-US"/>
                        <a:t>Augmentation</a:t>
                      </a:r>
                    </a:p>
                  </a:txBody>
                  <a:tcPr anchor="ctr"/>
                </a:tc>
                <a:tc>
                  <a:txBody>
                    <a:bodyPr/>
                    <a:lstStyle/>
                    <a:p>
                      <a:pPr>
                        <a:buNone/>
                      </a:pPr>
                      <a:r>
                        <a:rPr lang="en-US"/>
                        <a:t>If X → Y, then XZ → YZ</a:t>
                      </a:r>
                    </a:p>
                  </a:txBody>
                  <a:tcPr anchor="ctr"/>
                </a:tc>
                <a:tc>
                  <a:txBody>
                    <a:bodyPr/>
                    <a:lstStyle/>
                    <a:p>
                      <a:pPr>
                        <a:buNone/>
                      </a:pPr>
                      <a:r>
                        <a:rPr lang="en-US"/>
                        <a:t>A → B ⇒ AC → BC</a:t>
                      </a:r>
                    </a:p>
                  </a:txBody>
                  <a:tcPr anchor="ctr"/>
                </a:tc>
                <a:extLst>
                  <a:ext uri="{0D108BD9-81ED-4DB2-BD59-A6C34878D82A}">
                    <a16:rowId xmlns:a16="http://schemas.microsoft.com/office/drawing/2014/main" val="3502324416"/>
                  </a:ext>
                </a:extLst>
              </a:tr>
              <a:tr h="456358">
                <a:tc>
                  <a:txBody>
                    <a:bodyPr/>
                    <a:lstStyle/>
                    <a:p>
                      <a:pPr>
                        <a:buNone/>
                      </a:pPr>
                      <a:r>
                        <a:rPr lang="en-US"/>
                        <a:t>Transitivity</a:t>
                      </a:r>
                    </a:p>
                  </a:txBody>
                  <a:tcPr anchor="ctr"/>
                </a:tc>
                <a:tc>
                  <a:txBody>
                    <a:bodyPr/>
                    <a:lstStyle/>
                    <a:p>
                      <a:pPr>
                        <a:buNone/>
                      </a:pPr>
                      <a:r>
                        <a:rPr lang="en-US"/>
                        <a:t>If X → Y and Y → Z, then X → Z</a:t>
                      </a:r>
                    </a:p>
                  </a:txBody>
                  <a:tcPr anchor="ctr"/>
                </a:tc>
                <a:tc>
                  <a:txBody>
                    <a:bodyPr/>
                    <a:lstStyle/>
                    <a:p>
                      <a:pPr>
                        <a:buNone/>
                      </a:pPr>
                      <a:r>
                        <a:rPr lang="en-US"/>
                        <a:t>A → B, B → C ⇒ A → C</a:t>
                      </a:r>
                    </a:p>
                  </a:txBody>
                  <a:tcPr anchor="ctr"/>
                </a:tc>
                <a:extLst>
                  <a:ext uri="{0D108BD9-81ED-4DB2-BD59-A6C34878D82A}">
                    <a16:rowId xmlns:a16="http://schemas.microsoft.com/office/drawing/2014/main" val="1624084217"/>
                  </a:ext>
                </a:extLst>
              </a:tr>
              <a:tr h="456358">
                <a:tc>
                  <a:txBody>
                    <a:bodyPr/>
                    <a:lstStyle/>
                    <a:p>
                      <a:pPr>
                        <a:buNone/>
                      </a:pPr>
                      <a:r>
                        <a:rPr lang="en-US"/>
                        <a:t>Union</a:t>
                      </a:r>
                    </a:p>
                  </a:txBody>
                  <a:tcPr anchor="ctr"/>
                </a:tc>
                <a:tc>
                  <a:txBody>
                    <a:bodyPr/>
                    <a:lstStyle/>
                    <a:p>
                      <a:pPr>
                        <a:buNone/>
                      </a:pPr>
                      <a:r>
                        <a:rPr lang="en-US"/>
                        <a:t>If X → Y and X → Z, then X → YZ</a:t>
                      </a:r>
                    </a:p>
                  </a:txBody>
                  <a:tcPr anchor="ctr"/>
                </a:tc>
                <a:tc>
                  <a:txBody>
                    <a:bodyPr/>
                    <a:lstStyle/>
                    <a:p>
                      <a:pPr>
                        <a:buNone/>
                      </a:pPr>
                      <a:r>
                        <a:rPr lang="pt-BR"/>
                        <a:t>A → B, A → C ⇒ A → BC</a:t>
                      </a:r>
                    </a:p>
                  </a:txBody>
                  <a:tcPr anchor="ctr"/>
                </a:tc>
                <a:extLst>
                  <a:ext uri="{0D108BD9-81ED-4DB2-BD59-A6C34878D82A}">
                    <a16:rowId xmlns:a16="http://schemas.microsoft.com/office/drawing/2014/main" val="2469945319"/>
                  </a:ext>
                </a:extLst>
              </a:tr>
              <a:tr h="456358">
                <a:tc>
                  <a:txBody>
                    <a:bodyPr/>
                    <a:lstStyle/>
                    <a:p>
                      <a:pPr>
                        <a:buNone/>
                      </a:pPr>
                      <a:r>
                        <a:rPr lang="en-US"/>
                        <a:t>Decomposition</a:t>
                      </a:r>
                    </a:p>
                  </a:txBody>
                  <a:tcPr anchor="ctr"/>
                </a:tc>
                <a:tc>
                  <a:txBody>
                    <a:bodyPr/>
                    <a:lstStyle/>
                    <a:p>
                      <a:pPr>
                        <a:buNone/>
                      </a:pPr>
                      <a:r>
                        <a:rPr lang="en-US"/>
                        <a:t>If X → YZ, then X → Y and X → Z</a:t>
                      </a:r>
                    </a:p>
                  </a:txBody>
                  <a:tcPr anchor="ctr"/>
                </a:tc>
                <a:tc>
                  <a:txBody>
                    <a:bodyPr/>
                    <a:lstStyle/>
                    <a:p>
                      <a:pPr>
                        <a:buNone/>
                      </a:pPr>
                      <a:r>
                        <a:rPr lang="pt-BR"/>
                        <a:t>A → BC ⇒ A → B, A → C</a:t>
                      </a:r>
                    </a:p>
                  </a:txBody>
                  <a:tcPr anchor="ctr"/>
                </a:tc>
                <a:extLst>
                  <a:ext uri="{0D108BD9-81ED-4DB2-BD59-A6C34878D82A}">
                    <a16:rowId xmlns:a16="http://schemas.microsoft.com/office/drawing/2014/main" val="830821964"/>
                  </a:ext>
                </a:extLst>
              </a:tr>
              <a:tr h="787687">
                <a:tc>
                  <a:txBody>
                    <a:bodyPr/>
                    <a:lstStyle/>
                    <a:p>
                      <a:pPr>
                        <a:buNone/>
                      </a:pPr>
                      <a:r>
                        <a:rPr lang="en-US"/>
                        <a:t>Pseudotransitivity</a:t>
                      </a:r>
                    </a:p>
                  </a:txBody>
                  <a:tcPr anchor="ctr"/>
                </a:tc>
                <a:tc>
                  <a:txBody>
                    <a:bodyPr/>
                    <a:lstStyle/>
                    <a:p>
                      <a:pPr>
                        <a:buNone/>
                      </a:pPr>
                      <a:r>
                        <a:rPr lang="en-US"/>
                        <a:t>If X → Y and WY → Z, then WX → Z</a:t>
                      </a:r>
                    </a:p>
                  </a:txBody>
                  <a:tcPr anchor="ctr"/>
                </a:tc>
                <a:tc>
                  <a:txBody>
                    <a:bodyPr/>
                    <a:lstStyle/>
                    <a:p>
                      <a:pPr>
                        <a:buNone/>
                      </a:pPr>
                      <a:r>
                        <a:rPr lang="en-US" dirty="0"/>
                        <a:t>A → B, CB → D ⇒ AC → D</a:t>
                      </a:r>
                    </a:p>
                  </a:txBody>
                  <a:tcPr anchor="ctr"/>
                </a:tc>
                <a:extLst>
                  <a:ext uri="{0D108BD9-81ED-4DB2-BD59-A6C34878D82A}">
                    <a16:rowId xmlns:a16="http://schemas.microsoft.com/office/drawing/2014/main" val="4027055264"/>
                  </a:ext>
                </a:extLst>
              </a:tr>
            </a:tbl>
          </a:graphicData>
        </a:graphic>
      </p:graphicFrame>
    </p:spTree>
    <p:extLst>
      <p:ext uri="{BB962C8B-B14F-4D97-AF65-F5344CB8AC3E}">
        <p14:creationId xmlns:p14="http://schemas.microsoft.com/office/powerpoint/2010/main" val="32565579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F2EC2-CAA1-9E83-6B51-EDDD31126FB5}"/>
              </a:ext>
            </a:extLst>
          </p:cNvPr>
          <p:cNvSpPr>
            <a:spLocks noGrp="1"/>
          </p:cNvSpPr>
          <p:nvPr>
            <p:ph type="title"/>
          </p:nvPr>
        </p:nvSpPr>
        <p:spPr/>
        <p:txBody>
          <a:bodyPr>
            <a:normAutofit/>
          </a:bodyPr>
          <a:lstStyle/>
          <a:p>
            <a:r>
              <a:rPr lang="en-US" dirty="0"/>
              <a:t>Closure of a Set of Functional Dependencies</a:t>
            </a:r>
          </a:p>
        </p:txBody>
      </p:sp>
      <p:sp>
        <p:nvSpPr>
          <p:cNvPr id="3" name="Content Placeholder 2">
            <a:extLst>
              <a:ext uri="{FF2B5EF4-FFF2-40B4-BE49-F238E27FC236}">
                <a16:creationId xmlns:a16="http://schemas.microsoft.com/office/drawing/2014/main" id="{65EE54B2-C646-2237-882A-60B30317A3CB}"/>
              </a:ext>
            </a:extLst>
          </p:cNvPr>
          <p:cNvSpPr>
            <a:spLocks noGrp="1"/>
          </p:cNvSpPr>
          <p:nvPr>
            <p:ph idx="1"/>
          </p:nvPr>
        </p:nvSpPr>
        <p:spPr/>
        <p:txBody>
          <a:bodyPr>
            <a:normAutofit/>
          </a:bodyPr>
          <a:lstStyle/>
          <a:p>
            <a:r>
              <a:rPr lang="en-US" dirty="0"/>
              <a:t>Closure of a set of functional dependencies (F⁺) is the complete set of all FDs that can be derived from a given set of functional dependencies F using:</a:t>
            </a:r>
          </a:p>
          <a:p>
            <a:pPr lvl="1"/>
            <a:r>
              <a:rPr lang="en-US" dirty="0"/>
              <a:t>Reflexivity, </a:t>
            </a:r>
          </a:p>
          <a:p>
            <a:pPr lvl="1"/>
            <a:r>
              <a:rPr lang="en-US" dirty="0"/>
              <a:t>Augmentation, and </a:t>
            </a:r>
          </a:p>
          <a:p>
            <a:pPr lvl="1"/>
            <a:r>
              <a:rPr lang="en-US" dirty="0"/>
              <a:t>Transitivity.</a:t>
            </a:r>
          </a:p>
          <a:p>
            <a:pPr marL="201168" lvl="1" indent="0" algn="ctr">
              <a:buNone/>
            </a:pPr>
            <a:r>
              <a:rPr lang="en-US" dirty="0"/>
              <a:t>F⁺ = All original FDs + all dependencies that can be logically inferred from them.</a:t>
            </a:r>
          </a:p>
          <a:p>
            <a:r>
              <a:rPr lang="en-US" dirty="0"/>
              <a:t>Closure helps us:</a:t>
            </a:r>
          </a:p>
          <a:p>
            <a:pPr lvl="1"/>
            <a:r>
              <a:rPr lang="en-US" dirty="0"/>
              <a:t>Find candidate keys. </a:t>
            </a:r>
          </a:p>
          <a:p>
            <a:pPr lvl="1"/>
            <a:r>
              <a:rPr lang="en-US" dirty="0"/>
              <a:t>Check whether a dependency is implied by others. </a:t>
            </a:r>
          </a:p>
          <a:p>
            <a:pPr lvl="1"/>
            <a:r>
              <a:rPr lang="en-US" dirty="0"/>
              <a:t>Verify normalization (2NF, 3NF, BCNF). </a:t>
            </a:r>
          </a:p>
          <a:p>
            <a:pPr lvl="1"/>
            <a:r>
              <a:rPr lang="en-US" dirty="0"/>
              <a:t>Remove redundant dependencies.</a:t>
            </a:r>
          </a:p>
          <a:p>
            <a:endParaRPr lang="en-US" dirty="0"/>
          </a:p>
        </p:txBody>
      </p:sp>
    </p:spTree>
    <p:extLst>
      <p:ext uri="{BB962C8B-B14F-4D97-AF65-F5344CB8AC3E}">
        <p14:creationId xmlns:p14="http://schemas.microsoft.com/office/powerpoint/2010/main" val="32914382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C8C41-E81B-D450-657F-75583B86E18F}"/>
              </a:ext>
            </a:extLst>
          </p:cNvPr>
          <p:cNvSpPr>
            <a:spLocks noGrp="1"/>
          </p:cNvSpPr>
          <p:nvPr>
            <p:ph type="title"/>
          </p:nvPr>
        </p:nvSpPr>
        <p:spPr/>
        <p:txBody>
          <a:bodyPr/>
          <a:lstStyle/>
          <a:p>
            <a:r>
              <a:rPr lang="en-US" dirty="0"/>
              <a:t>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82B42B-51B7-6DEE-7B8D-1AF1EFF98EE5}"/>
                  </a:ext>
                </a:extLst>
              </p:cNvPr>
              <p:cNvSpPr>
                <a:spLocks noGrp="1"/>
              </p:cNvSpPr>
              <p:nvPr>
                <p:ph idx="1"/>
              </p:nvPr>
            </p:nvSpPr>
            <p:spPr>
              <a:xfrm>
                <a:off x="1097280" y="1981200"/>
                <a:ext cx="10058400" cy="4590197"/>
              </a:xfrm>
            </p:spPr>
            <p:txBody>
              <a:bodyPr>
                <a:normAutofit/>
              </a:bodyPr>
              <a:lstStyle/>
              <a:p>
                <a:r>
                  <a:rPr lang="en-US" dirty="0"/>
                  <a:t>Consider relation: </a:t>
                </a:r>
                <a:r>
                  <a:rPr lang="en-US" b="1" dirty="0"/>
                  <a:t>R(A, B, C)</a:t>
                </a:r>
                <a:endParaRPr lang="en-US" dirty="0"/>
              </a:p>
              <a:p>
                <a:r>
                  <a:rPr lang="en-US" dirty="0"/>
                  <a:t>Given: </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𝐹</m:t>
                    </m:r>
                    <m:r>
                      <a:rPr lang="en-US">
                        <a:latin typeface="Cambria Math" panose="02040503050406030204" pitchFamily="18" charset="0"/>
                      </a:rPr>
                      <m:t>=</m:t>
                    </m:r>
                    <m:d>
                      <m:dPr>
                        <m:begChr m:val="{"/>
                        <m:endChr m:val="}"/>
                        <m:sepChr m:val=","/>
                        <m:ctrlPr>
                          <a:rPr lang="en-US" i="1">
                            <a:latin typeface="Cambria Math" panose="02040503050406030204" pitchFamily="18" charset="0"/>
                          </a:rPr>
                        </m:ctrlPr>
                      </m:dPr>
                      <m:e>
                        <m:r>
                          <a:rPr lang="en-US" i="1">
                            <a:latin typeface="Cambria Math" panose="02040503050406030204" pitchFamily="18" charset="0"/>
                          </a:rPr>
                          <m:t>𝐴</m:t>
                        </m:r>
                      </m:e>
                      <m:e>
                        <m:r>
                          <a:rPr lang="en-US">
                            <a:latin typeface="Cambria Math" panose="02040503050406030204" pitchFamily="18" charset="0"/>
                          </a:rPr>
                          <m:t>→</m:t>
                        </m:r>
                        <m:r>
                          <a:rPr lang="en-US" i="1">
                            <a:latin typeface="Cambria Math" panose="02040503050406030204" pitchFamily="18" charset="0"/>
                          </a:rPr>
                          <m:t>𝐵</m:t>
                        </m:r>
                        <m:r>
                          <m:rPr>
                            <m:nor/>
                          </m:rPr>
                          <a:rPr lang="en-US" b="0" i="1" smtClean="0"/>
                          <m:t>,</m:t>
                        </m:r>
                        <m:r>
                          <m:rPr>
                            <m:nor/>
                          </m:rPr>
                          <a:rPr lang="en-US" i="1"/>
                          <m:t> </m:t>
                        </m:r>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𝐶</m:t>
                        </m:r>
                      </m:e>
                    </m:d>
                  </m:oMath>
                </a14:m>
                <a:endParaRPr lang="en-US" b="0" dirty="0"/>
              </a:p>
              <a:p>
                <a:r>
                  <a:rPr lang="en-US" b="1" dirty="0"/>
                  <a:t>Original Dependencies</a:t>
                </a:r>
              </a:p>
              <a:p>
                <a:pPr lvl="1"/>
                <a:r>
                  <a:rPr lang="en-US" dirty="0"/>
                  <a:t>A → B , B → C </a:t>
                </a:r>
              </a:p>
              <a:p>
                <a:r>
                  <a:rPr lang="en-US" b="1" dirty="0"/>
                  <a:t>Using Transitivity, </a:t>
                </a:r>
                <a:r>
                  <a:rPr lang="en-US" dirty="0"/>
                  <a:t>Since: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m:t>
                    </m:r>
                  </m:oMath>
                </a14:m>
                <a:r>
                  <a:rPr lang="en-US" dirty="0"/>
                  <a:t>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𝐶</m:t>
                    </m:r>
                  </m:oMath>
                </a14:m>
                <a:endParaRPr lang="en-US" dirty="0"/>
              </a:p>
              <a:p>
                <a:r>
                  <a:rPr lang="en-US" dirty="0"/>
                  <a:t>Therefore: </a:t>
                </a:r>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𝐶</m:t>
                    </m:r>
                  </m:oMath>
                </a14:m>
                <a:endParaRPr lang="en-US" dirty="0"/>
              </a:p>
              <a:p>
                <a:r>
                  <a:rPr lang="en-US" b="1" dirty="0"/>
                  <a:t>F⁺ Contains</a:t>
                </a:r>
              </a:p>
              <a:p>
                <a:pPr lvl="1"/>
                <a:r>
                  <a:rPr lang="en-US" dirty="0"/>
                  <a:t>A → B C A</a:t>
                </a:r>
              </a:p>
              <a:p>
                <a:pPr lvl="1"/>
                <a:r>
                  <a:rPr lang="en-US" dirty="0"/>
                  <a:t>B → C BA</a:t>
                </a:r>
              </a:p>
              <a:p>
                <a:pPr lvl="1"/>
                <a:r>
                  <a:rPr lang="en-US" dirty="0"/>
                  <a:t>A → C</a:t>
                </a:r>
              </a:p>
            </p:txBody>
          </p:sp>
        </mc:Choice>
        <mc:Fallback xmlns="">
          <p:sp>
            <p:nvSpPr>
              <p:cNvPr id="3" name="Content Placeholder 2">
                <a:extLst>
                  <a:ext uri="{FF2B5EF4-FFF2-40B4-BE49-F238E27FC236}">
                    <a16:creationId xmlns:a16="http://schemas.microsoft.com/office/drawing/2014/main" id="{2582B42B-51B7-6DEE-7B8D-1AF1EFF98EE5}"/>
                  </a:ext>
                </a:extLst>
              </p:cNvPr>
              <p:cNvSpPr>
                <a:spLocks noGrp="1" noRot="1" noChangeAspect="1" noMove="1" noResize="1" noEditPoints="1" noAdjustHandles="1" noChangeArrowheads="1" noChangeShapeType="1" noTextEdit="1"/>
              </p:cNvSpPr>
              <p:nvPr>
                <p:ph idx="1"/>
              </p:nvPr>
            </p:nvSpPr>
            <p:spPr>
              <a:xfrm>
                <a:off x="1097280" y="1981200"/>
                <a:ext cx="10058400" cy="4590197"/>
              </a:xfrm>
              <a:blipFill>
                <a:blip r:embed="rId2"/>
                <a:stretch>
                  <a:fillRect l="-606" t="-1328"/>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975731B0-421C-D8D0-F24A-55AB2DA461A6}"/>
              </a:ext>
            </a:extLst>
          </p:cNvPr>
          <p:cNvSpPr txBox="1">
            <a:spLocks/>
          </p:cNvSpPr>
          <p:nvPr/>
        </p:nvSpPr>
        <p:spPr>
          <a:xfrm>
            <a:off x="6301740" y="1981200"/>
            <a:ext cx="10058400" cy="412242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dirty="0"/>
              <a:t>plus, trivial dependencies such as:</a:t>
            </a:r>
          </a:p>
          <a:p>
            <a:r>
              <a:rPr lang="en-US" dirty="0"/>
              <a:t>AB → A </a:t>
            </a:r>
          </a:p>
          <a:p>
            <a:r>
              <a:rPr lang="en-US" dirty="0"/>
              <a:t>AB → B </a:t>
            </a:r>
          </a:p>
          <a:p>
            <a:r>
              <a:rPr lang="en-US" dirty="0"/>
              <a:t>ABC → A </a:t>
            </a:r>
          </a:p>
          <a:p>
            <a:r>
              <a:rPr lang="en-US" dirty="0"/>
              <a:t>ABC → B </a:t>
            </a:r>
          </a:p>
          <a:p>
            <a:r>
              <a:rPr lang="en-US" dirty="0"/>
              <a:t>etc. </a:t>
            </a:r>
          </a:p>
          <a:p>
            <a:r>
              <a:rPr lang="en-US" dirty="0"/>
              <a:t>These all together form </a:t>
            </a:r>
            <a:r>
              <a:rPr lang="en-US" b="1" dirty="0"/>
              <a:t>F⁺</a:t>
            </a:r>
            <a:r>
              <a:rPr lang="en-US" dirty="0"/>
              <a:t>.</a:t>
            </a:r>
          </a:p>
          <a:p>
            <a:endParaRPr lang="en-US" dirty="0"/>
          </a:p>
        </p:txBody>
      </p:sp>
    </p:spTree>
    <p:extLst>
      <p:ext uri="{BB962C8B-B14F-4D97-AF65-F5344CB8AC3E}">
        <p14:creationId xmlns:p14="http://schemas.microsoft.com/office/powerpoint/2010/main" val="60319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BD7F-FAC1-F24F-3637-55DBC8B5C9B3}"/>
              </a:ext>
            </a:extLst>
          </p:cNvPr>
          <p:cNvSpPr>
            <a:spLocks noGrp="1"/>
          </p:cNvSpPr>
          <p:nvPr>
            <p:ph type="title"/>
          </p:nvPr>
        </p:nvSpPr>
        <p:spPr/>
        <p:txBody>
          <a:bodyPr/>
          <a:lstStyle/>
          <a:p>
            <a:r>
              <a:rPr lang="en-US" dirty="0"/>
              <a:t>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F4FFDE-D988-DBAD-3731-2746ECA0708C}"/>
                  </a:ext>
                </a:extLst>
              </p:cNvPr>
              <p:cNvSpPr>
                <a:spLocks noGrp="1"/>
              </p:cNvSpPr>
              <p:nvPr>
                <p:ph idx="1"/>
              </p:nvPr>
            </p:nvSpPr>
            <p:spPr/>
            <p:txBody>
              <a:bodyPr/>
              <a:lstStyle/>
              <a:p>
                <a:r>
                  <a:rPr lang="en-US" dirty="0"/>
                  <a:t>Given Relation is : R(A,B,C,G,H,I), find the </a:t>
                </a:r>
                <a:r>
                  <a:rPr lang="en-US" b="1" dirty="0"/>
                  <a:t>closure set of functional dependencies (F⁺)</a:t>
                </a:r>
                <a:r>
                  <a:rPr lang="en-US" dirty="0"/>
                  <a:t>.</a:t>
                </a:r>
              </a:p>
              <a:p>
                <a:r>
                  <a:rPr lang="en-US" b="1" dirty="0"/>
                  <a:t>Functional Dependencies (F):</a:t>
                </a:r>
                <a:endParaRPr lang="en-US" dirty="0"/>
              </a:p>
              <a:p>
                <a:pPr lvl="1"/>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m:t>
                    </m:r>
                  </m:oMath>
                </a14:m>
                <a:endParaRPr lang="en-US" dirty="0"/>
              </a:p>
              <a:p>
                <a:pPr lvl="1"/>
                <a14:m>
                  <m:oMath xmlns:m="http://schemas.openxmlformats.org/officeDocument/2006/math">
                    <m:r>
                      <a:rPr lang="en-US" i="1">
                        <a:latin typeface="Cambria Math" panose="02040503050406030204" pitchFamily="18" charset="0"/>
                      </a:rPr>
                      <m:t>𝐶𝐺</m:t>
                    </m:r>
                    <m:r>
                      <a:rPr lang="en-US">
                        <a:latin typeface="Cambria Math" panose="02040503050406030204" pitchFamily="18" charset="0"/>
                      </a:rPr>
                      <m:t>→</m:t>
                    </m:r>
                    <m:r>
                      <a:rPr lang="en-US" i="1">
                        <a:latin typeface="Cambria Math" panose="02040503050406030204" pitchFamily="18" charset="0"/>
                      </a:rPr>
                      <m:t>𝐼</m:t>
                    </m:r>
                  </m:oMath>
                </a14:m>
                <a:endParaRPr lang="en-US" dirty="0"/>
              </a:p>
              <a:p>
                <a:pPr lvl="1"/>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𝐶</m:t>
                    </m:r>
                  </m:oMath>
                </a14:m>
                <a:endParaRPr lang="en-US" dirty="0"/>
              </a:p>
              <a:p>
                <a:pPr lvl="1"/>
                <a14:m>
                  <m:oMath xmlns:m="http://schemas.openxmlformats.org/officeDocument/2006/math">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𝐻</m:t>
                    </m:r>
                  </m:oMath>
                </a14:m>
                <a:endParaRPr lang="en-US" dirty="0"/>
              </a:p>
              <a:p>
                <a:pPr lvl="1"/>
                <a14:m>
                  <m:oMath xmlns:m="http://schemas.openxmlformats.org/officeDocument/2006/math">
                    <m:r>
                      <a:rPr lang="en-US" i="1">
                        <a:latin typeface="Cambria Math" panose="02040503050406030204" pitchFamily="18" charset="0"/>
                      </a:rPr>
                      <m:t>𝐶𝐺</m:t>
                    </m:r>
                    <m:r>
                      <a:rPr lang="en-US">
                        <a:latin typeface="Cambria Math" panose="02040503050406030204" pitchFamily="18" charset="0"/>
                      </a:rPr>
                      <m:t>→</m:t>
                    </m:r>
                    <m:r>
                      <a:rPr lang="en-US" i="1">
                        <a:latin typeface="Cambria Math" panose="02040503050406030204" pitchFamily="18" charset="0"/>
                      </a:rPr>
                      <m:t>𝐻</m:t>
                    </m:r>
                  </m:oMath>
                </a14:m>
                <a:endParaRPr lang="en-US" dirty="0"/>
              </a:p>
              <a:p>
                <a:r>
                  <a:rPr lang="en-US" dirty="0"/>
                  <a:t>.FD+ = ?</a:t>
                </a:r>
              </a:p>
              <a:p>
                <a:r>
                  <a:rPr lang="en-US" dirty="0"/>
                  <a:t>Closure set of attributes (X+) = ?</a:t>
                </a:r>
              </a:p>
            </p:txBody>
          </p:sp>
        </mc:Choice>
        <mc:Fallback xmlns="">
          <p:sp>
            <p:nvSpPr>
              <p:cNvPr id="3" name="Content Placeholder 2">
                <a:extLst>
                  <a:ext uri="{FF2B5EF4-FFF2-40B4-BE49-F238E27FC236}">
                    <a16:creationId xmlns:a16="http://schemas.microsoft.com/office/drawing/2014/main" id="{9AF4FFDE-D988-DBAD-3731-2746ECA0708C}"/>
                  </a:ext>
                </a:extLst>
              </p:cNvPr>
              <p:cNvSpPr>
                <a:spLocks noGrp="1" noRot="1" noChangeAspect="1" noMove="1" noResize="1" noEditPoints="1" noAdjustHandles="1" noChangeArrowheads="1" noChangeShapeType="1" noTextEdit="1"/>
              </p:cNvSpPr>
              <p:nvPr>
                <p:ph idx="1"/>
              </p:nvPr>
            </p:nvSpPr>
            <p:spPr>
              <a:blipFill>
                <a:blip r:embed="rId3"/>
                <a:stretch>
                  <a:fillRect l="-606" t="-166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F3350D41-6F23-7C28-E997-8D606C9C2BFB}"/>
              </a:ext>
            </a:extLst>
          </p:cNvPr>
          <p:cNvSpPr txBox="1"/>
          <p:nvPr/>
        </p:nvSpPr>
        <p:spPr>
          <a:xfrm>
            <a:off x="6096000" y="5545928"/>
            <a:ext cx="6092190" cy="646331"/>
          </a:xfrm>
          <a:prstGeom prst="rect">
            <a:avLst/>
          </a:prstGeom>
          <a:noFill/>
        </p:spPr>
        <p:txBody>
          <a:bodyPr wrap="square">
            <a:spAutoFit/>
          </a:bodyPr>
          <a:lstStyle/>
          <a:p>
            <a:r>
              <a:rPr lang="en-US" dirty="0"/>
              <a:t>find functional dependencies, for R= (ABCDEF), A-&gt;BC, B-&gt;E, C-&gt;EF, E-&gt;CF</a:t>
            </a:r>
          </a:p>
        </p:txBody>
      </p:sp>
    </p:spTree>
    <p:extLst>
      <p:ext uri="{BB962C8B-B14F-4D97-AF65-F5344CB8AC3E}">
        <p14:creationId xmlns:p14="http://schemas.microsoft.com/office/powerpoint/2010/main" val="3267103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508496-9F22-80BB-B9A9-113834E5D8A7}"/>
              </a:ext>
            </a:extLst>
          </p:cNvPr>
          <p:cNvSpPr>
            <a:spLocks noGrp="1"/>
          </p:cNvSpPr>
          <p:nvPr>
            <p:ph type="title"/>
          </p:nvPr>
        </p:nvSpPr>
        <p:spPr/>
        <p:txBody>
          <a:bodyPr/>
          <a:lstStyle/>
          <a:p>
            <a:r>
              <a:rPr lang="en-US" dirty="0"/>
              <a:t>Closure of Attribute Sets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D58EAC-E106-456B-7E43-E92ABFBC323E}"/>
                  </a:ext>
                </a:extLst>
              </p:cNvPr>
              <p:cNvSpPr>
                <a:spLocks noGrp="1"/>
              </p:cNvSpPr>
              <p:nvPr>
                <p:ph idx="1"/>
              </p:nvPr>
            </p:nvSpPr>
            <p:spPr/>
            <p:txBody>
              <a:bodyPr>
                <a:normAutofit/>
              </a:bodyPr>
              <a:lstStyle/>
              <a:p>
                <a:r>
                  <a:rPr lang="en-US" dirty="0"/>
                  <a:t>The </a:t>
                </a:r>
                <a:r>
                  <a:rPr lang="en-US" b="1" dirty="0"/>
                  <a:t>closure of an attribute set</a:t>
                </a:r>
                <a:r>
                  <a:rPr lang="en-US" dirty="0"/>
                  <a:t>, denoted by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a:latin typeface="Cambria Math" panose="02040503050406030204" pitchFamily="18" charset="0"/>
                          </a:rPr>
                          <m:t>+</m:t>
                        </m:r>
                      </m:sup>
                    </m:sSup>
                  </m:oMath>
                </a14:m>
                <a:r>
                  <a:rPr lang="en-US" dirty="0"/>
                  <a:t>, is the </a:t>
                </a:r>
                <a:r>
                  <a:rPr lang="en-US" b="1" dirty="0"/>
                  <a:t>set of all attributes that can be functionally determined by X using a given set of functional dependencies (FDs)</a:t>
                </a:r>
                <a:r>
                  <a:rPr lang="en-US" dirty="0"/>
                  <a:t>.</a:t>
                </a:r>
              </a:p>
              <a:p>
                <a:r>
                  <a:rPr lang="en-US" dirty="0"/>
                  <a:t>Given:</a:t>
                </a:r>
              </a:p>
              <a:p>
                <a:pPr lvl="1"/>
                <a:r>
                  <a:rPr lang="en-US" dirty="0"/>
                  <a:t>Relation </a:t>
                </a:r>
                <a14:m>
                  <m:oMath xmlns:m="http://schemas.openxmlformats.org/officeDocument/2006/math">
                    <m:r>
                      <a:rPr lang="en-US" i="1">
                        <a:latin typeface="Cambria Math" panose="02040503050406030204" pitchFamily="18" charset="0"/>
                      </a:rPr>
                      <m:t>𝑅</m:t>
                    </m:r>
                  </m:oMath>
                </a14:m>
                <a:endParaRPr lang="en-US" dirty="0"/>
              </a:p>
              <a:p>
                <a:pPr lvl="1"/>
                <a:r>
                  <a:rPr lang="en-US" dirty="0"/>
                  <a:t>Set of Functional Dependencies </a:t>
                </a:r>
                <a14:m>
                  <m:oMath xmlns:m="http://schemas.openxmlformats.org/officeDocument/2006/math">
                    <m:r>
                      <a:rPr lang="en-US" i="1">
                        <a:latin typeface="Cambria Math" panose="02040503050406030204" pitchFamily="18" charset="0"/>
                      </a:rPr>
                      <m:t>𝐹</m:t>
                    </m:r>
                  </m:oMath>
                </a14:m>
                <a:endParaRPr lang="en-US" dirty="0"/>
              </a:p>
              <a:p>
                <a:pPr lvl="1"/>
                <a:r>
                  <a:rPr lang="en-US" dirty="0"/>
                  <a:t>Attribute set </a:t>
                </a:r>
                <a14:m>
                  <m:oMath xmlns:m="http://schemas.openxmlformats.org/officeDocument/2006/math">
                    <m:r>
                      <a:rPr lang="en-US" i="1">
                        <a:latin typeface="Cambria Math" panose="02040503050406030204" pitchFamily="18" charset="0"/>
                      </a:rPr>
                      <m:t>𝑋</m:t>
                    </m:r>
                  </m:oMath>
                </a14:m>
                <a:endParaRPr lang="en-US" dirty="0"/>
              </a:p>
              <a:p>
                <a:r>
                  <a:rPr lang="en-US" dirty="0"/>
                  <a:t>The closure of </a:t>
                </a:r>
                <a14:m>
                  <m:oMath xmlns:m="http://schemas.openxmlformats.org/officeDocument/2006/math">
                    <m:r>
                      <a:rPr lang="en-US" i="1">
                        <a:latin typeface="Cambria Math" panose="02040503050406030204" pitchFamily="18" charset="0"/>
                      </a:rPr>
                      <m:t>𝑋</m:t>
                    </m:r>
                  </m:oMath>
                </a14:m>
                <a:r>
                  <a:rPr lang="en-US" dirty="0"/>
                  <a:t>, denoted by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a:latin typeface="Cambria Math" panose="02040503050406030204" pitchFamily="18" charset="0"/>
                          </a:rPr>
                          <m:t>+</m:t>
                        </m:r>
                      </m:sup>
                    </m:sSup>
                  </m:oMath>
                </a14:m>
                <a:r>
                  <a:rPr lang="en-US" dirty="0"/>
                  <a:t>, is:</a:t>
                </a:r>
              </a:p>
              <a:p>
                <a:pPr marL="201168"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a:latin typeface="Cambria Math" panose="02040503050406030204" pitchFamily="18" charset="0"/>
                            </a:rPr>
                            <m:t>+</m:t>
                          </m:r>
                        </m:sup>
                      </m:sSup>
                      <m:r>
                        <a:rPr lang="en-US">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𝑋</m:t>
                          </m:r>
                          <m:r>
                            <a:rPr lang="en-US">
                              <a:latin typeface="Cambria Math" panose="02040503050406030204" pitchFamily="18" charset="0"/>
                            </a:rPr>
                            <m:t>→</m:t>
                          </m:r>
                          <m:r>
                            <a:rPr lang="en-US" i="1">
                              <a:latin typeface="Cambria Math" panose="02040503050406030204" pitchFamily="18" charset="0"/>
                            </a:rPr>
                            <m:t>𝐴</m:t>
                          </m:r>
                          <m:r>
                            <m:rPr>
                              <m:nor/>
                            </m:rPr>
                            <a:rPr lang="en-US" i="1"/>
                            <m:t> </m:t>
                          </m:r>
                          <m:r>
                            <m:rPr>
                              <m:nor/>
                            </m:rPr>
                            <a:rPr lang="en-US" i="1"/>
                            <m:t>can</m:t>
                          </m:r>
                          <m:r>
                            <m:rPr>
                              <m:nor/>
                            </m:rPr>
                            <a:rPr lang="en-US" i="1"/>
                            <m:t> </m:t>
                          </m:r>
                          <m:r>
                            <m:rPr>
                              <m:nor/>
                            </m:rPr>
                            <a:rPr lang="en-US" i="1"/>
                            <m:t>be</m:t>
                          </m:r>
                          <m:r>
                            <m:rPr>
                              <m:nor/>
                            </m:rPr>
                            <a:rPr lang="en-US" i="1"/>
                            <m:t> </m:t>
                          </m:r>
                          <m:r>
                            <m:rPr>
                              <m:nor/>
                            </m:rPr>
                            <a:rPr lang="en-US" i="1"/>
                            <m:t>derived</m:t>
                          </m:r>
                          <m:r>
                            <m:rPr>
                              <m:nor/>
                            </m:rPr>
                            <a:rPr lang="en-US" i="1"/>
                            <m:t> </m:t>
                          </m:r>
                          <m:r>
                            <m:rPr>
                              <m:nor/>
                            </m:rPr>
                            <a:rPr lang="en-US" i="1"/>
                            <m:t>from</m:t>
                          </m:r>
                          <m:r>
                            <m:rPr>
                              <m:nor/>
                            </m:rPr>
                            <a:rPr lang="en-US" i="1"/>
                            <m:t> </m:t>
                          </m:r>
                          <m:r>
                            <a:rPr lang="en-US" i="1">
                              <a:latin typeface="Cambria Math" panose="02040503050406030204" pitchFamily="18" charset="0"/>
                            </a:rPr>
                            <m:t>𝐹</m:t>
                          </m:r>
                        </m:e>
                      </m:d>
                    </m:oMath>
                  </m:oMathPara>
                </a14:m>
                <a:endParaRPr lang="en-US" b="0" dirty="0"/>
              </a:p>
              <a:p>
                <a:endParaRPr lang="en-US" dirty="0"/>
              </a:p>
            </p:txBody>
          </p:sp>
        </mc:Choice>
        <mc:Fallback xmlns="">
          <p:sp>
            <p:nvSpPr>
              <p:cNvPr id="3" name="Content Placeholder 2">
                <a:extLst>
                  <a:ext uri="{FF2B5EF4-FFF2-40B4-BE49-F238E27FC236}">
                    <a16:creationId xmlns:a16="http://schemas.microsoft.com/office/drawing/2014/main" id="{31D58EAC-E106-456B-7E43-E92ABFBC323E}"/>
                  </a:ext>
                </a:extLst>
              </p:cNvPr>
              <p:cNvSpPr>
                <a:spLocks noGrp="1" noRot="1" noChangeAspect="1" noMove="1" noResize="1" noEditPoints="1" noAdjustHandles="1" noChangeArrowheads="1" noChangeShapeType="1" noTextEdit="1"/>
              </p:cNvSpPr>
              <p:nvPr>
                <p:ph idx="1"/>
              </p:nvPr>
            </p:nvSpPr>
            <p:spPr>
              <a:blipFill>
                <a:blip r:embed="rId3"/>
                <a:stretch>
                  <a:fillRect l="-1515" t="-1667"/>
                </a:stretch>
              </a:blipFill>
            </p:spPr>
            <p:txBody>
              <a:bodyPr/>
              <a:lstStyle/>
              <a:p>
                <a:r>
                  <a:rPr lang="en-US">
                    <a:noFill/>
                  </a:rPr>
                  <a:t> </a:t>
                </a:r>
              </a:p>
            </p:txBody>
          </p:sp>
        </mc:Fallback>
      </mc:AlternateContent>
    </p:spTree>
    <p:extLst>
      <p:ext uri="{BB962C8B-B14F-4D97-AF65-F5344CB8AC3E}">
        <p14:creationId xmlns:p14="http://schemas.microsoft.com/office/powerpoint/2010/main" val="36933979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F28A6-E710-586F-D4DB-4D13108CFCBE}"/>
              </a:ext>
            </a:extLst>
          </p:cNvPr>
          <p:cNvSpPr>
            <a:spLocks noGrp="1"/>
          </p:cNvSpPr>
          <p:nvPr>
            <p:ph type="title"/>
          </p:nvPr>
        </p:nvSpPr>
        <p:spPr/>
        <p:txBody>
          <a:bodyPr/>
          <a:lstStyle/>
          <a:p>
            <a:r>
              <a:rPr lang="en-US" dirty="0"/>
              <a:t>Concept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62058D-170D-C19F-0762-FF17E552E21E}"/>
                  </a:ext>
                </a:extLst>
              </p:cNvPr>
              <p:cNvSpPr>
                <a:spLocks noGrp="1"/>
              </p:cNvSpPr>
              <p:nvPr>
                <p:ph idx="1"/>
              </p:nvPr>
            </p:nvSpPr>
            <p:spPr/>
            <p:txBody>
              <a:bodyPr/>
              <a:lstStyle/>
              <a:p>
                <a:r>
                  <a:rPr lang="en-US" b="1" dirty="0"/>
                  <a:t>Attribute Closure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a:latin typeface="Cambria Math" panose="02040503050406030204" pitchFamily="18" charset="0"/>
                          </a:rPr>
                          <m:t>+</m:t>
                        </m:r>
                      </m:sup>
                    </m:sSup>
                  </m:oMath>
                </a14:m>
                <a:r>
                  <a:rPr lang="en-US" b="1" dirty="0"/>
                  <a:t>) = "What attributes can I reach starting from X?"</a:t>
                </a:r>
                <a:endParaRPr lang="en-US" dirty="0"/>
              </a:p>
              <a:p>
                <a:r>
                  <a:rPr lang="en-US" dirty="0"/>
                  <a:t>For example: If, for given relation R, FDs are</a:t>
                </a:r>
              </a:p>
              <a:p>
                <a:pPr marL="201168" lvl="1"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m:t>
                      </m:r>
                      <m:r>
                        <a:rPr lang="en-US">
                          <a:latin typeface="Cambria Math" panose="02040503050406030204" pitchFamily="18" charset="0"/>
                        </a:rPr>
                        <m:t>, </m:t>
                      </m:r>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𝐶</m:t>
                      </m:r>
                      <m:r>
                        <a:rPr lang="en-US">
                          <a:latin typeface="Cambria Math" panose="02040503050406030204" pitchFamily="18" charset="0"/>
                        </a:rPr>
                        <m:t>, </m:t>
                      </m:r>
                      <m:r>
                        <a:rPr lang="en-US" i="1">
                          <a:latin typeface="Cambria Math" panose="02040503050406030204" pitchFamily="18" charset="0"/>
                        </a:rPr>
                        <m:t>𝐶</m:t>
                      </m:r>
                      <m:r>
                        <a:rPr lang="en-US">
                          <a:latin typeface="Cambria Math" panose="02040503050406030204" pitchFamily="18" charset="0"/>
                        </a:rPr>
                        <m:t>→</m:t>
                      </m:r>
                      <m:r>
                        <a:rPr lang="en-US" i="1">
                          <a:latin typeface="Cambria Math" panose="02040503050406030204" pitchFamily="18" charset="0"/>
                        </a:rPr>
                        <m:t>𝐷</m:t>
                      </m:r>
                    </m:oMath>
                  </m:oMathPara>
                </a14:m>
                <a:endParaRPr lang="en-US" dirty="0"/>
              </a:p>
              <a:p>
                <a:r>
                  <a:rPr lang="en-US" dirty="0"/>
                  <a:t>then</a:t>
                </a:r>
              </a:p>
              <a:p>
                <a:pPr marL="201168"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a:latin typeface="Cambria Math" panose="02040503050406030204" pitchFamily="18" charset="0"/>
                            </a:rPr>
                            <m:t>+</m:t>
                          </m:r>
                        </m:sup>
                      </m:sSup>
                      <m:r>
                        <a:rPr lang="en-US">
                          <a:latin typeface="Cambria Math" panose="02040503050406030204" pitchFamily="18" charset="0"/>
                        </a:rPr>
                        <m:t>=</m:t>
                      </m:r>
                      <m:d>
                        <m:dPr>
                          <m:begChr m:val="{"/>
                          <m:endChr m:val="}"/>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d>
                    </m:oMath>
                  </m:oMathPara>
                </a14:m>
                <a:endParaRPr lang="en-US" dirty="0"/>
              </a:p>
              <a:p>
                <a:r>
                  <a:rPr lang="en-US" dirty="0"/>
                  <a:t>because starting from A, we can reach B, then C, then D. This is the fundamental idea behind attribute closure.</a:t>
                </a:r>
              </a:p>
              <a:p>
                <a:endParaRPr lang="en-US" dirty="0"/>
              </a:p>
            </p:txBody>
          </p:sp>
        </mc:Choice>
        <mc:Fallback xmlns="">
          <p:sp>
            <p:nvSpPr>
              <p:cNvPr id="3" name="Content Placeholder 2">
                <a:extLst>
                  <a:ext uri="{FF2B5EF4-FFF2-40B4-BE49-F238E27FC236}">
                    <a16:creationId xmlns:a16="http://schemas.microsoft.com/office/drawing/2014/main" id="{CA62058D-170D-C19F-0762-FF17E552E21E}"/>
                  </a:ext>
                </a:extLst>
              </p:cNvPr>
              <p:cNvSpPr>
                <a:spLocks noGrp="1" noRot="1" noChangeAspect="1" noMove="1" noResize="1" noEditPoints="1" noAdjustHandles="1" noChangeArrowheads="1" noChangeShapeType="1" noTextEdit="1"/>
              </p:cNvSpPr>
              <p:nvPr>
                <p:ph idx="1"/>
              </p:nvPr>
            </p:nvSpPr>
            <p:spPr>
              <a:blipFill>
                <a:blip r:embed="rId2"/>
                <a:stretch>
                  <a:fillRect l="-1515" t="-1667"/>
                </a:stretch>
              </a:blipFill>
            </p:spPr>
            <p:txBody>
              <a:bodyPr/>
              <a:lstStyle/>
              <a:p>
                <a:r>
                  <a:rPr lang="en-US">
                    <a:noFill/>
                  </a:rPr>
                  <a:t> </a:t>
                </a:r>
              </a:p>
            </p:txBody>
          </p:sp>
        </mc:Fallback>
      </mc:AlternateContent>
    </p:spTree>
    <p:extLst>
      <p:ext uri="{BB962C8B-B14F-4D97-AF65-F5344CB8AC3E}">
        <p14:creationId xmlns:p14="http://schemas.microsoft.com/office/powerpoint/2010/main" val="142892654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54EEE-EE2F-A8EB-9ED4-7EB5690158B7}"/>
              </a:ext>
            </a:extLst>
          </p:cNvPr>
          <p:cNvSpPr>
            <a:spLocks noGrp="1"/>
          </p:cNvSpPr>
          <p:nvPr>
            <p:ph type="title"/>
          </p:nvPr>
        </p:nvSpPr>
        <p:spPr/>
        <p:txBody>
          <a:bodyPr/>
          <a:lstStyle/>
          <a:p>
            <a:r>
              <a:rPr lang="en-US" dirty="0"/>
              <a:t>Examples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388340-99E3-8DA9-A58F-924B24D70566}"/>
                  </a:ext>
                </a:extLst>
              </p:cNvPr>
              <p:cNvSpPr>
                <a:spLocks noGrp="1"/>
              </p:cNvSpPr>
              <p:nvPr>
                <p:ph idx="1"/>
              </p:nvPr>
            </p:nvSpPr>
            <p:spPr/>
            <p:txBody>
              <a:bodyPr>
                <a:normAutofit/>
              </a:bodyPr>
              <a:lstStyle/>
              <a:p>
                <a:r>
                  <a:rPr lang="en-US" dirty="0"/>
                  <a:t>Consider:</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𝑅</m:t>
                    </m:r>
                    <m:d>
                      <m:dPr>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d>
                  </m:oMath>
                </a14:m>
                <a:r>
                  <a:rPr lang="en-US" dirty="0"/>
                  <a:t>,  FDs:</a:t>
                </a:r>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m:t>
                    </m:r>
                  </m:oMath>
                </a14:m>
                <a:r>
                  <a:rPr lang="en-US" dirty="0"/>
                  <a:t>, </a:t>
                </a:r>
                <a14:m>
                  <m:oMath xmlns:m="http://schemas.openxmlformats.org/officeDocument/2006/math">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𝐶</m:t>
                    </m:r>
                  </m:oMath>
                </a14:m>
                <a:r>
                  <a:rPr lang="en-US" dirty="0"/>
                  <a:t>, </a:t>
                </a:r>
                <a14:m>
                  <m:oMath xmlns:m="http://schemas.openxmlformats.org/officeDocument/2006/math">
                    <m:r>
                      <a:rPr lang="en-US" i="1">
                        <a:latin typeface="Cambria Math" panose="02040503050406030204" pitchFamily="18" charset="0"/>
                      </a:rPr>
                      <m:t>𝐶</m:t>
                    </m:r>
                    <m:r>
                      <a:rPr lang="en-US">
                        <a:latin typeface="Cambria Math" panose="02040503050406030204" pitchFamily="18" charset="0"/>
                      </a:rPr>
                      <m:t>→</m:t>
                    </m:r>
                    <m:r>
                      <a:rPr lang="en-US" i="1">
                        <a:latin typeface="Cambria Math" panose="02040503050406030204" pitchFamily="18" charset="0"/>
                      </a:rPr>
                      <m:t>𝐷</m:t>
                    </m:r>
                  </m:oMath>
                </a14:m>
                <a:r>
                  <a:rPr lang="en-US" dirty="0"/>
                  <a:t>, Find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a:latin typeface="Cambria Math" panose="02040503050406030204" pitchFamily="18" charset="0"/>
                          </a:rPr>
                          <m:t>+</m:t>
                        </m:r>
                      </m:sup>
                    </m:sSup>
                  </m:oMath>
                </a14:m>
                <a:r>
                  <a:rPr lang="en-US" dirty="0"/>
                  <a:t>.</a:t>
                </a:r>
              </a:p>
              <a:p>
                <a:r>
                  <a:rPr lang="en-US" dirty="0"/>
                  <a:t>Consider:</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𝑅</m:t>
                    </m:r>
                    <m:d>
                      <m:dPr>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e>
                        <m:r>
                          <a:rPr lang="en-US" i="1">
                            <a:latin typeface="Cambria Math" panose="02040503050406030204" pitchFamily="18" charset="0"/>
                          </a:rPr>
                          <m:t>𝐸</m:t>
                        </m:r>
                      </m:e>
                    </m:d>
                  </m:oMath>
                </a14:m>
                <a:r>
                  <a:rPr lang="en-US" dirty="0"/>
                  <a:t>, FDs:, </a:t>
                </a:r>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𝐵𝐶</m:t>
                    </m:r>
                  </m:oMath>
                </a14:m>
                <a:r>
                  <a:rPr lang="en-US" dirty="0"/>
                  <a:t>, </a:t>
                </a:r>
                <a14:m>
                  <m:oMath xmlns:m="http://schemas.openxmlformats.org/officeDocument/2006/math">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𝐷</m:t>
                    </m:r>
                  </m:oMath>
                </a14:m>
                <a:r>
                  <a:rPr lang="en-US" dirty="0"/>
                  <a:t>, </a:t>
                </a:r>
                <a14:m>
                  <m:oMath xmlns:m="http://schemas.openxmlformats.org/officeDocument/2006/math">
                    <m:r>
                      <a:rPr lang="en-US" i="1">
                        <a:latin typeface="Cambria Math" panose="02040503050406030204" pitchFamily="18" charset="0"/>
                      </a:rPr>
                      <m:t>𝐶𝐷</m:t>
                    </m:r>
                    <m:r>
                      <a:rPr lang="en-US">
                        <a:latin typeface="Cambria Math" panose="02040503050406030204" pitchFamily="18" charset="0"/>
                      </a:rPr>
                      <m:t>→</m:t>
                    </m:r>
                    <m:r>
                      <a:rPr lang="en-US" i="1">
                        <a:latin typeface="Cambria Math" panose="02040503050406030204" pitchFamily="18" charset="0"/>
                      </a:rPr>
                      <m:t>𝐸</m:t>
                    </m:r>
                  </m:oMath>
                </a14:m>
                <a:r>
                  <a:rPr lang="en-US" dirty="0"/>
                  <a:t>, Find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a:latin typeface="Cambria Math" panose="02040503050406030204" pitchFamily="18" charset="0"/>
                          </a:rPr>
                          <m:t>+</m:t>
                        </m:r>
                      </m:sup>
                    </m:sSup>
                  </m:oMath>
                </a14:m>
                <a:r>
                  <a:rPr lang="en-US" dirty="0"/>
                  <a:t>.</a:t>
                </a:r>
              </a:p>
              <a:p>
                <a:r>
                  <a:rPr lang="en-US" dirty="0"/>
                  <a:t>Relation: </a:t>
                </a:r>
                <a14:m>
                  <m:oMath xmlns:m="http://schemas.openxmlformats.org/officeDocument/2006/math">
                    <m:r>
                      <a:rPr lang="en-US" i="1">
                        <a:latin typeface="Cambria Math" panose="02040503050406030204" pitchFamily="18" charset="0"/>
                      </a:rPr>
                      <m:t>𝑅</m:t>
                    </m:r>
                    <m:d>
                      <m:dPr>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e>
                        <m:r>
                          <a:rPr lang="en-US" i="1">
                            <a:latin typeface="Cambria Math" panose="02040503050406030204" pitchFamily="18" charset="0"/>
                          </a:rPr>
                          <m:t>𝐸</m:t>
                        </m:r>
                      </m:e>
                      <m:e>
                        <m:r>
                          <a:rPr lang="en-US" i="1">
                            <a:latin typeface="Cambria Math" panose="02040503050406030204" pitchFamily="18" charset="0"/>
                          </a:rPr>
                          <m:t>𝐹</m:t>
                        </m:r>
                      </m:e>
                    </m:d>
                  </m:oMath>
                </a14:m>
                <a:r>
                  <a:rPr lang="en-US" dirty="0"/>
                  <a:t>, FDs: </a:t>
                </a:r>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𝐵𝐶</m:t>
                    </m:r>
                  </m:oMath>
                </a14:m>
                <a:r>
                  <a:rPr lang="en-US" dirty="0"/>
                  <a:t>, </a:t>
                </a:r>
                <a14:m>
                  <m:oMath xmlns:m="http://schemas.openxmlformats.org/officeDocument/2006/math">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𝐸</m:t>
                    </m:r>
                  </m:oMath>
                </a14:m>
                <a:r>
                  <a:rPr lang="en-US" dirty="0"/>
                  <a:t>, </a:t>
                </a:r>
                <a14:m>
                  <m:oMath xmlns:m="http://schemas.openxmlformats.org/officeDocument/2006/math">
                    <m:r>
                      <a:rPr lang="en-US" i="1">
                        <a:latin typeface="Cambria Math" panose="02040503050406030204" pitchFamily="18" charset="0"/>
                      </a:rPr>
                      <m:t>𝐶</m:t>
                    </m:r>
                    <m:r>
                      <a:rPr lang="en-US">
                        <a:latin typeface="Cambria Math" panose="02040503050406030204" pitchFamily="18" charset="0"/>
                      </a:rPr>
                      <m:t>→</m:t>
                    </m:r>
                    <m:r>
                      <a:rPr lang="en-US" i="1">
                        <a:latin typeface="Cambria Math" panose="02040503050406030204" pitchFamily="18" charset="0"/>
                      </a:rPr>
                      <m:t>𝐸𝐹</m:t>
                    </m:r>
                  </m:oMath>
                </a14:m>
                <a:r>
                  <a:rPr lang="en-US" dirty="0"/>
                  <a:t>, </a:t>
                </a:r>
                <a14:m>
                  <m:oMath xmlns:m="http://schemas.openxmlformats.org/officeDocument/2006/math">
                    <m:r>
                      <a:rPr lang="en-US" i="1">
                        <a:latin typeface="Cambria Math" panose="02040503050406030204" pitchFamily="18" charset="0"/>
                      </a:rPr>
                      <m:t>𝐸</m:t>
                    </m:r>
                    <m:r>
                      <a:rPr lang="en-US">
                        <a:latin typeface="Cambria Math" panose="02040503050406030204" pitchFamily="18" charset="0"/>
                      </a:rPr>
                      <m:t>→</m:t>
                    </m:r>
                    <m:r>
                      <a:rPr lang="en-US" i="1">
                        <a:latin typeface="Cambria Math" panose="02040503050406030204" pitchFamily="18" charset="0"/>
                      </a:rPr>
                      <m:t>𝐶𝐹</m:t>
                    </m:r>
                  </m:oMath>
                </a14:m>
                <a:r>
                  <a:rPr lang="en-US" dirty="0"/>
                  <a:t>, Find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a:latin typeface="Cambria Math" panose="02040503050406030204" pitchFamily="18" charset="0"/>
                          </a:rPr>
                          <m:t>+</m:t>
                        </m:r>
                      </m:sup>
                    </m:sSup>
                  </m:oMath>
                </a14:m>
                <a:r>
                  <a:rPr lang="en-US" dirty="0"/>
                  <a:t>.</a:t>
                </a:r>
              </a:p>
              <a:p>
                <a:br>
                  <a:rPr lang="en-US" dirty="0"/>
                </a:br>
                <a:r>
                  <a:rPr lang="en-US" b="1" dirty="0"/>
                  <a:t>Why is attribute closure important?</a:t>
                </a:r>
              </a:p>
              <a:p>
                <a:pPr lvl="1"/>
                <a:r>
                  <a:rPr lang="en-US" dirty="0"/>
                  <a:t>Finding Candidate Keys </a:t>
                </a:r>
              </a:p>
              <a:p>
                <a:pPr lvl="1"/>
                <a:r>
                  <a:rPr lang="en-US" dirty="0"/>
                  <a:t>Finding Super Keys </a:t>
                </a:r>
              </a:p>
              <a:p>
                <a:pPr lvl="1"/>
                <a:r>
                  <a:rPr lang="en-US" dirty="0"/>
                  <a:t>Testing FD implication </a:t>
                </a:r>
              </a:p>
              <a:p>
                <a:pPr lvl="1"/>
                <a:r>
                  <a:rPr lang="en-US" dirty="0"/>
                  <a:t>Database normalization </a:t>
                </a:r>
              </a:p>
              <a:p>
                <a:pPr lvl="1"/>
                <a:r>
                  <a:rPr lang="en-US" dirty="0"/>
                  <a:t>Checking lossless decomposition</a:t>
                </a:r>
              </a:p>
              <a:p>
                <a:endParaRPr lang="en-US" dirty="0"/>
              </a:p>
            </p:txBody>
          </p:sp>
        </mc:Choice>
        <mc:Fallback xmlns="">
          <p:sp>
            <p:nvSpPr>
              <p:cNvPr id="3" name="Content Placeholder 2">
                <a:extLst>
                  <a:ext uri="{FF2B5EF4-FFF2-40B4-BE49-F238E27FC236}">
                    <a16:creationId xmlns:a16="http://schemas.microsoft.com/office/drawing/2014/main" id="{0D388340-99E3-8DA9-A58F-924B24D70566}"/>
                  </a:ext>
                </a:extLst>
              </p:cNvPr>
              <p:cNvSpPr>
                <a:spLocks noGrp="1" noRot="1" noChangeAspect="1" noMove="1" noResize="1" noEditPoints="1" noAdjustHandles="1" noChangeArrowheads="1" noChangeShapeType="1" noTextEdit="1"/>
              </p:cNvSpPr>
              <p:nvPr>
                <p:ph idx="1"/>
              </p:nvPr>
            </p:nvSpPr>
            <p:spPr>
              <a:blipFill>
                <a:blip r:embed="rId3"/>
                <a:stretch>
                  <a:fillRect l="-606" t="-1667"/>
                </a:stretch>
              </a:blipFill>
            </p:spPr>
            <p:txBody>
              <a:bodyPr/>
              <a:lstStyle/>
              <a:p>
                <a:r>
                  <a:rPr lang="en-US">
                    <a:noFill/>
                  </a:rPr>
                  <a:t> </a:t>
                </a:r>
              </a:p>
            </p:txBody>
          </p:sp>
        </mc:Fallback>
      </mc:AlternateContent>
    </p:spTree>
    <p:extLst>
      <p:ext uri="{BB962C8B-B14F-4D97-AF65-F5344CB8AC3E}">
        <p14:creationId xmlns:p14="http://schemas.microsoft.com/office/powerpoint/2010/main" val="419232581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2D2EA-0C23-DAC6-A063-AFBE59AA857F}"/>
              </a:ext>
            </a:extLst>
          </p:cNvPr>
          <p:cNvSpPr>
            <a:spLocks noGrp="1"/>
          </p:cNvSpPr>
          <p:nvPr>
            <p:ph type="title"/>
          </p:nvPr>
        </p:nvSpPr>
        <p:spPr/>
        <p:txBody>
          <a:bodyPr/>
          <a:lstStyle/>
          <a:p>
            <a:r>
              <a:rPr lang="en-US" dirty="0"/>
              <a:t>Find Candidate key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B04319-B16F-CA47-C327-998A2053F991}"/>
                  </a:ext>
                </a:extLst>
              </p:cNvPr>
              <p:cNvSpPr>
                <a:spLocks noGrp="1"/>
              </p:cNvSpPr>
              <p:nvPr>
                <p:ph idx="1"/>
              </p:nvPr>
            </p:nvSpPr>
            <p:spPr/>
            <p:txBody>
              <a:bodyPr>
                <a:normAutofit fontScale="70000" lnSpcReduction="20000"/>
              </a:bodyPr>
              <a:lstStyle/>
              <a:p>
                <a:r>
                  <a:rPr lang="en-US" dirty="0"/>
                  <a:t>A </a:t>
                </a:r>
                <a:r>
                  <a:rPr lang="en-US" b="1" dirty="0"/>
                  <a:t>Candidate Key</a:t>
                </a:r>
                <a:r>
                  <a:rPr lang="en-US" dirty="0"/>
                  <a:t> is the </a:t>
                </a:r>
                <a:r>
                  <a:rPr lang="en-US" b="1" dirty="0"/>
                  <a:t>smallest set of attributes that can uniquely identify every tuple (row) in a relation</a:t>
                </a:r>
                <a:r>
                  <a:rPr lang="en-US" dirty="0"/>
                  <a:t>. A candidate key must satisfy </a:t>
                </a:r>
                <a:r>
                  <a:rPr lang="en-US" b="1" dirty="0"/>
                  <a:t>two conditions</a:t>
                </a:r>
                <a:r>
                  <a:rPr lang="en-US" dirty="0"/>
                  <a:t>:</a:t>
                </a:r>
              </a:p>
              <a:p>
                <a:r>
                  <a:rPr lang="en-US" b="1" dirty="0"/>
                  <a:t>1. Uniqueness (Super Key Property) : </a:t>
                </a:r>
                <a:r>
                  <a:rPr lang="en-US" dirty="0"/>
                  <a:t>The closure of the attribute set must contain </a:t>
                </a:r>
                <a:r>
                  <a:rPr lang="en-US" b="1" dirty="0"/>
                  <a:t>all attributes of the relation</a:t>
                </a:r>
                <a:r>
                  <a:rPr lang="en-US" dirty="0"/>
                  <a:t>.</a:t>
                </a:r>
              </a:p>
              <a:p>
                <a:r>
                  <a:rPr lang="en-US" dirty="0"/>
                  <a:t>If relation is:</a:t>
                </a:r>
                <a14:m>
                  <m:oMath xmlns:m="http://schemas.openxmlformats.org/officeDocument/2006/math">
                    <m:r>
                      <a:rPr lang="en-US" b="0" i="0" smtClean="0">
                        <a:solidFill>
                          <a:schemeClr val="tx1"/>
                        </a:solidFill>
                        <a:latin typeface="Cambria Math" panose="02040503050406030204" pitchFamily="18" charset="0"/>
                      </a:rPr>
                      <m:t> </m:t>
                    </m:r>
                    <m:r>
                      <a:rPr lang="en-US" i="1">
                        <a:solidFill>
                          <a:schemeClr val="tx1"/>
                        </a:solidFill>
                        <a:latin typeface="Cambria Math" panose="02040503050406030204" pitchFamily="18" charset="0"/>
                      </a:rPr>
                      <m:t>𝑅</m:t>
                    </m:r>
                    <m:d>
                      <m:dPr>
                        <m:sepChr m:val=","/>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𝐴</m:t>
                        </m:r>
                      </m:e>
                      <m:e>
                        <m:r>
                          <a:rPr lang="en-US" i="1">
                            <a:solidFill>
                              <a:schemeClr val="tx1"/>
                            </a:solidFill>
                            <a:latin typeface="Cambria Math" panose="02040503050406030204" pitchFamily="18" charset="0"/>
                          </a:rPr>
                          <m:t>𝐵</m:t>
                        </m:r>
                      </m:e>
                      <m:e>
                        <m:r>
                          <a:rPr lang="en-US" i="1">
                            <a:solidFill>
                              <a:schemeClr val="tx1"/>
                            </a:solidFill>
                            <a:latin typeface="Cambria Math" panose="02040503050406030204" pitchFamily="18" charset="0"/>
                          </a:rPr>
                          <m:t>𝐶</m:t>
                        </m:r>
                      </m:e>
                      <m:e>
                        <m:r>
                          <a:rPr lang="en-US" i="1">
                            <a:solidFill>
                              <a:schemeClr val="tx1"/>
                            </a:solidFill>
                            <a:latin typeface="Cambria Math" panose="02040503050406030204" pitchFamily="18" charset="0"/>
                          </a:rPr>
                          <m:t>𝐷</m:t>
                        </m:r>
                      </m:e>
                    </m:d>
                  </m:oMath>
                </a14:m>
                <a:r>
                  <a:rPr lang="en-US" dirty="0"/>
                  <a:t>  and</a:t>
                </a:r>
                <a14:m>
                  <m:oMath xmlns:m="http://schemas.openxmlformats.org/officeDocument/2006/math">
                    <m:r>
                      <a:rPr lang="en-US" b="0" i="0" smtClean="0">
                        <a:solidFill>
                          <a:schemeClr val="tx1"/>
                        </a:solidFill>
                        <a:latin typeface="Cambria Math" panose="02040503050406030204" pitchFamily="18" charset="0"/>
                      </a:rPr>
                      <m:t> </m:t>
                    </m:r>
                    <m:sSup>
                      <m:sSupPr>
                        <m:ctrlPr>
                          <a:rPr lang="en-US" i="1">
                            <a:solidFill>
                              <a:schemeClr val="tx1"/>
                            </a:solidFill>
                            <a:latin typeface="Cambria Math" panose="02040503050406030204" pitchFamily="18" charset="0"/>
                          </a:rPr>
                        </m:ctrlPr>
                      </m:sSupPr>
                      <m:e>
                        <m:r>
                          <a:rPr lang="en-US" i="1">
                            <a:solidFill>
                              <a:schemeClr val="tx1"/>
                            </a:solidFill>
                            <a:latin typeface="Cambria Math" panose="02040503050406030204" pitchFamily="18" charset="0"/>
                          </a:rPr>
                          <m:t>𝐴</m:t>
                        </m:r>
                      </m:e>
                      <m:sup>
                        <m:r>
                          <a:rPr lang="en-US">
                            <a:solidFill>
                              <a:schemeClr val="tx1"/>
                            </a:solidFill>
                            <a:latin typeface="Cambria Math" panose="02040503050406030204" pitchFamily="18" charset="0"/>
                          </a:rPr>
                          <m:t>+</m:t>
                        </m:r>
                      </m:sup>
                    </m:sSup>
                    <m:r>
                      <a:rPr lang="en-US">
                        <a:solidFill>
                          <a:schemeClr val="tx1"/>
                        </a:solidFill>
                        <a:latin typeface="Cambria Math" panose="02040503050406030204" pitchFamily="18" charset="0"/>
                      </a:rPr>
                      <m:t>=</m:t>
                    </m:r>
                    <m:d>
                      <m:dPr>
                        <m:begChr m:val="{"/>
                        <m:endChr m:val="}"/>
                        <m:sepChr m:val=","/>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𝐴</m:t>
                        </m:r>
                      </m:e>
                      <m:e>
                        <m:r>
                          <a:rPr lang="en-US" i="1">
                            <a:solidFill>
                              <a:schemeClr val="tx1"/>
                            </a:solidFill>
                            <a:latin typeface="Cambria Math" panose="02040503050406030204" pitchFamily="18" charset="0"/>
                          </a:rPr>
                          <m:t>𝐵</m:t>
                        </m:r>
                      </m:e>
                      <m:e>
                        <m:r>
                          <a:rPr lang="en-US" i="1">
                            <a:solidFill>
                              <a:schemeClr val="tx1"/>
                            </a:solidFill>
                            <a:latin typeface="Cambria Math" panose="02040503050406030204" pitchFamily="18" charset="0"/>
                          </a:rPr>
                          <m:t>𝐶</m:t>
                        </m:r>
                      </m:e>
                      <m:e>
                        <m:r>
                          <a:rPr lang="en-US" i="1">
                            <a:solidFill>
                              <a:schemeClr val="tx1"/>
                            </a:solidFill>
                            <a:latin typeface="Cambria Math" panose="02040503050406030204" pitchFamily="18" charset="0"/>
                          </a:rPr>
                          <m:t>𝐷</m:t>
                        </m:r>
                      </m:e>
                    </m:d>
                  </m:oMath>
                </a14:m>
                <a:endParaRPr lang="en-US" dirty="0"/>
              </a:p>
              <a:p>
                <a:r>
                  <a:rPr lang="en-US" dirty="0"/>
                  <a:t>then A is a </a:t>
                </a:r>
                <a:r>
                  <a:rPr lang="en-US" b="1" dirty="0"/>
                  <a:t>Super Key</a:t>
                </a:r>
                <a:r>
                  <a:rPr lang="en-US" dirty="0"/>
                  <a:t>.</a:t>
                </a:r>
              </a:p>
              <a:p>
                <a:r>
                  <a:rPr lang="en-US" b="1" dirty="0"/>
                  <a:t>2. Minimality : </a:t>
                </a:r>
                <a:r>
                  <a:rPr lang="en-US" dirty="0"/>
                  <a:t>No attribute can be removed from the key while still uniquely identifying all tuples.</a:t>
                </a:r>
              </a:p>
              <a:p>
                <a:r>
                  <a:rPr lang="en-US" dirty="0"/>
                  <a:t>Example: Suppose</a:t>
                </a:r>
                <a14:m>
                  <m:oMath xmlns:m="http://schemas.openxmlformats.org/officeDocument/2006/math">
                    <m:r>
                      <a:rPr lang="en-US" b="0" i="0" smtClean="0">
                        <a:solidFill>
                          <a:schemeClr val="tx1"/>
                        </a:solidFill>
                        <a:latin typeface="Cambria Math" panose="02040503050406030204" pitchFamily="18" charset="0"/>
                      </a:rPr>
                      <m:t> </m:t>
                    </m:r>
                    <m:sSup>
                      <m:sSupPr>
                        <m:ctrlPr>
                          <a:rPr lang="en-US" i="1">
                            <a:solidFill>
                              <a:schemeClr val="tx1"/>
                            </a:solidFill>
                            <a:latin typeface="Cambria Math" panose="02040503050406030204" pitchFamily="18" charset="0"/>
                          </a:rPr>
                        </m:ctrlPr>
                      </m:sSupPr>
                      <m:e>
                        <m:d>
                          <m:dPr>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𝐴𝐵</m:t>
                            </m:r>
                          </m:e>
                        </m:d>
                      </m:e>
                      <m:sup>
                        <m:r>
                          <a:rPr lang="en-US">
                            <a:solidFill>
                              <a:schemeClr val="tx1"/>
                            </a:solidFill>
                            <a:latin typeface="Cambria Math" panose="02040503050406030204" pitchFamily="18" charset="0"/>
                          </a:rPr>
                          <m:t>+</m:t>
                        </m:r>
                      </m:sup>
                    </m:sSup>
                    <m:r>
                      <a:rPr lang="en-US">
                        <a:solidFill>
                          <a:schemeClr val="tx1"/>
                        </a:solidFill>
                        <a:latin typeface="Cambria Math" panose="02040503050406030204" pitchFamily="18" charset="0"/>
                      </a:rPr>
                      <m:t>=</m:t>
                    </m:r>
                    <m:d>
                      <m:dPr>
                        <m:begChr m:val="{"/>
                        <m:endChr m:val="}"/>
                        <m:sepChr m:val=","/>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𝐴</m:t>
                        </m:r>
                      </m:e>
                      <m:e>
                        <m:r>
                          <a:rPr lang="en-US" i="1">
                            <a:solidFill>
                              <a:schemeClr val="tx1"/>
                            </a:solidFill>
                            <a:latin typeface="Cambria Math" panose="02040503050406030204" pitchFamily="18" charset="0"/>
                          </a:rPr>
                          <m:t>𝐵</m:t>
                        </m:r>
                      </m:e>
                      <m:e>
                        <m:r>
                          <a:rPr lang="en-US" i="1">
                            <a:solidFill>
                              <a:schemeClr val="tx1"/>
                            </a:solidFill>
                            <a:latin typeface="Cambria Math" panose="02040503050406030204" pitchFamily="18" charset="0"/>
                          </a:rPr>
                          <m:t>𝐶</m:t>
                        </m:r>
                      </m:e>
                      <m:e>
                        <m:r>
                          <a:rPr lang="en-US" i="1">
                            <a:solidFill>
                              <a:schemeClr val="tx1"/>
                            </a:solidFill>
                            <a:latin typeface="Cambria Math" panose="02040503050406030204" pitchFamily="18" charset="0"/>
                          </a:rPr>
                          <m:t>𝐷</m:t>
                        </m:r>
                      </m:e>
                    </m:d>
                  </m:oMath>
                </a14:m>
                <a:endParaRPr lang="en-US" dirty="0"/>
              </a:p>
              <a:p>
                <a:r>
                  <a:rPr lang="en-US" dirty="0"/>
                  <a:t>Then AB is a Super Key.</a:t>
                </a:r>
              </a:p>
              <a:p>
                <a:r>
                  <a:rPr lang="en-US" dirty="0"/>
                  <a:t>Now check: </a:t>
                </a:r>
                <a14:m>
                  <m:oMath xmlns:m="http://schemas.openxmlformats.org/officeDocument/2006/math">
                    <m:r>
                      <a:rPr lang="en-US" b="0" i="0" smtClean="0">
                        <a:solidFill>
                          <a:schemeClr val="tx1"/>
                        </a:solidFill>
                        <a:latin typeface="Cambria Math" panose="02040503050406030204" pitchFamily="18" charset="0"/>
                      </a:rPr>
                      <m:t> </m:t>
                    </m:r>
                    <m:sSup>
                      <m:sSupPr>
                        <m:ctrlPr>
                          <a:rPr lang="en-US" i="1">
                            <a:solidFill>
                              <a:schemeClr val="tx1"/>
                            </a:solidFill>
                            <a:latin typeface="Cambria Math" panose="02040503050406030204" pitchFamily="18" charset="0"/>
                          </a:rPr>
                        </m:ctrlPr>
                      </m:sSupPr>
                      <m:e>
                        <m:r>
                          <a:rPr lang="en-US" i="1">
                            <a:solidFill>
                              <a:schemeClr val="tx1"/>
                            </a:solidFill>
                            <a:latin typeface="Cambria Math" panose="02040503050406030204" pitchFamily="18" charset="0"/>
                          </a:rPr>
                          <m:t>𝐴</m:t>
                        </m:r>
                      </m:e>
                      <m:sup>
                        <m:r>
                          <a:rPr lang="en-US">
                            <a:solidFill>
                              <a:schemeClr val="tx1"/>
                            </a:solidFill>
                            <a:latin typeface="Cambria Math" panose="02040503050406030204" pitchFamily="18" charset="0"/>
                          </a:rPr>
                          <m:t>+</m:t>
                        </m:r>
                      </m:sup>
                    </m:sSup>
                    <m:r>
                      <a:rPr lang="en-US">
                        <a:solidFill>
                          <a:schemeClr val="tx1"/>
                        </a:solidFill>
                        <a:latin typeface="Cambria Math" panose="02040503050406030204" pitchFamily="18" charset="0"/>
                      </a:rPr>
                      <m:t>=</m:t>
                    </m:r>
                    <m:d>
                      <m:dPr>
                        <m:begChr m:val="{"/>
                        <m:endChr m:val="}"/>
                        <m:sepChr m:val=","/>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𝐴</m:t>
                        </m:r>
                      </m:e>
                      <m:e>
                        <m:r>
                          <a:rPr lang="en-US" i="1">
                            <a:solidFill>
                              <a:schemeClr val="tx1"/>
                            </a:solidFill>
                            <a:latin typeface="Cambria Math" panose="02040503050406030204" pitchFamily="18" charset="0"/>
                          </a:rPr>
                          <m:t>𝐵</m:t>
                        </m:r>
                      </m:e>
                      <m:e>
                        <m:r>
                          <a:rPr lang="en-US" i="1">
                            <a:solidFill>
                              <a:schemeClr val="tx1"/>
                            </a:solidFill>
                            <a:latin typeface="Cambria Math" panose="02040503050406030204" pitchFamily="18" charset="0"/>
                          </a:rPr>
                          <m:t>𝐶</m:t>
                        </m:r>
                      </m:e>
                      <m:e>
                        <m:r>
                          <a:rPr lang="en-US" i="1">
                            <a:solidFill>
                              <a:schemeClr val="tx1"/>
                            </a:solidFill>
                            <a:latin typeface="Cambria Math" panose="02040503050406030204" pitchFamily="18" charset="0"/>
                          </a:rPr>
                          <m:t>𝐷</m:t>
                        </m:r>
                      </m:e>
                    </m:d>
                  </m:oMath>
                </a14:m>
                <a:endParaRPr lang="en-US" dirty="0"/>
              </a:p>
              <a:p>
                <a:r>
                  <a:rPr lang="en-US" dirty="0"/>
                  <a:t>Since A alone determines everything, B is unnecessary.</a:t>
                </a:r>
              </a:p>
              <a:p>
                <a:r>
                  <a:rPr lang="en-US" dirty="0"/>
                  <a:t>Therefore:</a:t>
                </a:r>
              </a:p>
              <a:p>
                <a:pPr lvl="1"/>
                <a:r>
                  <a:rPr lang="en-US" dirty="0"/>
                  <a:t>AB is </a:t>
                </a:r>
                <a:r>
                  <a:rPr lang="en-US" b="1" dirty="0"/>
                  <a:t>not</a:t>
                </a:r>
                <a:r>
                  <a:rPr lang="en-US" dirty="0"/>
                  <a:t> a Candidate Key. </a:t>
                </a:r>
              </a:p>
              <a:p>
                <a:pPr lvl="1"/>
                <a:r>
                  <a:rPr lang="en-US" dirty="0"/>
                  <a:t>A is the Candidate Key. </a:t>
                </a:r>
              </a:p>
              <a:p>
                <a:endParaRPr lang="en-US" dirty="0"/>
              </a:p>
            </p:txBody>
          </p:sp>
        </mc:Choice>
        <mc:Fallback xmlns="">
          <p:sp>
            <p:nvSpPr>
              <p:cNvPr id="3" name="Content Placeholder 2">
                <a:extLst>
                  <a:ext uri="{FF2B5EF4-FFF2-40B4-BE49-F238E27FC236}">
                    <a16:creationId xmlns:a16="http://schemas.microsoft.com/office/drawing/2014/main" id="{D0B04319-B16F-CA47-C327-998A2053F991}"/>
                  </a:ext>
                </a:extLst>
              </p:cNvPr>
              <p:cNvSpPr>
                <a:spLocks noGrp="1" noRot="1" noChangeAspect="1" noMove="1" noResize="1" noEditPoints="1" noAdjustHandles="1" noChangeArrowheads="1" noChangeShapeType="1" noTextEdit="1"/>
              </p:cNvSpPr>
              <p:nvPr>
                <p:ph idx="1"/>
              </p:nvPr>
            </p:nvSpPr>
            <p:spPr>
              <a:blipFill>
                <a:blip r:embed="rId3"/>
                <a:stretch>
                  <a:fillRect l="-182" t="-1667"/>
                </a:stretch>
              </a:blipFill>
            </p:spPr>
            <p:txBody>
              <a:bodyPr/>
              <a:lstStyle/>
              <a:p>
                <a:r>
                  <a:rPr lang="en-US">
                    <a:noFill/>
                  </a:rPr>
                  <a:t> </a:t>
                </a:r>
              </a:p>
            </p:txBody>
          </p:sp>
        </mc:Fallback>
      </mc:AlternateContent>
    </p:spTree>
    <p:extLst>
      <p:ext uri="{BB962C8B-B14F-4D97-AF65-F5344CB8AC3E}">
        <p14:creationId xmlns:p14="http://schemas.microsoft.com/office/powerpoint/2010/main" val="9013636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79BC7-412B-4706-0AE6-F943CD466794}"/>
              </a:ext>
            </a:extLst>
          </p:cNvPr>
          <p:cNvSpPr>
            <a:spLocks noGrp="1"/>
          </p:cNvSpPr>
          <p:nvPr>
            <p:ph type="title"/>
          </p:nvPr>
        </p:nvSpPr>
        <p:spPr/>
        <p:txBody>
          <a:bodyPr/>
          <a:lstStyle/>
          <a:p>
            <a:r>
              <a:rPr lang="en-US" dirty="0"/>
              <a:t>Rules: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7C8A56-6786-F474-4C9F-B3E2020A4C25}"/>
                  </a:ext>
                </a:extLst>
              </p:cNvPr>
              <p:cNvSpPr>
                <a:spLocks noGrp="1"/>
              </p:cNvSpPr>
              <p:nvPr>
                <p:ph idx="1"/>
              </p:nvPr>
            </p:nvSpPr>
            <p:spPr/>
            <p:txBody>
              <a:bodyPr>
                <a:normAutofit fontScale="85000" lnSpcReduction="20000"/>
              </a:bodyPr>
              <a:lstStyle/>
              <a:p>
                <a:r>
                  <a:rPr lang="en-US" b="1" dirty="0"/>
                  <a:t>Rule 1: Attributes Never Appearing on RHS Must Be in Every Candidate Key</a:t>
                </a:r>
              </a:p>
              <a:p>
                <a:r>
                  <a:rPr lang="en-US" dirty="0"/>
                  <a:t>Example:</a:t>
                </a:r>
                <a14:m>
                  <m:oMath xmlns:m="http://schemas.openxmlformats.org/officeDocument/2006/math">
                    <m:r>
                      <a:rPr lang="en-US" b="0" i="0" smtClean="0">
                        <a:solidFill>
                          <a:schemeClr val="tx1"/>
                        </a:solidFill>
                        <a:latin typeface="Cambria Math" panose="02040503050406030204" pitchFamily="18" charset="0"/>
                      </a:rPr>
                      <m:t> </m:t>
                    </m:r>
                    <m:r>
                      <a:rPr lang="en-US" i="1">
                        <a:solidFill>
                          <a:schemeClr val="tx1"/>
                        </a:solidFill>
                        <a:latin typeface="Cambria Math" panose="02040503050406030204" pitchFamily="18" charset="0"/>
                      </a:rPr>
                      <m:t>𝑅</m:t>
                    </m:r>
                    <m:d>
                      <m:dPr>
                        <m:sepChr m:val=","/>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𝐴</m:t>
                        </m:r>
                      </m:e>
                      <m:e>
                        <m:r>
                          <a:rPr lang="en-US" i="1">
                            <a:solidFill>
                              <a:schemeClr val="tx1"/>
                            </a:solidFill>
                            <a:latin typeface="Cambria Math" panose="02040503050406030204" pitchFamily="18" charset="0"/>
                          </a:rPr>
                          <m:t>𝐵</m:t>
                        </m:r>
                      </m:e>
                      <m:e>
                        <m:r>
                          <a:rPr lang="en-US" i="1">
                            <a:solidFill>
                              <a:schemeClr val="tx1"/>
                            </a:solidFill>
                            <a:latin typeface="Cambria Math" panose="02040503050406030204" pitchFamily="18" charset="0"/>
                          </a:rPr>
                          <m:t>𝐶</m:t>
                        </m:r>
                      </m:e>
                      <m:e>
                        <m:r>
                          <a:rPr lang="en-US" i="1">
                            <a:solidFill>
                              <a:schemeClr val="tx1"/>
                            </a:solidFill>
                            <a:latin typeface="Cambria Math" panose="02040503050406030204" pitchFamily="18" charset="0"/>
                          </a:rPr>
                          <m:t>𝐷</m:t>
                        </m:r>
                      </m:e>
                    </m:d>
                  </m:oMath>
                </a14:m>
                <a:endParaRPr lang="en-US" dirty="0"/>
              </a:p>
              <a:p>
                <a:r>
                  <a:rPr lang="en-US" dirty="0"/>
                  <a:t>FDs:</a:t>
                </a:r>
                <a14:m>
                  <m:oMath xmlns:m="http://schemas.openxmlformats.org/officeDocument/2006/math">
                    <m:r>
                      <a:rPr lang="en-US" b="0" i="0" smtClean="0">
                        <a:solidFill>
                          <a:schemeClr val="tx1"/>
                        </a:solidFill>
                        <a:latin typeface="Cambria Math" panose="02040503050406030204" pitchFamily="18" charset="0"/>
                      </a:rPr>
                      <m:t> </m:t>
                    </m:r>
                    <m:r>
                      <a:rPr lang="en-US" i="1">
                        <a:solidFill>
                          <a:schemeClr val="tx1"/>
                        </a:solidFill>
                        <a:latin typeface="Cambria Math" panose="02040503050406030204" pitchFamily="18" charset="0"/>
                      </a:rPr>
                      <m:t>𝐴</m:t>
                    </m:r>
                    <m:r>
                      <a:rPr lang="en-US">
                        <a:solidFill>
                          <a:schemeClr val="tx1"/>
                        </a:solidFill>
                        <a:latin typeface="Cambria Math" panose="02040503050406030204" pitchFamily="18" charset="0"/>
                      </a:rPr>
                      <m:t>→</m:t>
                    </m:r>
                    <m:r>
                      <a:rPr lang="en-US" i="1">
                        <a:solidFill>
                          <a:schemeClr val="tx1"/>
                        </a:solidFill>
                        <a:latin typeface="Cambria Math" panose="02040503050406030204" pitchFamily="18" charset="0"/>
                      </a:rPr>
                      <m:t>𝐵</m:t>
                    </m:r>
                  </m:oMath>
                </a14:m>
                <a:r>
                  <a:rPr lang="en-US" dirty="0"/>
                  <a:t>, </a:t>
                </a:r>
                <a14:m>
                  <m:oMath xmlns:m="http://schemas.openxmlformats.org/officeDocument/2006/math">
                    <m:r>
                      <a:rPr lang="en-US" i="1">
                        <a:solidFill>
                          <a:schemeClr val="tx1"/>
                        </a:solidFill>
                        <a:latin typeface="Cambria Math" panose="02040503050406030204" pitchFamily="18" charset="0"/>
                      </a:rPr>
                      <m:t>𝐵</m:t>
                    </m:r>
                    <m:r>
                      <a:rPr lang="en-US">
                        <a:solidFill>
                          <a:schemeClr val="tx1"/>
                        </a:solidFill>
                        <a:latin typeface="Cambria Math" panose="02040503050406030204" pitchFamily="18" charset="0"/>
                      </a:rPr>
                      <m:t>→</m:t>
                    </m:r>
                    <m:r>
                      <a:rPr lang="en-US" i="1">
                        <a:solidFill>
                          <a:schemeClr val="tx1"/>
                        </a:solidFill>
                        <a:latin typeface="Cambria Math" panose="02040503050406030204" pitchFamily="18" charset="0"/>
                      </a:rPr>
                      <m:t>𝐶</m:t>
                    </m:r>
                  </m:oMath>
                </a14:m>
                <a:endParaRPr lang="en-US" dirty="0"/>
              </a:p>
              <a:p>
                <a:r>
                  <a:rPr lang="en-US" dirty="0"/>
                  <a:t>Notice D never appears on RHS.</a:t>
                </a:r>
              </a:p>
              <a:p>
                <a:r>
                  <a:rPr lang="en-US" dirty="0"/>
                  <a:t>Therefore, D cannot be derived from any FD., So every Candidate Key must contain D.</a:t>
                </a:r>
              </a:p>
              <a:p>
                <a:r>
                  <a:rPr lang="en-US" b="1" dirty="0"/>
                  <a:t>Rule 2: Find Attribute Closure</a:t>
                </a:r>
              </a:p>
              <a:p>
                <a:pPr lvl="1"/>
                <a:r>
                  <a:rPr lang="en-US" dirty="0"/>
                  <a:t>Compute closure of attribute combinations.</a:t>
                </a:r>
              </a:p>
              <a:p>
                <a:pPr lvl="1"/>
                <a:r>
                  <a:rPr lang="en-US" dirty="0"/>
                  <a:t>If closure contains all attributes of R, then it is a Super Key.</a:t>
                </a:r>
              </a:p>
              <a:p>
                <a:r>
                  <a:rPr lang="en-US" b="1" dirty="0"/>
                  <a:t>Rule 3: Check Minimality</a:t>
                </a:r>
              </a:p>
              <a:p>
                <a:pPr lvl="1"/>
                <a:r>
                  <a:rPr lang="en-US" dirty="0"/>
                  <a:t>Remove one attribute at a time.</a:t>
                </a:r>
              </a:p>
              <a:p>
                <a:pPr lvl="1"/>
                <a:r>
                  <a:rPr lang="en-US" dirty="0"/>
                  <a:t>If closure still gives all attributes, the original set is not minimal.</a:t>
                </a:r>
              </a:p>
              <a:p>
                <a:br>
                  <a:rPr lang="en-US" dirty="0"/>
                </a:br>
                <a:endParaRPr lang="en-US" dirty="0"/>
              </a:p>
            </p:txBody>
          </p:sp>
        </mc:Choice>
        <mc:Fallback xmlns="">
          <p:sp>
            <p:nvSpPr>
              <p:cNvPr id="3" name="Content Placeholder 2">
                <a:extLst>
                  <a:ext uri="{FF2B5EF4-FFF2-40B4-BE49-F238E27FC236}">
                    <a16:creationId xmlns:a16="http://schemas.microsoft.com/office/drawing/2014/main" id="{257C8A56-6786-F474-4C9F-B3E2020A4C25}"/>
                  </a:ext>
                </a:extLst>
              </p:cNvPr>
              <p:cNvSpPr>
                <a:spLocks noGrp="1" noRot="1" noChangeAspect="1" noMove="1" noResize="1" noEditPoints="1" noAdjustHandles="1" noChangeArrowheads="1" noChangeShapeType="1" noTextEdit="1"/>
              </p:cNvSpPr>
              <p:nvPr>
                <p:ph idx="1"/>
              </p:nvPr>
            </p:nvSpPr>
            <p:spPr>
              <a:blipFill>
                <a:blip r:embed="rId2"/>
                <a:stretch>
                  <a:fillRect l="-364" t="-2273"/>
                </a:stretch>
              </a:blipFill>
            </p:spPr>
            <p:txBody>
              <a:bodyPr/>
              <a:lstStyle/>
              <a:p>
                <a:r>
                  <a:rPr lang="en-US">
                    <a:noFill/>
                  </a:rPr>
                  <a:t> </a:t>
                </a:r>
              </a:p>
            </p:txBody>
          </p:sp>
        </mc:Fallback>
      </mc:AlternateContent>
    </p:spTree>
    <p:extLst>
      <p:ext uri="{BB962C8B-B14F-4D97-AF65-F5344CB8AC3E}">
        <p14:creationId xmlns:p14="http://schemas.microsoft.com/office/powerpoint/2010/main" val="21327901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223AE-B13C-04CF-9CD7-BCEB5E2DF438}"/>
              </a:ext>
            </a:extLst>
          </p:cNvPr>
          <p:cNvSpPr>
            <a:spLocks noGrp="1"/>
          </p:cNvSpPr>
          <p:nvPr>
            <p:ph type="title"/>
          </p:nvPr>
        </p:nvSpPr>
        <p:spPr/>
        <p:txBody>
          <a:bodyPr/>
          <a:lstStyle/>
          <a:p>
            <a:r>
              <a:rPr lang="en-US" dirty="0"/>
              <a:t>Example: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D739B3A-9CBE-71E2-9CFC-5FEA63FF8131}"/>
                  </a:ext>
                </a:extLst>
              </p:cNvPr>
              <p:cNvSpPr>
                <a:spLocks noGrp="1"/>
              </p:cNvSpPr>
              <p:nvPr>
                <p:ph idx="1"/>
              </p:nvPr>
            </p:nvSpPr>
            <p:spPr/>
            <p:txBody>
              <a:bodyPr>
                <a:normAutofit/>
              </a:bodyPr>
              <a:lstStyle/>
              <a:p>
                <a:r>
                  <a:rPr lang="en-US" dirty="0"/>
                  <a:t>Relation:</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𝑅</m:t>
                    </m:r>
                    <m:d>
                      <m:dPr>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d>
                  </m:oMath>
                </a14:m>
                <a:r>
                  <a:rPr lang="en-US" dirty="0"/>
                  <a:t>, FDs:</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m:t>
                    </m:r>
                    <m:r>
                      <a:rPr lang="en-US" b="0" i="1" smtClean="0">
                        <a:latin typeface="Cambria Math" panose="02040503050406030204" pitchFamily="18" charset="0"/>
                      </a:rPr>
                      <m:t>, </m:t>
                    </m:r>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𝐶</m:t>
                    </m:r>
                  </m:oMath>
                </a14:m>
                <a:r>
                  <a:rPr lang="en-US" dirty="0"/>
                  <a:t>, </a:t>
                </a:r>
                <a14:m>
                  <m:oMath xmlns:m="http://schemas.openxmlformats.org/officeDocument/2006/math">
                    <m:r>
                      <a:rPr lang="en-US" i="1">
                        <a:latin typeface="Cambria Math" panose="02040503050406030204" pitchFamily="18" charset="0"/>
                      </a:rPr>
                      <m:t>𝐶</m:t>
                    </m:r>
                    <m:r>
                      <a:rPr lang="en-US">
                        <a:latin typeface="Cambria Math" panose="02040503050406030204" pitchFamily="18" charset="0"/>
                      </a:rPr>
                      <m:t>→</m:t>
                    </m:r>
                    <m:r>
                      <a:rPr lang="en-US" i="1">
                        <a:latin typeface="Cambria Math" panose="02040503050406030204" pitchFamily="18" charset="0"/>
                      </a:rPr>
                      <m:t>𝐷</m:t>
                    </m:r>
                  </m:oMath>
                </a14:m>
                <a:r>
                  <a:rPr lang="en-US" dirty="0"/>
                  <a:t>, </a:t>
                </a:r>
                <a:r>
                  <a:rPr lang="en-US" b="1" dirty="0"/>
                  <a:t>Find A⁺. </a:t>
                </a:r>
              </a:p>
              <a:p>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a:latin typeface="Cambria Math" panose="02040503050406030204" pitchFamily="18" charset="0"/>
                          </a:rPr>
                          <m:t>+</m:t>
                        </m:r>
                      </m:sup>
                    </m:sSup>
                    <m:r>
                      <a:rPr lang="en-US">
                        <a:latin typeface="Cambria Math" panose="02040503050406030204" pitchFamily="18" charset="0"/>
                      </a:rPr>
                      <m:t>=</m:t>
                    </m:r>
                    <m:d>
                      <m:dPr>
                        <m:begChr m:val="{"/>
                        <m:endChr m:val="}"/>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d>
                  </m:oMath>
                </a14:m>
                <a:endParaRPr lang="en-US" dirty="0"/>
              </a:p>
              <a:p>
                <a:pPr marL="201168" lvl="1" indent="0">
                  <a:buNone/>
                </a:pPr>
                <a:r>
                  <a:rPr lang="en-US" dirty="0"/>
                  <a:t>i.e. Contains all attributes. So A is a Super Key.</a:t>
                </a:r>
              </a:p>
              <a:p>
                <a:pPr marL="201168" lvl="1" indent="0">
                  <a:buNone/>
                </a:pPr>
                <a:r>
                  <a:rPr lang="en-US" dirty="0"/>
                  <a:t>Since A has only one attribute, nothing can be removed.</a:t>
                </a:r>
              </a:p>
              <a:p>
                <a:r>
                  <a:rPr lang="en-US" dirty="0"/>
                  <a:t>Therefore: </a:t>
                </a:r>
                <a:r>
                  <a:rPr lang="en-US" b="1" dirty="0"/>
                  <a:t>Candidate Key = {A}</a:t>
                </a:r>
              </a:p>
              <a:p>
                <a:r>
                  <a:rPr lang="en-US" b="1" dirty="0"/>
                  <a:t>DIY Example:</a:t>
                </a:r>
                <a:endParaRPr lang="en-US" dirty="0"/>
              </a:p>
              <a:p>
                <a:pPr marL="457200" indent="-457200">
                  <a:buFont typeface="+mj-lt"/>
                  <a:buAutoNum type="arabicPeriod"/>
                </a:pPr>
                <a:r>
                  <a:rPr lang="en-US" dirty="0"/>
                  <a:t>Relation:</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𝑅</m:t>
                    </m:r>
                    <m:d>
                      <m:dPr>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d>
                  </m:oMath>
                </a14:m>
                <a:r>
                  <a:rPr lang="en-US" dirty="0"/>
                  <a:t>, FDs:</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m:t>
                    </m:r>
                  </m:oMath>
                </a14:m>
                <a:r>
                  <a:rPr lang="en-US" dirty="0"/>
                  <a:t>, </a:t>
                </a:r>
                <a14:m>
                  <m:oMath xmlns:m="http://schemas.openxmlformats.org/officeDocument/2006/math">
                    <m:r>
                      <a:rPr lang="en-US" i="1">
                        <a:latin typeface="Cambria Math" panose="02040503050406030204" pitchFamily="18" charset="0"/>
                      </a:rPr>
                      <m:t>𝐶</m:t>
                    </m:r>
                    <m:r>
                      <a:rPr lang="en-US">
                        <a:latin typeface="Cambria Math" panose="02040503050406030204" pitchFamily="18" charset="0"/>
                      </a:rPr>
                      <m:t>→</m:t>
                    </m:r>
                    <m:r>
                      <m:rPr>
                        <m:sty m:val="p"/>
                      </m:rPr>
                      <a:rPr lang="en-US" b="0" i="0" smtClean="0">
                        <a:latin typeface="Cambria Math" panose="02040503050406030204" pitchFamily="18" charset="0"/>
                      </a:rPr>
                      <m:t>D</m:t>
                    </m:r>
                    <m:r>
                      <a:rPr lang="en-US" b="0" i="0" smtClean="0">
                        <a:latin typeface="Cambria Math" panose="02040503050406030204" pitchFamily="18" charset="0"/>
                      </a:rPr>
                      <m:t> </m:t>
                    </m:r>
                  </m:oMath>
                </a14:m>
                <a:r>
                  <a:rPr lang="en-US" dirty="0"/>
                  <a:t>, Find Candidate key.</a:t>
                </a:r>
              </a:p>
              <a:p>
                <a:pPr marL="457200" indent="-457200">
                  <a:buFont typeface="+mj-lt"/>
                  <a:buAutoNum type="arabicPeriod"/>
                </a:pPr>
                <a:r>
                  <a:rPr lang="en-US" dirty="0"/>
                  <a:t>Relation:</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𝑅</m:t>
                    </m:r>
                    <m:d>
                      <m:dPr>
                        <m:sepChr m:val=","/>
                        <m:ctrlPr>
                          <a:rPr lang="en-US" i="1">
                            <a:latin typeface="Cambria Math" panose="02040503050406030204" pitchFamily="18" charset="0"/>
                          </a:rPr>
                        </m:ctrlPr>
                      </m:dPr>
                      <m:e>
                        <m:r>
                          <a:rPr lang="en-US" i="1">
                            <a:latin typeface="Cambria Math" panose="02040503050406030204" pitchFamily="18" charset="0"/>
                          </a:rPr>
                          <m:t>𝐴</m:t>
                        </m:r>
                      </m:e>
                      <m:e>
                        <m:r>
                          <a:rPr lang="en-US" i="1">
                            <a:latin typeface="Cambria Math" panose="02040503050406030204" pitchFamily="18" charset="0"/>
                          </a:rPr>
                          <m:t>𝐵</m:t>
                        </m:r>
                      </m:e>
                      <m:e>
                        <m:r>
                          <a:rPr lang="en-US" i="1">
                            <a:latin typeface="Cambria Math" panose="02040503050406030204" pitchFamily="18" charset="0"/>
                          </a:rPr>
                          <m:t>𝐶</m:t>
                        </m:r>
                      </m:e>
                      <m:e>
                        <m:r>
                          <a:rPr lang="en-US" i="1">
                            <a:latin typeface="Cambria Math" panose="02040503050406030204" pitchFamily="18" charset="0"/>
                          </a:rPr>
                          <m:t>𝐷</m:t>
                        </m:r>
                      </m:e>
                      <m:e>
                        <m:r>
                          <a:rPr lang="en-US" i="1">
                            <a:latin typeface="Cambria Math" panose="02040503050406030204" pitchFamily="18" charset="0"/>
                          </a:rPr>
                          <m:t>𝐸</m:t>
                        </m:r>
                      </m:e>
                      <m:e>
                        <m:r>
                          <a:rPr lang="en-US" i="1">
                            <a:latin typeface="Cambria Math" panose="02040503050406030204" pitchFamily="18" charset="0"/>
                          </a:rPr>
                          <m:t>𝐹</m:t>
                        </m:r>
                      </m:e>
                    </m:d>
                  </m:oMath>
                </a14:m>
                <a:r>
                  <a:rPr lang="en-US" dirty="0"/>
                  <a:t>,  FDs: </a:t>
                </a:r>
                <a14:m>
                  <m:oMath xmlns:m="http://schemas.openxmlformats.org/officeDocument/2006/math">
                    <m:r>
                      <a:rPr lang="en-US" i="1">
                        <a:latin typeface="Cambria Math" panose="02040503050406030204" pitchFamily="18" charset="0"/>
                      </a:rPr>
                      <m:t>𝐴</m:t>
                    </m:r>
                    <m:r>
                      <a:rPr lang="en-US">
                        <a:latin typeface="Cambria Math" panose="02040503050406030204" pitchFamily="18" charset="0"/>
                      </a:rPr>
                      <m:t>→</m:t>
                    </m:r>
                    <m:r>
                      <a:rPr lang="en-US" i="1">
                        <a:latin typeface="Cambria Math" panose="02040503050406030204" pitchFamily="18" charset="0"/>
                      </a:rPr>
                      <m:t>𝐵𝐶</m:t>
                    </m:r>
                  </m:oMath>
                </a14:m>
                <a:r>
                  <a:rPr lang="en-US" dirty="0"/>
                  <a:t>, </a:t>
                </a:r>
                <a14:m>
                  <m:oMath xmlns:m="http://schemas.openxmlformats.org/officeDocument/2006/math">
                    <m:r>
                      <a:rPr lang="en-US" i="1">
                        <a:latin typeface="Cambria Math" panose="02040503050406030204" pitchFamily="18" charset="0"/>
                      </a:rPr>
                      <m:t>𝐵</m:t>
                    </m:r>
                    <m:r>
                      <a:rPr lang="en-US">
                        <a:latin typeface="Cambria Math" panose="02040503050406030204" pitchFamily="18" charset="0"/>
                      </a:rPr>
                      <m:t>→</m:t>
                    </m:r>
                    <m:r>
                      <a:rPr lang="en-US" i="1">
                        <a:latin typeface="Cambria Math" panose="02040503050406030204" pitchFamily="18" charset="0"/>
                      </a:rPr>
                      <m:t>𝐸</m:t>
                    </m:r>
                  </m:oMath>
                </a14:m>
                <a:r>
                  <a:rPr lang="en-US" dirty="0"/>
                  <a:t>, </a:t>
                </a:r>
                <a14:m>
                  <m:oMath xmlns:m="http://schemas.openxmlformats.org/officeDocument/2006/math">
                    <m:r>
                      <a:rPr lang="en-US" i="1">
                        <a:latin typeface="Cambria Math" panose="02040503050406030204" pitchFamily="18" charset="0"/>
                      </a:rPr>
                      <m:t>𝐶</m:t>
                    </m:r>
                    <m:r>
                      <a:rPr lang="en-US">
                        <a:latin typeface="Cambria Math" panose="02040503050406030204" pitchFamily="18" charset="0"/>
                      </a:rPr>
                      <m:t>→</m:t>
                    </m:r>
                    <m:r>
                      <a:rPr lang="en-US" i="1">
                        <a:latin typeface="Cambria Math" panose="02040503050406030204" pitchFamily="18" charset="0"/>
                      </a:rPr>
                      <m:t>𝐸𝐹</m:t>
                    </m:r>
                  </m:oMath>
                </a14:m>
                <a:r>
                  <a:rPr lang="en-US" dirty="0"/>
                  <a:t>, </a:t>
                </a:r>
                <a14:m>
                  <m:oMath xmlns:m="http://schemas.openxmlformats.org/officeDocument/2006/math">
                    <m:r>
                      <a:rPr lang="en-US" i="1">
                        <a:latin typeface="Cambria Math" panose="02040503050406030204" pitchFamily="18" charset="0"/>
                      </a:rPr>
                      <m:t>𝐸</m:t>
                    </m:r>
                    <m:r>
                      <a:rPr lang="en-US">
                        <a:latin typeface="Cambria Math" panose="02040503050406030204" pitchFamily="18" charset="0"/>
                      </a:rPr>
                      <m:t>→</m:t>
                    </m:r>
                    <m:r>
                      <a:rPr lang="en-US" i="1">
                        <a:latin typeface="Cambria Math" panose="02040503050406030204" pitchFamily="18" charset="0"/>
                      </a:rPr>
                      <m:t>𝐶𝐹</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FD739B3A-9CBE-71E2-9CFC-5FEA63FF8131}"/>
                  </a:ext>
                </a:extLst>
              </p:cNvPr>
              <p:cNvSpPr>
                <a:spLocks noGrp="1" noRot="1" noChangeAspect="1" noMove="1" noResize="1" noEditPoints="1" noAdjustHandles="1" noChangeArrowheads="1" noChangeShapeType="1" noTextEdit="1"/>
              </p:cNvSpPr>
              <p:nvPr>
                <p:ph idx="1"/>
              </p:nvPr>
            </p:nvSpPr>
            <p:spPr>
              <a:blipFill>
                <a:blip r:embed="rId3"/>
                <a:stretch>
                  <a:fillRect l="-1576" t="-1667"/>
                </a:stretch>
              </a:blipFill>
            </p:spPr>
            <p:txBody>
              <a:bodyPr/>
              <a:lstStyle/>
              <a:p>
                <a:r>
                  <a:rPr lang="en-US">
                    <a:noFill/>
                  </a:rPr>
                  <a:t> </a:t>
                </a:r>
              </a:p>
            </p:txBody>
          </p:sp>
        </mc:Fallback>
      </mc:AlternateContent>
    </p:spTree>
    <p:extLst>
      <p:ext uri="{BB962C8B-B14F-4D97-AF65-F5344CB8AC3E}">
        <p14:creationId xmlns:p14="http://schemas.microsoft.com/office/powerpoint/2010/main" val="28337223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3E21-2DCB-8F1F-19FD-A240F1554F4D}"/>
              </a:ext>
            </a:extLst>
          </p:cNvPr>
          <p:cNvSpPr>
            <a:spLocks noGrp="1"/>
          </p:cNvSpPr>
          <p:nvPr>
            <p:ph type="title"/>
          </p:nvPr>
        </p:nvSpPr>
        <p:spPr/>
        <p:txBody>
          <a:bodyPr>
            <a:normAutofit/>
          </a:bodyPr>
          <a:lstStyle/>
          <a:p>
            <a:r>
              <a:rPr lang="en-US" dirty="0"/>
              <a:t>Normalization</a:t>
            </a:r>
          </a:p>
        </p:txBody>
      </p:sp>
      <p:sp>
        <p:nvSpPr>
          <p:cNvPr id="3" name="Content Placeholder 2">
            <a:extLst>
              <a:ext uri="{FF2B5EF4-FFF2-40B4-BE49-F238E27FC236}">
                <a16:creationId xmlns:a16="http://schemas.microsoft.com/office/drawing/2014/main" id="{B1D2C1FB-A728-7443-DE14-FFFF98B406C7}"/>
              </a:ext>
            </a:extLst>
          </p:cNvPr>
          <p:cNvSpPr>
            <a:spLocks noGrp="1"/>
          </p:cNvSpPr>
          <p:nvPr>
            <p:ph idx="1"/>
          </p:nvPr>
        </p:nvSpPr>
        <p:spPr>
          <a:xfrm>
            <a:off x="420624" y="1737360"/>
            <a:ext cx="10058400" cy="4023360"/>
          </a:xfrm>
        </p:spPr>
        <p:txBody>
          <a:bodyPr/>
          <a:lstStyle/>
          <a:p>
            <a:r>
              <a:rPr lang="en-US" b="1" dirty="0"/>
              <a:t>Normalization</a:t>
            </a:r>
            <a:r>
              <a:rPr lang="en-US" dirty="0"/>
              <a:t> is the process of organizing data in a relational database to:</a:t>
            </a:r>
          </a:p>
          <a:p>
            <a:pPr lvl="1"/>
            <a:r>
              <a:rPr lang="en-US" dirty="0"/>
              <a:t>Reduce data redundancy (duplicate data) </a:t>
            </a:r>
          </a:p>
          <a:p>
            <a:pPr lvl="1"/>
            <a:r>
              <a:rPr lang="en-US" dirty="0"/>
              <a:t>Eliminate undesirable characteristics such as insertion, update, and deletion anomalies </a:t>
            </a:r>
          </a:p>
          <a:p>
            <a:pPr lvl="1"/>
            <a:r>
              <a:rPr lang="en-US" dirty="0"/>
              <a:t>Improve data consistency and integrity </a:t>
            </a:r>
          </a:p>
          <a:p>
            <a:pPr lvl="1"/>
            <a:r>
              <a:rPr lang="en-US" dirty="0"/>
              <a:t>Make database maintenance easier </a:t>
            </a:r>
          </a:p>
          <a:p>
            <a:r>
              <a:rPr lang="en-US" dirty="0"/>
              <a:t>Normalization divides larger tables into smaller, related tables and establishes relationships between them using keys.</a:t>
            </a:r>
          </a:p>
          <a:p>
            <a:pPr fontAlgn="base"/>
            <a:r>
              <a:rPr lang="en-US" b="1" dirty="0"/>
              <a:t>Before Normalization:</a:t>
            </a:r>
            <a:r>
              <a:rPr lang="en-US" dirty="0"/>
              <a:t> The table is prone to redundancy and anomalies (insertion, update, and deletion).</a:t>
            </a:r>
          </a:p>
          <a:p>
            <a:pPr fontAlgn="base"/>
            <a:r>
              <a:rPr lang="en-US" b="1" dirty="0"/>
              <a:t>After Normalization:</a:t>
            </a:r>
            <a:r>
              <a:rPr lang="en-US" dirty="0"/>
              <a:t> The data is divided into logical tables to ensure consistency, avoid redundancy and remove anomalies making the database efficient and reliable.</a:t>
            </a:r>
          </a:p>
          <a:p>
            <a:endParaRPr lang="en-US" dirty="0"/>
          </a:p>
        </p:txBody>
      </p:sp>
    </p:spTree>
    <p:extLst>
      <p:ext uri="{BB962C8B-B14F-4D97-AF65-F5344CB8AC3E}">
        <p14:creationId xmlns:p14="http://schemas.microsoft.com/office/powerpoint/2010/main" val="10874662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A9AB3-623B-F528-2047-8DF3C45945C5}"/>
              </a:ext>
            </a:extLst>
          </p:cNvPr>
          <p:cNvSpPr>
            <a:spLocks noGrp="1"/>
          </p:cNvSpPr>
          <p:nvPr>
            <p:ph type="title"/>
          </p:nvPr>
        </p:nvSpPr>
        <p:spPr/>
        <p:txBody>
          <a:bodyPr/>
          <a:lstStyle/>
          <a:p>
            <a:r>
              <a:rPr lang="en-US" dirty="0"/>
              <a:t>What normalization solve?</a:t>
            </a:r>
          </a:p>
        </p:txBody>
      </p:sp>
      <p:sp>
        <p:nvSpPr>
          <p:cNvPr id="13" name="Content Placeholder 12">
            <a:extLst>
              <a:ext uri="{FF2B5EF4-FFF2-40B4-BE49-F238E27FC236}">
                <a16:creationId xmlns:a16="http://schemas.microsoft.com/office/drawing/2014/main" id="{69DC68E6-2A11-B16F-6755-6C8A89524D14}"/>
              </a:ext>
            </a:extLst>
          </p:cNvPr>
          <p:cNvSpPr>
            <a:spLocks noGrp="1"/>
          </p:cNvSpPr>
          <p:nvPr>
            <p:ph idx="1"/>
          </p:nvPr>
        </p:nvSpPr>
        <p:spPr>
          <a:xfrm>
            <a:off x="621030" y="1851660"/>
            <a:ext cx="5977890" cy="4274820"/>
          </a:xfrm>
        </p:spPr>
        <p:txBody>
          <a:bodyPr>
            <a:normAutofit lnSpcReduction="10000"/>
          </a:bodyPr>
          <a:lstStyle/>
          <a:p>
            <a:r>
              <a:rPr lang="en-US" dirty="0"/>
              <a:t>Before normalization, databases suffer from </a:t>
            </a:r>
            <a:r>
              <a:rPr lang="en-US" b="1" dirty="0"/>
              <a:t>three major anomalies</a:t>
            </a:r>
            <a:r>
              <a:rPr lang="en-US" dirty="0"/>
              <a:t>:</a:t>
            </a:r>
          </a:p>
          <a:p>
            <a:r>
              <a:rPr lang="en-US" dirty="0"/>
              <a:t>Update Anomaly</a:t>
            </a:r>
          </a:p>
          <a:p>
            <a:pPr lvl="1"/>
            <a:r>
              <a:rPr lang="en-US" dirty="0"/>
              <a:t>Changing a student's name requires updating multiple records. </a:t>
            </a:r>
          </a:p>
          <a:p>
            <a:pPr lvl="1"/>
            <a:r>
              <a:rPr lang="en-US" dirty="0"/>
              <a:t>i.e. If instructor Sharma changes to Joshi, every DBMS record must be updated.</a:t>
            </a:r>
          </a:p>
          <a:p>
            <a:r>
              <a:rPr lang="en-US" dirty="0"/>
              <a:t>Insert Anomaly</a:t>
            </a:r>
          </a:p>
          <a:p>
            <a:pPr lvl="1"/>
            <a:r>
              <a:rPr lang="en-US" dirty="0"/>
              <a:t>Cannot store a student unless they are enrolled in a subject.</a:t>
            </a:r>
          </a:p>
          <a:p>
            <a:r>
              <a:rPr lang="en-US" dirty="0"/>
              <a:t>Delete Anomaly</a:t>
            </a:r>
          </a:p>
          <a:p>
            <a:pPr lvl="1"/>
            <a:r>
              <a:rPr lang="en-US" dirty="0"/>
              <a:t>Deleting the last student enrolled in AI removes all information about AI.</a:t>
            </a:r>
            <a:br>
              <a:rPr lang="en-US" dirty="0"/>
            </a:br>
            <a:endParaRPr lang="en-US" dirty="0"/>
          </a:p>
          <a:p>
            <a:pPr marL="201168" lvl="1" indent="0">
              <a:buNone/>
            </a:pPr>
            <a:r>
              <a:rPr lang="en-US" sz="2000" dirty="0"/>
              <a:t>Normalization removes these anomalies</a:t>
            </a:r>
            <a:r>
              <a:rPr lang="en-US" dirty="0"/>
              <a:t>.</a:t>
            </a:r>
          </a:p>
          <a:p>
            <a:pPr lvl="1"/>
            <a:endParaRPr lang="en-US" dirty="0"/>
          </a:p>
        </p:txBody>
      </p:sp>
      <p:graphicFrame>
        <p:nvGraphicFramePr>
          <p:cNvPr id="3" name="Table 2">
            <a:extLst>
              <a:ext uri="{FF2B5EF4-FFF2-40B4-BE49-F238E27FC236}">
                <a16:creationId xmlns:a16="http://schemas.microsoft.com/office/drawing/2014/main" id="{8A26F8ED-6A43-04EB-2428-1901AC9CBBF1}"/>
              </a:ext>
            </a:extLst>
          </p:cNvPr>
          <p:cNvGraphicFramePr>
            <a:graphicFrameLocks noGrp="1"/>
          </p:cNvGraphicFramePr>
          <p:nvPr>
            <p:extLst>
              <p:ext uri="{D42A27DB-BD31-4B8C-83A1-F6EECF244321}">
                <p14:modId xmlns:p14="http://schemas.microsoft.com/office/powerpoint/2010/main" val="3100958"/>
              </p:ext>
            </p:extLst>
          </p:nvPr>
        </p:nvGraphicFramePr>
        <p:xfrm>
          <a:off x="6214110" y="2161541"/>
          <a:ext cx="5977890" cy="2136140"/>
        </p:xfrm>
        <a:graphic>
          <a:graphicData uri="http://schemas.openxmlformats.org/drawingml/2006/table">
            <a:tbl>
              <a:tblPr firstRow="1" bandRow="1">
                <a:tableStyleId>{5C22544A-7EE6-4342-B048-85BDC9FD1C3A}</a:tableStyleId>
              </a:tblPr>
              <a:tblGrid>
                <a:gridCol w="912158">
                  <a:extLst>
                    <a:ext uri="{9D8B030D-6E8A-4147-A177-3AD203B41FA5}">
                      <a16:colId xmlns:a16="http://schemas.microsoft.com/office/drawing/2014/main" val="2636863446"/>
                    </a:ext>
                  </a:extLst>
                </a:gridCol>
                <a:gridCol w="1270505">
                  <a:extLst>
                    <a:ext uri="{9D8B030D-6E8A-4147-A177-3AD203B41FA5}">
                      <a16:colId xmlns:a16="http://schemas.microsoft.com/office/drawing/2014/main" val="2201230137"/>
                    </a:ext>
                  </a:extLst>
                </a:gridCol>
                <a:gridCol w="1270505">
                  <a:extLst>
                    <a:ext uri="{9D8B030D-6E8A-4147-A177-3AD203B41FA5}">
                      <a16:colId xmlns:a16="http://schemas.microsoft.com/office/drawing/2014/main" val="1171757669"/>
                    </a:ext>
                  </a:extLst>
                </a:gridCol>
                <a:gridCol w="1329144">
                  <a:extLst>
                    <a:ext uri="{9D8B030D-6E8A-4147-A177-3AD203B41FA5}">
                      <a16:colId xmlns:a16="http://schemas.microsoft.com/office/drawing/2014/main" val="3881847303"/>
                    </a:ext>
                  </a:extLst>
                </a:gridCol>
                <a:gridCol w="1195578">
                  <a:extLst>
                    <a:ext uri="{9D8B030D-6E8A-4147-A177-3AD203B41FA5}">
                      <a16:colId xmlns:a16="http://schemas.microsoft.com/office/drawing/2014/main" val="4152880678"/>
                    </a:ext>
                  </a:extLst>
                </a:gridCol>
              </a:tblGrid>
              <a:tr h="643908">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a:t>Course_ID</a:t>
                      </a:r>
                    </a:p>
                  </a:txBody>
                  <a:tcPr anchor="ctr"/>
                </a:tc>
                <a:tc>
                  <a:txBody>
                    <a:bodyPr/>
                    <a:lstStyle/>
                    <a:p>
                      <a:pPr>
                        <a:buNone/>
                      </a:pPr>
                      <a:r>
                        <a:rPr lang="en-US"/>
                        <a:t>Course_Name</a:t>
                      </a:r>
                    </a:p>
                  </a:txBody>
                  <a:tcPr anchor="ctr"/>
                </a:tc>
                <a:tc>
                  <a:txBody>
                    <a:bodyPr/>
                    <a:lstStyle/>
                    <a:p>
                      <a:pPr>
                        <a:buNone/>
                      </a:pPr>
                      <a:r>
                        <a:rPr lang="en-US"/>
                        <a:t>Instructor</a:t>
                      </a:r>
                    </a:p>
                  </a:txBody>
                  <a:tcPr anchor="ctr"/>
                </a:tc>
                <a:extLst>
                  <a:ext uri="{0D108BD9-81ED-4DB2-BD59-A6C34878D82A}">
                    <a16:rowId xmlns:a16="http://schemas.microsoft.com/office/drawing/2014/main" val="69387780"/>
                  </a:ext>
                </a:extLst>
              </a:tr>
              <a:tr h="373058">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C001</a:t>
                      </a:r>
                    </a:p>
                  </a:txBody>
                  <a:tcPr anchor="ctr"/>
                </a:tc>
                <a:tc>
                  <a:txBody>
                    <a:bodyPr/>
                    <a:lstStyle/>
                    <a:p>
                      <a:pPr>
                        <a:buNone/>
                      </a:pPr>
                      <a:r>
                        <a:rPr lang="en-US"/>
                        <a:t>DBMS</a:t>
                      </a:r>
                    </a:p>
                  </a:txBody>
                  <a:tcPr anchor="ctr"/>
                </a:tc>
                <a:tc>
                  <a:txBody>
                    <a:bodyPr/>
                    <a:lstStyle/>
                    <a:p>
                      <a:pPr>
                        <a:buNone/>
                      </a:pPr>
                      <a:r>
                        <a:rPr lang="en-US"/>
                        <a:t>Sharma</a:t>
                      </a:r>
                    </a:p>
                  </a:txBody>
                  <a:tcPr anchor="ctr"/>
                </a:tc>
                <a:extLst>
                  <a:ext uri="{0D108BD9-81ED-4DB2-BD59-A6C34878D82A}">
                    <a16:rowId xmlns:a16="http://schemas.microsoft.com/office/drawing/2014/main" val="2636478099"/>
                  </a:ext>
                </a:extLst>
              </a:tr>
              <a:tr h="373058">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C002</a:t>
                      </a:r>
                    </a:p>
                  </a:txBody>
                  <a:tcPr anchor="ctr"/>
                </a:tc>
                <a:tc>
                  <a:txBody>
                    <a:bodyPr/>
                    <a:lstStyle/>
                    <a:p>
                      <a:pPr>
                        <a:buNone/>
                      </a:pPr>
                      <a:r>
                        <a:rPr lang="en-US"/>
                        <a:t>OS</a:t>
                      </a:r>
                    </a:p>
                  </a:txBody>
                  <a:tcPr anchor="ctr"/>
                </a:tc>
                <a:tc>
                  <a:txBody>
                    <a:bodyPr/>
                    <a:lstStyle/>
                    <a:p>
                      <a:pPr>
                        <a:buNone/>
                      </a:pPr>
                      <a:r>
                        <a:rPr lang="en-US"/>
                        <a:t>Verma</a:t>
                      </a:r>
                    </a:p>
                  </a:txBody>
                  <a:tcPr anchor="ctr"/>
                </a:tc>
                <a:extLst>
                  <a:ext uri="{0D108BD9-81ED-4DB2-BD59-A6C34878D82A}">
                    <a16:rowId xmlns:a16="http://schemas.microsoft.com/office/drawing/2014/main" val="4113563589"/>
                  </a:ext>
                </a:extLst>
              </a:tr>
              <a:tr h="373058">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dirty="0"/>
                        <a:t>C001</a:t>
                      </a:r>
                    </a:p>
                  </a:txBody>
                  <a:tcPr anchor="ctr"/>
                </a:tc>
                <a:tc>
                  <a:txBody>
                    <a:bodyPr/>
                    <a:lstStyle/>
                    <a:p>
                      <a:pPr>
                        <a:buNone/>
                      </a:pPr>
                      <a:r>
                        <a:rPr lang="en-US"/>
                        <a:t>DBMS</a:t>
                      </a:r>
                    </a:p>
                  </a:txBody>
                  <a:tcPr anchor="ctr"/>
                </a:tc>
                <a:tc>
                  <a:txBody>
                    <a:bodyPr/>
                    <a:lstStyle/>
                    <a:p>
                      <a:pPr>
                        <a:buNone/>
                      </a:pPr>
                      <a:r>
                        <a:rPr lang="en-US"/>
                        <a:t>Sharma</a:t>
                      </a:r>
                    </a:p>
                  </a:txBody>
                  <a:tcPr anchor="ctr"/>
                </a:tc>
                <a:extLst>
                  <a:ext uri="{0D108BD9-81ED-4DB2-BD59-A6C34878D82A}">
                    <a16:rowId xmlns:a16="http://schemas.microsoft.com/office/drawing/2014/main" val="1874246434"/>
                  </a:ext>
                </a:extLst>
              </a:tr>
              <a:tr h="373058">
                <a:tc>
                  <a:txBody>
                    <a:bodyPr/>
                    <a:lstStyle/>
                    <a:p>
                      <a:pPr>
                        <a:buNone/>
                      </a:pPr>
                      <a:r>
                        <a:rPr lang="en-US"/>
                        <a:t>S103</a:t>
                      </a:r>
                    </a:p>
                  </a:txBody>
                  <a:tcPr anchor="ctr"/>
                </a:tc>
                <a:tc>
                  <a:txBody>
                    <a:bodyPr/>
                    <a:lstStyle/>
                    <a:p>
                      <a:pPr>
                        <a:buNone/>
                      </a:pPr>
                      <a:r>
                        <a:rPr lang="en-US"/>
                        <a:t>Sita</a:t>
                      </a:r>
                    </a:p>
                  </a:txBody>
                  <a:tcPr anchor="ctr"/>
                </a:tc>
                <a:tc>
                  <a:txBody>
                    <a:bodyPr/>
                    <a:lstStyle/>
                    <a:p>
                      <a:pPr>
                        <a:buNone/>
                      </a:pPr>
                      <a:r>
                        <a:rPr lang="en-US"/>
                        <a:t>C003</a:t>
                      </a:r>
                    </a:p>
                  </a:txBody>
                  <a:tcPr anchor="ctr"/>
                </a:tc>
                <a:tc>
                  <a:txBody>
                    <a:bodyPr/>
                    <a:lstStyle/>
                    <a:p>
                      <a:pPr>
                        <a:buNone/>
                      </a:pPr>
                      <a:r>
                        <a:rPr lang="en-US"/>
                        <a:t>AI</a:t>
                      </a:r>
                    </a:p>
                  </a:txBody>
                  <a:tcPr anchor="ctr"/>
                </a:tc>
                <a:tc>
                  <a:txBody>
                    <a:bodyPr/>
                    <a:lstStyle/>
                    <a:p>
                      <a:pPr>
                        <a:buNone/>
                      </a:pPr>
                      <a:r>
                        <a:rPr lang="en-US" dirty="0"/>
                        <a:t>Pant</a:t>
                      </a:r>
                    </a:p>
                  </a:txBody>
                  <a:tcPr anchor="ctr"/>
                </a:tc>
                <a:extLst>
                  <a:ext uri="{0D108BD9-81ED-4DB2-BD59-A6C34878D82A}">
                    <a16:rowId xmlns:a16="http://schemas.microsoft.com/office/drawing/2014/main" val="1566311623"/>
                  </a:ext>
                </a:extLst>
              </a:tr>
            </a:tbl>
          </a:graphicData>
        </a:graphic>
      </p:graphicFrame>
      <p:sp>
        <p:nvSpPr>
          <p:cNvPr id="5" name="TextBox 4">
            <a:extLst>
              <a:ext uri="{FF2B5EF4-FFF2-40B4-BE49-F238E27FC236}">
                <a16:creationId xmlns:a16="http://schemas.microsoft.com/office/drawing/2014/main" id="{05B1D9CE-0072-63D2-9AE7-3BB84C106E62}"/>
              </a:ext>
            </a:extLst>
          </p:cNvPr>
          <p:cNvSpPr txBox="1"/>
          <p:nvPr/>
        </p:nvSpPr>
        <p:spPr>
          <a:xfrm>
            <a:off x="6840855" y="1764784"/>
            <a:ext cx="2554605" cy="369332"/>
          </a:xfrm>
          <a:prstGeom prst="rect">
            <a:avLst/>
          </a:prstGeom>
          <a:noFill/>
        </p:spPr>
        <p:txBody>
          <a:bodyPr wrap="square">
            <a:spAutoFit/>
          </a:bodyPr>
          <a:lstStyle/>
          <a:p>
            <a:r>
              <a:rPr lang="en-US" dirty="0" err="1"/>
              <a:t>Student_Course</a:t>
            </a:r>
            <a:r>
              <a:rPr lang="en-US" dirty="0"/>
              <a:t> Table</a:t>
            </a:r>
          </a:p>
        </p:txBody>
      </p:sp>
    </p:spTree>
    <p:extLst>
      <p:ext uri="{BB962C8B-B14F-4D97-AF65-F5344CB8AC3E}">
        <p14:creationId xmlns:p14="http://schemas.microsoft.com/office/powerpoint/2010/main" val="26416399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EDCD271-0542-89FB-DF33-012F0ABDBB2E}"/>
              </a:ext>
            </a:extLst>
          </p:cNvPr>
          <p:cNvPicPr>
            <a:picLocks noChangeAspect="1"/>
          </p:cNvPicPr>
          <p:nvPr/>
        </p:nvPicPr>
        <p:blipFill>
          <a:blip r:embed="rId3"/>
          <a:stretch>
            <a:fillRect/>
          </a:stretch>
        </p:blipFill>
        <p:spPr>
          <a:xfrm>
            <a:off x="5755846" y="848879"/>
            <a:ext cx="5399834" cy="2399926"/>
          </a:xfrm>
          <a:prstGeom prst="rect">
            <a:avLst/>
          </a:prstGeom>
        </p:spPr>
      </p:pic>
      <p:pic>
        <p:nvPicPr>
          <p:cNvPr id="7" name="Picture 6">
            <a:extLst>
              <a:ext uri="{FF2B5EF4-FFF2-40B4-BE49-F238E27FC236}">
                <a16:creationId xmlns:a16="http://schemas.microsoft.com/office/drawing/2014/main" id="{0BA29105-FC74-E10A-2632-D4BABA8321BE}"/>
              </a:ext>
            </a:extLst>
          </p:cNvPr>
          <p:cNvPicPr>
            <a:picLocks noChangeAspect="1"/>
          </p:cNvPicPr>
          <p:nvPr/>
        </p:nvPicPr>
        <p:blipFill>
          <a:blip r:embed="rId4"/>
          <a:stretch>
            <a:fillRect/>
          </a:stretch>
        </p:blipFill>
        <p:spPr>
          <a:xfrm>
            <a:off x="1716872" y="3248805"/>
            <a:ext cx="7281591" cy="3026505"/>
          </a:xfrm>
          <a:prstGeom prst="rect">
            <a:avLst/>
          </a:prstGeom>
        </p:spPr>
      </p:pic>
      <p:sp>
        <p:nvSpPr>
          <p:cNvPr id="9" name="Title 8">
            <a:extLst>
              <a:ext uri="{FF2B5EF4-FFF2-40B4-BE49-F238E27FC236}">
                <a16:creationId xmlns:a16="http://schemas.microsoft.com/office/drawing/2014/main" id="{7DFB18F6-7FB6-569B-397C-5D66B59A4D79}"/>
              </a:ext>
            </a:extLst>
          </p:cNvPr>
          <p:cNvSpPr>
            <a:spLocks noGrp="1"/>
          </p:cNvSpPr>
          <p:nvPr>
            <p:ph type="title"/>
          </p:nvPr>
        </p:nvSpPr>
        <p:spPr/>
        <p:txBody>
          <a:bodyPr/>
          <a:lstStyle/>
          <a:p>
            <a:r>
              <a:rPr lang="en-US" dirty="0"/>
              <a:t>Example:</a:t>
            </a:r>
          </a:p>
        </p:txBody>
      </p:sp>
    </p:spTree>
    <p:extLst>
      <p:ext uri="{BB962C8B-B14F-4D97-AF65-F5344CB8AC3E}">
        <p14:creationId xmlns:p14="http://schemas.microsoft.com/office/powerpoint/2010/main" val="27831174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2BC4D-5F25-A80D-90CC-2296D563261C}"/>
              </a:ext>
            </a:extLst>
          </p:cNvPr>
          <p:cNvSpPr>
            <a:spLocks noGrp="1"/>
          </p:cNvSpPr>
          <p:nvPr>
            <p:ph type="title"/>
          </p:nvPr>
        </p:nvSpPr>
        <p:spPr/>
        <p:txBody>
          <a:bodyPr/>
          <a:lstStyle/>
          <a:p>
            <a:r>
              <a:rPr lang="en-US" dirty="0"/>
              <a:t>Types of Normal Forms</a:t>
            </a:r>
          </a:p>
        </p:txBody>
      </p:sp>
      <p:graphicFrame>
        <p:nvGraphicFramePr>
          <p:cNvPr id="6" name="Content Placeholder 5">
            <a:extLst>
              <a:ext uri="{FF2B5EF4-FFF2-40B4-BE49-F238E27FC236}">
                <a16:creationId xmlns:a16="http://schemas.microsoft.com/office/drawing/2014/main" id="{53139D27-15F6-EEE3-C7B0-91F6329CFE06}"/>
              </a:ext>
            </a:extLst>
          </p:cNvPr>
          <p:cNvGraphicFramePr>
            <a:graphicFrameLocks noGrp="1"/>
          </p:cNvGraphicFramePr>
          <p:nvPr>
            <p:ph idx="1"/>
            <p:extLst>
              <p:ext uri="{D42A27DB-BD31-4B8C-83A1-F6EECF244321}">
                <p14:modId xmlns:p14="http://schemas.microsoft.com/office/powerpoint/2010/main" val="1123982495"/>
              </p:ext>
            </p:extLst>
          </p:nvPr>
        </p:nvGraphicFramePr>
        <p:xfrm>
          <a:off x="440842" y="1737360"/>
          <a:ext cx="7955597" cy="4451111"/>
        </p:xfrm>
        <a:graphic>
          <a:graphicData uri="http://schemas.openxmlformats.org/drawingml/2006/table">
            <a:tbl>
              <a:tblPr firstRow="1" bandRow="1">
                <a:tableStyleId>{5C22544A-7EE6-4342-B048-85BDC9FD1C3A}</a:tableStyleId>
              </a:tblPr>
              <a:tblGrid>
                <a:gridCol w="1714817">
                  <a:extLst>
                    <a:ext uri="{9D8B030D-6E8A-4147-A177-3AD203B41FA5}">
                      <a16:colId xmlns:a16="http://schemas.microsoft.com/office/drawing/2014/main" val="434782179"/>
                    </a:ext>
                  </a:extLst>
                </a:gridCol>
                <a:gridCol w="2805661">
                  <a:extLst>
                    <a:ext uri="{9D8B030D-6E8A-4147-A177-3AD203B41FA5}">
                      <a16:colId xmlns:a16="http://schemas.microsoft.com/office/drawing/2014/main" val="589822781"/>
                    </a:ext>
                  </a:extLst>
                </a:gridCol>
                <a:gridCol w="3435119">
                  <a:extLst>
                    <a:ext uri="{9D8B030D-6E8A-4147-A177-3AD203B41FA5}">
                      <a16:colId xmlns:a16="http://schemas.microsoft.com/office/drawing/2014/main" val="1287345089"/>
                    </a:ext>
                  </a:extLst>
                </a:gridCol>
              </a:tblGrid>
              <a:tr h="608786">
                <a:tc>
                  <a:txBody>
                    <a:bodyPr/>
                    <a:lstStyle/>
                    <a:p>
                      <a:pPr>
                        <a:buNone/>
                      </a:pPr>
                      <a:r>
                        <a:rPr lang="en-US" dirty="0"/>
                        <a:t>Normal Form</a:t>
                      </a:r>
                    </a:p>
                  </a:txBody>
                  <a:tcPr anchor="ctr"/>
                </a:tc>
                <a:tc>
                  <a:txBody>
                    <a:bodyPr/>
                    <a:lstStyle/>
                    <a:p>
                      <a:pPr>
                        <a:buNone/>
                      </a:pPr>
                      <a:r>
                        <a:rPr lang="en-US"/>
                        <a:t>Removes</a:t>
                      </a:r>
                    </a:p>
                  </a:txBody>
                  <a:tcPr anchor="ctr"/>
                </a:tc>
                <a:tc>
                  <a:txBody>
                    <a:bodyPr/>
                    <a:lstStyle/>
                    <a:p>
                      <a:pPr>
                        <a:buNone/>
                      </a:pPr>
                      <a:r>
                        <a:rPr lang="en-US"/>
                        <a:t>Key Idea</a:t>
                      </a:r>
                    </a:p>
                  </a:txBody>
                  <a:tcPr anchor="ctr"/>
                </a:tc>
                <a:extLst>
                  <a:ext uri="{0D108BD9-81ED-4DB2-BD59-A6C34878D82A}">
                    <a16:rowId xmlns:a16="http://schemas.microsoft.com/office/drawing/2014/main" val="958487190"/>
                  </a:ext>
                </a:extLst>
              </a:tr>
              <a:tr h="427335">
                <a:tc>
                  <a:txBody>
                    <a:bodyPr/>
                    <a:lstStyle/>
                    <a:p>
                      <a:pPr>
                        <a:buNone/>
                      </a:pPr>
                      <a:r>
                        <a:rPr lang="en-US"/>
                        <a:t>UNF</a:t>
                      </a:r>
                    </a:p>
                  </a:txBody>
                  <a:tcPr anchor="ctr"/>
                </a:tc>
                <a:tc>
                  <a:txBody>
                    <a:bodyPr/>
                    <a:lstStyle/>
                    <a:p>
                      <a:pPr>
                        <a:buNone/>
                      </a:pPr>
                      <a:r>
                        <a:rPr lang="en-US"/>
                        <a:t>Repeating groups</a:t>
                      </a:r>
                    </a:p>
                  </a:txBody>
                  <a:tcPr anchor="ctr"/>
                </a:tc>
                <a:tc>
                  <a:txBody>
                    <a:bodyPr/>
                    <a:lstStyle/>
                    <a:p>
                      <a:pPr>
                        <a:buNone/>
                      </a:pPr>
                      <a:r>
                        <a:rPr lang="en-US"/>
                        <a:t>Multiple values in attributes</a:t>
                      </a:r>
                    </a:p>
                  </a:txBody>
                  <a:tcPr anchor="ctr"/>
                </a:tc>
                <a:extLst>
                  <a:ext uri="{0D108BD9-81ED-4DB2-BD59-A6C34878D82A}">
                    <a16:rowId xmlns:a16="http://schemas.microsoft.com/office/drawing/2014/main" val="1840821408"/>
                  </a:ext>
                </a:extLst>
              </a:tr>
              <a:tr h="427335">
                <a:tc>
                  <a:txBody>
                    <a:bodyPr/>
                    <a:lstStyle/>
                    <a:p>
                      <a:pPr>
                        <a:buNone/>
                      </a:pPr>
                      <a:r>
                        <a:rPr lang="en-US"/>
                        <a:t>1NF</a:t>
                      </a:r>
                    </a:p>
                  </a:txBody>
                  <a:tcPr anchor="ctr"/>
                </a:tc>
                <a:tc>
                  <a:txBody>
                    <a:bodyPr/>
                    <a:lstStyle/>
                    <a:p>
                      <a:pPr>
                        <a:buNone/>
                      </a:pPr>
                      <a:r>
                        <a:rPr lang="en-US"/>
                        <a:t>Non-atomic values</a:t>
                      </a:r>
                    </a:p>
                  </a:txBody>
                  <a:tcPr anchor="ctr"/>
                </a:tc>
                <a:tc>
                  <a:txBody>
                    <a:bodyPr/>
                    <a:lstStyle/>
                    <a:p>
                      <a:pPr>
                        <a:buNone/>
                      </a:pPr>
                      <a:r>
                        <a:rPr lang="en-US"/>
                        <a:t>One value per cell</a:t>
                      </a:r>
                    </a:p>
                  </a:txBody>
                  <a:tcPr anchor="ctr"/>
                </a:tc>
                <a:extLst>
                  <a:ext uri="{0D108BD9-81ED-4DB2-BD59-A6C34878D82A}">
                    <a16:rowId xmlns:a16="http://schemas.microsoft.com/office/drawing/2014/main" val="2109880660"/>
                  </a:ext>
                </a:extLst>
              </a:tr>
              <a:tr h="427335">
                <a:tc>
                  <a:txBody>
                    <a:bodyPr/>
                    <a:lstStyle/>
                    <a:p>
                      <a:pPr>
                        <a:buNone/>
                      </a:pPr>
                      <a:r>
                        <a:rPr lang="en-US"/>
                        <a:t>2NF</a:t>
                      </a:r>
                    </a:p>
                  </a:txBody>
                  <a:tcPr anchor="ctr"/>
                </a:tc>
                <a:tc>
                  <a:txBody>
                    <a:bodyPr/>
                    <a:lstStyle/>
                    <a:p>
                      <a:pPr>
                        <a:buNone/>
                      </a:pPr>
                      <a:r>
                        <a:rPr lang="en-US" dirty="0"/>
                        <a:t>Partial dependency</a:t>
                      </a:r>
                    </a:p>
                  </a:txBody>
                  <a:tcPr anchor="ctr"/>
                </a:tc>
                <a:tc>
                  <a:txBody>
                    <a:bodyPr/>
                    <a:lstStyle/>
                    <a:p>
                      <a:pPr>
                        <a:buNone/>
                      </a:pPr>
                      <a:r>
                        <a:rPr lang="en-US"/>
                        <a:t>Full dependency on entire key</a:t>
                      </a:r>
                    </a:p>
                  </a:txBody>
                  <a:tcPr anchor="ctr"/>
                </a:tc>
                <a:extLst>
                  <a:ext uri="{0D108BD9-81ED-4DB2-BD59-A6C34878D82A}">
                    <a16:rowId xmlns:a16="http://schemas.microsoft.com/office/drawing/2014/main" val="2664094357"/>
                  </a:ext>
                </a:extLst>
              </a:tr>
              <a:tr h="608786">
                <a:tc>
                  <a:txBody>
                    <a:bodyPr/>
                    <a:lstStyle/>
                    <a:p>
                      <a:pPr>
                        <a:buNone/>
                      </a:pPr>
                      <a:r>
                        <a:rPr lang="en-US"/>
                        <a:t>3NF</a:t>
                      </a:r>
                    </a:p>
                  </a:txBody>
                  <a:tcPr anchor="ctr"/>
                </a:tc>
                <a:tc>
                  <a:txBody>
                    <a:bodyPr/>
                    <a:lstStyle/>
                    <a:p>
                      <a:pPr>
                        <a:buNone/>
                      </a:pPr>
                      <a:r>
                        <a:rPr lang="en-US" dirty="0"/>
                        <a:t>Transitive dependency</a:t>
                      </a:r>
                    </a:p>
                  </a:txBody>
                  <a:tcPr anchor="ctr"/>
                </a:tc>
                <a:tc>
                  <a:txBody>
                    <a:bodyPr/>
                    <a:lstStyle/>
                    <a:p>
                      <a:pPr>
                        <a:buNone/>
                      </a:pPr>
                      <a:r>
                        <a:rPr lang="en-US"/>
                        <a:t>Non-key should not determine non-key</a:t>
                      </a:r>
                    </a:p>
                  </a:txBody>
                  <a:tcPr anchor="ctr"/>
                </a:tc>
                <a:extLst>
                  <a:ext uri="{0D108BD9-81ED-4DB2-BD59-A6C34878D82A}">
                    <a16:rowId xmlns:a16="http://schemas.microsoft.com/office/drawing/2014/main" val="1874531978"/>
                  </a:ext>
                </a:extLst>
              </a:tr>
              <a:tr h="608786">
                <a:tc>
                  <a:txBody>
                    <a:bodyPr/>
                    <a:lstStyle/>
                    <a:p>
                      <a:pPr>
                        <a:buNone/>
                      </a:pPr>
                      <a:r>
                        <a:rPr lang="en-US"/>
                        <a:t>BCNF</a:t>
                      </a:r>
                    </a:p>
                  </a:txBody>
                  <a:tcPr anchor="ctr"/>
                </a:tc>
                <a:tc>
                  <a:txBody>
                    <a:bodyPr/>
                    <a:lstStyle/>
                    <a:p>
                      <a:pPr>
                        <a:buNone/>
                      </a:pPr>
                      <a:r>
                        <a:rPr lang="en-US"/>
                        <a:t>Determinant problem</a:t>
                      </a:r>
                    </a:p>
                  </a:txBody>
                  <a:tcPr anchor="ctr"/>
                </a:tc>
                <a:tc>
                  <a:txBody>
                    <a:bodyPr/>
                    <a:lstStyle/>
                    <a:p>
                      <a:pPr>
                        <a:buNone/>
                      </a:pPr>
                      <a:r>
                        <a:rPr lang="en-US" dirty="0"/>
                        <a:t>Every determinant must be a candidate key</a:t>
                      </a:r>
                    </a:p>
                  </a:txBody>
                  <a:tcPr anchor="ctr"/>
                </a:tc>
                <a:extLst>
                  <a:ext uri="{0D108BD9-81ED-4DB2-BD59-A6C34878D82A}">
                    <a16:rowId xmlns:a16="http://schemas.microsoft.com/office/drawing/2014/main" val="1392135458"/>
                  </a:ext>
                </a:extLst>
              </a:tr>
              <a:tr h="608786">
                <a:tc>
                  <a:txBody>
                    <a:bodyPr/>
                    <a:lstStyle/>
                    <a:p>
                      <a:pPr>
                        <a:buNone/>
                      </a:pPr>
                      <a:r>
                        <a:rPr lang="en-US"/>
                        <a:t>4NF</a:t>
                      </a:r>
                    </a:p>
                  </a:txBody>
                  <a:tcPr anchor="ctr"/>
                </a:tc>
                <a:tc>
                  <a:txBody>
                    <a:bodyPr/>
                    <a:lstStyle/>
                    <a:p>
                      <a:pPr>
                        <a:buNone/>
                      </a:pPr>
                      <a:r>
                        <a:rPr lang="en-US"/>
                        <a:t>Multivalued dependency</a:t>
                      </a:r>
                    </a:p>
                  </a:txBody>
                  <a:tcPr anchor="ctr"/>
                </a:tc>
                <a:tc>
                  <a:txBody>
                    <a:bodyPr/>
                    <a:lstStyle/>
                    <a:p>
                      <a:pPr>
                        <a:buNone/>
                      </a:pPr>
                      <a:r>
                        <a:rPr lang="en-US"/>
                        <a:t>Independent multi-valued facts separated</a:t>
                      </a:r>
                    </a:p>
                  </a:txBody>
                  <a:tcPr anchor="ctr"/>
                </a:tc>
                <a:extLst>
                  <a:ext uri="{0D108BD9-81ED-4DB2-BD59-A6C34878D82A}">
                    <a16:rowId xmlns:a16="http://schemas.microsoft.com/office/drawing/2014/main" val="2941507664"/>
                  </a:ext>
                </a:extLst>
              </a:tr>
              <a:tr h="608786">
                <a:tc>
                  <a:txBody>
                    <a:bodyPr/>
                    <a:lstStyle/>
                    <a:p>
                      <a:pPr>
                        <a:buNone/>
                      </a:pPr>
                      <a:r>
                        <a:rPr lang="en-US"/>
                        <a:t>5NF</a:t>
                      </a:r>
                    </a:p>
                  </a:txBody>
                  <a:tcPr anchor="ctr"/>
                </a:tc>
                <a:tc>
                  <a:txBody>
                    <a:bodyPr/>
                    <a:lstStyle/>
                    <a:p>
                      <a:pPr>
                        <a:buNone/>
                      </a:pPr>
                      <a:r>
                        <a:rPr lang="en-US"/>
                        <a:t>Join dependency</a:t>
                      </a:r>
                    </a:p>
                  </a:txBody>
                  <a:tcPr anchor="ctr"/>
                </a:tc>
                <a:tc>
                  <a:txBody>
                    <a:bodyPr/>
                    <a:lstStyle/>
                    <a:p>
                      <a:pPr>
                        <a:buNone/>
                      </a:pPr>
                      <a:r>
                        <a:rPr lang="en-US" dirty="0"/>
                        <a:t>Eliminate redundancy caused by joins</a:t>
                      </a:r>
                    </a:p>
                  </a:txBody>
                  <a:tcPr anchor="ctr"/>
                </a:tc>
                <a:extLst>
                  <a:ext uri="{0D108BD9-81ED-4DB2-BD59-A6C34878D82A}">
                    <a16:rowId xmlns:a16="http://schemas.microsoft.com/office/drawing/2014/main" val="3923801361"/>
                  </a:ext>
                </a:extLst>
              </a:tr>
            </a:tbl>
          </a:graphicData>
        </a:graphic>
      </p:graphicFrame>
      <p:grpSp>
        <p:nvGrpSpPr>
          <p:cNvPr id="29" name="Group 28">
            <a:extLst>
              <a:ext uri="{FF2B5EF4-FFF2-40B4-BE49-F238E27FC236}">
                <a16:creationId xmlns:a16="http://schemas.microsoft.com/office/drawing/2014/main" id="{16877529-660F-641A-1293-6F04ED221909}"/>
              </a:ext>
            </a:extLst>
          </p:cNvPr>
          <p:cNvGrpSpPr/>
          <p:nvPr/>
        </p:nvGrpSpPr>
        <p:grpSpPr>
          <a:xfrm>
            <a:off x="8181975" y="1968380"/>
            <a:ext cx="4010025" cy="3989069"/>
            <a:chOff x="4279182" y="1571625"/>
            <a:chExt cx="4010025" cy="3989069"/>
          </a:xfrm>
        </p:grpSpPr>
        <p:grpSp>
          <p:nvGrpSpPr>
            <p:cNvPr id="28" name="Group 27">
              <a:extLst>
                <a:ext uri="{FF2B5EF4-FFF2-40B4-BE49-F238E27FC236}">
                  <a16:creationId xmlns:a16="http://schemas.microsoft.com/office/drawing/2014/main" id="{9CC3C69B-DEE9-E0BD-303F-1E73BC0BA61C}"/>
                </a:ext>
              </a:extLst>
            </p:cNvPr>
            <p:cNvGrpSpPr/>
            <p:nvPr/>
          </p:nvGrpSpPr>
          <p:grpSpPr>
            <a:xfrm>
              <a:off x="4279182" y="1571625"/>
              <a:ext cx="4010025" cy="3989069"/>
              <a:chOff x="4279182" y="1571625"/>
              <a:chExt cx="4010025" cy="3989069"/>
            </a:xfrm>
          </p:grpSpPr>
          <p:sp>
            <p:nvSpPr>
              <p:cNvPr id="5" name="Oval 4">
                <a:extLst>
                  <a:ext uri="{FF2B5EF4-FFF2-40B4-BE49-F238E27FC236}">
                    <a16:creationId xmlns:a16="http://schemas.microsoft.com/office/drawing/2014/main" id="{3EF7FC14-09E1-6CD1-566A-3533C3E29E85}"/>
                  </a:ext>
                </a:extLst>
              </p:cNvPr>
              <p:cNvSpPr/>
              <p:nvPr/>
            </p:nvSpPr>
            <p:spPr>
              <a:xfrm>
                <a:off x="4279182" y="1571625"/>
                <a:ext cx="4010025" cy="3989069"/>
              </a:xfrm>
              <a:prstGeom prst="ellipse">
                <a:avLst/>
              </a:prstGeom>
              <a:solidFill>
                <a:srgbClr val="F8BBD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1 NF</a:t>
                </a:r>
              </a:p>
            </p:txBody>
          </p:sp>
          <p:sp>
            <p:nvSpPr>
              <p:cNvPr id="8" name="Oval 7">
                <a:extLst>
                  <a:ext uri="{FF2B5EF4-FFF2-40B4-BE49-F238E27FC236}">
                    <a16:creationId xmlns:a16="http://schemas.microsoft.com/office/drawing/2014/main" id="{A12A061D-7F08-82B3-0C10-C099B3880C6B}"/>
                  </a:ext>
                </a:extLst>
              </p:cNvPr>
              <p:cNvSpPr/>
              <p:nvPr/>
            </p:nvSpPr>
            <p:spPr>
              <a:xfrm>
                <a:off x="4603032" y="2180434"/>
                <a:ext cx="3388443" cy="3370735"/>
              </a:xfrm>
              <a:prstGeom prst="ellipse">
                <a:avLst/>
              </a:prstGeom>
              <a:solidFill>
                <a:srgbClr val="F1CE9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1 NF</a:t>
                </a:r>
              </a:p>
            </p:txBody>
          </p:sp>
          <p:sp>
            <p:nvSpPr>
              <p:cNvPr id="10" name="Oval 9">
                <a:extLst>
                  <a:ext uri="{FF2B5EF4-FFF2-40B4-BE49-F238E27FC236}">
                    <a16:creationId xmlns:a16="http://schemas.microsoft.com/office/drawing/2014/main" id="{CC3BAA32-4478-7C7C-BD7C-2019EDB2DAFC}"/>
                  </a:ext>
                </a:extLst>
              </p:cNvPr>
              <p:cNvSpPr/>
              <p:nvPr/>
            </p:nvSpPr>
            <p:spPr>
              <a:xfrm>
                <a:off x="4894368" y="2760062"/>
                <a:ext cx="2805770" cy="2791107"/>
              </a:xfrm>
              <a:prstGeom prst="ellipse">
                <a:avLst/>
              </a:prstGeom>
              <a:solidFill>
                <a:srgbClr val="AEDC9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1 NF</a:t>
                </a:r>
              </a:p>
            </p:txBody>
          </p:sp>
          <p:sp>
            <p:nvSpPr>
              <p:cNvPr id="12" name="Oval 11">
                <a:extLst>
                  <a:ext uri="{FF2B5EF4-FFF2-40B4-BE49-F238E27FC236}">
                    <a16:creationId xmlns:a16="http://schemas.microsoft.com/office/drawing/2014/main" id="{EC6E08DA-8A76-F954-5F2B-2E9C1A4A657D}"/>
                  </a:ext>
                </a:extLst>
              </p:cNvPr>
              <p:cNvSpPr/>
              <p:nvPr/>
            </p:nvSpPr>
            <p:spPr>
              <a:xfrm>
                <a:off x="5157492" y="3283560"/>
                <a:ext cx="2279522" cy="2267609"/>
              </a:xfrm>
              <a:prstGeom prst="ellipse">
                <a:avLst/>
              </a:prstGeom>
              <a:solidFill>
                <a:srgbClr val="D0CFE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1 NF</a:t>
                </a:r>
              </a:p>
            </p:txBody>
          </p:sp>
          <p:sp>
            <p:nvSpPr>
              <p:cNvPr id="14" name="Oval 13">
                <a:extLst>
                  <a:ext uri="{FF2B5EF4-FFF2-40B4-BE49-F238E27FC236}">
                    <a16:creationId xmlns:a16="http://schemas.microsoft.com/office/drawing/2014/main" id="{1B702001-826C-F015-305F-D07562DAECA7}"/>
                  </a:ext>
                </a:extLst>
              </p:cNvPr>
              <p:cNvSpPr/>
              <p:nvPr/>
            </p:nvSpPr>
            <p:spPr>
              <a:xfrm>
                <a:off x="5370799" y="3707944"/>
                <a:ext cx="1852908" cy="1843225"/>
              </a:xfrm>
              <a:prstGeom prst="ellipse">
                <a:avLst/>
              </a:prstGeom>
              <a:solidFill>
                <a:srgbClr val="FFE06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1 NF</a:t>
                </a:r>
              </a:p>
            </p:txBody>
          </p:sp>
          <p:sp>
            <p:nvSpPr>
              <p:cNvPr id="16" name="Oval 15">
                <a:extLst>
                  <a:ext uri="{FF2B5EF4-FFF2-40B4-BE49-F238E27FC236}">
                    <a16:creationId xmlns:a16="http://schemas.microsoft.com/office/drawing/2014/main" id="{1D7747A3-2239-B843-B528-428A2B270F7A}"/>
                  </a:ext>
                </a:extLst>
              </p:cNvPr>
              <p:cNvSpPr/>
              <p:nvPr/>
            </p:nvSpPr>
            <p:spPr>
              <a:xfrm>
                <a:off x="5666387" y="4289670"/>
                <a:ext cx="1268126" cy="1261499"/>
              </a:xfrm>
              <a:prstGeom prst="ellipse">
                <a:avLst/>
              </a:prstGeom>
              <a:solidFill>
                <a:srgbClr val="C5D9F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p>
            </p:txBody>
          </p:sp>
        </p:grpSp>
        <p:sp>
          <p:nvSpPr>
            <p:cNvPr id="17" name="TextBox 16">
              <a:extLst>
                <a:ext uri="{FF2B5EF4-FFF2-40B4-BE49-F238E27FC236}">
                  <a16:creationId xmlns:a16="http://schemas.microsoft.com/office/drawing/2014/main" id="{6BBFB2CC-4C4C-8F84-6D0A-1FB30CA156C0}"/>
                </a:ext>
              </a:extLst>
            </p:cNvPr>
            <p:cNvSpPr txBox="1"/>
            <p:nvPr/>
          </p:nvSpPr>
          <p:spPr>
            <a:xfrm>
              <a:off x="6018971" y="1704905"/>
              <a:ext cx="556563" cy="369332"/>
            </a:xfrm>
            <a:prstGeom prst="rect">
              <a:avLst/>
            </a:prstGeom>
            <a:noFill/>
          </p:spPr>
          <p:txBody>
            <a:bodyPr wrap="none" rtlCol="0">
              <a:spAutoFit/>
            </a:bodyPr>
            <a:lstStyle/>
            <a:p>
              <a:r>
                <a:rPr lang="en-US" dirty="0"/>
                <a:t>1NF</a:t>
              </a:r>
            </a:p>
          </p:txBody>
        </p:sp>
        <p:sp>
          <p:nvSpPr>
            <p:cNvPr id="19" name="TextBox 18">
              <a:extLst>
                <a:ext uri="{FF2B5EF4-FFF2-40B4-BE49-F238E27FC236}">
                  <a16:creationId xmlns:a16="http://schemas.microsoft.com/office/drawing/2014/main" id="{415D9C46-FD94-DDB0-5F95-527698E060A8}"/>
                </a:ext>
              </a:extLst>
            </p:cNvPr>
            <p:cNvSpPr txBox="1"/>
            <p:nvPr/>
          </p:nvSpPr>
          <p:spPr>
            <a:xfrm>
              <a:off x="6018971" y="2271717"/>
              <a:ext cx="556563" cy="369332"/>
            </a:xfrm>
            <a:prstGeom prst="rect">
              <a:avLst/>
            </a:prstGeom>
            <a:noFill/>
          </p:spPr>
          <p:txBody>
            <a:bodyPr wrap="none" rtlCol="0">
              <a:spAutoFit/>
            </a:bodyPr>
            <a:lstStyle/>
            <a:p>
              <a:r>
                <a:rPr lang="en-US" dirty="0"/>
                <a:t>2NF</a:t>
              </a:r>
            </a:p>
          </p:txBody>
        </p:sp>
        <p:sp>
          <p:nvSpPr>
            <p:cNvPr id="21" name="TextBox 20">
              <a:extLst>
                <a:ext uri="{FF2B5EF4-FFF2-40B4-BE49-F238E27FC236}">
                  <a16:creationId xmlns:a16="http://schemas.microsoft.com/office/drawing/2014/main" id="{F3646C3D-672C-8E92-A088-204A1E1EA1D7}"/>
                </a:ext>
              </a:extLst>
            </p:cNvPr>
            <p:cNvSpPr txBox="1"/>
            <p:nvPr/>
          </p:nvSpPr>
          <p:spPr>
            <a:xfrm>
              <a:off x="6018971" y="2788967"/>
              <a:ext cx="556563" cy="369332"/>
            </a:xfrm>
            <a:prstGeom prst="rect">
              <a:avLst/>
            </a:prstGeom>
            <a:noFill/>
          </p:spPr>
          <p:txBody>
            <a:bodyPr wrap="none" rtlCol="0">
              <a:spAutoFit/>
            </a:bodyPr>
            <a:lstStyle/>
            <a:p>
              <a:r>
                <a:rPr lang="en-US" dirty="0"/>
                <a:t>3NF</a:t>
              </a:r>
            </a:p>
          </p:txBody>
        </p:sp>
        <p:sp>
          <p:nvSpPr>
            <p:cNvPr id="23" name="TextBox 22">
              <a:extLst>
                <a:ext uri="{FF2B5EF4-FFF2-40B4-BE49-F238E27FC236}">
                  <a16:creationId xmlns:a16="http://schemas.microsoft.com/office/drawing/2014/main" id="{DB87E423-78F4-0BAA-4306-F5AD1B2CA92A}"/>
                </a:ext>
              </a:extLst>
            </p:cNvPr>
            <p:cNvSpPr txBox="1"/>
            <p:nvPr/>
          </p:nvSpPr>
          <p:spPr>
            <a:xfrm>
              <a:off x="6018971" y="3355779"/>
              <a:ext cx="688009" cy="369332"/>
            </a:xfrm>
            <a:prstGeom prst="rect">
              <a:avLst/>
            </a:prstGeom>
            <a:noFill/>
          </p:spPr>
          <p:txBody>
            <a:bodyPr wrap="none" rtlCol="0">
              <a:spAutoFit/>
            </a:bodyPr>
            <a:lstStyle/>
            <a:p>
              <a:r>
                <a:rPr lang="en-US" dirty="0"/>
                <a:t>BCNF</a:t>
              </a:r>
            </a:p>
          </p:txBody>
        </p:sp>
        <p:sp>
          <p:nvSpPr>
            <p:cNvPr id="25" name="TextBox 24">
              <a:extLst>
                <a:ext uri="{FF2B5EF4-FFF2-40B4-BE49-F238E27FC236}">
                  <a16:creationId xmlns:a16="http://schemas.microsoft.com/office/drawing/2014/main" id="{87C0DED1-551F-28B7-9A7C-0E1F2117E25E}"/>
                </a:ext>
              </a:extLst>
            </p:cNvPr>
            <p:cNvSpPr txBox="1"/>
            <p:nvPr/>
          </p:nvSpPr>
          <p:spPr>
            <a:xfrm>
              <a:off x="6018971" y="3831308"/>
              <a:ext cx="556563" cy="369332"/>
            </a:xfrm>
            <a:prstGeom prst="rect">
              <a:avLst/>
            </a:prstGeom>
            <a:noFill/>
          </p:spPr>
          <p:txBody>
            <a:bodyPr wrap="none" rtlCol="0">
              <a:spAutoFit/>
            </a:bodyPr>
            <a:lstStyle/>
            <a:p>
              <a:r>
                <a:rPr lang="en-US" dirty="0"/>
                <a:t>4NF</a:t>
              </a:r>
            </a:p>
          </p:txBody>
        </p:sp>
        <p:sp>
          <p:nvSpPr>
            <p:cNvPr id="27" name="TextBox 26">
              <a:extLst>
                <a:ext uri="{FF2B5EF4-FFF2-40B4-BE49-F238E27FC236}">
                  <a16:creationId xmlns:a16="http://schemas.microsoft.com/office/drawing/2014/main" id="{466906A8-F492-7C40-64E0-308952B3246F}"/>
                </a:ext>
              </a:extLst>
            </p:cNvPr>
            <p:cNvSpPr txBox="1"/>
            <p:nvPr/>
          </p:nvSpPr>
          <p:spPr>
            <a:xfrm>
              <a:off x="6018971" y="4398120"/>
              <a:ext cx="556563" cy="369332"/>
            </a:xfrm>
            <a:prstGeom prst="rect">
              <a:avLst/>
            </a:prstGeom>
            <a:noFill/>
          </p:spPr>
          <p:txBody>
            <a:bodyPr wrap="none" rtlCol="0">
              <a:spAutoFit/>
            </a:bodyPr>
            <a:lstStyle/>
            <a:p>
              <a:r>
                <a:rPr lang="en-US" dirty="0"/>
                <a:t>5NF</a:t>
              </a:r>
            </a:p>
          </p:txBody>
        </p:sp>
      </p:grpSp>
    </p:spTree>
    <p:extLst>
      <p:ext uri="{BB962C8B-B14F-4D97-AF65-F5344CB8AC3E}">
        <p14:creationId xmlns:p14="http://schemas.microsoft.com/office/powerpoint/2010/main" val="7968378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E8926-A034-959C-D324-D63482AEA21B}"/>
              </a:ext>
            </a:extLst>
          </p:cNvPr>
          <p:cNvSpPr>
            <a:spLocks noGrp="1"/>
          </p:cNvSpPr>
          <p:nvPr>
            <p:ph type="title"/>
          </p:nvPr>
        </p:nvSpPr>
        <p:spPr/>
        <p:txBody>
          <a:bodyPr/>
          <a:lstStyle/>
          <a:p>
            <a:r>
              <a:rPr lang="en-US" dirty="0"/>
              <a:t>Normalization Using a Single Example</a:t>
            </a:r>
          </a:p>
        </p:txBody>
      </p:sp>
      <p:sp>
        <p:nvSpPr>
          <p:cNvPr id="10" name="Content Placeholder 9">
            <a:extLst>
              <a:ext uri="{FF2B5EF4-FFF2-40B4-BE49-F238E27FC236}">
                <a16:creationId xmlns:a16="http://schemas.microsoft.com/office/drawing/2014/main" id="{9BAF9CE1-AEE1-C2EF-9713-2F1487C9BB14}"/>
              </a:ext>
            </a:extLst>
          </p:cNvPr>
          <p:cNvSpPr>
            <a:spLocks noGrp="1"/>
          </p:cNvSpPr>
          <p:nvPr>
            <p:ph idx="1"/>
          </p:nvPr>
        </p:nvSpPr>
        <p:spPr/>
        <p:txBody>
          <a:bodyPr/>
          <a:lstStyle/>
          <a:p>
            <a:r>
              <a:rPr lang="en-US" dirty="0"/>
              <a:t>Suppose a college stores student enrollment information as follows.</a:t>
            </a:r>
          </a:p>
          <a:p>
            <a:r>
              <a:rPr lang="en-US" dirty="0"/>
              <a:t>Problems:</a:t>
            </a:r>
          </a:p>
          <a:p>
            <a:pPr lvl="1"/>
            <a:r>
              <a:rPr lang="en-US" dirty="0"/>
              <a:t>Multiple values in one column. </a:t>
            </a:r>
          </a:p>
          <a:p>
            <a:pPr lvl="1"/>
            <a:r>
              <a:rPr lang="en-US" dirty="0"/>
              <a:t>Repeating groups. </a:t>
            </a:r>
          </a:p>
          <a:p>
            <a:pPr lvl="1"/>
            <a:r>
              <a:rPr lang="en-US" dirty="0"/>
              <a:t>Difficult to query.</a:t>
            </a:r>
          </a:p>
          <a:p>
            <a:endParaRPr lang="en-US" dirty="0"/>
          </a:p>
        </p:txBody>
      </p:sp>
      <p:graphicFrame>
        <p:nvGraphicFramePr>
          <p:cNvPr id="11" name="Table 10">
            <a:extLst>
              <a:ext uri="{FF2B5EF4-FFF2-40B4-BE49-F238E27FC236}">
                <a16:creationId xmlns:a16="http://schemas.microsoft.com/office/drawing/2014/main" id="{069B5BE5-D3B0-A61C-AE20-144AE4136B67}"/>
              </a:ext>
            </a:extLst>
          </p:cNvPr>
          <p:cNvGraphicFramePr>
            <a:graphicFrameLocks noGrp="1"/>
          </p:cNvGraphicFramePr>
          <p:nvPr>
            <p:extLst>
              <p:ext uri="{D42A27DB-BD31-4B8C-83A1-F6EECF244321}">
                <p14:modId xmlns:p14="http://schemas.microsoft.com/office/powerpoint/2010/main" val="3277391466"/>
              </p:ext>
            </p:extLst>
          </p:nvPr>
        </p:nvGraphicFramePr>
        <p:xfrm>
          <a:off x="1477011" y="3822701"/>
          <a:ext cx="9237977" cy="2046393"/>
        </p:xfrm>
        <a:graphic>
          <a:graphicData uri="http://schemas.openxmlformats.org/drawingml/2006/table">
            <a:tbl>
              <a:tblPr firstRow="1" bandRow="1">
                <a:tableStyleId>{5C22544A-7EE6-4342-B048-85BDC9FD1C3A}</a:tableStyleId>
              </a:tblPr>
              <a:tblGrid>
                <a:gridCol w="1319711">
                  <a:extLst>
                    <a:ext uri="{9D8B030D-6E8A-4147-A177-3AD203B41FA5}">
                      <a16:colId xmlns:a16="http://schemas.microsoft.com/office/drawing/2014/main" val="2472051736"/>
                    </a:ext>
                  </a:extLst>
                </a:gridCol>
                <a:gridCol w="1319711">
                  <a:extLst>
                    <a:ext uri="{9D8B030D-6E8A-4147-A177-3AD203B41FA5}">
                      <a16:colId xmlns:a16="http://schemas.microsoft.com/office/drawing/2014/main" val="1260289800"/>
                    </a:ext>
                  </a:extLst>
                </a:gridCol>
                <a:gridCol w="1319711">
                  <a:extLst>
                    <a:ext uri="{9D8B030D-6E8A-4147-A177-3AD203B41FA5}">
                      <a16:colId xmlns:a16="http://schemas.microsoft.com/office/drawing/2014/main" val="17455938"/>
                    </a:ext>
                  </a:extLst>
                </a:gridCol>
                <a:gridCol w="1319711">
                  <a:extLst>
                    <a:ext uri="{9D8B030D-6E8A-4147-A177-3AD203B41FA5}">
                      <a16:colId xmlns:a16="http://schemas.microsoft.com/office/drawing/2014/main" val="1334081319"/>
                    </a:ext>
                  </a:extLst>
                </a:gridCol>
                <a:gridCol w="1319711">
                  <a:extLst>
                    <a:ext uri="{9D8B030D-6E8A-4147-A177-3AD203B41FA5}">
                      <a16:colId xmlns:a16="http://schemas.microsoft.com/office/drawing/2014/main" val="3056668033"/>
                    </a:ext>
                  </a:extLst>
                </a:gridCol>
                <a:gridCol w="1319711">
                  <a:extLst>
                    <a:ext uri="{9D8B030D-6E8A-4147-A177-3AD203B41FA5}">
                      <a16:colId xmlns:a16="http://schemas.microsoft.com/office/drawing/2014/main" val="911484349"/>
                    </a:ext>
                  </a:extLst>
                </a:gridCol>
                <a:gridCol w="1319711">
                  <a:extLst>
                    <a:ext uri="{9D8B030D-6E8A-4147-A177-3AD203B41FA5}">
                      <a16:colId xmlns:a16="http://schemas.microsoft.com/office/drawing/2014/main" val="1169031559"/>
                    </a:ext>
                  </a:extLst>
                </a:gridCol>
              </a:tblGrid>
              <a:tr h="682131">
                <a:tc>
                  <a:txBody>
                    <a:bodyPr/>
                    <a:lstStyle/>
                    <a:p>
                      <a:pPr>
                        <a:buNone/>
                      </a:pPr>
                      <a:r>
                        <a:rPr lang="en-US" dirty="0" err="1"/>
                        <a:t>Student_ID</a:t>
                      </a:r>
                      <a:endParaRPr lang="en-US" dirty="0"/>
                    </a:p>
                  </a:txBody>
                  <a:tcPr anchor="ctr"/>
                </a:tc>
                <a:tc>
                  <a:txBody>
                    <a:bodyPr/>
                    <a:lstStyle/>
                    <a:p>
                      <a:pPr>
                        <a:buNone/>
                      </a:pPr>
                      <a:r>
                        <a:rPr lang="en-US"/>
                        <a:t>Student_Name</a:t>
                      </a:r>
                    </a:p>
                  </a:txBody>
                  <a:tcPr anchor="ctr"/>
                </a:tc>
                <a:tc>
                  <a:txBody>
                    <a:bodyPr/>
                    <a:lstStyle/>
                    <a:p>
                      <a:pPr>
                        <a:buNone/>
                      </a:pPr>
                      <a:r>
                        <a:rPr lang="en-US"/>
                        <a:t>Dept_ID</a:t>
                      </a:r>
                    </a:p>
                  </a:txBody>
                  <a:tcPr anchor="ctr"/>
                </a:tc>
                <a:tc>
                  <a:txBody>
                    <a:bodyPr/>
                    <a:lstStyle/>
                    <a:p>
                      <a:pPr>
                        <a:buNone/>
                      </a:pPr>
                      <a:r>
                        <a:rPr lang="en-US"/>
                        <a:t>Dept_Name</a:t>
                      </a:r>
                    </a:p>
                  </a:txBody>
                  <a:tcPr anchor="ctr"/>
                </a:tc>
                <a:tc>
                  <a:txBody>
                    <a:bodyPr/>
                    <a:lstStyle/>
                    <a:p>
                      <a:pPr>
                        <a:buNone/>
                      </a:pPr>
                      <a:r>
                        <a:rPr lang="en-US"/>
                        <a:t>Subjects</a:t>
                      </a:r>
                    </a:p>
                  </a:txBody>
                  <a:tcPr anchor="ctr"/>
                </a:tc>
                <a:tc>
                  <a:txBody>
                    <a:bodyPr/>
                    <a:lstStyle/>
                    <a:p>
                      <a:pPr>
                        <a:buNone/>
                      </a:pPr>
                      <a:r>
                        <a:rPr lang="en-US" dirty="0"/>
                        <a:t>Teachers</a:t>
                      </a:r>
                    </a:p>
                  </a:txBody>
                  <a:tcPr anchor="ctr"/>
                </a:tc>
                <a:tc>
                  <a:txBody>
                    <a:bodyPr/>
                    <a:lstStyle/>
                    <a:p>
                      <a:pPr>
                        <a:buNone/>
                      </a:pPr>
                      <a:r>
                        <a:rPr lang="en-US" dirty="0"/>
                        <a:t>Languages</a:t>
                      </a:r>
                    </a:p>
                  </a:txBody>
                  <a:tcPr anchor="ctr"/>
                </a:tc>
                <a:extLst>
                  <a:ext uri="{0D108BD9-81ED-4DB2-BD59-A6C34878D82A}">
                    <a16:rowId xmlns:a16="http://schemas.microsoft.com/office/drawing/2014/main" val="1551360946"/>
                  </a:ext>
                </a:extLst>
              </a:tr>
              <a:tr h="682131">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dirty="0"/>
                        <a:t>D1</a:t>
                      </a:r>
                    </a:p>
                  </a:txBody>
                  <a:tcPr anchor="ctr"/>
                </a:tc>
                <a:tc>
                  <a:txBody>
                    <a:bodyPr/>
                    <a:lstStyle/>
                    <a:p>
                      <a:pPr>
                        <a:buNone/>
                      </a:pPr>
                      <a:r>
                        <a:rPr lang="en-US"/>
                        <a:t>Computer</a:t>
                      </a:r>
                    </a:p>
                  </a:txBody>
                  <a:tcPr anchor="ctr"/>
                </a:tc>
                <a:tc>
                  <a:txBody>
                    <a:bodyPr/>
                    <a:lstStyle/>
                    <a:p>
                      <a:pPr>
                        <a:buNone/>
                      </a:pPr>
                      <a:r>
                        <a:rPr lang="en-US" dirty="0"/>
                        <a:t>DBMS, Java</a:t>
                      </a:r>
                    </a:p>
                  </a:txBody>
                  <a:tcPr anchor="ctr"/>
                </a:tc>
                <a:tc>
                  <a:txBody>
                    <a:bodyPr/>
                    <a:lstStyle/>
                    <a:p>
                      <a:pPr>
                        <a:buNone/>
                      </a:pPr>
                      <a:r>
                        <a:rPr lang="en-US" dirty="0"/>
                        <a:t>Kapil, Sunil</a:t>
                      </a:r>
                    </a:p>
                  </a:txBody>
                  <a:tcPr anchor="ctr"/>
                </a:tc>
                <a:tc>
                  <a:txBody>
                    <a:bodyPr/>
                    <a:lstStyle/>
                    <a:p>
                      <a:pPr>
                        <a:buNone/>
                      </a:pPr>
                      <a:r>
                        <a:rPr lang="en-US" dirty="0"/>
                        <a:t>English, Nepali</a:t>
                      </a:r>
                    </a:p>
                  </a:txBody>
                  <a:tcPr anchor="ctr"/>
                </a:tc>
                <a:extLst>
                  <a:ext uri="{0D108BD9-81ED-4DB2-BD59-A6C34878D82A}">
                    <a16:rowId xmlns:a16="http://schemas.microsoft.com/office/drawing/2014/main" val="2971012374"/>
                  </a:ext>
                </a:extLst>
              </a:tr>
              <a:tr h="682131">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a:t>D2</a:t>
                      </a:r>
                    </a:p>
                  </a:txBody>
                  <a:tcPr anchor="ctr"/>
                </a:tc>
                <a:tc>
                  <a:txBody>
                    <a:bodyPr/>
                    <a:lstStyle/>
                    <a:p>
                      <a:pPr>
                        <a:buNone/>
                      </a:pPr>
                      <a:r>
                        <a:rPr lang="en-US"/>
                        <a:t>Civil</a:t>
                      </a:r>
                    </a:p>
                  </a:txBody>
                  <a:tcPr anchor="ctr"/>
                </a:tc>
                <a:tc>
                  <a:txBody>
                    <a:bodyPr/>
                    <a:lstStyle/>
                    <a:p>
                      <a:pPr>
                        <a:buNone/>
                      </a:pPr>
                      <a:r>
                        <a:rPr lang="en-US" dirty="0"/>
                        <a:t>DBMS, SE</a:t>
                      </a:r>
                    </a:p>
                  </a:txBody>
                  <a:tcPr anchor="ctr"/>
                </a:tc>
                <a:tc>
                  <a:txBody>
                    <a:bodyPr/>
                    <a:lstStyle/>
                    <a:p>
                      <a:pPr>
                        <a:buNone/>
                      </a:pPr>
                      <a:r>
                        <a:rPr lang="en-US" dirty="0"/>
                        <a:t>Kapil, Harendra</a:t>
                      </a:r>
                    </a:p>
                  </a:txBody>
                  <a:tcPr anchor="ctr"/>
                </a:tc>
                <a:tc>
                  <a:txBody>
                    <a:bodyPr/>
                    <a:lstStyle/>
                    <a:p>
                      <a:pPr>
                        <a:buNone/>
                      </a:pPr>
                      <a:r>
                        <a:rPr lang="en-US" dirty="0"/>
                        <a:t>English</a:t>
                      </a:r>
                    </a:p>
                  </a:txBody>
                  <a:tcPr anchor="ctr"/>
                </a:tc>
                <a:extLst>
                  <a:ext uri="{0D108BD9-81ED-4DB2-BD59-A6C34878D82A}">
                    <a16:rowId xmlns:a16="http://schemas.microsoft.com/office/drawing/2014/main" val="4126026316"/>
                  </a:ext>
                </a:extLst>
              </a:tr>
            </a:tbl>
          </a:graphicData>
        </a:graphic>
      </p:graphicFrame>
      <p:sp>
        <p:nvSpPr>
          <p:cNvPr id="13" name="TextBox 12">
            <a:extLst>
              <a:ext uri="{FF2B5EF4-FFF2-40B4-BE49-F238E27FC236}">
                <a16:creationId xmlns:a16="http://schemas.microsoft.com/office/drawing/2014/main" id="{F1932E6C-30ED-9F6D-DC9D-4DF72DFFDC67}"/>
              </a:ext>
            </a:extLst>
          </p:cNvPr>
          <p:cNvSpPr txBox="1"/>
          <p:nvPr/>
        </p:nvSpPr>
        <p:spPr>
          <a:xfrm>
            <a:off x="6096000" y="3344995"/>
            <a:ext cx="3286125" cy="369332"/>
          </a:xfrm>
          <a:prstGeom prst="rect">
            <a:avLst/>
          </a:prstGeom>
          <a:noFill/>
        </p:spPr>
        <p:txBody>
          <a:bodyPr wrap="square">
            <a:spAutoFit/>
          </a:bodyPr>
          <a:lstStyle/>
          <a:p>
            <a:r>
              <a:rPr lang="en-US" dirty="0"/>
              <a:t>UNF (Unnormalized Form)</a:t>
            </a:r>
          </a:p>
        </p:txBody>
      </p:sp>
    </p:spTree>
    <p:extLst>
      <p:ext uri="{BB962C8B-B14F-4D97-AF65-F5344CB8AC3E}">
        <p14:creationId xmlns:p14="http://schemas.microsoft.com/office/powerpoint/2010/main" val="24588380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437D1-3B8A-0FFE-F00F-6FA248B8196B}"/>
              </a:ext>
            </a:extLst>
          </p:cNvPr>
          <p:cNvSpPr>
            <a:spLocks noGrp="1"/>
          </p:cNvSpPr>
          <p:nvPr>
            <p:ph type="title"/>
          </p:nvPr>
        </p:nvSpPr>
        <p:spPr/>
        <p:txBody>
          <a:bodyPr/>
          <a:lstStyle/>
          <a:p>
            <a:r>
              <a:rPr lang="en-US" dirty="0"/>
              <a:t>First Normal Form </a:t>
            </a:r>
          </a:p>
        </p:txBody>
      </p:sp>
      <p:sp>
        <p:nvSpPr>
          <p:cNvPr id="3" name="Content Placeholder 2">
            <a:extLst>
              <a:ext uri="{FF2B5EF4-FFF2-40B4-BE49-F238E27FC236}">
                <a16:creationId xmlns:a16="http://schemas.microsoft.com/office/drawing/2014/main" id="{B25E9BBC-E12E-0736-4611-B43C4CBD9292}"/>
              </a:ext>
            </a:extLst>
          </p:cNvPr>
          <p:cNvSpPr>
            <a:spLocks noGrp="1"/>
          </p:cNvSpPr>
          <p:nvPr>
            <p:ph idx="1"/>
          </p:nvPr>
        </p:nvSpPr>
        <p:spPr>
          <a:xfrm>
            <a:off x="228600" y="1845734"/>
            <a:ext cx="7406640" cy="4440766"/>
          </a:xfrm>
        </p:spPr>
        <p:txBody>
          <a:bodyPr>
            <a:normAutofit lnSpcReduction="10000"/>
          </a:bodyPr>
          <a:lstStyle/>
          <a:p>
            <a:r>
              <a:rPr lang="en-US" b="1" dirty="0"/>
              <a:t>Rule: </a:t>
            </a:r>
            <a:r>
              <a:rPr lang="en-US" b="1" u="sng" dirty="0"/>
              <a:t>Every cell must contain atomic (indivisible)</a:t>
            </a:r>
            <a:r>
              <a:rPr lang="en-US" u="sng" dirty="0"/>
              <a:t> </a:t>
            </a:r>
            <a:r>
              <a:rPr lang="en-US" b="1" u="sng" dirty="0"/>
              <a:t>values.</a:t>
            </a:r>
          </a:p>
          <a:p>
            <a:r>
              <a:rPr lang="en-US" dirty="0"/>
              <a:t>Convert Multi-valued Attributes into Separate Rows:</a:t>
            </a:r>
          </a:p>
          <a:p>
            <a:r>
              <a:rPr lang="en-US" dirty="0"/>
              <a:t>Problems:</a:t>
            </a:r>
          </a:p>
          <a:p>
            <a:pPr lvl="1"/>
            <a:r>
              <a:rPr lang="en-US" dirty="0"/>
              <a:t>Since no single attribute uniquely </a:t>
            </a:r>
          </a:p>
          <a:p>
            <a:pPr marL="201168" lvl="1" indent="0">
              <a:buNone/>
            </a:pPr>
            <a:r>
              <a:rPr lang="en-US" dirty="0"/>
              <a:t>identifies a row.</a:t>
            </a:r>
          </a:p>
          <a:p>
            <a:pPr lvl="1"/>
            <a:r>
              <a:rPr lang="en-US" dirty="0"/>
              <a:t>Many attributes depend on only </a:t>
            </a:r>
          </a:p>
          <a:p>
            <a:pPr marL="201168" lvl="1" indent="0">
              <a:buNone/>
            </a:pPr>
            <a:r>
              <a:rPr lang="en-US" dirty="0"/>
              <a:t>part of the composite </a:t>
            </a:r>
          </a:p>
          <a:p>
            <a:pPr marL="201168" lvl="1" indent="0">
              <a:buNone/>
            </a:pPr>
            <a:r>
              <a:rPr lang="en-US" dirty="0"/>
              <a:t>    key.</a:t>
            </a:r>
          </a:p>
          <a:p>
            <a:r>
              <a:rPr lang="en-US" b="1" dirty="0"/>
              <a:t>Candidate Key</a:t>
            </a:r>
          </a:p>
          <a:p>
            <a:pPr lvl="1"/>
            <a:r>
              <a:rPr lang="en-US" dirty="0"/>
              <a:t>(</a:t>
            </a:r>
            <a:r>
              <a:rPr lang="en-US" dirty="0" err="1"/>
              <a:t>Stu_ID</a:t>
            </a:r>
            <a:r>
              <a:rPr lang="en-US" dirty="0"/>
              <a:t>, Subject, Language)</a:t>
            </a:r>
          </a:p>
          <a:p>
            <a:r>
              <a:rPr lang="en-US" dirty="0"/>
              <a:t>Since no single attribute uniquely </a:t>
            </a:r>
          </a:p>
          <a:p>
            <a:pPr marL="201168" lvl="1" indent="0">
              <a:buNone/>
            </a:pPr>
            <a:r>
              <a:rPr lang="en-US" dirty="0"/>
              <a:t>identifies a row.</a:t>
            </a:r>
          </a:p>
          <a:p>
            <a:pPr marL="201168" lvl="1" indent="0">
              <a:buNone/>
            </a:pPr>
            <a:endParaRPr lang="en-US" dirty="0"/>
          </a:p>
        </p:txBody>
      </p:sp>
      <p:graphicFrame>
        <p:nvGraphicFramePr>
          <p:cNvPr id="4" name="Table 3">
            <a:extLst>
              <a:ext uri="{FF2B5EF4-FFF2-40B4-BE49-F238E27FC236}">
                <a16:creationId xmlns:a16="http://schemas.microsoft.com/office/drawing/2014/main" id="{412B385F-BC96-7F55-1104-9F148DDDC623}"/>
              </a:ext>
            </a:extLst>
          </p:cNvPr>
          <p:cNvGraphicFramePr>
            <a:graphicFrameLocks noGrp="1"/>
          </p:cNvGraphicFramePr>
          <p:nvPr>
            <p:extLst>
              <p:ext uri="{D42A27DB-BD31-4B8C-83A1-F6EECF244321}">
                <p14:modId xmlns:p14="http://schemas.microsoft.com/office/powerpoint/2010/main" val="3636339233"/>
              </p:ext>
            </p:extLst>
          </p:nvPr>
        </p:nvGraphicFramePr>
        <p:xfrm>
          <a:off x="4206240" y="2743198"/>
          <a:ext cx="7985761" cy="3125896"/>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412094001"/>
                    </a:ext>
                  </a:extLst>
                </a:gridCol>
                <a:gridCol w="1234440">
                  <a:extLst>
                    <a:ext uri="{9D8B030D-6E8A-4147-A177-3AD203B41FA5}">
                      <a16:colId xmlns:a16="http://schemas.microsoft.com/office/drawing/2014/main" val="1956113474"/>
                    </a:ext>
                  </a:extLst>
                </a:gridCol>
                <a:gridCol w="1051560">
                  <a:extLst>
                    <a:ext uri="{9D8B030D-6E8A-4147-A177-3AD203B41FA5}">
                      <a16:colId xmlns:a16="http://schemas.microsoft.com/office/drawing/2014/main" val="2124318725"/>
                    </a:ext>
                  </a:extLst>
                </a:gridCol>
                <a:gridCol w="1408612">
                  <a:extLst>
                    <a:ext uri="{9D8B030D-6E8A-4147-A177-3AD203B41FA5}">
                      <a16:colId xmlns:a16="http://schemas.microsoft.com/office/drawing/2014/main" val="4144746392"/>
                    </a:ext>
                  </a:extLst>
                </a:gridCol>
                <a:gridCol w="1140823">
                  <a:extLst>
                    <a:ext uri="{9D8B030D-6E8A-4147-A177-3AD203B41FA5}">
                      <a16:colId xmlns:a16="http://schemas.microsoft.com/office/drawing/2014/main" val="2821728353"/>
                    </a:ext>
                  </a:extLst>
                </a:gridCol>
                <a:gridCol w="1140823">
                  <a:extLst>
                    <a:ext uri="{9D8B030D-6E8A-4147-A177-3AD203B41FA5}">
                      <a16:colId xmlns:a16="http://schemas.microsoft.com/office/drawing/2014/main" val="2843878008"/>
                    </a:ext>
                  </a:extLst>
                </a:gridCol>
                <a:gridCol w="1140823">
                  <a:extLst>
                    <a:ext uri="{9D8B030D-6E8A-4147-A177-3AD203B41FA5}">
                      <a16:colId xmlns:a16="http://schemas.microsoft.com/office/drawing/2014/main" val="39780498"/>
                    </a:ext>
                  </a:extLst>
                </a:gridCol>
              </a:tblGrid>
              <a:tr h="698338">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a:t>Dept_ID</a:t>
                      </a:r>
                    </a:p>
                  </a:txBody>
                  <a:tcPr anchor="ctr"/>
                </a:tc>
                <a:tc>
                  <a:txBody>
                    <a:bodyPr/>
                    <a:lstStyle/>
                    <a:p>
                      <a:pPr>
                        <a:buNone/>
                      </a:pPr>
                      <a:r>
                        <a:rPr lang="en-US"/>
                        <a:t>Dept_Name</a:t>
                      </a:r>
                    </a:p>
                  </a:txBody>
                  <a:tcPr anchor="ctr"/>
                </a:tc>
                <a:tc>
                  <a:txBody>
                    <a:bodyPr/>
                    <a:lstStyle/>
                    <a:p>
                      <a:pPr>
                        <a:buNone/>
                      </a:pPr>
                      <a:r>
                        <a:rPr lang="en-US"/>
                        <a:t>Subject</a:t>
                      </a:r>
                    </a:p>
                  </a:txBody>
                  <a:tcPr anchor="ctr"/>
                </a:tc>
                <a:tc>
                  <a:txBody>
                    <a:bodyPr/>
                    <a:lstStyle/>
                    <a:p>
                      <a:pPr>
                        <a:buNone/>
                      </a:pPr>
                      <a:r>
                        <a:rPr lang="en-US"/>
                        <a:t>Teacher</a:t>
                      </a:r>
                    </a:p>
                  </a:txBody>
                  <a:tcPr anchor="ctr"/>
                </a:tc>
                <a:tc>
                  <a:txBody>
                    <a:bodyPr/>
                    <a:lstStyle/>
                    <a:p>
                      <a:pPr>
                        <a:buNone/>
                      </a:pPr>
                      <a:r>
                        <a:rPr lang="en-US"/>
                        <a:t>Language</a:t>
                      </a:r>
                    </a:p>
                  </a:txBody>
                  <a:tcPr anchor="ctr"/>
                </a:tc>
                <a:extLst>
                  <a:ext uri="{0D108BD9-81ED-4DB2-BD59-A6C34878D82A}">
                    <a16:rowId xmlns:a16="http://schemas.microsoft.com/office/drawing/2014/main" val="1755267605"/>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a:t>Computer</a:t>
                      </a:r>
                    </a:p>
                  </a:txBody>
                  <a:tcPr anchor="ctr"/>
                </a:tc>
                <a:tc>
                  <a:txBody>
                    <a:bodyPr/>
                    <a:lstStyle/>
                    <a:p>
                      <a:pPr>
                        <a:buNone/>
                      </a:pPr>
                      <a:r>
                        <a:rPr lang="en-US"/>
                        <a:t>DBMS</a:t>
                      </a:r>
                    </a:p>
                  </a:txBody>
                  <a:tcPr anchor="ctr"/>
                </a:tc>
                <a:tc>
                  <a:txBody>
                    <a:bodyPr/>
                    <a:lstStyle/>
                    <a:p>
                      <a:pPr>
                        <a:buNone/>
                      </a:pPr>
                      <a:r>
                        <a:rPr lang="en-US"/>
                        <a:t>Sharma</a:t>
                      </a:r>
                    </a:p>
                  </a:txBody>
                  <a:tcPr anchor="ctr"/>
                </a:tc>
                <a:tc>
                  <a:txBody>
                    <a:bodyPr/>
                    <a:lstStyle/>
                    <a:p>
                      <a:pPr>
                        <a:buNone/>
                      </a:pPr>
                      <a:r>
                        <a:rPr lang="en-US" dirty="0"/>
                        <a:t>English</a:t>
                      </a:r>
                    </a:p>
                  </a:txBody>
                  <a:tcPr anchor="ctr"/>
                </a:tc>
                <a:extLst>
                  <a:ext uri="{0D108BD9-81ED-4DB2-BD59-A6C34878D82A}">
                    <a16:rowId xmlns:a16="http://schemas.microsoft.com/office/drawing/2014/main" val="1480247642"/>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dirty="0"/>
                        <a:t>Computer</a:t>
                      </a:r>
                    </a:p>
                  </a:txBody>
                  <a:tcPr anchor="ctr"/>
                </a:tc>
                <a:tc>
                  <a:txBody>
                    <a:bodyPr/>
                    <a:lstStyle/>
                    <a:p>
                      <a:pPr>
                        <a:buNone/>
                      </a:pPr>
                      <a:r>
                        <a:rPr lang="en-US"/>
                        <a:t>DBMS</a:t>
                      </a:r>
                    </a:p>
                  </a:txBody>
                  <a:tcPr anchor="ctr"/>
                </a:tc>
                <a:tc>
                  <a:txBody>
                    <a:bodyPr/>
                    <a:lstStyle/>
                    <a:p>
                      <a:pPr>
                        <a:buNone/>
                      </a:pPr>
                      <a:r>
                        <a:rPr lang="en-US"/>
                        <a:t>Sharma</a:t>
                      </a:r>
                    </a:p>
                  </a:txBody>
                  <a:tcPr anchor="ctr"/>
                </a:tc>
                <a:tc>
                  <a:txBody>
                    <a:bodyPr/>
                    <a:lstStyle/>
                    <a:p>
                      <a:pPr>
                        <a:buNone/>
                      </a:pPr>
                      <a:r>
                        <a:rPr lang="en-US"/>
                        <a:t>Nepali</a:t>
                      </a:r>
                    </a:p>
                  </a:txBody>
                  <a:tcPr anchor="ctr"/>
                </a:tc>
                <a:extLst>
                  <a:ext uri="{0D108BD9-81ED-4DB2-BD59-A6C34878D82A}">
                    <a16:rowId xmlns:a16="http://schemas.microsoft.com/office/drawing/2014/main" val="1639502179"/>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dirty="0"/>
                        <a:t>Computer</a:t>
                      </a:r>
                    </a:p>
                  </a:txBody>
                  <a:tcPr anchor="ctr"/>
                </a:tc>
                <a:tc>
                  <a:txBody>
                    <a:bodyPr/>
                    <a:lstStyle/>
                    <a:p>
                      <a:pPr>
                        <a:buNone/>
                      </a:pPr>
                      <a:r>
                        <a:rPr lang="en-US"/>
                        <a:t>OS</a:t>
                      </a:r>
                    </a:p>
                  </a:txBody>
                  <a:tcPr anchor="ctr"/>
                </a:tc>
                <a:tc>
                  <a:txBody>
                    <a:bodyPr/>
                    <a:lstStyle/>
                    <a:p>
                      <a:pPr>
                        <a:buNone/>
                      </a:pPr>
                      <a:r>
                        <a:rPr lang="en-US"/>
                        <a:t>Verma</a:t>
                      </a:r>
                    </a:p>
                  </a:txBody>
                  <a:tcPr anchor="ctr"/>
                </a:tc>
                <a:tc>
                  <a:txBody>
                    <a:bodyPr/>
                    <a:lstStyle/>
                    <a:p>
                      <a:pPr>
                        <a:buNone/>
                      </a:pPr>
                      <a:r>
                        <a:rPr lang="en-US"/>
                        <a:t>English</a:t>
                      </a:r>
                    </a:p>
                  </a:txBody>
                  <a:tcPr anchor="ctr"/>
                </a:tc>
                <a:extLst>
                  <a:ext uri="{0D108BD9-81ED-4DB2-BD59-A6C34878D82A}">
                    <a16:rowId xmlns:a16="http://schemas.microsoft.com/office/drawing/2014/main" val="4132913392"/>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a:t>Computer</a:t>
                      </a:r>
                    </a:p>
                  </a:txBody>
                  <a:tcPr anchor="ctr"/>
                </a:tc>
                <a:tc>
                  <a:txBody>
                    <a:bodyPr/>
                    <a:lstStyle/>
                    <a:p>
                      <a:pPr>
                        <a:buNone/>
                      </a:pPr>
                      <a:r>
                        <a:rPr lang="en-US"/>
                        <a:t>OS</a:t>
                      </a:r>
                    </a:p>
                  </a:txBody>
                  <a:tcPr anchor="ctr"/>
                </a:tc>
                <a:tc>
                  <a:txBody>
                    <a:bodyPr/>
                    <a:lstStyle/>
                    <a:p>
                      <a:pPr>
                        <a:buNone/>
                      </a:pPr>
                      <a:r>
                        <a:rPr lang="en-US"/>
                        <a:t>Verma</a:t>
                      </a:r>
                    </a:p>
                  </a:txBody>
                  <a:tcPr anchor="ctr"/>
                </a:tc>
                <a:tc>
                  <a:txBody>
                    <a:bodyPr/>
                    <a:lstStyle/>
                    <a:p>
                      <a:pPr>
                        <a:buNone/>
                      </a:pPr>
                      <a:r>
                        <a:rPr lang="en-US"/>
                        <a:t>Nepali</a:t>
                      </a:r>
                    </a:p>
                  </a:txBody>
                  <a:tcPr anchor="ctr"/>
                </a:tc>
                <a:extLst>
                  <a:ext uri="{0D108BD9-81ED-4DB2-BD59-A6C34878D82A}">
                    <a16:rowId xmlns:a16="http://schemas.microsoft.com/office/drawing/2014/main" val="916441623"/>
                  </a:ext>
                </a:extLst>
              </a:tr>
              <a:tr h="404593">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a:t>D2</a:t>
                      </a:r>
                    </a:p>
                  </a:txBody>
                  <a:tcPr anchor="ctr"/>
                </a:tc>
                <a:tc>
                  <a:txBody>
                    <a:bodyPr/>
                    <a:lstStyle/>
                    <a:p>
                      <a:pPr>
                        <a:buNone/>
                      </a:pPr>
                      <a:r>
                        <a:rPr lang="en-US"/>
                        <a:t>Civil</a:t>
                      </a:r>
                    </a:p>
                  </a:txBody>
                  <a:tcPr anchor="ctr"/>
                </a:tc>
                <a:tc>
                  <a:txBody>
                    <a:bodyPr/>
                    <a:lstStyle/>
                    <a:p>
                      <a:pPr>
                        <a:buNone/>
                      </a:pPr>
                      <a:r>
                        <a:rPr lang="en-US"/>
                        <a:t>DBMS</a:t>
                      </a:r>
                    </a:p>
                  </a:txBody>
                  <a:tcPr anchor="ctr"/>
                </a:tc>
                <a:tc>
                  <a:txBody>
                    <a:bodyPr/>
                    <a:lstStyle/>
                    <a:p>
                      <a:pPr>
                        <a:buNone/>
                      </a:pPr>
                      <a:r>
                        <a:rPr lang="en-US"/>
                        <a:t>Sharma</a:t>
                      </a:r>
                    </a:p>
                  </a:txBody>
                  <a:tcPr anchor="ctr"/>
                </a:tc>
                <a:tc>
                  <a:txBody>
                    <a:bodyPr/>
                    <a:lstStyle/>
                    <a:p>
                      <a:pPr>
                        <a:buNone/>
                      </a:pPr>
                      <a:r>
                        <a:rPr lang="en-US"/>
                        <a:t>English</a:t>
                      </a:r>
                    </a:p>
                  </a:txBody>
                  <a:tcPr anchor="ctr"/>
                </a:tc>
                <a:extLst>
                  <a:ext uri="{0D108BD9-81ED-4DB2-BD59-A6C34878D82A}">
                    <a16:rowId xmlns:a16="http://schemas.microsoft.com/office/drawing/2014/main" val="3746001846"/>
                  </a:ext>
                </a:extLst>
              </a:tr>
              <a:tr h="404593">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a:t>D2</a:t>
                      </a:r>
                    </a:p>
                  </a:txBody>
                  <a:tcPr anchor="ctr"/>
                </a:tc>
                <a:tc>
                  <a:txBody>
                    <a:bodyPr/>
                    <a:lstStyle/>
                    <a:p>
                      <a:pPr>
                        <a:buNone/>
                      </a:pPr>
                      <a:r>
                        <a:rPr lang="en-US"/>
                        <a:t>Civil</a:t>
                      </a:r>
                    </a:p>
                  </a:txBody>
                  <a:tcPr anchor="ctr"/>
                </a:tc>
                <a:tc>
                  <a:txBody>
                    <a:bodyPr/>
                    <a:lstStyle/>
                    <a:p>
                      <a:pPr>
                        <a:buNone/>
                      </a:pPr>
                      <a:r>
                        <a:rPr lang="en-US"/>
                        <a:t>CN</a:t>
                      </a:r>
                    </a:p>
                  </a:txBody>
                  <a:tcPr anchor="ctr"/>
                </a:tc>
                <a:tc>
                  <a:txBody>
                    <a:bodyPr/>
                    <a:lstStyle/>
                    <a:p>
                      <a:pPr>
                        <a:buNone/>
                      </a:pPr>
                      <a:r>
                        <a:rPr lang="en-US"/>
                        <a:t>Pant</a:t>
                      </a:r>
                    </a:p>
                  </a:txBody>
                  <a:tcPr anchor="ctr"/>
                </a:tc>
                <a:tc>
                  <a:txBody>
                    <a:bodyPr/>
                    <a:lstStyle/>
                    <a:p>
                      <a:pPr>
                        <a:buNone/>
                      </a:pPr>
                      <a:r>
                        <a:rPr lang="en-US" dirty="0"/>
                        <a:t>English</a:t>
                      </a:r>
                    </a:p>
                  </a:txBody>
                  <a:tcPr anchor="ctr"/>
                </a:tc>
                <a:extLst>
                  <a:ext uri="{0D108BD9-81ED-4DB2-BD59-A6C34878D82A}">
                    <a16:rowId xmlns:a16="http://schemas.microsoft.com/office/drawing/2014/main" val="3668955701"/>
                  </a:ext>
                </a:extLst>
              </a:tr>
            </a:tbl>
          </a:graphicData>
        </a:graphic>
      </p:graphicFrame>
      <p:sp>
        <p:nvSpPr>
          <p:cNvPr id="6" name="TextBox 5">
            <a:extLst>
              <a:ext uri="{FF2B5EF4-FFF2-40B4-BE49-F238E27FC236}">
                <a16:creationId xmlns:a16="http://schemas.microsoft.com/office/drawing/2014/main" id="{9ABC5F7B-24B0-0F56-F136-0534A5E5CA9E}"/>
              </a:ext>
            </a:extLst>
          </p:cNvPr>
          <p:cNvSpPr txBox="1"/>
          <p:nvPr/>
        </p:nvSpPr>
        <p:spPr>
          <a:xfrm>
            <a:off x="8138160" y="1415818"/>
            <a:ext cx="6115050" cy="923330"/>
          </a:xfrm>
          <a:prstGeom prst="rect">
            <a:avLst/>
          </a:prstGeom>
          <a:noFill/>
        </p:spPr>
        <p:txBody>
          <a:bodyPr wrap="square">
            <a:spAutoFit/>
          </a:bodyPr>
          <a:lstStyle/>
          <a:p>
            <a:pPr>
              <a:buNone/>
            </a:pPr>
            <a:r>
              <a:rPr lang="en-US" dirty="0"/>
              <a:t>Now:</a:t>
            </a:r>
          </a:p>
          <a:p>
            <a:pPr>
              <a:buNone/>
            </a:pPr>
            <a:r>
              <a:rPr lang="en-US" dirty="0"/>
              <a:t>✓ No multiple values in one cell</a:t>
            </a:r>
          </a:p>
          <a:p>
            <a:pPr>
              <a:buNone/>
            </a:pPr>
            <a:r>
              <a:rPr lang="en-US" dirty="0"/>
              <a:t>✓ Atomic attributes</a:t>
            </a:r>
          </a:p>
        </p:txBody>
      </p:sp>
    </p:spTree>
    <p:extLst>
      <p:ext uri="{BB962C8B-B14F-4D97-AF65-F5344CB8AC3E}">
        <p14:creationId xmlns:p14="http://schemas.microsoft.com/office/powerpoint/2010/main" val="62220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70AD1-2B9B-6745-66E4-5E3223F7D4E3}"/>
              </a:ext>
            </a:extLst>
          </p:cNvPr>
          <p:cNvSpPr>
            <a:spLocks noGrp="1"/>
          </p:cNvSpPr>
          <p:nvPr>
            <p:ph type="title"/>
          </p:nvPr>
        </p:nvSpPr>
        <p:spPr/>
        <p:txBody>
          <a:bodyPr/>
          <a:lstStyle/>
          <a:p>
            <a:r>
              <a:rPr lang="en-US" dirty="0"/>
              <a:t>Second Normal Form (2NF)</a:t>
            </a:r>
          </a:p>
        </p:txBody>
      </p:sp>
      <p:sp>
        <p:nvSpPr>
          <p:cNvPr id="3" name="Content Placeholder 2">
            <a:extLst>
              <a:ext uri="{FF2B5EF4-FFF2-40B4-BE49-F238E27FC236}">
                <a16:creationId xmlns:a16="http://schemas.microsoft.com/office/drawing/2014/main" id="{2C6674ED-E955-8B1D-CF45-BD93F3748C25}"/>
              </a:ext>
            </a:extLst>
          </p:cNvPr>
          <p:cNvSpPr>
            <a:spLocks noGrp="1"/>
          </p:cNvSpPr>
          <p:nvPr>
            <p:ph idx="1"/>
          </p:nvPr>
        </p:nvSpPr>
        <p:spPr>
          <a:xfrm>
            <a:off x="342898" y="1886369"/>
            <a:ext cx="4137661" cy="4685027"/>
          </a:xfrm>
        </p:spPr>
        <p:txBody>
          <a:bodyPr>
            <a:normAutofit fontScale="92500" lnSpcReduction="10000"/>
          </a:bodyPr>
          <a:lstStyle/>
          <a:p>
            <a:r>
              <a:rPr lang="en-US" b="1" dirty="0"/>
              <a:t>Rule : </a:t>
            </a:r>
          </a:p>
          <a:p>
            <a:pPr lvl="1"/>
            <a:r>
              <a:rPr lang="en-US" dirty="0"/>
              <a:t>Must be in 1NF </a:t>
            </a:r>
          </a:p>
          <a:p>
            <a:pPr lvl="1"/>
            <a:r>
              <a:rPr lang="en-US" dirty="0"/>
              <a:t>Remove Partial Dependencies</a:t>
            </a:r>
          </a:p>
          <a:p>
            <a:r>
              <a:rPr lang="en-US" dirty="0"/>
              <a:t>Identify Partial Dependencies : </a:t>
            </a:r>
          </a:p>
          <a:p>
            <a:r>
              <a:rPr lang="en-US" dirty="0"/>
              <a:t>Current key  =  (</a:t>
            </a:r>
            <a:r>
              <a:rPr lang="en-US" dirty="0" err="1"/>
              <a:t>Student_ID</a:t>
            </a:r>
            <a:r>
              <a:rPr lang="en-US" dirty="0"/>
              <a:t>, Subject, Language)</a:t>
            </a:r>
          </a:p>
          <a:p>
            <a:r>
              <a:rPr lang="en-US" dirty="0"/>
              <a:t>Dependencies: </a:t>
            </a:r>
          </a:p>
          <a:p>
            <a:pPr lvl="1"/>
            <a:r>
              <a:rPr lang="en-US" dirty="0" err="1"/>
              <a:t>Student_ID</a:t>
            </a:r>
            <a:r>
              <a:rPr lang="en-US" dirty="0"/>
              <a:t> → </a:t>
            </a:r>
            <a:r>
              <a:rPr lang="en-US" dirty="0" err="1"/>
              <a:t>Student_Name</a:t>
            </a:r>
            <a:r>
              <a:rPr lang="en-US" dirty="0"/>
              <a:t>, </a:t>
            </a:r>
            <a:r>
              <a:rPr lang="en-US" dirty="0" err="1"/>
              <a:t>Dept_ID</a:t>
            </a:r>
            <a:endParaRPr lang="en-US" dirty="0"/>
          </a:p>
          <a:p>
            <a:pPr lvl="1"/>
            <a:r>
              <a:rPr lang="en-US" dirty="0" err="1"/>
              <a:t>Dept_ID</a:t>
            </a:r>
            <a:r>
              <a:rPr lang="en-US" dirty="0"/>
              <a:t> → </a:t>
            </a:r>
            <a:r>
              <a:rPr lang="en-US" dirty="0" err="1"/>
              <a:t>Dept_Name</a:t>
            </a:r>
            <a:endParaRPr lang="en-US" dirty="0"/>
          </a:p>
          <a:p>
            <a:pPr lvl="1"/>
            <a:r>
              <a:rPr lang="en-US" dirty="0"/>
              <a:t>Subject → Teacher</a:t>
            </a:r>
          </a:p>
          <a:p>
            <a:r>
              <a:rPr lang="en-US" dirty="0"/>
              <a:t> </a:t>
            </a:r>
            <a:r>
              <a:rPr lang="en-US" dirty="0" err="1"/>
              <a:t>Student_Name</a:t>
            </a:r>
            <a:r>
              <a:rPr lang="en-US" dirty="0"/>
              <a:t> depends only on </a:t>
            </a:r>
            <a:r>
              <a:rPr lang="en-US" dirty="0" err="1"/>
              <a:t>Student_ID</a:t>
            </a:r>
            <a:r>
              <a:rPr lang="en-US" dirty="0"/>
              <a:t>.</a:t>
            </a:r>
          </a:p>
          <a:p>
            <a:r>
              <a:rPr lang="en-US" dirty="0"/>
              <a:t>Teacher depends only on Subject. These are partial dependencies.</a:t>
            </a:r>
          </a:p>
          <a:p>
            <a:endParaRPr lang="en-US" dirty="0"/>
          </a:p>
        </p:txBody>
      </p:sp>
      <p:graphicFrame>
        <p:nvGraphicFramePr>
          <p:cNvPr id="4" name="Table 3">
            <a:extLst>
              <a:ext uri="{FF2B5EF4-FFF2-40B4-BE49-F238E27FC236}">
                <a16:creationId xmlns:a16="http://schemas.microsoft.com/office/drawing/2014/main" id="{124F41D5-92A2-6A59-23D8-6A56AAA9CAC9}"/>
              </a:ext>
            </a:extLst>
          </p:cNvPr>
          <p:cNvGraphicFramePr>
            <a:graphicFrameLocks noGrp="1"/>
          </p:cNvGraphicFramePr>
          <p:nvPr>
            <p:extLst>
              <p:ext uri="{D42A27DB-BD31-4B8C-83A1-F6EECF244321}">
                <p14:modId xmlns:p14="http://schemas.microsoft.com/office/powerpoint/2010/main" val="2253576666"/>
              </p:ext>
            </p:extLst>
          </p:nvPr>
        </p:nvGraphicFramePr>
        <p:xfrm>
          <a:off x="4206239" y="1857585"/>
          <a:ext cx="7985761" cy="3125896"/>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412094001"/>
                    </a:ext>
                  </a:extLst>
                </a:gridCol>
                <a:gridCol w="1234440">
                  <a:extLst>
                    <a:ext uri="{9D8B030D-6E8A-4147-A177-3AD203B41FA5}">
                      <a16:colId xmlns:a16="http://schemas.microsoft.com/office/drawing/2014/main" val="1956113474"/>
                    </a:ext>
                  </a:extLst>
                </a:gridCol>
                <a:gridCol w="1051560">
                  <a:extLst>
                    <a:ext uri="{9D8B030D-6E8A-4147-A177-3AD203B41FA5}">
                      <a16:colId xmlns:a16="http://schemas.microsoft.com/office/drawing/2014/main" val="2124318725"/>
                    </a:ext>
                  </a:extLst>
                </a:gridCol>
                <a:gridCol w="1408612">
                  <a:extLst>
                    <a:ext uri="{9D8B030D-6E8A-4147-A177-3AD203B41FA5}">
                      <a16:colId xmlns:a16="http://schemas.microsoft.com/office/drawing/2014/main" val="4144746392"/>
                    </a:ext>
                  </a:extLst>
                </a:gridCol>
                <a:gridCol w="1140823">
                  <a:extLst>
                    <a:ext uri="{9D8B030D-6E8A-4147-A177-3AD203B41FA5}">
                      <a16:colId xmlns:a16="http://schemas.microsoft.com/office/drawing/2014/main" val="2821728353"/>
                    </a:ext>
                  </a:extLst>
                </a:gridCol>
                <a:gridCol w="1140823">
                  <a:extLst>
                    <a:ext uri="{9D8B030D-6E8A-4147-A177-3AD203B41FA5}">
                      <a16:colId xmlns:a16="http://schemas.microsoft.com/office/drawing/2014/main" val="2843878008"/>
                    </a:ext>
                  </a:extLst>
                </a:gridCol>
                <a:gridCol w="1140823">
                  <a:extLst>
                    <a:ext uri="{9D8B030D-6E8A-4147-A177-3AD203B41FA5}">
                      <a16:colId xmlns:a16="http://schemas.microsoft.com/office/drawing/2014/main" val="39780498"/>
                    </a:ext>
                  </a:extLst>
                </a:gridCol>
              </a:tblGrid>
              <a:tr h="698338">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a:t>Dept_ID</a:t>
                      </a:r>
                    </a:p>
                  </a:txBody>
                  <a:tcPr anchor="ctr"/>
                </a:tc>
                <a:tc>
                  <a:txBody>
                    <a:bodyPr/>
                    <a:lstStyle/>
                    <a:p>
                      <a:pPr>
                        <a:buNone/>
                      </a:pPr>
                      <a:r>
                        <a:rPr lang="en-US"/>
                        <a:t>Dept_Name</a:t>
                      </a:r>
                    </a:p>
                  </a:txBody>
                  <a:tcPr anchor="ctr"/>
                </a:tc>
                <a:tc>
                  <a:txBody>
                    <a:bodyPr/>
                    <a:lstStyle/>
                    <a:p>
                      <a:pPr>
                        <a:buNone/>
                      </a:pPr>
                      <a:r>
                        <a:rPr lang="en-US" dirty="0"/>
                        <a:t>Subject</a:t>
                      </a:r>
                    </a:p>
                  </a:txBody>
                  <a:tcPr anchor="ctr"/>
                </a:tc>
                <a:tc>
                  <a:txBody>
                    <a:bodyPr/>
                    <a:lstStyle/>
                    <a:p>
                      <a:pPr>
                        <a:buNone/>
                      </a:pPr>
                      <a:r>
                        <a:rPr lang="en-US"/>
                        <a:t>Teacher</a:t>
                      </a:r>
                    </a:p>
                  </a:txBody>
                  <a:tcPr anchor="ctr"/>
                </a:tc>
                <a:tc>
                  <a:txBody>
                    <a:bodyPr/>
                    <a:lstStyle/>
                    <a:p>
                      <a:pPr>
                        <a:buNone/>
                      </a:pPr>
                      <a:r>
                        <a:rPr lang="en-US"/>
                        <a:t>Language</a:t>
                      </a:r>
                    </a:p>
                  </a:txBody>
                  <a:tcPr anchor="ctr"/>
                </a:tc>
                <a:extLst>
                  <a:ext uri="{0D108BD9-81ED-4DB2-BD59-A6C34878D82A}">
                    <a16:rowId xmlns:a16="http://schemas.microsoft.com/office/drawing/2014/main" val="1755267605"/>
                  </a:ext>
                </a:extLst>
              </a:tr>
              <a:tr h="404593">
                <a:tc>
                  <a:txBody>
                    <a:bodyPr/>
                    <a:lstStyle/>
                    <a:p>
                      <a:pPr>
                        <a:buNone/>
                      </a:pPr>
                      <a:r>
                        <a:rPr lang="en-US" dirty="0"/>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a:t>Computer</a:t>
                      </a:r>
                    </a:p>
                  </a:txBody>
                  <a:tcPr anchor="ctr"/>
                </a:tc>
                <a:tc>
                  <a:txBody>
                    <a:bodyPr/>
                    <a:lstStyle/>
                    <a:p>
                      <a:pPr>
                        <a:buNone/>
                      </a:pPr>
                      <a:r>
                        <a:rPr lang="en-US"/>
                        <a:t>DBMS</a:t>
                      </a:r>
                    </a:p>
                  </a:txBody>
                  <a:tcPr anchor="ctr"/>
                </a:tc>
                <a:tc>
                  <a:txBody>
                    <a:bodyPr/>
                    <a:lstStyle/>
                    <a:p>
                      <a:pPr>
                        <a:buNone/>
                      </a:pPr>
                      <a:r>
                        <a:rPr lang="en-US"/>
                        <a:t>Sharma</a:t>
                      </a:r>
                    </a:p>
                  </a:txBody>
                  <a:tcPr anchor="ctr"/>
                </a:tc>
                <a:tc>
                  <a:txBody>
                    <a:bodyPr/>
                    <a:lstStyle/>
                    <a:p>
                      <a:pPr>
                        <a:buNone/>
                      </a:pPr>
                      <a:r>
                        <a:rPr lang="en-US" dirty="0"/>
                        <a:t>English</a:t>
                      </a:r>
                    </a:p>
                  </a:txBody>
                  <a:tcPr anchor="ctr"/>
                </a:tc>
                <a:extLst>
                  <a:ext uri="{0D108BD9-81ED-4DB2-BD59-A6C34878D82A}">
                    <a16:rowId xmlns:a16="http://schemas.microsoft.com/office/drawing/2014/main" val="1480247642"/>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dirty="0"/>
                        <a:t>Computer</a:t>
                      </a:r>
                    </a:p>
                  </a:txBody>
                  <a:tcPr anchor="ctr"/>
                </a:tc>
                <a:tc>
                  <a:txBody>
                    <a:bodyPr/>
                    <a:lstStyle/>
                    <a:p>
                      <a:pPr>
                        <a:buNone/>
                      </a:pPr>
                      <a:r>
                        <a:rPr lang="en-US"/>
                        <a:t>DBMS</a:t>
                      </a:r>
                    </a:p>
                  </a:txBody>
                  <a:tcPr anchor="ctr"/>
                </a:tc>
                <a:tc>
                  <a:txBody>
                    <a:bodyPr/>
                    <a:lstStyle/>
                    <a:p>
                      <a:pPr>
                        <a:buNone/>
                      </a:pPr>
                      <a:r>
                        <a:rPr lang="en-US"/>
                        <a:t>Sharma</a:t>
                      </a:r>
                    </a:p>
                  </a:txBody>
                  <a:tcPr anchor="ctr"/>
                </a:tc>
                <a:tc>
                  <a:txBody>
                    <a:bodyPr/>
                    <a:lstStyle/>
                    <a:p>
                      <a:pPr>
                        <a:buNone/>
                      </a:pPr>
                      <a:r>
                        <a:rPr lang="en-US"/>
                        <a:t>Nepali</a:t>
                      </a:r>
                    </a:p>
                  </a:txBody>
                  <a:tcPr anchor="ctr"/>
                </a:tc>
                <a:extLst>
                  <a:ext uri="{0D108BD9-81ED-4DB2-BD59-A6C34878D82A}">
                    <a16:rowId xmlns:a16="http://schemas.microsoft.com/office/drawing/2014/main" val="1639502179"/>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dirty="0"/>
                        <a:t>Computer</a:t>
                      </a:r>
                    </a:p>
                  </a:txBody>
                  <a:tcPr anchor="ctr"/>
                </a:tc>
                <a:tc>
                  <a:txBody>
                    <a:bodyPr/>
                    <a:lstStyle/>
                    <a:p>
                      <a:pPr>
                        <a:buNone/>
                      </a:pPr>
                      <a:r>
                        <a:rPr lang="en-US"/>
                        <a:t>OS</a:t>
                      </a:r>
                    </a:p>
                  </a:txBody>
                  <a:tcPr anchor="ctr"/>
                </a:tc>
                <a:tc>
                  <a:txBody>
                    <a:bodyPr/>
                    <a:lstStyle/>
                    <a:p>
                      <a:pPr>
                        <a:buNone/>
                      </a:pPr>
                      <a:r>
                        <a:rPr lang="en-US"/>
                        <a:t>Verma</a:t>
                      </a:r>
                    </a:p>
                  </a:txBody>
                  <a:tcPr anchor="ctr"/>
                </a:tc>
                <a:tc>
                  <a:txBody>
                    <a:bodyPr/>
                    <a:lstStyle/>
                    <a:p>
                      <a:pPr>
                        <a:buNone/>
                      </a:pPr>
                      <a:r>
                        <a:rPr lang="en-US" dirty="0"/>
                        <a:t>English</a:t>
                      </a:r>
                    </a:p>
                  </a:txBody>
                  <a:tcPr anchor="ctr"/>
                </a:tc>
                <a:extLst>
                  <a:ext uri="{0D108BD9-81ED-4DB2-BD59-A6C34878D82A}">
                    <a16:rowId xmlns:a16="http://schemas.microsoft.com/office/drawing/2014/main" val="4132913392"/>
                  </a:ext>
                </a:extLst>
              </a:tr>
              <a:tr h="404593">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a:t>D1</a:t>
                      </a:r>
                    </a:p>
                  </a:txBody>
                  <a:tcPr anchor="ctr"/>
                </a:tc>
                <a:tc>
                  <a:txBody>
                    <a:bodyPr/>
                    <a:lstStyle/>
                    <a:p>
                      <a:pPr>
                        <a:buNone/>
                      </a:pPr>
                      <a:r>
                        <a:rPr lang="en-US"/>
                        <a:t>Computer</a:t>
                      </a:r>
                    </a:p>
                  </a:txBody>
                  <a:tcPr anchor="ctr"/>
                </a:tc>
                <a:tc>
                  <a:txBody>
                    <a:bodyPr/>
                    <a:lstStyle/>
                    <a:p>
                      <a:pPr>
                        <a:buNone/>
                      </a:pPr>
                      <a:r>
                        <a:rPr lang="en-US"/>
                        <a:t>OS</a:t>
                      </a:r>
                    </a:p>
                  </a:txBody>
                  <a:tcPr anchor="ctr"/>
                </a:tc>
                <a:tc>
                  <a:txBody>
                    <a:bodyPr/>
                    <a:lstStyle/>
                    <a:p>
                      <a:pPr>
                        <a:buNone/>
                      </a:pPr>
                      <a:r>
                        <a:rPr lang="en-US"/>
                        <a:t>Verma</a:t>
                      </a:r>
                    </a:p>
                  </a:txBody>
                  <a:tcPr anchor="ctr"/>
                </a:tc>
                <a:tc>
                  <a:txBody>
                    <a:bodyPr/>
                    <a:lstStyle/>
                    <a:p>
                      <a:pPr>
                        <a:buNone/>
                      </a:pPr>
                      <a:r>
                        <a:rPr lang="en-US"/>
                        <a:t>Nepali</a:t>
                      </a:r>
                    </a:p>
                  </a:txBody>
                  <a:tcPr anchor="ctr"/>
                </a:tc>
                <a:extLst>
                  <a:ext uri="{0D108BD9-81ED-4DB2-BD59-A6C34878D82A}">
                    <a16:rowId xmlns:a16="http://schemas.microsoft.com/office/drawing/2014/main" val="916441623"/>
                  </a:ext>
                </a:extLst>
              </a:tr>
              <a:tr h="404593">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a:t>D2</a:t>
                      </a:r>
                    </a:p>
                  </a:txBody>
                  <a:tcPr anchor="ctr"/>
                </a:tc>
                <a:tc>
                  <a:txBody>
                    <a:bodyPr/>
                    <a:lstStyle/>
                    <a:p>
                      <a:pPr>
                        <a:buNone/>
                      </a:pPr>
                      <a:r>
                        <a:rPr lang="en-US"/>
                        <a:t>Civil</a:t>
                      </a:r>
                    </a:p>
                  </a:txBody>
                  <a:tcPr anchor="ctr"/>
                </a:tc>
                <a:tc>
                  <a:txBody>
                    <a:bodyPr/>
                    <a:lstStyle/>
                    <a:p>
                      <a:pPr>
                        <a:buNone/>
                      </a:pPr>
                      <a:r>
                        <a:rPr lang="en-US"/>
                        <a:t>DBMS</a:t>
                      </a:r>
                    </a:p>
                  </a:txBody>
                  <a:tcPr anchor="ctr"/>
                </a:tc>
                <a:tc>
                  <a:txBody>
                    <a:bodyPr/>
                    <a:lstStyle/>
                    <a:p>
                      <a:pPr>
                        <a:buNone/>
                      </a:pPr>
                      <a:r>
                        <a:rPr lang="en-US"/>
                        <a:t>Sharma</a:t>
                      </a:r>
                    </a:p>
                  </a:txBody>
                  <a:tcPr anchor="ctr"/>
                </a:tc>
                <a:tc>
                  <a:txBody>
                    <a:bodyPr/>
                    <a:lstStyle/>
                    <a:p>
                      <a:pPr>
                        <a:buNone/>
                      </a:pPr>
                      <a:r>
                        <a:rPr lang="en-US"/>
                        <a:t>English</a:t>
                      </a:r>
                    </a:p>
                  </a:txBody>
                  <a:tcPr anchor="ctr"/>
                </a:tc>
                <a:extLst>
                  <a:ext uri="{0D108BD9-81ED-4DB2-BD59-A6C34878D82A}">
                    <a16:rowId xmlns:a16="http://schemas.microsoft.com/office/drawing/2014/main" val="3746001846"/>
                  </a:ext>
                </a:extLst>
              </a:tr>
              <a:tr h="404593">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a:t>D2</a:t>
                      </a:r>
                    </a:p>
                  </a:txBody>
                  <a:tcPr anchor="ctr"/>
                </a:tc>
                <a:tc>
                  <a:txBody>
                    <a:bodyPr/>
                    <a:lstStyle/>
                    <a:p>
                      <a:pPr>
                        <a:buNone/>
                      </a:pPr>
                      <a:r>
                        <a:rPr lang="en-US"/>
                        <a:t>Civil</a:t>
                      </a:r>
                    </a:p>
                  </a:txBody>
                  <a:tcPr anchor="ctr"/>
                </a:tc>
                <a:tc>
                  <a:txBody>
                    <a:bodyPr/>
                    <a:lstStyle/>
                    <a:p>
                      <a:pPr>
                        <a:buNone/>
                      </a:pPr>
                      <a:r>
                        <a:rPr lang="en-US"/>
                        <a:t>CN</a:t>
                      </a:r>
                    </a:p>
                  </a:txBody>
                  <a:tcPr anchor="ctr"/>
                </a:tc>
                <a:tc>
                  <a:txBody>
                    <a:bodyPr/>
                    <a:lstStyle/>
                    <a:p>
                      <a:pPr>
                        <a:buNone/>
                      </a:pPr>
                      <a:r>
                        <a:rPr lang="en-US"/>
                        <a:t>Pant</a:t>
                      </a:r>
                    </a:p>
                  </a:txBody>
                  <a:tcPr anchor="ctr"/>
                </a:tc>
                <a:tc>
                  <a:txBody>
                    <a:bodyPr/>
                    <a:lstStyle/>
                    <a:p>
                      <a:pPr>
                        <a:buNone/>
                      </a:pPr>
                      <a:r>
                        <a:rPr lang="en-US" dirty="0"/>
                        <a:t>English</a:t>
                      </a:r>
                    </a:p>
                  </a:txBody>
                  <a:tcPr anchor="ctr"/>
                </a:tc>
                <a:extLst>
                  <a:ext uri="{0D108BD9-81ED-4DB2-BD59-A6C34878D82A}">
                    <a16:rowId xmlns:a16="http://schemas.microsoft.com/office/drawing/2014/main" val="3668955701"/>
                  </a:ext>
                </a:extLst>
              </a:tr>
            </a:tbl>
          </a:graphicData>
        </a:graphic>
      </p:graphicFrame>
    </p:spTree>
    <p:extLst>
      <p:ext uri="{BB962C8B-B14F-4D97-AF65-F5344CB8AC3E}">
        <p14:creationId xmlns:p14="http://schemas.microsoft.com/office/powerpoint/2010/main" val="8941135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E8D46-5498-BE72-B5F4-19E10606BC81}"/>
              </a:ext>
            </a:extLst>
          </p:cNvPr>
          <p:cNvSpPr>
            <a:spLocks noGrp="1"/>
          </p:cNvSpPr>
          <p:nvPr>
            <p:ph type="title"/>
          </p:nvPr>
        </p:nvSpPr>
        <p:spPr/>
        <p:txBody>
          <a:bodyPr/>
          <a:lstStyle/>
          <a:p>
            <a:r>
              <a:rPr lang="en-US" dirty="0"/>
              <a:t>Decompose it into</a:t>
            </a:r>
          </a:p>
        </p:txBody>
      </p:sp>
      <p:sp>
        <p:nvSpPr>
          <p:cNvPr id="3" name="Content Placeholder 2">
            <a:extLst>
              <a:ext uri="{FF2B5EF4-FFF2-40B4-BE49-F238E27FC236}">
                <a16:creationId xmlns:a16="http://schemas.microsoft.com/office/drawing/2014/main" id="{33FAA4ED-563C-CD59-490D-BB5CC2D97DDD}"/>
              </a:ext>
            </a:extLst>
          </p:cNvPr>
          <p:cNvSpPr>
            <a:spLocks noGrp="1"/>
          </p:cNvSpPr>
          <p:nvPr>
            <p:ph idx="1"/>
          </p:nvPr>
        </p:nvSpPr>
        <p:spPr/>
        <p:txBody>
          <a:bodyPr/>
          <a:lstStyle/>
          <a:p>
            <a:r>
              <a:rPr lang="en-US" dirty="0"/>
              <a:t>Identify Partial Dependencies : </a:t>
            </a:r>
          </a:p>
          <a:p>
            <a:r>
              <a:rPr lang="en-US" dirty="0"/>
              <a:t>Current key  =  (</a:t>
            </a:r>
            <a:r>
              <a:rPr lang="en-US" dirty="0" err="1"/>
              <a:t>Student_ID</a:t>
            </a:r>
            <a:r>
              <a:rPr lang="en-US" dirty="0"/>
              <a:t>, Subject, Language)</a:t>
            </a:r>
          </a:p>
          <a:p>
            <a:r>
              <a:rPr lang="en-US" dirty="0"/>
              <a:t>Dependencies: </a:t>
            </a:r>
          </a:p>
          <a:p>
            <a:pPr lvl="1"/>
            <a:r>
              <a:rPr lang="en-US" dirty="0" err="1"/>
              <a:t>Student_ID</a:t>
            </a:r>
            <a:r>
              <a:rPr lang="en-US" dirty="0"/>
              <a:t> → </a:t>
            </a:r>
            <a:r>
              <a:rPr lang="en-US" dirty="0" err="1"/>
              <a:t>Student_Name</a:t>
            </a:r>
            <a:r>
              <a:rPr lang="en-US" dirty="0"/>
              <a:t>, </a:t>
            </a:r>
            <a:r>
              <a:rPr lang="en-US" dirty="0" err="1"/>
              <a:t>Dept_ID</a:t>
            </a:r>
            <a:r>
              <a:rPr lang="en-US" dirty="0"/>
              <a:t>, </a:t>
            </a:r>
            <a:r>
              <a:rPr lang="en-US" dirty="0" err="1"/>
              <a:t>Dept_name</a:t>
            </a:r>
            <a:endParaRPr lang="en-US" dirty="0"/>
          </a:p>
          <a:p>
            <a:pPr lvl="1"/>
            <a:r>
              <a:rPr lang="en-US" dirty="0" err="1"/>
              <a:t>Dept_ID</a:t>
            </a:r>
            <a:r>
              <a:rPr lang="en-US" dirty="0"/>
              <a:t> → </a:t>
            </a:r>
            <a:r>
              <a:rPr lang="en-US" dirty="0" err="1"/>
              <a:t>Dept_Name</a:t>
            </a:r>
            <a:endParaRPr lang="en-US" dirty="0"/>
          </a:p>
          <a:p>
            <a:pPr lvl="1"/>
            <a:r>
              <a:rPr lang="en-US" dirty="0"/>
              <a:t>Subject → Teacher</a:t>
            </a:r>
          </a:p>
          <a:p>
            <a:endParaRPr lang="en-US" dirty="0"/>
          </a:p>
        </p:txBody>
      </p:sp>
      <p:sp>
        <p:nvSpPr>
          <p:cNvPr id="4" name="Title 1">
            <a:extLst>
              <a:ext uri="{FF2B5EF4-FFF2-40B4-BE49-F238E27FC236}">
                <a16:creationId xmlns:a16="http://schemas.microsoft.com/office/drawing/2014/main" id="{92C62A5F-F49C-B313-E3B7-A457A0552D11}"/>
              </a:ext>
            </a:extLst>
          </p:cNvPr>
          <p:cNvSpPr txBox="1">
            <a:spLocks/>
          </p:cNvSpPr>
          <p:nvPr/>
        </p:nvSpPr>
        <p:spPr>
          <a:xfrm>
            <a:off x="1097280" y="286603"/>
            <a:ext cx="8709660" cy="1450757"/>
          </a:xfrm>
          <a:prstGeom prst="rect">
            <a:avLst/>
          </a:prstGeom>
        </p:spPr>
        <p:txBody>
          <a:bodyPr vert="horz" lIns="91440" tIns="45720" rIns="91440" bIns="45720" rtlCol="0" anchor="b">
            <a:normAutofit/>
          </a:bodyPr>
          <a:lstStyle>
            <a:lvl1pPr marL="0"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endParaRPr lang="en-US" dirty="0"/>
          </a:p>
        </p:txBody>
      </p:sp>
      <p:graphicFrame>
        <p:nvGraphicFramePr>
          <p:cNvPr id="5" name="Content Placeholder 3">
            <a:extLst>
              <a:ext uri="{FF2B5EF4-FFF2-40B4-BE49-F238E27FC236}">
                <a16:creationId xmlns:a16="http://schemas.microsoft.com/office/drawing/2014/main" id="{A531F9E0-1A56-ACBC-C4D3-8ECF0DC61314}"/>
              </a:ext>
            </a:extLst>
          </p:cNvPr>
          <p:cNvGraphicFramePr>
            <a:graphicFrameLocks/>
          </p:cNvGraphicFramePr>
          <p:nvPr>
            <p:extLst>
              <p:ext uri="{D42A27DB-BD31-4B8C-83A1-F6EECF244321}">
                <p14:modId xmlns:p14="http://schemas.microsoft.com/office/powerpoint/2010/main" val="3481586823"/>
              </p:ext>
            </p:extLst>
          </p:nvPr>
        </p:nvGraphicFramePr>
        <p:xfrm>
          <a:off x="206691" y="4892402"/>
          <a:ext cx="5139838" cy="1097280"/>
        </p:xfrm>
        <a:graphic>
          <a:graphicData uri="http://schemas.openxmlformats.org/drawingml/2006/table">
            <a:tbl>
              <a:tblPr firstRow="1" bandRow="1">
                <a:tableStyleId>{5C22544A-7EE6-4342-B048-85BDC9FD1C3A}</a:tableStyleId>
              </a:tblPr>
              <a:tblGrid>
                <a:gridCol w="959169">
                  <a:extLst>
                    <a:ext uri="{9D8B030D-6E8A-4147-A177-3AD203B41FA5}">
                      <a16:colId xmlns:a16="http://schemas.microsoft.com/office/drawing/2014/main" val="3785994975"/>
                    </a:ext>
                  </a:extLst>
                </a:gridCol>
                <a:gridCol w="1280160">
                  <a:extLst>
                    <a:ext uri="{9D8B030D-6E8A-4147-A177-3AD203B41FA5}">
                      <a16:colId xmlns:a16="http://schemas.microsoft.com/office/drawing/2014/main" val="672026554"/>
                    </a:ext>
                  </a:extLst>
                </a:gridCol>
                <a:gridCol w="1165860">
                  <a:extLst>
                    <a:ext uri="{9D8B030D-6E8A-4147-A177-3AD203B41FA5}">
                      <a16:colId xmlns:a16="http://schemas.microsoft.com/office/drawing/2014/main" val="1055285404"/>
                    </a:ext>
                  </a:extLst>
                </a:gridCol>
                <a:gridCol w="1734649">
                  <a:extLst>
                    <a:ext uri="{9D8B030D-6E8A-4147-A177-3AD203B41FA5}">
                      <a16:colId xmlns:a16="http://schemas.microsoft.com/office/drawing/2014/main" val="3546076491"/>
                    </a:ext>
                  </a:extLst>
                </a:gridCol>
              </a:tblGrid>
              <a:tr h="344699">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973631919"/>
                  </a:ext>
                </a:extLst>
              </a:tr>
              <a:tr h="344699">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dirty="0"/>
                        <a:t>D1</a:t>
                      </a:r>
                    </a:p>
                  </a:txBody>
                  <a:tcPr anchor="ctr"/>
                </a:tc>
                <a:tc>
                  <a:txBody>
                    <a:bodyPr/>
                    <a:lstStyle/>
                    <a:p>
                      <a:pPr>
                        <a:buNone/>
                      </a:pPr>
                      <a:r>
                        <a:rPr lang="en-US" dirty="0"/>
                        <a:t>Computer</a:t>
                      </a:r>
                    </a:p>
                  </a:txBody>
                  <a:tcPr anchor="ctr"/>
                </a:tc>
                <a:extLst>
                  <a:ext uri="{0D108BD9-81ED-4DB2-BD59-A6C34878D82A}">
                    <a16:rowId xmlns:a16="http://schemas.microsoft.com/office/drawing/2014/main" val="1613438799"/>
                  </a:ext>
                </a:extLst>
              </a:tr>
              <a:tr h="344699">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dirty="0"/>
                        <a:t>D2</a:t>
                      </a:r>
                    </a:p>
                  </a:txBody>
                  <a:tcPr anchor="ctr"/>
                </a:tc>
                <a:tc>
                  <a:txBody>
                    <a:bodyPr/>
                    <a:lstStyle/>
                    <a:p>
                      <a:pPr>
                        <a:buNone/>
                      </a:pPr>
                      <a:r>
                        <a:rPr lang="en-US" dirty="0"/>
                        <a:t>Civil</a:t>
                      </a:r>
                    </a:p>
                  </a:txBody>
                  <a:tcPr anchor="ctr"/>
                </a:tc>
                <a:extLst>
                  <a:ext uri="{0D108BD9-81ED-4DB2-BD59-A6C34878D82A}">
                    <a16:rowId xmlns:a16="http://schemas.microsoft.com/office/drawing/2014/main" val="1583487290"/>
                  </a:ext>
                </a:extLst>
              </a:tr>
            </a:tbl>
          </a:graphicData>
        </a:graphic>
      </p:graphicFrame>
      <p:graphicFrame>
        <p:nvGraphicFramePr>
          <p:cNvPr id="6" name="Table 5">
            <a:extLst>
              <a:ext uri="{FF2B5EF4-FFF2-40B4-BE49-F238E27FC236}">
                <a16:creationId xmlns:a16="http://schemas.microsoft.com/office/drawing/2014/main" id="{51D83188-EE6C-3D5B-C325-7436D3D3668C}"/>
              </a:ext>
            </a:extLst>
          </p:cNvPr>
          <p:cNvGraphicFramePr>
            <a:graphicFrameLocks noGrp="1"/>
          </p:cNvGraphicFramePr>
          <p:nvPr>
            <p:extLst>
              <p:ext uri="{D42A27DB-BD31-4B8C-83A1-F6EECF244321}">
                <p14:modId xmlns:p14="http://schemas.microsoft.com/office/powerpoint/2010/main" val="1197368308"/>
              </p:ext>
            </p:extLst>
          </p:nvPr>
        </p:nvGraphicFramePr>
        <p:xfrm>
          <a:off x="5537780" y="4783668"/>
          <a:ext cx="2516124" cy="1463040"/>
        </p:xfrm>
        <a:graphic>
          <a:graphicData uri="http://schemas.openxmlformats.org/drawingml/2006/table">
            <a:tbl>
              <a:tblPr firstRow="1" bandRow="1">
                <a:tableStyleId>{5C22544A-7EE6-4342-B048-85BDC9FD1C3A}</a:tableStyleId>
              </a:tblPr>
              <a:tblGrid>
                <a:gridCol w="1258062">
                  <a:extLst>
                    <a:ext uri="{9D8B030D-6E8A-4147-A177-3AD203B41FA5}">
                      <a16:colId xmlns:a16="http://schemas.microsoft.com/office/drawing/2014/main" val="2505306754"/>
                    </a:ext>
                  </a:extLst>
                </a:gridCol>
                <a:gridCol w="1258062">
                  <a:extLst>
                    <a:ext uri="{9D8B030D-6E8A-4147-A177-3AD203B41FA5}">
                      <a16:colId xmlns:a16="http://schemas.microsoft.com/office/drawing/2014/main" val="3239914344"/>
                    </a:ext>
                  </a:extLst>
                </a:gridCol>
              </a:tblGrid>
              <a:tr h="362689">
                <a:tc>
                  <a:txBody>
                    <a:bodyPr/>
                    <a:lstStyle/>
                    <a:p>
                      <a:pPr>
                        <a:buNone/>
                      </a:pPr>
                      <a:r>
                        <a:rPr lang="en-US" dirty="0"/>
                        <a:t>Subject</a:t>
                      </a:r>
                    </a:p>
                  </a:txBody>
                  <a:tcPr anchor="ctr"/>
                </a:tc>
                <a:tc>
                  <a:txBody>
                    <a:bodyPr/>
                    <a:lstStyle/>
                    <a:p>
                      <a:pPr>
                        <a:buNone/>
                      </a:pPr>
                      <a:r>
                        <a:rPr lang="en-US"/>
                        <a:t>Teacher</a:t>
                      </a:r>
                    </a:p>
                  </a:txBody>
                  <a:tcPr anchor="ctr"/>
                </a:tc>
                <a:extLst>
                  <a:ext uri="{0D108BD9-81ED-4DB2-BD59-A6C34878D82A}">
                    <a16:rowId xmlns:a16="http://schemas.microsoft.com/office/drawing/2014/main" val="2457071554"/>
                  </a:ext>
                </a:extLst>
              </a:tr>
              <a:tr h="362689">
                <a:tc>
                  <a:txBody>
                    <a:bodyPr/>
                    <a:lstStyle/>
                    <a:p>
                      <a:pPr>
                        <a:buNone/>
                      </a:pPr>
                      <a:r>
                        <a:rPr lang="en-US"/>
                        <a:t>DBMS</a:t>
                      </a:r>
                    </a:p>
                  </a:txBody>
                  <a:tcPr anchor="ctr"/>
                </a:tc>
                <a:tc>
                  <a:txBody>
                    <a:bodyPr/>
                    <a:lstStyle/>
                    <a:p>
                      <a:pPr>
                        <a:buNone/>
                      </a:pPr>
                      <a:r>
                        <a:rPr lang="en-US"/>
                        <a:t>Sharma</a:t>
                      </a:r>
                    </a:p>
                  </a:txBody>
                  <a:tcPr anchor="ctr"/>
                </a:tc>
                <a:extLst>
                  <a:ext uri="{0D108BD9-81ED-4DB2-BD59-A6C34878D82A}">
                    <a16:rowId xmlns:a16="http://schemas.microsoft.com/office/drawing/2014/main" val="3304202158"/>
                  </a:ext>
                </a:extLst>
              </a:tr>
              <a:tr h="362689">
                <a:tc>
                  <a:txBody>
                    <a:bodyPr/>
                    <a:lstStyle/>
                    <a:p>
                      <a:pPr>
                        <a:buNone/>
                      </a:pPr>
                      <a:r>
                        <a:rPr lang="en-US"/>
                        <a:t>OS</a:t>
                      </a:r>
                    </a:p>
                  </a:txBody>
                  <a:tcPr anchor="ctr"/>
                </a:tc>
                <a:tc>
                  <a:txBody>
                    <a:bodyPr/>
                    <a:lstStyle/>
                    <a:p>
                      <a:pPr>
                        <a:buNone/>
                      </a:pPr>
                      <a:r>
                        <a:rPr lang="en-US"/>
                        <a:t>Verma</a:t>
                      </a:r>
                    </a:p>
                  </a:txBody>
                  <a:tcPr anchor="ctr"/>
                </a:tc>
                <a:extLst>
                  <a:ext uri="{0D108BD9-81ED-4DB2-BD59-A6C34878D82A}">
                    <a16:rowId xmlns:a16="http://schemas.microsoft.com/office/drawing/2014/main" val="965609495"/>
                  </a:ext>
                </a:extLst>
              </a:tr>
              <a:tr h="362689">
                <a:tc>
                  <a:txBody>
                    <a:bodyPr/>
                    <a:lstStyle/>
                    <a:p>
                      <a:pPr>
                        <a:buNone/>
                      </a:pPr>
                      <a:r>
                        <a:rPr lang="en-US"/>
                        <a:t>CN</a:t>
                      </a:r>
                    </a:p>
                  </a:txBody>
                  <a:tcPr anchor="ctr"/>
                </a:tc>
                <a:tc>
                  <a:txBody>
                    <a:bodyPr/>
                    <a:lstStyle/>
                    <a:p>
                      <a:pPr>
                        <a:buNone/>
                      </a:pPr>
                      <a:r>
                        <a:rPr lang="en-US" dirty="0"/>
                        <a:t>Pant</a:t>
                      </a:r>
                    </a:p>
                  </a:txBody>
                  <a:tcPr anchor="ctr"/>
                </a:tc>
                <a:extLst>
                  <a:ext uri="{0D108BD9-81ED-4DB2-BD59-A6C34878D82A}">
                    <a16:rowId xmlns:a16="http://schemas.microsoft.com/office/drawing/2014/main" val="248291657"/>
                  </a:ext>
                </a:extLst>
              </a:tr>
            </a:tbl>
          </a:graphicData>
        </a:graphic>
      </p:graphicFrame>
      <p:graphicFrame>
        <p:nvGraphicFramePr>
          <p:cNvPr id="7" name="Table 6">
            <a:extLst>
              <a:ext uri="{FF2B5EF4-FFF2-40B4-BE49-F238E27FC236}">
                <a16:creationId xmlns:a16="http://schemas.microsoft.com/office/drawing/2014/main" id="{F82DD15A-716F-F350-914E-50A415A862D4}"/>
              </a:ext>
            </a:extLst>
          </p:cNvPr>
          <p:cNvGraphicFramePr>
            <a:graphicFrameLocks noGrp="1"/>
          </p:cNvGraphicFramePr>
          <p:nvPr>
            <p:extLst>
              <p:ext uri="{D42A27DB-BD31-4B8C-83A1-F6EECF244321}">
                <p14:modId xmlns:p14="http://schemas.microsoft.com/office/powerpoint/2010/main" val="2136537112"/>
              </p:ext>
            </p:extLst>
          </p:nvPr>
        </p:nvGraphicFramePr>
        <p:xfrm>
          <a:off x="8245155" y="3429000"/>
          <a:ext cx="3946845" cy="2893790"/>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a:t>Subject</a:t>
                      </a:r>
                    </a:p>
                  </a:txBody>
                  <a:tcPr anchor="ctr"/>
                </a:tc>
                <a:tc>
                  <a:txBody>
                    <a:bodyPr/>
                    <a:lstStyle/>
                    <a:p>
                      <a:pPr>
                        <a:buNone/>
                      </a:pPr>
                      <a:r>
                        <a:rPr lang="en-US"/>
                        <a:t>Language</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a:t>DBMS</a:t>
                      </a:r>
                    </a:p>
                  </a:txBody>
                  <a:tcPr anchor="ctr"/>
                </a:tc>
                <a:tc>
                  <a:txBody>
                    <a:bodyPr/>
                    <a:lstStyle/>
                    <a:p>
                      <a:pPr>
                        <a:buNone/>
                      </a:pPr>
                      <a:r>
                        <a:rPr lang="en-US"/>
                        <a:t>English</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dirty="0"/>
                        <a:t>DBMS</a:t>
                      </a:r>
                    </a:p>
                  </a:txBody>
                  <a:tcPr anchor="ctr"/>
                </a:tc>
                <a:tc>
                  <a:txBody>
                    <a:bodyPr/>
                    <a:lstStyle/>
                    <a:p>
                      <a:pPr>
                        <a:buNone/>
                      </a:pPr>
                      <a:r>
                        <a:rPr lang="en-US"/>
                        <a:t>Nepali</a:t>
                      </a:r>
                    </a:p>
                  </a:txBody>
                  <a:tcPr anchor="ctr"/>
                </a:tc>
                <a:extLst>
                  <a:ext uri="{0D108BD9-81ED-4DB2-BD59-A6C34878D82A}">
                    <a16:rowId xmlns:a16="http://schemas.microsoft.com/office/drawing/2014/main" val="2418840407"/>
                  </a:ext>
                </a:extLst>
              </a:tr>
              <a:tr h="378088">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English</a:t>
                      </a:r>
                    </a:p>
                  </a:txBody>
                  <a:tcPr anchor="ctr"/>
                </a:tc>
                <a:extLst>
                  <a:ext uri="{0D108BD9-81ED-4DB2-BD59-A6C34878D82A}">
                    <a16:rowId xmlns:a16="http://schemas.microsoft.com/office/drawing/2014/main" val="2232269818"/>
                  </a:ext>
                </a:extLst>
              </a:tr>
              <a:tr h="378088">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Nepali</a:t>
                      </a:r>
                    </a:p>
                  </a:txBody>
                  <a:tcPr anchor="ctr"/>
                </a:tc>
                <a:extLst>
                  <a:ext uri="{0D108BD9-81ED-4DB2-BD59-A6C34878D82A}">
                    <a16:rowId xmlns:a16="http://schemas.microsoft.com/office/drawing/2014/main" val="254113623"/>
                  </a:ext>
                </a:extLst>
              </a:tr>
              <a:tr h="378088">
                <a:tc>
                  <a:txBody>
                    <a:bodyPr/>
                    <a:lstStyle/>
                    <a:p>
                      <a:pPr>
                        <a:buNone/>
                      </a:pPr>
                      <a:r>
                        <a:rPr lang="en-US"/>
                        <a:t>S102</a:t>
                      </a:r>
                    </a:p>
                  </a:txBody>
                  <a:tcPr anchor="ctr"/>
                </a:tc>
                <a:tc>
                  <a:txBody>
                    <a:bodyPr/>
                    <a:lstStyle/>
                    <a:p>
                      <a:pPr>
                        <a:buNone/>
                      </a:pPr>
                      <a:r>
                        <a:rPr lang="en-US"/>
                        <a:t>DBMS</a:t>
                      </a:r>
                    </a:p>
                  </a:txBody>
                  <a:tcPr anchor="ctr"/>
                </a:tc>
                <a:tc>
                  <a:txBody>
                    <a:bodyPr/>
                    <a:lstStyle/>
                    <a:p>
                      <a:pPr>
                        <a:buNone/>
                      </a:pPr>
                      <a:r>
                        <a:rPr lang="en-US"/>
                        <a:t>English</a:t>
                      </a:r>
                    </a:p>
                  </a:txBody>
                  <a:tcPr anchor="ctr"/>
                </a:tc>
                <a:extLst>
                  <a:ext uri="{0D108BD9-81ED-4DB2-BD59-A6C34878D82A}">
                    <a16:rowId xmlns:a16="http://schemas.microsoft.com/office/drawing/2014/main" val="2829322054"/>
                  </a:ext>
                </a:extLst>
              </a:tr>
              <a:tr h="378088">
                <a:tc>
                  <a:txBody>
                    <a:bodyPr/>
                    <a:lstStyle/>
                    <a:p>
                      <a:pPr>
                        <a:buNone/>
                      </a:pPr>
                      <a:r>
                        <a:rPr lang="en-US"/>
                        <a:t>S102</a:t>
                      </a:r>
                    </a:p>
                  </a:txBody>
                  <a:tcPr anchor="ctr"/>
                </a:tc>
                <a:tc>
                  <a:txBody>
                    <a:bodyPr/>
                    <a:lstStyle/>
                    <a:p>
                      <a:pPr>
                        <a:buNone/>
                      </a:pPr>
                      <a:r>
                        <a:rPr lang="en-US"/>
                        <a:t>CN</a:t>
                      </a:r>
                    </a:p>
                  </a:txBody>
                  <a:tcPr anchor="ctr"/>
                </a:tc>
                <a:tc>
                  <a:txBody>
                    <a:bodyPr/>
                    <a:lstStyle/>
                    <a:p>
                      <a:pPr>
                        <a:buNone/>
                      </a:pPr>
                      <a:r>
                        <a:rPr lang="en-US" dirty="0"/>
                        <a:t>English</a:t>
                      </a:r>
                    </a:p>
                  </a:txBody>
                  <a:tcPr anchor="ctr"/>
                </a:tc>
                <a:extLst>
                  <a:ext uri="{0D108BD9-81ED-4DB2-BD59-A6C34878D82A}">
                    <a16:rowId xmlns:a16="http://schemas.microsoft.com/office/drawing/2014/main" val="2070343107"/>
                  </a:ext>
                </a:extLst>
              </a:tr>
            </a:tbl>
          </a:graphicData>
        </a:graphic>
      </p:graphicFrame>
      <p:sp>
        <p:nvSpPr>
          <p:cNvPr id="8" name="TextBox 7">
            <a:extLst>
              <a:ext uri="{FF2B5EF4-FFF2-40B4-BE49-F238E27FC236}">
                <a16:creationId xmlns:a16="http://schemas.microsoft.com/office/drawing/2014/main" id="{E9D60C51-73BB-B8F1-31B6-4122576C7E08}"/>
              </a:ext>
            </a:extLst>
          </p:cNvPr>
          <p:cNvSpPr txBox="1"/>
          <p:nvPr/>
        </p:nvSpPr>
        <p:spPr>
          <a:xfrm>
            <a:off x="206692" y="4523070"/>
            <a:ext cx="1105480" cy="369332"/>
          </a:xfrm>
          <a:prstGeom prst="rect">
            <a:avLst/>
          </a:prstGeom>
          <a:noFill/>
        </p:spPr>
        <p:txBody>
          <a:bodyPr wrap="square">
            <a:spAutoFit/>
          </a:bodyPr>
          <a:lstStyle/>
          <a:p>
            <a:r>
              <a:rPr lang="en-US" dirty="0"/>
              <a:t>STUDENT</a:t>
            </a:r>
          </a:p>
        </p:txBody>
      </p:sp>
      <p:sp>
        <p:nvSpPr>
          <p:cNvPr id="9" name="TextBox 8">
            <a:extLst>
              <a:ext uri="{FF2B5EF4-FFF2-40B4-BE49-F238E27FC236}">
                <a16:creationId xmlns:a16="http://schemas.microsoft.com/office/drawing/2014/main" id="{C611AC5A-0276-6975-F9A7-ADF7A73B1104}"/>
              </a:ext>
            </a:extLst>
          </p:cNvPr>
          <p:cNvSpPr txBox="1"/>
          <p:nvPr/>
        </p:nvSpPr>
        <p:spPr>
          <a:xfrm>
            <a:off x="5452110" y="4338404"/>
            <a:ext cx="1105480" cy="369332"/>
          </a:xfrm>
          <a:prstGeom prst="rect">
            <a:avLst/>
          </a:prstGeom>
          <a:noFill/>
        </p:spPr>
        <p:txBody>
          <a:bodyPr wrap="square">
            <a:spAutoFit/>
          </a:bodyPr>
          <a:lstStyle/>
          <a:p>
            <a:r>
              <a:rPr lang="en-US" dirty="0"/>
              <a:t>SUBJECT</a:t>
            </a:r>
          </a:p>
        </p:txBody>
      </p:sp>
      <p:sp>
        <p:nvSpPr>
          <p:cNvPr id="10" name="TextBox 9">
            <a:extLst>
              <a:ext uri="{FF2B5EF4-FFF2-40B4-BE49-F238E27FC236}">
                <a16:creationId xmlns:a16="http://schemas.microsoft.com/office/drawing/2014/main" id="{D2FAC7A1-C251-972A-E080-8B5AD49D5BEA}"/>
              </a:ext>
            </a:extLst>
          </p:cNvPr>
          <p:cNvSpPr txBox="1"/>
          <p:nvPr/>
        </p:nvSpPr>
        <p:spPr>
          <a:xfrm>
            <a:off x="7892096" y="2881111"/>
            <a:ext cx="1526224" cy="369332"/>
          </a:xfrm>
          <a:prstGeom prst="rect">
            <a:avLst/>
          </a:prstGeom>
          <a:noFill/>
        </p:spPr>
        <p:txBody>
          <a:bodyPr wrap="square">
            <a:spAutoFit/>
          </a:bodyPr>
          <a:lstStyle/>
          <a:p>
            <a:r>
              <a:rPr lang="en-US" dirty="0"/>
              <a:t>Enrollment</a:t>
            </a:r>
          </a:p>
        </p:txBody>
      </p:sp>
    </p:spTree>
    <p:extLst>
      <p:ext uri="{BB962C8B-B14F-4D97-AF65-F5344CB8AC3E}">
        <p14:creationId xmlns:p14="http://schemas.microsoft.com/office/powerpoint/2010/main" val="17550283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02F2-6833-0038-4D01-45437DCE2FF7}"/>
              </a:ext>
            </a:extLst>
          </p:cNvPr>
          <p:cNvSpPr>
            <a:spLocks noGrp="1"/>
          </p:cNvSpPr>
          <p:nvPr>
            <p:ph type="title"/>
          </p:nvPr>
        </p:nvSpPr>
        <p:spPr/>
        <p:txBody>
          <a:bodyPr/>
          <a:lstStyle/>
          <a:p>
            <a:r>
              <a:rPr lang="en-US" dirty="0"/>
              <a:t>Third Normal Form (3NF)</a:t>
            </a:r>
          </a:p>
        </p:txBody>
      </p:sp>
      <p:sp>
        <p:nvSpPr>
          <p:cNvPr id="3" name="Content Placeholder 2">
            <a:extLst>
              <a:ext uri="{FF2B5EF4-FFF2-40B4-BE49-F238E27FC236}">
                <a16:creationId xmlns:a16="http://schemas.microsoft.com/office/drawing/2014/main" id="{31B090B7-038F-FDB4-AC66-B13A139F8491}"/>
              </a:ext>
            </a:extLst>
          </p:cNvPr>
          <p:cNvSpPr>
            <a:spLocks noGrp="1"/>
          </p:cNvSpPr>
          <p:nvPr>
            <p:ph idx="1"/>
          </p:nvPr>
        </p:nvSpPr>
        <p:spPr/>
        <p:txBody>
          <a:bodyPr/>
          <a:lstStyle/>
          <a:p>
            <a:r>
              <a:rPr lang="en-US" b="1" dirty="0"/>
              <a:t>Rule</a:t>
            </a:r>
          </a:p>
          <a:p>
            <a:pPr lvl="1"/>
            <a:r>
              <a:rPr lang="en-US" dirty="0"/>
              <a:t>Must be in 2NF </a:t>
            </a:r>
          </a:p>
          <a:p>
            <a:pPr lvl="1"/>
            <a:r>
              <a:rPr lang="en-US" dirty="0"/>
              <a:t>Remove Transitive Dependencies</a:t>
            </a:r>
          </a:p>
          <a:p>
            <a:r>
              <a:rPr lang="en-US" b="1" dirty="0"/>
              <a:t>Dependency</a:t>
            </a:r>
          </a:p>
          <a:p>
            <a:pPr marL="201168" lvl="1" indent="0">
              <a:buNone/>
            </a:pPr>
            <a:r>
              <a:rPr lang="en-US" dirty="0" err="1"/>
              <a:t>Student_ID</a:t>
            </a:r>
            <a:r>
              <a:rPr lang="en-US" dirty="0"/>
              <a:t> → </a:t>
            </a:r>
            <a:r>
              <a:rPr lang="en-US" dirty="0" err="1"/>
              <a:t>Dept_ID</a:t>
            </a:r>
            <a:br>
              <a:rPr lang="en-US" dirty="0"/>
            </a:br>
            <a:r>
              <a:rPr lang="en-US" dirty="0" err="1"/>
              <a:t>Dept_ID</a:t>
            </a:r>
            <a:r>
              <a:rPr lang="en-US" dirty="0"/>
              <a:t> → </a:t>
            </a:r>
            <a:r>
              <a:rPr lang="en-US" dirty="0" err="1"/>
              <a:t>Dept_Name</a:t>
            </a:r>
            <a:endParaRPr lang="en-US" dirty="0"/>
          </a:p>
          <a:p>
            <a:r>
              <a:rPr lang="en-US" dirty="0"/>
              <a:t>Thus: </a:t>
            </a:r>
            <a:r>
              <a:rPr lang="en-US" dirty="0" err="1"/>
              <a:t>Student_ID</a:t>
            </a:r>
            <a:r>
              <a:rPr lang="en-US" dirty="0"/>
              <a:t> → </a:t>
            </a:r>
            <a:r>
              <a:rPr lang="en-US" dirty="0" err="1"/>
              <a:t>Dept_Name</a:t>
            </a:r>
            <a:endParaRPr lang="en-US" dirty="0"/>
          </a:p>
          <a:p>
            <a:r>
              <a:rPr lang="en-US" dirty="0"/>
              <a:t>Indirect dependency.</a:t>
            </a:r>
          </a:p>
          <a:p>
            <a:endParaRPr lang="en-US" dirty="0"/>
          </a:p>
        </p:txBody>
      </p:sp>
      <p:graphicFrame>
        <p:nvGraphicFramePr>
          <p:cNvPr id="6" name="Table 5">
            <a:extLst>
              <a:ext uri="{FF2B5EF4-FFF2-40B4-BE49-F238E27FC236}">
                <a16:creationId xmlns:a16="http://schemas.microsoft.com/office/drawing/2014/main" id="{89B3B332-6316-82DD-B91C-3FB72B525BAB}"/>
              </a:ext>
            </a:extLst>
          </p:cNvPr>
          <p:cNvGraphicFramePr>
            <a:graphicFrameLocks noGrp="1"/>
          </p:cNvGraphicFramePr>
          <p:nvPr>
            <p:extLst>
              <p:ext uri="{D42A27DB-BD31-4B8C-83A1-F6EECF244321}">
                <p14:modId xmlns:p14="http://schemas.microsoft.com/office/powerpoint/2010/main" val="1085364549"/>
              </p:ext>
            </p:extLst>
          </p:nvPr>
        </p:nvGraphicFramePr>
        <p:xfrm>
          <a:off x="10030177" y="1737360"/>
          <a:ext cx="2251005" cy="1463040"/>
        </p:xfrm>
        <a:graphic>
          <a:graphicData uri="http://schemas.openxmlformats.org/drawingml/2006/table">
            <a:tbl>
              <a:tblPr firstRow="1" bandRow="1">
                <a:tableStyleId>{5C22544A-7EE6-4342-B048-85BDC9FD1C3A}</a:tableStyleId>
              </a:tblPr>
              <a:tblGrid>
                <a:gridCol w="1016565">
                  <a:extLst>
                    <a:ext uri="{9D8B030D-6E8A-4147-A177-3AD203B41FA5}">
                      <a16:colId xmlns:a16="http://schemas.microsoft.com/office/drawing/2014/main" val="220224083"/>
                    </a:ext>
                  </a:extLst>
                </a:gridCol>
                <a:gridCol w="1234440">
                  <a:extLst>
                    <a:ext uri="{9D8B030D-6E8A-4147-A177-3AD203B41FA5}">
                      <a16:colId xmlns:a16="http://schemas.microsoft.com/office/drawing/2014/main" val="2259892988"/>
                    </a:ext>
                  </a:extLst>
                </a:gridCol>
              </a:tblGrid>
              <a:tr h="362689">
                <a:tc>
                  <a:txBody>
                    <a:bodyPr/>
                    <a:lstStyle/>
                    <a:p>
                      <a:pPr>
                        <a:buNone/>
                      </a:pPr>
                      <a:r>
                        <a:rPr lang="en-US" dirty="0"/>
                        <a:t>Subject</a:t>
                      </a:r>
                    </a:p>
                  </a:txBody>
                  <a:tcPr anchor="ctr"/>
                </a:tc>
                <a:tc>
                  <a:txBody>
                    <a:bodyPr/>
                    <a:lstStyle/>
                    <a:p>
                      <a:pPr>
                        <a:buNone/>
                      </a:pPr>
                      <a:r>
                        <a:rPr lang="en-US" dirty="0"/>
                        <a:t>Teacher</a:t>
                      </a:r>
                    </a:p>
                  </a:txBody>
                  <a:tcPr anchor="ctr"/>
                </a:tc>
                <a:extLst>
                  <a:ext uri="{0D108BD9-81ED-4DB2-BD59-A6C34878D82A}">
                    <a16:rowId xmlns:a16="http://schemas.microsoft.com/office/drawing/2014/main" val="408970064"/>
                  </a:ext>
                </a:extLst>
              </a:tr>
              <a:tr h="362689">
                <a:tc>
                  <a:txBody>
                    <a:bodyPr/>
                    <a:lstStyle/>
                    <a:p>
                      <a:pPr>
                        <a:buNone/>
                      </a:pPr>
                      <a:r>
                        <a:rPr lang="en-US"/>
                        <a:t>DBMS</a:t>
                      </a:r>
                    </a:p>
                  </a:txBody>
                  <a:tcPr anchor="ctr"/>
                </a:tc>
                <a:tc>
                  <a:txBody>
                    <a:bodyPr/>
                    <a:lstStyle/>
                    <a:p>
                      <a:pPr>
                        <a:buNone/>
                      </a:pPr>
                      <a:r>
                        <a:rPr lang="en-US"/>
                        <a:t>Sharma</a:t>
                      </a:r>
                    </a:p>
                  </a:txBody>
                  <a:tcPr anchor="ctr"/>
                </a:tc>
                <a:extLst>
                  <a:ext uri="{0D108BD9-81ED-4DB2-BD59-A6C34878D82A}">
                    <a16:rowId xmlns:a16="http://schemas.microsoft.com/office/drawing/2014/main" val="2445831667"/>
                  </a:ext>
                </a:extLst>
              </a:tr>
              <a:tr h="362689">
                <a:tc>
                  <a:txBody>
                    <a:bodyPr/>
                    <a:lstStyle/>
                    <a:p>
                      <a:pPr>
                        <a:buNone/>
                      </a:pPr>
                      <a:r>
                        <a:rPr lang="en-US"/>
                        <a:t>OS</a:t>
                      </a:r>
                    </a:p>
                  </a:txBody>
                  <a:tcPr anchor="ctr"/>
                </a:tc>
                <a:tc>
                  <a:txBody>
                    <a:bodyPr/>
                    <a:lstStyle/>
                    <a:p>
                      <a:pPr>
                        <a:buNone/>
                      </a:pPr>
                      <a:r>
                        <a:rPr lang="en-US"/>
                        <a:t>Verma</a:t>
                      </a:r>
                    </a:p>
                  </a:txBody>
                  <a:tcPr anchor="ctr"/>
                </a:tc>
                <a:extLst>
                  <a:ext uri="{0D108BD9-81ED-4DB2-BD59-A6C34878D82A}">
                    <a16:rowId xmlns:a16="http://schemas.microsoft.com/office/drawing/2014/main" val="945194909"/>
                  </a:ext>
                </a:extLst>
              </a:tr>
              <a:tr h="362689">
                <a:tc>
                  <a:txBody>
                    <a:bodyPr/>
                    <a:lstStyle/>
                    <a:p>
                      <a:pPr>
                        <a:buNone/>
                      </a:pPr>
                      <a:r>
                        <a:rPr lang="en-US"/>
                        <a:t>CN</a:t>
                      </a:r>
                    </a:p>
                  </a:txBody>
                  <a:tcPr anchor="ctr"/>
                </a:tc>
                <a:tc>
                  <a:txBody>
                    <a:bodyPr/>
                    <a:lstStyle/>
                    <a:p>
                      <a:pPr>
                        <a:buNone/>
                      </a:pPr>
                      <a:r>
                        <a:rPr lang="en-US" dirty="0"/>
                        <a:t>Pant</a:t>
                      </a:r>
                    </a:p>
                  </a:txBody>
                  <a:tcPr anchor="ctr"/>
                </a:tc>
                <a:extLst>
                  <a:ext uri="{0D108BD9-81ED-4DB2-BD59-A6C34878D82A}">
                    <a16:rowId xmlns:a16="http://schemas.microsoft.com/office/drawing/2014/main" val="763572993"/>
                  </a:ext>
                </a:extLst>
              </a:tr>
            </a:tbl>
          </a:graphicData>
        </a:graphic>
      </p:graphicFrame>
      <p:graphicFrame>
        <p:nvGraphicFramePr>
          <p:cNvPr id="8" name="Content Placeholder 3">
            <a:extLst>
              <a:ext uri="{FF2B5EF4-FFF2-40B4-BE49-F238E27FC236}">
                <a16:creationId xmlns:a16="http://schemas.microsoft.com/office/drawing/2014/main" id="{83713BB4-00A2-80B6-CA2D-685B5628E3ED}"/>
              </a:ext>
            </a:extLst>
          </p:cNvPr>
          <p:cNvGraphicFramePr>
            <a:graphicFrameLocks/>
          </p:cNvGraphicFramePr>
          <p:nvPr>
            <p:extLst>
              <p:ext uri="{D42A27DB-BD31-4B8C-83A1-F6EECF244321}">
                <p14:modId xmlns:p14="http://schemas.microsoft.com/office/powerpoint/2010/main" val="3176203137"/>
              </p:ext>
            </p:extLst>
          </p:nvPr>
        </p:nvGraphicFramePr>
        <p:xfrm>
          <a:off x="4789308" y="1845734"/>
          <a:ext cx="5139838" cy="1097280"/>
        </p:xfrm>
        <a:graphic>
          <a:graphicData uri="http://schemas.openxmlformats.org/drawingml/2006/table">
            <a:tbl>
              <a:tblPr firstRow="1" bandRow="1">
                <a:tableStyleId>{5C22544A-7EE6-4342-B048-85BDC9FD1C3A}</a:tableStyleId>
              </a:tblPr>
              <a:tblGrid>
                <a:gridCol w="959169">
                  <a:extLst>
                    <a:ext uri="{9D8B030D-6E8A-4147-A177-3AD203B41FA5}">
                      <a16:colId xmlns:a16="http://schemas.microsoft.com/office/drawing/2014/main" val="3785994975"/>
                    </a:ext>
                  </a:extLst>
                </a:gridCol>
                <a:gridCol w="1280160">
                  <a:extLst>
                    <a:ext uri="{9D8B030D-6E8A-4147-A177-3AD203B41FA5}">
                      <a16:colId xmlns:a16="http://schemas.microsoft.com/office/drawing/2014/main" val="672026554"/>
                    </a:ext>
                  </a:extLst>
                </a:gridCol>
                <a:gridCol w="1165860">
                  <a:extLst>
                    <a:ext uri="{9D8B030D-6E8A-4147-A177-3AD203B41FA5}">
                      <a16:colId xmlns:a16="http://schemas.microsoft.com/office/drawing/2014/main" val="1055285404"/>
                    </a:ext>
                  </a:extLst>
                </a:gridCol>
                <a:gridCol w="1734649">
                  <a:extLst>
                    <a:ext uri="{9D8B030D-6E8A-4147-A177-3AD203B41FA5}">
                      <a16:colId xmlns:a16="http://schemas.microsoft.com/office/drawing/2014/main" val="3546076491"/>
                    </a:ext>
                  </a:extLst>
                </a:gridCol>
              </a:tblGrid>
              <a:tr h="344699">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973631919"/>
                  </a:ext>
                </a:extLst>
              </a:tr>
              <a:tr h="344699">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dirty="0"/>
                        <a:t>D1</a:t>
                      </a:r>
                    </a:p>
                  </a:txBody>
                  <a:tcPr anchor="ctr"/>
                </a:tc>
                <a:tc>
                  <a:txBody>
                    <a:bodyPr/>
                    <a:lstStyle/>
                    <a:p>
                      <a:pPr>
                        <a:buNone/>
                      </a:pPr>
                      <a:r>
                        <a:rPr lang="en-US" dirty="0"/>
                        <a:t>Computer</a:t>
                      </a:r>
                    </a:p>
                  </a:txBody>
                  <a:tcPr anchor="ctr"/>
                </a:tc>
                <a:extLst>
                  <a:ext uri="{0D108BD9-81ED-4DB2-BD59-A6C34878D82A}">
                    <a16:rowId xmlns:a16="http://schemas.microsoft.com/office/drawing/2014/main" val="1613438799"/>
                  </a:ext>
                </a:extLst>
              </a:tr>
              <a:tr h="344699">
                <a:tc>
                  <a:txBody>
                    <a:bodyPr/>
                    <a:lstStyle/>
                    <a:p>
                      <a:pPr>
                        <a:buNone/>
                      </a:pPr>
                      <a:r>
                        <a:rPr lang="en-US"/>
                        <a:t>S102</a:t>
                      </a:r>
                    </a:p>
                  </a:txBody>
                  <a:tcPr anchor="ctr"/>
                </a:tc>
                <a:tc>
                  <a:txBody>
                    <a:bodyPr/>
                    <a:lstStyle/>
                    <a:p>
                      <a:pPr>
                        <a:buNone/>
                      </a:pPr>
                      <a:r>
                        <a:rPr lang="en-US" dirty="0"/>
                        <a:t>Hari</a:t>
                      </a:r>
                    </a:p>
                  </a:txBody>
                  <a:tcPr anchor="ctr"/>
                </a:tc>
                <a:tc>
                  <a:txBody>
                    <a:bodyPr/>
                    <a:lstStyle/>
                    <a:p>
                      <a:pPr>
                        <a:buNone/>
                      </a:pPr>
                      <a:r>
                        <a:rPr lang="en-US" dirty="0"/>
                        <a:t>D2</a:t>
                      </a:r>
                    </a:p>
                  </a:txBody>
                  <a:tcPr anchor="ctr"/>
                </a:tc>
                <a:tc>
                  <a:txBody>
                    <a:bodyPr/>
                    <a:lstStyle/>
                    <a:p>
                      <a:pPr>
                        <a:buNone/>
                      </a:pPr>
                      <a:r>
                        <a:rPr lang="en-US" dirty="0"/>
                        <a:t>Civil</a:t>
                      </a:r>
                    </a:p>
                  </a:txBody>
                  <a:tcPr anchor="ctr"/>
                </a:tc>
                <a:extLst>
                  <a:ext uri="{0D108BD9-81ED-4DB2-BD59-A6C34878D82A}">
                    <a16:rowId xmlns:a16="http://schemas.microsoft.com/office/drawing/2014/main" val="1583487290"/>
                  </a:ext>
                </a:extLst>
              </a:tr>
            </a:tbl>
          </a:graphicData>
        </a:graphic>
      </p:graphicFrame>
      <p:graphicFrame>
        <p:nvGraphicFramePr>
          <p:cNvPr id="10" name="Table 9">
            <a:extLst>
              <a:ext uri="{FF2B5EF4-FFF2-40B4-BE49-F238E27FC236}">
                <a16:creationId xmlns:a16="http://schemas.microsoft.com/office/drawing/2014/main" id="{7003E423-85BF-0B6C-3601-41F702C3F124}"/>
              </a:ext>
            </a:extLst>
          </p:cNvPr>
          <p:cNvGraphicFramePr>
            <a:graphicFrameLocks noGrp="1"/>
          </p:cNvGraphicFramePr>
          <p:nvPr>
            <p:extLst>
              <p:ext uri="{D42A27DB-BD31-4B8C-83A1-F6EECF244321}">
                <p14:modId xmlns:p14="http://schemas.microsoft.com/office/powerpoint/2010/main" val="3256510479"/>
              </p:ext>
            </p:extLst>
          </p:nvPr>
        </p:nvGraphicFramePr>
        <p:xfrm>
          <a:off x="5982301" y="3308774"/>
          <a:ext cx="3946845" cy="2893790"/>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a:t>Subject</a:t>
                      </a:r>
                    </a:p>
                  </a:txBody>
                  <a:tcPr anchor="ctr"/>
                </a:tc>
                <a:tc>
                  <a:txBody>
                    <a:bodyPr/>
                    <a:lstStyle/>
                    <a:p>
                      <a:pPr>
                        <a:buNone/>
                      </a:pPr>
                      <a:r>
                        <a:rPr lang="en-US"/>
                        <a:t>Language</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a:t>DBMS</a:t>
                      </a:r>
                    </a:p>
                  </a:txBody>
                  <a:tcPr anchor="ctr"/>
                </a:tc>
                <a:tc>
                  <a:txBody>
                    <a:bodyPr/>
                    <a:lstStyle/>
                    <a:p>
                      <a:pPr>
                        <a:buNone/>
                      </a:pPr>
                      <a:r>
                        <a:rPr lang="en-US"/>
                        <a:t>English</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dirty="0"/>
                        <a:t>DBMS</a:t>
                      </a:r>
                    </a:p>
                  </a:txBody>
                  <a:tcPr anchor="ctr"/>
                </a:tc>
                <a:tc>
                  <a:txBody>
                    <a:bodyPr/>
                    <a:lstStyle/>
                    <a:p>
                      <a:pPr>
                        <a:buNone/>
                      </a:pPr>
                      <a:r>
                        <a:rPr lang="en-US"/>
                        <a:t>Nepali</a:t>
                      </a:r>
                    </a:p>
                  </a:txBody>
                  <a:tcPr anchor="ctr"/>
                </a:tc>
                <a:extLst>
                  <a:ext uri="{0D108BD9-81ED-4DB2-BD59-A6C34878D82A}">
                    <a16:rowId xmlns:a16="http://schemas.microsoft.com/office/drawing/2014/main" val="2418840407"/>
                  </a:ext>
                </a:extLst>
              </a:tr>
              <a:tr h="378088">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English</a:t>
                      </a:r>
                    </a:p>
                  </a:txBody>
                  <a:tcPr anchor="ctr"/>
                </a:tc>
                <a:extLst>
                  <a:ext uri="{0D108BD9-81ED-4DB2-BD59-A6C34878D82A}">
                    <a16:rowId xmlns:a16="http://schemas.microsoft.com/office/drawing/2014/main" val="2232269818"/>
                  </a:ext>
                </a:extLst>
              </a:tr>
              <a:tr h="378088">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Nepali</a:t>
                      </a:r>
                    </a:p>
                  </a:txBody>
                  <a:tcPr anchor="ctr"/>
                </a:tc>
                <a:extLst>
                  <a:ext uri="{0D108BD9-81ED-4DB2-BD59-A6C34878D82A}">
                    <a16:rowId xmlns:a16="http://schemas.microsoft.com/office/drawing/2014/main" val="254113623"/>
                  </a:ext>
                </a:extLst>
              </a:tr>
              <a:tr h="378088">
                <a:tc>
                  <a:txBody>
                    <a:bodyPr/>
                    <a:lstStyle/>
                    <a:p>
                      <a:pPr>
                        <a:buNone/>
                      </a:pPr>
                      <a:r>
                        <a:rPr lang="en-US"/>
                        <a:t>S102</a:t>
                      </a:r>
                    </a:p>
                  </a:txBody>
                  <a:tcPr anchor="ctr"/>
                </a:tc>
                <a:tc>
                  <a:txBody>
                    <a:bodyPr/>
                    <a:lstStyle/>
                    <a:p>
                      <a:pPr>
                        <a:buNone/>
                      </a:pPr>
                      <a:r>
                        <a:rPr lang="en-US"/>
                        <a:t>DBMS</a:t>
                      </a:r>
                    </a:p>
                  </a:txBody>
                  <a:tcPr anchor="ctr"/>
                </a:tc>
                <a:tc>
                  <a:txBody>
                    <a:bodyPr/>
                    <a:lstStyle/>
                    <a:p>
                      <a:pPr>
                        <a:buNone/>
                      </a:pPr>
                      <a:r>
                        <a:rPr lang="en-US"/>
                        <a:t>English</a:t>
                      </a:r>
                    </a:p>
                  </a:txBody>
                  <a:tcPr anchor="ctr"/>
                </a:tc>
                <a:extLst>
                  <a:ext uri="{0D108BD9-81ED-4DB2-BD59-A6C34878D82A}">
                    <a16:rowId xmlns:a16="http://schemas.microsoft.com/office/drawing/2014/main" val="2829322054"/>
                  </a:ext>
                </a:extLst>
              </a:tr>
              <a:tr h="378088">
                <a:tc>
                  <a:txBody>
                    <a:bodyPr/>
                    <a:lstStyle/>
                    <a:p>
                      <a:pPr>
                        <a:buNone/>
                      </a:pPr>
                      <a:r>
                        <a:rPr lang="en-US"/>
                        <a:t>S102</a:t>
                      </a:r>
                    </a:p>
                  </a:txBody>
                  <a:tcPr anchor="ctr"/>
                </a:tc>
                <a:tc>
                  <a:txBody>
                    <a:bodyPr/>
                    <a:lstStyle/>
                    <a:p>
                      <a:pPr>
                        <a:buNone/>
                      </a:pPr>
                      <a:r>
                        <a:rPr lang="en-US"/>
                        <a:t>CN</a:t>
                      </a:r>
                    </a:p>
                  </a:txBody>
                  <a:tcPr anchor="ctr"/>
                </a:tc>
                <a:tc>
                  <a:txBody>
                    <a:bodyPr/>
                    <a:lstStyle/>
                    <a:p>
                      <a:pPr>
                        <a:buNone/>
                      </a:pPr>
                      <a:r>
                        <a:rPr lang="en-US" dirty="0"/>
                        <a:t>English</a:t>
                      </a:r>
                    </a:p>
                  </a:txBody>
                  <a:tcPr anchor="ctr"/>
                </a:tc>
                <a:extLst>
                  <a:ext uri="{0D108BD9-81ED-4DB2-BD59-A6C34878D82A}">
                    <a16:rowId xmlns:a16="http://schemas.microsoft.com/office/drawing/2014/main" val="2070343107"/>
                  </a:ext>
                </a:extLst>
              </a:tr>
            </a:tbl>
          </a:graphicData>
        </a:graphic>
      </p:graphicFrame>
    </p:spTree>
    <p:extLst>
      <p:ext uri="{BB962C8B-B14F-4D97-AF65-F5344CB8AC3E}">
        <p14:creationId xmlns:p14="http://schemas.microsoft.com/office/powerpoint/2010/main" val="203867759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64AA6-CE2C-AF7E-24D1-38B24781E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719DD9-1539-1B70-C9C5-BF06035EF5EB}"/>
              </a:ext>
            </a:extLst>
          </p:cNvPr>
          <p:cNvSpPr>
            <a:spLocks noGrp="1"/>
          </p:cNvSpPr>
          <p:nvPr>
            <p:ph type="title"/>
          </p:nvPr>
        </p:nvSpPr>
        <p:spPr/>
        <p:txBody>
          <a:bodyPr/>
          <a:lstStyle/>
          <a:p>
            <a:r>
              <a:rPr lang="en-US" dirty="0"/>
              <a:t>Third Normal Form (3NF)</a:t>
            </a:r>
          </a:p>
        </p:txBody>
      </p:sp>
      <p:graphicFrame>
        <p:nvGraphicFramePr>
          <p:cNvPr id="5" name="Table 4">
            <a:extLst>
              <a:ext uri="{FF2B5EF4-FFF2-40B4-BE49-F238E27FC236}">
                <a16:creationId xmlns:a16="http://schemas.microsoft.com/office/drawing/2014/main" id="{1F07E09A-4D2A-ACAF-EE6E-55C87A1636D9}"/>
              </a:ext>
            </a:extLst>
          </p:cNvPr>
          <p:cNvGraphicFramePr>
            <a:graphicFrameLocks noGrp="1"/>
          </p:cNvGraphicFramePr>
          <p:nvPr>
            <p:extLst>
              <p:ext uri="{D42A27DB-BD31-4B8C-83A1-F6EECF244321}">
                <p14:modId xmlns:p14="http://schemas.microsoft.com/office/powerpoint/2010/main" val="2377384599"/>
              </p:ext>
            </p:extLst>
          </p:nvPr>
        </p:nvGraphicFramePr>
        <p:xfrm>
          <a:off x="3559388" y="4787054"/>
          <a:ext cx="2567092" cy="1126068"/>
        </p:xfrm>
        <a:graphic>
          <a:graphicData uri="http://schemas.openxmlformats.org/drawingml/2006/table">
            <a:tbl>
              <a:tblPr firstRow="1" bandRow="1">
                <a:tableStyleId>{5C22544A-7EE6-4342-B048-85BDC9FD1C3A}</a:tableStyleId>
              </a:tblPr>
              <a:tblGrid>
                <a:gridCol w="984673">
                  <a:extLst>
                    <a:ext uri="{9D8B030D-6E8A-4147-A177-3AD203B41FA5}">
                      <a16:colId xmlns:a16="http://schemas.microsoft.com/office/drawing/2014/main" val="220224083"/>
                    </a:ext>
                  </a:extLst>
                </a:gridCol>
                <a:gridCol w="1582419">
                  <a:extLst>
                    <a:ext uri="{9D8B030D-6E8A-4147-A177-3AD203B41FA5}">
                      <a16:colId xmlns:a16="http://schemas.microsoft.com/office/drawing/2014/main" val="2259892988"/>
                    </a:ext>
                  </a:extLst>
                </a:gridCol>
              </a:tblGrid>
              <a:tr h="375356">
                <a:tc>
                  <a:txBody>
                    <a:bodyPr/>
                    <a:lstStyle/>
                    <a:p>
                      <a:pPr>
                        <a:buNone/>
                      </a:pPr>
                      <a:r>
                        <a:rPr lang="en-US" dirty="0" err="1"/>
                        <a:t>Dept_ID</a:t>
                      </a:r>
                      <a:endParaRPr lang="en-US" dirty="0"/>
                    </a:p>
                  </a:txBody>
                  <a:tcPr anchor="ctr"/>
                </a:tc>
                <a:tc>
                  <a:txBody>
                    <a:bodyPr/>
                    <a:lstStyle/>
                    <a:p>
                      <a:pPr>
                        <a:buNone/>
                      </a:pPr>
                      <a:r>
                        <a:rPr lang="en-US"/>
                        <a:t>Dept_Name</a:t>
                      </a:r>
                    </a:p>
                  </a:txBody>
                  <a:tcPr anchor="ctr"/>
                </a:tc>
                <a:extLst>
                  <a:ext uri="{0D108BD9-81ED-4DB2-BD59-A6C34878D82A}">
                    <a16:rowId xmlns:a16="http://schemas.microsoft.com/office/drawing/2014/main" val="408970064"/>
                  </a:ext>
                </a:extLst>
              </a:tr>
              <a:tr h="375356">
                <a:tc>
                  <a:txBody>
                    <a:bodyPr/>
                    <a:lstStyle/>
                    <a:p>
                      <a:pPr>
                        <a:buNone/>
                      </a:pPr>
                      <a:r>
                        <a:rPr lang="en-US"/>
                        <a:t>D1</a:t>
                      </a:r>
                    </a:p>
                  </a:txBody>
                  <a:tcPr anchor="ctr"/>
                </a:tc>
                <a:tc>
                  <a:txBody>
                    <a:bodyPr/>
                    <a:lstStyle/>
                    <a:p>
                      <a:pPr>
                        <a:buNone/>
                      </a:pPr>
                      <a:r>
                        <a:rPr lang="en-US"/>
                        <a:t>Computer</a:t>
                      </a:r>
                    </a:p>
                  </a:txBody>
                  <a:tcPr anchor="ctr"/>
                </a:tc>
                <a:extLst>
                  <a:ext uri="{0D108BD9-81ED-4DB2-BD59-A6C34878D82A}">
                    <a16:rowId xmlns:a16="http://schemas.microsoft.com/office/drawing/2014/main" val="2445831667"/>
                  </a:ext>
                </a:extLst>
              </a:tr>
              <a:tr h="375356">
                <a:tc>
                  <a:txBody>
                    <a:bodyPr/>
                    <a:lstStyle/>
                    <a:p>
                      <a:pPr>
                        <a:buNone/>
                      </a:pPr>
                      <a:r>
                        <a:rPr lang="en-US"/>
                        <a:t>D2</a:t>
                      </a:r>
                    </a:p>
                  </a:txBody>
                  <a:tcPr anchor="ctr"/>
                </a:tc>
                <a:tc>
                  <a:txBody>
                    <a:bodyPr/>
                    <a:lstStyle/>
                    <a:p>
                      <a:pPr>
                        <a:buNone/>
                      </a:pPr>
                      <a:r>
                        <a:rPr lang="en-US" dirty="0"/>
                        <a:t>Civil</a:t>
                      </a:r>
                    </a:p>
                  </a:txBody>
                  <a:tcPr anchor="ctr"/>
                </a:tc>
                <a:extLst>
                  <a:ext uri="{0D108BD9-81ED-4DB2-BD59-A6C34878D82A}">
                    <a16:rowId xmlns:a16="http://schemas.microsoft.com/office/drawing/2014/main" val="945194909"/>
                  </a:ext>
                </a:extLst>
              </a:tr>
            </a:tbl>
          </a:graphicData>
        </a:graphic>
      </p:graphicFrame>
      <p:graphicFrame>
        <p:nvGraphicFramePr>
          <p:cNvPr id="6" name="Table 5">
            <a:extLst>
              <a:ext uri="{FF2B5EF4-FFF2-40B4-BE49-F238E27FC236}">
                <a16:creationId xmlns:a16="http://schemas.microsoft.com/office/drawing/2014/main" id="{9512122C-148E-8DEA-4A39-0C81C0459306}"/>
              </a:ext>
            </a:extLst>
          </p:cNvPr>
          <p:cNvGraphicFramePr>
            <a:graphicFrameLocks noGrp="1"/>
          </p:cNvGraphicFramePr>
          <p:nvPr>
            <p:extLst>
              <p:ext uri="{D42A27DB-BD31-4B8C-83A1-F6EECF244321}">
                <p14:modId xmlns:p14="http://schemas.microsoft.com/office/powerpoint/2010/main" val="1854302251"/>
              </p:ext>
            </p:extLst>
          </p:nvPr>
        </p:nvGraphicFramePr>
        <p:xfrm>
          <a:off x="5353198" y="2142914"/>
          <a:ext cx="2567092" cy="1501424"/>
        </p:xfrm>
        <a:graphic>
          <a:graphicData uri="http://schemas.openxmlformats.org/drawingml/2006/table">
            <a:tbl>
              <a:tblPr firstRow="1" bandRow="1">
                <a:tableStyleId>{5C22544A-7EE6-4342-B048-85BDC9FD1C3A}</a:tableStyleId>
              </a:tblPr>
              <a:tblGrid>
                <a:gridCol w="984673">
                  <a:extLst>
                    <a:ext uri="{9D8B030D-6E8A-4147-A177-3AD203B41FA5}">
                      <a16:colId xmlns:a16="http://schemas.microsoft.com/office/drawing/2014/main" val="220224083"/>
                    </a:ext>
                  </a:extLst>
                </a:gridCol>
                <a:gridCol w="1582419">
                  <a:extLst>
                    <a:ext uri="{9D8B030D-6E8A-4147-A177-3AD203B41FA5}">
                      <a16:colId xmlns:a16="http://schemas.microsoft.com/office/drawing/2014/main" val="2259892988"/>
                    </a:ext>
                  </a:extLst>
                </a:gridCol>
              </a:tblGrid>
              <a:tr h="375356">
                <a:tc>
                  <a:txBody>
                    <a:bodyPr/>
                    <a:lstStyle/>
                    <a:p>
                      <a:pPr>
                        <a:buNone/>
                      </a:pPr>
                      <a:r>
                        <a:rPr lang="en-US" dirty="0"/>
                        <a:t>Subject</a:t>
                      </a:r>
                    </a:p>
                  </a:txBody>
                  <a:tcPr anchor="ctr"/>
                </a:tc>
                <a:tc>
                  <a:txBody>
                    <a:bodyPr/>
                    <a:lstStyle/>
                    <a:p>
                      <a:pPr>
                        <a:buNone/>
                      </a:pPr>
                      <a:r>
                        <a:rPr lang="en-US"/>
                        <a:t>Teacher</a:t>
                      </a:r>
                    </a:p>
                  </a:txBody>
                  <a:tcPr anchor="ctr"/>
                </a:tc>
                <a:extLst>
                  <a:ext uri="{0D108BD9-81ED-4DB2-BD59-A6C34878D82A}">
                    <a16:rowId xmlns:a16="http://schemas.microsoft.com/office/drawing/2014/main" val="408970064"/>
                  </a:ext>
                </a:extLst>
              </a:tr>
              <a:tr h="375356">
                <a:tc>
                  <a:txBody>
                    <a:bodyPr/>
                    <a:lstStyle/>
                    <a:p>
                      <a:pPr>
                        <a:buNone/>
                      </a:pPr>
                      <a:r>
                        <a:rPr lang="en-US"/>
                        <a:t>DBMS</a:t>
                      </a:r>
                    </a:p>
                  </a:txBody>
                  <a:tcPr anchor="ctr"/>
                </a:tc>
                <a:tc>
                  <a:txBody>
                    <a:bodyPr/>
                    <a:lstStyle/>
                    <a:p>
                      <a:pPr>
                        <a:buNone/>
                      </a:pPr>
                      <a:r>
                        <a:rPr lang="en-US"/>
                        <a:t>Sharma</a:t>
                      </a:r>
                    </a:p>
                  </a:txBody>
                  <a:tcPr anchor="ctr"/>
                </a:tc>
                <a:extLst>
                  <a:ext uri="{0D108BD9-81ED-4DB2-BD59-A6C34878D82A}">
                    <a16:rowId xmlns:a16="http://schemas.microsoft.com/office/drawing/2014/main" val="2445831667"/>
                  </a:ext>
                </a:extLst>
              </a:tr>
              <a:tr h="375356">
                <a:tc>
                  <a:txBody>
                    <a:bodyPr/>
                    <a:lstStyle/>
                    <a:p>
                      <a:pPr>
                        <a:buNone/>
                      </a:pPr>
                      <a:r>
                        <a:rPr lang="en-US" dirty="0"/>
                        <a:t>OS</a:t>
                      </a:r>
                    </a:p>
                  </a:txBody>
                  <a:tcPr anchor="ctr"/>
                </a:tc>
                <a:tc>
                  <a:txBody>
                    <a:bodyPr/>
                    <a:lstStyle/>
                    <a:p>
                      <a:pPr>
                        <a:buNone/>
                      </a:pPr>
                      <a:r>
                        <a:rPr lang="en-US"/>
                        <a:t>Verma</a:t>
                      </a:r>
                    </a:p>
                  </a:txBody>
                  <a:tcPr anchor="ctr"/>
                </a:tc>
                <a:extLst>
                  <a:ext uri="{0D108BD9-81ED-4DB2-BD59-A6C34878D82A}">
                    <a16:rowId xmlns:a16="http://schemas.microsoft.com/office/drawing/2014/main" val="945194909"/>
                  </a:ext>
                </a:extLst>
              </a:tr>
              <a:tr h="375356">
                <a:tc>
                  <a:txBody>
                    <a:bodyPr/>
                    <a:lstStyle/>
                    <a:p>
                      <a:pPr>
                        <a:buNone/>
                      </a:pPr>
                      <a:r>
                        <a:rPr lang="en-US"/>
                        <a:t>CN</a:t>
                      </a:r>
                    </a:p>
                  </a:txBody>
                  <a:tcPr anchor="ctr"/>
                </a:tc>
                <a:tc>
                  <a:txBody>
                    <a:bodyPr/>
                    <a:lstStyle/>
                    <a:p>
                      <a:pPr>
                        <a:buNone/>
                      </a:pPr>
                      <a:r>
                        <a:rPr lang="en-US" dirty="0"/>
                        <a:t>Pant</a:t>
                      </a:r>
                    </a:p>
                  </a:txBody>
                  <a:tcPr anchor="ctr"/>
                </a:tc>
                <a:extLst>
                  <a:ext uri="{0D108BD9-81ED-4DB2-BD59-A6C34878D82A}">
                    <a16:rowId xmlns:a16="http://schemas.microsoft.com/office/drawing/2014/main" val="763572993"/>
                  </a:ext>
                </a:extLst>
              </a:tr>
            </a:tbl>
          </a:graphicData>
        </a:graphic>
      </p:graphicFrame>
      <p:graphicFrame>
        <p:nvGraphicFramePr>
          <p:cNvPr id="8" name="Content Placeholder 3">
            <a:extLst>
              <a:ext uri="{FF2B5EF4-FFF2-40B4-BE49-F238E27FC236}">
                <a16:creationId xmlns:a16="http://schemas.microsoft.com/office/drawing/2014/main" id="{F8B0BFCE-B123-9A6D-81FE-E415E5A807B6}"/>
              </a:ext>
            </a:extLst>
          </p:cNvPr>
          <p:cNvGraphicFramePr>
            <a:graphicFrameLocks/>
          </p:cNvGraphicFramePr>
          <p:nvPr>
            <p:extLst>
              <p:ext uri="{D42A27DB-BD31-4B8C-83A1-F6EECF244321}">
                <p14:modId xmlns:p14="http://schemas.microsoft.com/office/powerpoint/2010/main" val="2832923325"/>
              </p:ext>
            </p:extLst>
          </p:nvPr>
        </p:nvGraphicFramePr>
        <p:xfrm>
          <a:off x="60960" y="2142914"/>
          <a:ext cx="5139838" cy="1097280"/>
        </p:xfrm>
        <a:graphic>
          <a:graphicData uri="http://schemas.openxmlformats.org/drawingml/2006/table">
            <a:tbl>
              <a:tblPr firstRow="1" bandRow="1">
                <a:tableStyleId>{5C22544A-7EE6-4342-B048-85BDC9FD1C3A}</a:tableStyleId>
              </a:tblPr>
              <a:tblGrid>
                <a:gridCol w="959169">
                  <a:extLst>
                    <a:ext uri="{9D8B030D-6E8A-4147-A177-3AD203B41FA5}">
                      <a16:colId xmlns:a16="http://schemas.microsoft.com/office/drawing/2014/main" val="3785994975"/>
                    </a:ext>
                  </a:extLst>
                </a:gridCol>
                <a:gridCol w="1280160">
                  <a:extLst>
                    <a:ext uri="{9D8B030D-6E8A-4147-A177-3AD203B41FA5}">
                      <a16:colId xmlns:a16="http://schemas.microsoft.com/office/drawing/2014/main" val="672026554"/>
                    </a:ext>
                  </a:extLst>
                </a:gridCol>
                <a:gridCol w="1165860">
                  <a:extLst>
                    <a:ext uri="{9D8B030D-6E8A-4147-A177-3AD203B41FA5}">
                      <a16:colId xmlns:a16="http://schemas.microsoft.com/office/drawing/2014/main" val="1055285404"/>
                    </a:ext>
                  </a:extLst>
                </a:gridCol>
                <a:gridCol w="1734649">
                  <a:extLst>
                    <a:ext uri="{9D8B030D-6E8A-4147-A177-3AD203B41FA5}">
                      <a16:colId xmlns:a16="http://schemas.microsoft.com/office/drawing/2014/main" val="3546076491"/>
                    </a:ext>
                  </a:extLst>
                </a:gridCol>
              </a:tblGrid>
              <a:tr h="344699">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973631919"/>
                  </a:ext>
                </a:extLst>
              </a:tr>
              <a:tr h="344699">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dirty="0"/>
                        <a:t>D1</a:t>
                      </a:r>
                    </a:p>
                  </a:txBody>
                  <a:tcPr anchor="ctr"/>
                </a:tc>
                <a:tc>
                  <a:txBody>
                    <a:bodyPr/>
                    <a:lstStyle/>
                    <a:p>
                      <a:pPr>
                        <a:buNone/>
                      </a:pPr>
                      <a:r>
                        <a:rPr lang="en-US" dirty="0"/>
                        <a:t>Computer</a:t>
                      </a:r>
                    </a:p>
                  </a:txBody>
                  <a:tcPr anchor="ctr"/>
                </a:tc>
                <a:extLst>
                  <a:ext uri="{0D108BD9-81ED-4DB2-BD59-A6C34878D82A}">
                    <a16:rowId xmlns:a16="http://schemas.microsoft.com/office/drawing/2014/main" val="1613438799"/>
                  </a:ext>
                </a:extLst>
              </a:tr>
              <a:tr h="344699">
                <a:tc>
                  <a:txBody>
                    <a:bodyPr/>
                    <a:lstStyle/>
                    <a:p>
                      <a:pPr>
                        <a:buNone/>
                      </a:pPr>
                      <a:r>
                        <a:rPr lang="en-US"/>
                        <a:t>S102</a:t>
                      </a:r>
                    </a:p>
                  </a:txBody>
                  <a:tcPr anchor="ctr"/>
                </a:tc>
                <a:tc>
                  <a:txBody>
                    <a:bodyPr/>
                    <a:lstStyle/>
                    <a:p>
                      <a:pPr>
                        <a:buNone/>
                      </a:pPr>
                      <a:r>
                        <a:rPr lang="en-US"/>
                        <a:t>Hari</a:t>
                      </a:r>
                    </a:p>
                  </a:txBody>
                  <a:tcPr anchor="ctr"/>
                </a:tc>
                <a:tc>
                  <a:txBody>
                    <a:bodyPr/>
                    <a:lstStyle/>
                    <a:p>
                      <a:pPr>
                        <a:buNone/>
                      </a:pPr>
                      <a:r>
                        <a:rPr lang="en-US" dirty="0"/>
                        <a:t>D2</a:t>
                      </a:r>
                    </a:p>
                  </a:txBody>
                  <a:tcPr anchor="ctr"/>
                </a:tc>
                <a:tc>
                  <a:txBody>
                    <a:bodyPr/>
                    <a:lstStyle/>
                    <a:p>
                      <a:pPr>
                        <a:buNone/>
                      </a:pPr>
                      <a:r>
                        <a:rPr lang="en-US" dirty="0"/>
                        <a:t>Civil</a:t>
                      </a:r>
                    </a:p>
                  </a:txBody>
                  <a:tcPr anchor="ctr"/>
                </a:tc>
                <a:extLst>
                  <a:ext uri="{0D108BD9-81ED-4DB2-BD59-A6C34878D82A}">
                    <a16:rowId xmlns:a16="http://schemas.microsoft.com/office/drawing/2014/main" val="1583487290"/>
                  </a:ext>
                </a:extLst>
              </a:tr>
            </a:tbl>
          </a:graphicData>
        </a:graphic>
      </p:graphicFrame>
      <p:graphicFrame>
        <p:nvGraphicFramePr>
          <p:cNvPr id="7" name="Content Placeholder 3">
            <a:extLst>
              <a:ext uri="{FF2B5EF4-FFF2-40B4-BE49-F238E27FC236}">
                <a16:creationId xmlns:a16="http://schemas.microsoft.com/office/drawing/2014/main" id="{4A517103-035A-8738-E7C9-3267678BAF38}"/>
              </a:ext>
            </a:extLst>
          </p:cNvPr>
          <p:cNvGraphicFramePr>
            <a:graphicFrameLocks/>
          </p:cNvGraphicFramePr>
          <p:nvPr>
            <p:extLst>
              <p:ext uri="{D42A27DB-BD31-4B8C-83A1-F6EECF244321}">
                <p14:modId xmlns:p14="http://schemas.microsoft.com/office/powerpoint/2010/main" val="225972119"/>
              </p:ext>
            </p:extLst>
          </p:nvPr>
        </p:nvGraphicFramePr>
        <p:xfrm>
          <a:off x="60960" y="4787054"/>
          <a:ext cx="3405189" cy="1097280"/>
        </p:xfrm>
        <a:graphic>
          <a:graphicData uri="http://schemas.openxmlformats.org/drawingml/2006/table">
            <a:tbl>
              <a:tblPr firstRow="1" bandRow="1">
                <a:tableStyleId>{5C22544A-7EE6-4342-B048-85BDC9FD1C3A}</a:tableStyleId>
              </a:tblPr>
              <a:tblGrid>
                <a:gridCol w="959169">
                  <a:extLst>
                    <a:ext uri="{9D8B030D-6E8A-4147-A177-3AD203B41FA5}">
                      <a16:colId xmlns:a16="http://schemas.microsoft.com/office/drawing/2014/main" val="3785994975"/>
                    </a:ext>
                  </a:extLst>
                </a:gridCol>
                <a:gridCol w="1280160">
                  <a:extLst>
                    <a:ext uri="{9D8B030D-6E8A-4147-A177-3AD203B41FA5}">
                      <a16:colId xmlns:a16="http://schemas.microsoft.com/office/drawing/2014/main" val="672026554"/>
                    </a:ext>
                  </a:extLst>
                </a:gridCol>
                <a:gridCol w="1165860">
                  <a:extLst>
                    <a:ext uri="{9D8B030D-6E8A-4147-A177-3AD203B41FA5}">
                      <a16:colId xmlns:a16="http://schemas.microsoft.com/office/drawing/2014/main" val="1055285404"/>
                    </a:ext>
                  </a:extLst>
                </a:gridCol>
              </a:tblGrid>
              <a:tr h="344699">
                <a:tc>
                  <a:txBody>
                    <a:bodyPr/>
                    <a:lstStyle/>
                    <a:p>
                      <a:pPr>
                        <a:buNone/>
                      </a:pPr>
                      <a:r>
                        <a:rPr lang="en-US" dirty="0" err="1"/>
                        <a:t>Stu_ID</a:t>
                      </a:r>
                      <a:endParaRPr lang="en-US" dirty="0"/>
                    </a:p>
                  </a:txBody>
                  <a:tcPr anchor="ctr"/>
                </a:tc>
                <a:tc>
                  <a:txBody>
                    <a:bodyPr/>
                    <a:lstStyle/>
                    <a:p>
                      <a:pPr>
                        <a:buNone/>
                      </a:pPr>
                      <a:r>
                        <a:rPr lang="en-US" dirty="0" err="1"/>
                        <a:t>Stu_Name</a:t>
                      </a:r>
                      <a:endParaRPr lang="en-US" dirty="0"/>
                    </a:p>
                  </a:txBody>
                  <a:tcPr anchor="ctr"/>
                </a:tc>
                <a:tc>
                  <a:txBody>
                    <a:bodyPr/>
                    <a:lstStyle/>
                    <a:p>
                      <a:pPr>
                        <a:buNone/>
                      </a:pPr>
                      <a:r>
                        <a:rPr lang="en-US" dirty="0" err="1"/>
                        <a:t>Dept_ID</a:t>
                      </a:r>
                      <a:endParaRPr lang="en-US" dirty="0"/>
                    </a:p>
                  </a:txBody>
                  <a:tcPr anchor="ctr"/>
                </a:tc>
                <a:extLst>
                  <a:ext uri="{0D108BD9-81ED-4DB2-BD59-A6C34878D82A}">
                    <a16:rowId xmlns:a16="http://schemas.microsoft.com/office/drawing/2014/main" val="973631919"/>
                  </a:ext>
                </a:extLst>
              </a:tr>
              <a:tr h="344699">
                <a:tc>
                  <a:txBody>
                    <a:bodyPr/>
                    <a:lstStyle/>
                    <a:p>
                      <a:pPr>
                        <a:buNone/>
                      </a:pPr>
                      <a:r>
                        <a:rPr lang="en-US"/>
                        <a:t>S101</a:t>
                      </a:r>
                    </a:p>
                  </a:txBody>
                  <a:tcPr anchor="ctr"/>
                </a:tc>
                <a:tc>
                  <a:txBody>
                    <a:bodyPr/>
                    <a:lstStyle/>
                    <a:p>
                      <a:pPr>
                        <a:buNone/>
                      </a:pPr>
                      <a:r>
                        <a:rPr lang="en-US"/>
                        <a:t>Ram</a:t>
                      </a:r>
                    </a:p>
                  </a:txBody>
                  <a:tcPr anchor="ctr"/>
                </a:tc>
                <a:tc>
                  <a:txBody>
                    <a:bodyPr/>
                    <a:lstStyle/>
                    <a:p>
                      <a:pPr>
                        <a:buNone/>
                      </a:pPr>
                      <a:r>
                        <a:rPr lang="en-US" dirty="0"/>
                        <a:t>D1</a:t>
                      </a:r>
                    </a:p>
                  </a:txBody>
                  <a:tcPr anchor="ctr"/>
                </a:tc>
                <a:extLst>
                  <a:ext uri="{0D108BD9-81ED-4DB2-BD59-A6C34878D82A}">
                    <a16:rowId xmlns:a16="http://schemas.microsoft.com/office/drawing/2014/main" val="1613438799"/>
                  </a:ext>
                </a:extLst>
              </a:tr>
              <a:tr h="344699">
                <a:tc>
                  <a:txBody>
                    <a:bodyPr/>
                    <a:lstStyle/>
                    <a:p>
                      <a:pPr>
                        <a:buNone/>
                      </a:pPr>
                      <a:r>
                        <a:rPr lang="en-US"/>
                        <a:t>S102</a:t>
                      </a:r>
                    </a:p>
                  </a:txBody>
                  <a:tcPr anchor="ctr"/>
                </a:tc>
                <a:tc>
                  <a:txBody>
                    <a:bodyPr/>
                    <a:lstStyle/>
                    <a:p>
                      <a:pPr>
                        <a:buNone/>
                      </a:pPr>
                      <a:r>
                        <a:rPr lang="en-US" dirty="0"/>
                        <a:t>Hari</a:t>
                      </a:r>
                    </a:p>
                  </a:txBody>
                  <a:tcPr anchor="ctr"/>
                </a:tc>
                <a:tc>
                  <a:txBody>
                    <a:bodyPr/>
                    <a:lstStyle/>
                    <a:p>
                      <a:pPr>
                        <a:buNone/>
                      </a:pPr>
                      <a:r>
                        <a:rPr lang="en-US" dirty="0"/>
                        <a:t>D2</a:t>
                      </a:r>
                    </a:p>
                  </a:txBody>
                  <a:tcPr anchor="ctr"/>
                </a:tc>
                <a:extLst>
                  <a:ext uri="{0D108BD9-81ED-4DB2-BD59-A6C34878D82A}">
                    <a16:rowId xmlns:a16="http://schemas.microsoft.com/office/drawing/2014/main" val="1583487290"/>
                  </a:ext>
                </a:extLst>
              </a:tr>
            </a:tbl>
          </a:graphicData>
        </a:graphic>
      </p:graphicFrame>
      <p:graphicFrame>
        <p:nvGraphicFramePr>
          <p:cNvPr id="10" name="Table 9">
            <a:extLst>
              <a:ext uri="{FF2B5EF4-FFF2-40B4-BE49-F238E27FC236}">
                <a16:creationId xmlns:a16="http://schemas.microsoft.com/office/drawing/2014/main" id="{DFDCFD8A-59D4-523D-ABFA-D6A2CC3D7297}"/>
              </a:ext>
            </a:extLst>
          </p:cNvPr>
          <p:cNvGraphicFramePr>
            <a:graphicFrameLocks noGrp="1"/>
          </p:cNvGraphicFramePr>
          <p:nvPr>
            <p:extLst>
              <p:ext uri="{D42A27DB-BD31-4B8C-83A1-F6EECF244321}">
                <p14:modId xmlns:p14="http://schemas.microsoft.com/office/powerpoint/2010/main" val="216753421"/>
              </p:ext>
            </p:extLst>
          </p:nvPr>
        </p:nvGraphicFramePr>
        <p:xfrm>
          <a:off x="8252775" y="1214178"/>
          <a:ext cx="3946845" cy="2893790"/>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dirty="0"/>
                        <a:t>Subject</a:t>
                      </a:r>
                    </a:p>
                  </a:txBody>
                  <a:tcPr anchor="ctr"/>
                </a:tc>
                <a:tc>
                  <a:txBody>
                    <a:bodyPr/>
                    <a:lstStyle/>
                    <a:p>
                      <a:pPr>
                        <a:buNone/>
                      </a:pPr>
                      <a:r>
                        <a:rPr lang="en-US" dirty="0"/>
                        <a:t>Language</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a:t>DBMS</a:t>
                      </a:r>
                    </a:p>
                  </a:txBody>
                  <a:tcPr anchor="ctr"/>
                </a:tc>
                <a:tc>
                  <a:txBody>
                    <a:bodyPr/>
                    <a:lstStyle/>
                    <a:p>
                      <a:pPr>
                        <a:buNone/>
                      </a:pPr>
                      <a:r>
                        <a:rPr lang="en-US"/>
                        <a:t>English</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dirty="0"/>
                        <a:t>DBMS</a:t>
                      </a:r>
                    </a:p>
                  </a:txBody>
                  <a:tcPr anchor="ctr"/>
                </a:tc>
                <a:tc>
                  <a:txBody>
                    <a:bodyPr/>
                    <a:lstStyle/>
                    <a:p>
                      <a:pPr>
                        <a:buNone/>
                      </a:pPr>
                      <a:r>
                        <a:rPr lang="en-US"/>
                        <a:t>Nepali</a:t>
                      </a:r>
                    </a:p>
                  </a:txBody>
                  <a:tcPr anchor="ctr"/>
                </a:tc>
                <a:extLst>
                  <a:ext uri="{0D108BD9-81ED-4DB2-BD59-A6C34878D82A}">
                    <a16:rowId xmlns:a16="http://schemas.microsoft.com/office/drawing/2014/main" val="2418840407"/>
                  </a:ext>
                </a:extLst>
              </a:tr>
              <a:tr h="378088">
                <a:tc>
                  <a:txBody>
                    <a:bodyPr/>
                    <a:lstStyle/>
                    <a:p>
                      <a:pPr>
                        <a:buNone/>
                      </a:pPr>
                      <a:r>
                        <a:rPr lang="en-US"/>
                        <a:t>S101</a:t>
                      </a:r>
                    </a:p>
                  </a:txBody>
                  <a:tcPr anchor="ctr"/>
                </a:tc>
                <a:tc>
                  <a:txBody>
                    <a:bodyPr/>
                    <a:lstStyle/>
                    <a:p>
                      <a:pPr>
                        <a:buNone/>
                      </a:pPr>
                      <a:r>
                        <a:rPr lang="en-US"/>
                        <a:t>OS</a:t>
                      </a:r>
                    </a:p>
                  </a:txBody>
                  <a:tcPr anchor="ctr"/>
                </a:tc>
                <a:tc>
                  <a:txBody>
                    <a:bodyPr/>
                    <a:lstStyle/>
                    <a:p>
                      <a:pPr>
                        <a:buNone/>
                      </a:pPr>
                      <a:r>
                        <a:rPr lang="en-US"/>
                        <a:t>English</a:t>
                      </a:r>
                    </a:p>
                  </a:txBody>
                  <a:tcPr anchor="ctr"/>
                </a:tc>
                <a:extLst>
                  <a:ext uri="{0D108BD9-81ED-4DB2-BD59-A6C34878D82A}">
                    <a16:rowId xmlns:a16="http://schemas.microsoft.com/office/drawing/2014/main" val="2232269818"/>
                  </a:ext>
                </a:extLst>
              </a:tr>
              <a:tr h="378088">
                <a:tc>
                  <a:txBody>
                    <a:bodyPr/>
                    <a:lstStyle/>
                    <a:p>
                      <a:pPr>
                        <a:buNone/>
                      </a:pPr>
                      <a:r>
                        <a:rPr lang="en-US"/>
                        <a:t>S101</a:t>
                      </a:r>
                    </a:p>
                  </a:txBody>
                  <a:tcPr anchor="ctr"/>
                </a:tc>
                <a:tc>
                  <a:txBody>
                    <a:bodyPr/>
                    <a:lstStyle/>
                    <a:p>
                      <a:pPr>
                        <a:buNone/>
                      </a:pPr>
                      <a:r>
                        <a:rPr lang="en-US" dirty="0"/>
                        <a:t>OS</a:t>
                      </a:r>
                    </a:p>
                  </a:txBody>
                  <a:tcPr anchor="ctr"/>
                </a:tc>
                <a:tc>
                  <a:txBody>
                    <a:bodyPr/>
                    <a:lstStyle/>
                    <a:p>
                      <a:pPr>
                        <a:buNone/>
                      </a:pPr>
                      <a:r>
                        <a:rPr lang="en-US"/>
                        <a:t>Nepali</a:t>
                      </a:r>
                    </a:p>
                  </a:txBody>
                  <a:tcPr anchor="ctr"/>
                </a:tc>
                <a:extLst>
                  <a:ext uri="{0D108BD9-81ED-4DB2-BD59-A6C34878D82A}">
                    <a16:rowId xmlns:a16="http://schemas.microsoft.com/office/drawing/2014/main" val="254113623"/>
                  </a:ext>
                </a:extLst>
              </a:tr>
              <a:tr h="378088">
                <a:tc>
                  <a:txBody>
                    <a:bodyPr/>
                    <a:lstStyle/>
                    <a:p>
                      <a:pPr>
                        <a:buNone/>
                      </a:pPr>
                      <a:r>
                        <a:rPr lang="en-US"/>
                        <a:t>S102</a:t>
                      </a:r>
                    </a:p>
                  </a:txBody>
                  <a:tcPr anchor="ctr"/>
                </a:tc>
                <a:tc>
                  <a:txBody>
                    <a:bodyPr/>
                    <a:lstStyle/>
                    <a:p>
                      <a:pPr>
                        <a:buNone/>
                      </a:pPr>
                      <a:r>
                        <a:rPr lang="en-US" dirty="0"/>
                        <a:t>DBMS</a:t>
                      </a:r>
                    </a:p>
                  </a:txBody>
                  <a:tcPr anchor="ctr"/>
                </a:tc>
                <a:tc>
                  <a:txBody>
                    <a:bodyPr/>
                    <a:lstStyle/>
                    <a:p>
                      <a:pPr>
                        <a:buNone/>
                      </a:pPr>
                      <a:r>
                        <a:rPr lang="en-US"/>
                        <a:t>English</a:t>
                      </a:r>
                    </a:p>
                  </a:txBody>
                  <a:tcPr anchor="ctr"/>
                </a:tc>
                <a:extLst>
                  <a:ext uri="{0D108BD9-81ED-4DB2-BD59-A6C34878D82A}">
                    <a16:rowId xmlns:a16="http://schemas.microsoft.com/office/drawing/2014/main" val="2829322054"/>
                  </a:ext>
                </a:extLst>
              </a:tr>
              <a:tr h="378088">
                <a:tc>
                  <a:txBody>
                    <a:bodyPr/>
                    <a:lstStyle/>
                    <a:p>
                      <a:pPr>
                        <a:buNone/>
                      </a:pPr>
                      <a:r>
                        <a:rPr lang="en-US"/>
                        <a:t>S102</a:t>
                      </a:r>
                    </a:p>
                  </a:txBody>
                  <a:tcPr anchor="ctr"/>
                </a:tc>
                <a:tc>
                  <a:txBody>
                    <a:bodyPr/>
                    <a:lstStyle/>
                    <a:p>
                      <a:pPr>
                        <a:buNone/>
                      </a:pPr>
                      <a:r>
                        <a:rPr lang="en-US"/>
                        <a:t>CN</a:t>
                      </a:r>
                    </a:p>
                  </a:txBody>
                  <a:tcPr anchor="ctr"/>
                </a:tc>
                <a:tc>
                  <a:txBody>
                    <a:bodyPr/>
                    <a:lstStyle/>
                    <a:p>
                      <a:pPr>
                        <a:buNone/>
                      </a:pPr>
                      <a:r>
                        <a:rPr lang="en-US" dirty="0"/>
                        <a:t>English</a:t>
                      </a:r>
                    </a:p>
                  </a:txBody>
                  <a:tcPr anchor="ctr"/>
                </a:tc>
                <a:extLst>
                  <a:ext uri="{0D108BD9-81ED-4DB2-BD59-A6C34878D82A}">
                    <a16:rowId xmlns:a16="http://schemas.microsoft.com/office/drawing/2014/main" val="2070343107"/>
                  </a:ext>
                </a:extLst>
              </a:tr>
            </a:tbl>
          </a:graphicData>
        </a:graphic>
      </p:graphicFrame>
      <p:graphicFrame>
        <p:nvGraphicFramePr>
          <p:cNvPr id="12" name="Table 11">
            <a:extLst>
              <a:ext uri="{FF2B5EF4-FFF2-40B4-BE49-F238E27FC236}">
                <a16:creationId xmlns:a16="http://schemas.microsoft.com/office/drawing/2014/main" id="{49BFD3FD-17F6-2CF1-BEA5-2E2173A84FAE}"/>
              </a:ext>
            </a:extLst>
          </p:cNvPr>
          <p:cNvGraphicFramePr>
            <a:graphicFrameLocks noGrp="1"/>
          </p:cNvGraphicFramePr>
          <p:nvPr>
            <p:extLst>
              <p:ext uri="{D42A27DB-BD31-4B8C-83A1-F6EECF244321}">
                <p14:modId xmlns:p14="http://schemas.microsoft.com/office/powerpoint/2010/main" val="1464801795"/>
              </p:ext>
            </p:extLst>
          </p:nvPr>
        </p:nvGraphicFramePr>
        <p:xfrm>
          <a:off x="6219719" y="4787054"/>
          <a:ext cx="2567092" cy="1501424"/>
        </p:xfrm>
        <a:graphic>
          <a:graphicData uri="http://schemas.openxmlformats.org/drawingml/2006/table">
            <a:tbl>
              <a:tblPr firstRow="1" bandRow="1">
                <a:tableStyleId>{5C22544A-7EE6-4342-B048-85BDC9FD1C3A}</a:tableStyleId>
              </a:tblPr>
              <a:tblGrid>
                <a:gridCol w="984673">
                  <a:extLst>
                    <a:ext uri="{9D8B030D-6E8A-4147-A177-3AD203B41FA5}">
                      <a16:colId xmlns:a16="http://schemas.microsoft.com/office/drawing/2014/main" val="220224083"/>
                    </a:ext>
                  </a:extLst>
                </a:gridCol>
                <a:gridCol w="1582419">
                  <a:extLst>
                    <a:ext uri="{9D8B030D-6E8A-4147-A177-3AD203B41FA5}">
                      <a16:colId xmlns:a16="http://schemas.microsoft.com/office/drawing/2014/main" val="2259892988"/>
                    </a:ext>
                  </a:extLst>
                </a:gridCol>
              </a:tblGrid>
              <a:tr h="375356">
                <a:tc>
                  <a:txBody>
                    <a:bodyPr/>
                    <a:lstStyle/>
                    <a:p>
                      <a:pPr>
                        <a:buNone/>
                      </a:pPr>
                      <a:r>
                        <a:rPr lang="en-US" dirty="0"/>
                        <a:t>Subject</a:t>
                      </a:r>
                    </a:p>
                  </a:txBody>
                  <a:tcPr anchor="ctr"/>
                </a:tc>
                <a:tc>
                  <a:txBody>
                    <a:bodyPr/>
                    <a:lstStyle/>
                    <a:p>
                      <a:pPr>
                        <a:buNone/>
                      </a:pPr>
                      <a:r>
                        <a:rPr lang="en-US"/>
                        <a:t>Teacher</a:t>
                      </a:r>
                    </a:p>
                  </a:txBody>
                  <a:tcPr anchor="ctr"/>
                </a:tc>
                <a:extLst>
                  <a:ext uri="{0D108BD9-81ED-4DB2-BD59-A6C34878D82A}">
                    <a16:rowId xmlns:a16="http://schemas.microsoft.com/office/drawing/2014/main" val="408970064"/>
                  </a:ext>
                </a:extLst>
              </a:tr>
              <a:tr h="375356">
                <a:tc>
                  <a:txBody>
                    <a:bodyPr/>
                    <a:lstStyle/>
                    <a:p>
                      <a:pPr>
                        <a:buNone/>
                      </a:pPr>
                      <a:r>
                        <a:rPr lang="en-US"/>
                        <a:t>DBMS</a:t>
                      </a:r>
                    </a:p>
                  </a:txBody>
                  <a:tcPr anchor="ctr"/>
                </a:tc>
                <a:tc>
                  <a:txBody>
                    <a:bodyPr/>
                    <a:lstStyle/>
                    <a:p>
                      <a:pPr>
                        <a:buNone/>
                      </a:pPr>
                      <a:r>
                        <a:rPr lang="en-US"/>
                        <a:t>Sharma</a:t>
                      </a:r>
                    </a:p>
                  </a:txBody>
                  <a:tcPr anchor="ctr"/>
                </a:tc>
                <a:extLst>
                  <a:ext uri="{0D108BD9-81ED-4DB2-BD59-A6C34878D82A}">
                    <a16:rowId xmlns:a16="http://schemas.microsoft.com/office/drawing/2014/main" val="2445831667"/>
                  </a:ext>
                </a:extLst>
              </a:tr>
              <a:tr h="375356">
                <a:tc>
                  <a:txBody>
                    <a:bodyPr/>
                    <a:lstStyle/>
                    <a:p>
                      <a:pPr>
                        <a:buNone/>
                      </a:pPr>
                      <a:r>
                        <a:rPr lang="en-US"/>
                        <a:t>OS</a:t>
                      </a:r>
                    </a:p>
                  </a:txBody>
                  <a:tcPr anchor="ctr"/>
                </a:tc>
                <a:tc>
                  <a:txBody>
                    <a:bodyPr/>
                    <a:lstStyle/>
                    <a:p>
                      <a:pPr>
                        <a:buNone/>
                      </a:pPr>
                      <a:r>
                        <a:rPr lang="en-US"/>
                        <a:t>Verma</a:t>
                      </a:r>
                    </a:p>
                  </a:txBody>
                  <a:tcPr anchor="ctr"/>
                </a:tc>
                <a:extLst>
                  <a:ext uri="{0D108BD9-81ED-4DB2-BD59-A6C34878D82A}">
                    <a16:rowId xmlns:a16="http://schemas.microsoft.com/office/drawing/2014/main" val="945194909"/>
                  </a:ext>
                </a:extLst>
              </a:tr>
              <a:tr h="375356">
                <a:tc>
                  <a:txBody>
                    <a:bodyPr/>
                    <a:lstStyle/>
                    <a:p>
                      <a:pPr>
                        <a:buNone/>
                      </a:pPr>
                      <a:r>
                        <a:rPr lang="en-US"/>
                        <a:t>CN</a:t>
                      </a:r>
                    </a:p>
                  </a:txBody>
                  <a:tcPr anchor="ctr"/>
                </a:tc>
                <a:tc>
                  <a:txBody>
                    <a:bodyPr/>
                    <a:lstStyle/>
                    <a:p>
                      <a:pPr>
                        <a:buNone/>
                      </a:pPr>
                      <a:r>
                        <a:rPr lang="en-US" dirty="0"/>
                        <a:t>Pant</a:t>
                      </a:r>
                    </a:p>
                  </a:txBody>
                  <a:tcPr anchor="ctr"/>
                </a:tc>
                <a:extLst>
                  <a:ext uri="{0D108BD9-81ED-4DB2-BD59-A6C34878D82A}">
                    <a16:rowId xmlns:a16="http://schemas.microsoft.com/office/drawing/2014/main" val="763572993"/>
                  </a:ext>
                </a:extLst>
              </a:tr>
            </a:tbl>
          </a:graphicData>
        </a:graphic>
      </p:graphicFrame>
      <p:cxnSp>
        <p:nvCxnSpPr>
          <p:cNvPr id="16" name="Straight Connector 15">
            <a:extLst>
              <a:ext uri="{FF2B5EF4-FFF2-40B4-BE49-F238E27FC236}">
                <a16:creationId xmlns:a16="http://schemas.microsoft.com/office/drawing/2014/main" id="{F97427D0-7F3F-C6EF-1CAC-19C55514A15E}"/>
              </a:ext>
            </a:extLst>
          </p:cNvPr>
          <p:cNvCxnSpPr/>
          <p:nvPr/>
        </p:nvCxnSpPr>
        <p:spPr>
          <a:xfrm>
            <a:off x="297180" y="3863340"/>
            <a:ext cx="7531670" cy="0"/>
          </a:xfrm>
          <a:prstGeom prst="line">
            <a:avLst/>
          </a:prstGeom>
          <a:ln w="7620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9B895F3F-2225-195B-44B7-569B4070756E}"/>
              </a:ext>
            </a:extLst>
          </p:cNvPr>
          <p:cNvSpPr txBox="1"/>
          <p:nvPr/>
        </p:nvSpPr>
        <p:spPr>
          <a:xfrm>
            <a:off x="1485900" y="3429000"/>
            <a:ext cx="1290353" cy="369332"/>
          </a:xfrm>
          <a:prstGeom prst="rect">
            <a:avLst/>
          </a:prstGeom>
          <a:noFill/>
        </p:spPr>
        <p:txBody>
          <a:bodyPr wrap="none" rtlCol="0">
            <a:spAutoFit/>
          </a:bodyPr>
          <a:lstStyle/>
          <a:p>
            <a:r>
              <a:rPr lang="en-US" dirty="0"/>
              <a:t>OLD Tables </a:t>
            </a:r>
          </a:p>
        </p:txBody>
      </p:sp>
      <p:sp>
        <p:nvSpPr>
          <p:cNvPr id="18" name="TextBox 17">
            <a:extLst>
              <a:ext uri="{FF2B5EF4-FFF2-40B4-BE49-F238E27FC236}">
                <a16:creationId xmlns:a16="http://schemas.microsoft.com/office/drawing/2014/main" id="{4866F0A3-5321-FC42-50DE-4C9B43D81390}"/>
              </a:ext>
            </a:extLst>
          </p:cNvPr>
          <p:cNvSpPr txBox="1"/>
          <p:nvPr/>
        </p:nvSpPr>
        <p:spPr>
          <a:xfrm>
            <a:off x="2772662" y="6037018"/>
            <a:ext cx="1341649" cy="369332"/>
          </a:xfrm>
          <a:prstGeom prst="rect">
            <a:avLst/>
          </a:prstGeom>
          <a:noFill/>
        </p:spPr>
        <p:txBody>
          <a:bodyPr wrap="none" rtlCol="0">
            <a:spAutoFit/>
          </a:bodyPr>
          <a:lstStyle/>
          <a:p>
            <a:r>
              <a:rPr lang="en-US" dirty="0"/>
              <a:t>NEW Tables </a:t>
            </a:r>
          </a:p>
        </p:txBody>
      </p:sp>
      <p:sp>
        <p:nvSpPr>
          <p:cNvPr id="20" name="TextBox 19">
            <a:extLst>
              <a:ext uri="{FF2B5EF4-FFF2-40B4-BE49-F238E27FC236}">
                <a16:creationId xmlns:a16="http://schemas.microsoft.com/office/drawing/2014/main" id="{48F2BED8-A633-6595-84F2-3FD0B0463D7B}"/>
              </a:ext>
            </a:extLst>
          </p:cNvPr>
          <p:cNvSpPr txBox="1"/>
          <p:nvPr/>
        </p:nvSpPr>
        <p:spPr>
          <a:xfrm>
            <a:off x="9486792" y="4180312"/>
            <a:ext cx="2352824" cy="369332"/>
          </a:xfrm>
          <a:prstGeom prst="rect">
            <a:avLst/>
          </a:prstGeom>
          <a:noFill/>
        </p:spPr>
        <p:txBody>
          <a:bodyPr wrap="none" rtlCol="0">
            <a:spAutoFit/>
          </a:bodyPr>
          <a:lstStyle/>
          <a:p>
            <a:r>
              <a:rPr lang="en-US" dirty="0"/>
              <a:t>No change in this Table</a:t>
            </a:r>
          </a:p>
        </p:txBody>
      </p:sp>
      <p:sp>
        <p:nvSpPr>
          <p:cNvPr id="22" name="TextBox 21">
            <a:extLst>
              <a:ext uri="{FF2B5EF4-FFF2-40B4-BE49-F238E27FC236}">
                <a16:creationId xmlns:a16="http://schemas.microsoft.com/office/drawing/2014/main" id="{17155E5B-238E-C767-0AF2-22E2FE27C23F}"/>
              </a:ext>
            </a:extLst>
          </p:cNvPr>
          <p:cNvSpPr txBox="1"/>
          <p:nvPr/>
        </p:nvSpPr>
        <p:spPr>
          <a:xfrm>
            <a:off x="5353198" y="1737360"/>
            <a:ext cx="2237600" cy="369332"/>
          </a:xfrm>
          <a:prstGeom prst="rect">
            <a:avLst/>
          </a:prstGeom>
          <a:noFill/>
        </p:spPr>
        <p:txBody>
          <a:bodyPr wrap="none" rtlCol="0">
            <a:spAutoFit/>
          </a:bodyPr>
          <a:lstStyle/>
          <a:p>
            <a:r>
              <a:rPr lang="en-US" dirty="0" err="1"/>
              <a:t>Subject_teacher</a:t>
            </a:r>
            <a:r>
              <a:rPr lang="en-US" dirty="0"/>
              <a:t> table</a:t>
            </a:r>
          </a:p>
        </p:txBody>
      </p:sp>
      <p:sp>
        <p:nvSpPr>
          <p:cNvPr id="24" name="TextBox 23">
            <a:extLst>
              <a:ext uri="{FF2B5EF4-FFF2-40B4-BE49-F238E27FC236}">
                <a16:creationId xmlns:a16="http://schemas.microsoft.com/office/drawing/2014/main" id="{FBB457F4-AF3D-794E-50BB-E676B90E70BE}"/>
              </a:ext>
            </a:extLst>
          </p:cNvPr>
          <p:cNvSpPr txBox="1"/>
          <p:nvPr/>
        </p:nvSpPr>
        <p:spPr>
          <a:xfrm>
            <a:off x="60960" y="1795265"/>
            <a:ext cx="1450910" cy="369332"/>
          </a:xfrm>
          <a:prstGeom prst="rect">
            <a:avLst/>
          </a:prstGeom>
          <a:noFill/>
        </p:spPr>
        <p:txBody>
          <a:bodyPr wrap="none" rtlCol="0">
            <a:spAutoFit/>
          </a:bodyPr>
          <a:lstStyle/>
          <a:p>
            <a:r>
              <a:rPr lang="en-US" dirty="0"/>
              <a:t>Student table</a:t>
            </a:r>
          </a:p>
        </p:txBody>
      </p:sp>
      <p:sp>
        <p:nvSpPr>
          <p:cNvPr id="26" name="TextBox 25">
            <a:extLst>
              <a:ext uri="{FF2B5EF4-FFF2-40B4-BE49-F238E27FC236}">
                <a16:creationId xmlns:a16="http://schemas.microsoft.com/office/drawing/2014/main" id="{AF22B77C-5947-8BC7-7D74-0DD314D4567B}"/>
              </a:ext>
            </a:extLst>
          </p:cNvPr>
          <p:cNvSpPr txBox="1"/>
          <p:nvPr/>
        </p:nvSpPr>
        <p:spPr>
          <a:xfrm>
            <a:off x="3466149" y="4375107"/>
            <a:ext cx="1856470" cy="369332"/>
          </a:xfrm>
          <a:prstGeom prst="rect">
            <a:avLst/>
          </a:prstGeom>
          <a:noFill/>
        </p:spPr>
        <p:txBody>
          <a:bodyPr wrap="none" rtlCol="0">
            <a:spAutoFit/>
          </a:bodyPr>
          <a:lstStyle/>
          <a:p>
            <a:r>
              <a:rPr lang="en-US" dirty="0"/>
              <a:t>Department table</a:t>
            </a:r>
          </a:p>
        </p:txBody>
      </p:sp>
      <p:sp>
        <p:nvSpPr>
          <p:cNvPr id="27" name="TextBox 26">
            <a:extLst>
              <a:ext uri="{FF2B5EF4-FFF2-40B4-BE49-F238E27FC236}">
                <a16:creationId xmlns:a16="http://schemas.microsoft.com/office/drawing/2014/main" id="{FC51DD1E-BE61-22C2-6071-98A0089DAE5A}"/>
              </a:ext>
            </a:extLst>
          </p:cNvPr>
          <p:cNvSpPr txBox="1"/>
          <p:nvPr/>
        </p:nvSpPr>
        <p:spPr>
          <a:xfrm>
            <a:off x="6219719" y="4335609"/>
            <a:ext cx="2237600" cy="369332"/>
          </a:xfrm>
          <a:prstGeom prst="rect">
            <a:avLst/>
          </a:prstGeom>
          <a:noFill/>
        </p:spPr>
        <p:txBody>
          <a:bodyPr wrap="none" rtlCol="0">
            <a:spAutoFit/>
          </a:bodyPr>
          <a:lstStyle/>
          <a:p>
            <a:r>
              <a:rPr lang="en-US" dirty="0" err="1"/>
              <a:t>Subject_teacher</a:t>
            </a:r>
            <a:r>
              <a:rPr lang="en-US" dirty="0"/>
              <a:t> table</a:t>
            </a:r>
          </a:p>
        </p:txBody>
      </p:sp>
      <p:sp>
        <p:nvSpPr>
          <p:cNvPr id="28" name="TextBox 27">
            <a:extLst>
              <a:ext uri="{FF2B5EF4-FFF2-40B4-BE49-F238E27FC236}">
                <a16:creationId xmlns:a16="http://schemas.microsoft.com/office/drawing/2014/main" id="{6FCF063E-0530-9B45-86B7-927C2647D48D}"/>
              </a:ext>
            </a:extLst>
          </p:cNvPr>
          <p:cNvSpPr txBox="1"/>
          <p:nvPr/>
        </p:nvSpPr>
        <p:spPr>
          <a:xfrm>
            <a:off x="60960" y="4396415"/>
            <a:ext cx="1450910" cy="369332"/>
          </a:xfrm>
          <a:prstGeom prst="rect">
            <a:avLst/>
          </a:prstGeom>
          <a:noFill/>
        </p:spPr>
        <p:txBody>
          <a:bodyPr wrap="none" rtlCol="0">
            <a:spAutoFit/>
          </a:bodyPr>
          <a:lstStyle/>
          <a:p>
            <a:r>
              <a:rPr lang="en-US" dirty="0"/>
              <a:t>Student table</a:t>
            </a:r>
          </a:p>
        </p:txBody>
      </p:sp>
      <p:sp>
        <p:nvSpPr>
          <p:cNvPr id="29" name="TextBox 28">
            <a:extLst>
              <a:ext uri="{FF2B5EF4-FFF2-40B4-BE49-F238E27FC236}">
                <a16:creationId xmlns:a16="http://schemas.microsoft.com/office/drawing/2014/main" id="{832B287A-4650-978A-724B-FC18A0B5755E}"/>
              </a:ext>
            </a:extLst>
          </p:cNvPr>
          <p:cNvSpPr txBox="1"/>
          <p:nvPr/>
        </p:nvSpPr>
        <p:spPr>
          <a:xfrm>
            <a:off x="8252775" y="801871"/>
            <a:ext cx="1746953" cy="369332"/>
          </a:xfrm>
          <a:prstGeom prst="rect">
            <a:avLst/>
          </a:prstGeom>
          <a:noFill/>
        </p:spPr>
        <p:txBody>
          <a:bodyPr wrap="none" rtlCol="0">
            <a:spAutoFit/>
          </a:bodyPr>
          <a:lstStyle/>
          <a:p>
            <a:r>
              <a:rPr lang="en-US" dirty="0"/>
              <a:t>Enrollment table</a:t>
            </a:r>
          </a:p>
        </p:txBody>
      </p:sp>
      <p:cxnSp>
        <p:nvCxnSpPr>
          <p:cNvPr id="31" name="Straight Arrow Connector 30">
            <a:extLst>
              <a:ext uri="{FF2B5EF4-FFF2-40B4-BE49-F238E27FC236}">
                <a16:creationId xmlns:a16="http://schemas.microsoft.com/office/drawing/2014/main" id="{F73EBE38-48B1-63BA-6E39-DB8F75B54AD9}"/>
              </a:ext>
            </a:extLst>
          </p:cNvPr>
          <p:cNvCxnSpPr>
            <a:cxnSpLocks/>
            <a:stCxn id="17" idx="2"/>
            <a:endCxn id="26" idx="1"/>
          </p:cNvCxnSpPr>
          <p:nvPr/>
        </p:nvCxnSpPr>
        <p:spPr>
          <a:xfrm>
            <a:off x="2131077" y="3798332"/>
            <a:ext cx="1335072" cy="76144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3" name="Straight Arrow Connector 32">
            <a:extLst>
              <a:ext uri="{FF2B5EF4-FFF2-40B4-BE49-F238E27FC236}">
                <a16:creationId xmlns:a16="http://schemas.microsoft.com/office/drawing/2014/main" id="{7CAB47CA-B445-13F2-EB7D-20B17E9CCF1E}"/>
              </a:ext>
            </a:extLst>
          </p:cNvPr>
          <p:cNvCxnSpPr>
            <a:cxnSpLocks/>
            <a:stCxn id="17" idx="2"/>
          </p:cNvCxnSpPr>
          <p:nvPr/>
        </p:nvCxnSpPr>
        <p:spPr>
          <a:xfrm flipH="1">
            <a:off x="1485900" y="3798332"/>
            <a:ext cx="645177" cy="751312"/>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4055098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C75D9-5EC8-E3F9-A835-71CCBAE4F999}"/>
              </a:ext>
            </a:extLst>
          </p:cNvPr>
          <p:cNvSpPr>
            <a:spLocks noGrp="1"/>
          </p:cNvSpPr>
          <p:nvPr>
            <p:ph type="title"/>
          </p:nvPr>
        </p:nvSpPr>
        <p:spPr/>
        <p:txBody>
          <a:bodyPr/>
          <a:lstStyle/>
          <a:p>
            <a:r>
              <a:rPr lang="en-US" dirty="0"/>
              <a:t>Boyce Codd Normal Form (BCNF)</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83C582-EC04-355C-12C4-883898AFCA2E}"/>
                  </a:ext>
                </a:extLst>
              </p:cNvPr>
              <p:cNvSpPr>
                <a:spLocks noGrp="1"/>
              </p:cNvSpPr>
              <p:nvPr>
                <p:ph idx="1"/>
              </p:nvPr>
            </p:nvSpPr>
            <p:spPr>
              <a:xfrm>
                <a:off x="1097280" y="1845733"/>
                <a:ext cx="10058400" cy="4725663"/>
              </a:xfrm>
            </p:spPr>
            <p:txBody>
              <a:bodyPr>
                <a:normAutofit/>
              </a:bodyPr>
              <a:lstStyle/>
              <a:p>
                <a:r>
                  <a:rPr lang="en-US" sz="2400" b="1" dirty="0"/>
                  <a:t>BCNF (Boyce–Codd Normal Form)</a:t>
                </a:r>
                <a:r>
                  <a:rPr lang="en-US" sz="2400" dirty="0"/>
                  <a:t> is a stricter version of Third Normal Form (3NF) used in database normalization.</a:t>
                </a:r>
              </a:p>
              <a:p>
                <a:r>
                  <a:rPr lang="en-US" sz="2400" b="1" dirty="0"/>
                  <a:t>Definition:  </a:t>
                </a:r>
                <a:r>
                  <a:rPr lang="en-US" sz="2400" dirty="0"/>
                  <a:t>A relation </a:t>
                </a:r>
                <a:r>
                  <a:rPr lang="en-US" sz="2400" b="1" dirty="0"/>
                  <a:t>R</a:t>
                </a:r>
                <a:r>
                  <a:rPr lang="en-US" sz="2400" dirty="0"/>
                  <a:t> is in </a:t>
                </a:r>
                <a:r>
                  <a:rPr lang="en-US" sz="2400" b="1" dirty="0"/>
                  <a:t>BCNF</a:t>
                </a:r>
                <a:r>
                  <a:rPr lang="en-US" sz="2400" dirty="0"/>
                  <a:t> if, for every non-trivial functional dependency: </a:t>
                </a:r>
                <a14:m>
                  <m:oMath xmlns:m="http://schemas.openxmlformats.org/officeDocument/2006/math">
                    <m:r>
                      <a:rPr lang="en-US" sz="2400" b="0" i="0" smtClean="0">
                        <a:latin typeface="Cambria Math" panose="02040503050406030204" pitchFamily="18" charset="0"/>
                      </a:rPr>
                      <m:t> </m:t>
                    </m:r>
                    <m:r>
                      <a:rPr lang="en-US" sz="2400" i="1">
                        <a:latin typeface="Cambria Math" panose="02040503050406030204" pitchFamily="18" charset="0"/>
                      </a:rPr>
                      <m:t>𝑋</m:t>
                    </m:r>
                    <m:r>
                      <a:rPr lang="en-US" sz="2400">
                        <a:latin typeface="Cambria Math" panose="02040503050406030204" pitchFamily="18" charset="0"/>
                      </a:rPr>
                      <m:t>→</m:t>
                    </m:r>
                    <m:r>
                      <a:rPr lang="en-US" sz="2400" i="1">
                        <a:latin typeface="Cambria Math" panose="02040503050406030204" pitchFamily="18" charset="0"/>
                      </a:rPr>
                      <m:t>𝑌</m:t>
                    </m:r>
                  </m:oMath>
                </a14:m>
                <a:endParaRPr lang="en-US" sz="2400" dirty="0"/>
              </a:p>
              <a:p>
                <a:r>
                  <a:rPr lang="en-US" sz="2400" dirty="0"/>
                  <a:t>the determinant </a:t>
                </a:r>
                <a:r>
                  <a:rPr lang="en-US" sz="2400" b="1" dirty="0"/>
                  <a:t>X</a:t>
                </a:r>
                <a:r>
                  <a:rPr lang="en-US" sz="2400" dirty="0"/>
                  <a:t> is a </a:t>
                </a:r>
                <a:r>
                  <a:rPr lang="en-US" sz="2400" b="1" dirty="0"/>
                  <a:t>super key</a:t>
                </a:r>
                <a:r>
                  <a:rPr lang="en-US" sz="2400" dirty="0"/>
                  <a:t> of the relation.</a:t>
                </a:r>
                <a14:m>
                  <m:oMath xmlns:m="http://schemas.openxmlformats.org/officeDocument/2006/math">
                    <m:r>
                      <a:rPr lang="en-US" sz="2400" i="1">
                        <a:latin typeface="Cambria Math" panose="02040503050406030204" pitchFamily="18" charset="0"/>
                      </a:rPr>
                      <m:t>𝑋</m:t>
                    </m:r>
                    <m:r>
                      <a:rPr lang="en-US" sz="2400">
                        <a:latin typeface="Cambria Math" panose="02040503050406030204" pitchFamily="18" charset="0"/>
                      </a:rPr>
                      <m:t>→</m:t>
                    </m:r>
                    <m:r>
                      <a:rPr lang="en-US" sz="2400" i="1">
                        <a:latin typeface="Cambria Math" panose="02040503050406030204" pitchFamily="18" charset="0"/>
                      </a:rPr>
                      <m:t>𝑌</m:t>
                    </m:r>
                  </m:oMath>
                </a14:m>
                <a:endParaRPr lang="en-US" sz="2400" dirty="0"/>
              </a:p>
              <a:p>
                <a:r>
                  <a:rPr lang="en-US" sz="2400" b="1" dirty="0"/>
                  <a:t>Steps to Check BCNF</a:t>
                </a:r>
              </a:p>
              <a:p>
                <a:pPr marL="749808" lvl="1" indent="-457200">
                  <a:buFont typeface="+mj-lt"/>
                  <a:buAutoNum type="arabicPeriod"/>
                </a:pPr>
                <a:r>
                  <a:rPr lang="en-US" sz="2000" dirty="0"/>
                  <a:t>Find all functional dependencies. </a:t>
                </a:r>
              </a:p>
              <a:p>
                <a:pPr marL="749808" lvl="1" indent="-457200">
                  <a:buFont typeface="+mj-lt"/>
                  <a:buAutoNum type="arabicPeriod"/>
                </a:pPr>
                <a:r>
                  <a:rPr lang="en-US" sz="2000" dirty="0"/>
                  <a:t>Find candidate keys. </a:t>
                </a:r>
              </a:p>
              <a:p>
                <a:pPr marL="749808" lvl="1" indent="-457200">
                  <a:buFont typeface="+mj-lt"/>
                  <a:buAutoNum type="arabicPeriod"/>
                </a:pPr>
                <a:r>
                  <a:rPr lang="en-US" sz="2000" dirty="0"/>
                  <a:t>For each dependency </a:t>
                </a:r>
                <a14:m>
                  <m:oMath xmlns:m="http://schemas.openxmlformats.org/officeDocument/2006/math">
                    <m:r>
                      <a:rPr lang="en-US" sz="2000" i="1">
                        <a:latin typeface="Cambria Math" panose="02040503050406030204" pitchFamily="18" charset="0"/>
                      </a:rPr>
                      <m:t>𝑋</m:t>
                    </m:r>
                    <m:r>
                      <a:rPr lang="en-US" sz="2000">
                        <a:latin typeface="Cambria Math" panose="02040503050406030204" pitchFamily="18" charset="0"/>
                      </a:rPr>
                      <m:t>→</m:t>
                    </m:r>
                    <m:r>
                      <a:rPr lang="en-US" sz="2000" i="1">
                        <a:latin typeface="Cambria Math" panose="02040503050406030204" pitchFamily="18" charset="0"/>
                      </a:rPr>
                      <m:t>𝑌</m:t>
                    </m:r>
                  </m:oMath>
                </a14:m>
                <a:r>
                  <a:rPr lang="en-US" sz="2000" dirty="0"/>
                  <a:t>: </a:t>
                </a:r>
              </a:p>
              <a:p>
                <a:pPr marL="726948" lvl="2" indent="-342900">
                  <a:buFont typeface="+mj-lt"/>
                  <a:buAutoNum type="arabicPeriod"/>
                </a:pPr>
                <a:r>
                  <a:rPr lang="en-US" sz="1600" dirty="0"/>
                  <a:t>Check whether </a:t>
                </a:r>
                <a14:m>
                  <m:oMath xmlns:m="http://schemas.openxmlformats.org/officeDocument/2006/math">
                    <m:r>
                      <a:rPr lang="en-US" sz="1600" i="1">
                        <a:latin typeface="Cambria Math" panose="02040503050406030204" pitchFamily="18" charset="0"/>
                      </a:rPr>
                      <m:t>𝑋</m:t>
                    </m:r>
                  </m:oMath>
                </a14:m>
                <a:r>
                  <a:rPr lang="en-US" sz="1600" dirty="0"/>
                  <a:t>is a </a:t>
                </a:r>
                <a:r>
                  <a:rPr lang="en-US" sz="1600" dirty="0" err="1"/>
                  <a:t>superkey</a:t>
                </a:r>
                <a:r>
                  <a:rPr lang="en-US" sz="1600" dirty="0"/>
                  <a:t>. </a:t>
                </a:r>
              </a:p>
              <a:p>
                <a:pPr marL="749808" lvl="1" indent="-457200">
                  <a:buFont typeface="+mj-lt"/>
                  <a:buAutoNum type="arabicPeriod"/>
                </a:pPr>
                <a:r>
                  <a:rPr lang="en-US" sz="2000" dirty="0"/>
                  <a:t>If any determinant is not a </a:t>
                </a:r>
                <a:r>
                  <a:rPr lang="en-US" sz="2000" dirty="0" err="1"/>
                  <a:t>superkey</a:t>
                </a:r>
                <a:r>
                  <a:rPr lang="en-US" sz="2000" dirty="0"/>
                  <a:t>, decompose the relation.</a:t>
                </a:r>
              </a:p>
              <a:p>
                <a:endParaRPr lang="en-US" sz="2400" dirty="0"/>
              </a:p>
            </p:txBody>
          </p:sp>
        </mc:Choice>
        <mc:Fallback xmlns="">
          <p:sp>
            <p:nvSpPr>
              <p:cNvPr id="3" name="Content Placeholder 2">
                <a:extLst>
                  <a:ext uri="{FF2B5EF4-FFF2-40B4-BE49-F238E27FC236}">
                    <a16:creationId xmlns:a16="http://schemas.microsoft.com/office/drawing/2014/main" id="{5483C582-EC04-355C-12C4-883898AFCA2E}"/>
                  </a:ext>
                </a:extLst>
              </p:cNvPr>
              <p:cNvSpPr>
                <a:spLocks noGrp="1" noRot="1" noChangeAspect="1" noMove="1" noResize="1" noEditPoints="1" noAdjustHandles="1" noChangeArrowheads="1" noChangeShapeType="1" noTextEdit="1"/>
              </p:cNvSpPr>
              <p:nvPr>
                <p:ph idx="1"/>
              </p:nvPr>
            </p:nvSpPr>
            <p:spPr>
              <a:xfrm>
                <a:off x="1097280" y="1845733"/>
                <a:ext cx="10058400" cy="4725663"/>
              </a:xfrm>
              <a:blipFill>
                <a:blip r:embed="rId3"/>
                <a:stretch>
                  <a:fillRect l="-1818" t="-1806" b="-4645"/>
                </a:stretch>
              </a:blipFill>
            </p:spPr>
            <p:txBody>
              <a:bodyPr/>
              <a:lstStyle/>
              <a:p>
                <a:r>
                  <a:rPr lang="en-US">
                    <a:noFill/>
                  </a:rPr>
                  <a:t> </a:t>
                </a:r>
              </a:p>
            </p:txBody>
          </p:sp>
        </mc:Fallback>
      </mc:AlternateContent>
    </p:spTree>
    <p:extLst>
      <p:ext uri="{BB962C8B-B14F-4D97-AF65-F5344CB8AC3E}">
        <p14:creationId xmlns:p14="http://schemas.microsoft.com/office/powerpoint/2010/main" val="7261711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5D251-2A55-FBCD-D583-1F99D0419175}"/>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7CCE5E9A-C642-7F30-9DA6-4E156B364948}"/>
              </a:ext>
            </a:extLst>
          </p:cNvPr>
          <p:cNvSpPr>
            <a:spLocks noGrp="1"/>
          </p:cNvSpPr>
          <p:nvPr>
            <p:ph idx="1"/>
          </p:nvPr>
        </p:nvSpPr>
        <p:spPr/>
        <p:txBody>
          <a:bodyPr/>
          <a:lstStyle/>
          <a:p>
            <a:r>
              <a:rPr lang="en-US" dirty="0"/>
              <a:t>Suppose we have a relation: </a:t>
            </a:r>
            <a:r>
              <a:rPr lang="en-US" b="1" dirty="0"/>
              <a:t>Teaching(StudentID, Course, Instructor)</a:t>
            </a:r>
            <a:endParaRPr lang="en-US" dirty="0"/>
          </a:p>
          <a:p>
            <a:r>
              <a:rPr lang="en-US" b="1" dirty="0"/>
              <a:t>Functional Dependencies: </a:t>
            </a:r>
          </a:p>
          <a:p>
            <a:pPr lvl="1"/>
            <a:r>
              <a:rPr lang="en-US" dirty="0"/>
              <a:t>(StudentID, Course) → Instructor </a:t>
            </a:r>
          </a:p>
          <a:p>
            <a:pPr lvl="1"/>
            <a:r>
              <a:rPr lang="en-US" dirty="0"/>
              <a:t>Instructor → Course</a:t>
            </a:r>
          </a:p>
          <a:p>
            <a:r>
              <a:rPr lang="en-US" b="1" dirty="0"/>
              <a:t>Step 1: Find Candidate Key</a:t>
            </a:r>
          </a:p>
          <a:p>
            <a:r>
              <a:rPr lang="en-US" b="1" dirty="0"/>
              <a:t>Step 2: Check Each FD</a:t>
            </a:r>
          </a:p>
          <a:p>
            <a:endParaRPr lang="en-US" b="1" dirty="0"/>
          </a:p>
        </p:txBody>
      </p:sp>
      <p:graphicFrame>
        <p:nvGraphicFramePr>
          <p:cNvPr id="4" name="Table 3">
            <a:extLst>
              <a:ext uri="{FF2B5EF4-FFF2-40B4-BE49-F238E27FC236}">
                <a16:creationId xmlns:a16="http://schemas.microsoft.com/office/drawing/2014/main" id="{45040CC9-CA4B-B495-6F46-5CF87844D21E}"/>
              </a:ext>
            </a:extLst>
          </p:cNvPr>
          <p:cNvGraphicFramePr>
            <a:graphicFrameLocks noGrp="1"/>
          </p:cNvGraphicFramePr>
          <p:nvPr>
            <p:extLst>
              <p:ext uri="{D42A27DB-BD31-4B8C-83A1-F6EECF244321}">
                <p14:modId xmlns:p14="http://schemas.microsoft.com/office/powerpoint/2010/main" val="4066087012"/>
              </p:ext>
            </p:extLst>
          </p:nvPr>
        </p:nvGraphicFramePr>
        <p:xfrm>
          <a:off x="8412480" y="382692"/>
          <a:ext cx="3599178" cy="2709336"/>
        </p:xfrm>
        <a:graphic>
          <a:graphicData uri="http://schemas.openxmlformats.org/drawingml/2006/table">
            <a:tbl>
              <a:tblPr firstRow="1" bandRow="1">
                <a:tableStyleId>{5C22544A-7EE6-4342-B048-85BDC9FD1C3A}</a:tableStyleId>
              </a:tblPr>
              <a:tblGrid>
                <a:gridCol w="1199726">
                  <a:extLst>
                    <a:ext uri="{9D8B030D-6E8A-4147-A177-3AD203B41FA5}">
                      <a16:colId xmlns:a16="http://schemas.microsoft.com/office/drawing/2014/main" val="2004792009"/>
                    </a:ext>
                  </a:extLst>
                </a:gridCol>
                <a:gridCol w="1199726">
                  <a:extLst>
                    <a:ext uri="{9D8B030D-6E8A-4147-A177-3AD203B41FA5}">
                      <a16:colId xmlns:a16="http://schemas.microsoft.com/office/drawing/2014/main" val="401532331"/>
                    </a:ext>
                  </a:extLst>
                </a:gridCol>
                <a:gridCol w="1199726">
                  <a:extLst>
                    <a:ext uri="{9D8B030D-6E8A-4147-A177-3AD203B41FA5}">
                      <a16:colId xmlns:a16="http://schemas.microsoft.com/office/drawing/2014/main" val="2073124576"/>
                    </a:ext>
                  </a:extLst>
                </a:gridCol>
              </a:tblGrid>
              <a:tr h="636071">
                <a:tc>
                  <a:txBody>
                    <a:bodyPr/>
                    <a:lstStyle/>
                    <a:p>
                      <a:pPr>
                        <a:buNone/>
                      </a:pPr>
                      <a:r>
                        <a:rPr lang="en-US" dirty="0"/>
                        <a:t>StudentID</a:t>
                      </a:r>
                    </a:p>
                  </a:txBody>
                  <a:tcPr anchor="ctr"/>
                </a:tc>
                <a:tc>
                  <a:txBody>
                    <a:bodyPr/>
                    <a:lstStyle/>
                    <a:p>
                      <a:pPr>
                        <a:buNone/>
                      </a:pPr>
                      <a:r>
                        <a:rPr lang="en-US"/>
                        <a:t>Course</a:t>
                      </a:r>
                    </a:p>
                  </a:txBody>
                  <a:tcPr anchor="ctr"/>
                </a:tc>
                <a:tc>
                  <a:txBody>
                    <a:bodyPr/>
                    <a:lstStyle/>
                    <a:p>
                      <a:pPr>
                        <a:buNone/>
                      </a:pPr>
                      <a:r>
                        <a:rPr lang="en-US"/>
                        <a:t>Instructor</a:t>
                      </a:r>
                    </a:p>
                  </a:txBody>
                  <a:tcPr anchor="ctr"/>
                </a:tc>
                <a:extLst>
                  <a:ext uri="{0D108BD9-81ED-4DB2-BD59-A6C34878D82A}">
                    <a16:rowId xmlns:a16="http://schemas.microsoft.com/office/drawing/2014/main" val="2570512476"/>
                  </a:ext>
                </a:extLst>
              </a:tr>
              <a:tr h="414653">
                <a:tc>
                  <a:txBody>
                    <a:bodyPr/>
                    <a:lstStyle/>
                    <a:p>
                      <a:pPr>
                        <a:buNone/>
                      </a:pPr>
                      <a:r>
                        <a:rPr lang="en-US"/>
                        <a:t>S1</a:t>
                      </a:r>
                    </a:p>
                  </a:txBody>
                  <a:tcPr anchor="ctr"/>
                </a:tc>
                <a:tc>
                  <a:txBody>
                    <a:bodyPr/>
                    <a:lstStyle/>
                    <a:p>
                      <a:pPr>
                        <a:buNone/>
                      </a:pPr>
                      <a:r>
                        <a:rPr lang="en-US"/>
                        <a:t>DBMS</a:t>
                      </a:r>
                    </a:p>
                  </a:txBody>
                  <a:tcPr anchor="ctr"/>
                </a:tc>
                <a:tc>
                  <a:txBody>
                    <a:bodyPr/>
                    <a:lstStyle/>
                    <a:p>
                      <a:pPr>
                        <a:buNone/>
                      </a:pPr>
                      <a:r>
                        <a:rPr lang="en-US"/>
                        <a:t>Ram</a:t>
                      </a:r>
                    </a:p>
                  </a:txBody>
                  <a:tcPr anchor="ctr"/>
                </a:tc>
                <a:extLst>
                  <a:ext uri="{0D108BD9-81ED-4DB2-BD59-A6C34878D82A}">
                    <a16:rowId xmlns:a16="http://schemas.microsoft.com/office/drawing/2014/main" val="3282180167"/>
                  </a:ext>
                </a:extLst>
              </a:tr>
              <a:tr h="414653">
                <a:tc>
                  <a:txBody>
                    <a:bodyPr/>
                    <a:lstStyle/>
                    <a:p>
                      <a:pPr>
                        <a:buNone/>
                      </a:pPr>
                      <a:r>
                        <a:rPr lang="en-US"/>
                        <a:t>S2</a:t>
                      </a:r>
                    </a:p>
                  </a:txBody>
                  <a:tcPr anchor="ctr"/>
                </a:tc>
                <a:tc>
                  <a:txBody>
                    <a:bodyPr/>
                    <a:lstStyle/>
                    <a:p>
                      <a:pPr>
                        <a:buNone/>
                      </a:pPr>
                      <a:r>
                        <a:rPr lang="en-US"/>
                        <a:t>DBMS</a:t>
                      </a:r>
                    </a:p>
                  </a:txBody>
                  <a:tcPr anchor="ctr"/>
                </a:tc>
                <a:tc>
                  <a:txBody>
                    <a:bodyPr/>
                    <a:lstStyle/>
                    <a:p>
                      <a:pPr>
                        <a:buNone/>
                      </a:pPr>
                      <a:r>
                        <a:rPr lang="en-US"/>
                        <a:t>Ram</a:t>
                      </a:r>
                    </a:p>
                  </a:txBody>
                  <a:tcPr anchor="ctr"/>
                </a:tc>
                <a:extLst>
                  <a:ext uri="{0D108BD9-81ED-4DB2-BD59-A6C34878D82A}">
                    <a16:rowId xmlns:a16="http://schemas.microsoft.com/office/drawing/2014/main" val="1058254662"/>
                  </a:ext>
                </a:extLst>
              </a:tr>
              <a:tr h="414653">
                <a:tc>
                  <a:txBody>
                    <a:bodyPr/>
                    <a:lstStyle/>
                    <a:p>
                      <a:pPr>
                        <a:buNone/>
                      </a:pPr>
                      <a:r>
                        <a:rPr lang="en-US"/>
                        <a:t>S3</a:t>
                      </a:r>
                    </a:p>
                  </a:txBody>
                  <a:tcPr anchor="ctr"/>
                </a:tc>
                <a:tc>
                  <a:txBody>
                    <a:bodyPr/>
                    <a:lstStyle/>
                    <a:p>
                      <a:pPr>
                        <a:buNone/>
                      </a:pPr>
                      <a:r>
                        <a:rPr lang="en-US"/>
                        <a:t>AI</a:t>
                      </a:r>
                    </a:p>
                  </a:txBody>
                  <a:tcPr anchor="ctr"/>
                </a:tc>
                <a:tc>
                  <a:txBody>
                    <a:bodyPr/>
                    <a:lstStyle/>
                    <a:p>
                      <a:pPr>
                        <a:buNone/>
                      </a:pPr>
                      <a:r>
                        <a:rPr lang="en-US"/>
                        <a:t>Hari</a:t>
                      </a:r>
                    </a:p>
                  </a:txBody>
                  <a:tcPr anchor="ctr"/>
                </a:tc>
                <a:extLst>
                  <a:ext uri="{0D108BD9-81ED-4DB2-BD59-A6C34878D82A}">
                    <a16:rowId xmlns:a16="http://schemas.microsoft.com/office/drawing/2014/main" val="1937574711"/>
                  </a:ext>
                </a:extLst>
              </a:tr>
              <a:tr h="414653">
                <a:tc>
                  <a:txBody>
                    <a:bodyPr/>
                    <a:lstStyle/>
                    <a:p>
                      <a:pPr>
                        <a:buNone/>
                      </a:pPr>
                      <a:r>
                        <a:rPr lang="en-US"/>
                        <a:t>S4</a:t>
                      </a:r>
                    </a:p>
                  </a:txBody>
                  <a:tcPr anchor="ctr"/>
                </a:tc>
                <a:tc>
                  <a:txBody>
                    <a:bodyPr/>
                    <a:lstStyle/>
                    <a:p>
                      <a:pPr>
                        <a:buNone/>
                      </a:pPr>
                      <a:r>
                        <a:rPr lang="en-US"/>
                        <a:t>AI</a:t>
                      </a:r>
                    </a:p>
                  </a:txBody>
                  <a:tcPr anchor="ctr"/>
                </a:tc>
                <a:tc>
                  <a:txBody>
                    <a:bodyPr/>
                    <a:lstStyle/>
                    <a:p>
                      <a:pPr>
                        <a:buNone/>
                      </a:pPr>
                      <a:r>
                        <a:rPr lang="en-US"/>
                        <a:t>Hari</a:t>
                      </a:r>
                    </a:p>
                  </a:txBody>
                  <a:tcPr anchor="ctr"/>
                </a:tc>
                <a:extLst>
                  <a:ext uri="{0D108BD9-81ED-4DB2-BD59-A6C34878D82A}">
                    <a16:rowId xmlns:a16="http://schemas.microsoft.com/office/drawing/2014/main" val="4225928382"/>
                  </a:ext>
                </a:extLst>
              </a:tr>
              <a:tr h="414653">
                <a:tc>
                  <a:txBody>
                    <a:bodyPr/>
                    <a:lstStyle/>
                    <a:p>
                      <a:pPr>
                        <a:buNone/>
                      </a:pPr>
                      <a:r>
                        <a:rPr lang="en-US"/>
                        <a:t>S5</a:t>
                      </a:r>
                    </a:p>
                  </a:txBody>
                  <a:tcPr anchor="ctr"/>
                </a:tc>
                <a:tc>
                  <a:txBody>
                    <a:bodyPr/>
                    <a:lstStyle/>
                    <a:p>
                      <a:pPr>
                        <a:buNone/>
                      </a:pPr>
                      <a:r>
                        <a:rPr lang="en-US"/>
                        <a:t>DBMS</a:t>
                      </a:r>
                    </a:p>
                  </a:txBody>
                  <a:tcPr anchor="ctr"/>
                </a:tc>
                <a:tc>
                  <a:txBody>
                    <a:bodyPr/>
                    <a:lstStyle/>
                    <a:p>
                      <a:pPr>
                        <a:buNone/>
                      </a:pPr>
                      <a:r>
                        <a:rPr lang="en-US" dirty="0"/>
                        <a:t>Ram</a:t>
                      </a:r>
                    </a:p>
                  </a:txBody>
                  <a:tcPr anchor="ctr"/>
                </a:tc>
                <a:extLst>
                  <a:ext uri="{0D108BD9-81ED-4DB2-BD59-A6C34878D82A}">
                    <a16:rowId xmlns:a16="http://schemas.microsoft.com/office/drawing/2014/main" val="1423256095"/>
                  </a:ext>
                </a:extLst>
              </a:tr>
            </a:tbl>
          </a:graphicData>
        </a:graphic>
      </p:graphicFrame>
    </p:spTree>
    <p:extLst>
      <p:ext uri="{BB962C8B-B14F-4D97-AF65-F5344CB8AC3E}">
        <p14:creationId xmlns:p14="http://schemas.microsoft.com/office/powerpoint/2010/main" val="180023483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2053E-692F-F7DB-57E0-9D95C4CD4308}"/>
              </a:ext>
            </a:extLst>
          </p:cNvPr>
          <p:cNvSpPr>
            <a:spLocks noGrp="1"/>
          </p:cNvSpPr>
          <p:nvPr>
            <p:ph type="title"/>
          </p:nvPr>
        </p:nvSpPr>
        <p:spPr/>
        <p:txBody>
          <a:bodyPr/>
          <a:lstStyle/>
          <a:p>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0D68F2-9C10-F8D7-573C-90713B1F32E9}"/>
                  </a:ext>
                </a:extLst>
              </p:cNvPr>
              <p:cNvSpPr>
                <a:spLocks noGrp="1"/>
              </p:cNvSpPr>
              <p:nvPr>
                <p:ph idx="1"/>
              </p:nvPr>
            </p:nvSpPr>
            <p:spPr>
              <a:xfrm>
                <a:off x="274320" y="1914314"/>
                <a:ext cx="5791201" cy="4023360"/>
              </a:xfrm>
            </p:spPr>
            <p:txBody>
              <a:bodyPr/>
              <a:lstStyle/>
              <a:p>
                <a:r>
                  <a:rPr lang="en-US" b="1" dirty="0"/>
                  <a:t>Step 1: Find Candidate Key</a:t>
                </a:r>
              </a:p>
              <a:p>
                <a:r>
                  <a:rPr lang="en-US" dirty="0"/>
                  <a:t>Let's find closure of (StudentID, Course).</a:t>
                </a:r>
              </a:p>
              <a:p>
                <a14:m>
                  <m:oMath xmlns:m="http://schemas.openxmlformats.org/officeDocument/2006/math">
                    <m:sSup>
                      <m:sSupPr>
                        <m:ctrlPr>
                          <a:rPr lang="en-US" i="1">
                            <a:latin typeface="Cambria Math" panose="02040503050406030204" pitchFamily="18" charset="0"/>
                          </a:rPr>
                        </m:ctrlPr>
                      </m:sSupPr>
                      <m:e>
                        <m:d>
                          <m:dPr>
                            <m:sepChr m:val=","/>
                            <m:ctrlPr>
                              <a:rPr lang="en-US" i="1">
                                <a:latin typeface="Cambria Math" panose="02040503050406030204" pitchFamily="18" charset="0"/>
                              </a:rPr>
                            </m:ctrlPr>
                          </m:dPr>
                          <m:e>
                            <m:r>
                              <a:rPr lang="en-US" i="1">
                                <a:latin typeface="Cambria Math" panose="02040503050406030204" pitchFamily="18" charset="0"/>
                              </a:rPr>
                              <m:t>𝑆</m:t>
                            </m:r>
                          </m:e>
                          <m:e>
                            <m:r>
                              <a:rPr lang="en-US" i="1">
                                <a:latin typeface="Cambria Math" panose="02040503050406030204" pitchFamily="18" charset="0"/>
                              </a:rPr>
                              <m:t>𝑡𝑢𝑑𝑒𝑛𝑡𝐼𝐷𝐶𝑜𝑢𝑟𝑠𝑒</m:t>
                            </m:r>
                          </m:e>
                        </m:d>
                      </m:e>
                      <m:sup>
                        <m:r>
                          <a:rPr lang="en-US">
                            <a:latin typeface="Cambria Math" panose="02040503050406030204" pitchFamily="18" charset="0"/>
                          </a:rPr>
                          <m:t>+</m:t>
                        </m:r>
                      </m:sup>
                    </m:sSup>
                    <m:r>
                      <a:rPr lang="en-US">
                        <a:latin typeface="Cambria Math" panose="02040503050406030204" pitchFamily="18" charset="0"/>
                      </a:rPr>
                      <m:t>=</m:t>
                    </m:r>
                    <m:d>
                      <m:dPr>
                        <m:begChr m:val="{"/>
                        <m:endChr m:val="}"/>
                        <m:sepChr m:val=","/>
                        <m:ctrlPr>
                          <a:rPr lang="en-US" i="1">
                            <a:latin typeface="Cambria Math" panose="02040503050406030204" pitchFamily="18" charset="0"/>
                          </a:rPr>
                        </m:ctrlPr>
                      </m:dPr>
                      <m:e>
                        <m:r>
                          <a:rPr lang="en-US" i="1">
                            <a:latin typeface="Cambria Math" panose="02040503050406030204" pitchFamily="18" charset="0"/>
                          </a:rPr>
                          <m:t>𝑆</m:t>
                        </m:r>
                      </m:e>
                      <m:e>
                        <m:r>
                          <a:rPr lang="en-US" i="1">
                            <a:latin typeface="Cambria Math" panose="02040503050406030204" pitchFamily="18" charset="0"/>
                          </a:rPr>
                          <m:t>𝑡</m:t>
                        </m:r>
                      </m:e>
                      <m:e>
                        <m:r>
                          <a:rPr lang="en-US" i="1">
                            <a:latin typeface="Cambria Math" panose="02040503050406030204" pitchFamily="18" charset="0"/>
                          </a:rPr>
                          <m:t>𝑢𝑑𝑒𝑛𝑡𝐼𝐷𝐶𝑜𝑢𝑟𝑠𝑒𝐼𝑛𝑠𝑡𝑟𝑢𝑐𝑡𝑜𝑟</m:t>
                        </m:r>
                      </m:e>
                    </m:d>
                  </m:oMath>
                </a14:m>
                <a:endParaRPr lang="en-US" dirty="0"/>
              </a:p>
              <a:p>
                <a:r>
                  <a:rPr lang="en-US" dirty="0"/>
                  <a:t>Therefore,</a:t>
                </a:r>
              </a:p>
              <a:p>
                <a:r>
                  <a:rPr lang="en-US" b="1" dirty="0"/>
                  <a:t>Candidate Key = (StudentID, Course)</a:t>
                </a:r>
                <a:endParaRPr lang="en-US" dirty="0"/>
              </a:p>
              <a:p>
                <a:endParaRPr lang="en-US" dirty="0"/>
              </a:p>
            </p:txBody>
          </p:sp>
        </mc:Choice>
        <mc:Fallback xmlns="">
          <p:sp>
            <p:nvSpPr>
              <p:cNvPr id="3" name="Content Placeholder 2">
                <a:extLst>
                  <a:ext uri="{FF2B5EF4-FFF2-40B4-BE49-F238E27FC236}">
                    <a16:creationId xmlns:a16="http://schemas.microsoft.com/office/drawing/2014/main" id="{D10D68F2-9C10-F8D7-573C-90713B1F32E9}"/>
                  </a:ext>
                </a:extLst>
              </p:cNvPr>
              <p:cNvSpPr>
                <a:spLocks noGrp="1" noRot="1" noChangeAspect="1" noMove="1" noResize="1" noEditPoints="1" noAdjustHandles="1" noChangeArrowheads="1" noChangeShapeType="1" noTextEdit="1"/>
              </p:cNvSpPr>
              <p:nvPr>
                <p:ph idx="1"/>
              </p:nvPr>
            </p:nvSpPr>
            <p:spPr>
              <a:xfrm>
                <a:off x="274320" y="1914314"/>
                <a:ext cx="5791201" cy="4023360"/>
              </a:xfrm>
              <a:blipFill>
                <a:blip r:embed="rId3"/>
                <a:stretch>
                  <a:fillRect l="-1053" t="-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FFFEF7BB-1F9B-14C3-508B-F47792397A2A}"/>
                  </a:ext>
                </a:extLst>
              </p:cNvPr>
              <p:cNvSpPr txBox="1">
                <a:spLocks/>
              </p:cNvSpPr>
              <p:nvPr/>
            </p:nvSpPr>
            <p:spPr>
              <a:xfrm>
                <a:off x="6126480" y="1914314"/>
                <a:ext cx="736092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en-US" b="1" dirty="0"/>
                  <a:t>Step 2: Check Each FD:</a:t>
                </a:r>
              </a:p>
              <a:p>
                <a:r>
                  <a:rPr lang="en-US" b="1" dirty="0"/>
                  <a:t>FD 1: </a:t>
                </a:r>
                <a14:m>
                  <m:oMath xmlns:m="http://schemas.openxmlformats.org/officeDocument/2006/math">
                    <m:d>
                      <m:dPr>
                        <m:sepChr m:val=","/>
                        <m:ctrlPr>
                          <a:rPr lang="en-US" i="1">
                            <a:latin typeface="Cambria Math" panose="02040503050406030204" pitchFamily="18" charset="0"/>
                          </a:rPr>
                        </m:ctrlPr>
                      </m:dPr>
                      <m:e>
                        <m:r>
                          <a:rPr lang="en-US" i="1">
                            <a:latin typeface="Cambria Math" panose="02040503050406030204" pitchFamily="18" charset="0"/>
                          </a:rPr>
                          <m:t>𝑆</m:t>
                        </m:r>
                      </m:e>
                      <m:e>
                        <m:r>
                          <a:rPr lang="en-US" i="1">
                            <a:latin typeface="Cambria Math" panose="02040503050406030204" pitchFamily="18" charset="0"/>
                          </a:rPr>
                          <m:t>𝑡𝑢𝑑𝑒𝑛𝑡𝐼𝐷𝐶𝑜𝑢𝑟𝑠𝑒</m:t>
                        </m:r>
                      </m:e>
                    </m:d>
                    <m:r>
                      <a:rPr lang="en-US">
                        <a:latin typeface="Cambria Math" panose="02040503050406030204" pitchFamily="18" charset="0"/>
                      </a:rPr>
                      <m:t>→</m:t>
                    </m:r>
                    <m:r>
                      <a:rPr lang="en-US" i="1">
                        <a:latin typeface="Cambria Math" panose="02040503050406030204" pitchFamily="18" charset="0"/>
                      </a:rPr>
                      <m:t>𝐼𝑛𝑠𝑡𝑟𝑢𝑐𝑡𝑜𝑟</m:t>
                    </m:r>
                  </m:oMath>
                </a14:m>
                <a:endParaRPr lang="en-US" dirty="0"/>
              </a:p>
              <a:p>
                <a:r>
                  <a:rPr lang="en-US" dirty="0"/>
                  <a:t>Left side is a candidate key.  // Satisfied BCNF</a:t>
                </a:r>
              </a:p>
              <a:p>
                <a:r>
                  <a:rPr lang="en-US" b="1" dirty="0"/>
                  <a:t>FD 2: </a:t>
                </a:r>
                <a14:m>
                  <m:oMath xmlns:m="http://schemas.openxmlformats.org/officeDocument/2006/math">
                    <m:r>
                      <a:rPr lang="en-US" i="1">
                        <a:latin typeface="Cambria Math" panose="02040503050406030204" pitchFamily="18" charset="0"/>
                      </a:rPr>
                      <m:t>𝐼𝑛𝑠𝑡𝑟𝑢𝑐𝑡𝑜𝑟</m:t>
                    </m:r>
                    <m:r>
                      <a:rPr lang="en-US">
                        <a:latin typeface="Cambria Math" panose="02040503050406030204" pitchFamily="18" charset="0"/>
                      </a:rPr>
                      <m:t>→</m:t>
                    </m:r>
                    <m:r>
                      <a:rPr lang="en-US" i="1">
                        <a:latin typeface="Cambria Math" panose="02040503050406030204" pitchFamily="18" charset="0"/>
                      </a:rPr>
                      <m:t>𝐶𝑜𝑢𝑟𝑠𝑒</m:t>
                    </m:r>
                  </m:oMath>
                </a14:m>
                <a:endParaRPr lang="en-US" dirty="0"/>
              </a:p>
              <a:p>
                <a:r>
                  <a:rPr lang="en-US" dirty="0"/>
                  <a:t>Let's check whether Instructor is a </a:t>
                </a:r>
                <a:r>
                  <a:rPr lang="en-US" dirty="0" err="1"/>
                  <a:t>superkey</a:t>
                </a:r>
                <a:r>
                  <a:rPr lang="en-US" dirty="0"/>
                  <a:t>.</a:t>
                </a:r>
              </a:p>
              <a:p>
                <a:r>
                  <a:rPr lang="en-US" dirty="0"/>
                  <a:t>Closure: </a:t>
                </a:r>
              </a:p>
              <a:p>
                <a14:m>
                  <m:oMath xmlns:m="http://schemas.openxmlformats.org/officeDocument/2006/math">
                    <m:r>
                      <a:rPr lang="en-US" i="1">
                        <a:latin typeface="Cambria Math" panose="02040503050406030204" pitchFamily="18" charset="0"/>
                      </a:rPr>
                      <m:t>𝐼𝑛𝑠𝑡𝑟𝑢𝑐𝑡𝑜</m:t>
                    </m:r>
                    <m:sSup>
                      <m:sSupPr>
                        <m:ctrlPr>
                          <a:rPr lang="en-US" i="1">
                            <a:latin typeface="Cambria Math" panose="02040503050406030204" pitchFamily="18" charset="0"/>
                          </a:rPr>
                        </m:ctrlPr>
                      </m:sSupPr>
                      <m:e>
                        <m:r>
                          <a:rPr lang="en-US" i="1">
                            <a:latin typeface="Cambria Math" panose="02040503050406030204" pitchFamily="18" charset="0"/>
                          </a:rPr>
                          <m:t>𝑟</m:t>
                        </m:r>
                      </m:e>
                      <m:sup>
                        <m:r>
                          <a:rPr lang="en-US">
                            <a:latin typeface="Cambria Math" panose="02040503050406030204" pitchFamily="18" charset="0"/>
                          </a:rPr>
                          <m:t>+</m:t>
                        </m:r>
                      </m:sup>
                    </m:sSup>
                    <m:r>
                      <a:rPr lang="en-US">
                        <a:latin typeface="Cambria Math" panose="02040503050406030204" pitchFamily="18" charset="0"/>
                      </a:rPr>
                      <m:t>=</m:t>
                    </m:r>
                    <m:d>
                      <m:dPr>
                        <m:begChr m:val="{"/>
                        <m:endChr m:val="}"/>
                        <m:sepChr m:val=","/>
                        <m:ctrlPr>
                          <a:rPr lang="en-US" i="1">
                            <a:latin typeface="Cambria Math" panose="02040503050406030204" pitchFamily="18" charset="0"/>
                          </a:rPr>
                        </m:ctrlPr>
                      </m:dPr>
                      <m:e>
                        <m:r>
                          <a:rPr lang="en-US" i="1">
                            <a:latin typeface="Cambria Math" panose="02040503050406030204" pitchFamily="18" charset="0"/>
                          </a:rPr>
                          <m:t>𝐼</m:t>
                        </m:r>
                      </m:e>
                      <m:e>
                        <m:r>
                          <a:rPr lang="en-US" i="1">
                            <a:latin typeface="Cambria Math" panose="02040503050406030204" pitchFamily="18" charset="0"/>
                          </a:rPr>
                          <m:t>𝑛𝑠𝑡𝑟𝑢𝑐𝑡𝑜𝑟𝐶𝑜𝑢𝑟𝑠𝑒</m:t>
                        </m:r>
                      </m:e>
                    </m:d>
                  </m:oMath>
                </a14:m>
                <a:endParaRPr lang="en-US" dirty="0"/>
              </a:p>
              <a:p>
                <a:r>
                  <a:rPr lang="en-US" dirty="0"/>
                  <a:t>It does NOT contain StudentID.</a:t>
                </a:r>
              </a:p>
              <a:p>
                <a:r>
                  <a:rPr lang="en-US" dirty="0"/>
                  <a:t>Therefore Instructor is </a:t>
                </a:r>
                <a:r>
                  <a:rPr lang="en-US" b="1" dirty="0"/>
                  <a:t>not a </a:t>
                </a:r>
                <a:r>
                  <a:rPr lang="en-US" b="1" dirty="0" err="1"/>
                  <a:t>superkey</a:t>
                </a:r>
                <a:r>
                  <a:rPr lang="en-US" dirty="0"/>
                  <a:t>. // Violates BCNF</a:t>
                </a:r>
              </a:p>
            </p:txBody>
          </p:sp>
        </mc:Choice>
        <mc:Fallback xmlns="">
          <p:sp>
            <p:nvSpPr>
              <p:cNvPr id="4" name="Content Placeholder 2">
                <a:extLst>
                  <a:ext uri="{FF2B5EF4-FFF2-40B4-BE49-F238E27FC236}">
                    <a16:creationId xmlns:a16="http://schemas.microsoft.com/office/drawing/2014/main" id="{FFFEF7BB-1F9B-14C3-508B-F47792397A2A}"/>
                  </a:ext>
                </a:extLst>
              </p:cNvPr>
              <p:cNvSpPr txBox="1">
                <a:spLocks noRot="1" noChangeAspect="1" noMove="1" noResize="1" noEditPoints="1" noAdjustHandles="1" noChangeArrowheads="1" noChangeShapeType="1" noTextEdit="1"/>
              </p:cNvSpPr>
              <p:nvPr/>
            </p:nvSpPr>
            <p:spPr>
              <a:xfrm>
                <a:off x="6126480" y="1914314"/>
                <a:ext cx="7360920" cy="4023360"/>
              </a:xfrm>
              <a:prstGeom prst="rect">
                <a:avLst/>
              </a:prstGeom>
              <a:blipFill>
                <a:blip r:embed="rId4"/>
                <a:stretch>
                  <a:fillRect l="-2070" t="-1515" b="-1667"/>
                </a:stretch>
              </a:blipFill>
            </p:spPr>
            <p:txBody>
              <a:bodyPr/>
              <a:lstStyle/>
              <a:p>
                <a:r>
                  <a:rPr lang="en-US">
                    <a:noFill/>
                  </a:rPr>
                  <a:t> </a:t>
                </a:r>
              </a:p>
            </p:txBody>
          </p:sp>
        </mc:Fallback>
      </mc:AlternateContent>
    </p:spTree>
    <p:extLst>
      <p:ext uri="{BB962C8B-B14F-4D97-AF65-F5344CB8AC3E}">
        <p14:creationId xmlns:p14="http://schemas.microsoft.com/office/powerpoint/2010/main" val="28233725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7134-15DE-3947-121C-284C8BF5869A}"/>
              </a:ext>
            </a:extLst>
          </p:cNvPr>
          <p:cNvSpPr>
            <a:spLocks noGrp="1"/>
          </p:cNvSpPr>
          <p:nvPr>
            <p:ph type="title"/>
          </p:nvPr>
        </p:nvSpPr>
        <p:spPr/>
        <p:txBody>
          <a:bodyPr/>
          <a:lstStyle/>
          <a:p>
            <a:r>
              <a:rPr lang="en-US" dirty="0"/>
              <a:t>Solution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FA3E9A-350A-C269-95A3-AD93FEDDE51D}"/>
                  </a:ext>
                </a:extLst>
              </p:cNvPr>
              <p:cNvSpPr>
                <a:spLocks noGrp="1"/>
              </p:cNvSpPr>
              <p:nvPr>
                <p:ph idx="1"/>
              </p:nvPr>
            </p:nvSpPr>
            <p:spPr/>
            <p:txBody>
              <a:bodyPr>
                <a:normAutofit/>
              </a:bodyPr>
              <a:lstStyle/>
              <a:p>
                <a:r>
                  <a:rPr lang="en-US" dirty="0"/>
                  <a:t>Split the table into: </a:t>
                </a:r>
              </a:p>
              <a:p>
                <a:r>
                  <a:rPr lang="en-US" dirty="0"/>
                  <a:t>Check for BCNF again:</a:t>
                </a:r>
              </a:p>
              <a:p>
                <a:r>
                  <a:rPr lang="en-US" b="1" dirty="0" err="1"/>
                  <a:t>InstructorCourse</a:t>
                </a:r>
                <a:r>
                  <a:rPr lang="en-US" b="1" dirty="0"/>
                  <a:t>: </a:t>
                </a:r>
                <a:r>
                  <a:rPr lang="en-US" dirty="0"/>
                  <a:t>FD:</a:t>
                </a:r>
              </a:p>
              <a:p>
                <a14:m>
                  <m:oMath xmlns:m="http://schemas.openxmlformats.org/officeDocument/2006/math">
                    <m:r>
                      <a:rPr lang="en-US" i="1">
                        <a:latin typeface="Cambria Math" panose="02040503050406030204" pitchFamily="18" charset="0"/>
                      </a:rPr>
                      <m:t>𝐼𝑛𝑠𝑡𝑟𝑢𝑐𝑡𝑜𝑟</m:t>
                    </m:r>
                    <m:r>
                      <a:rPr lang="en-US">
                        <a:latin typeface="Cambria Math" panose="02040503050406030204" pitchFamily="18" charset="0"/>
                      </a:rPr>
                      <m:t>→</m:t>
                    </m:r>
                    <m:r>
                      <a:rPr lang="en-US" i="1">
                        <a:latin typeface="Cambria Math" panose="02040503050406030204" pitchFamily="18" charset="0"/>
                      </a:rPr>
                      <m:t>𝐶𝑜𝑢𝑟𝑠𝑒</m:t>
                    </m:r>
                  </m:oMath>
                </a14:m>
                <a:endParaRPr lang="en-US" dirty="0"/>
              </a:p>
              <a:p>
                <a:r>
                  <a:rPr lang="en-US" dirty="0"/>
                  <a:t>Instructor is the key.</a:t>
                </a:r>
              </a:p>
              <a:p>
                <a:r>
                  <a:rPr lang="en-US" dirty="0"/>
                  <a:t>In BCNF</a:t>
                </a:r>
              </a:p>
              <a:p>
                <a:r>
                  <a:rPr lang="en-US" b="1" dirty="0" err="1"/>
                  <a:t>StudentInstructor</a:t>
                </a:r>
                <a:r>
                  <a:rPr lang="en-US" b="1" dirty="0"/>
                  <a:t>: </a:t>
                </a:r>
                <a:r>
                  <a:rPr lang="en-US" dirty="0"/>
                  <a:t>No non-key determinant exists.</a:t>
                </a:r>
              </a:p>
              <a:p>
                <a:r>
                  <a:rPr lang="en-US" dirty="0"/>
                  <a:t>Key:</a:t>
                </a:r>
                <a14:m>
                  <m:oMath xmlns:m="http://schemas.openxmlformats.org/officeDocument/2006/math">
                    <m:d>
                      <m:dPr>
                        <m:sepChr m:val=","/>
                        <m:ctrlPr>
                          <a:rPr lang="en-US" i="1">
                            <a:latin typeface="Cambria Math" panose="02040503050406030204" pitchFamily="18" charset="0"/>
                          </a:rPr>
                        </m:ctrlPr>
                      </m:dPr>
                      <m:e>
                        <m:r>
                          <a:rPr lang="en-US" i="1">
                            <a:latin typeface="Cambria Math" panose="02040503050406030204" pitchFamily="18" charset="0"/>
                          </a:rPr>
                          <m:t>𝑆</m:t>
                        </m:r>
                      </m:e>
                      <m:e>
                        <m:r>
                          <a:rPr lang="en-US" i="1">
                            <a:latin typeface="Cambria Math" panose="02040503050406030204" pitchFamily="18" charset="0"/>
                          </a:rPr>
                          <m:t>𝑡𝑢𝑑𝑒𝑛𝑡𝐼𝐷𝐼𝑛𝑠𝑡𝑟𝑢𝑐𝑡𝑜𝑟</m:t>
                        </m:r>
                      </m:e>
                    </m:d>
                  </m:oMath>
                </a14:m>
                <a:endParaRPr lang="en-US" dirty="0"/>
              </a:p>
              <a:p>
                <a:r>
                  <a:rPr lang="en-US" dirty="0"/>
                  <a:t>In BCNF</a:t>
                </a:r>
              </a:p>
              <a:p>
                <a:endParaRPr lang="en-US" dirty="0"/>
              </a:p>
            </p:txBody>
          </p:sp>
        </mc:Choice>
        <mc:Fallback xmlns="">
          <p:sp>
            <p:nvSpPr>
              <p:cNvPr id="3" name="Content Placeholder 2">
                <a:extLst>
                  <a:ext uri="{FF2B5EF4-FFF2-40B4-BE49-F238E27FC236}">
                    <a16:creationId xmlns:a16="http://schemas.microsoft.com/office/drawing/2014/main" id="{0FFA3E9A-350A-C269-95A3-AD93FEDDE51D}"/>
                  </a:ext>
                </a:extLst>
              </p:cNvPr>
              <p:cNvSpPr>
                <a:spLocks noGrp="1" noRot="1" noChangeAspect="1" noMove="1" noResize="1" noEditPoints="1" noAdjustHandles="1" noChangeArrowheads="1" noChangeShapeType="1" noTextEdit="1"/>
              </p:cNvSpPr>
              <p:nvPr>
                <p:ph idx="1"/>
              </p:nvPr>
            </p:nvSpPr>
            <p:spPr>
              <a:blipFill>
                <a:blip r:embed="rId3"/>
                <a:stretch>
                  <a:fillRect l="-1515" t="-1667" b="-1667"/>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9F638DD7-4393-8C19-DD82-2704441ADFE8}"/>
              </a:ext>
            </a:extLst>
          </p:cNvPr>
          <p:cNvGraphicFramePr>
            <a:graphicFrameLocks noGrp="1"/>
          </p:cNvGraphicFramePr>
          <p:nvPr>
            <p:extLst>
              <p:ext uri="{D42A27DB-BD31-4B8C-83A1-F6EECF244321}">
                <p14:modId xmlns:p14="http://schemas.microsoft.com/office/powerpoint/2010/main" val="501927479"/>
              </p:ext>
            </p:extLst>
          </p:nvPr>
        </p:nvGraphicFramePr>
        <p:xfrm>
          <a:off x="7909560" y="988906"/>
          <a:ext cx="3180080" cy="1450758"/>
        </p:xfrm>
        <a:graphic>
          <a:graphicData uri="http://schemas.openxmlformats.org/drawingml/2006/table">
            <a:tbl>
              <a:tblPr firstRow="1" bandRow="1">
                <a:tableStyleId>{5C22544A-7EE6-4342-B048-85BDC9FD1C3A}</a:tableStyleId>
              </a:tblPr>
              <a:tblGrid>
                <a:gridCol w="1590040">
                  <a:extLst>
                    <a:ext uri="{9D8B030D-6E8A-4147-A177-3AD203B41FA5}">
                      <a16:colId xmlns:a16="http://schemas.microsoft.com/office/drawing/2014/main" val="4069952449"/>
                    </a:ext>
                  </a:extLst>
                </a:gridCol>
                <a:gridCol w="1590040">
                  <a:extLst>
                    <a:ext uri="{9D8B030D-6E8A-4147-A177-3AD203B41FA5}">
                      <a16:colId xmlns:a16="http://schemas.microsoft.com/office/drawing/2014/main" val="9827705"/>
                    </a:ext>
                  </a:extLst>
                </a:gridCol>
              </a:tblGrid>
              <a:tr h="483586">
                <a:tc>
                  <a:txBody>
                    <a:bodyPr/>
                    <a:lstStyle/>
                    <a:p>
                      <a:pPr>
                        <a:buNone/>
                      </a:pPr>
                      <a:r>
                        <a:rPr lang="en-US" dirty="0"/>
                        <a:t>Instructor</a:t>
                      </a:r>
                    </a:p>
                  </a:txBody>
                  <a:tcPr anchor="ctr"/>
                </a:tc>
                <a:tc>
                  <a:txBody>
                    <a:bodyPr/>
                    <a:lstStyle/>
                    <a:p>
                      <a:pPr>
                        <a:buNone/>
                      </a:pPr>
                      <a:r>
                        <a:rPr lang="en-US" dirty="0"/>
                        <a:t>Course</a:t>
                      </a:r>
                    </a:p>
                  </a:txBody>
                  <a:tcPr anchor="ctr"/>
                </a:tc>
                <a:extLst>
                  <a:ext uri="{0D108BD9-81ED-4DB2-BD59-A6C34878D82A}">
                    <a16:rowId xmlns:a16="http://schemas.microsoft.com/office/drawing/2014/main" val="3305578645"/>
                  </a:ext>
                </a:extLst>
              </a:tr>
              <a:tr h="483586">
                <a:tc>
                  <a:txBody>
                    <a:bodyPr/>
                    <a:lstStyle/>
                    <a:p>
                      <a:pPr>
                        <a:buNone/>
                      </a:pPr>
                      <a:r>
                        <a:rPr lang="en-US"/>
                        <a:t>Ram</a:t>
                      </a:r>
                    </a:p>
                  </a:txBody>
                  <a:tcPr anchor="ctr"/>
                </a:tc>
                <a:tc>
                  <a:txBody>
                    <a:bodyPr/>
                    <a:lstStyle/>
                    <a:p>
                      <a:pPr>
                        <a:buNone/>
                      </a:pPr>
                      <a:r>
                        <a:rPr lang="en-US"/>
                        <a:t>DBMS</a:t>
                      </a:r>
                    </a:p>
                  </a:txBody>
                  <a:tcPr anchor="ctr"/>
                </a:tc>
                <a:extLst>
                  <a:ext uri="{0D108BD9-81ED-4DB2-BD59-A6C34878D82A}">
                    <a16:rowId xmlns:a16="http://schemas.microsoft.com/office/drawing/2014/main" val="3548812033"/>
                  </a:ext>
                </a:extLst>
              </a:tr>
              <a:tr h="483586">
                <a:tc>
                  <a:txBody>
                    <a:bodyPr/>
                    <a:lstStyle/>
                    <a:p>
                      <a:pPr>
                        <a:buNone/>
                      </a:pPr>
                      <a:r>
                        <a:rPr lang="en-US"/>
                        <a:t>Hari</a:t>
                      </a:r>
                    </a:p>
                  </a:txBody>
                  <a:tcPr anchor="ctr"/>
                </a:tc>
                <a:tc>
                  <a:txBody>
                    <a:bodyPr/>
                    <a:lstStyle/>
                    <a:p>
                      <a:pPr>
                        <a:buNone/>
                      </a:pPr>
                      <a:r>
                        <a:rPr lang="en-US" dirty="0"/>
                        <a:t>AI</a:t>
                      </a:r>
                    </a:p>
                  </a:txBody>
                  <a:tcPr anchor="ctr"/>
                </a:tc>
                <a:extLst>
                  <a:ext uri="{0D108BD9-81ED-4DB2-BD59-A6C34878D82A}">
                    <a16:rowId xmlns:a16="http://schemas.microsoft.com/office/drawing/2014/main" val="4068457532"/>
                  </a:ext>
                </a:extLst>
              </a:tr>
            </a:tbl>
          </a:graphicData>
        </a:graphic>
      </p:graphicFrame>
      <p:graphicFrame>
        <p:nvGraphicFramePr>
          <p:cNvPr id="5" name="Table 4">
            <a:extLst>
              <a:ext uri="{FF2B5EF4-FFF2-40B4-BE49-F238E27FC236}">
                <a16:creationId xmlns:a16="http://schemas.microsoft.com/office/drawing/2014/main" id="{6D15811D-BC14-4D4C-554C-C7D538FABBA6}"/>
              </a:ext>
            </a:extLst>
          </p:cNvPr>
          <p:cNvGraphicFramePr>
            <a:graphicFrameLocks noGrp="1"/>
          </p:cNvGraphicFramePr>
          <p:nvPr>
            <p:extLst>
              <p:ext uri="{D42A27DB-BD31-4B8C-83A1-F6EECF244321}">
                <p14:modId xmlns:p14="http://schemas.microsoft.com/office/powerpoint/2010/main" val="2971636798"/>
              </p:ext>
            </p:extLst>
          </p:nvPr>
        </p:nvGraphicFramePr>
        <p:xfrm>
          <a:off x="7909560" y="3131820"/>
          <a:ext cx="3530600" cy="2440092"/>
        </p:xfrm>
        <a:graphic>
          <a:graphicData uri="http://schemas.openxmlformats.org/drawingml/2006/table">
            <a:tbl>
              <a:tblPr firstRow="1" bandRow="1">
                <a:tableStyleId>{5C22544A-7EE6-4342-B048-85BDC9FD1C3A}</a:tableStyleId>
              </a:tblPr>
              <a:tblGrid>
                <a:gridCol w="1765300">
                  <a:extLst>
                    <a:ext uri="{9D8B030D-6E8A-4147-A177-3AD203B41FA5}">
                      <a16:colId xmlns:a16="http://schemas.microsoft.com/office/drawing/2014/main" val="725978349"/>
                    </a:ext>
                  </a:extLst>
                </a:gridCol>
                <a:gridCol w="1765300">
                  <a:extLst>
                    <a:ext uri="{9D8B030D-6E8A-4147-A177-3AD203B41FA5}">
                      <a16:colId xmlns:a16="http://schemas.microsoft.com/office/drawing/2014/main" val="2282480231"/>
                    </a:ext>
                  </a:extLst>
                </a:gridCol>
              </a:tblGrid>
              <a:tr h="406682">
                <a:tc>
                  <a:txBody>
                    <a:bodyPr/>
                    <a:lstStyle/>
                    <a:p>
                      <a:pPr>
                        <a:buNone/>
                      </a:pPr>
                      <a:r>
                        <a:rPr lang="en-US" dirty="0"/>
                        <a:t>StudentID</a:t>
                      </a:r>
                    </a:p>
                  </a:txBody>
                  <a:tcPr anchor="ctr"/>
                </a:tc>
                <a:tc>
                  <a:txBody>
                    <a:bodyPr/>
                    <a:lstStyle/>
                    <a:p>
                      <a:pPr>
                        <a:buNone/>
                      </a:pPr>
                      <a:r>
                        <a:rPr lang="en-US"/>
                        <a:t>Instructor</a:t>
                      </a:r>
                    </a:p>
                  </a:txBody>
                  <a:tcPr anchor="ctr"/>
                </a:tc>
                <a:extLst>
                  <a:ext uri="{0D108BD9-81ED-4DB2-BD59-A6C34878D82A}">
                    <a16:rowId xmlns:a16="http://schemas.microsoft.com/office/drawing/2014/main" val="884169113"/>
                  </a:ext>
                </a:extLst>
              </a:tr>
              <a:tr h="406682">
                <a:tc>
                  <a:txBody>
                    <a:bodyPr/>
                    <a:lstStyle/>
                    <a:p>
                      <a:pPr>
                        <a:buNone/>
                      </a:pPr>
                      <a:r>
                        <a:rPr lang="en-US"/>
                        <a:t>S1</a:t>
                      </a:r>
                    </a:p>
                  </a:txBody>
                  <a:tcPr anchor="ctr"/>
                </a:tc>
                <a:tc>
                  <a:txBody>
                    <a:bodyPr/>
                    <a:lstStyle/>
                    <a:p>
                      <a:pPr>
                        <a:buNone/>
                      </a:pPr>
                      <a:r>
                        <a:rPr lang="en-US"/>
                        <a:t>Ram</a:t>
                      </a:r>
                    </a:p>
                  </a:txBody>
                  <a:tcPr anchor="ctr"/>
                </a:tc>
                <a:extLst>
                  <a:ext uri="{0D108BD9-81ED-4DB2-BD59-A6C34878D82A}">
                    <a16:rowId xmlns:a16="http://schemas.microsoft.com/office/drawing/2014/main" val="3790518528"/>
                  </a:ext>
                </a:extLst>
              </a:tr>
              <a:tr h="406682">
                <a:tc>
                  <a:txBody>
                    <a:bodyPr/>
                    <a:lstStyle/>
                    <a:p>
                      <a:pPr>
                        <a:buNone/>
                      </a:pPr>
                      <a:r>
                        <a:rPr lang="en-US"/>
                        <a:t>S2</a:t>
                      </a:r>
                    </a:p>
                  </a:txBody>
                  <a:tcPr anchor="ctr"/>
                </a:tc>
                <a:tc>
                  <a:txBody>
                    <a:bodyPr/>
                    <a:lstStyle/>
                    <a:p>
                      <a:pPr>
                        <a:buNone/>
                      </a:pPr>
                      <a:r>
                        <a:rPr lang="en-US"/>
                        <a:t>Ram</a:t>
                      </a:r>
                    </a:p>
                  </a:txBody>
                  <a:tcPr anchor="ctr"/>
                </a:tc>
                <a:extLst>
                  <a:ext uri="{0D108BD9-81ED-4DB2-BD59-A6C34878D82A}">
                    <a16:rowId xmlns:a16="http://schemas.microsoft.com/office/drawing/2014/main" val="2760049677"/>
                  </a:ext>
                </a:extLst>
              </a:tr>
              <a:tr h="406682">
                <a:tc>
                  <a:txBody>
                    <a:bodyPr/>
                    <a:lstStyle/>
                    <a:p>
                      <a:pPr>
                        <a:buNone/>
                      </a:pPr>
                      <a:r>
                        <a:rPr lang="en-US"/>
                        <a:t>S3</a:t>
                      </a:r>
                    </a:p>
                  </a:txBody>
                  <a:tcPr anchor="ctr"/>
                </a:tc>
                <a:tc>
                  <a:txBody>
                    <a:bodyPr/>
                    <a:lstStyle/>
                    <a:p>
                      <a:pPr>
                        <a:buNone/>
                      </a:pPr>
                      <a:r>
                        <a:rPr lang="en-US"/>
                        <a:t>Hari</a:t>
                      </a:r>
                    </a:p>
                  </a:txBody>
                  <a:tcPr anchor="ctr"/>
                </a:tc>
                <a:extLst>
                  <a:ext uri="{0D108BD9-81ED-4DB2-BD59-A6C34878D82A}">
                    <a16:rowId xmlns:a16="http://schemas.microsoft.com/office/drawing/2014/main" val="866011569"/>
                  </a:ext>
                </a:extLst>
              </a:tr>
              <a:tr h="406682">
                <a:tc>
                  <a:txBody>
                    <a:bodyPr/>
                    <a:lstStyle/>
                    <a:p>
                      <a:pPr>
                        <a:buNone/>
                      </a:pPr>
                      <a:r>
                        <a:rPr lang="en-US"/>
                        <a:t>S4</a:t>
                      </a:r>
                    </a:p>
                  </a:txBody>
                  <a:tcPr anchor="ctr"/>
                </a:tc>
                <a:tc>
                  <a:txBody>
                    <a:bodyPr/>
                    <a:lstStyle/>
                    <a:p>
                      <a:pPr>
                        <a:buNone/>
                      </a:pPr>
                      <a:r>
                        <a:rPr lang="en-US"/>
                        <a:t>Hari</a:t>
                      </a:r>
                    </a:p>
                  </a:txBody>
                  <a:tcPr anchor="ctr"/>
                </a:tc>
                <a:extLst>
                  <a:ext uri="{0D108BD9-81ED-4DB2-BD59-A6C34878D82A}">
                    <a16:rowId xmlns:a16="http://schemas.microsoft.com/office/drawing/2014/main" val="2911643788"/>
                  </a:ext>
                </a:extLst>
              </a:tr>
              <a:tr h="406682">
                <a:tc>
                  <a:txBody>
                    <a:bodyPr/>
                    <a:lstStyle/>
                    <a:p>
                      <a:pPr>
                        <a:buNone/>
                      </a:pPr>
                      <a:r>
                        <a:rPr lang="en-US"/>
                        <a:t>S5</a:t>
                      </a:r>
                    </a:p>
                  </a:txBody>
                  <a:tcPr anchor="ctr"/>
                </a:tc>
                <a:tc>
                  <a:txBody>
                    <a:bodyPr/>
                    <a:lstStyle/>
                    <a:p>
                      <a:pPr>
                        <a:buNone/>
                      </a:pPr>
                      <a:r>
                        <a:rPr lang="en-US" dirty="0"/>
                        <a:t>Ram</a:t>
                      </a:r>
                    </a:p>
                  </a:txBody>
                  <a:tcPr anchor="ctr"/>
                </a:tc>
                <a:extLst>
                  <a:ext uri="{0D108BD9-81ED-4DB2-BD59-A6C34878D82A}">
                    <a16:rowId xmlns:a16="http://schemas.microsoft.com/office/drawing/2014/main" val="3883053421"/>
                  </a:ext>
                </a:extLst>
              </a:tr>
            </a:tbl>
          </a:graphicData>
        </a:graphic>
      </p:graphicFrame>
      <p:sp>
        <p:nvSpPr>
          <p:cNvPr id="7" name="TextBox 6">
            <a:extLst>
              <a:ext uri="{FF2B5EF4-FFF2-40B4-BE49-F238E27FC236}">
                <a16:creationId xmlns:a16="http://schemas.microsoft.com/office/drawing/2014/main" id="{891BB55D-0BDD-2708-C89B-25754E3C5481}"/>
              </a:ext>
            </a:extLst>
          </p:cNvPr>
          <p:cNvSpPr txBox="1"/>
          <p:nvPr/>
        </p:nvSpPr>
        <p:spPr>
          <a:xfrm>
            <a:off x="7909560" y="2762488"/>
            <a:ext cx="2028825" cy="369332"/>
          </a:xfrm>
          <a:prstGeom prst="rect">
            <a:avLst/>
          </a:prstGeom>
          <a:noFill/>
        </p:spPr>
        <p:txBody>
          <a:bodyPr wrap="square">
            <a:spAutoFit/>
          </a:bodyPr>
          <a:lstStyle/>
          <a:p>
            <a:r>
              <a:rPr lang="en-US" dirty="0" err="1"/>
              <a:t>StudentInstructor</a:t>
            </a:r>
            <a:endParaRPr lang="en-US" dirty="0"/>
          </a:p>
        </p:txBody>
      </p:sp>
      <p:sp>
        <p:nvSpPr>
          <p:cNvPr id="9" name="TextBox 8">
            <a:extLst>
              <a:ext uri="{FF2B5EF4-FFF2-40B4-BE49-F238E27FC236}">
                <a16:creationId xmlns:a16="http://schemas.microsoft.com/office/drawing/2014/main" id="{3407C0C3-35EC-77E5-A43C-D02C0D6DC341}"/>
              </a:ext>
            </a:extLst>
          </p:cNvPr>
          <p:cNvSpPr txBox="1"/>
          <p:nvPr/>
        </p:nvSpPr>
        <p:spPr>
          <a:xfrm>
            <a:off x="7909560" y="481416"/>
            <a:ext cx="2005965" cy="369332"/>
          </a:xfrm>
          <a:prstGeom prst="rect">
            <a:avLst/>
          </a:prstGeom>
          <a:noFill/>
        </p:spPr>
        <p:txBody>
          <a:bodyPr wrap="square">
            <a:spAutoFit/>
          </a:bodyPr>
          <a:lstStyle/>
          <a:p>
            <a:r>
              <a:rPr lang="en-US" dirty="0" err="1"/>
              <a:t>InstructorCourse</a:t>
            </a:r>
            <a:endParaRPr lang="en-US" dirty="0"/>
          </a:p>
        </p:txBody>
      </p:sp>
    </p:spTree>
    <p:extLst>
      <p:ext uri="{BB962C8B-B14F-4D97-AF65-F5344CB8AC3E}">
        <p14:creationId xmlns:p14="http://schemas.microsoft.com/office/powerpoint/2010/main" val="25769914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6034A-1ADA-3665-AA60-807908B9DB3E}"/>
              </a:ext>
            </a:extLst>
          </p:cNvPr>
          <p:cNvSpPr>
            <a:spLocks noGrp="1"/>
          </p:cNvSpPr>
          <p:nvPr>
            <p:ph type="title"/>
          </p:nvPr>
        </p:nvSpPr>
        <p:spPr/>
        <p:txBody>
          <a:bodyPr/>
          <a:lstStyle/>
          <a:p>
            <a:r>
              <a:rPr lang="en-US" dirty="0"/>
              <a:t>Fourth Normal Form (4NF)</a:t>
            </a:r>
          </a:p>
        </p:txBody>
      </p:sp>
      <p:sp>
        <p:nvSpPr>
          <p:cNvPr id="3" name="Content Placeholder 2">
            <a:extLst>
              <a:ext uri="{FF2B5EF4-FFF2-40B4-BE49-F238E27FC236}">
                <a16:creationId xmlns:a16="http://schemas.microsoft.com/office/drawing/2014/main" id="{DA29B895-229F-799E-DB79-0B6F77C9FEC0}"/>
              </a:ext>
            </a:extLst>
          </p:cNvPr>
          <p:cNvSpPr>
            <a:spLocks noGrp="1"/>
          </p:cNvSpPr>
          <p:nvPr>
            <p:ph idx="1"/>
          </p:nvPr>
        </p:nvSpPr>
        <p:spPr/>
        <p:txBody>
          <a:bodyPr>
            <a:normAutofit/>
          </a:bodyPr>
          <a:lstStyle/>
          <a:p>
            <a:r>
              <a:rPr lang="en-US" b="1" dirty="0"/>
              <a:t>Rule:</a:t>
            </a:r>
          </a:p>
          <a:p>
            <a:pPr lvl="1"/>
            <a:r>
              <a:rPr lang="en-US" dirty="0"/>
              <a:t>Remove Multi-Valued Dependencies.</a:t>
            </a:r>
          </a:p>
          <a:p>
            <a:r>
              <a:rPr lang="en-US" dirty="0"/>
              <a:t>Assume: Student independently:</a:t>
            </a:r>
          </a:p>
          <a:p>
            <a:pPr lvl="1"/>
            <a:r>
              <a:rPr lang="en-US" dirty="0"/>
              <a:t>studies many subjects </a:t>
            </a:r>
          </a:p>
          <a:p>
            <a:pPr lvl="1"/>
            <a:r>
              <a:rPr lang="en-US" dirty="0"/>
              <a:t>knows many languages </a:t>
            </a:r>
          </a:p>
          <a:p>
            <a:r>
              <a:rPr lang="en-US" dirty="0"/>
              <a:t>Dependencies:</a:t>
            </a:r>
          </a:p>
          <a:p>
            <a:pPr lvl="1"/>
            <a:r>
              <a:rPr lang="en-US" dirty="0" err="1"/>
              <a:t>Student_ID</a:t>
            </a:r>
            <a:r>
              <a:rPr lang="en-US" dirty="0"/>
              <a:t> ↠ Subject</a:t>
            </a:r>
            <a:br>
              <a:rPr lang="en-US" dirty="0"/>
            </a:br>
            <a:r>
              <a:rPr lang="en-US" dirty="0" err="1"/>
              <a:t>Student_ID</a:t>
            </a:r>
            <a:r>
              <a:rPr lang="en-US" dirty="0"/>
              <a:t> ↠ Language</a:t>
            </a:r>
          </a:p>
          <a:p>
            <a:r>
              <a:rPr lang="en-US" dirty="0"/>
              <a:t>Subjects and languages are unrelated.</a:t>
            </a:r>
          </a:p>
          <a:p>
            <a:r>
              <a:rPr lang="en-US" dirty="0"/>
              <a:t>This causes unnecessary combinations.</a:t>
            </a:r>
          </a:p>
          <a:p>
            <a:endParaRPr lang="en-US" dirty="0"/>
          </a:p>
        </p:txBody>
      </p:sp>
      <p:graphicFrame>
        <p:nvGraphicFramePr>
          <p:cNvPr id="5" name="Table 4">
            <a:extLst>
              <a:ext uri="{FF2B5EF4-FFF2-40B4-BE49-F238E27FC236}">
                <a16:creationId xmlns:a16="http://schemas.microsoft.com/office/drawing/2014/main" id="{3FB6422E-17FB-196F-89BE-19D603DAF984}"/>
              </a:ext>
            </a:extLst>
          </p:cNvPr>
          <p:cNvGraphicFramePr>
            <a:graphicFrameLocks noGrp="1"/>
          </p:cNvGraphicFramePr>
          <p:nvPr>
            <p:extLst>
              <p:ext uri="{D42A27DB-BD31-4B8C-83A1-F6EECF244321}">
                <p14:modId xmlns:p14="http://schemas.microsoft.com/office/powerpoint/2010/main" val="818189825"/>
              </p:ext>
            </p:extLst>
          </p:nvPr>
        </p:nvGraphicFramePr>
        <p:xfrm>
          <a:off x="7960231" y="101369"/>
          <a:ext cx="3946845" cy="2893790"/>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dirty="0"/>
                        <a:t>Subject</a:t>
                      </a:r>
                    </a:p>
                  </a:txBody>
                  <a:tcPr anchor="ctr"/>
                </a:tc>
                <a:tc>
                  <a:txBody>
                    <a:bodyPr/>
                    <a:lstStyle/>
                    <a:p>
                      <a:pPr>
                        <a:buNone/>
                      </a:pPr>
                      <a:r>
                        <a:rPr lang="en-US" dirty="0"/>
                        <a:t>Language</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dirty="0"/>
                        <a:t>DBMS</a:t>
                      </a:r>
                    </a:p>
                  </a:txBody>
                  <a:tcPr anchor="ctr"/>
                </a:tc>
                <a:tc>
                  <a:txBody>
                    <a:bodyPr/>
                    <a:lstStyle/>
                    <a:p>
                      <a:pPr>
                        <a:buNone/>
                      </a:pPr>
                      <a:r>
                        <a:rPr lang="en-US"/>
                        <a:t>English</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dirty="0"/>
                        <a:t>DBMS</a:t>
                      </a:r>
                    </a:p>
                  </a:txBody>
                  <a:tcPr anchor="ctr"/>
                </a:tc>
                <a:tc>
                  <a:txBody>
                    <a:bodyPr/>
                    <a:lstStyle/>
                    <a:p>
                      <a:pPr>
                        <a:buNone/>
                      </a:pPr>
                      <a:r>
                        <a:rPr lang="en-US"/>
                        <a:t>Nepali</a:t>
                      </a:r>
                    </a:p>
                  </a:txBody>
                  <a:tcPr anchor="ctr"/>
                </a:tc>
                <a:extLst>
                  <a:ext uri="{0D108BD9-81ED-4DB2-BD59-A6C34878D82A}">
                    <a16:rowId xmlns:a16="http://schemas.microsoft.com/office/drawing/2014/main" val="2418840407"/>
                  </a:ext>
                </a:extLst>
              </a:tr>
              <a:tr h="378088">
                <a:tc>
                  <a:txBody>
                    <a:bodyPr/>
                    <a:lstStyle/>
                    <a:p>
                      <a:pPr>
                        <a:buNone/>
                      </a:pPr>
                      <a:r>
                        <a:rPr lang="en-US"/>
                        <a:t>S101</a:t>
                      </a:r>
                    </a:p>
                  </a:txBody>
                  <a:tcPr anchor="ctr"/>
                </a:tc>
                <a:tc>
                  <a:txBody>
                    <a:bodyPr/>
                    <a:lstStyle/>
                    <a:p>
                      <a:pPr>
                        <a:buNone/>
                      </a:pPr>
                      <a:r>
                        <a:rPr lang="en-US" dirty="0"/>
                        <a:t>OS</a:t>
                      </a:r>
                    </a:p>
                  </a:txBody>
                  <a:tcPr anchor="ctr"/>
                </a:tc>
                <a:tc>
                  <a:txBody>
                    <a:bodyPr/>
                    <a:lstStyle/>
                    <a:p>
                      <a:pPr>
                        <a:buNone/>
                      </a:pPr>
                      <a:r>
                        <a:rPr lang="en-US"/>
                        <a:t>English</a:t>
                      </a:r>
                    </a:p>
                  </a:txBody>
                  <a:tcPr anchor="ctr"/>
                </a:tc>
                <a:extLst>
                  <a:ext uri="{0D108BD9-81ED-4DB2-BD59-A6C34878D82A}">
                    <a16:rowId xmlns:a16="http://schemas.microsoft.com/office/drawing/2014/main" val="2232269818"/>
                  </a:ext>
                </a:extLst>
              </a:tr>
              <a:tr h="378088">
                <a:tc>
                  <a:txBody>
                    <a:bodyPr/>
                    <a:lstStyle/>
                    <a:p>
                      <a:pPr>
                        <a:buNone/>
                      </a:pPr>
                      <a:r>
                        <a:rPr lang="en-US"/>
                        <a:t>S101</a:t>
                      </a:r>
                    </a:p>
                  </a:txBody>
                  <a:tcPr anchor="ctr"/>
                </a:tc>
                <a:tc>
                  <a:txBody>
                    <a:bodyPr/>
                    <a:lstStyle/>
                    <a:p>
                      <a:pPr>
                        <a:buNone/>
                      </a:pPr>
                      <a:r>
                        <a:rPr lang="en-US" dirty="0"/>
                        <a:t>OS</a:t>
                      </a:r>
                    </a:p>
                  </a:txBody>
                  <a:tcPr anchor="ctr"/>
                </a:tc>
                <a:tc>
                  <a:txBody>
                    <a:bodyPr/>
                    <a:lstStyle/>
                    <a:p>
                      <a:pPr>
                        <a:buNone/>
                      </a:pPr>
                      <a:r>
                        <a:rPr lang="en-US"/>
                        <a:t>Nepali</a:t>
                      </a:r>
                    </a:p>
                  </a:txBody>
                  <a:tcPr anchor="ctr"/>
                </a:tc>
                <a:extLst>
                  <a:ext uri="{0D108BD9-81ED-4DB2-BD59-A6C34878D82A}">
                    <a16:rowId xmlns:a16="http://schemas.microsoft.com/office/drawing/2014/main" val="254113623"/>
                  </a:ext>
                </a:extLst>
              </a:tr>
              <a:tr h="378088">
                <a:tc>
                  <a:txBody>
                    <a:bodyPr/>
                    <a:lstStyle/>
                    <a:p>
                      <a:pPr>
                        <a:buNone/>
                      </a:pPr>
                      <a:r>
                        <a:rPr lang="en-US"/>
                        <a:t>S102</a:t>
                      </a:r>
                    </a:p>
                  </a:txBody>
                  <a:tcPr anchor="ctr"/>
                </a:tc>
                <a:tc>
                  <a:txBody>
                    <a:bodyPr/>
                    <a:lstStyle/>
                    <a:p>
                      <a:pPr>
                        <a:buNone/>
                      </a:pPr>
                      <a:r>
                        <a:rPr lang="en-US" dirty="0"/>
                        <a:t>DBMS</a:t>
                      </a:r>
                    </a:p>
                  </a:txBody>
                  <a:tcPr anchor="ctr"/>
                </a:tc>
                <a:tc>
                  <a:txBody>
                    <a:bodyPr/>
                    <a:lstStyle/>
                    <a:p>
                      <a:pPr>
                        <a:buNone/>
                      </a:pPr>
                      <a:r>
                        <a:rPr lang="en-US"/>
                        <a:t>English</a:t>
                      </a:r>
                    </a:p>
                  </a:txBody>
                  <a:tcPr anchor="ctr"/>
                </a:tc>
                <a:extLst>
                  <a:ext uri="{0D108BD9-81ED-4DB2-BD59-A6C34878D82A}">
                    <a16:rowId xmlns:a16="http://schemas.microsoft.com/office/drawing/2014/main" val="2829322054"/>
                  </a:ext>
                </a:extLst>
              </a:tr>
              <a:tr h="378088">
                <a:tc>
                  <a:txBody>
                    <a:bodyPr/>
                    <a:lstStyle/>
                    <a:p>
                      <a:pPr>
                        <a:buNone/>
                      </a:pPr>
                      <a:r>
                        <a:rPr lang="en-US"/>
                        <a:t>S102</a:t>
                      </a:r>
                    </a:p>
                  </a:txBody>
                  <a:tcPr anchor="ctr"/>
                </a:tc>
                <a:tc>
                  <a:txBody>
                    <a:bodyPr/>
                    <a:lstStyle/>
                    <a:p>
                      <a:pPr>
                        <a:buNone/>
                      </a:pPr>
                      <a:r>
                        <a:rPr lang="en-US"/>
                        <a:t>CN</a:t>
                      </a:r>
                    </a:p>
                  </a:txBody>
                  <a:tcPr anchor="ctr"/>
                </a:tc>
                <a:tc>
                  <a:txBody>
                    <a:bodyPr/>
                    <a:lstStyle/>
                    <a:p>
                      <a:pPr>
                        <a:buNone/>
                      </a:pPr>
                      <a:r>
                        <a:rPr lang="en-US" dirty="0"/>
                        <a:t>English</a:t>
                      </a:r>
                    </a:p>
                  </a:txBody>
                  <a:tcPr anchor="ctr"/>
                </a:tc>
                <a:extLst>
                  <a:ext uri="{0D108BD9-81ED-4DB2-BD59-A6C34878D82A}">
                    <a16:rowId xmlns:a16="http://schemas.microsoft.com/office/drawing/2014/main" val="2070343107"/>
                  </a:ext>
                </a:extLst>
              </a:tr>
            </a:tbl>
          </a:graphicData>
        </a:graphic>
      </p:graphicFrame>
      <p:sp>
        <p:nvSpPr>
          <p:cNvPr id="7" name="TextBox 6">
            <a:extLst>
              <a:ext uri="{FF2B5EF4-FFF2-40B4-BE49-F238E27FC236}">
                <a16:creationId xmlns:a16="http://schemas.microsoft.com/office/drawing/2014/main" id="{4E3E8E14-1E6A-A9BA-7F4E-3043470CE04D}"/>
              </a:ext>
            </a:extLst>
          </p:cNvPr>
          <p:cNvSpPr txBox="1"/>
          <p:nvPr/>
        </p:nvSpPr>
        <p:spPr>
          <a:xfrm>
            <a:off x="9060176" y="3179268"/>
            <a:ext cx="1746953" cy="369332"/>
          </a:xfrm>
          <a:prstGeom prst="rect">
            <a:avLst/>
          </a:prstGeom>
          <a:noFill/>
        </p:spPr>
        <p:txBody>
          <a:bodyPr wrap="none" rtlCol="0">
            <a:spAutoFit/>
          </a:bodyPr>
          <a:lstStyle/>
          <a:p>
            <a:r>
              <a:rPr lang="en-US" dirty="0"/>
              <a:t>Enrollment table</a:t>
            </a:r>
          </a:p>
        </p:txBody>
      </p:sp>
      <p:graphicFrame>
        <p:nvGraphicFramePr>
          <p:cNvPr id="9" name="Table 8">
            <a:extLst>
              <a:ext uri="{FF2B5EF4-FFF2-40B4-BE49-F238E27FC236}">
                <a16:creationId xmlns:a16="http://schemas.microsoft.com/office/drawing/2014/main" id="{ECDCBC12-C81C-1DDC-7A93-EFBA82B32EC7}"/>
              </a:ext>
            </a:extLst>
          </p:cNvPr>
          <p:cNvGraphicFramePr>
            <a:graphicFrameLocks noGrp="1"/>
          </p:cNvGraphicFramePr>
          <p:nvPr>
            <p:extLst>
              <p:ext uri="{D42A27DB-BD31-4B8C-83A1-F6EECF244321}">
                <p14:modId xmlns:p14="http://schemas.microsoft.com/office/powerpoint/2010/main" val="863567162"/>
              </p:ext>
            </p:extLst>
          </p:nvPr>
        </p:nvGraphicFramePr>
        <p:xfrm>
          <a:off x="5633801" y="4668450"/>
          <a:ext cx="2631230" cy="2137614"/>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tblGrid>
              <a:tr h="625262">
                <a:tc>
                  <a:txBody>
                    <a:bodyPr/>
                    <a:lstStyle/>
                    <a:p>
                      <a:pPr>
                        <a:buNone/>
                      </a:pPr>
                      <a:r>
                        <a:rPr lang="en-US" dirty="0" err="1"/>
                        <a:t>Stu_ID</a:t>
                      </a:r>
                      <a:endParaRPr lang="en-US" dirty="0"/>
                    </a:p>
                  </a:txBody>
                  <a:tcPr anchor="ctr"/>
                </a:tc>
                <a:tc>
                  <a:txBody>
                    <a:bodyPr/>
                    <a:lstStyle/>
                    <a:p>
                      <a:pPr>
                        <a:buNone/>
                      </a:pPr>
                      <a:r>
                        <a:rPr lang="en-US" dirty="0"/>
                        <a:t>Subject</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dirty="0"/>
                        <a:t>DBMS</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dirty="0"/>
                        <a:t>DBMS</a:t>
                      </a:r>
                    </a:p>
                  </a:txBody>
                  <a:tcPr anchor="ctr"/>
                </a:tc>
                <a:extLst>
                  <a:ext uri="{0D108BD9-81ED-4DB2-BD59-A6C34878D82A}">
                    <a16:rowId xmlns:a16="http://schemas.microsoft.com/office/drawing/2014/main" val="2418840407"/>
                  </a:ext>
                </a:extLst>
              </a:tr>
              <a:tr h="378088">
                <a:tc>
                  <a:txBody>
                    <a:bodyPr/>
                    <a:lstStyle/>
                    <a:p>
                      <a:pPr>
                        <a:buNone/>
                      </a:pPr>
                      <a:r>
                        <a:rPr lang="en-US"/>
                        <a:t>S101</a:t>
                      </a:r>
                    </a:p>
                  </a:txBody>
                  <a:tcPr anchor="ctr"/>
                </a:tc>
                <a:tc>
                  <a:txBody>
                    <a:bodyPr/>
                    <a:lstStyle/>
                    <a:p>
                      <a:pPr>
                        <a:buNone/>
                      </a:pPr>
                      <a:r>
                        <a:rPr lang="en-US" dirty="0"/>
                        <a:t>OS</a:t>
                      </a:r>
                    </a:p>
                  </a:txBody>
                  <a:tcPr anchor="ctr"/>
                </a:tc>
                <a:extLst>
                  <a:ext uri="{0D108BD9-81ED-4DB2-BD59-A6C34878D82A}">
                    <a16:rowId xmlns:a16="http://schemas.microsoft.com/office/drawing/2014/main" val="2232269818"/>
                  </a:ext>
                </a:extLst>
              </a:tr>
              <a:tr h="378088">
                <a:tc>
                  <a:txBody>
                    <a:bodyPr/>
                    <a:lstStyle/>
                    <a:p>
                      <a:pPr>
                        <a:buNone/>
                      </a:pPr>
                      <a:r>
                        <a:rPr lang="en-US"/>
                        <a:t>S101</a:t>
                      </a:r>
                    </a:p>
                  </a:txBody>
                  <a:tcPr anchor="ctr"/>
                </a:tc>
                <a:tc>
                  <a:txBody>
                    <a:bodyPr/>
                    <a:lstStyle/>
                    <a:p>
                      <a:pPr>
                        <a:buNone/>
                      </a:pPr>
                      <a:r>
                        <a:rPr lang="en-US" dirty="0"/>
                        <a:t>OS</a:t>
                      </a:r>
                    </a:p>
                  </a:txBody>
                  <a:tcPr anchor="ctr"/>
                </a:tc>
                <a:extLst>
                  <a:ext uri="{0D108BD9-81ED-4DB2-BD59-A6C34878D82A}">
                    <a16:rowId xmlns:a16="http://schemas.microsoft.com/office/drawing/2014/main" val="254113623"/>
                  </a:ext>
                </a:extLst>
              </a:tr>
            </a:tbl>
          </a:graphicData>
        </a:graphic>
      </p:graphicFrame>
      <p:graphicFrame>
        <p:nvGraphicFramePr>
          <p:cNvPr id="11" name="Table 10">
            <a:extLst>
              <a:ext uri="{FF2B5EF4-FFF2-40B4-BE49-F238E27FC236}">
                <a16:creationId xmlns:a16="http://schemas.microsoft.com/office/drawing/2014/main" id="{846A248D-E26B-5732-2B37-7BF8C3E3EC16}"/>
              </a:ext>
            </a:extLst>
          </p:cNvPr>
          <p:cNvGraphicFramePr>
            <a:graphicFrameLocks noGrp="1"/>
          </p:cNvGraphicFramePr>
          <p:nvPr>
            <p:extLst>
              <p:ext uri="{D42A27DB-BD31-4B8C-83A1-F6EECF244321}">
                <p14:modId xmlns:p14="http://schemas.microsoft.com/office/powerpoint/2010/main" val="1523118250"/>
              </p:ext>
            </p:extLst>
          </p:nvPr>
        </p:nvGraphicFramePr>
        <p:xfrm>
          <a:off x="9275846" y="4668450"/>
          <a:ext cx="2631230" cy="2137614"/>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dirty="0"/>
                        <a:t>Language</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a:t>English</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a:t>Nepali</a:t>
                      </a:r>
                    </a:p>
                  </a:txBody>
                  <a:tcPr anchor="ctr"/>
                </a:tc>
                <a:extLst>
                  <a:ext uri="{0D108BD9-81ED-4DB2-BD59-A6C34878D82A}">
                    <a16:rowId xmlns:a16="http://schemas.microsoft.com/office/drawing/2014/main" val="2418840407"/>
                  </a:ext>
                </a:extLst>
              </a:tr>
              <a:tr h="378088">
                <a:tc>
                  <a:txBody>
                    <a:bodyPr/>
                    <a:lstStyle/>
                    <a:p>
                      <a:pPr>
                        <a:buNone/>
                      </a:pPr>
                      <a:r>
                        <a:rPr lang="en-US"/>
                        <a:t>S101</a:t>
                      </a:r>
                    </a:p>
                  </a:txBody>
                  <a:tcPr anchor="ctr"/>
                </a:tc>
                <a:tc>
                  <a:txBody>
                    <a:bodyPr/>
                    <a:lstStyle/>
                    <a:p>
                      <a:pPr>
                        <a:buNone/>
                      </a:pPr>
                      <a:r>
                        <a:rPr lang="en-US"/>
                        <a:t>English</a:t>
                      </a:r>
                    </a:p>
                  </a:txBody>
                  <a:tcPr anchor="ctr"/>
                </a:tc>
                <a:extLst>
                  <a:ext uri="{0D108BD9-81ED-4DB2-BD59-A6C34878D82A}">
                    <a16:rowId xmlns:a16="http://schemas.microsoft.com/office/drawing/2014/main" val="2232269818"/>
                  </a:ext>
                </a:extLst>
              </a:tr>
              <a:tr h="378088">
                <a:tc>
                  <a:txBody>
                    <a:bodyPr/>
                    <a:lstStyle/>
                    <a:p>
                      <a:pPr>
                        <a:buNone/>
                      </a:pPr>
                      <a:r>
                        <a:rPr lang="en-US"/>
                        <a:t>S101</a:t>
                      </a:r>
                    </a:p>
                  </a:txBody>
                  <a:tcPr anchor="ctr"/>
                </a:tc>
                <a:tc>
                  <a:txBody>
                    <a:bodyPr/>
                    <a:lstStyle/>
                    <a:p>
                      <a:pPr>
                        <a:buNone/>
                      </a:pPr>
                      <a:r>
                        <a:rPr lang="en-US" dirty="0"/>
                        <a:t>Nepali</a:t>
                      </a:r>
                    </a:p>
                  </a:txBody>
                  <a:tcPr anchor="ctr"/>
                </a:tc>
                <a:extLst>
                  <a:ext uri="{0D108BD9-81ED-4DB2-BD59-A6C34878D82A}">
                    <a16:rowId xmlns:a16="http://schemas.microsoft.com/office/drawing/2014/main" val="254113623"/>
                  </a:ext>
                </a:extLst>
              </a:tr>
            </a:tbl>
          </a:graphicData>
        </a:graphic>
      </p:graphicFrame>
      <p:sp>
        <p:nvSpPr>
          <p:cNvPr id="13" name="TextBox 12">
            <a:extLst>
              <a:ext uri="{FF2B5EF4-FFF2-40B4-BE49-F238E27FC236}">
                <a16:creationId xmlns:a16="http://schemas.microsoft.com/office/drawing/2014/main" id="{71171C51-0F68-3D56-61FF-5AABEF48F4C9}"/>
              </a:ext>
            </a:extLst>
          </p:cNvPr>
          <p:cNvSpPr txBox="1"/>
          <p:nvPr/>
        </p:nvSpPr>
        <p:spPr>
          <a:xfrm>
            <a:off x="5633801" y="4299118"/>
            <a:ext cx="2260427" cy="369332"/>
          </a:xfrm>
          <a:prstGeom prst="rect">
            <a:avLst/>
          </a:prstGeom>
          <a:noFill/>
        </p:spPr>
        <p:txBody>
          <a:bodyPr wrap="none" rtlCol="0">
            <a:spAutoFit/>
          </a:bodyPr>
          <a:lstStyle/>
          <a:p>
            <a:r>
              <a:rPr lang="en-US" dirty="0" err="1"/>
              <a:t>Student_Subject</a:t>
            </a:r>
            <a:r>
              <a:rPr lang="en-US" dirty="0"/>
              <a:t> table</a:t>
            </a:r>
          </a:p>
        </p:txBody>
      </p:sp>
      <p:sp>
        <p:nvSpPr>
          <p:cNvPr id="14" name="TextBox 13">
            <a:extLst>
              <a:ext uri="{FF2B5EF4-FFF2-40B4-BE49-F238E27FC236}">
                <a16:creationId xmlns:a16="http://schemas.microsoft.com/office/drawing/2014/main" id="{31E6C986-EBE9-48F6-C7AE-2FCDFCE9EDE6}"/>
              </a:ext>
            </a:extLst>
          </p:cNvPr>
          <p:cNvSpPr txBox="1"/>
          <p:nvPr/>
        </p:nvSpPr>
        <p:spPr>
          <a:xfrm>
            <a:off x="9275846" y="4222814"/>
            <a:ext cx="2415598" cy="369332"/>
          </a:xfrm>
          <a:prstGeom prst="rect">
            <a:avLst/>
          </a:prstGeom>
          <a:noFill/>
        </p:spPr>
        <p:txBody>
          <a:bodyPr wrap="none" rtlCol="0">
            <a:spAutoFit/>
          </a:bodyPr>
          <a:lstStyle/>
          <a:p>
            <a:r>
              <a:rPr lang="en-US" dirty="0" err="1"/>
              <a:t>Student_language</a:t>
            </a:r>
            <a:r>
              <a:rPr lang="en-US" dirty="0"/>
              <a:t> table</a:t>
            </a:r>
          </a:p>
        </p:txBody>
      </p:sp>
      <p:cxnSp>
        <p:nvCxnSpPr>
          <p:cNvPr id="16" name="Straight Arrow Connector 15">
            <a:extLst>
              <a:ext uri="{FF2B5EF4-FFF2-40B4-BE49-F238E27FC236}">
                <a16:creationId xmlns:a16="http://schemas.microsoft.com/office/drawing/2014/main" id="{205BD642-4DE8-44C8-749A-550DC8B6AE5C}"/>
              </a:ext>
            </a:extLst>
          </p:cNvPr>
          <p:cNvCxnSpPr>
            <a:stCxn id="7" idx="2"/>
          </p:cNvCxnSpPr>
          <p:nvPr/>
        </p:nvCxnSpPr>
        <p:spPr>
          <a:xfrm flipH="1">
            <a:off x="7894228" y="3548600"/>
            <a:ext cx="2039425" cy="935184"/>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154347BA-BDE2-01C8-7050-492C51E53570}"/>
              </a:ext>
            </a:extLst>
          </p:cNvPr>
          <p:cNvCxnSpPr>
            <a:cxnSpLocks/>
            <a:stCxn id="7" idx="2"/>
            <a:endCxn id="14" idx="0"/>
          </p:cNvCxnSpPr>
          <p:nvPr/>
        </p:nvCxnSpPr>
        <p:spPr>
          <a:xfrm>
            <a:off x="9933653" y="3548600"/>
            <a:ext cx="549992" cy="674214"/>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13667559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E1767-08EA-854D-4924-702FDC015B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D2C42-97EB-949E-A997-2CE6720DA3A3}"/>
              </a:ext>
            </a:extLst>
          </p:cNvPr>
          <p:cNvSpPr>
            <a:spLocks noGrp="1"/>
          </p:cNvSpPr>
          <p:nvPr>
            <p:ph type="title"/>
          </p:nvPr>
        </p:nvSpPr>
        <p:spPr/>
        <p:txBody>
          <a:bodyPr/>
          <a:lstStyle/>
          <a:p>
            <a:r>
              <a:rPr lang="en-US" dirty="0"/>
              <a:t>Fifth Normal Form (5NF)</a:t>
            </a:r>
          </a:p>
        </p:txBody>
      </p:sp>
      <p:sp>
        <p:nvSpPr>
          <p:cNvPr id="3" name="Content Placeholder 2">
            <a:extLst>
              <a:ext uri="{FF2B5EF4-FFF2-40B4-BE49-F238E27FC236}">
                <a16:creationId xmlns:a16="http://schemas.microsoft.com/office/drawing/2014/main" id="{F4AE22C1-02F7-60E7-8507-1288C202B0F0}"/>
              </a:ext>
            </a:extLst>
          </p:cNvPr>
          <p:cNvSpPr>
            <a:spLocks noGrp="1"/>
          </p:cNvSpPr>
          <p:nvPr>
            <p:ph idx="1"/>
          </p:nvPr>
        </p:nvSpPr>
        <p:spPr>
          <a:xfrm>
            <a:off x="420788" y="1874026"/>
            <a:ext cx="4954367" cy="4449761"/>
          </a:xfrm>
        </p:spPr>
        <p:txBody>
          <a:bodyPr>
            <a:normAutofit/>
          </a:bodyPr>
          <a:lstStyle/>
          <a:p>
            <a:r>
              <a:rPr lang="en-US" b="1" dirty="0"/>
              <a:t>Rule:</a:t>
            </a:r>
          </a:p>
          <a:p>
            <a:pPr lvl="1"/>
            <a:r>
              <a:rPr lang="en-US" dirty="0"/>
              <a:t>Remove Join Dependencies.</a:t>
            </a:r>
          </a:p>
          <a:p>
            <a:pPr marL="0" indent="0">
              <a:buNone/>
            </a:pPr>
            <a:r>
              <a:rPr lang="en-US" dirty="0"/>
              <a:t>Assume: College Additionally Stores</a:t>
            </a:r>
          </a:p>
          <a:p>
            <a:r>
              <a:rPr lang="en-US" dirty="0"/>
              <a:t>A complex dependency may exist between:</a:t>
            </a:r>
          </a:p>
          <a:p>
            <a:pPr lvl="1"/>
            <a:r>
              <a:rPr lang="en-US" dirty="0"/>
              <a:t>Student</a:t>
            </a:r>
          </a:p>
          <a:p>
            <a:pPr lvl="1"/>
            <a:r>
              <a:rPr lang="en-US" dirty="0"/>
              <a:t>Subject</a:t>
            </a:r>
          </a:p>
          <a:p>
            <a:pPr lvl="1"/>
            <a:r>
              <a:rPr lang="en-US" dirty="0"/>
              <a:t>Project</a:t>
            </a:r>
          </a:p>
          <a:p>
            <a:r>
              <a:rPr lang="en-US" dirty="0"/>
              <a:t>The original relation can be </a:t>
            </a:r>
          </a:p>
          <a:p>
            <a:pPr marL="201168" lvl="1" indent="0">
              <a:buNone/>
            </a:pPr>
            <a:r>
              <a:rPr lang="en-US" dirty="0"/>
              <a:t>reconstructed through joins.</a:t>
            </a:r>
          </a:p>
          <a:p>
            <a:r>
              <a:rPr lang="en-US" dirty="0"/>
              <a:t>This removes redundancy </a:t>
            </a:r>
          </a:p>
          <a:p>
            <a:pPr marL="201168" lvl="1" indent="0">
              <a:buNone/>
            </a:pPr>
            <a:r>
              <a:rPr lang="en-US" dirty="0"/>
              <a:t>caused by join dependencies.</a:t>
            </a:r>
          </a:p>
          <a:p>
            <a:endParaRPr lang="en-US" dirty="0"/>
          </a:p>
          <a:p>
            <a:endParaRPr lang="en-US" dirty="0"/>
          </a:p>
        </p:txBody>
      </p:sp>
      <p:graphicFrame>
        <p:nvGraphicFramePr>
          <p:cNvPr id="5" name="Table 4">
            <a:extLst>
              <a:ext uri="{FF2B5EF4-FFF2-40B4-BE49-F238E27FC236}">
                <a16:creationId xmlns:a16="http://schemas.microsoft.com/office/drawing/2014/main" id="{DE8AA032-C49F-01E4-3B1B-A983A0FED542}"/>
              </a:ext>
            </a:extLst>
          </p:cNvPr>
          <p:cNvGraphicFramePr>
            <a:graphicFrameLocks noGrp="1"/>
          </p:cNvGraphicFramePr>
          <p:nvPr>
            <p:extLst>
              <p:ext uri="{D42A27DB-BD31-4B8C-83A1-F6EECF244321}">
                <p14:modId xmlns:p14="http://schemas.microsoft.com/office/powerpoint/2010/main" val="1958448505"/>
              </p:ext>
            </p:extLst>
          </p:nvPr>
        </p:nvGraphicFramePr>
        <p:xfrm>
          <a:off x="7744599" y="328617"/>
          <a:ext cx="3946845" cy="2137614"/>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dirty="0"/>
                        <a:t>Subject</a:t>
                      </a:r>
                    </a:p>
                  </a:txBody>
                  <a:tcPr anchor="ctr"/>
                </a:tc>
                <a:tc>
                  <a:txBody>
                    <a:bodyPr/>
                    <a:lstStyle/>
                    <a:p>
                      <a:pPr>
                        <a:buNone/>
                      </a:pPr>
                      <a:r>
                        <a:rPr lang="en-US" dirty="0"/>
                        <a:t>Projects</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dirty="0"/>
                        <a:t>DBMS</a:t>
                      </a:r>
                    </a:p>
                  </a:txBody>
                  <a:tcPr anchor="ctr"/>
                </a:tc>
                <a:tc>
                  <a:txBody>
                    <a:bodyPr/>
                    <a:lstStyle/>
                    <a:p>
                      <a:pPr>
                        <a:buNone/>
                      </a:pPr>
                      <a:r>
                        <a:rPr lang="en-US" dirty="0"/>
                        <a:t>P1</a:t>
                      </a:r>
                    </a:p>
                  </a:txBody>
                  <a:tcPr anchor="ctr"/>
                </a:tc>
                <a:extLst>
                  <a:ext uri="{0D108BD9-81ED-4DB2-BD59-A6C34878D82A}">
                    <a16:rowId xmlns:a16="http://schemas.microsoft.com/office/drawing/2014/main" val="4190997854"/>
                  </a:ext>
                </a:extLst>
              </a:tr>
              <a:tr h="378088">
                <a:tc>
                  <a:txBody>
                    <a:bodyPr/>
                    <a:lstStyle/>
                    <a:p>
                      <a:pPr>
                        <a:buNone/>
                      </a:pPr>
                      <a:r>
                        <a:rPr lang="en-US" dirty="0"/>
                        <a:t>S101</a:t>
                      </a:r>
                    </a:p>
                  </a:txBody>
                  <a:tcPr anchor="ctr"/>
                </a:tc>
                <a:tc>
                  <a:txBody>
                    <a:bodyPr/>
                    <a:lstStyle/>
                    <a:p>
                      <a:pPr>
                        <a:buNone/>
                      </a:pPr>
                      <a:r>
                        <a:rPr lang="en-US" dirty="0"/>
                        <a:t>OS</a:t>
                      </a:r>
                    </a:p>
                  </a:txBody>
                  <a:tcPr anchor="ctr"/>
                </a:tc>
                <a:tc>
                  <a:txBody>
                    <a:bodyPr/>
                    <a:lstStyle/>
                    <a:p>
                      <a:pPr>
                        <a:buNone/>
                      </a:pPr>
                      <a:r>
                        <a:rPr lang="en-US" dirty="0"/>
                        <a:t>P2</a:t>
                      </a:r>
                    </a:p>
                  </a:txBody>
                  <a:tcPr anchor="ctr"/>
                </a:tc>
                <a:extLst>
                  <a:ext uri="{0D108BD9-81ED-4DB2-BD59-A6C34878D82A}">
                    <a16:rowId xmlns:a16="http://schemas.microsoft.com/office/drawing/2014/main" val="2232269818"/>
                  </a:ext>
                </a:extLst>
              </a:tr>
              <a:tr h="378088">
                <a:tc>
                  <a:txBody>
                    <a:bodyPr/>
                    <a:lstStyle/>
                    <a:p>
                      <a:pPr>
                        <a:buNone/>
                      </a:pPr>
                      <a:r>
                        <a:rPr lang="en-US"/>
                        <a:t>S102</a:t>
                      </a:r>
                    </a:p>
                  </a:txBody>
                  <a:tcPr anchor="ctr"/>
                </a:tc>
                <a:tc>
                  <a:txBody>
                    <a:bodyPr/>
                    <a:lstStyle/>
                    <a:p>
                      <a:pPr>
                        <a:buNone/>
                      </a:pPr>
                      <a:r>
                        <a:rPr lang="en-US" dirty="0"/>
                        <a:t>DBMS</a:t>
                      </a:r>
                    </a:p>
                  </a:txBody>
                  <a:tcPr anchor="ctr"/>
                </a:tc>
                <a:tc>
                  <a:txBody>
                    <a:bodyPr/>
                    <a:lstStyle/>
                    <a:p>
                      <a:pPr>
                        <a:buNone/>
                      </a:pPr>
                      <a:r>
                        <a:rPr lang="en-US" dirty="0"/>
                        <a:t>P1</a:t>
                      </a:r>
                    </a:p>
                  </a:txBody>
                  <a:tcPr anchor="ctr"/>
                </a:tc>
                <a:extLst>
                  <a:ext uri="{0D108BD9-81ED-4DB2-BD59-A6C34878D82A}">
                    <a16:rowId xmlns:a16="http://schemas.microsoft.com/office/drawing/2014/main" val="2829322054"/>
                  </a:ext>
                </a:extLst>
              </a:tr>
              <a:tr h="378088">
                <a:tc>
                  <a:txBody>
                    <a:bodyPr/>
                    <a:lstStyle/>
                    <a:p>
                      <a:pPr>
                        <a:buNone/>
                      </a:pPr>
                      <a:r>
                        <a:rPr lang="en-US"/>
                        <a:t>S102</a:t>
                      </a:r>
                    </a:p>
                  </a:txBody>
                  <a:tcPr anchor="ctr"/>
                </a:tc>
                <a:tc>
                  <a:txBody>
                    <a:bodyPr/>
                    <a:lstStyle/>
                    <a:p>
                      <a:pPr>
                        <a:buNone/>
                      </a:pPr>
                      <a:r>
                        <a:rPr lang="en-US"/>
                        <a:t>CN</a:t>
                      </a:r>
                    </a:p>
                  </a:txBody>
                  <a:tcPr anchor="ctr"/>
                </a:tc>
                <a:tc>
                  <a:txBody>
                    <a:bodyPr/>
                    <a:lstStyle/>
                    <a:p>
                      <a:pPr>
                        <a:buNone/>
                      </a:pPr>
                      <a:r>
                        <a:rPr lang="en-US" dirty="0"/>
                        <a:t>P3</a:t>
                      </a:r>
                    </a:p>
                  </a:txBody>
                  <a:tcPr anchor="ctr"/>
                </a:tc>
                <a:extLst>
                  <a:ext uri="{0D108BD9-81ED-4DB2-BD59-A6C34878D82A}">
                    <a16:rowId xmlns:a16="http://schemas.microsoft.com/office/drawing/2014/main" val="2070343107"/>
                  </a:ext>
                </a:extLst>
              </a:tr>
            </a:tbl>
          </a:graphicData>
        </a:graphic>
      </p:graphicFrame>
      <p:sp>
        <p:nvSpPr>
          <p:cNvPr id="7" name="TextBox 6">
            <a:extLst>
              <a:ext uri="{FF2B5EF4-FFF2-40B4-BE49-F238E27FC236}">
                <a16:creationId xmlns:a16="http://schemas.microsoft.com/office/drawing/2014/main" id="{3700FBEB-AA51-9E83-25FF-109B7C8CB7E3}"/>
              </a:ext>
            </a:extLst>
          </p:cNvPr>
          <p:cNvSpPr txBox="1"/>
          <p:nvPr/>
        </p:nvSpPr>
        <p:spPr>
          <a:xfrm>
            <a:off x="8910547" y="2450520"/>
            <a:ext cx="1746953" cy="369332"/>
          </a:xfrm>
          <a:prstGeom prst="rect">
            <a:avLst/>
          </a:prstGeom>
          <a:noFill/>
        </p:spPr>
        <p:txBody>
          <a:bodyPr wrap="none" rtlCol="0">
            <a:spAutoFit/>
          </a:bodyPr>
          <a:lstStyle/>
          <a:p>
            <a:r>
              <a:rPr lang="en-US" dirty="0"/>
              <a:t>Enrollment table</a:t>
            </a:r>
          </a:p>
        </p:txBody>
      </p:sp>
      <p:graphicFrame>
        <p:nvGraphicFramePr>
          <p:cNvPr id="9" name="Table 8">
            <a:extLst>
              <a:ext uri="{FF2B5EF4-FFF2-40B4-BE49-F238E27FC236}">
                <a16:creationId xmlns:a16="http://schemas.microsoft.com/office/drawing/2014/main" id="{1F50406A-CBBE-9FC9-BDFE-693C17073A7E}"/>
              </a:ext>
            </a:extLst>
          </p:cNvPr>
          <p:cNvGraphicFramePr>
            <a:graphicFrameLocks noGrp="1"/>
          </p:cNvGraphicFramePr>
          <p:nvPr>
            <p:extLst>
              <p:ext uri="{D42A27DB-BD31-4B8C-83A1-F6EECF244321}">
                <p14:modId xmlns:p14="http://schemas.microsoft.com/office/powerpoint/2010/main" val="2825130560"/>
              </p:ext>
            </p:extLst>
          </p:nvPr>
        </p:nvGraphicFramePr>
        <p:xfrm>
          <a:off x="3653150" y="4299118"/>
          <a:ext cx="2631230" cy="1759526"/>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2635593483"/>
                    </a:ext>
                  </a:extLst>
                </a:gridCol>
              </a:tblGrid>
              <a:tr h="625262">
                <a:tc>
                  <a:txBody>
                    <a:bodyPr/>
                    <a:lstStyle/>
                    <a:p>
                      <a:pPr>
                        <a:buNone/>
                      </a:pPr>
                      <a:r>
                        <a:rPr lang="en-US" dirty="0" err="1"/>
                        <a:t>Stu_ID</a:t>
                      </a:r>
                      <a:endParaRPr lang="en-US" dirty="0"/>
                    </a:p>
                  </a:txBody>
                  <a:tcPr anchor="ctr"/>
                </a:tc>
                <a:tc>
                  <a:txBody>
                    <a:bodyPr/>
                    <a:lstStyle/>
                    <a:p>
                      <a:pPr>
                        <a:buNone/>
                      </a:pPr>
                      <a:r>
                        <a:rPr lang="en-US" dirty="0"/>
                        <a:t>Subject</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dirty="0"/>
                        <a:t>DBMS</a:t>
                      </a:r>
                    </a:p>
                  </a:txBody>
                  <a:tcPr anchor="ctr"/>
                </a:tc>
                <a:extLst>
                  <a:ext uri="{0D108BD9-81ED-4DB2-BD59-A6C34878D82A}">
                    <a16:rowId xmlns:a16="http://schemas.microsoft.com/office/drawing/2014/main" val="4190997854"/>
                  </a:ext>
                </a:extLst>
              </a:tr>
              <a:tr h="378088">
                <a:tc>
                  <a:txBody>
                    <a:bodyPr/>
                    <a:lstStyle/>
                    <a:p>
                      <a:pPr>
                        <a:buNone/>
                      </a:pPr>
                      <a:r>
                        <a:rPr lang="en-US" dirty="0"/>
                        <a:t>S101</a:t>
                      </a:r>
                    </a:p>
                  </a:txBody>
                  <a:tcPr anchor="ctr"/>
                </a:tc>
                <a:tc>
                  <a:txBody>
                    <a:bodyPr/>
                    <a:lstStyle/>
                    <a:p>
                      <a:pPr>
                        <a:buNone/>
                      </a:pPr>
                      <a:r>
                        <a:rPr lang="en-US" dirty="0"/>
                        <a:t>OS</a:t>
                      </a:r>
                    </a:p>
                  </a:txBody>
                  <a:tcPr anchor="ctr"/>
                </a:tc>
                <a:extLst>
                  <a:ext uri="{0D108BD9-81ED-4DB2-BD59-A6C34878D82A}">
                    <a16:rowId xmlns:a16="http://schemas.microsoft.com/office/drawing/2014/main" val="2232269818"/>
                  </a:ext>
                </a:extLst>
              </a:tr>
              <a:tr h="378088">
                <a:tc>
                  <a:txBody>
                    <a:bodyPr/>
                    <a:lstStyle/>
                    <a:p>
                      <a:pPr>
                        <a:buNone/>
                      </a:pPr>
                      <a:r>
                        <a:rPr lang="en-US" dirty="0"/>
                        <a:t>S102</a:t>
                      </a:r>
                    </a:p>
                  </a:txBody>
                  <a:tcPr anchor="ctr"/>
                </a:tc>
                <a:tc>
                  <a:txBody>
                    <a:bodyPr/>
                    <a:lstStyle/>
                    <a:p>
                      <a:pPr>
                        <a:buNone/>
                      </a:pPr>
                      <a:r>
                        <a:rPr lang="en-US" dirty="0"/>
                        <a:t>CN</a:t>
                      </a:r>
                    </a:p>
                  </a:txBody>
                  <a:tcPr anchor="ctr"/>
                </a:tc>
                <a:extLst>
                  <a:ext uri="{0D108BD9-81ED-4DB2-BD59-A6C34878D82A}">
                    <a16:rowId xmlns:a16="http://schemas.microsoft.com/office/drawing/2014/main" val="254113623"/>
                  </a:ext>
                </a:extLst>
              </a:tr>
            </a:tbl>
          </a:graphicData>
        </a:graphic>
      </p:graphicFrame>
      <p:graphicFrame>
        <p:nvGraphicFramePr>
          <p:cNvPr id="11" name="Table 10">
            <a:extLst>
              <a:ext uri="{FF2B5EF4-FFF2-40B4-BE49-F238E27FC236}">
                <a16:creationId xmlns:a16="http://schemas.microsoft.com/office/drawing/2014/main" id="{2D443D4B-9F86-0B0E-D121-7A32D941FCAE}"/>
              </a:ext>
            </a:extLst>
          </p:cNvPr>
          <p:cNvGraphicFramePr>
            <a:graphicFrameLocks noGrp="1"/>
          </p:cNvGraphicFramePr>
          <p:nvPr>
            <p:extLst>
              <p:ext uri="{D42A27DB-BD31-4B8C-83A1-F6EECF244321}">
                <p14:modId xmlns:p14="http://schemas.microsoft.com/office/powerpoint/2010/main" val="3899796638"/>
              </p:ext>
            </p:extLst>
          </p:nvPr>
        </p:nvGraphicFramePr>
        <p:xfrm>
          <a:off x="6494949" y="4186174"/>
          <a:ext cx="2631230" cy="2137614"/>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err="1"/>
                        <a:t>Stu_ID</a:t>
                      </a:r>
                      <a:endParaRPr lang="en-US" dirty="0"/>
                    </a:p>
                  </a:txBody>
                  <a:tcPr anchor="ctr"/>
                </a:tc>
                <a:tc>
                  <a:txBody>
                    <a:bodyPr/>
                    <a:lstStyle/>
                    <a:p>
                      <a:pPr>
                        <a:buNone/>
                      </a:pPr>
                      <a:r>
                        <a:rPr lang="en-US" dirty="0"/>
                        <a:t>Projects</a:t>
                      </a:r>
                    </a:p>
                  </a:txBody>
                  <a:tcPr anchor="ctr"/>
                </a:tc>
                <a:extLst>
                  <a:ext uri="{0D108BD9-81ED-4DB2-BD59-A6C34878D82A}">
                    <a16:rowId xmlns:a16="http://schemas.microsoft.com/office/drawing/2014/main" val="750597701"/>
                  </a:ext>
                </a:extLst>
              </a:tr>
              <a:tr h="378088">
                <a:tc>
                  <a:txBody>
                    <a:bodyPr/>
                    <a:lstStyle/>
                    <a:p>
                      <a:pPr>
                        <a:buNone/>
                      </a:pPr>
                      <a:r>
                        <a:rPr lang="en-US" dirty="0"/>
                        <a:t>S101</a:t>
                      </a:r>
                    </a:p>
                  </a:txBody>
                  <a:tcPr anchor="ctr"/>
                </a:tc>
                <a:tc>
                  <a:txBody>
                    <a:bodyPr/>
                    <a:lstStyle/>
                    <a:p>
                      <a:pPr>
                        <a:buNone/>
                      </a:pPr>
                      <a:r>
                        <a:rPr lang="en-US" dirty="0"/>
                        <a:t>P1</a:t>
                      </a:r>
                    </a:p>
                  </a:txBody>
                  <a:tcPr anchor="ctr"/>
                </a:tc>
                <a:extLst>
                  <a:ext uri="{0D108BD9-81ED-4DB2-BD59-A6C34878D82A}">
                    <a16:rowId xmlns:a16="http://schemas.microsoft.com/office/drawing/2014/main" val="4190997854"/>
                  </a:ext>
                </a:extLst>
              </a:tr>
              <a:tr h="378088">
                <a:tc>
                  <a:txBody>
                    <a:bodyPr/>
                    <a:lstStyle/>
                    <a:p>
                      <a:pPr>
                        <a:buNone/>
                      </a:pPr>
                      <a:r>
                        <a:rPr lang="en-US"/>
                        <a:t>S101</a:t>
                      </a:r>
                    </a:p>
                  </a:txBody>
                  <a:tcPr anchor="ctr"/>
                </a:tc>
                <a:tc>
                  <a:txBody>
                    <a:bodyPr/>
                    <a:lstStyle/>
                    <a:p>
                      <a:pPr>
                        <a:buNone/>
                      </a:pPr>
                      <a:r>
                        <a:rPr lang="en-US" dirty="0"/>
                        <a:t>P2</a:t>
                      </a:r>
                    </a:p>
                  </a:txBody>
                  <a:tcPr anchor="ctr"/>
                </a:tc>
                <a:extLst>
                  <a:ext uri="{0D108BD9-81ED-4DB2-BD59-A6C34878D82A}">
                    <a16:rowId xmlns:a16="http://schemas.microsoft.com/office/drawing/2014/main" val="2418840407"/>
                  </a:ext>
                </a:extLst>
              </a:tr>
              <a:tr h="378088">
                <a:tc>
                  <a:txBody>
                    <a:bodyPr/>
                    <a:lstStyle/>
                    <a:p>
                      <a:pPr>
                        <a:buNone/>
                      </a:pPr>
                      <a:r>
                        <a:rPr lang="en-US" dirty="0"/>
                        <a:t>S102</a:t>
                      </a:r>
                    </a:p>
                  </a:txBody>
                  <a:tcPr anchor="ctr"/>
                </a:tc>
                <a:tc>
                  <a:txBody>
                    <a:bodyPr/>
                    <a:lstStyle/>
                    <a:p>
                      <a:pPr>
                        <a:buNone/>
                      </a:pPr>
                      <a:r>
                        <a:rPr lang="en-US" dirty="0"/>
                        <a:t>P1</a:t>
                      </a:r>
                    </a:p>
                  </a:txBody>
                  <a:tcPr anchor="ctr"/>
                </a:tc>
                <a:extLst>
                  <a:ext uri="{0D108BD9-81ED-4DB2-BD59-A6C34878D82A}">
                    <a16:rowId xmlns:a16="http://schemas.microsoft.com/office/drawing/2014/main" val="2232269818"/>
                  </a:ext>
                </a:extLst>
              </a:tr>
              <a:tr h="378088">
                <a:tc>
                  <a:txBody>
                    <a:bodyPr/>
                    <a:lstStyle/>
                    <a:p>
                      <a:pPr>
                        <a:buNone/>
                      </a:pPr>
                      <a:r>
                        <a:rPr lang="en-US" dirty="0"/>
                        <a:t>S102</a:t>
                      </a:r>
                    </a:p>
                  </a:txBody>
                  <a:tcPr anchor="ctr"/>
                </a:tc>
                <a:tc>
                  <a:txBody>
                    <a:bodyPr/>
                    <a:lstStyle/>
                    <a:p>
                      <a:pPr>
                        <a:buNone/>
                      </a:pPr>
                      <a:r>
                        <a:rPr lang="en-US" dirty="0"/>
                        <a:t>P3</a:t>
                      </a:r>
                    </a:p>
                  </a:txBody>
                  <a:tcPr anchor="ctr"/>
                </a:tc>
                <a:extLst>
                  <a:ext uri="{0D108BD9-81ED-4DB2-BD59-A6C34878D82A}">
                    <a16:rowId xmlns:a16="http://schemas.microsoft.com/office/drawing/2014/main" val="254113623"/>
                  </a:ext>
                </a:extLst>
              </a:tr>
            </a:tbl>
          </a:graphicData>
        </a:graphic>
      </p:graphicFrame>
      <p:sp>
        <p:nvSpPr>
          <p:cNvPr id="13" name="TextBox 12">
            <a:extLst>
              <a:ext uri="{FF2B5EF4-FFF2-40B4-BE49-F238E27FC236}">
                <a16:creationId xmlns:a16="http://schemas.microsoft.com/office/drawing/2014/main" id="{55C39052-CD37-B1D3-B4F3-89B4D0A95E9B}"/>
              </a:ext>
            </a:extLst>
          </p:cNvPr>
          <p:cNvSpPr txBox="1"/>
          <p:nvPr/>
        </p:nvSpPr>
        <p:spPr>
          <a:xfrm>
            <a:off x="3653150" y="3929786"/>
            <a:ext cx="2260427" cy="369332"/>
          </a:xfrm>
          <a:prstGeom prst="rect">
            <a:avLst/>
          </a:prstGeom>
          <a:noFill/>
        </p:spPr>
        <p:txBody>
          <a:bodyPr wrap="none" rtlCol="0">
            <a:spAutoFit/>
          </a:bodyPr>
          <a:lstStyle/>
          <a:p>
            <a:r>
              <a:rPr lang="en-US" dirty="0" err="1"/>
              <a:t>Student_Subject</a:t>
            </a:r>
            <a:r>
              <a:rPr lang="en-US" dirty="0"/>
              <a:t> table</a:t>
            </a:r>
          </a:p>
        </p:txBody>
      </p:sp>
      <p:sp>
        <p:nvSpPr>
          <p:cNvPr id="14" name="TextBox 13">
            <a:extLst>
              <a:ext uri="{FF2B5EF4-FFF2-40B4-BE49-F238E27FC236}">
                <a16:creationId xmlns:a16="http://schemas.microsoft.com/office/drawing/2014/main" id="{08F3AE23-287A-58BE-8BD7-078C7311A2B9}"/>
              </a:ext>
            </a:extLst>
          </p:cNvPr>
          <p:cNvSpPr txBox="1"/>
          <p:nvPr/>
        </p:nvSpPr>
        <p:spPr>
          <a:xfrm>
            <a:off x="6494949" y="3740538"/>
            <a:ext cx="2415598" cy="369332"/>
          </a:xfrm>
          <a:prstGeom prst="rect">
            <a:avLst/>
          </a:prstGeom>
          <a:noFill/>
        </p:spPr>
        <p:txBody>
          <a:bodyPr wrap="none" rtlCol="0">
            <a:spAutoFit/>
          </a:bodyPr>
          <a:lstStyle/>
          <a:p>
            <a:r>
              <a:rPr lang="en-US" dirty="0" err="1"/>
              <a:t>Student_language</a:t>
            </a:r>
            <a:r>
              <a:rPr lang="en-US" dirty="0"/>
              <a:t> table</a:t>
            </a:r>
          </a:p>
        </p:txBody>
      </p:sp>
      <p:cxnSp>
        <p:nvCxnSpPr>
          <p:cNvPr id="16" name="Straight Arrow Connector 15">
            <a:extLst>
              <a:ext uri="{FF2B5EF4-FFF2-40B4-BE49-F238E27FC236}">
                <a16:creationId xmlns:a16="http://schemas.microsoft.com/office/drawing/2014/main" id="{9E5F6E58-6024-EC18-485A-2B257A07D493}"/>
              </a:ext>
            </a:extLst>
          </p:cNvPr>
          <p:cNvCxnSpPr>
            <a:cxnSpLocks/>
            <a:stCxn id="7" idx="2"/>
            <a:endCxn id="13" idx="0"/>
          </p:cNvCxnSpPr>
          <p:nvPr/>
        </p:nvCxnSpPr>
        <p:spPr>
          <a:xfrm flipH="1">
            <a:off x="4783364" y="2819852"/>
            <a:ext cx="5000660" cy="1109934"/>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5F164E3B-A42F-86D5-C420-6B3CE3A5DFB9}"/>
              </a:ext>
            </a:extLst>
          </p:cNvPr>
          <p:cNvCxnSpPr>
            <a:cxnSpLocks/>
            <a:stCxn id="7" idx="2"/>
            <a:endCxn id="14" idx="0"/>
          </p:cNvCxnSpPr>
          <p:nvPr/>
        </p:nvCxnSpPr>
        <p:spPr>
          <a:xfrm flipH="1">
            <a:off x="7702748" y="2819852"/>
            <a:ext cx="2081276" cy="920686"/>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aphicFrame>
        <p:nvGraphicFramePr>
          <p:cNvPr id="15" name="Table 14">
            <a:extLst>
              <a:ext uri="{FF2B5EF4-FFF2-40B4-BE49-F238E27FC236}">
                <a16:creationId xmlns:a16="http://schemas.microsoft.com/office/drawing/2014/main" id="{32A612F8-776A-BA09-78FE-F837F927A51D}"/>
              </a:ext>
            </a:extLst>
          </p:cNvPr>
          <p:cNvGraphicFramePr>
            <a:graphicFrameLocks noGrp="1"/>
          </p:cNvGraphicFramePr>
          <p:nvPr>
            <p:extLst>
              <p:ext uri="{D42A27DB-BD31-4B8C-83A1-F6EECF244321}">
                <p14:modId xmlns:p14="http://schemas.microsoft.com/office/powerpoint/2010/main" val="179842172"/>
              </p:ext>
            </p:extLst>
          </p:nvPr>
        </p:nvGraphicFramePr>
        <p:xfrm>
          <a:off x="9414333" y="4114453"/>
          <a:ext cx="2631230" cy="1759526"/>
        </p:xfrm>
        <a:graphic>
          <a:graphicData uri="http://schemas.openxmlformats.org/drawingml/2006/table">
            <a:tbl>
              <a:tblPr firstRow="1" bandRow="1">
                <a:tableStyleId>{5C22544A-7EE6-4342-B048-85BDC9FD1C3A}</a:tableStyleId>
              </a:tblPr>
              <a:tblGrid>
                <a:gridCol w="1315615">
                  <a:extLst>
                    <a:ext uri="{9D8B030D-6E8A-4147-A177-3AD203B41FA5}">
                      <a16:colId xmlns:a16="http://schemas.microsoft.com/office/drawing/2014/main" val="213863359"/>
                    </a:ext>
                  </a:extLst>
                </a:gridCol>
                <a:gridCol w="1315615">
                  <a:extLst>
                    <a:ext uri="{9D8B030D-6E8A-4147-A177-3AD203B41FA5}">
                      <a16:colId xmlns:a16="http://schemas.microsoft.com/office/drawing/2014/main" val="841846570"/>
                    </a:ext>
                  </a:extLst>
                </a:gridCol>
              </a:tblGrid>
              <a:tr h="625262">
                <a:tc>
                  <a:txBody>
                    <a:bodyPr/>
                    <a:lstStyle/>
                    <a:p>
                      <a:pPr>
                        <a:buNone/>
                      </a:pPr>
                      <a:r>
                        <a:rPr lang="en-US" dirty="0"/>
                        <a:t>Subject</a:t>
                      </a:r>
                    </a:p>
                  </a:txBody>
                  <a:tcPr anchor="ctr"/>
                </a:tc>
                <a:tc>
                  <a:txBody>
                    <a:bodyPr/>
                    <a:lstStyle/>
                    <a:p>
                      <a:pPr>
                        <a:buNone/>
                      </a:pPr>
                      <a:r>
                        <a:rPr lang="en-US" dirty="0"/>
                        <a:t>Projects</a:t>
                      </a:r>
                    </a:p>
                  </a:txBody>
                  <a:tcPr anchor="ctr"/>
                </a:tc>
                <a:extLst>
                  <a:ext uri="{0D108BD9-81ED-4DB2-BD59-A6C34878D82A}">
                    <a16:rowId xmlns:a16="http://schemas.microsoft.com/office/drawing/2014/main" val="750597701"/>
                  </a:ext>
                </a:extLst>
              </a:tr>
              <a:tr h="378088">
                <a:tc>
                  <a:txBody>
                    <a:bodyPr/>
                    <a:lstStyle/>
                    <a:p>
                      <a:pPr>
                        <a:buNone/>
                      </a:pPr>
                      <a:r>
                        <a:rPr lang="en-US" dirty="0"/>
                        <a:t>DBMS</a:t>
                      </a:r>
                    </a:p>
                  </a:txBody>
                  <a:tcPr anchor="ctr"/>
                </a:tc>
                <a:tc>
                  <a:txBody>
                    <a:bodyPr/>
                    <a:lstStyle/>
                    <a:p>
                      <a:pPr>
                        <a:buNone/>
                      </a:pPr>
                      <a:r>
                        <a:rPr lang="en-US" dirty="0"/>
                        <a:t>P1</a:t>
                      </a:r>
                    </a:p>
                  </a:txBody>
                  <a:tcPr anchor="ctr"/>
                </a:tc>
                <a:extLst>
                  <a:ext uri="{0D108BD9-81ED-4DB2-BD59-A6C34878D82A}">
                    <a16:rowId xmlns:a16="http://schemas.microsoft.com/office/drawing/2014/main" val="4190997854"/>
                  </a:ext>
                </a:extLst>
              </a:tr>
              <a:tr h="378088">
                <a:tc>
                  <a:txBody>
                    <a:bodyPr/>
                    <a:lstStyle/>
                    <a:p>
                      <a:pPr>
                        <a:buNone/>
                      </a:pPr>
                      <a:r>
                        <a:rPr lang="en-US" dirty="0"/>
                        <a:t>OS</a:t>
                      </a:r>
                    </a:p>
                  </a:txBody>
                  <a:tcPr anchor="ctr"/>
                </a:tc>
                <a:tc>
                  <a:txBody>
                    <a:bodyPr/>
                    <a:lstStyle/>
                    <a:p>
                      <a:pPr>
                        <a:buNone/>
                      </a:pPr>
                      <a:r>
                        <a:rPr lang="en-US" dirty="0"/>
                        <a:t>P2</a:t>
                      </a:r>
                    </a:p>
                  </a:txBody>
                  <a:tcPr anchor="ctr"/>
                </a:tc>
                <a:extLst>
                  <a:ext uri="{0D108BD9-81ED-4DB2-BD59-A6C34878D82A}">
                    <a16:rowId xmlns:a16="http://schemas.microsoft.com/office/drawing/2014/main" val="2418840407"/>
                  </a:ext>
                </a:extLst>
              </a:tr>
              <a:tr h="378088">
                <a:tc>
                  <a:txBody>
                    <a:bodyPr/>
                    <a:lstStyle/>
                    <a:p>
                      <a:pPr>
                        <a:buNone/>
                      </a:pPr>
                      <a:r>
                        <a:rPr lang="en-US" dirty="0"/>
                        <a:t>CN</a:t>
                      </a:r>
                    </a:p>
                  </a:txBody>
                  <a:tcPr anchor="ctr"/>
                </a:tc>
                <a:tc>
                  <a:txBody>
                    <a:bodyPr/>
                    <a:lstStyle/>
                    <a:p>
                      <a:pPr>
                        <a:buNone/>
                      </a:pPr>
                      <a:r>
                        <a:rPr lang="en-US" dirty="0"/>
                        <a:t>P3</a:t>
                      </a:r>
                    </a:p>
                  </a:txBody>
                  <a:tcPr anchor="ctr"/>
                </a:tc>
                <a:extLst>
                  <a:ext uri="{0D108BD9-81ED-4DB2-BD59-A6C34878D82A}">
                    <a16:rowId xmlns:a16="http://schemas.microsoft.com/office/drawing/2014/main" val="2232269818"/>
                  </a:ext>
                </a:extLst>
              </a:tr>
            </a:tbl>
          </a:graphicData>
        </a:graphic>
      </p:graphicFrame>
      <p:sp>
        <p:nvSpPr>
          <p:cNvPr id="19" name="TextBox 18">
            <a:extLst>
              <a:ext uri="{FF2B5EF4-FFF2-40B4-BE49-F238E27FC236}">
                <a16:creationId xmlns:a16="http://schemas.microsoft.com/office/drawing/2014/main" id="{383EE3AB-3A8B-14BB-8F6D-A75E1CE63DD1}"/>
              </a:ext>
            </a:extLst>
          </p:cNvPr>
          <p:cNvSpPr txBox="1"/>
          <p:nvPr/>
        </p:nvSpPr>
        <p:spPr>
          <a:xfrm>
            <a:off x="9414333" y="3668817"/>
            <a:ext cx="2239587" cy="369332"/>
          </a:xfrm>
          <a:prstGeom prst="rect">
            <a:avLst/>
          </a:prstGeom>
          <a:noFill/>
        </p:spPr>
        <p:txBody>
          <a:bodyPr wrap="none" rtlCol="0">
            <a:spAutoFit/>
          </a:bodyPr>
          <a:lstStyle/>
          <a:p>
            <a:r>
              <a:rPr lang="en-US" dirty="0" err="1"/>
              <a:t>Subject_project</a:t>
            </a:r>
            <a:r>
              <a:rPr lang="en-US" dirty="0"/>
              <a:t> table</a:t>
            </a:r>
          </a:p>
        </p:txBody>
      </p:sp>
      <p:cxnSp>
        <p:nvCxnSpPr>
          <p:cNvPr id="23" name="Straight Arrow Connector 22">
            <a:extLst>
              <a:ext uri="{FF2B5EF4-FFF2-40B4-BE49-F238E27FC236}">
                <a16:creationId xmlns:a16="http://schemas.microsoft.com/office/drawing/2014/main" id="{C00C8EC4-7C17-F77D-5964-4896DA99D221}"/>
              </a:ext>
            </a:extLst>
          </p:cNvPr>
          <p:cNvCxnSpPr>
            <a:cxnSpLocks/>
            <a:stCxn id="7" idx="2"/>
            <a:endCxn id="19" idx="0"/>
          </p:cNvCxnSpPr>
          <p:nvPr/>
        </p:nvCxnSpPr>
        <p:spPr>
          <a:xfrm>
            <a:off x="9784024" y="2819852"/>
            <a:ext cx="750103" cy="84896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8" name="TextBox 27">
            <a:extLst>
              <a:ext uri="{FF2B5EF4-FFF2-40B4-BE49-F238E27FC236}">
                <a16:creationId xmlns:a16="http://schemas.microsoft.com/office/drawing/2014/main" id="{5235ED21-277F-88F4-27E7-B81A3E0080AA}"/>
              </a:ext>
            </a:extLst>
          </p:cNvPr>
          <p:cNvSpPr txBox="1"/>
          <p:nvPr/>
        </p:nvSpPr>
        <p:spPr>
          <a:xfrm>
            <a:off x="5536610" y="1874026"/>
            <a:ext cx="1846692" cy="923330"/>
          </a:xfrm>
          <a:prstGeom prst="rect">
            <a:avLst/>
          </a:prstGeom>
          <a:noFill/>
        </p:spPr>
        <p:txBody>
          <a:bodyPr wrap="square">
            <a:spAutoFit/>
          </a:bodyPr>
          <a:lstStyle/>
          <a:p>
            <a:r>
              <a:rPr lang="en-US" dirty="0"/>
              <a:t>The table can be decomposed into 3 </a:t>
            </a:r>
            <a:r>
              <a:rPr lang="en-US" dirty="0" err="1"/>
              <a:t>firther</a:t>
            </a:r>
            <a:r>
              <a:rPr lang="en-US" dirty="0"/>
              <a:t> tables</a:t>
            </a:r>
          </a:p>
        </p:txBody>
      </p:sp>
    </p:spTree>
    <p:extLst>
      <p:ext uri="{BB962C8B-B14F-4D97-AF65-F5344CB8AC3E}">
        <p14:creationId xmlns:p14="http://schemas.microsoft.com/office/powerpoint/2010/main" val="20499341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C0985-5C13-712A-6E50-F2A6C69C4733}"/>
              </a:ext>
            </a:extLst>
          </p:cNvPr>
          <p:cNvSpPr>
            <a:spLocks noGrp="1"/>
          </p:cNvSpPr>
          <p:nvPr>
            <p:ph type="title"/>
          </p:nvPr>
        </p:nvSpPr>
        <p:spPr/>
        <p:txBody>
          <a:bodyPr/>
          <a:lstStyle/>
          <a:p>
            <a:r>
              <a:rPr lang="en-US" dirty="0"/>
              <a:t>AT last, we get:</a:t>
            </a:r>
          </a:p>
        </p:txBody>
      </p:sp>
      <p:graphicFrame>
        <p:nvGraphicFramePr>
          <p:cNvPr id="4" name="Content Placeholder 3">
            <a:extLst>
              <a:ext uri="{FF2B5EF4-FFF2-40B4-BE49-F238E27FC236}">
                <a16:creationId xmlns:a16="http://schemas.microsoft.com/office/drawing/2014/main" id="{33A7FB75-7EE8-897D-5B16-41B875FB93CA}"/>
              </a:ext>
            </a:extLst>
          </p:cNvPr>
          <p:cNvGraphicFramePr>
            <a:graphicFrameLocks noGrp="1"/>
          </p:cNvGraphicFramePr>
          <p:nvPr>
            <p:ph idx="1"/>
            <p:extLst>
              <p:ext uri="{D42A27DB-BD31-4B8C-83A1-F6EECF244321}">
                <p14:modId xmlns:p14="http://schemas.microsoft.com/office/powerpoint/2010/main" val="3983351924"/>
              </p:ext>
            </p:extLst>
          </p:nvPr>
        </p:nvGraphicFramePr>
        <p:xfrm>
          <a:off x="889001" y="3097532"/>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graphicFrame>
        <p:nvGraphicFramePr>
          <p:cNvPr id="5" name="Table 4">
            <a:extLst>
              <a:ext uri="{FF2B5EF4-FFF2-40B4-BE49-F238E27FC236}">
                <a16:creationId xmlns:a16="http://schemas.microsoft.com/office/drawing/2014/main" id="{1942AF25-0F8A-5434-9FC1-3F8387FBAFB3}"/>
              </a:ext>
            </a:extLst>
          </p:cNvPr>
          <p:cNvGraphicFramePr>
            <a:graphicFrameLocks noGrp="1"/>
          </p:cNvGraphicFramePr>
          <p:nvPr>
            <p:extLst>
              <p:ext uri="{D42A27DB-BD31-4B8C-83A1-F6EECF244321}">
                <p14:modId xmlns:p14="http://schemas.microsoft.com/office/powerpoint/2010/main" val="4078511335"/>
              </p:ext>
            </p:extLst>
          </p:nvPr>
        </p:nvGraphicFramePr>
        <p:xfrm>
          <a:off x="889001" y="2326006"/>
          <a:ext cx="5466081" cy="365760"/>
        </p:xfrm>
        <a:graphic>
          <a:graphicData uri="http://schemas.openxmlformats.org/drawingml/2006/table">
            <a:tbl>
              <a:tblPr firstRow="1" bandRow="1">
                <a:tableStyleId>{5C22544A-7EE6-4342-B048-85BDC9FD1C3A}</a:tableStyleId>
              </a:tblPr>
              <a:tblGrid>
                <a:gridCol w="1822027">
                  <a:extLst>
                    <a:ext uri="{9D8B030D-6E8A-4147-A177-3AD203B41FA5}">
                      <a16:colId xmlns:a16="http://schemas.microsoft.com/office/drawing/2014/main" val="3981679608"/>
                    </a:ext>
                  </a:extLst>
                </a:gridCol>
                <a:gridCol w="1822027">
                  <a:extLst>
                    <a:ext uri="{9D8B030D-6E8A-4147-A177-3AD203B41FA5}">
                      <a16:colId xmlns:a16="http://schemas.microsoft.com/office/drawing/2014/main" val="1914019125"/>
                    </a:ext>
                  </a:extLst>
                </a:gridCol>
                <a:gridCol w="1822027">
                  <a:extLst>
                    <a:ext uri="{9D8B030D-6E8A-4147-A177-3AD203B41FA5}">
                      <a16:colId xmlns:a16="http://schemas.microsoft.com/office/drawing/2014/main" val="1635584887"/>
                    </a:ext>
                  </a:extLst>
                </a:gridCol>
              </a:tblGrid>
              <a:tr h="365760">
                <a:tc>
                  <a:txBody>
                    <a:bodyPr/>
                    <a:lstStyle/>
                    <a:p>
                      <a:pPr>
                        <a:buNone/>
                      </a:pPr>
                      <a:r>
                        <a:rPr lang="en-US" dirty="0" err="1"/>
                        <a:t>Student_ID</a:t>
                      </a:r>
                      <a:endParaRPr lang="en-US" dirty="0"/>
                    </a:p>
                  </a:txBody>
                  <a:tcPr anchor="ctr"/>
                </a:tc>
                <a:tc>
                  <a:txBody>
                    <a:bodyPr/>
                    <a:lstStyle/>
                    <a:p>
                      <a:pPr>
                        <a:buNone/>
                      </a:pPr>
                      <a:r>
                        <a:rPr lang="en-US"/>
                        <a:t>Student_Name</a:t>
                      </a:r>
                    </a:p>
                  </a:txBody>
                  <a:tcPr anchor="ctr"/>
                </a:tc>
                <a:tc>
                  <a:txBody>
                    <a:bodyPr/>
                    <a:lstStyle/>
                    <a:p>
                      <a:pPr>
                        <a:buNone/>
                      </a:pPr>
                      <a:r>
                        <a:rPr lang="en-US" dirty="0" err="1"/>
                        <a:t>Dept_ID</a:t>
                      </a:r>
                      <a:endParaRPr lang="en-US" dirty="0"/>
                    </a:p>
                  </a:txBody>
                  <a:tcPr anchor="ctr"/>
                </a:tc>
                <a:extLst>
                  <a:ext uri="{0D108BD9-81ED-4DB2-BD59-A6C34878D82A}">
                    <a16:rowId xmlns:a16="http://schemas.microsoft.com/office/drawing/2014/main" val="2372396844"/>
                  </a:ext>
                </a:extLst>
              </a:tr>
            </a:tbl>
          </a:graphicData>
        </a:graphic>
      </p:graphicFrame>
      <p:sp>
        <p:nvSpPr>
          <p:cNvPr id="7" name="TextBox 6">
            <a:extLst>
              <a:ext uri="{FF2B5EF4-FFF2-40B4-BE49-F238E27FC236}">
                <a16:creationId xmlns:a16="http://schemas.microsoft.com/office/drawing/2014/main" id="{602801F5-2E01-307C-7526-F119431BD538}"/>
              </a:ext>
            </a:extLst>
          </p:cNvPr>
          <p:cNvSpPr txBox="1"/>
          <p:nvPr/>
        </p:nvSpPr>
        <p:spPr>
          <a:xfrm>
            <a:off x="889001" y="1938457"/>
            <a:ext cx="1305559" cy="365760"/>
          </a:xfrm>
          <a:prstGeom prst="rect">
            <a:avLst/>
          </a:prstGeom>
          <a:noFill/>
        </p:spPr>
        <p:txBody>
          <a:bodyPr wrap="square">
            <a:spAutoFit/>
          </a:bodyPr>
          <a:lstStyle/>
          <a:p>
            <a:r>
              <a:rPr lang="en-US" dirty="0"/>
              <a:t>STUDENT</a:t>
            </a:r>
          </a:p>
        </p:txBody>
      </p:sp>
      <p:sp>
        <p:nvSpPr>
          <p:cNvPr id="9" name="TextBox 8">
            <a:extLst>
              <a:ext uri="{FF2B5EF4-FFF2-40B4-BE49-F238E27FC236}">
                <a16:creationId xmlns:a16="http://schemas.microsoft.com/office/drawing/2014/main" id="{7E9ADCFB-2C50-0B4B-030D-0E28AB46E772}"/>
              </a:ext>
            </a:extLst>
          </p:cNvPr>
          <p:cNvSpPr txBox="1"/>
          <p:nvPr/>
        </p:nvSpPr>
        <p:spPr>
          <a:xfrm>
            <a:off x="889000" y="2773920"/>
            <a:ext cx="1602740" cy="369332"/>
          </a:xfrm>
          <a:prstGeom prst="rect">
            <a:avLst/>
          </a:prstGeom>
          <a:noFill/>
        </p:spPr>
        <p:txBody>
          <a:bodyPr wrap="square">
            <a:spAutoFit/>
          </a:bodyPr>
          <a:lstStyle/>
          <a:p>
            <a:r>
              <a:rPr lang="en-US" dirty="0"/>
              <a:t>DEPARTMENT</a:t>
            </a:r>
          </a:p>
        </p:txBody>
      </p:sp>
      <p:graphicFrame>
        <p:nvGraphicFramePr>
          <p:cNvPr id="10" name="Content Placeholder 3">
            <a:extLst>
              <a:ext uri="{FF2B5EF4-FFF2-40B4-BE49-F238E27FC236}">
                <a16:creationId xmlns:a16="http://schemas.microsoft.com/office/drawing/2014/main" id="{9B452D47-A452-D870-7475-87FA2B840D16}"/>
              </a:ext>
            </a:extLst>
          </p:cNvPr>
          <p:cNvGraphicFramePr>
            <a:graphicFrameLocks/>
          </p:cNvGraphicFramePr>
          <p:nvPr>
            <p:extLst>
              <p:ext uri="{D42A27DB-BD31-4B8C-83A1-F6EECF244321}">
                <p14:modId xmlns:p14="http://schemas.microsoft.com/office/powerpoint/2010/main" val="2766756632"/>
              </p:ext>
            </p:extLst>
          </p:nvPr>
        </p:nvGraphicFramePr>
        <p:xfrm>
          <a:off x="889001" y="4008004"/>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11" name="TextBox 10">
            <a:extLst>
              <a:ext uri="{FF2B5EF4-FFF2-40B4-BE49-F238E27FC236}">
                <a16:creationId xmlns:a16="http://schemas.microsoft.com/office/drawing/2014/main" id="{85778E46-575F-FB6A-F970-5E3D0A64DC75}"/>
              </a:ext>
            </a:extLst>
          </p:cNvPr>
          <p:cNvSpPr txBox="1"/>
          <p:nvPr/>
        </p:nvSpPr>
        <p:spPr>
          <a:xfrm>
            <a:off x="889000" y="3684392"/>
            <a:ext cx="1602740" cy="369332"/>
          </a:xfrm>
          <a:prstGeom prst="rect">
            <a:avLst/>
          </a:prstGeom>
          <a:noFill/>
        </p:spPr>
        <p:txBody>
          <a:bodyPr wrap="square">
            <a:spAutoFit/>
          </a:bodyPr>
          <a:lstStyle/>
          <a:p>
            <a:r>
              <a:rPr lang="en-US" dirty="0"/>
              <a:t>DEPARTMENT</a:t>
            </a:r>
          </a:p>
        </p:txBody>
      </p:sp>
      <p:graphicFrame>
        <p:nvGraphicFramePr>
          <p:cNvPr id="12" name="Content Placeholder 3">
            <a:extLst>
              <a:ext uri="{FF2B5EF4-FFF2-40B4-BE49-F238E27FC236}">
                <a16:creationId xmlns:a16="http://schemas.microsoft.com/office/drawing/2014/main" id="{A3DA65D6-5EBD-F2AD-8242-215367774A4A}"/>
              </a:ext>
            </a:extLst>
          </p:cNvPr>
          <p:cNvGraphicFramePr>
            <a:graphicFrameLocks/>
          </p:cNvGraphicFramePr>
          <p:nvPr>
            <p:extLst>
              <p:ext uri="{D42A27DB-BD31-4B8C-83A1-F6EECF244321}">
                <p14:modId xmlns:p14="http://schemas.microsoft.com/office/powerpoint/2010/main" val="701145431"/>
              </p:ext>
            </p:extLst>
          </p:nvPr>
        </p:nvGraphicFramePr>
        <p:xfrm>
          <a:off x="889001" y="4925980"/>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13" name="TextBox 12">
            <a:extLst>
              <a:ext uri="{FF2B5EF4-FFF2-40B4-BE49-F238E27FC236}">
                <a16:creationId xmlns:a16="http://schemas.microsoft.com/office/drawing/2014/main" id="{2123E9D8-C7DD-7084-FDEC-3CDEA4E239B5}"/>
              </a:ext>
            </a:extLst>
          </p:cNvPr>
          <p:cNvSpPr txBox="1"/>
          <p:nvPr/>
        </p:nvSpPr>
        <p:spPr>
          <a:xfrm>
            <a:off x="889000" y="4602368"/>
            <a:ext cx="1602740" cy="369332"/>
          </a:xfrm>
          <a:prstGeom prst="rect">
            <a:avLst/>
          </a:prstGeom>
          <a:noFill/>
        </p:spPr>
        <p:txBody>
          <a:bodyPr wrap="square">
            <a:spAutoFit/>
          </a:bodyPr>
          <a:lstStyle/>
          <a:p>
            <a:r>
              <a:rPr lang="en-US" dirty="0"/>
              <a:t>SUBJECT</a:t>
            </a:r>
          </a:p>
        </p:txBody>
      </p:sp>
      <p:graphicFrame>
        <p:nvGraphicFramePr>
          <p:cNvPr id="14" name="Content Placeholder 3">
            <a:extLst>
              <a:ext uri="{FF2B5EF4-FFF2-40B4-BE49-F238E27FC236}">
                <a16:creationId xmlns:a16="http://schemas.microsoft.com/office/drawing/2014/main" id="{BC40CACE-A3B9-B152-1752-B206AD36AE24}"/>
              </a:ext>
            </a:extLst>
          </p:cNvPr>
          <p:cNvGraphicFramePr>
            <a:graphicFrameLocks/>
          </p:cNvGraphicFramePr>
          <p:nvPr>
            <p:extLst>
              <p:ext uri="{D42A27DB-BD31-4B8C-83A1-F6EECF244321}">
                <p14:modId xmlns:p14="http://schemas.microsoft.com/office/powerpoint/2010/main" val="2726841897"/>
              </p:ext>
            </p:extLst>
          </p:nvPr>
        </p:nvGraphicFramePr>
        <p:xfrm>
          <a:off x="889001" y="5832176"/>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15" name="TextBox 14">
            <a:extLst>
              <a:ext uri="{FF2B5EF4-FFF2-40B4-BE49-F238E27FC236}">
                <a16:creationId xmlns:a16="http://schemas.microsoft.com/office/drawing/2014/main" id="{A56EC4E2-4EA8-F86A-AA31-7B4F22ED6FFF}"/>
              </a:ext>
            </a:extLst>
          </p:cNvPr>
          <p:cNvSpPr txBox="1"/>
          <p:nvPr/>
        </p:nvSpPr>
        <p:spPr>
          <a:xfrm>
            <a:off x="889000" y="5508564"/>
            <a:ext cx="1602740" cy="369332"/>
          </a:xfrm>
          <a:prstGeom prst="rect">
            <a:avLst/>
          </a:prstGeom>
          <a:noFill/>
        </p:spPr>
        <p:txBody>
          <a:bodyPr wrap="square">
            <a:spAutoFit/>
          </a:bodyPr>
          <a:lstStyle/>
          <a:p>
            <a:r>
              <a:rPr lang="en-US" dirty="0"/>
              <a:t>TEACHER</a:t>
            </a:r>
          </a:p>
        </p:txBody>
      </p:sp>
      <p:graphicFrame>
        <p:nvGraphicFramePr>
          <p:cNvPr id="16" name="Content Placeholder 3">
            <a:extLst>
              <a:ext uri="{FF2B5EF4-FFF2-40B4-BE49-F238E27FC236}">
                <a16:creationId xmlns:a16="http://schemas.microsoft.com/office/drawing/2014/main" id="{1AC4ADE5-63B7-8AEF-2FAF-2E48DF0EEE25}"/>
              </a:ext>
            </a:extLst>
          </p:cNvPr>
          <p:cNvGraphicFramePr>
            <a:graphicFrameLocks/>
          </p:cNvGraphicFramePr>
          <p:nvPr>
            <p:extLst>
              <p:ext uri="{D42A27DB-BD31-4B8C-83A1-F6EECF244321}">
                <p14:modId xmlns:p14="http://schemas.microsoft.com/office/powerpoint/2010/main" val="389885238"/>
              </p:ext>
            </p:extLst>
          </p:nvPr>
        </p:nvGraphicFramePr>
        <p:xfrm>
          <a:off x="7564121" y="2591040"/>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17" name="TextBox 16">
            <a:extLst>
              <a:ext uri="{FF2B5EF4-FFF2-40B4-BE49-F238E27FC236}">
                <a16:creationId xmlns:a16="http://schemas.microsoft.com/office/drawing/2014/main" id="{11C4DF47-AD84-024B-8D25-9E6669A34591}"/>
              </a:ext>
            </a:extLst>
          </p:cNvPr>
          <p:cNvSpPr txBox="1"/>
          <p:nvPr/>
        </p:nvSpPr>
        <p:spPr>
          <a:xfrm>
            <a:off x="7564120" y="2267428"/>
            <a:ext cx="2491742" cy="369332"/>
          </a:xfrm>
          <a:prstGeom prst="rect">
            <a:avLst/>
          </a:prstGeom>
          <a:noFill/>
        </p:spPr>
        <p:txBody>
          <a:bodyPr wrap="square">
            <a:spAutoFit/>
          </a:bodyPr>
          <a:lstStyle/>
          <a:p>
            <a:r>
              <a:rPr lang="en-US" dirty="0"/>
              <a:t>STUDENT_SUBJECT</a:t>
            </a:r>
          </a:p>
        </p:txBody>
      </p:sp>
      <p:graphicFrame>
        <p:nvGraphicFramePr>
          <p:cNvPr id="18" name="Content Placeholder 3">
            <a:extLst>
              <a:ext uri="{FF2B5EF4-FFF2-40B4-BE49-F238E27FC236}">
                <a16:creationId xmlns:a16="http://schemas.microsoft.com/office/drawing/2014/main" id="{C89FC27F-57FB-0EFB-C08E-9ACCB1A2B39D}"/>
              </a:ext>
            </a:extLst>
          </p:cNvPr>
          <p:cNvGraphicFramePr>
            <a:graphicFrameLocks/>
          </p:cNvGraphicFramePr>
          <p:nvPr>
            <p:extLst>
              <p:ext uri="{D42A27DB-BD31-4B8C-83A1-F6EECF244321}">
                <p14:modId xmlns:p14="http://schemas.microsoft.com/office/powerpoint/2010/main" val="1493552135"/>
              </p:ext>
            </p:extLst>
          </p:nvPr>
        </p:nvGraphicFramePr>
        <p:xfrm>
          <a:off x="7564121" y="3687964"/>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19" name="TextBox 18">
            <a:extLst>
              <a:ext uri="{FF2B5EF4-FFF2-40B4-BE49-F238E27FC236}">
                <a16:creationId xmlns:a16="http://schemas.microsoft.com/office/drawing/2014/main" id="{D45EBFF2-E4A9-5CED-45E9-84D12216D6A8}"/>
              </a:ext>
            </a:extLst>
          </p:cNvPr>
          <p:cNvSpPr txBox="1"/>
          <p:nvPr/>
        </p:nvSpPr>
        <p:spPr>
          <a:xfrm>
            <a:off x="7564120" y="3364352"/>
            <a:ext cx="2491742" cy="369332"/>
          </a:xfrm>
          <a:prstGeom prst="rect">
            <a:avLst/>
          </a:prstGeom>
          <a:noFill/>
        </p:spPr>
        <p:txBody>
          <a:bodyPr wrap="square">
            <a:spAutoFit/>
          </a:bodyPr>
          <a:lstStyle/>
          <a:p>
            <a:r>
              <a:rPr lang="en-US" dirty="0"/>
              <a:t>STUDENT_LANGUAGE</a:t>
            </a:r>
          </a:p>
        </p:txBody>
      </p:sp>
      <p:graphicFrame>
        <p:nvGraphicFramePr>
          <p:cNvPr id="20" name="Content Placeholder 3">
            <a:extLst>
              <a:ext uri="{FF2B5EF4-FFF2-40B4-BE49-F238E27FC236}">
                <a16:creationId xmlns:a16="http://schemas.microsoft.com/office/drawing/2014/main" id="{D45A9D48-C62F-3D40-9723-7A796FAA86DE}"/>
              </a:ext>
            </a:extLst>
          </p:cNvPr>
          <p:cNvGraphicFramePr>
            <a:graphicFrameLocks/>
          </p:cNvGraphicFramePr>
          <p:nvPr>
            <p:extLst>
              <p:ext uri="{D42A27DB-BD31-4B8C-83A1-F6EECF244321}">
                <p14:modId xmlns:p14="http://schemas.microsoft.com/office/powerpoint/2010/main" val="2983016386"/>
              </p:ext>
            </p:extLst>
          </p:nvPr>
        </p:nvGraphicFramePr>
        <p:xfrm>
          <a:off x="7564120" y="4704880"/>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21" name="TextBox 20">
            <a:extLst>
              <a:ext uri="{FF2B5EF4-FFF2-40B4-BE49-F238E27FC236}">
                <a16:creationId xmlns:a16="http://schemas.microsoft.com/office/drawing/2014/main" id="{A8009058-AD24-E3B9-D13B-513A8E022472}"/>
              </a:ext>
            </a:extLst>
          </p:cNvPr>
          <p:cNvSpPr txBox="1"/>
          <p:nvPr/>
        </p:nvSpPr>
        <p:spPr>
          <a:xfrm>
            <a:off x="7564119" y="4381268"/>
            <a:ext cx="2037080" cy="369332"/>
          </a:xfrm>
          <a:prstGeom prst="rect">
            <a:avLst/>
          </a:prstGeom>
          <a:noFill/>
        </p:spPr>
        <p:txBody>
          <a:bodyPr wrap="square">
            <a:spAutoFit/>
          </a:bodyPr>
          <a:lstStyle/>
          <a:p>
            <a:r>
              <a:rPr lang="en-US" dirty="0"/>
              <a:t>STUDENT_PROJECT</a:t>
            </a:r>
          </a:p>
        </p:txBody>
      </p:sp>
      <p:graphicFrame>
        <p:nvGraphicFramePr>
          <p:cNvPr id="22" name="Content Placeholder 3">
            <a:extLst>
              <a:ext uri="{FF2B5EF4-FFF2-40B4-BE49-F238E27FC236}">
                <a16:creationId xmlns:a16="http://schemas.microsoft.com/office/drawing/2014/main" id="{B5494B92-1603-76BF-75FD-6744065F3CD3}"/>
              </a:ext>
            </a:extLst>
          </p:cNvPr>
          <p:cNvGraphicFramePr>
            <a:graphicFrameLocks/>
          </p:cNvGraphicFramePr>
          <p:nvPr>
            <p:extLst>
              <p:ext uri="{D42A27DB-BD31-4B8C-83A1-F6EECF244321}">
                <p14:modId xmlns:p14="http://schemas.microsoft.com/office/powerpoint/2010/main" val="2983016386"/>
              </p:ext>
            </p:extLst>
          </p:nvPr>
        </p:nvGraphicFramePr>
        <p:xfrm>
          <a:off x="7564120" y="5721796"/>
          <a:ext cx="4094480" cy="365760"/>
        </p:xfrm>
        <a:graphic>
          <a:graphicData uri="http://schemas.openxmlformats.org/drawingml/2006/table">
            <a:tbl>
              <a:tblPr firstRow="1" bandRow="1">
                <a:tableStyleId>{5C22544A-7EE6-4342-B048-85BDC9FD1C3A}</a:tableStyleId>
              </a:tblPr>
              <a:tblGrid>
                <a:gridCol w="2047240">
                  <a:extLst>
                    <a:ext uri="{9D8B030D-6E8A-4147-A177-3AD203B41FA5}">
                      <a16:colId xmlns:a16="http://schemas.microsoft.com/office/drawing/2014/main" val="2207420532"/>
                    </a:ext>
                  </a:extLst>
                </a:gridCol>
                <a:gridCol w="2047240">
                  <a:extLst>
                    <a:ext uri="{9D8B030D-6E8A-4147-A177-3AD203B41FA5}">
                      <a16:colId xmlns:a16="http://schemas.microsoft.com/office/drawing/2014/main" val="1929009134"/>
                    </a:ext>
                  </a:extLst>
                </a:gridCol>
              </a:tblGrid>
              <a:tr h="364492">
                <a:tc>
                  <a:txBody>
                    <a:bodyPr/>
                    <a:lstStyle/>
                    <a:p>
                      <a:pPr>
                        <a:buNone/>
                      </a:pPr>
                      <a:r>
                        <a:rPr lang="en-US" dirty="0" err="1"/>
                        <a:t>Dept_ID</a:t>
                      </a:r>
                      <a:endParaRPr lang="en-US" dirty="0"/>
                    </a:p>
                  </a:txBody>
                  <a:tcPr anchor="ctr"/>
                </a:tc>
                <a:tc>
                  <a:txBody>
                    <a:bodyPr/>
                    <a:lstStyle/>
                    <a:p>
                      <a:pPr>
                        <a:buNone/>
                      </a:pPr>
                      <a:r>
                        <a:rPr lang="en-US" dirty="0" err="1"/>
                        <a:t>Dept_Name</a:t>
                      </a:r>
                      <a:endParaRPr lang="en-US" dirty="0"/>
                    </a:p>
                  </a:txBody>
                  <a:tcPr anchor="ctr"/>
                </a:tc>
                <a:extLst>
                  <a:ext uri="{0D108BD9-81ED-4DB2-BD59-A6C34878D82A}">
                    <a16:rowId xmlns:a16="http://schemas.microsoft.com/office/drawing/2014/main" val="4268322948"/>
                  </a:ext>
                </a:extLst>
              </a:tr>
            </a:tbl>
          </a:graphicData>
        </a:graphic>
      </p:graphicFrame>
      <p:sp>
        <p:nvSpPr>
          <p:cNvPr id="23" name="TextBox 22">
            <a:extLst>
              <a:ext uri="{FF2B5EF4-FFF2-40B4-BE49-F238E27FC236}">
                <a16:creationId xmlns:a16="http://schemas.microsoft.com/office/drawing/2014/main" id="{4BB4BAB4-0317-3D2D-E6FD-ED3EE8632CE0}"/>
              </a:ext>
            </a:extLst>
          </p:cNvPr>
          <p:cNvSpPr txBox="1"/>
          <p:nvPr/>
        </p:nvSpPr>
        <p:spPr>
          <a:xfrm>
            <a:off x="7564118" y="5398184"/>
            <a:ext cx="2037081" cy="369332"/>
          </a:xfrm>
          <a:prstGeom prst="rect">
            <a:avLst/>
          </a:prstGeom>
          <a:noFill/>
        </p:spPr>
        <p:txBody>
          <a:bodyPr wrap="square">
            <a:spAutoFit/>
          </a:bodyPr>
          <a:lstStyle/>
          <a:p>
            <a:r>
              <a:rPr lang="en-US" dirty="0" err="1"/>
              <a:t>Sujbect_Project</a:t>
            </a:r>
            <a:endParaRPr lang="en-US" dirty="0"/>
          </a:p>
        </p:txBody>
      </p:sp>
    </p:spTree>
    <p:extLst>
      <p:ext uri="{BB962C8B-B14F-4D97-AF65-F5344CB8AC3E}">
        <p14:creationId xmlns:p14="http://schemas.microsoft.com/office/powerpoint/2010/main" val="5542734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F785A-D7F4-370C-4776-EFDCF516FD73}"/>
              </a:ext>
            </a:extLst>
          </p:cNvPr>
          <p:cNvSpPr>
            <a:spLocks noGrp="1"/>
          </p:cNvSpPr>
          <p:nvPr>
            <p:ph type="title"/>
          </p:nvPr>
        </p:nvSpPr>
        <p:spPr/>
        <p:txBody>
          <a:bodyPr/>
          <a:lstStyle/>
          <a:p>
            <a:r>
              <a:rPr lang="en-US" dirty="0"/>
              <a:t>De-normalization for Performance</a:t>
            </a:r>
          </a:p>
        </p:txBody>
      </p:sp>
      <p:sp>
        <p:nvSpPr>
          <p:cNvPr id="3" name="Content Placeholder 2">
            <a:extLst>
              <a:ext uri="{FF2B5EF4-FFF2-40B4-BE49-F238E27FC236}">
                <a16:creationId xmlns:a16="http://schemas.microsoft.com/office/drawing/2014/main" id="{A61E5010-F88F-C941-7051-8CF8C4B4340F}"/>
              </a:ext>
            </a:extLst>
          </p:cNvPr>
          <p:cNvSpPr>
            <a:spLocks noGrp="1"/>
          </p:cNvSpPr>
          <p:nvPr>
            <p:ph idx="1"/>
          </p:nvPr>
        </p:nvSpPr>
        <p:spPr>
          <a:xfrm>
            <a:off x="1097280" y="1845734"/>
            <a:ext cx="10058400" cy="4402666"/>
          </a:xfrm>
        </p:spPr>
        <p:txBody>
          <a:bodyPr>
            <a:normAutofit fontScale="92500" lnSpcReduction="10000"/>
          </a:bodyPr>
          <a:lstStyle/>
          <a:p>
            <a:r>
              <a:rPr lang="en-US" b="1" dirty="0"/>
              <a:t>De-normalization</a:t>
            </a:r>
            <a:r>
              <a:rPr lang="en-US" dirty="0"/>
              <a:t> is the process of </a:t>
            </a:r>
            <a:r>
              <a:rPr lang="en-US" b="1" dirty="0"/>
              <a:t>intentionally adding redundancy (duplicate data)</a:t>
            </a:r>
            <a:r>
              <a:rPr lang="en-US" dirty="0"/>
              <a:t> into a normalized database to improve </a:t>
            </a:r>
            <a:r>
              <a:rPr lang="en-US" b="1" dirty="0"/>
              <a:t>query performance</a:t>
            </a:r>
            <a:r>
              <a:rPr lang="en-US" dirty="0"/>
              <a:t> and reduce the number of joins required.</a:t>
            </a:r>
          </a:p>
          <a:p>
            <a:r>
              <a:rPr lang="en-US" dirty="0"/>
              <a:t>In normalization, we split tables to eliminate redundancy and anomalies.</a:t>
            </a:r>
          </a:p>
          <a:p>
            <a:r>
              <a:rPr lang="en-US" dirty="0"/>
              <a:t>In de-normalization, we merge tables or duplicate data to make data retrieval faster.</a:t>
            </a:r>
          </a:p>
          <a:p>
            <a:r>
              <a:rPr lang="en-US" dirty="0"/>
              <a:t>Normalization is ideal for data consistency, but in large systems joins can become expensive.</a:t>
            </a:r>
          </a:p>
          <a:p>
            <a:r>
              <a:rPr lang="en-US" dirty="0"/>
              <a:t>De-normalization is used when:</a:t>
            </a:r>
          </a:p>
          <a:p>
            <a:pPr marL="749808" lvl="1" indent="-457200">
              <a:buFont typeface="+mj-lt"/>
              <a:buAutoNum type="arabicPeriod"/>
            </a:pPr>
            <a:r>
              <a:rPr lang="en-US" b="1" dirty="0"/>
              <a:t>Faster Query Performance</a:t>
            </a:r>
          </a:p>
          <a:p>
            <a:pPr marL="749808" lvl="1" indent="-457200">
              <a:buFont typeface="+mj-lt"/>
              <a:buAutoNum type="arabicPeriod"/>
            </a:pPr>
            <a:r>
              <a:rPr lang="en-US" b="1" dirty="0"/>
              <a:t>Reduce Complex Joins</a:t>
            </a:r>
          </a:p>
          <a:p>
            <a:pPr marL="749808" lvl="1" indent="-457200">
              <a:buFont typeface="+mj-lt"/>
              <a:buAutoNum type="arabicPeriod"/>
            </a:pPr>
            <a:r>
              <a:rPr lang="en-US" b="1" dirty="0"/>
              <a:t>Improve Reporting and Analytics</a:t>
            </a:r>
          </a:p>
          <a:p>
            <a:pPr marL="749808" lvl="1" indent="-457200">
              <a:buFont typeface="+mj-lt"/>
              <a:buAutoNum type="arabicPeriod"/>
            </a:pPr>
            <a:r>
              <a:rPr lang="en-US" b="1" dirty="0"/>
              <a:t>Data Warehousing</a:t>
            </a:r>
          </a:p>
          <a:p>
            <a:pPr algn="ctr"/>
            <a:r>
              <a:rPr lang="en-US" b="1" dirty="0"/>
              <a:t>Normalization saves storage and improves consistency.</a:t>
            </a:r>
            <a:endParaRPr lang="en-US" dirty="0"/>
          </a:p>
          <a:p>
            <a:pPr algn="ctr"/>
            <a:r>
              <a:rPr lang="en-US" b="1" dirty="0"/>
              <a:t>De-normalization sacrifices some storage and consistency to gain speed.</a:t>
            </a:r>
            <a:endParaRPr lang="en-US" dirty="0"/>
          </a:p>
          <a:p>
            <a:endParaRPr lang="en-US" dirty="0"/>
          </a:p>
        </p:txBody>
      </p:sp>
    </p:spTree>
    <p:extLst>
      <p:ext uri="{BB962C8B-B14F-4D97-AF65-F5344CB8AC3E}">
        <p14:creationId xmlns:p14="http://schemas.microsoft.com/office/powerpoint/2010/main" val="386323551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1EB2D7-B293-23B7-886E-D397CFBA772D}"/>
              </a:ext>
            </a:extLst>
          </p:cNvPr>
          <p:cNvSpPr>
            <a:spLocks noGrp="1"/>
          </p:cNvSpPr>
          <p:nvPr>
            <p:ph type="title"/>
          </p:nvPr>
        </p:nvSpPr>
        <p:spPr>
          <a:xfrm>
            <a:off x="1097280" y="286603"/>
            <a:ext cx="10058400" cy="702303"/>
          </a:xfrm>
        </p:spPr>
        <p:txBody>
          <a:bodyPr>
            <a:normAutofit fontScale="90000"/>
          </a:bodyPr>
          <a:lstStyle/>
          <a:p>
            <a:r>
              <a:rPr lang="en-US" dirty="0"/>
              <a:t>Example: </a:t>
            </a:r>
            <a:r>
              <a:rPr lang="en-US" b="1" dirty="0"/>
              <a:t>Find Student’s Department.</a:t>
            </a:r>
            <a:endParaRPr lang="en-US" dirty="0"/>
          </a:p>
        </p:txBody>
      </p:sp>
      <p:sp>
        <p:nvSpPr>
          <p:cNvPr id="3" name="Content Placeholder 2">
            <a:extLst>
              <a:ext uri="{FF2B5EF4-FFF2-40B4-BE49-F238E27FC236}">
                <a16:creationId xmlns:a16="http://schemas.microsoft.com/office/drawing/2014/main" id="{9EBF8E30-B293-05DD-38DA-DCD4AB6A3104}"/>
              </a:ext>
            </a:extLst>
          </p:cNvPr>
          <p:cNvSpPr>
            <a:spLocks noGrp="1"/>
          </p:cNvSpPr>
          <p:nvPr>
            <p:ph idx="1"/>
          </p:nvPr>
        </p:nvSpPr>
        <p:spPr>
          <a:xfrm>
            <a:off x="412749" y="1181072"/>
            <a:ext cx="4438651" cy="5238778"/>
          </a:xfrm>
        </p:spPr>
        <p:txBody>
          <a:bodyPr>
            <a:normAutofit fontScale="92500" lnSpcReduction="10000"/>
          </a:bodyPr>
          <a:lstStyle/>
          <a:p>
            <a:r>
              <a:rPr lang="en-US" b="1" dirty="0"/>
              <a:t>Using Normalized database.</a:t>
            </a:r>
          </a:p>
          <a:p>
            <a:endParaRPr lang="en-US" b="1" dirty="0"/>
          </a:p>
          <a:p>
            <a:pPr marL="0" indent="0">
              <a:buNone/>
            </a:pPr>
            <a:endParaRPr lang="en-US" b="1" dirty="0"/>
          </a:p>
          <a:p>
            <a:pPr marL="0" indent="0">
              <a:buNone/>
            </a:pPr>
            <a:endParaRPr lang="en-US" b="1" dirty="0"/>
          </a:p>
          <a:p>
            <a:endParaRPr lang="en-US" b="1" dirty="0"/>
          </a:p>
          <a:p>
            <a:r>
              <a:rPr lang="en-US" b="1" dirty="0"/>
              <a:t>SQL: </a:t>
            </a:r>
          </a:p>
          <a:p>
            <a:r>
              <a:rPr lang="en-US" b="1" dirty="0"/>
              <a:t>SELECT </a:t>
            </a:r>
            <a:r>
              <a:rPr lang="en-US" b="1" dirty="0" err="1"/>
              <a:t>StudentName</a:t>
            </a:r>
            <a:r>
              <a:rPr lang="en-US" b="1" dirty="0"/>
              <a:t>, </a:t>
            </a:r>
            <a:r>
              <a:rPr lang="en-US" b="1" dirty="0" err="1"/>
              <a:t>DeptName</a:t>
            </a:r>
            <a:r>
              <a:rPr lang="en-US" b="1" dirty="0"/>
              <a:t> FROM Student </a:t>
            </a:r>
          </a:p>
          <a:p>
            <a:r>
              <a:rPr lang="en-US" b="1" dirty="0"/>
              <a:t>JOIN </a:t>
            </a:r>
            <a:r>
              <a:rPr lang="en-US" b="1" dirty="0" err="1"/>
              <a:t>Student_Department</a:t>
            </a:r>
            <a:endParaRPr lang="en-US" b="1" dirty="0"/>
          </a:p>
          <a:p>
            <a:r>
              <a:rPr lang="en-US" b="1" dirty="0"/>
              <a:t>ON </a:t>
            </a:r>
            <a:r>
              <a:rPr lang="en-US" b="1" dirty="0" err="1"/>
              <a:t>Student.StudentID</a:t>
            </a:r>
            <a:r>
              <a:rPr lang="en-US" b="1" dirty="0"/>
              <a:t> = </a:t>
            </a:r>
            <a:r>
              <a:rPr lang="en-US" b="1" dirty="0" err="1"/>
              <a:t>Student_Department.StudentID</a:t>
            </a:r>
            <a:endParaRPr lang="en-US" b="1" dirty="0"/>
          </a:p>
          <a:p>
            <a:r>
              <a:rPr lang="en-US" b="1" dirty="0"/>
              <a:t>JOIN Department</a:t>
            </a:r>
          </a:p>
          <a:p>
            <a:r>
              <a:rPr lang="en-US" b="1" dirty="0"/>
              <a:t>ON </a:t>
            </a:r>
            <a:r>
              <a:rPr lang="en-US" b="1" dirty="0" err="1"/>
              <a:t>Department.DeptID</a:t>
            </a:r>
            <a:r>
              <a:rPr lang="en-US" b="1" dirty="0"/>
              <a:t> = </a:t>
            </a:r>
            <a:r>
              <a:rPr lang="en-US" b="1" dirty="0" err="1"/>
              <a:t>Student_Department.DeptID</a:t>
            </a:r>
            <a:r>
              <a:rPr lang="en-US" b="1" dirty="0"/>
              <a:t>;</a:t>
            </a:r>
          </a:p>
        </p:txBody>
      </p:sp>
      <p:graphicFrame>
        <p:nvGraphicFramePr>
          <p:cNvPr id="4" name="Table 3">
            <a:extLst>
              <a:ext uri="{FF2B5EF4-FFF2-40B4-BE49-F238E27FC236}">
                <a16:creationId xmlns:a16="http://schemas.microsoft.com/office/drawing/2014/main" id="{D03904E3-7787-09D7-91AB-517EE8B85D6F}"/>
              </a:ext>
            </a:extLst>
          </p:cNvPr>
          <p:cNvGraphicFramePr>
            <a:graphicFrameLocks noGrp="1"/>
          </p:cNvGraphicFramePr>
          <p:nvPr>
            <p:extLst>
              <p:ext uri="{D42A27DB-BD31-4B8C-83A1-F6EECF244321}">
                <p14:modId xmlns:p14="http://schemas.microsoft.com/office/powerpoint/2010/main" val="3863957944"/>
              </p:ext>
            </p:extLst>
          </p:nvPr>
        </p:nvGraphicFramePr>
        <p:xfrm>
          <a:off x="508000" y="1538817"/>
          <a:ext cx="3054350" cy="1128183"/>
        </p:xfrm>
        <a:graphic>
          <a:graphicData uri="http://schemas.openxmlformats.org/drawingml/2006/table">
            <a:tbl>
              <a:tblPr firstRow="1" bandRow="1">
                <a:tableStyleId>{5C22544A-7EE6-4342-B048-85BDC9FD1C3A}</a:tableStyleId>
              </a:tblPr>
              <a:tblGrid>
                <a:gridCol w="1527175">
                  <a:extLst>
                    <a:ext uri="{9D8B030D-6E8A-4147-A177-3AD203B41FA5}">
                      <a16:colId xmlns:a16="http://schemas.microsoft.com/office/drawing/2014/main" val="3665886394"/>
                    </a:ext>
                  </a:extLst>
                </a:gridCol>
                <a:gridCol w="1527175">
                  <a:extLst>
                    <a:ext uri="{9D8B030D-6E8A-4147-A177-3AD203B41FA5}">
                      <a16:colId xmlns:a16="http://schemas.microsoft.com/office/drawing/2014/main" val="3554049983"/>
                    </a:ext>
                  </a:extLst>
                </a:gridCol>
              </a:tblGrid>
              <a:tr h="376061">
                <a:tc>
                  <a:txBody>
                    <a:bodyPr/>
                    <a:lstStyle/>
                    <a:p>
                      <a:pPr>
                        <a:buNone/>
                      </a:pPr>
                      <a:r>
                        <a:rPr lang="en-US" dirty="0"/>
                        <a:t>StudentID</a:t>
                      </a:r>
                    </a:p>
                  </a:txBody>
                  <a:tcPr anchor="ctr"/>
                </a:tc>
                <a:tc>
                  <a:txBody>
                    <a:bodyPr/>
                    <a:lstStyle/>
                    <a:p>
                      <a:pPr>
                        <a:buNone/>
                      </a:pPr>
                      <a:r>
                        <a:rPr lang="en-US" dirty="0" err="1"/>
                        <a:t>StudentName</a:t>
                      </a:r>
                      <a:endParaRPr lang="en-US" dirty="0"/>
                    </a:p>
                  </a:txBody>
                  <a:tcPr anchor="ctr"/>
                </a:tc>
                <a:extLst>
                  <a:ext uri="{0D108BD9-81ED-4DB2-BD59-A6C34878D82A}">
                    <a16:rowId xmlns:a16="http://schemas.microsoft.com/office/drawing/2014/main" val="912166672"/>
                  </a:ext>
                </a:extLst>
              </a:tr>
              <a:tr h="376061">
                <a:tc>
                  <a:txBody>
                    <a:bodyPr/>
                    <a:lstStyle/>
                    <a:p>
                      <a:pPr>
                        <a:buNone/>
                      </a:pPr>
                      <a:r>
                        <a:rPr lang="en-US"/>
                        <a:t>101</a:t>
                      </a:r>
                    </a:p>
                  </a:txBody>
                  <a:tcPr anchor="ctr"/>
                </a:tc>
                <a:tc>
                  <a:txBody>
                    <a:bodyPr/>
                    <a:lstStyle/>
                    <a:p>
                      <a:pPr>
                        <a:buNone/>
                      </a:pPr>
                      <a:r>
                        <a:rPr lang="en-US"/>
                        <a:t>Ram</a:t>
                      </a:r>
                    </a:p>
                  </a:txBody>
                  <a:tcPr anchor="ctr"/>
                </a:tc>
                <a:extLst>
                  <a:ext uri="{0D108BD9-81ED-4DB2-BD59-A6C34878D82A}">
                    <a16:rowId xmlns:a16="http://schemas.microsoft.com/office/drawing/2014/main" val="3440852462"/>
                  </a:ext>
                </a:extLst>
              </a:tr>
              <a:tr h="376061">
                <a:tc>
                  <a:txBody>
                    <a:bodyPr/>
                    <a:lstStyle/>
                    <a:p>
                      <a:pPr>
                        <a:buNone/>
                      </a:pPr>
                      <a:r>
                        <a:rPr lang="en-US" dirty="0"/>
                        <a:t>102</a:t>
                      </a:r>
                    </a:p>
                  </a:txBody>
                  <a:tcPr anchor="ctr"/>
                </a:tc>
                <a:tc>
                  <a:txBody>
                    <a:bodyPr/>
                    <a:lstStyle/>
                    <a:p>
                      <a:pPr>
                        <a:buNone/>
                      </a:pPr>
                      <a:r>
                        <a:rPr lang="en-US" dirty="0"/>
                        <a:t>Sita</a:t>
                      </a:r>
                    </a:p>
                  </a:txBody>
                  <a:tcPr anchor="ctr"/>
                </a:tc>
                <a:extLst>
                  <a:ext uri="{0D108BD9-81ED-4DB2-BD59-A6C34878D82A}">
                    <a16:rowId xmlns:a16="http://schemas.microsoft.com/office/drawing/2014/main" val="1598415359"/>
                  </a:ext>
                </a:extLst>
              </a:tr>
            </a:tbl>
          </a:graphicData>
        </a:graphic>
      </p:graphicFrame>
      <p:graphicFrame>
        <p:nvGraphicFramePr>
          <p:cNvPr id="6" name="Table 5">
            <a:extLst>
              <a:ext uri="{FF2B5EF4-FFF2-40B4-BE49-F238E27FC236}">
                <a16:creationId xmlns:a16="http://schemas.microsoft.com/office/drawing/2014/main" id="{E5EBECF5-F2BF-1111-2944-4C495821D56B}"/>
              </a:ext>
            </a:extLst>
          </p:cNvPr>
          <p:cNvGraphicFramePr>
            <a:graphicFrameLocks noGrp="1"/>
          </p:cNvGraphicFramePr>
          <p:nvPr>
            <p:extLst>
              <p:ext uri="{D42A27DB-BD31-4B8C-83A1-F6EECF244321}">
                <p14:modId xmlns:p14="http://schemas.microsoft.com/office/powerpoint/2010/main" val="3439856303"/>
              </p:ext>
            </p:extLst>
          </p:nvPr>
        </p:nvGraphicFramePr>
        <p:xfrm>
          <a:off x="3994150" y="1538816"/>
          <a:ext cx="3054350" cy="1128183"/>
        </p:xfrm>
        <a:graphic>
          <a:graphicData uri="http://schemas.openxmlformats.org/drawingml/2006/table">
            <a:tbl>
              <a:tblPr firstRow="1" bandRow="1">
                <a:tableStyleId>{5C22544A-7EE6-4342-B048-85BDC9FD1C3A}</a:tableStyleId>
              </a:tblPr>
              <a:tblGrid>
                <a:gridCol w="1527175">
                  <a:extLst>
                    <a:ext uri="{9D8B030D-6E8A-4147-A177-3AD203B41FA5}">
                      <a16:colId xmlns:a16="http://schemas.microsoft.com/office/drawing/2014/main" val="3665886394"/>
                    </a:ext>
                  </a:extLst>
                </a:gridCol>
                <a:gridCol w="1527175">
                  <a:extLst>
                    <a:ext uri="{9D8B030D-6E8A-4147-A177-3AD203B41FA5}">
                      <a16:colId xmlns:a16="http://schemas.microsoft.com/office/drawing/2014/main" val="3554049983"/>
                    </a:ext>
                  </a:extLst>
                </a:gridCol>
              </a:tblGrid>
              <a:tr h="376061">
                <a:tc>
                  <a:txBody>
                    <a:bodyPr/>
                    <a:lstStyle/>
                    <a:p>
                      <a:pPr>
                        <a:buNone/>
                      </a:pPr>
                      <a:r>
                        <a:rPr lang="en-US" dirty="0" err="1"/>
                        <a:t>DeptID</a:t>
                      </a:r>
                      <a:endParaRPr lang="en-US" dirty="0"/>
                    </a:p>
                  </a:txBody>
                  <a:tcPr anchor="ctr"/>
                </a:tc>
                <a:tc>
                  <a:txBody>
                    <a:bodyPr/>
                    <a:lstStyle/>
                    <a:p>
                      <a:pPr>
                        <a:buNone/>
                      </a:pPr>
                      <a:r>
                        <a:rPr lang="en-US"/>
                        <a:t>DeptName</a:t>
                      </a:r>
                    </a:p>
                  </a:txBody>
                  <a:tcPr anchor="ctr"/>
                </a:tc>
                <a:extLst>
                  <a:ext uri="{0D108BD9-81ED-4DB2-BD59-A6C34878D82A}">
                    <a16:rowId xmlns:a16="http://schemas.microsoft.com/office/drawing/2014/main" val="912166672"/>
                  </a:ext>
                </a:extLst>
              </a:tr>
              <a:tr h="376061">
                <a:tc>
                  <a:txBody>
                    <a:bodyPr/>
                    <a:lstStyle/>
                    <a:p>
                      <a:pPr>
                        <a:buNone/>
                      </a:pPr>
                      <a:r>
                        <a:rPr lang="en-US"/>
                        <a:t>D1</a:t>
                      </a:r>
                    </a:p>
                  </a:txBody>
                  <a:tcPr anchor="ctr"/>
                </a:tc>
                <a:tc>
                  <a:txBody>
                    <a:bodyPr/>
                    <a:lstStyle/>
                    <a:p>
                      <a:pPr>
                        <a:buNone/>
                      </a:pPr>
                      <a:r>
                        <a:rPr lang="en-US"/>
                        <a:t>Computer</a:t>
                      </a:r>
                    </a:p>
                  </a:txBody>
                  <a:tcPr anchor="ctr"/>
                </a:tc>
                <a:extLst>
                  <a:ext uri="{0D108BD9-81ED-4DB2-BD59-A6C34878D82A}">
                    <a16:rowId xmlns:a16="http://schemas.microsoft.com/office/drawing/2014/main" val="3440852462"/>
                  </a:ext>
                </a:extLst>
              </a:tr>
              <a:tr h="376061">
                <a:tc>
                  <a:txBody>
                    <a:bodyPr/>
                    <a:lstStyle/>
                    <a:p>
                      <a:pPr>
                        <a:buNone/>
                      </a:pPr>
                      <a:r>
                        <a:rPr lang="en-US"/>
                        <a:t>D2</a:t>
                      </a:r>
                    </a:p>
                  </a:txBody>
                  <a:tcPr anchor="ctr"/>
                </a:tc>
                <a:tc>
                  <a:txBody>
                    <a:bodyPr/>
                    <a:lstStyle/>
                    <a:p>
                      <a:pPr>
                        <a:buNone/>
                      </a:pPr>
                      <a:r>
                        <a:rPr lang="en-US" dirty="0"/>
                        <a:t>Civil</a:t>
                      </a:r>
                    </a:p>
                  </a:txBody>
                  <a:tcPr anchor="ctr"/>
                </a:tc>
                <a:extLst>
                  <a:ext uri="{0D108BD9-81ED-4DB2-BD59-A6C34878D82A}">
                    <a16:rowId xmlns:a16="http://schemas.microsoft.com/office/drawing/2014/main" val="1598415359"/>
                  </a:ext>
                </a:extLst>
              </a:tr>
            </a:tbl>
          </a:graphicData>
        </a:graphic>
      </p:graphicFrame>
      <p:graphicFrame>
        <p:nvGraphicFramePr>
          <p:cNvPr id="8" name="Table 7">
            <a:extLst>
              <a:ext uri="{FF2B5EF4-FFF2-40B4-BE49-F238E27FC236}">
                <a16:creationId xmlns:a16="http://schemas.microsoft.com/office/drawing/2014/main" id="{D3957E40-C8AF-766D-DE63-7F245374456A}"/>
              </a:ext>
            </a:extLst>
          </p:cNvPr>
          <p:cNvGraphicFramePr>
            <a:graphicFrameLocks noGrp="1"/>
          </p:cNvGraphicFramePr>
          <p:nvPr>
            <p:extLst>
              <p:ext uri="{D42A27DB-BD31-4B8C-83A1-F6EECF244321}">
                <p14:modId xmlns:p14="http://schemas.microsoft.com/office/powerpoint/2010/main" val="2996398497"/>
              </p:ext>
            </p:extLst>
          </p:nvPr>
        </p:nvGraphicFramePr>
        <p:xfrm>
          <a:off x="7480300" y="1538815"/>
          <a:ext cx="3054350" cy="1128183"/>
        </p:xfrm>
        <a:graphic>
          <a:graphicData uri="http://schemas.openxmlformats.org/drawingml/2006/table">
            <a:tbl>
              <a:tblPr firstRow="1" bandRow="1">
                <a:tableStyleId>{5C22544A-7EE6-4342-B048-85BDC9FD1C3A}</a:tableStyleId>
              </a:tblPr>
              <a:tblGrid>
                <a:gridCol w="1527175">
                  <a:extLst>
                    <a:ext uri="{9D8B030D-6E8A-4147-A177-3AD203B41FA5}">
                      <a16:colId xmlns:a16="http://schemas.microsoft.com/office/drawing/2014/main" val="3665886394"/>
                    </a:ext>
                  </a:extLst>
                </a:gridCol>
                <a:gridCol w="1527175">
                  <a:extLst>
                    <a:ext uri="{9D8B030D-6E8A-4147-A177-3AD203B41FA5}">
                      <a16:colId xmlns:a16="http://schemas.microsoft.com/office/drawing/2014/main" val="3554049983"/>
                    </a:ext>
                  </a:extLst>
                </a:gridCol>
              </a:tblGrid>
              <a:tr h="376061">
                <a:tc>
                  <a:txBody>
                    <a:bodyPr/>
                    <a:lstStyle/>
                    <a:p>
                      <a:pPr>
                        <a:buNone/>
                      </a:pPr>
                      <a:r>
                        <a:rPr lang="en-US"/>
                        <a:t>StudentID</a:t>
                      </a:r>
                    </a:p>
                  </a:txBody>
                  <a:tcPr anchor="ctr"/>
                </a:tc>
                <a:tc>
                  <a:txBody>
                    <a:bodyPr/>
                    <a:lstStyle/>
                    <a:p>
                      <a:pPr>
                        <a:buNone/>
                      </a:pPr>
                      <a:r>
                        <a:rPr lang="en-US"/>
                        <a:t>DeptID</a:t>
                      </a:r>
                    </a:p>
                  </a:txBody>
                  <a:tcPr anchor="ctr"/>
                </a:tc>
                <a:extLst>
                  <a:ext uri="{0D108BD9-81ED-4DB2-BD59-A6C34878D82A}">
                    <a16:rowId xmlns:a16="http://schemas.microsoft.com/office/drawing/2014/main" val="912166672"/>
                  </a:ext>
                </a:extLst>
              </a:tr>
              <a:tr h="376061">
                <a:tc>
                  <a:txBody>
                    <a:bodyPr/>
                    <a:lstStyle/>
                    <a:p>
                      <a:pPr>
                        <a:buNone/>
                      </a:pPr>
                      <a:r>
                        <a:rPr lang="en-US"/>
                        <a:t>101</a:t>
                      </a:r>
                    </a:p>
                  </a:txBody>
                  <a:tcPr anchor="ctr"/>
                </a:tc>
                <a:tc>
                  <a:txBody>
                    <a:bodyPr/>
                    <a:lstStyle/>
                    <a:p>
                      <a:pPr>
                        <a:buNone/>
                      </a:pPr>
                      <a:r>
                        <a:rPr lang="en-US"/>
                        <a:t>D1</a:t>
                      </a:r>
                    </a:p>
                  </a:txBody>
                  <a:tcPr anchor="ctr"/>
                </a:tc>
                <a:extLst>
                  <a:ext uri="{0D108BD9-81ED-4DB2-BD59-A6C34878D82A}">
                    <a16:rowId xmlns:a16="http://schemas.microsoft.com/office/drawing/2014/main" val="3440852462"/>
                  </a:ext>
                </a:extLst>
              </a:tr>
              <a:tr h="376061">
                <a:tc>
                  <a:txBody>
                    <a:bodyPr/>
                    <a:lstStyle/>
                    <a:p>
                      <a:pPr>
                        <a:buNone/>
                      </a:pPr>
                      <a:r>
                        <a:rPr lang="en-US"/>
                        <a:t>102</a:t>
                      </a:r>
                    </a:p>
                  </a:txBody>
                  <a:tcPr anchor="ctr"/>
                </a:tc>
                <a:tc>
                  <a:txBody>
                    <a:bodyPr/>
                    <a:lstStyle/>
                    <a:p>
                      <a:pPr>
                        <a:buNone/>
                      </a:pPr>
                      <a:r>
                        <a:rPr lang="en-US" dirty="0"/>
                        <a:t>D2</a:t>
                      </a:r>
                    </a:p>
                  </a:txBody>
                  <a:tcPr anchor="ctr"/>
                </a:tc>
                <a:extLst>
                  <a:ext uri="{0D108BD9-81ED-4DB2-BD59-A6C34878D82A}">
                    <a16:rowId xmlns:a16="http://schemas.microsoft.com/office/drawing/2014/main" val="1598415359"/>
                  </a:ext>
                </a:extLst>
              </a:tr>
            </a:tbl>
          </a:graphicData>
        </a:graphic>
      </p:graphicFrame>
      <p:graphicFrame>
        <p:nvGraphicFramePr>
          <p:cNvPr id="10" name="Table 9">
            <a:extLst>
              <a:ext uri="{FF2B5EF4-FFF2-40B4-BE49-F238E27FC236}">
                <a16:creationId xmlns:a16="http://schemas.microsoft.com/office/drawing/2014/main" id="{780ACA58-9DF6-6E76-851A-1995C4761C43}"/>
              </a:ext>
            </a:extLst>
          </p:cNvPr>
          <p:cNvGraphicFramePr>
            <a:graphicFrameLocks noGrp="1"/>
          </p:cNvGraphicFramePr>
          <p:nvPr>
            <p:extLst>
              <p:ext uri="{D42A27DB-BD31-4B8C-83A1-F6EECF244321}">
                <p14:modId xmlns:p14="http://schemas.microsoft.com/office/powerpoint/2010/main" val="1632605644"/>
              </p:ext>
            </p:extLst>
          </p:nvPr>
        </p:nvGraphicFramePr>
        <p:xfrm>
          <a:off x="7048500" y="3626910"/>
          <a:ext cx="4768851" cy="1128183"/>
        </p:xfrm>
        <a:graphic>
          <a:graphicData uri="http://schemas.openxmlformats.org/drawingml/2006/table">
            <a:tbl>
              <a:tblPr firstRow="1" bandRow="1">
                <a:tableStyleId>{5C22544A-7EE6-4342-B048-85BDC9FD1C3A}</a:tableStyleId>
              </a:tblPr>
              <a:tblGrid>
                <a:gridCol w="1589617">
                  <a:extLst>
                    <a:ext uri="{9D8B030D-6E8A-4147-A177-3AD203B41FA5}">
                      <a16:colId xmlns:a16="http://schemas.microsoft.com/office/drawing/2014/main" val="3665886394"/>
                    </a:ext>
                  </a:extLst>
                </a:gridCol>
                <a:gridCol w="1589617">
                  <a:extLst>
                    <a:ext uri="{9D8B030D-6E8A-4147-A177-3AD203B41FA5}">
                      <a16:colId xmlns:a16="http://schemas.microsoft.com/office/drawing/2014/main" val="2719932894"/>
                    </a:ext>
                  </a:extLst>
                </a:gridCol>
                <a:gridCol w="1589617">
                  <a:extLst>
                    <a:ext uri="{9D8B030D-6E8A-4147-A177-3AD203B41FA5}">
                      <a16:colId xmlns:a16="http://schemas.microsoft.com/office/drawing/2014/main" val="3554049983"/>
                    </a:ext>
                  </a:extLst>
                </a:gridCol>
              </a:tblGrid>
              <a:tr h="376061">
                <a:tc>
                  <a:txBody>
                    <a:bodyPr/>
                    <a:lstStyle/>
                    <a:p>
                      <a:pPr>
                        <a:buNone/>
                      </a:pPr>
                      <a:r>
                        <a:rPr lang="en-US"/>
                        <a:t>StudentID</a:t>
                      </a:r>
                    </a:p>
                  </a:txBody>
                  <a:tcPr anchor="ctr"/>
                </a:tc>
                <a:tc>
                  <a:txBody>
                    <a:bodyPr/>
                    <a:lstStyle/>
                    <a:p>
                      <a:pPr>
                        <a:buNone/>
                      </a:pPr>
                      <a:r>
                        <a:rPr lang="en-US"/>
                        <a:t>StudentName</a:t>
                      </a:r>
                    </a:p>
                  </a:txBody>
                  <a:tcPr anchor="ctr"/>
                </a:tc>
                <a:tc>
                  <a:txBody>
                    <a:bodyPr/>
                    <a:lstStyle/>
                    <a:p>
                      <a:pPr>
                        <a:buNone/>
                      </a:pPr>
                      <a:r>
                        <a:rPr lang="en-US"/>
                        <a:t>DeptName</a:t>
                      </a:r>
                    </a:p>
                  </a:txBody>
                  <a:tcPr anchor="ctr"/>
                </a:tc>
                <a:extLst>
                  <a:ext uri="{0D108BD9-81ED-4DB2-BD59-A6C34878D82A}">
                    <a16:rowId xmlns:a16="http://schemas.microsoft.com/office/drawing/2014/main" val="912166672"/>
                  </a:ext>
                </a:extLst>
              </a:tr>
              <a:tr h="376061">
                <a:tc>
                  <a:txBody>
                    <a:bodyPr/>
                    <a:lstStyle/>
                    <a:p>
                      <a:pPr>
                        <a:buNone/>
                      </a:pPr>
                      <a:r>
                        <a:rPr lang="en-US"/>
                        <a:t>101</a:t>
                      </a:r>
                    </a:p>
                  </a:txBody>
                  <a:tcPr anchor="ctr"/>
                </a:tc>
                <a:tc>
                  <a:txBody>
                    <a:bodyPr/>
                    <a:lstStyle/>
                    <a:p>
                      <a:pPr>
                        <a:buNone/>
                      </a:pPr>
                      <a:r>
                        <a:rPr lang="en-US"/>
                        <a:t>Ram</a:t>
                      </a:r>
                    </a:p>
                  </a:txBody>
                  <a:tcPr anchor="ctr"/>
                </a:tc>
                <a:tc>
                  <a:txBody>
                    <a:bodyPr/>
                    <a:lstStyle/>
                    <a:p>
                      <a:pPr>
                        <a:buNone/>
                      </a:pPr>
                      <a:r>
                        <a:rPr lang="en-US"/>
                        <a:t>Computer</a:t>
                      </a:r>
                    </a:p>
                  </a:txBody>
                  <a:tcPr anchor="ctr"/>
                </a:tc>
                <a:extLst>
                  <a:ext uri="{0D108BD9-81ED-4DB2-BD59-A6C34878D82A}">
                    <a16:rowId xmlns:a16="http://schemas.microsoft.com/office/drawing/2014/main" val="3440852462"/>
                  </a:ext>
                </a:extLst>
              </a:tr>
              <a:tr h="376061">
                <a:tc>
                  <a:txBody>
                    <a:bodyPr/>
                    <a:lstStyle/>
                    <a:p>
                      <a:pPr>
                        <a:buNone/>
                      </a:pPr>
                      <a:r>
                        <a:rPr lang="en-US"/>
                        <a:t>102</a:t>
                      </a:r>
                    </a:p>
                  </a:txBody>
                  <a:tcPr anchor="ctr"/>
                </a:tc>
                <a:tc>
                  <a:txBody>
                    <a:bodyPr/>
                    <a:lstStyle/>
                    <a:p>
                      <a:pPr>
                        <a:buNone/>
                      </a:pPr>
                      <a:r>
                        <a:rPr lang="en-US"/>
                        <a:t>Sita</a:t>
                      </a:r>
                    </a:p>
                  </a:txBody>
                  <a:tcPr anchor="ctr"/>
                </a:tc>
                <a:tc>
                  <a:txBody>
                    <a:bodyPr/>
                    <a:lstStyle/>
                    <a:p>
                      <a:pPr>
                        <a:buNone/>
                      </a:pPr>
                      <a:r>
                        <a:rPr lang="en-US" dirty="0"/>
                        <a:t>Civil</a:t>
                      </a:r>
                    </a:p>
                  </a:txBody>
                  <a:tcPr anchor="ctr"/>
                </a:tc>
                <a:extLst>
                  <a:ext uri="{0D108BD9-81ED-4DB2-BD59-A6C34878D82A}">
                    <a16:rowId xmlns:a16="http://schemas.microsoft.com/office/drawing/2014/main" val="1598415359"/>
                  </a:ext>
                </a:extLst>
              </a:tr>
            </a:tbl>
          </a:graphicData>
        </a:graphic>
      </p:graphicFrame>
      <p:sp>
        <p:nvSpPr>
          <p:cNvPr id="12" name="TextBox 11">
            <a:extLst>
              <a:ext uri="{FF2B5EF4-FFF2-40B4-BE49-F238E27FC236}">
                <a16:creationId xmlns:a16="http://schemas.microsoft.com/office/drawing/2014/main" id="{42607C86-0E30-05EA-8D83-075FAD05475C}"/>
              </a:ext>
            </a:extLst>
          </p:cNvPr>
          <p:cNvSpPr txBox="1"/>
          <p:nvPr/>
        </p:nvSpPr>
        <p:spPr>
          <a:xfrm>
            <a:off x="7045325" y="3231090"/>
            <a:ext cx="6096000" cy="369332"/>
          </a:xfrm>
          <a:prstGeom prst="rect">
            <a:avLst/>
          </a:prstGeom>
          <a:noFill/>
        </p:spPr>
        <p:txBody>
          <a:bodyPr wrap="square">
            <a:spAutoFit/>
          </a:bodyPr>
          <a:lstStyle/>
          <a:p>
            <a:r>
              <a:rPr lang="en-US" b="1" dirty="0"/>
              <a:t>De-normalized Database</a:t>
            </a:r>
          </a:p>
        </p:txBody>
      </p:sp>
      <p:sp>
        <p:nvSpPr>
          <p:cNvPr id="14" name="TextBox 13">
            <a:extLst>
              <a:ext uri="{FF2B5EF4-FFF2-40B4-BE49-F238E27FC236}">
                <a16:creationId xmlns:a16="http://schemas.microsoft.com/office/drawing/2014/main" id="{F0B611A0-E138-F7FD-4882-5124FE400B31}"/>
              </a:ext>
            </a:extLst>
          </p:cNvPr>
          <p:cNvSpPr txBox="1"/>
          <p:nvPr/>
        </p:nvSpPr>
        <p:spPr>
          <a:xfrm>
            <a:off x="7045325" y="5319184"/>
            <a:ext cx="6572250" cy="923330"/>
          </a:xfrm>
          <a:prstGeom prst="rect">
            <a:avLst/>
          </a:prstGeom>
          <a:noFill/>
        </p:spPr>
        <p:txBody>
          <a:bodyPr wrap="square">
            <a:spAutoFit/>
          </a:bodyPr>
          <a:lstStyle/>
          <a:p>
            <a:r>
              <a:rPr lang="en-US" dirty="0"/>
              <a:t>SQL:</a:t>
            </a:r>
          </a:p>
          <a:p>
            <a:r>
              <a:rPr lang="en-US" dirty="0"/>
              <a:t>SELECT </a:t>
            </a:r>
            <a:r>
              <a:rPr lang="en-US" dirty="0" err="1"/>
              <a:t>StudentName</a:t>
            </a:r>
            <a:r>
              <a:rPr lang="en-US" dirty="0"/>
              <a:t>, </a:t>
            </a:r>
            <a:r>
              <a:rPr lang="en-US" dirty="0" err="1"/>
              <a:t>DeptName</a:t>
            </a:r>
            <a:endParaRPr lang="en-US" dirty="0"/>
          </a:p>
          <a:p>
            <a:r>
              <a:rPr lang="en-US" dirty="0"/>
              <a:t>FROM Student;</a:t>
            </a:r>
          </a:p>
        </p:txBody>
      </p:sp>
      <p:sp>
        <p:nvSpPr>
          <p:cNvPr id="16" name="TextBox 15">
            <a:extLst>
              <a:ext uri="{FF2B5EF4-FFF2-40B4-BE49-F238E27FC236}">
                <a16:creationId xmlns:a16="http://schemas.microsoft.com/office/drawing/2014/main" id="{8A25F3C6-4C65-BA8E-4FB4-D51CB4E0B327}"/>
              </a:ext>
            </a:extLst>
          </p:cNvPr>
          <p:cNvSpPr txBox="1"/>
          <p:nvPr/>
        </p:nvSpPr>
        <p:spPr>
          <a:xfrm>
            <a:off x="7045325" y="4818049"/>
            <a:ext cx="6096000" cy="369332"/>
          </a:xfrm>
          <a:prstGeom prst="rect">
            <a:avLst/>
          </a:prstGeom>
          <a:noFill/>
        </p:spPr>
        <p:txBody>
          <a:bodyPr wrap="square">
            <a:spAutoFit/>
          </a:bodyPr>
          <a:lstStyle/>
          <a:p>
            <a:r>
              <a:rPr lang="en-US" b="1" dirty="0"/>
              <a:t>Student Table</a:t>
            </a:r>
          </a:p>
        </p:txBody>
      </p:sp>
      <p:sp>
        <p:nvSpPr>
          <p:cNvPr id="17" name="TextBox 16">
            <a:extLst>
              <a:ext uri="{FF2B5EF4-FFF2-40B4-BE49-F238E27FC236}">
                <a16:creationId xmlns:a16="http://schemas.microsoft.com/office/drawing/2014/main" id="{08E6208D-C2FD-9F02-C7AD-EBE9845A8C37}"/>
              </a:ext>
            </a:extLst>
          </p:cNvPr>
          <p:cNvSpPr txBox="1"/>
          <p:nvPr/>
        </p:nvSpPr>
        <p:spPr>
          <a:xfrm>
            <a:off x="7480300" y="2693486"/>
            <a:ext cx="2921000" cy="369332"/>
          </a:xfrm>
          <a:prstGeom prst="rect">
            <a:avLst/>
          </a:prstGeom>
          <a:noFill/>
        </p:spPr>
        <p:txBody>
          <a:bodyPr wrap="square">
            <a:spAutoFit/>
          </a:bodyPr>
          <a:lstStyle/>
          <a:p>
            <a:r>
              <a:rPr lang="en-US" b="1" dirty="0" err="1"/>
              <a:t>Student_Department</a:t>
            </a:r>
            <a:r>
              <a:rPr lang="en-US" b="1" dirty="0"/>
              <a:t> Table</a:t>
            </a:r>
          </a:p>
        </p:txBody>
      </p:sp>
      <p:sp>
        <p:nvSpPr>
          <p:cNvPr id="18" name="TextBox 17">
            <a:extLst>
              <a:ext uri="{FF2B5EF4-FFF2-40B4-BE49-F238E27FC236}">
                <a16:creationId xmlns:a16="http://schemas.microsoft.com/office/drawing/2014/main" id="{1397FD7A-41BD-268F-00A7-5E74C04FA885}"/>
              </a:ext>
            </a:extLst>
          </p:cNvPr>
          <p:cNvSpPr txBox="1"/>
          <p:nvPr/>
        </p:nvSpPr>
        <p:spPr>
          <a:xfrm>
            <a:off x="3994150" y="2655384"/>
            <a:ext cx="2921000" cy="369332"/>
          </a:xfrm>
          <a:prstGeom prst="rect">
            <a:avLst/>
          </a:prstGeom>
          <a:noFill/>
        </p:spPr>
        <p:txBody>
          <a:bodyPr wrap="square">
            <a:spAutoFit/>
          </a:bodyPr>
          <a:lstStyle/>
          <a:p>
            <a:r>
              <a:rPr lang="en-US" b="1" dirty="0"/>
              <a:t>Department Table</a:t>
            </a:r>
          </a:p>
        </p:txBody>
      </p:sp>
      <p:sp>
        <p:nvSpPr>
          <p:cNvPr id="19" name="TextBox 18">
            <a:extLst>
              <a:ext uri="{FF2B5EF4-FFF2-40B4-BE49-F238E27FC236}">
                <a16:creationId xmlns:a16="http://schemas.microsoft.com/office/drawing/2014/main" id="{8F36CE04-1DB5-2905-143C-EC5CE1C5379B}"/>
              </a:ext>
            </a:extLst>
          </p:cNvPr>
          <p:cNvSpPr txBox="1"/>
          <p:nvPr/>
        </p:nvSpPr>
        <p:spPr>
          <a:xfrm>
            <a:off x="536575" y="2655384"/>
            <a:ext cx="2921000" cy="369332"/>
          </a:xfrm>
          <a:prstGeom prst="rect">
            <a:avLst/>
          </a:prstGeom>
          <a:noFill/>
        </p:spPr>
        <p:txBody>
          <a:bodyPr wrap="square">
            <a:spAutoFit/>
          </a:bodyPr>
          <a:lstStyle/>
          <a:p>
            <a:r>
              <a:rPr lang="en-US" b="1" dirty="0"/>
              <a:t>Student Table</a:t>
            </a:r>
          </a:p>
        </p:txBody>
      </p:sp>
      <p:sp>
        <p:nvSpPr>
          <p:cNvPr id="20" name="Rectangle 19">
            <a:extLst>
              <a:ext uri="{FF2B5EF4-FFF2-40B4-BE49-F238E27FC236}">
                <a16:creationId xmlns:a16="http://schemas.microsoft.com/office/drawing/2014/main" id="{597B1680-02B5-2093-9592-42E60BE67DD5}"/>
              </a:ext>
            </a:extLst>
          </p:cNvPr>
          <p:cNvSpPr/>
          <p:nvPr/>
        </p:nvSpPr>
        <p:spPr>
          <a:xfrm>
            <a:off x="6629400" y="3216906"/>
            <a:ext cx="5410200" cy="3025607"/>
          </a:xfrm>
          <a:custGeom>
            <a:avLst/>
            <a:gdLst>
              <a:gd name="csX0" fmla="*/ 0 w 5410200"/>
              <a:gd name="csY0" fmla="*/ 0 h 3025607"/>
              <a:gd name="csX1" fmla="*/ 486918 w 5410200"/>
              <a:gd name="csY1" fmla="*/ 0 h 3025607"/>
              <a:gd name="csX2" fmla="*/ 1082040 w 5410200"/>
              <a:gd name="csY2" fmla="*/ 0 h 3025607"/>
              <a:gd name="csX3" fmla="*/ 1731264 w 5410200"/>
              <a:gd name="csY3" fmla="*/ 0 h 3025607"/>
              <a:gd name="csX4" fmla="*/ 2218182 w 5410200"/>
              <a:gd name="csY4" fmla="*/ 0 h 3025607"/>
              <a:gd name="csX5" fmla="*/ 2813304 w 5410200"/>
              <a:gd name="csY5" fmla="*/ 0 h 3025607"/>
              <a:gd name="csX6" fmla="*/ 3300222 w 5410200"/>
              <a:gd name="csY6" fmla="*/ 0 h 3025607"/>
              <a:gd name="csX7" fmla="*/ 3949446 w 5410200"/>
              <a:gd name="csY7" fmla="*/ 0 h 3025607"/>
              <a:gd name="csX8" fmla="*/ 4598670 w 5410200"/>
              <a:gd name="csY8" fmla="*/ 0 h 3025607"/>
              <a:gd name="csX9" fmla="*/ 5410200 w 5410200"/>
              <a:gd name="csY9" fmla="*/ 0 h 3025607"/>
              <a:gd name="csX10" fmla="*/ 5410200 w 5410200"/>
              <a:gd name="csY10" fmla="*/ 534524 h 3025607"/>
              <a:gd name="csX11" fmla="*/ 5410200 w 5410200"/>
              <a:gd name="csY11" fmla="*/ 1038792 h 3025607"/>
              <a:gd name="csX12" fmla="*/ 5410200 w 5410200"/>
              <a:gd name="csY12" fmla="*/ 1512804 h 3025607"/>
              <a:gd name="csX13" fmla="*/ 5410200 w 5410200"/>
              <a:gd name="csY13" fmla="*/ 1956559 h 3025607"/>
              <a:gd name="csX14" fmla="*/ 5410200 w 5410200"/>
              <a:gd name="csY14" fmla="*/ 2370059 h 3025607"/>
              <a:gd name="csX15" fmla="*/ 5410200 w 5410200"/>
              <a:gd name="csY15" fmla="*/ 3025607 h 3025607"/>
              <a:gd name="csX16" fmla="*/ 4869180 w 5410200"/>
              <a:gd name="csY16" fmla="*/ 3025607 h 3025607"/>
              <a:gd name="csX17" fmla="*/ 4274058 w 5410200"/>
              <a:gd name="csY17" fmla="*/ 3025607 h 3025607"/>
              <a:gd name="csX18" fmla="*/ 3841242 w 5410200"/>
              <a:gd name="csY18" fmla="*/ 3025607 h 3025607"/>
              <a:gd name="csX19" fmla="*/ 3300222 w 5410200"/>
              <a:gd name="csY19" fmla="*/ 3025607 h 3025607"/>
              <a:gd name="csX20" fmla="*/ 2650998 w 5410200"/>
              <a:gd name="csY20" fmla="*/ 3025607 h 3025607"/>
              <a:gd name="csX21" fmla="*/ 2164080 w 5410200"/>
              <a:gd name="csY21" fmla="*/ 3025607 h 3025607"/>
              <a:gd name="csX22" fmla="*/ 1677162 w 5410200"/>
              <a:gd name="csY22" fmla="*/ 3025607 h 3025607"/>
              <a:gd name="csX23" fmla="*/ 1082040 w 5410200"/>
              <a:gd name="csY23" fmla="*/ 3025607 h 3025607"/>
              <a:gd name="csX24" fmla="*/ 541020 w 5410200"/>
              <a:gd name="csY24" fmla="*/ 3025607 h 3025607"/>
              <a:gd name="csX25" fmla="*/ 0 w 5410200"/>
              <a:gd name="csY25" fmla="*/ 3025607 h 3025607"/>
              <a:gd name="csX26" fmla="*/ 0 w 5410200"/>
              <a:gd name="csY26" fmla="*/ 2521339 h 3025607"/>
              <a:gd name="csX27" fmla="*/ 0 w 5410200"/>
              <a:gd name="csY27" fmla="*/ 2107840 h 3025607"/>
              <a:gd name="csX28" fmla="*/ 0 w 5410200"/>
              <a:gd name="csY28" fmla="*/ 1603572 h 3025607"/>
              <a:gd name="csX29" fmla="*/ 0 w 5410200"/>
              <a:gd name="csY29" fmla="*/ 1159816 h 3025607"/>
              <a:gd name="csX30" fmla="*/ 0 w 5410200"/>
              <a:gd name="csY30" fmla="*/ 625292 h 3025607"/>
              <a:gd name="csX31" fmla="*/ 0 w 5410200"/>
              <a:gd name="csY31" fmla="*/ 0 h 30256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5410200" h="3025607" extrusionOk="0">
                <a:moveTo>
                  <a:pt x="0" y="0"/>
                </a:moveTo>
                <a:cubicBezTo>
                  <a:pt x="144481" y="-16322"/>
                  <a:pt x="262851" y="2927"/>
                  <a:pt x="486918" y="0"/>
                </a:cubicBezTo>
                <a:cubicBezTo>
                  <a:pt x="710985" y="-2927"/>
                  <a:pt x="906635" y="18776"/>
                  <a:pt x="1082040" y="0"/>
                </a:cubicBezTo>
                <a:cubicBezTo>
                  <a:pt x="1257445" y="-18776"/>
                  <a:pt x="1526274" y="57429"/>
                  <a:pt x="1731264" y="0"/>
                </a:cubicBezTo>
                <a:cubicBezTo>
                  <a:pt x="1936254" y="-57429"/>
                  <a:pt x="2007527" y="46312"/>
                  <a:pt x="2218182" y="0"/>
                </a:cubicBezTo>
                <a:cubicBezTo>
                  <a:pt x="2428837" y="-46312"/>
                  <a:pt x="2625611" y="21089"/>
                  <a:pt x="2813304" y="0"/>
                </a:cubicBezTo>
                <a:cubicBezTo>
                  <a:pt x="3000997" y="-21089"/>
                  <a:pt x="3173314" y="5266"/>
                  <a:pt x="3300222" y="0"/>
                </a:cubicBezTo>
                <a:cubicBezTo>
                  <a:pt x="3427130" y="-5266"/>
                  <a:pt x="3808660" y="61899"/>
                  <a:pt x="3949446" y="0"/>
                </a:cubicBezTo>
                <a:cubicBezTo>
                  <a:pt x="4090232" y="-61899"/>
                  <a:pt x="4274233" y="10563"/>
                  <a:pt x="4598670" y="0"/>
                </a:cubicBezTo>
                <a:cubicBezTo>
                  <a:pt x="4923107" y="-10563"/>
                  <a:pt x="5026032" y="75512"/>
                  <a:pt x="5410200" y="0"/>
                </a:cubicBezTo>
                <a:cubicBezTo>
                  <a:pt x="5463237" y="218213"/>
                  <a:pt x="5405723" y="303858"/>
                  <a:pt x="5410200" y="534524"/>
                </a:cubicBezTo>
                <a:cubicBezTo>
                  <a:pt x="5414677" y="765190"/>
                  <a:pt x="5386114" y="896806"/>
                  <a:pt x="5410200" y="1038792"/>
                </a:cubicBezTo>
                <a:cubicBezTo>
                  <a:pt x="5434286" y="1180778"/>
                  <a:pt x="5378384" y="1401070"/>
                  <a:pt x="5410200" y="1512804"/>
                </a:cubicBezTo>
                <a:cubicBezTo>
                  <a:pt x="5442016" y="1624538"/>
                  <a:pt x="5386767" y="1846990"/>
                  <a:pt x="5410200" y="1956559"/>
                </a:cubicBezTo>
                <a:cubicBezTo>
                  <a:pt x="5433633" y="2066128"/>
                  <a:pt x="5405365" y="2204982"/>
                  <a:pt x="5410200" y="2370059"/>
                </a:cubicBezTo>
                <a:cubicBezTo>
                  <a:pt x="5415035" y="2535136"/>
                  <a:pt x="5375938" y="2698042"/>
                  <a:pt x="5410200" y="3025607"/>
                </a:cubicBezTo>
                <a:cubicBezTo>
                  <a:pt x="5156179" y="3071828"/>
                  <a:pt x="5053372" y="3009191"/>
                  <a:pt x="4869180" y="3025607"/>
                </a:cubicBezTo>
                <a:cubicBezTo>
                  <a:pt x="4684988" y="3042023"/>
                  <a:pt x="4414957" y="3019669"/>
                  <a:pt x="4274058" y="3025607"/>
                </a:cubicBezTo>
                <a:cubicBezTo>
                  <a:pt x="4133159" y="3031545"/>
                  <a:pt x="3951170" y="3021987"/>
                  <a:pt x="3841242" y="3025607"/>
                </a:cubicBezTo>
                <a:cubicBezTo>
                  <a:pt x="3731314" y="3029227"/>
                  <a:pt x="3425096" y="2971388"/>
                  <a:pt x="3300222" y="3025607"/>
                </a:cubicBezTo>
                <a:cubicBezTo>
                  <a:pt x="3175348" y="3079826"/>
                  <a:pt x="2911622" y="2977046"/>
                  <a:pt x="2650998" y="3025607"/>
                </a:cubicBezTo>
                <a:cubicBezTo>
                  <a:pt x="2390374" y="3074168"/>
                  <a:pt x="2284216" y="3003312"/>
                  <a:pt x="2164080" y="3025607"/>
                </a:cubicBezTo>
                <a:cubicBezTo>
                  <a:pt x="2043944" y="3047902"/>
                  <a:pt x="1897327" y="3016453"/>
                  <a:pt x="1677162" y="3025607"/>
                </a:cubicBezTo>
                <a:cubicBezTo>
                  <a:pt x="1456997" y="3034761"/>
                  <a:pt x="1251282" y="2995024"/>
                  <a:pt x="1082040" y="3025607"/>
                </a:cubicBezTo>
                <a:cubicBezTo>
                  <a:pt x="912798" y="3056190"/>
                  <a:pt x="785634" y="2962728"/>
                  <a:pt x="541020" y="3025607"/>
                </a:cubicBezTo>
                <a:cubicBezTo>
                  <a:pt x="296406" y="3088486"/>
                  <a:pt x="143357" y="3014730"/>
                  <a:pt x="0" y="3025607"/>
                </a:cubicBezTo>
                <a:cubicBezTo>
                  <a:pt x="-13124" y="2787798"/>
                  <a:pt x="44614" y="2750425"/>
                  <a:pt x="0" y="2521339"/>
                </a:cubicBezTo>
                <a:cubicBezTo>
                  <a:pt x="-44614" y="2292253"/>
                  <a:pt x="42307" y="2285599"/>
                  <a:pt x="0" y="2107840"/>
                </a:cubicBezTo>
                <a:cubicBezTo>
                  <a:pt x="-42307" y="1930081"/>
                  <a:pt x="41207" y="1799442"/>
                  <a:pt x="0" y="1603572"/>
                </a:cubicBezTo>
                <a:cubicBezTo>
                  <a:pt x="-41207" y="1407702"/>
                  <a:pt x="10878" y="1288097"/>
                  <a:pt x="0" y="1159816"/>
                </a:cubicBezTo>
                <a:cubicBezTo>
                  <a:pt x="-10878" y="1031535"/>
                  <a:pt x="9711" y="751109"/>
                  <a:pt x="0" y="625292"/>
                </a:cubicBezTo>
                <a:cubicBezTo>
                  <a:pt x="-9711" y="499475"/>
                  <a:pt x="18194" y="237870"/>
                  <a:pt x="0" y="0"/>
                </a:cubicBezTo>
                <a:close/>
              </a:path>
            </a:pathLst>
          </a:custGeom>
          <a:noFill/>
          <a:ln w="38100">
            <a:solidFill>
              <a:schemeClr val="accent2"/>
            </a:solidFill>
            <a:extLst>
              <a:ext uri="{C807C97D-BFC1-408E-A445-0C87EB9F89A2}">
                <ask:lineSketchStyleProps xmlns:ask="http://schemas.microsoft.com/office/drawing/2018/sketchyshapes" sd="3907997878">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57533935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16DA0-DB21-8F71-BEBE-FB520AC1E4D4}"/>
              </a:ext>
            </a:extLst>
          </p:cNvPr>
          <p:cNvSpPr>
            <a:spLocks noGrp="1"/>
          </p:cNvSpPr>
          <p:nvPr>
            <p:ph type="title"/>
          </p:nvPr>
        </p:nvSpPr>
        <p:spPr/>
        <p:txBody>
          <a:bodyPr/>
          <a:lstStyle/>
          <a:p>
            <a:r>
              <a:rPr lang="en-US" dirty="0"/>
              <a:t>When should de-normalization be used?</a:t>
            </a:r>
          </a:p>
        </p:txBody>
      </p:sp>
      <p:sp>
        <p:nvSpPr>
          <p:cNvPr id="3" name="Content Placeholder 2">
            <a:extLst>
              <a:ext uri="{FF2B5EF4-FFF2-40B4-BE49-F238E27FC236}">
                <a16:creationId xmlns:a16="http://schemas.microsoft.com/office/drawing/2014/main" id="{33DE1942-E85B-06B8-0EE5-24A9E8BCB9E0}"/>
              </a:ext>
            </a:extLst>
          </p:cNvPr>
          <p:cNvSpPr>
            <a:spLocks noGrp="1"/>
          </p:cNvSpPr>
          <p:nvPr>
            <p:ph idx="1"/>
          </p:nvPr>
        </p:nvSpPr>
        <p:spPr/>
        <p:txBody>
          <a:bodyPr/>
          <a:lstStyle/>
          <a:p>
            <a:pPr marL="0" indent="0">
              <a:buNone/>
            </a:pPr>
            <a:r>
              <a:rPr lang="en-US" b="1" dirty="0"/>
              <a:t>Use de-normalization when:</a:t>
            </a:r>
          </a:p>
          <a:p>
            <a:pPr lvl="1">
              <a:buFont typeface="Wingdings" panose="05000000000000000000" pitchFamily="2" charset="2"/>
              <a:buChar char="Ø"/>
            </a:pPr>
            <a:r>
              <a:rPr lang="en-US" dirty="0"/>
              <a:t> </a:t>
            </a:r>
            <a:r>
              <a:rPr lang="en-US" sz="2000" dirty="0"/>
              <a:t>Read operations are much more frequent than updates.</a:t>
            </a:r>
          </a:p>
          <a:p>
            <a:pPr lvl="1">
              <a:buFont typeface="Wingdings" panose="05000000000000000000" pitchFamily="2" charset="2"/>
              <a:buChar char="Ø"/>
            </a:pPr>
            <a:r>
              <a:rPr lang="en-US" sz="2000" dirty="0"/>
              <a:t> Query performance is more important than storage space.</a:t>
            </a:r>
          </a:p>
          <a:p>
            <a:pPr lvl="1">
              <a:buFont typeface="Wingdings" panose="05000000000000000000" pitchFamily="2" charset="2"/>
              <a:buChar char="Ø"/>
            </a:pPr>
            <a:r>
              <a:rPr lang="en-US" sz="2000" dirty="0"/>
              <a:t> Reporting and analytics require many joins.</a:t>
            </a:r>
          </a:p>
          <a:p>
            <a:pPr lvl="1">
              <a:buFont typeface="Wingdings" panose="05000000000000000000" pitchFamily="2" charset="2"/>
              <a:buChar char="Ø"/>
            </a:pPr>
            <a:r>
              <a:rPr lang="en-US" sz="2000" dirty="0"/>
              <a:t> Aggregate values are repeatedly calculated.</a:t>
            </a:r>
          </a:p>
          <a:p>
            <a:r>
              <a:rPr lang="en-US" b="1" dirty="0"/>
              <a:t>Avoid de-normalization when:</a:t>
            </a:r>
          </a:p>
          <a:p>
            <a:pPr lvl="1">
              <a:buFont typeface="Wingdings" panose="05000000000000000000" pitchFamily="2" charset="2"/>
              <a:buChar char="Ø"/>
            </a:pPr>
            <a:r>
              <a:rPr lang="en-US" dirty="0"/>
              <a:t> </a:t>
            </a:r>
            <a:r>
              <a:rPr lang="en-US" sz="2000" dirty="0"/>
              <a:t>Data changes frequently.</a:t>
            </a:r>
          </a:p>
          <a:p>
            <a:pPr lvl="1">
              <a:buFont typeface="Wingdings" panose="05000000000000000000" pitchFamily="2" charset="2"/>
              <a:buChar char="Ø"/>
            </a:pPr>
            <a:r>
              <a:rPr lang="en-US" sz="2000" dirty="0"/>
              <a:t> Data consistency is critical.</a:t>
            </a:r>
          </a:p>
          <a:p>
            <a:pPr lvl="1">
              <a:buFont typeface="Wingdings" panose="05000000000000000000" pitchFamily="2" charset="2"/>
              <a:buChar char="Ø"/>
            </a:pPr>
            <a:r>
              <a:rPr lang="en-US" sz="2000" dirty="0"/>
              <a:t> The database is small and joins are inexpensive.</a:t>
            </a:r>
          </a:p>
          <a:p>
            <a:pPr>
              <a:buFont typeface="Wingdings" panose="05000000000000000000" pitchFamily="2" charset="2"/>
              <a:buChar char="Ø"/>
            </a:pPr>
            <a:endParaRPr lang="en-US" dirty="0"/>
          </a:p>
        </p:txBody>
      </p:sp>
    </p:spTree>
    <p:extLst>
      <p:ext uri="{BB962C8B-B14F-4D97-AF65-F5344CB8AC3E}">
        <p14:creationId xmlns:p14="http://schemas.microsoft.com/office/powerpoint/2010/main" val="320225477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C0027-FD1F-E75F-F4AE-4DAD1EF2BF68}"/>
              </a:ext>
            </a:extLst>
          </p:cNvPr>
          <p:cNvSpPr>
            <a:spLocks noGrp="1"/>
          </p:cNvSpPr>
          <p:nvPr>
            <p:ph type="title"/>
          </p:nvPr>
        </p:nvSpPr>
        <p:spPr/>
        <p:txBody>
          <a:bodyPr/>
          <a:lstStyle/>
          <a:p>
            <a:r>
              <a:rPr lang="en-US" dirty="0"/>
              <a:t>How is Denormalization done?</a:t>
            </a:r>
          </a:p>
        </p:txBody>
      </p:sp>
      <p:sp>
        <p:nvSpPr>
          <p:cNvPr id="3" name="Content Placeholder 2">
            <a:extLst>
              <a:ext uri="{FF2B5EF4-FFF2-40B4-BE49-F238E27FC236}">
                <a16:creationId xmlns:a16="http://schemas.microsoft.com/office/drawing/2014/main" id="{BA861A92-D128-A9B8-5FB9-386632B4862F}"/>
              </a:ext>
            </a:extLst>
          </p:cNvPr>
          <p:cNvSpPr>
            <a:spLocks noGrp="1"/>
          </p:cNvSpPr>
          <p:nvPr>
            <p:ph idx="1"/>
          </p:nvPr>
        </p:nvSpPr>
        <p:spPr>
          <a:xfrm>
            <a:off x="1097280" y="1851660"/>
            <a:ext cx="10370820" cy="4320540"/>
          </a:xfrm>
        </p:spPr>
        <p:txBody>
          <a:bodyPr/>
          <a:lstStyle/>
          <a:p>
            <a:r>
              <a:rPr lang="en-US" b="1" dirty="0"/>
              <a:t>Method 1: Merge Tables</a:t>
            </a:r>
          </a:p>
          <a:p>
            <a:r>
              <a:rPr lang="en-US" dirty="0"/>
              <a:t>Before: Student table</a:t>
            </a:r>
            <a:r>
              <a:rPr lang="en-US" b="1" dirty="0"/>
              <a:t> </a:t>
            </a:r>
            <a:r>
              <a:rPr lang="en-US" dirty="0"/>
              <a:t> + Department table </a:t>
            </a:r>
            <a:endParaRPr lang="en-US" b="1" dirty="0"/>
          </a:p>
          <a:p>
            <a:r>
              <a:rPr lang="en-US" dirty="0"/>
              <a:t>Later:  Student table with department information</a:t>
            </a:r>
          </a:p>
          <a:p>
            <a:r>
              <a:rPr lang="en-US" b="1" dirty="0"/>
              <a:t>Method 2: Duplicate Columns</a:t>
            </a:r>
          </a:p>
          <a:p>
            <a:r>
              <a:rPr lang="en-US" dirty="0"/>
              <a:t>Before: Customer table = </a:t>
            </a:r>
            <a:r>
              <a:rPr lang="en-US" dirty="0" err="1"/>
              <a:t>CustomerId</a:t>
            </a:r>
            <a:r>
              <a:rPr lang="en-US" dirty="0"/>
              <a:t>, Name</a:t>
            </a:r>
          </a:p>
          <a:p>
            <a:r>
              <a:rPr lang="en-US" dirty="0"/>
              <a:t>Later: Order table = </a:t>
            </a:r>
            <a:r>
              <a:rPr lang="en-US" dirty="0" err="1"/>
              <a:t>OrderId</a:t>
            </a:r>
            <a:r>
              <a:rPr lang="en-US" dirty="0"/>
              <a:t>, </a:t>
            </a:r>
            <a:r>
              <a:rPr lang="en-US" dirty="0" err="1"/>
              <a:t>CustomerID</a:t>
            </a:r>
            <a:r>
              <a:rPr lang="en-US" dirty="0"/>
              <a:t>, </a:t>
            </a:r>
            <a:r>
              <a:rPr lang="en-US" dirty="0" err="1"/>
              <a:t>CustomerName</a:t>
            </a:r>
            <a:r>
              <a:rPr lang="en-US" dirty="0"/>
              <a:t>   	// here </a:t>
            </a:r>
            <a:r>
              <a:rPr lang="en-US" dirty="0" err="1"/>
              <a:t>customerName</a:t>
            </a:r>
            <a:r>
              <a:rPr lang="en-US" dirty="0"/>
              <a:t> is duplicated.</a:t>
            </a:r>
          </a:p>
          <a:p>
            <a:r>
              <a:rPr lang="en-US" b="1" dirty="0"/>
              <a:t>Method 3: Store Calculated Values</a:t>
            </a:r>
          </a:p>
          <a:p>
            <a:r>
              <a:rPr lang="en-US" dirty="0"/>
              <a:t>Before: Quantity = 5, Price = 100, </a:t>
            </a:r>
            <a:r>
              <a:rPr lang="en-US" dirty="0" err="1"/>
              <a:t>Yotal</a:t>
            </a:r>
            <a:r>
              <a:rPr lang="en-US" dirty="0"/>
              <a:t> must be calculated in </a:t>
            </a:r>
            <a:r>
              <a:rPr lang="en-US" dirty="0" err="1"/>
              <a:t>SQl</a:t>
            </a:r>
            <a:r>
              <a:rPr lang="en-US" dirty="0"/>
              <a:t> as Quantity x Price</a:t>
            </a:r>
          </a:p>
          <a:p>
            <a:r>
              <a:rPr lang="en-US" dirty="0"/>
              <a:t>Denormalized: Store Quantity = 5, Price = 100, Total = 500.  this lets faster </a:t>
            </a:r>
            <a:r>
              <a:rPr lang="en-US" dirty="0" err="1"/>
              <a:t>retrival</a:t>
            </a:r>
            <a:endParaRPr lang="en-US" dirty="0"/>
          </a:p>
        </p:txBody>
      </p:sp>
    </p:spTree>
    <p:extLst>
      <p:ext uri="{BB962C8B-B14F-4D97-AF65-F5344CB8AC3E}">
        <p14:creationId xmlns:p14="http://schemas.microsoft.com/office/powerpoint/2010/main" val="423365248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96D26-B21F-56B7-33C3-B734F2F897AF}"/>
              </a:ext>
            </a:extLst>
          </p:cNvPr>
          <p:cNvSpPr>
            <a:spLocks noGrp="1"/>
          </p:cNvSpPr>
          <p:nvPr>
            <p:ph type="title"/>
          </p:nvPr>
        </p:nvSpPr>
        <p:spPr/>
        <p:txBody>
          <a:bodyPr/>
          <a:lstStyle/>
          <a:p>
            <a:r>
              <a:rPr lang="en-US" dirty="0"/>
              <a:t>Advantages and Disadvantages</a:t>
            </a:r>
          </a:p>
        </p:txBody>
      </p:sp>
      <p:sp>
        <p:nvSpPr>
          <p:cNvPr id="3" name="Content Placeholder 2">
            <a:extLst>
              <a:ext uri="{FF2B5EF4-FFF2-40B4-BE49-F238E27FC236}">
                <a16:creationId xmlns:a16="http://schemas.microsoft.com/office/drawing/2014/main" id="{50DE7FC5-7F03-5BD0-D904-11AC31E02083}"/>
              </a:ext>
            </a:extLst>
          </p:cNvPr>
          <p:cNvSpPr>
            <a:spLocks noGrp="1"/>
          </p:cNvSpPr>
          <p:nvPr>
            <p:ph sz="half" idx="1"/>
          </p:nvPr>
        </p:nvSpPr>
        <p:spPr/>
        <p:txBody>
          <a:bodyPr/>
          <a:lstStyle/>
          <a:p>
            <a:pPr>
              <a:buFont typeface="Wingdings" panose="05000000000000000000" pitchFamily="2" charset="2"/>
              <a:buChar char="§"/>
            </a:pPr>
            <a:r>
              <a:rPr lang="en-US" dirty="0"/>
              <a:t>Faster queries i.e. Less joining</a:t>
            </a:r>
          </a:p>
          <a:p>
            <a:pPr>
              <a:buFont typeface="Wingdings" panose="05000000000000000000" pitchFamily="2" charset="2"/>
              <a:buChar char="§"/>
            </a:pPr>
            <a:r>
              <a:rPr lang="en-US" dirty="0"/>
              <a:t>Better read performance i.e. Quick data retrieval</a:t>
            </a:r>
          </a:p>
          <a:p>
            <a:pPr>
              <a:buFont typeface="Wingdings" panose="05000000000000000000" pitchFamily="2" charset="2"/>
              <a:buChar char="§"/>
            </a:pPr>
            <a:r>
              <a:rPr lang="en-US" dirty="0"/>
              <a:t>Faster reporting i.e. Pre-computed data</a:t>
            </a:r>
          </a:p>
          <a:p>
            <a:pPr>
              <a:buFont typeface="Wingdings" panose="05000000000000000000" pitchFamily="2" charset="2"/>
              <a:buChar char="§"/>
            </a:pPr>
            <a:r>
              <a:rPr lang="en-US" dirty="0"/>
              <a:t>Reduced join operations i.e. Less CPU usage</a:t>
            </a:r>
          </a:p>
          <a:p>
            <a:pPr>
              <a:buFont typeface="Wingdings" panose="05000000000000000000" pitchFamily="2" charset="2"/>
              <a:buChar char="§"/>
            </a:pPr>
            <a:r>
              <a:rPr lang="en-US" dirty="0"/>
              <a:t>Useful in data warehouses i.e. Efficient analytics</a:t>
            </a:r>
          </a:p>
          <a:p>
            <a:pPr>
              <a:buFont typeface="Wingdings" panose="05000000000000000000" pitchFamily="2" charset="2"/>
              <a:buChar char="§"/>
            </a:pPr>
            <a:endParaRPr lang="en-US" dirty="0"/>
          </a:p>
        </p:txBody>
      </p:sp>
      <p:sp>
        <p:nvSpPr>
          <p:cNvPr id="4" name="Content Placeholder 3">
            <a:extLst>
              <a:ext uri="{FF2B5EF4-FFF2-40B4-BE49-F238E27FC236}">
                <a16:creationId xmlns:a16="http://schemas.microsoft.com/office/drawing/2014/main" id="{8A3ED692-036D-EC4A-9CA6-93D681F4AA55}"/>
              </a:ext>
            </a:extLst>
          </p:cNvPr>
          <p:cNvSpPr>
            <a:spLocks noGrp="1"/>
          </p:cNvSpPr>
          <p:nvPr>
            <p:ph sz="half" idx="2"/>
          </p:nvPr>
        </p:nvSpPr>
        <p:spPr/>
        <p:txBody>
          <a:bodyPr/>
          <a:lstStyle/>
          <a:p>
            <a:pPr>
              <a:buFont typeface="Wingdings" panose="05000000000000000000" pitchFamily="2" charset="2"/>
              <a:buChar char="§"/>
            </a:pPr>
            <a:r>
              <a:rPr lang="en-US" dirty="0"/>
              <a:t>Data redundancy i.e. Same data stored multiple times</a:t>
            </a:r>
          </a:p>
          <a:p>
            <a:pPr>
              <a:buFont typeface="Wingdings" panose="05000000000000000000" pitchFamily="2" charset="2"/>
              <a:buChar char="§"/>
            </a:pPr>
            <a:r>
              <a:rPr lang="en-US" dirty="0"/>
              <a:t>More storage required i.e. Duplicate data occupies space</a:t>
            </a:r>
          </a:p>
          <a:p>
            <a:pPr>
              <a:buFont typeface="Wingdings" panose="05000000000000000000" pitchFamily="2" charset="2"/>
              <a:buChar char="§"/>
            </a:pPr>
            <a:r>
              <a:rPr lang="en-US" dirty="0"/>
              <a:t>Update anomalies i.e. Must update data in many places</a:t>
            </a:r>
          </a:p>
          <a:p>
            <a:pPr>
              <a:buFont typeface="Wingdings" panose="05000000000000000000" pitchFamily="2" charset="2"/>
              <a:buChar char="§"/>
            </a:pPr>
            <a:r>
              <a:rPr lang="en-US" dirty="0"/>
              <a:t>Data inconsistency risk i.e. Different copies may not match</a:t>
            </a:r>
          </a:p>
          <a:p>
            <a:pPr>
              <a:buFont typeface="Wingdings" panose="05000000000000000000" pitchFamily="2" charset="2"/>
              <a:buChar char="§"/>
            </a:pPr>
            <a:r>
              <a:rPr lang="en-US" dirty="0"/>
              <a:t>More maintenance i.e. Synchronization becomes difficult</a:t>
            </a:r>
          </a:p>
          <a:p>
            <a:pPr>
              <a:buFont typeface="Wingdings" panose="05000000000000000000" pitchFamily="2" charset="2"/>
              <a:buChar char="§"/>
            </a:pPr>
            <a:endParaRPr lang="en-US" dirty="0"/>
          </a:p>
        </p:txBody>
      </p:sp>
    </p:spTree>
    <p:extLst>
      <p:ext uri="{BB962C8B-B14F-4D97-AF65-F5344CB8AC3E}">
        <p14:creationId xmlns:p14="http://schemas.microsoft.com/office/powerpoint/2010/main" val="319783888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A69D7-7613-EC69-38E4-90FE1413B8B8}"/>
              </a:ext>
            </a:extLst>
          </p:cNvPr>
          <p:cNvSpPr>
            <a:spLocks noGrp="1"/>
          </p:cNvSpPr>
          <p:nvPr>
            <p:ph type="title"/>
          </p:nvPr>
        </p:nvSpPr>
        <p:spPr/>
        <p:txBody>
          <a:bodyPr/>
          <a:lstStyle/>
          <a:p>
            <a:r>
              <a:rPr lang="en-US" dirty="0"/>
              <a:t>Case 1: Ecommerce Website</a:t>
            </a:r>
          </a:p>
        </p:txBody>
      </p:sp>
      <p:sp>
        <p:nvSpPr>
          <p:cNvPr id="3" name="Content Placeholder 2">
            <a:extLst>
              <a:ext uri="{FF2B5EF4-FFF2-40B4-BE49-F238E27FC236}">
                <a16:creationId xmlns:a16="http://schemas.microsoft.com/office/drawing/2014/main" id="{5C6C4CCF-C846-C9E2-66AB-AEE0CC790B61}"/>
              </a:ext>
            </a:extLst>
          </p:cNvPr>
          <p:cNvSpPr>
            <a:spLocks noGrp="1"/>
          </p:cNvSpPr>
          <p:nvPr>
            <p:ph idx="1"/>
          </p:nvPr>
        </p:nvSpPr>
        <p:spPr>
          <a:xfrm>
            <a:off x="449580" y="1845734"/>
            <a:ext cx="10058400" cy="4459816"/>
          </a:xfrm>
        </p:spPr>
        <p:txBody>
          <a:bodyPr>
            <a:normAutofit lnSpcReduction="10000"/>
          </a:bodyPr>
          <a:lstStyle/>
          <a:p>
            <a:r>
              <a:rPr lang="en-US" dirty="0"/>
              <a:t>A common misconception is that de-normalization means "randomly merging tables."</a:t>
            </a:r>
          </a:p>
          <a:p>
            <a:r>
              <a:rPr lang="en-US" dirty="0"/>
              <a:t>In reality, de-normalization is a </a:t>
            </a:r>
            <a:r>
              <a:rPr lang="en-US" b="1" dirty="0"/>
              <a:t>carefully planned optimization technique</a:t>
            </a:r>
            <a:r>
              <a:rPr lang="en-US" dirty="0"/>
              <a:t> where data is duplicated or precomputed to improve performance.</a:t>
            </a:r>
          </a:p>
          <a:p>
            <a:endParaRPr lang="en-US" dirty="0"/>
          </a:p>
          <a:p>
            <a:endParaRPr lang="en-US" dirty="0"/>
          </a:p>
          <a:p>
            <a:r>
              <a:rPr lang="en-US" dirty="0"/>
              <a:t>To display orders: </a:t>
            </a:r>
          </a:p>
          <a:p>
            <a:r>
              <a:rPr lang="en-US" dirty="0"/>
              <a:t>SELECT </a:t>
            </a:r>
            <a:r>
              <a:rPr lang="en-US" dirty="0" err="1"/>
              <a:t>O.OrderID</a:t>
            </a:r>
            <a:r>
              <a:rPr lang="en-US" dirty="0"/>
              <a:t>, </a:t>
            </a:r>
            <a:r>
              <a:rPr lang="en-US" dirty="0" err="1"/>
              <a:t>C.Name</a:t>
            </a:r>
            <a:endParaRPr lang="en-US" dirty="0"/>
          </a:p>
          <a:p>
            <a:r>
              <a:rPr lang="en-US" dirty="0"/>
              <a:t>FROM Orders O</a:t>
            </a:r>
          </a:p>
          <a:p>
            <a:r>
              <a:rPr lang="en-US" dirty="0"/>
              <a:t>JOIN Customer C</a:t>
            </a:r>
          </a:p>
          <a:p>
            <a:r>
              <a:rPr lang="en-US" dirty="0"/>
              <a:t>ON </a:t>
            </a:r>
            <a:r>
              <a:rPr lang="en-US" dirty="0" err="1"/>
              <a:t>O.CustomerID</a:t>
            </a:r>
            <a:r>
              <a:rPr lang="en-US" dirty="0"/>
              <a:t> = </a:t>
            </a:r>
            <a:r>
              <a:rPr lang="en-US" dirty="0" err="1"/>
              <a:t>C.CustomerID</a:t>
            </a:r>
            <a:r>
              <a:rPr lang="en-US" dirty="0"/>
              <a:t>;</a:t>
            </a:r>
          </a:p>
          <a:p>
            <a:r>
              <a:rPr lang="en-US" dirty="0"/>
              <a:t>Every order lookup requires a join.</a:t>
            </a:r>
          </a:p>
          <a:p>
            <a:endParaRPr lang="en-US" dirty="0"/>
          </a:p>
        </p:txBody>
      </p:sp>
      <p:graphicFrame>
        <p:nvGraphicFramePr>
          <p:cNvPr id="4" name="Table 3">
            <a:extLst>
              <a:ext uri="{FF2B5EF4-FFF2-40B4-BE49-F238E27FC236}">
                <a16:creationId xmlns:a16="http://schemas.microsoft.com/office/drawing/2014/main" id="{964FC29D-A59C-3435-98C6-CF8E20AFED38}"/>
              </a:ext>
            </a:extLst>
          </p:cNvPr>
          <p:cNvGraphicFramePr>
            <a:graphicFrameLocks noGrp="1"/>
          </p:cNvGraphicFramePr>
          <p:nvPr>
            <p:extLst>
              <p:ext uri="{D42A27DB-BD31-4B8C-83A1-F6EECF244321}">
                <p14:modId xmlns:p14="http://schemas.microsoft.com/office/powerpoint/2010/main" val="1578618372"/>
              </p:ext>
            </p:extLst>
          </p:nvPr>
        </p:nvGraphicFramePr>
        <p:xfrm>
          <a:off x="259080" y="2896024"/>
          <a:ext cx="2255520" cy="789940"/>
        </p:xfrm>
        <a:graphic>
          <a:graphicData uri="http://schemas.openxmlformats.org/drawingml/2006/table">
            <a:tbl>
              <a:tblPr firstRow="1" bandRow="1">
                <a:tableStyleId>{5C22544A-7EE6-4342-B048-85BDC9FD1C3A}</a:tableStyleId>
              </a:tblPr>
              <a:tblGrid>
                <a:gridCol w="1379220">
                  <a:extLst>
                    <a:ext uri="{9D8B030D-6E8A-4147-A177-3AD203B41FA5}">
                      <a16:colId xmlns:a16="http://schemas.microsoft.com/office/drawing/2014/main" val="2040229021"/>
                    </a:ext>
                  </a:extLst>
                </a:gridCol>
                <a:gridCol w="876300">
                  <a:extLst>
                    <a:ext uri="{9D8B030D-6E8A-4147-A177-3AD203B41FA5}">
                      <a16:colId xmlns:a16="http://schemas.microsoft.com/office/drawing/2014/main" val="3239583176"/>
                    </a:ext>
                  </a:extLst>
                </a:gridCol>
              </a:tblGrid>
              <a:tr h="394970">
                <a:tc>
                  <a:txBody>
                    <a:bodyPr/>
                    <a:lstStyle/>
                    <a:p>
                      <a:pPr>
                        <a:buNone/>
                      </a:pPr>
                      <a:r>
                        <a:rPr lang="en-US" dirty="0" err="1"/>
                        <a:t>CustomerID</a:t>
                      </a:r>
                      <a:endParaRPr lang="en-US" dirty="0"/>
                    </a:p>
                  </a:txBody>
                  <a:tcPr anchor="ctr"/>
                </a:tc>
                <a:tc>
                  <a:txBody>
                    <a:bodyPr/>
                    <a:lstStyle/>
                    <a:p>
                      <a:pPr>
                        <a:buNone/>
                      </a:pPr>
                      <a:r>
                        <a:rPr lang="en-US"/>
                        <a:t>Name</a:t>
                      </a:r>
                    </a:p>
                  </a:txBody>
                  <a:tcPr anchor="ctr"/>
                </a:tc>
                <a:extLst>
                  <a:ext uri="{0D108BD9-81ED-4DB2-BD59-A6C34878D82A}">
                    <a16:rowId xmlns:a16="http://schemas.microsoft.com/office/drawing/2014/main" val="3516263431"/>
                  </a:ext>
                </a:extLst>
              </a:tr>
              <a:tr h="394970">
                <a:tc>
                  <a:txBody>
                    <a:bodyPr/>
                    <a:lstStyle/>
                    <a:p>
                      <a:pPr>
                        <a:buNone/>
                      </a:pPr>
                      <a:r>
                        <a:rPr lang="en-US"/>
                        <a:t>101</a:t>
                      </a:r>
                    </a:p>
                  </a:txBody>
                  <a:tcPr anchor="ctr"/>
                </a:tc>
                <a:tc>
                  <a:txBody>
                    <a:bodyPr/>
                    <a:lstStyle/>
                    <a:p>
                      <a:pPr>
                        <a:buNone/>
                      </a:pPr>
                      <a:r>
                        <a:rPr lang="en-US" dirty="0"/>
                        <a:t>Ram</a:t>
                      </a:r>
                    </a:p>
                  </a:txBody>
                  <a:tcPr anchor="ctr"/>
                </a:tc>
                <a:extLst>
                  <a:ext uri="{0D108BD9-81ED-4DB2-BD59-A6C34878D82A}">
                    <a16:rowId xmlns:a16="http://schemas.microsoft.com/office/drawing/2014/main" val="2556342179"/>
                  </a:ext>
                </a:extLst>
              </a:tr>
            </a:tbl>
          </a:graphicData>
        </a:graphic>
      </p:graphicFrame>
      <p:graphicFrame>
        <p:nvGraphicFramePr>
          <p:cNvPr id="6" name="Table 5">
            <a:extLst>
              <a:ext uri="{FF2B5EF4-FFF2-40B4-BE49-F238E27FC236}">
                <a16:creationId xmlns:a16="http://schemas.microsoft.com/office/drawing/2014/main" id="{EBD03484-C9D1-25EC-4A31-9ABF13D2C234}"/>
              </a:ext>
            </a:extLst>
          </p:cNvPr>
          <p:cNvGraphicFramePr>
            <a:graphicFrameLocks noGrp="1"/>
          </p:cNvGraphicFramePr>
          <p:nvPr>
            <p:extLst>
              <p:ext uri="{D42A27DB-BD31-4B8C-83A1-F6EECF244321}">
                <p14:modId xmlns:p14="http://schemas.microsoft.com/office/powerpoint/2010/main" val="1226436494"/>
              </p:ext>
            </p:extLst>
          </p:nvPr>
        </p:nvGraphicFramePr>
        <p:xfrm>
          <a:off x="2701290" y="2877398"/>
          <a:ext cx="2586990" cy="789940"/>
        </p:xfrm>
        <a:graphic>
          <a:graphicData uri="http://schemas.openxmlformats.org/drawingml/2006/table">
            <a:tbl>
              <a:tblPr firstRow="1" bandRow="1">
                <a:tableStyleId>{5C22544A-7EE6-4342-B048-85BDC9FD1C3A}</a:tableStyleId>
              </a:tblPr>
              <a:tblGrid>
                <a:gridCol w="967740">
                  <a:extLst>
                    <a:ext uri="{9D8B030D-6E8A-4147-A177-3AD203B41FA5}">
                      <a16:colId xmlns:a16="http://schemas.microsoft.com/office/drawing/2014/main" val="2040229021"/>
                    </a:ext>
                  </a:extLst>
                </a:gridCol>
                <a:gridCol w="1619250">
                  <a:extLst>
                    <a:ext uri="{9D8B030D-6E8A-4147-A177-3AD203B41FA5}">
                      <a16:colId xmlns:a16="http://schemas.microsoft.com/office/drawing/2014/main" val="3239583176"/>
                    </a:ext>
                  </a:extLst>
                </a:gridCol>
              </a:tblGrid>
              <a:tr h="394970">
                <a:tc>
                  <a:txBody>
                    <a:bodyPr/>
                    <a:lstStyle/>
                    <a:p>
                      <a:pPr>
                        <a:buNone/>
                      </a:pPr>
                      <a:r>
                        <a:rPr lang="en-US" dirty="0" err="1"/>
                        <a:t>OrderID</a:t>
                      </a:r>
                      <a:endParaRPr lang="en-US" dirty="0"/>
                    </a:p>
                  </a:txBody>
                  <a:tcPr anchor="ctr"/>
                </a:tc>
                <a:tc>
                  <a:txBody>
                    <a:bodyPr/>
                    <a:lstStyle/>
                    <a:p>
                      <a:pPr>
                        <a:buNone/>
                      </a:pPr>
                      <a:r>
                        <a:rPr lang="en-US"/>
                        <a:t>CustomerID</a:t>
                      </a:r>
                    </a:p>
                  </a:txBody>
                  <a:tcPr anchor="ctr"/>
                </a:tc>
                <a:extLst>
                  <a:ext uri="{0D108BD9-81ED-4DB2-BD59-A6C34878D82A}">
                    <a16:rowId xmlns:a16="http://schemas.microsoft.com/office/drawing/2014/main" val="3516263431"/>
                  </a:ext>
                </a:extLst>
              </a:tr>
              <a:tr h="394970">
                <a:tc>
                  <a:txBody>
                    <a:bodyPr/>
                    <a:lstStyle/>
                    <a:p>
                      <a:pPr>
                        <a:buNone/>
                      </a:pPr>
                      <a:r>
                        <a:rPr lang="en-US"/>
                        <a:t>5001</a:t>
                      </a:r>
                    </a:p>
                  </a:txBody>
                  <a:tcPr anchor="ctr"/>
                </a:tc>
                <a:tc>
                  <a:txBody>
                    <a:bodyPr/>
                    <a:lstStyle/>
                    <a:p>
                      <a:pPr>
                        <a:buNone/>
                      </a:pPr>
                      <a:r>
                        <a:rPr lang="en-US" dirty="0"/>
                        <a:t>101</a:t>
                      </a:r>
                    </a:p>
                  </a:txBody>
                  <a:tcPr anchor="ctr"/>
                </a:tc>
                <a:extLst>
                  <a:ext uri="{0D108BD9-81ED-4DB2-BD59-A6C34878D82A}">
                    <a16:rowId xmlns:a16="http://schemas.microsoft.com/office/drawing/2014/main" val="2556342179"/>
                  </a:ext>
                </a:extLst>
              </a:tr>
            </a:tbl>
          </a:graphicData>
        </a:graphic>
      </p:graphicFrame>
      <p:graphicFrame>
        <p:nvGraphicFramePr>
          <p:cNvPr id="8" name="Table 7">
            <a:extLst>
              <a:ext uri="{FF2B5EF4-FFF2-40B4-BE49-F238E27FC236}">
                <a16:creationId xmlns:a16="http://schemas.microsoft.com/office/drawing/2014/main" id="{C193584D-B93D-3D3D-8FEC-6697D88C4F14}"/>
              </a:ext>
            </a:extLst>
          </p:cNvPr>
          <p:cNvGraphicFramePr>
            <a:graphicFrameLocks noGrp="1"/>
          </p:cNvGraphicFramePr>
          <p:nvPr>
            <p:extLst>
              <p:ext uri="{D42A27DB-BD31-4B8C-83A1-F6EECF244321}">
                <p14:modId xmlns:p14="http://schemas.microsoft.com/office/powerpoint/2010/main" val="2008706547"/>
              </p:ext>
            </p:extLst>
          </p:nvPr>
        </p:nvGraphicFramePr>
        <p:xfrm>
          <a:off x="7139940" y="2858772"/>
          <a:ext cx="4202431" cy="789940"/>
        </p:xfrm>
        <a:graphic>
          <a:graphicData uri="http://schemas.openxmlformats.org/drawingml/2006/table">
            <a:tbl>
              <a:tblPr firstRow="1" bandRow="1">
                <a:tableStyleId>{5C22544A-7EE6-4342-B048-85BDC9FD1C3A}</a:tableStyleId>
              </a:tblPr>
              <a:tblGrid>
                <a:gridCol w="975360">
                  <a:extLst>
                    <a:ext uri="{9D8B030D-6E8A-4147-A177-3AD203B41FA5}">
                      <a16:colId xmlns:a16="http://schemas.microsoft.com/office/drawing/2014/main" val="2040229021"/>
                    </a:ext>
                  </a:extLst>
                </a:gridCol>
                <a:gridCol w="1336156">
                  <a:extLst>
                    <a:ext uri="{9D8B030D-6E8A-4147-A177-3AD203B41FA5}">
                      <a16:colId xmlns:a16="http://schemas.microsoft.com/office/drawing/2014/main" val="3572945836"/>
                    </a:ext>
                  </a:extLst>
                </a:gridCol>
                <a:gridCol w="1890915">
                  <a:extLst>
                    <a:ext uri="{9D8B030D-6E8A-4147-A177-3AD203B41FA5}">
                      <a16:colId xmlns:a16="http://schemas.microsoft.com/office/drawing/2014/main" val="3239583176"/>
                    </a:ext>
                  </a:extLst>
                </a:gridCol>
              </a:tblGrid>
              <a:tr h="394970">
                <a:tc>
                  <a:txBody>
                    <a:bodyPr/>
                    <a:lstStyle/>
                    <a:p>
                      <a:pPr>
                        <a:buNone/>
                      </a:pPr>
                      <a:r>
                        <a:rPr lang="en-US"/>
                        <a:t>OrderID</a:t>
                      </a:r>
                    </a:p>
                  </a:txBody>
                  <a:tcPr anchor="ctr"/>
                </a:tc>
                <a:tc>
                  <a:txBody>
                    <a:bodyPr/>
                    <a:lstStyle/>
                    <a:p>
                      <a:pPr>
                        <a:buNone/>
                      </a:pPr>
                      <a:r>
                        <a:rPr lang="en-US"/>
                        <a:t>CustomerID</a:t>
                      </a:r>
                    </a:p>
                  </a:txBody>
                  <a:tcPr anchor="ctr"/>
                </a:tc>
                <a:tc>
                  <a:txBody>
                    <a:bodyPr/>
                    <a:lstStyle/>
                    <a:p>
                      <a:pPr>
                        <a:buNone/>
                      </a:pPr>
                      <a:r>
                        <a:rPr lang="en-US"/>
                        <a:t>CustomerName</a:t>
                      </a:r>
                    </a:p>
                  </a:txBody>
                  <a:tcPr anchor="ctr"/>
                </a:tc>
                <a:extLst>
                  <a:ext uri="{0D108BD9-81ED-4DB2-BD59-A6C34878D82A}">
                    <a16:rowId xmlns:a16="http://schemas.microsoft.com/office/drawing/2014/main" val="3516263431"/>
                  </a:ext>
                </a:extLst>
              </a:tr>
              <a:tr h="394970">
                <a:tc>
                  <a:txBody>
                    <a:bodyPr/>
                    <a:lstStyle/>
                    <a:p>
                      <a:pPr>
                        <a:buNone/>
                      </a:pPr>
                      <a:r>
                        <a:rPr lang="en-US"/>
                        <a:t>5001</a:t>
                      </a:r>
                    </a:p>
                  </a:txBody>
                  <a:tcPr anchor="ctr"/>
                </a:tc>
                <a:tc>
                  <a:txBody>
                    <a:bodyPr/>
                    <a:lstStyle/>
                    <a:p>
                      <a:pPr>
                        <a:buNone/>
                      </a:pPr>
                      <a:r>
                        <a:rPr lang="en-US"/>
                        <a:t>101</a:t>
                      </a:r>
                    </a:p>
                  </a:txBody>
                  <a:tcPr anchor="ctr"/>
                </a:tc>
                <a:tc>
                  <a:txBody>
                    <a:bodyPr/>
                    <a:lstStyle/>
                    <a:p>
                      <a:pPr>
                        <a:buNone/>
                      </a:pPr>
                      <a:r>
                        <a:rPr lang="en-US" dirty="0"/>
                        <a:t>Ram</a:t>
                      </a:r>
                    </a:p>
                  </a:txBody>
                  <a:tcPr anchor="ctr"/>
                </a:tc>
                <a:extLst>
                  <a:ext uri="{0D108BD9-81ED-4DB2-BD59-A6C34878D82A}">
                    <a16:rowId xmlns:a16="http://schemas.microsoft.com/office/drawing/2014/main" val="2556342179"/>
                  </a:ext>
                </a:extLst>
              </a:tr>
            </a:tbl>
          </a:graphicData>
        </a:graphic>
      </p:graphicFrame>
      <p:sp>
        <p:nvSpPr>
          <p:cNvPr id="10" name="TextBox 9">
            <a:extLst>
              <a:ext uri="{FF2B5EF4-FFF2-40B4-BE49-F238E27FC236}">
                <a16:creationId xmlns:a16="http://schemas.microsoft.com/office/drawing/2014/main" id="{B9006EB6-0F96-9AF6-F485-87BF20B5211C}"/>
              </a:ext>
            </a:extLst>
          </p:cNvPr>
          <p:cNvSpPr txBox="1"/>
          <p:nvPr/>
        </p:nvSpPr>
        <p:spPr>
          <a:xfrm>
            <a:off x="7993380" y="3648712"/>
            <a:ext cx="6096000" cy="369332"/>
          </a:xfrm>
          <a:prstGeom prst="rect">
            <a:avLst/>
          </a:prstGeom>
          <a:noFill/>
        </p:spPr>
        <p:txBody>
          <a:bodyPr wrap="square">
            <a:spAutoFit/>
          </a:bodyPr>
          <a:lstStyle/>
          <a:p>
            <a:r>
              <a:rPr lang="en-US" dirty="0"/>
              <a:t>De-normalized Design</a:t>
            </a:r>
          </a:p>
        </p:txBody>
      </p:sp>
      <p:sp>
        <p:nvSpPr>
          <p:cNvPr id="12" name="TextBox 11">
            <a:extLst>
              <a:ext uri="{FF2B5EF4-FFF2-40B4-BE49-F238E27FC236}">
                <a16:creationId xmlns:a16="http://schemas.microsoft.com/office/drawing/2014/main" id="{BD63382A-E53C-08D0-DF4C-9F417874B042}"/>
              </a:ext>
            </a:extLst>
          </p:cNvPr>
          <p:cNvSpPr txBox="1"/>
          <p:nvPr/>
        </p:nvSpPr>
        <p:spPr>
          <a:xfrm>
            <a:off x="7040880" y="4075642"/>
            <a:ext cx="3836670" cy="923330"/>
          </a:xfrm>
          <a:prstGeom prst="rect">
            <a:avLst/>
          </a:prstGeom>
          <a:noFill/>
        </p:spPr>
        <p:txBody>
          <a:bodyPr wrap="square">
            <a:spAutoFit/>
          </a:bodyPr>
          <a:lstStyle/>
          <a:p>
            <a:r>
              <a:rPr lang="en-US" dirty="0"/>
              <a:t>SELECT </a:t>
            </a:r>
            <a:r>
              <a:rPr lang="en-US" dirty="0" err="1"/>
              <a:t>OrderID</a:t>
            </a:r>
            <a:r>
              <a:rPr lang="en-US" dirty="0"/>
              <a:t>, </a:t>
            </a:r>
            <a:r>
              <a:rPr lang="en-US" dirty="0" err="1"/>
              <a:t>CustomerName</a:t>
            </a:r>
            <a:endParaRPr lang="en-US" dirty="0"/>
          </a:p>
          <a:p>
            <a:r>
              <a:rPr lang="en-US" dirty="0"/>
              <a:t>FROM Orders;</a:t>
            </a:r>
            <a:br>
              <a:rPr lang="en-US" dirty="0"/>
            </a:br>
            <a:r>
              <a:rPr lang="en-US" dirty="0"/>
              <a:t> Hence No joins required..</a:t>
            </a:r>
          </a:p>
        </p:txBody>
      </p:sp>
      <p:sp>
        <p:nvSpPr>
          <p:cNvPr id="14" name="TextBox 13">
            <a:extLst>
              <a:ext uri="{FF2B5EF4-FFF2-40B4-BE49-F238E27FC236}">
                <a16:creationId xmlns:a16="http://schemas.microsoft.com/office/drawing/2014/main" id="{ED98434E-369C-A67F-AA5E-166CE0785A1E}"/>
              </a:ext>
            </a:extLst>
          </p:cNvPr>
          <p:cNvSpPr txBox="1"/>
          <p:nvPr/>
        </p:nvSpPr>
        <p:spPr>
          <a:xfrm>
            <a:off x="5478780" y="4857021"/>
            <a:ext cx="6541770" cy="1477328"/>
          </a:xfrm>
          <a:prstGeom prst="rect">
            <a:avLst/>
          </a:prstGeom>
          <a:noFill/>
        </p:spPr>
        <p:txBody>
          <a:bodyPr wrap="square">
            <a:spAutoFit/>
          </a:bodyPr>
          <a:lstStyle/>
          <a:p>
            <a:pPr>
              <a:buNone/>
            </a:pPr>
            <a:r>
              <a:rPr lang="en-US" b="1" dirty="0"/>
              <a:t>Why?</a:t>
            </a:r>
          </a:p>
          <a:p>
            <a:pPr>
              <a:buNone/>
            </a:pPr>
            <a:r>
              <a:rPr lang="en-US" dirty="0"/>
              <a:t>An order is a historical record. Even if the customer later changes their name, many businesses want the original name preserved on the order.</a:t>
            </a:r>
          </a:p>
          <a:p>
            <a:pPr>
              <a:buNone/>
            </a:pPr>
            <a:r>
              <a:rPr lang="en-US" dirty="0"/>
              <a:t>Thus the duplicated data is actually useful.</a:t>
            </a:r>
          </a:p>
        </p:txBody>
      </p:sp>
    </p:spTree>
    <p:extLst>
      <p:ext uri="{BB962C8B-B14F-4D97-AF65-F5344CB8AC3E}">
        <p14:creationId xmlns:p14="http://schemas.microsoft.com/office/powerpoint/2010/main" val="4117126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4594B-475F-5D91-B457-42496519EB34}"/>
              </a:ext>
            </a:extLst>
          </p:cNvPr>
          <p:cNvSpPr>
            <a:spLocks noGrp="1"/>
          </p:cNvSpPr>
          <p:nvPr>
            <p:ph type="title"/>
          </p:nvPr>
        </p:nvSpPr>
        <p:spPr/>
        <p:txBody>
          <a:bodyPr/>
          <a:lstStyle/>
          <a:p>
            <a:r>
              <a:rPr lang="en-US" dirty="0"/>
              <a:t>Open-book test 3 questions</a:t>
            </a:r>
          </a:p>
        </p:txBody>
      </p:sp>
      <p:sp>
        <p:nvSpPr>
          <p:cNvPr id="3" name="Content Placeholder 2">
            <a:extLst>
              <a:ext uri="{FF2B5EF4-FFF2-40B4-BE49-F238E27FC236}">
                <a16:creationId xmlns:a16="http://schemas.microsoft.com/office/drawing/2014/main" id="{10F42793-697B-86AD-290B-824DF86A12A4}"/>
              </a:ext>
            </a:extLst>
          </p:cNvPr>
          <p:cNvSpPr>
            <a:spLocks noGrp="1"/>
          </p:cNvSpPr>
          <p:nvPr>
            <p:ph idx="1"/>
          </p:nvPr>
        </p:nvSpPr>
        <p:spPr>
          <a:xfrm>
            <a:off x="1097280" y="1845734"/>
            <a:ext cx="10058400" cy="4338498"/>
          </a:xfrm>
        </p:spPr>
        <p:txBody>
          <a:bodyPr>
            <a:normAutofit fontScale="85000" lnSpcReduction="20000"/>
          </a:bodyPr>
          <a:lstStyle/>
          <a:p>
            <a:r>
              <a:rPr lang="en-US" b="1" dirty="0"/>
              <a:t>Question 1: Integrity Constraints Analysis: </a:t>
            </a:r>
          </a:p>
          <a:p>
            <a:r>
              <a:rPr lang="en-US" dirty="0"/>
              <a:t>A university database contains the following </a:t>
            </a:r>
            <a:r>
              <a:rPr lang="en-US" dirty="0" err="1"/>
              <a:t>tables:</a:t>
            </a:r>
            <a:r>
              <a:rPr lang="en-US" b="1" dirty="0" err="1"/>
              <a:t>Student</a:t>
            </a:r>
            <a:r>
              <a:rPr lang="en-US" b="1" dirty="0"/>
              <a:t>(StudentID, Name, Email, </a:t>
            </a:r>
            <a:r>
              <a:rPr lang="en-US" b="1" dirty="0" err="1"/>
              <a:t>DeptID</a:t>
            </a:r>
            <a:r>
              <a:rPr lang="en-US" b="1" dirty="0"/>
              <a:t>)</a:t>
            </a:r>
            <a:endParaRPr lang="en-US" dirty="0"/>
          </a:p>
          <a:p>
            <a:r>
              <a:rPr lang="en-US" b="1" dirty="0"/>
              <a:t>Department(</a:t>
            </a:r>
            <a:r>
              <a:rPr lang="en-US" b="1" dirty="0" err="1"/>
              <a:t>DeptID</a:t>
            </a:r>
            <a:r>
              <a:rPr lang="en-US" b="1" dirty="0"/>
              <a:t>, </a:t>
            </a:r>
            <a:r>
              <a:rPr lang="en-US" b="1" dirty="0" err="1"/>
              <a:t>DeptName</a:t>
            </a:r>
            <a:r>
              <a:rPr lang="en-US" b="1" dirty="0"/>
              <a:t>) </a:t>
            </a:r>
            <a:r>
              <a:rPr lang="en-US" dirty="0"/>
              <a:t>Identify and explain:</a:t>
            </a:r>
          </a:p>
          <a:p>
            <a:pPr lvl="1"/>
            <a:r>
              <a:rPr lang="en-US" dirty="0"/>
              <a:t>Domain Constraints </a:t>
            </a:r>
          </a:p>
          <a:p>
            <a:pPr lvl="1"/>
            <a:r>
              <a:rPr lang="en-US" dirty="0"/>
              <a:t>Entity Integrity Constraints </a:t>
            </a:r>
          </a:p>
          <a:p>
            <a:pPr lvl="1"/>
            <a:r>
              <a:rPr lang="en-US" dirty="0"/>
              <a:t>Referential Integrity Constraints </a:t>
            </a:r>
          </a:p>
          <a:p>
            <a:r>
              <a:rPr lang="en-US" dirty="0"/>
              <a:t>for the above </a:t>
            </a:r>
            <a:r>
              <a:rPr lang="en-US" dirty="0" err="1"/>
              <a:t>schema.Further</a:t>
            </a:r>
            <a:r>
              <a:rPr lang="en-US" dirty="0"/>
              <a:t>, discuss what inconsistencies may arise if these constraints are violated.</a:t>
            </a:r>
          </a:p>
          <a:p>
            <a:r>
              <a:rPr lang="en-US" b="1" dirty="0"/>
              <a:t>Question 2: Functional Dependencies and Armstrong's Axioms: </a:t>
            </a:r>
            <a:r>
              <a:rPr lang="en-US" dirty="0"/>
              <a:t>Consider the relation: </a:t>
            </a:r>
            <a:r>
              <a:rPr lang="en-US" b="1" dirty="0"/>
              <a:t>R(A, B, C, D, E) </a:t>
            </a:r>
            <a:r>
              <a:rPr lang="en-US" dirty="0"/>
              <a:t>with Functional Dependencies:</a:t>
            </a:r>
          </a:p>
          <a:p>
            <a:pPr lvl="1"/>
            <a:r>
              <a:rPr lang="en-US" dirty="0"/>
              <a:t>A → BC </a:t>
            </a:r>
          </a:p>
          <a:p>
            <a:pPr lvl="1"/>
            <a:r>
              <a:rPr lang="en-US" dirty="0"/>
              <a:t>B → D </a:t>
            </a:r>
          </a:p>
          <a:p>
            <a:pPr lvl="1"/>
            <a:r>
              <a:rPr lang="en-US" dirty="0"/>
              <a:t>CD → E </a:t>
            </a:r>
          </a:p>
          <a:p>
            <a:r>
              <a:rPr lang="en-US" dirty="0"/>
              <a:t>Using Armstrong's Axioms, derive:</a:t>
            </a:r>
          </a:p>
          <a:p>
            <a:pPr lvl="1"/>
            <a:r>
              <a:rPr lang="en-US" dirty="0"/>
              <a:t>A → D , A → E </a:t>
            </a:r>
          </a:p>
          <a:p>
            <a:r>
              <a:rPr lang="en-US" dirty="0"/>
              <a:t>Show all intermediate steps and specify which axiom is used at each step.</a:t>
            </a:r>
          </a:p>
          <a:p>
            <a:endParaRPr lang="en-US" dirty="0"/>
          </a:p>
        </p:txBody>
      </p:sp>
    </p:spTree>
    <p:extLst>
      <p:ext uri="{BB962C8B-B14F-4D97-AF65-F5344CB8AC3E}">
        <p14:creationId xmlns:p14="http://schemas.microsoft.com/office/powerpoint/2010/main" val="9157259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D4D9D-5B59-3968-0D05-AB01C04134D5}"/>
              </a:ext>
            </a:extLst>
          </p:cNvPr>
          <p:cNvSpPr>
            <a:spLocks noGrp="1"/>
          </p:cNvSpPr>
          <p:nvPr>
            <p:ph type="title"/>
          </p:nvPr>
        </p:nvSpPr>
        <p:spPr/>
        <p:txBody>
          <a:bodyPr/>
          <a:lstStyle/>
          <a:p>
            <a:r>
              <a:rPr lang="en-US" dirty="0"/>
              <a:t>Open-book test 3 questions</a:t>
            </a:r>
          </a:p>
        </p:txBody>
      </p:sp>
      <p:sp>
        <p:nvSpPr>
          <p:cNvPr id="3" name="Content Placeholder 2">
            <a:extLst>
              <a:ext uri="{FF2B5EF4-FFF2-40B4-BE49-F238E27FC236}">
                <a16:creationId xmlns:a16="http://schemas.microsoft.com/office/drawing/2014/main" id="{EA44C390-0ADF-CDFC-BAEF-E800782DF423}"/>
              </a:ext>
            </a:extLst>
          </p:cNvPr>
          <p:cNvSpPr>
            <a:spLocks noGrp="1"/>
          </p:cNvSpPr>
          <p:nvPr>
            <p:ph idx="1"/>
          </p:nvPr>
        </p:nvSpPr>
        <p:spPr/>
        <p:txBody>
          <a:bodyPr>
            <a:normAutofit/>
          </a:bodyPr>
          <a:lstStyle/>
          <a:p>
            <a:r>
              <a:rPr lang="en-US" b="1" dirty="0"/>
              <a:t>Question 3: Closure and Candidate Keys: </a:t>
            </a:r>
            <a:r>
              <a:rPr lang="en-US" dirty="0"/>
              <a:t>Consider: </a:t>
            </a:r>
            <a:r>
              <a:rPr lang="en-US" b="1" dirty="0"/>
              <a:t>R(A, B, C, D, E, F)</a:t>
            </a:r>
            <a:endParaRPr lang="en-US" dirty="0"/>
          </a:p>
          <a:p>
            <a:r>
              <a:rPr lang="en-US" dirty="0"/>
              <a:t>Functional Dependencies:</a:t>
            </a:r>
          </a:p>
          <a:p>
            <a:pPr lvl="1"/>
            <a:r>
              <a:rPr lang="en-US" dirty="0"/>
              <a:t>A → BC </a:t>
            </a:r>
          </a:p>
          <a:p>
            <a:pPr lvl="1"/>
            <a:r>
              <a:rPr lang="en-US" dirty="0"/>
              <a:t>B → D </a:t>
            </a:r>
          </a:p>
          <a:p>
            <a:pPr lvl="1"/>
            <a:r>
              <a:rPr lang="en-US" dirty="0"/>
              <a:t>CD → E </a:t>
            </a:r>
          </a:p>
          <a:p>
            <a:pPr lvl="1"/>
            <a:r>
              <a:rPr lang="en-US" dirty="0"/>
              <a:t>E → F </a:t>
            </a:r>
          </a:p>
          <a:p>
            <a:r>
              <a:rPr lang="en-US" dirty="0"/>
              <a:t>Tasks: </a:t>
            </a:r>
          </a:p>
          <a:p>
            <a:pPr lvl="1"/>
            <a:r>
              <a:rPr lang="en-US" dirty="0"/>
              <a:t>Find A⁺. </a:t>
            </a:r>
          </a:p>
          <a:p>
            <a:pPr lvl="1"/>
            <a:r>
              <a:rPr lang="en-US" dirty="0"/>
              <a:t>Determine whether A is a candidate key. </a:t>
            </a:r>
          </a:p>
          <a:p>
            <a:pPr lvl="1"/>
            <a:r>
              <a:rPr lang="en-US" dirty="0"/>
              <a:t>Identify all candidate keys if any exist. </a:t>
            </a:r>
          </a:p>
          <a:p>
            <a:pPr lvl="1"/>
            <a:r>
              <a:rPr lang="en-US" dirty="0"/>
              <a:t>Explain the role of attribute closure in candidate key identification.</a:t>
            </a:r>
          </a:p>
          <a:p>
            <a:endParaRPr lang="en-US" dirty="0"/>
          </a:p>
        </p:txBody>
      </p:sp>
    </p:spTree>
    <p:extLst>
      <p:ext uri="{BB962C8B-B14F-4D97-AF65-F5344CB8AC3E}">
        <p14:creationId xmlns:p14="http://schemas.microsoft.com/office/powerpoint/2010/main" val="416271164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9E29D-542A-55FA-E3B3-8E167EC5D130}"/>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239D7CBE-8B9C-CF9A-4075-1F23775C2701}"/>
              </a:ext>
            </a:extLst>
          </p:cNvPr>
          <p:cNvSpPr>
            <a:spLocks noGrp="1"/>
          </p:cNvSpPr>
          <p:nvPr>
            <p:ph idx="1"/>
          </p:nvPr>
        </p:nvSpPr>
        <p:spPr/>
        <p:txBody>
          <a:bodyPr/>
          <a:lstStyle/>
          <a:p>
            <a:pPr marL="457200" indent="-457200">
              <a:buFont typeface="+mj-lt"/>
              <a:buAutoNum type="arabicPeriod"/>
            </a:pPr>
            <a:r>
              <a:rPr lang="en-US" dirty="0"/>
              <a:t>Is BCNF always better than 3NF? Justify your answer with examples. </a:t>
            </a:r>
          </a:p>
          <a:p>
            <a:pPr marL="457200" indent="-457200">
              <a:buFont typeface="+mj-lt"/>
              <a:buAutoNum type="arabicPeriod"/>
            </a:pPr>
            <a:r>
              <a:rPr lang="en-US" dirty="0"/>
              <a:t>Can de-normalization be considered the opposite of normalization? </a:t>
            </a:r>
          </a:p>
          <a:p>
            <a:pPr marL="457200" indent="-457200">
              <a:buFont typeface="+mj-lt"/>
              <a:buAutoNum type="arabicPeriod"/>
            </a:pPr>
            <a:r>
              <a:rPr lang="en-US" dirty="0"/>
              <a:t>Explain critically. Why can a relation be in 3NF but not in BCNF? </a:t>
            </a:r>
          </a:p>
          <a:p>
            <a:pPr marL="457200" indent="-457200">
              <a:buFont typeface="+mj-lt"/>
              <a:buAutoNum type="arabicPeriod"/>
            </a:pPr>
            <a:r>
              <a:rPr lang="en-US" dirty="0"/>
              <a:t>How do Functional Dependencies guide the normalization process? </a:t>
            </a:r>
          </a:p>
          <a:p>
            <a:pPr marL="457200" indent="-457200">
              <a:buFont typeface="+mj-lt"/>
              <a:buAutoNum type="arabicPeriod"/>
            </a:pPr>
            <a:r>
              <a:rPr lang="en-US" dirty="0"/>
              <a:t>In modern distributed databases, why might designers intentionally violate normalization principles? </a:t>
            </a:r>
          </a:p>
          <a:p>
            <a:pPr marL="457200" indent="-457200">
              <a:buFont typeface="+mj-lt"/>
              <a:buAutoNum type="arabicPeriod"/>
            </a:pPr>
            <a:r>
              <a:rPr lang="en-US" dirty="0"/>
              <a:t>Compare database triggers and application-level validation in maintaining data integrity.</a:t>
            </a:r>
          </a:p>
        </p:txBody>
      </p:sp>
    </p:spTree>
    <p:extLst>
      <p:ext uri="{BB962C8B-B14F-4D97-AF65-F5344CB8AC3E}">
        <p14:creationId xmlns:p14="http://schemas.microsoft.com/office/powerpoint/2010/main" val="17628865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04B32-A75B-D17A-492C-044FD891578B}"/>
              </a:ext>
            </a:extLst>
          </p:cNvPr>
          <p:cNvSpPr>
            <a:spLocks noGrp="1"/>
          </p:cNvSpPr>
          <p:nvPr>
            <p:ph type="title"/>
          </p:nvPr>
        </p:nvSpPr>
        <p:spPr/>
        <p:txBody>
          <a:bodyPr/>
          <a:lstStyle/>
          <a:p>
            <a:r>
              <a:rPr lang="en-US" dirty="0"/>
              <a:t>Conceptual Questions</a:t>
            </a:r>
          </a:p>
        </p:txBody>
      </p:sp>
      <p:sp>
        <p:nvSpPr>
          <p:cNvPr id="3" name="Content Placeholder 2">
            <a:extLst>
              <a:ext uri="{FF2B5EF4-FFF2-40B4-BE49-F238E27FC236}">
                <a16:creationId xmlns:a16="http://schemas.microsoft.com/office/drawing/2014/main" id="{9C7E9D15-CF37-99ED-D26E-46D14049A537}"/>
              </a:ext>
            </a:extLst>
          </p:cNvPr>
          <p:cNvSpPr>
            <a:spLocks noGrp="1"/>
          </p:cNvSpPr>
          <p:nvPr>
            <p:ph idx="1"/>
          </p:nvPr>
        </p:nvSpPr>
        <p:spPr>
          <a:xfrm>
            <a:off x="1097280" y="1845733"/>
            <a:ext cx="10565331" cy="4426729"/>
          </a:xfrm>
        </p:spPr>
        <p:txBody>
          <a:bodyPr>
            <a:normAutofit fontScale="77500" lnSpcReduction="20000"/>
          </a:bodyPr>
          <a:lstStyle/>
          <a:p>
            <a:pPr marL="457200" indent="-457200">
              <a:buFont typeface="+mj-lt"/>
              <a:buAutoNum type="arabicPeriod"/>
            </a:pPr>
            <a:r>
              <a:rPr lang="en-US" dirty="0"/>
              <a:t>Why are integrity constraints necessary in a database system? What problems can occur if they are not enforced?</a:t>
            </a:r>
            <a:endParaRPr lang="en-US" b="1" dirty="0"/>
          </a:p>
          <a:p>
            <a:pPr marL="457200" indent="-457200">
              <a:buFont typeface="+mj-lt"/>
              <a:buAutoNum type="arabicPeriod"/>
            </a:pPr>
            <a:r>
              <a:rPr lang="en-US" dirty="0"/>
              <a:t>Differentiate between Domain Constraints, Entity Integrity Constraints, and Referential Integrity Constraints with suitable examples.</a:t>
            </a:r>
            <a:endParaRPr lang="en-US" b="1" dirty="0"/>
          </a:p>
          <a:p>
            <a:pPr marL="457200" indent="-457200">
              <a:buFont typeface="+mj-lt"/>
              <a:buAutoNum type="arabicPeriod"/>
            </a:pPr>
            <a:r>
              <a:rPr lang="en-US" dirty="0"/>
              <a:t>Why must a primary key never contain NULL values? Explain from the perspective of Entity Integrity.</a:t>
            </a:r>
            <a:endParaRPr lang="en-US" b="1" dirty="0"/>
          </a:p>
          <a:p>
            <a:pPr marL="457200" indent="-457200">
              <a:buFont typeface="+mj-lt"/>
              <a:buAutoNum type="arabicPeriod"/>
            </a:pPr>
            <a:r>
              <a:rPr lang="en-US" dirty="0"/>
              <a:t>Consider a university database where a student record references a department record. Explain how Referential Integrity maintains consistency between the two tables. </a:t>
            </a:r>
          </a:p>
          <a:p>
            <a:pPr marL="457200" indent="-457200">
              <a:buFont typeface="+mj-lt"/>
              <a:buAutoNum type="arabicPeriod"/>
            </a:pPr>
            <a:r>
              <a:rPr lang="en-US" dirty="0"/>
              <a:t>Triggers are often called event-driven procedures. Justify this statement with examples.</a:t>
            </a:r>
          </a:p>
          <a:p>
            <a:pPr marL="457200" indent="-457200">
              <a:buFont typeface="+mj-lt"/>
              <a:buAutoNum type="arabicPeriod"/>
            </a:pPr>
            <a:r>
              <a:rPr lang="en-US" dirty="0"/>
              <a:t>What characteristics make a relational database design "good"? Explain the consequences of poor database design.</a:t>
            </a:r>
          </a:p>
          <a:p>
            <a:pPr marL="457200" indent="-457200">
              <a:buFont typeface="+mj-lt"/>
              <a:buAutoNum type="arabicPeriod"/>
            </a:pPr>
            <a:r>
              <a:rPr lang="en-US" dirty="0"/>
              <a:t>Why are Functional Dependencies important in database design and normalization?</a:t>
            </a:r>
          </a:p>
          <a:p>
            <a:pPr marL="457200" indent="-457200">
              <a:buFont typeface="+mj-lt"/>
              <a:buAutoNum type="arabicPeriod"/>
            </a:pPr>
            <a:r>
              <a:rPr lang="en-US" dirty="0"/>
              <a:t>Differentiate between: Closure of Functional Dependencies (F⁺) , Closure of Attribute Sets (X⁺) , Why are both important?</a:t>
            </a:r>
          </a:p>
          <a:p>
            <a:pPr marL="457200" indent="-457200">
              <a:buFont typeface="+mj-lt"/>
              <a:buAutoNum type="arabicPeriod"/>
            </a:pPr>
            <a:r>
              <a:rPr lang="en-US" dirty="0"/>
              <a:t>How can attribute closure be used to identify candidate keys?</a:t>
            </a:r>
          </a:p>
          <a:p>
            <a:pPr marL="457200" indent="-457200">
              <a:buFont typeface="+mj-lt"/>
              <a:buAutoNum type="arabicPeriod"/>
            </a:pPr>
            <a:r>
              <a:rPr lang="en-US" dirty="0"/>
              <a:t>What kinds of anomalies can occur in a non-normalized database? Explain with examples.</a:t>
            </a:r>
          </a:p>
          <a:p>
            <a:pPr marL="457200" indent="-457200">
              <a:buFont typeface="+mj-lt"/>
              <a:buAutoNum type="arabicPeriod"/>
            </a:pPr>
            <a:r>
              <a:rPr lang="en-US" dirty="0"/>
              <a:t>Why is de-normalization considered both beneficial and risky? Explain situations where de-normalization is preferred over normalization.</a:t>
            </a:r>
          </a:p>
        </p:txBody>
      </p:sp>
    </p:spTree>
    <p:extLst>
      <p:ext uri="{BB962C8B-B14F-4D97-AF65-F5344CB8AC3E}">
        <p14:creationId xmlns:p14="http://schemas.microsoft.com/office/powerpoint/2010/main" val="40302266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62267-894F-4698-E877-36EB99661155}"/>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536775698"/>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TM02900769[[fn=Retrospect]]</Template>
  <TotalTime>2966</TotalTime>
  <Words>15025</Words>
  <Application>Microsoft Office PowerPoint</Application>
  <PresentationFormat>Widescreen</PresentationFormat>
  <Paragraphs>3110</Paragraphs>
  <Slides>92</Slides>
  <Notes>52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92</vt:i4>
      </vt:variant>
    </vt:vector>
  </HeadingPairs>
  <TitlesOfParts>
    <vt:vector size="98" baseType="lpstr">
      <vt:lpstr>Calibri</vt:lpstr>
      <vt:lpstr>Calibri Light</vt:lpstr>
      <vt:lpstr>Cambria Math</vt:lpstr>
      <vt:lpstr>Courier New</vt:lpstr>
      <vt:lpstr>Wingdings</vt:lpstr>
      <vt:lpstr>Retrospect</vt:lpstr>
      <vt:lpstr>Unit 4: Relational Database Design</vt:lpstr>
      <vt:lpstr>Contents </vt:lpstr>
      <vt:lpstr>What is Relational Database Design?</vt:lpstr>
      <vt:lpstr>Integrity Constraints</vt:lpstr>
      <vt:lpstr>Why is Integrity Constraints Important?</vt:lpstr>
      <vt:lpstr>Domain Integrity Constraints</vt:lpstr>
      <vt:lpstr>Primary Types of Domain Constraints</vt:lpstr>
      <vt:lpstr>Implementing Domain Constraints</vt:lpstr>
      <vt:lpstr>Advantages</vt:lpstr>
      <vt:lpstr>Entity Integrity Constraint</vt:lpstr>
      <vt:lpstr>Valid vs InValid Data</vt:lpstr>
      <vt:lpstr>PowerPoint Presentation</vt:lpstr>
      <vt:lpstr>Referential Integrity Constraint</vt:lpstr>
      <vt:lpstr>Example:</vt:lpstr>
      <vt:lpstr>Violations and Handling Violations</vt:lpstr>
      <vt:lpstr>Advantages</vt:lpstr>
      <vt:lpstr>Assertions</vt:lpstr>
      <vt:lpstr>Why do we need Assertion? </vt:lpstr>
      <vt:lpstr>Example:</vt:lpstr>
      <vt:lpstr>Across Multiple Tables</vt:lpstr>
      <vt:lpstr>Advantages           Limitations</vt:lpstr>
      <vt:lpstr>Real-World Applications of Assertions</vt:lpstr>
      <vt:lpstr>BUT…..….. Assertion are Theoretical</vt:lpstr>
      <vt:lpstr>TRIGGERS</vt:lpstr>
      <vt:lpstr>Classification of Triggers</vt:lpstr>
      <vt:lpstr>Types of Triggers</vt:lpstr>
      <vt:lpstr>OLD and NEW Keywords</vt:lpstr>
      <vt:lpstr>Example: Maximum 100 Students per Department.</vt:lpstr>
      <vt:lpstr>Example</vt:lpstr>
      <vt:lpstr>Advantages           Limitations</vt:lpstr>
      <vt:lpstr>Features of Good Relational Designs</vt:lpstr>
      <vt:lpstr>Functional dependencies</vt:lpstr>
      <vt:lpstr>PowerPoint Presentation</vt:lpstr>
      <vt:lpstr>Trivial Functional Dependencies</vt:lpstr>
      <vt:lpstr>Trivial logic</vt:lpstr>
      <vt:lpstr>Non-Trivial Functional Dependency</vt:lpstr>
      <vt:lpstr>Completely Non-Trivial Dependency</vt:lpstr>
      <vt:lpstr>Full Functional Dependency</vt:lpstr>
      <vt:lpstr>Partial Functional Dependency</vt:lpstr>
      <vt:lpstr>Example:</vt:lpstr>
      <vt:lpstr>Removing Partial Dependency (Convert to 2NF)</vt:lpstr>
      <vt:lpstr>Full vs partial dependencies </vt:lpstr>
      <vt:lpstr>Why important?</vt:lpstr>
      <vt:lpstr>Armstrong’s Axioms.</vt:lpstr>
      <vt:lpstr>Armstrong's Axioms</vt:lpstr>
      <vt:lpstr>Reflexivity Rule:</vt:lpstr>
      <vt:lpstr>Reflexivity Rule:</vt:lpstr>
      <vt:lpstr>Augmentation Rule</vt:lpstr>
      <vt:lpstr>Augmentation Rule</vt:lpstr>
      <vt:lpstr>Transitivity Rule</vt:lpstr>
      <vt:lpstr>Union Rule</vt:lpstr>
      <vt:lpstr>Decomposition Rule</vt:lpstr>
      <vt:lpstr>Pseudo-transitivity Rule</vt:lpstr>
      <vt:lpstr>Applying Armstrong’s axioms</vt:lpstr>
      <vt:lpstr>Summary of Axioms</vt:lpstr>
      <vt:lpstr>Closure of a Set of Functional Dependencies</vt:lpstr>
      <vt:lpstr>Example</vt:lpstr>
      <vt:lpstr>Example:</vt:lpstr>
      <vt:lpstr>Closure of Attribute Sets</vt:lpstr>
      <vt:lpstr>Concept </vt:lpstr>
      <vt:lpstr>Examples</vt:lpstr>
      <vt:lpstr>Find Candidate key</vt:lpstr>
      <vt:lpstr>Rules: </vt:lpstr>
      <vt:lpstr>Example: </vt:lpstr>
      <vt:lpstr>Normalization</vt:lpstr>
      <vt:lpstr>What normalization solve?</vt:lpstr>
      <vt:lpstr>Example:</vt:lpstr>
      <vt:lpstr>Types of Normal Forms</vt:lpstr>
      <vt:lpstr>Normalization Using a Single Example</vt:lpstr>
      <vt:lpstr>First Normal Form </vt:lpstr>
      <vt:lpstr>Second Normal Form (2NF)</vt:lpstr>
      <vt:lpstr>Decompose it into</vt:lpstr>
      <vt:lpstr>Third Normal Form (3NF)</vt:lpstr>
      <vt:lpstr>Third Normal Form (3NF)</vt:lpstr>
      <vt:lpstr>Boyce Codd Normal Form (BCNF)</vt:lpstr>
      <vt:lpstr>Example:</vt:lpstr>
      <vt:lpstr>PowerPoint Presentation</vt:lpstr>
      <vt:lpstr>Solution</vt:lpstr>
      <vt:lpstr>Fourth Normal Form (4NF)</vt:lpstr>
      <vt:lpstr>Fifth Normal Form (5NF)</vt:lpstr>
      <vt:lpstr>AT last, we get:</vt:lpstr>
      <vt:lpstr>De-normalization for Performance</vt:lpstr>
      <vt:lpstr>Example: Find Student’s Department.</vt:lpstr>
      <vt:lpstr>When should de-normalization be used?</vt:lpstr>
      <vt:lpstr>How is Denormalization done?</vt:lpstr>
      <vt:lpstr>Advantages and Disadvantages</vt:lpstr>
      <vt:lpstr>Case 1: Ecommerce Website</vt:lpstr>
      <vt:lpstr>Open-book test 3 questions</vt:lpstr>
      <vt:lpstr>Open-book test 3 questions</vt:lpstr>
      <vt:lpstr>PowerPoint Presentation</vt:lpstr>
      <vt:lpstr>Conceptual Questions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Kapil Dev Pant</dc:creator>
  <cp:lastModifiedBy>Kapil Dev Pant</cp:lastModifiedBy>
  <cp:revision>533</cp:revision>
  <dcterms:created xsi:type="dcterms:W3CDTF">2026-04-28T00:12:22Z</dcterms:created>
  <dcterms:modified xsi:type="dcterms:W3CDTF">2026-06-17T01:50:47Z</dcterms:modified>
</cp:coreProperties>
</file>